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74" r:id="rId2"/>
    <p:sldId id="275" r:id="rId3"/>
    <p:sldId id="376" r:id="rId4"/>
    <p:sldId id="304" r:id="rId5"/>
    <p:sldId id="391" r:id="rId6"/>
    <p:sldId id="300" r:id="rId7"/>
    <p:sldId id="392" r:id="rId8"/>
    <p:sldId id="393" r:id="rId9"/>
    <p:sldId id="394" r:id="rId10"/>
    <p:sldId id="395" r:id="rId11"/>
    <p:sldId id="396" r:id="rId12"/>
  </p:sldIdLst>
  <p:sldSz cx="14630400" cy="8229600"/>
  <p:notesSz cx="14630400" cy="82296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2891" autoAdjust="0"/>
  </p:normalViewPr>
  <p:slideViewPr>
    <p:cSldViewPr>
      <p:cViewPr varScale="1">
        <p:scale>
          <a:sx n="84" d="100"/>
          <a:sy n="84" d="100"/>
        </p:scale>
        <p:origin x="1000" y="19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providerId="Windows Live" clId="Web-{DD48891F-FB35-E1C6-2832-95F5AEC01C35}"/>
    <pc:docChg chg="modSld">
      <pc:chgData name="Guest User" userId="" providerId="Windows Live" clId="Web-{DD48891F-FB35-E1C6-2832-95F5AEC01C35}" dt="2025-11-06T07:40:41.129" v="0" actId="1076"/>
      <pc:docMkLst>
        <pc:docMk/>
      </pc:docMkLst>
      <pc:sldChg chg="modSp">
        <pc:chgData name="Guest User" userId="" providerId="Windows Live" clId="Web-{DD48891F-FB35-E1C6-2832-95F5AEC01C35}" dt="2025-11-06T07:40:41.129" v="0" actId="1076"/>
        <pc:sldMkLst>
          <pc:docMk/>
          <pc:sldMk cId="0" sldId="260"/>
        </pc:sldMkLst>
        <pc:spChg chg="mod">
          <ac:chgData name="Guest User" userId="" providerId="Windows Live" clId="Web-{DD48891F-FB35-E1C6-2832-95F5AEC01C35}" dt="2025-11-06T07:40:41.129" v="0" actId="1076"/>
          <ac:spMkLst>
            <pc:docMk/>
            <pc:sldMk cId="0" sldId="260"/>
            <ac:spMk id="11" creationId="{1729E060-4A6E-E272-7665-9392F1B6E4F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6340475" cy="4127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8286750" y="0"/>
            <a:ext cx="6340475" cy="4127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E097FF-D63A-4701-9D59-A7186DD4FFE5}" type="datetimeFigureOut">
              <a:rPr lang="en-IN" smtClean="0"/>
              <a:t>27/02/26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845050" y="1028700"/>
            <a:ext cx="4940300" cy="2778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463675" y="3960813"/>
            <a:ext cx="11703050" cy="32400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816850"/>
            <a:ext cx="6340475" cy="4127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8286750" y="7816850"/>
            <a:ext cx="6340475" cy="4127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6E45C9-D4C9-4BB9-AC1A-6D12C2483B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76761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FFC471-F21A-8034-1182-7EC20A462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32DEB8-E147-4787-5FDF-AACC13D35E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BF521C-0896-D5EA-62D4-7B080E31F4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F912D4-651F-022F-E212-0668CF9122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4387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DB5D64-14C4-F16C-5619-287C7EA273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713F94-501F-3960-9E11-DE7F03BD93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E30D1C-21CC-DCF2-1302-0D6A57E7F9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8C2F6F-17C8-6775-A32C-6E7DBAEA8A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6238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6E45C9-D4C9-4BB9-AC1A-6D12C2483BB1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85056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6E45C9-D4C9-4BB9-AC1A-6D12C2483BB1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97826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6E45C9-D4C9-4BB9-AC1A-6D12C2483BB1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78707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6E45C9-D4C9-4BB9-AC1A-6D12C2483BB1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15323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6E45C9-D4C9-4BB9-AC1A-6D12C2483BB1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95898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700" b="0" i="0">
                <a:solidFill>
                  <a:srgbClr val="272C45"/>
                </a:solidFill>
                <a:latin typeface="PT Serif" panose="020A0603040505020204" pitchFamily="18" charset="0"/>
                <a:cs typeface="Lucida Sans Unicode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272C45"/>
                </a:solidFill>
                <a:latin typeface="PT Serif" panose="020A0603040505020204" pitchFamily="18" charset="0"/>
                <a:cs typeface="Lucida Sans Unicode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6A85DC-158A-6A4D-AEC5-3C4D0AA39301}" type="datetime1">
              <a:rPr lang="en-IN" smtClean="0"/>
              <a:t>27/02/26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700" b="0" i="0">
                <a:solidFill>
                  <a:srgbClr val="272C45"/>
                </a:solidFill>
                <a:latin typeface="PT Serif" panose="020A0603040505020204" pitchFamily="18" charset="0"/>
                <a:cs typeface="Lucida Sans Unicode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731520" y="1892808"/>
            <a:ext cx="6364224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>
                <a:latin typeface="PT Serif" panose="020A0603040505020204" pitchFamily="18" charset="0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7534656" y="1892808"/>
            <a:ext cx="6364224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>
                <a:latin typeface="PT Serif" panose="020A0603040505020204" pitchFamily="18" charset="0"/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60CBE1-E654-804F-8DD3-1999B1EAA43E}" type="datetime1">
              <a:rPr lang="en-IN" smtClean="0"/>
              <a:t>27/02/26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700" b="0" i="0">
                <a:solidFill>
                  <a:srgbClr val="272C45"/>
                </a:solidFill>
                <a:latin typeface="PT Serif" panose="020A0603040505020204" pitchFamily="18" charset="0"/>
                <a:cs typeface="Lucida Sans Unicode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0E4A29-2FA4-5F43-8886-1C2CFE02D9AE}" type="datetime1">
              <a:rPr lang="en-IN" smtClean="0"/>
              <a:t>27/02/26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  <p:extLst>
      <p:ext uri="{BB962C8B-B14F-4D97-AF65-F5344CB8AC3E}">
        <p14:creationId xmlns:p14="http://schemas.microsoft.com/office/powerpoint/2010/main" val="4162544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87172" y="401522"/>
            <a:ext cx="13656055" cy="5693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700" b="0" i="0">
                <a:solidFill>
                  <a:srgbClr val="272C45"/>
                </a:solidFill>
                <a:latin typeface="Lucida Sans Unicode"/>
                <a:cs typeface="Lucida Sans Unicode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769609" y="3090163"/>
            <a:ext cx="7381240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272C45"/>
                </a:solidFill>
                <a:latin typeface="Lucida Sans Unicode"/>
                <a:cs typeface="Lucida Sans Unicode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974336" y="7653528"/>
            <a:ext cx="4681728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731520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47C385-8D9F-4541-81D3-BBF55B3B60AF}" type="datetime1">
              <a:rPr lang="en-IN" smtClean="0"/>
              <a:t>27/02/26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533888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</p:sldLayoutIdLst>
  <p:hf sldNum="0" hdr="0" ftr="0" dt="0"/>
  <p:txStyles>
    <p:titleStyle>
      <a:lvl1pPr>
        <a:defRPr>
          <a:latin typeface="PT Serif" panose="020A0603040505020204" pitchFamily="18" charset="0"/>
          <a:ea typeface="+mj-ea"/>
          <a:cs typeface="+mj-cs"/>
        </a:defRPr>
      </a:lvl1pPr>
    </p:titleStyle>
    <p:bodyStyle>
      <a:lvl1pPr marL="0">
        <a:defRPr>
          <a:latin typeface="PT Serif" panose="020A0603040505020204" pitchFamily="18" charset="0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648BBC-7E6C-F114-F782-376A30F06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0">
            <a:extLst>
              <a:ext uri="{FF2B5EF4-FFF2-40B4-BE49-F238E27FC236}">
                <a16:creationId xmlns:a16="http://schemas.microsoft.com/office/drawing/2014/main" id="{F82AA0A4-B4C8-BFF7-1622-4303CB7DF1F3}"/>
              </a:ext>
            </a:extLst>
          </p:cNvPr>
          <p:cNvSpPr/>
          <p:nvPr/>
        </p:nvSpPr>
        <p:spPr>
          <a:xfrm>
            <a:off x="381000" y="838200"/>
            <a:ext cx="8153400" cy="651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4100" dirty="0">
                <a:solidFill>
                  <a:srgbClr val="020202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The Future of Boosting, AutoML &amp; Explainable AI</a:t>
            </a:r>
            <a:endParaRPr lang="en-US" sz="4100" dirty="0">
              <a:latin typeface="PT Serif" panose="020A06030405050202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5A8D49-1B61-4101-77B3-D68D40457217}"/>
              </a:ext>
            </a:extLst>
          </p:cNvPr>
          <p:cNvSpPr txBox="1"/>
          <p:nvPr/>
        </p:nvSpPr>
        <p:spPr>
          <a:xfrm>
            <a:off x="381000" y="3048000"/>
            <a:ext cx="5621216" cy="9666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Exploring the convergence of next-generation machine learning paradigms</a:t>
            </a:r>
            <a:endParaRPr lang="en-US" sz="2000" dirty="0">
              <a:latin typeface="PT Serif" panose="020A0603040505020204" pitchFamily="18" charset="0"/>
            </a:endParaRPr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EE0F5CC3-1296-EB74-84BC-EAD9D68EA9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82017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8D79A3-6285-EA7B-A2B4-F0C9DCE16B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6EF8EC6-F255-C70E-3023-DC7EAEC5B16D}"/>
              </a:ext>
            </a:extLst>
          </p:cNvPr>
          <p:cNvSpPr/>
          <p:nvPr/>
        </p:nvSpPr>
        <p:spPr>
          <a:xfrm>
            <a:off x="793790" y="639054"/>
            <a:ext cx="4763333" cy="595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36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Contents</a:t>
            </a:r>
            <a:endParaRPr lang="en-US" sz="360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30CCEE3-6042-A6A9-3891-B76B33DC9098}"/>
              </a:ext>
            </a:extLst>
          </p:cNvPr>
          <p:cNvSpPr/>
          <p:nvPr/>
        </p:nvSpPr>
        <p:spPr>
          <a:xfrm>
            <a:off x="793790" y="1688114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750" dirty="0">
                <a:solidFill>
                  <a:schemeClr val="tx1"/>
                </a:solidFill>
                <a:latin typeface="PT Serif" panose="020A0603040505020204" pitchFamily="18" charset="0"/>
                <a:ea typeface="PT Serif Light" pitchFamily="34" charset="-122"/>
                <a:cs typeface="PT Serif Light" pitchFamily="34" charset="-120"/>
              </a:rPr>
              <a:t>01</a:t>
            </a:r>
            <a:endParaRPr lang="en-US" sz="175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109D6074-985D-ECFD-41A9-CC64CE8CCED8}"/>
              </a:ext>
            </a:extLst>
          </p:cNvPr>
          <p:cNvSpPr/>
          <p:nvPr/>
        </p:nvSpPr>
        <p:spPr>
          <a:xfrm>
            <a:off x="793790" y="2043158"/>
            <a:ext cx="6407944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8BB4AFD-62D3-1AAB-C8B6-84BCFD0B3499}"/>
              </a:ext>
            </a:extLst>
          </p:cNvPr>
          <p:cNvSpPr/>
          <p:nvPr/>
        </p:nvSpPr>
        <p:spPr>
          <a:xfrm>
            <a:off x="793790" y="2217466"/>
            <a:ext cx="4370308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chemeClr val="tx1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Why the Future Is Changing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95C41F2-E8AE-183D-B7D2-B584B66A5047}"/>
              </a:ext>
            </a:extLst>
          </p:cNvPr>
          <p:cNvSpPr/>
          <p:nvPr/>
        </p:nvSpPr>
        <p:spPr>
          <a:xfrm>
            <a:off x="7428548" y="1688114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750" dirty="0">
                <a:solidFill>
                  <a:schemeClr val="tx1"/>
                </a:solidFill>
                <a:latin typeface="PT Serif" panose="020A0603040505020204" pitchFamily="18" charset="0"/>
                <a:ea typeface="PT Serif Light" pitchFamily="34" charset="-122"/>
                <a:cs typeface="PT Serif Light" pitchFamily="34" charset="-120"/>
              </a:rPr>
              <a:t>02</a:t>
            </a:r>
            <a:endParaRPr lang="en-US" sz="175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420FFCDF-EFCF-D95B-39BF-71DEE8C305CC}"/>
              </a:ext>
            </a:extLst>
          </p:cNvPr>
          <p:cNvSpPr/>
          <p:nvPr/>
        </p:nvSpPr>
        <p:spPr>
          <a:xfrm>
            <a:off x="7428548" y="2043158"/>
            <a:ext cx="6408063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C5C44485-ABDB-D8CB-78F7-9276AAADB0B2}"/>
              </a:ext>
            </a:extLst>
          </p:cNvPr>
          <p:cNvSpPr/>
          <p:nvPr/>
        </p:nvSpPr>
        <p:spPr>
          <a:xfrm>
            <a:off x="7428548" y="2174960"/>
            <a:ext cx="4915852" cy="506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chemeClr val="tx1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The Evolution of Boosting Algorithms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F49AA9FB-4CAF-BC7C-90F0-1D48BD93C205}"/>
              </a:ext>
            </a:extLst>
          </p:cNvPr>
          <p:cNvSpPr/>
          <p:nvPr/>
        </p:nvSpPr>
        <p:spPr>
          <a:xfrm>
            <a:off x="793790" y="298637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750" dirty="0">
                <a:solidFill>
                  <a:schemeClr val="tx1"/>
                </a:solidFill>
                <a:latin typeface="PT Serif" panose="020A0603040505020204" pitchFamily="18" charset="0"/>
                <a:ea typeface="PT Serif Light" pitchFamily="34" charset="-122"/>
                <a:cs typeface="PT Serif Light" pitchFamily="34" charset="-120"/>
              </a:rPr>
              <a:t>03</a:t>
            </a:r>
            <a:endParaRPr lang="en-US" sz="175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F735EFEC-254C-A190-497E-54797BC377D7}"/>
              </a:ext>
            </a:extLst>
          </p:cNvPr>
          <p:cNvSpPr/>
          <p:nvPr/>
        </p:nvSpPr>
        <p:spPr>
          <a:xfrm>
            <a:off x="793790" y="3341416"/>
            <a:ext cx="6407944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1AC6FBEA-485A-7F7D-47FB-5FEB6466C2AF}"/>
              </a:ext>
            </a:extLst>
          </p:cNvPr>
          <p:cNvSpPr/>
          <p:nvPr/>
        </p:nvSpPr>
        <p:spPr>
          <a:xfrm>
            <a:off x="793790" y="3515723"/>
            <a:ext cx="5149810" cy="341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chemeClr val="tx1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Next-Gen Boosting Trends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BB65B506-59D4-7376-A944-4C46A5D3D0DA}"/>
              </a:ext>
            </a:extLst>
          </p:cNvPr>
          <p:cNvSpPr/>
          <p:nvPr/>
        </p:nvSpPr>
        <p:spPr>
          <a:xfrm>
            <a:off x="7428548" y="298637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750" dirty="0">
                <a:solidFill>
                  <a:schemeClr val="tx1"/>
                </a:solidFill>
                <a:latin typeface="PT Serif" panose="020A0603040505020204" pitchFamily="18" charset="0"/>
                <a:ea typeface="PT Serif Light" pitchFamily="34" charset="-122"/>
                <a:cs typeface="PT Serif Light" pitchFamily="34" charset="-120"/>
              </a:rPr>
              <a:t>04</a:t>
            </a:r>
            <a:endParaRPr lang="en-US" sz="175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D64D1A4C-2B9B-4174-ACD2-FF1592E30587}"/>
              </a:ext>
            </a:extLst>
          </p:cNvPr>
          <p:cNvSpPr/>
          <p:nvPr/>
        </p:nvSpPr>
        <p:spPr>
          <a:xfrm>
            <a:off x="7428548" y="3341416"/>
            <a:ext cx="6408063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5B2CEF56-AF19-B00B-757E-9F9AA779999A}"/>
              </a:ext>
            </a:extLst>
          </p:cNvPr>
          <p:cNvSpPr/>
          <p:nvPr/>
        </p:nvSpPr>
        <p:spPr>
          <a:xfrm>
            <a:off x="7428548" y="3515723"/>
            <a:ext cx="3837027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endParaRPr lang="en-US" sz="240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D26178CF-9339-DE4A-28C3-77F3A415D7BD}"/>
              </a:ext>
            </a:extLst>
          </p:cNvPr>
          <p:cNvSpPr/>
          <p:nvPr/>
        </p:nvSpPr>
        <p:spPr>
          <a:xfrm>
            <a:off x="793790" y="448489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750" dirty="0">
                <a:solidFill>
                  <a:schemeClr val="tx1"/>
                </a:solidFill>
                <a:latin typeface="PT Serif" panose="020A0603040505020204" pitchFamily="18" charset="0"/>
                <a:ea typeface="PT Serif Light" pitchFamily="34" charset="-122"/>
                <a:cs typeface="PT Serif Light" pitchFamily="34" charset="-120"/>
              </a:rPr>
              <a:t>05</a:t>
            </a:r>
            <a:endParaRPr lang="en-US" sz="175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91EAC6A6-8C3F-4954-512B-A2B54B6C5FB6}"/>
              </a:ext>
            </a:extLst>
          </p:cNvPr>
          <p:cNvSpPr/>
          <p:nvPr/>
        </p:nvSpPr>
        <p:spPr>
          <a:xfrm>
            <a:off x="793790" y="4839936"/>
            <a:ext cx="6407944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DB97DF43-3297-7260-5B91-2DAB55D3B09B}"/>
              </a:ext>
            </a:extLst>
          </p:cNvPr>
          <p:cNvSpPr/>
          <p:nvPr/>
        </p:nvSpPr>
        <p:spPr>
          <a:xfrm>
            <a:off x="793790" y="5014244"/>
            <a:ext cx="5378410" cy="506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chemeClr val="tx1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Future Directions of AutoML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27" name="Text 9">
            <a:extLst>
              <a:ext uri="{FF2B5EF4-FFF2-40B4-BE49-F238E27FC236}">
                <a16:creationId xmlns:a16="http://schemas.microsoft.com/office/drawing/2014/main" id="{7E44A9EB-37D4-D3CC-6CA9-BE886EEF64E4}"/>
              </a:ext>
            </a:extLst>
          </p:cNvPr>
          <p:cNvSpPr/>
          <p:nvPr/>
        </p:nvSpPr>
        <p:spPr>
          <a:xfrm>
            <a:off x="7428548" y="3528240"/>
            <a:ext cx="5149810" cy="341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chemeClr val="tx1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The Rise of AutoML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19" name="Shape 11">
            <a:extLst>
              <a:ext uri="{FF2B5EF4-FFF2-40B4-BE49-F238E27FC236}">
                <a16:creationId xmlns:a16="http://schemas.microsoft.com/office/drawing/2014/main" id="{6DFA16B1-6A6D-E449-B2C3-5B3B26C2C568}"/>
              </a:ext>
            </a:extLst>
          </p:cNvPr>
          <p:cNvSpPr/>
          <p:nvPr/>
        </p:nvSpPr>
        <p:spPr>
          <a:xfrm>
            <a:off x="7428547" y="4824696"/>
            <a:ext cx="6408063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20" name="Text 15">
            <a:extLst>
              <a:ext uri="{FF2B5EF4-FFF2-40B4-BE49-F238E27FC236}">
                <a16:creationId xmlns:a16="http://schemas.microsoft.com/office/drawing/2014/main" id="{B399EC45-7608-BF4F-96F3-D57F5F5EACFF}"/>
              </a:ext>
            </a:extLst>
          </p:cNvPr>
          <p:cNvSpPr/>
          <p:nvPr/>
        </p:nvSpPr>
        <p:spPr>
          <a:xfrm>
            <a:off x="7428547" y="5069622"/>
            <a:ext cx="5378410" cy="506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chemeClr val="tx1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Explainable AI (XAI): Why It Matters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21" name="Text 10">
            <a:extLst>
              <a:ext uri="{FF2B5EF4-FFF2-40B4-BE49-F238E27FC236}">
                <a16:creationId xmlns:a16="http://schemas.microsoft.com/office/drawing/2014/main" id="{5F7B4E8E-7E63-124E-A4D0-9C605AEF0532}"/>
              </a:ext>
            </a:extLst>
          </p:cNvPr>
          <p:cNvSpPr/>
          <p:nvPr/>
        </p:nvSpPr>
        <p:spPr>
          <a:xfrm>
            <a:off x="7428548" y="4497930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750" dirty="0">
                <a:solidFill>
                  <a:schemeClr val="tx1"/>
                </a:solidFill>
                <a:latin typeface="PT Serif" panose="020A0603040505020204" pitchFamily="18" charset="0"/>
                <a:ea typeface="PT Serif Light" pitchFamily="34" charset="-122"/>
                <a:cs typeface="PT Serif Light" pitchFamily="34" charset="-120"/>
              </a:rPr>
              <a:t>06</a:t>
            </a:r>
            <a:endParaRPr lang="en-US" sz="175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22" name="Text 13">
            <a:extLst>
              <a:ext uri="{FF2B5EF4-FFF2-40B4-BE49-F238E27FC236}">
                <a16:creationId xmlns:a16="http://schemas.microsoft.com/office/drawing/2014/main" id="{61A48F65-9960-09D7-F7AD-889530E219FC}"/>
              </a:ext>
            </a:extLst>
          </p:cNvPr>
          <p:cNvSpPr/>
          <p:nvPr/>
        </p:nvSpPr>
        <p:spPr>
          <a:xfrm>
            <a:off x="838200" y="5756346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750" dirty="0">
                <a:solidFill>
                  <a:schemeClr val="tx1"/>
                </a:solidFill>
                <a:latin typeface="PT Serif" panose="020A0603040505020204" pitchFamily="18" charset="0"/>
                <a:ea typeface="PT Serif Light" pitchFamily="34" charset="-122"/>
                <a:cs typeface="PT Serif Light" pitchFamily="34" charset="-120"/>
              </a:rPr>
              <a:t>07</a:t>
            </a:r>
            <a:endParaRPr lang="en-US" sz="175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23" name="Shape 14">
            <a:extLst>
              <a:ext uri="{FF2B5EF4-FFF2-40B4-BE49-F238E27FC236}">
                <a16:creationId xmlns:a16="http://schemas.microsoft.com/office/drawing/2014/main" id="{C24968C1-ABDF-15B0-CF88-81F295185DD3}"/>
              </a:ext>
            </a:extLst>
          </p:cNvPr>
          <p:cNvSpPr/>
          <p:nvPr/>
        </p:nvSpPr>
        <p:spPr>
          <a:xfrm>
            <a:off x="838200" y="6111390"/>
            <a:ext cx="6407944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24" name="Text 15">
            <a:extLst>
              <a:ext uri="{FF2B5EF4-FFF2-40B4-BE49-F238E27FC236}">
                <a16:creationId xmlns:a16="http://schemas.microsoft.com/office/drawing/2014/main" id="{4B70E2BD-41DE-2DA2-5201-454012CC1AC3}"/>
              </a:ext>
            </a:extLst>
          </p:cNvPr>
          <p:cNvSpPr/>
          <p:nvPr/>
        </p:nvSpPr>
        <p:spPr>
          <a:xfrm>
            <a:off x="838200" y="6285698"/>
            <a:ext cx="5378410" cy="506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chemeClr val="tx1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Future Trends in Explainable AI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29" name="Shape 11">
            <a:extLst>
              <a:ext uri="{FF2B5EF4-FFF2-40B4-BE49-F238E27FC236}">
                <a16:creationId xmlns:a16="http://schemas.microsoft.com/office/drawing/2014/main" id="{F8CFB441-D47D-6E29-1615-14152B7D26C7}"/>
              </a:ext>
            </a:extLst>
          </p:cNvPr>
          <p:cNvSpPr/>
          <p:nvPr/>
        </p:nvSpPr>
        <p:spPr>
          <a:xfrm>
            <a:off x="7467600" y="6107058"/>
            <a:ext cx="6408063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30" name="Text 15">
            <a:extLst>
              <a:ext uri="{FF2B5EF4-FFF2-40B4-BE49-F238E27FC236}">
                <a16:creationId xmlns:a16="http://schemas.microsoft.com/office/drawing/2014/main" id="{8FA6D861-81F3-D849-70BE-33A381A31ACD}"/>
              </a:ext>
            </a:extLst>
          </p:cNvPr>
          <p:cNvSpPr/>
          <p:nvPr/>
        </p:nvSpPr>
        <p:spPr>
          <a:xfrm>
            <a:off x="7467600" y="6351984"/>
            <a:ext cx="5378410" cy="506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chemeClr val="tx1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Convergence: Boosting + AutoML + XAI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31" name="Text 10">
            <a:extLst>
              <a:ext uri="{FF2B5EF4-FFF2-40B4-BE49-F238E27FC236}">
                <a16:creationId xmlns:a16="http://schemas.microsoft.com/office/drawing/2014/main" id="{32BC5D34-A8B6-F853-8ECE-5244C512672C}"/>
              </a:ext>
            </a:extLst>
          </p:cNvPr>
          <p:cNvSpPr/>
          <p:nvPr/>
        </p:nvSpPr>
        <p:spPr>
          <a:xfrm>
            <a:off x="7467601" y="578029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750" dirty="0">
                <a:solidFill>
                  <a:schemeClr val="tx1"/>
                </a:solidFill>
                <a:latin typeface="PT Serif" panose="020A0603040505020204" pitchFamily="18" charset="0"/>
                <a:ea typeface="PT Serif Light" pitchFamily="34" charset="-122"/>
                <a:cs typeface="PT Serif Light" pitchFamily="34" charset="-120"/>
              </a:rPr>
              <a:t>08</a:t>
            </a:r>
            <a:endParaRPr lang="en-US" sz="175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62966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A69ED-B926-16DB-CF50-616BE44911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4345" y="609600"/>
            <a:ext cx="13656055" cy="610103"/>
          </a:xfrm>
        </p:spPr>
        <p:txBody>
          <a:bodyPr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3600" dirty="0">
                <a:solidFill>
                  <a:srgbClr val="020202"/>
                </a:solidFill>
                <a:ea typeface="PT Serif" pitchFamily="34" charset="-122"/>
                <a:cs typeface="PT Serif" pitchFamily="34" charset="-120"/>
              </a:rPr>
              <a:t>Why the Future Is Changing</a:t>
            </a:r>
            <a:endParaRPr lang="en-US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D7E90F-852D-B7FB-AA40-6D03F55B29F3}"/>
              </a:ext>
            </a:extLst>
          </p:cNvPr>
          <p:cNvSpPr txBox="1"/>
          <p:nvPr/>
        </p:nvSpPr>
        <p:spPr>
          <a:xfrm>
            <a:off x="974344" y="1905000"/>
            <a:ext cx="12817855" cy="4445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The machine learning landscape is undergoing a fundamental shift driven by four converging forces. </a:t>
            </a:r>
            <a:r>
              <a:rPr lang="en-US" b="1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Model complexity</a:t>
            </a:r>
            <a:r>
              <a:rPr lang="en-US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 continues to escalate, making interpretation and deployment increasingly difficult. </a:t>
            </a:r>
            <a:r>
              <a:rPr lang="en-US" b="1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Regulatory pressure</a:t>
            </a:r>
            <a:r>
              <a:rPr lang="en-US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 — from the EU AI Act to sector-specific mandates — now demands transparency and accountability from automated decision systems.</a:t>
            </a:r>
          </a:p>
          <a:p>
            <a:pPr marL="0" indent="0" algn="l">
              <a:lnSpc>
                <a:spcPct val="200000"/>
              </a:lnSpc>
              <a:buNone/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algn="l">
              <a:lnSpc>
                <a:spcPct val="200000"/>
              </a:lnSpc>
            </a:pPr>
            <a:r>
              <a:rPr lang="en-US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Simultaneously, business leaders require </a:t>
            </a:r>
            <a:r>
              <a:rPr lang="en-US" b="1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interpretable outputs</a:t>
            </a:r>
            <a:r>
              <a:rPr lang="en-US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 they can act on with confidence, not opaque predictions. And the competitive environment demands </a:t>
            </a:r>
            <a:r>
              <a:rPr lang="en-US" b="1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faster deployment cycles</a:t>
            </a:r>
            <a:r>
              <a:rPr lang="en-US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, compressing the timeline from research prototype to production system. Together, these forces are reshaping how we build, deploy, and govern ML models at every level.</a:t>
            </a: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42662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object 13">
            <a:extLst>
              <a:ext uri="{FF2B5EF4-FFF2-40B4-BE49-F238E27FC236}">
                <a16:creationId xmlns:a16="http://schemas.microsoft.com/office/drawing/2014/main" id="{8BC26874-D32D-B0C4-504A-8319293B7F2A}"/>
              </a:ext>
            </a:extLst>
          </p:cNvPr>
          <p:cNvGrpSpPr/>
          <p:nvPr/>
        </p:nvGrpSpPr>
        <p:grpSpPr>
          <a:xfrm>
            <a:off x="751470" y="3429000"/>
            <a:ext cx="6411330" cy="1689494"/>
            <a:chOff x="793788" y="4631308"/>
            <a:chExt cx="6437630" cy="2974340"/>
          </a:xfrm>
        </p:grpSpPr>
        <p:sp>
          <p:nvSpPr>
            <p:cNvPr id="34" name="object 14">
              <a:extLst>
                <a:ext uri="{FF2B5EF4-FFF2-40B4-BE49-F238E27FC236}">
                  <a16:creationId xmlns:a16="http://schemas.microsoft.com/office/drawing/2014/main" id="{1EBA9424-EEBD-DCA3-3EAC-C27465A465E3}"/>
                </a:ext>
              </a:extLst>
            </p:cNvPr>
            <p:cNvSpPr/>
            <p:nvPr/>
          </p:nvSpPr>
          <p:spPr>
            <a:xfrm>
              <a:off x="793788" y="4631308"/>
              <a:ext cx="6437630" cy="2974340"/>
            </a:xfrm>
            <a:custGeom>
              <a:avLst/>
              <a:gdLst/>
              <a:ahLst/>
              <a:cxnLst/>
              <a:rect l="l" t="t" r="r" b="b"/>
              <a:pathLst>
                <a:path w="6437630" h="2974340">
                  <a:moveTo>
                    <a:pt x="0" y="70865"/>
                  </a:moveTo>
                  <a:lnTo>
                    <a:pt x="5568" y="43291"/>
                  </a:lnTo>
                  <a:lnTo>
                    <a:pt x="20753" y="20764"/>
                  </a:lnTo>
                  <a:lnTo>
                    <a:pt x="43275" y="5572"/>
                  </a:lnTo>
                  <a:lnTo>
                    <a:pt x="70853" y="0"/>
                  </a:lnTo>
                  <a:lnTo>
                    <a:pt x="6366217" y="0"/>
                  </a:lnTo>
                  <a:lnTo>
                    <a:pt x="6393792" y="5572"/>
                  </a:lnTo>
                  <a:lnTo>
                    <a:pt x="6416319" y="20764"/>
                  </a:lnTo>
                  <a:lnTo>
                    <a:pt x="6431511" y="43291"/>
                  </a:lnTo>
                  <a:lnTo>
                    <a:pt x="6437083" y="70865"/>
                  </a:lnTo>
                  <a:lnTo>
                    <a:pt x="6437083" y="2903435"/>
                  </a:lnTo>
                  <a:lnTo>
                    <a:pt x="6431511" y="2931014"/>
                  </a:lnTo>
                  <a:lnTo>
                    <a:pt x="6416319" y="2953535"/>
                  </a:lnTo>
                  <a:lnTo>
                    <a:pt x="6393792" y="2968720"/>
                  </a:lnTo>
                  <a:lnTo>
                    <a:pt x="6366217" y="2974289"/>
                  </a:lnTo>
                  <a:lnTo>
                    <a:pt x="70853" y="2974289"/>
                  </a:lnTo>
                  <a:lnTo>
                    <a:pt x="43275" y="2968720"/>
                  </a:lnTo>
                  <a:lnTo>
                    <a:pt x="20753" y="2953535"/>
                  </a:lnTo>
                  <a:lnTo>
                    <a:pt x="5568" y="2931014"/>
                  </a:lnTo>
                  <a:lnTo>
                    <a:pt x="0" y="2903435"/>
                  </a:lnTo>
                  <a:lnTo>
                    <a:pt x="0" y="70865"/>
                  </a:lnTo>
                  <a:close/>
                </a:path>
              </a:pathLst>
            </a:custGeom>
            <a:ln w="22860">
              <a:solidFill>
                <a:srgbClr val="C5D2CF"/>
              </a:solidFill>
            </a:ln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pPr>
                <a:lnSpc>
                  <a:spcPct val="200000"/>
                </a:lnSpc>
              </a:pPr>
              <a:endParaRPr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  <p:sp>
          <p:nvSpPr>
            <p:cNvPr id="35" name="object 15">
              <a:extLst>
                <a:ext uri="{FF2B5EF4-FFF2-40B4-BE49-F238E27FC236}">
                  <a16:creationId xmlns:a16="http://schemas.microsoft.com/office/drawing/2014/main" id="{5E7C18E8-C80E-C1A0-CF76-5E1455C6789F}"/>
                </a:ext>
              </a:extLst>
            </p:cNvPr>
            <p:cNvSpPr/>
            <p:nvPr/>
          </p:nvSpPr>
          <p:spPr>
            <a:xfrm>
              <a:off x="816648" y="4654164"/>
              <a:ext cx="6391910" cy="1184309"/>
            </a:xfrm>
            <a:custGeom>
              <a:avLst/>
              <a:gdLst/>
              <a:ahLst/>
              <a:cxnLst/>
              <a:rect l="l" t="t" r="r" b="b"/>
              <a:pathLst>
                <a:path w="6391909" h="506095">
                  <a:moveTo>
                    <a:pt x="6347929" y="0"/>
                  </a:moveTo>
                  <a:lnTo>
                    <a:pt x="43421" y="0"/>
                  </a:lnTo>
                  <a:lnTo>
                    <a:pt x="26521" y="3411"/>
                  </a:lnTo>
                  <a:lnTo>
                    <a:pt x="12719" y="12715"/>
                  </a:lnTo>
                  <a:lnTo>
                    <a:pt x="3412" y="26521"/>
                  </a:lnTo>
                  <a:lnTo>
                    <a:pt x="0" y="43433"/>
                  </a:lnTo>
                  <a:lnTo>
                    <a:pt x="0" y="462533"/>
                  </a:lnTo>
                  <a:lnTo>
                    <a:pt x="3412" y="479446"/>
                  </a:lnTo>
                  <a:lnTo>
                    <a:pt x="12719" y="493252"/>
                  </a:lnTo>
                  <a:lnTo>
                    <a:pt x="26521" y="502556"/>
                  </a:lnTo>
                  <a:lnTo>
                    <a:pt x="43421" y="505967"/>
                  </a:lnTo>
                  <a:lnTo>
                    <a:pt x="6347929" y="505967"/>
                  </a:lnTo>
                  <a:lnTo>
                    <a:pt x="6364842" y="502556"/>
                  </a:lnTo>
                  <a:lnTo>
                    <a:pt x="6378648" y="493252"/>
                  </a:lnTo>
                  <a:lnTo>
                    <a:pt x="6387952" y="479446"/>
                  </a:lnTo>
                  <a:lnTo>
                    <a:pt x="6391363" y="462533"/>
                  </a:lnTo>
                  <a:lnTo>
                    <a:pt x="6391363" y="43433"/>
                  </a:lnTo>
                  <a:lnTo>
                    <a:pt x="6387952" y="26521"/>
                  </a:lnTo>
                  <a:lnTo>
                    <a:pt x="6378648" y="12715"/>
                  </a:lnTo>
                  <a:lnTo>
                    <a:pt x="6364842" y="3411"/>
                  </a:lnTo>
                  <a:lnTo>
                    <a:pt x="6347929" y="0"/>
                  </a:lnTo>
                  <a:close/>
                </a:path>
              </a:pathLst>
            </a:custGeom>
            <a:solidFill>
              <a:srgbClr val="DFEBE9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pPr>
                <a:lnSpc>
                  <a:spcPct val="200000"/>
                </a:lnSpc>
              </a:pPr>
              <a:endParaRPr dirty="0"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</p:grpSp>
      <p:grpSp>
        <p:nvGrpSpPr>
          <p:cNvPr id="30" name="object 13">
            <a:extLst>
              <a:ext uri="{FF2B5EF4-FFF2-40B4-BE49-F238E27FC236}">
                <a16:creationId xmlns:a16="http://schemas.microsoft.com/office/drawing/2014/main" id="{3CC01AED-2482-CBED-1EFE-AA3F3687B2DC}"/>
              </a:ext>
            </a:extLst>
          </p:cNvPr>
          <p:cNvGrpSpPr/>
          <p:nvPr/>
        </p:nvGrpSpPr>
        <p:grpSpPr>
          <a:xfrm>
            <a:off x="7620000" y="3429000"/>
            <a:ext cx="6411330" cy="1689494"/>
            <a:chOff x="793788" y="4631308"/>
            <a:chExt cx="6437630" cy="2974340"/>
          </a:xfrm>
        </p:grpSpPr>
        <p:sp>
          <p:nvSpPr>
            <p:cNvPr id="31" name="object 14">
              <a:extLst>
                <a:ext uri="{FF2B5EF4-FFF2-40B4-BE49-F238E27FC236}">
                  <a16:creationId xmlns:a16="http://schemas.microsoft.com/office/drawing/2014/main" id="{42DEF435-3D17-4FA9-9522-3E98EF868AEF}"/>
                </a:ext>
              </a:extLst>
            </p:cNvPr>
            <p:cNvSpPr/>
            <p:nvPr/>
          </p:nvSpPr>
          <p:spPr>
            <a:xfrm>
              <a:off x="793788" y="4631308"/>
              <a:ext cx="6437630" cy="2974340"/>
            </a:xfrm>
            <a:custGeom>
              <a:avLst/>
              <a:gdLst/>
              <a:ahLst/>
              <a:cxnLst/>
              <a:rect l="l" t="t" r="r" b="b"/>
              <a:pathLst>
                <a:path w="6437630" h="2974340">
                  <a:moveTo>
                    <a:pt x="0" y="70865"/>
                  </a:moveTo>
                  <a:lnTo>
                    <a:pt x="5568" y="43291"/>
                  </a:lnTo>
                  <a:lnTo>
                    <a:pt x="20753" y="20764"/>
                  </a:lnTo>
                  <a:lnTo>
                    <a:pt x="43275" y="5572"/>
                  </a:lnTo>
                  <a:lnTo>
                    <a:pt x="70853" y="0"/>
                  </a:lnTo>
                  <a:lnTo>
                    <a:pt x="6366217" y="0"/>
                  </a:lnTo>
                  <a:lnTo>
                    <a:pt x="6393792" y="5572"/>
                  </a:lnTo>
                  <a:lnTo>
                    <a:pt x="6416319" y="20764"/>
                  </a:lnTo>
                  <a:lnTo>
                    <a:pt x="6431511" y="43291"/>
                  </a:lnTo>
                  <a:lnTo>
                    <a:pt x="6437083" y="70865"/>
                  </a:lnTo>
                  <a:lnTo>
                    <a:pt x="6437083" y="2903435"/>
                  </a:lnTo>
                  <a:lnTo>
                    <a:pt x="6431511" y="2931014"/>
                  </a:lnTo>
                  <a:lnTo>
                    <a:pt x="6416319" y="2953535"/>
                  </a:lnTo>
                  <a:lnTo>
                    <a:pt x="6393792" y="2968720"/>
                  </a:lnTo>
                  <a:lnTo>
                    <a:pt x="6366217" y="2974289"/>
                  </a:lnTo>
                  <a:lnTo>
                    <a:pt x="70853" y="2974289"/>
                  </a:lnTo>
                  <a:lnTo>
                    <a:pt x="43275" y="2968720"/>
                  </a:lnTo>
                  <a:lnTo>
                    <a:pt x="20753" y="2953535"/>
                  </a:lnTo>
                  <a:lnTo>
                    <a:pt x="5568" y="2931014"/>
                  </a:lnTo>
                  <a:lnTo>
                    <a:pt x="0" y="2903435"/>
                  </a:lnTo>
                  <a:lnTo>
                    <a:pt x="0" y="70865"/>
                  </a:lnTo>
                  <a:close/>
                </a:path>
              </a:pathLst>
            </a:custGeom>
            <a:ln w="22860">
              <a:solidFill>
                <a:srgbClr val="C5D2CF"/>
              </a:solidFill>
            </a:ln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pPr>
                <a:lnSpc>
                  <a:spcPct val="200000"/>
                </a:lnSpc>
              </a:pPr>
              <a:endParaRPr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  <p:sp>
          <p:nvSpPr>
            <p:cNvPr id="32" name="object 15">
              <a:extLst>
                <a:ext uri="{FF2B5EF4-FFF2-40B4-BE49-F238E27FC236}">
                  <a16:creationId xmlns:a16="http://schemas.microsoft.com/office/drawing/2014/main" id="{A38FA84D-C25A-6721-9EFF-93A9BCD893C7}"/>
                </a:ext>
              </a:extLst>
            </p:cNvPr>
            <p:cNvSpPr/>
            <p:nvPr/>
          </p:nvSpPr>
          <p:spPr>
            <a:xfrm>
              <a:off x="816648" y="4654164"/>
              <a:ext cx="6391910" cy="1184309"/>
            </a:xfrm>
            <a:custGeom>
              <a:avLst/>
              <a:gdLst/>
              <a:ahLst/>
              <a:cxnLst/>
              <a:rect l="l" t="t" r="r" b="b"/>
              <a:pathLst>
                <a:path w="6391909" h="506095">
                  <a:moveTo>
                    <a:pt x="6347929" y="0"/>
                  </a:moveTo>
                  <a:lnTo>
                    <a:pt x="43421" y="0"/>
                  </a:lnTo>
                  <a:lnTo>
                    <a:pt x="26521" y="3411"/>
                  </a:lnTo>
                  <a:lnTo>
                    <a:pt x="12719" y="12715"/>
                  </a:lnTo>
                  <a:lnTo>
                    <a:pt x="3412" y="26521"/>
                  </a:lnTo>
                  <a:lnTo>
                    <a:pt x="0" y="43433"/>
                  </a:lnTo>
                  <a:lnTo>
                    <a:pt x="0" y="462533"/>
                  </a:lnTo>
                  <a:lnTo>
                    <a:pt x="3412" y="479446"/>
                  </a:lnTo>
                  <a:lnTo>
                    <a:pt x="12719" y="493252"/>
                  </a:lnTo>
                  <a:lnTo>
                    <a:pt x="26521" y="502556"/>
                  </a:lnTo>
                  <a:lnTo>
                    <a:pt x="43421" y="505967"/>
                  </a:lnTo>
                  <a:lnTo>
                    <a:pt x="6347929" y="505967"/>
                  </a:lnTo>
                  <a:lnTo>
                    <a:pt x="6364842" y="502556"/>
                  </a:lnTo>
                  <a:lnTo>
                    <a:pt x="6378648" y="493252"/>
                  </a:lnTo>
                  <a:lnTo>
                    <a:pt x="6387952" y="479446"/>
                  </a:lnTo>
                  <a:lnTo>
                    <a:pt x="6391363" y="462533"/>
                  </a:lnTo>
                  <a:lnTo>
                    <a:pt x="6391363" y="43433"/>
                  </a:lnTo>
                  <a:lnTo>
                    <a:pt x="6387952" y="26521"/>
                  </a:lnTo>
                  <a:lnTo>
                    <a:pt x="6378648" y="12715"/>
                  </a:lnTo>
                  <a:lnTo>
                    <a:pt x="6364842" y="3411"/>
                  </a:lnTo>
                  <a:lnTo>
                    <a:pt x="6347929" y="0"/>
                  </a:lnTo>
                  <a:close/>
                </a:path>
              </a:pathLst>
            </a:custGeom>
            <a:solidFill>
              <a:srgbClr val="DFEBE9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pPr>
                <a:lnSpc>
                  <a:spcPct val="200000"/>
                </a:lnSpc>
              </a:pPr>
              <a:endParaRPr dirty="0"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</p:grpSp>
      <p:grpSp>
        <p:nvGrpSpPr>
          <p:cNvPr id="27" name="object 13">
            <a:extLst>
              <a:ext uri="{FF2B5EF4-FFF2-40B4-BE49-F238E27FC236}">
                <a16:creationId xmlns:a16="http://schemas.microsoft.com/office/drawing/2014/main" id="{7453EB64-7342-4751-B226-B2A3A885DF46}"/>
              </a:ext>
            </a:extLst>
          </p:cNvPr>
          <p:cNvGrpSpPr/>
          <p:nvPr/>
        </p:nvGrpSpPr>
        <p:grpSpPr>
          <a:xfrm>
            <a:off x="7620000" y="1500416"/>
            <a:ext cx="6411330" cy="1689494"/>
            <a:chOff x="793788" y="4631308"/>
            <a:chExt cx="6437630" cy="2974340"/>
          </a:xfrm>
        </p:grpSpPr>
        <p:sp>
          <p:nvSpPr>
            <p:cNvPr id="28" name="object 14">
              <a:extLst>
                <a:ext uri="{FF2B5EF4-FFF2-40B4-BE49-F238E27FC236}">
                  <a16:creationId xmlns:a16="http://schemas.microsoft.com/office/drawing/2014/main" id="{1135B5DA-3FAF-6B95-B7FB-F2C8A5891D70}"/>
                </a:ext>
              </a:extLst>
            </p:cNvPr>
            <p:cNvSpPr/>
            <p:nvPr/>
          </p:nvSpPr>
          <p:spPr>
            <a:xfrm>
              <a:off x="793788" y="4631308"/>
              <a:ext cx="6437630" cy="2974340"/>
            </a:xfrm>
            <a:custGeom>
              <a:avLst/>
              <a:gdLst/>
              <a:ahLst/>
              <a:cxnLst/>
              <a:rect l="l" t="t" r="r" b="b"/>
              <a:pathLst>
                <a:path w="6437630" h="2974340">
                  <a:moveTo>
                    <a:pt x="0" y="70865"/>
                  </a:moveTo>
                  <a:lnTo>
                    <a:pt x="5568" y="43291"/>
                  </a:lnTo>
                  <a:lnTo>
                    <a:pt x="20753" y="20764"/>
                  </a:lnTo>
                  <a:lnTo>
                    <a:pt x="43275" y="5572"/>
                  </a:lnTo>
                  <a:lnTo>
                    <a:pt x="70853" y="0"/>
                  </a:lnTo>
                  <a:lnTo>
                    <a:pt x="6366217" y="0"/>
                  </a:lnTo>
                  <a:lnTo>
                    <a:pt x="6393792" y="5572"/>
                  </a:lnTo>
                  <a:lnTo>
                    <a:pt x="6416319" y="20764"/>
                  </a:lnTo>
                  <a:lnTo>
                    <a:pt x="6431511" y="43291"/>
                  </a:lnTo>
                  <a:lnTo>
                    <a:pt x="6437083" y="70865"/>
                  </a:lnTo>
                  <a:lnTo>
                    <a:pt x="6437083" y="2903435"/>
                  </a:lnTo>
                  <a:lnTo>
                    <a:pt x="6431511" y="2931014"/>
                  </a:lnTo>
                  <a:lnTo>
                    <a:pt x="6416319" y="2953535"/>
                  </a:lnTo>
                  <a:lnTo>
                    <a:pt x="6393792" y="2968720"/>
                  </a:lnTo>
                  <a:lnTo>
                    <a:pt x="6366217" y="2974289"/>
                  </a:lnTo>
                  <a:lnTo>
                    <a:pt x="70853" y="2974289"/>
                  </a:lnTo>
                  <a:lnTo>
                    <a:pt x="43275" y="2968720"/>
                  </a:lnTo>
                  <a:lnTo>
                    <a:pt x="20753" y="2953535"/>
                  </a:lnTo>
                  <a:lnTo>
                    <a:pt x="5568" y="2931014"/>
                  </a:lnTo>
                  <a:lnTo>
                    <a:pt x="0" y="2903435"/>
                  </a:lnTo>
                  <a:lnTo>
                    <a:pt x="0" y="70865"/>
                  </a:lnTo>
                  <a:close/>
                </a:path>
              </a:pathLst>
            </a:custGeom>
            <a:ln w="22860">
              <a:solidFill>
                <a:srgbClr val="C5D2CF"/>
              </a:solidFill>
            </a:ln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pPr>
                <a:lnSpc>
                  <a:spcPct val="200000"/>
                </a:lnSpc>
              </a:pPr>
              <a:endParaRPr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  <p:sp>
          <p:nvSpPr>
            <p:cNvPr id="29" name="object 15">
              <a:extLst>
                <a:ext uri="{FF2B5EF4-FFF2-40B4-BE49-F238E27FC236}">
                  <a16:creationId xmlns:a16="http://schemas.microsoft.com/office/drawing/2014/main" id="{659D6209-EFA4-3521-61A1-BFBE38D0E14B}"/>
                </a:ext>
              </a:extLst>
            </p:cNvPr>
            <p:cNvSpPr/>
            <p:nvPr/>
          </p:nvSpPr>
          <p:spPr>
            <a:xfrm>
              <a:off x="816648" y="4654164"/>
              <a:ext cx="6391910" cy="1184309"/>
            </a:xfrm>
            <a:custGeom>
              <a:avLst/>
              <a:gdLst/>
              <a:ahLst/>
              <a:cxnLst/>
              <a:rect l="l" t="t" r="r" b="b"/>
              <a:pathLst>
                <a:path w="6391909" h="506095">
                  <a:moveTo>
                    <a:pt x="6347929" y="0"/>
                  </a:moveTo>
                  <a:lnTo>
                    <a:pt x="43421" y="0"/>
                  </a:lnTo>
                  <a:lnTo>
                    <a:pt x="26521" y="3411"/>
                  </a:lnTo>
                  <a:lnTo>
                    <a:pt x="12719" y="12715"/>
                  </a:lnTo>
                  <a:lnTo>
                    <a:pt x="3412" y="26521"/>
                  </a:lnTo>
                  <a:lnTo>
                    <a:pt x="0" y="43433"/>
                  </a:lnTo>
                  <a:lnTo>
                    <a:pt x="0" y="462533"/>
                  </a:lnTo>
                  <a:lnTo>
                    <a:pt x="3412" y="479446"/>
                  </a:lnTo>
                  <a:lnTo>
                    <a:pt x="12719" y="493252"/>
                  </a:lnTo>
                  <a:lnTo>
                    <a:pt x="26521" y="502556"/>
                  </a:lnTo>
                  <a:lnTo>
                    <a:pt x="43421" y="505967"/>
                  </a:lnTo>
                  <a:lnTo>
                    <a:pt x="6347929" y="505967"/>
                  </a:lnTo>
                  <a:lnTo>
                    <a:pt x="6364842" y="502556"/>
                  </a:lnTo>
                  <a:lnTo>
                    <a:pt x="6378648" y="493252"/>
                  </a:lnTo>
                  <a:lnTo>
                    <a:pt x="6387952" y="479446"/>
                  </a:lnTo>
                  <a:lnTo>
                    <a:pt x="6391363" y="462533"/>
                  </a:lnTo>
                  <a:lnTo>
                    <a:pt x="6391363" y="43433"/>
                  </a:lnTo>
                  <a:lnTo>
                    <a:pt x="6387952" y="26521"/>
                  </a:lnTo>
                  <a:lnTo>
                    <a:pt x="6378648" y="12715"/>
                  </a:lnTo>
                  <a:lnTo>
                    <a:pt x="6364842" y="3411"/>
                  </a:lnTo>
                  <a:lnTo>
                    <a:pt x="6347929" y="0"/>
                  </a:lnTo>
                  <a:close/>
                </a:path>
              </a:pathLst>
            </a:custGeom>
            <a:solidFill>
              <a:srgbClr val="DFEBE9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pPr>
                <a:lnSpc>
                  <a:spcPct val="200000"/>
                </a:lnSpc>
              </a:pPr>
              <a:endParaRPr dirty="0"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</p:grpSp>
      <p:grpSp>
        <p:nvGrpSpPr>
          <p:cNvPr id="24" name="object 13">
            <a:extLst>
              <a:ext uri="{FF2B5EF4-FFF2-40B4-BE49-F238E27FC236}">
                <a16:creationId xmlns:a16="http://schemas.microsoft.com/office/drawing/2014/main" id="{9EDED71C-1B31-D97D-38B2-DAFD66018FF9}"/>
              </a:ext>
            </a:extLst>
          </p:cNvPr>
          <p:cNvGrpSpPr/>
          <p:nvPr/>
        </p:nvGrpSpPr>
        <p:grpSpPr>
          <a:xfrm>
            <a:off x="750141" y="1487322"/>
            <a:ext cx="6411330" cy="1689494"/>
            <a:chOff x="793788" y="4631308"/>
            <a:chExt cx="6437630" cy="2974340"/>
          </a:xfrm>
        </p:grpSpPr>
        <p:sp>
          <p:nvSpPr>
            <p:cNvPr id="25" name="object 14">
              <a:extLst>
                <a:ext uri="{FF2B5EF4-FFF2-40B4-BE49-F238E27FC236}">
                  <a16:creationId xmlns:a16="http://schemas.microsoft.com/office/drawing/2014/main" id="{35293503-1DBD-8E87-3BE0-DDA71A76F25C}"/>
                </a:ext>
              </a:extLst>
            </p:cNvPr>
            <p:cNvSpPr/>
            <p:nvPr/>
          </p:nvSpPr>
          <p:spPr>
            <a:xfrm>
              <a:off x="793788" y="4631308"/>
              <a:ext cx="6437630" cy="2974340"/>
            </a:xfrm>
            <a:custGeom>
              <a:avLst/>
              <a:gdLst/>
              <a:ahLst/>
              <a:cxnLst/>
              <a:rect l="l" t="t" r="r" b="b"/>
              <a:pathLst>
                <a:path w="6437630" h="2974340">
                  <a:moveTo>
                    <a:pt x="0" y="70865"/>
                  </a:moveTo>
                  <a:lnTo>
                    <a:pt x="5568" y="43291"/>
                  </a:lnTo>
                  <a:lnTo>
                    <a:pt x="20753" y="20764"/>
                  </a:lnTo>
                  <a:lnTo>
                    <a:pt x="43275" y="5572"/>
                  </a:lnTo>
                  <a:lnTo>
                    <a:pt x="70853" y="0"/>
                  </a:lnTo>
                  <a:lnTo>
                    <a:pt x="6366217" y="0"/>
                  </a:lnTo>
                  <a:lnTo>
                    <a:pt x="6393792" y="5572"/>
                  </a:lnTo>
                  <a:lnTo>
                    <a:pt x="6416319" y="20764"/>
                  </a:lnTo>
                  <a:lnTo>
                    <a:pt x="6431511" y="43291"/>
                  </a:lnTo>
                  <a:lnTo>
                    <a:pt x="6437083" y="70865"/>
                  </a:lnTo>
                  <a:lnTo>
                    <a:pt x="6437083" y="2903435"/>
                  </a:lnTo>
                  <a:lnTo>
                    <a:pt x="6431511" y="2931014"/>
                  </a:lnTo>
                  <a:lnTo>
                    <a:pt x="6416319" y="2953535"/>
                  </a:lnTo>
                  <a:lnTo>
                    <a:pt x="6393792" y="2968720"/>
                  </a:lnTo>
                  <a:lnTo>
                    <a:pt x="6366217" y="2974289"/>
                  </a:lnTo>
                  <a:lnTo>
                    <a:pt x="70853" y="2974289"/>
                  </a:lnTo>
                  <a:lnTo>
                    <a:pt x="43275" y="2968720"/>
                  </a:lnTo>
                  <a:lnTo>
                    <a:pt x="20753" y="2953535"/>
                  </a:lnTo>
                  <a:lnTo>
                    <a:pt x="5568" y="2931014"/>
                  </a:lnTo>
                  <a:lnTo>
                    <a:pt x="0" y="2903435"/>
                  </a:lnTo>
                  <a:lnTo>
                    <a:pt x="0" y="70865"/>
                  </a:lnTo>
                  <a:close/>
                </a:path>
              </a:pathLst>
            </a:custGeom>
            <a:ln w="22860">
              <a:solidFill>
                <a:srgbClr val="C5D2CF"/>
              </a:solidFill>
            </a:ln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pPr>
                <a:lnSpc>
                  <a:spcPct val="200000"/>
                </a:lnSpc>
              </a:pPr>
              <a:endParaRPr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  <p:sp>
          <p:nvSpPr>
            <p:cNvPr id="26" name="object 15">
              <a:extLst>
                <a:ext uri="{FF2B5EF4-FFF2-40B4-BE49-F238E27FC236}">
                  <a16:creationId xmlns:a16="http://schemas.microsoft.com/office/drawing/2014/main" id="{222A1FF6-5464-B670-5D90-F39A5749423F}"/>
                </a:ext>
              </a:extLst>
            </p:cNvPr>
            <p:cNvSpPr/>
            <p:nvPr/>
          </p:nvSpPr>
          <p:spPr>
            <a:xfrm>
              <a:off x="816648" y="4654164"/>
              <a:ext cx="6391910" cy="1184309"/>
            </a:xfrm>
            <a:custGeom>
              <a:avLst/>
              <a:gdLst/>
              <a:ahLst/>
              <a:cxnLst/>
              <a:rect l="l" t="t" r="r" b="b"/>
              <a:pathLst>
                <a:path w="6391909" h="506095">
                  <a:moveTo>
                    <a:pt x="6347929" y="0"/>
                  </a:moveTo>
                  <a:lnTo>
                    <a:pt x="43421" y="0"/>
                  </a:lnTo>
                  <a:lnTo>
                    <a:pt x="26521" y="3411"/>
                  </a:lnTo>
                  <a:lnTo>
                    <a:pt x="12719" y="12715"/>
                  </a:lnTo>
                  <a:lnTo>
                    <a:pt x="3412" y="26521"/>
                  </a:lnTo>
                  <a:lnTo>
                    <a:pt x="0" y="43433"/>
                  </a:lnTo>
                  <a:lnTo>
                    <a:pt x="0" y="462533"/>
                  </a:lnTo>
                  <a:lnTo>
                    <a:pt x="3412" y="479446"/>
                  </a:lnTo>
                  <a:lnTo>
                    <a:pt x="12719" y="493252"/>
                  </a:lnTo>
                  <a:lnTo>
                    <a:pt x="26521" y="502556"/>
                  </a:lnTo>
                  <a:lnTo>
                    <a:pt x="43421" y="505967"/>
                  </a:lnTo>
                  <a:lnTo>
                    <a:pt x="6347929" y="505967"/>
                  </a:lnTo>
                  <a:lnTo>
                    <a:pt x="6364842" y="502556"/>
                  </a:lnTo>
                  <a:lnTo>
                    <a:pt x="6378648" y="493252"/>
                  </a:lnTo>
                  <a:lnTo>
                    <a:pt x="6387952" y="479446"/>
                  </a:lnTo>
                  <a:lnTo>
                    <a:pt x="6391363" y="462533"/>
                  </a:lnTo>
                  <a:lnTo>
                    <a:pt x="6391363" y="43433"/>
                  </a:lnTo>
                  <a:lnTo>
                    <a:pt x="6387952" y="26521"/>
                  </a:lnTo>
                  <a:lnTo>
                    <a:pt x="6378648" y="12715"/>
                  </a:lnTo>
                  <a:lnTo>
                    <a:pt x="6364842" y="3411"/>
                  </a:lnTo>
                  <a:lnTo>
                    <a:pt x="6347929" y="0"/>
                  </a:lnTo>
                  <a:close/>
                </a:path>
              </a:pathLst>
            </a:custGeom>
            <a:solidFill>
              <a:srgbClr val="DFEBE9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pPr>
                <a:lnSpc>
                  <a:spcPct val="200000"/>
                </a:lnSpc>
              </a:pPr>
              <a:endParaRPr dirty="0"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</p:grp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20833" y="249407"/>
            <a:ext cx="13656055" cy="777008"/>
          </a:xfrm>
          <a:prstGeom prst="rect">
            <a:avLst/>
          </a:prstGeom>
          <a:noFill/>
        </p:spPr>
        <p:txBody>
          <a:bodyPr vert="horz" wrap="square" lIns="0" tIns="220853" rIns="0" bIns="0" rtlCol="0">
            <a:spAutoFit/>
          </a:bodyPr>
          <a:lstStyle/>
          <a:p>
            <a:pPr marL="0" indent="0" algn="l">
              <a:buNone/>
            </a:pPr>
            <a:r>
              <a:rPr lang="en-US" sz="3600" dirty="0">
                <a:solidFill>
                  <a:schemeClr val="tx1"/>
                </a:solidFill>
                <a:ea typeface="PT Serif" pitchFamily="34" charset="-122"/>
                <a:cs typeface="PT Serif" pitchFamily="34" charset="-120"/>
              </a:rPr>
              <a:t>The Evolution of Boosting Algorithms</a:t>
            </a:r>
            <a:endParaRPr lang="en-US" sz="3600" dirty="0">
              <a:solidFill>
                <a:schemeClr val="tx1"/>
              </a:solidFill>
            </a:endParaRPr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A0D38183-3593-0CD5-9F87-5CFCC2BA96CD}"/>
              </a:ext>
            </a:extLst>
          </p:cNvPr>
          <p:cNvSpPr/>
          <p:nvPr/>
        </p:nvSpPr>
        <p:spPr>
          <a:xfrm>
            <a:off x="1058373" y="1480099"/>
            <a:ext cx="6034239" cy="4698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200000"/>
              </a:lnSpc>
            </a:pP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1. AdaBoost</a:t>
            </a:r>
            <a:endParaRPr lang="en-US" sz="24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The original adaptive boosting framework</a:t>
            </a:r>
            <a:endParaRPr lang="en-US" sz="18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algn="l">
              <a:lnSpc>
                <a:spcPct val="200000"/>
              </a:lnSpc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algn="l">
              <a:lnSpc>
                <a:spcPct val="200000"/>
              </a:lnSpc>
            </a:pP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3. XGBoost</a:t>
            </a:r>
            <a:endParaRPr lang="en-US" sz="24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Regularization &amp; speed gains</a:t>
            </a:r>
            <a:endParaRPr lang="en-US" sz="180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B7C25592-1A5D-94A2-1249-6AAE7946F079}"/>
              </a:ext>
            </a:extLst>
          </p:cNvPr>
          <p:cNvSpPr/>
          <p:nvPr/>
        </p:nvSpPr>
        <p:spPr>
          <a:xfrm>
            <a:off x="7970996" y="1480099"/>
            <a:ext cx="5973604" cy="4698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200000"/>
              </a:lnSpc>
            </a:pP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2. Gradient Boosting</a:t>
            </a:r>
            <a:endParaRPr lang="en-US" sz="24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Generalized loss optimization</a:t>
            </a:r>
            <a:endParaRPr lang="en-US" sz="18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algn="l">
              <a:lnSpc>
                <a:spcPct val="200000"/>
              </a:lnSpc>
            </a:pP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4. LightGBM / CatBoost</a:t>
            </a:r>
            <a:endParaRPr lang="en-US" sz="24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Scalability &amp; categorical handling</a:t>
            </a:r>
            <a:endParaRPr lang="en-US" sz="180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7FA9877-EE6F-61DC-4989-67A1DE5C1E48}"/>
              </a:ext>
            </a:extLst>
          </p:cNvPr>
          <p:cNvSpPr txBox="1"/>
          <p:nvPr/>
        </p:nvSpPr>
        <p:spPr>
          <a:xfrm>
            <a:off x="714971" y="5294850"/>
            <a:ext cx="13258422" cy="2232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Boosting algorithms have evolved from simple adaptive reweighting to highly optimized, scalable frameworks. The focus has shifted toward </a:t>
            </a:r>
            <a:r>
              <a:rPr lang="en-US" sz="1800" b="1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scalability and efficiency</a:t>
            </a: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, enabling training on massive datasets. </a:t>
            </a:r>
            <a:r>
              <a:rPr lang="en-US" sz="1800" b="1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Hybrid models</a:t>
            </a: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 now combine boosting with deep learning architectures, leveraging the strengths of both paradigms. Despite the rise of transformers and large language models, boosting maintains </a:t>
            </a:r>
            <a:r>
              <a:rPr lang="en-US" sz="1800" b="1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continued dominance on tabular datasets</a:t>
            </a: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 — the backbone of enterprise analytics.</a:t>
            </a:r>
            <a:endParaRPr lang="en-US" sz="1800" dirty="0">
              <a:latin typeface="PT Serif" panose="020A060304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09210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object 13">
            <a:extLst>
              <a:ext uri="{FF2B5EF4-FFF2-40B4-BE49-F238E27FC236}">
                <a16:creationId xmlns:a16="http://schemas.microsoft.com/office/drawing/2014/main" id="{8BC26874-D32D-B0C4-504A-8319293B7F2A}"/>
              </a:ext>
            </a:extLst>
          </p:cNvPr>
          <p:cNvGrpSpPr/>
          <p:nvPr/>
        </p:nvGrpSpPr>
        <p:grpSpPr>
          <a:xfrm>
            <a:off x="751470" y="5625705"/>
            <a:ext cx="6563730" cy="2361853"/>
            <a:chOff x="793788" y="4631308"/>
            <a:chExt cx="6437630" cy="2974340"/>
          </a:xfrm>
        </p:grpSpPr>
        <p:sp>
          <p:nvSpPr>
            <p:cNvPr id="34" name="object 14">
              <a:extLst>
                <a:ext uri="{FF2B5EF4-FFF2-40B4-BE49-F238E27FC236}">
                  <a16:creationId xmlns:a16="http://schemas.microsoft.com/office/drawing/2014/main" id="{1EBA9424-EEBD-DCA3-3EAC-C27465A465E3}"/>
                </a:ext>
              </a:extLst>
            </p:cNvPr>
            <p:cNvSpPr/>
            <p:nvPr/>
          </p:nvSpPr>
          <p:spPr>
            <a:xfrm>
              <a:off x="793788" y="4631308"/>
              <a:ext cx="6437630" cy="2974340"/>
            </a:xfrm>
            <a:custGeom>
              <a:avLst/>
              <a:gdLst/>
              <a:ahLst/>
              <a:cxnLst/>
              <a:rect l="l" t="t" r="r" b="b"/>
              <a:pathLst>
                <a:path w="6437630" h="2974340">
                  <a:moveTo>
                    <a:pt x="0" y="70865"/>
                  </a:moveTo>
                  <a:lnTo>
                    <a:pt x="5568" y="43291"/>
                  </a:lnTo>
                  <a:lnTo>
                    <a:pt x="20753" y="20764"/>
                  </a:lnTo>
                  <a:lnTo>
                    <a:pt x="43275" y="5572"/>
                  </a:lnTo>
                  <a:lnTo>
                    <a:pt x="70853" y="0"/>
                  </a:lnTo>
                  <a:lnTo>
                    <a:pt x="6366217" y="0"/>
                  </a:lnTo>
                  <a:lnTo>
                    <a:pt x="6393792" y="5572"/>
                  </a:lnTo>
                  <a:lnTo>
                    <a:pt x="6416319" y="20764"/>
                  </a:lnTo>
                  <a:lnTo>
                    <a:pt x="6431511" y="43291"/>
                  </a:lnTo>
                  <a:lnTo>
                    <a:pt x="6437083" y="70865"/>
                  </a:lnTo>
                  <a:lnTo>
                    <a:pt x="6437083" y="2903435"/>
                  </a:lnTo>
                  <a:lnTo>
                    <a:pt x="6431511" y="2931014"/>
                  </a:lnTo>
                  <a:lnTo>
                    <a:pt x="6416319" y="2953535"/>
                  </a:lnTo>
                  <a:lnTo>
                    <a:pt x="6393792" y="2968720"/>
                  </a:lnTo>
                  <a:lnTo>
                    <a:pt x="6366217" y="2974289"/>
                  </a:lnTo>
                  <a:lnTo>
                    <a:pt x="70853" y="2974289"/>
                  </a:lnTo>
                  <a:lnTo>
                    <a:pt x="43275" y="2968720"/>
                  </a:lnTo>
                  <a:lnTo>
                    <a:pt x="20753" y="2953535"/>
                  </a:lnTo>
                  <a:lnTo>
                    <a:pt x="5568" y="2931014"/>
                  </a:lnTo>
                  <a:lnTo>
                    <a:pt x="0" y="2903435"/>
                  </a:lnTo>
                  <a:lnTo>
                    <a:pt x="0" y="70865"/>
                  </a:lnTo>
                  <a:close/>
                </a:path>
              </a:pathLst>
            </a:custGeom>
            <a:ln w="22860">
              <a:solidFill>
                <a:srgbClr val="C5D2CF"/>
              </a:solidFill>
            </a:ln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pPr>
                <a:lnSpc>
                  <a:spcPct val="200000"/>
                </a:lnSpc>
              </a:pPr>
              <a:endParaRPr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  <p:sp>
          <p:nvSpPr>
            <p:cNvPr id="35" name="object 15">
              <a:extLst>
                <a:ext uri="{FF2B5EF4-FFF2-40B4-BE49-F238E27FC236}">
                  <a16:creationId xmlns:a16="http://schemas.microsoft.com/office/drawing/2014/main" id="{5E7C18E8-C80E-C1A0-CF76-5E1455C6789F}"/>
                </a:ext>
              </a:extLst>
            </p:cNvPr>
            <p:cNvSpPr/>
            <p:nvPr/>
          </p:nvSpPr>
          <p:spPr>
            <a:xfrm>
              <a:off x="816648" y="4654163"/>
              <a:ext cx="6391910" cy="857280"/>
            </a:xfrm>
            <a:custGeom>
              <a:avLst/>
              <a:gdLst/>
              <a:ahLst/>
              <a:cxnLst/>
              <a:rect l="l" t="t" r="r" b="b"/>
              <a:pathLst>
                <a:path w="6391909" h="506095">
                  <a:moveTo>
                    <a:pt x="6347929" y="0"/>
                  </a:moveTo>
                  <a:lnTo>
                    <a:pt x="43421" y="0"/>
                  </a:lnTo>
                  <a:lnTo>
                    <a:pt x="26521" y="3411"/>
                  </a:lnTo>
                  <a:lnTo>
                    <a:pt x="12719" y="12715"/>
                  </a:lnTo>
                  <a:lnTo>
                    <a:pt x="3412" y="26521"/>
                  </a:lnTo>
                  <a:lnTo>
                    <a:pt x="0" y="43433"/>
                  </a:lnTo>
                  <a:lnTo>
                    <a:pt x="0" y="462533"/>
                  </a:lnTo>
                  <a:lnTo>
                    <a:pt x="3412" y="479446"/>
                  </a:lnTo>
                  <a:lnTo>
                    <a:pt x="12719" y="493252"/>
                  </a:lnTo>
                  <a:lnTo>
                    <a:pt x="26521" y="502556"/>
                  </a:lnTo>
                  <a:lnTo>
                    <a:pt x="43421" y="505967"/>
                  </a:lnTo>
                  <a:lnTo>
                    <a:pt x="6347929" y="505967"/>
                  </a:lnTo>
                  <a:lnTo>
                    <a:pt x="6364842" y="502556"/>
                  </a:lnTo>
                  <a:lnTo>
                    <a:pt x="6378648" y="493252"/>
                  </a:lnTo>
                  <a:lnTo>
                    <a:pt x="6387952" y="479446"/>
                  </a:lnTo>
                  <a:lnTo>
                    <a:pt x="6391363" y="462533"/>
                  </a:lnTo>
                  <a:lnTo>
                    <a:pt x="6391363" y="43433"/>
                  </a:lnTo>
                  <a:lnTo>
                    <a:pt x="6387952" y="26521"/>
                  </a:lnTo>
                  <a:lnTo>
                    <a:pt x="6378648" y="12715"/>
                  </a:lnTo>
                  <a:lnTo>
                    <a:pt x="6364842" y="3411"/>
                  </a:lnTo>
                  <a:lnTo>
                    <a:pt x="6347929" y="0"/>
                  </a:lnTo>
                  <a:close/>
                </a:path>
              </a:pathLst>
            </a:custGeom>
            <a:solidFill>
              <a:srgbClr val="DFEBE9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pPr>
                <a:lnSpc>
                  <a:spcPct val="200000"/>
                </a:lnSpc>
              </a:pPr>
              <a:endParaRPr dirty="0"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</p:grpSp>
      <p:grpSp>
        <p:nvGrpSpPr>
          <p:cNvPr id="30" name="object 13">
            <a:extLst>
              <a:ext uri="{FF2B5EF4-FFF2-40B4-BE49-F238E27FC236}">
                <a16:creationId xmlns:a16="http://schemas.microsoft.com/office/drawing/2014/main" id="{3CC01AED-2482-CBED-1EFE-AA3F3687B2DC}"/>
              </a:ext>
            </a:extLst>
          </p:cNvPr>
          <p:cNvGrpSpPr/>
          <p:nvPr/>
        </p:nvGrpSpPr>
        <p:grpSpPr>
          <a:xfrm>
            <a:off x="7620000" y="5625705"/>
            <a:ext cx="6411330" cy="2361853"/>
            <a:chOff x="793788" y="4631308"/>
            <a:chExt cx="6437630" cy="2974340"/>
          </a:xfrm>
        </p:grpSpPr>
        <p:sp>
          <p:nvSpPr>
            <p:cNvPr id="31" name="object 14">
              <a:extLst>
                <a:ext uri="{FF2B5EF4-FFF2-40B4-BE49-F238E27FC236}">
                  <a16:creationId xmlns:a16="http://schemas.microsoft.com/office/drawing/2014/main" id="{42DEF435-3D17-4FA9-9522-3E98EF868AEF}"/>
                </a:ext>
              </a:extLst>
            </p:cNvPr>
            <p:cNvSpPr/>
            <p:nvPr/>
          </p:nvSpPr>
          <p:spPr>
            <a:xfrm>
              <a:off x="793788" y="4631308"/>
              <a:ext cx="6437630" cy="2974340"/>
            </a:xfrm>
            <a:custGeom>
              <a:avLst/>
              <a:gdLst/>
              <a:ahLst/>
              <a:cxnLst/>
              <a:rect l="l" t="t" r="r" b="b"/>
              <a:pathLst>
                <a:path w="6437630" h="2974340">
                  <a:moveTo>
                    <a:pt x="0" y="70865"/>
                  </a:moveTo>
                  <a:lnTo>
                    <a:pt x="5568" y="43291"/>
                  </a:lnTo>
                  <a:lnTo>
                    <a:pt x="20753" y="20764"/>
                  </a:lnTo>
                  <a:lnTo>
                    <a:pt x="43275" y="5572"/>
                  </a:lnTo>
                  <a:lnTo>
                    <a:pt x="70853" y="0"/>
                  </a:lnTo>
                  <a:lnTo>
                    <a:pt x="6366217" y="0"/>
                  </a:lnTo>
                  <a:lnTo>
                    <a:pt x="6393792" y="5572"/>
                  </a:lnTo>
                  <a:lnTo>
                    <a:pt x="6416319" y="20764"/>
                  </a:lnTo>
                  <a:lnTo>
                    <a:pt x="6431511" y="43291"/>
                  </a:lnTo>
                  <a:lnTo>
                    <a:pt x="6437083" y="70865"/>
                  </a:lnTo>
                  <a:lnTo>
                    <a:pt x="6437083" y="2903435"/>
                  </a:lnTo>
                  <a:lnTo>
                    <a:pt x="6431511" y="2931014"/>
                  </a:lnTo>
                  <a:lnTo>
                    <a:pt x="6416319" y="2953535"/>
                  </a:lnTo>
                  <a:lnTo>
                    <a:pt x="6393792" y="2968720"/>
                  </a:lnTo>
                  <a:lnTo>
                    <a:pt x="6366217" y="2974289"/>
                  </a:lnTo>
                  <a:lnTo>
                    <a:pt x="70853" y="2974289"/>
                  </a:lnTo>
                  <a:lnTo>
                    <a:pt x="43275" y="2968720"/>
                  </a:lnTo>
                  <a:lnTo>
                    <a:pt x="20753" y="2953535"/>
                  </a:lnTo>
                  <a:lnTo>
                    <a:pt x="5568" y="2931014"/>
                  </a:lnTo>
                  <a:lnTo>
                    <a:pt x="0" y="2903435"/>
                  </a:lnTo>
                  <a:lnTo>
                    <a:pt x="0" y="70865"/>
                  </a:lnTo>
                  <a:close/>
                </a:path>
              </a:pathLst>
            </a:custGeom>
            <a:ln w="22860">
              <a:solidFill>
                <a:srgbClr val="C5D2CF"/>
              </a:solidFill>
            </a:ln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pPr>
                <a:lnSpc>
                  <a:spcPct val="200000"/>
                </a:lnSpc>
              </a:pPr>
              <a:endParaRPr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  <p:sp>
          <p:nvSpPr>
            <p:cNvPr id="32" name="object 15">
              <a:extLst>
                <a:ext uri="{FF2B5EF4-FFF2-40B4-BE49-F238E27FC236}">
                  <a16:creationId xmlns:a16="http://schemas.microsoft.com/office/drawing/2014/main" id="{A38FA84D-C25A-6721-9EFF-93A9BCD893C7}"/>
                </a:ext>
              </a:extLst>
            </p:cNvPr>
            <p:cNvSpPr/>
            <p:nvPr/>
          </p:nvSpPr>
          <p:spPr>
            <a:xfrm>
              <a:off x="816648" y="4654163"/>
              <a:ext cx="6391910" cy="857280"/>
            </a:xfrm>
            <a:custGeom>
              <a:avLst/>
              <a:gdLst/>
              <a:ahLst/>
              <a:cxnLst/>
              <a:rect l="l" t="t" r="r" b="b"/>
              <a:pathLst>
                <a:path w="6391909" h="506095">
                  <a:moveTo>
                    <a:pt x="6347929" y="0"/>
                  </a:moveTo>
                  <a:lnTo>
                    <a:pt x="43421" y="0"/>
                  </a:lnTo>
                  <a:lnTo>
                    <a:pt x="26521" y="3411"/>
                  </a:lnTo>
                  <a:lnTo>
                    <a:pt x="12719" y="12715"/>
                  </a:lnTo>
                  <a:lnTo>
                    <a:pt x="3412" y="26521"/>
                  </a:lnTo>
                  <a:lnTo>
                    <a:pt x="0" y="43433"/>
                  </a:lnTo>
                  <a:lnTo>
                    <a:pt x="0" y="462533"/>
                  </a:lnTo>
                  <a:lnTo>
                    <a:pt x="3412" y="479446"/>
                  </a:lnTo>
                  <a:lnTo>
                    <a:pt x="12719" y="493252"/>
                  </a:lnTo>
                  <a:lnTo>
                    <a:pt x="26521" y="502556"/>
                  </a:lnTo>
                  <a:lnTo>
                    <a:pt x="43421" y="505967"/>
                  </a:lnTo>
                  <a:lnTo>
                    <a:pt x="6347929" y="505967"/>
                  </a:lnTo>
                  <a:lnTo>
                    <a:pt x="6364842" y="502556"/>
                  </a:lnTo>
                  <a:lnTo>
                    <a:pt x="6378648" y="493252"/>
                  </a:lnTo>
                  <a:lnTo>
                    <a:pt x="6387952" y="479446"/>
                  </a:lnTo>
                  <a:lnTo>
                    <a:pt x="6391363" y="462533"/>
                  </a:lnTo>
                  <a:lnTo>
                    <a:pt x="6391363" y="43433"/>
                  </a:lnTo>
                  <a:lnTo>
                    <a:pt x="6387952" y="26521"/>
                  </a:lnTo>
                  <a:lnTo>
                    <a:pt x="6378648" y="12715"/>
                  </a:lnTo>
                  <a:lnTo>
                    <a:pt x="6364842" y="3411"/>
                  </a:lnTo>
                  <a:lnTo>
                    <a:pt x="6347929" y="0"/>
                  </a:lnTo>
                  <a:close/>
                </a:path>
              </a:pathLst>
            </a:custGeom>
            <a:solidFill>
              <a:srgbClr val="DFEBE9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pPr>
                <a:lnSpc>
                  <a:spcPct val="200000"/>
                </a:lnSpc>
              </a:pPr>
              <a:endParaRPr dirty="0"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</p:grpSp>
      <p:grpSp>
        <p:nvGrpSpPr>
          <p:cNvPr id="27" name="object 13">
            <a:extLst>
              <a:ext uri="{FF2B5EF4-FFF2-40B4-BE49-F238E27FC236}">
                <a16:creationId xmlns:a16="http://schemas.microsoft.com/office/drawing/2014/main" id="{7453EB64-7342-4751-B226-B2A3A885DF46}"/>
              </a:ext>
            </a:extLst>
          </p:cNvPr>
          <p:cNvGrpSpPr/>
          <p:nvPr/>
        </p:nvGrpSpPr>
        <p:grpSpPr>
          <a:xfrm>
            <a:off x="7620000" y="2621220"/>
            <a:ext cx="6411330" cy="2421073"/>
            <a:chOff x="793788" y="4631308"/>
            <a:chExt cx="6437630" cy="2974340"/>
          </a:xfrm>
        </p:grpSpPr>
        <p:sp>
          <p:nvSpPr>
            <p:cNvPr id="28" name="object 14">
              <a:extLst>
                <a:ext uri="{FF2B5EF4-FFF2-40B4-BE49-F238E27FC236}">
                  <a16:creationId xmlns:a16="http://schemas.microsoft.com/office/drawing/2014/main" id="{1135B5DA-3FAF-6B95-B7FB-F2C8A5891D70}"/>
                </a:ext>
              </a:extLst>
            </p:cNvPr>
            <p:cNvSpPr/>
            <p:nvPr/>
          </p:nvSpPr>
          <p:spPr>
            <a:xfrm>
              <a:off x="793788" y="4631308"/>
              <a:ext cx="6437630" cy="2974340"/>
            </a:xfrm>
            <a:custGeom>
              <a:avLst/>
              <a:gdLst/>
              <a:ahLst/>
              <a:cxnLst/>
              <a:rect l="l" t="t" r="r" b="b"/>
              <a:pathLst>
                <a:path w="6437630" h="2974340">
                  <a:moveTo>
                    <a:pt x="0" y="70865"/>
                  </a:moveTo>
                  <a:lnTo>
                    <a:pt x="5568" y="43291"/>
                  </a:lnTo>
                  <a:lnTo>
                    <a:pt x="20753" y="20764"/>
                  </a:lnTo>
                  <a:lnTo>
                    <a:pt x="43275" y="5572"/>
                  </a:lnTo>
                  <a:lnTo>
                    <a:pt x="70853" y="0"/>
                  </a:lnTo>
                  <a:lnTo>
                    <a:pt x="6366217" y="0"/>
                  </a:lnTo>
                  <a:lnTo>
                    <a:pt x="6393792" y="5572"/>
                  </a:lnTo>
                  <a:lnTo>
                    <a:pt x="6416319" y="20764"/>
                  </a:lnTo>
                  <a:lnTo>
                    <a:pt x="6431511" y="43291"/>
                  </a:lnTo>
                  <a:lnTo>
                    <a:pt x="6437083" y="70865"/>
                  </a:lnTo>
                  <a:lnTo>
                    <a:pt x="6437083" y="2903435"/>
                  </a:lnTo>
                  <a:lnTo>
                    <a:pt x="6431511" y="2931014"/>
                  </a:lnTo>
                  <a:lnTo>
                    <a:pt x="6416319" y="2953535"/>
                  </a:lnTo>
                  <a:lnTo>
                    <a:pt x="6393792" y="2968720"/>
                  </a:lnTo>
                  <a:lnTo>
                    <a:pt x="6366217" y="2974289"/>
                  </a:lnTo>
                  <a:lnTo>
                    <a:pt x="70853" y="2974289"/>
                  </a:lnTo>
                  <a:lnTo>
                    <a:pt x="43275" y="2968720"/>
                  </a:lnTo>
                  <a:lnTo>
                    <a:pt x="20753" y="2953535"/>
                  </a:lnTo>
                  <a:lnTo>
                    <a:pt x="5568" y="2931014"/>
                  </a:lnTo>
                  <a:lnTo>
                    <a:pt x="0" y="2903435"/>
                  </a:lnTo>
                  <a:lnTo>
                    <a:pt x="0" y="70865"/>
                  </a:lnTo>
                  <a:close/>
                </a:path>
              </a:pathLst>
            </a:custGeom>
            <a:ln w="22860">
              <a:solidFill>
                <a:srgbClr val="C5D2CF"/>
              </a:solidFill>
            </a:ln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pPr>
                <a:lnSpc>
                  <a:spcPct val="200000"/>
                </a:lnSpc>
              </a:pPr>
              <a:endParaRPr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  <p:sp>
          <p:nvSpPr>
            <p:cNvPr id="29" name="object 15">
              <a:extLst>
                <a:ext uri="{FF2B5EF4-FFF2-40B4-BE49-F238E27FC236}">
                  <a16:creationId xmlns:a16="http://schemas.microsoft.com/office/drawing/2014/main" id="{659D6209-EFA4-3521-61A1-BFBE38D0E14B}"/>
                </a:ext>
              </a:extLst>
            </p:cNvPr>
            <p:cNvSpPr/>
            <p:nvPr/>
          </p:nvSpPr>
          <p:spPr>
            <a:xfrm>
              <a:off x="816648" y="4654163"/>
              <a:ext cx="6391910" cy="875906"/>
            </a:xfrm>
            <a:custGeom>
              <a:avLst/>
              <a:gdLst/>
              <a:ahLst/>
              <a:cxnLst/>
              <a:rect l="l" t="t" r="r" b="b"/>
              <a:pathLst>
                <a:path w="6391909" h="506095">
                  <a:moveTo>
                    <a:pt x="6347929" y="0"/>
                  </a:moveTo>
                  <a:lnTo>
                    <a:pt x="43421" y="0"/>
                  </a:lnTo>
                  <a:lnTo>
                    <a:pt x="26521" y="3411"/>
                  </a:lnTo>
                  <a:lnTo>
                    <a:pt x="12719" y="12715"/>
                  </a:lnTo>
                  <a:lnTo>
                    <a:pt x="3412" y="26521"/>
                  </a:lnTo>
                  <a:lnTo>
                    <a:pt x="0" y="43433"/>
                  </a:lnTo>
                  <a:lnTo>
                    <a:pt x="0" y="462533"/>
                  </a:lnTo>
                  <a:lnTo>
                    <a:pt x="3412" y="479446"/>
                  </a:lnTo>
                  <a:lnTo>
                    <a:pt x="12719" y="493252"/>
                  </a:lnTo>
                  <a:lnTo>
                    <a:pt x="26521" y="502556"/>
                  </a:lnTo>
                  <a:lnTo>
                    <a:pt x="43421" y="505967"/>
                  </a:lnTo>
                  <a:lnTo>
                    <a:pt x="6347929" y="505967"/>
                  </a:lnTo>
                  <a:lnTo>
                    <a:pt x="6364842" y="502556"/>
                  </a:lnTo>
                  <a:lnTo>
                    <a:pt x="6378648" y="493252"/>
                  </a:lnTo>
                  <a:lnTo>
                    <a:pt x="6387952" y="479446"/>
                  </a:lnTo>
                  <a:lnTo>
                    <a:pt x="6391363" y="462533"/>
                  </a:lnTo>
                  <a:lnTo>
                    <a:pt x="6391363" y="43433"/>
                  </a:lnTo>
                  <a:lnTo>
                    <a:pt x="6387952" y="26521"/>
                  </a:lnTo>
                  <a:lnTo>
                    <a:pt x="6378648" y="12715"/>
                  </a:lnTo>
                  <a:lnTo>
                    <a:pt x="6364842" y="3411"/>
                  </a:lnTo>
                  <a:lnTo>
                    <a:pt x="6347929" y="0"/>
                  </a:lnTo>
                  <a:close/>
                </a:path>
              </a:pathLst>
            </a:custGeom>
            <a:solidFill>
              <a:srgbClr val="DFEBE9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pPr>
                <a:lnSpc>
                  <a:spcPct val="200000"/>
                </a:lnSpc>
              </a:pPr>
              <a:endParaRPr dirty="0"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</p:grpSp>
      <p:grpSp>
        <p:nvGrpSpPr>
          <p:cNvPr id="24" name="object 13">
            <a:extLst>
              <a:ext uri="{FF2B5EF4-FFF2-40B4-BE49-F238E27FC236}">
                <a16:creationId xmlns:a16="http://schemas.microsoft.com/office/drawing/2014/main" id="{9EDED71C-1B31-D97D-38B2-DAFD66018FF9}"/>
              </a:ext>
            </a:extLst>
          </p:cNvPr>
          <p:cNvGrpSpPr/>
          <p:nvPr/>
        </p:nvGrpSpPr>
        <p:grpSpPr>
          <a:xfrm>
            <a:off x="750141" y="2608126"/>
            <a:ext cx="6411330" cy="2421073"/>
            <a:chOff x="793788" y="4631308"/>
            <a:chExt cx="6437630" cy="2974340"/>
          </a:xfrm>
        </p:grpSpPr>
        <p:sp>
          <p:nvSpPr>
            <p:cNvPr id="25" name="object 14">
              <a:extLst>
                <a:ext uri="{FF2B5EF4-FFF2-40B4-BE49-F238E27FC236}">
                  <a16:creationId xmlns:a16="http://schemas.microsoft.com/office/drawing/2014/main" id="{35293503-1DBD-8E87-3BE0-DDA71A76F25C}"/>
                </a:ext>
              </a:extLst>
            </p:cNvPr>
            <p:cNvSpPr/>
            <p:nvPr/>
          </p:nvSpPr>
          <p:spPr>
            <a:xfrm>
              <a:off x="793788" y="4631308"/>
              <a:ext cx="6437630" cy="2974340"/>
            </a:xfrm>
            <a:custGeom>
              <a:avLst/>
              <a:gdLst/>
              <a:ahLst/>
              <a:cxnLst/>
              <a:rect l="l" t="t" r="r" b="b"/>
              <a:pathLst>
                <a:path w="6437630" h="2974340">
                  <a:moveTo>
                    <a:pt x="0" y="70865"/>
                  </a:moveTo>
                  <a:lnTo>
                    <a:pt x="5568" y="43291"/>
                  </a:lnTo>
                  <a:lnTo>
                    <a:pt x="20753" y="20764"/>
                  </a:lnTo>
                  <a:lnTo>
                    <a:pt x="43275" y="5572"/>
                  </a:lnTo>
                  <a:lnTo>
                    <a:pt x="70853" y="0"/>
                  </a:lnTo>
                  <a:lnTo>
                    <a:pt x="6366217" y="0"/>
                  </a:lnTo>
                  <a:lnTo>
                    <a:pt x="6393792" y="5572"/>
                  </a:lnTo>
                  <a:lnTo>
                    <a:pt x="6416319" y="20764"/>
                  </a:lnTo>
                  <a:lnTo>
                    <a:pt x="6431511" y="43291"/>
                  </a:lnTo>
                  <a:lnTo>
                    <a:pt x="6437083" y="70865"/>
                  </a:lnTo>
                  <a:lnTo>
                    <a:pt x="6437083" y="2903435"/>
                  </a:lnTo>
                  <a:lnTo>
                    <a:pt x="6431511" y="2931014"/>
                  </a:lnTo>
                  <a:lnTo>
                    <a:pt x="6416319" y="2953535"/>
                  </a:lnTo>
                  <a:lnTo>
                    <a:pt x="6393792" y="2968720"/>
                  </a:lnTo>
                  <a:lnTo>
                    <a:pt x="6366217" y="2974289"/>
                  </a:lnTo>
                  <a:lnTo>
                    <a:pt x="70853" y="2974289"/>
                  </a:lnTo>
                  <a:lnTo>
                    <a:pt x="43275" y="2968720"/>
                  </a:lnTo>
                  <a:lnTo>
                    <a:pt x="20753" y="2953535"/>
                  </a:lnTo>
                  <a:lnTo>
                    <a:pt x="5568" y="2931014"/>
                  </a:lnTo>
                  <a:lnTo>
                    <a:pt x="0" y="2903435"/>
                  </a:lnTo>
                  <a:lnTo>
                    <a:pt x="0" y="70865"/>
                  </a:lnTo>
                  <a:close/>
                </a:path>
              </a:pathLst>
            </a:custGeom>
            <a:ln w="22860">
              <a:solidFill>
                <a:srgbClr val="C5D2CF"/>
              </a:solidFill>
            </a:ln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pPr>
                <a:lnSpc>
                  <a:spcPct val="200000"/>
                </a:lnSpc>
              </a:pPr>
              <a:endParaRPr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  <p:sp>
          <p:nvSpPr>
            <p:cNvPr id="26" name="object 15">
              <a:extLst>
                <a:ext uri="{FF2B5EF4-FFF2-40B4-BE49-F238E27FC236}">
                  <a16:creationId xmlns:a16="http://schemas.microsoft.com/office/drawing/2014/main" id="{222A1FF6-5464-B670-5D90-F39A5749423F}"/>
                </a:ext>
              </a:extLst>
            </p:cNvPr>
            <p:cNvSpPr/>
            <p:nvPr/>
          </p:nvSpPr>
          <p:spPr>
            <a:xfrm>
              <a:off x="816648" y="4654163"/>
              <a:ext cx="6391910" cy="891993"/>
            </a:xfrm>
            <a:custGeom>
              <a:avLst/>
              <a:gdLst/>
              <a:ahLst/>
              <a:cxnLst/>
              <a:rect l="l" t="t" r="r" b="b"/>
              <a:pathLst>
                <a:path w="6391909" h="506095">
                  <a:moveTo>
                    <a:pt x="6347929" y="0"/>
                  </a:moveTo>
                  <a:lnTo>
                    <a:pt x="43421" y="0"/>
                  </a:lnTo>
                  <a:lnTo>
                    <a:pt x="26521" y="3411"/>
                  </a:lnTo>
                  <a:lnTo>
                    <a:pt x="12719" y="12715"/>
                  </a:lnTo>
                  <a:lnTo>
                    <a:pt x="3412" y="26521"/>
                  </a:lnTo>
                  <a:lnTo>
                    <a:pt x="0" y="43433"/>
                  </a:lnTo>
                  <a:lnTo>
                    <a:pt x="0" y="462533"/>
                  </a:lnTo>
                  <a:lnTo>
                    <a:pt x="3412" y="479446"/>
                  </a:lnTo>
                  <a:lnTo>
                    <a:pt x="12719" y="493252"/>
                  </a:lnTo>
                  <a:lnTo>
                    <a:pt x="26521" y="502556"/>
                  </a:lnTo>
                  <a:lnTo>
                    <a:pt x="43421" y="505967"/>
                  </a:lnTo>
                  <a:lnTo>
                    <a:pt x="6347929" y="505967"/>
                  </a:lnTo>
                  <a:lnTo>
                    <a:pt x="6364842" y="502556"/>
                  </a:lnTo>
                  <a:lnTo>
                    <a:pt x="6378648" y="493252"/>
                  </a:lnTo>
                  <a:lnTo>
                    <a:pt x="6387952" y="479446"/>
                  </a:lnTo>
                  <a:lnTo>
                    <a:pt x="6391363" y="462533"/>
                  </a:lnTo>
                  <a:lnTo>
                    <a:pt x="6391363" y="43433"/>
                  </a:lnTo>
                  <a:lnTo>
                    <a:pt x="6387952" y="26521"/>
                  </a:lnTo>
                  <a:lnTo>
                    <a:pt x="6378648" y="12715"/>
                  </a:lnTo>
                  <a:lnTo>
                    <a:pt x="6364842" y="3411"/>
                  </a:lnTo>
                  <a:lnTo>
                    <a:pt x="6347929" y="0"/>
                  </a:lnTo>
                  <a:close/>
                </a:path>
              </a:pathLst>
            </a:custGeom>
            <a:solidFill>
              <a:srgbClr val="DFEBE9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pPr>
                <a:lnSpc>
                  <a:spcPct val="200000"/>
                </a:lnSpc>
              </a:pPr>
              <a:endParaRPr dirty="0"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</p:grp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0141" y="242041"/>
            <a:ext cx="13656055" cy="777008"/>
          </a:xfrm>
          <a:prstGeom prst="rect">
            <a:avLst/>
          </a:prstGeom>
          <a:noFill/>
        </p:spPr>
        <p:txBody>
          <a:bodyPr vert="horz" wrap="square" lIns="0" tIns="220853" rIns="0" bIns="0" rtlCol="0">
            <a:spAutoFit/>
          </a:bodyPr>
          <a:lstStyle/>
          <a:p>
            <a:pPr marL="0" indent="0" algn="l">
              <a:buNone/>
            </a:pPr>
            <a:r>
              <a:rPr lang="en-US" sz="3600" dirty="0">
                <a:solidFill>
                  <a:schemeClr val="tx1"/>
                </a:solidFill>
                <a:ea typeface="PT Serif" pitchFamily="34" charset="-122"/>
                <a:cs typeface="PT Serif" pitchFamily="34" charset="-120"/>
              </a:rPr>
              <a:t>Next-Gen Boosting Trends</a:t>
            </a:r>
            <a:endParaRPr lang="en-US" sz="3600" dirty="0">
              <a:solidFill>
                <a:schemeClr val="tx1"/>
              </a:solidFill>
            </a:endParaRPr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A0D38183-3593-0CD5-9F87-5CFCC2BA96CD}"/>
              </a:ext>
            </a:extLst>
          </p:cNvPr>
          <p:cNvSpPr/>
          <p:nvPr/>
        </p:nvSpPr>
        <p:spPr>
          <a:xfrm>
            <a:off x="1058373" y="2600904"/>
            <a:ext cx="6034239" cy="4698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200000"/>
              </a:lnSpc>
            </a:pP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1. Auto Feature Engineering</a:t>
            </a:r>
            <a:endParaRPr lang="en-US" sz="24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Automated feature construction and selection embedded directly within boosting pipelines, reducing manual preprocessing effort.</a:t>
            </a:r>
            <a:endParaRPr lang="en-US" sz="18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algn="l">
              <a:lnSpc>
                <a:spcPct val="200000"/>
              </a:lnSpc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algn="l">
              <a:lnSpc>
                <a:spcPct val="200000"/>
              </a:lnSpc>
            </a:pP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3. Edge Deployment</a:t>
            </a:r>
            <a:endParaRPr lang="en-US" sz="24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Optimized boosting models deployed on edge devices for low-latency inference in IoT and real-time applications.</a:t>
            </a:r>
            <a:endParaRPr lang="en-US" sz="180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B7C25592-1A5D-94A2-1249-6AAE7946F079}"/>
              </a:ext>
            </a:extLst>
          </p:cNvPr>
          <p:cNvSpPr/>
          <p:nvPr/>
        </p:nvSpPr>
        <p:spPr>
          <a:xfrm>
            <a:off x="7970995" y="2600904"/>
            <a:ext cx="6115599" cy="4698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200000"/>
              </a:lnSpc>
            </a:pP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2. Foundation Model Integration</a:t>
            </a:r>
            <a:endParaRPr lang="en-US" sz="24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Combining boosting with large pretrained models to leverage learned representations for richer tabular predictions.</a:t>
            </a:r>
            <a:endParaRPr lang="en-US" sz="18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algn="l">
              <a:lnSpc>
                <a:spcPct val="200000"/>
              </a:lnSpc>
            </a:pP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4. Privacy-Preserving Boosting</a:t>
            </a:r>
            <a:endParaRPr lang="en-US" sz="24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Federated and differential privacy approaches enabling collaborative model training without exposing sensitive data.</a:t>
            </a:r>
            <a:endParaRPr lang="en-US" sz="180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2D5D132-7B81-1D06-C05A-BEB22DD1CCF7}"/>
              </a:ext>
            </a:extLst>
          </p:cNvPr>
          <p:cNvSpPr txBox="1"/>
          <p:nvPr/>
        </p:nvSpPr>
        <p:spPr>
          <a:xfrm>
            <a:off x="655796" y="1073677"/>
            <a:ext cx="13974604" cy="112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The next wave of boosting innovation extends far beyond algorithmic speed. These four frontiers are redefining what boosting frameworks can achieve in production environments.</a:t>
            </a:r>
            <a:endParaRPr lang="en-US" sz="180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17810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27976" y="356261"/>
            <a:ext cx="13656055" cy="997761"/>
          </a:xfrm>
          <a:prstGeom prst="rect">
            <a:avLst/>
          </a:prstGeom>
        </p:spPr>
        <p:txBody>
          <a:bodyPr vert="horz" wrap="square" lIns="0" tIns="439471" rIns="0" bIns="0" rtlCol="0">
            <a:spAutoFit/>
          </a:bodyPr>
          <a:lstStyle/>
          <a:p>
            <a:pPr marL="0" indent="0" algn="l">
              <a:buNone/>
            </a:pPr>
            <a:r>
              <a:rPr lang="en-US" sz="3600" dirty="0">
                <a:solidFill>
                  <a:schemeClr val="tx1"/>
                </a:solidFill>
                <a:ea typeface="PT Serif" pitchFamily="34" charset="-122"/>
                <a:cs typeface="PT Serif" pitchFamily="34" charset="-120"/>
              </a:rPr>
              <a:t>The Rise of AutoML</a:t>
            </a:r>
            <a:endParaRPr lang="en-US" sz="3600" dirty="0">
              <a:solidFill>
                <a:schemeClr val="tx1"/>
              </a:solidFill>
            </a:endParaRPr>
          </a:p>
        </p:txBody>
      </p:sp>
      <p:sp>
        <p:nvSpPr>
          <p:cNvPr id="13" name="Shape 5">
            <a:extLst>
              <a:ext uri="{FF2B5EF4-FFF2-40B4-BE49-F238E27FC236}">
                <a16:creationId xmlns:a16="http://schemas.microsoft.com/office/drawing/2014/main" id="{E7C49C67-C298-4068-CA76-A4C08A84BF5C}"/>
              </a:ext>
            </a:extLst>
          </p:cNvPr>
          <p:cNvSpPr/>
          <p:nvPr/>
        </p:nvSpPr>
        <p:spPr>
          <a:xfrm>
            <a:off x="5249508" y="3886200"/>
            <a:ext cx="4164095" cy="3288862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</p:sp>
      <p:sp>
        <p:nvSpPr>
          <p:cNvPr id="15" name="Text 7">
            <a:extLst>
              <a:ext uri="{FF2B5EF4-FFF2-40B4-BE49-F238E27FC236}">
                <a16:creationId xmlns:a16="http://schemas.microsoft.com/office/drawing/2014/main" id="{36221D7B-8D1F-CF5A-6FD1-DA6DD3F7C3CC}"/>
              </a:ext>
            </a:extLst>
          </p:cNvPr>
          <p:cNvSpPr/>
          <p:nvPr/>
        </p:nvSpPr>
        <p:spPr>
          <a:xfrm>
            <a:off x="5643399" y="5159826"/>
            <a:ext cx="3818692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200000"/>
              </a:lnSpc>
              <a:buNone/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16" name="Shape 8">
            <a:extLst>
              <a:ext uri="{FF2B5EF4-FFF2-40B4-BE49-F238E27FC236}">
                <a16:creationId xmlns:a16="http://schemas.microsoft.com/office/drawing/2014/main" id="{56E40DDF-DB35-15B5-6D48-502B983E2206}"/>
              </a:ext>
            </a:extLst>
          </p:cNvPr>
          <p:cNvSpPr/>
          <p:nvPr/>
        </p:nvSpPr>
        <p:spPr>
          <a:xfrm>
            <a:off x="10198113" y="3937782"/>
            <a:ext cx="3818573" cy="3241385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</p:sp>
      <p:sp>
        <p:nvSpPr>
          <p:cNvPr id="17" name="Text 9">
            <a:extLst>
              <a:ext uri="{FF2B5EF4-FFF2-40B4-BE49-F238E27FC236}">
                <a16:creationId xmlns:a16="http://schemas.microsoft.com/office/drawing/2014/main" id="{A0DABD8D-9C74-8096-EA52-80379EDA21AF}"/>
              </a:ext>
            </a:extLst>
          </p:cNvPr>
          <p:cNvSpPr/>
          <p:nvPr/>
        </p:nvSpPr>
        <p:spPr>
          <a:xfrm>
            <a:off x="10468260" y="4138582"/>
            <a:ext cx="3347385" cy="2313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Democratization</a:t>
            </a:r>
            <a:endParaRPr lang="en-US" sz="24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Domain experts can build ML models without deep coding expertise</a:t>
            </a:r>
            <a:endParaRPr lang="en-US" sz="18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algn="l">
              <a:lnSpc>
                <a:spcPct val="200000"/>
              </a:lnSpc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algn="l">
              <a:lnSpc>
                <a:spcPct val="200000"/>
              </a:lnSpc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A28AB057-DF06-4518-36F1-6697D1A50CCF}"/>
              </a:ext>
            </a:extLst>
          </p:cNvPr>
          <p:cNvSpPr/>
          <p:nvPr/>
        </p:nvSpPr>
        <p:spPr>
          <a:xfrm>
            <a:off x="10091671" y="4072434"/>
            <a:ext cx="3818573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200000"/>
              </a:lnSpc>
              <a:buNone/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4362BB1-9034-BF3B-5EFA-8DEE0FAC765D}"/>
              </a:ext>
            </a:extLst>
          </p:cNvPr>
          <p:cNvSpPr txBox="1"/>
          <p:nvPr/>
        </p:nvSpPr>
        <p:spPr>
          <a:xfrm>
            <a:off x="674204" y="1544843"/>
            <a:ext cx="13314701" cy="16787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AutoML emerged to address a critical bottleneck: the </a:t>
            </a:r>
            <a:r>
              <a:rPr lang="en-US" sz="1800" b="1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global shortage of skilled data scientists</a:t>
            </a:r>
            <a:r>
              <a:rPr lang="en-US" sz="1800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. By automating model selection, hyperparameter tuning, and feature engineering, AutoML platforms dramatically accelerate experimentation cycles — reducing weeks of manual work to hours.</a:t>
            </a:r>
            <a:endParaRPr lang="en-US" sz="180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23" name="Text 6">
            <a:extLst>
              <a:ext uri="{FF2B5EF4-FFF2-40B4-BE49-F238E27FC236}">
                <a16:creationId xmlns:a16="http://schemas.microsoft.com/office/drawing/2014/main" id="{69542584-3A01-F1FD-90C1-FA5292DC189D}"/>
              </a:ext>
            </a:extLst>
          </p:cNvPr>
          <p:cNvSpPr/>
          <p:nvPr/>
        </p:nvSpPr>
        <p:spPr>
          <a:xfrm>
            <a:off x="5520702" y="4173751"/>
            <a:ext cx="3976821" cy="486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Faster Experiments</a:t>
            </a:r>
            <a:endParaRPr lang="en-US" sz="24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Rapid iteration from hypothesis to validated model</a:t>
            </a:r>
            <a:endParaRPr lang="en-US" sz="18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algn="l">
              <a:lnSpc>
                <a:spcPct val="200000"/>
              </a:lnSpc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algn="l">
              <a:lnSpc>
                <a:spcPct val="200000"/>
              </a:lnSpc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24" name="Shape 2">
            <a:extLst>
              <a:ext uri="{FF2B5EF4-FFF2-40B4-BE49-F238E27FC236}">
                <a16:creationId xmlns:a16="http://schemas.microsoft.com/office/drawing/2014/main" id="{0D112E11-F1FC-992F-3127-A53A7CB9580D}"/>
              </a:ext>
            </a:extLst>
          </p:cNvPr>
          <p:cNvSpPr/>
          <p:nvPr/>
        </p:nvSpPr>
        <p:spPr>
          <a:xfrm>
            <a:off x="843291" y="3914043"/>
            <a:ext cx="3976821" cy="3288862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  <p:txBody>
          <a:bodyPr/>
          <a:lstStyle/>
          <a:p>
            <a:pPr>
              <a:lnSpc>
                <a:spcPct val="200000"/>
              </a:lnSpc>
            </a:pPr>
            <a:endParaRPr lang="en-IN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25" name="Text 3">
            <a:extLst>
              <a:ext uri="{FF2B5EF4-FFF2-40B4-BE49-F238E27FC236}">
                <a16:creationId xmlns:a16="http://schemas.microsoft.com/office/drawing/2014/main" id="{5A81BF4D-8716-E2DB-2114-E36CD3E3EB06}"/>
              </a:ext>
            </a:extLst>
          </p:cNvPr>
          <p:cNvSpPr/>
          <p:nvPr/>
        </p:nvSpPr>
        <p:spPr>
          <a:xfrm>
            <a:off x="1240614" y="4129950"/>
            <a:ext cx="3626798" cy="247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Automated Selection</a:t>
            </a:r>
            <a:endParaRPr lang="en-US" sz="24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Algorithm and hyperparameter search without manual intervention</a:t>
            </a:r>
            <a:endParaRPr lang="en-US" sz="18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algn="l">
              <a:lnSpc>
                <a:spcPct val="200000"/>
              </a:lnSpc>
            </a:pPr>
            <a:r>
              <a:rPr lang="en-US" dirty="0">
                <a:solidFill>
                  <a:schemeClr val="tx1"/>
                </a:solidFill>
                <a:latin typeface="PT Serif" panose="020A0603040505020204" pitchFamily="18" charset="0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35461635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object 13">
            <a:extLst>
              <a:ext uri="{FF2B5EF4-FFF2-40B4-BE49-F238E27FC236}">
                <a16:creationId xmlns:a16="http://schemas.microsoft.com/office/drawing/2014/main" id="{8BC26874-D32D-B0C4-504A-8319293B7F2A}"/>
              </a:ext>
            </a:extLst>
          </p:cNvPr>
          <p:cNvGrpSpPr/>
          <p:nvPr/>
        </p:nvGrpSpPr>
        <p:grpSpPr>
          <a:xfrm>
            <a:off x="751470" y="5625705"/>
            <a:ext cx="6563730" cy="2361853"/>
            <a:chOff x="793788" y="4631308"/>
            <a:chExt cx="6437630" cy="2974340"/>
          </a:xfrm>
        </p:grpSpPr>
        <p:sp>
          <p:nvSpPr>
            <p:cNvPr id="34" name="object 14">
              <a:extLst>
                <a:ext uri="{FF2B5EF4-FFF2-40B4-BE49-F238E27FC236}">
                  <a16:creationId xmlns:a16="http://schemas.microsoft.com/office/drawing/2014/main" id="{1EBA9424-EEBD-DCA3-3EAC-C27465A465E3}"/>
                </a:ext>
              </a:extLst>
            </p:cNvPr>
            <p:cNvSpPr/>
            <p:nvPr/>
          </p:nvSpPr>
          <p:spPr>
            <a:xfrm>
              <a:off x="793788" y="4631308"/>
              <a:ext cx="6437630" cy="2974340"/>
            </a:xfrm>
            <a:custGeom>
              <a:avLst/>
              <a:gdLst/>
              <a:ahLst/>
              <a:cxnLst/>
              <a:rect l="l" t="t" r="r" b="b"/>
              <a:pathLst>
                <a:path w="6437630" h="2974340">
                  <a:moveTo>
                    <a:pt x="0" y="70865"/>
                  </a:moveTo>
                  <a:lnTo>
                    <a:pt x="5568" y="43291"/>
                  </a:lnTo>
                  <a:lnTo>
                    <a:pt x="20753" y="20764"/>
                  </a:lnTo>
                  <a:lnTo>
                    <a:pt x="43275" y="5572"/>
                  </a:lnTo>
                  <a:lnTo>
                    <a:pt x="70853" y="0"/>
                  </a:lnTo>
                  <a:lnTo>
                    <a:pt x="6366217" y="0"/>
                  </a:lnTo>
                  <a:lnTo>
                    <a:pt x="6393792" y="5572"/>
                  </a:lnTo>
                  <a:lnTo>
                    <a:pt x="6416319" y="20764"/>
                  </a:lnTo>
                  <a:lnTo>
                    <a:pt x="6431511" y="43291"/>
                  </a:lnTo>
                  <a:lnTo>
                    <a:pt x="6437083" y="70865"/>
                  </a:lnTo>
                  <a:lnTo>
                    <a:pt x="6437083" y="2903435"/>
                  </a:lnTo>
                  <a:lnTo>
                    <a:pt x="6431511" y="2931014"/>
                  </a:lnTo>
                  <a:lnTo>
                    <a:pt x="6416319" y="2953535"/>
                  </a:lnTo>
                  <a:lnTo>
                    <a:pt x="6393792" y="2968720"/>
                  </a:lnTo>
                  <a:lnTo>
                    <a:pt x="6366217" y="2974289"/>
                  </a:lnTo>
                  <a:lnTo>
                    <a:pt x="70853" y="2974289"/>
                  </a:lnTo>
                  <a:lnTo>
                    <a:pt x="43275" y="2968720"/>
                  </a:lnTo>
                  <a:lnTo>
                    <a:pt x="20753" y="2953535"/>
                  </a:lnTo>
                  <a:lnTo>
                    <a:pt x="5568" y="2931014"/>
                  </a:lnTo>
                  <a:lnTo>
                    <a:pt x="0" y="2903435"/>
                  </a:lnTo>
                  <a:lnTo>
                    <a:pt x="0" y="70865"/>
                  </a:lnTo>
                  <a:close/>
                </a:path>
              </a:pathLst>
            </a:custGeom>
            <a:ln w="22860">
              <a:solidFill>
                <a:srgbClr val="C5D2CF"/>
              </a:solidFill>
            </a:ln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pPr>
                <a:lnSpc>
                  <a:spcPct val="200000"/>
                </a:lnSpc>
              </a:pPr>
              <a:endParaRPr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  <p:sp>
          <p:nvSpPr>
            <p:cNvPr id="35" name="object 15">
              <a:extLst>
                <a:ext uri="{FF2B5EF4-FFF2-40B4-BE49-F238E27FC236}">
                  <a16:creationId xmlns:a16="http://schemas.microsoft.com/office/drawing/2014/main" id="{5E7C18E8-C80E-C1A0-CF76-5E1455C6789F}"/>
                </a:ext>
              </a:extLst>
            </p:cNvPr>
            <p:cNvSpPr/>
            <p:nvPr/>
          </p:nvSpPr>
          <p:spPr>
            <a:xfrm>
              <a:off x="816648" y="4654163"/>
              <a:ext cx="6391910" cy="857280"/>
            </a:xfrm>
            <a:custGeom>
              <a:avLst/>
              <a:gdLst/>
              <a:ahLst/>
              <a:cxnLst/>
              <a:rect l="l" t="t" r="r" b="b"/>
              <a:pathLst>
                <a:path w="6391909" h="506095">
                  <a:moveTo>
                    <a:pt x="6347929" y="0"/>
                  </a:moveTo>
                  <a:lnTo>
                    <a:pt x="43421" y="0"/>
                  </a:lnTo>
                  <a:lnTo>
                    <a:pt x="26521" y="3411"/>
                  </a:lnTo>
                  <a:lnTo>
                    <a:pt x="12719" y="12715"/>
                  </a:lnTo>
                  <a:lnTo>
                    <a:pt x="3412" y="26521"/>
                  </a:lnTo>
                  <a:lnTo>
                    <a:pt x="0" y="43433"/>
                  </a:lnTo>
                  <a:lnTo>
                    <a:pt x="0" y="462533"/>
                  </a:lnTo>
                  <a:lnTo>
                    <a:pt x="3412" y="479446"/>
                  </a:lnTo>
                  <a:lnTo>
                    <a:pt x="12719" y="493252"/>
                  </a:lnTo>
                  <a:lnTo>
                    <a:pt x="26521" y="502556"/>
                  </a:lnTo>
                  <a:lnTo>
                    <a:pt x="43421" y="505967"/>
                  </a:lnTo>
                  <a:lnTo>
                    <a:pt x="6347929" y="505967"/>
                  </a:lnTo>
                  <a:lnTo>
                    <a:pt x="6364842" y="502556"/>
                  </a:lnTo>
                  <a:lnTo>
                    <a:pt x="6378648" y="493252"/>
                  </a:lnTo>
                  <a:lnTo>
                    <a:pt x="6387952" y="479446"/>
                  </a:lnTo>
                  <a:lnTo>
                    <a:pt x="6391363" y="462533"/>
                  </a:lnTo>
                  <a:lnTo>
                    <a:pt x="6391363" y="43433"/>
                  </a:lnTo>
                  <a:lnTo>
                    <a:pt x="6387952" y="26521"/>
                  </a:lnTo>
                  <a:lnTo>
                    <a:pt x="6378648" y="12715"/>
                  </a:lnTo>
                  <a:lnTo>
                    <a:pt x="6364842" y="3411"/>
                  </a:lnTo>
                  <a:lnTo>
                    <a:pt x="6347929" y="0"/>
                  </a:lnTo>
                  <a:close/>
                </a:path>
              </a:pathLst>
            </a:custGeom>
            <a:solidFill>
              <a:srgbClr val="DFEBE9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pPr>
                <a:lnSpc>
                  <a:spcPct val="200000"/>
                </a:lnSpc>
              </a:pPr>
              <a:endParaRPr dirty="0"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</p:grpSp>
      <p:grpSp>
        <p:nvGrpSpPr>
          <p:cNvPr id="30" name="object 13">
            <a:extLst>
              <a:ext uri="{FF2B5EF4-FFF2-40B4-BE49-F238E27FC236}">
                <a16:creationId xmlns:a16="http://schemas.microsoft.com/office/drawing/2014/main" id="{3CC01AED-2482-CBED-1EFE-AA3F3687B2DC}"/>
              </a:ext>
            </a:extLst>
          </p:cNvPr>
          <p:cNvGrpSpPr/>
          <p:nvPr/>
        </p:nvGrpSpPr>
        <p:grpSpPr>
          <a:xfrm>
            <a:off x="7620000" y="5625705"/>
            <a:ext cx="6571059" cy="2361853"/>
            <a:chOff x="793788" y="4631308"/>
            <a:chExt cx="6437630" cy="2974340"/>
          </a:xfrm>
        </p:grpSpPr>
        <p:sp>
          <p:nvSpPr>
            <p:cNvPr id="31" name="object 14">
              <a:extLst>
                <a:ext uri="{FF2B5EF4-FFF2-40B4-BE49-F238E27FC236}">
                  <a16:creationId xmlns:a16="http://schemas.microsoft.com/office/drawing/2014/main" id="{42DEF435-3D17-4FA9-9522-3E98EF868AEF}"/>
                </a:ext>
              </a:extLst>
            </p:cNvPr>
            <p:cNvSpPr/>
            <p:nvPr/>
          </p:nvSpPr>
          <p:spPr>
            <a:xfrm>
              <a:off x="793788" y="4631308"/>
              <a:ext cx="6437630" cy="2974340"/>
            </a:xfrm>
            <a:custGeom>
              <a:avLst/>
              <a:gdLst/>
              <a:ahLst/>
              <a:cxnLst/>
              <a:rect l="l" t="t" r="r" b="b"/>
              <a:pathLst>
                <a:path w="6437630" h="2974340">
                  <a:moveTo>
                    <a:pt x="0" y="70865"/>
                  </a:moveTo>
                  <a:lnTo>
                    <a:pt x="5568" y="43291"/>
                  </a:lnTo>
                  <a:lnTo>
                    <a:pt x="20753" y="20764"/>
                  </a:lnTo>
                  <a:lnTo>
                    <a:pt x="43275" y="5572"/>
                  </a:lnTo>
                  <a:lnTo>
                    <a:pt x="70853" y="0"/>
                  </a:lnTo>
                  <a:lnTo>
                    <a:pt x="6366217" y="0"/>
                  </a:lnTo>
                  <a:lnTo>
                    <a:pt x="6393792" y="5572"/>
                  </a:lnTo>
                  <a:lnTo>
                    <a:pt x="6416319" y="20764"/>
                  </a:lnTo>
                  <a:lnTo>
                    <a:pt x="6431511" y="43291"/>
                  </a:lnTo>
                  <a:lnTo>
                    <a:pt x="6437083" y="70865"/>
                  </a:lnTo>
                  <a:lnTo>
                    <a:pt x="6437083" y="2903435"/>
                  </a:lnTo>
                  <a:lnTo>
                    <a:pt x="6431511" y="2931014"/>
                  </a:lnTo>
                  <a:lnTo>
                    <a:pt x="6416319" y="2953535"/>
                  </a:lnTo>
                  <a:lnTo>
                    <a:pt x="6393792" y="2968720"/>
                  </a:lnTo>
                  <a:lnTo>
                    <a:pt x="6366217" y="2974289"/>
                  </a:lnTo>
                  <a:lnTo>
                    <a:pt x="70853" y="2974289"/>
                  </a:lnTo>
                  <a:lnTo>
                    <a:pt x="43275" y="2968720"/>
                  </a:lnTo>
                  <a:lnTo>
                    <a:pt x="20753" y="2953535"/>
                  </a:lnTo>
                  <a:lnTo>
                    <a:pt x="5568" y="2931014"/>
                  </a:lnTo>
                  <a:lnTo>
                    <a:pt x="0" y="2903435"/>
                  </a:lnTo>
                  <a:lnTo>
                    <a:pt x="0" y="70865"/>
                  </a:lnTo>
                  <a:close/>
                </a:path>
              </a:pathLst>
            </a:custGeom>
            <a:ln w="22860">
              <a:solidFill>
                <a:srgbClr val="C5D2CF"/>
              </a:solidFill>
            </a:ln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pPr>
                <a:lnSpc>
                  <a:spcPct val="200000"/>
                </a:lnSpc>
              </a:pPr>
              <a:endParaRPr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  <p:sp>
          <p:nvSpPr>
            <p:cNvPr id="32" name="object 15">
              <a:extLst>
                <a:ext uri="{FF2B5EF4-FFF2-40B4-BE49-F238E27FC236}">
                  <a16:creationId xmlns:a16="http://schemas.microsoft.com/office/drawing/2014/main" id="{A38FA84D-C25A-6721-9EFF-93A9BCD893C7}"/>
                </a:ext>
              </a:extLst>
            </p:cNvPr>
            <p:cNvSpPr/>
            <p:nvPr/>
          </p:nvSpPr>
          <p:spPr>
            <a:xfrm>
              <a:off x="816648" y="4654163"/>
              <a:ext cx="6391910" cy="857280"/>
            </a:xfrm>
            <a:custGeom>
              <a:avLst/>
              <a:gdLst/>
              <a:ahLst/>
              <a:cxnLst/>
              <a:rect l="l" t="t" r="r" b="b"/>
              <a:pathLst>
                <a:path w="6391909" h="506095">
                  <a:moveTo>
                    <a:pt x="6347929" y="0"/>
                  </a:moveTo>
                  <a:lnTo>
                    <a:pt x="43421" y="0"/>
                  </a:lnTo>
                  <a:lnTo>
                    <a:pt x="26521" y="3411"/>
                  </a:lnTo>
                  <a:lnTo>
                    <a:pt x="12719" y="12715"/>
                  </a:lnTo>
                  <a:lnTo>
                    <a:pt x="3412" y="26521"/>
                  </a:lnTo>
                  <a:lnTo>
                    <a:pt x="0" y="43433"/>
                  </a:lnTo>
                  <a:lnTo>
                    <a:pt x="0" y="462533"/>
                  </a:lnTo>
                  <a:lnTo>
                    <a:pt x="3412" y="479446"/>
                  </a:lnTo>
                  <a:lnTo>
                    <a:pt x="12719" y="493252"/>
                  </a:lnTo>
                  <a:lnTo>
                    <a:pt x="26521" y="502556"/>
                  </a:lnTo>
                  <a:lnTo>
                    <a:pt x="43421" y="505967"/>
                  </a:lnTo>
                  <a:lnTo>
                    <a:pt x="6347929" y="505967"/>
                  </a:lnTo>
                  <a:lnTo>
                    <a:pt x="6364842" y="502556"/>
                  </a:lnTo>
                  <a:lnTo>
                    <a:pt x="6378648" y="493252"/>
                  </a:lnTo>
                  <a:lnTo>
                    <a:pt x="6387952" y="479446"/>
                  </a:lnTo>
                  <a:lnTo>
                    <a:pt x="6391363" y="462533"/>
                  </a:lnTo>
                  <a:lnTo>
                    <a:pt x="6391363" y="43433"/>
                  </a:lnTo>
                  <a:lnTo>
                    <a:pt x="6387952" y="26521"/>
                  </a:lnTo>
                  <a:lnTo>
                    <a:pt x="6378648" y="12715"/>
                  </a:lnTo>
                  <a:lnTo>
                    <a:pt x="6364842" y="3411"/>
                  </a:lnTo>
                  <a:lnTo>
                    <a:pt x="6347929" y="0"/>
                  </a:lnTo>
                  <a:close/>
                </a:path>
              </a:pathLst>
            </a:custGeom>
            <a:solidFill>
              <a:srgbClr val="DFEBE9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pPr>
                <a:lnSpc>
                  <a:spcPct val="200000"/>
                </a:lnSpc>
              </a:pPr>
              <a:endParaRPr dirty="0"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</p:grpSp>
      <p:grpSp>
        <p:nvGrpSpPr>
          <p:cNvPr id="27" name="object 13">
            <a:extLst>
              <a:ext uri="{FF2B5EF4-FFF2-40B4-BE49-F238E27FC236}">
                <a16:creationId xmlns:a16="http://schemas.microsoft.com/office/drawing/2014/main" id="{7453EB64-7342-4751-B226-B2A3A885DF46}"/>
              </a:ext>
            </a:extLst>
          </p:cNvPr>
          <p:cNvGrpSpPr/>
          <p:nvPr/>
        </p:nvGrpSpPr>
        <p:grpSpPr>
          <a:xfrm>
            <a:off x="7620000" y="2621220"/>
            <a:ext cx="6571059" cy="2421073"/>
            <a:chOff x="793788" y="4631308"/>
            <a:chExt cx="6437630" cy="2974340"/>
          </a:xfrm>
        </p:grpSpPr>
        <p:sp>
          <p:nvSpPr>
            <p:cNvPr id="28" name="object 14">
              <a:extLst>
                <a:ext uri="{FF2B5EF4-FFF2-40B4-BE49-F238E27FC236}">
                  <a16:creationId xmlns:a16="http://schemas.microsoft.com/office/drawing/2014/main" id="{1135B5DA-3FAF-6B95-B7FB-F2C8A5891D70}"/>
                </a:ext>
              </a:extLst>
            </p:cNvPr>
            <p:cNvSpPr/>
            <p:nvPr/>
          </p:nvSpPr>
          <p:spPr>
            <a:xfrm>
              <a:off x="793788" y="4631308"/>
              <a:ext cx="6437630" cy="2974340"/>
            </a:xfrm>
            <a:custGeom>
              <a:avLst/>
              <a:gdLst/>
              <a:ahLst/>
              <a:cxnLst/>
              <a:rect l="l" t="t" r="r" b="b"/>
              <a:pathLst>
                <a:path w="6437630" h="2974340">
                  <a:moveTo>
                    <a:pt x="0" y="70865"/>
                  </a:moveTo>
                  <a:lnTo>
                    <a:pt x="5568" y="43291"/>
                  </a:lnTo>
                  <a:lnTo>
                    <a:pt x="20753" y="20764"/>
                  </a:lnTo>
                  <a:lnTo>
                    <a:pt x="43275" y="5572"/>
                  </a:lnTo>
                  <a:lnTo>
                    <a:pt x="70853" y="0"/>
                  </a:lnTo>
                  <a:lnTo>
                    <a:pt x="6366217" y="0"/>
                  </a:lnTo>
                  <a:lnTo>
                    <a:pt x="6393792" y="5572"/>
                  </a:lnTo>
                  <a:lnTo>
                    <a:pt x="6416319" y="20764"/>
                  </a:lnTo>
                  <a:lnTo>
                    <a:pt x="6431511" y="43291"/>
                  </a:lnTo>
                  <a:lnTo>
                    <a:pt x="6437083" y="70865"/>
                  </a:lnTo>
                  <a:lnTo>
                    <a:pt x="6437083" y="2903435"/>
                  </a:lnTo>
                  <a:lnTo>
                    <a:pt x="6431511" y="2931014"/>
                  </a:lnTo>
                  <a:lnTo>
                    <a:pt x="6416319" y="2953535"/>
                  </a:lnTo>
                  <a:lnTo>
                    <a:pt x="6393792" y="2968720"/>
                  </a:lnTo>
                  <a:lnTo>
                    <a:pt x="6366217" y="2974289"/>
                  </a:lnTo>
                  <a:lnTo>
                    <a:pt x="70853" y="2974289"/>
                  </a:lnTo>
                  <a:lnTo>
                    <a:pt x="43275" y="2968720"/>
                  </a:lnTo>
                  <a:lnTo>
                    <a:pt x="20753" y="2953535"/>
                  </a:lnTo>
                  <a:lnTo>
                    <a:pt x="5568" y="2931014"/>
                  </a:lnTo>
                  <a:lnTo>
                    <a:pt x="0" y="2903435"/>
                  </a:lnTo>
                  <a:lnTo>
                    <a:pt x="0" y="70865"/>
                  </a:lnTo>
                  <a:close/>
                </a:path>
              </a:pathLst>
            </a:custGeom>
            <a:ln w="22860">
              <a:solidFill>
                <a:srgbClr val="C5D2CF"/>
              </a:solidFill>
            </a:ln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pPr>
                <a:lnSpc>
                  <a:spcPct val="200000"/>
                </a:lnSpc>
              </a:pPr>
              <a:endParaRPr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  <p:sp>
          <p:nvSpPr>
            <p:cNvPr id="29" name="object 15">
              <a:extLst>
                <a:ext uri="{FF2B5EF4-FFF2-40B4-BE49-F238E27FC236}">
                  <a16:creationId xmlns:a16="http://schemas.microsoft.com/office/drawing/2014/main" id="{659D6209-EFA4-3521-61A1-BFBE38D0E14B}"/>
                </a:ext>
              </a:extLst>
            </p:cNvPr>
            <p:cNvSpPr/>
            <p:nvPr/>
          </p:nvSpPr>
          <p:spPr>
            <a:xfrm>
              <a:off x="816648" y="4654163"/>
              <a:ext cx="6391910" cy="875906"/>
            </a:xfrm>
            <a:custGeom>
              <a:avLst/>
              <a:gdLst/>
              <a:ahLst/>
              <a:cxnLst/>
              <a:rect l="l" t="t" r="r" b="b"/>
              <a:pathLst>
                <a:path w="6391909" h="506095">
                  <a:moveTo>
                    <a:pt x="6347929" y="0"/>
                  </a:moveTo>
                  <a:lnTo>
                    <a:pt x="43421" y="0"/>
                  </a:lnTo>
                  <a:lnTo>
                    <a:pt x="26521" y="3411"/>
                  </a:lnTo>
                  <a:lnTo>
                    <a:pt x="12719" y="12715"/>
                  </a:lnTo>
                  <a:lnTo>
                    <a:pt x="3412" y="26521"/>
                  </a:lnTo>
                  <a:lnTo>
                    <a:pt x="0" y="43433"/>
                  </a:lnTo>
                  <a:lnTo>
                    <a:pt x="0" y="462533"/>
                  </a:lnTo>
                  <a:lnTo>
                    <a:pt x="3412" y="479446"/>
                  </a:lnTo>
                  <a:lnTo>
                    <a:pt x="12719" y="493252"/>
                  </a:lnTo>
                  <a:lnTo>
                    <a:pt x="26521" y="502556"/>
                  </a:lnTo>
                  <a:lnTo>
                    <a:pt x="43421" y="505967"/>
                  </a:lnTo>
                  <a:lnTo>
                    <a:pt x="6347929" y="505967"/>
                  </a:lnTo>
                  <a:lnTo>
                    <a:pt x="6364842" y="502556"/>
                  </a:lnTo>
                  <a:lnTo>
                    <a:pt x="6378648" y="493252"/>
                  </a:lnTo>
                  <a:lnTo>
                    <a:pt x="6387952" y="479446"/>
                  </a:lnTo>
                  <a:lnTo>
                    <a:pt x="6391363" y="462533"/>
                  </a:lnTo>
                  <a:lnTo>
                    <a:pt x="6391363" y="43433"/>
                  </a:lnTo>
                  <a:lnTo>
                    <a:pt x="6387952" y="26521"/>
                  </a:lnTo>
                  <a:lnTo>
                    <a:pt x="6378648" y="12715"/>
                  </a:lnTo>
                  <a:lnTo>
                    <a:pt x="6364842" y="3411"/>
                  </a:lnTo>
                  <a:lnTo>
                    <a:pt x="6347929" y="0"/>
                  </a:lnTo>
                  <a:close/>
                </a:path>
              </a:pathLst>
            </a:custGeom>
            <a:solidFill>
              <a:srgbClr val="DFEBE9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pPr>
                <a:lnSpc>
                  <a:spcPct val="200000"/>
                </a:lnSpc>
              </a:pPr>
              <a:endParaRPr dirty="0"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</p:grpSp>
      <p:grpSp>
        <p:nvGrpSpPr>
          <p:cNvPr id="24" name="object 13">
            <a:extLst>
              <a:ext uri="{FF2B5EF4-FFF2-40B4-BE49-F238E27FC236}">
                <a16:creationId xmlns:a16="http://schemas.microsoft.com/office/drawing/2014/main" id="{9EDED71C-1B31-D97D-38B2-DAFD66018FF9}"/>
              </a:ext>
            </a:extLst>
          </p:cNvPr>
          <p:cNvGrpSpPr/>
          <p:nvPr/>
        </p:nvGrpSpPr>
        <p:grpSpPr>
          <a:xfrm>
            <a:off x="750141" y="2608126"/>
            <a:ext cx="6411330" cy="2421073"/>
            <a:chOff x="793788" y="4631308"/>
            <a:chExt cx="6437630" cy="2974340"/>
          </a:xfrm>
        </p:grpSpPr>
        <p:sp>
          <p:nvSpPr>
            <p:cNvPr id="25" name="object 14">
              <a:extLst>
                <a:ext uri="{FF2B5EF4-FFF2-40B4-BE49-F238E27FC236}">
                  <a16:creationId xmlns:a16="http://schemas.microsoft.com/office/drawing/2014/main" id="{35293503-1DBD-8E87-3BE0-DDA71A76F25C}"/>
                </a:ext>
              </a:extLst>
            </p:cNvPr>
            <p:cNvSpPr/>
            <p:nvPr/>
          </p:nvSpPr>
          <p:spPr>
            <a:xfrm>
              <a:off x="793788" y="4631308"/>
              <a:ext cx="6437630" cy="2974340"/>
            </a:xfrm>
            <a:custGeom>
              <a:avLst/>
              <a:gdLst/>
              <a:ahLst/>
              <a:cxnLst/>
              <a:rect l="l" t="t" r="r" b="b"/>
              <a:pathLst>
                <a:path w="6437630" h="2974340">
                  <a:moveTo>
                    <a:pt x="0" y="70865"/>
                  </a:moveTo>
                  <a:lnTo>
                    <a:pt x="5568" y="43291"/>
                  </a:lnTo>
                  <a:lnTo>
                    <a:pt x="20753" y="20764"/>
                  </a:lnTo>
                  <a:lnTo>
                    <a:pt x="43275" y="5572"/>
                  </a:lnTo>
                  <a:lnTo>
                    <a:pt x="70853" y="0"/>
                  </a:lnTo>
                  <a:lnTo>
                    <a:pt x="6366217" y="0"/>
                  </a:lnTo>
                  <a:lnTo>
                    <a:pt x="6393792" y="5572"/>
                  </a:lnTo>
                  <a:lnTo>
                    <a:pt x="6416319" y="20764"/>
                  </a:lnTo>
                  <a:lnTo>
                    <a:pt x="6431511" y="43291"/>
                  </a:lnTo>
                  <a:lnTo>
                    <a:pt x="6437083" y="70865"/>
                  </a:lnTo>
                  <a:lnTo>
                    <a:pt x="6437083" y="2903435"/>
                  </a:lnTo>
                  <a:lnTo>
                    <a:pt x="6431511" y="2931014"/>
                  </a:lnTo>
                  <a:lnTo>
                    <a:pt x="6416319" y="2953535"/>
                  </a:lnTo>
                  <a:lnTo>
                    <a:pt x="6393792" y="2968720"/>
                  </a:lnTo>
                  <a:lnTo>
                    <a:pt x="6366217" y="2974289"/>
                  </a:lnTo>
                  <a:lnTo>
                    <a:pt x="70853" y="2974289"/>
                  </a:lnTo>
                  <a:lnTo>
                    <a:pt x="43275" y="2968720"/>
                  </a:lnTo>
                  <a:lnTo>
                    <a:pt x="20753" y="2953535"/>
                  </a:lnTo>
                  <a:lnTo>
                    <a:pt x="5568" y="2931014"/>
                  </a:lnTo>
                  <a:lnTo>
                    <a:pt x="0" y="2903435"/>
                  </a:lnTo>
                  <a:lnTo>
                    <a:pt x="0" y="70865"/>
                  </a:lnTo>
                  <a:close/>
                </a:path>
              </a:pathLst>
            </a:custGeom>
            <a:ln w="22860">
              <a:solidFill>
                <a:srgbClr val="C5D2CF"/>
              </a:solidFill>
            </a:ln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pPr>
                <a:lnSpc>
                  <a:spcPct val="200000"/>
                </a:lnSpc>
              </a:pPr>
              <a:endParaRPr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  <p:sp>
          <p:nvSpPr>
            <p:cNvPr id="26" name="object 15">
              <a:extLst>
                <a:ext uri="{FF2B5EF4-FFF2-40B4-BE49-F238E27FC236}">
                  <a16:creationId xmlns:a16="http://schemas.microsoft.com/office/drawing/2014/main" id="{222A1FF6-5464-B670-5D90-F39A5749423F}"/>
                </a:ext>
              </a:extLst>
            </p:cNvPr>
            <p:cNvSpPr/>
            <p:nvPr/>
          </p:nvSpPr>
          <p:spPr>
            <a:xfrm>
              <a:off x="816648" y="4654163"/>
              <a:ext cx="6391910" cy="891993"/>
            </a:xfrm>
            <a:custGeom>
              <a:avLst/>
              <a:gdLst/>
              <a:ahLst/>
              <a:cxnLst/>
              <a:rect l="l" t="t" r="r" b="b"/>
              <a:pathLst>
                <a:path w="6391909" h="506095">
                  <a:moveTo>
                    <a:pt x="6347929" y="0"/>
                  </a:moveTo>
                  <a:lnTo>
                    <a:pt x="43421" y="0"/>
                  </a:lnTo>
                  <a:lnTo>
                    <a:pt x="26521" y="3411"/>
                  </a:lnTo>
                  <a:lnTo>
                    <a:pt x="12719" y="12715"/>
                  </a:lnTo>
                  <a:lnTo>
                    <a:pt x="3412" y="26521"/>
                  </a:lnTo>
                  <a:lnTo>
                    <a:pt x="0" y="43433"/>
                  </a:lnTo>
                  <a:lnTo>
                    <a:pt x="0" y="462533"/>
                  </a:lnTo>
                  <a:lnTo>
                    <a:pt x="3412" y="479446"/>
                  </a:lnTo>
                  <a:lnTo>
                    <a:pt x="12719" y="493252"/>
                  </a:lnTo>
                  <a:lnTo>
                    <a:pt x="26521" y="502556"/>
                  </a:lnTo>
                  <a:lnTo>
                    <a:pt x="43421" y="505967"/>
                  </a:lnTo>
                  <a:lnTo>
                    <a:pt x="6347929" y="505967"/>
                  </a:lnTo>
                  <a:lnTo>
                    <a:pt x="6364842" y="502556"/>
                  </a:lnTo>
                  <a:lnTo>
                    <a:pt x="6378648" y="493252"/>
                  </a:lnTo>
                  <a:lnTo>
                    <a:pt x="6387952" y="479446"/>
                  </a:lnTo>
                  <a:lnTo>
                    <a:pt x="6391363" y="462533"/>
                  </a:lnTo>
                  <a:lnTo>
                    <a:pt x="6391363" y="43433"/>
                  </a:lnTo>
                  <a:lnTo>
                    <a:pt x="6387952" y="26521"/>
                  </a:lnTo>
                  <a:lnTo>
                    <a:pt x="6378648" y="12715"/>
                  </a:lnTo>
                  <a:lnTo>
                    <a:pt x="6364842" y="3411"/>
                  </a:lnTo>
                  <a:lnTo>
                    <a:pt x="6347929" y="0"/>
                  </a:lnTo>
                  <a:close/>
                </a:path>
              </a:pathLst>
            </a:custGeom>
            <a:solidFill>
              <a:srgbClr val="DFEBE9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pPr>
                <a:lnSpc>
                  <a:spcPct val="200000"/>
                </a:lnSpc>
              </a:pPr>
              <a:endParaRPr dirty="0"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</p:grp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0141" y="242041"/>
            <a:ext cx="13656055" cy="777008"/>
          </a:xfrm>
          <a:prstGeom prst="rect">
            <a:avLst/>
          </a:prstGeom>
          <a:noFill/>
        </p:spPr>
        <p:txBody>
          <a:bodyPr vert="horz" wrap="square" lIns="0" tIns="220853" rIns="0" bIns="0" rtlCol="0">
            <a:spAutoFit/>
          </a:bodyPr>
          <a:lstStyle/>
          <a:p>
            <a:pPr marL="0" indent="0" algn="l">
              <a:buNone/>
            </a:pPr>
            <a:r>
              <a:rPr lang="en-US" sz="3600" dirty="0">
                <a:solidFill>
                  <a:schemeClr val="tx1"/>
                </a:solidFill>
                <a:ea typeface="PT Serif" pitchFamily="34" charset="-122"/>
                <a:cs typeface="PT Serif" pitchFamily="34" charset="-120"/>
              </a:rPr>
              <a:t>Future Directions of AutoML</a:t>
            </a:r>
            <a:endParaRPr lang="en-US" sz="3600" dirty="0">
              <a:solidFill>
                <a:schemeClr val="tx1"/>
              </a:solidFill>
            </a:endParaRPr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A0D38183-3593-0CD5-9F87-5CFCC2BA96CD}"/>
              </a:ext>
            </a:extLst>
          </p:cNvPr>
          <p:cNvSpPr/>
          <p:nvPr/>
        </p:nvSpPr>
        <p:spPr>
          <a:xfrm>
            <a:off x="1058373" y="2600904"/>
            <a:ext cx="6034239" cy="4698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AI Agents Managing Full Workflows</a:t>
            </a:r>
            <a:endParaRPr lang="en-US" sz="24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Autonomous agents orchestrate data ingestion, cleaning, modeling, and deployment end-to-end — minimizing human-in-the-loop overhead.</a:t>
            </a:r>
            <a:endParaRPr lang="en-US" sz="18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algn="l">
              <a:lnSpc>
                <a:spcPct val="200000"/>
              </a:lnSpc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Continuous Learning Pipelines</a:t>
            </a:r>
            <a:endParaRPr lang="en-US" sz="24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Models that retrain and adapt automatically as data distributions shift, maintaining accuracy over time without manual retraining.</a:t>
            </a:r>
            <a:endParaRPr lang="en-US" sz="180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B7C25592-1A5D-94A2-1249-6AAE7946F079}"/>
              </a:ext>
            </a:extLst>
          </p:cNvPr>
          <p:cNvSpPr/>
          <p:nvPr/>
        </p:nvSpPr>
        <p:spPr>
          <a:xfrm>
            <a:off x="7779729" y="2621220"/>
            <a:ext cx="6411330" cy="4698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Domain-Aware AutoML</a:t>
            </a:r>
            <a:endParaRPr lang="en-US" sz="24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Systems that encode domain knowledge — healthcare constraints, financial regulations — directly into the search and optimization process.</a:t>
            </a:r>
            <a:endParaRPr lang="en-US" sz="18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From Auto Modeling → Auto Decision Systems</a:t>
            </a:r>
            <a:endParaRPr lang="en-US" sz="24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The paradigm shift from automating model creation to automating entire decision workflows, including monitoring, alerting, and action.</a:t>
            </a:r>
            <a:endParaRPr lang="en-US" sz="180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2D5D132-7B81-1D06-C05A-BEB22DD1CCF7}"/>
              </a:ext>
            </a:extLst>
          </p:cNvPr>
          <p:cNvSpPr txBox="1"/>
          <p:nvPr/>
        </p:nvSpPr>
        <p:spPr>
          <a:xfrm>
            <a:off x="655796" y="1073677"/>
            <a:ext cx="13974604" cy="112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AutoML is evolving from a model-building tool into an autonomous decision-making platform. The trajectory points toward fully self-managing ML ecosystems.</a:t>
            </a:r>
            <a:endParaRPr lang="en-US" sz="180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84308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2FD7FA-F250-86C3-8AA8-1A14D89EB2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5085" y="419107"/>
            <a:ext cx="13656055" cy="1107996"/>
          </a:xfrm>
        </p:spPr>
        <p:txBody>
          <a:bodyPr/>
          <a:lstStyle/>
          <a:p>
            <a:r>
              <a:rPr lang="en-US" sz="3600" dirty="0">
                <a:solidFill>
                  <a:schemeClr val="tx1"/>
                </a:solidFill>
                <a:ea typeface="PT Serif" pitchFamily="34" charset="-122"/>
                <a:cs typeface="PT Serif" pitchFamily="34" charset="-120"/>
              </a:rPr>
              <a:t>Explainable AI (XAI): Why It Matters</a:t>
            </a:r>
            <a:br>
              <a:rPr lang="en-US" sz="3600" dirty="0">
                <a:solidFill>
                  <a:schemeClr val="tx1"/>
                </a:solidFill>
              </a:rPr>
            </a:br>
            <a:endParaRPr lang="en-IN" sz="3600" dirty="0"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C52B92A-1F68-ABB9-56AD-FC4ABDA7FBA7}"/>
              </a:ext>
            </a:extLst>
          </p:cNvPr>
          <p:cNvSpPr/>
          <p:nvPr/>
        </p:nvSpPr>
        <p:spPr>
          <a:xfrm>
            <a:off x="533400" y="6553200"/>
            <a:ext cx="13000228" cy="110799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PT Serif" panose="020A06030405050202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84235B-556C-5E24-2A46-F7BA5709A6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15085" y="1538826"/>
            <a:ext cx="13000228" cy="6569299"/>
          </a:xfrm>
        </p:spPr>
        <p:txBody>
          <a:bodyPr/>
          <a:lstStyle/>
          <a:p>
            <a:pPr algn="l">
              <a:lnSpc>
                <a:spcPct val="200000"/>
              </a:lnSpc>
            </a:pPr>
            <a:r>
              <a:rPr lang="en-US" sz="1800" dirty="0">
                <a:solidFill>
                  <a:schemeClr val="tx1"/>
                </a:solidFill>
                <a:ea typeface="DM Sans" pitchFamily="34" charset="-122"/>
                <a:cs typeface="DM Sans" pitchFamily="34" charset="-120"/>
              </a:rPr>
              <a:t>As ML models grow more powerful, they also grow more opaque. </a:t>
            </a:r>
            <a:r>
              <a:rPr lang="en-US" sz="1800" b="1" dirty="0">
                <a:solidFill>
                  <a:schemeClr val="tx1"/>
                </a:solidFill>
                <a:ea typeface="DM Sans" pitchFamily="34" charset="-122"/>
                <a:cs typeface="DM Sans" pitchFamily="34" charset="-120"/>
              </a:rPr>
              <a:t>Black-box challenges</a:t>
            </a:r>
            <a:r>
              <a:rPr lang="en-US" sz="1800" dirty="0">
                <a:solidFill>
                  <a:schemeClr val="tx1"/>
                </a:solidFill>
                <a:ea typeface="DM Sans" pitchFamily="34" charset="-122"/>
                <a:cs typeface="DM Sans" pitchFamily="34" charset="-120"/>
              </a:rPr>
              <a:t> in modern ML create serious risks — biased outcomes, unexplainable decisions, and eroded stakeholder trust. XAI addresses these challenges head-on.</a:t>
            </a:r>
            <a:endParaRPr lang="en-US" sz="1800" dirty="0">
              <a:solidFill>
                <a:schemeClr val="tx1"/>
              </a:solidFill>
            </a:endParaRPr>
          </a:p>
          <a:p>
            <a:pPr algn="l">
              <a:lnSpc>
                <a:spcPct val="200000"/>
              </a:lnSpc>
            </a:pPr>
            <a:r>
              <a:rPr lang="en-US" sz="2400" dirty="0">
                <a:solidFill>
                  <a:schemeClr val="tx1"/>
                </a:solidFill>
                <a:ea typeface="PT Serif" pitchFamily="34" charset="-122"/>
                <a:cs typeface="PT Serif" pitchFamily="34" charset="-120"/>
              </a:rPr>
              <a:t>Transparency</a:t>
            </a:r>
            <a:endParaRPr lang="en-US" sz="2400" dirty="0">
              <a:solidFill>
                <a:schemeClr val="tx1"/>
              </a:solidFill>
            </a:endParaRPr>
          </a:p>
          <a:p>
            <a:pPr algn="l">
              <a:lnSpc>
                <a:spcPct val="200000"/>
              </a:lnSpc>
            </a:pPr>
            <a:r>
              <a:rPr lang="en-US" sz="1800" dirty="0">
                <a:solidFill>
                  <a:schemeClr val="tx1"/>
                </a:solidFill>
                <a:ea typeface="DM Sans" pitchFamily="34" charset="-122"/>
                <a:cs typeface="DM Sans" pitchFamily="34" charset="-120"/>
              </a:rPr>
              <a:t>Stakeholders need to understand </a:t>
            </a:r>
            <a:r>
              <a:rPr lang="en-US" sz="1800" i="1" dirty="0">
                <a:solidFill>
                  <a:schemeClr val="tx1"/>
                </a:solidFill>
                <a:ea typeface="DM Sans" pitchFamily="34" charset="-122"/>
                <a:cs typeface="DM Sans" pitchFamily="34" charset="-120"/>
              </a:rPr>
              <a:t>why</a:t>
            </a:r>
            <a:r>
              <a:rPr lang="en-US" sz="1800" dirty="0">
                <a:solidFill>
                  <a:schemeClr val="tx1"/>
                </a:solidFill>
                <a:ea typeface="DM Sans" pitchFamily="34" charset="-122"/>
                <a:cs typeface="DM Sans" pitchFamily="34" charset="-120"/>
              </a:rPr>
              <a:t> a model made a specific prediction, not just </a:t>
            </a:r>
            <a:r>
              <a:rPr lang="en-US" sz="1800" i="1" dirty="0">
                <a:solidFill>
                  <a:schemeClr val="tx1"/>
                </a:solidFill>
                <a:ea typeface="DM Sans" pitchFamily="34" charset="-122"/>
                <a:cs typeface="DM Sans" pitchFamily="34" charset="-120"/>
              </a:rPr>
              <a:t>what</a:t>
            </a:r>
            <a:r>
              <a:rPr lang="en-US" sz="1800" dirty="0">
                <a:solidFill>
                  <a:schemeClr val="tx1"/>
                </a:solidFill>
                <a:ea typeface="DM Sans" pitchFamily="34" charset="-122"/>
                <a:cs typeface="DM Sans" pitchFamily="34" charset="-120"/>
              </a:rPr>
              <a:t> it predicted.</a:t>
            </a:r>
            <a:endParaRPr lang="en-US" sz="1800" dirty="0">
              <a:solidFill>
                <a:schemeClr val="tx1"/>
              </a:solidFill>
            </a:endParaRPr>
          </a:p>
          <a:p>
            <a:pPr algn="l">
              <a:lnSpc>
                <a:spcPct val="200000"/>
              </a:lnSpc>
            </a:pPr>
            <a:r>
              <a:rPr lang="en-US" sz="2400" dirty="0">
                <a:solidFill>
                  <a:schemeClr val="tx1"/>
                </a:solidFill>
                <a:ea typeface="PT Serif" pitchFamily="34" charset="-122"/>
                <a:cs typeface="PT Serif" pitchFamily="34" charset="-120"/>
              </a:rPr>
              <a:t>Fairness &amp; Regulation</a:t>
            </a:r>
            <a:endParaRPr lang="en-US" sz="2400" dirty="0">
              <a:solidFill>
                <a:schemeClr val="tx1"/>
              </a:solidFill>
            </a:endParaRPr>
          </a:p>
          <a:p>
            <a:pPr algn="l">
              <a:lnSpc>
                <a:spcPct val="200000"/>
              </a:lnSpc>
            </a:pPr>
            <a:r>
              <a:rPr lang="en-US" sz="1800" dirty="0">
                <a:solidFill>
                  <a:schemeClr val="tx1"/>
                </a:solidFill>
                <a:ea typeface="DM Sans" pitchFamily="34" charset="-122"/>
                <a:cs typeface="DM Sans" pitchFamily="34" charset="-120"/>
              </a:rPr>
              <a:t>Healthcare and finance regulations increasingly mandate </a:t>
            </a:r>
            <a:r>
              <a:rPr lang="en-US" sz="1800" dirty="0" err="1">
                <a:solidFill>
                  <a:schemeClr val="tx1"/>
                </a:solidFill>
                <a:ea typeface="DM Sans" pitchFamily="34" charset="-122"/>
                <a:cs typeface="DM Sans" pitchFamily="34" charset="-120"/>
              </a:rPr>
              <a:t>explainability</a:t>
            </a:r>
            <a:r>
              <a:rPr lang="en-US" sz="1800" dirty="0">
                <a:solidFill>
                  <a:schemeClr val="tx1"/>
                </a:solidFill>
                <a:ea typeface="DM Sans" pitchFamily="34" charset="-122"/>
                <a:cs typeface="DM Sans" pitchFamily="34" charset="-120"/>
              </a:rPr>
              <a:t> for automated decisions affecting individuals.</a:t>
            </a:r>
            <a:endParaRPr lang="en-US" sz="1800" dirty="0">
              <a:solidFill>
                <a:schemeClr val="tx1"/>
              </a:solidFill>
            </a:endParaRPr>
          </a:p>
          <a:p>
            <a:pPr algn="l">
              <a:lnSpc>
                <a:spcPct val="200000"/>
              </a:lnSpc>
            </a:pPr>
            <a:r>
              <a:rPr lang="en-US" sz="2400" dirty="0">
                <a:solidFill>
                  <a:schemeClr val="tx1"/>
                </a:solidFill>
                <a:ea typeface="PT Serif" pitchFamily="34" charset="-122"/>
                <a:cs typeface="PT Serif" pitchFamily="34" charset="-120"/>
              </a:rPr>
              <a:t>Trust Building</a:t>
            </a:r>
            <a:endParaRPr lang="en-US" sz="2400" dirty="0">
              <a:solidFill>
                <a:schemeClr val="tx1"/>
              </a:solidFill>
            </a:endParaRPr>
          </a:p>
          <a:p>
            <a:pPr algn="l">
              <a:lnSpc>
                <a:spcPct val="200000"/>
              </a:lnSpc>
            </a:pPr>
            <a:r>
              <a:rPr lang="en-US" sz="1800" dirty="0">
                <a:solidFill>
                  <a:schemeClr val="tx1"/>
                </a:solidFill>
                <a:ea typeface="DM Sans" pitchFamily="34" charset="-122"/>
                <a:cs typeface="DM Sans" pitchFamily="34" charset="-120"/>
              </a:rPr>
              <a:t>Clinicians, loan officers, and executives adopt ML only when they can verify and trust the reasoning behind outputs.</a:t>
            </a:r>
            <a:endParaRPr lang="en-US" sz="1800" dirty="0">
              <a:solidFill>
                <a:schemeClr val="tx1"/>
              </a:solidFill>
            </a:endParaRPr>
          </a:p>
          <a:p>
            <a:pPr algn="l">
              <a:lnSpc>
                <a:spcPct val="200000"/>
              </a:lnSpc>
            </a:pPr>
            <a:r>
              <a:rPr lang="en-US" sz="1800" dirty="0">
                <a:solidFill>
                  <a:schemeClr val="tx1"/>
                </a:solidFill>
                <a:ea typeface="DM Sans" pitchFamily="34" charset="-122"/>
                <a:cs typeface="DM Sans" pitchFamily="34" charset="-120"/>
              </a:rPr>
              <a:t>"If you can't explain it simply, you don't understand it well enough." — A guiding principle for deploying AI in high-stakes domains.</a:t>
            </a:r>
            <a:endParaRPr lang="en-US" sz="1800" dirty="0">
              <a:solidFill>
                <a:schemeClr val="tx1"/>
              </a:solidFill>
            </a:endParaRPr>
          </a:p>
          <a:p>
            <a:pPr>
              <a:lnSpc>
                <a:spcPct val="200000"/>
              </a:lnSpc>
            </a:pPr>
            <a:endParaRPr lang="en-IN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37703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object 13">
            <a:extLst>
              <a:ext uri="{FF2B5EF4-FFF2-40B4-BE49-F238E27FC236}">
                <a16:creationId xmlns:a16="http://schemas.microsoft.com/office/drawing/2014/main" id="{8BC26874-D32D-B0C4-504A-8319293B7F2A}"/>
              </a:ext>
            </a:extLst>
          </p:cNvPr>
          <p:cNvGrpSpPr/>
          <p:nvPr/>
        </p:nvGrpSpPr>
        <p:grpSpPr>
          <a:xfrm>
            <a:off x="751470" y="5625705"/>
            <a:ext cx="6563730" cy="2361853"/>
            <a:chOff x="793788" y="4631308"/>
            <a:chExt cx="6437630" cy="2974340"/>
          </a:xfrm>
        </p:grpSpPr>
        <p:sp>
          <p:nvSpPr>
            <p:cNvPr id="34" name="object 14">
              <a:extLst>
                <a:ext uri="{FF2B5EF4-FFF2-40B4-BE49-F238E27FC236}">
                  <a16:creationId xmlns:a16="http://schemas.microsoft.com/office/drawing/2014/main" id="{1EBA9424-EEBD-DCA3-3EAC-C27465A465E3}"/>
                </a:ext>
              </a:extLst>
            </p:cNvPr>
            <p:cNvSpPr/>
            <p:nvPr/>
          </p:nvSpPr>
          <p:spPr>
            <a:xfrm>
              <a:off x="793788" y="4631308"/>
              <a:ext cx="6437630" cy="2974340"/>
            </a:xfrm>
            <a:custGeom>
              <a:avLst/>
              <a:gdLst/>
              <a:ahLst/>
              <a:cxnLst/>
              <a:rect l="l" t="t" r="r" b="b"/>
              <a:pathLst>
                <a:path w="6437630" h="2974340">
                  <a:moveTo>
                    <a:pt x="0" y="70865"/>
                  </a:moveTo>
                  <a:lnTo>
                    <a:pt x="5568" y="43291"/>
                  </a:lnTo>
                  <a:lnTo>
                    <a:pt x="20753" y="20764"/>
                  </a:lnTo>
                  <a:lnTo>
                    <a:pt x="43275" y="5572"/>
                  </a:lnTo>
                  <a:lnTo>
                    <a:pt x="70853" y="0"/>
                  </a:lnTo>
                  <a:lnTo>
                    <a:pt x="6366217" y="0"/>
                  </a:lnTo>
                  <a:lnTo>
                    <a:pt x="6393792" y="5572"/>
                  </a:lnTo>
                  <a:lnTo>
                    <a:pt x="6416319" y="20764"/>
                  </a:lnTo>
                  <a:lnTo>
                    <a:pt x="6431511" y="43291"/>
                  </a:lnTo>
                  <a:lnTo>
                    <a:pt x="6437083" y="70865"/>
                  </a:lnTo>
                  <a:lnTo>
                    <a:pt x="6437083" y="2903435"/>
                  </a:lnTo>
                  <a:lnTo>
                    <a:pt x="6431511" y="2931014"/>
                  </a:lnTo>
                  <a:lnTo>
                    <a:pt x="6416319" y="2953535"/>
                  </a:lnTo>
                  <a:lnTo>
                    <a:pt x="6393792" y="2968720"/>
                  </a:lnTo>
                  <a:lnTo>
                    <a:pt x="6366217" y="2974289"/>
                  </a:lnTo>
                  <a:lnTo>
                    <a:pt x="70853" y="2974289"/>
                  </a:lnTo>
                  <a:lnTo>
                    <a:pt x="43275" y="2968720"/>
                  </a:lnTo>
                  <a:lnTo>
                    <a:pt x="20753" y="2953535"/>
                  </a:lnTo>
                  <a:lnTo>
                    <a:pt x="5568" y="2931014"/>
                  </a:lnTo>
                  <a:lnTo>
                    <a:pt x="0" y="2903435"/>
                  </a:lnTo>
                  <a:lnTo>
                    <a:pt x="0" y="70865"/>
                  </a:lnTo>
                  <a:close/>
                </a:path>
              </a:pathLst>
            </a:custGeom>
            <a:ln w="22860">
              <a:solidFill>
                <a:srgbClr val="C5D2CF"/>
              </a:solidFill>
            </a:ln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pPr>
                <a:lnSpc>
                  <a:spcPct val="200000"/>
                </a:lnSpc>
              </a:pPr>
              <a:endParaRPr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  <p:sp>
          <p:nvSpPr>
            <p:cNvPr id="35" name="object 15">
              <a:extLst>
                <a:ext uri="{FF2B5EF4-FFF2-40B4-BE49-F238E27FC236}">
                  <a16:creationId xmlns:a16="http://schemas.microsoft.com/office/drawing/2014/main" id="{5E7C18E8-C80E-C1A0-CF76-5E1455C6789F}"/>
                </a:ext>
              </a:extLst>
            </p:cNvPr>
            <p:cNvSpPr/>
            <p:nvPr/>
          </p:nvSpPr>
          <p:spPr>
            <a:xfrm>
              <a:off x="816648" y="4654163"/>
              <a:ext cx="6391910" cy="857280"/>
            </a:xfrm>
            <a:custGeom>
              <a:avLst/>
              <a:gdLst/>
              <a:ahLst/>
              <a:cxnLst/>
              <a:rect l="l" t="t" r="r" b="b"/>
              <a:pathLst>
                <a:path w="6391909" h="506095">
                  <a:moveTo>
                    <a:pt x="6347929" y="0"/>
                  </a:moveTo>
                  <a:lnTo>
                    <a:pt x="43421" y="0"/>
                  </a:lnTo>
                  <a:lnTo>
                    <a:pt x="26521" y="3411"/>
                  </a:lnTo>
                  <a:lnTo>
                    <a:pt x="12719" y="12715"/>
                  </a:lnTo>
                  <a:lnTo>
                    <a:pt x="3412" y="26521"/>
                  </a:lnTo>
                  <a:lnTo>
                    <a:pt x="0" y="43433"/>
                  </a:lnTo>
                  <a:lnTo>
                    <a:pt x="0" y="462533"/>
                  </a:lnTo>
                  <a:lnTo>
                    <a:pt x="3412" y="479446"/>
                  </a:lnTo>
                  <a:lnTo>
                    <a:pt x="12719" y="493252"/>
                  </a:lnTo>
                  <a:lnTo>
                    <a:pt x="26521" y="502556"/>
                  </a:lnTo>
                  <a:lnTo>
                    <a:pt x="43421" y="505967"/>
                  </a:lnTo>
                  <a:lnTo>
                    <a:pt x="6347929" y="505967"/>
                  </a:lnTo>
                  <a:lnTo>
                    <a:pt x="6364842" y="502556"/>
                  </a:lnTo>
                  <a:lnTo>
                    <a:pt x="6378648" y="493252"/>
                  </a:lnTo>
                  <a:lnTo>
                    <a:pt x="6387952" y="479446"/>
                  </a:lnTo>
                  <a:lnTo>
                    <a:pt x="6391363" y="462533"/>
                  </a:lnTo>
                  <a:lnTo>
                    <a:pt x="6391363" y="43433"/>
                  </a:lnTo>
                  <a:lnTo>
                    <a:pt x="6387952" y="26521"/>
                  </a:lnTo>
                  <a:lnTo>
                    <a:pt x="6378648" y="12715"/>
                  </a:lnTo>
                  <a:lnTo>
                    <a:pt x="6364842" y="3411"/>
                  </a:lnTo>
                  <a:lnTo>
                    <a:pt x="6347929" y="0"/>
                  </a:lnTo>
                  <a:close/>
                </a:path>
              </a:pathLst>
            </a:custGeom>
            <a:solidFill>
              <a:srgbClr val="DFEBE9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pPr>
                <a:lnSpc>
                  <a:spcPct val="200000"/>
                </a:lnSpc>
              </a:pPr>
              <a:endParaRPr dirty="0"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</p:grpSp>
      <p:grpSp>
        <p:nvGrpSpPr>
          <p:cNvPr id="30" name="object 13">
            <a:extLst>
              <a:ext uri="{FF2B5EF4-FFF2-40B4-BE49-F238E27FC236}">
                <a16:creationId xmlns:a16="http://schemas.microsoft.com/office/drawing/2014/main" id="{3CC01AED-2482-CBED-1EFE-AA3F3687B2DC}"/>
              </a:ext>
            </a:extLst>
          </p:cNvPr>
          <p:cNvGrpSpPr/>
          <p:nvPr/>
        </p:nvGrpSpPr>
        <p:grpSpPr>
          <a:xfrm>
            <a:off x="7620000" y="5625705"/>
            <a:ext cx="6571059" cy="2361853"/>
            <a:chOff x="793788" y="4631308"/>
            <a:chExt cx="6437630" cy="2974340"/>
          </a:xfrm>
        </p:grpSpPr>
        <p:sp>
          <p:nvSpPr>
            <p:cNvPr id="31" name="object 14">
              <a:extLst>
                <a:ext uri="{FF2B5EF4-FFF2-40B4-BE49-F238E27FC236}">
                  <a16:creationId xmlns:a16="http://schemas.microsoft.com/office/drawing/2014/main" id="{42DEF435-3D17-4FA9-9522-3E98EF868AEF}"/>
                </a:ext>
              </a:extLst>
            </p:cNvPr>
            <p:cNvSpPr/>
            <p:nvPr/>
          </p:nvSpPr>
          <p:spPr>
            <a:xfrm>
              <a:off x="793788" y="4631308"/>
              <a:ext cx="6437630" cy="2974340"/>
            </a:xfrm>
            <a:custGeom>
              <a:avLst/>
              <a:gdLst/>
              <a:ahLst/>
              <a:cxnLst/>
              <a:rect l="l" t="t" r="r" b="b"/>
              <a:pathLst>
                <a:path w="6437630" h="2974340">
                  <a:moveTo>
                    <a:pt x="0" y="70865"/>
                  </a:moveTo>
                  <a:lnTo>
                    <a:pt x="5568" y="43291"/>
                  </a:lnTo>
                  <a:lnTo>
                    <a:pt x="20753" y="20764"/>
                  </a:lnTo>
                  <a:lnTo>
                    <a:pt x="43275" y="5572"/>
                  </a:lnTo>
                  <a:lnTo>
                    <a:pt x="70853" y="0"/>
                  </a:lnTo>
                  <a:lnTo>
                    <a:pt x="6366217" y="0"/>
                  </a:lnTo>
                  <a:lnTo>
                    <a:pt x="6393792" y="5572"/>
                  </a:lnTo>
                  <a:lnTo>
                    <a:pt x="6416319" y="20764"/>
                  </a:lnTo>
                  <a:lnTo>
                    <a:pt x="6431511" y="43291"/>
                  </a:lnTo>
                  <a:lnTo>
                    <a:pt x="6437083" y="70865"/>
                  </a:lnTo>
                  <a:lnTo>
                    <a:pt x="6437083" y="2903435"/>
                  </a:lnTo>
                  <a:lnTo>
                    <a:pt x="6431511" y="2931014"/>
                  </a:lnTo>
                  <a:lnTo>
                    <a:pt x="6416319" y="2953535"/>
                  </a:lnTo>
                  <a:lnTo>
                    <a:pt x="6393792" y="2968720"/>
                  </a:lnTo>
                  <a:lnTo>
                    <a:pt x="6366217" y="2974289"/>
                  </a:lnTo>
                  <a:lnTo>
                    <a:pt x="70853" y="2974289"/>
                  </a:lnTo>
                  <a:lnTo>
                    <a:pt x="43275" y="2968720"/>
                  </a:lnTo>
                  <a:lnTo>
                    <a:pt x="20753" y="2953535"/>
                  </a:lnTo>
                  <a:lnTo>
                    <a:pt x="5568" y="2931014"/>
                  </a:lnTo>
                  <a:lnTo>
                    <a:pt x="0" y="2903435"/>
                  </a:lnTo>
                  <a:lnTo>
                    <a:pt x="0" y="70865"/>
                  </a:lnTo>
                  <a:close/>
                </a:path>
              </a:pathLst>
            </a:custGeom>
            <a:ln w="22860">
              <a:solidFill>
                <a:srgbClr val="C5D2CF"/>
              </a:solidFill>
            </a:ln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pPr>
                <a:lnSpc>
                  <a:spcPct val="200000"/>
                </a:lnSpc>
              </a:pPr>
              <a:endParaRPr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  <p:sp>
          <p:nvSpPr>
            <p:cNvPr id="32" name="object 15">
              <a:extLst>
                <a:ext uri="{FF2B5EF4-FFF2-40B4-BE49-F238E27FC236}">
                  <a16:creationId xmlns:a16="http://schemas.microsoft.com/office/drawing/2014/main" id="{A38FA84D-C25A-6721-9EFF-93A9BCD893C7}"/>
                </a:ext>
              </a:extLst>
            </p:cNvPr>
            <p:cNvSpPr/>
            <p:nvPr/>
          </p:nvSpPr>
          <p:spPr>
            <a:xfrm>
              <a:off x="816648" y="4654163"/>
              <a:ext cx="6391910" cy="857280"/>
            </a:xfrm>
            <a:custGeom>
              <a:avLst/>
              <a:gdLst/>
              <a:ahLst/>
              <a:cxnLst/>
              <a:rect l="l" t="t" r="r" b="b"/>
              <a:pathLst>
                <a:path w="6391909" h="506095">
                  <a:moveTo>
                    <a:pt x="6347929" y="0"/>
                  </a:moveTo>
                  <a:lnTo>
                    <a:pt x="43421" y="0"/>
                  </a:lnTo>
                  <a:lnTo>
                    <a:pt x="26521" y="3411"/>
                  </a:lnTo>
                  <a:lnTo>
                    <a:pt x="12719" y="12715"/>
                  </a:lnTo>
                  <a:lnTo>
                    <a:pt x="3412" y="26521"/>
                  </a:lnTo>
                  <a:lnTo>
                    <a:pt x="0" y="43433"/>
                  </a:lnTo>
                  <a:lnTo>
                    <a:pt x="0" y="462533"/>
                  </a:lnTo>
                  <a:lnTo>
                    <a:pt x="3412" y="479446"/>
                  </a:lnTo>
                  <a:lnTo>
                    <a:pt x="12719" y="493252"/>
                  </a:lnTo>
                  <a:lnTo>
                    <a:pt x="26521" y="502556"/>
                  </a:lnTo>
                  <a:lnTo>
                    <a:pt x="43421" y="505967"/>
                  </a:lnTo>
                  <a:lnTo>
                    <a:pt x="6347929" y="505967"/>
                  </a:lnTo>
                  <a:lnTo>
                    <a:pt x="6364842" y="502556"/>
                  </a:lnTo>
                  <a:lnTo>
                    <a:pt x="6378648" y="493252"/>
                  </a:lnTo>
                  <a:lnTo>
                    <a:pt x="6387952" y="479446"/>
                  </a:lnTo>
                  <a:lnTo>
                    <a:pt x="6391363" y="462533"/>
                  </a:lnTo>
                  <a:lnTo>
                    <a:pt x="6391363" y="43433"/>
                  </a:lnTo>
                  <a:lnTo>
                    <a:pt x="6387952" y="26521"/>
                  </a:lnTo>
                  <a:lnTo>
                    <a:pt x="6378648" y="12715"/>
                  </a:lnTo>
                  <a:lnTo>
                    <a:pt x="6364842" y="3411"/>
                  </a:lnTo>
                  <a:lnTo>
                    <a:pt x="6347929" y="0"/>
                  </a:lnTo>
                  <a:close/>
                </a:path>
              </a:pathLst>
            </a:custGeom>
            <a:solidFill>
              <a:srgbClr val="DFEBE9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pPr>
                <a:lnSpc>
                  <a:spcPct val="200000"/>
                </a:lnSpc>
              </a:pPr>
              <a:endParaRPr dirty="0"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</p:grpSp>
      <p:grpSp>
        <p:nvGrpSpPr>
          <p:cNvPr id="27" name="object 13">
            <a:extLst>
              <a:ext uri="{FF2B5EF4-FFF2-40B4-BE49-F238E27FC236}">
                <a16:creationId xmlns:a16="http://schemas.microsoft.com/office/drawing/2014/main" id="{7453EB64-7342-4751-B226-B2A3A885DF46}"/>
              </a:ext>
            </a:extLst>
          </p:cNvPr>
          <p:cNvGrpSpPr/>
          <p:nvPr/>
        </p:nvGrpSpPr>
        <p:grpSpPr>
          <a:xfrm>
            <a:off x="7620000" y="2621220"/>
            <a:ext cx="6571059" cy="2421073"/>
            <a:chOff x="793788" y="4631308"/>
            <a:chExt cx="6437630" cy="2974340"/>
          </a:xfrm>
        </p:grpSpPr>
        <p:sp>
          <p:nvSpPr>
            <p:cNvPr id="28" name="object 14">
              <a:extLst>
                <a:ext uri="{FF2B5EF4-FFF2-40B4-BE49-F238E27FC236}">
                  <a16:creationId xmlns:a16="http://schemas.microsoft.com/office/drawing/2014/main" id="{1135B5DA-3FAF-6B95-B7FB-F2C8A5891D70}"/>
                </a:ext>
              </a:extLst>
            </p:cNvPr>
            <p:cNvSpPr/>
            <p:nvPr/>
          </p:nvSpPr>
          <p:spPr>
            <a:xfrm>
              <a:off x="793788" y="4631308"/>
              <a:ext cx="6437630" cy="2974340"/>
            </a:xfrm>
            <a:custGeom>
              <a:avLst/>
              <a:gdLst/>
              <a:ahLst/>
              <a:cxnLst/>
              <a:rect l="l" t="t" r="r" b="b"/>
              <a:pathLst>
                <a:path w="6437630" h="2974340">
                  <a:moveTo>
                    <a:pt x="0" y="70865"/>
                  </a:moveTo>
                  <a:lnTo>
                    <a:pt x="5568" y="43291"/>
                  </a:lnTo>
                  <a:lnTo>
                    <a:pt x="20753" y="20764"/>
                  </a:lnTo>
                  <a:lnTo>
                    <a:pt x="43275" y="5572"/>
                  </a:lnTo>
                  <a:lnTo>
                    <a:pt x="70853" y="0"/>
                  </a:lnTo>
                  <a:lnTo>
                    <a:pt x="6366217" y="0"/>
                  </a:lnTo>
                  <a:lnTo>
                    <a:pt x="6393792" y="5572"/>
                  </a:lnTo>
                  <a:lnTo>
                    <a:pt x="6416319" y="20764"/>
                  </a:lnTo>
                  <a:lnTo>
                    <a:pt x="6431511" y="43291"/>
                  </a:lnTo>
                  <a:lnTo>
                    <a:pt x="6437083" y="70865"/>
                  </a:lnTo>
                  <a:lnTo>
                    <a:pt x="6437083" y="2903435"/>
                  </a:lnTo>
                  <a:lnTo>
                    <a:pt x="6431511" y="2931014"/>
                  </a:lnTo>
                  <a:lnTo>
                    <a:pt x="6416319" y="2953535"/>
                  </a:lnTo>
                  <a:lnTo>
                    <a:pt x="6393792" y="2968720"/>
                  </a:lnTo>
                  <a:lnTo>
                    <a:pt x="6366217" y="2974289"/>
                  </a:lnTo>
                  <a:lnTo>
                    <a:pt x="70853" y="2974289"/>
                  </a:lnTo>
                  <a:lnTo>
                    <a:pt x="43275" y="2968720"/>
                  </a:lnTo>
                  <a:lnTo>
                    <a:pt x="20753" y="2953535"/>
                  </a:lnTo>
                  <a:lnTo>
                    <a:pt x="5568" y="2931014"/>
                  </a:lnTo>
                  <a:lnTo>
                    <a:pt x="0" y="2903435"/>
                  </a:lnTo>
                  <a:lnTo>
                    <a:pt x="0" y="70865"/>
                  </a:lnTo>
                  <a:close/>
                </a:path>
              </a:pathLst>
            </a:custGeom>
            <a:ln w="22860">
              <a:solidFill>
                <a:srgbClr val="C5D2CF"/>
              </a:solidFill>
            </a:ln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pPr>
                <a:lnSpc>
                  <a:spcPct val="200000"/>
                </a:lnSpc>
              </a:pPr>
              <a:endParaRPr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  <p:sp>
          <p:nvSpPr>
            <p:cNvPr id="29" name="object 15">
              <a:extLst>
                <a:ext uri="{FF2B5EF4-FFF2-40B4-BE49-F238E27FC236}">
                  <a16:creationId xmlns:a16="http://schemas.microsoft.com/office/drawing/2014/main" id="{659D6209-EFA4-3521-61A1-BFBE38D0E14B}"/>
                </a:ext>
              </a:extLst>
            </p:cNvPr>
            <p:cNvSpPr/>
            <p:nvPr/>
          </p:nvSpPr>
          <p:spPr>
            <a:xfrm>
              <a:off x="816648" y="4654163"/>
              <a:ext cx="6391910" cy="875906"/>
            </a:xfrm>
            <a:custGeom>
              <a:avLst/>
              <a:gdLst/>
              <a:ahLst/>
              <a:cxnLst/>
              <a:rect l="l" t="t" r="r" b="b"/>
              <a:pathLst>
                <a:path w="6391909" h="506095">
                  <a:moveTo>
                    <a:pt x="6347929" y="0"/>
                  </a:moveTo>
                  <a:lnTo>
                    <a:pt x="43421" y="0"/>
                  </a:lnTo>
                  <a:lnTo>
                    <a:pt x="26521" y="3411"/>
                  </a:lnTo>
                  <a:lnTo>
                    <a:pt x="12719" y="12715"/>
                  </a:lnTo>
                  <a:lnTo>
                    <a:pt x="3412" y="26521"/>
                  </a:lnTo>
                  <a:lnTo>
                    <a:pt x="0" y="43433"/>
                  </a:lnTo>
                  <a:lnTo>
                    <a:pt x="0" y="462533"/>
                  </a:lnTo>
                  <a:lnTo>
                    <a:pt x="3412" y="479446"/>
                  </a:lnTo>
                  <a:lnTo>
                    <a:pt x="12719" y="493252"/>
                  </a:lnTo>
                  <a:lnTo>
                    <a:pt x="26521" y="502556"/>
                  </a:lnTo>
                  <a:lnTo>
                    <a:pt x="43421" y="505967"/>
                  </a:lnTo>
                  <a:lnTo>
                    <a:pt x="6347929" y="505967"/>
                  </a:lnTo>
                  <a:lnTo>
                    <a:pt x="6364842" y="502556"/>
                  </a:lnTo>
                  <a:lnTo>
                    <a:pt x="6378648" y="493252"/>
                  </a:lnTo>
                  <a:lnTo>
                    <a:pt x="6387952" y="479446"/>
                  </a:lnTo>
                  <a:lnTo>
                    <a:pt x="6391363" y="462533"/>
                  </a:lnTo>
                  <a:lnTo>
                    <a:pt x="6391363" y="43433"/>
                  </a:lnTo>
                  <a:lnTo>
                    <a:pt x="6387952" y="26521"/>
                  </a:lnTo>
                  <a:lnTo>
                    <a:pt x="6378648" y="12715"/>
                  </a:lnTo>
                  <a:lnTo>
                    <a:pt x="6364842" y="3411"/>
                  </a:lnTo>
                  <a:lnTo>
                    <a:pt x="6347929" y="0"/>
                  </a:lnTo>
                  <a:close/>
                </a:path>
              </a:pathLst>
            </a:custGeom>
            <a:solidFill>
              <a:srgbClr val="DFEBE9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pPr>
                <a:lnSpc>
                  <a:spcPct val="200000"/>
                </a:lnSpc>
              </a:pPr>
              <a:endParaRPr dirty="0"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</p:grpSp>
      <p:grpSp>
        <p:nvGrpSpPr>
          <p:cNvPr id="24" name="object 13">
            <a:extLst>
              <a:ext uri="{FF2B5EF4-FFF2-40B4-BE49-F238E27FC236}">
                <a16:creationId xmlns:a16="http://schemas.microsoft.com/office/drawing/2014/main" id="{9EDED71C-1B31-D97D-38B2-DAFD66018FF9}"/>
              </a:ext>
            </a:extLst>
          </p:cNvPr>
          <p:cNvGrpSpPr/>
          <p:nvPr/>
        </p:nvGrpSpPr>
        <p:grpSpPr>
          <a:xfrm>
            <a:off x="750141" y="2608126"/>
            <a:ext cx="6411330" cy="2421073"/>
            <a:chOff x="793788" y="4631308"/>
            <a:chExt cx="6437630" cy="2974340"/>
          </a:xfrm>
        </p:grpSpPr>
        <p:sp>
          <p:nvSpPr>
            <p:cNvPr id="25" name="object 14">
              <a:extLst>
                <a:ext uri="{FF2B5EF4-FFF2-40B4-BE49-F238E27FC236}">
                  <a16:creationId xmlns:a16="http://schemas.microsoft.com/office/drawing/2014/main" id="{35293503-1DBD-8E87-3BE0-DDA71A76F25C}"/>
                </a:ext>
              </a:extLst>
            </p:cNvPr>
            <p:cNvSpPr/>
            <p:nvPr/>
          </p:nvSpPr>
          <p:spPr>
            <a:xfrm>
              <a:off x="793788" y="4631308"/>
              <a:ext cx="6437630" cy="2974340"/>
            </a:xfrm>
            <a:custGeom>
              <a:avLst/>
              <a:gdLst/>
              <a:ahLst/>
              <a:cxnLst/>
              <a:rect l="l" t="t" r="r" b="b"/>
              <a:pathLst>
                <a:path w="6437630" h="2974340">
                  <a:moveTo>
                    <a:pt x="0" y="70865"/>
                  </a:moveTo>
                  <a:lnTo>
                    <a:pt x="5568" y="43291"/>
                  </a:lnTo>
                  <a:lnTo>
                    <a:pt x="20753" y="20764"/>
                  </a:lnTo>
                  <a:lnTo>
                    <a:pt x="43275" y="5572"/>
                  </a:lnTo>
                  <a:lnTo>
                    <a:pt x="70853" y="0"/>
                  </a:lnTo>
                  <a:lnTo>
                    <a:pt x="6366217" y="0"/>
                  </a:lnTo>
                  <a:lnTo>
                    <a:pt x="6393792" y="5572"/>
                  </a:lnTo>
                  <a:lnTo>
                    <a:pt x="6416319" y="20764"/>
                  </a:lnTo>
                  <a:lnTo>
                    <a:pt x="6431511" y="43291"/>
                  </a:lnTo>
                  <a:lnTo>
                    <a:pt x="6437083" y="70865"/>
                  </a:lnTo>
                  <a:lnTo>
                    <a:pt x="6437083" y="2903435"/>
                  </a:lnTo>
                  <a:lnTo>
                    <a:pt x="6431511" y="2931014"/>
                  </a:lnTo>
                  <a:lnTo>
                    <a:pt x="6416319" y="2953535"/>
                  </a:lnTo>
                  <a:lnTo>
                    <a:pt x="6393792" y="2968720"/>
                  </a:lnTo>
                  <a:lnTo>
                    <a:pt x="6366217" y="2974289"/>
                  </a:lnTo>
                  <a:lnTo>
                    <a:pt x="70853" y="2974289"/>
                  </a:lnTo>
                  <a:lnTo>
                    <a:pt x="43275" y="2968720"/>
                  </a:lnTo>
                  <a:lnTo>
                    <a:pt x="20753" y="2953535"/>
                  </a:lnTo>
                  <a:lnTo>
                    <a:pt x="5568" y="2931014"/>
                  </a:lnTo>
                  <a:lnTo>
                    <a:pt x="0" y="2903435"/>
                  </a:lnTo>
                  <a:lnTo>
                    <a:pt x="0" y="70865"/>
                  </a:lnTo>
                  <a:close/>
                </a:path>
              </a:pathLst>
            </a:custGeom>
            <a:ln w="22860">
              <a:solidFill>
                <a:srgbClr val="C5D2CF"/>
              </a:solidFill>
            </a:ln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pPr>
                <a:lnSpc>
                  <a:spcPct val="200000"/>
                </a:lnSpc>
              </a:pPr>
              <a:endParaRPr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  <p:sp>
          <p:nvSpPr>
            <p:cNvPr id="26" name="object 15">
              <a:extLst>
                <a:ext uri="{FF2B5EF4-FFF2-40B4-BE49-F238E27FC236}">
                  <a16:creationId xmlns:a16="http://schemas.microsoft.com/office/drawing/2014/main" id="{222A1FF6-5464-B670-5D90-F39A5749423F}"/>
                </a:ext>
              </a:extLst>
            </p:cNvPr>
            <p:cNvSpPr/>
            <p:nvPr/>
          </p:nvSpPr>
          <p:spPr>
            <a:xfrm>
              <a:off x="816648" y="4654163"/>
              <a:ext cx="6391910" cy="891993"/>
            </a:xfrm>
            <a:custGeom>
              <a:avLst/>
              <a:gdLst/>
              <a:ahLst/>
              <a:cxnLst/>
              <a:rect l="l" t="t" r="r" b="b"/>
              <a:pathLst>
                <a:path w="6391909" h="506095">
                  <a:moveTo>
                    <a:pt x="6347929" y="0"/>
                  </a:moveTo>
                  <a:lnTo>
                    <a:pt x="43421" y="0"/>
                  </a:lnTo>
                  <a:lnTo>
                    <a:pt x="26521" y="3411"/>
                  </a:lnTo>
                  <a:lnTo>
                    <a:pt x="12719" y="12715"/>
                  </a:lnTo>
                  <a:lnTo>
                    <a:pt x="3412" y="26521"/>
                  </a:lnTo>
                  <a:lnTo>
                    <a:pt x="0" y="43433"/>
                  </a:lnTo>
                  <a:lnTo>
                    <a:pt x="0" y="462533"/>
                  </a:lnTo>
                  <a:lnTo>
                    <a:pt x="3412" y="479446"/>
                  </a:lnTo>
                  <a:lnTo>
                    <a:pt x="12719" y="493252"/>
                  </a:lnTo>
                  <a:lnTo>
                    <a:pt x="26521" y="502556"/>
                  </a:lnTo>
                  <a:lnTo>
                    <a:pt x="43421" y="505967"/>
                  </a:lnTo>
                  <a:lnTo>
                    <a:pt x="6347929" y="505967"/>
                  </a:lnTo>
                  <a:lnTo>
                    <a:pt x="6364842" y="502556"/>
                  </a:lnTo>
                  <a:lnTo>
                    <a:pt x="6378648" y="493252"/>
                  </a:lnTo>
                  <a:lnTo>
                    <a:pt x="6387952" y="479446"/>
                  </a:lnTo>
                  <a:lnTo>
                    <a:pt x="6391363" y="462533"/>
                  </a:lnTo>
                  <a:lnTo>
                    <a:pt x="6391363" y="43433"/>
                  </a:lnTo>
                  <a:lnTo>
                    <a:pt x="6387952" y="26521"/>
                  </a:lnTo>
                  <a:lnTo>
                    <a:pt x="6378648" y="12715"/>
                  </a:lnTo>
                  <a:lnTo>
                    <a:pt x="6364842" y="3411"/>
                  </a:lnTo>
                  <a:lnTo>
                    <a:pt x="6347929" y="0"/>
                  </a:lnTo>
                  <a:close/>
                </a:path>
              </a:pathLst>
            </a:custGeom>
            <a:solidFill>
              <a:srgbClr val="DFEBE9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pPr>
                <a:lnSpc>
                  <a:spcPct val="200000"/>
                </a:lnSpc>
              </a:pPr>
              <a:endParaRPr dirty="0"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</p:grp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0141" y="242041"/>
            <a:ext cx="13656055" cy="777008"/>
          </a:xfrm>
          <a:prstGeom prst="rect">
            <a:avLst/>
          </a:prstGeom>
          <a:noFill/>
        </p:spPr>
        <p:txBody>
          <a:bodyPr vert="horz" wrap="square" lIns="0" tIns="220853" rIns="0" bIns="0" rtlCol="0">
            <a:spAutoFit/>
          </a:bodyPr>
          <a:lstStyle/>
          <a:p>
            <a:pPr marL="0" indent="0" algn="l">
              <a:buNone/>
            </a:pPr>
            <a:r>
              <a:rPr lang="en-US" sz="3600" dirty="0">
                <a:solidFill>
                  <a:schemeClr val="tx1"/>
                </a:solidFill>
                <a:ea typeface="PT Serif" pitchFamily="34" charset="-122"/>
                <a:cs typeface="PT Serif" pitchFamily="34" charset="-120"/>
              </a:rPr>
              <a:t>Future Trends in Explainable AI</a:t>
            </a:r>
            <a:endParaRPr lang="en-US" sz="3600" dirty="0">
              <a:solidFill>
                <a:schemeClr val="tx1"/>
              </a:solidFill>
            </a:endParaRPr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A0D38183-3593-0CD5-9F87-5CFCC2BA96CD}"/>
              </a:ext>
            </a:extLst>
          </p:cNvPr>
          <p:cNvSpPr/>
          <p:nvPr/>
        </p:nvSpPr>
        <p:spPr>
          <a:xfrm>
            <a:off x="1058373" y="2600904"/>
            <a:ext cx="6034239" cy="4698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Real-Time Explanations</a:t>
            </a:r>
            <a:endParaRPr lang="en-US" sz="24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Generating interpretable outputs at inference time, enabling instant justification for each prediction in production systems.</a:t>
            </a:r>
            <a:endParaRPr lang="en-US" sz="18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algn="l">
              <a:lnSpc>
                <a:spcPct val="200000"/>
              </a:lnSpc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Standardized Metrics</a:t>
            </a:r>
            <a:endParaRPr lang="en-US" sz="24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Industry-wide explanation quality metrics — fidelity, stability, comprehensibility — enabling objective comparison across methods.</a:t>
            </a:r>
            <a:endParaRPr lang="en-US" sz="180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B7C25592-1A5D-94A2-1249-6AAE7946F079}"/>
              </a:ext>
            </a:extLst>
          </p:cNvPr>
          <p:cNvSpPr/>
          <p:nvPr/>
        </p:nvSpPr>
        <p:spPr>
          <a:xfrm>
            <a:off x="7779729" y="2621220"/>
            <a:ext cx="6411330" cy="4698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Automated Bias Detection</a:t>
            </a:r>
            <a:endParaRPr lang="en-US" sz="24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Continuous monitoring pipelines that flag fairness violations and distributional drift before they cause downstream harm.</a:t>
            </a:r>
            <a:endParaRPr lang="en-US" sz="18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Built-In </a:t>
            </a:r>
            <a:r>
              <a:rPr lang="en-US" sz="2400" dirty="0" err="1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Explainability</a:t>
            </a:r>
            <a:endParaRPr lang="en-US" sz="24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ML platforms embedding XAI natively, so </a:t>
            </a:r>
            <a:r>
              <a:rPr lang="en-US" sz="1800" dirty="0" err="1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explainability</a:t>
            </a:r>
            <a:r>
              <a:rPr lang="en-US" sz="1800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 is a default feature rather than an afterthought or add-on.</a:t>
            </a:r>
            <a:endParaRPr lang="en-US" sz="180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2D5D132-7B81-1D06-C05A-BEB22DD1CCF7}"/>
              </a:ext>
            </a:extLst>
          </p:cNvPr>
          <p:cNvSpPr txBox="1"/>
          <p:nvPr/>
        </p:nvSpPr>
        <p:spPr>
          <a:xfrm>
            <a:off x="655796" y="1073677"/>
            <a:ext cx="13974604" cy="112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XAI is rapidly maturing from post-hoc analysis into a core component of the ML development lifecycle. Four key trends are shaping its trajectory.</a:t>
            </a:r>
            <a:endParaRPr lang="en-US" sz="180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21748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4381-C5A7-9D80-C122-E5C2F4A5BD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219" y="167854"/>
            <a:ext cx="13656055" cy="1123384"/>
          </a:xfrm>
        </p:spPr>
        <p:txBody>
          <a:bodyPr/>
          <a:lstStyle/>
          <a:p>
            <a:r>
              <a:rPr lang="en-US" sz="36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Convergence: Boosting + AutoML + XAI</a:t>
            </a:r>
            <a:br>
              <a:rPr lang="en-US" sz="3600" dirty="0"/>
            </a:br>
            <a:endParaRPr lang="en-IN" sz="36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CA083D-206F-F416-10BF-8B0D3941C8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219" y="6002269"/>
            <a:ext cx="13114472" cy="2691314"/>
          </a:xfrm>
        </p:spPr>
        <p:txBody>
          <a:bodyPr/>
          <a:lstStyle/>
          <a:p>
            <a:pPr algn="l">
              <a:lnSpc>
                <a:spcPct val="200000"/>
              </a:lnSpc>
            </a:pPr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The most transformative development is the </a:t>
            </a:r>
            <a:r>
              <a:rPr lang="en-US" sz="1800" b="1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convergence</a:t>
            </a:r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 of these three paradigms into unified, self-operating ML systems. AutoML selects and tunes optimal boosting models. Automated pipelines handle training and deployment. XAI generates transparent explanations for every prediction. Continuous monitoring closes the loop — creating intelligent systems that build, explain, and govern themselves with minimal human intervention.</a:t>
            </a:r>
            <a:endParaRPr lang="en-US" sz="1800" dirty="0"/>
          </a:p>
          <a:p>
            <a:pPr>
              <a:lnSpc>
                <a:spcPct val="200000"/>
              </a:lnSpc>
            </a:pPr>
            <a:endParaRPr lang="en-IN" sz="1800" dirty="0"/>
          </a:p>
        </p:txBody>
      </p:sp>
      <p:pic>
        <p:nvPicPr>
          <p:cNvPr id="4" name="Image 1" descr="preencoded.png">
            <a:extLst>
              <a:ext uri="{FF2B5EF4-FFF2-40B4-BE49-F238E27FC236}">
                <a16:creationId xmlns:a16="http://schemas.microsoft.com/office/drawing/2014/main" id="{AC0CA362-08B0-45E3-F620-6580341AFE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0684" y="663016"/>
            <a:ext cx="11309033" cy="5527953"/>
          </a:xfrm>
          <a:prstGeom prst="rect">
            <a:avLst/>
          </a:prstGeom>
        </p:spPr>
      </p:pic>
      <p:sp>
        <p:nvSpPr>
          <p:cNvPr id="5" name="Text 3">
            <a:extLst>
              <a:ext uri="{FF2B5EF4-FFF2-40B4-BE49-F238E27FC236}">
                <a16:creationId xmlns:a16="http://schemas.microsoft.com/office/drawing/2014/main" id="{8A9D0C21-A791-94EB-B8C4-D424CA561657}"/>
              </a:ext>
            </a:extLst>
          </p:cNvPr>
          <p:cNvSpPr/>
          <p:nvPr/>
        </p:nvSpPr>
        <p:spPr>
          <a:xfrm>
            <a:off x="2293784" y="2556760"/>
            <a:ext cx="3082328" cy="346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AutoML Selects Boosting</a:t>
            </a:r>
            <a:endParaRPr lang="en-US" sz="24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9E10170-0C06-D03F-4EB3-9109AE0D0C08}"/>
              </a:ext>
            </a:extLst>
          </p:cNvPr>
          <p:cNvSpPr/>
          <p:nvPr/>
        </p:nvSpPr>
        <p:spPr>
          <a:xfrm>
            <a:off x="8110569" y="1291238"/>
            <a:ext cx="2768328" cy="346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Automated Training</a:t>
            </a:r>
            <a:endParaRPr lang="en-US" sz="24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85817B5-6E9E-6C0D-15B4-DFE39D860BCF}"/>
              </a:ext>
            </a:extLst>
          </p:cNvPr>
          <p:cNvSpPr/>
          <p:nvPr/>
        </p:nvSpPr>
        <p:spPr>
          <a:xfrm>
            <a:off x="9411061" y="3892588"/>
            <a:ext cx="2768328" cy="346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XAI Real‑time </a:t>
            </a:r>
            <a:r>
              <a:rPr lang="en-US" sz="2400" dirty="0" err="1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Explainations</a:t>
            </a:r>
            <a:endParaRPr lang="en-US" sz="24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5B5E2927-0C2E-E7BE-71D4-A8D1D4463E7F}"/>
              </a:ext>
            </a:extLst>
          </p:cNvPr>
          <p:cNvSpPr/>
          <p:nvPr/>
        </p:nvSpPr>
        <p:spPr>
          <a:xfrm>
            <a:off x="3511335" y="5181545"/>
            <a:ext cx="3225322" cy="346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Self‑operating Monitoring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5000670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object 13">
            <a:extLst>
              <a:ext uri="{FF2B5EF4-FFF2-40B4-BE49-F238E27FC236}">
                <a16:creationId xmlns:a16="http://schemas.microsoft.com/office/drawing/2014/main" id="{8BC26874-D32D-B0C4-504A-8319293B7F2A}"/>
              </a:ext>
            </a:extLst>
          </p:cNvPr>
          <p:cNvGrpSpPr/>
          <p:nvPr/>
        </p:nvGrpSpPr>
        <p:grpSpPr>
          <a:xfrm>
            <a:off x="751470" y="4697864"/>
            <a:ext cx="6563730" cy="2361853"/>
            <a:chOff x="793788" y="4631308"/>
            <a:chExt cx="6437630" cy="2974340"/>
          </a:xfrm>
        </p:grpSpPr>
        <p:sp>
          <p:nvSpPr>
            <p:cNvPr id="34" name="object 14">
              <a:extLst>
                <a:ext uri="{FF2B5EF4-FFF2-40B4-BE49-F238E27FC236}">
                  <a16:creationId xmlns:a16="http://schemas.microsoft.com/office/drawing/2014/main" id="{1EBA9424-EEBD-DCA3-3EAC-C27465A465E3}"/>
                </a:ext>
              </a:extLst>
            </p:cNvPr>
            <p:cNvSpPr/>
            <p:nvPr/>
          </p:nvSpPr>
          <p:spPr>
            <a:xfrm>
              <a:off x="793788" y="4631308"/>
              <a:ext cx="6437630" cy="2974340"/>
            </a:xfrm>
            <a:custGeom>
              <a:avLst/>
              <a:gdLst/>
              <a:ahLst/>
              <a:cxnLst/>
              <a:rect l="l" t="t" r="r" b="b"/>
              <a:pathLst>
                <a:path w="6437630" h="2974340">
                  <a:moveTo>
                    <a:pt x="0" y="70865"/>
                  </a:moveTo>
                  <a:lnTo>
                    <a:pt x="5568" y="43291"/>
                  </a:lnTo>
                  <a:lnTo>
                    <a:pt x="20753" y="20764"/>
                  </a:lnTo>
                  <a:lnTo>
                    <a:pt x="43275" y="5572"/>
                  </a:lnTo>
                  <a:lnTo>
                    <a:pt x="70853" y="0"/>
                  </a:lnTo>
                  <a:lnTo>
                    <a:pt x="6366217" y="0"/>
                  </a:lnTo>
                  <a:lnTo>
                    <a:pt x="6393792" y="5572"/>
                  </a:lnTo>
                  <a:lnTo>
                    <a:pt x="6416319" y="20764"/>
                  </a:lnTo>
                  <a:lnTo>
                    <a:pt x="6431511" y="43291"/>
                  </a:lnTo>
                  <a:lnTo>
                    <a:pt x="6437083" y="70865"/>
                  </a:lnTo>
                  <a:lnTo>
                    <a:pt x="6437083" y="2903435"/>
                  </a:lnTo>
                  <a:lnTo>
                    <a:pt x="6431511" y="2931014"/>
                  </a:lnTo>
                  <a:lnTo>
                    <a:pt x="6416319" y="2953535"/>
                  </a:lnTo>
                  <a:lnTo>
                    <a:pt x="6393792" y="2968720"/>
                  </a:lnTo>
                  <a:lnTo>
                    <a:pt x="6366217" y="2974289"/>
                  </a:lnTo>
                  <a:lnTo>
                    <a:pt x="70853" y="2974289"/>
                  </a:lnTo>
                  <a:lnTo>
                    <a:pt x="43275" y="2968720"/>
                  </a:lnTo>
                  <a:lnTo>
                    <a:pt x="20753" y="2953535"/>
                  </a:lnTo>
                  <a:lnTo>
                    <a:pt x="5568" y="2931014"/>
                  </a:lnTo>
                  <a:lnTo>
                    <a:pt x="0" y="2903435"/>
                  </a:lnTo>
                  <a:lnTo>
                    <a:pt x="0" y="70865"/>
                  </a:lnTo>
                  <a:close/>
                </a:path>
              </a:pathLst>
            </a:custGeom>
            <a:ln w="22860">
              <a:solidFill>
                <a:srgbClr val="C5D2CF"/>
              </a:solidFill>
            </a:ln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pPr>
                <a:lnSpc>
                  <a:spcPct val="200000"/>
                </a:lnSpc>
              </a:pPr>
              <a:endParaRPr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  <p:sp>
          <p:nvSpPr>
            <p:cNvPr id="35" name="object 15">
              <a:extLst>
                <a:ext uri="{FF2B5EF4-FFF2-40B4-BE49-F238E27FC236}">
                  <a16:creationId xmlns:a16="http://schemas.microsoft.com/office/drawing/2014/main" id="{5E7C18E8-C80E-C1A0-CF76-5E1455C6789F}"/>
                </a:ext>
              </a:extLst>
            </p:cNvPr>
            <p:cNvSpPr/>
            <p:nvPr/>
          </p:nvSpPr>
          <p:spPr>
            <a:xfrm>
              <a:off x="816648" y="4654163"/>
              <a:ext cx="6391910" cy="857280"/>
            </a:xfrm>
            <a:custGeom>
              <a:avLst/>
              <a:gdLst/>
              <a:ahLst/>
              <a:cxnLst/>
              <a:rect l="l" t="t" r="r" b="b"/>
              <a:pathLst>
                <a:path w="6391909" h="506095">
                  <a:moveTo>
                    <a:pt x="6347929" y="0"/>
                  </a:moveTo>
                  <a:lnTo>
                    <a:pt x="43421" y="0"/>
                  </a:lnTo>
                  <a:lnTo>
                    <a:pt x="26521" y="3411"/>
                  </a:lnTo>
                  <a:lnTo>
                    <a:pt x="12719" y="12715"/>
                  </a:lnTo>
                  <a:lnTo>
                    <a:pt x="3412" y="26521"/>
                  </a:lnTo>
                  <a:lnTo>
                    <a:pt x="0" y="43433"/>
                  </a:lnTo>
                  <a:lnTo>
                    <a:pt x="0" y="462533"/>
                  </a:lnTo>
                  <a:lnTo>
                    <a:pt x="3412" y="479446"/>
                  </a:lnTo>
                  <a:lnTo>
                    <a:pt x="12719" y="493252"/>
                  </a:lnTo>
                  <a:lnTo>
                    <a:pt x="26521" y="502556"/>
                  </a:lnTo>
                  <a:lnTo>
                    <a:pt x="43421" y="505967"/>
                  </a:lnTo>
                  <a:lnTo>
                    <a:pt x="6347929" y="505967"/>
                  </a:lnTo>
                  <a:lnTo>
                    <a:pt x="6364842" y="502556"/>
                  </a:lnTo>
                  <a:lnTo>
                    <a:pt x="6378648" y="493252"/>
                  </a:lnTo>
                  <a:lnTo>
                    <a:pt x="6387952" y="479446"/>
                  </a:lnTo>
                  <a:lnTo>
                    <a:pt x="6391363" y="462533"/>
                  </a:lnTo>
                  <a:lnTo>
                    <a:pt x="6391363" y="43433"/>
                  </a:lnTo>
                  <a:lnTo>
                    <a:pt x="6387952" y="26521"/>
                  </a:lnTo>
                  <a:lnTo>
                    <a:pt x="6378648" y="12715"/>
                  </a:lnTo>
                  <a:lnTo>
                    <a:pt x="6364842" y="3411"/>
                  </a:lnTo>
                  <a:lnTo>
                    <a:pt x="6347929" y="0"/>
                  </a:lnTo>
                  <a:close/>
                </a:path>
              </a:pathLst>
            </a:custGeom>
            <a:solidFill>
              <a:srgbClr val="DFEBE9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pPr>
                <a:lnSpc>
                  <a:spcPct val="200000"/>
                </a:lnSpc>
              </a:pPr>
              <a:endParaRPr dirty="0"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</p:grpSp>
      <p:grpSp>
        <p:nvGrpSpPr>
          <p:cNvPr id="30" name="object 13">
            <a:extLst>
              <a:ext uri="{FF2B5EF4-FFF2-40B4-BE49-F238E27FC236}">
                <a16:creationId xmlns:a16="http://schemas.microsoft.com/office/drawing/2014/main" id="{3CC01AED-2482-CBED-1EFE-AA3F3687B2DC}"/>
              </a:ext>
            </a:extLst>
          </p:cNvPr>
          <p:cNvGrpSpPr/>
          <p:nvPr/>
        </p:nvGrpSpPr>
        <p:grpSpPr>
          <a:xfrm>
            <a:off x="7620000" y="4697864"/>
            <a:ext cx="6571059" cy="2361853"/>
            <a:chOff x="793788" y="4631308"/>
            <a:chExt cx="6437630" cy="2974340"/>
          </a:xfrm>
        </p:grpSpPr>
        <p:sp>
          <p:nvSpPr>
            <p:cNvPr id="31" name="object 14">
              <a:extLst>
                <a:ext uri="{FF2B5EF4-FFF2-40B4-BE49-F238E27FC236}">
                  <a16:creationId xmlns:a16="http://schemas.microsoft.com/office/drawing/2014/main" id="{42DEF435-3D17-4FA9-9522-3E98EF868AEF}"/>
                </a:ext>
              </a:extLst>
            </p:cNvPr>
            <p:cNvSpPr/>
            <p:nvPr/>
          </p:nvSpPr>
          <p:spPr>
            <a:xfrm>
              <a:off x="793788" y="4631308"/>
              <a:ext cx="6437630" cy="2974340"/>
            </a:xfrm>
            <a:custGeom>
              <a:avLst/>
              <a:gdLst/>
              <a:ahLst/>
              <a:cxnLst/>
              <a:rect l="l" t="t" r="r" b="b"/>
              <a:pathLst>
                <a:path w="6437630" h="2974340">
                  <a:moveTo>
                    <a:pt x="0" y="70865"/>
                  </a:moveTo>
                  <a:lnTo>
                    <a:pt x="5568" y="43291"/>
                  </a:lnTo>
                  <a:lnTo>
                    <a:pt x="20753" y="20764"/>
                  </a:lnTo>
                  <a:lnTo>
                    <a:pt x="43275" y="5572"/>
                  </a:lnTo>
                  <a:lnTo>
                    <a:pt x="70853" y="0"/>
                  </a:lnTo>
                  <a:lnTo>
                    <a:pt x="6366217" y="0"/>
                  </a:lnTo>
                  <a:lnTo>
                    <a:pt x="6393792" y="5572"/>
                  </a:lnTo>
                  <a:lnTo>
                    <a:pt x="6416319" y="20764"/>
                  </a:lnTo>
                  <a:lnTo>
                    <a:pt x="6431511" y="43291"/>
                  </a:lnTo>
                  <a:lnTo>
                    <a:pt x="6437083" y="70865"/>
                  </a:lnTo>
                  <a:lnTo>
                    <a:pt x="6437083" y="2903435"/>
                  </a:lnTo>
                  <a:lnTo>
                    <a:pt x="6431511" y="2931014"/>
                  </a:lnTo>
                  <a:lnTo>
                    <a:pt x="6416319" y="2953535"/>
                  </a:lnTo>
                  <a:lnTo>
                    <a:pt x="6393792" y="2968720"/>
                  </a:lnTo>
                  <a:lnTo>
                    <a:pt x="6366217" y="2974289"/>
                  </a:lnTo>
                  <a:lnTo>
                    <a:pt x="70853" y="2974289"/>
                  </a:lnTo>
                  <a:lnTo>
                    <a:pt x="43275" y="2968720"/>
                  </a:lnTo>
                  <a:lnTo>
                    <a:pt x="20753" y="2953535"/>
                  </a:lnTo>
                  <a:lnTo>
                    <a:pt x="5568" y="2931014"/>
                  </a:lnTo>
                  <a:lnTo>
                    <a:pt x="0" y="2903435"/>
                  </a:lnTo>
                  <a:lnTo>
                    <a:pt x="0" y="70865"/>
                  </a:lnTo>
                  <a:close/>
                </a:path>
              </a:pathLst>
            </a:custGeom>
            <a:ln w="22860">
              <a:solidFill>
                <a:srgbClr val="C5D2CF"/>
              </a:solidFill>
            </a:ln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pPr>
                <a:lnSpc>
                  <a:spcPct val="200000"/>
                </a:lnSpc>
              </a:pPr>
              <a:endParaRPr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  <p:sp>
          <p:nvSpPr>
            <p:cNvPr id="32" name="object 15">
              <a:extLst>
                <a:ext uri="{FF2B5EF4-FFF2-40B4-BE49-F238E27FC236}">
                  <a16:creationId xmlns:a16="http://schemas.microsoft.com/office/drawing/2014/main" id="{A38FA84D-C25A-6721-9EFF-93A9BCD893C7}"/>
                </a:ext>
              </a:extLst>
            </p:cNvPr>
            <p:cNvSpPr/>
            <p:nvPr/>
          </p:nvSpPr>
          <p:spPr>
            <a:xfrm>
              <a:off x="816648" y="4654163"/>
              <a:ext cx="6391910" cy="857280"/>
            </a:xfrm>
            <a:custGeom>
              <a:avLst/>
              <a:gdLst/>
              <a:ahLst/>
              <a:cxnLst/>
              <a:rect l="l" t="t" r="r" b="b"/>
              <a:pathLst>
                <a:path w="6391909" h="506095">
                  <a:moveTo>
                    <a:pt x="6347929" y="0"/>
                  </a:moveTo>
                  <a:lnTo>
                    <a:pt x="43421" y="0"/>
                  </a:lnTo>
                  <a:lnTo>
                    <a:pt x="26521" y="3411"/>
                  </a:lnTo>
                  <a:lnTo>
                    <a:pt x="12719" y="12715"/>
                  </a:lnTo>
                  <a:lnTo>
                    <a:pt x="3412" y="26521"/>
                  </a:lnTo>
                  <a:lnTo>
                    <a:pt x="0" y="43433"/>
                  </a:lnTo>
                  <a:lnTo>
                    <a:pt x="0" y="462533"/>
                  </a:lnTo>
                  <a:lnTo>
                    <a:pt x="3412" y="479446"/>
                  </a:lnTo>
                  <a:lnTo>
                    <a:pt x="12719" y="493252"/>
                  </a:lnTo>
                  <a:lnTo>
                    <a:pt x="26521" y="502556"/>
                  </a:lnTo>
                  <a:lnTo>
                    <a:pt x="43421" y="505967"/>
                  </a:lnTo>
                  <a:lnTo>
                    <a:pt x="6347929" y="505967"/>
                  </a:lnTo>
                  <a:lnTo>
                    <a:pt x="6364842" y="502556"/>
                  </a:lnTo>
                  <a:lnTo>
                    <a:pt x="6378648" y="493252"/>
                  </a:lnTo>
                  <a:lnTo>
                    <a:pt x="6387952" y="479446"/>
                  </a:lnTo>
                  <a:lnTo>
                    <a:pt x="6391363" y="462533"/>
                  </a:lnTo>
                  <a:lnTo>
                    <a:pt x="6391363" y="43433"/>
                  </a:lnTo>
                  <a:lnTo>
                    <a:pt x="6387952" y="26521"/>
                  </a:lnTo>
                  <a:lnTo>
                    <a:pt x="6378648" y="12715"/>
                  </a:lnTo>
                  <a:lnTo>
                    <a:pt x="6364842" y="3411"/>
                  </a:lnTo>
                  <a:lnTo>
                    <a:pt x="6347929" y="0"/>
                  </a:lnTo>
                  <a:close/>
                </a:path>
              </a:pathLst>
            </a:custGeom>
            <a:solidFill>
              <a:srgbClr val="DFEBE9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pPr>
                <a:lnSpc>
                  <a:spcPct val="200000"/>
                </a:lnSpc>
              </a:pPr>
              <a:endParaRPr dirty="0"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</p:grpSp>
      <p:grpSp>
        <p:nvGrpSpPr>
          <p:cNvPr id="27" name="object 13">
            <a:extLst>
              <a:ext uri="{FF2B5EF4-FFF2-40B4-BE49-F238E27FC236}">
                <a16:creationId xmlns:a16="http://schemas.microsoft.com/office/drawing/2014/main" id="{7453EB64-7342-4751-B226-B2A3A885DF46}"/>
              </a:ext>
            </a:extLst>
          </p:cNvPr>
          <p:cNvGrpSpPr/>
          <p:nvPr/>
        </p:nvGrpSpPr>
        <p:grpSpPr>
          <a:xfrm>
            <a:off x="7620000" y="1693379"/>
            <a:ext cx="6571059" cy="2421073"/>
            <a:chOff x="793788" y="4631308"/>
            <a:chExt cx="6437630" cy="2974340"/>
          </a:xfrm>
        </p:grpSpPr>
        <p:sp>
          <p:nvSpPr>
            <p:cNvPr id="28" name="object 14">
              <a:extLst>
                <a:ext uri="{FF2B5EF4-FFF2-40B4-BE49-F238E27FC236}">
                  <a16:creationId xmlns:a16="http://schemas.microsoft.com/office/drawing/2014/main" id="{1135B5DA-3FAF-6B95-B7FB-F2C8A5891D70}"/>
                </a:ext>
              </a:extLst>
            </p:cNvPr>
            <p:cNvSpPr/>
            <p:nvPr/>
          </p:nvSpPr>
          <p:spPr>
            <a:xfrm>
              <a:off x="793788" y="4631308"/>
              <a:ext cx="6437630" cy="2974340"/>
            </a:xfrm>
            <a:custGeom>
              <a:avLst/>
              <a:gdLst/>
              <a:ahLst/>
              <a:cxnLst/>
              <a:rect l="l" t="t" r="r" b="b"/>
              <a:pathLst>
                <a:path w="6437630" h="2974340">
                  <a:moveTo>
                    <a:pt x="0" y="70865"/>
                  </a:moveTo>
                  <a:lnTo>
                    <a:pt x="5568" y="43291"/>
                  </a:lnTo>
                  <a:lnTo>
                    <a:pt x="20753" y="20764"/>
                  </a:lnTo>
                  <a:lnTo>
                    <a:pt x="43275" y="5572"/>
                  </a:lnTo>
                  <a:lnTo>
                    <a:pt x="70853" y="0"/>
                  </a:lnTo>
                  <a:lnTo>
                    <a:pt x="6366217" y="0"/>
                  </a:lnTo>
                  <a:lnTo>
                    <a:pt x="6393792" y="5572"/>
                  </a:lnTo>
                  <a:lnTo>
                    <a:pt x="6416319" y="20764"/>
                  </a:lnTo>
                  <a:lnTo>
                    <a:pt x="6431511" y="43291"/>
                  </a:lnTo>
                  <a:lnTo>
                    <a:pt x="6437083" y="70865"/>
                  </a:lnTo>
                  <a:lnTo>
                    <a:pt x="6437083" y="2903435"/>
                  </a:lnTo>
                  <a:lnTo>
                    <a:pt x="6431511" y="2931014"/>
                  </a:lnTo>
                  <a:lnTo>
                    <a:pt x="6416319" y="2953535"/>
                  </a:lnTo>
                  <a:lnTo>
                    <a:pt x="6393792" y="2968720"/>
                  </a:lnTo>
                  <a:lnTo>
                    <a:pt x="6366217" y="2974289"/>
                  </a:lnTo>
                  <a:lnTo>
                    <a:pt x="70853" y="2974289"/>
                  </a:lnTo>
                  <a:lnTo>
                    <a:pt x="43275" y="2968720"/>
                  </a:lnTo>
                  <a:lnTo>
                    <a:pt x="20753" y="2953535"/>
                  </a:lnTo>
                  <a:lnTo>
                    <a:pt x="5568" y="2931014"/>
                  </a:lnTo>
                  <a:lnTo>
                    <a:pt x="0" y="2903435"/>
                  </a:lnTo>
                  <a:lnTo>
                    <a:pt x="0" y="70865"/>
                  </a:lnTo>
                  <a:close/>
                </a:path>
              </a:pathLst>
            </a:custGeom>
            <a:ln w="22860">
              <a:solidFill>
                <a:srgbClr val="C5D2CF"/>
              </a:solidFill>
            </a:ln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pPr>
                <a:lnSpc>
                  <a:spcPct val="200000"/>
                </a:lnSpc>
              </a:pPr>
              <a:endParaRPr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  <p:sp>
          <p:nvSpPr>
            <p:cNvPr id="29" name="object 15">
              <a:extLst>
                <a:ext uri="{FF2B5EF4-FFF2-40B4-BE49-F238E27FC236}">
                  <a16:creationId xmlns:a16="http://schemas.microsoft.com/office/drawing/2014/main" id="{659D6209-EFA4-3521-61A1-BFBE38D0E14B}"/>
                </a:ext>
              </a:extLst>
            </p:cNvPr>
            <p:cNvSpPr/>
            <p:nvPr/>
          </p:nvSpPr>
          <p:spPr>
            <a:xfrm>
              <a:off x="816648" y="4654163"/>
              <a:ext cx="6391910" cy="875906"/>
            </a:xfrm>
            <a:custGeom>
              <a:avLst/>
              <a:gdLst/>
              <a:ahLst/>
              <a:cxnLst/>
              <a:rect l="l" t="t" r="r" b="b"/>
              <a:pathLst>
                <a:path w="6391909" h="506095">
                  <a:moveTo>
                    <a:pt x="6347929" y="0"/>
                  </a:moveTo>
                  <a:lnTo>
                    <a:pt x="43421" y="0"/>
                  </a:lnTo>
                  <a:lnTo>
                    <a:pt x="26521" y="3411"/>
                  </a:lnTo>
                  <a:lnTo>
                    <a:pt x="12719" y="12715"/>
                  </a:lnTo>
                  <a:lnTo>
                    <a:pt x="3412" y="26521"/>
                  </a:lnTo>
                  <a:lnTo>
                    <a:pt x="0" y="43433"/>
                  </a:lnTo>
                  <a:lnTo>
                    <a:pt x="0" y="462533"/>
                  </a:lnTo>
                  <a:lnTo>
                    <a:pt x="3412" y="479446"/>
                  </a:lnTo>
                  <a:lnTo>
                    <a:pt x="12719" y="493252"/>
                  </a:lnTo>
                  <a:lnTo>
                    <a:pt x="26521" y="502556"/>
                  </a:lnTo>
                  <a:lnTo>
                    <a:pt x="43421" y="505967"/>
                  </a:lnTo>
                  <a:lnTo>
                    <a:pt x="6347929" y="505967"/>
                  </a:lnTo>
                  <a:lnTo>
                    <a:pt x="6364842" y="502556"/>
                  </a:lnTo>
                  <a:lnTo>
                    <a:pt x="6378648" y="493252"/>
                  </a:lnTo>
                  <a:lnTo>
                    <a:pt x="6387952" y="479446"/>
                  </a:lnTo>
                  <a:lnTo>
                    <a:pt x="6391363" y="462533"/>
                  </a:lnTo>
                  <a:lnTo>
                    <a:pt x="6391363" y="43433"/>
                  </a:lnTo>
                  <a:lnTo>
                    <a:pt x="6387952" y="26521"/>
                  </a:lnTo>
                  <a:lnTo>
                    <a:pt x="6378648" y="12715"/>
                  </a:lnTo>
                  <a:lnTo>
                    <a:pt x="6364842" y="3411"/>
                  </a:lnTo>
                  <a:lnTo>
                    <a:pt x="6347929" y="0"/>
                  </a:lnTo>
                  <a:close/>
                </a:path>
              </a:pathLst>
            </a:custGeom>
            <a:solidFill>
              <a:srgbClr val="DFEBE9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pPr>
                <a:lnSpc>
                  <a:spcPct val="200000"/>
                </a:lnSpc>
              </a:pPr>
              <a:endParaRPr dirty="0"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</p:grpSp>
      <p:grpSp>
        <p:nvGrpSpPr>
          <p:cNvPr id="24" name="object 13">
            <a:extLst>
              <a:ext uri="{FF2B5EF4-FFF2-40B4-BE49-F238E27FC236}">
                <a16:creationId xmlns:a16="http://schemas.microsoft.com/office/drawing/2014/main" id="{9EDED71C-1B31-D97D-38B2-DAFD66018FF9}"/>
              </a:ext>
            </a:extLst>
          </p:cNvPr>
          <p:cNvGrpSpPr/>
          <p:nvPr/>
        </p:nvGrpSpPr>
        <p:grpSpPr>
          <a:xfrm>
            <a:off x="750141" y="1680285"/>
            <a:ext cx="6411330" cy="2421073"/>
            <a:chOff x="793788" y="4631308"/>
            <a:chExt cx="6437630" cy="2974340"/>
          </a:xfrm>
        </p:grpSpPr>
        <p:sp>
          <p:nvSpPr>
            <p:cNvPr id="25" name="object 14">
              <a:extLst>
                <a:ext uri="{FF2B5EF4-FFF2-40B4-BE49-F238E27FC236}">
                  <a16:creationId xmlns:a16="http://schemas.microsoft.com/office/drawing/2014/main" id="{35293503-1DBD-8E87-3BE0-DDA71A76F25C}"/>
                </a:ext>
              </a:extLst>
            </p:cNvPr>
            <p:cNvSpPr/>
            <p:nvPr/>
          </p:nvSpPr>
          <p:spPr>
            <a:xfrm>
              <a:off x="793788" y="4631308"/>
              <a:ext cx="6437630" cy="2974340"/>
            </a:xfrm>
            <a:custGeom>
              <a:avLst/>
              <a:gdLst/>
              <a:ahLst/>
              <a:cxnLst/>
              <a:rect l="l" t="t" r="r" b="b"/>
              <a:pathLst>
                <a:path w="6437630" h="2974340">
                  <a:moveTo>
                    <a:pt x="0" y="70865"/>
                  </a:moveTo>
                  <a:lnTo>
                    <a:pt x="5568" y="43291"/>
                  </a:lnTo>
                  <a:lnTo>
                    <a:pt x="20753" y="20764"/>
                  </a:lnTo>
                  <a:lnTo>
                    <a:pt x="43275" y="5572"/>
                  </a:lnTo>
                  <a:lnTo>
                    <a:pt x="70853" y="0"/>
                  </a:lnTo>
                  <a:lnTo>
                    <a:pt x="6366217" y="0"/>
                  </a:lnTo>
                  <a:lnTo>
                    <a:pt x="6393792" y="5572"/>
                  </a:lnTo>
                  <a:lnTo>
                    <a:pt x="6416319" y="20764"/>
                  </a:lnTo>
                  <a:lnTo>
                    <a:pt x="6431511" y="43291"/>
                  </a:lnTo>
                  <a:lnTo>
                    <a:pt x="6437083" y="70865"/>
                  </a:lnTo>
                  <a:lnTo>
                    <a:pt x="6437083" y="2903435"/>
                  </a:lnTo>
                  <a:lnTo>
                    <a:pt x="6431511" y="2931014"/>
                  </a:lnTo>
                  <a:lnTo>
                    <a:pt x="6416319" y="2953535"/>
                  </a:lnTo>
                  <a:lnTo>
                    <a:pt x="6393792" y="2968720"/>
                  </a:lnTo>
                  <a:lnTo>
                    <a:pt x="6366217" y="2974289"/>
                  </a:lnTo>
                  <a:lnTo>
                    <a:pt x="70853" y="2974289"/>
                  </a:lnTo>
                  <a:lnTo>
                    <a:pt x="43275" y="2968720"/>
                  </a:lnTo>
                  <a:lnTo>
                    <a:pt x="20753" y="2953535"/>
                  </a:lnTo>
                  <a:lnTo>
                    <a:pt x="5568" y="2931014"/>
                  </a:lnTo>
                  <a:lnTo>
                    <a:pt x="0" y="2903435"/>
                  </a:lnTo>
                  <a:lnTo>
                    <a:pt x="0" y="70865"/>
                  </a:lnTo>
                  <a:close/>
                </a:path>
              </a:pathLst>
            </a:custGeom>
            <a:ln w="22860">
              <a:solidFill>
                <a:srgbClr val="C5D2CF"/>
              </a:solidFill>
            </a:ln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pPr>
                <a:lnSpc>
                  <a:spcPct val="200000"/>
                </a:lnSpc>
              </a:pPr>
              <a:endParaRPr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  <p:sp>
          <p:nvSpPr>
            <p:cNvPr id="26" name="object 15">
              <a:extLst>
                <a:ext uri="{FF2B5EF4-FFF2-40B4-BE49-F238E27FC236}">
                  <a16:creationId xmlns:a16="http://schemas.microsoft.com/office/drawing/2014/main" id="{222A1FF6-5464-B670-5D90-F39A5749423F}"/>
                </a:ext>
              </a:extLst>
            </p:cNvPr>
            <p:cNvSpPr/>
            <p:nvPr/>
          </p:nvSpPr>
          <p:spPr>
            <a:xfrm>
              <a:off x="816648" y="4654163"/>
              <a:ext cx="6391910" cy="891993"/>
            </a:xfrm>
            <a:custGeom>
              <a:avLst/>
              <a:gdLst/>
              <a:ahLst/>
              <a:cxnLst/>
              <a:rect l="l" t="t" r="r" b="b"/>
              <a:pathLst>
                <a:path w="6391909" h="506095">
                  <a:moveTo>
                    <a:pt x="6347929" y="0"/>
                  </a:moveTo>
                  <a:lnTo>
                    <a:pt x="43421" y="0"/>
                  </a:lnTo>
                  <a:lnTo>
                    <a:pt x="26521" y="3411"/>
                  </a:lnTo>
                  <a:lnTo>
                    <a:pt x="12719" y="12715"/>
                  </a:lnTo>
                  <a:lnTo>
                    <a:pt x="3412" y="26521"/>
                  </a:lnTo>
                  <a:lnTo>
                    <a:pt x="0" y="43433"/>
                  </a:lnTo>
                  <a:lnTo>
                    <a:pt x="0" y="462533"/>
                  </a:lnTo>
                  <a:lnTo>
                    <a:pt x="3412" y="479446"/>
                  </a:lnTo>
                  <a:lnTo>
                    <a:pt x="12719" y="493252"/>
                  </a:lnTo>
                  <a:lnTo>
                    <a:pt x="26521" y="502556"/>
                  </a:lnTo>
                  <a:lnTo>
                    <a:pt x="43421" y="505967"/>
                  </a:lnTo>
                  <a:lnTo>
                    <a:pt x="6347929" y="505967"/>
                  </a:lnTo>
                  <a:lnTo>
                    <a:pt x="6364842" y="502556"/>
                  </a:lnTo>
                  <a:lnTo>
                    <a:pt x="6378648" y="493252"/>
                  </a:lnTo>
                  <a:lnTo>
                    <a:pt x="6387952" y="479446"/>
                  </a:lnTo>
                  <a:lnTo>
                    <a:pt x="6391363" y="462533"/>
                  </a:lnTo>
                  <a:lnTo>
                    <a:pt x="6391363" y="43433"/>
                  </a:lnTo>
                  <a:lnTo>
                    <a:pt x="6387952" y="26521"/>
                  </a:lnTo>
                  <a:lnTo>
                    <a:pt x="6378648" y="12715"/>
                  </a:lnTo>
                  <a:lnTo>
                    <a:pt x="6364842" y="3411"/>
                  </a:lnTo>
                  <a:lnTo>
                    <a:pt x="6347929" y="0"/>
                  </a:lnTo>
                  <a:close/>
                </a:path>
              </a:pathLst>
            </a:custGeom>
            <a:solidFill>
              <a:srgbClr val="DFEBE9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pPr>
                <a:lnSpc>
                  <a:spcPct val="200000"/>
                </a:lnSpc>
              </a:pPr>
              <a:endParaRPr dirty="0"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</p:grp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0141" y="207702"/>
            <a:ext cx="13656055" cy="777008"/>
          </a:xfrm>
          <a:prstGeom prst="rect">
            <a:avLst/>
          </a:prstGeom>
          <a:noFill/>
        </p:spPr>
        <p:txBody>
          <a:bodyPr vert="horz" wrap="square" lIns="0" tIns="220853" rIns="0" bIns="0" rtlCol="0">
            <a:spAutoFit/>
          </a:bodyPr>
          <a:lstStyle/>
          <a:p>
            <a:pPr marL="0" indent="0" algn="l">
              <a:buNone/>
            </a:pPr>
            <a:r>
              <a:rPr lang="en-US" sz="3600" dirty="0">
                <a:solidFill>
                  <a:schemeClr val="tx1"/>
                </a:solidFill>
                <a:ea typeface="PT Serif" pitchFamily="34" charset="-122"/>
                <a:cs typeface="PT Serif" pitchFamily="34" charset="-120"/>
              </a:rPr>
              <a:t>Key Takeaways</a:t>
            </a:r>
            <a:endParaRPr lang="en-US" sz="3600" dirty="0">
              <a:solidFill>
                <a:schemeClr val="tx1"/>
              </a:solidFill>
            </a:endParaRPr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A0D38183-3593-0CD5-9F87-5CFCC2BA96CD}"/>
              </a:ext>
            </a:extLst>
          </p:cNvPr>
          <p:cNvSpPr/>
          <p:nvPr/>
        </p:nvSpPr>
        <p:spPr>
          <a:xfrm>
            <a:off x="1058373" y="1673063"/>
            <a:ext cx="6034239" cy="4698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Boosting Remains Dominant</a:t>
            </a:r>
            <a:endParaRPr lang="en-US" sz="24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Boosting algorithms continue to lead on tabular data, evolving with hybrid deep learning integration, edge deployment, and privacy-preserving techniques.</a:t>
            </a:r>
            <a:endParaRPr lang="en-US" sz="18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algn="l">
              <a:lnSpc>
                <a:spcPct val="200000"/>
              </a:lnSpc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XAI Is Non-Negotiable</a:t>
            </a:r>
            <a:endParaRPr lang="en-US" sz="24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Regulatory mandates and stakeholder trust demand built-in </a:t>
            </a:r>
            <a:r>
              <a:rPr lang="en-US" sz="1800" dirty="0" err="1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explainability</a:t>
            </a:r>
            <a:r>
              <a:rPr lang="en-US" sz="1800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 with real-time explanations, bias detection, and standardized metrics.</a:t>
            </a:r>
            <a:endParaRPr lang="en-US" sz="180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B7C25592-1A5D-94A2-1249-6AAE7946F079}"/>
              </a:ext>
            </a:extLst>
          </p:cNvPr>
          <p:cNvSpPr/>
          <p:nvPr/>
        </p:nvSpPr>
        <p:spPr>
          <a:xfrm>
            <a:off x="7779729" y="1693379"/>
            <a:ext cx="6411330" cy="4698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AutoML Democratizes ML</a:t>
            </a:r>
            <a:endParaRPr lang="en-US" sz="24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AutoML is shifting from automated modeling to autonomous decision systems — managed by AI agents with domain awareness and continuous learning.</a:t>
            </a: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Convergence Is the Future</a:t>
            </a:r>
            <a:endParaRPr lang="en-US" sz="24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The integration of Boosting, AutoML, and XAI into self-operating ML systems represents the next frontier of intelligent, transparent, and scalable AI.</a:t>
            </a:r>
            <a:endParaRPr lang="en-US" sz="180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20292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1144</TotalTime>
  <Words>1029</Words>
  <Application>Microsoft Macintosh PowerPoint</Application>
  <PresentationFormat>Custom</PresentationFormat>
  <Paragraphs>114</Paragraphs>
  <Slides>11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Calibri</vt:lpstr>
      <vt:lpstr>DM Sans</vt:lpstr>
      <vt:lpstr>Lucida Sans Unicode</vt:lpstr>
      <vt:lpstr>PT Serif</vt:lpstr>
      <vt:lpstr>PT Serif Light</vt:lpstr>
      <vt:lpstr>Office Theme</vt:lpstr>
      <vt:lpstr>PowerPoint Presentation</vt:lpstr>
      <vt:lpstr>PowerPoint Presentation</vt:lpstr>
      <vt:lpstr>Why the Future Is Changing</vt:lpstr>
      <vt:lpstr>The Evolution of Boosting Algorithms</vt:lpstr>
      <vt:lpstr>Next-Gen Boosting Trends</vt:lpstr>
      <vt:lpstr>The Rise of AutoML</vt:lpstr>
      <vt:lpstr>Future Directions of AutoML</vt:lpstr>
      <vt:lpstr>Explainable AI (XAI): Why It Matters </vt:lpstr>
      <vt:lpstr>Future Trends in Explainable AI</vt:lpstr>
      <vt:lpstr>Convergence: Boosting + AutoML + XAI </vt:lpstr>
      <vt:lpstr>Key Takeaways</vt:lpstr>
    </vt:vector>
  </TitlesOfParts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Vinayak Deshpande</cp:lastModifiedBy>
  <cp:revision>343</cp:revision>
  <dcterms:created xsi:type="dcterms:W3CDTF">2025-08-01T06:43:07Z</dcterms:created>
  <dcterms:modified xsi:type="dcterms:W3CDTF">2026-02-27T05:29:40Z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2025-08-01T00:00:00Z</vt:filetime>
  </property>
  <property fmtid="{D5CDD505-2E9C-101B-9397-08002B2CF9AE}" pid="3" name="Creator">
    <vt:lpwstr>Microsoft® PowerPoint® 2021</vt:lpwstr>
  </property>
  <property fmtid="{D5CDD505-2E9C-101B-9397-08002B2CF9AE}" pid="4" name="LastSaved">
    <vt:filetime>2025-08-01T00:00:00Z</vt:filetime>
  </property>
  <property fmtid="{D5CDD505-2E9C-101B-9397-08002B2CF9AE}" pid="5" name="Producer">
    <vt:lpwstr>Microsoft® PowerPoint® 2021</vt:lpwstr>
  </property>
</Properties>
</file>