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74" r:id="rId2"/>
    <p:sldId id="275" r:id="rId3"/>
    <p:sldId id="292" r:id="rId4"/>
    <p:sldId id="335" r:id="rId5"/>
    <p:sldId id="347" r:id="rId6"/>
    <p:sldId id="348" r:id="rId7"/>
    <p:sldId id="349" r:id="rId8"/>
    <p:sldId id="350" r:id="rId9"/>
    <p:sldId id="300" r:id="rId10"/>
    <p:sldId id="351" r:id="rId11"/>
    <p:sldId id="352" r:id="rId12"/>
    <p:sldId id="353" r:id="rId13"/>
    <p:sldId id="331" r:id="rId14"/>
    <p:sldId id="354" r:id="rId15"/>
    <p:sldId id="355" r:id="rId16"/>
    <p:sldId id="356" r:id="rId17"/>
    <p:sldId id="357" r:id="rId18"/>
    <p:sldId id="358" r:id="rId19"/>
    <p:sldId id="344" r:id="rId20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1627" autoAdjust="0"/>
  </p:normalViewPr>
  <p:slideViewPr>
    <p:cSldViewPr>
      <p:cViewPr varScale="1">
        <p:scale>
          <a:sx n="83" d="100"/>
          <a:sy n="83" d="100"/>
        </p:scale>
        <p:origin x="1064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DD48891F-FB35-E1C6-2832-95F5AEC01C35}"/>
    <pc:docChg chg="modSld">
      <pc:chgData name="Guest User" userId="" providerId="Windows Live" clId="Web-{DD48891F-FB35-E1C6-2832-95F5AEC01C35}" dt="2025-11-06T07:40:41.129" v="0" actId="1076"/>
      <pc:docMkLst>
        <pc:docMk/>
      </pc:docMkLst>
      <pc:sldChg chg="modSp">
        <pc:chgData name="Guest User" userId="" providerId="Windows Live" clId="Web-{DD48891F-FB35-E1C6-2832-95F5AEC01C35}" dt="2025-11-06T07:40:41.129" v="0" actId="1076"/>
        <pc:sldMkLst>
          <pc:docMk/>
          <pc:sldMk cId="0" sldId="260"/>
        </pc:sldMkLst>
        <pc:spChg chg="mod">
          <ac:chgData name="Guest User" userId="" providerId="Windows Live" clId="Web-{DD48891F-FB35-E1C6-2832-95F5AEC01C35}" dt="2025-11-06T07:40:41.129" v="0" actId="1076"/>
          <ac:spMkLst>
            <pc:docMk/>
            <pc:sldMk cId="0" sldId="260"/>
            <ac:spMk id="11" creationId="{1729E060-4A6E-E272-7665-9392F1B6E4F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28675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E097FF-D63A-4701-9D59-A7186DD4FFE5}" type="datetimeFigureOut">
              <a:rPr lang="en-IN" smtClean="0"/>
              <a:t>05/03/26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28675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E45C9-D4C9-4BB9-AC1A-6D12C2483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67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FC471-F21A-8034-1182-7EC20A462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2DEB8-E147-4787-5FDF-AACC13D35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F521C-0896-D5EA-62D4-7B080E31F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912D4-651F-022F-E212-0668CF9122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438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B5D64-14C4-F16C-5619-287C7EA27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713F94-501F-3960-9E11-DE7F03BD9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30D1C-21CC-DCF2-1302-0D6A57E7F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C2F6F-17C8-6775-A32C-6E7DBAEA8A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23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3750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480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A85DC-158A-6A4D-AEC5-3C4D0AA39301}" type="datetime1">
              <a:rPr lang="en-IN" smtClean="0"/>
              <a:t>05/03/26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0CBE1-E654-804F-8DD3-1999B1EAA43E}" type="datetime1">
              <a:rPr lang="en-IN" smtClean="0"/>
              <a:t>05/03/26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E4A29-2FA4-5F43-8886-1C2CFE02D9AE}" type="datetime1">
              <a:rPr lang="en-IN" smtClean="0"/>
              <a:t>05/03/26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416254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69609" y="3090163"/>
            <a:ext cx="73812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7C385-8D9F-4541-81D3-BBF55B3B60AF}" type="datetime1">
              <a:rPr lang="en-IN" smtClean="0"/>
              <a:t>05/03/26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hf sldNum="0" hdr="0" ftr="0" dt="0"/>
  <p:txStyles>
    <p:titleStyle>
      <a:lvl1pPr>
        <a:defRPr>
          <a:latin typeface="PT Serif" panose="020A0603040505020204" pitchFamily="18" charset="0"/>
          <a:ea typeface="+mj-ea"/>
          <a:cs typeface="+mj-cs"/>
        </a:defRPr>
      </a:lvl1pPr>
    </p:titleStyle>
    <p:bodyStyle>
      <a:lvl1pPr marL="0">
        <a:defRPr>
          <a:latin typeface="PT Serif" panose="020A0603040505020204" pitchFamily="18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48BBC-7E6C-F114-F782-376A30F0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>
            <a:extLst>
              <a:ext uri="{FF2B5EF4-FFF2-40B4-BE49-F238E27FC236}">
                <a16:creationId xmlns:a16="http://schemas.microsoft.com/office/drawing/2014/main" id="{F82AA0A4-B4C8-BFF7-1622-4303CB7DF1F3}"/>
              </a:ext>
            </a:extLst>
          </p:cNvPr>
          <p:cNvSpPr/>
          <p:nvPr/>
        </p:nvSpPr>
        <p:spPr>
          <a:xfrm>
            <a:off x="743468" y="2362200"/>
            <a:ext cx="11372332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1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AutoML Framework and Tools</a:t>
            </a:r>
            <a:endParaRPr lang="en-US" sz="41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34E7B785-51DF-6028-E343-20904A09A941}"/>
              </a:ext>
            </a:extLst>
          </p:cNvPr>
          <p:cNvSpPr/>
          <p:nvPr/>
        </p:nvSpPr>
        <p:spPr>
          <a:xfrm>
            <a:off x="743468" y="3810000"/>
            <a:ext cx="11372332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Automated machine learning for faster, smarter model building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20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D79A3-6285-EA7B-A2B4-F0C9DCE16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EF8EC6-F255-C70E-3023-DC7EAEC5B16D}"/>
              </a:ext>
            </a:extLst>
          </p:cNvPr>
          <p:cNvSpPr/>
          <p:nvPr/>
        </p:nvSpPr>
        <p:spPr>
          <a:xfrm>
            <a:off x="793790" y="533400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36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0CCEE3-6042-A6A9-3891-B76B33DC9098}"/>
              </a:ext>
            </a:extLst>
          </p:cNvPr>
          <p:cNvSpPr/>
          <p:nvPr/>
        </p:nvSpPr>
        <p:spPr>
          <a:xfrm>
            <a:off x="793790" y="158246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09D6074-985D-ECFD-41A9-CC64CE8CCED8}"/>
              </a:ext>
            </a:extLst>
          </p:cNvPr>
          <p:cNvSpPr/>
          <p:nvPr/>
        </p:nvSpPr>
        <p:spPr>
          <a:xfrm>
            <a:off x="793790" y="1937504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8BB4AFD-62D3-1AAB-C8B6-84BCFD0B3499}"/>
              </a:ext>
            </a:extLst>
          </p:cNvPr>
          <p:cNvSpPr/>
          <p:nvPr/>
        </p:nvSpPr>
        <p:spPr>
          <a:xfrm>
            <a:off x="793790" y="2111812"/>
            <a:ext cx="437030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AutoML?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95C41F2-E8AE-183D-B7D2-B584B66A5047}"/>
              </a:ext>
            </a:extLst>
          </p:cNvPr>
          <p:cNvSpPr/>
          <p:nvPr/>
        </p:nvSpPr>
        <p:spPr>
          <a:xfrm>
            <a:off x="7428548" y="158246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20FFCDF-EFCF-D95B-39BF-71DEE8C305CC}"/>
              </a:ext>
            </a:extLst>
          </p:cNvPr>
          <p:cNvSpPr/>
          <p:nvPr/>
        </p:nvSpPr>
        <p:spPr>
          <a:xfrm>
            <a:off x="7428548" y="1937504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5C44485-ABDB-D8CB-78F7-9276AAADB0B2}"/>
              </a:ext>
            </a:extLst>
          </p:cNvPr>
          <p:cNvSpPr/>
          <p:nvPr/>
        </p:nvSpPr>
        <p:spPr>
          <a:xfrm>
            <a:off x="7428548" y="2069306"/>
            <a:ext cx="4915852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H2O?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49AA9FB-4CAF-BC7C-90F0-1D48BD93C205}"/>
              </a:ext>
            </a:extLst>
          </p:cNvPr>
          <p:cNvSpPr/>
          <p:nvPr/>
        </p:nvSpPr>
        <p:spPr>
          <a:xfrm>
            <a:off x="793790" y="288071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735EFEC-254C-A190-497E-54797BC377D7}"/>
              </a:ext>
            </a:extLst>
          </p:cNvPr>
          <p:cNvSpPr/>
          <p:nvPr/>
        </p:nvSpPr>
        <p:spPr>
          <a:xfrm>
            <a:off x="793790" y="3235762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AC6FBEA-485A-7F7D-47FB-5FEB6466C2AF}"/>
              </a:ext>
            </a:extLst>
          </p:cNvPr>
          <p:cNvSpPr/>
          <p:nvPr/>
        </p:nvSpPr>
        <p:spPr>
          <a:xfrm>
            <a:off x="793790" y="3410068"/>
            <a:ext cx="5759410" cy="419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Handling/Pre-Processing  in H2O 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B65B506-59D4-7376-A944-4C46A5D3D0DA}"/>
              </a:ext>
            </a:extLst>
          </p:cNvPr>
          <p:cNvSpPr/>
          <p:nvPr/>
        </p:nvSpPr>
        <p:spPr>
          <a:xfrm>
            <a:off x="7428548" y="288071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64D1A4C-2B9B-4174-ACD2-FF1592E30587}"/>
              </a:ext>
            </a:extLst>
          </p:cNvPr>
          <p:cNvSpPr/>
          <p:nvPr/>
        </p:nvSpPr>
        <p:spPr>
          <a:xfrm>
            <a:off x="7428548" y="3235762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B2CEF56-AF19-B00B-757E-9F9AA779999A}"/>
              </a:ext>
            </a:extLst>
          </p:cNvPr>
          <p:cNvSpPr/>
          <p:nvPr/>
        </p:nvSpPr>
        <p:spPr>
          <a:xfrm>
            <a:off x="7428548" y="3410069"/>
            <a:ext cx="383702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7E44A9EB-37D4-D3CC-6CA9-BE886EEF64E4}"/>
              </a:ext>
            </a:extLst>
          </p:cNvPr>
          <p:cNvSpPr/>
          <p:nvPr/>
        </p:nvSpPr>
        <p:spPr>
          <a:xfrm>
            <a:off x="7428548" y="3422586"/>
            <a:ext cx="5149810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4817E384-431B-004E-9519-609CCEFD3F9D}"/>
              </a:ext>
            </a:extLst>
          </p:cNvPr>
          <p:cNvSpPr/>
          <p:nvPr/>
        </p:nvSpPr>
        <p:spPr>
          <a:xfrm>
            <a:off x="7461648" y="4927878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E7DC69CE-BE78-CF47-B8A0-AAF1F599331D}"/>
              </a:ext>
            </a:extLst>
          </p:cNvPr>
          <p:cNvSpPr/>
          <p:nvPr/>
        </p:nvSpPr>
        <p:spPr>
          <a:xfrm>
            <a:off x="762000" y="448475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22BC2E0A-B1F4-4040-8822-0C2B059492C6}"/>
              </a:ext>
            </a:extLst>
          </p:cNvPr>
          <p:cNvSpPr/>
          <p:nvPr/>
        </p:nvSpPr>
        <p:spPr>
          <a:xfrm>
            <a:off x="793790" y="5074860"/>
            <a:ext cx="5149810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Understanding the Leaderboard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E1497569-81C6-4F40-AA53-929BF0F2FC56}"/>
              </a:ext>
            </a:extLst>
          </p:cNvPr>
          <p:cNvSpPr/>
          <p:nvPr/>
        </p:nvSpPr>
        <p:spPr>
          <a:xfrm>
            <a:off x="770513" y="4912638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2E7DDC5B-190B-EF43-A52C-45C712740911}"/>
              </a:ext>
            </a:extLst>
          </p:cNvPr>
          <p:cNvSpPr/>
          <p:nvPr/>
        </p:nvSpPr>
        <p:spPr>
          <a:xfrm>
            <a:off x="7461648" y="447642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C355E4A2-467C-9A45-8BC8-48D4B0185ACA}"/>
              </a:ext>
            </a:extLst>
          </p:cNvPr>
          <p:cNvSpPr/>
          <p:nvPr/>
        </p:nvSpPr>
        <p:spPr>
          <a:xfrm>
            <a:off x="7489508" y="5147906"/>
            <a:ext cx="5149810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</a:rPr>
              <a:t>Explaining Model Output 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2A5713B2-29A4-1849-942B-AB143B7EF7A9}"/>
              </a:ext>
            </a:extLst>
          </p:cNvPr>
          <p:cNvSpPr/>
          <p:nvPr/>
        </p:nvSpPr>
        <p:spPr>
          <a:xfrm>
            <a:off x="7461648" y="3517330"/>
            <a:ext cx="5759410" cy="419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Parameters in H2O 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296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A34AB-82AD-5A1C-DAC9-54A9A9B43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098" y="537362"/>
            <a:ext cx="13656055" cy="687048"/>
          </a:xfrm>
        </p:spPr>
        <p:txBody>
          <a:bodyPr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What is AutoML? ( Recap)</a:t>
            </a:r>
            <a:endParaRPr lang="en-US" sz="3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A2BBBEB-5FDE-85D6-D4BC-81F4A4D94CEE}"/>
              </a:ext>
            </a:extLst>
          </p:cNvPr>
          <p:cNvSpPr/>
          <p:nvPr/>
        </p:nvSpPr>
        <p:spPr>
          <a:xfrm>
            <a:off x="793790" y="1813412"/>
            <a:ext cx="6422231" cy="2362200"/>
          </a:xfrm>
          <a:prstGeom prst="roundRect">
            <a:avLst>
              <a:gd name="adj" fmla="val 2527"/>
            </a:avLst>
          </a:prstGeom>
          <a:solidFill>
            <a:srgbClr val="F2EEEE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F42ABDF-EE53-81D2-D02E-4F03E4B54268}"/>
              </a:ext>
            </a:extLst>
          </p:cNvPr>
          <p:cNvSpPr/>
          <p:nvPr/>
        </p:nvSpPr>
        <p:spPr>
          <a:xfrm>
            <a:off x="992147" y="2011770"/>
            <a:ext cx="6025515" cy="78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Automated ML</a:t>
            </a:r>
          </a:p>
          <a:p>
            <a:pPr algn="l">
              <a:lnSpc>
                <a:spcPct val="200000"/>
              </a:lnSpc>
            </a:pPr>
            <a:r>
              <a:rPr lang="en-US" sz="20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Automatically trains multiple model without manual intervention</a:t>
            </a:r>
            <a:endParaRPr lang="en-US" sz="20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727E8AB-DA4B-E1B0-3315-D1AAB7DB6B81}"/>
              </a:ext>
            </a:extLst>
          </p:cNvPr>
          <p:cNvSpPr/>
          <p:nvPr/>
        </p:nvSpPr>
        <p:spPr>
          <a:xfrm>
            <a:off x="7414379" y="1813412"/>
            <a:ext cx="6422231" cy="2362200"/>
          </a:xfrm>
          <a:prstGeom prst="roundRect">
            <a:avLst>
              <a:gd name="adj" fmla="val 2527"/>
            </a:avLst>
          </a:prstGeom>
          <a:solidFill>
            <a:srgbClr val="F2EEEE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4B19D89-09C7-ADF0-333B-7F947765DC23}"/>
              </a:ext>
            </a:extLst>
          </p:cNvPr>
          <p:cNvSpPr/>
          <p:nvPr/>
        </p:nvSpPr>
        <p:spPr>
          <a:xfrm>
            <a:off x="7612737" y="2011770"/>
            <a:ext cx="6025515" cy="78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Hyperparameter Tuning</a:t>
            </a:r>
          </a:p>
          <a:p>
            <a:pPr algn="l">
              <a:lnSpc>
                <a:spcPct val="200000"/>
              </a:lnSpc>
            </a:pPr>
            <a:r>
              <a:rPr lang="en-US" sz="20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Optimizes model parameters automatically</a:t>
            </a:r>
            <a:endParaRPr lang="en-US" sz="20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AE7FC46-6101-0A4F-4F1D-E4D658058B6D}"/>
              </a:ext>
            </a:extLst>
          </p:cNvPr>
          <p:cNvSpPr/>
          <p:nvPr/>
        </p:nvSpPr>
        <p:spPr>
          <a:xfrm>
            <a:off x="7414379" y="4626620"/>
            <a:ext cx="6422231" cy="2362200"/>
          </a:xfrm>
          <a:prstGeom prst="roundRect">
            <a:avLst>
              <a:gd name="adj" fmla="val 2527"/>
            </a:avLst>
          </a:prstGeom>
          <a:solidFill>
            <a:srgbClr val="F2EEEE"/>
          </a:solidFill>
          <a:ln/>
        </p:spPr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A8C91487-4888-7F01-FBDA-80BBF621E281}"/>
              </a:ext>
            </a:extLst>
          </p:cNvPr>
          <p:cNvSpPr/>
          <p:nvPr/>
        </p:nvSpPr>
        <p:spPr>
          <a:xfrm>
            <a:off x="793790" y="4572000"/>
            <a:ext cx="6422231" cy="2362200"/>
          </a:xfrm>
          <a:prstGeom prst="roundRect">
            <a:avLst>
              <a:gd name="adj" fmla="val 2527"/>
            </a:avLst>
          </a:prstGeom>
          <a:solidFill>
            <a:srgbClr val="F2EEEE"/>
          </a:solidFill>
          <a:ln/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A93BC0E9-7813-2769-A13A-7D8737149F9A}"/>
              </a:ext>
            </a:extLst>
          </p:cNvPr>
          <p:cNvSpPr/>
          <p:nvPr/>
        </p:nvSpPr>
        <p:spPr>
          <a:xfrm>
            <a:off x="992148" y="4770358"/>
            <a:ext cx="6025515" cy="78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Best Model Selection</a:t>
            </a:r>
          </a:p>
          <a:p>
            <a:pPr algn="l">
              <a:lnSpc>
                <a:spcPct val="200000"/>
              </a:lnSpc>
            </a:pPr>
            <a:r>
              <a:rPr lang="en-US" sz="20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Selects top performer based on specific  metrics in </a:t>
            </a:r>
          </a:p>
          <a:p>
            <a:pPr algn="l">
              <a:lnSpc>
                <a:spcPct val="200000"/>
              </a:lnSpc>
            </a:pPr>
            <a:r>
              <a:rPr lang="en-US" sz="20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</a:rPr>
              <a:t>classification or regression problem.</a:t>
            </a:r>
            <a:endParaRPr lang="en-US" sz="20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08C50413-73B0-231D-9103-B3EE1113D0E1}"/>
              </a:ext>
            </a:extLst>
          </p:cNvPr>
          <p:cNvSpPr/>
          <p:nvPr/>
        </p:nvSpPr>
        <p:spPr>
          <a:xfrm>
            <a:off x="7612737" y="4770357"/>
            <a:ext cx="6636663" cy="1566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Reduced Effort</a:t>
            </a:r>
          </a:p>
          <a:p>
            <a:pPr algn="l">
              <a:lnSpc>
                <a:spcPct val="200000"/>
              </a:lnSpc>
            </a:pPr>
            <a:r>
              <a:rPr lang="en-US" sz="20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Eliminates manual trial-and-error. Highly efficient</a:t>
            </a:r>
          </a:p>
          <a:p>
            <a:pPr algn="l">
              <a:lnSpc>
                <a:spcPct val="200000"/>
              </a:lnSpc>
            </a:pPr>
            <a:r>
              <a:rPr lang="en-US" sz="20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when large number of model are required to be trained.</a:t>
            </a:r>
            <a:endParaRPr lang="en-US" sz="20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145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object 13">
            <a:extLst>
              <a:ext uri="{FF2B5EF4-FFF2-40B4-BE49-F238E27FC236}">
                <a16:creationId xmlns:a16="http://schemas.microsoft.com/office/drawing/2014/main" id="{9EDED71C-1B31-D97D-38B2-DAFD66018FF9}"/>
              </a:ext>
            </a:extLst>
          </p:cNvPr>
          <p:cNvGrpSpPr/>
          <p:nvPr/>
        </p:nvGrpSpPr>
        <p:grpSpPr>
          <a:xfrm>
            <a:off x="750141" y="1510906"/>
            <a:ext cx="6411330" cy="2398366"/>
            <a:chOff x="793788" y="4631308"/>
            <a:chExt cx="6437630" cy="2974340"/>
          </a:xfrm>
        </p:grpSpPr>
        <p:sp>
          <p:nvSpPr>
            <p:cNvPr id="25" name="object 14">
              <a:extLst>
                <a:ext uri="{FF2B5EF4-FFF2-40B4-BE49-F238E27FC236}">
                  <a16:creationId xmlns:a16="http://schemas.microsoft.com/office/drawing/2014/main" id="{35293503-1DBD-8E87-3BE0-DDA71A76F25C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26" name="object 15">
              <a:extLst>
                <a:ext uri="{FF2B5EF4-FFF2-40B4-BE49-F238E27FC236}">
                  <a16:creationId xmlns:a16="http://schemas.microsoft.com/office/drawing/2014/main" id="{222A1FF6-5464-B670-5D90-F39A5749423F}"/>
                </a:ext>
              </a:extLst>
            </p:cNvPr>
            <p:cNvSpPr/>
            <p:nvPr/>
          </p:nvSpPr>
          <p:spPr>
            <a:xfrm>
              <a:off x="816648" y="4654168"/>
              <a:ext cx="6391910" cy="980625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21" name="object 13">
            <a:extLst>
              <a:ext uri="{FF2B5EF4-FFF2-40B4-BE49-F238E27FC236}">
                <a16:creationId xmlns:a16="http://schemas.microsoft.com/office/drawing/2014/main" id="{5D4C71A9-44DE-C30C-23FB-01ADE60A16CF}"/>
              </a:ext>
            </a:extLst>
          </p:cNvPr>
          <p:cNvGrpSpPr/>
          <p:nvPr/>
        </p:nvGrpSpPr>
        <p:grpSpPr>
          <a:xfrm>
            <a:off x="714803" y="4404462"/>
            <a:ext cx="6377809" cy="2398365"/>
            <a:chOff x="793788" y="4631308"/>
            <a:chExt cx="6437630" cy="2974340"/>
          </a:xfrm>
        </p:grpSpPr>
        <p:sp>
          <p:nvSpPr>
            <p:cNvPr id="22" name="object 14">
              <a:extLst>
                <a:ext uri="{FF2B5EF4-FFF2-40B4-BE49-F238E27FC236}">
                  <a16:creationId xmlns:a16="http://schemas.microsoft.com/office/drawing/2014/main" id="{3AACB49F-E75F-EA46-C29E-950076399A38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23" name="object 15">
              <a:extLst>
                <a:ext uri="{FF2B5EF4-FFF2-40B4-BE49-F238E27FC236}">
                  <a16:creationId xmlns:a16="http://schemas.microsoft.com/office/drawing/2014/main" id="{6237666D-DF67-98DC-05C9-F9F742175B69}"/>
                </a:ext>
              </a:extLst>
            </p:cNvPr>
            <p:cNvSpPr/>
            <p:nvPr/>
          </p:nvSpPr>
          <p:spPr>
            <a:xfrm>
              <a:off x="816648" y="4654168"/>
              <a:ext cx="6391910" cy="996201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15" name="object 13">
            <a:extLst>
              <a:ext uri="{FF2B5EF4-FFF2-40B4-BE49-F238E27FC236}">
                <a16:creationId xmlns:a16="http://schemas.microsoft.com/office/drawing/2014/main" id="{E03DB111-066A-1466-380E-B1A5D264D147}"/>
              </a:ext>
            </a:extLst>
          </p:cNvPr>
          <p:cNvGrpSpPr/>
          <p:nvPr/>
        </p:nvGrpSpPr>
        <p:grpSpPr>
          <a:xfrm>
            <a:off x="7621816" y="4404463"/>
            <a:ext cx="6703784" cy="2398364"/>
            <a:chOff x="793788" y="4631308"/>
            <a:chExt cx="6437630" cy="2974340"/>
          </a:xfrm>
        </p:grpSpPr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692C152D-7A07-F647-B072-3F50C547CA6A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834CABA1-B7A9-4D1F-38E0-F9624839AD97}"/>
                </a:ext>
              </a:extLst>
            </p:cNvPr>
            <p:cNvSpPr/>
            <p:nvPr/>
          </p:nvSpPr>
          <p:spPr>
            <a:xfrm>
              <a:off x="816648" y="4654166"/>
              <a:ext cx="6391910" cy="996203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ECB50A61-AEB7-0B14-8AE8-E898A2B99D8F}"/>
              </a:ext>
            </a:extLst>
          </p:cNvPr>
          <p:cNvGrpSpPr/>
          <p:nvPr/>
        </p:nvGrpSpPr>
        <p:grpSpPr>
          <a:xfrm>
            <a:off x="7621816" y="1529821"/>
            <a:ext cx="6703784" cy="2379451"/>
            <a:chOff x="793788" y="4631308"/>
            <a:chExt cx="6437630" cy="2974340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594874B8-2992-7984-EADD-99110A13FC67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AC59F4FA-A558-F930-8313-B0B11B9AD525}"/>
                </a:ext>
              </a:extLst>
            </p:cNvPr>
            <p:cNvSpPr/>
            <p:nvPr/>
          </p:nvSpPr>
          <p:spPr>
            <a:xfrm>
              <a:off x="816648" y="4654167"/>
              <a:ext cx="6391910" cy="960060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0896" y="175380"/>
            <a:ext cx="13656055" cy="833113"/>
          </a:xfrm>
          <a:prstGeom prst="rect">
            <a:avLst/>
          </a:prstGeom>
          <a:noFill/>
        </p:spPr>
        <p:txBody>
          <a:bodyPr vert="horz" wrap="square" lIns="0" tIns="220853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AutoML in Python: Library Overview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0D38183-3593-0CD5-9F87-5CFCC2BA96CD}"/>
              </a:ext>
            </a:extLst>
          </p:cNvPr>
          <p:cNvSpPr/>
          <p:nvPr/>
        </p:nvSpPr>
        <p:spPr>
          <a:xfrm>
            <a:off x="1058373" y="1503683"/>
            <a:ext cx="6034239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H2O AutoML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sz="11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Enterprise-grade AutoML with strong performance and scalability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auto-</a:t>
            </a:r>
            <a:r>
              <a:rPr lang="en-US" sz="2400" dirty="0" err="1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sklearn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sz="1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Built on scikit-learn with Bayesian optimization and meta-learning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C25592-1A5D-94A2-1249-6AAE7946F079}"/>
              </a:ext>
            </a:extLst>
          </p:cNvPr>
          <p:cNvSpPr/>
          <p:nvPr/>
        </p:nvSpPr>
        <p:spPr>
          <a:xfrm>
            <a:off x="7970996" y="1503683"/>
            <a:ext cx="5973604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 err="1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PyCaret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2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Low-code ML library with simple API and extensive preprocessing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TPOT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ctr">
              <a:lnSpc>
                <a:spcPct val="200000"/>
              </a:lnSpc>
              <a:buNone/>
            </a:pPr>
            <a:endParaRPr lang="en-US" sz="1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Uses genetic programming to optimize ML pipelines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1B6045A4-CC52-497D-94ED-4C2A5BA9465C}"/>
              </a:ext>
            </a:extLst>
          </p:cNvPr>
          <p:cNvSpPr/>
          <p:nvPr/>
        </p:nvSpPr>
        <p:spPr>
          <a:xfrm>
            <a:off x="744279" y="703544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These libraries differ in automation level, flexibility, and computational requirements.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738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128B3-0FB0-CF0D-D068-5A4AB1116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400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What is H2O?</a:t>
            </a:r>
            <a:br>
              <a:rPr lang="en-US" sz="3600" dirty="0">
                <a:solidFill>
                  <a:schemeClr val="tx1"/>
                </a:solidFill>
              </a:rPr>
            </a:b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0B1B8-4EAB-7C6B-E3B4-CCFF68FF36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1780" y="1905000"/>
            <a:ext cx="5440681" cy="5922262"/>
          </a:xfrm>
        </p:spPr>
        <p:txBody>
          <a:bodyPr/>
          <a:lstStyle/>
          <a:p>
            <a:pPr algn="l">
              <a:lnSpc>
                <a:spcPct val="200000"/>
              </a:lnSpc>
            </a:pPr>
            <a:r>
              <a:rPr lang="en-US" sz="2400" b="1" u="sng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Platform Overview</a:t>
            </a: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H2O is an open-source machine learning platform built for speed and scalability. It runs on its own Java engine and works seamlessly with Python and R.</a:t>
            </a:r>
          </a:p>
          <a:p>
            <a:pPr algn="l">
              <a:lnSpc>
                <a:spcPct val="200000"/>
              </a:lnSpc>
            </a:pPr>
            <a:r>
              <a:rPr lang="en-IN" sz="1800" dirty="0"/>
              <a:t>H2O  includes </a:t>
            </a:r>
            <a:r>
              <a:rPr lang="en-IN" sz="1800" b="1" dirty="0"/>
              <a:t>automated machine learning (</a:t>
            </a:r>
            <a:r>
              <a:rPr lang="en-IN" sz="1800" b="1" dirty="0" err="1"/>
              <a:t>AutoML</a:t>
            </a:r>
            <a:r>
              <a:rPr lang="en-IN" sz="1800" b="1" dirty="0"/>
              <a:t>), </a:t>
            </a:r>
            <a:r>
              <a:rPr lang="en-IN" sz="1800" dirty="0"/>
              <a:t>model interpretability tools, and support for advanced algorithms like GBM, Random Forest, Deep Learning, and </a:t>
            </a:r>
            <a:r>
              <a:rPr lang="en-IN" sz="1800" dirty="0" err="1"/>
              <a:t>XGBoost</a:t>
            </a:r>
            <a:r>
              <a:rPr lang="en-IN" sz="1800" dirty="0"/>
              <a:t>.</a:t>
            </a:r>
          </a:p>
          <a:p>
            <a:pPr algn="l">
              <a:lnSpc>
                <a:spcPct val="200000"/>
              </a:lnSpc>
            </a:pPr>
            <a:endParaRPr lang="en-US" sz="1800" dirty="0">
              <a:solidFill>
                <a:schemeClr val="tx1"/>
              </a:solidFill>
              <a:ea typeface="DM Sans" pitchFamily="34" charset="-122"/>
              <a:cs typeface="DM Sans" pitchFamily="34" charset="-120"/>
            </a:endParaRPr>
          </a:p>
          <a:p>
            <a:endParaRPr lang="en-IN" sz="1800" dirty="0"/>
          </a:p>
          <a:p>
            <a:pPr>
              <a:lnSpc>
                <a:spcPct val="200000"/>
              </a:lnSpc>
            </a:pP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F0A9697-D979-5745-B035-1D7F26E1D735}"/>
              </a:ext>
            </a:extLst>
          </p:cNvPr>
          <p:cNvSpPr txBox="1">
            <a:spLocks/>
          </p:cNvSpPr>
          <p:nvPr/>
        </p:nvSpPr>
        <p:spPr>
          <a:xfrm>
            <a:off x="8534400" y="1897008"/>
            <a:ext cx="5791200" cy="59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800" b="0" i="0">
                <a:solidFill>
                  <a:srgbClr val="272C45"/>
                </a:solidFill>
                <a:latin typeface="PT Serif" panose="020A0603040505020204" pitchFamily="18" charset="0"/>
                <a:ea typeface="+mn-ea"/>
                <a:cs typeface="Lucida Sans Unicode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200000"/>
              </a:lnSpc>
            </a:pPr>
            <a:r>
              <a:rPr lang="en-US" sz="2400" b="1" u="sng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Key Strengths</a:t>
            </a:r>
          </a:p>
          <a:p>
            <a:pPr>
              <a:lnSpc>
                <a:spcPct val="200000"/>
              </a:lnSpc>
            </a:pPr>
            <a:r>
              <a:rPr lang="en-IN" sz="1800" dirty="0"/>
              <a:t>It provides distributed in-memory processing, allowing you to train models efficiently on large datasets.</a:t>
            </a:r>
          </a:p>
          <a:p>
            <a:pPr>
              <a:lnSpc>
                <a:spcPct val="200000"/>
              </a:lnSpc>
            </a:pPr>
            <a:r>
              <a:rPr lang="en-IN" sz="1800" dirty="0"/>
              <a:t>It scales horizontally across clusters, making it suitable for enterprise-level big data applications.</a:t>
            </a:r>
          </a:p>
          <a:p>
            <a:pPr>
              <a:lnSpc>
                <a:spcPct val="200000"/>
              </a:lnSpc>
            </a:pPr>
            <a:r>
              <a:rPr lang="en-IN" sz="1800" dirty="0"/>
              <a:t>Its integration with Python, R, and Spark enables seamless deployment within existing data science workflows.</a:t>
            </a:r>
          </a:p>
          <a:p>
            <a:pPr algn="l">
              <a:lnSpc>
                <a:spcPct val="200000"/>
              </a:lnSpc>
            </a:pPr>
            <a:endParaRPr lang="en-US" sz="1800" dirty="0">
              <a:solidFill>
                <a:schemeClr val="tx1"/>
              </a:solidFill>
              <a:ea typeface="DM Sans" pitchFamily="34" charset="-122"/>
              <a:cs typeface="DM Sans" pitchFamily="34" charset="-120"/>
            </a:endParaRPr>
          </a:p>
          <a:p>
            <a:endParaRPr lang="en-IN" sz="1800" dirty="0"/>
          </a:p>
          <a:p>
            <a:pPr>
              <a:lnSpc>
                <a:spcPct val="200000"/>
              </a:lnSpc>
            </a:pPr>
            <a:endParaRPr lang="en-I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631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128B3-0FB0-CF0D-D068-5A4AB1116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400"/>
            <a:ext cx="13656055" cy="687048"/>
          </a:xfrm>
        </p:spPr>
        <p:txBody>
          <a:bodyPr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H2O vs Traditional Modeling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0B1B8-4EAB-7C6B-E3B4-CCFF68FF36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90600" y="2241590"/>
            <a:ext cx="5440681" cy="4887364"/>
          </a:xfrm>
        </p:spPr>
        <p:txBody>
          <a:bodyPr/>
          <a:lstStyle/>
          <a:p>
            <a:pPr marL="0" indent="0" algn="l">
              <a:lnSpc>
                <a:spcPct val="250000"/>
              </a:lnSpc>
              <a:buNone/>
            </a:pPr>
            <a:r>
              <a:rPr lang="en-US" sz="2400" b="1" u="sng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Traditional ML</a:t>
            </a:r>
            <a:endParaRPr lang="en-US" sz="2400" b="1" u="sng" dirty="0"/>
          </a:p>
          <a:p>
            <a:pPr marL="342900" indent="-342900" algn="l">
              <a:lnSpc>
                <a:spcPct val="250000"/>
              </a:lnSpc>
              <a:buSzPct val="100000"/>
              <a:buChar char="•"/>
            </a:pPr>
            <a:r>
              <a:rPr lang="en-US" sz="22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Manual algorithm selection</a:t>
            </a:r>
            <a:endParaRPr lang="en-US" sz="2200" dirty="0"/>
          </a:p>
          <a:p>
            <a:pPr marL="342900" indent="-342900" algn="l">
              <a:lnSpc>
                <a:spcPct val="250000"/>
              </a:lnSpc>
              <a:buSzPct val="100000"/>
              <a:buChar char="•"/>
            </a:pPr>
            <a:r>
              <a:rPr lang="en-US" sz="22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Manual hyperparameter tuning</a:t>
            </a:r>
            <a:endParaRPr lang="en-US" sz="2200" dirty="0"/>
          </a:p>
          <a:p>
            <a:pPr marL="342900" indent="-342900" algn="l">
              <a:lnSpc>
                <a:spcPct val="250000"/>
              </a:lnSpc>
              <a:buSzPct val="100000"/>
              <a:buChar char="•"/>
            </a:pPr>
            <a:r>
              <a:rPr lang="en-US" sz="22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Separate preprocessing steps</a:t>
            </a:r>
            <a:endParaRPr lang="en-US" sz="2200" dirty="0"/>
          </a:p>
          <a:p>
            <a:pPr marL="342900" indent="-342900" algn="l">
              <a:lnSpc>
                <a:spcPct val="250000"/>
              </a:lnSpc>
              <a:buSzPct val="100000"/>
              <a:buChar char="•"/>
            </a:pPr>
            <a:r>
              <a:rPr lang="en-US" sz="22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Time-consuming process</a:t>
            </a:r>
            <a:endParaRPr lang="en-US" sz="2200" dirty="0"/>
          </a:p>
          <a:p>
            <a:pPr>
              <a:lnSpc>
                <a:spcPct val="250000"/>
              </a:lnSpc>
            </a:pP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D16000-397B-857B-2539-28D6C2C9CE55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8001000" y="2241590"/>
            <a:ext cx="5440681" cy="4887364"/>
          </a:xfrm>
        </p:spPr>
        <p:txBody>
          <a:bodyPr/>
          <a:lstStyle/>
          <a:p>
            <a:pPr marL="0" indent="0" algn="l">
              <a:lnSpc>
                <a:spcPct val="250000"/>
              </a:lnSpc>
              <a:buNone/>
            </a:pPr>
            <a:r>
              <a:rPr lang="en-US" sz="2400" b="1" u="sng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H2O AutoML</a:t>
            </a:r>
            <a:endParaRPr lang="en-US" sz="2400" b="1" u="sng" dirty="0"/>
          </a:p>
          <a:p>
            <a:pPr marL="342900" indent="-342900" algn="l">
              <a:lnSpc>
                <a:spcPct val="250000"/>
              </a:lnSpc>
              <a:buSzPct val="100000"/>
              <a:buChar char="•"/>
            </a:pPr>
            <a:r>
              <a:rPr lang="en-US" sz="22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Automatic algorithm selection</a:t>
            </a:r>
            <a:endParaRPr lang="en-US" sz="2200" dirty="0"/>
          </a:p>
          <a:p>
            <a:pPr marL="342900" indent="-342900" algn="l">
              <a:lnSpc>
                <a:spcPct val="250000"/>
              </a:lnSpc>
              <a:buSzPct val="100000"/>
              <a:buChar char="•"/>
            </a:pPr>
            <a:r>
              <a:rPr lang="en-US" sz="22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Automatic tuning</a:t>
            </a:r>
            <a:endParaRPr lang="en-US" sz="2200" dirty="0"/>
          </a:p>
          <a:p>
            <a:pPr marL="342900" indent="-342900" algn="l">
              <a:lnSpc>
                <a:spcPct val="250000"/>
              </a:lnSpc>
              <a:buSzPct val="100000"/>
              <a:buChar char="•"/>
            </a:pPr>
            <a:r>
              <a:rPr lang="en-US" sz="22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Built-in data preprocessing support</a:t>
            </a:r>
            <a:endParaRPr lang="en-US" sz="2200" dirty="0"/>
          </a:p>
          <a:p>
            <a:pPr marL="342900" indent="-342900" algn="l">
              <a:lnSpc>
                <a:spcPct val="250000"/>
              </a:lnSpc>
              <a:buSzPct val="100000"/>
              <a:buChar char="•"/>
            </a:pPr>
            <a:r>
              <a:rPr lang="en-US" sz="22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Faster experimentation</a:t>
            </a:r>
            <a:endParaRPr lang="en-US" sz="2200" dirty="0"/>
          </a:p>
          <a:p>
            <a:pPr>
              <a:lnSpc>
                <a:spcPct val="250000"/>
              </a:lnSpc>
            </a:pPr>
            <a:endParaRPr lang="en-I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920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A34AB-82AD-5A1C-DAC9-54A9A9B43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098" y="537362"/>
            <a:ext cx="13656055" cy="687048"/>
          </a:xfrm>
        </p:spPr>
        <p:txBody>
          <a:bodyPr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Data Handling Prior to AutoML  in H2O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A2BBBEB-5FDE-85D6-D4BC-81F4A4D94CEE}"/>
              </a:ext>
            </a:extLst>
          </p:cNvPr>
          <p:cNvSpPr/>
          <p:nvPr/>
        </p:nvSpPr>
        <p:spPr>
          <a:xfrm>
            <a:off x="793790" y="1813412"/>
            <a:ext cx="6422231" cy="2362200"/>
          </a:xfrm>
          <a:prstGeom prst="roundRect">
            <a:avLst>
              <a:gd name="adj" fmla="val 2527"/>
            </a:avLst>
          </a:prstGeom>
          <a:solidFill>
            <a:srgbClr val="F2EEEE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F42ABDF-EE53-81D2-D02E-4F03E4B54268}"/>
              </a:ext>
            </a:extLst>
          </p:cNvPr>
          <p:cNvSpPr/>
          <p:nvPr/>
        </p:nvSpPr>
        <p:spPr>
          <a:xfrm>
            <a:off x="992147" y="2011770"/>
            <a:ext cx="6025515" cy="78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1. Convert to H2OFrame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Data must be converted to H2O's native format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727E8AB-DA4B-E1B0-3315-D1AAB7DB6B81}"/>
              </a:ext>
            </a:extLst>
          </p:cNvPr>
          <p:cNvSpPr/>
          <p:nvPr/>
        </p:nvSpPr>
        <p:spPr>
          <a:xfrm>
            <a:off x="7414379" y="1813412"/>
            <a:ext cx="6422231" cy="2362200"/>
          </a:xfrm>
          <a:prstGeom prst="roundRect">
            <a:avLst>
              <a:gd name="adj" fmla="val 2527"/>
            </a:avLst>
          </a:prstGeom>
          <a:solidFill>
            <a:srgbClr val="F2EEEE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4B19D89-09C7-ADF0-333B-7F947765DC23}"/>
              </a:ext>
            </a:extLst>
          </p:cNvPr>
          <p:cNvSpPr/>
          <p:nvPr/>
        </p:nvSpPr>
        <p:spPr>
          <a:xfrm>
            <a:off x="7612737" y="2011770"/>
            <a:ext cx="6025515" cy="78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2. Convert Categoricals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Use .asfactor() for categorical variables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AE7FC46-6101-0A4F-4F1D-E4D658058B6D}"/>
              </a:ext>
            </a:extLst>
          </p:cNvPr>
          <p:cNvSpPr/>
          <p:nvPr/>
        </p:nvSpPr>
        <p:spPr>
          <a:xfrm>
            <a:off x="7414379" y="4626620"/>
            <a:ext cx="6422231" cy="2362200"/>
          </a:xfrm>
          <a:prstGeom prst="roundRect">
            <a:avLst>
              <a:gd name="adj" fmla="val 2527"/>
            </a:avLst>
          </a:prstGeom>
          <a:solidFill>
            <a:srgbClr val="F2EEEE"/>
          </a:solidFill>
          <a:ln/>
        </p:spPr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A8C91487-4888-7F01-FBDA-80BBF621E281}"/>
              </a:ext>
            </a:extLst>
          </p:cNvPr>
          <p:cNvSpPr/>
          <p:nvPr/>
        </p:nvSpPr>
        <p:spPr>
          <a:xfrm>
            <a:off x="793790" y="4572000"/>
            <a:ext cx="6422231" cy="2362200"/>
          </a:xfrm>
          <a:prstGeom prst="roundRect">
            <a:avLst>
              <a:gd name="adj" fmla="val 2527"/>
            </a:avLst>
          </a:prstGeom>
          <a:solidFill>
            <a:srgbClr val="F2EEEE"/>
          </a:solidFill>
          <a:ln/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A93BC0E9-7813-2769-A13A-7D8737149F9A}"/>
              </a:ext>
            </a:extLst>
          </p:cNvPr>
          <p:cNvSpPr/>
          <p:nvPr/>
        </p:nvSpPr>
        <p:spPr>
          <a:xfrm>
            <a:off x="992148" y="4770358"/>
            <a:ext cx="6025515" cy="78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3. Split Data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Train-test split using split_frame()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08C50413-73B0-231D-9103-B3EE1113D0E1}"/>
              </a:ext>
            </a:extLst>
          </p:cNvPr>
          <p:cNvSpPr/>
          <p:nvPr/>
        </p:nvSpPr>
        <p:spPr>
          <a:xfrm>
            <a:off x="7612737" y="4770357"/>
            <a:ext cx="6560463" cy="1566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4. Set Target Type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Target datatype determines classification vs regression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418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128B3-0FB0-CF0D-D068-5A4AB1116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400"/>
            <a:ext cx="13656055" cy="687048"/>
          </a:xfrm>
        </p:spPr>
        <p:txBody>
          <a:bodyPr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H2O’s Automation Power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0B1B8-4EAB-7C6B-E3B4-CCFF68FF36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90600" y="2241590"/>
            <a:ext cx="5440681" cy="5275931"/>
          </a:xfrm>
        </p:spPr>
        <p:txBody>
          <a:bodyPr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H2O Handles Internally</a:t>
            </a:r>
            <a:endParaRPr lang="en-US" sz="24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Missing value handling</a:t>
            </a:r>
            <a:endParaRPr lang="en-US" sz="22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Encoding categorical variables</a:t>
            </a:r>
            <a:endParaRPr lang="en-US" sz="22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Feature scaling (when required)</a:t>
            </a:r>
            <a:endParaRPr lang="en-US" sz="22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Cross-validation</a:t>
            </a:r>
            <a:endParaRPr lang="en-US" sz="22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Metric evaluation</a:t>
            </a:r>
            <a:endParaRPr lang="en-US" sz="22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Hyperparameter search</a:t>
            </a:r>
            <a:endParaRPr lang="en-US" sz="2200" dirty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</a:pP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D16000-397B-857B-2539-28D6C2C9CE55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8001000" y="2241590"/>
            <a:ext cx="5440681" cy="3244606"/>
          </a:xfrm>
        </p:spPr>
        <p:txBody>
          <a:bodyPr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User Controls</a:t>
            </a:r>
            <a:endParaRPr lang="en-US" sz="24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Target column selection</a:t>
            </a:r>
            <a:endParaRPr lang="en-US" sz="22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Feature list definition</a:t>
            </a:r>
            <a:endParaRPr lang="en-US" sz="22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Data types (numeric vs factor)</a:t>
            </a:r>
            <a:endParaRPr lang="en-US" sz="2200" dirty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</a:pPr>
            <a:endParaRPr lang="en-I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1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717" y="-67133"/>
            <a:ext cx="13656055" cy="1130810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What is H2OAutoML() Function?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7C49C67-C298-4068-CA76-A4C08A84BF5C}"/>
              </a:ext>
            </a:extLst>
          </p:cNvPr>
          <p:cNvSpPr/>
          <p:nvPr/>
        </p:nvSpPr>
        <p:spPr>
          <a:xfrm>
            <a:off x="5249508" y="2365144"/>
            <a:ext cx="4164095" cy="2550916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520702" y="2602320"/>
            <a:ext cx="397682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Tunes Parameters</a:t>
            </a:r>
          </a:p>
          <a:p>
            <a:pPr algn="l">
              <a:lnSpc>
                <a:spcPct val="200000"/>
              </a:lnSpc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Optimizes hyperparameters automatically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4160924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10198113" y="2416727"/>
            <a:ext cx="3818573" cy="2514092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409645" y="2602320"/>
            <a:ext cx="3347385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Ranks Models</a:t>
            </a:r>
          </a:p>
          <a:p>
            <a:pPr algn="l">
              <a:lnSpc>
                <a:spcPct val="200000"/>
              </a:lnSpc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Orders by performance metrics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3073532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5FE26A02-BF48-BE3A-0BC6-D1E3F1CF2B05}"/>
              </a:ext>
            </a:extLst>
          </p:cNvPr>
          <p:cNvSpPr/>
          <p:nvPr/>
        </p:nvSpPr>
        <p:spPr>
          <a:xfrm>
            <a:off x="685800" y="2369581"/>
            <a:ext cx="3976821" cy="2550916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838201" y="2602320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Trains Models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Multiple families: GBM, RF, XGBoost, GLM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017ADB-6678-721E-E9B3-1CC465CD2E67}"/>
              </a:ext>
            </a:extLst>
          </p:cNvPr>
          <p:cNvSpPr txBox="1"/>
          <p:nvPr/>
        </p:nvSpPr>
        <p:spPr>
          <a:xfrm>
            <a:off x="685800" y="1460029"/>
            <a:ext cx="9512313" cy="443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00" b="1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main function that automates the entire model building process</a:t>
            </a:r>
            <a:endParaRPr lang="en-US" sz="2200" b="1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370A0267-743D-7CCA-F930-21F242EAF8F3}"/>
              </a:ext>
            </a:extLst>
          </p:cNvPr>
          <p:cNvSpPr/>
          <p:nvPr/>
        </p:nvSpPr>
        <p:spPr>
          <a:xfrm>
            <a:off x="1143000" y="5334000"/>
            <a:ext cx="5562600" cy="1722552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6698AA46-C1BD-140A-F3BF-40BE1BA32E57}"/>
              </a:ext>
            </a:extLst>
          </p:cNvPr>
          <p:cNvSpPr/>
          <p:nvPr/>
        </p:nvSpPr>
        <p:spPr>
          <a:xfrm>
            <a:off x="1386413" y="5407687"/>
            <a:ext cx="5073003" cy="1672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Builds Ensembles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Creates combined models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75DAA2F7-18FC-2716-566F-3EE9DBC3B846}"/>
              </a:ext>
            </a:extLst>
          </p:cNvPr>
          <p:cNvSpPr/>
          <p:nvPr/>
        </p:nvSpPr>
        <p:spPr>
          <a:xfrm>
            <a:off x="8001000" y="5334000"/>
            <a:ext cx="5562600" cy="1722552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72EF44A8-C032-1804-279D-349CD3140D52}"/>
              </a:ext>
            </a:extLst>
          </p:cNvPr>
          <p:cNvSpPr/>
          <p:nvPr/>
        </p:nvSpPr>
        <p:spPr>
          <a:xfrm>
            <a:off x="8170984" y="5445254"/>
            <a:ext cx="5073003" cy="1672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Returns Best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Delivers top performer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163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A34AB-82AD-5A1C-DAC9-54A9A9B43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098" y="537362"/>
            <a:ext cx="13656055" cy="687048"/>
          </a:xfrm>
        </p:spPr>
        <p:txBody>
          <a:bodyPr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Key Parameters in H2OAutoML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A2BBBEB-5FDE-85D6-D4BC-81F4A4D94CEE}"/>
              </a:ext>
            </a:extLst>
          </p:cNvPr>
          <p:cNvSpPr/>
          <p:nvPr/>
        </p:nvSpPr>
        <p:spPr>
          <a:xfrm>
            <a:off x="793790" y="1813412"/>
            <a:ext cx="6422231" cy="2362200"/>
          </a:xfrm>
          <a:prstGeom prst="roundRect">
            <a:avLst>
              <a:gd name="adj" fmla="val 2527"/>
            </a:avLst>
          </a:prstGeom>
          <a:solidFill>
            <a:srgbClr val="F2EEEE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F42ABDF-EE53-81D2-D02E-4F03E4B54268}"/>
              </a:ext>
            </a:extLst>
          </p:cNvPr>
          <p:cNvSpPr/>
          <p:nvPr/>
        </p:nvSpPr>
        <p:spPr>
          <a:xfrm>
            <a:off x="992147" y="2011770"/>
            <a:ext cx="6025515" cy="78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max_models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IN" sz="2000" dirty="0"/>
              <a:t>Maximum number of models to train; controls the search space and limits total training time.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727E8AB-DA4B-E1B0-3315-D1AAB7DB6B81}"/>
              </a:ext>
            </a:extLst>
          </p:cNvPr>
          <p:cNvSpPr/>
          <p:nvPr/>
        </p:nvSpPr>
        <p:spPr>
          <a:xfrm>
            <a:off x="7414379" y="1813412"/>
            <a:ext cx="6422231" cy="2362200"/>
          </a:xfrm>
          <a:prstGeom prst="roundRect">
            <a:avLst>
              <a:gd name="adj" fmla="val 2527"/>
            </a:avLst>
          </a:prstGeom>
          <a:solidFill>
            <a:srgbClr val="F2EEEE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4B19D89-09C7-ADF0-333B-7F947765DC23}"/>
              </a:ext>
            </a:extLst>
          </p:cNvPr>
          <p:cNvSpPr/>
          <p:nvPr/>
        </p:nvSpPr>
        <p:spPr>
          <a:xfrm>
            <a:off x="7612737" y="2011770"/>
            <a:ext cx="6025515" cy="78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max_runtime_secs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IN" sz="2000" dirty="0"/>
              <a:t>Maximum time (in seconds) allowed for training; stops the process once the time limit is reached.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AE7FC46-6101-0A4F-4F1D-E4D658058B6D}"/>
              </a:ext>
            </a:extLst>
          </p:cNvPr>
          <p:cNvSpPr/>
          <p:nvPr/>
        </p:nvSpPr>
        <p:spPr>
          <a:xfrm>
            <a:off x="7414379" y="4626620"/>
            <a:ext cx="6422231" cy="2362200"/>
          </a:xfrm>
          <a:prstGeom prst="roundRect">
            <a:avLst>
              <a:gd name="adj" fmla="val 2527"/>
            </a:avLst>
          </a:prstGeom>
          <a:solidFill>
            <a:srgbClr val="F2EEEE"/>
          </a:solidFill>
          <a:ln/>
        </p:spPr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A8C91487-4888-7F01-FBDA-80BBF621E281}"/>
              </a:ext>
            </a:extLst>
          </p:cNvPr>
          <p:cNvSpPr/>
          <p:nvPr/>
        </p:nvSpPr>
        <p:spPr>
          <a:xfrm>
            <a:off x="793790" y="4572000"/>
            <a:ext cx="6422231" cy="2362200"/>
          </a:xfrm>
          <a:prstGeom prst="roundRect">
            <a:avLst>
              <a:gd name="adj" fmla="val 2527"/>
            </a:avLst>
          </a:prstGeom>
          <a:solidFill>
            <a:srgbClr val="F2EEEE"/>
          </a:solidFill>
          <a:ln/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A93BC0E9-7813-2769-A13A-7D8737149F9A}"/>
              </a:ext>
            </a:extLst>
          </p:cNvPr>
          <p:cNvSpPr/>
          <p:nvPr/>
        </p:nvSpPr>
        <p:spPr>
          <a:xfrm>
            <a:off x="992148" y="4770358"/>
            <a:ext cx="6025515" cy="78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seed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IN" sz="2000" dirty="0"/>
              <a:t>Sets a fixed random state to ensure reproducible and consistent results.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08C50413-73B0-231D-9103-B3EE1113D0E1}"/>
              </a:ext>
            </a:extLst>
          </p:cNvPr>
          <p:cNvSpPr/>
          <p:nvPr/>
        </p:nvSpPr>
        <p:spPr>
          <a:xfrm>
            <a:off x="7612737" y="4770357"/>
            <a:ext cx="6025515" cy="1566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balance_classes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IN" sz="2000" dirty="0"/>
              <a:t>Optional parameter to handle imbalanced datasets by automatically adjusting class distribution during training.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28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128B3-0FB0-CF0D-D068-5A4AB1116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400"/>
            <a:ext cx="13656055" cy="687048"/>
          </a:xfrm>
        </p:spPr>
        <p:txBody>
          <a:bodyPr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Single Model vs Ensemble Model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0B1B8-4EAB-7C6B-E3B4-CCFF68FF36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88720" y="2362200"/>
            <a:ext cx="5440681" cy="4964308"/>
          </a:xfrm>
        </p:spPr>
        <p:txBody>
          <a:bodyPr/>
          <a:lstStyle/>
          <a:p>
            <a:pPr marL="0" indent="0" algn="l">
              <a:lnSpc>
                <a:spcPct val="250000"/>
              </a:lnSpc>
              <a:buNone/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Single Model</a:t>
            </a:r>
            <a:endParaRPr lang="en-US" sz="2400" dirty="0">
              <a:solidFill>
                <a:schemeClr val="tx1"/>
              </a:solidFill>
            </a:endParaRPr>
          </a:p>
          <a:p>
            <a:pPr marL="0" indent="0" algn="l">
              <a:lnSpc>
                <a:spcPct val="25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Examples: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 GBM, Random Forest, XGBoost</a:t>
            </a: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250000"/>
              </a:lnSpc>
            </a:pPr>
            <a:r>
              <a:rPr lang="en-IN" sz="1800" dirty="0"/>
              <a:t>H2O </a:t>
            </a:r>
            <a:r>
              <a:rPr lang="en-IN" sz="1800" dirty="0" err="1"/>
              <a:t>AutoML</a:t>
            </a:r>
            <a:r>
              <a:rPr lang="en-IN" sz="1800" dirty="0"/>
              <a:t> can select a single best-performing algorithm as the leader.</a:t>
            </a:r>
            <a:br>
              <a:rPr lang="en-IN" sz="1800" dirty="0"/>
            </a:br>
            <a:r>
              <a:rPr lang="en-IN" sz="1800" dirty="0"/>
              <a:t>The final model may be an individual algorithm instead of an ensemble, based purely on validation performance.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D16000-397B-857B-2539-28D6C2C9CE55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8001000" y="2241590"/>
            <a:ext cx="6248400" cy="7041800"/>
          </a:xfrm>
        </p:spPr>
        <p:txBody>
          <a:bodyPr/>
          <a:lstStyle/>
          <a:p>
            <a:pPr marL="0" indent="0" algn="l">
              <a:lnSpc>
                <a:spcPct val="250000"/>
              </a:lnSpc>
              <a:buNone/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Ensemble Model</a:t>
            </a:r>
            <a:endParaRPr lang="en-US" sz="2400" dirty="0">
              <a:solidFill>
                <a:schemeClr val="tx1"/>
              </a:solidFill>
            </a:endParaRPr>
          </a:p>
          <a:p>
            <a:pPr marL="0" indent="0" algn="l">
              <a:lnSpc>
                <a:spcPct val="25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Types:</a:t>
            </a:r>
          </a:p>
          <a:p>
            <a:pPr marL="342900" indent="-342900" algn="l">
              <a:lnSpc>
                <a:spcPct val="250000"/>
              </a:lnSpc>
              <a:buSzPct val="100000"/>
              <a:buChar char="•"/>
            </a:pPr>
            <a:r>
              <a:rPr lang="en-US" sz="1800" dirty="0" err="1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StackedEnsemble_BestOfFamily</a:t>
            </a:r>
            <a:endParaRPr lang="en-US" sz="18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250000"/>
              </a:lnSpc>
              <a:buSzPct val="100000"/>
              <a:buChar char="•"/>
            </a:pPr>
            <a:r>
              <a:rPr lang="en-US" sz="1800" dirty="0" err="1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StackedEnsemble_AllModels</a:t>
            </a: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250000"/>
              </a:lnSpc>
            </a:pPr>
            <a:r>
              <a:rPr lang="en-IN" sz="1800" dirty="0"/>
              <a:t>Appears when sufficient runtime and multiple base models are available.</a:t>
            </a:r>
            <a:br>
              <a:rPr lang="en-IN" sz="1800" dirty="0"/>
            </a:br>
            <a:r>
              <a:rPr lang="en-IN" sz="1800" dirty="0"/>
              <a:t>Selected as the leader when the stacked ensemble outperforms all individual models on validation metrics.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lnSpc>
                <a:spcPct val="250000"/>
              </a:lnSpc>
            </a:pPr>
            <a:endParaRPr lang="en-I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492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A34AB-82AD-5A1C-DAC9-54A9A9B43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351" y="110684"/>
            <a:ext cx="13656055" cy="687048"/>
          </a:xfrm>
        </p:spPr>
        <p:txBody>
          <a:bodyPr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Understanding the Leaderboard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A2BBBEB-5FDE-85D6-D4BC-81F4A4D94CEE}"/>
              </a:ext>
            </a:extLst>
          </p:cNvPr>
          <p:cNvSpPr/>
          <p:nvPr/>
        </p:nvSpPr>
        <p:spPr>
          <a:xfrm>
            <a:off x="793790" y="944970"/>
            <a:ext cx="6422231" cy="1645830"/>
          </a:xfrm>
          <a:prstGeom prst="roundRect">
            <a:avLst>
              <a:gd name="adj" fmla="val 2527"/>
            </a:avLst>
          </a:prstGeom>
          <a:solidFill>
            <a:srgbClr val="F2EEEE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F42ABDF-EE53-81D2-D02E-4F03E4B54268}"/>
              </a:ext>
            </a:extLst>
          </p:cNvPr>
          <p:cNvSpPr/>
          <p:nvPr/>
        </p:nvSpPr>
        <p:spPr>
          <a:xfrm>
            <a:off x="992147" y="1143328"/>
            <a:ext cx="6025515" cy="78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Ranked Table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All trained models ranked by default metric (e.g., AUC for binary classification)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727E8AB-DA4B-E1B0-3315-D1AAB7DB6B81}"/>
              </a:ext>
            </a:extLst>
          </p:cNvPr>
          <p:cNvSpPr/>
          <p:nvPr/>
        </p:nvSpPr>
        <p:spPr>
          <a:xfrm>
            <a:off x="7414379" y="944970"/>
            <a:ext cx="6422231" cy="1645830"/>
          </a:xfrm>
          <a:prstGeom prst="roundRect">
            <a:avLst>
              <a:gd name="adj" fmla="val 2527"/>
            </a:avLst>
          </a:prstGeom>
          <a:solidFill>
            <a:srgbClr val="F2EEEE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4B19D89-09C7-ADF0-333B-7F947765DC23}"/>
              </a:ext>
            </a:extLst>
          </p:cNvPr>
          <p:cNvSpPr/>
          <p:nvPr/>
        </p:nvSpPr>
        <p:spPr>
          <a:xfrm>
            <a:off x="7612737" y="1143328"/>
            <a:ext cx="6025515" cy="78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Top Row = Best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highest-performing model appears first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AE7FC46-6101-0A4F-4F1D-E4D658058B6D}"/>
              </a:ext>
            </a:extLst>
          </p:cNvPr>
          <p:cNvSpPr/>
          <p:nvPr/>
        </p:nvSpPr>
        <p:spPr>
          <a:xfrm>
            <a:off x="7414379" y="2819400"/>
            <a:ext cx="6422231" cy="1295400"/>
          </a:xfrm>
          <a:prstGeom prst="roundRect">
            <a:avLst>
              <a:gd name="adj" fmla="val 2527"/>
            </a:avLst>
          </a:prstGeom>
          <a:solidFill>
            <a:srgbClr val="F2EEEE"/>
          </a:solidFill>
          <a:ln/>
        </p:spPr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A8C91487-4888-7F01-FBDA-80BBF621E281}"/>
              </a:ext>
            </a:extLst>
          </p:cNvPr>
          <p:cNvSpPr/>
          <p:nvPr/>
        </p:nvSpPr>
        <p:spPr>
          <a:xfrm>
            <a:off x="793790" y="2819400"/>
            <a:ext cx="6422231" cy="1295400"/>
          </a:xfrm>
          <a:prstGeom prst="roundRect">
            <a:avLst>
              <a:gd name="adj" fmla="val 2527"/>
            </a:avLst>
          </a:prstGeom>
          <a:solidFill>
            <a:srgbClr val="F2EEEE"/>
          </a:solidFill>
          <a:ln/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A93BC0E9-7813-2769-A13A-7D8737149F9A}"/>
              </a:ext>
            </a:extLst>
          </p:cNvPr>
          <p:cNvSpPr/>
          <p:nvPr/>
        </p:nvSpPr>
        <p:spPr>
          <a:xfrm>
            <a:off x="992148" y="3017758"/>
            <a:ext cx="6025515" cy="78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Model Type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Can be single model or ensemble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08C50413-73B0-231D-9103-B3EE1113D0E1}"/>
              </a:ext>
            </a:extLst>
          </p:cNvPr>
          <p:cNvSpPr/>
          <p:nvPr/>
        </p:nvSpPr>
        <p:spPr>
          <a:xfrm>
            <a:off x="7612737" y="2963137"/>
            <a:ext cx="6025515" cy="1566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Metrics Displayed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AUC, LogLoss, RMSE, and more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27DCF8-1BA2-59F0-521E-F10159699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613" y="4114800"/>
            <a:ext cx="12207174" cy="400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829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6072" y="-328850"/>
            <a:ext cx="13656055" cy="1130810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Leader Model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7C49C67-C298-4068-CA76-A4C08A84BF5C}"/>
              </a:ext>
            </a:extLst>
          </p:cNvPr>
          <p:cNvSpPr/>
          <p:nvPr/>
        </p:nvSpPr>
        <p:spPr>
          <a:xfrm>
            <a:off x="5249508" y="6560283"/>
            <a:ext cx="4164095" cy="151691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520703" y="6564720"/>
            <a:ext cx="3699498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Not Guaranteed Ensemble</a:t>
            </a: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Could be single model or ensemble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4160924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10198113" y="6608285"/>
            <a:ext cx="3818573" cy="1495020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415506" y="6564720"/>
            <a:ext cx="3347385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Performance-Based</a:t>
            </a: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Selection depends purely on metric scores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3073532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838201" y="6424581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Top Performer</a:t>
            </a: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Returns the highest-ranked model from leaderboard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A3186D83-E910-EDAE-71C4-2CEDB88881B5}"/>
              </a:ext>
            </a:extLst>
          </p:cNvPr>
          <p:cNvSpPr/>
          <p:nvPr/>
        </p:nvSpPr>
        <p:spPr>
          <a:xfrm>
            <a:off x="782479" y="5697855"/>
            <a:ext cx="13065443" cy="702945"/>
          </a:xfrm>
          <a:prstGeom prst="roundRect">
            <a:avLst>
              <a:gd name="adj" fmla="val 4840"/>
            </a:avLst>
          </a:prstGeom>
          <a:solidFill>
            <a:srgbClr val="F2F2F2"/>
          </a:solidFill>
          <a:ln/>
        </p:spPr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D4452F0F-0B81-0532-F9E9-1BE9E2A1CCE4}"/>
              </a:ext>
            </a:extLst>
          </p:cNvPr>
          <p:cNvSpPr/>
          <p:nvPr/>
        </p:nvSpPr>
        <p:spPr>
          <a:xfrm>
            <a:off x="1009293" y="5867876"/>
            <a:ext cx="1261181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best_model = aml.leader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BE33AD5-E1B0-F0DC-2780-A3EA0A514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072" y="910587"/>
            <a:ext cx="10626328" cy="4699660"/>
          </a:xfrm>
          <a:prstGeom prst="rect">
            <a:avLst/>
          </a:prstGeom>
        </p:spPr>
      </p:pic>
      <p:sp>
        <p:nvSpPr>
          <p:cNvPr id="20" name="Shape 2">
            <a:extLst>
              <a:ext uri="{FF2B5EF4-FFF2-40B4-BE49-F238E27FC236}">
                <a16:creationId xmlns:a16="http://schemas.microsoft.com/office/drawing/2014/main" id="{27687EE9-0F04-036E-630B-8DE855AFEAA8}"/>
              </a:ext>
            </a:extLst>
          </p:cNvPr>
          <p:cNvSpPr/>
          <p:nvPr/>
        </p:nvSpPr>
        <p:spPr>
          <a:xfrm>
            <a:off x="720088" y="6560283"/>
            <a:ext cx="3976821" cy="151691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D2A51312-4728-4592-C39A-31453590AA0B}"/>
              </a:ext>
            </a:extLst>
          </p:cNvPr>
          <p:cNvSpPr/>
          <p:nvPr/>
        </p:nvSpPr>
        <p:spPr>
          <a:xfrm>
            <a:off x="872489" y="6560283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Top Performer</a:t>
            </a: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Returns the highest-ranked model from leaderboard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213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6458" y="-318726"/>
            <a:ext cx="13656055" cy="1130810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Scoring History of Single Model Leader</a:t>
            </a:r>
            <a:endParaRPr lang="en-US" sz="36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7C49C67-C298-4068-CA76-A4C08A84BF5C}"/>
              </a:ext>
            </a:extLst>
          </p:cNvPr>
          <p:cNvSpPr/>
          <p:nvPr/>
        </p:nvSpPr>
        <p:spPr>
          <a:xfrm>
            <a:off x="5249508" y="6127133"/>
            <a:ext cx="4164095" cy="151691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520703" y="6131570"/>
            <a:ext cx="3699498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Detect Overfitting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Identifies when model memorizes training data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3727774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10198113" y="6175135"/>
            <a:ext cx="3818573" cy="1495020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415506" y="6131570"/>
            <a:ext cx="3347385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Performance-Based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Selection depends purely on metric scores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2640382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838201" y="5991431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Top Performer</a:t>
            </a: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Returns the highest-ranked model from leaderboard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D4452F0F-0B81-0532-F9E9-1BE9E2A1CCE4}"/>
              </a:ext>
            </a:extLst>
          </p:cNvPr>
          <p:cNvSpPr/>
          <p:nvPr/>
        </p:nvSpPr>
        <p:spPr>
          <a:xfrm>
            <a:off x="872489" y="5399980"/>
            <a:ext cx="1261181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Tracks model learning progression over iterations</a:t>
            </a: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27687EE9-0F04-036E-630B-8DE855AFEAA8}"/>
              </a:ext>
            </a:extLst>
          </p:cNvPr>
          <p:cNvSpPr/>
          <p:nvPr/>
        </p:nvSpPr>
        <p:spPr>
          <a:xfrm>
            <a:off x="720088" y="6127133"/>
            <a:ext cx="3976821" cy="151691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D2A51312-4728-4592-C39A-31453590AA0B}"/>
              </a:ext>
            </a:extLst>
          </p:cNvPr>
          <p:cNvSpPr/>
          <p:nvPr/>
        </p:nvSpPr>
        <p:spPr>
          <a:xfrm>
            <a:off x="872489" y="6127133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Learning Curve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Shows how metrics improve as trees increase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A38D7D4-88D6-C0B5-A616-A1B163D36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48" y="1224336"/>
            <a:ext cx="14242903" cy="389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598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3A819-46A7-74AE-552A-29C6F753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260" y="367034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Making Predictions</a:t>
            </a:r>
            <a:br>
              <a:rPr lang="en-US" sz="3600" dirty="0">
                <a:solidFill>
                  <a:schemeClr val="tx1"/>
                </a:solidFill>
              </a:rPr>
            </a:b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03FDE-E07B-6C4D-CFF4-BBFF3EE9F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9260" y="6106123"/>
            <a:ext cx="6364224" cy="1756443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How It Works</a:t>
            </a:r>
            <a:endParaRPr lang="en-US" sz="24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Uses whichever model is the leader, whether single or ensemble</a:t>
            </a: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Same syntax regardless of model type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9C34C6-99E2-B6AE-D521-D209C0E4DB13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927580" y="6082677"/>
            <a:ext cx="6364224" cy="1340945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Output Format</a:t>
            </a:r>
            <a:endParaRPr lang="en-US" sz="24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Predicted class</a:t>
            </a:r>
            <a:endParaRPr lang="en-US" sz="18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Probability of each class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11B71B2-23FE-8759-36E4-78CFF1C1616E}"/>
              </a:ext>
            </a:extLst>
          </p:cNvPr>
          <p:cNvSpPr/>
          <p:nvPr/>
        </p:nvSpPr>
        <p:spPr>
          <a:xfrm>
            <a:off x="782479" y="5092554"/>
            <a:ext cx="13065443" cy="702945"/>
          </a:xfrm>
          <a:prstGeom prst="roundRect">
            <a:avLst>
              <a:gd name="adj" fmla="val 4840"/>
            </a:avLst>
          </a:prstGeom>
          <a:solidFill>
            <a:srgbClr val="F2F2F2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42E03CB-C8DD-64D6-7E9E-93EAD21D75A0}"/>
              </a:ext>
            </a:extLst>
          </p:cNvPr>
          <p:cNvSpPr/>
          <p:nvPr/>
        </p:nvSpPr>
        <p:spPr>
          <a:xfrm>
            <a:off x="1009293" y="5262576"/>
            <a:ext cx="1261181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pred = best_model.predict(test)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4CEF43-4031-9822-F451-5C66A8762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479" y="1288380"/>
            <a:ext cx="12273279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895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CEFA7-6326-B4E3-DB8B-5AB8D5AB3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021" y="204799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Model Explainability</a:t>
            </a:r>
            <a:br>
              <a:rPr lang="en-US" sz="3600" dirty="0">
                <a:solidFill>
                  <a:schemeClr val="tx1"/>
                </a:solidFill>
              </a:rPr>
            </a:b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6B76F323-D1EE-E771-8AE6-550BCA1059B0}"/>
              </a:ext>
            </a:extLst>
          </p:cNvPr>
          <p:cNvSpPr/>
          <p:nvPr/>
        </p:nvSpPr>
        <p:spPr>
          <a:xfrm>
            <a:off x="782479" y="990600"/>
            <a:ext cx="13065443" cy="702945"/>
          </a:xfrm>
          <a:prstGeom prst="roundRect">
            <a:avLst>
              <a:gd name="adj" fmla="val 4840"/>
            </a:avLst>
          </a:prstGeom>
          <a:solidFill>
            <a:srgbClr val="F2F2F2"/>
          </a:solidFill>
          <a:ln/>
        </p:spPr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F43BD827-D174-897D-E666-47C64D3EA5D6}"/>
              </a:ext>
            </a:extLst>
          </p:cNvPr>
          <p:cNvSpPr/>
          <p:nvPr/>
        </p:nvSpPr>
        <p:spPr>
          <a:xfrm>
            <a:off x="1009293" y="1160621"/>
            <a:ext cx="1261181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best_model.explain(test)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F493FB-5889-6C4B-EA90-A5599E5DFA0B}"/>
              </a:ext>
            </a:extLst>
          </p:cNvPr>
          <p:cNvSpPr txBox="1"/>
          <p:nvPr/>
        </p:nvSpPr>
        <p:spPr>
          <a:xfrm>
            <a:off x="794202" y="1896873"/>
            <a:ext cx="7315200" cy="434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Generates comprehensive interpretation outputs: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0F194CAD-BB97-2D34-5D13-62B05D411586}"/>
              </a:ext>
            </a:extLst>
          </p:cNvPr>
          <p:cNvSpPr/>
          <p:nvPr/>
        </p:nvSpPr>
        <p:spPr>
          <a:xfrm>
            <a:off x="463726" y="2438400"/>
            <a:ext cx="3651074" cy="550545"/>
          </a:xfrm>
          <a:prstGeom prst="roundRect">
            <a:avLst>
              <a:gd name="adj" fmla="val 383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BF13683-C0AE-C234-6894-A74A0C310355}"/>
              </a:ext>
            </a:extLst>
          </p:cNvPr>
          <p:cNvSpPr/>
          <p:nvPr/>
        </p:nvSpPr>
        <p:spPr>
          <a:xfrm>
            <a:off x="721021" y="2543294"/>
            <a:ext cx="2698314" cy="294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Feature Importance</a:t>
            </a:r>
            <a:endParaRPr lang="en-US" sz="23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BEAEC888-27FC-E47A-7720-ED47331924C3}"/>
              </a:ext>
            </a:extLst>
          </p:cNvPr>
          <p:cNvSpPr/>
          <p:nvPr/>
        </p:nvSpPr>
        <p:spPr>
          <a:xfrm>
            <a:off x="457200" y="2400993"/>
            <a:ext cx="3651074" cy="550545"/>
          </a:xfrm>
          <a:prstGeom prst="roundRect">
            <a:avLst>
              <a:gd name="adj" fmla="val 383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248FBCDF-731B-B368-E233-576918891D43}"/>
              </a:ext>
            </a:extLst>
          </p:cNvPr>
          <p:cNvSpPr/>
          <p:nvPr/>
        </p:nvSpPr>
        <p:spPr>
          <a:xfrm>
            <a:off x="714495" y="2505887"/>
            <a:ext cx="2698314" cy="294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Feature Importance</a:t>
            </a:r>
            <a:endParaRPr lang="en-US" sz="23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BE25A7DD-46E9-CC31-F6E3-B2209E8D5164}"/>
              </a:ext>
            </a:extLst>
          </p:cNvPr>
          <p:cNvSpPr/>
          <p:nvPr/>
        </p:nvSpPr>
        <p:spPr>
          <a:xfrm>
            <a:off x="5340526" y="2438400"/>
            <a:ext cx="3651074" cy="550545"/>
          </a:xfrm>
          <a:prstGeom prst="roundRect">
            <a:avLst>
              <a:gd name="adj" fmla="val 383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6FDA6CC3-9D47-2ABF-0289-9C3C317E780E}"/>
              </a:ext>
            </a:extLst>
          </p:cNvPr>
          <p:cNvSpPr/>
          <p:nvPr/>
        </p:nvSpPr>
        <p:spPr>
          <a:xfrm>
            <a:off x="5597821" y="2543294"/>
            <a:ext cx="2698314" cy="294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SHAP Summary Plot</a:t>
            </a:r>
            <a:endParaRPr lang="en-US" sz="2300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25C29118-512B-C78A-8F39-57F721D81CAA}"/>
              </a:ext>
            </a:extLst>
          </p:cNvPr>
          <p:cNvSpPr/>
          <p:nvPr/>
        </p:nvSpPr>
        <p:spPr>
          <a:xfrm>
            <a:off x="10217326" y="2438400"/>
            <a:ext cx="3651074" cy="550545"/>
          </a:xfrm>
          <a:prstGeom prst="roundRect">
            <a:avLst>
              <a:gd name="adj" fmla="val 383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8B0B6913-17EF-EAE5-8757-2BA97882EEC3}"/>
              </a:ext>
            </a:extLst>
          </p:cNvPr>
          <p:cNvSpPr/>
          <p:nvPr/>
        </p:nvSpPr>
        <p:spPr>
          <a:xfrm>
            <a:off x="10474621" y="2543294"/>
            <a:ext cx="2698314" cy="294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Residual Analysis</a:t>
            </a:r>
            <a:endParaRPr lang="en-US" sz="2300" dirty="0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852C23DE-117D-26D5-2C39-8A3C43D086DB}"/>
              </a:ext>
            </a:extLst>
          </p:cNvPr>
          <p:cNvSpPr/>
          <p:nvPr/>
        </p:nvSpPr>
        <p:spPr>
          <a:xfrm>
            <a:off x="2978326" y="3183255"/>
            <a:ext cx="3651074" cy="550545"/>
          </a:xfrm>
          <a:prstGeom prst="roundRect">
            <a:avLst>
              <a:gd name="adj" fmla="val 383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DCB63030-ED20-3B09-EECF-FECE1BFC02C1}"/>
              </a:ext>
            </a:extLst>
          </p:cNvPr>
          <p:cNvSpPr/>
          <p:nvPr/>
        </p:nvSpPr>
        <p:spPr>
          <a:xfrm>
            <a:off x="3235621" y="3288149"/>
            <a:ext cx="2698314" cy="294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Partial Dependence</a:t>
            </a:r>
            <a:endParaRPr lang="en-US" sz="2300" dirty="0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844D6CE7-873F-D07D-D46B-49BFC5F08C89}"/>
              </a:ext>
            </a:extLst>
          </p:cNvPr>
          <p:cNvSpPr/>
          <p:nvPr/>
        </p:nvSpPr>
        <p:spPr>
          <a:xfrm>
            <a:off x="7772400" y="3200400"/>
            <a:ext cx="3651074" cy="550545"/>
          </a:xfrm>
          <a:prstGeom prst="roundRect">
            <a:avLst>
              <a:gd name="adj" fmla="val 383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EB1BE65E-6E93-D83C-14A2-C59FA85A53F7}"/>
              </a:ext>
            </a:extLst>
          </p:cNvPr>
          <p:cNvSpPr/>
          <p:nvPr/>
        </p:nvSpPr>
        <p:spPr>
          <a:xfrm>
            <a:off x="8029695" y="3305294"/>
            <a:ext cx="2698314" cy="294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Variable Interaction</a:t>
            </a:r>
            <a:endParaRPr lang="en-US" sz="23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1AD8627-1C4B-68DE-A52E-F902CB809B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86107" y="3944815"/>
            <a:ext cx="4325824" cy="399897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3773C80-9F7F-1B73-FD6F-2BEDB1A50A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90589" y="3896597"/>
            <a:ext cx="4066088" cy="41905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6FD1BDE-B338-2F2E-1678-8201E8779F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8212" y="4025831"/>
            <a:ext cx="4951652" cy="374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200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A34AB-82AD-5A1C-DAC9-54A9A9B43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709" y="152400"/>
            <a:ext cx="13656055" cy="687048"/>
          </a:xfrm>
        </p:spPr>
        <p:txBody>
          <a:bodyPr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SHAP Summary Concept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A2BBBEB-5FDE-85D6-D4BC-81F4A4D94CEE}"/>
              </a:ext>
            </a:extLst>
          </p:cNvPr>
          <p:cNvSpPr/>
          <p:nvPr/>
        </p:nvSpPr>
        <p:spPr>
          <a:xfrm>
            <a:off x="152401" y="991649"/>
            <a:ext cx="4953000" cy="6398702"/>
          </a:xfrm>
          <a:prstGeom prst="roundRect">
            <a:avLst>
              <a:gd name="adj" fmla="val 2527"/>
            </a:avLst>
          </a:prstGeom>
          <a:solidFill>
            <a:srgbClr val="F2EEEE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F42ABDF-EE53-81D2-D02E-4F03E4B54268}"/>
              </a:ext>
            </a:extLst>
          </p:cNvPr>
          <p:cNvSpPr/>
          <p:nvPr/>
        </p:nvSpPr>
        <p:spPr>
          <a:xfrm>
            <a:off x="549117" y="925920"/>
            <a:ext cx="6025515" cy="78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1. Feature Impact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lvl="1" algn="l">
              <a:lnSpc>
                <a:spcPct val="20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Shows how features affect predictions</a:t>
            </a:r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2. Direction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Right = increases class 1 probability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Left = decreases probability</a:t>
            </a:r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3. Color Coding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Red = high feature value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Blue = low feature value</a:t>
            </a:r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4. Ranking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Top features are most influential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lvl="1"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lvl="1" algn="l">
              <a:lnSpc>
                <a:spcPct val="200000"/>
              </a:lnSpc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A93BC0E9-7813-2769-A13A-7D8737149F9A}"/>
              </a:ext>
            </a:extLst>
          </p:cNvPr>
          <p:cNvSpPr/>
          <p:nvPr/>
        </p:nvSpPr>
        <p:spPr>
          <a:xfrm>
            <a:off x="992146" y="2624317"/>
            <a:ext cx="6025515" cy="78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08C50413-73B0-231D-9103-B3EE1113D0E1}"/>
              </a:ext>
            </a:extLst>
          </p:cNvPr>
          <p:cNvSpPr/>
          <p:nvPr/>
        </p:nvSpPr>
        <p:spPr>
          <a:xfrm>
            <a:off x="7612737" y="2624317"/>
            <a:ext cx="6025515" cy="1566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A979248-85E3-D2A0-CDD1-6D60C4356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2117" y="839448"/>
            <a:ext cx="8810762" cy="655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573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C750A-43A0-EA1C-9D89-EBF5B6F33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157382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End-to-End Flow</a:t>
            </a:r>
            <a:br>
              <a:rPr lang="en-US" sz="3600" dirty="0">
                <a:solidFill>
                  <a:schemeClr val="tx1"/>
                </a:solidFill>
              </a:rPr>
            </a:b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41A42B7-2238-567B-65E7-3E786775D038}"/>
              </a:ext>
            </a:extLst>
          </p:cNvPr>
          <p:cNvSpPr/>
          <p:nvPr/>
        </p:nvSpPr>
        <p:spPr>
          <a:xfrm>
            <a:off x="793790" y="135028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7B74D17-98B1-6B7A-6F00-E0E2A8954089}"/>
              </a:ext>
            </a:extLst>
          </p:cNvPr>
          <p:cNvSpPr/>
          <p:nvPr/>
        </p:nvSpPr>
        <p:spPr>
          <a:xfrm>
            <a:off x="793790" y="1705332"/>
            <a:ext cx="4196358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58BC975-D6BD-D364-1760-968853C35E3F}"/>
              </a:ext>
            </a:extLst>
          </p:cNvPr>
          <p:cNvSpPr/>
          <p:nvPr/>
        </p:nvSpPr>
        <p:spPr>
          <a:xfrm>
            <a:off x="793790" y="187964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Import Data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Convert to H2OFrame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250B8A1-5E51-58DD-2EBA-31D8AE5D05A8}"/>
              </a:ext>
            </a:extLst>
          </p:cNvPr>
          <p:cNvSpPr/>
          <p:nvPr/>
        </p:nvSpPr>
        <p:spPr>
          <a:xfrm>
            <a:off x="793790" y="2387798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3B89BDB-413F-2C07-04C5-E6B78BEAC961}"/>
              </a:ext>
            </a:extLst>
          </p:cNvPr>
          <p:cNvSpPr/>
          <p:nvPr/>
        </p:nvSpPr>
        <p:spPr>
          <a:xfrm>
            <a:off x="5216962" y="135028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395028D0-E534-537D-795B-C23D4729A591}"/>
              </a:ext>
            </a:extLst>
          </p:cNvPr>
          <p:cNvSpPr/>
          <p:nvPr/>
        </p:nvSpPr>
        <p:spPr>
          <a:xfrm>
            <a:off x="5216962" y="1705332"/>
            <a:ext cx="4196358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2562615-381C-1D89-DB8A-6AE45D2BF6AD}"/>
              </a:ext>
            </a:extLst>
          </p:cNvPr>
          <p:cNvSpPr/>
          <p:nvPr/>
        </p:nvSpPr>
        <p:spPr>
          <a:xfrm>
            <a:off x="5216962" y="187964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Prepare Variables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Convert categorical variables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19FEFC2-6BFC-A27C-8228-E2BABD5239F0}"/>
              </a:ext>
            </a:extLst>
          </p:cNvPr>
          <p:cNvSpPr/>
          <p:nvPr/>
        </p:nvSpPr>
        <p:spPr>
          <a:xfrm>
            <a:off x="5216962" y="2387798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11C4D88-AB53-B1C3-03D0-1C3D89AB5C7A}"/>
              </a:ext>
            </a:extLst>
          </p:cNvPr>
          <p:cNvSpPr/>
          <p:nvPr/>
        </p:nvSpPr>
        <p:spPr>
          <a:xfrm>
            <a:off x="9640133" y="135028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ABBD6DB9-B257-DC26-B1E4-56E2122B264D}"/>
              </a:ext>
            </a:extLst>
          </p:cNvPr>
          <p:cNvSpPr/>
          <p:nvPr/>
        </p:nvSpPr>
        <p:spPr>
          <a:xfrm>
            <a:off x="9640133" y="1705332"/>
            <a:ext cx="4196358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7D259259-BCF7-A439-3822-F2761AE1CDD5}"/>
              </a:ext>
            </a:extLst>
          </p:cNvPr>
          <p:cNvSpPr/>
          <p:nvPr/>
        </p:nvSpPr>
        <p:spPr>
          <a:xfrm>
            <a:off x="9640133" y="187964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Split Data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Create train/test sets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E10BF397-9F28-958E-D71F-CA589E45F112}"/>
              </a:ext>
            </a:extLst>
          </p:cNvPr>
          <p:cNvSpPr/>
          <p:nvPr/>
        </p:nvSpPr>
        <p:spPr>
          <a:xfrm>
            <a:off x="9640133" y="2387798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AD6E6C08-71E4-6078-2D01-2135E42E463D}"/>
              </a:ext>
            </a:extLst>
          </p:cNvPr>
          <p:cNvSpPr/>
          <p:nvPr/>
        </p:nvSpPr>
        <p:spPr>
          <a:xfrm>
            <a:off x="793790" y="314753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7D2FA28F-1354-7B4A-9711-3B0103D1D0CE}"/>
              </a:ext>
            </a:extLst>
          </p:cNvPr>
          <p:cNvSpPr/>
          <p:nvPr/>
        </p:nvSpPr>
        <p:spPr>
          <a:xfrm>
            <a:off x="793790" y="3502581"/>
            <a:ext cx="4196358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48C227AB-0306-ED6A-A53F-A14646FBDF2B}"/>
              </a:ext>
            </a:extLst>
          </p:cNvPr>
          <p:cNvSpPr/>
          <p:nvPr/>
        </p:nvSpPr>
        <p:spPr>
          <a:xfrm>
            <a:off x="793790" y="367688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Initialize AutoML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Set up H2OAutoML()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07404074-9A1A-A9E4-E370-045D8F9A5102}"/>
              </a:ext>
            </a:extLst>
          </p:cNvPr>
          <p:cNvSpPr/>
          <p:nvPr/>
        </p:nvSpPr>
        <p:spPr>
          <a:xfrm>
            <a:off x="793790" y="4185047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2899A662-CE01-286F-D2DD-66D14E34C5AA}"/>
              </a:ext>
            </a:extLst>
          </p:cNvPr>
          <p:cNvSpPr/>
          <p:nvPr/>
        </p:nvSpPr>
        <p:spPr>
          <a:xfrm>
            <a:off x="5216962" y="314753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F9FA6778-C5D8-BB54-D145-717915798BF5}"/>
              </a:ext>
            </a:extLst>
          </p:cNvPr>
          <p:cNvSpPr/>
          <p:nvPr/>
        </p:nvSpPr>
        <p:spPr>
          <a:xfrm>
            <a:off x="5216962" y="3502581"/>
            <a:ext cx="4196358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E874061B-8FC4-1DF5-FBD8-C9356236EEA4}"/>
              </a:ext>
            </a:extLst>
          </p:cNvPr>
          <p:cNvSpPr/>
          <p:nvPr/>
        </p:nvSpPr>
        <p:spPr>
          <a:xfrm>
            <a:off x="5216962" y="367688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Train Models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Run automated training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48E8808B-5494-A2AF-11A5-8D119115670E}"/>
              </a:ext>
            </a:extLst>
          </p:cNvPr>
          <p:cNvSpPr/>
          <p:nvPr/>
        </p:nvSpPr>
        <p:spPr>
          <a:xfrm>
            <a:off x="5216962" y="4185047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D4BE28A4-6E42-E0B7-5A7E-8F0E2CED76C2}"/>
              </a:ext>
            </a:extLst>
          </p:cNvPr>
          <p:cNvSpPr/>
          <p:nvPr/>
        </p:nvSpPr>
        <p:spPr>
          <a:xfrm>
            <a:off x="9640133" y="314753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CDC8CBAE-1EE8-0D18-F0AC-C5097A05563A}"/>
              </a:ext>
            </a:extLst>
          </p:cNvPr>
          <p:cNvSpPr/>
          <p:nvPr/>
        </p:nvSpPr>
        <p:spPr>
          <a:xfrm>
            <a:off x="9640133" y="3502581"/>
            <a:ext cx="4196358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FDC16E58-7133-207F-6694-7BFD9B6AE5AB}"/>
              </a:ext>
            </a:extLst>
          </p:cNvPr>
          <p:cNvSpPr/>
          <p:nvPr/>
        </p:nvSpPr>
        <p:spPr>
          <a:xfrm>
            <a:off x="9640133" y="367688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Review Results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Check leaderboard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43FB8F33-4174-6F35-9585-5AC10A97CA32}"/>
              </a:ext>
            </a:extLst>
          </p:cNvPr>
          <p:cNvSpPr/>
          <p:nvPr/>
        </p:nvSpPr>
        <p:spPr>
          <a:xfrm>
            <a:off x="9640133" y="4185047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783E70EB-15DA-27AC-003C-6696AAB7C15B}"/>
              </a:ext>
            </a:extLst>
          </p:cNvPr>
          <p:cNvSpPr/>
          <p:nvPr/>
        </p:nvSpPr>
        <p:spPr>
          <a:xfrm>
            <a:off x="793790" y="494478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07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E31134F7-EE17-4ED9-15E8-8CD1D76B6C83}"/>
              </a:ext>
            </a:extLst>
          </p:cNvPr>
          <p:cNvSpPr/>
          <p:nvPr/>
        </p:nvSpPr>
        <p:spPr>
          <a:xfrm>
            <a:off x="793790" y="5299829"/>
            <a:ext cx="4196358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ED22B295-0915-A931-AD0F-2FFF1DB3760D}"/>
              </a:ext>
            </a:extLst>
          </p:cNvPr>
          <p:cNvSpPr/>
          <p:nvPr/>
        </p:nvSpPr>
        <p:spPr>
          <a:xfrm>
            <a:off x="793790" y="547413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Get Leader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Extract best model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737428D6-7FD4-0591-A51B-5E934E4E5AF4}"/>
              </a:ext>
            </a:extLst>
          </p:cNvPr>
          <p:cNvSpPr/>
          <p:nvPr/>
        </p:nvSpPr>
        <p:spPr>
          <a:xfrm>
            <a:off x="793790" y="5982295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83663AC0-19E8-CFE3-E966-AC3D3FF0DC99}"/>
              </a:ext>
            </a:extLst>
          </p:cNvPr>
          <p:cNvSpPr/>
          <p:nvPr/>
        </p:nvSpPr>
        <p:spPr>
          <a:xfrm>
            <a:off x="5216962" y="494478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08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DA9C9B2F-64FB-F53D-CB87-5421C8DB2056}"/>
              </a:ext>
            </a:extLst>
          </p:cNvPr>
          <p:cNvSpPr/>
          <p:nvPr/>
        </p:nvSpPr>
        <p:spPr>
          <a:xfrm>
            <a:off x="5216962" y="5299829"/>
            <a:ext cx="4196358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BA48F886-2EE3-C4AC-01E3-B17D0B55C181}"/>
              </a:ext>
            </a:extLst>
          </p:cNvPr>
          <p:cNvSpPr/>
          <p:nvPr/>
        </p:nvSpPr>
        <p:spPr>
          <a:xfrm>
            <a:off x="5216962" y="547413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Predict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Generate predictions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4C753BF2-C6CD-B8B8-1E23-AFBE411C53A2}"/>
              </a:ext>
            </a:extLst>
          </p:cNvPr>
          <p:cNvSpPr/>
          <p:nvPr/>
        </p:nvSpPr>
        <p:spPr>
          <a:xfrm>
            <a:off x="5216962" y="5982295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553207C6-5FDA-BAFC-5A2A-85F7279C0158}"/>
              </a:ext>
            </a:extLst>
          </p:cNvPr>
          <p:cNvSpPr/>
          <p:nvPr/>
        </p:nvSpPr>
        <p:spPr>
          <a:xfrm>
            <a:off x="9640133" y="494478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09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69DF9DE5-F1AB-C300-1EBD-8349B235408C}"/>
              </a:ext>
            </a:extLst>
          </p:cNvPr>
          <p:cNvSpPr/>
          <p:nvPr/>
        </p:nvSpPr>
        <p:spPr>
          <a:xfrm>
            <a:off x="9640133" y="5299829"/>
            <a:ext cx="4196358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ADAB2B98-2E5F-CF95-5718-32190C2CD07B}"/>
              </a:ext>
            </a:extLst>
          </p:cNvPr>
          <p:cNvSpPr/>
          <p:nvPr/>
        </p:nvSpPr>
        <p:spPr>
          <a:xfrm>
            <a:off x="9640133" y="547413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Interpret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Explain and analyze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60A44628-D68C-979F-2D97-446CB36FE700}"/>
              </a:ext>
            </a:extLst>
          </p:cNvPr>
          <p:cNvSpPr/>
          <p:nvPr/>
        </p:nvSpPr>
        <p:spPr>
          <a:xfrm>
            <a:off x="9640133" y="5982295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8402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1538" y="-152400"/>
            <a:ext cx="13656055" cy="1130810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chemeClr val="tx1"/>
                </a:solidFill>
              </a:rPr>
              <a:t>Key Takeaways</a:t>
            </a: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7C49C67-C298-4068-CA76-A4C08A84BF5C}"/>
              </a:ext>
            </a:extLst>
          </p:cNvPr>
          <p:cNvSpPr/>
          <p:nvPr/>
        </p:nvSpPr>
        <p:spPr>
          <a:xfrm>
            <a:off x="5241878" y="2619537"/>
            <a:ext cx="4164095" cy="3076710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520703" y="2867484"/>
            <a:ext cx="3699498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Provides transparency through leaderboards and explainability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4426088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10198113" y="2666684"/>
            <a:ext cx="3818573" cy="3050131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415506" y="2867484"/>
            <a:ext cx="3347385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Suitable for both rapid prototyping and production baselines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3338696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5FE26A02-BF48-BE3A-0BC6-D1E3F1CF2B05}"/>
              </a:ext>
            </a:extLst>
          </p:cNvPr>
          <p:cNvSpPr/>
          <p:nvPr/>
        </p:nvSpPr>
        <p:spPr>
          <a:xfrm>
            <a:off x="685800" y="2619538"/>
            <a:ext cx="3976821" cy="3076711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838201" y="2867484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Accelerates development with automated training and tuning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C4DA48-35D7-6A07-2464-343D25168B61}"/>
              </a:ext>
            </a:extLst>
          </p:cNvPr>
          <p:cNvSpPr txBox="1"/>
          <p:nvPr/>
        </p:nvSpPr>
        <p:spPr>
          <a:xfrm>
            <a:off x="685800" y="1449622"/>
            <a:ext cx="13077091" cy="808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H2O AutoML transforms machine learning from a manual, time-intensive process into an automated, efficient workflow.</a:t>
            </a:r>
            <a:endParaRPr lang="en-US" sz="2000" b="1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041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837</TotalTime>
  <Words>958</Words>
  <Application>Microsoft Macintosh PowerPoint</Application>
  <PresentationFormat>Custom</PresentationFormat>
  <Paragraphs>225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Calibri</vt:lpstr>
      <vt:lpstr>Consolas</vt:lpstr>
      <vt:lpstr>DM Sans</vt:lpstr>
      <vt:lpstr>Lucida Sans Unicode</vt:lpstr>
      <vt:lpstr>PT Serif</vt:lpstr>
      <vt:lpstr>PT Serif Light</vt:lpstr>
      <vt:lpstr>Office Theme</vt:lpstr>
      <vt:lpstr>PowerPoint Presentation</vt:lpstr>
      <vt:lpstr>PowerPoint Presentation</vt:lpstr>
      <vt:lpstr>What is AutoML? ( Recap)</vt:lpstr>
      <vt:lpstr>AutoML in Python: Library Overview</vt:lpstr>
      <vt:lpstr>What is H2O? </vt:lpstr>
      <vt:lpstr>H2O vs Traditional Modeling</vt:lpstr>
      <vt:lpstr>Data Handling Prior to AutoML  in H2O</vt:lpstr>
      <vt:lpstr>H2O’s Automation Power</vt:lpstr>
      <vt:lpstr>What is H2OAutoML() Function?</vt:lpstr>
      <vt:lpstr>Key Parameters in H2OAutoML</vt:lpstr>
      <vt:lpstr>Single Model vs Ensemble Model</vt:lpstr>
      <vt:lpstr>Understanding the Leaderboard</vt:lpstr>
      <vt:lpstr>Leader Model</vt:lpstr>
      <vt:lpstr>Scoring History of Single Model Leader</vt:lpstr>
      <vt:lpstr>Making Predictions </vt:lpstr>
      <vt:lpstr>Model Explainability </vt:lpstr>
      <vt:lpstr>SHAP Summary Concept</vt:lpstr>
      <vt:lpstr>End-to-End Flow </vt:lpstr>
      <vt:lpstr>Key Takeaways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Vinayak Deshpande</cp:lastModifiedBy>
  <cp:revision>295</cp:revision>
  <dcterms:created xsi:type="dcterms:W3CDTF">2025-08-01T06:43:07Z</dcterms:created>
  <dcterms:modified xsi:type="dcterms:W3CDTF">2026-03-05T04:39:17Z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2025-08-01T00:00:00Z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2025-08-01T00:00:00Z</vt:filetime>
  </property>
  <property fmtid="{D5CDD505-2E9C-101B-9397-08002B2CF9AE}" pid="5" name="Producer">
    <vt:lpwstr>Microsoft® PowerPoint® 2021</vt:lpwstr>
  </property>
</Properties>
</file>