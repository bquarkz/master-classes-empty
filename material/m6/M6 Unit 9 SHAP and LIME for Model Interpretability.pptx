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74" r:id="rId2"/>
    <p:sldId id="275" r:id="rId3"/>
    <p:sldId id="266" r:id="rId4"/>
    <p:sldId id="379" r:id="rId5"/>
    <p:sldId id="380" r:id="rId6"/>
    <p:sldId id="381" r:id="rId7"/>
    <p:sldId id="383" r:id="rId8"/>
    <p:sldId id="376" r:id="rId9"/>
    <p:sldId id="378" r:id="rId10"/>
    <p:sldId id="384" r:id="rId11"/>
    <p:sldId id="386" r:id="rId12"/>
    <p:sldId id="392" r:id="rId13"/>
    <p:sldId id="391" r:id="rId14"/>
    <p:sldId id="388" r:id="rId15"/>
    <p:sldId id="389" r:id="rId16"/>
    <p:sldId id="337" r:id="rId17"/>
    <p:sldId id="390" r:id="rId18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2891" autoAdjust="0"/>
  </p:normalViewPr>
  <p:slideViewPr>
    <p:cSldViewPr>
      <p:cViewPr varScale="1">
        <p:scale>
          <a:sx n="84" d="100"/>
          <a:sy n="84" d="100"/>
        </p:scale>
        <p:origin x="1000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D48891F-FB35-E1C6-2832-95F5AEC01C35}"/>
    <pc:docChg chg="modSld">
      <pc:chgData name="Guest User" userId="" providerId="Windows Live" clId="Web-{DD48891F-FB35-E1C6-2832-95F5AEC01C35}" dt="2025-11-06T07:40:41.129" v="0" actId="1076"/>
      <pc:docMkLst>
        <pc:docMk/>
      </pc:docMkLst>
      <pc:sldChg chg="modSp">
        <pc:chgData name="Guest User" userId="" providerId="Windows Live" clId="Web-{DD48891F-FB35-E1C6-2832-95F5AEC01C35}" dt="2025-11-06T07:40:41.129" v="0" actId="1076"/>
        <pc:sldMkLst>
          <pc:docMk/>
          <pc:sldMk cId="0" sldId="260"/>
        </pc:sldMkLst>
        <pc:spChg chg="mod">
          <ac:chgData name="Guest User" userId="" providerId="Windows Live" clId="Web-{DD48891F-FB35-E1C6-2832-95F5AEC01C35}" dt="2025-11-06T07:40:41.129" v="0" actId="1076"/>
          <ac:spMkLst>
            <pc:docMk/>
            <pc:sldMk cId="0" sldId="260"/>
            <ac:spMk id="11" creationId="{1729E060-4A6E-E272-7665-9392F1B6E4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097FF-D63A-4701-9D59-A7186DD4FFE5}" type="datetimeFigureOut">
              <a:rPr lang="en-IN" smtClean="0"/>
              <a:t>05/03/26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E45C9-D4C9-4BB9-AC1A-6D12C248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7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C471-F21A-8034-1182-7EC20A46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DEB8-E147-4787-5FDF-AACC13D35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F521C-0896-D5EA-62D4-7B080E31F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12D4-651F-022F-E212-0668CF912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3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5D64-14C4-F16C-5619-287C7EA2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13F94-501F-3960-9E11-DE7F03BD9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30D1C-21CC-DCF2-1302-0D6A57E7F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C2F6F-17C8-6775-A32C-6E7DBAEA8A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23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942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849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A85DC-158A-6A4D-AEC5-3C4D0AA39301}" type="datetime1">
              <a:rPr lang="en-IN" smtClean="0"/>
              <a:t>05/03/26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0CBE1-E654-804F-8DD3-1999B1EAA43E}" type="datetime1">
              <a:rPr lang="en-IN" smtClean="0"/>
              <a:t>05/03/26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E4A29-2FA4-5F43-8886-1C2CFE02D9AE}" type="datetime1">
              <a:rPr lang="en-IN" smtClean="0"/>
              <a:t>05/03/26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1625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9609" y="3090163"/>
            <a:ext cx="73812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C385-8D9F-4541-81D3-BBF55B3B60AF}" type="datetime1">
              <a:rPr lang="en-IN" smtClean="0"/>
              <a:t>05/03/26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lvl1pPr>
        <a:defRPr>
          <a:latin typeface="PT Serif" panose="020A0603040505020204" pitchFamily="18" charset="0"/>
          <a:ea typeface="+mj-ea"/>
          <a:cs typeface="+mj-cs"/>
        </a:defRPr>
      </a:lvl1pPr>
    </p:titleStyle>
    <p:bodyStyle>
      <a:lvl1pPr marL="0">
        <a:defRPr>
          <a:latin typeface="PT Serif" panose="020A0603040505020204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8BBC-7E6C-F114-F782-376A30F0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F82AA0A4-B4C8-BFF7-1622-4303CB7DF1F3}"/>
              </a:ext>
            </a:extLst>
          </p:cNvPr>
          <p:cNvSpPr/>
          <p:nvPr/>
        </p:nvSpPr>
        <p:spPr>
          <a:xfrm>
            <a:off x="381000" y="2209800"/>
            <a:ext cx="1358213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Interpretability using SHAP &amp; LIME</a:t>
            </a:r>
            <a:endParaRPr lang="en-US" sz="4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A8D49-1B61-4101-77B3-D68D40457217}"/>
              </a:ext>
            </a:extLst>
          </p:cNvPr>
          <p:cNvSpPr txBox="1"/>
          <p:nvPr/>
        </p:nvSpPr>
        <p:spPr>
          <a:xfrm>
            <a:off x="398584" y="3189033"/>
            <a:ext cx="14079416" cy="436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From Black-Box Models to Transparent Decisions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4820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79A3-6285-EA7B-A2B4-F0C9DCE1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EF8EC6-F255-C70E-3023-DC7EAEC5B16D}"/>
              </a:ext>
            </a:extLst>
          </p:cNvPr>
          <p:cNvSpPr/>
          <p:nvPr/>
        </p:nvSpPr>
        <p:spPr>
          <a:xfrm>
            <a:off x="793790" y="381000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36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0CCEE3-6042-A6A9-3891-B76B33DC9098}"/>
              </a:ext>
            </a:extLst>
          </p:cNvPr>
          <p:cNvSpPr/>
          <p:nvPr/>
        </p:nvSpPr>
        <p:spPr>
          <a:xfrm>
            <a:off x="793790" y="143006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9D6074-985D-ECFD-41A9-CC64CE8CCED8}"/>
              </a:ext>
            </a:extLst>
          </p:cNvPr>
          <p:cNvSpPr/>
          <p:nvPr/>
        </p:nvSpPr>
        <p:spPr>
          <a:xfrm>
            <a:off x="793790" y="178510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BB4AFD-62D3-1AAB-C8B6-84BCFD0B3499}"/>
              </a:ext>
            </a:extLst>
          </p:cNvPr>
          <p:cNvSpPr/>
          <p:nvPr/>
        </p:nvSpPr>
        <p:spPr>
          <a:xfrm>
            <a:off x="793790" y="1959412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Why Interpretability Matters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95C41F2-E8AE-183D-B7D2-B584B66A5047}"/>
              </a:ext>
            </a:extLst>
          </p:cNvPr>
          <p:cNvSpPr/>
          <p:nvPr/>
        </p:nvSpPr>
        <p:spPr>
          <a:xfrm>
            <a:off x="7428548" y="143006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20FFCDF-EFCF-D95B-39BF-71DEE8C305CC}"/>
              </a:ext>
            </a:extLst>
          </p:cNvPr>
          <p:cNvSpPr/>
          <p:nvPr/>
        </p:nvSpPr>
        <p:spPr>
          <a:xfrm>
            <a:off x="7428548" y="178510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5C44485-ABDB-D8CB-78F7-9276AAADB0B2}"/>
              </a:ext>
            </a:extLst>
          </p:cNvPr>
          <p:cNvSpPr/>
          <p:nvPr/>
        </p:nvSpPr>
        <p:spPr>
          <a:xfrm>
            <a:off x="7428548" y="1916906"/>
            <a:ext cx="4915852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LIME: Local Explanation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49AA9FB-4CAF-BC7C-90F0-1D48BD93C205}"/>
              </a:ext>
            </a:extLst>
          </p:cNvPr>
          <p:cNvSpPr/>
          <p:nvPr/>
        </p:nvSpPr>
        <p:spPr>
          <a:xfrm>
            <a:off x="793790" y="272831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735EFEC-254C-A190-497E-54797BC377D7}"/>
              </a:ext>
            </a:extLst>
          </p:cNvPr>
          <p:cNvSpPr/>
          <p:nvPr/>
        </p:nvSpPr>
        <p:spPr>
          <a:xfrm>
            <a:off x="793790" y="3083362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C6FBEA-485A-7F7D-47FB-5FEB6466C2AF}"/>
              </a:ext>
            </a:extLst>
          </p:cNvPr>
          <p:cNvSpPr/>
          <p:nvPr/>
        </p:nvSpPr>
        <p:spPr>
          <a:xfrm>
            <a:off x="793790" y="3257669"/>
            <a:ext cx="5149810" cy="3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How LIME Works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B65B506-59D4-7376-A944-4C46A5D3D0DA}"/>
              </a:ext>
            </a:extLst>
          </p:cNvPr>
          <p:cNvSpPr/>
          <p:nvPr/>
        </p:nvSpPr>
        <p:spPr>
          <a:xfrm>
            <a:off x="7428548" y="272831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64D1A4C-2B9B-4174-ACD2-FF1592E30587}"/>
              </a:ext>
            </a:extLst>
          </p:cNvPr>
          <p:cNvSpPr/>
          <p:nvPr/>
        </p:nvSpPr>
        <p:spPr>
          <a:xfrm>
            <a:off x="7428548" y="3083362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B2CEF56-AF19-B00B-757E-9F9AA779999A}"/>
              </a:ext>
            </a:extLst>
          </p:cNvPr>
          <p:cNvSpPr/>
          <p:nvPr/>
        </p:nvSpPr>
        <p:spPr>
          <a:xfrm>
            <a:off x="7428548" y="3257669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26178CF-9339-DE4A-28C3-77F3A415D7BD}"/>
              </a:ext>
            </a:extLst>
          </p:cNvPr>
          <p:cNvSpPr/>
          <p:nvPr/>
        </p:nvSpPr>
        <p:spPr>
          <a:xfrm>
            <a:off x="793790" y="422683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1EAC6A6-8C3F-4954-512B-A2B54B6C5FB6}"/>
              </a:ext>
            </a:extLst>
          </p:cNvPr>
          <p:cNvSpPr/>
          <p:nvPr/>
        </p:nvSpPr>
        <p:spPr>
          <a:xfrm>
            <a:off x="793790" y="4581882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B97DF43-3297-7260-5B91-2DAB55D3B09B}"/>
              </a:ext>
            </a:extLst>
          </p:cNvPr>
          <p:cNvSpPr/>
          <p:nvPr/>
        </p:nvSpPr>
        <p:spPr>
          <a:xfrm>
            <a:off x="793790" y="4756190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When to Use LIME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7E44A9EB-37D4-D3CC-6CA9-BE886EEF64E4}"/>
              </a:ext>
            </a:extLst>
          </p:cNvPr>
          <p:cNvSpPr/>
          <p:nvPr/>
        </p:nvSpPr>
        <p:spPr>
          <a:xfrm>
            <a:off x="7428548" y="3270186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LIME Implementation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6DFA16B1-6A6D-E449-B2C3-5B3B26C2C568}"/>
              </a:ext>
            </a:extLst>
          </p:cNvPr>
          <p:cNvSpPr/>
          <p:nvPr/>
        </p:nvSpPr>
        <p:spPr>
          <a:xfrm>
            <a:off x="7428547" y="4566642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B399EC45-7608-BF4F-96F3-D57F5F5EACFF}"/>
              </a:ext>
            </a:extLst>
          </p:cNvPr>
          <p:cNvSpPr/>
          <p:nvPr/>
        </p:nvSpPr>
        <p:spPr>
          <a:xfrm>
            <a:off x="7428547" y="4811568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SHAP: Global + Local Explanation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5F7B4E8E-7E63-124E-A4D0-9C605AEF0532}"/>
              </a:ext>
            </a:extLst>
          </p:cNvPr>
          <p:cNvSpPr/>
          <p:nvPr/>
        </p:nvSpPr>
        <p:spPr>
          <a:xfrm>
            <a:off x="7428548" y="423987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61A48F65-9960-09D7-F7AD-889530E219FC}"/>
              </a:ext>
            </a:extLst>
          </p:cNvPr>
          <p:cNvSpPr/>
          <p:nvPr/>
        </p:nvSpPr>
        <p:spPr>
          <a:xfrm>
            <a:off x="838200" y="549829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07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C24968C1-ABDF-15B0-CF88-81F295185DD3}"/>
              </a:ext>
            </a:extLst>
          </p:cNvPr>
          <p:cNvSpPr/>
          <p:nvPr/>
        </p:nvSpPr>
        <p:spPr>
          <a:xfrm>
            <a:off x="838200" y="5853336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4B70E2BD-41DE-2DA2-5201-454012CC1AC3}"/>
              </a:ext>
            </a:extLst>
          </p:cNvPr>
          <p:cNvSpPr/>
          <p:nvPr/>
        </p:nvSpPr>
        <p:spPr>
          <a:xfrm>
            <a:off x="838200" y="6027644"/>
            <a:ext cx="5378410" cy="50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How SHAP Works</a:t>
            </a:r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F8CFB441-D47D-6E29-1615-14152B7D26C7}"/>
              </a:ext>
            </a:extLst>
          </p:cNvPr>
          <p:cNvSpPr/>
          <p:nvPr/>
        </p:nvSpPr>
        <p:spPr>
          <a:xfrm>
            <a:off x="7467600" y="584900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8FA6D861-81F3-D849-70BE-33A381A31ACD}"/>
              </a:ext>
            </a:extLst>
          </p:cNvPr>
          <p:cNvSpPr/>
          <p:nvPr/>
        </p:nvSpPr>
        <p:spPr>
          <a:xfrm>
            <a:off x="7467600" y="6093930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SHAP Implementation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32BC5D34-A8B6-F853-8ECE-5244C512672C}"/>
              </a:ext>
            </a:extLst>
          </p:cNvPr>
          <p:cNvSpPr/>
          <p:nvPr/>
        </p:nvSpPr>
        <p:spPr>
          <a:xfrm>
            <a:off x="7467601" y="552223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08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296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6760" y="381000"/>
            <a:ext cx="13656055" cy="777008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Why Model Interpretability Matters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8153400" y="1905000"/>
            <a:ext cx="6477000" cy="632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50000"/>
              </a:lnSpc>
              <a:buNone/>
            </a:pPr>
            <a:r>
              <a:rPr lang="en-IN" sz="2000" b="1" dirty="0"/>
              <a:t>Goal:</a:t>
            </a:r>
            <a:r>
              <a:rPr lang="en-IN" sz="2000" dirty="0"/>
              <a:t> Shift the focus from merely achieving high </a:t>
            </a:r>
            <a:r>
              <a:rPr lang="en-IN" sz="2000" b="1" dirty="0"/>
              <a:t>accuracy</a:t>
            </a:r>
            <a:r>
              <a:rPr lang="en-IN" sz="2000" dirty="0"/>
              <a:t> to ensuring </a:t>
            </a:r>
            <a:r>
              <a:rPr lang="en-IN" sz="2000" b="1" dirty="0"/>
              <a:t>accountability, transparency, and responsible decision-making</a:t>
            </a:r>
            <a:r>
              <a:rPr lang="en-IN" sz="2000" dirty="0"/>
              <a:t> in model predictions.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5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Move from </a:t>
            </a:r>
            <a:r>
              <a:rPr lang="en-US" sz="2000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Accuracy</a:t>
            </a: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→ </a:t>
            </a:r>
            <a:r>
              <a:rPr lang="en-US" sz="2000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Accountability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18963A2-7D4C-694C-949C-E204364F1770}"/>
              </a:ext>
            </a:extLst>
          </p:cNvPr>
          <p:cNvSpPr/>
          <p:nvPr/>
        </p:nvSpPr>
        <p:spPr>
          <a:xfrm>
            <a:off x="746760" y="2209800"/>
            <a:ext cx="5791200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2000" dirty="0"/>
              <a:t>Modern machine learning models are highly</a:t>
            </a:r>
          </a:p>
          <a:p>
            <a:endParaRPr lang="en-IN" sz="2000" dirty="0"/>
          </a:p>
          <a:p>
            <a:r>
              <a:rPr lang="en-IN" sz="2000" dirty="0"/>
              <a:t>powerful but often lack interpretability.</a:t>
            </a:r>
          </a:p>
          <a:p>
            <a:br>
              <a:rPr lang="en-IN" sz="2000" dirty="0"/>
            </a:br>
            <a:r>
              <a:rPr lang="en-IN" sz="2000" b="1" dirty="0"/>
              <a:t>In sensitive domains such as healthcare:</a:t>
            </a:r>
          </a:p>
          <a:p>
            <a:endParaRPr lang="en-IN" sz="2000" b="1" dirty="0"/>
          </a:p>
          <a:p>
            <a:r>
              <a:rPr lang="en-IN" sz="2000" dirty="0"/>
              <a:t>Trust is essential</a:t>
            </a:r>
          </a:p>
          <a:p>
            <a:endParaRPr lang="en-IN" sz="2000" dirty="0"/>
          </a:p>
          <a:p>
            <a:r>
              <a:rPr lang="en-IN" sz="2000" dirty="0"/>
              <a:t>Decisions directly affect patient lives</a:t>
            </a:r>
          </a:p>
          <a:p>
            <a:endParaRPr lang="en-IN" sz="2000" dirty="0"/>
          </a:p>
          <a:p>
            <a:r>
              <a:rPr lang="en-IN" sz="2000" dirty="0"/>
              <a:t>Regulatory frameworks require transparency</a:t>
            </a:r>
          </a:p>
          <a:p>
            <a:pPr marL="0" indent="0" algn="l">
              <a:lnSpc>
                <a:spcPct val="250000"/>
              </a:lnSpc>
              <a:buNone/>
            </a:pP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640CE8B-DA68-30DB-59AC-1D34D1F3598C}"/>
              </a:ext>
            </a:extLst>
          </p:cNvPr>
          <p:cNvSpPr/>
          <p:nvPr/>
        </p:nvSpPr>
        <p:spPr>
          <a:xfrm>
            <a:off x="7010400" y="1524000"/>
            <a:ext cx="4495795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6AC9C1-8C14-9909-53AC-E35E46B33C9C}"/>
              </a:ext>
            </a:extLst>
          </p:cNvPr>
          <p:cNvSpPr/>
          <p:nvPr/>
        </p:nvSpPr>
        <p:spPr>
          <a:xfrm>
            <a:off x="7010400" y="2667000"/>
            <a:ext cx="4495795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6CE9DA-1932-87FC-D268-60D272018E58}"/>
              </a:ext>
            </a:extLst>
          </p:cNvPr>
          <p:cNvSpPr/>
          <p:nvPr/>
        </p:nvSpPr>
        <p:spPr>
          <a:xfrm>
            <a:off x="7010405" y="3886200"/>
            <a:ext cx="4495795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0B176E-BE40-8D24-E1E9-C0B7E8A673EE}"/>
              </a:ext>
            </a:extLst>
          </p:cNvPr>
          <p:cNvSpPr/>
          <p:nvPr/>
        </p:nvSpPr>
        <p:spPr>
          <a:xfrm>
            <a:off x="381000" y="3810000"/>
            <a:ext cx="4495795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96A9A0-4004-D6A1-4316-86C7E3D7A8D3}"/>
              </a:ext>
            </a:extLst>
          </p:cNvPr>
          <p:cNvSpPr/>
          <p:nvPr/>
        </p:nvSpPr>
        <p:spPr>
          <a:xfrm>
            <a:off x="381005" y="2667000"/>
            <a:ext cx="4495795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9F0751-20B3-70F2-D811-9142ECFF461A}"/>
              </a:ext>
            </a:extLst>
          </p:cNvPr>
          <p:cNvSpPr/>
          <p:nvPr/>
        </p:nvSpPr>
        <p:spPr>
          <a:xfrm>
            <a:off x="381000" y="1524000"/>
            <a:ext cx="4495795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74066-60ED-3A1F-0268-56F170B43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53069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Predicting Hospital Readmission: Data Snapshot</a:t>
            </a:r>
            <a:br>
              <a:rPr lang="en-US" sz="3600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73F602-F916-642A-EEF8-913DD7262703}"/>
              </a:ext>
            </a:extLst>
          </p:cNvPr>
          <p:cNvSpPr txBox="1"/>
          <p:nvPr/>
        </p:nvSpPr>
        <p:spPr>
          <a:xfrm>
            <a:off x="762000" y="685800"/>
            <a:ext cx="7315200" cy="536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Features include: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Inpatient Visits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Historical admission patterns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Lab Procedures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Diagnostic test frequency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Diagnosis Categories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Primary and secondary conditions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1800" i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Observation: Behavioural + Medical indicators together.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18154C-8A24-0667-08C9-6B9F2F840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200" y="5835854"/>
            <a:ext cx="14444050" cy="21892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B6BD76-CEBC-99E6-D6D7-5718AE36FEB4}"/>
              </a:ext>
            </a:extLst>
          </p:cNvPr>
          <p:cNvSpPr txBox="1"/>
          <p:nvPr/>
        </p:nvSpPr>
        <p:spPr>
          <a:xfrm>
            <a:off x="7229476" y="1439244"/>
            <a:ext cx="10229850" cy="352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Medications Count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Number of prescribed medications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Emergency Visits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ER admission history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Age Bands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Patient age groupings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AD464CC-621D-EA91-6E13-602B04547F34}"/>
              </a:ext>
            </a:extLst>
          </p:cNvPr>
          <p:cNvCxnSpPr>
            <a:cxnSpLocks/>
          </p:cNvCxnSpPr>
          <p:nvPr/>
        </p:nvCxnSpPr>
        <p:spPr>
          <a:xfrm>
            <a:off x="6553200" y="1066800"/>
            <a:ext cx="0" cy="38319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694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F1CAD-100C-87FF-1088-FB48D1BC4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13656055" cy="569387"/>
          </a:xfrm>
        </p:spPr>
        <p:txBody>
          <a:bodyPr/>
          <a:lstStyle/>
          <a:p>
            <a:r>
              <a:rPr lang="en-IN" sz="3600" dirty="0"/>
              <a:t>Variable Description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932CBAD-FB2B-7839-ADC3-4511C060E2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761285"/>
              </p:ext>
            </p:extLst>
          </p:nvPr>
        </p:nvGraphicFramePr>
        <p:xfrm>
          <a:off x="1333500" y="1295400"/>
          <a:ext cx="11963400" cy="59334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64706">
                  <a:extLst>
                    <a:ext uri="{9D8B030D-6E8A-4147-A177-3AD203B41FA5}">
                      <a16:colId xmlns:a16="http://schemas.microsoft.com/office/drawing/2014/main" val="2973340043"/>
                    </a:ext>
                  </a:extLst>
                </a:gridCol>
                <a:gridCol w="8598694">
                  <a:extLst>
                    <a:ext uri="{9D8B030D-6E8A-4147-A177-3AD203B41FA5}">
                      <a16:colId xmlns:a16="http://schemas.microsoft.com/office/drawing/2014/main" val="42795230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IN" b="1" dirty="0">
                          <a:effectLst/>
                          <a:latin typeface="PT Serif" panose="020A0603040505020204" pitchFamily="18" charset="0"/>
                        </a:rPr>
                        <a:t>Variable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IN" b="1">
                          <a:effectLst/>
                          <a:latin typeface="PT Serif" panose="020A06030405050202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5941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Unique patient identifier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400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US">
                          <a:effectLst/>
                          <a:latin typeface="PT Serif" panose="020A0603040505020204" pitchFamily="18" charset="0"/>
                        </a:rPr>
                        <a:t>Age group of the patient (categorical bands such as 50–60, 60–70,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324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time_in_hospital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US">
                          <a:effectLst/>
                          <a:latin typeface="PT Serif" panose="020A0603040505020204" pitchFamily="18" charset="0"/>
                        </a:rPr>
                        <a:t>Number of days the patient stayed in the hospital during the current visit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7120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IN" dirty="0" err="1">
                          <a:effectLst/>
                          <a:latin typeface="PT Serif" panose="020A0603040505020204" pitchFamily="18" charset="0"/>
                        </a:rPr>
                        <a:t>n_lab_procedures</a:t>
                      </a:r>
                      <a:endParaRPr lang="en-IN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US">
                          <a:effectLst/>
                          <a:latin typeface="PT Serif" panose="020A0603040505020204" pitchFamily="18" charset="0"/>
                        </a:rPr>
                        <a:t>Total number of laboratory tests conducted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959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n_procedures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US">
                          <a:effectLst/>
                          <a:latin typeface="PT Serif" panose="020A0603040505020204" pitchFamily="18" charset="0"/>
                        </a:rPr>
                        <a:t>Number of medical procedures performed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9851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IN" dirty="0" err="1">
                          <a:effectLst/>
                          <a:latin typeface="PT Serif" panose="020A0603040505020204" pitchFamily="18" charset="0"/>
                        </a:rPr>
                        <a:t>n_medications</a:t>
                      </a:r>
                      <a:endParaRPr lang="en-IN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US">
                          <a:effectLst/>
                          <a:latin typeface="PT Serif" panose="020A0603040505020204" pitchFamily="18" charset="0"/>
                        </a:rPr>
                        <a:t>Total medications prescribed to the patient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76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IN" dirty="0" err="1">
                          <a:effectLst/>
                          <a:latin typeface="PT Serif" panose="020A0603040505020204" pitchFamily="18" charset="0"/>
                        </a:rPr>
                        <a:t>n_outpatient</a:t>
                      </a:r>
                      <a:endParaRPr lang="en-IN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US">
                          <a:effectLst/>
                          <a:latin typeface="PT Serif" panose="020A0603040505020204" pitchFamily="18" charset="0"/>
                        </a:rPr>
                        <a:t>Number of outpatient visits in the past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62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n_inpatient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US" dirty="0">
                          <a:effectLst/>
                          <a:latin typeface="PT Serif" panose="020A0603040505020204" pitchFamily="18" charset="0"/>
                        </a:rPr>
                        <a:t>Number of previous inpatient admissions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1381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n_emergency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US">
                          <a:effectLst/>
                          <a:latin typeface="PT Serif" panose="020A0603040505020204" pitchFamily="18" charset="0"/>
                        </a:rPr>
                        <a:t>Number of emergency visits in the past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121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diagnosis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US">
                          <a:effectLst/>
                          <a:latin typeface="PT Serif" panose="020A0603040505020204" pitchFamily="18" charset="0"/>
                        </a:rPr>
                        <a:t>Primary diagnosis category (Circulatory, Injury, Digestive,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7034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glucose_test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US">
                          <a:effectLst/>
                          <a:latin typeface="PT Serif" panose="020A0603040505020204" pitchFamily="18" charset="0"/>
                        </a:rPr>
                        <a:t>Result of glucose test (normal / high / no test)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8726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A1Ctest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US">
                          <a:effectLst/>
                          <a:latin typeface="PT Serif" panose="020A0603040505020204" pitchFamily="18" charset="0"/>
                        </a:rPr>
                        <a:t>Hemoglobin A1C test result indicator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5115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change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US">
                          <a:effectLst/>
                          <a:latin typeface="PT Serif" panose="020A0603040505020204" pitchFamily="18" charset="0"/>
                        </a:rPr>
                        <a:t>Indicates whether medication was changed during visit (yes / no)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5920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diabetes_med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US" dirty="0">
                          <a:effectLst/>
                          <a:latin typeface="PT Serif" panose="020A0603040505020204" pitchFamily="18" charset="0"/>
                        </a:rPr>
                        <a:t>Indicates if patient is on diabetes medication (yes / no)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3500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readmitted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00000"/>
                        </a:lnSpc>
                      </a:pPr>
                      <a:r>
                        <a:rPr lang="en-US" b="1" dirty="0">
                          <a:effectLst/>
                          <a:latin typeface="PT Serif" panose="020A0603040505020204" pitchFamily="18" charset="0"/>
                        </a:rPr>
                        <a:t>Target Variable</a:t>
                      </a:r>
                      <a:r>
                        <a:rPr lang="en-US" dirty="0">
                          <a:effectLst/>
                          <a:latin typeface="PT Serif" panose="020A0603040505020204" pitchFamily="18" charset="0"/>
                        </a:rPr>
                        <a:t> – Whether the patient was readmitted (yes / no)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693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0846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59994-143D-F7CE-5458-E36725492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18463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</a:rPr>
              <a:t>Method Used: </a:t>
            </a:r>
            <a:r>
              <a:rPr lang="en-US" sz="3600" dirty="0" err="1">
                <a:solidFill>
                  <a:srgbClr val="020202"/>
                </a:solidFill>
              </a:rPr>
              <a:t>XGBoost</a:t>
            </a:r>
            <a:r>
              <a:rPr lang="en-US" sz="3600" dirty="0">
                <a:solidFill>
                  <a:srgbClr val="020202"/>
                </a:solidFill>
              </a:rPr>
              <a:t> Classifier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2CD60DBA-8D66-2B2F-23AC-9B6DE45F344E}"/>
              </a:ext>
            </a:extLst>
          </p:cNvPr>
          <p:cNvSpPr/>
          <p:nvPr/>
        </p:nvSpPr>
        <p:spPr>
          <a:xfrm>
            <a:off x="793790" y="381000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endParaRPr lang="en-US" sz="4650" dirty="0">
              <a:latin typeface="PT Serif" panose="020A0603040505020204" pitchFamily="18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1B550E5-B55A-DBC3-14A7-78D758344EA0}"/>
              </a:ext>
            </a:extLst>
          </p:cNvPr>
          <p:cNvSpPr/>
          <p:nvPr/>
        </p:nvSpPr>
        <p:spPr>
          <a:xfrm>
            <a:off x="793789" y="1692236"/>
            <a:ext cx="4766191" cy="2998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200" b="1" u="sng" dirty="0" err="1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XGBoost</a:t>
            </a:r>
            <a:r>
              <a:rPr lang="en-US" sz="2200" b="1" u="sng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 Classifier</a:t>
            </a:r>
            <a:endParaRPr lang="en-US" sz="2200" b="1" u="sng" dirty="0">
              <a:solidFill>
                <a:srgbClr val="020202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Why this algorithm?</a:t>
            </a:r>
            <a:endParaRPr lang="en-US" sz="2200" dirty="0"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2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Handles complex relationships</a:t>
            </a:r>
            <a:endParaRPr lang="en-US" sz="2200" dirty="0"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2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High predictive power</a:t>
            </a:r>
            <a:endParaRPr lang="en-US" sz="2200" dirty="0"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2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Acts as a "Black Box" → Needs Explanation</a:t>
            </a:r>
            <a:endParaRPr lang="en-US" sz="22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9C1ED7C-FB83-87FF-A305-BECA7D5C3FB5}"/>
              </a:ext>
            </a:extLst>
          </p:cNvPr>
          <p:cNvSpPr/>
          <p:nvPr/>
        </p:nvSpPr>
        <p:spPr>
          <a:xfrm>
            <a:off x="793790" y="2514481"/>
            <a:ext cx="4205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4B55D9B-350B-B0D4-36F1-DC336B885AAB}"/>
              </a:ext>
            </a:extLst>
          </p:cNvPr>
          <p:cNvSpPr/>
          <p:nvPr/>
        </p:nvSpPr>
        <p:spPr>
          <a:xfrm>
            <a:off x="793790" y="3081457"/>
            <a:ext cx="4205168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B09C77E-61D4-1CE5-B298-A29290BE0050}"/>
              </a:ext>
            </a:extLst>
          </p:cNvPr>
          <p:cNvSpPr/>
          <p:nvPr/>
        </p:nvSpPr>
        <p:spPr>
          <a:xfrm>
            <a:off x="6649639" y="4757903"/>
            <a:ext cx="2178987" cy="272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Prediction Output</a:t>
            </a: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03E9A6D-7DD0-BD63-6424-11520295E632}"/>
              </a:ext>
            </a:extLst>
          </p:cNvPr>
          <p:cNvSpPr/>
          <p:nvPr/>
        </p:nvSpPr>
        <p:spPr>
          <a:xfrm>
            <a:off x="6649639" y="3854027"/>
            <a:ext cx="2178987" cy="272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XGBoost Model</a:t>
            </a: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6C33CBE9-8844-B25D-994D-F73B5DDFC6FE}"/>
              </a:ext>
            </a:extLst>
          </p:cNvPr>
          <p:cNvSpPr/>
          <p:nvPr/>
        </p:nvSpPr>
        <p:spPr>
          <a:xfrm>
            <a:off x="6649639" y="2940928"/>
            <a:ext cx="2178987" cy="272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Input Data</a:t>
            </a: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B1755C-5514-2541-B10C-B80BAB33DA70}"/>
              </a:ext>
            </a:extLst>
          </p:cNvPr>
          <p:cNvSpPr txBox="1"/>
          <p:nvPr/>
        </p:nvSpPr>
        <p:spPr>
          <a:xfrm>
            <a:off x="8382000" y="1661756"/>
            <a:ext cx="7315200" cy="4326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500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Model achieved reasonable accuracy.</a:t>
            </a:r>
          </a:p>
          <a:p>
            <a:pPr algn="l">
              <a:lnSpc>
                <a:spcPct val="250000"/>
              </a:lnSpc>
            </a:pPr>
            <a:r>
              <a:rPr lang="en-US" sz="22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Key Question:</a:t>
            </a:r>
            <a:endParaRPr lang="en-US" sz="2200" dirty="0">
              <a:latin typeface="PT Serif" panose="020A0603040505020204" pitchFamily="18" charset="0"/>
            </a:endParaRPr>
          </a:p>
          <a:p>
            <a:pPr algn="l">
              <a:lnSpc>
                <a:spcPct val="250000"/>
              </a:lnSpc>
            </a:pPr>
            <a:r>
              <a:rPr lang="en-US" sz="2200" dirty="0">
                <a:solidFill>
                  <a:srgbClr val="FFFFFF"/>
                </a:solidFill>
                <a:highlight>
                  <a:srgbClr val="E04F00"/>
                </a:highlight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"Is accuracy alone enough to trust predictions?"</a:t>
            </a:r>
            <a:endParaRPr lang="en-US" sz="2200" dirty="0">
              <a:latin typeface="PT Serif" panose="020A0603040505020204" pitchFamily="18" charset="0"/>
            </a:endParaRPr>
          </a:p>
          <a:p>
            <a:pPr algn="l">
              <a:lnSpc>
                <a:spcPct val="250000"/>
              </a:lnSpc>
            </a:pPr>
            <a:r>
              <a:rPr lang="en-US" sz="22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This leads to </a:t>
            </a:r>
            <a:r>
              <a:rPr lang="en-US" sz="22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Explainable AI tools</a:t>
            </a: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.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5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83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716" y="327906"/>
            <a:ext cx="13656055" cy="997761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Introduction to LIME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9508" y="2931737"/>
            <a:ext cx="4164095" cy="4231063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64334" y="2983320"/>
            <a:ext cx="397682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Model-Agnostic</a:t>
            </a:r>
            <a:endParaRPr lang="en-US" dirty="0">
              <a:latin typeface="PT Serif" panose="020A06030405050202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Works with any model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T Serif" panose="020A0603040505020204" pitchFamily="18" charset="0"/>
              </a:rPr>
              <a:t>Compatible with black-box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T Serif" panose="020A0603040505020204" pitchFamily="18" charset="0"/>
              </a:rPr>
              <a:t>No need to access internal model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T Serif" panose="020A0603040505020204" pitchFamily="18" charset="0"/>
              </a:rPr>
              <a:t>Works with neural networks, ensembles, SVM,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T Serif" panose="020A0603040505020204" pitchFamily="18" charset="0"/>
            </a:endParaRPr>
          </a:p>
          <a:p>
            <a:r>
              <a:rPr lang="en-US" dirty="0">
                <a:latin typeface="PT Serif" panose="020A0603040505020204" pitchFamily="18" charset="0"/>
              </a:rPr>
              <a:t> Treats model as a prediction function only.</a:t>
            </a: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4742724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232665" y="2905790"/>
            <a:ext cx="3976821" cy="4257010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68258" y="2966907"/>
            <a:ext cx="3723974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Surrogate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T Serif" panose="020A0603040505020204" pitchFamily="18" charset="0"/>
              </a:rPr>
              <a:t>Generates synthetic data near the selected instance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T Serif" panose="020A0603040505020204" pitchFamily="18" charset="0"/>
              </a:rPr>
              <a:t>Fits an interpretable model (e.g., linear regression) locally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T Serif" panose="020A0603040505020204" pitchFamily="18" charset="0"/>
              </a:rPr>
              <a:t>Approximates complex decision boundary nearby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Creates simple model around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T Serif" panose="020A0603040505020204" pitchFamily="18" charset="0"/>
            </a:endParaRPr>
          </a:p>
          <a:p>
            <a:r>
              <a:rPr lang="en-US" dirty="0">
                <a:latin typeface="PT Serif" panose="020A0603040505020204" pitchFamily="18" charset="0"/>
              </a:rPr>
              <a:t>Builds a local approximation of the black-box model.</a:t>
            </a: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3655332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701985" y="2905789"/>
            <a:ext cx="3976821" cy="425701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 algn="l">
              <a:lnSpc>
                <a:spcPct val="200000"/>
              </a:lnSpc>
            </a:pPr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933843" y="2931738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Local Focus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Explains one prediction at a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T Serif" panose="020A0603040505020204" pitchFamily="18" charset="0"/>
              </a:rPr>
              <a:t>Identifies which features influenced this specific decision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T Serif" panose="020A0603040505020204" pitchFamily="18" charset="0"/>
              </a:rPr>
              <a:t>Does not explain overall model behavior</a:t>
            </a:r>
          </a:p>
          <a:p>
            <a:endParaRPr lang="en-US" dirty="0">
              <a:latin typeface="PT Serif" panose="020A0603040505020204" pitchFamily="18" charset="0"/>
            </a:endParaRPr>
          </a:p>
          <a:p>
            <a:r>
              <a:rPr lang="en-US" dirty="0">
                <a:latin typeface="PT Serif" panose="020A0603040505020204" pitchFamily="18" charset="0"/>
              </a:rPr>
              <a:t> Answers: </a:t>
            </a:r>
            <a:r>
              <a:rPr lang="en-US" i="1" dirty="0">
                <a:latin typeface="PT Serif" panose="020A0603040505020204" pitchFamily="18" charset="0"/>
              </a:rPr>
              <a:t>Why did the model predict this for this instance?</a:t>
            </a: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D7C590-8D16-0ED7-FC16-BD2B6BA68793}"/>
              </a:ext>
            </a:extLst>
          </p:cNvPr>
          <p:cNvSpPr txBox="1"/>
          <p:nvPr/>
        </p:nvSpPr>
        <p:spPr>
          <a:xfrm>
            <a:off x="701985" y="1561046"/>
            <a:ext cx="7315200" cy="619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Local Interpretable Model-agnostic Explanations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148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A69ED-B926-16DB-CF50-616BE4491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42769"/>
            <a:ext cx="13656055" cy="571631"/>
          </a:xfrm>
        </p:spPr>
        <p:txBody>
          <a:bodyPr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How LIME Works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D7E90F-852D-B7FB-AA40-6D03F55B29F3}"/>
              </a:ext>
            </a:extLst>
          </p:cNvPr>
          <p:cNvSpPr txBox="1"/>
          <p:nvPr/>
        </p:nvSpPr>
        <p:spPr>
          <a:xfrm>
            <a:off x="1905000" y="1040260"/>
            <a:ext cx="7315200" cy="7189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Pick Data Point</a:t>
            </a: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Select the prediction to explain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Generate Synthetic Data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Create similar data around it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Observe Predictions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Run model on synthetic samples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Fit Simple Model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Use linear regression locally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Identify Features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Find top influencing factors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C3EB768B-70E3-9C02-98DF-F0C11D3105AD}"/>
              </a:ext>
            </a:extLst>
          </p:cNvPr>
          <p:cNvSpPr/>
          <p:nvPr/>
        </p:nvSpPr>
        <p:spPr>
          <a:xfrm>
            <a:off x="990600" y="1371601"/>
            <a:ext cx="762000" cy="5486400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761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>
            <a:extLst>
              <a:ext uri="{FF2B5EF4-FFF2-40B4-BE49-F238E27FC236}">
                <a16:creationId xmlns:a16="http://schemas.microsoft.com/office/drawing/2014/main" id="{B60AFB3A-3C89-B0D5-7DF4-BBBC0DEF83EF}"/>
              </a:ext>
            </a:extLst>
          </p:cNvPr>
          <p:cNvSpPr/>
          <p:nvPr/>
        </p:nvSpPr>
        <p:spPr>
          <a:xfrm>
            <a:off x="685800" y="1981200"/>
            <a:ext cx="7467599" cy="6019800"/>
          </a:xfrm>
          <a:prstGeom prst="roundRect">
            <a:avLst>
              <a:gd name="adj" fmla="val 857"/>
            </a:avLst>
          </a:prstGeom>
          <a:solidFill>
            <a:srgbClr val="F2F2F2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AA34AB-82AD-5A1C-DAC9-54A9A9B4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400"/>
            <a:ext cx="8308675" cy="950581"/>
          </a:xfrm>
        </p:spPr>
        <p:txBody>
          <a:bodyPr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LIME Implementation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81FFF0-4CA2-49EC-F5F6-355FBF7303C5}"/>
              </a:ext>
            </a:extLst>
          </p:cNvPr>
          <p:cNvSpPr txBox="1"/>
          <p:nvPr/>
        </p:nvSpPr>
        <p:spPr>
          <a:xfrm>
            <a:off x="914400" y="1371600"/>
            <a:ext cx="7086600" cy="7769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Short code snippet: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explainer = </a:t>
            </a:r>
            <a:r>
              <a:rPr lang="en-US" sz="1800" dirty="0" err="1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LimeTabularExplainer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(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X_train.values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feature_names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 err="1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X.columns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class_names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=['No', 'Yes'],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    mode='classification’)</a:t>
            </a: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exp = </a:t>
            </a:r>
            <a:r>
              <a:rPr lang="en-US" sz="1800" dirty="0" err="1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explainer.explain_instance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(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X_test.iloc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[0].values, #[0] is for the first case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model.predict_proba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 err="1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exp.show_in_notebook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F6067B-8A17-6181-26C6-C2562D0BE83C}"/>
              </a:ext>
            </a:extLst>
          </p:cNvPr>
          <p:cNvSpPr txBox="1"/>
          <p:nvPr/>
        </p:nvSpPr>
        <p:spPr>
          <a:xfrm>
            <a:off x="8839200" y="2819400"/>
            <a:ext cx="54864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Purpose: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Generates feature contribution chart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Shows probability split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9108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AE109-70D3-92CC-7D32-CB2DE0D93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LIME Output Interpretation</a:t>
            </a:r>
            <a:br>
              <a:rPr lang="en-US" sz="3600" dirty="0"/>
            </a:br>
            <a:endParaRPr lang="en-IN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17120B-664C-2FB6-9E0E-BCA46AD5F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16" y="1093418"/>
            <a:ext cx="8992033" cy="35680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656C18-1A32-7478-555F-E756B1205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16" y="4629098"/>
            <a:ext cx="8744487" cy="35680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E4225D-13D5-EE88-1F84-5114924F1C43}"/>
              </a:ext>
            </a:extLst>
          </p:cNvPr>
          <p:cNvSpPr txBox="1"/>
          <p:nvPr/>
        </p:nvSpPr>
        <p:spPr>
          <a:xfrm>
            <a:off x="1981200" y="2488921"/>
            <a:ext cx="3880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T Serif" panose="020A0603040505020204" pitchFamily="18" charset="0"/>
              </a:rPr>
              <a:t>CASE 1</a:t>
            </a:r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6BCF62-E547-F0B7-3666-01B6F7FEE679}"/>
              </a:ext>
            </a:extLst>
          </p:cNvPr>
          <p:cNvSpPr txBox="1"/>
          <p:nvPr/>
        </p:nvSpPr>
        <p:spPr>
          <a:xfrm>
            <a:off x="1828800" y="6060017"/>
            <a:ext cx="3880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T Serif" panose="020A0603040505020204" pitchFamily="18" charset="0"/>
              </a:rPr>
              <a:t>CASE 2</a:t>
            </a:r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A99192DE-5CCC-4EF4-E139-445DB6793887}"/>
              </a:ext>
            </a:extLst>
          </p:cNvPr>
          <p:cNvSpPr/>
          <p:nvPr/>
        </p:nvSpPr>
        <p:spPr>
          <a:xfrm>
            <a:off x="1362408" y="432408"/>
            <a:ext cx="737235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endParaRPr lang="en-US" sz="4650" dirty="0">
              <a:latin typeface="PT Serif" panose="020A0603040505020204" pitchFamily="18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8E37330-1452-7446-AF12-17A36CE3D8F0}"/>
              </a:ext>
            </a:extLst>
          </p:cNvPr>
          <p:cNvSpPr/>
          <p:nvPr/>
        </p:nvSpPr>
        <p:spPr>
          <a:xfrm>
            <a:off x="10957993" y="1969811"/>
            <a:ext cx="3825748" cy="445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Blue Bars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Push prediction toward 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NO</a:t>
            </a: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Orange Bars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Push prediction toward 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YES</a:t>
            </a: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Bar Length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Shows strength of influence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601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1084" y="59574"/>
            <a:ext cx="13656055" cy="997761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SHAP: Global + Local Explanation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9508" y="2807138"/>
            <a:ext cx="4351692" cy="328886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20702" y="3059520"/>
            <a:ext cx="397682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Individual Prediction Impact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Explain specific predictions locally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4618124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98113" y="2858720"/>
            <a:ext cx="3818573" cy="3241385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68260" y="3059520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Game Theory Foundation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Based on Shapley values from cooperative game theory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3530732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690057" y="2858720"/>
            <a:ext cx="3976821" cy="328886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>
              <a:lnSpc>
                <a:spcPct val="200000"/>
              </a:lnSpc>
            </a:pPr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38200" y="3094486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Overall Model Behaviour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Understand how the model works globally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E76F73-71A7-48C5-39AA-C99B5F67BB7B}"/>
              </a:ext>
            </a:extLst>
          </p:cNvPr>
          <p:cNvSpPr txBox="1"/>
          <p:nvPr/>
        </p:nvSpPr>
        <p:spPr>
          <a:xfrm>
            <a:off x="681084" y="1364580"/>
            <a:ext cx="7315200" cy="672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200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SHAP</a:t>
            </a:r>
            <a:r>
              <a:rPr lang="en-US" sz="22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= Shapley Additive Explanations</a:t>
            </a:r>
            <a:endParaRPr lang="en-US" sz="22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584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D3901-DDAB-194A-B185-732703C42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123384"/>
          </a:xfrm>
        </p:spPr>
        <p:txBody>
          <a:bodyPr/>
          <a:lstStyle/>
          <a:p>
            <a:r>
              <a:rPr lang="en-IN" sz="3600" dirty="0"/>
              <a:t>Game Theory Based (SHAP)</a:t>
            </a:r>
            <a:br>
              <a:rPr lang="en-IN" sz="3600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F4F21-7427-E446-A3CC-259481662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1586462"/>
            <a:ext cx="13411707" cy="5355312"/>
          </a:xfrm>
        </p:spPr>
        <p:txBody>
          <a:bodyPr/>
          <a:lstStyle/>
          <a:p>
            <a:endParaRPr lang="en-IN" sz="1800" dirty="0"/>
          </a:p>
          <a:p>
            <a:r>
              <a:rPr lang="en-IN" sz="1800" dirty="0"/>
              <a:t>Treats each </a:t>
            </a:r>
            <a:r>
              <a:rPr lang="en-IN" sz="1800" b="1" dirty="0"/>
              <a:t>feature as a player</a:t>
            </a:r>
            <a:r>
              <a:rPr lang="en-IN" sz="1800" dirty="0"/>
              <a:t> in a cooperative game and the </a:t>
            </a:r>
            <a:r>
              <a:rPr lang="en-IN" sz="1800" b="1" dirty="0"/>
              <a:t>model prediction as the payout</a:t>
            </a:r>
            <a:r>
              <a:rPr lang="en-IN" sz="1800" dirty="0"/>
              <a:t>.</a:t>
            </a:r>
          </a:p>
          <a:p>
            <a:br>
              <a:rPr lang="en-IN" sz="1800" dirty="0"/>
            </a:br>
            <a:r>
              <a:rPr lang="en-IN" sz="1800" b="1" dirty="0"/>
              <a:t>Shapley values</a:t>
            </a:r>
            <a:r>
              <a:rPr lang="en-IN" sz="1800" dirty="0"/>
              <a:t> distribute the prediction fairly among features based on their </a:t>
            </a:r>
            <a:r>
              <a:rPr lang="en-IN" sz="1800" b="1" dirty="0"/>
              <a:t>average marginal contribution across</a:t>
            </a:r>
          </a:p>
          <a:p>
            <a:endParaRPr lang="en-IN" sz="1800" b="1" dirty="0"/>
          </a:p>
          <a:p>
            <a:r>
              <a:rPr lang="en-IN" sz="1800" b="1" dirty="0"/>
              <a:t>all possible feature combinations</a:t>
            </a:r>
            <a:r>
              <a:rPr lang="en-IN" sz="1800" dirty="0"/>
              <a:t>.</a:t>
            </a:r>
          </a:p>
          <a:p>
            <a:endParaRPr lang="en-IN" sz="1800" dirty="0"/>
          </a:p>
          <a:p>
            <a:r>
              <a:rPr lang="en-IN" sz="1800" b="1" dirty="0"/>
              <a:t>Example:</a:t>
            </a:r>
          </a:p>
          <a:p>
            <a:br>
              <a:rPr lang="en-IN" sz="1800" dirty="0"/>
            </a:br>
            <a:r>
              <a:rPr lang="en-IN" sz="1800" dirty="0"/>
              <a:t>If the </a:t>
            </a:r>
            <a:r>
              <a:rPr lang="en-IN" sz="1800" b="1" dirty="0"/>
              <a:t>base prediction = 0.40</a:t>
            </a:r>
            <a:r>
              <a:rPr lang="en-IN" sz="1800" dirty="0"/>
              <a:t> and the </a:t>
            </a:r>
            <a:r>
              <a:rPr lang="en-IN" sz="1800" b="1" dirty="0"/>
              <a:t>final prediction = 0.70</a:t>
            </a:r>
            <a:r>
              <a:rPr lang="en-IN" sz="1800" dirty="0"/>
              <a:t>, the increase of </a:t>
            </a:r>
            <a:r>
              <a:rPr lang="en-IN" sz="1800" b="1" dirty="0"/>
              <a:t>0.30</a:t>
            </a:r>
            <a:r>
              <a:rPr lang="en-IN" sz="1800" dirty="0"/>
              <a:t> is attributed to features such as:</a:t>
            </a:r>
          </a:p>
          <a:p>
            <a:br>
              <a:rPr lang="en-IN" sz="1800" dirty="0"/>
            </a:br>
            <a:r>
              <a:rPr lang="en-IN" sz="1800" dirty="0"/>
              <a:t>Debt ratio </a:t>
            </a:r>
            <a:r>
              <a:rPr lang="en-IN" sz="1800" b="1" dirty="0"/>
              <a:t>+0.18</a:t>
            </a:r>
            <a:r>
              <a:rPr lang="en-IN" sz="1800" dirty="0"/>
              <a:t>, Low income </a:t>
            </a:r>
            <a:r>
              <a:rPr lang="en-IN" sz="1800" b="1" dirty="0"/>
              <a:t>+0.09</a:t>
            </a:r>
            <a:r>
              <a:rPr lang="en-IN" sz="1800" dirty="0"/>
              <a:t>, Age </a:t>
            </a:r>
            <a:r>
              <a:rPr lang="en-IN" sz="1800" b="1" dirty="0"/>
              <a:t>+0.02</a:t>
            </a:r>
            <a:r>
              <a:rPr lang="en-IN" sz="1800" dirty="0"/>
              <a:t>, Employment years </a:t>
            </a:r>
            <a:r>
              <a:rPr lang="en-IN" sz="1800" b="1" dirty="0"/>
              <a:t>+0.01</a:t>
            </a:r>
            <a:r>
              <a:rPr lang="en-IN" sz="1800" dirty="0"/>
              <a:t>.</a:t>
            </a:r>
          </a:p>
          <a:p>
            <a:endParaRPr lang="en-IN" sz="1800" dirty="0"/>
          </a:p>
          <a:p>
            <a:r>
              <a:rPr lang="en-IN" sz="1800" dirty="0"/>
              <a:t>So:</a:t>
            </a:r>
          </a:p>
          <a:p>
            <a:br>
              <a:rPr lang="en-IN" sz="1800" dirty="0"/>
            </a:br>
            <a:r>
              <a:rPr lang="en-IN" sz="1800" b="1" dirty="0"/>
              <a:t>0.40 + 0.18 + 0.09 + 0.02 + 0.01 = 0.70</a:t>
            </a:r>
          </a:p>
          <a:p>
            <a:endParaRPr lang="en-IN" sz="1800" dirty="0"/>
          </a:p>
          <a:p>
            <a:r>
              <a:rPr lang="en-IN" sz="1800" b="1" dirty="0"/>
              <a:t>Interpretation:</a:t>
            </a:r>
            <a:r>
              <a:rPr lang="en-IN" sz="1800" dirty="0"/>
              <a:t> Each feature receives a fair share of the prediction change based on its contribution.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44614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227EB-3A45-20AE-86A8-1E9187D1B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BBF3A-5114-DB4C-4C73-D2B040C77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42769"/>
            <a:ext cx="13656055" cy="571631"/>
          </a:xfrm>
        </p:spPr>
        <p:txBody>
          <a:bodyPr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How SHAP Works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6AE2AD-611C-8164-AB6C-B0CB17753F80}"/>
              </a:ext>
            </a:extLst>
          </p:cNvPr>
          <p:cNvSpPr txBox="1"/>
          <p:nvPr/>
        </p:nvSpPr>
        <p:spPr>
          <a:xfrm>
            <a:off x="1905000" y="914400"/>
            <a:ext cx="7315200" cy="7347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Pick Data Point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Select the prediction to explain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Compute Base Value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Calculate the average model prediction across the dataset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Create Feature Coalitions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Generate different combinations of features (subsets)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Measure Marginal Contribution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Compare model output with and without each feature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Calculate Shapley Values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Average each feature’s contribution across all possible permutations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Sum Contributions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Base Value + Sum of SHAP values = Final Prediction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Visualize Explanation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Display results using force plot, summary plot, or waterfall plot</a:t>
            </a:r>
            <a:endParaRPr lang="en-US" sz="16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3B06D20F-2984-DC19-FF14-A48F7FE273C1}"/>
              </a:ext>
            </a:extLst>
          </p:cNvPr>
          <p:cNvSpPr/>
          <p:nvPr/>
        </p:nvSpPr>
        <p:spPr>
          <a:xfrm>
            <a:off x="990600" y="1219199"/>
            <a:ext cx="609600" cy="6667631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653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>
            <a:extLst>
              <a:ext uri="{FF2B5EF4-FFF2-40B4-BE49-F238E27FC236}">
                <a16:creationId xmlns:a16="http://schemas.microsoft.com/office/drawing/2014/main" id="{B60AFB3A-3C89-B0D5-7DF4-BBBC0DEF83EF}"/>
              </a:ext>
            </a:extLst>
          </p:cNvPr>
          <p:cNvSpPr/>
          <p:nvPr/>
        </p:nvSpPr>
        <p:spPr>
          <a:xfrm>
            <a:off x="685800" y="2209800"/>
            <a:ext cx="11599985" cy="2133600"/>
          </a:xfrm>
          <a:prstGeom prst="roundRect">
            <a:avLst>
              <a:gd name="adj" fmla="val 857"/>
            </a:avLst>
          </a:prstGeom>
          <a:solidFill>
            <a:srgbClr val="F2F2F2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AA34AB-82AD-5A1C-DAC9-54A9A9B4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400"/>
            <a:ext cx="8308675" cy="687048"/>
          </a:xfrm>
        </p:spPr>
        <p:txBody>
          <a:bodyPr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SHAP Implementation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81FFF0-4CA2-49EC-F5F6-355FBF7303C5}"/>
              </a:ext>
            </a:extLst>
          </p:cNvPr>
          <p:cNvSpPr txBox="1"/>
          <p:nvPr/>
        </p:nvSpPr>
        <p:spPr>
          <a:xfrm>
            <a:off x="914400" y="1371600"/>
            <a:ext cx="12801600" cy="6861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Short code snippet:</a:t>
            </a:r>
          </a:p>
          <a:p>
            <a:pPr marL="0" indent="0" algn="l">
              <a:lnSpc>
                <a:spcPct val="200000"/>
              </a:lnSpc>
              <a:buNone/>
            </a:pPr>
            <a:endParaRPr lang="en-US" sz="105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explainer =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shap.Explainer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(model)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shap_values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</a:t>
            </a:r>
            <a:r>
              <a:rPr lang="en-US">
                <a:solidFill>
                  <a:srgbClr val="383838"/>
                </a:solidFill>
                <a:latin typeface="PT Serif" panose="020A0603040505020204" pitchFamily="18" charset="0"/>
              </a:rPr>
              <a:t>= explainers(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X_test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)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shap.summary_plot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(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shap_values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,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X_test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)</a:t>
            </a:r>
          </a:p>
          <a:p>
            <a:pPr algn="l">
              <a:lnSpc>
                <a:spcPct val="200000"/>
              </a:lnSpc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  <a:ea typeface="DM Sans" pitchFamily="34" charset="-122"/>
              <a:cs typeface="DM Sans" pitchFamily="34" charset="-120"/>
            </a:endParaRPr>
          </a:p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Purpose: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Shows feature importance</a:t>
            </a: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    Ranks features by impact on predictions</a:t>
            </a:r>
            <a:endParaRPr lang="en-US" sz="1800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Displays direction of impact</a:t>
            </a: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    Reveals whether features increase or decrease risk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306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B30BFAE-CFEA-52EA-CD84-452343EE0BAE}"/>
              </a:ext>
            </a:extLst>
          </p:cNvPr>
          <p:cNvSpPr/>
          <p:nvPr/>
        </p:nvSpPr>
        <p:spPr>
          <a:xfrm>
            <a:off x="533400" y="1828800"/>
            <a:ext cx="3276600" cy="1676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DD00AC-93CE-CC2D-06B6-494667069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49" y="404440"/>
            <a:ext cx="13656055" cy="1184940"/>
          </a:xfrm>
        </p:spPr>
        <p:txBody>
          <a:bodyPr/>
          <a:lstStyle/>
          <a:p>
            <a:pPr algn="l"/>
            <a:r>
              <a:rPr lang="en-US" sz="40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SHAP Output Interpretation</a:t>
            </a:r>
            <a:br>
              <a:rPr lang="en-US" sz="4000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A4ED7-0E6B-5322-F130-153014624623}"/>
              </a:ext>
            </a:extLst>
          </p:cNvPr>
          <p:cNvSpPr txBox="1"/>
          <p:nvPr/>
        </p:nvSpPr>
        <p:spPr>
          <a:xfrm>
            <a:off x="425294" y="1155159"/>
            <a:ext cx="7315200" cy="434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Beeswarm plot visual guide:</a:t>
            </a:r>
            <a:endParaRPr lang="en-US" sz="1800" dirty="0">
              <a:latin typeface="PT Serif" panose="020A060304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E7DC1D-3EFB-0734-D745-923887201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55169" y="359144"/>
            <a:ext cx="6762886" cy="78704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AAFA89-6033-D786-BCFA-D85BED6E363A}"/>
              </a:ext>
            </a:extLst>
          </p:cNvPr>
          <p:cNvSpPr txBox="1"/>
          <p:nvPr/>
        </p:nvSpPr>
        <p:spPr>
          <a:xfrm>
            <a:off x="339969" y="6248400"/>
            <a:ext cx="65942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Insight: </a:t>
            </a:r>
            <a:r>
              <a:rPr lang="en-IN" sz="2000" dirty="0" err="1"/>
              <a:t>n_inpatient</a:t>
            </a:r>
            <a:r>
              <a:rPr lang="en-IN" sz="2000" dirty="0"/>
              <a:t> </a:t>
            </a:r>
            <a:r>
              <a:rPr lang="en-US" sz="2000" dirty="0"/>
              <a:t>(Number of previous inpatient admissions)</a:t>
            </a:r>
            <a:r>
              <a:rPr lang="en-IN" sz="2000" dirty="0"/>
              <a:t> </a:t>
            </a: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dominate decisions.</a:t>
            </a:r>
            <a:endParaRPr lang="en-US" sz="2000" dirty="0">
              <a:latin typeface="PT Serif" panose="020A060304050502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876725-03FC-7FBB-46C6-6FF06616D24B}"/>
              </a:ext>
            </a:extLst>
          </p:cNvPr>
          <p:cNvSpPr txBox="1"/>
          <p:nvPr/>
        </p:nvSpPr>
        <p:spPr>
          <a:xfrm>
            <a:off x="838200" y="2071230"/>
            <a:ext cx="2667000" cy="143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Right Side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Higher readmission risk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72B708-ABA2-3417-9E74-9994D9784510}"/>
              </a:ext>
            </a:extLst>
          </p:cNvPr>
          <p:cNvSpPr/>
          <p:nvPr/>
        </p:nvSpPr>
        <p:spPr>
          <a:xfrm>
            <a:off x="4191000" y="1828800"/>
            <a:ext cx="3276600" cy="1676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FD5BBB-3272-DABC-7E1B-E4FF96D2BB4B}"/>
              </a:ext>
            </a:extLst>
          </p:cNvPr>
          <p:cNvSpPr txBox="1"/>
          <p:nvPr/>
        </p:nvSpPr>
        <p:spPr>
          <a:xfrm>
            <a:off x="4495800" y="2071230"/>
            <a:ext cx="2667000" cy="143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Left Side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Lower risk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62FEA0-65A5-9A50-7B05-AA203126599C}"/>
              </a:ext>
            </a:extLst>
          </p:cNvPr>
          <p:cNvSpPr/>
          <p:nvPr/>
        </p:nvSpPr>
        <p:spPr>
          <a:xfrm>
            <a:off x="533400" y="3886200"/>
            <a:ext cx="3276600" cy="1676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D844B3-CB77-E452-55BA-FEC207680187}"/>
              </a:ext>
            </a:extLst>
          </p:cNvPr>
          <p:cNvSpPr txBox="1"/>
          <p:nvPr/>
        </p:nvSpPr>
        <p:spPr>
          <a:xfrm>
            <a:off x="838200" y="4128630"/>
            <a:ext cx="2667000" cy="143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Red Dots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High feature values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DA8F42-6053-FB17-4E64-70DCCFF63427}"/>
              </a:ext>
            </a:extLst>
          </p:cNvPr>
          <p:cNvSpPr/>
          <p:nvPr/>
        </p:nvSpPr>
        <p:spPr>
          <a:xfrm>
            <a:off x="4191000" y="3886200"/>
            <a:ext cx="3276600" cy="1676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E490EA-F1C6-9F0F-E6AA-C1AA0BD74E0B}"/>
              </a:ext>
            </a:extLst>
          </p:cNvPr>
          <p:cNvSpPr txBox="1"/>
          <p:nvPr/>
        </p:nvSpPr>
        <p:spPr>
          <a:xfrm>
            <a:off x="4495800" y="4128630"/>
            <a:ext cx="2667000" cy="143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4. Blue Dots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Low feature values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832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844C-6C9D-F7A9-AF83-99D447373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850741"/>
            <a:ext cx="13656055" cy="667812"/>
          </a:xfrm>
        </p:spPr>
        <p:txBody>
          <a:bodyPr/>
          <a:lstStyle/>
          <a:p>
            <a:pPr marL="0" indent="0" algn="l">
              <a:lnSpc>
                <a:spcPts val="565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LIME vs SHAP: Quick Comparison</a:t>
            </a:r>
            <a:endParaRPr lang="en-US" sz="36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6FAD8A7-E671-F19F-40D5-16C95F6B4BDD}"/>
              </a:ext>
            </a:extLst>
          </p:cNvPr>
          <p:cNvSpPr txBox="1">
            <a:spLocks/>
          </p:cNvSpPr>
          <p:nvPr/>
        </p:nvSpPr>
        <p:spPr>
          <a:xfrm>
            <a:off x="487172" y="304800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ea typeface="+mj-ea"/>
                <a:cs typeface="Lucida Sans Unicode"/>
              </a:defRPr>
            </a:lvl1pPr>
          </a:lstStyle>
          <a:p>
            <a:endParaRPr lang="en-IN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CDD8641-59F6-D122-E657-FBB6E2EE9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240465"/>
              </p:ext>
            </p:extLst>
          </p:nvPr>
        </p:nvGraphicFramePr>
        <p:xfrm>
          <a:off x="2057399" y="2067653"/>
          <a:ext cx="10515600" cy="457930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2093816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2803325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493347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Aspect</a:t>
                      </a:r>
                      <a:endParaRPr lang="en-US" sz="2200" dirty="0">
                        <a:latin typeface="PT Serif" panose="020A06030405050202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sz="22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LIME</a:t>
                      </a:r>
                      <a:endParaRPr lang="en-US" sz="2200" dirty="0">
                        <a:latin typeface="PT Serif" panose="020A06030405050202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sz="22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SHAP</a:t>
                      </a:r>
                      <a:endParaRPr lang="en-US" sz="2200" dirty="0">
                        <a:latin typeface="PT Serif" panose="020A06030405050202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sz="22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628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Scope</a:t>
                      </a:r>
                      <a:endParaRPr lang="en-US" sz="2200" dirty="0">
                        <a:latin typeface="PT Serif" panose="020A06030405050202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sz="22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Local</a:t>
                      </a:r>
                      <a:endParaRPr lang="en-US" sz="22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Global + Local</a:t>
                      </a:r>
                      <a:endParaRPr lang="en-US" sz="2200" dirty="0">
                        <a:latin typeface="PT Serif" panose="020A06030405050202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sz="22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49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Best For</a:t>
                      </a:r>
                      <a:endParaRPr lang="en-US" sz="2200" dirty="0">
                        <a:latin typeface="PT Serif" panose="020A06030405050202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sz="22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Single case</a:t>
                      </a:r>
                      <a:endParaRPr lang="en-US" sz="2200" dirty="0">
                        <a:latin typeface="PT Serif" panose="020A06030405050202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sz="22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Overall model</a:t>
                      </a:r>
                      <a:endParaRPr lang="en-US" sz="2200" dirty="0">
                        <a:latin typeface="PT Serif" panose="020A06030405050202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sz="22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745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Speed</a:t>
                      </a:r>
                      <a:endParaRPr lang="en-US" sz="2200" dirty="0">
                        <a:latin typeface="PT Serif" panose="020A06030405050202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sz="22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Faster</a:t>
                      </a:r>
                      <a:endParaRPr lang="en-US" sz="2200" dirty="0">
                        <a:latin typeface="PT Serif" panose="020A06030405050202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sz="22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Slightly slower</a:t>
                      </a:r>
                      <a:endParaRPr lang="en-US" sz="2200" dirty="0">
                        <a:latin typeface="PT Serif" panose="020A06030405050202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sz="22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55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Stability</a:t>
                      </a:r>
                      <a:endParaRPr lang="en-US" sz="2200" dirty="0">
                        <a:latin typeface="PT Serif" panose="020A06030405050202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sz="22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Medium</a:t>
                      </a:r>
                      <a:endParaRPr lang="en-US" sz="2200" dirty="0">
                        <a:latin typeface="PT Serif" panose="020A06030405050202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sz="22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High</a:t>
                      </a:r>
                      <a:endParaRPr lang="en-US" sz="2200" dirty="0">
                        <a:latin typeface="PT Serif" panose="020A06030405050202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sz="22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433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8704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8246" y="655796"/>
            <a:ext cx="13656055" cy="777008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algn="l"/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737A13B1-CF3F-CF16-B792-8B7BF683C402}"/>
              </a:ext>
            </a:extLst>
          </p:cNvPr>
          <p:cNvSpPr/>
          <p:nvPr/>
        </p:nvSpPr>
        <p:spPr>
          <a:xfrm>
            <a:off x="5249509" y="2121338"/>
            <a:ext cx="4123092" cy="328886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3318EC43-9BE9-5F6E-9AF5-9490E47870A0}"/>
              </a:ext>
            </a:extLst>
          </p:cNvPr>
          <p:cNvSpPr/>
          <p:nvPr/>
        </p:nvSpPr>
        <p:spPr>
          <a:xfrm>
            <a:off x="5520702" y="2373720"/>
            <a:ext cx="3851899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  <a:buSzPct val="100000"/>
            </a:pPr>
            <a:r>
              <a:rPr lang="en-US" sz="2400" b="1" u="sng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SHAP</a:t>
            </a:r>
          </a:p>
          <a:p>
            <a:pPr algn="l">
              <a:lnSpc>
                <a:spcPct val="200000"/>
              </a:lnSpc>
              <a:buSzPct val="100000"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SHAP answers </a:t>
            </a:r>
            <a:r>
              <a:rPr lang="en-US" sz="2400" dirty="0">
                <a:solidFill>
                  <a:srgbClr val="E04F00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"How does the model think?"</a:t>
            </a: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6CE233B4-D8ED-6701-36D2-2C3535B19479}"/>
              </a:ext>
            </a:extLst>
          </p:cNvPr>
          <p:cNvSpPr/>
          <p:nvPr/>
        </p:nvSpPr>
        <p:spPr>
          <a:xfrm>
            <a:off x="10198113" y="2172920"/>
            <a:ext cx="3976821" cy="3241385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E54947D4-1FFD-64F8-6D10-15D6FA2FF164}"/>
              </a:ext>
            </a:extLst>
          </p:cNvPr>
          <p:cNvSpPr/>
          <p:nvPr/>
        </p:nvSpPr>
        <p:spPr>
          <a:xfrm>
            <a:off x="10468260" y="2373720"/>
            <a:ext cx="3916041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  <a:buSzPct val="100000"/>
            </a:pPr>
            <a:r>
              <a:rPr lang="en-US" sz="2400" b="1" u="sng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LIME + SHAP</a:t>
            </a:r>
          </a:p>
          <a:p>
            <a:pPr algn="l">
              <a:lnSpc>
                <a:spcPct val="200000"/>
              </a:lnSpc>
              <a:buSzPct val="100000"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Together → Complete interpretability framework</a:t>
            </a: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3BFECC0C-A4BE-88CE-3EB0-717DEAA2B2E7}"/>
              </a:ext>
            </a:extLst>
          </p:cNvPr>
          <p:cNvSpPr/>
          <p:nvPr/>
        </p:nvSpPr>
        <p:spPr>
          <a:xfrm>
            <a:off x="701985" y="2095389"/>
            <a:ext cx="3976821" cy="328886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>
              <a:lnSpc>
                <a:spcPct val="200000"/>
              </a:lnSpc>
            </a:pPr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BF9FEFC1-6A08-DBBD-46F4-31A9E325AE1E}"/>
              </a:ext>
            </a:extLst>
          </p:cNvPr>
          <p:cNvSpPr/>
          <p:nvPr/>
        </p:nvSpPr>
        <p:spPr>
          <a:xfrm>
            <a:off x="838201" y="2373720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  <a:buSzPct val="100000"/>
            </a:pPr>
            <a:r>
              <a:rPr lang="en-US" sz="2400" b="1" u="sng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LIME</a:t>
            </a:r>
          </a:p>
          <a:p>
            <a:pPr algn="l">
              <a:lnSpc>
                <a:spcPct val="200000"/>
              </a:lnSpc>
              <a:buSzPct val="100000"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LIME answers </a:t>
            </a:r>
            <a:r>
              <a:rPr lang="en-US" sz="2400" dirty="0">
                <a:solidFill>
                  <a:srgbClr val="E04F00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"Why this prediction?"</a:t>
            </a: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FD5E68-C8C0-F644-9084-6D04FC208311}"/>
              </a:ext>
            </a:extLst>
          </p:cNvPr>
          <p:cNvSpPr txBox="1"/>
          <p:nvPr/>
        </p:nvSpPr>
        <p:spPr>
          <a:xfrm>
            <a:off x="609600" y="6042305"/>
            <a:ext cx="64764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dirty="0"/>
              <a:t>Accuracy builds models. </a:t>
            </a:r>
            <a:r>
              <a:rPr lang="en-IN" sz="2200" dirty="0" err="1"/>
              <a:t>Explainability</a:t>
            </a:r>
            <a:r>
              <a:rPr lang="en-IN" sz="2200" dirty="0"/>
              <a:t> builds trust.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970201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1187</TotalTime>
  <Words>1104</Words>
  <Application>Microsoft Macintosh PowerPoint</Application>
  <PresentationFormat>Custom</PresentationFormat>
  <Paragraphs>247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Consolas</vt:lpstr>
      <vt:lpstr>DM Sans</vt:lpstr>
      <vt:lpstr>Lucida Sans Unicode</vt:lpstr>
      <vt:lpstr>PT Serif</vt:lpstr>
      <vt:lpstr>PT Serif Light</vt:lpstr>
      <vt:lpstr>Office Theme</vt:lpstr>
      <vt:lpstr>PowerPoint Presentation</vt:lpstr>
      <vt:lpstr>PowerPoint Presentation</vt:lpstr>
      <vt:lpstr>Why Model Interpretability Matters</vt:lpstr>
      <vt:lpstr>Predicting Hospital Readmission: Data Snapshot </vt:lpstr>
      <vt:lpstr>Variable Description</vt:lpstr>
      <vt:lpstr>Method Used: XGBoost Classifier </vt:lpstr>
      <vt:lpstr>Introduction to LIME</vt:lpstr>
      <vt:lpstr>How LIME Works</vt:lpstr>
      <vt:lpstr>LIME Implementation</vt:lpstr>
      <vt:lpstr>LIME Output Interpretation </vt:lpstr>
      <vt:lpstr>SHAP: Global + Local Explanation</vt:lpstr>
      <vt:lpstr>Game Theory Based (SHAP) </vt:lpstr>
      <vt:lpstr>How SHAP Works</vt:lpstr>
      <vt:lpstr>SHAP Implementation</vt:lpstr>
      <vt:lpstr>SHAP Output Interpretation </vt:lpstr>
      <vt:lpstr>LIME vs SHAP: Quick Comparison</vt:lpstr>
      <vt:lpstr>Key Takeaways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Vinayak Deshpande</cp:lastModifiedBy>
  <cp:revision>344</cp:revision>
  <dcterms:created xsi:type="dcterms:W3CDTF">2025-08-01T06:43:07Z</dcterms:created>
  <dcterms:modified xsi:type="dcterms:W3CDTF">2026-03-05T07:10:22Z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2025-08-01T00:00:00Z</vt:filetime>
  </property>
  <property fmtid="{D5CDD505-2E9C-101B-9397-08002B2CF9AE}" pid="5" name="Producer">
    <vt:lpwstr>Microsoft® PowerPoint® 2021</vt:lpwstr>
  </property>
</Properties>
</file>