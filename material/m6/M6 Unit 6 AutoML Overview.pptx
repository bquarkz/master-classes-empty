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74" r:id="rId2"/>
    <p:sldId id="275" r:id="rId3"/>
    <p:sldId id="292" r:id="rId4"/>
    <p:sldId id="300" r:id="rId5"/>
    <p:sldId id="304" r:id="rId6"/>
    <p:sldId id="266" r:id="rId7"/>
    <p:sldId id="315" r:id="rId8"/>
    <p:sldId id="314" r:id="rId9"/>
    <p:sldId id="328" r:id="rId10"/>
    <p:sldId id="329" r:id="rId11"/>
    <p:sldId id="326" r:id="rId12"/>
    <p:sldId id="331" r:id="rId13"/>
    <p:sldId id="332" r:id="rId14"/>
    <p:sldId id="333" r:id="rId15"/>
    <p:sldId id="334" r:id="rId16"/>
    <p:sldId id="335" r:id="rId17"/>
    <p:sldId id="336" r:id="rId18"/>
    <p:sldId id="330" r:id="rId19"/>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2891" autoAdjust="0"/>
  </p:normalViewPr>
  <p:slideViewPr>
    <p:cSldViewPr>
      <p:cViewPr varScale="1">
        <p:scale>
          <a:sx n="55" d="100"/>
          <a:sy n="55" d="100"/>
        </p:scale>
        <p:origin x="900"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05-02-2026</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B5D64-14C4-F16C-5619-287C7EA27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13F94-501F-3960-9E11-DE7F03BD9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30D1C-21CC-DCF2-1302-0D6A57E7F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C2F6F-17C8-6775-A32C-6E7DBAEA8A4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34623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5</a:t>
            </a:fld>
            <a:endParaRPr lang="en-IN"/>
          </a:p>
        </p:txBody>
      </p:sp>
    </p:spTree>
    <p:extLst>
      <p:ext uri="{BB962C8B-B14F-4D97-AF65-F5344CB8AC3E}">
        <p14:creationId xmlns:p14="http://schemas.microsoft.com/office/powerpoint/2010/main" val="3728505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6</a:t>
            </a:fld>
            <a:endParaRPr lang="en-IN"/>
          </a:p>
        </p:txBody>
      </p:sp>
    </p:spTree>
    <p:extLst>
      <p:ext uri="{BB962C8B-B14F-4D97-AF65-F5344CB8AC3E}">
        <p14:creationId xmlns:p14="http://schemas.microsoft.com/office/powerpoint/2010/main" val="1812942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8</a:t>
            </a:fld>
            <a:endParaRPr lang="en-IN"/>
          </a:p>
        </p:txBody>
      </p:sp>
    </p:spTree>
    <p:extLst>
      <p:ext uri="{BB962C8B-B14F-4D97-AF65-F5344CB8AC3E}">
        <p14:creationId xmlns:p14="http://schemas.microsoft.com/office/powerpoint/2010/main" val="242968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9</a:t>
            </a:fld>
            <a:endParaRPr lang="en-IN"/>
          </a:p>
        </p:txBody>
      </p:sp>
    </p:spTree>
    <p:extLst>
      <p:ext uri="{BB962C8B-B14F-4D97-AF65-F5344CB8AC3E}">
        <p14:creationId xmlns:p14="http://schemas.microsoft.com/office/powerpoint/2010/main" val="724001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12</a:t>
            </a:fld>
            <a:endParaRPr lang="en-IN"/>
          </a:p>
        </p:txBody>
      </p:sp>
    </p:spTree>
    <p:extLst>
      <p:ext uri="{BB962C8B-B14F-4D97-AF65-F5344CB8AC3E}">
        <p14:creationId xmlns:p14="http://schemas.microsoft.com/office/powerpoint/2010/main" val="1380729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13</a:t>
            </a:fld>
            <a:endParaRPr lang="en-IN"/>
          </a:p>
        </p:txBody>
      </p:sp>
    </p:spTree>
    <p:extLst>
      <p:ext uri="{BB962C8B-B14F-4D97-AF65-F5344CB8AC3E}">
        <p14:creationId xmlns:p14="http://schemas.microsoft.com/office/powerpoint/2010/main" val="1736515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15</a:t>
            </a:fld>
            <a:endParaRPr lang="en-IN"/>
          </a:p>
        </p:txBody>
      </p:sp>
    </p:spTree>
    <p:extLst>
      <p:ext uri="{BB962C8B-B14F-4D97-AF65-F5344CB8AC3E}">
        <p14:creationId xmlns:p14="http://schemas.microsoft.com/office/powerpoint/2010/main" val="2237473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16</a:t>
            </a:fld>
            <a:endParaRPr lang="en-IN"/>
          </a:p>
        </p:txBody>
      </p:sp>
    </p:spTree>
    <p:extLst>
      <p:ext uri="{BB962C8B-B14F-4D97-AF65-F5344CB8AC3E}">
        <p14:creationId xmlns:p14="http://schemas.microsoft.com/office/powerpoint/2010/main" val="3984089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18</a:t>
            </a:fld>
            <a:endParaRPr lang="en-IN"/>
          </a:p>
        </p:txBody>
      </p:sp>
    </p:spTree>
    <p:extLst>
      <p:ext uri="{BB962C8B-B14F-4D97-AF65-F5344CB8AC3E}">
        <p14:creationId xmlns:p14="http://schemas.microsoft.com/office/powerpoint/2010/main" val="26702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05-02-2026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05-02-2026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05-02-2026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05-02-2026</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381000" y="2209800"/>
            <a:ext cx="13582132" cy="651272"/>
          </a:xfrm>
          <a:prstGeom prst="rect">
            <a:avLst/>
          </a:prstGeom>
          <a:noFill/>
          <a:ln/>
        </p:spPr>
        <p:txBody>
          <a:bodyPr wrap="squar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Unit 6: AutoML – Automating the Model Building Process</a:t>
            </a:r>
            <a:endParaRPr lang="en-US" sz="4100" dirty="0"/>
          </a:p>
        </p:txBody>
      </p:sp>
      <p:sp>
        <p:nvSpPr>
          <p:cNvPr id="6" name="TextBox 5">
            <a:extLst>
              <a:ext uri="{FF2B5EF4-FFF2-40B4-BE49-F238E27FC236}">
                <a16:creationId xmlns:a16="http://schemas.microsoft.com/office/drawing/2014/main" id="{515A8D49-1B61-4101-77B3-D68D40457217}"/>
              </a:ext>
            </a:extLst>
          </p:cNvPr>
          <p:cNvSpPr txBox="1"/>
          <p:nvPr/>
        </p:nvSpPr>
        <p:spPr>
          <a:xfrm>
            <a:off x="398584" y="3189033"/>
            <a:ext cx="13317415" cy="1235979"/>
          </a:xfrm>
          <a:prstGeom prst="rect">
            <a:avLst/>
          </a:prstGeom>
          <a:noFill/>
        </p:spPr>
        <p:txBody>
          <a:bodyPr wrap="square">
            <a:spAutoFit/>
          </a:bodyPr>
          <a:lstStyle/>
          <a:p>
            <a:pPr>
              <a:lnSpc>
                <a:spcPct val="200000"/>
              </a:lnSpc>
            </a:pPr>
            <a:r>
              <a:rPr lang="en-US" sz="2000" dirty="0">
                <a:latin typeface="PT Serif" panose="020A0603040505020204" pitchFamily="18" charset="0"/>
              </a:rPr>
              <a:t>AutoML accelerates model development by reducing manual effort, improving efficiency, and enabling faster deployment of reliable ML solutions.</a:t>
            </a:r>
            <a:endParaRPr lang="en-IN" sz="2000" dirty="0">
              <a:latin typeface="PT Serif" panose="020A0603040505020204" pitchFamily="18" charset="0"/>
            </a:endParaRPr>
          </a:p>
        </p:txBody>
      </p:sp>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79A3-6285-EA7B-A2B4-F0C9DCE16B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EF8EC6-F255-C70E-3023-DC7EAEC5B16D}"/>
              </a:ext>
            </a:extLst>
          </p:cNvPr>
          <p:cNvSpPr/>
          <p:nvPr/>
        </p:nvSpPr>
        <p:spPr>
          <a:xfrm>
            <a:off x="793790" y="1107162"/>
            <a:ext cx="4763333" cy="595432"/>
          </a:xfrm>
          <a:prstGeom prst="rect">
            <a:avLst/>
          </a:prstGeom>
          <a:noFill/>
          <a:ln/>
        </p:spPr>
        <p:txBody>
          <a:bodyPr wrap="none" lIns="0" tIns="0" rIns="0" bIns="0" rtlCol="0" anchor="t"/>
          <a:lstStyle/>
          <a:p>
            <a:pPr marL="0" indent="0" algn="l">
              <a:lnSpc>
                <a:spcPts val="4650"/>
              </a:lnSpc>
              <a:buNone/>
            </a:pPr>
            <a:r>
              <a:rPr lang="en-US" sz="3600" dirty="0">
                <a:solidFill>
                  <a:schemeClr val="tx1"/>
                </a:solidFill>
                <a:latin typeface="PT Serif" panose="020A0603040505020204" pitchFamily="18" charset="0"/>
                <a:ea typeface="PT Serif" pitchFamily="34" charset="-122"/>
                <a:cs typeface="PT Serif" pitchFamily="34" charset="-120"/>
              </a:rPr>
              <a:t>Contents</a:t>
            </a:r>
            <a:endParaRPr lang="en-US" sz="3600" dirty="0">
              <a:solidFill>
                <a:schemeClr val="tx1"/>
              </a:solidFill>
              <a:latin typeface="PT Serif" panose="020A0603040505020204" pitchFamily="18" charset="0"/>
            </a:endParaRPr>
          </a:p>
        </p:txBody>
      </p:sp>
      <p:sp>
        <p:nvSpPr>
          <p:cNvPr id="3" name="Text 1">
            <a:extLst>
              <a:ext uri="{FF2B5EF4-FFF2-40B4-BE49-F238E27FC236}">
                <a16:creationId xmlns:a16="http://schemas.microsoft.com/office/drawing/2014/main" id="{630CCEE3-6042-A6A9-3891-B76B33DC9098}"/>
              </a:ext>
            </a:extLst>
          </p:cNvPr>
          <p:cNvSpPr/>
          <p:nvPr/>
        </p:nvSpPr>
        <p:spPr>
          <a:xfrm>
            <a:off x="793790"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01</a:t>
            </a:r>
            <a:endParaRPr lang="en-US" sz="1750" dirty="0">
              <a:solidFill>
                <a:schemeClr val="tx1"/>
              </a:solidFill>
              <a:latin typeface="PT Serif" panose="020A0603040505020204" pitchFamily="18" charset="0"/>
            </a:endParaRPr>
          </a:p>
        </p:txBody>
      </p:sp>
      <p:sp>
        <p:nvSpPr>
          <p:cNvPr id="4" name="Shape 2">
            <a:extLst>
              <a:ext uri="{FF2B5EF4-FFF2-40B4-BE49-F238E27FC236}">
                <a16:creationId xmlns:a16="http://schemas.microsoft.com/office/drawing/2014/main" id="{109D6074-985D-ECFD-41A9-CC64CE8CCED8}"/>
              </a:ext>
            </a:extLst>
          </p:cNvPr>
          <p:cNvSpPr/>
          <p:nvPr/>
        </p:nvSpPr>
        <p:spPr>
          <a:xfrm>
            <a:off x="793790" y="2511266"/>
            <a:ext cx="6407944" cy="30480"/>
          </a:xfrm>
          <a:prstGeom prst="rect">
            <a:avLst/>
          </a:prstGeom>
          <a:solidFill>
            <a:srgbClr val="E04F00"/>
          </a:solidFill>
          <a:ln/>
        </p:spPr>
      </p:sp>
      <p:sp>
        <p:nvSpPr>
          <p:cNvPr id="5" name="Text 3">
            <a:extLst>
              <a:ext uri="{FF2B5EF4-FFF2-40B4-BE49-F238E27FC236}">
                <a16:creationId xmlns:a16="http://schemas.microsoft.com/office/drawing/2014/main" id="{18BB4AFD-62D3-1AAB-C8B6-84BCFD0B3499}"/>
              </a:ext>
            </a:extLst>
          </p:cNvPr>
          <p:cNvSpPr/>
          <p:nvPr/>
        </p:nvSpPr>
        <p:spPr>
          <a:xfrm>
            <a:off x="793790" y="2685574"/>
            <a:ext cx="4370308" cy="372070"/>
          </a:xfrm>
          <a:prstGeom prst="rect">
            <a:avLst/>
          </a:prstGeom>
          <a:noFill/>
          <a:ln/>
        </p:spPr>
        <p:txBody>
          <a:bodyPr wrap="none" lIns="0" tIns="0" rIns="0" bIns="0" rtlCol="0" anchor="t"/>
          <a:lstStyle/>
          <a:p>
            <a:pPr marL="0" indent="0" algn="l">
              <a:lnSpc>
                <a:spcPts val="2550"/>
              </a:lnSpc>
              <a:buNone/>
            </a:pPr>
            <a:r>
              <a:rPr lang="en-US" sz="2400" dirty="0">
                <a:solidFill>
                  <a:schemeClr val="tx1"/>
                </a:solidFill>
                <a:latin typeface="PT Serif" pitchFamily="34" charset="0"/>
                <a:ea typeface="PT Serif" pitchFamily="34" charset="-122"/>
                <a:cs typeface="PT Serif" pitchFamily="34" charset="-120"/>
              </a:rPr>
              <a:t>The Problem Statement</a:t>
            </a:r>
            <a:endParaRPr lang="en-US" sz="2400" dirty="0">
              <a:solidFill>
                <a:schemeClr val="tx1"/>
              </a:solidFill>
            </a:endParaRPr>
          </a:p>
        </p:txBody>
      </p:sp>
      <p:sp>
        <p:nvSpPr>
          <p:cNvPr id="6" name="Text 4">
            <a:extLst>
              <a:ext uri="{FF2B5EF4-FFF2-40B4-BE49-F238E27FC236}">
                <a16:creationId xmlns:a16="http://schemas.microsoft.com/office/drawing/2014/main" id="{A95C41F2-E8AE-183D-B7D2-B584B66A5047}"/>
              </a:ext>
            </a:extLst>
          </p:cNvPr>
          <p:cNvSpPr/>
          <p:nvPr/>
        </p:nvSpPr>
        <p:spPr>
          <a:xfrm>
            <a:off x="7428548"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02</a:t>
            </a:r>
            <a:endParaRPr lang="en-US" sz="1750" dirty="0">
              <a:solidFill>
                <a:schemeClr val="tx1"/>
              </a:solidFill>
              <a:latin typeface="PT Serif" panose="020A0603040505020204" pitchFamily="18" charset="0"/>
            </a:endParaRPr>
          </a:p>
        </p:txBody>
      </p:sp>
      <p:sp>
        <p:nvSpPr>
          <p:cNvPr id="7" name="Shape 5">
            <a:extLst>
              <a:ext uri="{FF2B5EF4-FFF2-40B4-BE49-F238E27FC236}">
                <a16:creationId xmlns:a16="http://schemas.microsoft.com/office/drawing/2014/main" id="{420FFCDF-EFCF-D95B-39BF-71DEE8C305CC}"/>
              </a:ext>
            </a:extLst>
          </p:cNvPr>
          <p:cNvSpPr/>
          <p:nvPr/>
        </p:nvSpPr>
        <p:spPr>
          <a:xfrm>
            <a:off x="7428548" y="2511266"/>
            <a:ext cx="6408063" cy="30480"/>
          </a:xfrm>
          <a:prstGeom prst="rect">
            <a:avLst/>
          </a:prstGeom>
          <a:solidFill>
            <a:srgbClr val="E04F00"/>
          </a:solidFill>
          <a:ln/>
        </p:spPr>
      </p:sp>
      <p:sp>
        <p:nvSpPr>
          <p:cNvPr id="8" name="Text 6">
            <a:extLst>
              <a:ext uri="{FF2B5EF4-FFF2-40B4-BE49-F238E27FC236}">
                <a16:creationId xmlns:a16="http://schemas.microsoft.com/office/drawing/2014/main" id="{C5C44485-ABDB-D8CB-78F7-9276AAADB0B2}"/>
              </a:ext>
            </a:extLst>
          </p:cNvPr>
          <p:cNvSpPr/>
          <p:nvPr/>
        </p:nvSpPr>
        <p:spPr>
          <a:xfrm>
            <a:off x="7428548" y="2643068"/>
            <a:ext cx="4915852" cy="506016"/>
          </a:xfrm>
          <a:prstGeom prst="rect">
            <a:avLst/>
          </a:prstGeom>
          <a:noFill/>
          <a:ln/>
        </p:spPr>
        <p:txBody>
          <a:bodyPr wrap="none" lIns="0" tIns="0" rIns="0" bIns="0" rtlCol="0" anchor="t"/>
          <a:lstStyle/>
          <a:p>
            <a:pPr marL="0" indent="0" algn="l">
              <a:lnSpc>
                <a:spcPts val="2550"/>
              </a:lnSpc>
              <a:buNone/>
            </a:pPr>
            <a:r>
              <a:rPr lang="en-US" sz="2400" dirty="0">
                <a:solidFill>
                  <a:schemeClr val="tx1"/>
                </a:solidFill>
                <a:latin typeface="PT Serif" pitchFamily="34" charset="0"/>
                <a:ea typeface="PT Serif" pitchFamily="34" charset="-122"/>
                <a:cs typeface="PT Serif" pitchFamily="34" charset="-120"/>
              </a:rPr>
              <a:t>What is AutoML</a:t>
            </a:r>
            <a:endParaRPr lang="en-US" sz="2400" dirty="0">
              <a:solidFill>
                <a:schemeClr val="tx1"/>
              </a:solidFill>
            </a:endParaRPr>
          </a:p>
        </p:txBody>
      </p:sp>
      <p:sp>
        <p:nvSpPr>
          <p:cNvPr id="9" name="Text 7">
            <a:extLst>
              <a:ext uri="{FF2B5EF4-FFF2-40B4-BE49-F238E27FC236}">
                <a16:creationId xmlns:a16="http://schemas.microsoft.com/office/drawing/2014/main" id="{F49AA9FB-4CAF-BC7C-90F0-1D48BD93C205}"/>
              </a:ext>
            </a:extLst>
          </p:cNvPr>
          <p:cNvSpPr/>
          <p:nvPr/>
        </p:nvSpPr>
        <p:spPr>
          <a:xfrm>
            <a:off x="793790"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03</a:t>
            </a:r>
            <a:endParaRPr lang="en-US" sz="1750" dirty="0">
              <a:solidFill>
                <a:schemeClr val="tx1"/>
              </a:solidFill>
              <a:latin typeface="PT Serif" panose="020A0603040505020204" pitchFamily="18" charset="0"/>
            </a:endParaRPr>
          </a:p>
        </p:txBody>
      </p:sp>
      <p:sp>
        <p:nvSpPr>
          <p:cNvPr id="10" name="Shape 8">
            <a:extLst>
              <a:ext uri="{FF2B5EF4-FFF2-40B4-BE49-F238E27FC236}">
                <a16:creationId xmlns:a16="http://schemas.microsoft.com/office/drawing/2014/main" id="{F735EFEC-254C-A190-497E-54797BC377D7}"/>
              </a:ext>
            </a:extLst>
          </p:cNvPr>
          <p:cNvSpPr/>
          <p:nvPr/>
        </p:nvSpPr>
        <p:spPr>
          <a:xfrm>
            <a:off x="793790" y="3809524"/>
            <a:ext cx="6407944" cy="30480"/>
          </a:xfrm>
          <a:prstGeom prst="rect">
            <a:avLst/>
          </a:prstGeom>
          <a:solidFill>
            <a:srgbClr val="E04F00"/>
          </a:solidFill>
          <a:ln/>
        </p:spPr>
      </p:sp>
      <p:sp>
        <p:nvSpPr>
          <p:cNvPr id="11" name="Text 9">
            <a:extLst>
              <a:ext uri="{FF2B5EF4-FFF2-40B4-BE49-F238E27FC236}">
                <a16:creationId xmlns:a16="http://schemas.microsoft.com/office/drawing/2014/main" id="{1AC6FBEA-485A-7F7D-47FB-5FEB6466C2AF}"/>
              </a:ext>
            </a:extLst>
          </p:cNvPr>
          <p:cNvSpPr/>
          <p:nvPr/>
        </p:nvSpPr>
        <p:spPr>
          <a:xfrm>
            <a:off x="793790" y="3983831"/>
            <a:ext cx="5149810" cy="341590"/>
          </a:xfrm>
          <a:prstGeom prst="rect">
            <a:avLst/>
          </a:prstGeom>
          <a:noFill/>
          <a:ln/>
        </p:spPr>
        <p:txBody>
          <a:bodyPr wrap="square" lIns="0" tIns="0" rIns="0" bIns="0" rtlCol="0" anchor="t"/>
          <a:lstStyle/>
          <a:p>
            <a:pPr marL="0" indent="0" algn="l">
              <a:lnSpc>
                <a:spcPts val="2550"/>
              </a:lnSpc>
              <a:buNone/>
            </a:pPr>
            <a:r>
              <a:rPr lang="en-US" sz="2400" dirty="0">
                <a:solidFill>
                  <a:schemeClr val="tx1"/>
                </a:solidFill>
                <a:latin typeface="PT Serif" pitchFamily="34" charset="0"/>
                <a:ea typeface="PT Serif" pitchFamily="34" charset="-122"/>
                <a:cs typeface="PT Serif" pitchFamily="34" charset="-120"/>
              </a:rPr>
              <a:t>Why do we need AutoML</a:t>
            </a:r>
            <a:endParaRPr lang="en-US" sz="2400" dirty="0">
              <a:solidFill>
                <a:schemeClr val="tx1"/>
              </a:solidFill>
            </a:endParaRPr>
          </a:p>
        </p:txBody>
      </p:sp>
      <p:sp>
        <p:nvSpPr>
          <p:cNvPr id="12" name="Text 10">
            <a:extLst>
              <a:ext uri="{FF2B5EF4-FFF2-40B4-BE49-F238E27FC236}">
                <a16:creationId xmlns:a16="http://schemas.microsoft.com/office/drawing/2014/main" id="{BB65B506-59D4-7376-A944-4C46A5D3D0DA}"/>
              </a:ext>
            </a:extLst>
          </p:cNvPr>
          <p:cNvSpPr/>
          <p:nvPr/>
        </p:nvSpPr>
        <p:spPr>
          <a:xfrm>
            <a:off x="7428548"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04</a:t>
            </a:r>
            <a:endParaRPr lang="en-US" sz="1750" dirty="0">
              <a:solidFill>
                <a:schemeClr val="tx1"/>
              </a:solidFill>
              <a:latin typeface="PT Serif" panose="020A0603040505020204" pitchFamily="18" charset="0"/>
            </a:endParaRPr>
          </a:p>
        </p:txBody>
      </p:sp>
      <p:sp>
        <p:nvSpPr>
          <p:cNvPr id="13" name="Shape 11">
            <a:extLst>
              <a:ext uri="{FF2B5EF4-FFF2-40B4-BE49-F238E27FC236}">
                <a16:creationId xmlns:a16="http://schemas.microsoft.com/office/drawing/2014/main" id="{D64D1A4C-2B9B-4174-ACD2-FF1592E30587}"/>
              </a:ext>
            </a:extLst>
          </p:cNvPr>
          <p:cNvSpPr/>
          <p:nvPr/>
        </p:nvSpPr>
        <p:spPr>
          <a:xfrm>
            <a:off x="7428548" y="3809524"/>
            <a:ext cx="6408063" cy="30480"/>
          </a:xfrm>
          <a:prstGeom prst="rect">
            <a:avLst/>
          </a:prstGeom>
          <a:solidFill>
            <a:srgbClr val="E04F00"/>
          </a:solidFill>
          <a:ln/>
        </p:spPr>
      </p:sp>
      <p:sp>
        <p:nvSpPr>
          <p:cNvPr id="14" name="Text 12">
            <a:extLst>
              <a:ext uri="{FF2B5EF4-FFF2-40B4-BE49-F238E27FC236}">
                <a16:creationId xmlns:a16="http://schemas.microsoft.com/office/drawing/2014/main" id="{5B2CEF56-AF19-B00B-757E-9F9AA779999A}"/>
              </a:ext>
            </a:extLst>
          </p:cNvPr>
          <p:cNvSpPr/>
          <p:nvPr/>
        </p:nvSpPr>
        <p:spPr>
          <a:xfrm>
            <a:off x="7428548" y="3983831"/>
            <a:ext cx="3837027" cy="372070"/>
          </a:xfrm>
          <a:prstGeom prst="rect">
            <a:avLst/>
          </a:prstGeom>
          <a:noFill/>
          <a:ln/>
        </p:spPr>
        <p:txBody>
          <a:bodyPr wrap="none" lIns="0" tIns="0" rIns="0" bIns="0" rtlCol="0" anchor="t"/>
          <a:lstStyle/>
          <a:p>
            <a:pPr marL="0" indent="0" algn="l">
              <a:lnSpc>
                <a:spcPts val="5100"/>
              </a:lnSpc>
              <a:buNone/>
            </a:pPr>
            <a:endParaRPr lang="en-US" sz="2400" dirty="0">
              <a:solidFill>
                <a:schemeClr val="tx1"/>
              </a:solidFill>
              <a:latin typeface="PT Serif" panose="020A0603040505020204" pitchFamily="18" charset="0"/>
            </a:endParaRPr>
          </a:p>
        </p:txBody>
      </p:sp>
      <p:sp>
        <p:nvSpPr>
          <p:cNvPr id="15" name="Text 13">
            <a:extLst>
              <a:ext uri="{FF2B5EF4-FFF2-40B4-BE49-F238E27FC236}">
                <a16:creationId xmlns:a16="http://schemas.microsoft.com/office/drawing/2014/main" id="{D26178CF-9339-DE4A-28C3-77F3A415D7BD}"/>
              </a:ext>
            </a:extLst>
          </p:cNvPr>
          <p:cNvSpPr/>
          <p:nvPr/>
        </p:nvSpPr>
        <p:spPr>
          <a:xfrm>
            <a:off x="793790" y="4953000"/>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05</a:t>
            </a:r>
            <a:endParaRPr lang="en-US" sz="1750" dirty="0">
              <a:solidFill>
                <a:schemeClr val="tx1"/>
              </a:solidFill>
              <a:latin typeface="PT Serif" panose="020A0603040505020204" pitchFamily="18" charset="0"/>
            </a:endParaRPr>
          </a:p>
        </p:txBody>
      </p:sp>
      <p:sp>
        <p:nvSpPr>
          <p:cNvPr id="16" name="Shape 14">
            <a:extLst>
              <a:ext uri="{FF2B5EF4-FFF2-40B4-BE49-F238E27FC236}">
                <a16:creationId xmlns:a16="http://schemas.microsoft.com/office/drawing/2014/main" id="{91EAC6A6-8C3F-4954-512B-A2B54B6C5FB6}"/>
              </a:ext>
            </a:extLst>
          </p:cNvPr>
          <p:cNvSpPr/>
          <p:nvPr/>
        </p:nvSpPr>
        <p:spPr>
          <a:xfrm>
            <a:off x="793790" y="5308044"/>
            <a:ext cx="6407944" cy="30480"/>
          </a:xfrm>
          <a:prstGeom prst="rect">
            <a:avLst/>
          </a:prstGeom>
          <a:solidFill>
            <a:srgbClr val="E04F00"/>
          </a:solidFill>
          <a:ln/>
        </p:spPr>
      </p:sp>
      <p:sp>
        <p:nvSpPr>
          <p:cNvPr id="17" name="Text 15">
            <a:extLst>
              <a:ext uri="{FF2B5EF4-FFF2-40B4-BE49-F238E27FC236}">
                <a16:creationId xmlns:a16="http://schemas.microsoft.com/office/drawing/2014/main" id="{DB97DF43-3297-7260-5B91-2DAB55D3B09B}"/>
              </a:ext>
            </a:extLst>
          </p:cNvPr>
          <p:cNvSpPr/>
          <p:nvPr/>
        </p:nvSpPr>
        <p:spPr>
          <a:xfrm>
            <a:off x="793790" y="5482352"/>
            <a:ext cx="5378410" cy="506016"/>
          </a:xfrm>
          <a:prstGeom prst="rect">
            <a:avLst/>
          </a:prstGeom>
          <a:noFill/>
          <a:ln/>
        </p:spPr>
        <p:txBody>
          <a:bodyPr wrap="none" lIns="0" tIns="0" rIns="0" bIns="0" rtlCol="0" anchor="t"/>
          <a:lstStyle/>
          <a:p>
            <a:pPr marL="0" indent="0" algn="l">
              <a:lnSpc>
                <a:spcPts val="2550"/>
              </a:lnSpc>
              <a:buNone/>
            </a:pPr>
            <a:r>
              <a:rPr lang="en-US" sz="2400" dirty="0">
                <a:solidFill>
                  <a:schemeClr val="tx1"/>
                </a:solidFill>
                <a:latin typeface="PT Serif" pitchFamily="34" charset="0"/>
                <a:ea typeface="PT Serif" pitchFamily="34" charset="-122"/>
                <a:cs typeface="PT Serif" pitchFamily="34" charset="-120"/>
              </a:rPr>
              <a:t>Model Search in AutoML</a:t>
            </a:r>
            <a:endParaRPr lang="en-US" sz="2400" dirty="0">
              <a:solidFill>
                <a:schemeClr val="tx1"/>
              </a:solidFill>
            </a:endParaRPr>
          </a:p>
        </p:txBody>
      </p:sp>
      <p:sp>
        <p:nvSpPr>
          <p:cNvPr id="27" name="Text 9">
            <a:extLst>
              <a:ext uri="{FF2B5EF4-FFF2-40B4-BE49-F238E27FC236}">
                <a16:creationId xmlns:a16="http://schemas.microsoft.com/office/drawing/2014/main" id="{7E44A9EB-37D4-D3CC-6CA9-BE886EEF64E4}"/>
              </a:ext>
            </a:extLst>
          </p:cNvPr>
          <p:cNvSpPr/>
          <p:nvPr/>
        </p:nvSpPr>
        <p:spPr>
          <a:xfrm>
            <a:off x="7428548" y="3996348"/>
            <a:ext cx="5149810" cy="341590"/>
          </a:xfrm>
          <a:prstGeom prst="rect">
            <a:avLst/>
          </a:prstGeom>
          <a:noFill/>
          <a:ln/>
        </p:spPr>
        <p:txBody>
          <a:bodyPr wrap="none" lIns="0" tIns="0" rIns="0" bIns="0" rtlCol="0" anchor="t"/>
          <a:lstStyle/>
          <a:p>
            <a:pPr marL="0" indent="0" algn="l">
              <a:lnSpc>
                <a:spcPts val="2550"/>
              </a:lnSpc>
              <a:buNone/>
            </a:pPr>
            <a:r>
              <a:rPr lang="en-US" sz="2400" dirty="0">
                <a:solidFill>
                  <a:schemeClr val="tx1"/>
                </a:solidFill>
                <a:latin typeface="PT Serif" pitchFamily="34" charset="0"/>
                <a:ea typeface="PT Serif" pitchFamily="34" charset="-122"/>
                <a:cs typeface="PT Serif" pitchFamily="34" charset="-120"/>
              </a:rPr>
              <a:t>When AutoML is Not Necessary</a:t>
            </a:r>
            <a:endParaRPr lang="en-US" sz="2400" dirty="0">
              <a:solidFill>
                <a:schemeClr val="tx1"/>
              </a:solidFill>
            </a:endParaRPr>
          </a:p>
        </p:txBody>
      </p:sp>
      <p:sp>
        <p:nvSpPr>
          <p:cNvPr id="19" name="Shape 11">
            <a:extLst>
              <a:ext uri="{FF2B5EF4-FFF2-40B4-BE49-F238E27FC236}">
                <a16:creationId xmlns:a16="http://schemas.microsoft.com/office/drawing/2014/main" id="{6DFA16B1-6A6D-E449-B2C3-5B3B26C2C568}"/>
              </a:ext>
            </a:extLst>
          </p:cNvPr>
          <p:cNvSpPr/>
          <p:nvPr/>
        </p:nvSpPr>
        <p:spPr>
          <a:xfrm>
            <a:off x="7428547" y="5292804"/>
            <a:ext cx="6408063" cy="30480"/>
          </a:xfrm>
          <a:prstGeom prst="rect">
            <a:avLst/>
          </a:prstGeom>
          <a:solidFill>
            <a:srgbClr val="E04F00"/>
          </a:solidFill>
          <a:ln/>
        </p:spPr>
      </p:sp>
      <p:sp>
        <p:nvSpPr>
          <p:cNvPr id="20" name="Text 15">
            <a:extLst>
              <a:ext uri="{FF2B5EF4-FFF2-40B4-BE49-F238E27FC236}">
                <a16:creationId xmlns:a16="http://schemas.microsoft.com/office/drawing/2014/main" id="{B399EC45-7608-BF4F-96F3-D57F5F5EACFF}"/>
              </a:ext>
            </a:extLst>
          </p:cNvPr>
          <p:cNvSpPr/>
          <p:nvPr/>
        </p:nvSpPr>
        <p:spPr>
          <a:xfrm>
            <a:off x="7428547" y="5537730"/>
            <a:ext cx="5378410" cy="506016"/>
          </a:xfrm>
          <a:prstGeom prst="rect">
            <a:avLst/>
          </a:prstGeom>
          <a:noFill/>
          <a:ln/>
        </p:spPr>
        <p:txBody>
          <a:bodyPr wrap="none" lIns="0" tIns="0" rIns="0" bIns="0" rtlCol="0" anchor="t"/>
          <a:lstStyle/>
          <a:p>
            <a:pPr marL="0" indent="0" algn="l">
              <a:lnSpc>
                <a:spcPts val="2550"/>
              </a:lnSpc>
              <a:buNone/>
            </a:pPr>
            <a:r>
              <a:rPr lang="en-US" sz="2400" dirty="0">
                <a:solidFill>
                  <a:schemeClr val="tx1"/>
                </a:solidFill>
                <a:latin typeface="PT Serif" pitchFamily="34" charset="0"/>
                <a:ea typeface="PT Serif" pitchFamily="34" charset="-122"/>
                <a:cs typeface="PT Serif" pitchFamily="34" charset="-120"/>
              </a:rPr>
              <a:t>AutoML Python Libraries</a:t>
            </a:r>
            <a:endParaRPr lang="en-US" sz="2400" dirty="0">
              <a:solidFill>
                <a:schemeClr val="tx1"/>
              </a:solidFill>
            </a:endParaRPr>
          </a:p>
        </p:txBody>
      </p:sp>
      <p:sp>
        <p:nvSpPr>
          <p:cNvPr id="21" name="Text 10">
            <a:extLst>
              <a:ext uri="{FF2B5EF4-FFF2-40B4-BE49-F238E27FC236}">
                <a16:creationId xmlns:a16="http://schemas.microsoft.com/office/drawing/2014/main" id="{5F7B4E8E-7E63-124E-A4D0-9C605AEF0532}"/>
              </a:ext>
            </a:extLst>
          </p:cNvPr>
          <p:cNvSpPr/>
          <p:nvPr/>
        </p:nvSpPr>
        <p:spPr>
          <a:xfrm>
            <a:off x="7428548" y="4966038"/>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PT Serif" panose="020A0603040505020204" pitchFamily="18" charset="0"/>
                <a:ea typeface="PT Serif Light" pitchFamily="34" charset="-122"/>
                <a:cs typeface="PT Serif Light" pitchFamily="34" charset="-120"/>
              </a:rPr>
              <a:t>06</a:t>
            </a:r>
            <a:endParaRPr lang="en-US" sz="175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241629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34AB-82AD-5A1C-DAC9-54A9A9B430D2}"/>
              </a:ext>
            </a:extLst>
          </p:cNvPr>
          <p:cNvSpPr>
            <a:spLocks noGrp="1"/>
          </p:cNvSpPr>
          <p:nvPr>
            <p:ph type="title"/>
          </p:nvPr>
        </p:nvSpPr>
        <p:spPr>
          <a:xfrm>
            <a:off x="685800" y="228600"/>
            <a:ext cx="8308675" cy="1264129"/>
          </a:xfrm>
        </p:spPr>
        <p:txBody>
          <a:bodyPr/>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The Problem: Fraud Detection Model Development in Finance Sector</a:t>
            </a:r>
            <a:endParaRPr lang="en-US" sz="3600" dirty="0"/>
          </a:p>
        </p:txBody>
      </p:sp>
      <p:sp>
        <p:nvSpPr>
          <p:cNvPr id="3" name="TextBox 2">
            <a:extLst>
              <a:ext uri="{FF2B5EF4-FFF2-40B4-BE49-F238E27FC236}">
                <a16:creationId xmlns:a16="http://schemas.microsoft.com/office/drawing/2014/main" id="{1081FFF0-4CA2-49EC-F5F6-355FBF7303C5}"/>
              </a:ext>
            </a:extLst>
          </p:cNvPr>
          <p:cNvSpPr txBox="1"/>
          <p:nvPr/>
        </p:nvSpPr>
        <p:spPr>
          <a:xfrm>
            <a:off x="685800" y="1533343"/>
            <a:ext cx="7487728" cy="6696257"/>
          </a:xfrm>
          <a:prstGeom prst="rect">
            <a:avLst/>
          </a:prstGeom>
          <a:noFill/>
        </p:spPr>
        <p:txBody>
          <a:bodyPr wrap="square" rtlCol="0">
            <a:spAutoFit/>
          </a:bodyPr>
          <a:lstStyle/>
          <a:p>
            <a:pPr marL="0" indent="0" algn="l">
              <a:lnSpc>
                <a:spcPct val="150000"/>
              </a:lnSpc>
              <a:buNone/>
            </a:pPr>
            <a:r>
              <a:rPr lang="en-US" dirty="0">
                <a:solidFill>
                  <a:schemeClr val="tx1"/>
                </a:solidFill>
                <a:latin typeface="PT Serif" panose="020A0603040505020204" pitchFamily="18" charset="0"/>
                <a:ea typeface="DM Sans" pitchFamily="34" charset="-122"/>
                <a:cs typeface="DM Sans" pitchFamily="34" charset="-120"/>
              </a:rPr>
              <a:t>Building an effective fraud detection model with 50 input variables—spanning transaction </a:t>
            </a:r>
            <a:r>
              <a:rPr lang="en-US" dirty="0" err="1">
                <a:solidFill>
                  <a:schemeClr val="tx1"/>
                </a:solidFill>
                <a:latin typeface="PT Serif" panose="020A0603040505020204" pitchFamily="18" charset="0"/>
                <a:ea typeface="DM Sans" pitchFamily="34" charset="-122"/>
                <a:cs typeface="DM Sans" pitchFamily="34" charset="-120"/>
              </a:rPr>
              <a:t>behaviour</a:t>
            </a:r>
            <a:r>
              <a:rPr lang="en-US" dirty="0">
                <a:solidFill>
                  <a:schemeClr val="tx1"/>
                </a:solidFill>
                <a:latin typeface="PT Serif" panose="020A0603040505020204" pitchFamily="18" charset="0"/>
                <a:ea typeface="DM Sans" pitchFamily="34" charset="-122"/>
                <a:cs typeface="DM Sans" pitchFamily="34" charset="-120"/>
              </a:rPr>
              <a:t>, device fingerprints, location data, and customer history—presents a significant challenge. </a:t>
            </a:r>
          </a:p>
          <a:p>
            <a:pPr marL="0" indent="0" algn="l">
              <a:lnSpc>
                <a:spcPct val="150000"/>
              </a:lnSpc>
              <a:buNone/>
            </a:pPr>
            <a:endParaRPr lang="en-US" dirty="0">
              <a:solidFill>
                <a:schemeClr val="tx1"/>
              </a:solidFill>
              <a:latin typeface="PT Serif" panose="020A0603040505020204" pitchFamily="18" charset="0"/>
              <a:ea typeface="DM Sans" pitchFamily="34" charset="-122"/>
              <a:cs typeface="DM Sans" pitchFamily="34" charset="-120"/>
            </a:endParaRPr>
          </a:p>
          <a:p>
            <a:pPr marL="0" indent="0" algn="l">
              <a:lnSpc>
                <a:spcPct val="150000"/>
              </a:lnSpc>
              <a:buNone/>
            </a:pPr>
            <a:r>
              <a:rPr lang="en-US" dirty="0">
                <a:solidFill>
                  <a:schemeClr val="tx1"/>
                </a:solidFill>
                <a:latin typeface="PT Serif" panose="020A0603040505020204" pitchFamily="18" charset="0"/>
                <a:ea typeface="DM Sans" pitchFamily="34" charset="-122"/>
                <a:cs typeface="DM Sans" pitchFamily="34" charset="-120"/>
              </a:rPr>
              <a:t>Traditional manual approaches require data scientists to test roughly 10 different algorithms, each with many hyperparameter variations, resulting in 100+ unique model configurations. ( the number can be much higher in practice)</a:t>
            </a:r>
          </a:p>
          <a:p>
            <a:pPr marL="0" indent="0" algn="l">
              <a:lnSpc>
                <a:spcPct val="150000"/>
              </a:lnSpc>
              <a:buNone/>
            </a:pPr>
            <a:r>
              <a:rPr lang="en-US" dirty="0">
                <a:solidFill>
                  <a:schemeClr val="tx1"/>
                </a:solidFill>
                <a:latin typeface="PT Serif" panose="020A0603040505020204" pitchFamily="18" charset="0"/>
                <a:ea typeface="DM Sans" pitchFamily="34" charset="-122"/>
                <a:cs typeface="DM Sans" pitchFamily="34" charset="-120"/>
              </a:rPr>
              <a:t>Each configuration demands careful preprocessing, rigorous validation, meticulous performance tracking, and manual comparison. </a:t>
            </a:r>
          </a:p>
          <a:p>
            <a:pPr marL="0" indent="0" algn="l">
              <a:lnSpc>
                <a:spcPct val="150000"/>
              </a:lnSpc>
              <a:buNone/>
            </a:pPr>
            <a:endParaRPr lang="en-US" dirty="0">
              <a:solidFill>
                <a:schemeClr val="tx1"/>
              </a:solidFill>
              <a:latin typeface="PT Serif" panose="020A0603040505020204" pitchFamily="18" charset="0"/>
              <a:ea typeface="DM Sans" pitchFamily="34" charset="-122"/>
              <a:cs typeface="DM Sans" pitchFamily="34" charset="-120"/>
            </a:endParaRPr>
          </a:p>
          <a:p>
            <a:pPr marL="0" indent="0" algn="l">
              <a:lnSpc>
                <a:spcPct val="150000"/>
              </a:lnSpc>
              <a:buNone/>
            </a:pPr>
            <a:r>
              <a:rPr lang="en-US" dirty="0">
                <a:solidFill>
                  <a:schemeClr val="tx1"/>
                </a:solidFill>
                <a:latin typeface="PT Serif" panose="020A0603040505020204" pitchFamily="18" charset="0"/>
                <a:ea typeface="DM Sans" pitchFamily="34" charset="-122"/>
                <a:cs typeface="DM Sans" pitchFamily="34" charset="-120"/>
              </a:rPr>
              <a:t>This process is not only time-consuming but also difficult to reproduce consistently.  </a:t>
            </a:r>
          </a:p>
          <a:p>
            <a:pPr marL="0" indent="0" algn="l">
              <a:lnSpc>
                <a:spcPct val="150000"/>
              </a:lnSpc>
              <a:buNone/>
            </a:pPr>
            <a:endParaRPr lang="en-US" dirty="0">
              <a:solidFill>
                <a:schemeClr val="tx1"/>
              </a:solidFill>
              <a:latin typeface="PT Serif" panose="020A0603040505020204" pitchFamily="18" charset="0"/>
            </a:endParaRPr>
          </a:p>
          <a:p>
            <a:pPr marL="0" indent="0" algn="l">
              <a:lnSpc>
                <a:spcPct val="150000"/>
              </a:lnSpc>
              <a:buNone/>
            </a:pPr>
            <a:r>
              <a:rPr lang="en-US" b="1" dirty="0">
                <a:solidFill>
                  <a:schemeClr val="tx1"/>
                </a:solidFill>
                <a:latin typeface="PT Serif" panose="020A0603040505020204" pitchFamily="18" charset="0"/>
              </a:rPr>
              <a:t>This is where AutoML comes in the picture.</a:t>
            </a:r>
          </a:p>
          <a:p>
            <a:pPr marL="0" indent="0" algn="l">
              <a:lnSpc>
                <a:spcPct val="150000"/>
              </a:lnSpc>
              <a:buNone/>
            </a:pPr>
            <a:endParaRPr lang="en-US" dirty="0">
              <a:solidFill>
                <a:schemeClr val="tx1"/>
              </a:solidFill>
              <a:latin typeface="PT Serif" panose="020A0603040505020204" pitchFamily="18" charset="0"/>
            </a:endParaRPr>
          </a:p>
        </p:txBody>
      </p:sp>
      <p:pic>
        <p:nvPicPr>
          <p:cNvPr id="5" name="Image 0" descr="preencoded.png">
            <a:extLst>
              <a:ext uri="{FF2B5EF4-FFF2-40B4-BE49-F238E27FC236}">
                <a16:creationId xmlns:a16="http://schemas.microsoft.com/office/drawing/2014/main" id="{2ED80272-BBCC-3463-09F6-494DFBCD9354}"/>
              </a:ext>
            </a:extLst>
          </p:cNvPr>
          <p:cNvPicPr>
            <a:picLocks noChangeAspect="1"/>
          </p:cNvPicPr>
          <p:nvPr/>
        </p:nvPicPr>
        <p:blipFill>
          <a:blip r:embed="rId2"/>
          <a:stretch>
            <a:fillRect/>
          </a:stretch>
        </p:blipFill>
        <p:spPr>
          <a:xfrm>
            <a:off x="9144000" y="-5862"/>
            <a:ext cx="5486400" cy="8229600"/>
          </a:xfrm>
          <a:prstGeom prst="rect">
            <a:avLst/>
          </a:prstGeom>
        </p:spPr>
      </p:pic>
    </p:spTree>
    <p:extLst>
      <p:ext uri="{BB962C8B-B14F-4D97-AF65-F5344CB8AC3E}">
        <p14:creationId xmlns:p14="http://schemas.microsoft.com/office/powerpoint/2010/main" val="2269145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482" y="83071"/>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What Is AutoML?</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5249508" y="1867206"/>
            <a:ext cx="4164095" cy="4152594"/>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20702" y="2119588"/>
            <a:ext cx="3976821" cy="486528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Primary Goal</a:t>
            </a:r>
            <a:endParaRPr lang="en-US" sz="2400" dirty="0">
              <a:latin typeface="PT Serif" panose="020A0603040505020204" pitchFamily="18" charset="0"/>
            </a:endParaRPr>
          </a:p>
          <a:p>
            <a:pPr marL="0" indent="0" algn="l">
              <a:lnSpc>
                <a:spcPct val="200000"/>
              </a:lnSpc>
              <a:buNone/>
            </a:pPr>
            <a:endParaRPr lang="en-US"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Identify the best-performing ML pipeline with minimal manual effort</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98113" y="1918788"/>
            <a:ext cx="3818573" cy="4092648"/>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68260" y="2119588"/>
            <a:ext cx="3347385" cy="231374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Output</a:t>
            </a:r>
            <a:endParaRPr lang="en-US" sz="2400" dirty="0">
              <a:latin typeface="PT Serif" panose="020A0603040505020204" pitchFamily="18" charset="0"/>
            </a:endParaRPr>
          </a:p>
          <a:p>
            <a:pPr marL="0" indent="0" algn="l">
              <a:lnSpc>
                <a:spcPct val="200000"/>
              </a:lnSpc>
              <a:buNone/>
            </a:pPr>
            <a:endParaRPr lang="en-US"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Best model or weighted ensemble of best models</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85800" y="1871643"/>
            <a:ext cx="3976821" cy="4152594"/>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38201" y="2119588"/>
            <a:ext cx="3626798" cy="2476441"/>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Automation Scope</a:t>
            </a:r>
            <a:endParaRPr lang="en-US" sz="2400" dirty="0">
              <a:latin typeface="PT Serif" panose="020A0603040505020204" pitchFamily="18" charset="0"/>
            </a:endParaRPr>
          </a:p>
          <a:p>
            <a:pPr algn="l">
              <a:lnSpc>
                <a:spcPct val="200000"/>
              </a:lnSpc>
            </a:pPr>
            <a:endParaRPr lang="en-US" dirty="0">
              <a:solidFill>
                <a:srgbClr val="383838"/>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AutoML automates data preprocessing, model selection, hyperparameter tuning, and model evaluation</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Tree>
    <p:extLst>
      <p:ext uri="{BB962C8B-B14F-4D97-AF65-F5344CB8AC3E}">
        <p14:creationId xmlns:p14="http://schemas.microsoft.com/office/powerpoint/2010/main" val="3546163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750141" y="1510906"/>
            <a:ext cx="6411330" cy="2819400"/>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760896" y="4548057"/>
            <a:ext cx="6377809" cy="2800483"/>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61042" y="4548056"/>
            <a:ext cx="6703784" cy="2800484"/>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1529822"/>
            <a:ext cx="6703784" cy="2800484"/>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760896" y="175380"/>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What AutoML Is NOT</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058373" y="1503683"/>
            <a:ext cx="6034239" cy="4698301"/>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Not a New ML Algorithm</a:t>
            </a:r>
            <a:endParaRPr lang="en-US" sz="2400" dirty="0">
              <a:latin typeface="PT Serif" panose="020A0603040505020204" pitchFamily="18" charset="0"/>
            </a:endParaRPr>
          </a:p>
          <a:p>
            <a:pPr algn="l">
              <a:lnSpc>
                <a:spcPct val="200000"/>
              </a:lnSpc>
            </a:pPr>
            <a:endParaRPr lang="en-US" dirty="0">
              <a:solidFill>
                <a:srgbClr val="000000"/>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AutoML uses existing algorithms and methods, not novel ones</a:t>
            </a:r>
            <a:endParaRPr lang="en-US" dirty="0">
              <a:solidFill>
                <a:srgbClr val="000000"/>
              </a:solidFill>
              <a:latin typeface="PT Serif" panose="020A0603040505020204" pitchFamily="18" charset="0"/>
            </a:endParaRPr>
          </a:p>
          <a:p>
            <a:pPr algn="l">
              <a:lnSpc>
                <a:spcPct val="200000"/>
              </a:lnSpc>
            </a:pPr>
            <a:endParaRPr lang="en-US" dirty="0">
              <a:solidFill>
                <a:srgbClr val="000000"/>
              </a:solidFill>
              <a:latin typeface="PT Serif" panose="020A0603040505020204" pitchFamily="18" charset="0"/>
            </a:endParaRPr>
          </a:p>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Not a Replacement for Domain Knowledge</a:t>
            </a:r>
            <a:endParaRPr lang="en-US" sz="2400" dirty="0">
              <a:latin typeface="PT Serif" panose="020A0603040505020204" pitchFamily="18" charset="0"/>
            </a:endParaRPr>
          </a:p>
          <a:p>
            <a:pPr algn="l">
              <a:lnSpc>
                <a:spcPct val="200000"/>
              </a:lnSpc>
            </a:pPr>
            <a:endParaRPr lang="en-US" dirty="0">
              <a:solidFill>
                <a:srgbClr val="383838"/>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Expert understanding remains critical for success</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970996" y="1503683"/>
            <a:ext cx="5973604" cy="4698301"/>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Not Artificial Intelligence Itself</a:t>
            </a:r>
            <a:endParaRPr lang="en-US" sz="2400" dirty="0">
              <a:latin typeface="PT Serif" panose="020A0603040505020204" pitchFamily="18" charset="0"/>
            </a:endParaRPr>
          </a:p>
          <a:p>
            <a:pPr marL="0" indent="0" algn="l">
              <a:lnSpc>
                <a:spcPct val="200000"/>
              </a:lnSpc>
              <a:buNone/>
            </a:pPr>
            <a:endParaRPr lang="en-US" dirty="0">
              <a:solidFill>
                <a:srgbClr val="000000"/>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It's an automation tool, not a thinking system</a:t>
            </a:r>
            <a:endParaRPr lang="en-US" sz="1800" dirty="0">
              <a:latin typeface="PT Serif" panose="020A0603040505020204" pitchFamily="18" charset="0"/>
            </a:endParaRPr>
          </a:p>
          <a:p>
            <a:pPr marL="0" indent="0" algn="l">
              <a:lnSpc>
                <a:spcPct val="200000"/>
              </a:lnSpc>
              <a:buNone/>
            </a:pPr>
            <a:endParaRPr lang="en-US" dirty="0">
              <a:solidFill>
                <a:srgbClr val="000000"/>
              </a:solidFill>
              <a:latin typeface="PT Serif" panose="020A0603040505020204" pitchFamily="18" charset="0"/>
            </a:endParaRPr>
          </a:p>
          <a:p>
            <a:pPr marL="0" indent="0" algn="l">
              <a:lnSpc>
                <a:spcPct val="200000"/>
              </a:lnSpc>
              <a:buNone/>
            </a:pPr>
            <a:endParaRPr lang="en-US" dirty="0">
              <a:solidFill>
                <a:srgbClr val="000000"/>
              </a:solidFill>
              <a:latin typeface="PT Serif" panose="020A0603040505020204" pitchFamily="18" charset="0"/>
            </a:endParaRPr>
          </a:p>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Not a Production System</a:t>
            </a:r>
            <a:endParaRPr lang="en-US" sz="2400" dirty="0">
              <a:latin typeface="PT Serif" panose="020A0603040505020204" pitchFamily="18" charset="0"/>
            </a:endParaRPr>
          </a:p>
          <a:p>
            <a:pPr marL="0" indent="0" algn="ctr">
              <a:lnSpc>
                <a:spcPct val="200000"/>
              </a:lnSpc>
              <a:buNone/>
            </a:pPr>
            <a:endParaRPr lang="en-US"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Deployment and monitoring require separate infrastructure</a:t>
            </a:r>
            <a:endParaRPr lang="en-US" sz="1800" dirty="0">
              <a:latin typeface="PT Serif" panose="020A0603040505020204" pitchFamily="18" charset="0"/>
            </a:endParaRPr>
          </a:p>
        </p:txBody>
      </p:sp>
    </p:spTree>
    <p:extLst>
      <p:ext uri="{BB962C8B-B14F-4D97-AF65-F5344CB8AC3E}">
        <p14:creationId xmlns:p14="http://schemas.microsoft.com/office/powerpoint/2010/main" val="2050921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1" name="object 13">
            <a:extLst>
              <a:ext uri="{FF2B5EF4-FFF2-40B4-BE49-F238E27FC236}">
                <a16:creationId xmlns:a16="http://schemas.microsoft.com/office/drawing/2014/main" id="{3A7BD985-4F33-92C4-8CA6-B96C8FF5B89E}"/>
              </a:ext>
            </a:extLst>
          </p:cNvPr>
          <p:cNvGrpSpPr/>
          <p:nvPr/>
        </p:nvGrpSpPr>
        <p:grpSpPr>
          <a:xfrm>
            <a:off x="7540262" y="2279125"/>
            <a:ext cx="5530189" cy="3919173"/>
            <a:chOff x="793788" y="4631308"/>
            <a:chExt cx="6437630" cy="2974340"/>
          </a:xfrm>
        </p:grpSpPr>
        <p:sp>
          <p:nvSpPr>
            <p:cNvPr id="32" name="object 14">
              <a:extLst>
                <a:ext uri="{FF2B5EF4-FFF2-40B4-BE49-F238E27FC236}">
                  <a16:creationId xmlns:a16="http://schemas.microsoft.com/office/drawing/2014/main" id="{EF009A0C-E269-9B9B-724D-1EA47701A74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3" name="object 15">
              <a:extLst>
                <a:ext uri="{FF2B5EF4-FFF2-40B4-BE49-F238E27FC236}">
                  <a16:creationId xmlns:a16="http://schemas.microsoft.com/office/drawing/2014/main" id="{854AAF6B-CF3B-8A7E-D12F-750BEE487628}"/>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7" name="object 13">
            <a:extLst>
              <a:ext uri="{FF2B5EF4-FFF2-40B4-BE49-F238E27FC236}">
                <a16:creationId xmlns:a16="http://schemas.microsoft.com/office/drawing/2014/main" id="{71BCED2E-FE8E-F08D-11A2-6AA41947F461}"/>
              </a:ext>
            </a:extLst>
          </p:cNvPr>
          <p:cNvGrpSpPr/>
          <p:nvPr/>
        </p:nvGrpSpPr>
        <p:grpSpPr>
          <a:xfrm>
            <a:off x="1295400" y="2260209"/>
            <a:ext cx="5530189" cy="3938089"/>
            <a:chOff x="793788" y="4631308"/>
            <a:chExt cx="6437630" cy="2974340"/>
          </a:xfrm>
        </p:grpSpPr>
        <p:sp>
          <p:nvSpPr>
            <p:cNvPr id="29" name="object 14">
              <a:extLst>
                <a:ext uri="{FF2B5EF4-FFF2-40B4-BE49-F238E27FC236}">
                  <a16:creationId xmlns:a16="http://schemas.microsoft.com/office/drawing/2014/main" id="{480FE160-EE77-03F2-9C11-9E87BC4678C6}"/>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0" name="object 15">
              <a:extLst>
                <a:ext uri="{FF2B5EF4-FFF2-40B4-BE49-F238E27FC236}">
                  <a16:creationId xmlns:a16="http://schemas.microsoft.com/office/drawing/2014/main" id="{985591CC-C239-2601-DAF4-E4354156F49D}"/>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1092571" y="457200"/>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Traditional ML vs AutoML</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735379" y="2469893"/>
            <a:ext cx="4650230" cy="4698301"/>
          </a:xfrm>
          <a:prstGeom prst="rect">
            <a:avLst/>
          </a:prstGeom>
          <a:noFill/>
          <a:ln/>
        </p:spPr>
        <p:txBody>
          <a:bodyPr wrap="square" lIns="0" tIns="0" rIns="0" bIns="0" rtlCol="0" anchor="t"/>
          <a:lstStyle/>
          <a:p>
            <a:pPr marL="0" indent="0" algn="l">
              <a:lnSpc>
                <a:spcPct val="200000"/>
              </a:lnSpc>
              <a:buNone/>
            </a:pPr>
            <a:r>
              <a:rPr lang="en-US" sz="2400" dirty="0">
                <a:solidFill>
                  <a:srgbClr val="020202"/>
                </a:solidFill>
                <a:latin typeface="PT Serif" panose="020A0603040505020204" pitchFamily="18" charset="0"/>
                <a:ea typeface="PT Serif" pitchFamily="34" charset="-122"/>
                <a:cs typeface="PT Serif" pitchFamily="34" charset="-120"/>
              </a:rPr>
              <a:t>Traditional ML</a:t>
            </a:r>
            <a:endParaRPr lang="en-US" sz="2400" dirty="0">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rgbClr val="000000"/>
                </a:solidFill>
                <a:latin typeface="PT Serif" panose="020A0603040505020204" pitchFamily="18" charset="0"/>
                <a:ea typeface="DM Sans" pitchFamily="34" charset="-122"/>
                <a:cs typeface="DM Sans" pitchFamily="34" charset="-120"/>
              </a:rPr>
              <a:t>Manual trial-and-error</a:t>
            </a:r>
            <a:endParaRPr lang="en-US" sz="1800" dirty="0">
              <a:latin typeface="PT Serif" panose="020A0603040505020204" pitchFamily="18" charset="0"/>
            </a:endParaRPr>
          </a:p>
          <a:p>
            <a:pPr marL="342900" indent="-342900" algn="l">
              <a:lnSpc>
                <a:spcPct val="200000"/>
              </a:lnSpc>
              <a:buSzPct val="100000"/>
              <a:buChar char="•"/>
            </a:pPr>
            <a:r>
              <a:rPr lang="en-US" sz="1800" dirty="0">
                <a:solidFill>
                  <a:srgbClr val="000000"/>
                </a:solidFill>
                <a:latin typeface="PT Serif" panose="020A0603040505020204" pitchFamily="18" charset="0"/>
                <a:ea typeface="DM Sans" pitchFamily="34" charset="-122"/>
                <a:cs typeface="DM Sans" pitchFamily="34" charset="-120"/>
              </a:rPr>
              <a:t>Expert-driven decisions</a:t>
            </a:r>
            <a:endParaRPr lang="en-US" sz="1800" dirty="0">
              <a:latin typeface="PT Serif" panose="020A0603040505020204" pitchFamily="18" charset="0"/>
            </a:endParaRPr>
          </a:p>
          <a:p>
            <a:pPr marL="342900" indent="-342900" algn="l">
              <a:lnSpc>
                <a:spcPct val="200000"/>
              </a:lnSpc>
              <a:buSzPct val="100000"/>
              <a:buChar char="•"/>
            </a:pPr>
            <a:r>
              <a:rPr lang="en-US" sz="1800" dirty="0">
                <a:solidFill>
                  <a:srgbClr val="000000"/>
                </a:solidFill>
                <a:latin typeface="PT Serif" panose="020A0603040505020204" pitchFamily="18" charset="0"/>
                <a:ea typeface="DM Sans" pitchFamily="34" charset="-122"/>
                <a:cs typeface="DM Sans" pitchFamily="34" charset="-120"/>
              </a:rPr>
              <a:t>Time-consuming experimentation</a:t>
            </a:r>
            <a:endParaRPr lang="en-US" sz="1800" dirty="0">
              <a:latin typeface="PT Serif" panose="020A0603040505020204" pitchFamily="18" charset="0"/>
            </a:endParaRPr>
          </a:p>
          <a:p>
            <a:pPr marL="0" indent="0" algn="l">
              <a:lnSpc>
                <a:spcPct val="200000"/>
              </a:lnSpc>
              <a:buNone/>
            </a:pPr>
            <a:endParaRPr lang="en-US" sz="1800"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920598" y="2356130"/>
            <a:ext cx="4780222" cy="4698301"/>
          </a:xfrm>
          <a:prstGeom prst="rect">
            <a:avLst/>
          </a:prstGeom>
          <a:noFill/>
          <a:ln/>
        </p:spPr>
        <p:txBody>
          <a:bodyPr wrap="square" lIns="0" tIns="0" rIns="0" bIns="0" rtlCol="0" anchor="t"/>
          <a:lstStyle/>
          <a:p>
            <a:pPr marL="0" indent="0" algn="l">
              <a:lnSpc>
                <a:spcPct val="200000"/>
              </a:lnSpc>
              <a:buNone/>
            </a:pPr>
            <a:r>
              <a:rPr lang="en-US" sz="2400" dirty="0">
                <a:solidFill>
                  <a:srgbClr val="020202"/>
                </a:solidFill>
                <a:latin typeface="PT Serif" panose="020A0603040505020204" pitchFamily="18" charset="0"/>
                <a:ea typeface="PT Serif" pitchFamily="34" charset="-122"/>
                <a:cs typeface="PT Serif" pitchFamily="34" charset="-120"/>
              </a:rPr>
              <a:t>AutoML</a:t>
            </a:r>
            <a:endParaRPr lang="en-US" sz="2400" dirty="0">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rgbClr val="383838"/>
                </a:solidFill>
                <a:latin typeface="PT Serif" panose="020A0603040505020204" pitchFamily="18" charset="0"/>
                <a:ea typeface="DM Sans" pitchFamily="34" charset="-122"/>
                <a:cs typeface="DM Sans" pitchFamily="34" charset="-120"/>
              </a:rPr>
              <a:t>Systematic model exploration</a:t>
            </a:r>
            <a:endParaRPr lang="en-US" sz="1800" dirty="0">
              <a:latin typeface="PT Serif" panose="020A0603040505020204" pitchFamily="18" charset="0"/>
            </a:endParaRPr>
          </a:p>
          <a:p>
            <a:pPr marL="342900" indent="-342900" algn="l">
              <a:lnSpc>
                <a:spcPct val="200000"/>
              </a:lnSpc>
              <a:buSzPct val="100000"/>
              <a:buChar char="•"/>
            </a:pPr>
            <a:r>
              <a:rPr lang="en-US" sz="1800" dirty="0">
                <a:solidFill>
                  <a:srgbClr val="383838"/>
                </a:solidFill>
                <a:latin typeface="PT Serif" panose="020A0603040505020204" pitchFamily="18" charset="0"/>
                <a:ea typeface="DM Sans" pitchFamily="34" charset="-122"/>
                <a:cs typeface="DM Sans" pitchFamily="34" charset="-120"/>
              </a:rPr>
              <a:t>Automated comparison</a:t>
            </a:r>
            <a:endParaRPr lang="en-US" sz="1800" dirty="0">
              <a:latin typeface="PT Serif" panose="020A0603040505020204" pitchFamily="18" charset="0"/>
            </a:endParaRPr>
          </a:p>
          <a:p>
            <a:pPr marL="342900" indent="-342900" algn="l">
              <a:lnSpc>
                <a:spcPct val="200000"/>
              </a:lnSpc>
              <a:buSzPct val="100000"/>
              <a:buChar char="•"/>
            </a:pPr>
            <a:r>
              <a:rPr lang="en-US" sz="1800" dirty="0">
                <a:solidFill>
                  <a:srgbClr val="383838"/>
                </a:solidFill>
                <a:latin typeface="PT Serif" panose="020A0603040505020204" pitchFamily="18" charset="0"/>
                <a:ea typeface="DM Sans" pitchFamily="34" charset="-122"/>
                <a:cs typeface="DM Sans" pitchFamily="34" charset="-120"/>
              </a:rPr>
              <a:t>Faster iteration and reproducibility</a:t>
            </a:r>
            <a:endParaRPr lang="en-US" sz="1800" dirty="0">
              <a:latin typeface="PT Serif" panose="020A0603040505020204" pitchFamily="18" charset="0"/>
            </a:endParaRPr>
          </a:p>
          <a:p>
            <a:pPr marL="0" indent="0" algn="l">
              <a:lnSpc>
                <a:spcPct val="200000"/>
              </a:lnSpc>
              <a:buNone/>
            </a:pPr>
            <a:endParaRPr lang="en-US" sz="1800" dirty="0">
              <a:solidFill>
                <a:schemeClr val="tx1"/>
              </a:solidFill>
              <a:latin typeface="PT Serif" panose="020A060304050502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900BC-8DD2-3217-0BBF-ADA14E5504D4}"/>
              </a:ext>
            </a:extLst>
          </p:cNvPr>
          <p:cNvSpPr>
            <a:spLocks noGrp="1"/>
          </p:cNvSpPr>
          <p:nvPr>
            <p:ph type="title"/>
          </p:nvPr>
        </p:nvSpPr>
        <p:spPr>
          <a:xfrm>
            <a:off x="974345" y="457200"/>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Why Do We Need AutoML?</a:t>
            </a:r>
            <a:endParaRPr lang="en-US" sz="3600" dirty="0"/>
          </a:p>
        </p:txBody>
      </p:sp>
      <p:sp>
        <p:nvSpPr>
          <p:cNvPr id="4" name="TextBox 3">
            <a:extLst>
              <a:ext uri="{FF2B5EF4-FFF2-40B4-BE49-F238E27FC236}">
                <a16:creationId xmlns:a16="http://schemas.microsoft.com/office/drawing/2014/main" id="{44AC7CD4-7060-39F3-BEA0-D27818FA4DCE}"/>
              </a:ext>
            </a:extLst>
          </p:cNvPr>
          <p:cNvSpPr txBox="1"/>
          <p:nvPr/>
        </p:nvSpPr>
        <p:spPr>
          <a:xfrm>
            <a:off x="974345" y="1279790"/>
            <a:ext cx="7315200" cy="6973256"/>
          </a:xfrm>
          <a:prstGeom prst="rect">
            <a:avLst/>
          </a:prstGeom>
          <a:noFill/>
        </p:spPr>
        <p:txBody>
          <a:bodyPr wrap="square">
            <a:spAutoFit/>
          </a:bodyPr>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Increasing Demand for ML Solutions</a:t>
            </a: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Organizations across industries need machine learning capabilities</a:t>
            </a:r>
            <a:endParaRPr lang="en-US" sz="1800" dirty="0">
              <a:solidFill>
                <a:schemeClr val="tx1"/>
              </a:solidFill>
              <a:latin typeface="PT Serif" panose="020A0603040505020204" pitchFamily="18" charset="0"/>
            </a:endParaRPr>
          </a:p>
          <a:p>
            <a:pPr algn="l">
              <a:lnSpc>
                <a:spcPct val="150000"/>
              </a:lnSpc>
            </a:pPr>
            <a:endParaRPr lang="en-US" sz="1800" dirty="0">
              <a:solidFill>
                <a:schemeClr val="tx1"/>
              </a:solidFill>
              <a:latin typeface="PT Serif" panose="020A0603040505020204" pitchFamily="18" charset="0"/>
            </a:endParaRPr>
          </a:p>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Shortage of ML Expertise</a:t>
            </a: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Not enough skilled practitioners to meet demand</a:t>
            </a:r>
            <a:endParaRPr lang="en-US" sz="1800" dirty="0">
              <a:solidFill>
                <a:schemeClr val="tx1"/>
              </a:solidFill>
              <a:latin typeface="PT Serif" panose="020A0603040505020204" pitchFamily="18" charset="0"/>
            </a:endParaRPr>
          </a:p>
          <a:p>
            <a:pPr algn="l">
              <a:lnSpc>
                <a:spcPct val="150000"/>
              </a:lnSpc>
            </a:pPr>
            <a:endParaRPr lang="en-US" sz="1800" dirty="0">
              <a:solidFill>
                <a:schemeClr val="tx1"/>
              </a:solidFill>
              <a:latin typeface="PT Serif" panose="020A0603040505020204" pitchFamily="18" charset="0"/>
            </a:endParaRPr>
          </a:p>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Need for Rapid Prototyping</a:t>
            </a: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Fast iteration cycles are essential in competitive environments</a:t>
            </a:r>
            <a:endParaRPr lang="en-US" sz="1800" dirty="0">
              <a:solidFill>
                <a:schemeClr val="tx1"/>
              </a:solidFill>
              <a:latin typeface="PT Serif" panose="020A0603040505020204" pitchFamily="18" charset="0"/>
            </a:endParaRPr>
          </a:p>
          <a:p>
            <a:pPr algn="l">
              <a:lnSpc>
                <a:spcPct val="150000"/>
              </a:lnSpc>
            </a:pPr>
            <a:endParaRPr lang="en-US" sz="1800" dirty="0">
              <a:solidFill>
                <a:schemeClr val="tx1"/>
              </a:solidFill>
              <a:latin typeface="PT Serif" panose="020A0603040505020204" pitchFamily="18" charset="0"/>
            </a:endParaRPr>
          </a:p>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Standardized and Repeatable Pipelines</a:t>
            </a: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Consistency and reproducibility improve reliability</a:t>
            </a:r>
            <a:endParaRPr lang="en-US" sz="1800" dirty="0">
              <a:solidFill>
                <a:schemeClr val="tx1"/>
              </a:solidFill>
              <a:latin typeface="PT Serif" panose="020A0603040505020204" pitchFamily="18" charset="0"/>
            </a:endParaRPr>
          </a:p>
          <a:p>
            <a:pPr algn="l">
              <a:lnSpc>
                <a:spcPct val="150000"/>
              </a:lnSpc>
            </a:pPr>
            <a:endParaRPr lang="en-US" sz="1800" dirty="0">
              <a:solidFill>
                <a:schemeClr val="tx1"/>
              </a:solidFill>
              <a:latin typeface="PT Serif" panose="020A0603040505020204" pitchFamily="18" charset="0"/>
            </a:endParaRPr>
          </a:p>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Strong Baseline Model Creation</a:t>
            </a: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Quickly establish performance benchmarks for comparison</a:t>
            </a:r>
            <a:endParaRPr lang="en-US" sz="1800" dirty="0">
              <a:solidFill>
                <a:schemeClr val="tx1"/>
              </a:solidFill>
              <a:latin typeface="PT Serif" panose="020A0603040505020204" pitchFamily="18" charset="0"/>
            </a:endParaRPr>
          </a:p>
          <a:p>
            <a:pPr marL="0" indent="0" algn="l">
              <a:lnSpc>
                <a:spcPct val="150000"/>
              </a:lnSpc>
              <a:buNone/>
            </a:pP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3921096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object 13">
            <a:extLst>
              <a:ext uri="{FF2B5EF4-FFF2-40B4-BE49-F238E27FC236}">
                <a16:creationId xmlns:a16="http://schemas.microsoft.com/office/drawing/2014/main" id="{6E45B585-A0FE-30FE-FC36-C60DF54B2BC2}"/>
              </a:ext>
            </a:extLst>
          </p:cNvPr>
          <p:cNvGrpSpPr/>
          <p:nvPr/>
        </p:nvGrpSpPr>
        <p:grpSpPr>
          <a:xfrm>
            <a:off x="7363372" y="4567423"/>
            <a:ext cx="6124028" cy="2061977"/>
            <a:chOff x="793788" y="4631308"/>
            <a:chExt cx="6437630" cy="2974340"/>
          </a:xfrm>
        </p:grpSpPr>
        <p:sp>
          <p:nvSpPr>
            <p:cNvPr id="47" name="object 14">
              <a:extLst>
                <a:ext uri="{FF2B5EF4-FFF2-40B4-BE49-F238E27FC236}">
                  <a16:creationId xmlns:a16="http://schemas.microsoft.com/office/drawing/2014/main" id="{7396689F-631B-A245-53E6-96710016A362}"/>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sp>
          <p:nvSpPr>
            <p:cNvPr id="48" name="object 15">
              <a:extLst>
                <a:ext uri="{FF2B5EF4-FFF2-40B4-BE49-F238E27FC236}">
                  <a16:creationId xmlns:a16="http://schemas.microsoft.com/office/drawing/2014/main" id="{57101910-42A8-14D5-73BB-F1A908221F7D}"/>
                </a:ext>
              </a:extLst>
            </p:cNvPr>
            <p:cNvSpPr/>
            <p:nvPr/>
          </p:nvSpPr>
          <p:spPr>
            <a:xfrm>
              <a:off x="816648" y="4654167"/>
              <a:ext cx="6391910" cy="851822"/>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43" name="object 13">
            <a:extLst>
              <a:ext uri="{FF2B5EF4-FFF2-40B4-BE49-F238E27FC236}">
                <a16:creationId xmlns:a16="http://schemas.microsoft.com/office/drawing/2014/main" id="{54840197-5C4F-D3B6-B2B2-BB33E053E26C}"/>
              </a:ext>
            </a:extLst>
          </p:cNvPr>
          <p:cNvGrpSpPr/>
          <p:nvPr/>
        </p:nvGrpSpPr>
        <p:grpSpPr>
          <a:xfrm>
            <a:off x="376365" y="1371601"/>
            <a:ext cx="4382591" cy="2743200"/>
            <a:chOff x="793788" y="4631308"/>
            <a:chExt cx="6437630" cy="2974340"/>
          </a:xfrm>
        </p:grpSpPr>
        <p:sp>
          <p:nvSpPr>
            <p:cNvPr id="44" name="object 14">
              <a:extLst>
                <a:ext uri="{FF2B5EF4-FFF2-40B4-BE49-F238E27FC236}">
                  <a16:creationId xmlns:a16="http://schemas.microsoft.com/office/drawing/2014/main" id="{86164584-B7BA-12A8-616B-9BA1158E8FCE}"/>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45" name="object 15">
              <a:extLst>
                <a:ext uri="{FF2B5EF4-FFF2-40B4-BE49-F238E27FC236}">
                  <a16:creationId xmlns:a16="http://schemas.microsoft.com/office/drawing/2014/main" id="{3DDA5C7D-C798-EB82-A835-7A4BD4CAA2FE}"/>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6" name="object 13">
            <a:extLst>
              <a:ext uri="{FF2B5EF4-FFF2-40B4-BE49-F238E27FC236}">
                <a16:creationId xmlns:a16="http://schemas.microsoft.com/office/drawing/2014/main" id="{D64B51DE-8551-E474-D43D-A4E8498B004A}"/>
              </a:ext>
            </a:extLst>
          </p:cNvPr>
          <p:cNvGrpSpPr/>
          <p:nvPr/>
        </p:nvGrpSpPr>
        <p:grpSpPr>
          <a:xfrm>
            <a:off x="5063756" y="1371601"/>
            <a:ext cx="4718986" cy="2743200"/>
            <a:chOff x="793788" y="4631308"/>
            <a:chExt cx="6437630" cy="2974340"/>
          </a:xfrm>
        </p:grpSpPr>
        <p:sp>
          <p:nvSpPr>
            <p:cNvPr id="41" name="object 15">
              <a:extLst>
                <a:ext uri="{FF2B5EF4-FFF2-40B4-BE49-F238E27FC236}">
                  <a16:creationId xmlns:a16="http://schemas.microsoft.com/office/drawing/2014/main" id="{013F44D9-F643-F6CB-830D-BC844CCFFC92}"/>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sp>
          <p:nvSpPr>
            <p:cNvPr id="42" name="object 14">
              <a:extLst>
                <a:ext uri="{FF2B5EF4-FFF2-40B4-BE49-F238E27FC236}">
                  <a16:creationId xmlns:a16="http://schemas.microsoft.com/office/drawing/2014/main" id="{24B9657A-70C1-1FF1-29D6-0A84FB24C5E1}"/>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grpSp>
      <p:grpSp>
        <p:nvGrpSpPr>
          <p:cNvPr id="35" name="object 13">
            <a:extLst>
              <a:ext uri="{FF2B5EF4-FFF2-40B4-BE49-F238E27FC236}">
                <a16:creationId xmlns:a16="http://schemas.microsoft.com/office/drawing/2014/main" id="{70148CBA-CCB0-CF90-D30B-74347CD2AFE9}"/>
              </a:ext>
            </a:extLst>
          </p:cNvPr>
          <p:cNvGrpSpPr/>
          <p:nvPr/>
        </p:nvGrpSpPr>
        <p:grpSpPr>
          <a:xfrm>
            <a:off x="762000" y="4539821"/>
            <a:ext cx="6124028" cy="2061977"/>
            <a:chOff x="793788" y="4631308"/>
            <a:chExt cx="6437630" cy="2974340"/>
          </a:xfrm>
        </p:grpSpPr>
        <p:sp>
          <p:nvSpPr>
            <p:cNvPr id="36" name="object 14">
              <a:extLst>
                <a:ext uri="{FF2B5EF4-FFF2-40B4-BE49-F238E27FC236}">
                  <a16:creationId xmlns:a16="http://schemas.microsoft.com/office/drawing/2014/main" id="{AFAFB433-445F-84F2-5654-05E266EFCBAF}"/>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sp>
          <p:nvSpPr>
            <p:cNvPr id="37" name="object 15">
              <a:extLst>
                <a:ext uri="{FF2B5EF4-FFF2-40B4-BE49-F238E27FC236}">
                  <a16:creationId xmlns:a16="http://schemas.microsoft.com/office/drawing/2014/main" id="{691360C6-AC20-985E-26C6-F44538D6EEAF}"/>
                </a:ext>
              </a:extLst>
            </p:cNvPr>
            <p:cNvSpPr/>
            <p:nvPr/>
          </p:nvSpPr>
          <p:spPr>
            <a:xfrm>
              <a:off x="816648" y="4654167"/>
              <a:ext cx="6391910" cy="851822"/>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32" name="object 13">
            <a:extLst>
              <a:ext uri="{FF2B5EF4-FFF2-40B4-BE49-F238E27FC236}">
                <a16:creationId xmlns:a16="http://schemas.microsoft.com/office/drawing/2014/main" id="{316B79C2-0084-6D29-58C4-A0BA282FB8B6}"/>
              </a:ext>
            </a:extLst>
          </p:cNvPr>
          <p:cNvGrpSpPr/>
          <p:nvPr/>
        </p:nvGrpSpPr>
        <p:grpSpPr>
          <a:xfrm>
            <a:off x="9943009" y="1371601"/>
            <a:ext cx="4382591" cy="2743200"/>
            <a:chOff x="793788" y="4631308"/>
            <a:chExt cx="6437630" cy="2974340"/>
          </a:xfrm>
        </p:grpSpPr>
        <p:sp>
          <p:nvSpPr>
            <p:cNvPr id="33" name="object 14">
              <a:extLst>
                <a:ext uri="{FF2B5EF4-FFF2-40B4-BE49-F238E27FC236}">
                  <a16:creationId xmlns:a16="http://schemas.microsoft.com/office/drawing/2014/main" id="{62217902-07B9-CB3E-14BE-5B41480EDC3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4" name="object 15">
              <a:extLst>
                <a:ext uri="{FF2B5EF4-FFF2-40B4-BE49-F238E27FC236}">
                  <a16:creationId xmlns:a16="http://schemas.microsoft.com/office/drawing/2014/main" id="{16C54A3B-48D1-B03B-1A3D-B17D54D0F728}"/>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598620" y="-183184"/>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Who Should Use AutoML?</a:t>
            </a:r>
            <a:endParaRPr lang="en-US" sz="3600" dirty="0">
              <a:solidFill>
                <a:schemeClr val="tx1"/>
              </a:solidFill>
            </a:endParaRPr>
          </a:p>
        </p:txBody>
      </p:sp>
      <p:sp>
        <p:nvSpPr>
          <p:cNvPr id="14" name="Text 6">
            <a:extLst>
              <a:ext uri="{FF2B5EF4-FFF2-40B4-BE49-F238E27FC236}">
                <a16:creationId xmlns:a16="http://schemas.microsoft.com/office/drawing/2014/main" id="{BEBCEDAE-A091-212D-F1FD-EBC293DAA8C5}"/>
              </a:ext>
            </a:extLst>
          </p:cNvPr>
          <p:cNvSpPr/>
          <p:nvPr/>
        </p:nvSpPr>
        <p:spPr>
          <a:xfrm>
            <a:off x="5240269" y="1374039"/>
            <a:ext cx="4536611" cy="486528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Business Analytics Teams</a:t>
            </a:r>
            <a:endParaRPr lang="en-US" sz="2400" dirty="0">
              <a:solidFill>
                <a:schemeClr val="tx1"/>
              </a:solidFill>
              <a:latin typeface="PT Serif" panose="020A0603040505020204" pitchFamily="18" charset="0"/>
            </a:endParaRPr>
          </a:p>
          <a:p>
            <a:pPr marL="0" indent="0" algn="l">
              <a:lnSpc>
                <a:spcPct val="200000"/>
              </a:lnSpc>
              <a:buNone/>
            </a:pPr>
            <a:endParaRPr lang="en-US" sz="12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Teams focused on business insights rather than algorithm development</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p:txBody>
      </p:sp>
      <p:sp>
        <p:nvSpPr>
          <p:cNvPr id="17" name="Text 9">
            <a:extLst>
              <a:ext uri="{FF2B5EF4-FFF2-40B4-BE49-F238E27FC236}">
                <a16:creationId xmlns:a16="http://schemas.microsoft.com/office/drawing/2014/main" id="{A0DABD8D-9C74-8096-EA52-80379EDA21AF}"/>
              </a:ext>
            </a:extLst>
          </p:cNvPr>
          <p:cNvSpPr/>
          <p:nvPr/>
        </p:nvSpPr>
        <p:spPr>
          <a:xfrm>
            <a:off x="10270163" y="1340321"/>
            <a:ext cx="3818573"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Startups and Small Teams</a:t>
            </a:r>
            <a:endParaRPr lang="en-US" sz="2400" dirty="0">
              <a:solidFill>
                <a:schemeClr val="tx1"/>
              </a:solidFill>
              <a:latin typeface="PT Serif" panose="020A0603040505020204" pitchFamily="18" charset="0"/>
            </a:endParaRPr>
          </a:p>
          <a:p>
            <a:pPr marL="0" indent="0" algn="l">
              <a:lnSpc>
                <a:spcPct val="200000"/>
              </a:lnSpc>
              <a:buNone/>
            </a:pPr>
            <a:endParaRPr lang="en-US" sz="12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Organizations with limited resources and personnel</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659557" y="1311718"/>
            <a:ext cx="4246124"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Data Analysts</a:t>
            </a:r>
            <a:endParaRPr lang="en-US" sz="2400" dirty="0">
              <a:solidFill>
                <a:schemeClr val="tx1"/>
              </a:solidFill>
              <a:latin typeface="PT Serif" panose="020A0603040505020204" pitchFamily="18" charset="0"/>
            </a:endParaRPr>
          </a:p>
          <a:p>
            <a:pPr marL="0" indent="0" algn="l">
              <a:lnSpc>
                <a:spcPct val="200000"/>
              </a:lnSpc>
              <a:buNone/>
            </a:pPr>
            <a:endParaRPr lang="en-US" sz="12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Professionals analyzing data who need ML capabilities without deep expertise</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p:txBody>
      </p:sp>
      <p:sp>
        <p:nvSpPr>
          <p:cNvPr id="23" name="Text 3">
            <a:extLst>
              <a:ext uri="{FF2B5EF4-FFF2-40B4-BE49-F238E27FC236}">
                <a16:creationId xmlns:a16="http://schemas.microsoft.com/office/drawing/2014/main" id="{3DCBC250-CD01-2E79-92CE-66C8490F3F70}"/>
              </a:ext>
            </a:extLst>
          </p:cNvPr>
          <p:cNvSpPr/>
          <p:nvPr/>
        </p:nvSpPr>
        <p:spPr>
          <a:xfrm>
            <a:off x="928413" y="4456068"/>
            <a:ext cx="5791200"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Researchers Needing Quick Baselines</a:t>
            </a:r>
          </a:p>
          <a:p>
            <a:pPr marL="0" indent="0" algn="l">
              <a:lnSpc>
                <a:spcPct val="200000"/>
              </a:lnSpc>
              <a:buNone/>
            </a:pPr>
            <a:endParaRPr lang="en-US" sz="12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Academics establishing performance benchmarks rapidly</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p:txBody>
      </p:sp>
      <p:sp>
        <p:nvSpPr>
          <p:cNvPr id="25" name="Text 3">
            <a:extLst>
              <a:ext uri="{FF2B5EF4-FFF2-40B4-BE49-F238E27FC236}">
                <a16:creationId xmlns:a16="http://schemas.microsoft.com/office/drawing/2014/main" id="{E3294D3C-0418-C801-8DB9-F254AEFAC6F0}"/>
              </a:ext>
            </a:extLst>
          </p:cNvPr>
          <p:cNvSpPr/>
          <p:nvPr/>
        </p:nvSpPr>
        <p:spPr>
          <a:xfrm>
            <a:off x="7681805" y="4456068"/>
            <a:ext cx="5791200"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Organizations Scaling ML Usage</a:t>
            </a:r>
          </a:p>
          <a:p>
            <a:pPr marL="0" indent="0" algn="l">
              <a:lnSpc>
                <a:spcPct val="200000"/>
              </a:lnSpc>
              <a:buNone/>
            </a:pPr>
            <a:endParaRPr lang="en-US" sz="12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Companies expanding machine learning across departments</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p:txBody>
      </p:sp>
    </p:spTree>
    <p:extLst>
      <p:ext uri="{BB962C8B-B14F-4D97-AF65-F5344CB8AC3E}">
        <p14:creationId xmlns:p14="http://schemas.microsoft.com/office/powerpoint/2010/main" val="2126883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object 13">
            <a:extLst>
              <a:ext uri="{FF2B5EF4-FFF2-40B4-BE49-F238E27FC236}">
                <a16:creationId xmlns:a16="http://schemas.microsoft.com/office/drawing/2014/main" id="{6E45B585-A0FE-30FE-FC36-C60DF54B2BC2}"/>
              </a:ext>
            </a:extLst>
          </p:cNvPr>
          <p:cNvGrpSpPr/>
          <p:nvPr/>
        </p:nvGrpSpPr>
        <p:grpSpPr>
          <a:xfrm>
            <a:off x="7363372" y="4567423"/>
            <a:ext cx="6124028" cy="2061977"/>
            <a:chOff x="793788" y="4631308"/>
            <a:chExt cx="6437630" cy="2974340"/>
          </a:xfrm>
        </p:grpSpPr>
        <p:sp>
          <p:nvSpPr>
            <p:cNvPr id="47" name="object 14">
              <a:extLst>
                <a:ext uri="{FF2B5EF4-FFF2-40B4-BE49-F238E27FC236}">
                  <a16:creationId xmlns:a16="http://schemas.microsoft.com/office/drawing/2014/main" id="{7396689F-631B-A245-53E6-96710016A362}"/>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sp>
          <p:nvSpPr>
            <p:cNvPr id="48" name="object 15">
              <a:extLst>
                <a:ext uri="{FF2B5EF4-FFF2-40B4-BE49-F238E27FC236}">
                  <a16:creationId xmlns:a16="http://schemas.microsoft.com/office/drawing/2014/main" id="{57101910-42A8-14D5-73BB-F1A908221F7D}"/>
                </a:ext>
              </a:extLst>
            </p:cNvPr>
            <p:cNvSpPr/>
            <p:nvPr/>
          </p:nvSpPr>
          <p:spPr>
            <a:xfrm>
              <a:off x="816648" y="4654167"/>
              <a:ext cx="6391910" cy="851822"/>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43" name="object 13">
            <a:extLst>
              <a:ext uri="{FF2B5EF4-FFF2-40B4-BE49-F238E27FC236}">
                <a16:creationId xmlns:a16="http://schemas.microsoft.com/office/drawing/2014/main" id="{54840197-5C4F-D3B6-B2B2-BB33E053E26C}"/>
              </a:ext>
            </a:extLst>
          </p:cNvPr>
          <p:cNvGrpSpPr/>
          <p:nvPr/>
        </p:nvGrpSpPr>
        <p:grpSpPr>
          <a:xfrm>
            <a:off x="376365" y="1371601"/>
            <a:ext cx="4382591" cy="2743200"/>
            <a:chOff x="793788" y="4631308"/>
            <a:chExt cx="6437630" cy="2974340"/>
          </a:xfrm>
        </p:grpSpPr>
        <p:sp>
          <p:nvSpPr>
            <p:cNvPr id="44" name="object 14">
              <a:extLst>
                <a:ext uri="{FF2B5EF4-FFF2-40B4-BE49-F238E27FC236}">
                  <a16:creationId xmlns:a16="http://schemas.microsoft.com/office/drawing/2014/main" id="{86164584-B7BA-12A8-616B-9BA1158E8FCE}"/>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45" name="object 15">
              <a:extLst>
                <a:ext uri="{FF2B5EF4-FFF2-40B4-BE49-F238E27FC236}">
                  <a16:creationId xmlns:a16="http://schemas.microsoft.com/office/drawing/2014/main" id="{3DDA5C7D-C798-EB82-A835-7A4BD4CAA2FE}"/>
                </a:ext>
              </a:extLst>
            </p:cNvPr>
            <p:cNvSpPr/>
            <p:nvPr/>
          </p:nvSpPr>
          <p:spPr>
            <a:xfrm>
              <a:off x="816649" y="4654167"/>
              <a:ext cx="6391910" cy="129906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6" name="object 13">
            <a:extLst>
              <a:ext uri="{FF2B5EF4-FFF2-40B4-BE49-F238E27FC236}">
                <a16:creationId xmlns:a16="http://schemas.microsoft.com/office/drawing/2014/main" id="{D64B51DE-8551-E474-D43D-A4E8498B004A}"/>
              </a:ext>
            </a:extLst>
          </p:cNvPr>
          <p:cNvGrpSpPr/>
          <p:nvPr/>
        </p:nvGrpSpPr>
        <p:grpSpPr>
          <a:xfrm>
            <a:off x="5063756" y="1371601"/>
            <a:ext cx="4718986" cy="2743200"/>
            <a:chOff x="793788" y="4631308"/>
            <a:chExt cx="6437630" cy="2974340"/>
          </a:xfrm>
        </p:grpSpPr>
        <p:sp>
          <p:nvSpPr>
            <p:cNvPr id="41" name="object 15">
              <a:extLst>
                <a:ext uri="{FF2B5EF4-FFF2-40B4-BE49-F238E27FC236}">
                  <a16:creationId xmlns:a16="http://schemas.microsoft.com/office/drawing/2014/main" id="{013F44D9-F643-F6CB-830D-BC844CCFFC92}"/>
                </a:ext>
              </a:extLst>
            </p:cNvPr>
            <p:cNvSpPr/>
            <p:nvPr/>
          </p:nvSpPr>
          <p:spPr>
            <a:xfrm>
              <a:off x="816648" y="4654167"/>
              <a:ext cx="6391910" cy="129906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sp>
          <p:nvSpPr>
            <p:cNvPr id="42" name="object 14">
              <a:extLst>
                <a:ext uri="{FF2B5EF4-FFF2-40B4-BE49-F238E27FC236}">
                  <a16:creationId xmlns:a16="http://schemas.microsoft.com/office/drawing/2014/main" id="{24B9657A-70C1-1FF1-29D6-0A84FB24C5E1}"/>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grpSp>
      <p:grpSp>
        <p:nvGrpSpPr>
          <p:cNvPr id="35" name="object 13">
            <a:extLst>
              <a:ext uri="{FF2B5EF4-FFF2-40B4-BE49-F238E27FC236}">
                <a16:creationId xmlns:a16="http://schemas.microsoft.com/office/drawing/2014/main" id="{70148CBA-CCB0-CF90-D30B-74347CD2AFE9}"/>
              </a:ext>
            </a:extLst>
          </p:cNvPr>
          <p:cNvGrpSpPr/>
          <p:nvPr/>
        </p:nvGrpSpPr>
        <p:grpSpPr>
          <a:xfrm>
            <a:off x="762000" y="4539821"/>
            <a:ext cx="6124028" cy="2061977"/>
            <a:chOff x="793788" y="4631308"/>
            <a:chExt cx="6437630" cy="2974340"/>
          </a:xfrm>
        </p:grpSpPr>
        <p:sp>
          <p:nvSpPr>
            <p:cNvPr id="36" name="object 14">
              <a:extLst>
                <a:ext uri="{FF2B5EF4-FFF2-40B4-BE49-F238E27FC236}">
                  <a16:creationId xmlns:a16="http://schemas.microsoft.com/office/drawing/2014/main" id="{AFAFB433-445F-84F2-5654-05E266EFCBAF}"/>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sp>
          <p:nvSpPr>
            <p:cNvPr id="37" name="object 15">
              <a:extLst>
                <a:ext uri="{FF2B5EF4-FFF2-40B4-BE49-F238E27FC236}">
                  <a16:creationId xmlns:a16="http://schemas.microsoft.com/office/drawing/2014/main" id="{691360C6-AC20-985E-26C6-F44538D6EEAF}"/>
                </a:ext>
              </a:extLst>
            </p:cNvPr>
            <p:cNvSpPr/>
            <p:nvPr/>
          </p:nvSpPr>
          <p:spPr>
            <a:xfrm>
              <a:off x="816648" y="4654167"/>
              <a:ext cx="6391910" cy="851822"/>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32" name="object 13">
            <a:extLst>
              <a:ext uri="{FF2B5EF4-FFF2-40B4-BE49-F238E27FC236}">
                <a16:creationId xmlns:a16="http://schemas.microsoft.com/office/drawing/2014/main" id="{316B79C2-0084-6D29-58C4-A0BA282FB8B6}"/>
              </a:ext>
            </a:extLst>
          </p:cNvPr>
          <p:cNvGrpSpPr/>
          <p:nvPr/>
        </p:nvGrpSpPr>
        <p:grpSpPr>
          <a:xfrm>
            <a:off x="9943009" y="1371601"/>
            <a:ext cx="4382591" cy="2743200"/>
            <a:chOff x="793788" y="4631308"/>
            <a:chExt cx="6437630" cy="2974340"/>
          </a:xfrm>
        </p:grpSpPr>
        <p:sp>
          <p:nvSpPr>
            <p:cNvPr id="33" name="object 14">
              <a:extLst>
                <a:ext uri="{FF2B5EF4-FFF2-40B4-BE49-F238E27FC236}">
                  <a16:creationId xmlns:a16="http://schemas.microsoft.com/office/drawing/2014/main" id="{62217902-07B9-CB3E-14BE-5B41480EDC3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4" name="object 15">
              <a:extLst>
                <a:ext uri="{FF2B5EF4-FFF2-40B4-BE49-F238E27FC236}">
                  <a16:creationId xmlns:a16="http://schemas.microsoft.com/office/drawing/2014/main" id="{16C54A3B-48D1-B03B-1A3D-B17D54D0F728}"/>
                </a:ext>
              </a:extLst>
            </p:cNvPr>
            <p:cNvSpPr/>
            <p:nvPr/>
          </p:nvSpPr>
          <p:spPr>
            <a:xfrm>
              <a:off x="816649" y="4654167"/>
              <a:ext cx="6391910" cy="129906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598620" y="-183184"/>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When Is AutoML Not Necessary?</a:t>
            </a:r>
            <a:endParaRPr lang="en-US" sz="3600" dirty="0">
              <a:solidFill>
                <a:schemeClr val="tx1"/>
              </a:solidFill>
            </a:endParaRPr>
          </a:p>
        </p:txBody>
      </p:sp>
      <p:sp>
        <p:nvSpPr>
          <p:cNvPr id="14" name="Text 6">
            <a:extLst>
              <a:ext uri="{FF2B5EF4-FFF2-40B4-BE49-F238E27FC236}">
                <a16:creationId xmlns:a16="http://schemas.microsoft.com/office/drawing/2014/main" id="{BEBCEDAE-A091-212D-F1FD-EBC293DAA8C5}"/>
              </a:ext>
            </a:extLst>
          </p:cNvPr>
          <p:cNvSpPr/>
          <p:nvPr/>
        </p:nvSpPr>
        <p:spPr>
          <a:xfrm>
            <a:off x="5240269" y="1374039"/>
            <a:ext cx="4536611" cy="4865280"/>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Deep Domain-Driven Features Required</a:t>
            </a:r>
            <a:endParaRPr lang="en-US" sz="2400" dirty="0">
              <a:solidFill>
                <a:schemeClr val="tx1"/>
              </a:solidFill>
              <a:latin typeface="PT Serif" panose="020A0603040505020204" pitchFamily="18" charset="0"/>
            </a:endParaRPr>
          </a:p>
          <a:p>
            <a:pPr marL="0" indent="0" algn="l">
              <a:lnSpc>
                <a:spcPct val="150000"/>
              </a:lnSpc>
              <a:buNone/>
            </a:pPr>
            <a:endParaRPr lang="en-US" sz="12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Problems needing expert feature engineering</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17" name="Text 9">
            <a:extLst>
              <a:ext uri="{FF2B5EF4-FFF2-40B4-BE49-F238E27FC236}">
                <a16:creationId xmlns:a16="http://schemas.microsoft.com/office/drawing/2014/main" id="{A0DABD8D-9C74-8096-EA52-80379EDA21AF}"/>
              </a:ext>
            </a:extLst>
          </p:cNvPr>
          <p:cNvSpPr/>
          <p:nvPr/>
        </p:nvSpPr>
        <p:spPr>
          <a:xfrm>
            <a:off x="10270163" y="1340321"/>
            <a:ext cx="3818573" cy="2313740"/>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High Interpretability or Regulatory Requirements</a:t>
            </a:r>
            <a:endParaRPr lang="en-US" sz="2400" dirty="0">
              <a:solidFill>
                <a:schemeClr val="tx1"/>
              </a:solidFill>
              <a:latin typeface="PT Serif" panose="020A0603040505020204" pitchFamily="18" charset="0"/>
            </a:endParaRPr>
          </a:p>
          <a:p>
            <a:pPr marL="0" indent="0" algn="l">
              <a:lnSpc>
                <a:spcPct val="150000"/>
              </a:lnSpc>
              <a:buNone/>
            </a:pPr>
            <a:endParaRPr lang="en-US" sz="12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Explainability may be compromised</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659557" y="1311718"/>
            <a:ext cx="4246124" cy="2476441"/>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Very Small or Highly Specialized Datasets</a:t>
            </a:r>
            <a:endParaRPr lang="en-US" sz="2400" dirty="0">
              <a:solidFill>
                <a:schemeClr val="tx1"/>
              </a:solidFill>
              <a:latin typeface="PT Serif" panose="020A0603040505020204" pitchFamily="18" charset="0"/>
            </a:endParaRPr>
          </a:p>
          <a:p>
            <a:pPr marL="0" indent="0" algn="l">
              <a:lnSpc>
                <a:spcPct val="150000"/>
              </a:lnSpc>
              <a:buNone/>
            </a:pPr>
            <a:endParaRPr lang="en-US" sz="12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Custom approaches may be more effective</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23" name="Text 3">
            <a:extLst>
              <a:ext uri="{FF2B5EF4-FFF2-40B4-BE49-F238E27FC236}">
                <a16:creationId xmlns:a16="http://schemas.microsoft.com/office/drawing/2014/main" id="{3DCBC250-CD01-2E79-92CE-66C8490F3F70}"/>
              </a:ext>
            </a:extLst>
          </p:cNvPr>
          <p:cNvSpPr/>
          <p:nvPr/>
        </p:nvSpPr>
        <p:spPr>
          <a:xfrm>
            <a:off x="928413" y="4635778"/>
            <a:ext cx="5791200" cy="2476441"/>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Custom Models Needed</a:t>
            </a:r>
            <a:endParaRPr lang="en-US" sz="2400" dirty="0">
              <a:solidFill>
                <a:schemeClr val="tx1"/>
              </a:solidFill>
              <a:latin typeface="PT Serif" panose="020A0603040505020204" pitchFamily="18" charset="0"/>
            </a:endParaRPr>
          </a:p>
          <a:p>
            <a:pPr marL="0" indent="0" algn="l">
              <a:lnSpc>
                <a:spcPct val="150000"/>
              </a:lnSpc>
              <a:buNone/>
            </a:pPr>
            <a:endParaRPr lang="en-US" sz="12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Deep learning, NLP, or time series may require specialized approaches</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25" name="Text 3">
            <a:extLst>
              <a:ext uri="{FF2B5EF4-FFF2-40B4-BE49-F238E27FC236}">
                <a16:creationId xmlns:a16="http://schemas.microsoft.com/office/drawing/2014/main" id="{E3294D3C-0418-C801-8DB9-F254AEFAC6F0}"/>
              </a:ext>
            </a:extLst>
          </p:cNvPr>
          <p:cNvSpPr/>
          <p:nvPr/>
        </p:nvSpPr>
        <p:spPr>
          <a:xfrm>
            <a:off x="7541510" y="4635777"/>
            <a:ext cx="5791200" cy="2476441"/>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Resource-Constrained Environments</a:t>
            </a:r>
            <a:endParaRPr lang="en-US" sz="2400" dirty="0">
              <a:solidFill>
                <a:schemeClr val="tx1"/>
              </a:solidFill>
              <a:latin typeface="PT Serif" panose="020A0603040505020204" pitchFamily="18" charset="0"/>
            </a:endParaRPr>
          </a:p>
          <a:p>
            <a:pPr marL="0" indent="0" algn="l">
              <a:lnSpc>
                <a:spcPct val="150000"/>
              </a:lnSpc>
              <a:buNone/>
            </a:pPr>
            <a:endParaRPr lang="en-US" sz="12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Limited compute may make AutoML impractical</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Tree>
    <p:extLst>
      <p:ext uri="{BB962C8B-B14F-4D97-AF65-F5344CB8AC3E}">
        <p14:creationId xmlns:p14="http://schemas.microsoft.com/office/powerpoint/2010/main" val="895526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776A-B70A-3209-E6D1-917066978CA7}"/>
              </a:ext>
            </a:extLst>
          </p:cNvPr>
          <p:cNvSpPr>
            <a:spLocks noGrp="1"/>
          </p:cNvSpPr>
          <p:nvPr>
            <p:ph type="title"/>
          </p:nvPr>
        </p:nvSpPr>
        <p:spPr>
          <a:xfrm>
            <a:off x="817236" y="393845"/>
            <a:ext cx="13656055" cy="1107996"/>
          </a:xfrm>
        </p:spPr>
        <p:txBody>
          <a:bodyPr/>
          <a:lstStyle/>
          <a:p>
            <a:r>
              <a:rPr lang="en-US" sz="3600" dirty="0">
                <a:solidFill>
                  <a:srgbClr val="020202"/>
                </a:solidFill>
                <a:ea typeface="PT Serif" pitchFamily="34" charset="-122"/>
                <a:cs typeface="PT Serif" pitchFamily="34" charset="-120"/>
              </a:rPr>
              <a:t>AutoML Uses Existing Models (Not New Ones)</a:t>
            </a:r>
            <a:br>
              <a:rPr lang="en-US" sz="3600" dirty="0"/>
            </a:br>
            <a:endParaRPr lang="en-IN" sz="3600" dirty="0"/>
          </a:p>
        </p:txBody>
      </p:sp>
      <p:sp>
        <p:nvSpPr>
          <p:cNvPr id="4" name="TextBox 3">
            <a:extLst>
              <a:ext uri="{FF2B5EF4-FFF2-40B4-BE49-F238E27FC236}">
                <a16:creationId xmlns:a16="http://schemas.microsoft.com/office/drawing/2014/main" id="{4F30B487-9D98-48E8-AEB3-143DF217AAAF}"/>
              </a:ext>
            </a:extLst>
          </p:cNvPr>
          <p:cNvSpPr txBox="1"/>
          <p:nvPr/>
        </p:nvSpPr>
        <p:spPr>
          <a:xfrm>
            <a:off x="762000" y="1226880"/>
            <a:ext cx="12649200" cy="716350"/>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AutoML does not invent new algorithms. Instead, it intelligently searches through and evaluates known machine learning methods.</a:t>
            </a:r>
            <a:endParaRPr lang="en-US" sz="1800" dirty="0">
              <a:latin typeface="PT Serif" panose="020A0603040505020204" pitchFamily="18" charset="0"/>
            </a:endParaRPr>
          </a:p>
        </p:txBody>
      </p:sp>
      <p:sp>
        <p:nvSpPr>
          <p:cNvPr id="5" name="Shape 2">
            <a:extLst>
              <a:ext uri="{FF2B5EF4-FFF2-40B4-BE49-F238E27FC236}">
                <a16:creationId xmlns:a16="http://schemas.microsoft.com/office/drawing/2014/main" id="{5DECB7B7-5983-EEEB-E687-EF72F6ED5C8F}"/>
              </a:ext>
            </a:extLst>
          </p:cNvPr>
          <p:cNvSpPr/>
          <p:nvPr/>
        </p:nvSpPr>
        <p:spPr>
          <a:xfrm>
            <a:off x="793790" y="2155018"/>
            <a:ext cx="3111937" cy="722352"/>
          </a:xfrm>
          <a:prstGeom prst="roundRect">
            <a:avLst>
              <a:gd name="adj" fmla="val 4121"/>
            </a:avLst>
          </a:prstGeom>
          <a:solidFill>
            <a:srgbClr val="F2EEEE"/>
          </a:solidFill>
          <a:ln/>
        </p:spPr>
      </p:sp>
      <p:sp>
        <p:nvSpPr>
          <p:cNvPr id="6" name="Text 3">
            <a:extLst>
              <a:ext uri="{FF2B5EF4-FFF2-40B4-BE49-F238E27FC236}">
                <a16:creationId xmlns:a16="http://schemas.microsoft.com/office/drawing/2014/main" id="{FCB59F4A-8C58-6286-FBD4-85ADCFC46026}"/>
              </a:ext>
            </a:extLst>
          </p:cNvPr>
          <p:cNvSpPr/>
          <p:nvPr/>
        </p:nvSpPr>
        <p:spPr>
          <a:xfrm>
            <a:off x="992148" y="2353376"/>
            <a:ext cx="2604968" cy="325636"/>
          </a:xfrm>
          <a:prstGeom prst="rect">
            <a:avLst/>
          </a:prstGeom>
          <a:noFill/>
          <a:ln/>
        </p:spPr>
        <p:txBody>
          <a:bodyPr wrap="none" lIns="0" tIns="0" rIns="0" bIns="0" rtlCol="0" anchor="t"/>
          <a:lstStyle/>
          <a:p>
            <a:pPr marL="0" indent="0" algn="l">
              <a:lnSpc>
                <a:spcPts val="2550"/>
              </a:lnSpc>
              <a:buNone/>
            </a:pPr>
            <a:r>
              <a:rPr lang="en-US" sz="2400" dirty="0">
                <a:solidFill>
                  <a:srgbClr val="383838"/>
                </a:solidFill>
                <a:latin typeface="PT Serif" panose="020A0603040505020204" pitchFamily="18" charset="0"/>
                <a:ea typeface="PT Serif" pitchFamily="34" charset="-122"/>
                <a:cs typeface="PT Serif" pitchFamily="34" charset="-120"/>
              </a:rPr>
              <a:t>Regression</a:t>
            </a:r>
            <a:endParaRPr lang="en-US" sz="2400" dirty="0">
              <a:latin typeface="PT Serif" panose="020A0603040505020204" pitchFamily="18" charset="0"/>
            </a:endParaRPr>
          </a:p>
        </p:txBody>
      </p:sp>
      <p:sp>
        <p:nvSpPr>
          <p:cNvPr id="7" name="Shape 4">
            <a:extLst>
              <a:ext uri="{FF2B5EF4-FFF2-40B4-BE49-F238E27FC236}">
                <a16:creationId xmlns:a16="http://schemas.microsoft.com/office/drawing/2014/main" id="{B1BE38E5-648B-8A04-7E87-D40A53ECC084}"/>
              </a:ext>
            </a:extLst>
          </p:cNvPr>
          <p:cNvSpPr/>
          <p:nvPr/>
        </p:nvSpPr>
        <p:spPr>
          <a:xfrm>
            <a:off x="774263" y="3069418"/>
            <a:ext cx="3111937" cy="722352"/>
          </a:xfrm>
          <a:prstGeom prst="roundRect">
            <a:avLst>
              <a:gd name="adj" fmla="val 4121"/>
            </a:avLst>
          </a:prstGeom>
          <a:solidFill>
            <a:srgbClr val="F2EEEE"/>
          </a:solidFill>
          <a:ln/>
        </p:spPr>
      </p:sp>
      <p:sp>
        <p:nvSpPr>
          <p:cNvPr id="8" name="Text 5">
            <a:extLst>
              <a:ext uri="{FF2B5EF4-FFF2-40B4-BE49-F238E27FC236}">
                <a16:creationId xmlns:a16="http://schemas.microsoft.com/office/drawing/2014/main" id="{C90AD6E1-229F-530C-9BC5-B85CF308ED7F}"/>
              </a:ext>
            </a:extLst>
          </p:cNvPr>
          <p:cNvSpPr/>
          <p:nvPr/>
        </p:nvSpPr>
        <p:spPr>
          <a:xfrm>
            <a:off x="972622" y="3267776"/>
            <a:ext cx="2604968" cy="325636"/>
          </a:xfrm>
          <a:prstGeom prst="rect">
            <a:avLst/>
          </a:prstGeom>
          <a:noFill/>
          <a:ln/>
        </p:spPr>
        <p:txBody>
          <a:bodyPr wrap="none" lIns="0" tIns="0" rIns="0" bIns="0" rtlCol="0" anchor="t"/>
          <a:lstStyle/>
          <a:p>
            <a:pPr marL="0" indent="0" algn="l">
              <a:lnSpc>
                <a:spcPts val="2550"/>
              </a:lnSpc>
              <a:buNone/>
            </a:pPr>
            <a:r>
              <a:rPr lang="en-US" sz="2400" dirty="0">
                <a:solidFill>
                  <a:srgbClr val="383838"/>
                </a:solidFill>
                <a:latin typeface="PT Serif" panose="020A0603040505020204" pitchFamily="18" charset="0"/>
                <a:ea typeface="PT Serif" pitchFamily="34" charset="-122"/>
                <a:cs typeface="PT Serif" pitchFamily="34" charset="-120"/>
              </a:rPr>
              <a:t>Decision Trees</a:t>
            </a:r>
            <a:endParaRPr lang="en-US" sz="2400" dirty="0">
              <a:latin typeface="PT Serif" panose="020A0603040505020204" pitchFamily="18" charset="0"/>
            </a:endParaRPr>
          </a:p>
        </p:txBody>
      </p:sp>
      <p:sp>
        <p:nvSpPr>
          <p:cNvPr id="9" name="Shape 6">
            <a:extLst>
              <a:ext uri="{FF2B5EF4-FFF2-40B4-BE49-F238E27FC236}">
                <a16:creationId xmlns:a16="http://schemas.microsoft.com/office/drawing/2014/main" id="{B449C0BB-938B-8A4E-7E84-BFAA66E3F2C9}"/>
              </a:ext>
            </a:extLst>
          </p:cNvPr>
          <p:cNvSpPr/>
          <p:nvPr/>
        </p:nvSpPr>
        <p:spPr>
          <a:xfrm>
            <a:off x="762000" y="4023466"/>
            <a:ext cx="3111937" cy="722352"/>
          </a:xfrm>
          <a:prstGeom prst="roundRect">
            <a:avLst>
              <a:gd name="adj" fmla="val 4121"/>
            </a:avLst>
          </a:prstGeom>
          <a:solidFill>
            <a:srgbClr val="F2EEEE"/>
          </a:solidFill>
          <a:ln/>
        </p:spPr>
      </p:sp>
      <p:sp>
        <p:nvSpPr>
          <p:cNvPr id="10" name="Text 7">
            <a:extLst>
              <a:ext uri="{FF2B5EF4-FFF2-40B4-BE49-F238E27FC236}">
                <a16:creationId xmlns:a16="http://schemas.microsoft.com/office/drawing/2014/main" id="{A8E41C25-3BE9-9E1C-ABEC-3CEC15E3B250}"/>
              </a:ext>
            </a:extLst>
          </p:cNvPr>
          <p:cNvSpPr/>
          <p:nvPr/>
        </p:nvSpPr>
        <p:spPr>
          <a:xfrm>
            <a:off x="960358" y="4221824"/>
            <a:ext cx="2604968" cy="325636"/>
          </a:xfrm>
          <a:prstGeom prst="rect">
            <a:avLst/>
          </a:prstGeom>
          <a:noFill/>
          <a:ln/>
        </p:spPr>
        <p:txBody>
          <a:bodyPr wrap="none" lIns="0" tIns="0" rIns="0" bIns="0" rtlCol="0" anchor="t"/>
          <a:lstStyle/>
          <a:p>
            <a:pPr marL="0" indent="0" algn="l">
              <a:lnSpc>
                <a:spcPts val="2550"/>
              </a:lnSpc>
              <a:buNone/>
            </a:pPr>
            <a:r>
              <a:rPr lang="en-US" sz="2400" dirty="0">
                <a:solidFill>
                  <a:srgbClr val="383838"/>
                </a:solidFill>
                <a:latin typeface="PT Serif" panose="020A0603040505020204" pitchFamily="18" charset="0"/>
                <a:ea typeface="PT Serif" pitchFamily="34" charset="-122"/>
                <a:cs typeface="PT Serif" pitchFamily="34" charset="-120"/>
              </a:rPr>
              <a:t>Random Forests</a:t>
            </a:r>
            <a:endParaRPr lang="en-US" sz="2400" dirty="0">
              <a:latin typeface="PT Serif" panose="020A0603040505020204" pitchFamily="18" charset="0"/>
            </a:endParaRPr>
          </a:p>
        </p:txBody>
      </p:sp>
      <p:sp>
        <p:nvSpPr>
          <p:cNvPr id="11" name="Shape 8">
            <a:extLst>
              <a:ext uri="{FF2B5EF4-FFF2-40B4-BE49-F238E27FC236}">
                <a16:creationId xmlns:a16="http://schemas.microsoft.com/office/drawing/2014/main" id="{D8F8DFCB-503D-0EE3-B39E-2CDCA5A41ADB}"/>
              </a:ext>
            </a:extLst>
          </p:cNvPr>
          <p:cNvSpPr/>
          <p:nvPr/>
        </p:nvSpPr>
        <p:spPr>
          <a:xfrm>
            <a:off x="762000" y="5014066"/>
            <a:ext cx="3111937" cy="722352"/>
          </a:xfrm>
          <a:prstGeom prst="roundRect">
            <a:avLst>
              <a:gd name="adj" fmla="val 4121"/>
            </a:avLst>
          </a:prstGeom>
          <a:solidFill>
            <a:srgbClr val="F2EEEE"/>
          </a:solidFill>
          <a:ln/>
        </p:spPr>
      </p:sp>
      <p:sp>
        <p:nvSpPr>
          <p:cNvPr id="12" name="Text 9">
            <a:extLst>
              <a:ext uri="{FF2B5EF4-FFF2-40B4-BE49-F238E27FC236}">
                <a16:creationId xmlns:a16="http://schemas.microsoft.com/office/drawing/2014/main" id="{0301A49F-35E0-3E53-86D0-6350D9990F15}"/>
              </a:ext>
            </a:extLst>
          </p:cNvPr>
          <p:cNvSpPr/>
          <p:nvPr/>
        </p:nvSpPr>
        <p:spPr>
          <a:xfrm>
            <a:off x="960358" y="5212424"/>
            <a:ext cx="2604968" cy="325636"/>
          </a:xfrm>
          <a:prstGeom prst="rect">
            <a:avLst/>
          </a:prstGeom>
          <a:noFill/>
          <a:ln/>
        </p:spPr>
        <p:txBody>
          <a:bodyPr wrap="none" lIns="0" tIns="0" rIns="0" bIns="0" rtlCol="0" anchor="t"/>
          <a:lstStyle/>
          <a:p>
            <a:pPr marL="0" indent="0" algn="l">
              <a:lnSpc>
                <a:spcPts val="2550"/>
              </a:lnSpc>
              <a:buNone/>
            </a:pPr>
            <a:r>
              <a:rPr lang="en-US" sz="2400" dirty="0">
                <a:solidFill>
                  <a:srgbClr val="383838"/>
                </a:solidFill>
                <a:latin typeface="PT Serif" panose="020A0603040505020204" pitchFamily="18" charset="0"/>
                <a:ea typeface="PT Serif" pitchFamily="34" charset="-122"/>
                <a:cs typeface="PT Serif" pitchFamily="34" charset="-120"/>
              </a:rPr>
              <a:t>Boosting</a:t>
            </a:r>
            <a:endParaRPr lang="en-US" sz="2400" dirty="0">
              <a:latin typeface="PT Serif" panose="020A0603040505020204" pitchFamily="18" charset="0"/>
            </a:endParaRPr>
          </a:p>
        </p:txBody>
      </p:sp>
      <p:sp>
        <p:nvSpPr>
          <p:cNvPr id="13" name="Shape 10">
            <a:extLst>
              <a:ext uri="{FF2B5EF4-FFF2-40B4-BE49-F238E27FC236}">
                <a16:creationId xmlns:a16="http://schemas.microsoft.com/office/drawing/2014/main" id="{DB4293AC-7B3A-C69C-5271-193274F73BE2}"/>
              </a:ext>
            </a:extLst>
          </p:cNvPr>
          <p:cNvSpPr/>
          <p:nvPr/>
        </p:nvSpPr>
        <p:spPr>
          <a:xfrm>
            <a:off x="762000" y="5965018"/>
            <a:ext cx="3111937" cy="722352"/>
          </a:xfrm>
          <a:prstGeom prst="roundRect">
            <a:avLst>
              <a:gd name="adj" fmla="val 4121"/>
            </a:avLst>
          </a:prstGeom>
          <a:solidFill>
            <a:srgbClr val="F2EEEE"/>
          </a:solidFill>
          <a:ln/>
        </p:spPr>
      </p:sp>
      <p:sp>
        <p:nvSpPr>
          <p:cNvPr id="14" name="Text 11">
            <a:extLst>
              <a:ext uri="{FF2B5EF4-FFF2-40B4-BE49-F238E27FC236}">
                <a16:creationId xmlns:a16="http://schemas.microsoft.com/office/drawing/2014/main" id="{6A1879A4-7412-52E5-83AE-3C78AE38A874}"/>
              </a:ext>
            </a:extLst>
          </p:cNvPr>
          <p:cNvSpPr/>
          <p:nvPr/>
        </p:nvSpPr>
        <p:spPr>
          <a:xfrm>
            <a:off x="960358" y="6163376"/>
            <a:ext cx="2604968" cy="325636"/>
          </a:xfrm>
          <a:prstGeom prst="rect">
            <a:avLst/>
          </a:prstGeom>
          <a:noFill/>
          <a:ln/>
        </p:spPr>
        <p:txBody>
          <a:bodyPr wrap="none" lIns="0" tIns="0" rIns="0" bIns="0" rtlCol="0" anchor="t"/>
          <a:lstStyle/>
          <a:p>
            <a:pPr marL="0" indent="0" algn="l">
              <a:lnSpc>
                <a:spcPts val="2550"/>
              </a:lnSpc>
              <a:buNone/>
            </a:pPr>
            <a:r>
              <a:rPr lang="en-US" sz="2400" dirty="0">
                <a:solidFill>
                  <a:srgbClr val="383838"/>
                </a:solidFill>
                <a:latin typeface="PT Serif" panose="020A0603040505020204" pitchFamily="18" charset="0"/>
                <a:ea typeface="PT Serif" pitchFamily="34" charset="-122"/>
                <a:cs typeface="PT Serif" pitchFamily="34" charset="-120"/>
              </a:rPr>
              <a:t>SVMs</a:t>
            </a:r>
            <a:endParaRPr lang="en-US" sz="2400" dirty="0">
              <a:latin typeface="PT Serif" panose="020A0603040505020204" pitchFamily="18" charset="0"/>
            </a:endParaRPr>
          </a:p>
        </p:txBody>
      </p:sp>
      <p:sp>
        <p:nvSpPr>
          <p:cNvPr id="15" name="Text 12">
            <a:extLst>
              <a:ext uri="{FF2B5EF4-FFF2-40B4-BE49-F238E27FC236}">
                <a16:creationId xmlns:a16="http://schemas.microsoft.com/office/drawing/2014/main" id="{B07CF725-5970-64BC-F6B9-7EE0795757FC}"/>
              </a:ext>
            </a:extLst>
          </p:cNvPr>
          <p:cNvSpPr/>
          <p:nvPr/>
        </p:nvSpPr>
        <p:spPr>
          <a:xfrm>
            <a:off x="744955" y="6921460"/>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The innovation lies in intelligent search and systematic evaluation, not algorithm invention.</a:t>
            </a:r>
            <a:endParaRPr lang="en-US" dirty="0">
              <a:latin typeface="PT Serif" panose="020A0603040505020204" pitchFamily="18" charset="0"/>
            </a:endParaRPr>
          </a:p>
        </p:txBody>
      </p:sp>
    </p:spTree>
    <p:extLst>
      <p:ext uri="{BB962C8B-B14F-4D97-AF65-F5344CB8AC3E}">
        <p14:creationId xmlns:p14="http://schemas.microsoft.com/office/powerpoint/2010/main" val="3271749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0035" y="117451"/>
            <a:ext cx="13656055" cy="969548"/>
          </a:xfrm>
          <a:prstGeom prst="rect">
            <a:avLst/>
          </a:prstGeom>
        </p:spPr>
        <p:txBody>
          <a:bodyPr vert="horz" wrap="square" lIns="0" tIns="439471" rIns="0" bIns="0" rtlCol="0">
            <a:spAutoFit/>
          </a:bodyPr>
          <a:lstStyle/>
          <a:p>
            <a:pPr marL="0" indent="0" algn="l">
              <a:lnSpc>
                <a:spcPts val="4050"/>
              </a:lnSpc>
              <a:buNone/>
            </a:pPr>
            <a:r>
              <a:rPr lang="en-US" sz="3600" dirty="0">
                <a:solidFill>
                  <a:srgbClr val="020202"/>
                </a:solidFill>
                <a:ea typeface="PT Serif" pitchFamily="34" charset="-122"/>
                <a:cs typeface="PT Serif" pitchFamily="34" charset="-120"/>
              </a:rPr>
              <a:t>Model Search in AutoML</a:t>
            </a:r>
            <a:endParaRPr lang="en-US" sz="3600" dirty="0"/>
          </a:p>
        </p:txBody>
      </p:sp>
      <p:sp>
        <p:nvSpPr>
          <p:cNvPr id="21" name="Shape 2">
            <a:extLst>
              <a:ext uri="{FF2B5EF4-FFF2-40B4-BE49-F238E27FC236}">
                <a16:creationId xmlns:a16="http://schemas.microsoft.com/office/drawing/2014/main" id="{5FE26A02-BF48-BE3A-0BC6-D1E3F1CF2B05}"/>
              </a:ext>
            </a:extLst>
          </p:cNvPr>
          <p:cNvSpPr/>
          <p:nvPr/>
        </p:nvSpPr>
        <p:spPr>
          <a:xfrm>
            <a:off x="685800" y="1447800"/>
            <a:ext cx="3129937" cy="372238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38201" y="1695745"/>
            <a:ext cx="2977536" cy="2476441"/>
          </a:xfrm>
          <a:prstGeom prst="rect">
            <a:avLst/>
          </a:prstGeom>
          <a:noFill/>
          <a:ln/>
        </p:spPr>
        <p:txBody>
          <a:bodyPr wrap="square" lIns="0" tIns="0" rIns="0" bIns="0" rtlCol="0" anchor="t"/>
          <a:lstStyle/>
          <a:p>
            <a:pPr marL="0" indent="0" algn="l">
              <a:lnSpc>
                <a:spcPct val="150000"/>
              </a:lnSpc>
              <a:buNone/>
            </a:pPr>
            <a:r>
              <a:rPr lang="en-US" sz="2400" dirty="0">
                <a:solidFill>
                  <a:srgbClr val="020202"/>
                </a:solidFill>
                <a:latin typeface="PT Serif" panose="020A0603040505020204" pitchFamily="18" charset="0"/>
                <a:ea typeface="PT Serif" pitchFamily="34" charset="-122"/>
                <a:cs typeface="PT Serif" pitchFamily="34" charset="-120"/>
              </a:rPr>
              <a:t>Test Preprocessing</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Evaluate different data pipelines.</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
        <p:nvSpPr>
          <p:cNvPr id="20" name="TextBox 19">
            <a:extLst>
              <a:ext uri="{FF2B5EF4-FFF2-40B4-BE49-F238E27FC236}">
                <a16:creationId xmlns:a16="http://schemas.microsoft.com/office/drawing/2014/main" id="{E7DFB021-98F5-9455-767B-2679A280E0F3}"/>
              </a:ext>
            </a:extLst>
          </p:cNvPr>
          <p:cNvSpPr txBox="1"/>
          <p:nvPr/>
        </p:nvSpPr>
        <p:spPr>
          <a:xfrm>
            <a:off x="668215" y="5654284"/>
            <a:ext cx="13019138" cy="1121654"/>
          </a:xfrm>
          <a:prstGeom prst="rect">
            <a:avLst/>
          </a:prstGeom>
          <a:noFill/>
        </p:spPr>
        <p:txBody>
          <a:bodyPr wrap="square">
            <a:spAutoFit/>
          </a:bodyPr>
          <a:lstStyle/>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AutoML systematically explores the model space by testing multiple algorithms and preprocessing pipelines. Models are trained using train-validation splits or cross-validation, then evaluated and ranked based on performance metrics.</a:t>
            </a:r>
            <a:endParaRPr lang="en-US" sz="1800" dirty="0">
              <a:latin typeface="PT Serif" panose="020A0603040505020204" pitchFamily="18" charset="0"/>
            </a:endParaRPr>
          </a:p>
        </p:txBody>
      </p:sp>
      <p:sp>
        <p:nvSpPr>
          <p:cNvPr id="19" name="Shape 2">
            <a:extLst>
              <a:ext uri="{FF2B5EF4-FFF2-40B4-BE49-F238E27FC236}">
                <a16:creationId xmlns:a16="http://schemas.microsoft.com/office/drawing/2014/main" id="{BFA8B0DE-C1F2-F85E-9D30-811D2CC36684}"/>
              </a:ext>
            </a:extLst>
          </p:cNvPr>
          <p:cNvSpPr/>
          <p:nvPr/>
        </p:nvSpPr>
        <p:spPr>
          <a:xfrm>
            <a:off x="4109063" y="1447800"/>
            <a:ext cx="3129937" cy="372238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4" name="Text 3">
            <a:extLst>
              <a:ext uri="{FF2B5EF4-FFF2-40B4-BE49-F238E27FC236}">
                <a16:creationId xmlns:a16="http://schemas.microsoft.com/office/drawing/2014/main" id="{4311230A-B59F-31AB-E199-56F98A3FE6BB}"/>
              </a:ext>
            </a:extLst>
          </p:cNvPr>
          <p:cNvSpPr/>
          <p:nvPr/>
        </p:nvSpPr>
        <p:spPr>
          <a:xfrm>
            <a:off x="4261464" y="1695745"/>
            <a:ext cx="2977536" cy="2476441"/>
          </a:xfrm>
          <a:prstGeom prst="rect">
            <a:avLst/>
          </a:prstGeom>
          <a:noFill/>
          <a:ln/>
        </p:spPr>
        <p:txBody>
          <a:bodyPr wrap="square" lIns="0" tIns="0" rIns="0" bIns="0" rtlCol="0" anchor="t"/>
          <a:lstStyle/>
          <a:p>
            <a:pPr marL="0" indent="0" algn="l">
              <a:lnSpc>
                <a:spcPct val="150000"/>
              </a:lnSpc>
              <a:buNone/>
            </a:pPr>
            <a:r>
              <a:rPr lang="en-US" sz="2400" dirty="0">
                <a:solidFill>
                  <a:srgbClr val="020202"/>
                </a:solidFill>
                <a:latin typeface="PT Serif" panose="020A0603040505020204" pitchFamily="18" charset="0"/>
                <a:ea typeface="PT Serif" pitchFamily="34" charset="-122"/>
                <a:cs typeface="PT Serif" pitchFamily="34" charset="-120"/>
              </a:rPr>
              <a:t>Train &amp; Validate</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Use CV or train-validation splits.</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
        <p:nvSpPr>
          <p:cNvPr id="25" name="Shape 2">
            <a:extLst>
              <a:ext uri="{FF2B5EF4-FFF2-40B4-BE49-F238E27FC236}">
                <a16:creationId xmlns:a16="http://schemas.microsoft.com/office/drawing/2014/main" id="{568F329B-3A60-FFD5-55E3-A6BFC9EED842}"/>
              </a:ext>
            </a:extLst>
          </p:cNvPr>
          <p:cNvSpPr/>
          <p:nvPr/>
        </p:nvSpPr>
        <p:spPr>
          <a:xfrm>
            <a:off x="7538063" y="1447800"/>
            <a:ext cx="3129937" cy="372238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6" name="Text 3">
            <a:extLst>
              <a:ext uri="{FF2B5EF4-FFF2-40B4-BE49-F238E27FC236}">
                <a16:creationId xmlns:a16="http://schemas.microsoft.com/office/drawing/2014/main" id="{4F5BB800-CA05-C099-BE74-1979CC322B78}"/>
              </a:ext>
            </a:extLst>
          </p:cNvPr>
          <p:cNvSpPr/>
          <p:nvPr/>
        </p:nvSpPr>
        <p:spPr>
          <a:xfrm>
            <a:off x="7690464" y="1695745"/>
            <a:ext cx="2977536" cy="2476441"/>
          </a:xfrm>
          <a:prstGeom prst="rect">
            <a:avLst/>
          </a:prstGeom>
          <a:noFill/>
          <a:ln/>
        </p:spPr>
        <p:txBody>
          <a:bodyPr wrap="square" lIns="0" tIns="0" rIns="0" bIns="0" rtlCol="0" anchor="t"/>
          <a:lstStyle/>
          <a:p>
            <a:pPr marL="0" indent="0" algn="l">
              <a:lnSpc>
                <a:spcPct val="150000"/>
              </a:lnSpc>
              <a:buNone/>
            </a:pPr>
            <a:r>
              <a:rPr lang="en-US" sz="2400" dirty="0">
                <a:solidFill>
                  <a:srgbClr val="020202"/>
                </a:solidFill>
                <a:latin typeface="PT Serif" panose="020A0603040505020204" pitchFamily="18" charset="0"/>
                <a:ea typeface="PT Serif" pitchFamily="34" charset="-122"/>
                <a:cs typeface="PT Serif" pitchFamily="34" charset="-120"/>
              </a:rPr>
              <a:t>Explore Algorithms</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Survey diverse candidate algorithms.</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
        <p:nvSpPr>
          <p:cNvPr id="27" name="Shape 2">
            <a:extLst>
              <a:ext uri="{FF2B5EF4-FFF2-40B4-BE49-F238E27FC236}">
                <a16:creationId xmlns:a16="http://schemas.microsoft.com/office/drawing/2014/main" id="{3AE16FE2-C028-2341-7972-4BA5CE9006AA}"/>
              </a:ext>
            </a:extLst>
          </p:cNvPr>
          <p:cNvSpPr/>
          <p:nvPr/>
        </p:nvSpPr>
        <p:spPr>
          <a:xfrm>
            <a:off x="10890863" y="1447800"/>
            <a:ext cx="3129937" cy="372238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8" name="Text 3">
            <a:extLst>
              <a:ext uri="{FF2B5EF4-FFF2-40B4-BE49-F238E27FC236}">
                <a16:creationId xmlns:a16="http://schemas.microsoft.com/office/drawing/2014/main" id="{2DAE9A7B-254F-B8B2-AA5B-DE7033663528}"/>
              </a:ext>
            </a:extLst>
          </p:cNvPr>
          <p:cNvSpPr/>
          <p:nvPr/>
        </p:nvSpPr>
        <p:spPr>
          <a:xfrm>
            <a:off x="11043264" y="1695745"/>
            <a:ext cx="2977536" cy="2476441"/>
          </a:xfrm>
          <a:prstGeom prst="rect">
            <a:avLst/>
          </a:prstGeom>
          <a:noFill/>
          <a:ln/>
        </p:spPr>
        <p:txBody>
          <a:bodyPr wrap="square" lIns="0" tIns="0" rIns="0" bIns="0" rtlCol="0" anchor="t"/>
          <a:lstStyle/>
          <a:p>
            <a:pPr marL="0" indent="0" algn="l">
              <a:lnSpc>
                <a:spcPct val="150000"/>
              </a:lnSpc>
              <a:buNone/>
            </a:pPr>
            <a:r>
              <a:rPr lang="en-US" sz="2400" dirty="0">
                <a:solidFill>
                  <a:srgbClr val="020202"/>
                </a:solidFill>
                <a:latin typeface="PT Serif" panose="020A0603040505020204" pitchFamily="18" charset="0"/>
                <a:ea typeface="PT Serif" pitchFamily="34" charset="-122"/>
                <a:cs typeface="PT Serif" pitchFamily="34" charset="-120"/>
              </a:rPr>
              <a:t>Rank by Performance</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Order models using chosen metrics.</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Tree>
    <p:extLst>
      <p:ext uri="{BB962C8B-B14F-4D97-AF65-F5344CB8AC3E}">
        <p14:creationId xmlns:p14="http://schemas.microsoft.com/office/powerpoint/2010/main" val="1191954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750141" y="1510906"/>
            <a:ext cx="6411330" cy="2071530"/>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8"/>
              <a:ext cx="6391910" cy="980625"/>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714803" y="4404463"/>
            <a:ext cx="6377809" cy="2071530"/>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8"/>
              <a:ext cx="6391910" cy="996201"/>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21816" y="4404463"/>
            <a:ext cx="6703784" cy="2071531"/>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6"/>
              <a:ext cx="6391910" cy="996203"/>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1529822"/>
            <a:ext cx="6703784" cy="2057632"/>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960060"/>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760896" y="175380"/>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Hyperparameter Tuning in AutoML</a:t>
            </a:r>
            <a:endParaRPr lang="en-US" sz="3600" dirty="0">
              <a:solidFill>
                <a:schemeClr val="tx1"/>
              </a:solidFill>
            </a:endParaRPr>
          </a:p>
        </p:txBody>
      </p:sp>
      <p:sp>
        <p:nvSpPr>
          <p:cNvPr id="8" name="Text 3">
            <a:extLst>
              <a:ext uri="{FF2B5EF4-FFF2-40B4-BE49-F238E27FC236}">
                <a16:creationId xmlns:a16="http://schemas.microsoft.com/office/drawing/2014/main" id="{A0D38183-3593-0CD5-9F87-5CFCC2BA96CD}"/>
              </a:ext>
            </a:extLst>
          </p:cNvPr>
          <p:cNvSpPr/>
          <p:nvPr/>
        </p:nvSpPr>
        <p:spPr>
          <a:xfrm>
            <a:off x="1058373" y="1503683"/>
            <a:ext cx="6034239" cy="4698301"/>
          </a:xfrm>
          <a:prstGeom prst="rect">
            <a:avLst/>
          </a:prstGeom>
          <a:noFill/>
          <a:ln/>
        </p:spPr>
        <p:txBody>
          <a:bodyPr wrap="square" lIns="0" tIns="0" rIns="0" bIns="0" rtlCol="0" anchor="t"/>
          <a:lstStyle/>
          <a:p>
            <a:pPr marL="457200" indent="-457200" algn="l">
              <a:lnSpc>
                <a:spcPct val="200000"/>
              </a:lnSpc>
              <a:buAutoNum type="arabicPeriod"/>
            </a:pPr>
            <a:r>
              <a:rPr lang="en-US" sz="2400" dirty="0">
                <a:solidFill>
                  <a:schemeClr val="tx1"/>
                </a:solidFill>
                <a:latin typeface="PT Serif" panose="020A0603040505020204" pitchFamily="18" charset="0"/>
                <a:ea typeface="PT Serif" pitchFamily="34" charset="-122"/>
                <a:cs typeface="PT Serif" pitchFamily="34" charset="-120"/>
              </a:rPr>
              <a:t>Grid Search</a:t>
            </a:r>
          </a:p>
          <a:p>
            <a:pPr algn="l">
              <a:lnSpc>
                <a:spcPct val="200000"/>
              </a:lnSpc>
            </a:pPr>
            <a:endParaRPr lang="en-US" sz="11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Exhaustive search over parameter grid</a:t>
            </a:r>
            <a:endParaRPr lang="en-US" sz="1800" dirty="0">
              <a:solidFill>
                <a:schemeClr val="tx1"/>
              </a:solidFill>
              <a:latin typeface="PT Serif" panose="020A0603040505020204" pitchFamily="18" charset="0"/>
            </a:endParaRPr>
          </a:p>
          <a:p>
            <a:pPr algn="l">
              <a:lnSpc>
                <a:spcPct val="200000"/>
              </a:lnSpc>
            </a:pPr>
            <a:r>
              <a:rPr lang="en-US" dirty="0">
                <a:solidFill>
                  <a:schemeClr val="tx1"/>
                </a:solidFill>
                <a:latin typeface="PT Serif" panose="020A0603040505020204" pitchFamily="18" charset="0"/>
              </a:rPr>
              <a:t>	</a:t>
            </a:r>
          </a:p>
          <a:p>
            <a:pPr algn="l">
              <a:lnSpc>
                <a:spcPct val="200000"/>
              </a:lnSpc>
            </a:pPr>
            <a:endParaRPr lang="en-US" dirty="0">
              <a:solidFill>
                <a:schemeClr val="tx1"/>
              </a:solidFill>
              <a:latin typeface="PT Serif" panose="020A0603040505020204" pitchFamily="18" charset="0"/>
            </a:endParaRPr>
          </a:p>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3. Bayesian Optimization</a:t>
            </a:r>
            <a:endParaRPr lang="en-US" sz="2400" dirty="0">
              <a:solidFill>
                <a:schemeClr val="tx1"/>
              </a:solidFill>
              <a:latin typeface="PT Serif" panose="020A0603040505020204" pitchFamily="18" charset="0"/>
            </a:endParaRPr>
          </a:p>
          <a:p>
            <a:pPr algn="l">
              <a:lnSpc>
                <a:spcPct val="200000"/>
              </a:lnSpc>
            </a:pPr>
            <a:endParaRPr lang="en-US" sz="1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Probabilistic model-based search</a:t>
            </a:r>
            <a:endParaRPr lang="en-US" sz="1800"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970996" y="1503683"/>
            <a:ext cx="5973604" cy="469830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2. Random Search</a:t>
            </a:r>
            <a:endParaRPr lang="en-US" sz="2400" dirty="0">
              <a:solidFill>
                <a:schemeClr val="tx1"/>
              </a:solidFill>
              <a:latin typeface="PT Serif" panose="020A0603040505020204" pitchFamily="18" charset="0"/>
            </a:endParaRPr>
          </a:p>
          <a:p>
            <a:pPr marL="0" indent="0" algn="l">
              <a:lnSpc>
                <a:spcPct val="200000"/>
              </a:lnSpc>
              <a:buNone/>
            </a:pPr>
            <a:endParaRPr lang="en-US" sz="12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Random sampling of parameter space</a:t>
            </a:r>
            <a:endParaRPr lang="en-US" sz="1800"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4. Evolutionary Methods</a:t>
            </a:r>
            <a:endParaRPr lang="en-US" sz="2400" dirty="0">
              <a:solidFill>
                <a:schemeClr val="tx1"/>
              </a:solidFill>
              <a:latin typeface="PT Serif" panose="020A0603040505020204" pitchFamily="18" charset="0"/>
            </a:endParaRPr>
          </a:p>
          <a:p>
            <a:pPr marL="0" indent="0" algn="ctr">
              <a:lnSpc>
                <a:spcPct val="200000"/>
              </a:lnSpc>
              <a:buNone/>
            </a:pPr>
            <a:endParaRPr lang="en-US" sz="1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Genetic algorithm-based optimization</a:t>
            </a:r>
            <a:endParaRPr lang="en-US" sz="1800" dirty="0">
              <a:solidFill>
                <a:schemeClr val="tx1"/>
              </a:solidFill>
              <a:latin typeface="PT Serif" panose="020A0603040505020204" pitchFamily="18" charset="0"/>
            </a:endParaRPr>
          </a:p>
        </p:txBody>
      </p:sp>
      <p:sp>
        <p:nvSpPr>
          <p:cNvPr id="27" name="Text 9">
            <a:extLst>
              <a:ext uri="{FF2B5EF4-FFF2-40B4-BE49-F238E27FC236}">
                <a16:creationId xmlns:a16="http://schemas.microsoft.com/office/drawing/2014/main" id="{1B6045A4-CC52-497D-94ED-4C2A5BA9465C}"/>
              </a:ext>
            </a:extLst>
          </p:cNvPr>
          <p:cNvSpPr/>
          <p:nvPr/>
        </p:nvSpPr>
        <p:spPr>
          <a:xfrm>
            <a:off x="744279" y="7035448"/>
            <a:ext cx="13042821" cy="317540"/>
          </a:xfrm>
          <a:prstGeom prst="rect">
            <a:avLst/>
          </a:prstGeom>
          <a:noFill/>
          <a:ln/>
        </p:spPr>
        <p:txBody>
          <a:bodyPr wrap="none" lIns="0" tIns="0" rIns="0" bIns="0" rtlCol="0" anchor="t"/>
          <a:lstStyle/>
          <a:p>
            <a:pPr marL="0" indent="0" algn="l">
              <a:lnSpc>
                <a:spcPts val="2500"/>
              </a:lnSpc>
              <a:buNone/>
            </a:pPr>
            <a:r>
              <a:rPr lang="en-US" dirty="0">
                <a:solidFill>
                  <a:schemeClr val="tx1"/>
                </a:solidFill>
                <a:latin typeface="PT Serif" panose="020A0603040505020204" pitchFamily="18" charset="0"/>
                <a:ea typeface="DM Sans" pitchFamily="34" charset="-122"/>
                <a:cs typeface="DM Sans" pitchFamily="34" charset="-120"/>
              </a:rPr>
              <a:t>AutoML may evaluate hundreds or thousands of configurations to find optimal hyperparameters for each model.</a:t>
            </a:r>
            <a:endParaRPr lang="en-US" dirty="0">
              <a:solidFill>
                <a:schemeClr val="tx1"/>
              </a:solidFill>
              <a:latin typeface="PT Serif" panose="020A0603040505020204" pitchFamily="18" charset="0"/>
            </a:endParaRPr>
          </a:p>
        </p:txBody>
      </p:sp>
    </p:spTree>
    <p:extLst>
      <p:ext uri="{BB962C8B-B14F-4D97-AF65-F5344CB8AC3E}">
        <p14:creationId xmlns:p14="http://schemas.microsoft.com/office/powerpoint/2010/main" val="4176693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object 13">
            <a:extLst>
              <a:ext uri="{FF2B5EF4-FFF2-40B4-BE49-F238E27FC236}">
                <a16:creationId xmlns:a16="http://schemas.microsoft.com/office/drawing/2014/main" id="{3A7BD985-4F33-92C4-8CA6-B96C8FF5B89E}"/>
              </a:ext>
            </a:extLst>
          </p:cNvPr>
          <p:cNvGrpSpPr/>
          <p:nvPr/>
        </p:nvGrpSpPr>
        <p:grpSpPr>
          <a:xfrm>
            <a:off x="7540262" y="2279125"/>
            <a:ext cx="5530189" cy="4675733"/>
            <a:chOff x="793788" y="4631308"/>
            <a:chExt cx="6437630" cy="2974340"/>
          </a:xfrm>
        </p:grpSpPr>
        <p:sp>
          <p:nvSpPr>
            <p:cNvPr id="32" name="object 14">
              <a:extLst>
                <a:ext uri="{FF2B5EF4-FFF2-40B4-BE49-F238E27FC236}">
                  <a16:creationId xmlns:a16="http://schemas.microsoft.com/office/drawing/2014/main" id="{EF009A0C-E269-9B9B-724D-1EA47701A74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3" name="object 15">
              <a:extLst>
                <a:ext uri="{FF2B5EF4-FFF2-40B4-BE49-F238E27FC236}">
                  <a16:creationId xmlns:a16="http://schemas.microsoft.com/office/drawing/2014/main" id="{854AAF6B-CF3B-8A7E-D12F-750BEE487628}"/>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7" name="object 13">
            <a:extLst>
              <a:ext uri="{FF2B5EF4-FFF2-40B4-BE49-F238E27FC236}">
                <a16:creationId xmlns:a16="http://schemas.microsoft.com/office/drawing/2014/main" id="{71BCED2E-FE8E-F08D-11A2-6AA41947F461}"/>
              </a:ext>
            </a:extLst>
          </p:cNvPr>
          <p:cNvGrpSpPr/>
          <p:nvPr/>
        </p:nvGrpSpPr>
        <p:grpSpPr>
          <a:xfrm>
            <a:off x="1295400" y="2260209"/>
            <a:ext cx="5530189" cy="4698301"/>
            <a:chOff x="793788" y="4631308"/>
            <a:chExt cx="6437630" cy="2974340"/>
          </a:xfrm>
        </p:grpSpPr>
        <p:sp>
          <p:nvSpPr>
            <p:cNvPr id="29" name="object 14">
              <a:extLst>
                <a:ext uri="{FF2B5EF4-FFF2-40B4-BE49-F238E27FC236}">
                  <a16:creationId xmlns:a16="http://schemas.microsoft.com/office/drawing/2014/main" id="{480FE160-EE77-03F2-9C11-9E87BC4678C6}"/>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0" name="object 15">
              <a:extLst>
                <a:ext uri="{FF2B5EF4-FFF2-40B4-BE49-F238E27FC236}">
                  <a16:creationId xmlns:a16="http://schemas.microsoft.com/office/drawing/2014/main" id="{985591CC-C239-2601-DAF4-E4354156F49D}"/>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1092571" y="457200"/>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Separation of Model Search and Ensembling</a:t>
            </a:r>
            <a:endParaRPr lang="en-US" sz="3600" dirty="0">
              <a:solidFill>
                <a:schemeClr val="tx1"/>
              </a:solidFill>
            </a:endParaRPr>
          </a:p>
        </p:txBody>
      </p:sp>
      <p:sp>
        <p:nvSpPr>
          <p:cNvPr id="8" name="Text 3">
            <a:extLst>
              <a:ext uri="{FF2B5EF4-FFF2-40B4-BE49-F238E27FC236}">
                <a16:creationId xmlns:a16="http://schemas.microsoft.com/office/drawing/2014/main" id="{A0D38183-3593-0CD5-9F87-5CFCC2BA96CD}"/>
              </a:ext>
            </a:extLst>
          </p:cNvPr>
          <p:cNvSpPr/>
          <p:nvPr/>
        </p:nvSpPr>
        <p:spPr>
          <a:xfrm>
            <a:off x="1735379" y="2290475"/>
            <a:ext cx="4650230" cy="469830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Model Search Phase</a:t>
            </a:r>
            <a:endParaRPr lang="en-US" sz="24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During this phase, bagging, boosting, and random forests are treated as individual models to be evaluated.</a:t>
            </a:r>
            <a:endParaRPr lang="en-US" sz="1800" dirty="0">
              <a:solidFill>
                <a:schemeClr val="tx1"/>
              </a:solidFill>
              <a:latin typeface="PT Serif" panose="020A0603040505020204" pitchFamily="18" charset="0"/>
            </a:endParaRPr>
          </a:p>
          <a:p>
            <a:pPr algn="l">
              <a:lnSpc>
                <a:spcPct val="200000"/>
              </a:lnSpc>
            </a:pPr>
            <a:r>
              <a:rPr lang="en-US" sz="1800" dirty="0">
                <a:solidFill>
                  <a:schemeClr val="tx1"/>
                </a:solidFill>
                <a:latin typeface="PT Serif" panose="020A0603040505020204" pitchFamily="18" charset="0"/>
                <a:ea typeface="DM Sans" pitchFamily="34" charset="-122"/>
                <a:cs typeface="DM Sans" pitchFamily="34" charset="-120"/>
              </a:rPr>
              <a:t>Each algorithm is trained and assessed independently on validation data.</a:t>
            </a:r>
            <a:endParaRPr lang="en-US" sz="1800" dirty="0">
              <a:solidFill>
                <a:schemeClr val="tx1"/>
              </a:solidFill>
              <a:latin typeface="PT Serif" panose="020A0603040505020204" pitchFamily="18" charset="0"/>
            </a:endParaRPr>
          </a:p>
          <a:p>
            <a:pPr marL="0" indent="0" algn="l">
              <a:lnSpc>
                <a:spcPct val="200000"/>
              </a:lnSpc>
              <a:buNone/>
            </a:pPr>
            <a:endParaRPr lang="en-US" sz="1800"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920598" y="2299666"/>
            <a:ext cx="4780222" cy="469830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Ensembling Phase</a:t>
            </a:r>
            <a:endParaRPr lang="en-US" sz="2400"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This phase happens after evaluation is complete.</a:t>
            </a:r>
            <a:endParaRPr lang="en-US" sz="1800" dirty="0">
              <a:solidFill>
                <a:schemeClr val="tx1"/>
              </a:solidFill>
              <a:latin typeface="PT Serif" panose="020A0603040505020204" pitchFamily="18" charset="0"/>
            </a:endParaRPr>
          </a:p>
          <a:p>
            <a:pPr algn="l">
              <a:lnSpc>
                <a:spcPct val="200000"/>
              </a:lnSpc>
            </a:pPr>
            <a:r>
              <a:rPr lang="en-US" sz="1800" dirty="0">
                <a:solidFill>
                  <a:schemeClr val="tx1"/>
                </a:solidFill>
                <a:latin typeface="PT Serif" panose="020A0603040505020204" pitchFamily="18" charset="0"/>
                <a:ea typeface="DM Sans" pitchFamily="34" charset="-122"/>
                <a:cs typeface="DM Sans" pitchFamily="34" charset="-120"/>
              </a:rPr>
              <a:t>Only the top-performing models from the search phase are selected and combined into a weighted ensemble.</a:t>
            </a:r>
            <a:endParaRPr lang="en-US" sz="1800" dirty="0">
              <a:solidFill>
                <a:schemeClr val="tx1"/>
              </a:solidFill>
              <a:latin typeface="PT Serif" panose="020A0603040505020204" pitchFamily="18" charset="0"/>
            </a:endParaRPr>
          </a:p>
          <a:p>
            <a:pPr marL="0" indent="0" algn="l">
              <a:lnSpc>
                <a:spcPct val="200000"/>
              </a:lnSpc>
              <a:buNone/>
            </a:pP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387094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4077" y="0"/>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Weighted Ensemble of Best Models</a:t>
            </a:r>
            <a:endParaRPr lang="en-US" sz="3600" dirty="0"/>
          </a:p>
        </p:txBody>
      </p:sp>
      <p:sp>
        <p:nvSpPr>
          <p:cNvPr id="21" name="Shape 2">
            <a:extLst>
              <a:ext uri="{FF2B5EF4-FFF2-40B4-BE49-F238E27FC236}">
                <a16:creationId xmlns:a16="http://schemas.microsoft.com/office/drawing/2014/main" id="{5FE26A02-BF48-BE3A-0BC6-D1E3F1CF2B05}"/>
              </a:ext>
            </a:extLst>
          </p:cNvPr>
          <p:cNvSpPr/>
          <p:nvPr/>
        </p:nvSpPr>
        <p:spPr>
          <a:xfrm>
            <a:off x="703385" y="1764014"/>
            <a:ext cx="3129937" cy="3722386"/>
          </a:xfrm>
          <a:prstGeom prst="roundRect">
            <a:avLst>
              <a:gd name="adj" fmla="val 1410"/>
            </a:avLst>
          </a:prstGeom>
          <a:solidFill>
            <a:srgbClr val="F2EEEE"/>
          </a:solidFill>
          <a:ln/>
        </p:spPr>
        <p:txBody>
          <a:bodyPr/>
          <a:lstStyle/>
          <a:p>
            <a:pPr algn="l"/>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55786" y="2011959"/>
            <a:ext cx="2977536" cy="2476441"/>
          </a:xfrm>
          <a:prstGeom prst="rect">
            <a:avLst/>
          </a:prstGeom>
          <a:noFill/>
          <a:ln/>
        </p:spPr>
        <p:txBody>
          <a:bodyPr wrap="square" lIns="0" tIns="0" rIns="0" bIns="0" rtlCol="0" anchor="t"/>
          <a:lstStyle/>
          <a:p>
            <a:pPr algn="l">
              <a:lnSpc>
                <a:spcPct val="200000"/>
              </a:lnSpc>
            </a:pPr>
            <a:r>
              <a:rPr lang="en-US" sz="2400" dirty="0">
                <a:solidFill>
                  <a:srgbClr val="020202"/>
                </a:solidFill>
                <a:latin typeface="PT Serif" panose="020A0603040505020204" pitchFamily="18" charset="0"/>
                <a:ea typeface="PT Serif" pitchFamily="34" charset="-122"/>
                <a:cs typeface="PT Serif" pitchFamily="34" charset="-120"/>
              </a:rPr>
              <a:t>1. </a:t>
            </a:r>
            <a:r>
              <a:rPr lang="en-US" sz="2400" dirty="0">
                <a:solidFill>
                  <a:srgbClr val="383838"/>
                </a:solidFill>
                <a:latin typeface="PT Serif" panose="020A0603040505020204" pitchFamily="18" charset="0"/>
                <a:ea typeface="PT Serif" pitchFamily="34" charset="-122"/>
                <a:cs typeface="PT Serif" pitchFamily="34" charset="-120"/>
              </a:rPr>
              <a:t>Select Top N Models</a:t>
            </a:r>
            <a:endParaRPr lang="en-US" dirty="0">
              <a:solidFill>
                <a:srgbClr val="383838"/>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AutoML identifies the best-performing models from evaluation</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9" name="Shape 2">
            <a:extLst>
              <a:ext uri="{FF2B5EF4-FFF2-40B4-BE49-F238E27FC236}">
                <a16:creationId xmlns:a16="http://schemas.microsoft.com/office/drawing/2014/main" id="{BFA8B0DE-C1F2-F85E-9D30-811D2CC36684}"/>
              </a:ext>
            </a:extLst>
          </p:cNvPr>
          <p:cNvSpPr/>
          <p:nvPr/>
        </p:nvSpPr>
        <p:spPr>
          <a:xfrm>
            <a:off x="4126648" y="1764014"/>
            <a:ext cx="3129937" cy="3722386"/>
          </a:xfrm>
          <a:prstGeom prst="roundRect">
            <a:avLst>
              <a:gd name="adj" fmla="val 1410"/>
            </a:avLst>
          </a:prstGeom>
          <a:solidFill>
            <a:srgbClr val="F2EEEE"/>
          </a:solidFill>
          <a:ln/>
        </p:spPr>
        <p:txBody>
          <a:bodyPr/>
          <a:lstStyle/>
          <a:p>
            <a:pPr algn="l"/>
            <a:endParaRPr lang="en-IN" dirty="0">
              <a:latin typeface="PT Serif" panose="020A0603040505020204" pitchFamily="18" charset="0"/>
            </a:endParaRPr>
          </a:p>
        </p:txBody>
      </p:sp>
      <p:sp>
        <p:nvSpPr>
          <p:cNvPr id="24" name="Text 3">
            <a:extLst>
              <a:ext uri="{FF2B5EF4-FFF2-40B4-BE49-F238E27FC236}">
                <a16:creationId xmlns:a16="http://schemas.microsoft.com/office/drawing/2014/main" id="{4311230A-B59F-31AB-E199-56F98A3FE6BB}"/>
              </a:ext>
            </a:extLst>
          </p:cNvPr>
          <p:cNvSpPr/>
          <p:nvPr/>
        </p:nvSpPr>
        <p:spPr>
          <a:xfrm>
            <a:off x="4279049" y="2011959"/>
            <a:ext cx="2977536" cy="2476441"/>
          </a:xfrm>
          <a:prstGeom prst="rect">
            <a:avLst/>
          </a:prstGeom>
          <a:noFill/>
          <a:ln/>
        </p:spPr>
        <p:txBody>
          <a:bodyPr wrap="square" lIns="0" tIns="0" rIns="0" bIns="0" rtlCol="0" anchor="t"/>
          <a:lstStyle/>
          <a:p>
            <a:pPr algn="l">
              <a:lnSpc>
                <a:spcPct val="200000"/>
              </a:lnSpc>
            </a:pPr>
            <a:r>
              <a:rPr lang="en-US" sz="2400" dirty="0">
                <a:solidFill>
                  <a:srgbClr val="020202"/>
                </a:solidFill>
                <a:latin typeface="PT Serif" panose="020A0603040505020204" pitchFamily="18" charset="0"/>
                <a:ea typeface="PT Serif" pitchFamily="34" charset="-122"/>
                <a:cs typeface="PT Serif" pitchFamily="34" charset="-120"/>
              </a:rPr>
              <a:t>2. </a:t>
            </a:r>
            <a:r>
              <a:rPr lang="en-US" sz="2400" dirty="0">
                <a:solidFill>
                  <a:srgbClr val="383838"/>
                </a:solidFill>
                <a:latin typeface="PT Serif" panose="020A0603040505020204" pitchFamily="18" charset="0"/>
                <a:ea typeface="PT Serif" pitchFamily="34" charset="-122"/>
                <a:cs typeface="PT Serif" pitchFamily="34" charset="-120"/>
              </a:rPr>
              <a:t>Assign Weights</a:t>
            </a:r>
          </a:p>
          <a:p>
            <a:pPr algn="l">
              <a:lnSpc>
                <a:spcPct val="200000"/>
              </a:lnSpc>
            </a:pPr>
            <a:endParaRPr lang="en-US" sz="2800" dirty="0">
              <a:solidFill>
                <a:srgbClr val="383838"/>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Weights are assigned based on validation performance</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25" name="Shape 2">
            <a:extLst>
              <a:ext uri="{FF2B5EF4-FFF2-40B4-BE49-F238E27FC236}">
                <a16:creationId xmlns:a16="http://schemas.microsoft.com/office/drawing/2014/main" id="{568F329B-3A60-FFD5-55E3-A6BFC9EED842}"/>
              </a:ext>
            </a:extLst>
          </p:cNvPr>
          <p:cNvSpPr/>
          <p:nvPr/>
        </p:nvSpPr>
        <p:spPr>
          <a:xfrm>
            <a:off x="7555648" y="1764014"/>
            <a:ext cx="3129937" cy="3722386"/>
          </a:xfrm>
          <a:prstGeom prst="roundRect">
            <a:avLst>
              <a:gd name="adj" fmla="val 1410"/>
            </a:avLst>
          </a:prstGeom>
          <a:solidFill>
            <a:srgbClr val="F2EEEE"/>
          </a:solidFill>
          <a:ln/>
        </p:spPr>
        <p:txBody>
          <a:bodyPr/>
          <a:lstStyle/>
          <a:p>
            <a:pPr algn="l"/>
            <a:endParaRPr lang="en-IN" dirty="0">
              <a:latin typeface="PT Serif" panose="020A0603040505020204" pitchFamily="18" charset="0"/>
            </a:endParaRPr>
          </a:p>
        </p:txBody>
      </p:sp>
      <p:sp>
        <p:nvSpPr>
          <p:cNvPr id="26" name="Text 3">
            <a:extLst>
              <a:ext uri="{FF2B5EF4-FFF2-40B4-BE49-F238E27FC236}">
                <a16:creationId xmlns:a16="http://schemas.microsoft.com/office/drawing/2014/main" id="{4F5BB800-CA05-C099-BE74-1979CC322B78}"/>
              </a:ext>
            </a:extLst>
          </p:cNvPr>
          <p:cNvSpPr/>
          <p:nvPr/>
        </p:nvSpPr>
        <p:spPr>
          <a:xfrm>
            <a:off x="7708049" y="2011959"/>
            <a:ext cx="2977536" cy="2476441"/>
          </a:xfrm>
          <a:prstGeom prst="rect">
            <a:avLst/>
          </a:prstGeom>
          <a:noFill/>
          <a:ln/>
        </p:spPr>
        <p:txBody>
          <a:bodyPr wrap="square" lIns="0" tIns="0" rIns="0" bIns="0" rtlCol="0" anchor="t"/>
          <a:lstStyle/>
          <a:p>
            <a:pPr algn="l">
              <a:lnSpc>
                <a:spcPct val="200000"/>
              </a:lnSpc>
            </a:pPr>
            <a:r>
              <a:rPr lang="en-US" sz="2400" dirty="0">
                <a:solidFill>
                  <a:srgbClr val="020202"/>
                </a:solidFill>
                <a:latin typeface="PT Serif" panose="020A0603040505020204" pitchFamily="18" charset="0"/>
                <a:ea typeface="PT Serif" pitchFamily="34" charset="-122"/>
                <a:cs typeface="PT Serif" pitchFamily="34" charset="-120"/>
              </a:rPr>
              <a:t>3. </a:t>
            </a:r>
            <a:r>
              <a:rPr lang="en-US" sz="2400" dirty="0">
                <a:solidFill>
                  <a:srgbClr val="383838"/>
                </a:solidFill>
                <a:latin typeface="PT Serif" panose="020A0603040505020204" pitchFamily="18" charset="0"/>
                <a:ea typeface="PT Serif" pitchFamily="34" charset="-122"/>
                <a:cs typeface="PT Serif" pitchFamily="34" charset="-120"/>
              </a:rPr>
              <a:t>Combine Predictions</a:t>
            </a:r>
            <a:endParaRPr lang="en-US" dirty="0">
              <a:solidFill>
                <a:srgbClr val="383838"/>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Final prediction is a weighted combination of model outputs</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27" name="Shape 2">
            <a:extLst>
              <a:ext uri="{FF2B5EF4-FFF2-40B4-BE49-F238E27FC236}">
                <a16:creationId xmlns:a16="http://schemas.microsoft.com/office/drawing/2014/main" id="{3AE16FE2-C028-2341-7972-4BA5CE9006AA}"/>
              </a:ext>
            </a:extLst>
          </p:cNvPr>
          <p:cNvSpPr/>
          <p:nvPr/>
        </p:nvSpPr>
        <p:spPr>
          <a:xfrm>
            <a:off x="10908448" y="1764014"/>
            <a:ext cx="3129937" cy="3722386"/>
          </a:xfrm>
          <a:prstGeom prst="roundRect">
            <a:avLst>
              <a:gd name="adj" fmla="val 1410"/>
            </a:avLst>
          </a:prstGeom>
          <a:solidFill>
            <a:srgbClr val="F2EEEE"/>
          </a:solidFill>
          <a:ln/>
        </p:spPr>
        <p:txBody>
          <a:bodyPr/>
          <a:lstStyle/>
          <a:p>
            <a:pPr algn="l"/>
            <a:endParaRPr lang="en-IN" dirty="0">
              <a:latin typeface="PT Serif" panose="020A0603040505020204" pitchFamily="18" charset="0"/>
            </a:endParaRPr>
          </a:p>
        </p:txBody>
      </p:sp>
      <p:sp>
        <p:nvSpPr>
          <p:cNvPr id="28" name="Text 3">
            <a:extLst>
              <a:ext uri="{FF2B5EF4-FFF2-40B4-BE49-F238E27FC236}">
                <a16:creationId xmlns:a16="http://schemas.microsoft.com/office/drawing/2014/main" id="{2DAE9A7B-254F-B8B2-AA5B-DE7033663528}"/>
              </a:ext>
            </a:extLst>
          </p:cNvPr>
          <p:cNvSpPr/>
          <p:nvPr/>
        </p:nvSpPr>
        <p:spPr>
          <a:xfrm>
            <a:off x="11072572" y="2011959"/>
            <a:ext cx="2977536" cy="2476441"/>
          </a:xfrm>
          <a:prstGeom prst="rect">
            <a:avLst/>
          </a:prstGeom>
          <a:noFill/>
          <a:ln/>
        </p:spPr>
        <p:txBody>
          <a:bodyPr wrap="square" lIns="0" tIns="0" rIns="0" bIns="0" rtlCol="0" anchor="t"/>
          <a:lstStyle/>
          <a:p>
            <a:pPr algn="l">
              <a:lnSpc>
                <a:spcPct val="200000"/>
              </a:lnSpc>
            </a:pPr>
            <a:r>
              <a:rPr lang="en-US" sz="2400" dirty="0">
                <a:solidFill>
                  <a:srgbClr val="020202"/>
                </a:solidFill>
                <a:latin typeface="PT Serif" panose="020A0603040505020204" pitchFamily="18" charset="0"/>
                <a:ea typeface="PT Serif" pitchFamily="34" charset="-122"/>
                <a:cs typeface="PT Serif" pitchFamily="34" charset="-120"/>
              </a:rPr>
              <a:t>4. </a:t>
            </a:r>
            <a:r>
              <a:rPr lang="en-US" sz="2400" dirty="0">
                <a:solidFill>
                  <a:srgbClr val="383838"/>
                </a:solidFill>
                <a:latin typeface="PT Serif" panose="020A0603040505020204" pitchFamily="18" charset="0"/>
                <a:ea typeface="PT Serif" pitchFamily="34" charset="-122"/>
                <a:cs typeface="PT Serif" pitchFamily="34" charset="-120"/>
              </a:rPr>
              <a:t>Better Influence</a:t>
            </a:r>
          </a:p>
          <a:p>
            <a:pPr algn="l">
              <a:lnSpc>
                <a:spcPct val="200000"/>
              </a:lnSpc>
            </a:pPr>
            <a:endParaRPr lang="en-US" dirty="0">
              <a:solidFill>
                <a:srgbClr val="383838"/>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Higher-performing models have greater influence on final predictions</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Tree>
    <p:extLst>
      <p:ext uri="{BB962C8B-B14F-4D97-AF65-F5344CB8AC3E}">
        <p14:creationId xmlns:p14="http://schemas.microsoft.com/office/powerpoint/2010/main" val="1770922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object 13">
            <a:extLst>
              <a:ext uri="{FF2B5EF4-FFF2-40B4-BE49-F238E27FC236}">
                <a16:creationId xmlns:a16="http://schemas.microsoft.com/office/drawing/2014/main" id="{3A7BD985-4F33-92C4-8CA6-B96C8FF5B89E}"/>
              </a:ext>
            </a:extLst>
          </p:cNvPr>
          <p:cNvGrpSpPr/>
          <p:nvPr/>
        </p:nvGrpSpPr>
        <p:grpSpPr>
          <a:xfrm>
            <a:off x="7540262" y="2279126"/>
            <a:ext cx="5530189" cy="3514030"/>
            <a:chOff x="793788" y="4631308"/>
            <a:chExt cx="6437630" cy="2974340"/>
          </a:xfrm>
        </p:grpSpPr>
        <p:sp>
          <p:nvSpPr>
            <p:cNvPr id="32" name="object 14">
              <a:extLst>
                <a:ext uri="{FF2B5EF4-FFF2-40B4-BE49-F238E27FC236}">
                  <a16:creationId xmlns:a16="http://schemas.microsoft.com/office/drawing/2014/main" id="{EF009A0C-E269-9B9B-724D-1EA47701A74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3" name="object 15">
              <a:extLst>
                <a:ext uri="{FF2B5EF4-FFF2-40B4-BE49-F238E27FC236}">
                  <a16:creationId xmlns:a16="http://schemas.microsoft.com/office/drawing/2014/main" id="{854AAF6B-CF3B-8A7E-D12F-750BEE487628}"/>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7" name="object 13">
            <a:extLst>
              <a:ext uri="{FF2B5EF4-FFF2-40B4-BE49-F238E27FC236}">
                <a16:creationId xmlns:a16="http://schemas.microsoft.com/office/drawing/2014/main" id="{71BCED2E-FE8E-F08D-11A2-6AA41947F461}"/>
              </a:ext>
            </a:extLst>
          </p:cNvPr>
          <p:cNvGrpSpPr/>
          <p:nvPr/>
        </p:nvGrpSpPr>
        <p:grpSpPr>
          <a:xfrm>
            <a:off x="1295400" y="2260209"/>
            <a:ext cx="5530189" cy="3530991"/>
            <a:chOff x="793788" y="4631308"/>
            <a:chExt cx="6437630" cy="2974340"/>
          </a:xfrm>
        </p:grpSpPr>
        <p:sp>
          <p:nvSpPr>
            <p:cNvPr id="29" name="object 14">
              <a:extLst>
                <a:ext uri="{FF2B5EF4-FFF2-40B4-BE49-F238E27FC236}">
                  <a16:creationId xmlns:a16="http://schemas.microsoft.com/office/drawing/2014/main" id="{480FE160-EE77-03F2-9C11-9E87BC4678C6}"/>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0" name="object 15">
              <a:extLst>
                <a:ext uri="{FF2B5EF4-FFF2-40B4-BE49-F238E27FC236}">
                  <a16:creationId xmlns:a16="http://schemas.microsoft.com/office/drawing/2014/main" id="{985591CC-C239-2601-DAF4-E4354156F49D}"/>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1092571" y="457200"/>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Advantages and Trade-offs of AutoML Ensembles</a:t>
            </a:r>
            <a:endParaRPr lang="en-US" sz="3600" dirty="0">
              <a:solidFill>
                <a:schemeClr val="tx1"/>
              </a:solidFill>
            </a:endParaRPr>
          </a:p>
        </p:txBody>
      </p:sp>
      <p:sp>
        <p:nvSpPr>
          <p:cNvPr id="8" name="Text 3">
            <a:extLst>
              <a:ext uri="{FF2B5EF4-FFF2-40B4-BE49-F238E27FC236}">
                <a16:creationId xmlns:a16="http://schemas.microsoft.com/office/drawing/2014/main" id="{A0D38183-3593-0CD5-9F87-5CFCC2BA96CD}"/>
              </a:ext>
            </a:extLst>
          </p:cNvPr>
          <p:cNvSpPr/>
          <p:nvPr/>
        </p:nvSpPr>
        <p:spPr>
          <a:xfrm>
            <a:off x="1735379" y="2290475"/>
            <a:ext cx="4650230" cy="469830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Advantages</a:t>
            </a:r>
            <a:endParaRPr lang="en-US" sz="24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Better generalization across different data</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Reduced variance in predictions</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More robust predictions overall</a:t>
            </a:r>
            <a:endParaRPr lang="en-US" sz="1800" dirty="0">
              <a:solidFill>
                <a:schemeClr val="tx1"/>
              </a:solidFill>
              <a:latin typeface="PT Serif" panose="020A0603040505020204" pitchFamily="18" charset="0"/>
            </a:endParaRPr>
          </a:p>
          <a:p>
            <a:pPr marL="0" indent="0" algn="l">
              <a:lnSpc>
                <a:spcPct val="200000"/>
              </a:lnSpc>
              <a:buNone/>
            </a:pPr>
            <a:endParaRPr lang="en-US" sz="1800"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920598" y="2299666"/>
            <a:ext cx="4780222" cy="469830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Trade-offs</a:t>
            </a:r>
            <a:endParaRPr lang="en-US" sz="2400"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Lower interpretability of final model</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Higher inference cost and complexity</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Harder governance and compliance</a:t>
            </a:r>
            <a:endParaRPr lang="en-US" sz="1800" dirty="0">
              <a:solidFill>
                <a:schemeClr val="tx1"/>
              </a:solidFill>
              <a:latin typeface="PT Serif" panose="020A0603040505020204" pitchFamily="18" charset="0"/>
            </a:endParaRPr>
          </a:p>
          <a:p>
            <a:pPr marL="0" indent="0" algn="l">
              <a:lnSpc>
                <a:spcPct val="200000"/>
              </a:lnSpc>
              <a:buNone/>
            </a:pP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3308658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750141" y="1510906"/>
            <a:ext cx="6411330" cy="2398366"/>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8"/>
              <a:ext cx="6391910" cy="980625"/>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714803" y="4404462"/>
            <a:ext cx="6377809" cy="2398365"/>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8"/>
              <a:ext cx="6391910" cy="996201"/>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21816" y="4404463"/>
            <a:ext cx="6703784" cy="2398364"/>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6"/>
              <a:ext cx="6391910" cy="996203"/>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1529821"/>
            <a:ext cx="6703784" cy="2379451"/>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960060"/>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760896" y="175380"/>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AutoML in Python: Library Overview</a:t>
            </a:r>
            <a:endParaRPr lang="en-US" sz="3600" dirty="0">
              <a:solidFill>
                <a:schemeClr val="tx1"/>
              </a:solidFill>
            </a:endParaRPr>
          </a:p>
        </p:txBody>
      </p:sp>
      <p:sp>
        <p:nvSpPr>
          <p:cNvPr id="8" name="Text 3">
            <a:extLst>
              <a:ext uri="{FF2B5EF4-FFF2-40B4-BE49-F238E27FC236}">
                <a16:creationId xmlns:a16="http://schemas.microsoft.com/office/drawing/2014/main" id="{A0D38183-3593-0CD5-9F87-5CFCC2BA96CD}"/>
              </a:ext>
            </a:extLst>
          </p:cNvPr>
          <p:cNvSpPr/>
          <p:nvPr/>
        </p:nvSpPr>
        <p:spPr>
          <a:xfrm>
            <a:off x="1058373" y="1503683"/>
            <a:ext cx="6034239" cy="469830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H2O AutoML</a:t>
            </a:r>
            <a:endParaRPr lang="en-US" sz="2400" dirty="0">
              <a:solidFill>
                <a:schemeClr val="tx1"/>
              </a:solidFill>
              <a:latin typeface="PT Serif" panose="020A0603040505020204" pitchFamily="18" charset="0"/>
            </a:endParaRPr>
          </a:p>
          <a:p>
            <a:pPr algn="l">
              <a:lnSpc>
                <a:spcPct val="200000"/>
              </a:lnSpc>
            </a:pPr>
            <a:endParaRPr lang="en-US" sz="11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Enterprise-grade AutoML with strong performance and scalability</a:t>
            </a:r>
            <a:endParaRPr lang="en-US"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auto-</a:t>
            </a:r>
            <a:r>
              <a:rPr lang="en-US" sz="2400" dirty="0" err="1">
                <a:solidFill>
                  <a:schemeClr val="tx1"/>
                </a:solidFill>
                <a:latin typeface="PT Serif" panose="020A0603040505020204" pitchFamily="18" charset="0"/>
                <a:ea typeface="PT Serif" pitchFamily="34" charset="-122"/>
                <a:cs typeface="PT Serif" pitchFamily="34" charset="-120"/>
              </a:rPr>
              <a:t>sklearn</a:t>
            </a:r>
            <a:endParaRPr lang="en-US" sz="2400" dirty="0">
              <a:solidFill>
                <a:schemeClr val="tx1"/>
              </a:solidFill>
              <a:latin typeface="PT Serif" panose="020A0603040505020204" pitchFamily="18" charset="0"/>
            </a:endParaRPr>
          </a:p>
          <a:p>
            <a:pPr algn="l">
              <a:lnSpc>
                <a:spcPct val="200000"/>
              </a:lnSpc>
            </a:pPr>
            <a:endParaRPr lang="en-US" sz="1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Built on scikit-learn with Bayesian optimization and meta-learning</a:t>
            </a:r>
            <a:endParaRPr lang="en-US" sz="1800"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970996" y="1503683"/>
            <a:ext cx="5973604" cy="4698301"/>
          </a:xfrm>
          <a:prstGeom prst="rect">
            <a:avLst/>
          </a:prstGeom>
          <a:noFill/>
          <a:ln/>
        </p:spPr>
        <p:txBody>
          <a:bodyPr wrap="square" lIns="0" tIns="0" rIns="0" bIns="0" rtlCol="0" anchor="t"/>
          <a:lstStyle/>
          <a:p>
            <a:pPr marL="0" indent="0" algn="l">
              <a:lnSpc>
                <a:spcPct val="200000"/>
              </a:lnSpc>
              <a:buNone/>
            </a:pPr>
            <a:r>
              <a:rPr lang="en-US" sz="2400" dirty="0" err="1">
                <a:solidFill>
                  <a:schemeClr val="tx1"/>
                </a:solidFill>
                <a:latin typeface="PT Serif" panose="020A0603040505020204" pitchFamily="18" charset="0"/>
                <a:ea typeface="PT Serif" pitchFamily="34" charset="-122"/>
                <a:cs typeface="PT Serif" pitchFamily="34" charset="-120"/>
              </a:rPr>
              <a:t>PyCaret</a:t>
            </a:r>
            <a:endParaRPr lang="en-US" sz="2400" dirty="0">
              <a:solidFill>
                <a:schemeClr val="tx1"/>
              </a:solidFill>
              <a:latin typeface="PT Serif" panose="020A0603040505020204" pitchFamily="18" charset="0"/>
            </a:endParaRPr>
          </a:p>
          <a:p>
            <a:pPr marL="0" indent="0" algn="l">
              <a:lnSpc>
                <a:spcPct val="200000"/>
              </a:lnSpc>
              <a:buNone/>
            </a:pPr>
            <a:endParaRPr lang="en-US" sz="12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Low-code ML library with simple API and extensive preprocessing</a:t>
            </a:r>
            <a:endParaRPr lang="en-US" sz="1800"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TPOT</a:t>
            </a:r>
            <a:endParaRPr lang="en-US" sz="2400" dirty="0">
              <a:solidFill>
                <a:schemeClr val="tx1"/>
              </a:solidFill>
              <a:latin typeface="PT Serif" panose="020A0603040505020204" pitchFamily="18" charset="0"/>
            </a:endParaRPr>
          </a:p>
          <a:p>
            <a:pPr marL="0" indent="0" algn="ctr">
              <a:lnSpc>
                <a:spcPct val="200000"/>
              </a:lnSpc>
              <a:buNone/>
            </a:pPr>
            <a:endParaRPr lang="en-US" sz="1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Uses genetic programming to optimize ML pipelines</a:t>
            </a:r>
            <a:endParaRPr lang="en-US" sz="1800" dirty="0">
              <a:solidFill>
                <a:schemeClr val="tx1"/>
              </a:solidFill>
              <a:latin typeface="PT Serif" panose="020A0603040505020204" pitchFamily="18" charset="0"/>
            </a:endParaRPr>
          </a:p>
        </p:txBody>
      </p:sp>
      <p:sp>
        <p:nvSpPr>
          <p:cNvPr id="27" name="Text 9">
            <a:extLst>
              <a:ext uri="{FF2B5EF4-FFF2-40B4-BE49-F238E27FC236}">
                <a16:creationId xmlns:a16="http://schemas.microsoft.com/office/drawing/2014/main" id="{1B6045A4-CC52-497D-94ED-4C2A5BA9465C}"/>
              </a:ext>
            </a:extLst>
          </p:cNvPr>
          <p:cNvSpPr/>
          <p:nvPr/>
        </p:nvSpPr>
        <p:spPr>
          <a:xfrm>
            <a:off x="744279" y="7035448"/>
            <a:ext cx="13042821" cy="317540"/>
          </a:xfrm>
          <a:prstGeom prst="rect">
            <a:avLst/>
          </a:prstGeom>
          <a:noFill/>
          <a:ln/>
        </p:spPr>
        <p:txBody>
          <a:bodyPr wrap="none" lIns="0" tIns="0" rIns="0" bIns="0" rtlCol="0" anchor="t"/>
          <a:lstStyle/>
          <a:p>
            <a:pPr marL="0" indent="0" algn="l">
              <a:lnSpc>
                <a:spcPts val="2500"/>
              </a:lnSpc>
              <a:buNone/>
            </a:pPr>
            <a:r>
              <a:rPr lang="en-US" sz="1800" dirty="0">
                <a:solidFill>
                  <a:schemeClr val="tx1"/>
                </a:solidFill>
                <a:latin typeface="PT Serif" panose="020A0603040505020204" pitchFamily="18" charset="0"/>
                <a:ea typeface="DM Sans" pitchFamily="34" charset="-122"/>
                <a:cs typeface="DM Sans" pitchFamily="34" charset="-120"/>
              </a:rPr>
              <a:t>These libraries differ in automation level, flexibility, and computational requirements.</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2381489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482" y="83071"/>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AutoML vs Deployment vs Continuous Learning</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5249508" y="1867206"/>
            <a:ext cx="4164095" cy="3619194"/>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37302" y="1910638"/>
            <a:ext cx="3976821" cy="486528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Deployment</a:t>
            </a:r>
            <a:endParaRPr lang="en-US" sz="2400" dirty="0">
              <a:latin typeface="PT Serif" panose="020A0603040505020204" pitchFamily="18" charset="0"/>
            </a:endParaRPr>
          </a:p>
          <a:p>
            <a:pPr marL="0" indent="0" algn="l">
              <a:lnSpc>
                <a:spcPct val="200000"/>
              </a:lnSpc>
              <a:buNone/>
            </a:pP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Handled via </a:t>
            </a:r>
            <a:r>
              <a:rPr lang="en-US" sz="1800" dirty="0" err="1">
                <a:solidFill>
                  <a:srgbClr val="383838"/>
                </a:solidFill>
                <a:latin typeface="PT Serif" panose="020A0603040505020204" pitchFamily="18" charset="0"/>
                <a:ea typeface="DM Sans" pitchFamily="34" charset="-122"/>
                <a:cs typeface="DM Sans" pitchFamily="34" charset="-120"/>
              </a:rPr>
              <a:t>MLOps</a:t>
            </a:r>
            <a:r>
              <a:rPr lang="en-US" sz="1800" dirty="0">
                <a:solidFill>
                  <a:srgbClr val="383838"/>
                </a:solidFill>
                <a:latin typeface="PT Serif" panose="020A0603040505020204" pitchFamily="18" charset="0"/>
                <a:ea typeface="DM Sans" pitchFamily="34" charset="-122"/>
                <a:cs typeface="DM Sans" pitchFamily="34" charset="-120"/>
              </a:rPr>
              <a:t> practices and infrastructure</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98113" y="1918788"/>
            <a:ext cx="3818573" cy="3566948"/>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545274" y="1918788"/>
            <a:ext cx="3347385" cy="201654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Continuous Learning</a:t>
            </a:r>
            <a:endParaRPr lang="en-US" sz="2400" dirty="0">
              <a:latin typeface="PT Serif" panose="020A0603040505020204" pitchFamily="18" charset="0"/>
            </a:endParaRPr>
          </a:p>
          <a:p>
            <a:pPr marL="0" indent="0" algn="l">
              <a:lnSpc>
                <a:spcPct val="200000"/>
              </a:lnSpc>
              <a:buNone/>
            </a:pP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Involves monitoring, drift detection, and retraining pipelines</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85800" y="1871643"/>
            <a:ext cx="3976821" cy="3619194"/>
          </a:xfrm>
          <a:prstGeom prst="roundRect">
            <a:avLst>
              <a:gd name="adj" fmla="val 1410"/>
            </a:avLst>
          </a:prstGeom>
          <a:solidFill>
            <a:srgbClr val="F2EEEE"/>
          </a:solidFill>
          <a:ln/>
        </p:spPr>
        <p:txBody>
          <a:bodyPr/>
          <a:lstStyle/>
          <a:p>
            <a:pPr algn="l"/>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60811" y="1918788"/>
            <a:ext cx="3626798" cy="2476441"/>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AutoML</a:t>
            </a:r>
            <a:endParaRPr lang="en-US" sz="2400" dirty="0">
              <a:latin typeface="PT Serif" panose="020A0603040505020204" pitchFamily="18" charset="0"/>
            </a:endParaRPr>
          </a:p>
          <a:p>
            <a:pPr algn="l">
              <a:lnSpc>
                <a:spcPct val="200000"/>
              </a:lnSpc>
            </a:pPr>
            <a:endParaRPr lang="en-US" dirty="0">
              <a:solidFill>
                <a:srgbClr val="383838"/>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Builds and selects models through automated search and evaluation</a:t>
            </a:r>
            <a:endParaRPr lang="en-US" sz="1800" dirty="0">
              <a:latin typeface="PT Serif" panose="020A0603040505020204" pitchFamily="18" charset="0"/>
            </a:endParaRPr>
          </a:p>
          <a:p>
            <a:pPr algn="l">
              <a:lnSpc>
                <a:spcPct val="200000"/>
              </a:lnSpc>
            </a:pPr>
            <a:endParaRPr lang="en-US" dirty="0">
              <a:latin typeface="PT Serif" panose="020A0603040505020204" pitchFamily="18" charset="0"/>
            </a:endParaRPr>
          </a:p>
        </p:txBody>
      </p:sp>
      <p:sp>
        <p:nvSpPr>
          <p:cNvPr id="12" name="TextBox 11">
            <a:extLst>
              <a:ext uri="{FF2B5EF4-FFF2-40B4-BE49-F238E27FC236}">
                <a16:creationId xmlns:a16="http://schemas.microsoft.com/office/drawing/2014/main" id="{3700605C-BA7C-0A01-C86C-AA68839CB9CC}"/>
              </a:ext>
            </a:extLst>
          </p:cNvPr>
          <p:cNvSpPr txBox="1"/>
          <p:nvPr/>
        </p:nvSpPr>
        <p:spPr>
          <a:xfrm>
            <a:off x="751482" y="6417743"/>
            <a:ext cx="12126318" cy="392608"/>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AutoML may be re-run during retraining cycles but does not manage the continuous learning process itself.</a:t>
            </a:r>
            <a:endParaRPr lang="en-US" sz="1800" dirty="0">
              <a:latin typeface="PT Serif" panose="020A0603040505020204" pitchFamily="18" charset="0"/>
            </a:endParaRPr>
          </a:p>
        </p:txBody>
      </p:sp>
    </p:spTree>
    <p:extLst>
      <p:ext uri="{BB962C8B-B14F-4D97-AF65-F5344CB8AC3E}">
        <p14:creationId xmlns:p14="http://schemas.microsoft.com/office/powerpoint/2010/main" val="63920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547" y="-89396"/>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Key Takeaways: AutoML for Rapid ML Development</a:t>
            </a:r>
            <a:endParaRPr lang="en-US" sz="3600" dirty="0">
              <a:solidFill>
                <a:schemeClr val="tx1"/>
              </a:solidFill>
            </a:endParaRPr>
          </a:p>
        </p:txBody>
      </p:sp>
      <p:sp>
        <p:nvSpPr>
          <p:cNvPr id="13" name="Shape 5">
            <a:extLst>
              <a:ext uri="{FF2B5EF4-FFF2-40B4-BE49-F238E27FC236}">
                <a16:creationId xmlns:a16="http://schemas.microsoft.com/office/drawing/2014/main" id="{E7C49C67-C298-4068-CA76-A4C08A84BF5C}"/>
              </a:ext>
            </a:extLst>
          </p:cNvPr>
          <p:cNvSpPr/>
          <p:nvPr/>
        </p:nvSpPr>
        <p:spPr>
          <a:xfrm>
            <a:off x="5319971" y="1435537"/>
            <a:ext cx="4474510" cy="5162337"/>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90902" y="1435537"/>
            <a:ext cx="3976821" cy="4865280"/>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Ideal for Speed and Scale</a:t>
            </a:r>
            <a:endParaRPr lang="en-US" sz="2400" dirty="0">
              <a:solidFill>
                <a:schemeClr val="tx1"/>
              </a:solidFill>
              <a:latin typeface="PT Serif" panose="020A0603040505020204" pitchFamily="18" charset="0"/>
            </a:endParaRPr>
          </a:p>
          <a:p>
            <a:pPr marL="0" indent="0" algn="l">
              <a:lnSpc>
                <a:spcPct val="150000"/>
              </a:lnSpc>
              <a:buNone/>
            </a:pP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Best suited for data analysts, startups, and teams needing rapid prototyping or baseline models. Perfect when you lack deep ML expertise or need to scale ML across departments. Less effective for highly specialized datasets or custom architectures.</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713862" y="3246524"/>
            <a:ext cx="3818692" cy="127015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220061" y="1399805"/>
            <a:ext cx="4187541" cy="5162337"/>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07691" y="1451833"/>
            <a:ext cx="3940669" cy="2313740"/>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Ensembles Boost Performance</a:t>
            </a:r>
            <a:endParaRPr lang="en-US" sz="2400" dirty="0">
              <a:solidFill>
                <a:schemeClr val="tx1"/>
              </a:solidFill>
              <a:latin typeface="PT Serif" panose="020A0603040505020204" pitchFamily="18" charset="0"/>
            </a:endParaRPr>
          </a:p>
          <a:p>
            <a:pPr marL="0" indent="0" algn="l">
              <a:lnSpc>
                <a:spcPct val="150000"/>
              </a:lnSpc>
              <a:buNone/>
            </a:pP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Top AutoML platforms combine the best-performing models into weighted ensembles, improving generalization and robustness. Trade-off: reduced interpretability and higher inference costs. Libraries like H2O AutoML, </a:t>
            </a:r>
            <a:r>
              <a:rPr lang="en-US" sz="1800" dirty="0" err="1">
                <a:solidFill>
                  <a:schemeClr val="tx1"/>
                </a:solidFill>
                <a:latin typeface="PT Serif" panose="020A0603040505020204" pitchFamily="18" charset="0"/>
                <a:ea typeface="DM Sans" pitchFamily="34" charset="-122"/>
                <a:cs typeface="DM Sans" pitchFamily="34" charset="-120"/>
              </a:rPr>
              <a:t>PyCaret</a:t>
            </a:r>
            <a:r>
              <a:rPr lang="en-US" sz="1800" dirty="0">
                <a:solidFill>
                  <a:schemeClr val="tx1"/>
                </a:solidFill>
                <a:latin typeface="PT Serif" panose="020A0603040505020204" pitchFamily="18" charset="0"/>
                <a:ea typeface="DM Sans" pitchFamily="34" charset="-122"/>
                <a:cs typeface="DM Sans" pitchFamily="34" charset="-120"/>
              </a:rPr>
              <a:t>, auto-</a:t>
            </a:r>
            <a:r>
              <a:rPr lang="en-US" sz="1800" dirty="0" err="1">
                <a:solidFill>
                  <a:schemeClr val="tx1"/>
                </a:solidFill>
                <a:latin typeface="PT Serif" panose="020A0603040505020204" pitchFamily="18" charset="0"/>
                <a:ea typeface="DM Sans" pitchFamily="34" charset="-122"/>
                <a:cs typeface="DM Sans" pitchFamily="34" charset="-120"/>
              </a:rPr>
              <a:t>sklearn</a:t>
            </a:r>
            <a:r>
              <a:rPr lang="en-US" sz="1800" dirty="0">
                <a:solidFill>
                  <a:schemeClr val="tx1"/>
                </a:solidFill>
                <a:latin typeface="PT Serif" panose="020A0603040505020204" pitchFamily="18" charset="0"/>
                <a:ea typeface="DM Sans" pitchFamily="34" charset="-122"/>
                <a:cs typeface="DM Sans" pitchFamily="34" charset="-120"/>
              </a:rPr>
              <a:t>, and TPOT offer varying levels of automation.</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162134" y="2159132"/>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756263" y="1439975"/>
            <a:ext cx="3976821" cy="5162338"/>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908663" y="1417749"/>
            <a:ext cx="3626798" cy="2476441"/>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AutoML Automates, Not Replaces</a:t>
            </a:r>
            <a:endParaRPr lang="en-US" sz="2400" dirty="0">
              <a:solidFill>
                <a:schemeClr val="tx1"/>
              </a:solidFill>
              <a:latin typeface="PT Serif" panose="020A0603040505020204" pitchFamily="18" charset="0"/>
            </a:endParaRPr>
          </a:p>
          <a:p>
            <a:pPr algn="l">
              <a:lnSpc>
                <a:spcPct val="150000"/>
              </a:lnSpc>
            </a:pPr>
            <a:r>
              <a:rPr lang="en-US" dirty="0">
                <a:solidFill>
                  <a:schemeClr val="tx1"/>
                </a:solidFill>
                <a:latin typeface="PT Serif" panose="020A0603040505020204" pitchFamily="18" charset="0"/>
              </a:rPr>
              <a:t>	</a:t>
            </a: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AutoML systematically explores preprocessing, model selection, and hyperparameter tuning using existing algorithms. It accelerates development but still requires domain expertise for feature engineering, problem framing, and interpreting results.</a:t>
            </a:r>
            <a:endParaRPr lang="en-US" sz="1800" dirty="0">
              <a:solidFill>
                <a:schemeClr val="tx1"/>
              </a:solidFill>
              <a:latin typeface="PT Serif" panose="020A0603040505020204" pitchFamily="18" charset="0"/>
            </a:endParaRPr>
          </a:p>
          <a:p>
            <a:pPr algn="l">
              <a:lnSpc>
                <a:spcPct val="150000"/>
              </a:lnSpc>
            </a:pPr>
            <a:endParaRPr lang="en-US" dirty="0">
              <a:solidFill>
                <a:schemeClr val="tx1"/>
              </a:solidFill>
              <a:latin typeface="PT Serif" panose="020A0603040505020204" pitchFamily="18" charset="0"/>
            </a:endParaRPr>
          </a:p>
        </p:txBody>
      </p:sp>
      <p:sp>
        <p:nvSpPr>
          <p:cNvPr id="19" name="TextBox 18">
            <a:extLst>
              <a:ext uri="{FF2B5EF4-FFF2-40B4-BE49-F238E27FC236}">
                <a16:creationId xmlns:a16="http://schemas.microsoft.com/office/drawing/2014/main" id="{B75E3CCA-3D06-0E1F-B6F1-F071A1FA4DAE}"/>
              </a:ext>
            </a:extLst>
          </p:cNvPr>
          <p:cNvSpPr txBox="1"/>
          <p:nvPr/>
        </p:nvSpPr>
        <p:spPr>
          <a:xfrm>
            <a:off x="728101" y="6823467"/>
            <a:ext cx="13656055"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Remember: AutoML handles model building, but deployment, monitoring, and continuous learning require separate </a:t>
            </a:r>
            <a:r>
              <a:rPr lang="en-US" sz="1800" dirty="0" err="1">
                <a:solidFill>
                  <a:schemeClr val="tx1"/>
                </a:solidFill>
                <a:latin typeface="PT Serif" panose="020A0603040505020204" pitchFamily="18" charset="0"/>
                <a:ea typeface="DM Sans" pitchFamily="34" charset="-122"/>
                <a:cs typeface="DM Sans" pitchFamily="34" charset="-120"/>
              </a:rPr>
              <a:t>MLOps</a:t>
            </a:r>
            <a:r>
              <a:rPr lang="en-US" sz="1800" dirty="0">
                <a:solidFill>
                  <a:schemeClr val="tx1"/>
                </a:solidFill>
                <a:latin typeface="PT Serif" panose="020A0603040505020204" pitchFamily="18" charset="0"/>
                <a:ea typeface="DM Sans" pitchFamily="34" charset="-122"/>
                <a:cs typeface="DM Sans" pitchFamily="34" charset="-120"/>
              </a:rPr>
              <a:t> infrastructure. Use AutoML to establish strong baselines quickly, then invest expert effort where it matters most.</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3583671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814</TotalTime>
  <Words>1090</Words>
  <Application>Microsoft Office PowerPoint</Application>
  <PresentationFormat>Custom</PresentationFormat>
  <Paragraphs>228</Paragraphs>
  <Slides>18</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Calibri</vt:lpstr>
      <vt:lpstr>Lucida Sans Unicode</vt:lpstr>
      <vt:lpstr>PT Serif</vt:lpstr>
      <vt:lpstr>Office Theme</vt:lpstr>
      <vt:lpstr>PowerPoint Presentation</vt:lpstr>
      <vt:lpstr>PowerPoint Presentation</vt:lpstr>
      <vt:lpstr>The Problem: Fraud Detection Model Development in Finance Sector</vt:lpstr>
      <vt:lpstr>What Is AutoML?</vt:lpstr>
      <vt:lpstr>What AutoML Is NOT</vt:lpstr>
      <vt:lpstr>Traditional ML vs AutoML</vt:lpstr>
      <vt:lpstr>Why Do We Need AutoML?</vt:lpstr>
      <vt:lpstr>Who Should Use AutoML?</vt:lpstr>
      <vt:lpstr>When Is AutoML Not Necessary?</vt:lpstr>
      <vt:lpstr>AutoML Uses Existing Models (Not New Ones) </vt:lpstr>
      <vt:lpstr>Model Search in AutoML</vt:lpstr>
      <vt:lpstr>Hyperparameter Tuning in AutoML</vt:lpstr>
      <vt:lpstr>Separation of Model Search and Ensembling</vt:lpstr>
      <vt:lpstr>Weighted Ensemble of Best Models</vt:lpstr>
      <vt:lpstr>Advantages and Trade-offs of AutoML Ensembles</vt:lpstr>
      <vt:lpstr>AutoML in Python: Library Overview</vt:lpstr>
      <vt:lpstr>AutoML vs Deployment vs Continuous Learning</vt:lpstr>
      <vt:lpstr>Key Takeaways: AutoML for Rapid ML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Sylvia Dodti</cp:lastModifiedBy>
  <cp:revision>250</cp:revision>
  <dcterms:created xsi:type="dcterms:W3CDTF">2025-08-01T06:43:07Z</dcterms:created>
  <dcterms:modified xsi:type="dcterms:W3CDTF">2026-02-05T06:42:44Z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