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74" r:id="rId2"/>
    <p:sldId id="275" r:id="rId3"/>
    <p:sldId id="344" r:id="rId4"/>
    <p:sldId id="362" r:id="rId5"/>
    <p:sldId id="363" r:id="rId6"/>
    <p:sldId id="364" r:id="rId7"/>
    <p:sldId id="347" r:id="rId8"/>
    <p:sldId id="365" r:id="rId9"/>
    <p:sldId id="366" r:id="rId10"/>
    <p:sldId id="375" r:id="rId11"/>
    <p:sldId id="374" r:id="rId12"/>
    <p:sldId id="367" r:id="rId13"/>
    <p:sldId id="368" r:id="rId14"/>
    <p:sldId id="369" r:id="rId15"/>
    <p:sldId id="370" r:id="rId16"/>
    <p:sldId id="371" r:id="rId17"/>
    <p:sldId id="292" r:id="rId18"/>
    <p:sldId id="372" r:id="rId19"/>
    <p:sldId id="373" r:id="rId20"/>
    <p:sldId id="361" r:id="rId21"/>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6"/>
    <p:restoredTop sz="94206" autoAdjust="0"/>
  </p:normalViewPr>
  <p:slideViewPr>
    <p:cSldViewPr>
      <p:cViewPr varScale="1">
        <p:scale>
          <a:sx n="62" d="100"/>
          <a:sy n="62" d="100"/>
        </p:scale>
        <p:origin x="291" y="4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02-03-2026</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B5D64-14C4-F16C-5619-287C7EA27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13F94-501F-3960-9E11-DE7F03BD9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30D1C-21CC-DCF2-1302-0D6A57E7F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C2F6F-17C8-6775-A32C-6E7DBAEA8A4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34623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16</a:t>
            </a:fld>
            <a:endParaRPr lang="en-IN"/>
          </a:p>
        </p:txBody>
      </p:sp>
    </p:spTree>
    <p:extLst>
      <p:ext uri="{BB962C8B-B14F-4D97-AF65-F5344CB8AC3E}">
        <p14:creationId xmlns:p14="http://schemas.microsoft.com/office/powerpoint/2010/main" val="3324684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02-03-2026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02-03-2026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02-03-2026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02-03-2026</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743468" y="2362200"/>
            <a:ext cx="12439132" cy="651272"/>
          </a:xfrm>
          <a:prstGeom prst="rect">
            <a:avLst/>
          </a:prstGeom>
          <a:noFill/>
          <a:ln/>
        </p:spPr>
        <p:txBody>
          <a:bodyPr wrap="square" lIns="0" tIns="0" rIns="0" bIns="0" rtlCol="0" anchor="t"/>
          <a:lstStyle/>
          <a:p>
            <a:pPr marL="0" indent="0" algn="l">
              <a:lnSpc>
                <a:spcPts val="5100"/>
              </a:lnSpc>
              <a:buNone/>
            </a:pPr>
            <a:r>
              <a:rPr lang="en-US" sz="4100" dirty="0">
                <a:solidFill>
                  <a:srgbClr val="020202"/>
                </a:solidFill>
                <a:latin typeface="PT Serif" panose="020A0603040505020204" pitchFamily="18" charset="0"/>
                <a:ea typeface="PT Serif" pitchFamily="34" charset="-122"/>
                <a:cs typeface="PT Serif" pitchFamily="34" charset="-120"/>
              </a:rPr>
              <a:t>AdaBoost Method: The Power of Adaptive Boosting</a:t>
            </a:r>
            <a:endParaRPr lang="en-US" sz="4100" dirty="0">
              <a:latin typeface="PT Serif" panose="020A0603040505020204" pitchFamily="18" charset="0"/>
            </a:endParaRPr>
          </a:p>
        </p:txBody>
      </p:sp>
      <p:sp>
        <p:nvSpPr>
          <p:cNvPr id="22" name="Text 1">
            <a:extLst>
              <a:ext uri="{FF2B5EF4-FFF2-40B4-BE49-F238E27FC236}">
                <a16:creationId xmlns:a16="http://schemas.microsoft.com/office/drawing/2014/main" id="{34E7B785-51DF-6028-E343-20904A09A941}"/>
              </a:ext>
            </a:extLst>
          </p:cNvPr>
          <p:cNvSpPr/>
          <p:nvPr/>
        </p:nvSpPr>
        <p:spPr>
          <a:xfrm>
            <a:off x="743468" y="3810000"/>
            <a:ext cx="11372332" cy="651272"/>
          </a:xfrm>
          <a:prstGeom prst="rect">
            <a:avLst/>
          </a:prstGeom>
          <a:noFill/>
          <a:ln/>
        </p:spPr>
        <p:txBody>
          <a:bodyPr wrap="square" lIns="0" tIns="0" rIns="0" bIns="0" rtlCol="0" anchor="t"/>
          <a:lstStyle/>
          <a:p>
            <a:pPr marL="0" indent="0" algn="l">
              <a:lnSpc>
                <a:spcPts val="2500"/>
              </a:lnSpc>
              <a:buNone/>
            </a:pPr>
            <a:r>
              <a:rPr lang="en-US" sz="2000" dirty="0">
                <a:solidFill>
                  <a:schemeClr val="tx1"/>
                </a:solidFill>
                <a:latin typeface="PT Serif" panose="020A0603040505020204" pitchFamily="18" charset="0"/>
                <a:ea typeface="DM Sans" pitchFamily="34" charset="-122"/>
                <a:cs typeface="DM Sans" pitchFamily="34" charset="-120"/>
              </a:rPr>
              <a:t>Understanding and implementing one of machine learning's most elegant ensemble methods</a:t>
            </a:r>
            <a:endParaRPr lang="en-US" sz="20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79A3-6285-EA7B-A2B4-F0C9DCE16B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EF8EC6-F255-C70E-3023-DC7EAEC5B16D}"/>
              </a:ext>
            </a:extLst>
          </p:cNvPr>
          <p:cNvSpPr/>
          <p:nvPr/>
        </p:nvSpPr>
        <p:spPr>
          <a:xfrm>
            <a:off x="762000" y="447081"/>
            <a:ext cx="4763333" cy="595432"/>
          </a:xfrm>
          <a:prstGeom prst="rect">
            <a:avLst/>
          </a:prstGeom>
          <a:noFill/>
          <a:ln/>
        </p:spPr>
        <p:txBody>
          <a:bodyPr wrap="none" lIns="0" tIns="0" rIns="0" bIns="0" rtlCol="0" anchor="t"/>
          <a:lstStyle/>
          <a:p>
            <a:pPr marL="0" indent="0" algn="l">
              <a:buNone/>
            </a:pPr>
            <a:r>
              <a:rPr lang="en-US" sz="3600" dirty="0">
                <a:solidFill>
                  <a:schemeClr val="tx1"/>
                </a:solidFill>
                <a:latin typeface="PT Serif" panose="020A0603040505020204" pitchFamily="18" charset="0"/>
                <a:ea typeface="PT Serif" pitchFamily="34" charset="-122"/>
                <a:cs typeface="PT Serif" pitchFamily="34" charset="-120"/>
              </a:rPr>
              <a:t>Contents</a:t>
            </a:r>
            <a:endParaRPr lang="en-US" sz="3600" dirty="0">
              <a:solidFill>
                <a:schemeClr val="tx1"/>
              </a:solidFill>
              <a:latin typeface="PT Serif" panose="020A0603040505020204" pitchFamily="18" charset="0"/>
            </a:endParaRPr>
          </a:p>
        </p:txBody>
      </p:sp>
      <p:sp>
        <p:nvSpPr>
          <p:cNvPr id="3" name="Text 1">
            <a:extLst>
              <a:ext uri="{FF2B5EF4-FFF2-40B4-BE49-F238E27FC236}">
                <a16:creationId xmlns:a16="http://schemas.microsoft.com/office/drawing/2014/main" id="{630CCEE3-6042-A6A9-3891-B76B33DC9098}"/>
              </a:ext>
            </a:extLst>
          </p:cNvPr>
          <p:cNvSpPr/>
          <p:nvPr/>
        </p:nvSpPr>
        <p:spPr>
          <a:xfrm>
            <a:off x="793790" y="1294481"/>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01</a:t>
            </a:r>
            <a:endParaRPr lang="en-US" sz="1750" dirty="0">
              <a:solidFill>
                <a:schemeClr val="tx1"/>
              </a:solidFill>
              <a:latin typeface="PT Serif" panose="020A0603040505020204" pitchFamily="18" charset="0"/>
            </a:endParaRPr>
          </a:p>
        </p:txBody>
      </p:sp>
      <p:sp>
        <p:nvSpPr>
          <p:cNvPr id="4" name="Shape 2">
            <a:extLst>
              <a:ext uri="{FF2B5EF4-FFF2-40B4-BE49-F238E27FC236}">
                <a16:creationId xmlns:a16="http://schemas.microsoft.com/office/drawing/2014/main" id="{109D6074-985D-ECFD-41A9-CC64CE8CCED8}"/>
              </a:ext>
            </a:extLst>
          </p:cNvPr>
          <p:cNvSpPr/>
          <p:nvPr/>
        </p:nvSpPr>
        <p:spPr>
          <a:xfrm>
            <a:off x="793790" y="1649525"/>
            <a:ext cx="6407944" cy="30480"/>
          </a:xfrm>
          <a:prstGeom prst="rect">
            <a:avLst/>
          </a:prstGeom>
          <a:solidFill>
            <a:srgbClr val="E04F00"/>
          </a:solidFill>
          <a:ln/>
        </p:spPr>
      </p:sp>
      <p:sp>
        <p:nvSpPr>
          <p:cNvPr id="5" name="Text 3">
            <a:extLst>
              <a:ext uri="{FF2B5EF4-FFF2-40B4-BE49-F238E27FC236}">
                <a16:creationId xmlns:a16="http://schemas.microsoft.com/office/drawing/2014/main" id="{18BB4AFD-62D3-1AAB-C8B6-84BCFD0B3499}"/>
              </a:ext>
            </a:extLst>
          </p:cNvPr>
          <p:cNvSpPr/>
          <p:nvPr/>
        </p:nvSpPr>
        <p:spPr>
          <a:xfrm>
            <a:off x="793790" y="1823833"/>
            <a:ext cx="4370308" cy="342630"/>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Boosting Methods</a:t>
            </a:r>
            <a:endParaRPr lang="en-US" sz="2400" dirty="0">
              <a:solidFill>
                <a:schemeClr val="tx1"/>
              </a:solidFill>
            </a:endParaRPr>
          </a:p>
        </p:txBody>
      </p:sp>
      <p:sp>
        <p:nvSpPr>
          <p:cNvPr id="6" name="Text 4">
            <a:extLst>
              <a:ext uri="{FF2B5EF4-FFF2-40B4-BE49-F238E27FC236}">
                <a16:creationId xmlns:a16="http://schemas.microsoft.com/office/drawing/2014/main" id="{A95C41F2-E8AE-183D-B7D2-B584B66A5047}"/>
              </a:ext>
            </a:extLst>
          </p:cNvPr>
          <p:cNvSpPr/>
          <p:nvPr/>
        </p:nvSpPr>
        <p:spPr>
          <a:xfrm>
            <a:off x="7428548" y="1294481"/>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02</a:t>
            </a:r>
            <a:endParaRPr lang="en-US" sz="1750" dirty="0">
              <a:solidFill>
                <a:schemeClr val="tx1"/>
              </a:solidFill>
              <a:latin typeface="PT Serif" panose="020A0603040505020204" pitchFamily="18" charset="0"/>
            </a:endParaRPr>
          </a:p>
        </p:txBody>
      </p:sp>
      <p:sp>
        <p:nvSpPr>
          <p:cNvPr id="7" name="Shape 5">
            <a:extLst>
              <a:ext uri="{FF2B5EF4-FFF2-40B4-BE49-F238E27FC236}">
                <a16:creationId xmlns:a16="http://schemas.microsoft.com/office/drawing/2014/main" id="{420FFCDF-EFCF-D95B-39BF-71DEE8C305CC}"/>
              </a:ext>
            </a:extLst>
          </p:cNvPr>
          <p:cNvSpPr/>
          <p:nvPr/>
        </p:nvSpPr>
        <p:spPr>
          <a:xfrm>
            <a:off x="7428548" y="1649525"/>
            <a:ext cx="6408063" cy="30480"/>
          </a:xfrm>
          <a:prstGeom prst="rect">
            <a:avLst/>
          </a:prstGeom>
          <a:solidFill>
            <a:srgbClr val="E04F00"/>
          </a:solidFill>
          <a:ln/>
        </p:spPr>
      </p:sp>
      <p:sp>
        <p:nvSpPr>
          <p:cNvPr id="8" name="Text 6">
            <a:extLst>
              <a:ext uri="{FF2B5EF4-FFF2-40B4-BE49-F238E27FC236}">
                <a16:creationId xmlns:a16="http://schemas.microsoft.com/office/drawing/2014/main" id="{C5C44485-ABDB-D8CB-78F7-9276AAADB0B2}"/>
              </a:ext>
            </a:extLst>
          </p:cNvPr>
          <p:cNvSpPr/>
          <p:nvPr/>
        </p:nvSpPr>
        <p:spPr>
          <a:xfrm>
            <a:off x="7428548" y="1781327"/>
            <a:ext cx="4915852" cy="506016"/>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Concept of AdaBoost</a:t>
            </a:r>
            <a:endParaRPr lang="en-US" sz="2400" dirty="0">
              <a:solidFill>
                <a:schemeClr val="tx1"/>
              </a:solidFill>
            </a:endParaRPr>
          </a:p>
        </p:txBody>
      </p:sp>
      <p:sp>
        <p:nvSpPr>
          <p:cNvPr id="9" name="Text 7">
            <a:extLst>
              <a:ext uri="{FF2B5EF4-FFF2-40B4-BE49-F238E27FC236}">
                <a16:creationId xmlns:a16="http://schemas.microsoft.com/office/drawing/2014/main" id="{F49AA9FB-4CAF-BC7C-90F0-1D48BD93C205}"/>
              </a:ext>
            </a:extLst>
          </p:cNvPr>
          <p:cNvSpPr/>
          <p:nvPr/>
        </p:nvSpPr>
        <p:spPr>
          <a:xfrm>
            <a:off x="793790" y="2592738"/>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03</a:t>
            </a:r>
            <a:endParaRPr lang="en-US" sz="1750" dirty="0">
              <a:solidFill>
                <a:schemeClr val="tx1"/>
              </a:solidFill>
              <a:latin typeface="PT Serif" panose="020A0603040505020204" pitchFamily="18" charset="0"/>
            </a:endParaRPr>
          </a:p>
        </p:txBody>
      </p:sp>
      <p:sp>
        <p:nvSpPr>
          <p:cNvPr id="10" name="Shape 8">
            <a:extLst>
              <a:ext uri="{FF2B5EF4-FFF2-40B4-BE49-F238E27FC236}">
                <a16:creationId xmlns:a16="http://schemas.microsoft.com/office/drawing/2014/main" id="{F735EFEC-254C-A190-497E-54797BC377D7}"/>
              </a:ext>
            </a:extLst>
          </p:cNvPr>
          <p:cNvSpPr/>
          <p:nvPr/>
        </p:nvSpPr>
        <p:spPr>
          <a:xfrm>
            <a:off x="793790" y="2947783"/>
            <a:ext cx="6407944" cy="30480"/>
          </a:xfrm>
          <a:prstGeom prst="rect">
            <a:avLst/>
          </a:prstGeom>
          <a:solidFill>
            <a:srgbClr val="E04F00"/>
          </a:solidFill>
          <a:ln/>
        </p:spPr>
      </p:sp>
      <p:sp>
        <p:nvSpPr>
          <p:cNvPr id="11" name="Text 9">
            <a:extLst>
              <a:ext uri="{FF2B5EF4-FFF2-40B4-BE49-F238E27FC236}">
                <a16:creationId xmlns:a16="http://schemas.microsoft.com/office/drawing/2014/main" id="{1AC6FBEA-485A-7F7D-47FB-5FEB6466C2AF}"/>
              </a:ext>
            </a:extLst>
          </p:cNvPr>
          <p:cNvSpPr/>
          <p:nvPr/>
        </p:nvSpPr>
        <p:spPr>
          <a:xfrm>
            <a:off x="793790" y="3122089"/>
            <a:ext cx="5149810" cy="840311"/>
          </a:xfrm>
          <a:prstGeom prst="rect">
            <a:avLst/>
          </a:prstGeom>
          <a:noFill/>
          <a:ln/>
        </p:spPr>
        <p:txBody>
          <a:bodyPr wrap="squar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Weak Learner</a:t>
            </a:r>
            <a:endParaRPr lang="en-US" sz="2400" dirty="0">
              <a:solidFill>
                <a:schemeClr val="tx1"/>
              </a:solidFill>
            </a:endParaRPr>
          </a:p>
        </p:txBody>
      </p:sp>
      <p:sp>
        <p:nvSpPr>
          <p:cNvPr id="12" name="Text 10">
            <a:extLst>
              <a:ext uri="{FF2B5EF4-FFF2-40B4-BE49-F238E27FC236}">
                <a16:creationId xmlns:a16="http://schemas.microsoft.com/office/drawing/2014/main" id="{BB65B506-59D4-7376-A944-4C46A5D3D0DA}"/>
              </a:ext>
            </a:extLst>
          </p:cNvPr>
          <p:cNvSpPr/>
          <p:nvPr/>
        </p:nvSpPr>
        <p:spPr>
          <a:xfrm>
            <a:off x="7428548" y="2592738"/>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04</a:t>
            </a:r>
            <a:endParaRPr lang="en-US" sz="1750" dirty="0">
              <a:solidFill>
                <a:schemeClr val="tx1"/>
              </a:solidFill>
              <a:latin typeface="PT Serif" panose="020A0603040505020204" pitchFamily="18" charset="0"/>
            </a:endParaRPr>
          </a:p>
        </p:txBody>
      </p:sp>
      <p:sp>
        <p:nvSpPr>
          <p:cNvPr id="13" name="Shape 11">
            <a:extLst>
              <a:ext uri="{FF2B5EF4-FFF2-40B4-BE49-F238E27FC236}">
                <a16:creationId xmlns:a16="http://schemas.microsoft.com/office/drawing/2014/main" id="{D64D1A4C-2B9B-4174-ACD2-FF1592E30587}"/>
              </a:ext>
            </a:extLst>
          </p:cNvPr>
          <p:cNvSpPr/>
          <p:nvPr/>
        </p:nvSpPr>
        <p:spPr>
          <a:xfrm>
            <a:off x="7428548" y="2947783"/>
            <a:ext cx="6408063" cy="30480"/>
          </a:xfrm>
          <a:prstGeom prst="rect">
            <a:avLst/>
          </a:prstGeom>
          <a:solidFill>
            <a:srgbClr val="E04F00"/>
          </a:solidFill>
          <a:ln/>
        </p:spPr>
      </p:sp>
      <p:sp>
        <p:nvSpPr>
          <p:cNvPr id="14" name="Text 12">
            <a:extLst>
              <a:ext uri="{FF2B5EF4-FFF2-40B4-BE49-F238E27FC236}">
                <a16:creationId xmlns:a16="http://schemas.microsoft.com/office/drawing/2014/main" id="{5B2CEF56-AF19-B00B-757E-9F9AA779999A}"/>
              </a:ext>
            </a:extLst>
          </p:cNvPr>
          <p:cNvSpPr/>
          <p:nvPr/>
        </p:nvSpPr>
        <p:spPr>
          <a:xfrm>
            <a:off x="7428548" y="2800469"/>
            <a:ext cx="3837027" cy="372070"/>
          </a:xfrm>
          <a:prstGeom prst="rect">
            <a:avLst/>
          </a:prstGeom>
          <a:noFill/>
          <a:ln/>
        </p:spPr>
        <p:txBody>
          <a:bodyPr wrap="none" lIns="0" tIns="0" rIns="0" bIns="0" rtlCol="0" anchor="t"/>
          <a:lstStyle/>
          <a:p>
            <a:pPr marL="0" indent="0" algn="l">
              <a:buNone/>
            </a:pPr>
            <a:endParaRPr lang="en-US" sz="2400" dirty="0">
              <a:solidFill>
                <a:schemeClr val="tx1"/>
              </a:solidFill>
              <a:latin typeface="PT Serif" panose="020A0603040505020204" pitchFamily="18" charset="0"/>
            </a:endParaRPr>
          </a:p>
        </p:txBody>
      </p:sp>
      <p:sp>
        <p:nvSpPr>
          <p:cNvPr id="27" name="Text 9">
            <a:extLst>
              <a:ext uri="{FF2B5EF4-FFF2-40B4-BE49-F238E27FC236}">
                <a16:creationId xmlns:a16="http://schemas.microsoft.com/office/drawing/2014/main" id="{7E44A9EB-37D4-D3CC-6CA9-BE886EEF64E4}"/>
              </a:ext>
            </a:extLst>
          </p:cNvPr>
          <p:cNvSpPr/>
          <p:nvPr/>
        </p:nvSpPr>
        <p:spPr>
          <a:xfrm>
            <a:off x="7428548" y="3134607"/>
            <a:ext cx="5149810" cy="341590"/>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Learning Rate Hyperparameter</a:t>
            </a:r>
            <a:endParaRPr lang="en-US" sz="2400" dirty="0">
              <a:solidFill>
                <a:schemeClr val="tx1"/>
              </a:solidFill>
            </a:endParaRPr>
          </a:p>
        </p:txBody>
      </p:sp>
      <p:sp>
        <p:nvSpPr>
          <p:cNvPr id="16" name="Shape 11">
            <a:extLst>
              <a:ext uri="{FF2B5EF4-FFF2-40B4-BE49-F238E27FC236}">
                <a16:creationId xmlns:a16="http://schemas.microsoft.com/office/drawing/2014/main" id="{4817E384-431B-004E-9519-609CCEFD3F9D}"/>
              </a:ext>
            </a:extLst>
          </p:cNvPr>
          <p:cNvSpPr/>
          <p:nvPr/>
        </p:nvSpPr>
        <p:spPr>
          <a:xfrm>
            <a:off x="7461648" y="4318278"/>
            <a:ext cx="6408063" cy="30480"/>
          </a:xfrm>
          <a:prstGeom prst="rect">
            <a:avLst/>
          </a:prstGeom>
          <a:solidFill>
            <a:srgbClr val="E04F00"/>
          </a:solidFill>
          <a:ln/>
        </p:spPr>
      </p:sp>
      <p:sp>
        <p:nvSpPr>
          <p:cNvPr id="18" name="Text 4">
            <a:extLst>
              <a:ext uri="{FF2B5EF4-FFF2-40B4-BE49-F238E27FC236}">
                <a16:creationId xmlns:a16="http://schemas.microsoft.com/office/drawing/2014/main" id="{E7DC69CE-BE78-CF47-B8A0-AAF1F599331D}"/>
              </a:ext>
            </a:extLst>
          </p:cNvPr>
          <p:cNvSpPr/>
          <p:nvPr/>
        </p:nvSpPr>
        <p:spPr>
          <a:xfrm>
            <a:off x="762000" y="3875158"/>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05</a:t>
            </a:r>
            <a:endParaRPr lang="en-US" sz="1750" dirty="0">
              <a:solidFill>
                <a:schemeClr val="tx1"/>
              </a:solidFill>
              <a:latin typeface="PT Serif" panose="020A0603040505020204" pitchFamily="18" charset="0"/>
            </a:endParaRPr>
          </a:p>
        </p:txBody>
      </p:sp>
      <p:sp>
        <p:nvSpPr>
          <p:cNvPr id="19" name="Text 9">
            <a:extLst>
              <a:ext uri="{FF2B5EF4-FFF2-40B4-BE49-F238E27FC236}">
                <a16:creationId xmlns:a16="http://schemas.microsoft.com/office/drawing/2014/main" id="{22BC2E0A-B1F4-4040-8822-0C2B059492C6}"/>
              </a:ext>
            </a:extLst>
          </p:cNvPr>
          <p:cNvSpPr/>
          <p:nvPr/>
        </p:nvSpPr>
        <p:spPr>
          <a:xfrm>
            <a:off x="793790" y="4465260"/>
            <a:ext cx="5149810" cy="341590"/>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Tuning n_estimators and Learning Rate</a:t>
            </a:r>
            <a:endParaRPr lang="en-US" sz="2400" dirty="0">
              <a:solidFill>
                <a:schemeClr val="tx1"/>
              </a:solidFill>
            </a:endParaRPr>
          </a:p>
        </p:txBody>
      </p:sp>
      <p:sp>
        <p:nvSpPr>
          <p:cNvPr id="20" name="Shape 11">
            <a:extLst>
              <a:ext uri="{FF2B5EF4-FFF2-40B4-BE49-F238E27FC236}">
                <a16:creationId xmlns:a16="http://schemas.microsoft.com/office/drawing/2014/main" id="{E1497569-81C6-4F40-AA53-929BF0F2FC56}"/>
              </a:ext>
            </a:extLst>
          </p:cNvPr>
          <p:cNvSpPr/>
          <p:nvPr/>
        </p:nvSpPr>
        <p:spPr>
          <a:xfrm>
            <a:off x="770513" y="4303038"/>
            <a:ext cx="6408063" cy="30480"/>
          </a:xfrm>
          <a:prstGeom prst="rect">
            <a:avLst/>
          </a:prstGeom>
          <a:solidFill>
            <a:srgbClr val="E04F00"/>
          </a:solidFill>
          <a:ln/>
        </p:spPr>
      </p:sp>
      <p:sp>
        <p:nvSpPr>
          <p:cNvPr id="21" name="Text 4">
            <a:extLst>
              <a:ext uri="{FF2B5EF4-FFF2-40B4-BE49-F238E27FC236}">
                <a16:creationId xmlns:a16="http://schemas.microsoft.com/office/drawing/2014/main" id="{2E7DDC5B-190B-EF43-A52C-45C712740911}"/>
              </a:ext>
            </a:extLst>
          </p:cNvPr>
          <p:cNvSpPr/>
          <p:nvPr/>
        </p:nvSpPr>
        <p:spPr>
          <a:xfrm>
            <a:off x="7461648" y="3866824"/>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06</a:t>
            </a:r>
            <a:endParaRPr lang="en-US" sz="1750" dirty="0">
              <a:solidFill>
                <a:schemeClr val="tx1"/>
              </a:solidFill>
              <a:latin typeface="PT Serif" panose="020A0603040505020204" pitchFamily="18" charset="0"/>
            </a:endParaRPr>
          </a:p>
        </p:txBody>
      </p:sp>
      <p:sp>
        <p:nvSpPr>
          <p:cNvPr id="22" name="Text 9">
            <a:extLst>
              <a:ext uri="{FF2B5EF4-FFF2-40B4-BE49-F238E27FC236}">
                <a16:creationId xmlns:a16="http://schemas.microsoft.com/office/drawing/2014/main" id="{C355E4A2-467C-9A45-8BC8-48D4B0185ACA}"/>
              </a:ext>
            </a:extLst>
          </p:cNvPr>
          <p:cNvSpPr/>
          <p:nvPr/>
        </p:nvSpPr>
        <p:spPr>
          <a:xfrm>
            <a:off x="7489508" y="4538306"/>
            <a:ext cx="5149810" cy="341590"/>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Base Learner Complexity</a:t>
            </a:r>
            <a:endParaRPr lang="en-US" sz="2400" dirty="0">
              <a:solidFill>
                <a:schemeClr val="tx1"/>
              </a:solidFill>
            </a:endParaRPr>
          </a:p>
        </p:txBody>
      </p:sp>
      <p:sp>
        <p:nvSpPr>
          <p:cNvPr id="23" name="Text 4">
            <a:extLst>
              <a:ext uri="{FF2B5EF4-FFF2-40B4-BE49-F238E27FC236}">
                <a16:creationId xmlns:a16="http://schemas.microsoft.com/office/drawing/2014/main" id="{F38159F5-2368-8F58-8361-133946491E43}"/>
              </a:ext>
            </a:extLst>
          </p:cNvPr>
          <p:cNvSpPr/>
          <p:nvPr/>
        </p:nvSpPr>
        <p:spPr>
          <a:xfrm>
            <a:off x="762000" y="5369838"/>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07</a:t>
            </a:r>
            <a:endParaRPr lang="en-US" sz="1750" dirty="0">
              <a:solidFill>
                <a:schemeClr val="tx1"/>
              </a:solidFill>
              <a:latin typeface="PT Serif" panose="020A0603040505020204" pitchFamily="18" charset="0"/>
            </a:endParaRPr>
          </a:p>
        </p:txBody>
      </p:sp>
      <p:sp>
        <p:nvSpPr>
          <p:cNvPr id="24" name="Text 9">
            <a:extLst>
              <a:ext uri="{FF2B5EF4-FFF2-40B4-BE49-F238E27FC236}">
                <a16:creationId xmlns:a16="http://schemas.microsoft.com/office/drawing/2014/main" id="{C5E1C8A1-F6AE-A120-B366-637C43E87C5D}"/>
              </a:ext>
            </a:extLst>
          </p:cNvPr>
          <p:cNvSpPr/>
          <p:nvPr/>
        </p:nvSpPr>
        <p:spPr>
          <a:xfrm>
            <a:off x="793790" y="5959940"/>
            <a:ext cx="5149810" cy="341590"/>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Handling Underfitting vs Overfitting</a:t>
            </a:r>
            <a:endParaRPr lang="en-US" sz="2400" dirty="0">
              <a:solidFill>
                <a:schemeClr val="tx1"/>
              </a:solidFill>
            </a:endParaRPr>
          </a:p>
        </p:txBody>
      </p:sp>
      <p:sp>
        <p:nvSpPr>
          <p:cNvPr id="25" name="Shape 11">
            <a:extLst>
              <a:ext uri="{FF2B5EF4-FFF2-40B4-BE49-F238E27FC236}">
                <a16:creationId xmlns:a16="http://schemas.microsoft.com/office/drawing/2014/main" id="{55E5393D-1976-7D64-8CA3-A0872F63D5CF}"/>
              </a:ext>
            </a:extLst>
          </p:cNvPr>
          <p:cNvSpPr/>
          <p:nvPr/>
        </p:nvSpPr>
        <p:spPr>
          <a:xfrm>
            <a:off x="770513" y="5797718"/>
            <a:ext cx="6408063" cy="30480"/>
          </a:xfrm>
          <a:prstGeom prst="rect">
            <a:avLst/>
          </a:prstGeom>
          <a:solidFill>
            <a:srgbClr val="E04F00"/>
          </a:solidFill>
          <a:ln/>
        </p:spPr>
      </p:sp>
      <p:sp>
        <p:nvSpPr>
          <p:cNvPr id="26" name="Shape 11">
            <a:extLst>
              <a:ext uri="{FF2B5EF4-FFF2-40B4-BE49-F238E27FC236}">
                <a16:creationId xmlns:a16="http://schemas.microsoft.com/office/drawing/2014/main" id="{7B4343D5-9F59-1070-430A-0292DBE88500}"/>
              </a:ext>
            </a:extLst>
          </p:cNvPr>
          <p:cNvSpPr/>
          <p:nvPr/>
        </p:nvSpPr>
        <p:spPr>
          <a:xfrm>
            <a:off x="7467600" y="5762982"/>
            <a:ext cx="6408063" cy="30480"/>
          </a:xfrm>
          <a:prstGeom prst="rect">
            <a:avLst/>
          </a:prstGeom>
          <a:solidFill>
            <a:srgbClr val="E04F00"/>
          </a:solidFill>
          <a:ln/>
        </p:spPr>
      </p:sp>
      <p:sp>
        <p:nvSpPr>
          <p:cNvPr id="28" name="Text 4">
            <a:extLst>
              <a:ext uri="{FF2B5EF4-FFF2-40B4-BE49-F238E27FC236}">
                <a16:creationId xmlns:a16="http://schemas.microsoft.com/office/drawing/2014/main" id="{B64875A9-899D-F67B-9254-A05195266E2E}"/>
              </a:ext>
            </a:extLst>
          </p:cNvPr>
          <p:cNvSpPr/>
          <p:nvPr/>
        </p:nvSpPr>
        <p:spPr>
          <a:xfrm>
            <a:off x="7467600" y="5311528"/>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08</a:t>
            </a:r>
            <a:endParaRPr lang="en-US" sz="1750" dirty="0">
              <a:solidFill>
                <a:schemeClr val="tx1"/>
              </a:solidFill>
              <a:latin typeface="PT Serif" panose="020A0603040505020204" pitchFamily="18" charset="0"/>
            </a:endParaRPr>
          </a:p>
        </p:txBody>
      </p:sp>
      <p:sp>
        <p:nvSpPr>
          <p:cNvPr id="29" name="Text 9">
            <a:extLst>
              <a:ext uri="{FF2B5EF4-FFF2-40B4-BE49-F238E27FC236}">
                <a16:creationId xmlns:a16="http://schemas.microsoft.com/office/drawing/2014/main" id="{1206C13D-E4BE-1E85-62E3-ACBC383DDE86}"/>
              </a:ext>
            </a:extLst>
          </p:cNvPr>
          <p:cNvSpPr/>
          <p:nvPr/>
        </p:nvSpPr>
        <p:spPr>
          <a:xfrm>
            <a:off x="7495460" y="5983010"/>
            <a:ext cx="5149810" cy="341590"/>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Dataset Size and Noise Considerations</a:t>
            </a:r>
            <a:endParaRPr lang="en-US" sz="2400" dirty="0">
              <a:solidFill>
                <a:schemeClr val="tx1"/>
              </a:solidFill>
            </a:endParaRPr>
          </a:p>
        </p:txBody>
      </p:sp>
    </p:spTree>
    <p:extLst>
      <p:ext uri="{BB962C8B-B14F-4D97-AF65-F5344CB8AC3E}">
        <p14:creationId xmlns:p14="http://schemas.microsoft.com/office/powerpoint/2010/main" val="241629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6686" y="-179224"/>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What are Boosting Methods?</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5241878" y="2983319"/>
            <a:ext cx="4164095" cy="4314663"/>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63675" y="2983320"/>
            <a:ext cx="3699498" cy="4865280"/>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DM Sans" pitchFamily="34" charset="-122"/>
                <a:cs typeface="DM Sans" pitchFamily="34" charset="-120"/>
              </a:rPr>
              <a:t>2. </a:t>
            </a:r>
            <a:r>
              <a:rPr lang="en-US" sz="2400" dirty="0">
                <a:solidFill>
                  <a:srgbClr val="383838"/>
                </a:solidFill>
                <a:latin typeface="PT Serif" panose="020A0603040505020204" pitchFamily="18" charset="0"/>
                <a:ea typeface="PT Serif" pitchFamily="34" charset="-122"/>
                <a:cs typeface="PT Serif" pitchFamily="34" charset="-120"/>
              </a:rPr>
              <a:t>Error Correction</a:t>
            </a:r>
          </a:p>
          <a:p>
            <a:pPr algn="l">
              <a:lnSpc>
                <a:spcPct val="200000"/>
              </a:lnSpc>
            </a:pPr>
            <a:r>
              <a:rPr lang="en-US" dirty="0">
                <a:solidFill>
                  <a:srgbClr val="383838"/>
                </a:solidFill>
                <a:latin typeface="PT Serif" panose="020A0603040505020204" pitchFamily="18" charset="0"/>
                <a:ea typeface="DM Sans" pitchFamily="34" charset="-122"/>
                <a:cs typeface="DM Sans" pitchFamily="34" charset="-120"/>
              </a:rPr>
              <a:t>Each new model attempts to correct the errors made by the previous models.</a:t>
            </a:r>
            <a:endParaRPr lang="en-US" dirty="0">
              <a:latin typeface="PT Serif" panose="020A0603040505020204" pitchFamily="18" charset="0"/>
            </a:endParaRPr>
          </a:p>
          <a:p>
            <a:pPr algn="l">
              <a:lnSpc>
                <a:spcPct val="200000"/>
              </a:lnSpc>
            </a:pPr>
            <a:endParaRPr lang="en-US" dirty="0">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4789871"/>
            <a:ext cx="3818692" cy="127015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98113" y="3030467"/>
            <a:ext cx="3818573" cy="4277390"/>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62254" y="3021918"/>
            <a:ext cx="3347385" cy="2313740"/>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DM Sans" pitchFamily="34" charset="-122"/>
                <a:cs typeface="DM Sans" pitchFamily="34" charset="-120"/>
              </a:rPr>
              <a:t>3. </a:t>
            </a:r>
            <a:r>
              <a:rPr lang="en-US" sz="2400" dirty="0">
                <a:solidFill>
                  <a:srgbClr val="383838"/>
                </a:solidFill>
                <a:latin typeface="PT Serif" panose="020A0603040505020204" pitchFamily="18" charset="0"/>
                <a:ea typeface="DM Sans" pitchFamily="34" charset="-122"/>
                <a:cs typeface="DM Sans" pitchFamily="34" charset="-120"/>
              </a:rPr>
              <a:t>Final Prediction</a:t>
            </a:r>
            <a:endParaRPr lang="en-US" dirty="0">
              <a:latin typeface="PT Serif" panose="020A0603040505020204" pitchFamily="18" charset="0"/>
            </a:endParaRPr>
          </a:p>
          <a:p>
            <a:pPr algn="l">
              <a:lnSpc>
                <a:spcPct val="200000"/>
              </a:lnSpc>
            </a:pPr>
            <a:r>
              <a:rPr lang="en-US" dirty="0">
                <a:solidFill>
                  <a:srgbClr val="383838"/>
                </a:solidFill>
                <a:latin typeface="PT Serif" panose="020A0603040505020204" pitchFamily="18" charset="0"/>
                <a:ea typeface="DM Sans" pitchFamily="34" charset="-122"/>
                <a:cs typeface="DM Sans" pitchFamily="34" charset="-120"/>
              </a:rPr>
              <a:t>The final prediction is a weighted average of all  individual model outputs  , where better performers receive more weights.</a:t>
            </a:r>
            <a:endParaRPr lang="en-US" sz="2400" dirty="0">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702479"/>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85800" y="2983321"/>
            <a:ext cx="3976821" cy="4314664"/>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1063958" y="2983319"/>
            <a:ext cx="3626798" cy="3569880"/>
          </a:xfrm>
          <a:prstGeom prst="rect">
            <a:avLst/>
          </a:prstGeom>
          <a:noFill/>
          <a:ln/>
        </p:spPr>
        <p:txBody>
          <a:bodyPr wrap="square" lIns="0" tIns="0" rIns="0" bIns="0" rtlCol="0" anchor="t"/>
          <a:lstStyle/>
          <a:p>
            <a:pPr marL="457200" indent="-457200" algn="l">
              <a:lnSpc>
                <a:spcPct val="200000"/>
              </a:lnSpc>
              <a:buAutoNum type="arabicPeriod"/>
            </a:pPr>
            <a:r>
              <a:rPr lang="en-US" sz="2400" dirty="0">
                <a:solidFill>
                  <a:srgbClr val="383838"/>
                </a:solidFill>
                <a:latin typeface="PT Serif" panose="020A0603040505020204" pitchFamily="18" charset="0"/>
                <a:ea typeface="PT Serif" pitchFamily="34" charset="-122"/>
                <a:cs typeface="PT Serif" pitchFamily="34" charset="-120"/>
              </a:rPr>
              <a:t>Sequential Training</a:t>
            </a:r>
          </a:p>
          <a:p>
            <a:pPr algn="l">
              <a:lnSpc>
                <a:spcPct val="200000"/>
              </a:lnSpc>
            </a:pPr>
            <a:r>
              <a:rPr lang="en-US" dirty="0">
                <a:solidFill>
                  <a:srgbClr val="383838"/>
                </a:solidFill>
                <a:latin typeface="PT Serif" panose="020A0603040505020204" pitchFamily="18" charset="0"/>
                <a:ea typeface="DM Sans" pitchFamily="34" charset="-122"/>
                <a:cs typeface="DM Sans" pitchFamily="34" charset="-120"/>
              </a:rPr>
              <a:t>Models are trained one after another in a deliberate sequence, each building upon the knowledge of its predecessors</a:t>
            </a:r>
            <a:r>
              <a:rPr lang="en-US" sz="2400" dirty="0">
                <a:solidFill>
                  <a:srgbClr val="383838"/>
                </a:solidFill>
                <a:latin typeface="PT Serif" panose="020A0603040505020204" pitchFamily="18" charset="0"/>
                <a:ea typeface="DM Sans" pitchFamily="34" charset="-122"/>
                <a:cs typeface="DM Sans" pitchFamily="34" charset="-120"/>
              </a:rPr>
              <a:t>.</a:t>
            </a:r>
            <a:endParaRPr lang="en-US" sz="2400" dirty="0">
              <a:latin typeface="PT Serif" panose="020A0603040505020204" pitchFamily="18" charset="0"/>
            </a:endParaRPr>
          </a:p>
          <a:p>
            <a:pPr marL="457200" indent="-457200" algn="l">
              <a:lnSpc>
                <a:spcPct val="200000"/>
              </a:lnSpc>
              <a:buAutoNum type="arabicPeriod"/>
            </a:pPr>
            <a:endParaRPr lang="en-US" sz="2400" dirty="0">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2" name="TextBox 11">
            <a:extLst>
              <a:ext uri="{FF2B5EF4-FFF2-40B4-BE49-F238E27FC236}">
                <a16:creationId xmlns:a16="http://schemas.microsoft.com/office/drawing/2014/main" id="{FDC4DA48-35D7-6A07-2464-343D25168B61}"/>
              </a:ext>
            </a:extLst>
          </p:cNvPr>
          <p:cNvSpPr txBox="1"/>
          <p:nvPr/>
        </p:nvSpPr>
        <p:spPr>
          <a:xfrm>
            <a:off x="685800" y="1170980"/>
            <a:ext cx="13077091" cy="1294778"/>
          </a:xfrm>
          <a:prstGeom prst="rect">
            <a:avLst/>
          </a:prstGeom>
          <a:noFill/>
        </p:spPr>
        <p:txBody>
          <a:bodyPr wrap="square">
            <a:spAutoFit/>
          </a:bodyPr>
          <a:lstStyle/>
          <a:p>
            <a:pPr marL="0" indent="0" algn="l">
              <a:lnSpc>
                <a:spcPct val="150000"/>
              </a:lnSpc>
              <a:buNone/>
            </a:pPr>
            <a:r>
              <a:rPr lang="en-US" sz="1800" dirty="0">
                <a:solidFill>
                  <a:srgbClr val="383838"/>
                </a:solidFill>
                <a:latin typeface="PT Serif" panose="020A0603040505020204" pitchFamily="18" charset="0"/>
                <a:ea typeface="DM Sans" pitchFamily="34" charset="-122"/>
                <a:cs typeface="DM Sans" pitchFamily="34" charset="-120"/>
              </a:rPr>
              <a:t>Boosting is an ensemble meta-algorithm in machine learning that converts a collection of weak learners into a single strong learner. Unlike bagging methods that train models independently, boosting embraces a fundamentally different philosophy: sequential learning.</a:t>
            </a:r>
            <a:endParaRPr lang="en-US" sz="1800" dirty="0">
              <a:latin typeface="PT Serif" panose="020A0603040505020204" pitchFamily="18" charset="0"/>
            </a:endParaRPr>
          </a:p>
        </p:txBody>
      </p:sp>
    </p:spTree>
    <p:extLst>
      <p:ext uri="{BB962C8B-B14F-4D97-AF65-F5344CB8AC3E}">
        <p14:creationId xmlns:p14="http://schemas.microsoft.com/office/powerpoint/2010/main" val="353204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A60F-5A2F-33F0-43EC-E062F584553B}"/>
              </a:ext>
            </a:extLst>
          </p:cNvPr>
          <p:cNvSpPr>
            <a:spLocks noGrp="1"/>
          </p:cNvSpPr>
          <p:nvPr>
            <p:ph type="title"/>
          </p:nvPr>
        </p:nvSpPr>
        <p:spPr>
          <a:xfrm>
            <a:off x="487172" y="401522"/>
            <a:ext cx="13656055" cy="623376"/>
          </a:xfrm>
        </p:spPr>
        <p:txBody>
          <a:bodyPr/>
          <a:lstStyle/>
          <a:p>
            <a:pPr marL="0" indent="0">
              <a:lnSpc>
                <a:spcPts val="5100"/>
              </a:lnSpc>
            </a:pPr>
            <a:r>
              <a:rPr lang="en-US" sz="3600" dirty="0">
                <a:solidFill>
                  <a:schemeClr val="tx1"/>
                </a:solidFill>
                <a:ea typeface="PT Serif" pitchFamily="34" charset="-122"/>
                <a:cs typeface="PT Serif" pitchFamily="34" charset="-120"/>
              </a:rPr>
              <a:t>Core Concept of AdaBoost</a:t>
            </a:r>
            <a:endParaRPr lang="en-US" sz="3600" dirty="0">
              <a:solidFill>
                <a:schemeClr val="tx1"/>
              </a:solidFill>
            </a:endParaRPr>
          </a:p>
        </p:txBody>
      </p:sp>
      <p:sp>
        <p:nvSpPr>
          <p:cNvPr id="3" name="Text Placeholder 2">
            <a:extLst>
              <a:ext uri="{FF2B5EF4-FFF2-40B4-BE49-F238E27FC236}">
                <a16:creationId xmlns:a16="http://schemas.microsoft.com/office/drawing/2014/main" id="{356C81DE-A612-5602-2485-DE8FD703A41C}"/>
              </a:ext>
            </a:extLst>
          </p:cNvPr>
          <p:cNvSpPr>
            <a:spLocks noGrp="1"/>
          </p:cNvSpPr>
          <p:nvPr>
            <p:ph type="body" idx="1"/>
          </p:nvPr>
        </p:nvSpPr>
        <p:spPr>
          <a:xfrm>
            <a:off x="487172" y="1295400"/>
            <a:ext cx="13117459" cy="6753965"/>
          </a:xfrm>
        </p:spPr>
        <p:txBody>
          <a:bodyPr/>
          <a:lstStyle/>
          <a:p>
            <a:pPr algn="l">
              <a:lnSpc>
                <a:spcPct val="200000"/>
              </a:lnSpc>
            </a:pPr>
            <a:r>
              <a:rPr lang="en-US" sz="1800" dirty="0">
                <a:solidFill>
                  <a:schemeClr val="tx1"/>
                </a:solidFill>
                <a:ea typeface="DM Sans" pitchFamily="34" charset="-122"/>
                <a:cs typeface="DM Sans" pitchFamily="34" charset="-120"/>
              </a:rPr>
              <a:t>AdaBoost operates on a beautifully simple principle: learn from your mistakes by giving them more attention. The algorithm iteratively adjusts the importance of training examples based on how difficult they are to classify correctly.</a:t>
            </a:r>
            <a:endParaRPr lang="en-US" sz="1800" dirty="0">
              <a:solidFill>
                <a:schemeClr val="tx1"/>
              </a:solidFill>
            </a:endParaRPr>
          </a:p>
          <a:p>
            <a:pPr algn="l">
              <a:lnSpc>
                <a:spcPct val="200000"/>
              </a:lnSpc>
            </a:pPr>
            <a:r>
              <a:rPr lang="en-IN" sz="2400" dirty="0">
                <a:solidFill>
                  <a:schemeClr val="tx1"/>
                </a:solidFill>
              </a:rPr>
              <a:t>1. </a:t>
            </a:r>
            <a:r>
              <a:rPr lang="en-US" sz="2400" dirty="0">
                <a:solidFill>
                  <a:schemeClr val="tx1"/>
                </a:solidFill>
                <a:ea typeface="PT Serif" pitchFamily="34" charset="-122"/>
                <a:cs typeface="PT Serif" pitchFamily="34" charset="-120"/>
              </a:rPr>
              <a:t>Equal Start</a:t>
            </a:r>
            <a:endParaRPr lang="en-US" sz="2400" dirty="0">
              <a:solidFill>
                <a:schemeClr val="tx1"/>
              </a:solidFill>
            </a:endParaRPr>
          </a:p>
          <a:p>
            <a:pPr algn="l">
              <a:lnSpc>
                <a:spcPct val="200000"/>
              </a:lnSpc>
            </a:pPr>
            <a:r>
              <a:rPr lang="en-US" sz="1800" dirty="0">
                <a:solidFill>
                  <a:schemeClr val="tx1"/>
                </a:solidFill>
                <a:ea typeface="DM Sans" pitchFamily="34" charset="-122"/>
                <a:cs typeface="DM Sans" pitchFamily="34" charset="-120"/>
              </a:rPr>
              <a:t>Initially, every data point in the training set is given the same weight, ensuring no bias in the first iteration.</a:t>
            </a:r>
            <a:endParaRPr lang="en-US" sz="1800" dirty="0">
              <a:solidFill>
                <a:schemeClr val="tx1"/>
              </a:solidFill>
            </a:endParaRPr>
          </a:p>
          <a:p>
            <a:pPr algn="l">
              <a:lnSpc>
                <a:spcPct val="200000"/>
              </a:lnSpc>
            </a:pPr>
            <a:r>
              <a:rPr lang="en-IN" sz="2400" dirty="0">
                <a:solidFill>
                  <a:schemeClr val="tx1"/>
                </a:solidFill>
              </a:rPr>
              <a:t>2. </a:t>
            </a:r>
            <a:r>
              <a:rPr lang="en-US" sz="2400" dirty="0">
                <a:solidFill>
                  <a:schemeClr val="tx1"/>
                </a:solidFill>
                <a:ea typeface="PT Serif" pitchFamily="34" charset="-122"/>
                <a:cs typeface="PT Serif" pitchFamily="34" charset="-120"/>
              </a:rPr>
              <a:t>Focus on Failure</a:t>
            </a:r>
            <a:endParaRPr lang="en-US" sz="2400" dirty="0">
              <a:solidFill>
                <a:schemeClr val="tx1"/>
              </a:solidFill>
            </a:endParaRPr>
          </a:p>
          <a:p>
            <a:pPr algn="l">
              <a:lnSpc>
                <a:spcPct val="200000"/>
              </a:lnSpc>
            </a:pPr>
            <a:r>
              <a:rPr lang="en-US" sz="1800" dirty="0">
                <a:solidFill>
                  <a:schemeClr val="tx1"/>
                </a:solidFill>
                <a:ea typeface="DM Sans" pitchFamily="34" charset="-122"/>
                <a:cs typeface="DM Sans" pitchFamily="34" charset="-120"/>
              </a:rPr>
              <a:t>A weak learner is trained on the weighted data. Misclassified points receive higher weights for the next iteration.</a:t>
            </a:r>
            <a:endParaRPr lang="en-US" sz="1800" dirty="0">
              <a:solidFill>
                <a:schemeClr val="tx1"/>
              </a:solidFill>
            </a:endParaRPr>
          </a:p>
          <a:p>
            <a:pPr algn="l">
              <a:lnSpc>
                <a:spcPct val="200000"/>
              </a:lnSpc>
            </a:pPr>
            <a:r>
              <a:rPr lang="en-IN" sz="2400" dirty="0">
                <a:solidFill>
                  <a:schemeClr val="tx1"/>
                </a:solidFill>
              </a:rPr>
              <a:t>3. </a:t>
            </a:r>
            <a:r>
              <a:rPr lang="en-US" sz="2400" dirty="0">
                <a:solidFill>
                  <a:schemeClr val="tx1"/>
                </a:solidFill>
                <a:ea typeface="PT Serif" pitchFamily="34" charset="-122"/>
                <a:cs typeface="PT Serif" pitchFamily="34" charset="-120"/>
              </a:rPr>
              <a:t>Iterate and Refine</a:t>
            </a:r>
            <a:endParaRPr lang="en-US" sz="2400" dirty="0">
              <a:solidFill>
                <a:schemeClr val="tx1"/>
              </a:solidFill>
            </a:endParaRPr>
          </a:p>
          <a:p>
            <a:pPr algn="l">
              <a:lnSpc>
                <a:spcPct val="200000"/>
              </a:lnSpc>
            </a:pPr>
            <a:r>
              <a:rPr lang="en-US" sz="1800" dirty="0">
                <a:solidFill>
                  <a:schemeClr val="tx1"/>
                </a:solidFill>
                <a:ea typeface="DM Sans" pitchFamily="34" charset="-122"/>
                <a:cs typeface="DM Sans" pitchFamily="34" charset="-120"/>
              </a:rPr>
              <a:t>The next model focuses more on the difficult cases that previous models struggled with, creating targeted improvement.</a:t>
            </a:r>
            <a:endParaRPr lang="en-US" sz="1800" dirty="0">
              <a:solidFill>
                <a:schemeClr val="tx1"/>
              </a:solidFill>
            </a:endParaRPr>
          </a:p>
          <a:p>
            <a:pPr algn="l">
              <a:lnSpc>
                <a:spcPct val="200000"/>
              </a:lnSpc>
            </a:pPr>
            <a:r>
              <a:rPr lang="en-IN" sz="2400" dirty="0">
                <a:solidFill>
                  <a:schemeClr val="tx1"/>
                </a:solidFill>
              </a:rPr>
              <a:t>4. </a:t>
            </a:r>
            <a:r>
              <a:rPr lang="en-US" sz="2400" dirty="0">
                <a:solidFill>
                  <a:schemeClr val="tx1"/>
                </a:solidFill>
                <a:ea typeface="PT Serif" pitchFamily="34" charset="-122"/>
                <a:cs typeface="PT Serif" pitchFamily="34" charset="-120"/>
              </a:rPr>
              <a:t>Voting Power</a:t>
            </a:r>
            <a:endParaRPr lang="en-US" sz="2400" dirty="0">
              <a:solidFill>
                <a:schemeClr val="tx1"/>
              </a:solidFill>
            </a:endParaRPr>
          </a:p>
          <a:p>
            <a:pPr algn="l">
              <a:lnSpc>
                <a:spcPct val="200000"/>
              </a:lnSpc>
            </a:pPr>
            <a:r>
              <a:rPr lang="en-US" sz="1800" dirty="0">
                <a:solidFill>
                  <a:schemeClr val="tx1"/>
                </a:solidFill>
                <a:ea typeface="DM Sans" pitchFamily="34" charset="-122"/>
                <a:cs typeface="DM Sans" pitchFamily="34" charset="-120"/>
              </a:rPr>
              <a:t>Better-performing models receive higher influence in the final prediction through carefully calculated weights.</a:t>
            </a:r>
            <a:endParaRPr lang="en-US" sz="1800" dirty="0">
              <a:solidFill>
                <a:schemeClr val="tx1"/>
              </a:solidFill>
            </a:endParaRPr>
          </a:p>
          <a:p>
            <a:pPr>
              <a:lnSpc>
                <a:spcPct val="200000"/>
              </a:lnSpc>
            </a:pPr>
            <a:endParaRPr lang="en-IN" sz="1800" dirty="0">
              <a:solidFill>
                <a:schemeClr val="tx1"/>
              </a:solidFill>
            </a:endParaRPr>
          </a:p>
        </p:txBody>
      </p:sp>
    </p:spTree>
    <p:extLst>
      <p:ext uri="{BB962C8B-B14F-4D97-AF65-F5344CB8AC3E}">
        <p14:creationId xmlns:p14="http://schemas.microsoft.com/office/powerpoint/2010/main" val="1296351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0917" y="-42946"/>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rgbClr val="020202"/>
                </a:solidFill>
                <a:ea typeface="PT Serif" pitchFamily="34" charset="-122"/>
                <a:cs typeface="PT Serif" pitchFamily="34" charset="-120"/>
              </a:rPr>
              <a:t>Key Terms and Definitions</a:t>
            </a:r>
            <a:endParaRPr lang="en-US" sz="3600" dirty="0"/>
          </a:p>
        </p:txBody>
      </p:sp>
      <p:sp>
        <p:nvSpPr>
          <p:cNvPr id="15" name="Text 7">
            <a:extLst>
              <a:ext uri="{FF2B5EF4-FFF2-40B4-BE49-F238E27FC236}">
                <a16:creationId xmlns:a16="http://schemas.microsoft.com/office/drawing/2014/main" id="{36221D7B-8D1F-CF5A-6FD1-DA6DD3F7C3CC}"/>
              </a:ext>
            </a:extLst>
          </p:cNvPr>
          <p:cNvSpPr/>
          <p:nvPr/>
        </p:nvSpPr>
        <p:spPr>
          <a:xfrm>
            <a:off x="5719599" y="5123407"/>
            <a:ext cx="3818692" cy="127015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167871" y="4036015"/>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381000" y="2646967"/>
            <a:ext cx="3276600" cy="4666928"/>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525196" y="2797794"/>
            <a:ext cx="2988207" cy="2476441"/>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Stump</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A decision tree with only one split, also called a decision stump. This is the most common weak learner used in AdaBoost implementations.</a:t>
            </a:r>
            <a:endParaRPr lang="en-US" sz="2400" dirty="0">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2" name="TextBox 11">
            <a:extLst>
              <a:ext uri="{FF2B5EF4-FFF2-40B4-BE49-F238E27FC236}">
                <a16:creationId xmlns:a16="http://schemas.microsoft.com/office/drawing/2014/main" id="{FDC4DA48-35D7-6A07-2464-343D25168B61}"/>
              </a:ext>
            </a:extLst>
          </p:cNvPr>
          <p:cNvSpPr txBox="1"/>
          <p:nvPr/>
        </p:nvSpPr>
        <p:spPr>
          <a:xfrm>
            <a:off x="795055" y="1215112"/>
            <a:ext cx="13077091" cy="1121654"/>
          </a:xfrm>
          <a:prstGeom prst="rect">
            <a:avLst/>
          </a:prstGeom>
          <a:noFill/>
        </p:spPr>
        <p:txBody>
          <a:bodyPr wrap="square">
            <a:spAutoFit/>
          </a:bodyPr>
          <a:lstStyle/>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Understanding AdaBoost requires familiarity with several specialized terms that describe its components and mechanisms. These concepts form the foundation of how the algorithm operates.</a:t>
            </a:r>
            <a:endParaRPr lang="en-US" sz="1800" dirty="0">
              <a:latin typeface="PT Serif" panose="020A0603040505020204" pitchFamily="18" charset="0"/>
            </a:endParaRPr>
          </a:p>
        </p:txBody>
      </p:sp>
      <p:sp>
        <p:nvSpPr>
          <p:cNvPr id="23" name="Shape 2">
            <a:extLst>
              <a:ext uri="{FF2B5EF4-FFF2-40B4-BE49-F238E27FC236}">
                <a16:creationId xmlns:a16="http://schemas.microsoft.com/office/drawing/2014/main" id="{C35D0989-AAD3-D660-8640-F8C77DC8289E}"/>
              </a:ext>
            </a:extLst>
          </p:cNvPr>
          <p:cNvSpPr/>
          <p:nvPr/>
        </p:nvSpPr>
        <p:spPr>
          <a:xfrm>
            <a:off x="3886200" y="2648272"/>
            <a:ext cx="3276600" cy="4666928"/>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4" name="Text 3">
            <a:extLst>
              <a:ext uri="{FF2B5EF4-FFF2-40B4-BE49-F238E27FC236}">
                <a16:creationId xmlns:a16="http://schemas.microsoft.com/office/drawing/2014/main" id="{AF1AA67F-D5F7-3A31-6A2A-A3A5C8337500}"/>
              </a:ext>
            </a:extLst>
          </p:cNvPr>
          <p:cNvSpPr/>
          <p:nvPr/>
        </p:nvSpPr>
        <p:spPr>
          <a:xfrm>
            <a:off x="4030396" y="2799099"/>
            <a:ext cx="2988207" cy="2476441"/>
          </a:xfrm>
          <a:prstGeom prst="rect">
            <a:avLst/>
          </a:prstGeom>
          <a:noFill/>
          <a:ln/>
        </p:spPr>
        <p:txBody>
          <a:bodyPr wrap="square" lIns="0" tIns="0" rIns="0" bIns="0" rtlCol="0" anchor="t"/>
          <a:lstStyle/>
          <a:p>
            <a:pPr algn="l">
              <a:lnSpc>
                <a:spcPct val="200000"/>
              </a:lnSpc>
            </a:pPr>
            <a:r>
              <a:rPr lang="en-US" sz="2400" dirty="0">
                <a:solidFill>
                  <a:srgbClr val="383838"/>
                </a:solidFill>
                <a:latin typeface="PT Serif" panose="020A0603040505020204" pitchFamily="18" charset="0"/>
                <a:ea typeface="PT Serif" pitchFamily="34" charset="-122"/>
                <a:cs typeface="PT Serif" pitchFamily="34" charset="-120"/>
              </a:rPr>
              <a:t>Sample Weight</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The importance assigned to each observation in the training set. These weights are adjusted after each iteration based on classification performance.</a:t>
            </a:r>
            <a:endParaRPr lang="en-US" sz="1800" dirty="0">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25" name="Shape 2">
            <a:extLst>
              <a:ext uri="{FF2B5EF4-FFF2-40B4-BE49-F238E27FC236}">
                <a16:creationId xmlns:a16="http://schemas.microsoft.com/office/drawing/2014/main" id="{2F1DCF8F-F7F6-CBA3-9D88-4700A2B0E979}"/>
              </a:ext>
            </a:extLst>
          </p:cNvPr>
          <p:cNvSpPr/>
          <p:nvPr/>
        </p:nvSpPr>
        <p:spPr>
          <a:xfrm>
            <a:off x="7467600" y="2695736"/>
            <a:ext cx="3276600" cy="4666928"/>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6" name="Text 3">
            <a:extLst>
              <a:ext uri="{FF2B5EF4-FFF2-40B4-BE49-F238E27FC236}">
                <a16:creationId xmlns:a16="http://schemas.microsoft.com/office/drawing/2014/main" id="{0FB77186-A953-FC7C-F0AF-76ED1373CF0D}"/>
              </a:ext>
            </a:extLst>
          </p:cNvPr>
          <p:cNvSpPr/>
          <p:nvPr/>
        </p:nvSpPr>
        <p:spPr>
          <a:xfrm>
            <a:off x="7611796" y="2846563"/>
            <a:ext cx="2988207" cy="2476441"/>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Total Error</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The sum of weights of misclassified samples. This metric determines how well a weak learner performed on the weighted dataset.</a:t>
            </a:r>
            <a:endParaRPr lang="en-US" sz="1800" dirty="0">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27" name="Shape 2">
            <a:extLst>
              <a:ext uri="{FF2B5EF4-FFF2-40B4-BE49-F238E27FC236}">
                <a16:creationId xmlns:a16="http://schemas.microsoft.com/office/drawing/2014/main" id="{2E0BEE4B-1E38-F91B-C7E7-A6F0F06C88A4}"/>
              </a:ext>
            </a:extLst>
          </p:cNvPr>
          <p:cNvSpPr/>
          <p:nvPr/>
        </p:nvSpPr>
        <p:spPr>
          <a:xfrm>
            <a:off x="10972800" y="2695736"/>
            <a:ext cx="3276600" cy="4666928"/>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8" name="Text 3">
            <a:extLst>
              <a:ext uri="{FF2B5EF4-FFF2-40B4-BE49-F238E27FC236}">
                <a16:creationId xmlns:a16="http://schemas.microsoft.com/office/drawing/2014/main" id="{3EA930E1-4740-A967-5DA7-FF102F879101}"/>
              </a:ext>
            </a:extLst>
          </p:cNvPr>
          <p:cNvSpPr/>
          <p:nvPr/>
        </p:nvSpPr>
        <p:spPr>
          <a:xfrm>
            <a:off x="11116996" y="2846563"/>
            <a:ext cx="2988207" cy="2476441"/>
          </a:xfrm>
          <a:prstGeom prst="rect">
            <a:avLst/>
          </a:prstGeom>
          <a:noFill/>
          <a:ln/>
        </p:spPr>
        <p:txBody>
          <a:bodyPr wrap="square" lIns="0" tIns="0" rIns="0" bIns="0" rtlCol="0" anchor="t"/>
          <a:lstStyle/>
          <a:p>
            <a:pPr algn="l">
              <a:lnSpc>
                <a:spcPct val="200000"/>
              </a:lnSpc>
            </a:pPr>
            <a:r>
              <a:rPr lang="en-US" sz="2400" dirty="0">
                <a:solidFill>
                  <a:srgbClr val="383838"/>
                </a:solidFill>
                <a:latin typeface="PT Serif" panose="020A0603040505020204" pitchFamily="18" charset="0"/>
                <a:ea typeface="PT Serif" pitchFamily="34" charset="-122"/>
                <a:cs typeface="PT Serif" pitchFamily="34" charset="-120"/>
              </a:rPr>
              <a:t>Amount of Say (α)</a:t>
            </a:r>
            <a:endParaRPr lang="en-US" sz="2400" dirty="0">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The weight assigned to a weak learner based on its error rate. Lower error results in higher influence in the final ensemble prediction.</a:t>
            </a:r>
            <a:endParaRPr lang="en-US" sz="1800" dirty="0">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3326688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47E2D7F0-A3F0-243A-D1F8-49C9F1D7D98F}"/>
              </a:ext>
            </a:extLst>
          </p:cNvPr>
          <p:cNvSpPr/>
          <p:nvPr/>
        </p:nvSpPr>
        <p:spPr>
          <a:xfrm>
            <a:off x="228600" y="3534430"/>
            <a:ext cx="13914627" cy="1266170"/>
          </a:xfrm>
          <a:prstGeom prst="roundRect">
            <a:avLst>
              <a:gd name="adj" fmla="val 2565"/>
            </a:avLst>
          </a:prstGeom>
          <a:solidFill>
            <a:srgbClr val="FFCDB3"/>
          </a:solidFill>
          <a:ln/>
        </p:spPr>
      </p:sp>
      <p:sp>
        <p:nvSpPr>
          <p:cNvPr id="2" name="Title 1">
            <a:extLst>
              <a:ext uri="{FF2B5EF4-FFF2-40B4-BE49-F238E27FC236}">
                <a16:creationId xmlns:a16="http://schemas.microsoft.com/office/drawing/2014/main" id="{B857A60F-5A2F-33F0-43EC-E062F584553B}"/>
              </a:ext>
            </a:extLst>
          </p:cNvPr>
          <p:cNvSpPr>
            <a:spLocks noGrp="1"/>
          </p:cNvSpPr>
          <p:nvPr>
            <p:ph type="title"/>
          </p:nvPr>
        </p:nvSpPr>
        <p:spPr>
          <a:xfrm>
            <a:off x="487172" y="401522"/>
            <a:ext cx="13656055" cy="623376"/>
          </a:xfrm>
        </p:spPr>
        <p:txBody>
          <a:bodyPr/>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What is a Weak Learner?</a:t>
            </a:r>
            <a:endParaRPr lang="en-US" sz="3600" dirty="0"/>
          </a:p>
        </p:txBody>
      </p:sp>
      <p:sp>
        <p:nvSpPr>
          <p:cNvPr id="3" name="Text Placeholder 2">
            <a:extLst>
              <a:ext uri="{FF2B5EF4-FFF2-40B4-BE49-F238E27FC236}">
                <a16:creationId xmlns:a16="http://schemas.microsoft.com/office/drawing/2014/main" id="{356C81DE-A612-5602-2485-DE8FD703A41C}"/>
              </a:ext>
            </a:extLst>
          </p:cNvPr>
          <p:cNvSpPr>
            <a:spLocks noGrp="1"/>
          </p:cNvSpPr>
          <p:nvPr>
            <p:ph type="body" idx="1"/>
          </p:nvPr>
        </p:nvSpPr>
        <p:spPr>
          <a:xfrm>
            <a:off x="487172" y="1295400"/>
            <a:ext cx="13117459" cy="6015301"/>
          </a:xfrm>
        </p:spPr>
        <p:txBody>
          <a:bodyPr/>
          <a:lstStyle/>
          <a:p>
            <a:pPr marL="0" indent="0" algn="l">
              <a:lnSpc>
                <a:spcPct val="200000"/>
              </a:lnSpc>
              <a:buNone/>
            </a:pPr>
            <a:r>
              <a:rPr lang="en-US" sz="1800" dirty="0">
                <a:solidFill>
                  <a:schemeClr val="tx1"/>
                </a:solidFill>
                <a:ea typeface="DM Sans" pitchFamily="34" charset="-122"/>
                <a:cs typeface="DM Sans" pitchFamily="34" charset="-120"/>
              </a:rPr>
              <a:t>A weak learner is a classifier that performs only slightly better than random guessing, typically achieving around 51-60% accuracy on binary classification tasks. The beauty of AdaBoost lies in its ability to combine many such simple rules into a strong predictive model.</a:t>
            </a:r>
          </a:p>
          <a:p>
            <a:pPr marL="0" indent="0" algn="l">
              <a:lnSpc>
                <a:spcPct val="200000"/>
              </a:lnSpc>
              <a:buNone/>
            </a:pPr>
            <a:endParaRPr lang="en-US" sz="1800" dirty="0">
              <a:solidFill>
                <a:schemeClr val="tx1"/>
              </a:solidFill>
            </a:endParaRPr>
          </a:p>
          <a:p>
            <a:pPr algn="l">
              <a:lnSpc>
                <a:spcPct val="200000"/>
              </a:lnSpc>
            </a:pPr>
            <a:r>
              <a:rPr lang="en-US" sz="1800" b="1" dirty="0">
                <a:solidFill>
                  <a:schemeClr val="tx1"/>
                </a:solidFill>
                <a:ea typeface="DM Sans" pitchFamily="34" charset="-122"/>
                <a:cs typeface="DM Sans" pitchFamily="34" charset="-120"/>
              </a:rPr>
              <a:t>Example:</a:t>
            </a:r>
            <a:r>
              <a:rPr lang="en-US" sz="1800" dirty="0">
                <a:solidFill>
                  <a:schemeClr val="tx1"/>
                </a:solidFill>
                <a:ea typeface="DM Sans" pitchFamily="34" charset="-122"/>
                <a:cs typeface="DM Sans" pitchFamily="34" charset="-120"/>
              </a:rPr>
              <a:t> A simple rule like "if credit score &lt; 600 then predict Default" is a weak learner. While not highly accurate alone, hundreds of such rules combined can create an extremely powerful classifier.</a:t>
            </a:r>
            <a:endParaRPr lang="en-US" sz="1800" dirty="0">
              <a:solidFill>
                <a:schemeClr val="tx1"/>
              </a:solidFill>
            </a:endParaRPr>
          </a:p>
          <a:p>
            <a:pPr marL="0" indent="0" algn="l">
              <a:lnSpc>
                <a:spcPct val="200000"/>
              </a:lnSpc>
              <a:buNone/>
            </a:pPr>
            <a:endParaRPr lang="en-US" sz="1800" dirty="0">
              <a:solidFill>
                <a:schemeClr val="tx1"/>
              </a:solidFill>
            </a:endParaRPr>
          </a:p>
          <a:p>
            <a:pPr algn="l">
              <a:lnSpc>
                <a:spcPct val="200000"/>
              </a:lnSpc>
            </a:pPr>
            <a:r>
              <a:rPr lang="en-US" sz="1800" dirty="0">
                <a:solidFill>
                  <a:schemeClr val="tx1"/>
                </a:solidFill>
                <a:ea typeface="DM Sans" pitchFamily="34" charset="-122"/>
                <a:cs typeface="DM Sans" pitchFamily="34" charset="-120"/>
              </a:rPr>
              <a:t>The key insight is that weak learners should be simple enough to avoid overfitting but still capture some signal in the data. Decision stumps are popular because they're fast to train, interpretable, and naturally prevent overfitting through their simplicity.</a:t>
            </a:r>
            <a:endParaRPr lang="en-US" sz="1800" dirty="0">
              <a:solidFill>
                <a:schemeClr val="tx1"/>
              </a:solidFill>
            </a:endParaRPr>
          </a:p>
          <a:p>
            <a:pPr marL="0" indent="0" algn="l">
              <a:lnSpc>
                <a:spcPct val="200000"/>
              </a:lnSpc>
              <a:buNone/>
            </a:pPr>
            <a:endParaRPr lang="en-US" sz="1800" dirty="0">
              <a:solidFill>
                <a:schemeClr val="tx1"/>
              </a:solidFill>
            </a:endParaRPr>
          </a:p>
        </p:txBody>
      </p:sp>
    </p:spTree>
    <p:extLst>
      <p:ext uri="{BB962C8B-B14F-4D97-AF65-F5344CB8AC3E}">
        <p14:creationId xmlns:p14="http://schemas.microsoft.com/office/powerpoint/2010/main" val="4222832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128B3-0FB0-CF0D-D068-5A4AB1116FDE}"/>
              </a:ext>
            </a:extLst>
          </p:cNvPr>
          <p:cNvSpPr>
            <a:spLocks noGrp="1"/>
          </p:cNvSpPr>
          <p:nvPr>
            <p:ph type="title"/>
          </p:nvPr>
        </p:nvSpPr>
        <p:spPr>
          <a:xfrm>
            <a:off x="864149" y="685800"/>
            <a:ext cx="13656055" cy="610103"/>
          </a:xfrm>
        </p:spPr>
        <p:txBody>
          <a:bodyPr/>
          <a:lstStyle/>
          <a:p>
            <a:pPr marL="0" indent="0" algn="l">
              <a:lnSpc>
                <a:spcPts val="5100"/>
              </a:lnSpc>
              <a:buNone/>
            </a:pPr>
            <a:r>
              <a:rPr lang="en-US" sz="3600" dirty="0">
                <a:solidFill>
                  <a:schemeClr val="tx1"/>
                </a:solidFill>
                <a:ea typeface="PT Serif" pitchFamily="34" charset="-122"/>
                <a:cs typeface="PT Serif" pitchFamily="34" charset="-120"/>
              </a:rPr>
              <a:t>Learning Rate Hyperparameter</a:t>
            </a:r>
            <a:endParaRPr lang="en-US" sz="3600" dirty="0">
              <a:solidFill>
                <a:schemeClr val="tx1"/>
              </a:solidFill>
            </a:endParaRPr>
          </a:p>
        </p:txBody>
      </p:sp>
      <p:sp>
        <p:nvSpPr>
          <p:cNvPr id="3" name="Content Placeholder 2">
            <a:extLst>
              <a:ext uri="{FF2B5EF4-FFF2-40B4-BE49-F238E27FC236}">
                <a16:creationId xmlns:a16="http://schemas.microsoft.com/office/drawing/2014/main" id="{7480B1B8-4EAB-7C6B-E3B4-CCFF68FF36A2}"/>
              </a:ext>
            </a:extLst>
          </p:cNvPr>
          <p:cNvSpPr>
            <a:spLocks noGrp="1"/>
          </p:cNvSpPr>
          <p:nvPr>
            <p:ph sz="half" idx="2"/>
          </p:nvPr>
        </p:nvSpPr>
        <p:spPr>
          <a:xfrm>
            <a:off x="881733" y="3198870"/>
            <a:ext cx="5440681" cy="4537974"/>
          </a:xfrm>
        </p:spPr>
        <p:txBody>
          <a:bodyPr/>
          <a:lstStyle/>
          <a:p>
            <a:pPr marL="0" indent="0" algn="l">
              <a:lnSpc>
                <a:spcPct val="200000"/>
              </a:lnSpc>
              <a:buNone/>
            </a:pPr>
            <a:r>
              <a:rPr lang="en-US" sz="2400" dirty="0">
                <a:solidFill>
                  <a:schemeClr val="tx1"/>
                </a:solidFill>
                <a:ea typeface="PT Serif" pitchFamily="34" charset="-122"/>
                <a:cs typeface="PT Serif" pitchFamily="34" charset="-120"/>
              </a:rPr>
              <a:t>Lower Learning Rate</a:t>
            </a:r>
            <a:endParaRPr lang="en-US" sz="24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Produces more robust models that generalize better to unseen data. However, this approach requires more estimators to achieve the same performance level, increasing training time.</a:t>
            </a:r>
            <a:endParaRPr lang="en-US" sz="1800" dirty="0">
              <a:solidFill>
                <a:schemeClr val="tx1"/>
              </a:solidFill>
            </a:endParaRPr>
          </a:p>
          <a:p>
            <a:pPr algn="l">
              <a:lnSpc>
                <a:spcPct val="200000"/>
              </a:lnSpc>
            </a:pPr>
            <a:r>
              <a:rPr lang="en-US" sz="1800" b="1" dirty="0">
                <a:solidFill>
                  <a:schemeClr val="tx1"/>
                </a:solidFill>
                <a:ea typeface="DM Sans" pitchFamily="34" charset="-122"/>
                <a:cs typeface="DM Sans" pitchFamily="34" charset="-120"/>
              </a:rPr>
              <a:t>When to use:</a:t>
            </a:r>
            <a:r>
              <a:rPr lang="en-US" sz="1800" dirty="0">
                <a:solidFill>
                  <a:schemeClr val="tx1"/>
                </a:solidFill>
                <a:ea typeface="DM Sans" pitchFamily="34" charset="-122"/>
                <a:cs typeface="DM Sans" pitchFamily="34" charset="-120"/>
              </a:rPr>
              <a:t> Large datasets, noisy data, when you have computational resources for more iterations.</a:t>
            </a:r>
            <a:endParaRPr lang="en-US" sz="1800" dirty="0">
              <a:solidFill>
                <a:schemeClr val="tx1"/>
              </a:solidFill>
            </a:endParaRPr>
          </a:p>
          <a:p>
            <a:pPr>
              <a:lnSpc>
                <a:spcPct val="200000"/>
              </a:lnSpc>
            </a:pPr>
            <a:endParaRPr lang="en-IN" sz="1800" dirty="0">
              <a:solidFill>
                <a:schemeClr val="tx1"/>
              </a:solidFill>
            </a:endParaRPr>
          </a:p>
        </p:txBody>
      </p:sp>
      <p:sp>
        <p:nvSpPr>
          <p:cNvPr id="4" name="Content Placeholder 3">
            <a:extLst>
              <a:ext uri="{FF2B5EF4-FFF2-40B4-BE49-F238E27FC236}">
                <a16:creationId xmlns:a16="http://schemas.microsoft.com/office/drawing/2014/main" id="{FDD16000-397B-857B-2539-28D6C2C9CE55}"/>
              </a:ext>
            </a:extLst>
          </p:cNvPr>
          <p:cNvSpPr>
            <a:spLocks noGrp="1"/>
          </p:cNvSpPr>
          <p:nvPr>
            <p:ph sz="half" idx="3"/>
          </p:nvPr>
        </p:nvSpPr>
        <p:spPr>
          <a:xfrm>
            <a:off x="8001000" y="3198870"/>
            <a:ext cx="5440681" cy="3983976"/>
          </a:xfrm>
        </p:spPr>
        <p:txBody>
          <a:bodyPr/>
          <a:lstStyle/>
          <a:p>
            <a:pPr marL="0" indent="0" algn="l">
              <a:lnSpc>
                <a:spcPct val="200000"/>
              </a:lnSpc>
              <a:buNone/>
            </a:pPr>
            <a:r>
              <a:rPr lang="en-US" sz="2400" dirty="0">
                <a:solidFill>
                  <a:schemeClr val="tx1"/>
                </a:solidFill>
                <a:ea typeface="PT Serif" pitchFamily="34" charset="-122"/>
                <a:cs typeface="PT Serif" pitchFamily="34" charset="-120"/>
              </a:rPr>
              <a:t>Higher Learning Rate</a:t>
            </a:r>
            <a:endParaRPr lang="en-US" sz="2400" dirty="0">
              <a:solidFill>
                <a:schemeClr val="tx1"/>
              </a:solidFill>
            </a:endParaRPr>
          </a:p>
          <a:p>
            <a:pPr marL="0" indent="0" algn="l">
              <a:lnSpc>
                <a:spcPct val="200000"/>
              </a:lnSpc>
              <a:buNone/>
            </a:pPr>
            <a:r>
              <a:rPr lang="en-US" sz="1800" dirty="0">
                <a:solidFill>
                  <a:schemeClr val="tx1"/>
                </a:solidFill>
                <a:ea typeface="DM Sans" pitchFamily="34" charset="-122"/>
                <a:cs typeface="DM Sans" pitchFamily="34" charset="-120"/>
              </a:rPr>
              <a:t>Enables faster learning and quicker convergence on smaller datasets. The risk is overshooting the optimal solution and reduced generalization to new data.</a:t>
            </a:r>
            <a:endParaRPr lang="en-US" sz="1800" dirty="0">
              <a:solidFill>
                <a:schemeClr val="tx1"/>
              </a:solidFill>
            </a:endParaRPr>
          </a:p>
          <a:p>
            <a:pPr algn="l">
              <a:lnSpc>
                <a:spcPct val="200000"/>
              </a:lnSpc>
            </a:pPr>
            <a:r>
              <a:rPr lang="en-US" sz="1800" b="1" dirty="0">
                <a:solidFill>
                  <a:schemeClr val="tx1"/>
                </a:solidFill>
                <a:ea typeface="DM Sans" pitchFamily="34" charset="-122"/>
                <a:cs typeface="DM Sans" pitchFamily="34" charset="-120"/>
              </a:rPr>
              <a:t>When to use:</a:t>
            </a:r>
            <a:r>
              <a:rPr lang="en-US" sz="1800" dirty="0">
                <a:solidFill>
                  <a:schemeClr val="tx1"/>
                </a:solidFill>
                <a:ea typeface="DM Sans" pitchFamily="34" charset="-122"/>
                <a:cs typeface="DM Sans" pitchFamily="34" charset="-120"/>
              </a:rPr>
              <a:t> Small clean datasets, rapid prototyping, when training time is constrained.</a:t>
            </a:r>
            <a:endParaRPr lang="en-US" sz="1800" dirty="0">
              <a:solidFill>
                <a:schemeClr val="tx1"/>
              </a:solidFill>
            </a:endParaRPr>
          </a:p>
          <a:p>
            <a:pPr>
              <a:lnSpc>
                <a:spcPct val="200000"/>
              </a:lnSpc>
            </a:pPr>
            <a:endParaRPr lang="en-IN" sz="1800" dirty="0">
              <a:solidFill>
                <a:schemeClr val="tx1"/>
              </a:solidFill>
            </a:endParaRPr>
          </a:p>
        </p:txBody>
      </p:sp>
      <p:sp>
        <p:nvSpPr>
          <p:cNvPr id="6" name="TextBox 5">
            <a:extLst>
              <a:ext uri="{FF2B5EF4-FFF2-40B4-BE49-F238E27FC236}">
                <a16:creationId xmlns:a16="http://schemas.microsoft.com/office/drawing/2014/main" id="{28A50F60-8514-2D12-37F9-45167FF38A14}"/>
              </a:ext>
            </a:extLst>
          </p:cNvPr>
          <p:cNvSpPr txBox="1"/>
          <p:nvPr/>
        </p:nvSpPr>
        <p:spPr>
          <a:xfrm>
            <a:off x="858287" y="1636949"/>
            <a:ext cx="12775651" cy="1124795"/>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The learning rate is one of the most critical hyperparameters in AdaBoost. It scales the contribution of each weak learner to the final ensemble, creating a trade-off between learning speed and model robustness.</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1821631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47932-BA9B-1B78-D4FE-3D1F2D309BE2}"/>
              </a:ext>
            </a:extLst>
          </p:cNvPr>
          <p:cNvSpPr>
            <a:spLocks noGrp="1"/>
          </p:cNvSpPr>
          <p:nvPr>
            <p:ph type="title"/>
          </p:nvPr>
        </p:nvSpPr>
        <p:spPr>
          <a:xfrm>
            <a:off x="838200" y="519658"/>
            <a:ext cx="13656055" cy="1123384"/>
          </a:xfrm>
        </p:spPr>
        <p:txBody>
          <a:bodyPr/>
          <a:lstStyle/>
          <a:p>
            <a:r>
              <a:rPr lang="en-US" sz="3600" dirty="0">
                <a:solidFill>
                  <a:schemeClr val="tx1"/>
                </a:solidFill>
                <a:latin typeface="PT Serif" pitchFamily="34" charset="0"/>
                <a:ea typeface="PT Serif" pitchFamily="34" charset="-122"/>
                <a:cs typeface="PT Serif" pitchFamily="34" charset="-120"/>
              </a:rPr>
              <a:t>Additional Key Hyperparameters</a:t>
            </a:r>
            <a:br>
              <a:rPr lang="en-US" sz="3600" dirty="0">
                <a:solidFill>
                  <a:schemeClr val="tx1"/>
                </a:solidFill>
              </a:rPr>
            </a:br>
            <a:endParaRPr lang="en-IN" sz="3600" dirty="0">
              <a:solidFill>
                <a:schemeClr val="tx1"/>
              </a:solidFill>
            </a:endParaRPr>
          </a:p>
        </p:txBody>
      </p:sp>
      <p:sp>
        <p:nvSpPr>
          <p:cNvPr id="4" name="TextBox 3">
            <a:extLst>
              <a:ext uri="{FF2B5EF4-FFF2-40B4-BE49-F238E27FC236}">
                <a16:creationId xmlns:a16="http://schemas.microsoft.com/office/drawing/2014/main" id="{F2F8F83D-EC9D-CDD0-1969-C389DC46E5C1}"/>
              </a:ext>
            </a:extLst>
          </p:cNvPr>
          <p:cNvSpPr txBox="1"/>
          <p:nvPr/>
        </p:nvSpPr>
        <p:spPr>
          <a:xfrm>
            <a:off x="838200" y="1295400"/>
            <a:ext cx="12954000"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Beyond learning rate, AdaBoost </a:t>
            </a:r>
            <a:r>
              <a:rPr lang="en-US" dirty="0">
                <a:solidFill>
                  <a:schemeClr val="tx1"/>
                </a:solidFill>
                <a:latin typeface="PT Serif" panose="020A0603040505020204" pitchFamily="18" charset="0"/>
                <a:ea typeface="DM Sans" pitchFamily="34" charset="-122"/>
                <a:cs typeface="DM Sans" pitchFamily="34" charset="-120"/>
              </a:rPr>
              <a:t>method has</a:t>
            </a:r>
            <a:r>
              <a:rPr lang="en-US" sz="1800" dirty="0">
                <a:solidFill>
                  <a:schemeClr val="tx1"/>
                </a:solidFill>
                <a:latin typeface="PT Serif" panose="020A0603040505020204" pitchFamily="18" charset="0"/>
                <a:ea typeface="DM Sans" pitchFamily="34" charset="-122"/>
                <a:cs typeface="DM Sans" pitchFamily="34" charset="-120"/>
              </a:rPr>
              <a:t> several other hyperparameters that control the ensemble's behavior and performance characteristics.</a:t>
            </a:r>
            <a:endParaRPr lang="en-US" sz="1800" dirty="0">
              <a:solidFill>
                <a:schemeClr val="tx1"/>
              </a:solidFill>
              <a:latin typeface="PT Serif" panose="020A0603040505020204" pitchFamily="18" charset="0"/>
            </a:endParaRPr>
          </a:p>
        </p:txBody>
      </p:sp>
      <p:graphicFrame>
        <p:nvGraphicFramePr>
          <p:cNvPr id="5" name="Table 5">
            <a:extLst>
              <a:ext uri="{FF2B5EF4-FFF2-40B4-BE49-F238E27FC236}">
                <a16:creationId xmlns:a16="http://schemas.microsoft.com/office/drawing/2014/main" id="{E4418B4A-BCCB-FB6A-AC84-2254C3368969}"/>
              </a:ext>
            </a:extLst>
          </p:cNvPr>
          <p:cNvGraphicFramePr>
            <a:graphicFrameLocks noGrp="1"/>
          </p:cNvGraphicFramePr>
          <p:nvPr>
            <p:extLst>
              <p:ext uri="{D42A27DB-BD31-4B8C-83A1-F6EECF244321}">
                <p14:modId xmlns:p14="http://schemas.microsoft.com/office/powerpoint/2010/main" val="2650645146"/>
              </p:ext>
            </p:extLst>
          </p:nvPr>
        </p:nvGraphicFramePr>
        <p:xfrm>
          <a:off x="838200" y="2667000"/>
          <a:ext cx="12039600" cy="4959288"/>
        </p:xfrm>
        <a:graphic>
          <a:graphicData uri="http://schemas.openxmlformats.org/drawingml/2006/table">
            <a:tbl>
              <a:tblPr firstRow="1" bandRow="1">
                <a:tableStyleId>{7DF18680-E054-41AD-8BC1-D1AEF772440D}</a:tableStyleId>
              </a:tblPr>
              <a:tblGrid>
                <a:gridCol w="3292078">
                  <a:extLst>
                    <a:ext uri="{9D8B030D-6E8A-4147-A177-3AD203B41FA5}">
                      <a16:colId xmlns:a16="http://schemas.microsoft.com/office/drawing/2014/main" val="834471386"/>
                    </a:ext>
                  </a:extLst>
                </a:gridCol>
                <a:gridCol w="8747522">
                  <a:extLst>
                    <a:ext uri="{9D8B030D-6E8A-4147-A177-3AD203B41FA5}">
                      <a16:colId xmlns:a16="http://schemas.microsoft.com/office/drawing/2014/main" val="643843265"/>
                    </a:ext>
                  </a:extLst>
                </a:gridCol>
              </a:tblGrid>
              <a:tr h="370840">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1" dirty="0">
                          <a:solidFill>
                            <a:srgbClr val="383838"/>
                          </a:solidFill>
                          <a:latin typeface="PT Serif" panose="020A0603040505020204" pitchFamily="18" charset="0"/>
                        </a:rPr>
                        <a:t>Hyperparameter</a:t>
                      </a:r>
                      <a:endParaRPr lang="en-US" sz="2000" dirty="0">
                        <a:latin typeface="PT Serif" panose="020A0603040505020204" pitchFamily="18" charset="0"/>
                      </a:endParaRPr>
                    </a:p>
                    <a:p>
                      <a:endParaRPr lang="en-IN" sz="2000" dirty="0">
                        <a:latin typeface="PT Serif" panose="020A06030405050202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2000" b="1" dirty="0">
                          <a:solidFill>
                            <a:srgbClr val="383838"/>
                          </a:solidFill>
                          <a:latin typeface="PT Serif" panose="020A0603040505020204" pitchFamily="18" charset="0"/>
                        </a:rPr>
                        <a:t>Description</a:t>
                      </a:r>
                      <a:endParaRPr lang="en-US" sz="2000" dirty="0">
                        <a:latin typeface="PT Serif" panose="020A0603040505020204" pitchFamily="18" charset="0"/>
                      </a:endParaRPr>
                    </a:p>
                    <a:p>
                      <a:endParaRPr lang="en-IN" sz="2000" dirty="0">
                        <a:latin typeface="PT Serif" panose="020A0603040505020204" pitchFamily="18" charset="0"/>
                      </a:endParaRPr>
                    </a:p>
                  </a:txBody>
                  <a:tcPr/>
                </a:tc>
                <a:extLst>
                  <a:ext uri="{0D108BD9-81ED-4DB2-BD59-A6C34878D82A}">
                    <a16:rowId xmlns:a16="http://schemas.microsoft.com/office/drawing/2014/main" val="460194719"/>
                  </a:ext>
                </a:extLst>
              </a:tr>
              <a:tr h="370840">
                <a:tc>
                  <a:txBody>
                    <a:bodyPr/>
                    <a:lstStyle/>
                    <a:p>
                      <a:pPr marL="0" marR="0" lvl="0" indent="0" algn="l" defTabSz="914400" eaLnBrk="1" fontAlgn="auto" latinLnBrk="0" hangingPunct="1">
                        <a:lnSpc>
                          <a:spcPct val="150000"/>
                        </a:lnSpc>
                        <a:spcBef>
                          <a:spcPts val="0"/>
                        </a:spcBef>
                        <a:spcAft>
                          <a:spcPts val="0"/>
                        </a:spcAft>
                        <a:buClrTx/>
                        <a:buSzTx/>
                        <a:buFontTx/>
                        <a:buNone/>
                        <a:tabLst/>
                        <a:defRPr/>
                      </a:pPr>
                      <a:r>
                        <a:rPr lang="en-US" sz="1800" dirty="0">
                          <a:solidFill>
                            <a:srgbClr val="383838"/>
                          </a:solidFill>
                          <a:latin typeface="PT Serif" panose="020A0603040505020204" pitchFamily="18" charset="0"/>
                        </a:rPr>
                        <a:t>n_estimators</a:t>
                      </a:r>
                      <a:endParaRPr lang="en-US" sz="1800" dirty="0">
                        <a:latin typeface="PT Serif" panose="020A0603040505020204" pitchFamily="18" charset="0"/>
                      </a:endParaRPr>
                    </a:p>
                    <a:p>
                      <a:pPr>
                        <a:lnSpc>
                          <a:spcPct val="150000"/>
                        </a:lnSpc>
                      </a:pPr>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50000"/>
                        </a:lnSpc>
                        <a:spcBef>
                          <a:spcPts val="0"/>
                        </a:spcBef>
                        <a:spcAft>
                          <a:spcPts val="0"/>
                        </a:spcAft>
                        <a:buClrTx/>
                        <a:buSzTx/>
                        <a:buFontTx/>
                        <a:buNone/>
                        <a:tabLst/>
                        <a:defRPr/>
                      </a:pPr>
                      <a:r>
                        <a:rPr lang="en-US" sz="1800" dirty="0">
                          <a:solidFill>
                            <a:srgbClr val="383838"/>
                          </a:solidFill>
                          <a:latin typeface="PT Serif" panose="020A0603040505020204" pitchFamily="18" charset="0"/>
                        </a:rPr>
                        <a:t>Maximum number of weak learners to train. More estimators can improve performance but increase training time and risk overfitting.</a:t>
                      </a:r>
                      <a:endParaRPr lang="en-US" sz="1800" dirty="0">
                        <a:latin typeface="PT Serif" panose="020A0603040505020204" pitchFamily="18" charset="0"/>
                      </a:endParaRPr>
                    </a:p>
                    <a:p>
                      <a:pPr>
                        <a:lnSpc>
                          <a:spcPct val="150000"/>
                        </a:lnSpc>
                      </a:pPr>
                      <a:endParaRPr lang="en-IN" dirty="0">
                        <a:latin typeface="PT Serif" panose="020A0603040505020204" pitchFamily="18" charset="0"/>
                      </a:endParaRPr>
                    </a:p>
                  </a:txBody>
                  <a:tcPr/>
                </a:tc>
                <a:extLst>
                  <a:ext uri="{0D108BD9-81ED-4DB2-BD59-A6C34878D82A}">
                    <a16:rowId xmlns:a16="http://schemas.microsoft.com/office/drawing/2014/main" val="603494091"/>
                  </a:ext>
                </a:extLst>
              </a:tr>
              <a:tr h="370840">
                <a:tc>
                  <a:txBody>
                    <a:bodyPr/>
                    <a:lstStyle/>
                    <a:p>
                      <a:pPr marL="0" marR="0" lvl="0" indent="0" algn="l" defTabSz="914400" eaLnBrk="1" fontAlgn="auto" latinLnBrk="0" hangingPunct="1">
                        <a:lnSpc>
                          <a:spcPct val="150000"/>
                        </a:lnSpc>
                        <a:spcBef>
                          <a:spcPts val="0"/>
                        </a:spcBef>
                        <a:spcAft>
                          <a:spcPts val="0"/>
                        </a:spcAft>
                        <a:buClrTx/>
                        <a:buSzTx/>
                        <a:buFontTx/>
                        <a:buNone/>
                        <a:tabLst/>
                        <a:defRPr/>
                      </a:pPr>
                      <a:r>
                        <a:rPr lang="en-US" sz="1800" dirty="0">
                          <a:solidFill>
                            <a:srgbClr val="383838"/>
                          </a:solidFill>
                          <a:latin typeface="PT Serif" panose="020A0603040505020204" pitchFamily="18" charset="0"/>
                        </a:rPr>
                        <a:t>estimator</a:t>
                      </a:r>
                      <a:endParaRPr lang="en-US" sz="1800" dirty="0">
                        <a:latin typeface="PT Serif" panose="020A0603040505020204" pitchFamily="18" charset="0"/>
                      </a:endParaRPr>
                    </a:p>
                    <a:p>
                      <a:pPr>
                        <a:lnSpc>
                          <a:spcPct val="150000"/>
                        </a:lnSpc>
                      </a:pPr>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50000"/>
                        </a:lnSpc>
                        <a:spcBef>
                          <a:spcPts val="0"/>
                        </a:spcBef>
                        <a:spcAft>
                          <a:spcPts val="0"/>
                        </a:spcAft>
                        <a:buClrTx/>
                        <a:buSzTx/>
                        <a:buFontTx/>
                        <a:buNone/>
                        <a:tabLst/>
                        <a:defRPr/>
                      </a:pPr>
                      <a:r>
                        <a:rPr lang="en-US" sz="1800" dirty="0">
                          <a:solidFill>
                            <a:srgbClr val="383838"/>
                          </a:solidFill>
                          <a:latin typeface="PT Serif" panose="020A0603040505020204" pitchFamily="18" charset="0"/>
                        </a:rPr>
                        <a:t>The base weak learner to use. Commonly DecisionTreeClassifier with </a:t>
                      </a:r>
                      <a:r>
                        <a:rPr lang="en-US" sz="1800" dirty="0" err="1">
                          <a:solidFill>
                            <a:srgbClr val="383838"/>
                          </a:solidFill>
                          <a:latin typeface="PT Serif" panose="020A0603040505020204" pitchFamily="18" charset="0"/>
                        </a:rPr>
                        <a:t>max_depth</a:t>
                      </a:r>
                      <a:r>
                        <a:rPr lang="en-US" sz="1800" dirty="0">
                          <a:solidFill>
                            <a:srgbClr val="383838"/>
                          </a:solidFill>
                          <a:latin typeface="PT Serif" panose="020A0603040505020204" pitchFamily="18" charset="0"/>
                        </a:rPr>
                        <a:t>=1 (decision stump).</a:t>
                      </a:r>
                      <a:endParaRPr lang="en-US" sz="1800" dirty="0">
                        <a:latin typeface="PT Serif" panose="020A0603040505020204" pitchFamily="18" charset="0"/>
                      </a:endParaRPr>
                    </a:p>
                    <a:p>
                      <a:pPr>
                        <a:lnSpc>
                          <a:spcPct val="150000"/>
                        </a:lnSpc>
                      </a:pPr>
                      <a:endParaRPr lang="en-IN" dirty="0">
                        <a:latin typeface="PT Serif" panose="020A0603040505020204" pitchFamily="18" charset="0"/>
                      </a:endParaRPr>
                    </a:p>
                  </a:txBody>
                  <a:tcPr/>
                </a:tc>
                <a:extLst>
                  <a:ext uri="{0D108BD9-81ED-4DB2-BD59-A6C34878D82A}">
                    <a16:rowId xmlns:a16="http://schemas.microsoft.com/office/drawing/2014/main" val="819156516"/>
                  </a:ext>
                </a:extLst>
              </a:tr>
              <a:tr h="370840">
                <a:tc>
                  <a:txBody>
                    <a:bodyPr/>
                    <a:lstStyle/>
                    <a:p>
                      <a:pPr marL="0" marR="0" lvl="0" indent="0" algn="l" defTabSz="914400" eaLnBrk="1" fontAlgn="auto" latinLnBrk="0" hangingPunct="1">
                        <a:lnSpc>
                          <a:spcPct val="150000"/>
                        </a:lnSpc>
                        <a:spcBef>
                          <a:spcPts val="0"/>
                        </a:spcBef>
                        <a:spcAft>
                          <a:spcPts val="0"/>
                        </a:spcAft>
                        <a:buClrTx/>
                        <a:buSzTx/>
                        <a:buFontTx/>
                        <a:buNone/>
                        <a:tabLst/>
                        <a:defRPr/>
                      </a:pPr>
                      <a:r>
                        <a:rPr lang="en-US" sz="1800" dirty="0">
                          <a:solidFill>
                            <a:srgbClr val="383838"/>
                          </a:solidFill>
                          <a:latin typeface="PT Serif" panose="020A0603040505020204" pitchFamily="18" charset="0"/>
                        </a:rPr>
                        <a:t>algorithm</a:t>
                      </a:r>
                      <a:endParaRPr lang="en-US" sz="1800" dirty="0">
                        <a:latin typeface="PT Serif" panose="020A0603040505020204" pitchFamily="18" charset="0"/>
                      </a:endParaRPr>
                    </a:p>
                    <a:p>
                      <a:pPr>
                        <a:lnSpc>
                          <a:spcPct val="150000"/>
                        </a:lnSpc>
                      </a:pPr>
                      <a:endParaRPr lang="en-IN" dirty="0">
                        <a:latin typeface="PT Serif" panose="020A0603040505020204" pitchFamily="18" charset="0"/>
                      </a:endParaRPr>
                    </a:p>
                  </a:txBody>
                  <a:tcPr/>
                </a:tc>
                <a:tc>
                  <a:txBody>
                    <a:bodyPr/>
                    <a:lstStyle/>
                    <a:p>
                      <a:pPr marL="0" marR="0" lvl="0" indent="0" algn="l" defTabSz="914400" eaLnBrk="1" fontAlgn="auto" latinLnBrk="0" hangingPunct="1">
                        <a:lnSpc>
                          <a:spcPct val="150000"/>
                        </a:lnSpc>
                        <a:spcBef>
                          <a:spcPts val="0"/>
                        </a:spcBef>
                        <a:spcAft>
                          <a:spcPts val="0"/>
                        </a:spcAft>
                        <a:buClrTx/>
                        <a:buSzTx/>
                        <a:buFontTx/>
                        <a:buNone/>
                        <a:tabLst/>
                        <a:defRPr/>
                      </a:pPr>
                      <a:r>
                        <a:rPr lang="en-US" sz="1800" dirty="0">
                          <a:solidFill>
                            <a:srgbClr val="383838"/>
                          </a:solidFill>
                          <a:latin typeface="PT Serif" panose="020A0603040505020204" pitchFamily="18" charset="0"/>
                        </a:rPr>
                        <a:t>Boosting variation such as SAMME (for discrete predictions) or SAMME.R (for probability estimates, generally faster). </a:t>
                      </a:r>
                      <a:r>
                        <a:rPr lang="en-US" dirty="0">
                          <a:latin typeface="PT Serif" panose="020A0603040505020204" pitchFamily="18" charset="0"/>
                        </a:rPr>
                        <a:t>In </a:t>
                      </a:r>
                      <a:r>
                        <a:rPr lang="en-US" b="1" dirty="0">
                          <a:latin typeface="PT Serif" panose="020A0603040505020204" pitchFamily="18" charset="0"/>
                        </a:rPr>
                        <a:t>newer versions of scikit-learn (1.6+)</a:t>
                      </a:r>
                      <a:r>
                        <a:rPr lang="en-US" dirty="0">
                          <a:latin typeface="PT Serif" panose="020A0603040505020204" pitchFamily="18" charset="0"/>
                        </a:rPr>
                        <a:t>, the </a:t>
                      </a:r>
                      <a:r>
                        <a:rPr lang="en-US" dirty="0">
                          <a:solidFill>
                            <a:schemeClr val="dk1"/>
                          </a:solidFill>
                          <a:latin typeface="PT Serif" panose="020A0603040505020204" pitchFamily="18" charset="0"/>
                          <a:ea typeface="+mn-ea"/>
                          <a:cs typeface="+mn-cs"/>
                        </a:rPr>
                        <a:t>algorithm</a:t>
                      </a:r>
                      <a:r>
                        <a:rPr lang="en-US" dirty="0">
                          <a:latin typeface="PT Serif" panose="020A0603040505020204" pitchFamily="18" charset="0"/>
                        </a:rPr>
                        <a:t> parameter has been </a:t>
                      </a:r>
                      <a:r>
                        <a:rPr lang="en-US" b="1" dirty="0">
                          <a:latin typeface="PT Serif" panose="020A0603040505020204" pitchFamily="18" charset="0"/>
                        </a:rPr>
                        <a:t>deprecated/removed</a:t>
                      </a:r>
                      <a:r>
                        <a:rPr lang="en-US" dirty="0">
                          <a:latin typeface="PT Serif" panose="020A0603040505020204" pitchFamily="18" charset="0"/>
                        </a:rPr>
                        <a:t>, and only the equivalent of </a:t>
                      </a:r>
                      <a:r>
                        <a:rPr lang="en-US" dirty="0">
                          <a:solidFill>
                            <a:schemeClr val="dk1"/>
                          </a:solidFill>
                          <a:latin typeface="PT Serif" panose="020A0603040505020204" pitchFamily="18" charset="0"/>
                          <a:ea typeface="+mn-ea"/>
                          <a:cs typeface="+mn-cs"/>
                        </a:rPr>
                        <a:t>SAMME</a:t>
                      </a:r>
                      <a:r>
                        <a:rPr lang="en-US" dirty="0">
                          <a:latin typeface="PT Serif" panose="020A0603040505020204" pitchFamily="18" charset="0"/>
                        </a:rPr>
                        <a:t> is used internally.</a:t>
                      </a:r>
                      <a:endParaRPr lang="en-US" sz="1800" dirty="0">
                        <a:latin typeface="PT Serif" panose="020A0603040505020204" pitchFamily="18" charset="0"/>
                      </a:endParaRPr>
                    </a:p>
                  </a:txBody>
                  <a:tcPr/>
                </a:tc>
                <a:extLst>
                  <a:ext uri="{0D108BD9-81ED-4DB2-BD59-A6C34878D82A}">
                    <a16:rowId xmlns:a16="http://schemas.microsoft.com/office/drawing/2014/main" val="2743432098"/>
                  </a:ext>
                </a:extLst>
              </a:tr>
            </a:tbl>
          </a:graphicData>
        </a:graphic>
      </p:graphicFrame>
    </p:spTree>
    <p:extLst>
      <p:ext uri="{BB962C8B-B14F-4D97-AF65-F5344CB8AC3E}">
        <p14:creationId xmlns:p14="http://schemas.microsoft.com/office/powerpoint/2010/main" val="383787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717" y="-29594"/>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The Final Model Prediction</a:t>
            </a:r>
            <a:endParaRPr lang="en-US" sz="3600" dirty="0">
              <a:solidFill>
                <a:schemeClr val="tx1"/>
              </a:solidFill>
            </a:endParaRPr>
          </a:p>
        </p:txBody>
      </p:sp>
      <p:sp>
        <p:nvSpPr>
          <p:cNvPr id="13" name="Shape 5">
            <a:extLst>
              <a:ext uri="{FF2B5EF4-FFF2-40B4-BE49-F238E27FC236}">
                <a16:creationId xmlns:a16="http://schemas.microsoft.com/office/drawing/2014/main" id="{E7C49C67-C298-4068-CA76-A4C08A84BF5C}"/>
              </a:ext>
            </a:extLst>
          </p:cNvPr>
          <p:cNvSpPr/>
          <p:nvPr/>
        </p:nvSpPr>
        <p:spPr>
          <a:xfrm>
            <a:off x="5241878" y="3391143"/>
            <a:ext cx="4164095" cy="3756519"/>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63675" y="3391144"/>
            <a:ext cx="3699498" cy="4865280"/>
          </a:xfrm>
          <a:prstGeom prst="rect">
            <a:avLst/>
          </a:prstGeom>
          <a:noFill/>
          <a:ln/>
        </p:spPr>
        <p:txBody>
          <a:bodyPr wrap="square" lIns="0" tIns="0" rIns="0" bIns="0" rtlCol="0" anchor="t"/>
          <a:lstStyle/>
          <a:p>
            <a:pPr marL="0" indent="0" algn="l">
              <a:lnSpc>
                <a:spcPct val="200000"/>
              </a:lnSpc>
              <a:buNone/>
            </a:pPr>
            <a:r>
              <a:rPr lang="en-US" sz="2400" dirty="0">
                <a:latin typeface="PT Serif" panose="020A0603040505020204" pitchFamily="18" charset="0"/>
              </a:rPr>
              <a:t>αₘ </a:t>
            </a: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The weight assigned to weak learner m. Calculated based on the learner's error rate: better performance yields higher weight.</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5197695"/>
            <a:ext cx="3818692" cy="127015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98113" y="3438291"/>
            <a:ext cx="3818573" cy="3724068"/>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62254" y="3429742"/>
            <a:ext cx="3347385"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sign(·)</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The sign function returns the final classification by determining whether the weighted sum is positive or negative.</a:t>
            </a:r>
            <a:endParaRPr lang="en-US" sz="18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4110303"/>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85800" y="3391145"/>
            <a:ext cx="3976821" cy="3756520"/>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915993" y="3391144"/>
            <a:ext cx="3390945" cy="2476441"/>
          </a:xfrm>
          <a:prstGeom prst="rect">
            <a:avLst/>
          </a:prstGeom>
          <a:noFill/>
          <a:ln/>
        </p:spPr>
        <p:txBody>
          <a:bodyPr wrap="square" lIns="0" tIns="0" rIns="0" bIns="0" rtlCol="0" anchor="t"/>
          <a:lstStyle/>
          <a:p>
            <a:pPr algn="l">
              <a:lnSpc>
                <a:spcPct val="200000"/>
              </a:lnSpc>
            </a:pPr>
            <a:r>
              <a:rPr lang="en-US" sz="2400" dirty="0">
                <a:latin typeface="PT Serif" panose="020A0603040505020204" pitchFamily="18" charset="0"/>
              </a:rPr>
              <a:t>hₘ(x) </a:t>
            </a:r>
          </a:p>
          <a:p>
            <a:pPr algn="l">
              <a:lnSpc>
                <a:spcPct val="200000"/>
              </a:lnSpc>
            </a:pPr>
            <a:r>
              <a:rPr lang="en-US" sz="1800" dirty="0">
                <a:solidFill>
                  <a:schemeClr val="tx1"/>
                </a:solidFill>
                <a:latin typeface="PT Serif" panose="020A0603040505020204" pitchFamily="18" charset="0"/>
                <a:ea typeface="DM Sans" pitchFamily="34" charset="-122"/>
                <a:cs typeface="DM Sans" pitchFamily="34" charset="-120"/>
              </a:rPr>
              <a:t>The prediction from weak learner m on input x. This is typically +1 or -1 for binary classification.</a:t>
            </a:r>
            <a:endParaRPr lang="en-US" sz="1800" dirty="0">
              <a:solidFill>
                <a:schemeClr val="tx1"/>
              </a:solidFill>
              <a:latin typeface="PT Serif" panose="020A0603040505020204" pitchFamily="18" charset="0"/>
            </a:endParaRPr>
          </a:p>
          <a:p>
            <a:pPr marL="457200" indent="-457200" algn="l">
              <a:lnSpc>
                <a:spcPct val="200000"/>
              </a:lnSpc>
              <a:buAutoNum type="arabicPeriod"/>
            </a:pPr>
            <a:endParaRPr lang="en-US" sz="24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2" name="TextBox 11">
            <a:extLst>
              <a:ext uri="{FF2B5EF4-FFF2-40B4-BE49-F238E27FC236}">
                <a16:creationId xmlns:a16="http://schemas.microsoft.com/office/drawing/2014/main" id="{FDC4DA48-35D7-6A07-2464-343D25168B61}"/>
              </a:ext>
            </a:extLst>
          </p:cNvPr>
          <p:cNvSpPr txBox="1"/>
          <p:nvPr/>
        </p:nvSpPr>
        <p:spPr>
          <a:xfrm>
            <a:off x="673078" y="1081938"/>
            <a:ext cx="13077091"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The final AdaBoost model combines all weak learners through a weighted voting mechanism. Each weak learner contributes to the final prediction based on its performance during training. </a:t>
            </a:r>
            <a:r>
              <a:rPr lang="en-US" sz="1800" dirty="0">
                <a:latin typeface="PT Serif" panose="020A0603040505020204" pitchFamily="18" charset="0"/>
              </a:rPr>
              <a:t>The final prediction rule is based on :</a:t>
            </a:r>
            <a:r>
              <a:rPr lang="en-IN" dirty="0">
                <a:latin typeface="PT Serif" panose="020A0603040505020204" pitchFamily="18" charset="0"/>
              </a:rPr>
              <a:t> </a:t>
            </a:r>
            <a:endParaRPr lang="en-US" dirty="0">
              <a:solidFill>
                <a:schemeClr val="tx1"/>
              </a:solidFill>
              <a:latin typeface="PT Serif" panose="020A0603040505020204" pitchFamily="18" charset="0"/>
            </a:endParaRPr>
          </a:p>
        </p:txBody>
      </p:sp>
      <p:sp>
        <p:nvSpPr>
          <p:cNvPr id="3" name="TextBox 2">
            <a:extLst>
              <a:ext uri="{FF2B5EF4-FFF2-40B4-BE49-F238E27FC236}">
                <a16:creationId xmlns:a16="http://schemas.microsoft.com/office/drawing/2014/main" id="{425A14F5-39FD-EED0-8BC0-521B349CDCE8}"/>
              </a:ext>
            </a:extLst>
          </p:cNvPr>
          <p:cNvSpPr txBox="1"/>
          <p:nvPr/>
        </p:nvSpPr>
        <p:spPr>
          <a:xfrm>
            <a:off x="762000" y="2286000"/>
            <a:ext cx="5181600" cy="1107996"/>
          </a:xfrm>
          <a:prstGeom prst="rect">
            <a:avLst/>
          </a:prstGeom>
          <a:noFill/>
        </p:spPr>
        <p:txBody>
          <a:bodyPr wrap="square" rtlCol="0">
            <a:spAutoFit/>
          </a:bodyPr>
          <a:lstStyle/>
          <a:p>
            <a:r>
              <a:rPr lang="en-US" sz="2400" dirty="0">
                <a:latin typeface="PT Serif" panose="020A0603040505020204" pitchFamily="18" charset="0"/>
              </a:rPr>
              <a:t>F(x) = ∑ₘ αₘ hₘ(x) </a:t>
            </a:r>
          </a:p>
          <a:p>
            <a:r>
              <a:rPr lang="en-US" sz="2400" dirty="0">
                <a:latin typeface="PT Serif" panose="020A0603040505020204" pitchFamily="18" charset="0"/>
              </a:rPr>
              <a:t>ŷ = sign( F(x) )</a:t>
            </a:r>
            <a:endParaRPr lang="en-IN" sz="2400" dirty="0">
              <a:latin typeface="PT Serif" panose="020A0603040505020204" pitchFamily="18" charset="0"/>
            </a:endParaRPr>
          </a:p>
          <a:p>
            <a:endParaRPr lang="en-IN" dirty="0"/>
          </a:p>
        </p:txBody>
      </p:sp>
      <p:sp>
        <p:nvSpPr>
          <p:cNvPr id="4" name="TextBox 3">
            <a:extLst>
              <a:ext uri="{FF2B5EF4-FFF2-40B4-BE49-F238E27FC236}">
                <a16:creationId xmlns:a16="http://schemas.microsoft.com/office/drawing/2014/main" id="{64CC712A-C4F3-2121-7086-966FB3E34999}"/>
              </a:ext>
            </a:extLst>
          </p:cNvPr>
          <p:cNvSpPr txBox="1"/>
          <p:nvPr/>
        </p:nvSpPr>
        <p:spPr>
          <a:xfrm>
            <a:off x="838200" y="7391400"/>
            <a:ext cx="11430000" cy="338554"/>
          </a:xfrm>
          <a:prstGeom prst="rect">
            <a:avLst/>
          </a:prstGeom>
          <a:noFill/>
        </p:spPr>
        <p:txBody>
          <a:bodyPr wrap="square" rtlCol="0">
            <a:spAutoFit/>
          </a:bodyPr>
          <a:lstStyle/>
          <a:p>
            <a:r>
              <a:rPr lang="en-US" sz="1600" b="1" dirty="0">
                <a:latin typeface="PT Serif" panose="020A0603040505020204" pitchFamily="18" charset="0"/>
              </a:rPr>
              <a:t>Please refer to the pdf for ‘Mathematical Equations Of </a:t>
            </a:r>
            <a:r>
              <a:rPr lang="en-US" sz="1600" b="1" dirty="0" err="1">
                <a:latin typeface="PT Serif" panose="020A0603040505020204" pitchFamily="18" charset="0"/>
              </a:rPr>
              <a:t>Adaboost</a:t>
            </a:r>
            <a:r>
              <a:rPr lang="en-US" sz="1600" b="1" dirty="0">
                <a:latin typeface="PT Serif" panose="020A0603040505020204" pitchFamily="18" charset="0"/>
              </a:rPr>
              <a:t> Method’.</a:t>
            </a:r>
            <a:endParaRPr lang="en-IN" sz="1600" b="1" dirty="0">
              <a:latin typeface="PT Serif" panose="020A0603040505020204" pitchFamily="18" charset="0"/>
            </a:endParaRPr>
          </a:p>
        </p:txBody>
      </p:sp>
    </p:spTree>
    <p:extLst>
      <p:ext uri="{BB962C8B-B14F-4D97-AF65-F5344CB8AC3E}">
        <p14:creationId xmlns:p14="http://schemas.microsoft.com/office/powerpoint/2010/main" val="4278054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5CB1C-B5B0-5CA1-C05E-E4AA920FC73D}"/>
              </a:ext>
            </a:extLst>
          </p:cNvPr>
          <p:cNvSpPr>
            <a:spLocks noGrp="1"/>
          </p:cNvSpPr>
          <p:nvPr>
            <p:ph type="title"/>
          </p:nvPr>
        </p:nvSpPr>
        <p:spPr>
          <a:xfrm>
            <a:off x="499204" y="304800"/>
            <a:ext cx="13656055" cy="923330"/>
          </a:xfrm>
        </p:spPr>
        <p:txBody>
          <a:bodyPr/>
          <a:lstStyle/>
          <a:p>
            <a:r>
              <a:rPr lang="en-IN" sz="3600" dirty="0"/>
              <a:t>Example - Data snapshot</a:t>
            </a:r>
            <a:br>
              <a:rPr lang="en-IN" sz="3600" dirty="0"/>
            </a:br>
            <a:r>
              <a:rPr lang="en-IN" sz="2400" dirty="0"/>
              <a:t>Campaign Response Model</a:t>
            </a:r>
            <a:endParaRPr lang="en-IN" sz="3600" dirty="0"/>
          </a:p>
        </p:txBody>
      </p:sp>
      <p:graphicFrame>
        <p:nvGraphicFramePr>
          <p:cNvPr id="3" name="Table 3">
            <a:extLst>
              <a:ext uri="{FF2B5EF4-FFF2-40B4-BE49-F238E27FC236}">
                <a16:creationId xmlns:a16="http://schemas.microsoft.com/office/drawing/2014/main" id="{3AEF6482-790A-8ED5-23B3-16552187C1A5}"/>
              </a:ext>
            </a:extLst>
          </p:cNvPr>
          <p:cNvGraphicFramePr>
            <a:graphicFrameLocks noGrp="1"/>
          </p:cNvGraphicFramePr>
          <p:nvPr>
            <p:extLst>
              <p:ext uri="{D42A27DB-BD31-4B8C-83A1-F6EECF244321}">
                <p14:modId xmlns:p14="http://schemas.microsoft.com/office/powerpoint/2010/main" val="291759538"/>
              </p:ext>
            </p:extLst>
          </p:nvPr>
        </p:nvGraphicFramePr>
        <p:xfrm>
          <a:off x="499204" y="1600200"/>
          <a:ext cx="13457433" cy="4256716"/>
        </p:xfrm>
        <a:graphic>
          <a:graphicData uri="http://schemas.openxmlformats.org/drawingml/2006/table">
            <a:tbl>
              <a:tblPr firstRow="1" bandRow="1">
                <a:tableStyleId>{5C22544A-7EE6-4342-B048-85BDC9FD1C3A}</a:tableStyleId>
              </a:tblPr>
              <a:tblGrid>
                <a:gridCol w="960628">
                  <a:extLst>
                    <a:ext uri="{9D8B030D-6E8A-4147-A177-3AD203B41FA5}">
                      <a16:colId xmlns:a16="http://schemas.microsoft.com/office/drawing/2014/main" val="43670245"/>
                    </a:ext>
                  </a:extLst>
                </a:gridCol>
                <a:gridCol w="990600">
                  <a:extLst>
                    <a:ext uri="{9D8B030D-6E8A-4147-A177-3AD203B41FA5}">
                      <a16:colId xmlns:a16="http://schemas.microsoft.com/office/drawing/2014/main" val="275384108"/>
                    </a:ext>
                  </a:extLst>
                </a:gridCol>
                <a:gridCol w="1219200">
                  <a:extLst>
                    <a:ext uri="{9D8B030D-6E8A-4147-A177-3AD203B41FA5}">
                      <a16:colId xmlns:a16="http://schemas.microsoft.com/office/drawing/2014/main" val="1201689149"/>
                    </a:ext>
                  </a:extLst>
                </a:gridCol>
                <a:gridCol w="685800">
                  <a:extLst>
                    <a:ext uri="{9D8B030D-6E8A-4147-A177-3AD203B41FA5}">
                      <a16:colId xmlns:a16="http://schemas.microsoft.com/office/drawing/2014/main" val="3995835602"/>
                    </a:ext>
                  </a:extLst>
                </a:gridCol>
                <a:gridCol w="1371600">
                  <a:extLst>
                    <a:ext uri="{9D8B030D-6E8A-4147-A177-3AD203B41FA5}">
                      <a16:colId xmlns:a16="http://schemas.microsoft.com/office/drawing/2014/main" val="3202338437"/>
                    </a:ext>
                  </a:extLst>
                </a:gridCol>
                <a:gridCol w="1447800">
                  <a:extLst>
                    <a:ext uri="{9D8B030D-6E8A-4147-A177-3AD203B41FA5}">
                      <a16:colId xmlns:a16="http://schemas.microsoft.com/office/drawing/2014/main" val="3655286542"/>
                    </a:ext>
                  </a:extLst>
                </a:gridCol>
                <a:gridCol w="1447800">
                  <a:extLst>
                    <a:ext uri="{9D8B030D-6E8A-4147-A177-3AD203B41FA5}">
                      <a16:colId xmlns:a16="http://schemas.microsoft.com/office/drawing/2014/main" val="2524256659"/>
                    </a:ext>
                  </a:extLst>
                </a:gridCol>
                <a:gridCol w="1295400">
                  <a:extLst>
                    <a:ext uri="{9D8B030D-6E8A-4147-A177-3AD203B41FA5}">
                      <a16:colId xmlns:a16="http://schemas.microsoft.com/office/drawing/2014/main" val="3592117911"/>
                    </a:ext>
                  </a:extLst>
                </a:gridCol>
                <a:gridCol w="1371600">
                  <a:extLst>
                    <a:ext uri="{9D8B030D-6E8A-4147-A177-3AD203B41FA5}">
                      <a16:colId xmlns:a16="http://schemas.microsoft.com/office/drawing/2014/main" val="3003064126"/>
                    </a:ext>
                  </a:extLst>
                </a:gridCol>
                <a:gridCol w="1295400">
                  <a:extLst>
                    <a:ext uri="{9D8B030D-6E8A-4147-A177-3AD203B41FA5}">
                      <a16:colId xmlns:a16="http://schemas.microsoft.com/office/drawing/2014/main" val="3484397359"/>
                    </a:ext>
                  </a:extLst>
                </a:gridCol>
                <a:gridCol w="1371605">
                  <a:extLst>
                    <a:ext uri="{9D8B030D-6E8A-4147-A177-3AD203B41FA5}">
                      <a16:colId xmlns:a16="http://schemas.microsoft.com/office/drawing/2014/main" val="4224849389"/>
                    </a:ext>
                  </a:extLst>
                </a:gridCol>
              </a:tblGrid>
              <a:tr h="990601">
                <a:tc>
                  <a:txBody>
                    <a:bodyPr/>
                    <a:lstStyle/>
                    <a:p>
                      <a:pPr algn="r" fontAlgn="ctr"/>
                      <a:br>
                        <a:rPr lang="en-IN" b="1" dirty="0">
                          <a:effectLst/>
                          <a:latin typeface="PT Serif" panose="020A0603040505020204" pitchFamily="18" charset="0"/>
                        </a:rPr>
                      </a:br>
                      <a:r>
                        <a:rPr lang="en-IN" b="1" dirty="0" err="1">
                          <a:effectLst/>
                          <a:latin typeface="PT Serif" panose="020A0603040505020204" pitchFamily="18" charset="0"/>
                        </a:rPr>
                        <a:t>Custid</a:t>
                      </a:r>
                      <a:endParaRPr lang="en-IN" b="1" dirty="0">
                        <a:effectLst/>
                        <a:latin typeface="PT Serif" panose="020A0603040505020204" pitchFamily="18" charset="0"/>
                      </a:endParaRPr>
                    </a:p>
                  </a:txBody>
                  <a:tcPr anchor="ctr"/>
                </a:tc>
                <a:tc>
                  <a:txBody>
                    <a:bodyPr/>
                    <a:lstStyle/>
                    <a:p>
                      <a:pPr algn="r" fontAlgn="ctr"/>
                      <a:r>
                        <a:rPr lang="en-IN" b="1" dirty="0">
                          <a:effectLst/>
                          <a:latin typeface="PT Serif" panose="020A0603040505020204" pitchFamily="18" charset="0"/>
                        </a:rPr>
                        <a:t>Age</a:t>
                      </a:r>
                    </a:p>
                  </a:txBody>
                  <a:tcPr anchor="ctr"/>
                </a:tc>
                <a:tc>
                  <a:txBody>
                    <a:bodyPr/>
                    <a:lstStyle/>
                    <a:p>
                      <a:pPr algn="r" fontAlgn="ctr"/>
                      <a:r>
                        <a:rPr lang="en-IN" b="1" dirty="0">
                          <a:effectLst/>
                          <a:latin typeface="PT Serif" panose="020A0603040505020204" pitchFamily="18" charset="0"/>
                        </a:rPr>
                        <a:t>Gender</a:t>
                      </a:r>
                    </a:p>
                  </a:txBody>
                  <a:tcPr anchor="ctr"/>
                </a:tc>
                <a:tc>
                  <a:txBody>
                    <a:bodyPr/>
                    <a:lstStyle/>
                    <a:p>
                      <a:pPr algn="r" fontAlgn="ctr"/>
                      <a:r>
                        <a:rPr lang="en-IN" b="1">
                          <a:effectLst/>
                          <a:latin typeface="PT Serif" panose="020A0603040505020204" pitchFamily="18" charset="0"/>
                        </a:rPr>
                        <a:t>MS</a:t>
                      </a:r>
                    </a:p>
                  </a:txBody>
                  <a:tcPr anchor="ctr"/>
                </a:tc>
                <a:tc>
                  <a:txBody>
                    <a:bodyPr/>
                    <a:lstStyle/>
                    <a:p>
                      <a:pPr algn="r" fontAlgn="ctr"/>
                      <a:r>
                        <a:rPr lang="en-IN" b="1" dirty="0">
                          <a:effectLst/>
                          <a:latin typeface="PT Serif" panose="020A0603040505020204" pitchFamily="18" charset="0"/>
                        </a:rPr>
                        <a:t>Response</a:t>
                      </a:r>
                    </a:p>
                  </a:txBody>
                  <a:tcPr anchor="ctr"/>
                </a:tc>
                <a:tc>
                  <a:txBody>
                    <a:bodyPr/>
                    <a:lstStyle/>
                    <a:p>
                      <a:pPr algn="r" fontAlgn="ctr"/>
                      <a:r>
                        <a:rPr lang="en-IN" b="1" dirty="0" err="1">
                          <a:effectLst/>
                          <a:latin typeface="PT Serif" panose="020A0603040505020204" pitchFamily="18" charset="0"/>
                        </a:rPr>
                        <a:t>Pre_Month</a:t>
                      </a:r>
                      <a:endParaRPr lang="en-IN" b="1" dirty="0">
                        <a:effectLst/>
                        <a:latin typeface="PT Serif" panose="020A0603040505020204" pitchFamily="18" charset="0"/>
                      </a:endParaRPr>
                    </a:p>
                  </a:txBody>
                  <a:tcPr anchor="ctr"/>
                </a:tc>
                <a:tc>
                  <a:txBody>
                    <a:bodyPr/>
                    <a:lstStyle/>
                    <a:p>
                      <a:pPr algn="r" fontAlgn="ctr"/>
                      <a:r>
                        <a:rPr lang="en-IN" b="1" dirty="0" err="1">
                          <a:effectLst/>
                          <a:latin typeface="PT Serif" panose="020A0603040505020204" pitchFamily="18" charset="0"/>
                        </a:rPr>
                        <a:t>N_Products</a:t>
                      </a:r>
                      <a:endParaRPr lang="en-IN" b="1" dirty="0">
                        <a:effectLst/>
                        <a:latin typeface="PT Serif" panose="020A0603040505020204" pitchFamily="18" charset="0"/>
                      </a:endParaRPr>
                    </a:p>
                  </a:txBody>
                  <a:tcPr anchor="ctr"/>
                </a:tc>
                <a:tc>
                  <a:txBody>
                    <a:bodyPr/>
                    <a:lstStyle/>
                    <a:p>
                      <a:pPr algn="r" fontAlgn="ctr"/>
                      <a:r>
                        <a:rPr lang="en-IN" b="1" dirty="0" err="1">
                          <a:effectLst/>
                          <a:latin typeface="PT Serif" panose="020A0603040505020204" pitchFamily="18" charset="0"/>
                        </a:rPr>
                        <a:t>N_Service</a:t>
                      </a:r>
                      <a:endParaRPr lang="en-IN" b="1" dirty="0">
                        <a:effectLst/>
                        <a:latin typeface="PT Serif" panose="020A0603040505020204" pitchFamily="18" charset="0"/>
                      </a:endParaRPr>
                    </a:p>
                  </a:txBody>
                  <a:tcPr anchor="ctr"/>
                </a:tc>
                <a:tc>
                  <a:txBody>
                    <a:bodyPr/>
                    <a:lstStyle/>
                    <a:p>
                      <a:pPr algn="r" fontAlgn="ctr"/>
                      <a:r>
                        <a:rPr lang="en-IN" b="1" dirty="0">
                          <a:effectLst/>
                          <a:latin typeface="PT Serif" panose="020A0603040505020204" pitchFamily="18" charset="0"/>
                        </a:rPr>
                        <a:t>BillAmt_1</a:t>
                      </a:r>
                    </a:p>
                  </a:txBody>
                  <a:tcPr anchor="ctr"/>
                </a:tc>
                <a:tc>
                  <a:txBody>
                    <a:bodyPr/>
                    <a:lstStyle/>
                    <a:p>
                      <a:pPr algn="r" fontAlgn="ctr"/>
                      <a:r>
                        <a:rPr lang="en-IN" b="1" dirty="0">
                          <a:effectLst/>
                          <a:latin typeface="PT Serif" panose="020A0603040505020204" pitchFamily="18" charset="0"/>
                        </a:rPr>
                        <a:t>BillAmt_2</a:t>
                      </a:r>
                    </a:p>
                  </a:txBody>
                  <a:tcPr anchor="ctr"/>
                </a:tc>
                <a:tc>
                  <a:txBody>
                    <a:bodyPr/>
                    <a:lstStyle/>
                    <a:p>
                      <a:pPr algn="r" fontAlgn="ctr"/>
                      <a:r>
                        <a:rPr lang="en-IN" b="1" dirty="0">
                          <a:effectLst/>
                          <a:latin typeface="PT Serif" panose="020A0603040505020204" pitchFamily="18" charset="0"/>
                        </a:rPr>
                        <a:t>BillAmt_3</a:t>
                      </a:r>
                    </a:p>
                  </a:txBody>
                  <a:tcPr anchor="ctr"/>
                </a:tc>
                <a:extLst>
                  <a:ext uri="{0D108BD9-81ED-4DB2-BD59-A6C34878D82A}">
                    <a16:rowId xmlns:a16="http://schemas.microsoft.com/office/drawing/2014/main" val="3756112681"/>
                  </a:ext>
                </a:extLst>
              </a:tr>
              <a:tr h="653223">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2</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2</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dirty="0">
                          <a:effectLst/>
                          <a:latin typeface="PT Serif" panose="020A0603040505020204" pitchFamily="18" charset="0"/>
                        </a:rPr>
                        <a:t>2</a:t>
                      </a:r>
                    </a:p>
                  </a:txBody>
                  <a:tcPr anchor="ctr"/>
                </a:tc>
                <a:tc>
                  <a:txBody>
                    <a:bodyPr/>
                    <a:lstStyle/>
                    <a:p>
                      <a:pPr algn="r" fontAlgn="ctr"/>
                      <a:r>
                        <a:rPr lang="en-IN">
                          <a:effectLst/>
                          <a:latin typeface="PT Serif" panose="020A0603040505020204" pitchFamily="18" charset="0"/>
                        </a:rPr>
                        <a:t>15</a:t>
                      </a:r>
                    </a:p>
                  </a:txBody>
                  <a:tcPr anchor="ctr"/>
                </a:tc>
                <a:tc>
                  <a:txBody>
                    <a:bodyPr/>
                    <a:lstStyle/>
                    <a:p>
                      <a:pPr algn="r" fontAlgn="ctr"/>
                      <a:r>
                        <a:rPr lang="en-IN">
                          <a:effectLst/>
                          <a:latin typeface="PT Serif" panose="020A0603040505020204" pitchFamily="18" charset="0"/>
                        </a:rPr>
                        <a:t>24</a:t>
                      </a:r>
                    </a:p>
                  </a:txBody>
                  <a:tcPr anchor="ctr"/>
                </a:tc>
                <a:tc>
                  <a:txBody>
                    <a:bodyPr/>
                    <a:lstStyle/>
                    <a:p>
                      <a:pPr algn="r" fontAlgn="ctr"/>
                      <a:r>
                        <a:rPr lang="en-IN">
                          <a:effectLst/>
                          <a:latin typeface="PT Serif" panose="020A0603040505020204" pitchFamily="18" charset="0"/>
                        </a:rPr>
                        <a:t>12.34</a:t>
                      </a:r>
                    </a:p>
                  </a:txBody>
                  <a:tcPr anchor="ctr"/>
                </a:tc>
                <a:tc>
                  <a:txBody>
                    <a:bodyPr/>
                    <a:lstStyle/>
                    <a:p>
                      <a:pPr algn="r" fontAlgn="ctr"/>
                      <a:r>
                        <a:rPr lang="en-IN">
                          <a:effectLst/>
                          <a:latin typeface="PT Serif" panose="020A0603040505020204" pitchFamily="18" charset="0"/>
                        </a:rPr>
                        <a:t>13.26</a:t>
                      </a:r>
                    </a:p>
                  </a:txBody>
                  <a:tcPr anchor="ctr"/>
                </a:tc>
                <a:tc>
                  <a:txBody>
                    <a:bodyPr/>
                    <a:lstStyle/>
                    <a:p>
                      <a:pPr algn="r" fontAlgn="ctr"/>
                      <a:r>
                        <a:rPr lang="en-IN">
                          <a:effectLst/>
                          <a:latin typeface="PT Serif" panose="020A0603040505020204" pitchFamily="18" charset="0"/>
                        </a:rPr>
                        <a:t>5.88</a:t>
                      </a:r>
                    </a:p>
                  </a:txBody>
                  <a:tcPr anchor="ctr"/>
                </a:tc>
                <a:extLst>
                  <a:ext uri="{0D108BD9-81ED-4DB2-BD59-A6C34878D82A}">
                    <a16:rowId xmlns:a16="http://schemas.microsoft.com/office/drawing/2014/main" val="539770528"/>
                  </a:ext>
                </a:extLst>
              </a:tr>
              <a:tr h="653223">
                <a:tc>
                  <a:txBody>
                    <a:bodyPr/>
                    <a:lstStyle/>
                    <a:p>
                      <a:pPr algn="r" fontAlgn="ctr"/>
                      <a:r>
                        <a:rPr lang="en-IN">
                          <a:effectLst/>
                          <a:latin typeface="PT Serif" panose="020A0603040505020204" pitchFamily="18" charset="0"/>
                        </a:rPr>
                        <a:t>2</a:t>
                      </a:r>
                    </a:p>
                  </a:txBody>
                  <a:tcPr anchor="ctr"/>
                </a:tc>
                <a:tc>
                  <a:txBody>
                    <a:bodyPr/>
                    <a:lstStyle/>
                    <a:p>
                      <a:pPr algn="r" fontAlgn="ctr"/>
                      <a:r>
                        <a:rPr lang="en-IN">
                          <a:effectLst/>
                          <a:latin typeface="PT Serif" panose="020A0603040505020204" pitchFamily="18" charset="0"/>
                        </a:rPr>
                        <a:t>2</a:t>
                      </a:r>
                    </a:p>
                  </a:txBody>
                  <a:tcPr anchor="ctr"/>
                </a:tc>
                <a:tc>
                  <a:txBody>
                    <a:bodyPr/>
                    <a:lstStyle/>
                    <a:p>
                      <a:pPr algn="r" fontAlgn="ctr"/>
                      <a:r>
                        <a:rPr lang="en-IN">
                          <a:effectLst/>
                          <a:latin typeface="PT Serif" panose="020A0603040505020204" pitchFamily="18" charset="0"/>
                        </a:rPr>
                        <a:t>2</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0</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22</a:t>
                      </a:r>
                    </a:p>
                  </a:txBody>
                  <a:tcPr anchor="ctr"/>
                </a:tc>
                <a:tc>
                  <a:txBody>
                    <a:bodyPr/>
                    <a:lstStyle/>
                    <a:p>
                      <a:pPr algn="r" fontAlgn="ctr"/>
                      <a:r>
                        <a:rPr lang="en-IN">
                          <a:effectLst/>
                          <a:latin typeface="PT Serif" panose="020A0603040505020204" pitchFamily="18" charset="0"/>
                        </a:rPr>
                        <a:t>29</a:t>
                      </a:r>
                    </a:p>
                  </a:txBody>
                  <a:tcPr anchor="ctr"/>
                </a:tc>
                <a:tc>
                  <a:txBody>
                    <a:bodyPr/>
                    <a:lstStyle/>
                    <a:p>
                      <a:pPr algn="r" fontAlgn="ctr"/>
                      <a:r>
                        <a:rPr lang="en-IN">
                          <a:effectLst/>
                          <a:latin typeface="PT Serif" panose="020A0603040505020204" pitchFamily="18" charset="0"/>
                        </a:rPr>
                        <a:t>18.65</a:t>
                      </a:r>
                    </a:p>
                  </a:txBody>
                  <a:tcPr anchor="ctr"/>
                </a:tc>
                <a:tc>
                  <a:txBody>
                    <a:bodyPr/>
                    <a:lstStyle/>
                    <a:p>
                      <a:pPr algn="r" fontAlgn="ctr"/>
                      <a:r>
                        <a:rPr lang="en-IN">
                          <a:effectLst/>
                          <a:latin typeface="PT Serif" panose="020A0603040505020204" pitchFamily="18" charset="0"/>
                        </a:rPr>
                        <a:t>2.12</a:t>
                      </a:r>
                    </a:p>
                  </a:txBody>
                  <a:tcPr anchor="ctr"/>
                </a:tc>
                <a:tc>
                  <a:txBody>
                    <a:bodyPr/>
                    <a:lstStyle/>
                    <a:p>
                      <a:pPr algn="r" fontAlgn="ctr"/>
                      <a:r>
                        <a:rPr lang="en-IN">
                          <a:effectLst/>
                          <a:latin typeface="PT Serif" panose="020A0603040505020204" pitchFamily="18" charset="0"/>
                        </a:rPr>
                        <a:t>5.13</a:t>
                      </a:r>
                    </a:p>
                  </a:txBody>
                  <a:tcPr anchor="ctr"/>
                </a:tc>
                <a:extLst>
                  <a:ext uri="{0D108BD9-81ED-4DB2-BD59-A6C34878D82A}">
                    <a16:rowId xmlns:a16="http://schemas.microsoft.com/office/drawing/2014/main" val="3509368818"/>
                  </a:ext>
                </a:extLst>
              </a:tr>
              <a:tr h="653223">
                <a:tc>
                  <a:txBody>
                    <a:bodyPr/>
                    <a:lstStyle/>
                    <a:p>
                      <a:pPr algn="r" fontAlgn="ctr"/>
                      <a:r>
                        <a:rPr lang="en-IN">
                          <a:effectLst/>
                          <a:latin typeface="PT Serif" panose="020A0603040505020204" pitchFamily="18" charset="0"/>
                        </a:rPr>
                        <a:t>3</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2</a:t>
                      </a:r>
                    </a:p>
                  </a:txBody>
                  <a:tcPr anchor="ctr"/>
                </a:tc>
                <a:tc>
                  <a:txBody>
                    <a:bodyPr/>
                    <a:lstStyle/>
                    <a:p>
                      <a:pPr algn="r" fontAlgn="ctr"/>
                      <a:r>
                        <a:rPr lang="en-IN">
                          <a:effectLst/>
                          <a:latin typeface="PT Serif" panose="020A0603040505020204" pitchFamily="18" charset="0"/>
                        </a:rPr>
                        <a:t>0</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17</a:t>
                      </a:r>
                    </a:p>
                  </a:txBody>
                  <a:tcPr anchor="ctr"/>
                </a:tc>
                <a:tc>
                  <a:txBody>
                    <a:bodyPr/>
                    <a:lstStyle/>
                    <a:p>
                      <a:pPr algn="r" fontAlgn="ctr"/>
                      <a:r>
                        <a:rPr lang="en-IN" dirty="0">
                          <a:effectLst/>
                          <a:latin typeface="PT Serif" panose="020A0603040505020204" pitchFamily="18" charset="0"/>
                        </a:rPr>
                        <a:t>21</a:t>
                      </a:r>
                    </a:p>
                  </a:txBody>
                  <a:tcPr anchor="ctr"/>
                </a:tc>
                <a:tc>
                  <a:txBody>
                    <a:bodyPr/>
                    <a:lstStyle/>
                    <a:p>
                      <a:pPr algn="r" fontAlgn="ctr"/>
                      <a:r>
                        <a:rPr lang="en-IN" dirty="0">
                          <a:effectLst/>
                          <a:latin typeface="PT Serif" panose="020A0603040505020204" pitchFamily="18" charset="0"/>
                        </a:rPr>
                        <a:t>7.22</a:t>
                      </a:r>
                    </a:p>
                  </a:txBody>
                  <a:tcPr anchor="ctr"/>
                </a:tc>
                <a:tc>
                  <a:txBody>
                    <a:bodyPr/>
                    <a:lstStyle/>
                    <a:p>
                      <a:pPr algn="r" fontAlgn="ctr"/>
                      <a:r>
                        <a:rPr lang="en-IN">
                          <a:effectLst/>
                          <a:latin typeface="PT Serif" panose="020A0603040505020204" pitchFamily="18" charset="0"/>
                        </a:rPr>
                        <a:t>3.31</a:t>
                      </a:r>
                    </a:p>
                  </a:txBody>
                  <a:tcPr anchor="ctr"/>
                </a:tc>
                <a:tc>
                  <a:txBody>
                    <a:bodyPr/>
                    <a:lstStyle/>
                    <a:p>
                      <a:pPr algn="r" fontAlgn="ctr"/>
                      <a:r>
                        <a:rPr lang="en-IN">
                          <a:effectLst/>
                          <a:latin typeface="PT Serif" panose="020A0603040505020204" pitchFamily="18" charset="0"/>
                        </a:rPr>
                        <a:t>3.65</a:t>
                      </a:r>
                    </a:p>
                  </a:txBody>
                  <a:tcPr anchor="ctr"/>
                </a:tc>
                <a:extLst>
                  <a:ext uri="{0D108BD9-81ED-4DB2-BD59-A6C34878D82A}">
                    <a16:rowId xmlns:a16="http://schemas.microsoft.com/office/drawing/2014/main" val="3813797285"/>
                  </a:ext>
                </a:extLst>
              </a:tr>
              <a:tr h="653223">
                <a:tc>
                  <a:txBody>
                    <a:bodyPr/>
                    <a:lstStyle/>
                    <a:p>
                      <a:pPr algn="r" fontAlgn="ctr"/>
                      <a:r>
                        <a:rPr lang="en-IN">
                          <a:effectLst/>
                          <a:latin typeface="PT Serif" panose="020A0603040505020204" pitchFamily="18" charset="0"/>
                        </a:rPr>
                        <a:t>4</a:t>
                      </a:r>
                    </a:p>
                  </a:txBody>
                  <a:tcPr anchor="ctr"/>
                </a:tc>
                <a:tc>
                  <a:txBody>
                    <a:bodyPr/>
                    <a:lstStyle/>
                    <a:p>
                      <a:pPr algn="r" fontAlgn="ctr"/>
                      <a:r>
                        <a:rPr lang="en-IN">
                          <a:effectLst/>
                          <a:latin typeface="PT Serif" panose="020A0603040505020204" pitchFamily="18" charset="0"/>
                        </a:rPr>
                        <a:t>2</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0</a:t>
                      </a:r>
                    </a:p>
                  </a:txBody>
                  <a:tcPr anchor="ctr"/>
                </a:tc>
                <a:tc>
                  <a:txBody>
                    <a:bodyPr/>
                    <a:lstStyle/>
                    <a:p>
                      <a:pPr algn="r" fontAlgn="ctr"/>
                      <a:r>
                        <a:rPr lang="en-IN">
                          <a:effectLst/>
                          <a:latin typeface="PT Serif" panose="020A0603040505020204" pitchFamily="18" charset="0"/>
                        </a:rPr>
                        <a:t>2</a:t>
                      </a:r>
                    </a:p>
                  </a:txBody>
                  <a:tcPr anchor="ctr"/>
                </a:tc>
                <a:tc>
                  <a:txBody>
                    <a:bodyPr/>
                    <a:lstStyle/>
                    <a:p>
                      <a:pPr algn="r" fontAlgn="ctr"/>
                      <a:r>
                        <a:rPr lang="en-IN" dirty="0">
                          <a:effectLst/>
                          <a:latin typeface="PT Serif" panose="020A0603040505020204" pitchFamily="18" charset="0"/>
                        </a:rPr>
                        <a:t>18</a:t>
                      </a:r>
                    </a:p>
                  </a:txBody>
                  <a:tcPr anchor="ctr"/>
                </a:tc>
                <a:tc>
                  <a:txBody>
                    <a:bodyPr/>
                    <a:lstStyle/>
                    <a:p>
                      <a:pPr algn="r" fontAlgn="ctr"/>
                      <a:r>
                        <a:rPr lang="en-IN">
                          <a:effectLst/>
                          <a:latin typeface="PT Serif" panose="020A0603040505020204" pitchFamily="18" charset="0"/>
                        </a:rPr>
                        <a:t>22</a:t>
                      </a:r>
                    </a:p>
                  </a:txBody>
                  <a:tcPr anchor="ctr"/>
                </a:tc>
                <a:tc>
                  <a:txBody>
                    <a:bodyPr/>
                    <a:lstStyle/>
                    <a:p>
                      <a:pPr algn="r" fontAlgn="ctr"/>
                      <a:r>
                        <a:rPr lang="en-IN">
                          <a:effectLst/>
                          <a:latin typeface="PT Serif" panose="020A0603040505020204" pitchFamily="18" charset="0"/>
                        </a:rPr>
                        <a:t>6.15</a:t>
                      </a:r>
                    </a:p>
                  </a:txBody>
                  <a:tcPr anchor="ctr"/>
                </a:tc>
                <a:tc>
                  <a:txBody>
                    <a:bodyPr/>
                    <a:lstStyle/>
                    <a:p>
                      <a:pPr algn="r" fontAlgn="ctr"/>
                      <a:r>
                        <a:rPr lang="en-IN" dirty="0">
                          <a:effectLst/>
                          <a:latin typeface="PT Serif" panose="020A0603040505020204" pitchFamily="18" charset="0"/>
                        </a:rPr>
                        <a:t>2.95</a:t>
                      </a:r>
                    </a:p>
                  </a:txBody>
                  <a:tcPr anchor="ctr"/>
                </a:tc>
                <a:tc>
                  <a:txBody>
                    <a:bodyPr/>
                    <a:lstStyle/>
                    <a:p>
                      <a:pPr algn="r" fontAlgn="ctr"/>
                      <a:r>
                        <a:rPr lang="en-IN" dirty="0">
                          <a:effectLst/>
                          <a:latin typeface="PT Serif" panose="020A0603040505020204" pitchFamily="18" charset="0"/>
                        </a:rPr>
                        <a:t>2.34</a:t>
                      </a:r>
                    </a:p>
                  </a:txBody>
                  <a:tcPr anchor="ctr"/>
                </a:tc>
                <a:extLst>
                  <a:ext uri="{0D108BD9-81ED-4DB2-BD59-A6C34878D82A}">
                    <a16:rowId xmlns:a16="http://schemas.microsoft.com/office/drawing/2014/main" val="698538851"/>
                  </a:ext>
                </a:extLst>
              </a:tr>
              <a:tr h="653223">
                <a:tc>
                  <a:txBody>
                    <a:bodyPr/>
                    <a:lstStyle/>
                    <a:p>
                      <a:pPr algn="r" fontAlgn="ctr"/>
                      <a:r>
                        <a:rPr lang="en-IN" dirty="0">
                          <a:effectLst/>
                          <a:latin typeface="PT Serif" panose="020A0603040505020204" pitchFamily="18" charset="0"/>
                        </a:rPr>
                        <a:t>5</a:t>
                      </a:r>
                    </a:p>
                  </a:txBody>
                  <a:tcPr anchor="ctr"/>
                </a:tc>
                <a:tc>
                  <a:txBody>
                    <a:bodyPr/>
                    <a:lstStyle/>
                    <a:p>
                      <a:pPr algn="r" fontAlgn="ctr"/>
                      <a:r>
                        <a:rPr lang="en-IN">
                          <a:effectLst/>
                          <a:latin typeface="PT Serif" panose="020A0603040505020204" pitchFamily="18" charset="0"/>
                        </a:rPr>
                        <a:t>2</a:t>
                      </a:r>
                    </a:p>
                  </a:txBody>
                  <a:tcPr anchor="ctr"/>
                </a:tc>
                <a:tc>
                  <a:txBody>
                    <a:bodyPr/>
                    <a:lstStyle/>
                    <a:p>
                      <a:pPr algn="r" fontAlgn="ctr"/>
                      <a:r>
                        <a:rPr lang="en-IN" dirty="0">
                          <a:effectLst/>
                          <a:latin typeface="PT Serif" panose="020A0603040505020204" pitchFamily="18" charset="0"/>
                        </a:rPr>
                        <a:t>2</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0</a:t>
                      </a:r>
                    </a:p>
                  </a:txBody>
                  <a:tcPr anchor="ctr"/>
                </a:tc>
                <a:tc>
                  <a:txBody>
                    <a:bodyPr/>
                    <a:lstStyle/>
                    <a:p>
                      <a:pPr algn="r" fontAlgn="ctr"/>
                      <a:r>
                        <a:rPr lang="en-IN">
                          <a:effectLst/>
                          <a:latin typeface="PT Serif" panose="020A0603040505020204" pitchFamily="18" charset="0"/>
                        </a:rPr>
                        <a:t>1</a:t>
                      </a:r>
                    </a:p>
                  </a:txBody>
                  <a:tcPr anchor="ctr"/>
                </a:tc>
                <a:tc>
                  <a:txBody>
                    <a:bodyPr/>
                    <a:lstStyle/>
                    <a:p>
                      <a:pPr algn="r" fontAlgn="ctr"/>
                      <a:r>
                        <a:rPr lang="en-IN">
                          <a:effectLst/>
                          <a:latin typeface="PT Serif" panose="020A0603040505020204" pitchFamily="18" charset="0"/>
                        </a:rPr>
                        <a:t>31</a:t>
                      </a:r>
                    </a:p>
                  </a:txBody>
                  <a:tcPr anchor="ctr"/>
                </a:tc>
                <a:tc>
                  <a:txBody>
                    <a:bodyPr/>
                    <a:lstStyle/>
                    <a:p>
                      <a:pPr algn="r" fontAlgn="ctr"/>
                      <a:r>
                        <a:rPr lang="en-IN">
                          <a:effectLst/>
                          <a:latin typeface="PT Serif" panose="020A0603040505020204" pitchFamily="18" charset="0"/>
                        </a:rPr>
                        <a:t>35</a:t>
                      </a:r>
                    </a:p>
                  </a:txBody>
                  <a:tcPr anchor="ctr"/>
                </a:tc>
                <a:tc>
                  <a:txBody>
                    <a:bodyPr/>
                    <a:lstStyle/>
                    <a:p>
                      <a:pPr algn="r" fontAlgn="ctr"/>
                      <a:r>
                        <a:rPr lang="en-IN">
                          <a:effectLst/>
                          <a:latin typeface="PT Serif" panose="020A0603040505020204" pitchFamily="18" charset="0"/>
                        </a:rPr>
                        <a:t>20.64</a:t>
                      </a:r>
                    </a:p>
                  </a:txBody>
                  <a:tcPr anchor="ctr"/>
                </a:tc>
                <a:tc>
                  <a:txBody>
                    <a:bodyPr/>
                    <a:lstStyle/>
                    <a:p>
                      <a:pPr algn="r" fontAlgn="ctr"/>
                      <a:r>
                        <a:rPr lang="en-IN">
                          <a:effectLst/>
                          <a:latin typeface="PT Serif" panose="020A0603040505020204" pitchFamily="18" charset="0"/>
                        </a:rPr>
                        <a:t>2.67</a:t>
                      </a:r>
                    </a:p>
                  </a:txBody>
                  <a:tcPr anchor="ctr"/>
                </a:tc>
                <a:tc>
                  <a:txBody>
                    <a:bodyPr/>
                    <a:lstStyle/>
                    <a:p>
                      <a:pPr algn="r" fontAlgn="ctr"/>
                      <a:r>
                        <a:rPr lang="en-IN" dirty="0">
                          <a:effectLst/>
                          <a:latin typeface="PT Serif" panose="020A0603040505020204" pitchFamily="18" charset="0"/>
                        </a:rPr>
                        <a:t>4.07</a:t>
                      </a:r>
                    </a:p>
                  </a:txBody>
                  <a:tcPr anchor="ctr"/>
                </a:tc>
                <a:extLst>
                  <a:ext uri="{0D108BD9-81ED-4DB2-BD59-A6C34878D82A}">
                    <a16:rowId xmlns:a16="http://schemas.microsoft.com/office/drawing/2014/main" val="3116554766"/>
                  </a:ext>
                </a:extLst>
              </a:tr>
            </a:tbl>
          </a:graphicData>
        </a:graphic>
      </p:graphicFrame>
    </p:spTree>
    <p:extLst>
      <p:ext uri="{BB962C8B-B14F-4D97-AF65-F5344CB8AC3E}">
        <p14:creationId xmlns:p14="http://schemas.microsoft.com/office/powerpoint/2010/main" val="3328888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57D64-9A3D-ED56-868A-77A069130B04}"/>
              </a:ext>
            </a:extLst>
          </p:cNvPr>
          <p:cNvSpPr>
            <a:spLocks noGrp="1"/>
          </p:cNvSpPr>
          <p:nvPr>
            <p:ph type="title"/>
          </p:nvPr>
        </p:nvSpPr>
        <p:spPr>
          <a:xfrm>
            <a:off x="974345" y="345162"/>
            <a:ext cx="13656055" cy="553998"/>
          </a:xfrm>
        </p:spPr>
        <p:txBody>
          <a:bodyPr/>
          <a:lstStyle/>
          <a:p>
            <a:r>
              <a:rPr lang="en-IN" sz="3600" b="0" i="0" dirty="0">
                <a:solidFill>
                  <a:schemeClr val="tx1"/>
                </a:solidFill>
                <a:effectLst/>
              </a:rPr>
              <a:t>Variable Description</a:t>
            </a:r>
            <a:endParaRPr lang="en-IN" sz="3600" dirty="0">
              <a:solidFill>
                <a:schemeClr val="tx1"/>
              </a:solidFill>
            </a:endParaRPr>
          </a:p>
        </p:txBody>
      </p:sp>
      <p:graphicFrame>
        <p:nvGraphicFramePr>
          <p:cNvPr id="3" name="Table 3">
            <a:extLst>
              <a:ext uri="{FF2B5EF4-FFF2-40B4-BE49-F238E27FC236}">
                <a16:creationId xmlns:a16="http://schemas.microsoft.com/office/drawing/2014/main" id="{AB01CC8D-E2D1-B603-682F-197C45F84470}"/>
              </a:ext>
            </a:extLst>
          </p:cNvPr>
          <p:cNvGraphicFramePr>
            <a:graphicFrameLocks noGrp="1"/>
          </p:cNvGraphicFramePr>
          <p:nvPr>
            <p:extLst>
              <p:ext uri="{D42A27DB-BD31-4B8C-83A1-F6EECF244321}">
                <p14:modId xmlns:p14="http://schemas.microsoft.com/office/powerpoint/2010/main" val="4002481942"/>
              </p:ext>
            </p:extLst>
          </p:nvPr>
        </p:nvGraphicFramePr>
        <p:xfrm>
          <a:off x="1752600" y="1295400"/>
          <a:ext cx="10896600" cy="6035040"/>
        </p:xfrm>
        <a:graphic>
          <a:graphicData uri="http://schemas.openxmlformats.org/drawingml/2006/table">
            <a:tbl>
              <a:tblPr firstRow="1" bandRow="1">
                <a:tableStyleId>{5C22544A-7EE6-4342-B048-85BDC9FD1C3A}</a:tableStyleId>
              </a:tblPr>
              <a:tblGrid>
                <a:gridCol w="2724150">
                  <a:extLst>
                    <a:ext uri="{9D8B030D-6E8A-4147-A177-3AD203B41FA5}">
                      <a16:colId xmlns:a16="http://schemas.microsoft.com/office/drawing/2014/main" val="3401592079"/>
                    </a:ext>
                  </a:extLst>
                </a:gridCol>
                <a:gridCol w="8172450">
                  <a:extLst>
                    <a:ext uri="{9D8B030D-6E8A-4147-A177-3AD203B41FA5}">
                      <a16:colId xmlns:a16="http://schemas.microsoft.com/office/drawing/2014/main" val="3196011175"/>
                    </a:ext>
                  </a:extLst>
                </a:gridCol>
              </a:tblGrid>
              <a:tr h="370840">
                <a:tc>
                  <a:txBody>
                    <a:bodyPr/>
                    <a:lstStyle/>
                    <a:p>
                      <a:pPr fontAlgn="ctr">
                        <a:lnSpc>
                          <a:spcPct val="150000"/>
                        </a:lnSpc>
                      </a:pPr>
                      <a:r>
                        <a:rPr lang="en-IN" b="1" dirty="0">
                          <a:effectLst/>
                          <a:latin typeface="PT Serif" panose="020A0603040505020204" pitchFamily="18" charset="0"/>
                        </a:rPr>
                        <a:t>Column Name</a:t>
                      </a:r>
                    </a:p>
                  </a:txBody>
                  <a:tcPr anchor="ctr"/>
                </a:tc>
                <a:tc>
                  <a:txBody>
                    <a:bodyPr/>
                    <a:lstStyle/>
                    <a:p>
                      <a:pPr fontAlgn="ctr">
                        <a:lnSpc>
                          <a:spcPct val="150000"/>
                        </a:lnSpc>
                      </a:pPr>
                      <a:r>
                        <a:rPr lang="en-IN" b="1">
                          <a:effectLst/>
                          <a:latin typeface="PT Serif" panose="020A0603040505020204" pitchFamily="18" charset="0"/>
                        </a:rPr>
                        <a:t>Description</a:t>
                      </a:r>
                    </a:p>
                  </a:txBody>
                  <a:tcPr anchor="ctr"/>
                </a:tc>
                <a:extLst>
                  <a:ext uri="{0D108BD9-81ED-4DB2-BD59-A6C34878D82A}">
                    <a16:rowId xmlns:a16="http://schemas.microsoft.com/office/drawing/2014/main" val="3983319212"/>
                  </a:ext>
                </a:extLst>
              </a:tr>
              <a:tr h="370840">
                <a:tc>
                  <a:txBody>
                    <a:bodyPr/>
                    <a:lstStyle/>
                    <a:p>
                      <a:pPr fontAlgn="ctr">
                        <a:lnSpc>
                          <a:spcPct val="150000"/>
                        </a:lnSpc>
                      </a:pPr>
                      <a:r>
                        <a:rPr lang="en-IN">
                          <a:effectLst/>
                          <a:latin typeface="PT Serif" panose="020A0603040505020204" pitchFamily="18" charset="0"/>
                        </a:rPr>
                        <a:t>Custid</a:t>
                      </a:r>
                    </a:p>
                  </a:txBody>
                  <a:tcPr anchor="ctr"/>
                </a:tc>
                <a:tc>
                  <a:txBody>
                    <a:bodyPr/>
                    <a:lstStyle/>
                    <a:p>
                      <a:pPr fontAlgn="ctr">
                        <a:lnSpc>
                          <a:spcPct val="150000"/>
                        </a:lnSpc>
                      </a:pPr>
                      <a:r>
                        <a:rPr lang="en-IN">
                          <a:effectLst/>
                          <a:latin typeface="PT Serif" panose="020A0603040505020204" pitchFamily="18" charset="0"/>
                        </a:rPr>
                        <a:t>Unique Customer Identification Code</a:t>
                      </a:r>
                    </a:p>
                  </a:txBody>
                  <a:tcPr anchor="ctr"/>
                </a:tc>
                <a:extLst>
                  <a:ext uri="{0D108BD9-81ED-4DB2-BD59-A6C34878D82A}">
                    <a16:rowId xmlns:a16="http://schemas.microsoft.com/office/drawing/2014/main" val="2293837591"/>
                  </a:ext>
                </a:extLst>
              </a:tr>
              <a:tr h="370840">
                <a:tc>
                  <a:txBody>
                    <a:bodyPr/>
                    <a:lstStyle/>
                    <a:p>
                      <a:pPr fontAlgn="ctr">
                        <a:lnSpc>
                          <a:spcPct val="150000"/>
                        </a:lnSpc>
                      </a:pPr>
                      <a:r>
                        <a:rPr lang="en-IN">
                          <a:effectLst/>
                          <a:latin typeface="PT Serif" panose="020A0603040505020204" pitchFamily="18" charset="0"/>
                        </a:rPr>
                        <a:t>Age</a:t>
                      </a:r>
                    </a:p>
                  </a:txBody>
                  <a:tcPr anchor="ctr"/>
                </a:tc>
                <a:tc>
                  <a:txBody>
                    <a:bodyPr/>
                    <a:lstStyle/>
                    <a:p>
                      <a:pPr fontAlgn="ctr">
                        <a:lnSpc>
                          <a:spcPct val="150000"/>
                        </a:lnSpc>
                      </a:pPr>
                      <a:r>
                        <a:rPr lang="en-US">
                          <a:effectLst/>
                          <a:latin typeface="PT Serif" panose="020A0603040505020204" pitchFamily="18" charset="0"/>
                        </a:rPr>
                        <a:t>Age Group (1: &lt;32 years, 2: 32–48 years, 3: &gt;48 years)</a:t>
                      </a:r>
                    </a:p>
                  </a:txBody>
                  <a:tcPr anchor="ctr"/>
                </a:tc>
                <a:extLst>
                  <a:ext uri="{0D108BD9-81ED-4DB2-BD59-A6C34878D82A}">
                    <a16:rowId xmlns:a16="http://schemas.microsoft.com/office/drawing/2014/main" val="835931400"/>
                  </a:ext>
                </a:extLst>
              </a:tr>
              <a:tr h="370840">
                <a:tc>
                  <a:txBody>
                    <a:bodyPr/>
                    <a:lstStyle/>
                    <a:p>
                      <a:pPr fontAlgn="ctr">
                        <a:lnSpc>
                          <a:spcPct val="150000"/>
                        </a:lnSpc>
                      </a:pPr>
                      <a:r>
                        <a:rPr lang="en-IN">
                          <a:effectLst/>
                          <a:latin typeface="PT Serif" panose="020A0603040505020204" pitchFamily="18" charset="0"/>
                        </a:rPr>
                        <a:t>Gender</a:t>
                      </a:r>
                    </a:p>
                  </a:txBody>
                  <a:tcPr anchor="ctr"/>
                </a:tc>
                <a:tc>
                  <a:txBody>
                    <a:bodyPr/>
                    <a:lstStyle/>
                    <a:p>
                      <a:pPr fontAlgn="ctr">
                        <a:lnSpc>
                          <a:spcPct val="150000"/>
                        </a:lnSpc>
                      </a:pPr>
                      <a:r>
                        <a:rPr lang="en-US">
                          <a:effectLst/>
                          <a:latin typeface="PT Serif" panose="020A0603040505020204" pitchFamily="18" charset="0"/>
                        </a:rPr>
                        <a:t>Gender of Customer (1: Female, 2: Male)</a:t>
                      </a:r>
                    </a:p>
                  </a:txBody>
                  <a:tcPr anchor="ctr"/>
                </a:tc>
                <a:extLst>
                  <a:ext uri="{0D108BD9-81ED-4DB2-BD59-A6C34878D82A}">
                    <a16:rowId xmlns:a16="http://schemas.microsoft.com/office/drawing/2014/main" val="3595955047"/>
                  </a:ext>
                </a:extLst>
              </a:tr>
              <a:tr h="370840">
                <a:tc>
                  <a:txBody>
                    <a:bodyPr/>
                    <a:lstStyle/>
                    <a:p>
                      <a:pPr fontAlgn="ctr">
                        <a:lnSpc>
                          <a:spcPct val="150000"/>
                        </a:lnSpc>
                      </a:pPr>
                      <a:r>
                        <a:rPr lang="en-IN">
                          <a:effectLst/>
                          <a:latin typeface="PT Serif" panose="020A0603040505020204" pitchFamily="18" charset="0"/>
                        </a:rPr>
                        <a:t>MS</a:t>
                      </a:r>
                    </a:p>
                  </a:txBody>
                  <a:tcPr anchor="ctr"/>
                </a:tc>
                <a:tc>
                  <a:txBody>
                    <a:bodyPr/>
                    <a:lstStyle/>
                    <a:p>
                      <a:pPr fontAlgn="ctr">
                        <a:lnSpc>
                          <a:spcPct val="150000"/>
                        </a:lnSpc>
                      </a:pPr>
                      <a:r>
                        <a:rPr lang="en-US">
                          <a:effectLst/>
                          <a:latin typeface="PT Serif" panose="020A0603040505020204" pitchFamily="18" charset="0"/>
                        </a:rPr>
                        <a:t>Marital Status (1: Not Married, 2: Married)</a:t>
                      </a:r>
                    </a:p>
                  </a:txBody>
                  <a:tcPr anchor="ctr"/>
                </a:tc>
                <a:extLst>
                  <a:ext uri="{0D108BD9-81ED-4DB2-BD59-A6C34878D82A}">
                    <a16:rowId xmlns:a16="http://schemas.microsoft.com/office/drawing/2014/main" val="3312802244"/>
                  </a:ext>
                </a:extLst>
              </a:tr>
              <a:tr h="370840">
                <a:tc>
                  <a:txBody>
                    <a:bodyPr/>
                    <a:lstStyle/>
                    <a:p>
                      <a:pPr fontAlgn="ctr">
                        <a:lnSpc>
                          <a:spcPct val="150000"/>
                        </a:lnSpc>
                      </a:pPr>
                      <a:r>
                        <a:rPr lang="en-IN">
                          <a:effectLst/>
                          <a:latin typeface="PT Serif" panose="020A0603040505020204" pitchFamily="18" charset="0"/>
                        </a:rPr>
                        <a:t>Response</a:t>
                      </a:r>
                    </a:p>
                  </a:txBody>
                  <a:tcPr anchor="ctr"/>
                </a:tc>
                <a:tc>
                  <a:txBody>
                    <a:bodyPr/>
                    <a:lstStyle/>
                    <a:p>
                      <a:pPr fontAlgn="ctr">
                        <a:lnSpc>
                          <a:spcPct val="150000"/>
                        </a:lnSpc>
                      </a:pPr>
                      <a:r>
                        <a:rPr lang="en-US">
                          <a:effectLst/>
                          <a:latin typeface="PT Serif" panose="020A0603040505020204" pitchFamily="18" charset="0"/>
                        </a:rPr>
                        <a:t>Customer Campaign Response (1: Responded, 0: Not Responded)</a:t>
                      </a:r>
                    </a:p>
                  </a:txBody>
                  <a:tcPr anchor="ctr"/>
                </a:tc>
                <a:extLst>
                  <a:ext uri="{0D108BD9-81ED-4DB2-BD59-A6C34878D82A}">
                    <a16:rowId xmlns:a16="http://schemas.microsoft.com/office/drawing/2014/main" val="2696515444"/>
                  </a:ext>
                </a:extLst>
              </a:tr>
              <a:tr h="370840">
                <a:tc>
                  <a:txBody>
                    <a:bodyPr/>
                    <a:lstStyle/>
                    <a:p>
                      <a:pPr fontAlgn="ctr">
                        <a:lnSpc>
                          <a:spcPct val="150000"/>
                        </a:lnSpc>
                      </a:pPr>
                      <a:r>
                        <a:rPr lang="en-IN">
                          <a:effectLst/>
                          <a:latin typeface="PT Serif" panose="020A0603040505020204" pitchFamily="18" charset="0"/>
                        </a:rPr>
                        <a:t>Pre_Month</a:t>
                      </a:r>
                    </a:p>
                  </a:txBody>
                  <a:tcPr anchor="ctr"/>
                </a:tc>
                <a:tc>
                  <a:txBody>
                    <a:bodyPr/>
                    <a:lstStyle/>
                    <a:p>
                      <a:pPr fontAlgn="ctr">
                        <a:lnSpc>
                          <a:spcPct val="150000"/>
                        </a:lnSpc>
                      </a:pPr>
                      <a:r>
                        <a:rPr lang="en-US" dirty="0">
                          <a:effectLst/>
                          <a:latin typeface="PT Serif" panose="020A0603040505020204" pitchFamily="18" charset="0"/>
                        </a:rPr>
                        <a:t>Purchase Status in Previous Month (1: Purchased, 2: No Purchase)</a:t>
                      </a:r>
                    </a:p>
                  </a:txBody>
                  <a:tcPr anchor="ctr"/>
                </a:tc>
                <a:extLst>
                  <a:ext uri="{0D108BD9-81ED-4DB2-BD59-A6C34878D82A}">
                    <a16:rowId xmlns:a16="http://schemas.microsoft.com/office/drawing/2014/main" val="7441924"/>
                  </a:ext>
                </a:extLst>
              </a:tr>
              <a:tr h="370840">
                <a:tc>
                  <a:txBody>
                    <a:bodyPr/>
                    <a:lstStyle/>
                    <a:p>
                      <a:pPr fontAlgn="ctr">
                        <a:lnSpc>
                          <a:spcPct val="150000"/>
                        </a:lnSpc>
                      </a:pPr>
                      <a:r>
                        <a:rPr lang="en-IN">
                          <a:effectLst/>
                          <a:latin typeface="PT Serif" panose="020A0603040505020204" pitchFamily="18" charset="0"/>
                        </a:rPr>
                        <a:t>N_Products</a:t>
                      </a:r>
                    </a:p>
                  </a:txBody>
                  <a:tcPr anchor="ctr"/>
                </a:tc>
                <a:tc>
                  <a:txBody>
                    <a:bodyPr/>
                    <a:lstStyle/>
                    <a:p>
                      <a:pPr fontAlgn="ctr">
                        <a:lnSpc>
                          <a:spcPct val="150000"/>
                        </a:lnSpc>
                      </a:pPr>
                      <a:r>
                        <a:rPr lang="en-US">
                          <a:effectLst/>
                          <a:latin typeface="PT Serif" panose="020A0603040505020204" pitchFamily="18" charset="0"/>
                        </a:rPr>
                        <a:t>Number of Unique Products Purchased in One Year</a:t>
                      </a:r>
                    </a:p>
                  </a:txBody>
                  <a:tcPr anchor="ctr"/>
                </a:tc>
                <a:extLst>
                  <a:ext uri="{0D108BD9-81ED-4DB2-BD59-A6C34878D82A}">
                    <a16:rowId xmlns:a16="http://schemas.microsoft.com/office/drawing/2014/main" val="1118389252"/>
                  </a:ext>
                </a:extLst>
              </a:tr>
              <a:tr h="370840">
                <a:tc>
                  <a:txBody>
                    <a:bodyPr/>
                    <a:lstStyle/>
                    <a:p>
                      <a:pPr fontAlgn="ctr">
                        <a:lnSpc>
                          <a:spcPct val="150000"/>
                        </a:lnSpc>
                      </a:pPr>
                      <a:r>
                        <a:rPr lang="en-IN">
                          <a:effectLst/>
                          <a:latin typeface="PT Serif" panose="020A0603040505020204" pitchFamily="18" charset="0"/>
                        </a:rPr>
                        <a:t>N_Service</a:t>
                      </a:r>
                    </a:p>
                  </a:txBody>
                  <a:tcPr anchor="ctr"/>
                </a:tc>
                <a:tc>
                  <a:txBody>
                    <a:bodyPr/>
                    <a:lstStyle/>
                    <a:p>
                      <a:pPr fontAlgn="ctr">
                        <a:lnSpc>
                          <a:spcPct val="150000"/>
                        </a:lnSpc>
                      </a:pPr>
                      <a:r>
                        <a:rPr lang="en-US">
                          <a:effectLst/>
                          <a:latin typeface="PT Serif" panose="020A0603040505020204" pitchFamily="18" charset="0"/>
                        </a:rPr>
                        <a:t>Number of Unique Services Purchased in One Year</a:t>
                      </a:r>
                    </a:p>
                  </a:txBody>
                  <a:tcPr anchor="ctr"/>
                </a:tc>
                <a:extLst>
                  <a:ext uri="{0D108BD9-81ED-4DB2-BD59-A6C34878D82A}">
                    <a16:rowId xmlns:a16="http://schemas.microsoft.com/office/drawing/2014/main" val="3200539553"/>
                  </a:ext>
                </a:extLst>
              </a:tr>
              <a:tr h="370840">
                <a:tc>
                  <a:txBody>
                    <a:bodyPr/>
                    <a:lstStyle/>
                    <a:p>
                      <a:pPr fontAlgn="ctr">
                        <a:lnSpc>
                          <a:spcPct val="150000"/>
                        </a:lnSpc>
                      </a:pPr>
                      <a:r>
                        <a:rPr lang="en-IN">
                          <a:effectLst/>
                          <a:latin typeface="PT Serif" panose="020A0603040505020204" pitchFamily="18" charset="0"/>
                        </a:rPr>
                        <a:t>BillAmt_1</a:t>
                      </a:r>
                    </a:p>
                  </a:txBody>
                  <a:tcPr anchor="ctr"/>
                </a:tc>
                <a:tc>
                  <a:txBody>
                    <a:bodyPr/>
                    <a:lstStyle/>
                    <a:p>
                      <a:pPr fontAlgn="ctr">
                        <a:lnSpc>
                          <a:spcPct val="150000"/>
                        </a:lnSpc>
                      </a:pPr>
                      <a:r>
                        <a:rPr lang="en-US">
                          <a:effectLst/>
                          <a:latin typeface="PT Serif" panose="020A0603040505020204" pitchFamily="18" charset="0"/>
                        </a:rPr>
                        <a:t>Bill Amount (USD) for Purchase Transaction 1</a:t>
                      </a:r>
                    </a:p>
                  </a:txBody>
                  <a:tcPr anchor="ctr"/>
                </a:tc>
                <a:extLst>
                  <a:ext uri="{0D108BD9-81ED-4DB2-BD59-A6C34878D82A}">
                    <a16:rowId xmlns:a16="http://schemas.microsoft.com/office/drawing/2014/main" val="751693883"/>
                  </a:ext>
                </a:extLst>
              </a:tr>
              <a:tr h="370840">
                <a:tc>
                  <a:txBody>
                    <a:bodyPr/>
                    <a:lstStyle/>
                    <a:p>
                      <a:pPr fontAlgn="ctr">
                        <a:lnSpc>
                          <a:spcPct val="150000"/>
                        </a:lnSpc>
                      </a:pPr>
                      <a:r>
                        <a:rPr lang="en-IN" dirty="0">
                          <a:effectLst/>
                          <a:latin typeface="PT Serif" panose="020A0603040505020204" pitchFamily="18" charset="0"/>
                        </a:rPr>
                        <a:t>BillAmt_2</a:t>
                      </a:r>
                    </a:p>
                  </a:txBody>
                  <a:tcPr anchor="ctr"/>
                </a:tc>
                <a:tc>
                  <a:txBody>
                    <a:bodyPr/>
                    <a:lstStyle/>
                    <a:p>
                      <a:pPr fontAlgn="ctr">
                        <a:lnSpc>
                          <a:spcPct val="150000"/>
                        </a:lnSpc>
                      </a:pPr>
                      <a:r>
                        <a:rPr lang="en-US">
                          <a:effectLst/>
                          <a:latin typeface="PT Serif" panose="020A0603040505020204" pitchFamily="18" charset="0"/>
                        </a:rPr>
                        <a:t>Bill Amount (USD) for Purchase Transaction 2</a:t>
                      </a:r>
                    </a:p>
                  </a:txBody>
                  <a:tcPr anchor="ctr"/>
                </a:tc>
                <a:extLst>
                  <a:ext uri="{0D108BD9-81ED-4DB2-BD59-A6C34878D82A}">
                    <a16:rowId xmlns:a16="http://schemas.microsoft.com/office/drawing/2014/main" val="3820201214"/>
                  </a:ext>
                </a:extLst>
              </a:tr>
              <a:tr h="370840">
                <a:tc>
                  <a:txBody>
                    <a:bodyPr/>
                    <a:lstStyle/>
                    <a:p>
                      <a:pPr fontAlgn="ctr">
                        <a:lnSpc>
                          <a:spcPct val="150000"/>
                        </a:lnSpc>
                      </a:pPr>
                      <a:r>
                        <a:rPr lang="en-IN">
                          <a:effectLst/>
                          <a:latin typeface="PT Serif" panose="020A0603040505020204" pitchFamily="18" charset="0"/>
                        </a:rPr>
                        <a:t>BillAmt_3</a:t>
                      </a:r>
                    </a:p>
                  </a:txBody>
                  <a:tcPr anchor="ctr"/>
                </a:tc>
                <a:tc>
                  <a:txBody>
                    <a:bodyPr/>
                    <a:lstStyle/>
                    <a:p>
                      <a:pPr fontAlgn="ctr">
                        <a:lnSpc>
                          <a:spcPct val="150000"/>
                        </a:lnSpc>
                      </a:pPr>
                      <a:r>
                        <a:rPr lang="en-US" dirty="0">
                          <a:effectLst/>
                          <a:latin typeface="PT Serif" panose="020A0603040505020204" pitchFamily="18" charset="0"/>
                        </a:rPr>
                        <a:t>Bill Amount (USD) for Purchase Transaction 3</a:t>
                      </a:r>
                    </a:p>
                  </a:txBody>
                  <a:tcPr anchor="ctr"/>
                </a:tc>
                <a:extLst>
                  <a:ext uri="{0D108BD9-81ED-4DB2-BD59-A6C34878D82A}">
                    <a16:rowId xmlns:a16="http://schemas.microsoft.com/office/drawing/2014/main" val="2861053963"/>
                  </a:ext>
                </a:extLst>
              </a:tr>
            </a:tbl>
          </a:graphicData>
        </a:graphic>
      </p:graphicFrame>
    </p:spTree>
    <p:extLst>
      <p:ext uri="{BB962C8B-B14F-4D97-AF65-F5344CB8AC3E}">
        <p14:creationId xmlns:p14="http://schemas.microsoft.com/office/powerpoint/2010/main" val="2615745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A60F-5A2F-33F0-43EC-E062F584553B}"/>
              </a:ext>
            </a:extLst>
          </p:cNvPr>
          <p:cNvSpPr>
            <a:spLocks noGrp="1"/>
          </p:cNvSpPr>
          <p:nvPr>
            <p:ph type="title"/>
          </p:nvPr>
        </p:nvSpPr>
        <p:spPr>
          <a:xfrm>
            <a:off x="633046" y="457200"/>
            <a:ext cx="13656055" cy="487313"/>
          </a:xfrm>
        </p:spPr>
        <p:txBody>
          <a:bodyPr/>
          <a:lstStyle/>
          <a:p>
            <a:pPr marL="0" indent="0" algn="l">
              <a:lnSpc>
                <a:spcPts val="3750"/>
              </a:lnSpc>
              <a:buNone/>
            </a:pPr>
            <a:r>
              <a:rPr lang="en-US" sz="3600" dirty="0">
                <a:solidFill>
                  <a:srgbClr val="020202"/>
                </a:solidFill>
                <a:ea typeface="PT Serif" pitchFamily="34" charset="-122"/>
                <a:cs typeface="PT Serif" pitchFamily="34" charset="-120"/>
              </a:rPr>
              <a:t>Python Implementation</a:t>
            </a:r>
            <a:endParaRPr lang="en-US" sz="3600" dirty="0"/>
          </a:p>
        </p:txBody>
      </p:sp>
      <p:sp>
        <p:nvSpPr>
          <p:cNvPr id="5" name="Rectangle 4">
            <a:extLst>
              <a:ext uri="{FF2B5EF4-FFF2-40B4-BE49-F238E27FC236}">
                <a16:creationId xmlns:a16="http://schemas.microsoft.com/office/drawing/2014/main" id="{06543F73-31B4-C2F1-D1CB-60A235CAAB9C}"/>
              </a:ext>
            </a:extLst>
          </p:cNvPr>
          <p:cNvSpPr/>
          <p:nvPr/>
        </p:nvSpPr>
        <p:spPr>
          <a:xfrm>
            <a:off x="457200" y="2438400"/>
            <a:ext cx="13269859" cy="5334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
        <p:nvSpPr>
          <p:cNvPr id="3" name="Text Placeholder 2">
            <a:extLst>
              <a:ext uri="{FF2B5EF4-FFF2-40B4-BE49-F238E27FC236}">
                <a16:creationId xmlns:a16="http://schemas.microsoft.com/office/drawing/2014/main" id="{356C81DE-A612-5602-2485-DE8FD703A41C}"/>
              </a:ext>
            </a:extLst>
          </p:cNvPr>
          <p:cNvSpPr>
            <a:spLocks noGrp="1"/>
          </p:cNvSpPr>
          <p:nvPr>
            <p:ph type="body" idx="1"/>
          </p:nvPr>
        </p:nvSpPr>
        <p:spPr>
          <a:xfrm>
            <a:off x="609600" y="1219200"/>
            <a:ext cx="13117459" cy="7019422"/>
          </a:xfrm>
        </p:spPr>
        <p:txBody>
          <a:bodyPr/>
          <a:lstStyle/>
          <a:p>
            <a:pPr marL="0" indent="0" algn="l">
              <a:lnSpc>
                <a:spcPct val="150000"/>
              </a:lnSpc>
              <a:buNone/>
            </a:pPr>
            <a:r>
              <a:rPr lang="en-US" sz="1800" dirty="0">
                <a:solidFill>
                  <a:schemeClr val="tx1"/>
                </a:solidFill>
                <a:ea typeface="DM Sans" pitchFamily="34" charset="-122"/>
                <a:cs typeface="DM Sans" pitchFamily="34" charset="-120"/>
              </a:rPr>
              <a:t>Implementing AdaBoost in Python using scikit-learn is straightforward. The following example demonstrates a complete workflow from data generation through model training and evaluation.</a:t>
            </a:r>
          </a:p>
          <a:p>
            <a:pPr marL="0" indent="0" algn="l">
              <a:lnSpc>
                <a:spcPct val="150000"/>
              </a:lnSpc>
              <a:buNone/>
            </a:pPr>
            <a:endParaRPr lang="en-US" sz="1800" dirty="0">
              <a:solidFill>
                <a:schemeClr val="tx1"/>
              </a:solidFill>
              <a:ea typeface="DM Sans" pitchFamily="34" charset="-122"/>
              <a:cs typeface="DM Sans" pitchFamily="34" charset="-120"/>
            </a:endParaRPr>
          </a:p>
          <a:p>
            <a:pPr marL="0" indent="0" algn="l">
              <a:lnSpc>
                <a:spcPct val="150000"/>
              </a:lnSpc>
              <a:buNone/>
            </a:pPr>
            <a:r>
              <a:rPr lang="en-US" sz="1800" dirty="0">
                <a:solidFill>
                  <a:schemeClr val="tx1"/>
                </a:solidFill>
              </a:rPr>
              <a:t>#Import required libraries</a:t>
            </a:r>
          </a:p>
          <a:p>
            <a:pPr marL="0" indent="0" algn="l">
              <a:lnSpc>
                <a:spcPct val="150000"/>
              </a:lnSpc>
              <a:buNone/>
            </a:pPr>
            <a:r>
              <a:rPr lang="en-US" sz="1800" dirty="0">
                <a:solidFill>
                  <a:schemeClr val="tx1"/>
                </a:solidFill>
              </a:rPr>
              <a:t>#Load all 3 datasets and create master data</a:t>
            </a:r>
          </a:p>
          <a:p>
            <a:pPr marL="0" indent="0" algn="l">
              <a:lnSpc>
                <a:spcPct val="150000"/>
              </a:lnSpc>
              <a:buNone/>
            </a:pPr>
            <a:r>
              <a:rPr lang="en-US" sz="1800" dirty="0">
                <a:solidFill>
                  <a:schemeClr val="tx1"/>
                </a:solidFill>
              </a:rPr>
              <a:t>#Perform data preprocessing</a:t>
            </a:r>
          </a:p>
          <a:p>
            <a:pPr marL="0" indent="0" algn="l">
              <a:lnSpc>
                <a:spcPct val="150000"/>
              </a:lnSpc>
              <a:buNone/>
            </a:pPr>
            <a:endParaRPr lang="en-US" sz="1800" dirty="0">
              <a:solidFill>
                <a:schemeClr val="tx1"/>
              </a:solidFill>
            </a:endParaRPr>
          </a:p>
          <a:p>
            <a:pPr algn="l">
              <a:lnSpc>
                <a:spcPct val="150000"/>
              </a:lnSpc>
            </a:pPr>
            <a:r>
              <a:rPr lang="en-US" sz="1800" dirty="0">
                <a:solidFill>
                  <a:schemeClr val="tx1"/>
                </a:solidFill>
              </a:rPr>
              <a:t>X = </a:t>
            </a:r>
            <a:r>
              <a:rPr lang="en-US" sz="1800" dirty="0" err="1">
                <a:solidFill>
                  <a:schemeClr val="tx1"/>
                </a:solidFill>
              </a:rPr>
              <a:t>masterdata.drop</a:t>
            </a:r>
            <a:r>
              <a:rPr lang="en-US" sz="1800" dirty="0">
                <a:solidFill>
                  <a:schemeClr val="tx1"/>
                </a:solidFill>
              </a:rPr>
              <a:t>(columns=['Response','</a:t>
            </a:r>
            <a:r>
              <a:rPr lang="en-US" sz="1800" dirty="0" err="1">
                <a:solidFill>
                  <a:schemeClr val="tx1"/>
                </a:solidFill>
              </a:rPr>
              <a:t>Custid</a:t>
            </a:r>
            <a:r>
              <a:rPr lang="en-US" sz="1800" dirty="0">
                <a:solidFill>
                  <a:schemeClr val="tx1"/>
                </a:solidFill>
              </a:rPr>
              <a:t>'])</a:t>
            </a:r>
          </a:p>
          <a:p>
            <a:pPr algn="l">
              <a:lnSpc>
                <a:spcPct val="150000"/>
              </a:lnSpc>
            </a:pPr>
            <a:r>
              <a:rPr lang="en-US" sz="1800" dirty="0">
                <a:solidFill>
                  <a:schemeClr val="tx1"/>
                </a:solidFill>
              </a:rPr>
              <a:t>y = </a:t>
            </a:r>
            <a:r>
              <a:rPr lang="en-US" sz="1800" dirty="0" err="1">
                <a:solidFill>
                  <a:schemeClr val="tx1"/>
                </a:solidFill>
              </a:rPr>
              <a:t>masterdata</a:t>
            </a:r>
            <a:r>
              <a:rPr lang="en-US" sz="1800" dirty="0">
                <a:solidFill>
                  <a:schemeClr val="tx1"/>
                </a:solidFill>
              </a:rPr>
              <a:t>['Response’]</a:t>
            </a:r>
          </a:p>
          <a:p>
            <a:pPr algn="l">
              <a:lnSpc>
                <a:spcPct val="150000"/>
              </a:lnSpc>
            </a:pPr>
            <a:r>
              <a:rPr lang="en-US" sz="1800" dirty="0">
                <a:solidFill>
                  <a:schemeClr val="tx1"/>
                </a:solidFill>
              </a:rPr>
              <a:t>#Create dummies</a:t>
            </a:r>
          </a:p>
          <a:p>
            <a:pPr algn="l">
              <a:lnSpc>
                <a:spcPct val="150000"/>
              </a:lnSpc>
            </a:pPr>
            <a:r>
              <a:rPr lang="en-US" sz="1800" dirty="0">
                <a:solidFill>
                  <a:schemeClr val="tx1"/>
                </a:solidFill>
              </a:rPr>
              <a:t>#Split data into train and test</a:t>
            </a:r>
          </a:p>
          <a:p>
            <a:pPr algn="l">
              <a:lnSpc>
                <a:spcPct val="150000"/>
              </a:lnSpc>
            </a:pPr>
            <a:r>
              <a:rPr lang="en-US" sz="1800" dirty="0" err="1">
                <a:solidFill>
                  <a:schemeClr val="tx1"/>
                </a:solidFill>
              </a:rPr>
              <a:t>X_train</a:t>
            </a:r>
            <a:r>
              <a:rPr lang="en-US" sz="1800" dirty="0">
                <a:solidFill>
                  <a:schemeClr val="tx1"/>
                </a:solidFill>
              </a:rPr>
              <a:t>, </a:t>
            </a:r>
            <a:r>
              <a:rPr lang="en-US" sz="1800" dirty="0" err="1">
                <a:solidFill>
                  <a:schemeClr val="tx1"/>
                </a:solidFill>
              </a:rPr>
              <a:t>X_test</a:t>
            </a:r>
            <a:r>
              <a:rPr lang="en-US" sz="1800" dirty="0">
                <a:solidFill>
                  <a:schemeClr val="tx1"/>
                </a:solidFill>
              </a:rPr>
              <a:t>, </a:t>
            </a:r>
            <a:r>
              <a:rPr lang="en-US" sz="1800" dirty="0" err="1">
                <a:solidFill>
                  <a:schemeClr val="tx1"/>
                </a:solidFill>
              </a:rPr>
              <a:t>y_train</a:t>
            </a:r>
            <a:r>
              <a:rPr lang="en-US" sz="1800" dirty="0">
                <a:solidFill>
                  <a:schemeClr val="tx1"/>
                </a:solidFill>
              </a:rPr>
              <a:t>, </a:t>
            </a:r>
            <a:r>
              <a:rPr lang="en-US" sz="1800" dirty="0" err="1">
                <a:solidFill>
                  <a:schemeClr val="tx1"/>
                </a:solidFill>
              </a:rPr>
              <a:t>y_test</a:t>
            </a:r>
            <a:r>
              <a:rPr lang="en-US" sz="1800" dirty="0">
                <a:solidFill>
                  <a:schemeClr val="tx1"/>
                </a:solidFill>
              </a:rPr>
              <a:t> = </a:t>
            </a:r>
            <a:r>
              <a:rPr lang="en-US" sz="1800" dirty="0" err="1">
                <a:solidFill>
                  <a:schemeClr val="tx1"/>
                </a:solidFill>
              </a:rPr>
              <a:t>train_test_split</a:t>
            </a:r>
            <a:r>
              <a:rPr lang="en-US" sz="1800" dirty="0">
                <a:solidFill>
                  <a:schemeClr val="tx1"/>
                </a:solidFill>
              </a:rPr>
              <a:t>(X, </a:t>
            </a:r>
            <a:r>
              <a:rPr lang="en-US" sz="1800" dirty="0" err="1">
                <a:solidFill>
                  <a:schemeClr val="tx1"/>
                </a:solidFill>
              </a:rPr>
              <a:t>y,test_size</a:t>
            </a:r>
            <a:r>
              <a:rPr lang="en-US" sz="1800" dirty="0">
                <a:solidFill>
                  <a:schemeClr val="tx1"/>
                </a:solidFill>
              </a:rPr>
              <a:t>=0.2,random_state=42,stratify=y)</a:t>
            </a:r>
          </a:p>
          <a:p>
            <a:pPr algn="l">
              <a:lnSpc>
                <a:spcPct val="150000"/>
              </a:lnSpc>
            </a:pPr>
            <a:endParaRPr lang="en-US" sz="1800" dirty="0">
              <a:solidFill>
                <a:schemeClr val="tx1"/>
              </a:solidFill>
            </a:endParaRPr>
          </a:p>
          <a:p>
            <a:pPr marL="0" indent="0" algn="l">
              <a:lnSpc>
                <a:spcPct val="150000"/>
              </a:lnSpc>
              <a:buNone/>
            </a:pPr>
            <a:r>
              <a:rPr lang="en-US" sz="1800" dirty="0">
                <a:solidFill>
                  <a:schemeClr val="tx1"/>
                </a:solidFill>
              </a:rPr>
              <a:t># Define weak learner (decision stump)</a:t>
            </a:r>
          </a:p>
          <a:p>
            <a:pPr marL="0" indent="0" algn="l">
              <a:lnSpc>
                <a:spcPct val="150000"/>
              </a:lnSpc>
              <a:buNone/>
            </a:pPr>
            <a:r>
              <a:rPr lang="en-US" sz="1800" dirty="0">
                <a:solidFill>
                  <a:schemeClr val="tx1"/>
                </a:solidFill>
              </a:rPr>
              <a:t>weak_learner = DecisionTreeClassifier(max_depth=1)</a:t>
            </a:r>
          </a:p>
          <a:p>
            <a:pPr marL="0" indent="0" algn="l">
              <a:lnSpc>
                <a:spcPct val="150000"/>
              </a:lnSpc>
              <a:buNone/>
            </a:pPr>
            <a:endParaRPr lang="en-US" sz="1800" dirty="0">
              <a:solidFill>
                <a:schemeClr val="tx1"/>
              </a:solidFill>
            </a:endParaRPr>
          </a:p>
          <a:p>
            <a:pPr marL="0" indent="0" algn="l">
              <a:lnSpc>
                <a:spcPct val="150000"/>
              </a:lnSpc>
              <a:buNone/>
            </a:pPr>
            <a:endParaRPr lang="en-US" sz="1800" dirty="0">
              <a:solidFill>
                <a:schemeClr val="tx1"/>
              </a:solidFill>
            </a:endParaRPr>
          </a:p>
        </p:txBody>
      </p:sp>
    </p:spTree>
    <p:extLst>
      <p:ext uri="{BB962C8B-B14F-4D97-AF65-F5344CB8AC3E}">
        <p14:creationId xmlns:p14="http://schemas.microsoft.com/office/powerpoint/2010/main" val="1856611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BFD6DF-9131-0C5E-CC7B-51D1BFADC6C5}"/>
              </a:ext>
            </a:extLst>
          </p:cNvPr>
          <p:cNvSpPr/>
          <p:nvPr/>
        </p:nvSpPr>
        <p:spPr>
          <a:xfrm>
            <a:off x="604070" y="1632112"/>
            <a:ext cx="13269859" cy="5334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
        <p:nvSpPr>
          <p:cNvPr id="2" name="Title 1">
            <a:extLst>
              <a:ext uri="{FF2B5EF4-FFF2-40B4-BE49-F238E27FC236}">
                <a16:creationId xmlns:a16="http://schemas.microsoft.com/office/drawing/2014/main" id="{B857A60F-5A2F-33F0-43EC-E062F584553B}"/>
              </a:ext>
            </a:extLst>
          </p:cNvPr>
          <p:cNvSpPr>
            <a:spLocks noGrp="1"/>
          </p:cNvSpPr>
          <p:nvPr>
            <p:ph type="title"/>
          </p:nvPr>
        </p:nvSpPr>
        <p:spPr>
          <a:xfrm>
            <a:off x="756470" y="685800"/>
            <a:ext cx="13656055" cy="487313"/>
          </a:xfrm>
        </p:spPr>
        <p:txBody>
          <a:bodyPr/>
          <a:lstStyle/>
          <a:p>
            <a:pPr marL="0" indent="0" algn="l">
              <a:lnSpc>
                <a:spcPts val="3750"/>
              </a:lnSpc>
              <a:buNone/>
            </a:pPr>
            <a:r>
              <a:rPr lang="en-US" sz="3600" dirty="0">
                <a:solidFill>
                  <a:srgbClr val="020202"/>
                </a:solidFill>
                <a:ea typeface="PT Serif" pitchFamily="34" charset="-122"/>
                <a:cs typeface="PT Serif" pitchFamily="34" charset="-120"/>
              </a:rPr>
              <a:t>Python Implementation (continued)</a:t>
            </a:r>
            <a:endParaRPr lang="en-US" sz="3600" dirty="0"/>
          </a:p>
        </p:txBody>
      </p:sp>
      <p:sp>
        <p:nvSpPr>
          <p:cNvPr id="3" name="Text Placeholder 2">
            <a:extLst>
              <a:ext uri="{FF2B5EF4-FFF2-40B4-BE49-F238E27FC236}">
                <a16:creationId xmlns:a16="http://schemas.microsoft.com/office/drawing/2014/main" id="{356C81DE-A612-5602-2485-DE8FD703A41C}"/>
              </a:ext>
            </a:extLst>
          </p:cNvPr>
          <p:cNvSpPr>
            <a:spLocks noGrp="1"/>
          </p:cNvSpPr>
          <p:nvPr>
            <p:ph type="body" idx="1"/>
          </p:nvPr>
        </p:nvSpPr>
        <p:spPr>
          <a:xfrm>
            <a:off x="756470" y="1643835"/>
            <a:ext cx="13117459" cy="4941930"/>
          </a:xfrm>
        </p:spPr>
        <p:txBody>
          <a:bodyPr/>
          <a:lstStyle/>
          <a:p>
            <a:pPr marL="0" indent="0" algn="l">
              <a:lnSpc>
                <a:spcPct val="150000"/>
              </a:lnSpc>
              <a:buNone/>
            </a:pPr>
            <a:r>
              <a:rPr lang="en-US" sz="1800" dirty="0">
                <a:solidFill>
                  <a:schemeClr val="tx1"/>
                </a:solidFill>
              </a:rPr>
              <a:t># Initialize AdaBoost classifier</a:t>
            </a:r>
          </a:p>
          <a:p>
            <a:pPr marL="0" indent="0" algn="l">
              <a:lnSpc>
                <a:spcPct val="150000"/>
              </a:lnSpc>
              <a:buNone/>
            </a:pPr>
            <a:r>
              <a:rPr lang="en-US" sz="1800" dirty="0">
                <a:solidFill>
                  <a:schemeClr val="tx1"/>
                </a:solidFill>
              </a:rPr>
              <a:t>model = AdaBoostClassifier(</a:t>
            </a:r>
          </a:p>
          <a:p>
            <a:pPr marL="0" indent="0" algn="l">
              <a:lnSpc>
                <a:spcPct val="150000"/>
              </a:lnSpc>
              <a:buNone/>
            </a:pPr>
            <a:r>
              <a:rPr lang="en-US" sz="1800" dirty="0">
                <a:solidFill>
                  <a:schemeClr val="tx1"/>
                </a:solidFill>
              </a:rPr>
              <a:t> estimator=weak_learner,</a:t>
            </a:r>
          </a:p>
          <a:p>
            <a:pPr marL="0" indent="0" algn="l">
              <a:lnSpc>
                <a:spcPct val="150000"/>
              </a:lnSpc>
              <a:buNone/>
            </a:pPr>
            <a:r>
              <a:rPr lang="en-US" sz="1800" dirty="0">
                <a:solidFill>
                  <a:schemeClr val="tx1"/>
                </a:solidFill>
              </a:rPr>
              <a:t> </a:t>
            </a:r>
            <a:r>
              <a:rPr lang="en-US" sz="1800" dirty="0" err="1">
                <a:solidFill>
                  <a:schemeClr val="tx1"/>
                </a:solidFill>
              </a:rPr>
              <a:t>n_estimators</a:t>
            </a:r>
            <a:r>
              <a:rPr lang="en-US" sz="1800" dirty="0">
                <a:solidFill>
                  <a:schemeClr val="tx1"/>
                </a:solidFill>
              </a:rPr>
              <a:t>=200,</a:t>
            </a:r>
          </a:p>
          <a:p>
            <a:pPr marL="0" indent="0" algn="l">
              <a:lnSpc>
                <a:spcPct val="150000"/>
              </a:lnSpc>
              <a:buNone/>
            </a:pPr>
            <a:r>
              <a:rPr lang="en-US" sz="1800" dirty="0">
                <a:solidFill>
                  <a:schemeClr val="tx1"/>
                </a:solidFill>
              </a:rPr>
              <a:t> </a:t>
            </a:r>
            <a:r>
              <a:rPr lang="en-US" sz="1800" dirty="0" err="1">
                <a:solidFill>
                  <a:schemeClr val="tx1"/>
                </a:solidFill>
              </a:rPr>
              <a:t>learning_rate</a:t>
            </a:r>
            <a:r>
              <a:rPr lang="en-US" sz="1800">
                <a:solidFill>
                  <a:schemeClr val="tx1"/>
                </a:solidFill>
              </a:rPr>
              <a:t>=0.1,</a:t>
            </a:r>
            <a:endParaRPr lang="en-US" sz="1800" dirty="0">
              <a:solidFill>
                <a:schemeClr val="tx1"/>
              </a:solidFill>
            </a:endParaRPr>
          </a:p>
          <a:p>
            <a:pPr marL="0" indent="0" algn="l">
              <a:lnSpc>
                <a:spcPct val="150000"/>
              </a:lnSpc>
              <a:buNone/>
            </a:pPr>
            <a:r>
              <a:rPr lang="en-US" sz="1800" dirty="0">
                <a:solidFill>
                  <a:schemeClr val="tx1"/>
                </a:solidFill>
              </a:rPr>
              <a:t> random_state=42</a:t>
            </a:r>
          </a:p>
          <a:p>
            <a:pPr marL="0" indent="0" algn="l">
              <a:lnSpc>
                <a:spcPct val="150000"/>
              </a:lnSpc>
              <a:buNone/>
            </a:pPr>
            <a:r>
              <a:rPr lang="en-US" sz="1800" dirty="0">
                <a:solidFill>
                  <a:schemeClr val="tx1"/>
                </a:solidFill>
              </a:rPr>
              <a:t>)</a:t>
            </a:r>
          </a:p>
          <a:p>
            <a:pPr marL="0" indent="0" algn="l">
              <a:lnSpc>
                <a:spcPct val="150000"/>
              </a:lnSpc>
              <a:buNone/>
            </a:pPr>
            <a:endParaRPr lang="en-US" sz="1800" dirty="0">
              <a:solidFill>
                <a:schemeClr val="tx1"/>
              </a:solidFill>
            </a:endParaRPr>
          </a:p>
          <a:p>
            <a:pPr marL="0" indent="0" algn="l">
              <a:lnSpc>
                <a:spcPct val="150000"/>
              </a:lnSpc>
              <a:buNone/>
            </a:pPr>
            <a:r>
              <a:rPr lang="en-US" sz="1800" dirty="0">
                <a:solidFill>
                  <a:schemeClr val="tx1"/>
                </a:solidFill>
              </a:rPr>
              <a:t># Train and evaluate</a:t>
            </a:r>
          </a:p>
          <a:p>
            <a:pPr marL="0" indent="0" algn="l">
              <a:lnSpc>
                <a:spcPct val="150000"/>
              </a:lnSpc>
              <a:buNone/>
            </a:pPr>
            <a:r>
              <a:rPr lang="en-US" sz="1800" dirty="0">
                <a:solidFill>
                  <a:schemeClr val="tx1"/>
                </a:solidFill>
              </a:rPr>
              <a:t>model.fit(X_train, y_train)</a:t>
            </a:r>
          </a:p>
          <a:p>
            <a:pPr marL="0" indent="0" algn="l">
              <a:lnSpc>
                <a:spcPct val="150000"/>
              </a:lnSpc>
              <a:buNone/>
            </a:pPr>
            <a:r>
              <a:rPr lang="en-US" sz="1800" dirty="0">
                <a:solidFill>
                  <a:schemeClr val="tx1"/>
                </a:solidFill>
              </a:rPr>
              <a:t>y_pred = model.predict(X_test)</a:t>
            </a:r>
          </a:p>
          <a:p>
            <a:pPr marL="0" indent="0" algn="l">
              <a:lnSpc>
                <a:spcPct val="150000"/>
              </a:lnSpc>
              <a:buNone/>
            </a:pPr>
            <a:r>
              <a:rPr lang="en-US" sz="1800" dirty="0">
                <a:solidFill>
                  <a:schemeClr val="tx1"/>
                </a:solidFill>
              </a:rPr>
              <a:t>print(f'Accuracy: {accuracy_score(y_test, y_pred):.2%}')</a:t>
            </a:r>
          </a:p>
        </p:txBody>
      </p:sp>
    </p:spTree>
    <p:extLst>
      <p:ext uri="{BB962C8B-B14F-4D97-AF65-F5344CB8AC3E}">
        <p14:creationId xmlns:p14="http://schemas.microsoft.com/office/powerpoint/2010/main" val="2486661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1239" y="0"/>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Tuning n_estimators</a:t>
            </a:r>
            <a:endParaRPr lang="en-US" sz="3600" dirty="0">
              <a:solidFill>
                <a:schemeClr val="tx1"/>
              </a:solidFill>
            </a:endParaRPr>
          </a:p>
        </p:txBody>
      </p:sp>
      <p:sp>
        <p:nvSpPr>
          <p:cNvPr id="13" name="Shape 5">
            <a:extLst>
              <a:ext uri="{FF2B5EF4-FFF2-40B4-BE49-F238E27FC236}">
                <a16:creationId xmlns:a16="http://schemas.microsoft.com/office/drawing/2014/main" id="{E7C49C67-C298-4068-CA76-A4C08A84BF5C}"/>
              </a:ext>
            </a:extLst>
          </p:cNvPr>
          <p:cNvSpPr/>
          <p:nvPr/>
        </p:nvSpPr>
        <p:spPr>
          <a:xfrm>
            <a:off x="5178400" y="2963537"/>
            <a:ext cx="4164095" cy="4427863"/>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00197" y="2963538"/>
            <a:ext cx="3699498" cy="4865280"/>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Monitoring Performance</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If training error continues to decrease steadily, try increasing the number of estimators. Plot learning curves to visualize the relationship between ensemble size and performance.</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579921" y="4770089"/>
            <a:ext cx="3818692" cy="127015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34635" y="3010684"/>
            <a:ext cx="3818573" cy="4389613"/>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398776" y="3002136"/>
            <a:ext cx="3347385"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Typical Range</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Most practical applications use between 50-500 estimators. Beyond 500, improvements often become marginal while computational costs increase significantly.</a:t>
            </a:r>
            <a:endParaRPr lang="en-US" sz="18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28193" y="3682697"/>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22322" y="2963539"/>
            <a:ext cx="3976821" cy="4427864"/>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52515" y="2963538"/>
            <a:ext cx="3390945"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Starting Point</a:t>
            </a:r>
            <a:endParaRPr lang="en-US" sz="2400" dirty="0">
              <a:solidFill>
                <a:schemeClr val="tx1"/>
              </a:solidFill>
              <a:latin typeface="PT Serif" panose="020A0603040505020204" pitchFamily="18" charset="0"/>
            </a:endParaRPr>
          </a:p>
          <a:p>
            <a:pPr lvl="1">
              <a:lnSpc>
                <a:spcPct val="200000"/>
              </a:lnSpc>
            </a:pPr>
            <a:r>
              <a:rPr lang="en-US" sz="1800" dirty="0">
                <a:solidFill>
                  <a:schemeClr val="tx1"/>
                </a:solidFill>
                <a:latin typeface="PT Serif" panose="020A0603040505020204" pitchFamily="18" charset="0"/>
                <a:ea typeface="DM Sans" pitchFamily="34" charset="-122"/>
                <a:cs typeface="DM Sans" pitchFamily="34" charset="-120"/>
              </a:rPr>
              <a:t>Begin with 100-200 estimators as a baseline. This range provides enough weak learners to capture patterns while remaining computationally manageable.</a:t>
            </a:r>
            <a:endParaRPr lang="en-US" sz="1800" dirty="0">
              <a:solidFill>
                <a:schemeClr val="tx1"/>
              </a:solidFill>
              <a:latin typeface="PT Serif" panose="020A0603040505020204" pitchFamily="18" charset="0"/>
            </a:endParaRPr>
          </a:p>
          <a:p>
            <a:pPr marL="457200" indent="-457200" algn="l">
              <a:lnSpc>
                <a:spcPct val="200000"/>
              </a:lnSpc>
              <a:buAutoNum type="arabicPeriod"/>
            </a:pPr>
            <a:endParaRPr lang="en-US" sz="24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2" name="TextBox 11">
            <a:extLst>
              <a:ext uri="{FF2B5EF4-FFF2-40B4-BE49-F238E27FC236}">
                <a16:creationId xmlns:a16="http://schemas.microsoft.com/office/drawing/2014/main" id="{FDC4DA48-35D7-6A07-2464-343D25168B61}"/>
              </a:ext>
            </a:extLst>
          </p:cNvPr>
          <p:cNvSpPr txBox="1"/>
          <p:nvPr/>
        </p:nvSpPr>
        <p:spPr>
          <a:xfrm>
            <a:off x="604737" y="1323930"/>
            <a:ext cx="13077091"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The number of estimators directly controls the ensemble size and model complexity. Finding the right balance is crucial for optimal performance without overfitting.</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438936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1239" y="0"/>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Tuning Learning Rate</a:t>
            </a:r>
            <a:endParaRPr lang="en-US" sz="3600" dirty="0">
              <a:solidFill>
                <a:schemeClr val="tx1"/>
              </a:solidFill>
            </a:endParaRPr>
          </a:p>
        </p:txBody>
      </p:sp>
      <p:sp>
        <p:nvSpPr>
          <p:cNvPr id="13" name="Shape 5">
            <a:extLst>
              <a:ext uri="{FF2B5EF4-FFF2-40B4-BE49-F238E27FC236}">
                <a16:creationId xmlns:a16="http://schemas.microsoft.com/office/drawing/2014/main" id="{E7C49C67-C298-4068-CA76-A4C08A84BF5C}"/>
              </a:ext>
            </a:extLst>
          </p:cNvPr>
          <p:cNvSpPr/>
          <p:nvPr/>
        </p:nvSpPr>
        <p:spPr>
          <a:xfrm>
            <a:off x="5178400" y="2963537"/>
            <a:ext cx="4164095" cy="4732663"/>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00197" y="2963538"/>
            <a:ext cx="3699498" cy="486528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0.5 – 1.0 Range</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Best for faster learning on smaller, cleaner datasets. Higher rates can quickly identify patterns but may overfit or miss optimal solutions if not monitored carefully.</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579921" y="4770089"/>
            <a:ext cx="3818692" cy="127015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34635" y="3010684"/>
            <a:ext cx="3818573" cy="4691780"/>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398776" y="3002136"/>
            <a:ext cx="3347385"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The Trade-off</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Lower learning rates require more estimators to achieve comparable performance. The relationship is roughly inverse: halving the learning rate may require doubling estimators.</a:t>
            </a:r>
            <a:endParaRPr lang="en-US" sz="18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28193" y="3682697"/>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22322" y="2963539"/>
            <a:ext cx="3976821" cy="4732664"/>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52515" y="2963538"/>
            <a:ext cx="3390945"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0.01 – 0.1 Range</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Optimal for noisy datasets and better generalization. This conservative approach produces more stable models that handle unseen data well. Requires patience as convergence is slower.</a:t>
            </a:r>
            <a:endParaRPr lang="en-US" sz="1800" dirty="0">
              <a:solidFill>
                <a:schemeClr val="tx1"/>
              </a:solidFill>
              <a:latin typeface="PT Serif" panose="020A0603040505020204" pitchFamily="18" charset="0"/>
            </a:endParaRPr>
          </a:p>
          <a:p>
            <a:pPr marL="457200" indent="-457200" algn="l">
              <a:lnSpc>
                <a:spcPct val="200000"/>
              </a:lnSpc>
              <a:buAutoNum type="arabicPeriod"/>
            </a:pPr>
            <a:endParaRPr lang="en-US" sz="24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2" name="TextBox 11">
            <a:extLst>
              <a:ext uri="{FF2B5EF4-FFF2-40B4-BE49-F238E27FC236}">
                <a16:creationId xmlns:a16="http://schemas.microsoft.com/office/drawing/2014/main" id="{FDC4DA48-35D7-6A07-2464-343D25168B61}"/>
              </a:ext>
            </a:extLst>
          </p:cNvPr>
          <p:cNvSpPr txBox="1"/>
          <p:nvPr/>
        </p:nvSpPr>
        <p:spPr>
          <a:xfrm>
            <a:off x="604737" y="1323930"/>
            <a:ext cx="13077091"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The learning rate requires careful calibration based on your dataset characteristics and computational constraints. Different scenarios call for different strategies.	</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11026061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1239" y="0"/>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Base Learner Complexity</a:t>
            </a:r>
            <a:endParaRPr lang="en-US" sz="3600" dirty="0">
              <a:solidFill>
                <a:schemeClr val="tx1"/>
              </a:solidFill>
            </a:endParaRPr>
          </a:p>
        </p:txBody>
      </p:sp>
      <p:sp>
        <p:nvSpPr>
          <p:cNvPr id="13" name="Shape 5">
            <a:extLst>
              <a:ext uri="{FF2B5EF4-FFF2-40B4-BE49-F238E27FC236}">
                <a16:creationId xmlns:a16="http://schemas.microsoft.com/office/drawing/2014/main" id="{E7C49C67-C298-4068-CA76-A4C08A84BF5C}"/>
              </a:ext>
            </a:extLst>
          </p:cNvPr>
          <p:cNvSpPr/>
          <p:nvPr/>
        </p:nvSpPr>
        <p:spPr>
          <a:xfrm>
            <a:off x="5178400" y="2963537"/>
            <a:ext cx="4164095" cy="4732663"/>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00197" y="2963538"/>
            <a:ext cx="3699498" cy="486528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Detect Underfitting</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If both training and validation error remain high, your model may be too simple to capture important patterns in the data.</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579921" y="4770089"/>
            <a:ext cx="3818692" cy="127015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34635" y="3010684"/>
            <a:ext cx="3818573" cy="4691780"/>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398776" y="3002136"/>
            <a:ext cx="3347385"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Increase to Depth 2-3</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Only if underfitting occurs, gradually increase tree depth. Depths beyond 3 rarely improve AdaBoost performance and increase overfitting risk.</a:t>
            </a:r>
            <a:endParaRPr lang="en-US" sz="18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28193" y="3682697"/>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22322" y="2963539"/>
            <a:ext cx="3976821" cy="4732664"/>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52515" y="2963538"/>
            <a:ext cx="3390945"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Start with Stumps (max_depth=1)</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Decision stumps are the default and often optimal choice. They're fast, interpretable, and prevent individual learners from overfitting.</a:t>
            </a:r>
            <a:endParaRPr lang="en-US" sz="1800" dirty="0">
              <a:solidFill>
                <a:schemeClr val="tx1"/>
              </a:solidFill>
              <a:latin typeface="PT Serif" panose="020A0603040505020204" pitchFamily="18" charset="0"/>
            </a:endParaRPr>
          </a:p>
          <a:p>
            <a:pPr marL="457200" indent="-457200" algn="l">
              <a:lnSpc>
                <a:spcPct val="200000"/>
              </a:lnSpc>
              <a:buAutoNum type="arabicPeriod"/>
            </a:pPr>
            <a:endParaRPr lang="en-US" sz="24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2" name="TextBox 11">
            <a:extLst>
              <a:ext uri="{FF2B5EF4-FFF2-40B4-BE49-F238E27FC236}">
                <a16:creationId xmlns:a16="http://schemas.microsoft.com/office/drawing/2014/main" id="{FDC4DA48-35D7-6A07-2464-343D25168B61}"/>
              </a:ext>
            </a:extLst>
          </p:cNvPr>
          <p:cNvSpPr txBox="1"/>
          <p:nvPr/>
        </p:nvSpPr>
        <p:spPr>
          <a:xfrm>
            <a:off x="604737" y="1323930"/>
            <a:ext cx="13077091"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The complexity of your base weak learner significantly impacts AdaBoost's performance and behavior. Decision tree depth is the primary complexity control mechanism.</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3723908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34AB-82AD-5A1C-DAC9-54A9A9B430D2}"/>
              </a:ext>
            </a:extLst>
          </p:cNvPr>
          <p:cNvSpPr>
            <a:spLocks noGrp="1"/>
          </p:cNvSpPr>
          <p:nvPr>
            <p:ph type="title"/>
          </p:nvPr>
        </p:nvSpPr>
        <p:spPr>
          <a:xfrm>
            <a:off x="784709" y="196111"/>
            <a:ext cx="13656055" cy="610103"/>
          </a:xfrm>
        </p:spPr>
        <p:txBody>
          <a:bodyPr/>
          <a:lstStyle/>
          <a:p>
            <a:pPr marL="0" indent="0" algn="l">
              <a:lnSpc>
                <a:spcPts val="5100"/>
              </a:lnSpc>
              <a:buNone/>
            </a:pPr>
            <a:r>
              <a:rPr lang="en-US" sz="3600" dirty="0">
                <a:solidFill>
                  <a:schemeClr val="tx1"/>
                </a:solidFill>
                <a:ea typeface="PT Serif" pitchFamily="34" charset="-122"/>
                <a:cs typeface="PT Serif" pitchFamily="34" charset="-120"/>
              </a:rPr>
              <a:t>Handling Underfitting vs Overfitting</a:t>
            </a:r>
            <a:endParaRPr lang="en-US" sz="3600" dirty="0">
              <a:solidFill>
                <a:schemeClr val="tx1"/>
              </a:solidFill>
            </a:endParaRPr>
          </a:p>
        </p:txBody>
      </p:sp>
      <p:sp>
        <p:nvSpPr>
          <p:cNvPr id="5" name="Shape 3">
            <a:extLst>
              <a:ext uri="{FF2B5EF4-FFF2-40B4-BE49-F238E27FC236}">
                <a16:creationId xmlns:a16="http://schemas.microsoft.com/office/drawing/2014/main" id="{8A2BBBEB-5FDE-85D6-D4BC-81F4A4D94CEE}"/>
              </a:ext>
            </a:extLst>
          </p:cNvPr>
          <p:cNvSpPr/>
          <p:nvPr/>
        </p:nvSpPr>
        <p:spPr>
          <a:xfrm>
            <a:off x="784709" y="2090184"/>
            <a:ext cx="6422231" cy="5943305"/>
          </a:xfrm>
          <a:prstGeom prst="roundRect">
            <a:avLst>
              <a:gd name="adj" fmla="val 2527"/>
            </a:avLst>
          </a:prstGeom>
          <a:solidFill>
            <a:srgbClr val="F2EEEE"/>
          </a:solidFill>
          <a:ln/>
        </p:spPr>
      </p:sp>
      <p:sp>
        <p:nvSpPr>
          <p:cNvPr id="6" name="Text 4">
            <a:extLst>
              <a:ext uri="{FF2B5EF4-FFF2-40B4-BE49-F238E27FC236}">
                <a16:creationId xmlns:a16="http://schemas.microsoft.com/office/drawing/2014/main" id="{DF42ABDF-EE53-81D2-D02E-4F03E4B54268}"/>
              </a:ext>
            </a:extLst>
          </p:cNvPr>
          <p:cNvSpPr/>
          <p:nvPr/>
        </p:nvSpPr>
        <p:spPr>
          <a:xfrm>
            <a:off x="992147" y="1959423"/>
            <a:ext cx="6025515" cy="417287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Underfitting Symptoms</a:t>
            </a:r>
            <a:endParaRPr lang="en-US" sz="24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High training error</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High validation error</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Training and validation errors similar</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Model appears too simple</a:t>
            </a:r>
          </a:p>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Solutions</a:t>
            </a:r>
            <a:endParaRPr lang="en-US" sz="24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Increase number of estimators</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Slightly increase tree depth (to 2-3)</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Ensure sufficient training iterations</a:t>
            </a:r>
            <a:endParaRPr lang="en-US" sz="18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a:p>
            <a:pPr marL="342900" indent="-342900" algn="l">
              <a:lnSpc>
                <a:spcPct val="200000"/>
              </a:lnSpc>
              <a:buSzPct val="100000"/>
              <a:buChar char="•"/>
            </a:pPr>
            <a:endParaRPr lang="en-US" sz="18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7" name="Shape 5">
            <a:extLst>
              <a:ext uri="{FF2B5EF4-FFF2-40B4-BE49-F238E27FC236}">
                <a16:creationId xmlns:a16="http://schemas.microsoft.com/office/drawing/2014/main" id="{B727E8AB-DA4B-E1B0-3315-D1AAB7DB6B81}"/>
              </a:ext>
            </a:extLst>
          </p:cNvPr>
          <p:cNvSpPr/>
          <p:nvPr/>
        </p:nvSpPr>
        <p:spPr>
          <a:xfrm>
            <a:off x="7414378" y="2097903"/>
            <a:ext cx="6422231" cy="5935586"/>
          </a:xfrm>
          <a:prstGeom prst="roundRect">
            <a:avLst>
              <a:gd name="adj" fmla="val 2527"/>
            </a:avLst>
          </a:prstGeom>
          <a:solidFill>
            <a:srgbClr val="F2EEEE"/>
          </a:solidFill>
          <a:ln/>
        </p:spPr>
      </p:sp>
      <p:sp>
        <p:nvSpPr>
          <p:cNvPr id="8" name="Text 6">
            <a:extLst>
              <a:ext uri="{FF2B5EF4-FFF2-40B4-BE49-F238E27FC236}">
                <a16:creationId xmlns:a16="http://schemas.microsoft.com/office/drawing/2014/main" id="{84B19D89-09C7-ADF0-333B-7F947765DC23}"/>
              </a:ext>
            </a:extLst>
          </p:cNvPr>
          <p:cNvSpPr/>
          <p:nvPr/>
        </p:nvSpPr>
        <p:spPr>
          <a:xfrm>
            <a:off x="7612737" y="1959423"/>
            <a:ext cx="6025515" cy="781288"/>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Overfitting Symptoms</a:t>
            </a:r>
            <a:endParaRPr lang="en-US" sz="24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Low training error</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High validation error</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Large gap between errors</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Model memorizes training data</a:t>
            </a:r>
          </a:p>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Solutions</a:t>
            </a:r>
            <a:endParaRPr lang="en-US" sz="24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Reduce learning rate</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Decrease tree depth</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Use early stopping based on validation</a:t>
            </a:r>
            <a:endParaRPr lang="en-US" sz="1800" dirty="0">
              <a:solidFill>
                <a:schemeClr val="tx1"/>
              </a:solidFill>
              <a:latin typeface="PT Serif" panose="020A0603040505020204" pitchFamily="18" charset="0"/>
            </a:endParaRPr>
          </a:p>
          <a:p>
            <a:pPr marL="342900" indent="-342900" algn="l">
              <a:lnSpc>
                <a:spcPct val="200000"/>
              </a:lnSpc>
              <a:buSzPct val="100000"/>
              <a:buChar char="•"/>
            </a:pPr>
            <a:r>
              <a:rPr lang="en-US" sz="1800" dirty="0">
                <a:solidFill>
                  <a:schemeClr val="tx1"/>
                </a:solidFill>
                <a:latin typeface="PT Serif" panose="020A0603040505020204" pitchFamily="18" charset="0"/>
                <a:ea typeface="DM Sans" pitchFamily="34" charset="-122"/>
                <a:cs typeface="DM Sans" pitchFamily="34" charset="-120"/>
              </a:rPr>
              <a:t>Collect more training data if possible</a:t>
            </a:r>
            <a:endParaRPr lang="en-US" sz="18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a:p>
            <a:pPr algn="l">
              <a:lnSpc>
                <a:spcPct val="200000"/>
              </a:lnSpc>
              <a:buSzPct val="100000"/>
            </a:pPr>
            <a:endParaRPr lang="en-US" sz="18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4" name="Text 8">
            <a:extLst>
              <a:ext uri="{FF2B5EF4-FFF2-40B4-BE49-F238E27FC236}">
                <a16:creationId xmlns:a16="http://schemas.microsoft.com/office/drawing/2014/main" id="{A93BC0E9-7813-2769-A13A-7D8737149F9A}"/>
              </a:ext>
            </a:extLst>
          </p:cNvPr>
          <p:cNvSpPr/>
          <p:nvPr/>
        </p:nvSpPr>
        <p:spPr>
          <a:xfrm>
            <a:off x="992148" y="5047130"/>
            <a:ext cx="6025515" cy="781288"/>
          </a:xfrm>
          <a:prstGeom prst="rect">
            <a:avLst/>
          </a:prstGeom>
          <a:noFill/>
          <a:ln/>
        </p:spPr>
        <p:txBody>
          <a:bodyPr wrap="square" lIns="0" tIns="0" rIns="0" bIns="0" rtlCol="0" anchor="t"/>
          <a:lstStyle/>
          <a:p>
            <a:pPr marL="0" indent="0" algn="l">
              <a:lnSpc>
                <a:spcPct val="200000"/>
              </a:lnSpc>
              <a:buNone/>
            </a:pPr>
            <a:endParaRPr lang="en-US" sz="2400" dirty="0">
              <a:solidFill>
                <a:schemeClr val="tx1"/>
              </a:solidFill>
              <a:latin typeface="PT Serif" panose="020A0603040505020204" pitchFamily="18" charset="0"/>
            </a:endParaRPr>
          </a:p>
        </p:txBody>
      </p:sp>
      <p:sp>
        <p:nvSpPr>
          <p:cNvPr id="15" name="Text 10">
            <a:extLst>
              <a:ext uri="{FF2B5EF4-FFF2-40B4-BE49-F238E27FC236}">
                <a16:creationId xmlns:a16="http://schemas.microsoft.com/office/drawing/2014/main" id="{08C50413-73B0-231D-9103-B3EE1113D0E1}"/>
              </a:ext>
            </a:extLst>
          </p:cNvPr>
          <p:cNvSpPr/>
          <p:nvPr/>
        </p:nvSpPr>
        <p:spPr>
          <a:xfrm>
            <a:off x="7612737" y="5047129"/>
            <a:ext cx="6025515" cy="1566683"/>
          </a:xfrm>
          <a:prstGeom prst="rect">
            <a:avLst/>
          </a:prstGeom>
          <a:noFill/>
          <a:ln/>
        </p:spPr>
        <p:txBody>
          <a:bodyPr wrap="square" lIns="0" tIns="0" rIns="0" bIns="0" rtlCol="0" anchor="t"/>
          <a:lstStyle/>
          <a:p>
            <a:pPr marL="0" indent="0" algn="l">
              <a:lnSpc>
                <a:spcPct val="200000"/>
              </a:lnSpc>
              <a:buNone/>
            </a:pPr>
            <a:endParaRPr lang="en-US" sz="2400" dirty="0">
              <a:solidFill>
                <a:schemeClr val="tx1"/>
              </a:solidFill>
              <a:latin typeface="PT Serif" panose="020A0603040505020204" pitchFamily="18" charset="0"/>
            </a:endParaRPr>
          </a:p>
        </p:txBody>
      </p:sp>
      <p:sp>
        <p:nvSpPr>
          <p:cNvPr id="12" name="TextBox 11">
            <a:extLst>
              <a:ext uri="{FF2B5EF4-FFF2-40B4-BE49-F238E27FC236}">
                <a16:creationId xmlns:a16="http://schemas.microsoft.com/office/drawing/2014/main" id="{290A0D9C-33A0-5582-C703-74390180F6DD}"/>
              </a:ext>
            </a:extLst>
          </p:cNvPr>
          <p:cNvSpPr txBox="1"/>
          <p:nvPr/>
        </p:nvSpPr>
        <p:spPr>
          <a:xfrm>
            <a:off x="784709" y="808461"/>
            <a:ext cx="13051901"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Recognizing and addressing underfitting and overfitting are essential skills for effective AdaBoost tuning. The symptoms and solutions differ significantly between these two problems.</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2269145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1239" y="0"/>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Dataset Size and Noise Considerations</a:t>
            </a:r>
            <a:endParaRPr lang="en-US" sz="3600" dirty="0">
              <a:solidFill>
                <a:schemeClr val="tx1"/>
              </a:solidFill>
            </a:endParaRPr>
          </a:p>
        </p:txBody>
      </p:sp>
      <p:sp>
        <p:nvSpPr>
          <p:cNvPr id="13" name="Shape 5">
            <a:extLst>
              <a:ext uri="{FF2B5EF4-FFF2-40B4-BE49-F238E27FC236}">
                <a16:creationId xmlns:a16="http://schemas.microsoft.com/office/drawing/2014/main" id="{E7C49C67-C298-4068-CA76-A4C08A84BF5C}"/>
              </a:ext>
            </a:extLst>
          </p:cNvPr>
          <p:cNvSpPr/>
          <p:nvPr/>
        </p:nvSpPr>
        <p:spPr>
          <a:xfrm>
            <a:off x="5178400" y="2963537"/>
            <a:ext cx="4164095" cy="4732663"/>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00197" y="2963538"/>
            <a:ext cx="3699498" cy="486528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Large Datasets</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Employ lower learning rates (0.01-0.1) with more estimators. This patient approach builds robust models that generalize well despite longer training times.</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579921" y="4770089"/>
            <a:ext cx="3818692" cy="127015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34635" y="3010684"/>
            <a:ext cx="3818573" cy="4691780"/>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398776" y="3002136"/>
            <a:ext cx="3347385"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Noise Sensitivity</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AdaBoost focuses heavily on hard examples, which can include noisy mislabeled points. For noisy data, reduce learning rate or consider Gradient Boosting as an alternative.</a:t>
            </a:r>
            <a:endParaRPr lang="en-US" sz="18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28193" y="3682697"/>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22322" y="2963539"/>
            <a:ext cx="3976821" cy="4732664"/>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52515" y="2963538"/>
            <a:ext cx="3390945"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Small Datasets</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Use higher learning rates (0.5-1.0) to extract maximum signal from limited data. Fewer estimators may suffice. Monitor for overfitting closely.</a:t>
            </a:r>
            <a:endParaRPr lang="en-US" sz="1800" dirty="0">
              <a:solidFill>
                <a:schemeClr val="tx1"/>
              </a:solidFill>
              <a:latin typeface="PT Serif" panose="020A0603040505020204" pitchFamily="18" charset="0"/>
            </a:endParaRPr>
          </a:p>
          <a:p>
            <a:pPr marL="457200" indent="-457200" algn="l">
              <a:lnSpc>
                <a:spcPct val="200000"/>
              </a:lnSpc>
              <a:buAutoNum type="arabicPeriod"/>
            </a:pPr>
            <a:endParaRPr lang="en-US" sz="2400"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2" name="TextBox 11">
            <a:extLst>
              <a:ext uri="{FF2B5EF4-FFF2-40B4-BE49-F238E27FC236}">
                <a16:creationId xmlns:a16="http://schemas.microsoft.com/office/drawing/2014/main" id="{FDC4DA48-35D7-6A07-2464-343D25168B61}"/>
              </a:ext>
            </a:extLst>
          </p:cNvPr>
          <p:cNvSpPr txBox="1"/>
          <p:nvPr/>
        </p:nvSpPr>
        <p:spPr>
          <a:xfrm>
            <a:off x="622322" y="1371600"/>
            <a:ext cx="13077091" cy="1121654"/>
          </a:xfrm>
          <a:prstGeom prst="rect">
            <a:avLst/>
          </a:prstGeom>
          <a:noFill/>
        </p:spPr>
        <p:txBody>
          <a:bodyPr wrap="square">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Your dataset's characteristics should directly inform hyperparameter choices. AdaBoost's behavior varies significantly based on data volume and quality.</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3157700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47E2D7F0-A3F0-243A-D1F8-49C9F1D7D98F}"/>
              </a:ext>
            </a:extLst>
          </p:cNvPr>
          <p:cNvSpPr/>
          <p:nvPr/>
        </p:nvSpPr>
        <p:spPr>
          <a:xfrm>
            <a:off x="228600" y="2743200"/>
            <a:ext cx="13914627" cy="3352800"/>
          </a:xfrm>
          <a:prstGeom prst="roundRect">
            <a:avLst>
              <a:gd name="adj" fmla="val 2565"/>
            </a:avLst>
          </a:prstGeom>
          <a:solidFill>
            <a:srgbClr val="FFCDB3"/>
          </a:solidFill>
          <a:ln/>
        </p:spPr>
      </p:sp>
      <p:sp>
        <p:nvSpPr>
          <p:cNvPr id="2" name="Title 1">
            <a:extLst>
              <a:ext uri="{FF2B5EF4-FFF2-40B4-BE49-F238E27FC236}">
                <a16:creationId xmlns:a16="http://schemas.microsoft.com/office/drawing/2014/main" id="{B857A60F-5A2F-33F0-43EC-E062F584553B}"/>
              </a:ext>
            </a:extLst>
          </p:cNvPr>
          <p:cNvSpPr>
            <a:spLocks noGrp="1"/>
          </p:cNvSpPr>
          <p:nvPr>
            <p:ph type="title"/>
          </p:nvPr>
        </p:nvSpPr>
        <p:spPr>
          <a:xfrm>
            <a:off x="487172" y="401522"/>
            <a:ext cx="13656055" cy="623376"/>
          </a:xfrm>
        </p:spPr>
        <p:txBody>
          <a:bodyPr/>
          <a:lstStyle/>
          <a:p>
            <a:pPr marL="0" indent="0" algn="l">
              <a:lnSpc>
                <a:spcPts val="5100"/>
              </a:lnSpc>
              <a:buNone/>
            </a:pPr>
            <a:r>
              <a:rPr lang="en-US" sz="3600" dirty="0">
                <a:solidFill>
                  <a:srgbClr val="020202"/>
                </a:solidFill>
                <a:latin typeface="PT Serif" pitchFamily="34" charset="0"/>
                <a:ea typeface="PT Serif" pitchFamily="34" charset="-122"/>
                <a:cs typeface="PT Serif" pitchFamily="34" charset="-120"/>
              </a:rPr>
              <a:t>Expert Starting Configuration</a:t>
            </a:r>
            <a:endParaRPr lang="en-US" sz="3600" dirty="0"/>
          </a:p>
        </p:txBody>
      </p:sp>
      <p:sp>
        <p:nvSpPr>
          <p:cNvPr id="3" name="Text Placeholder 2">
            <a:extLst>
              <a:ext uri="{FF2B5EF4-FFF2-40B4-BE49-F238E27FC236}">
                <a16:creationId xmlns:a16="http://schemas.microsoft.com/office/drawing/2014/main" id="{356C81DE-A612-5602-2485-DE8FD703A41C}"/>
              </a:ext>
            </a:extLst>
          </p:cNvPr>
          <p:cNvSpPr>
            <a:spLocks noGrp="1"/>
          </p:cNvSpPr>
          <p:nvPr>
            <p:ph type="body" idx="1"/>
          </p:nvPr>
        </p:nvSpPr>
        <p:spPr>
          <a:xfrm>
            <a:off x="487172" y="1295400"/>
            <a:ext cx="13656055" cy="7000186"/>
          </a:xfrm>
        </p:spPr>
        <p:txBody>
          <a:bodyPr/>
          <a:lstStyle/>
          <a:p>
            <a:pPr marL="0" indent="0" algn="l">
              <a:lnSpc>
                <a:spcPct val="200000"/>
              </a:lnSpc>
              <a:buNone/>
            </a:pPr>
            <a:r>
              <a:rPr lang="en-US" sz="1800" dirty="0">
                <a:solidFill>
                  <a:schemeClr val="tx1"/>
                </a:solidFill>
                <a:ea typeface="DM Sans" pitchFamily="34" charset="-122"/>
                <a:cs typeface="DM Sans" pitchFamily="34" charset="-120"/>
              </a:rPr>
              <a:t>Rather than random exploration, start with this proven configuration and tune gradually based on validation performance. This expert rule balances learning speed, model complexity, and generalization.</a:t>
            </a:r>
          </a:p>
          <a:p>
            <a:pPr marL="0" indent="0" algn="l">
              <a:lnSpc>
                <a:spcPct val="200000"/>
              </a:lnSpc>
              <a:buNone/>
            </a:pPr>
            <a:endParaRPr lang="en-US" sz="600" dirty="0">
              <a:solidFill>
                <a:schemeClr val="tx1"/>
              </a:solidFill>
              <a:ea typeface="DM Sans" pitchFamily="34" charset="-122"/>
              <a:cs typeface="DM Sans" pitchFamily="34" charset="-120"/>
            </a:endParaRPr>
          </a:p>
          <a:p>
            <a:pPr algn="l">
              <a:lnSpc>
                <a:spcPct val="200000"/>
              </a:lnSpc>
            </a:pPr>
            <a:r>
              <a:rPr lang="en-US" sz="2400" dirty="0">
                <a:solidFill>
                  <a:schemeClr val="tx1"/>
                </a:solidFill>
                <a:ea typeface="PT Serif" pitchFamily="34" charset="-122"/>
                <a:cs typeface="PT Serif" pitchFamily="34" charset="-120"/>
              </a:rPr>
              <a:t>Recommended Starting Point</a:t>
            </a:r>
            <a:endParaRPr lang="en-US" sz="2400" dirty="0">
              <a:solidFill>
                <a:schemeClr val="tx1"/>
              </a:solidFill>
            </a:endParaRPr>
          </a:p>
          <a:p>
            <a:pPr algn="l">
              <a:lnSpc>
                <a:spcPct val="200000"/>
              </a:lnSpc>
            </a:pPr>
            <a:r>
              <a:rPr lang="en-US" sz="1800" b="1" dirty="0">
                <a:solidFill>
                  <a:schemeClr val="tx1"/>
                </a:solidFill>
                <a:ea typeface="DM Sans" pitchFamily="34" charset="-122"/>
                <a:cs typeface="DM Sans" pitchFamily="34" charset="-120"/>
              </a:rPr>
              <a:t>Base Learner:</a:t>
            </a:r>
            <a:r>
              <a:rPr lang="en-US" sz="1800" dirty="0">
                <a:solidFill>
                  <a:schemeClr val="tx1"/>
                </a:solidFill>
                <a:ea typeface="DM Sans" pitchFamily="34" charset="-122"/>
                <a:cs typeface="DM Sans" pitchFamily="34" charset="-120"/>
              </a:rPr>
              <a:t> Decision stumps (DecisionTreeClassifier with max_depth=1)</a:t>
            </a:r>
            <a:endParaRPr lang="en-US" sz="1800" dirty="0">
              <a:solidFill>
                <a:schemeClr val="tx1"/>
              </a:solidFill>
            </a:endParaRPr>
          </a:p>
          <a:p>
            <a:pPr algn="l">
              <a:lnSpc>
                <a:spcPct val="200000"/>
              </a:lnSpc>
            </a:pPr>
            <a:r>
              <a:rPr lang="en-US" sz="1800" b="1" dirty="0">
                <a:solidFill>
                  <a:schemeClr val="tx1"/>
                </a:solidFill>
                <a:ea typeface="DM Sans" pitchFamily="34" charset="-122"/>
                <a:cs typeface="DM Sans" pitchFamily="34" charset="-120"/>
              </a:rPr>
              <a:t>Learning Rate:</a:t>
            </a:r>
            <a:r>
              <a:rPr lang="en-US" sz="1800" dirty="0">
                <a:solidFill>
                  <a:schemeClr val="tx1"/>
                </a:solidFill>
                <a:ea typeface="DM Sans" pitchFamily="34" charset="-122"/>
                <a:cs typeface="DM Sans" pitchFamily="34" charset="-120"/>
              </a:rPr>
              <a:t> 0.1</a:t>
            </a:r>
            <a:endParaRPr lang="en-US" sz="1800" dirty="0">
              <a:solidFill>
                <a:schemeClr val="tx1"/>
              </a:solidFill>
            </a:endParaRPr>
          </a:p>
          <a:p>
            <a:pPr algn="l">
              <a:lnSpc>
                <a:spcPct val="200000"/>
              </a:lnSpc>
            </a:pPr>
            <a:r>
              <a:rPr lang="en-US" sz="1800" b="1" dirty="0">
                <a:solidFill>
                  <a:schemeClr val="tx1"/>
                </a:solidFill>
                <a:ea typeface="DM Sans" pitchFamily="34" charset="-122"/>
                <a:cs typeface="DM Sans" pitchFamily="34" charset="-120"/>
              </a:rPr>
              <a:t>Number of Estimators:</a:t>
            </a:r>
            <a:r>
              <a:rPr lang="en-US" sz="1800" dirty="0">
                <a:solidFill>
                  <a:schemeClr val="tx1"/>
                </a:solidFill>
                <a:ea typeface="DM Sans" pitchFamily="34" charset="-122"/>
                <a:cs typeface="DM Sans" pitchFamily="34" charset="-120"/>
              </a:rPr>
              <a:t> 200</a:t>
            </a:r>
            <a:endParaRPr lang="en-US" sz="1800" dirty="0">
              <a:solidFill>
                <a:schemeClr val="tx1"/>
              </a:solidFill>
            </a:endParaRPr>
          </a:p>
          <a:p>
            <a:pPr algn="l">
              <a:lnSpc>
                <a:spcPct val="200000"/>
              </a:lnSpc>
            </a:pPr>
            <a:r>
              <a:rPr lang="en-US" sz="1800" b="1" dirty="0">
                <a:solidFill>
                  <a:schemeClr val="tx1"/>
                </a:solidFill>
                <a:ea typeface="DM Sans" pitchFamily="34" charset="-122"/>
                <a:cs typeface="DM Sans" pitchFamily="34" charset="-120"/>
              </a:rPr>
              <a:t>Tuning Strategy:</a:t>
            </a:r>
            <a:r>
              <a:rPr lang="en-US" sz="1800" dirty="0">
                <a:solidFill>
                  <a:schemeClr val="tx1"/>
                </a:solidFill>
                <a:ea typeface="DM Sans" pitchFamily="34" charset="-122"/>
                <a:cs typeface="DM Sans" pitchFamily="34" charset="-120"/>
              </a:rPr>
              <a:t> Adjust learning rate and n_estimators inversely. If reducing learning rate to 0.05, increase estimators to approximately 400.</a:t>
            </a:r>
          </a:p>
          <a:p>
            <a:pPr algn="l">
              <a:lnSpc>
                <a:spcPct val="200000"/>
              </a:lnSpc>
            </a:pPr>
            <a:endParaRPr lang="en-US" sz="1200" dirty="0">
              <a:solidFill>
                <a:schemeClr val="tx1"/>
              </a:solidFill>
            </a:endParaRPr>
          </a:p>
          <a:p>
            <a:pPr algn="l">
              <a:lnSpc>
                <a:spcPct val="200000"/>
              </a:lnSpc>
            </a:pPr>
            <a:r>
              <a:rPr lang="en-US" sz="1800" dirty="0">
                <a:solidFill>
                  <a:schemeClr val="tx1"/>
                </a:solidFill>
                <a:ea typeface="DM Sans" pitchFamily="34" charset="-122"/>
                <a:cs typeface="DM Sans" pitchFamily="34" charset="-120"/>
              </a:rPr>
              <a:t>This configuration works well across diverse problems and provides a solid foundation for iterative refinement. Use cross-validation to guide further tuning, adjusting one hyperparameter at a time while monitoring both training and validation metrics.</a:t>
            </a:r>
            <a:endParaRPr lang="en-US" sz="1800" dirty="0">
              <a:solidFill>
                <a:schemeClr val="tx1"/>
              </a:solidFill>
            </a:endParaRPr>
          </a:p>
          <a:p>
            <a:pPr marL="0" indent="0" algn="l">
              <a:lnSpc>
                <a:spcPct val="200000"/>
              </a:lnSpc>
              <a:buNone/>
            </a:pPr>
            <a:endParaRPr lang="en-US" sz="1800" b="1" dirty="0">
              <a:solidFill>
                <a:schemeClr val="tx1"/>
              </a:solidFill>
            </a:endParaRPr>
          </a:p>
        </p:txBody>
      </p:sp>
    </p:spTree>
    <p:extLst>
      <p:ext uri="{BB962C8B-B14F-4D97-AF65-F5344CB8AC3E}">
        <p14:creationId xmlns:p14="http://schemas.microsoft.com/office/powerpoint/2010/main" val="38217188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717" y="-49089"/>
            <a:ext cx="13656055" cy="1053866"/>
          </a:xfrm>
          <a:prstGeom prst="rect">
            <a:avLst/>
          </a:prstGeom>
        </p:spPr>
        <p:txBody>
          <a:bodyPr vert="horz" wrap="square" lIns="0" tIns="439471" rIns="0" bIns="0" rtlCol="0">
            <a:spAutoFit/>
          </a:bodyPr>
          <a:lstStyle/>
          <a:p>
            <a:pPr marL="0" indent="0" algn="l">
              <a:lnSpc>
                <a:spcPts val="5100"/>
              </a:lnSpc>
              <a:buNone/>
            </a:pPr>
            <a:r>
              <a:rPr lang="en-US" sz="3600" dirty="0">
                <a:solidFill>
                  <a:schemeClr val="tx1"/>
                </a:solidFill>
                <a:ea typeface="PT Serif" pitchFamily="34" charset="-122"/>
                <a:cs typeface="PT Serif" pitchFamily="34" charset="-120"/>
              </a:rPr>
              <a:t>AdaBoost: Key Takeaways</a:t>
            </a:r>
            <a:endParaRPr lang="en-US" sz="3600" dirty="0">
              <a:solidFill>
                <a:schemeClr val="tx1"/>
              </a:solidFill>
            </a:endParaRPr>
          </a:p>
        </p:txBody>
      </p:sp>
      <p:sp>
        <p:nvSpPr>
          <p:cNvPr id="13" name="Shape 5">
            <a:extLst>
              <a:ext uri="{FF2B5EF4-FFF2-40B4-BE49-F238E27FC236}">
                <a16:creationId xmlns:a16="http://schemas.microsoft.com/office/drawing/2014/main" id="{E7C49C67-C298-4068-CA76-A4C08A84BF5C}"/>
              </a:ext>
            </a:extLst>
          </p:cNvPr>
          <p:cNvSpPr/>
          <p:nvPr/>
        </p:nvSpPr>
        <p:spPr>
          <a:xfrm>
            <a:off x="5241878" y="1332412"/>
            <a:ext cx="4164095" cy="6592387"/>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36957" y="1330158"/>
            <a:ext cx="3699498" cy="486528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Simplicity Works</a:t>
            </a: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Start with decision stumps (max_depth=1) as your base learner. A weak learner needs only 51-60% accuracy. The magic happens when AdaBoost combines many simple rules into a sophisticated predictive model that often exceeds 90% accuracy.</a:t>
            </a: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3138964"/>
            <a:ext cx="3818692" cy="127015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198113" y="1379560"/>
            <a:ext cx="3818573" cy="6535437"/>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65937" y="1330158"/>
            <a:ext cx="3347385"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Smart Tuning Strategy</a:t>
            </a: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Begin with learning_rate=0.1 and n_estimators=200, then tune gradually. Lower learning rates (0.01-0.1) suit noisy datasets and need more estimators. Higher rates (0.5-1.0) work for smaller, cleaner datasets. Watch for overfitting on noisy data.</a:t>
            </a: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051572"/>
            <a:ext cx="3818573" cy="952619"/>
          </a:xfrm>
          <a:prstGeom prst="rect">
            <a:avLst/>
          </a:prstGeom>
          <a:noFill/>
          <a:ln/>
        </p:spPr>
        <p:txBody>
          <a:bodyPr wrap="square" lIns="0" tIns="0" rIns="0" bIns="0" rtlCol="0" anchor="t"/>
          <a:lstStyle/>
          <a:p>
            <a:pPr marL="0" indent="0" algn="l">
              <a:lnSpc>
                <a:spcPts val="25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685800" y="1332414"/>
            <a:ext cx="3976821" cy="6592389"/>
          </a:xfrm>
          <a:prstGeom prst="roundRect">
            <a:avLst>
              <a:gd name="adj" fmla="val 1410"/>
            </a:avLst>
          </a:prstGeom>
          <a:solidFill>
            <a:srgbClr val="F2EEEE"/>
          </a:solidFill>
          <a:ln/>
        </p:spPr>
        <p:txBody>
          <a:bodyPr/>
          <a:lstStyle/>
          <a:p>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22940" y="1330158"/>
            <a:ext cx="3626798"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Sequential Learning Power</a:t>
            </a: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AdaBoost transforms weak learners into a strong classifier by training models sequentially. Each new model focuses on correcting errors from previous ones, with misclassified points receiving higher weights. The final prediction combines all models through weighted voting.</a:t>
            </a: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30271709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979</TotalTime>
  <Words>2244</Words>
  <Application>Microsoft Office PowerPoint</Application>
  <PresentationFormat>Custom</PresentationFormat>
  <Paragraphs>277</Paragraphs>
  <Slides>20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DM Sans</vt:lpstr>
      <vt:lpstr>Lucida Sans Unicode</vt:lpstr>
      <vt:lpstr>PT Serif</vt:lpstr>
      <vt:lpstr>Office Theme</vt:lpstr>
      <vt:lpstr>PowerPoint Presentation</vt:lpstr>
      <vt:lpstr>PowerPoint Presentation</vt:lpstr>
      <vt:lpstr>What are Boosting Methods?</vt:lpstr>
      <vt:lpstr>Core Concept of AdaBoost</vt:lpstr>
      <vt:lpstr>Key Terms and Definitions</vt:lpstr>
      <vt:lpstr>What is a Weak Learner?</vt:lpstr>
      <vt:lpstr>Learning Rate Hyperparameter</vt:lpstr>
      <vt:lpstr>Additional Key Hyperparameters </vt:lpstr>
      <vt:lpstr>The Final Model Prediction</vt:lpstr>
      <vt:lpstr>Example - Data snapshot Campaign Response Model</vt:lpstr>
      <vt:lpstr>Variable Description</vt:lpstr>
      <vt:lpstr>Python Implementation</vt:lpstr>
      <vt:lpstr>Python Implementation (continued)</vt:lpstr>
      <vt:lpstr>Tuning n_estimators</vt:lpstr>
      <vt:lpstr>Tuning Learning Rate</vt:lpstr>
      <vt:lpstr>Base Learner Complexity</vt:lpstr>
      <vt:lpstr>Handling Underfitting vs Overfitting</vt:lpstr>
      <vt:lpstr>Dataset Size and Noise Considerations</vt:lpstr>
      <vt:lpstr>Expert Starting Configuration</vt:lpstr>
      <vt:lpstr>AdaBoost: 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Fimran Sanghvi</cp:lastModifiedBy>
  <cp:revision>331</cp:revision>
  <dcterms:created xsi:type="dcterms:W3CDTF">2025-08-01T06:43:07Z</dcterms:created>
  <dcterms:modified xsi:type="dcterms:W3CDTF">2026-03-02T05:23:14Z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