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74" r:id="rId2"/>
    <p:sldId id="303" r:id="rId3"/>
    <p:sldId id="265" r:id="rId4"/>
    <p:sldId id="304" r:id="rId5"/>
    <p:sldId id="286" r:id="rId6"/>
    <p:sldId id="260" r:id="rId7"/>
    <p:sldId id="305" r:id="rId8"/>
    <p:sldId id="291" r:id="rId9"/>
    <p:sldId id="306" r:id="rId10"/>
    <p:sldId id="307" r:id="rId11"/>
    <p:sldId id="308" r:id="rId12"/>
    <p:sldId id="302" r:id="rId13"/>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8891F-FB35-E1C6-2832-95F5AEC01C35}" v="1" dt="2025-11-06T07:40:41.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86" d="100"/>
          <a:sy n="86" d="100"/>
        </p:scale>
        <p:origin x="93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27/02/26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5</a:t>
            </a:fld>
            <a:endParaRPr lang="en-IN"/>
          </a:p>
        </p:txBody>
      </p:sp>
    </p:spTree>
    <p:extLst>
      <p:ext uri="{BB962C8B-B14F-4D97-AF65-F5344CB8AC3E}">
        <p14:creationId xmlns:p14="http://schemas.microsoft.com/office/powerpoint/2010/main" val="580901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12</a:t>
            </a:fld>
            <a:endParaRPr lang="en-IN"/>
          </a:p>
        </p:txBody>
      </p:sp>
    </p:spTree>
    <p:extLst>
      <p:ext uri="{BB962C8B-B14F-4D97-AF65-F5344CB8AC3E}">
        <p14:creationId xmlns:p14="http://schemas.microsoft.com/office/powerpoint/2010/main" val="3783919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27/02/26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27/02/26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27/02/26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27/02/26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65034" y="2201108"/>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Introduction to Boosting Methods</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65034" y="3463528"/>
            <a:ext cx="12725400" cy="651272"/>
          </a:xfrm>
          <a:prstGeom prst="rect">
            <a:avLst/>
          </a:prstGeom>
          <a:noFill/>
          <a:ln/>
        </p:spPr>
        <p:txBody>
          <a:bodyPr wrap="square" lIns="0" tIns="0" rIns="0" bIns="0" rtlCol="0" anchor="t"/>
          <a:lstStyle/>
          <a:p>
            <a:pPr marL="0" indent="0" algn="l">
              <a:lnSpc>
                <a:spcPct val="200000"/>
              </a:lnSpc>
              <a:buNone/>
            </a:pPr>
            <a:r>
              <a:rPr lang="en-US" sz="2000" dirty="0">
                <a:solidFill>
                  <a:schemeClr val="tx1"/>
                </a:solidFill>
                <a:latin typeface="PT Serif" panose="020A0603040505020204" pitchFamily="18" charset="0"/>
                <a:ea typeface="DM Sans" pitchFamily="34" charset="-122"/>
                <a:cs typeface="DM Sans" pitchFamily="34" charset="-120"/>
              </a:rPr>
              <a:t>This unit introduces the core ideas, intuition, and motivation behind boosting—a powerful ensemble learning technique that transforms weak learners into strong predictive models through sequential training.</a:t>
            </a:r>
            <a:endParaRPr lang="en-US" sz="20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A9C332C-3513-5277-15CB-ABC1E692D828}"/>
              </a:ext>
            </a:extLst>
          </p:cNvPr>
          <p:cNvSpPr/>
          <p:nvPr/>
        </p:nvSpPr>
        <p:spPr>
          <a:xfrm>
            <a:off x="793790" y="866061"/>
            <a:ext cx="4763333" cy="595432"/>
          </a:xfrm>
          <a:prstGeom prst="rect">
            <a:avLst/>
          </a:prstGeom>
          <a:noFill/>
          <a:ln/>
        </p:spPr>
        <p:txBody>
          <a:bodyPr wrap="none" lIns="0" tIns="0" rIns="0" bIns="0" rtlCol="0" anchor="t"/>
          <a:lstStyle/>
          <a:p>
            <a:pPr marL="0" indent="0" algn="l">
              <a:buNone/>
            </a:pPr>
            <a:endParaRPr lang="en-US" sz="3600" dirty="0">
              <a:solidFill>
                <a:schemeClr val="tx1"/>
              </a:solidFill>
              <a:latin typeface="PT Serif" panose="020A0603040505020204" pitchFamily="18" charset="0"/>
            </a:endParaRPr>
          </a:p>
        </p:txBody>
      </p:sp>
      <p:sp>
        <p:nvSpPr>
          <p:cNvPr id="4" name="Text 1">
            <a:extLst>
              <a:ext uri="{FF2B5EF4-FFF2-40B4-BE49-F238E27FC236}">
                <a16:creationId xmlns:a16="http://schemas.microsoft.com/office/drawing/2014/main" id="{72046C36-4F19-B344-0857-51CF40F55E8E}"/>
              </a:ext>
            </a:extLst>
          </p:cNvPr>
          <p:cNvSpPr/>
          <p:nvPr/>
        </p:nvSpPr>
        <p:spPr>
          <a:xfrm>
            <a:off x="793790" y="1915121"/>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01</a:t>
            </a:r>
            <a:endParaRPr lang="en-US" sz="1750" dirty="0">
              <a:solidFill>
                <a:schemeClr val="tx1"/>
              </a:solidFill>
              <a:latin typeface="PT Serif" panose="020A0603040505020204" pitchFamily="18" charset="0"/>
            </a:endParaRPr>
          </a:p>
        </p:txBody>
      </p:sp>
      <p:sp>
        <p:nvSpPr>
          <p:cNvPr id="5" name="Shape 2">
            <a:extLst>
              <a:ext uri="{FF2B5EF4-FFF2-40B4-BE49-F238E27FC236}">
                <a16:creationId xmlns:a16="http://schemas.microsoft.com/office/drawing/2014/main" id="{3552249E-44BC-E618-216E-8D3691AB37B0}"/>
              </a:ext>
            </a:extLst>
          </p:cNvPr>
          <p:cNvSpPr/>
          <p:nvPr/>
        </p:nvSpPr>
        <p:spPr>
          <a:xfrm>
            <a:off x="793790" y="2270165"/>
            <a:ext cx="6407944" cy="30480"/>
          </a:xfrm>
          <a:prstGeom prst="rect">
            <a:avLst/>
          </a:prstGeom>
          <a:solidFill>
            <a:srgbClr val="E04F00"/>
          </a:solidFill>
          <a:ln/>
        </p:spPr>
      </p:sp>
      <p:sp>
        <p:nvSpPr>
          <p:cNvPr id="6" name="Text 3">
            <a:extLst>
              <a:ext uri="{FF2B5EF4-FFF2-40B4-BE49-F238E27FC236}">
                <a16:creationId xmlns:a16="http://schemas.microsoft.com/office/drawing/2014/main" id="{CDD4C5B0-15E3-D996-ED9A-1B524CB3A7A6}"/>
              </a:ext>
            </a:extLst>
          </p:cNvPr>
          <p:cNvSpPr/>
          <p:nvPr/>
        </p:nvSpPr>
        <p:spPr>
          <a:xfrm>
            <a:off x="793790" y="2444473"/>
            <a:ext cx="4370308" cy="372070"/>
          </a:xfrm>
          <a:prstGeom prst="rect">
            <a:avLst/>
          </a:prstGeom>
          <a:noFill/>
          <a:ln/>
        </p:spPr>
        <p:txBody>
          <a:bodyPr wrap="none" lIns="0" tIns="0" rIns="0" bIns="0" rtlCol="0" anchor="t"/>
          <a:lstStyle/>
          <a:p>
            <a:pPr marL="0" indent="0" algn="l">
              <a:lnSpc>
                <a:spcPts val="3050"/>
              </a:lnSpc>
              <a:buNone/>
            </a:pPr>
            <a:r>
              <a:rPr lang="en-US" sz="2400" dirty="0">
                <a:solidFill>
                  <a:schemeClr val="tx1"/>
                </a:solidFill>
                <a:latin typeface="PT Serif" pitchFamily="34" charset="0"/>
                <a:ea typeface="PT Serif" pitchFamily="34" charset="-122"/>
                <a:cs typeface="PT Serif" pitchFamily="34" charset="-120"/>
              </a:rPr>
              <a:t>Understand the basic concept of boosting</a:t>
            </a:r>
            <a:endParaRPr lang="en-US" sz="2400" dirty="0">
              <a:solidFill>
                <a:schemeClr val="tx1"/>
              </a:solidFill>
            </a:endParaRPr>
          </a:p>
        </p:txBody>
      </p:sp>
      <p:sp>
        <p:nvSpPr>
          <p:cNvPr id="7" name="Text 4">
            <a:extLst>
              <a:ext uri="{FF2B5EF4-FFF2-40B4-BE49-F238E27FC236}">
                <a16:creationId xmlns:a16="http://schemas.microsoft.com/office/drawing/2014/main" id="{0309F82A-61DB-AE25-4160-672AA2FAB163}"/>
              </a:ext>
            </a:extLst>
          </p:cNvPr>
          <p:cNvSpPr/>
          <p:nvPr/>
        </p:nvSpPr>
        <p:spPr>
          <a:xfrm>
            <a:off x="7428548" y="1915121"/>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02</a:t>
            </a:r>
            <a:endParaRPr lang="en-US" sz="1750" dirty="0">
              <a:solidFill>
                <a:schemeClr val="tx1"/>
              </a:solidFill>
              <a:latin typeface="PT Serif" panose="020A0603040505020204" pitchFamily="18" charset="0"/>
            </a:endParaRPr>
          </a:p>
        </p:txBody>
      </p:sp>
      <p:sp>
        <p:nvSpPr>
          <p:cNvPr id="8" name="Shape 5">
            <a:extLst>
              <a:ext uri="{FF2B5EF4-FFF2-40B4-BE49-F238E27FC236}">
                <a16:creationId xmlns:a16="http://schemas.microsoft.com/office/drawing/2014/main" id="{E2F31201-82CB-2BC0-7989-5F8D160A0058}"/>
              </a:ext>
            </a:extLst>
          </p:cNvPr>
          <p:cNvSpPr/>
          <p:nvPr/>
        </p:nvSpPr>
        <p:spPr>
          <a:xfrm>
            <a:off x="7428548" y="2270165"/>
            <a:ext cx="6408063" cy="30480"/>
          </a:xfrm>
          <a:prstGeom prst="rect">
            <a:avLst/>
          </a:prstGeom>
          <a:solidFill>
            <a:srgbClr val="E04F00"/>
          </a:solidFill>
          <a:ln/>
        </p:spPr>
      </p:sp>
      <p:sp>
        <p:nvSpPr>
          <p:cNvPr id="9" name="Text 6">
            <a:extLst>
              <a:ext uri="{FF2B5EF4-FFF2-40B4-BE49-F238E27FC236}">
                <a16:creationId xmlns:a16="http://schemas.microsoft.com/office/drawing/2014/main" id="{CE2ED809-2444-D266-0B25-1AC419F86A98}"/>
              </a:ext>
            </a:extLst>
          </p:cNvPr>
          <p:cNvSpPr/>
          <p:nvPr/>
        </p:nvSpPr>
        <p:spPr>
          <a:xfrm>
            <a:off x="7428548" y="2401967"/>
            <a:ext cx="4915852" cy="506016"/>
          </a:xfrm>
          <a:prstGeom prst="rect">
            <a:avLst/>
          </a:prstGeom>
          <a:noFill/>
          <a:ln/>
        </p:spPr>
        <p:txBody>
          <a:bodyPr wrap="none" lIns="0" tIns="0" rIns="0" bIns="0" rtlCol="0" anchor="t"/>
          <a:lstStyle/>
          <a:p>
            <a:pPr marL="0" indent="0" algn="l">
              <a:lnSpc>
                <a:spcPts val="3050"/>
              </a:lnSpc>
              <a:buNone/>
            </a:pPr>
            <a:r>
              <a:rPr lang="en-US" sz="2400" dirty="0">
                <a:solidFill>
                  <a:schemeClr val="tx1"/>
                </a:solidFill>
                <a:latin typeface="PT Serif" pitchFamily="34" charset="0"/>
                <a:ea typeface="PT Serif" pitchFamily="34" charset="-122"/>
                <a:cs typeface="PT Serif" pitchFamily="34" charset="-120"/>
              </a:rPr>
              <a:t>Why boosting is effective</a:t>
            </a:r>
            <a:endParaRPr lang="en-US" sz="2400" dirty="0">
              <a:solidFill>
                <a:schemeClr val="tx1"/>
              </a:solidFill>
            </a:endParaRPr>
          </a:p>
        </p:txBody>
      </p:sp>
      <p:sp>
        <p:nvSpPr>
          <p:cNvPr id="10" name="Text 7">
            <a:extLst>
              <a:ext uri="{FF2B5EF4-FFF2-40B4-BE49-F238E27FC236}">
                <a16:creationId xmlns:a16="http://schemas.microsoft.com/office/drawing/2014/main" id="{5D610C32-643A-0E95-03F1-6CEA69478148}"/>
              </a:ext>
            </a:extLst>
          </p:cNvPr>
          <p:cNvSpPr/>
          <p:nvPr/>
        </p:nvSpPr>
        <p:spPr>
          <a:xfrm>
            <a:off x="793790" y="321337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03</a:t>
            </a:r>
            <a:endParaRPr lang="en-US" sz="1750" dirty="0">
              <a:solidFill>
                <a:schemeClr val="tx1"/>
              </a:solidFill>
              <a:latin typeface="PT Serif" panose="020A0603040505020204" pitchFamily="18" charset="0"/>
            </a:endParaRPr>
          </a:p>
        </p:txBody>
      </p:sp>
      <p:sp>
        <p:nvSpPr>
          <p:cNvPr id="11" name="Shape 8">
            <a:extLst>
              <a:ext uri="{FF2B5EF4-FFF2-40B4-BE49-F238E27FC236}">
                <a16:creationId xmlns:a16="http://schemas.microsoft.com/office/drawing/2014/main" id="{B3447531-D3DD-F34E-7A78-FB23A0C0251C}"/>
              </a:ext>
            </a:extLst>
          </p:cNvPr>
          <p:cNvSpPr/>
          <p:nvPr/>
        </p:nvSpPr>
        <p:spPr>
          <a:xfrm>
            <a:off x="793790" y="3568423"/>
            <a:ext cx="6407944" cy="30480"/>
          </a:xfrm>
          <a:prstGeom prst="rect">
            <a:avLst/>
          </a:prstGeom>
          <a:solidFill>
            <a:srgbClr val="E04F00"/>
          </a:solidFill>
          <a:ln/>
        </p:spPr>
      </p:sp>
      <p:sp>
        <p:nvSpPr>
          <p:cNvPr id="12" name="Text 9">
            <a:extLst>
              <a:ext uri="{FF2B5EF4-FFF2-40B4-BE49-F238E27FC236}">
                <a16:creationId xmlns:a16="http://schemas.microsoft.com/office/drawing/2014/main" id="{0EB6FCAE-4C8D-3C57-E932-5C74E2230A72}"/>
              </a:ext>
            </a:extLst>
          </p:cNvPr>
          <p:cNvSpPr/>
          <p:nvPr/>
        </p:nvSpPr>
        <p:spPr>
          <a:xfrm>
            <a:off x="793790" y="3742729"/>
            <a:ext cx="5607010" cy="341591"/>
          </a:xfrm>
          <a:prstGeom prst="rect">
            <a:avLst/>
          </a:prstGeom>
          <a:noFill/>
          <a:ln/>
        </p:spPr>
        <p:txBody>
          <a:bodyPr wrap="square" lIns="0" tIns="0" rIns="0" bIns="0" rtlCol="0" anchor="t"/>
          <a:lstStyle/>
          <a:p>
            <a:pPr marL="0" indent="0" algn="l">
              <a:lnSpc>
                <a:spcPts val="3050"/>
              </a:lnSpc>
              <a:buNone/>
            </a:pPr>
            <a:r>
              <a:rPr lang="en-US" sz="2400" dirty="0">
                <a:solidFill>
                  <a:schemeClr val="tx1"/>
                </a:solidFill>
                <a:latin typeface="PT Serif" pitchFamily="34" charset="0"/>
                <a:ea typeface="PT Serif" pitchFamily="34" charset="-122"/>
                <a:cs typeface="PT Serif" pitchFamily="34" charset="-120"/>
              </a:rPr>
              <a:t>The intuition behind sequential learning</a:t>
            </a:r>
            <a:endParaRPr lang="en-US" sz="2400" dirty="0">
              <a:solidFill>
                <a:schemeClr val="tx1"/>
              </a:solidFill>
            </a:endParaRPr>
          </a:p>
        </p:txBody>
      </p:sp>
      <p:sp>
        <p:nvSpPr>
          <p:cNvPr id="13" name="Text 10">
            <a:extLst>
              <a:ext uri="{FF2B5EF4-FFF2-40B4-BE49-F238E27FC236}">
                <a16:creationId xmlns:a16="http://schemas.microsoft.com/office/drawing/2014/main" id="{147450C1-0DEA-BE6A-BBDF-8E8E854A8590}"/>
              </a:ext>
            </a:extLst>
          </p:cNvPr>
          <p:cNvSpPr/>
          <p:nvPr/>
        </p:nvSpPr>
        <p:spPr>
          <a:xfrm>
            <a:off x="7428548" y="321337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04</a:t>
            </a:r>
            <a:endParaRPr lang="en-US" sz="1750" dirty="0">
              <a:solidFill>
                <a:schemeClr val="tx1"/>
              </a:solidFill>
              <a:latin typeface="PT Serif" panose="020A0603040505020204" pitchFamily="18" charset="0"/>
            </a:endParaRPr>
          </a:p>
        </p:txBody>
      </p:sp>
      <p:sp>
        <p:nvSpPr>
          <p:cNvPr id="14" name="Shape 11">
            <a:extLst>
              <a:ext uri="{FF2B5EF4-FFF2-40B4-BE49-F238E27FC236}">
                <a16:creationId xmlns:a16="http://schemas.microsoft.com/office/drawing/2014/main" id="{1606572F-4F16-D2B1-7726-34624F8CCA1A}"/>
              </a:ext>
            </a:extLst>
          </p:cNvPr>
          <p:cNvSpPr/>
          <p:nvPr/>
        </p:nvSpPr>
        <p:spPr>
          <a:xfrm>
            <a:off x="7428548" y="3568423"/>
            <a:ext cx="6408063" cy="30480"/>
          </a:xfrm>
          <a:prstGeom prst="rect">
            <a:avLst/>
          </a:prstGeom>
          <a:solidFill>
            <a:srgbClr val="E04F00"/>
          </a:solidFill>
          <a:ln/>
        </p:spPr>
      </p:sp>
      <p:sp>
        <p:nvSpPr>
          <p:cNvPr id="15" name="Text 12">
            <a:extLst>
              <a:ext uri="{FF2B5EF4-FFF2-40B4-BE49-F238E27FC236}">
                <a16:creationId xmlns:a16="http://schemas.microsoft.com/office/drawing/2014/main" id="{51EB1543-ED3C-C40A-656D-E1E029E31715}"/>
              </a:ext>
            </a:extLst>
          </p:cNvPr>
          <p:cNvSpPr/>
          <p:nvPr/>
        </p:nvSpPr>
        <p:spPr>
          <a:xfrm>
            <a:off x="7428548" y="3742730"/>
            <a:ext cx="3837027" cy="372070"/>
          </a:xfrm>
          <a:prstGeom prst="rect">
            <a:avLst/>
          </a:prstGeom>
          <a:noFill/>
          <a:ln/>
        </p:spPr>
        <p:txBody>
          <a:bodyPr wrap="none" lIns="0" tIns="0" rIns="0" bIns="0" rtlCol="0" anchor="t"/>
          <a:lstStyle/>
          <a:p>
            <a:pPr marL="0" indent="0" algn="l">
              <a:buNone/>
            </a:pPr>
            <a:endParaRPr lang="en-US" sz="2400" dirty="0">
              <a:solidFill>
                <a:schemeClr val="tx1"/>
              </a:solidFill>
              <a:latin typeface="PT Serif" panose="020A0603040505020204" pitchFamily="18" charset="0"/>
            </a:endParaRPr>
          </a:p>
        </p:txBody>
      </p:sp>
      <p:sp>
        <p:nvSpPr>
          <p:cNvPr id="16" name="Text 9">
            <a:extLst>
              <a:ext uri="{FF2B5EF4-FFF2-40B4-BE49-F238E27FC236}">
                <a16:creationId xmlns:a16="http://schemas.microsoft.com/office/drawing/2014/main" id="{BFE1E982-EFA4-B28E-3330-980A6F780FA0}"/>
              </a:ext>
            </a:extLst>
          </p:cNvPr>
          <p:cNvSpPr/>
          <p:nvPr/>
        </p:nvSpPr>
        <p:spPr>
          <a:xfrm>
            <a:off x="7428548" y="3755247"/>
            <a:ext cx="5149810" cy="341590"/>
          </a:xfrm>
          <a:prstGeom prst="rect">
            <a:avLst/>
          </a:prstGeom>
          <a:noFill/>
          <a:ln/>
        </p:spPr>
        <p:txBody>
          <a:bodyPr wrap="none" lIns="0" tIns="0" rIns="0" bIns="0" rtlCol="0" anchor="t"/>
          <a:lstStyle/>
          <a:p>
            <a:pPr marL="0" indent="0" algn="l">
              <a:lnSpc>
                <a:spcPts val="3050"/>
              </a:lnSpc>
              <a:buNone/>
            </a:pPr>
            <a:r>
              <a:rPr lang="en-US" sz="2400" dirty="0">
                <a:solidFill>
                  <a:schemeClr val="tx1"/>
                </a:solidFill>
                <a:latin typeface="PT Serif" pitchFamily="34" charset="0"/>
                <a:ea typeface="PT Serif" pitchFamily="34" charset="-122"/>
                <a:cs typeface="PT Serif" pitchFamily="34" charset="-120"/>
              </a:rPr>
              <a:t>Common applications of boosting</a:t>
            </a:r>
            <a:endParaRPr lang="en-US" sz="2400" dirty="0">
              <a:solidFill>
                <a:schemeClr val="tx1"/>
              </a:solidFill>
            </a:endParaRPr>
          </a:p>
        </p:txBody>
      </p:sp>
      <p:sp>
        <p:nvSpPr>
          <p:cNvPr id="27" name="Title 26">
            <a:extLst>
              <a:ext uri="{FF2B5EF4-FFF2-40B4-BE49-F238E27FC236}">
                <a16:creationId xmlns:a16="http://schemas.microsoft.com/office/drawing/2014/main" id="{A5AB497F-37CD-CBB4-DFAA-35017A97C0F3}"/>
              </a:ext>
            </a:extLst>
          </p:cNvPr>
          <p:cNvSpPr>
            <a:spLocks noGrp="1"/>
          </p:cNvSpPr>
          <p:nvPr>
            <p:ph type="title"/>
          </p:nvPr>
        </p:nvSpPr>
        <p:spPr>
          <a:xfrm>
            <a:off x="747027" y="775692"/>
            <a:ext cx="13656055" cy="1123384"/>
          </a:xfrm>
        </p:spPr>
        <p:txBody>
          <a:bodyPr/>
          <a:lstStyle/>
          <a:p>
            <a:r>
              <a:rPr lang="en-US" sz="3600" dirty="0">
                <a:solidFill>
                  <a:schemeClr val="tx1"/>
                </a:solidFill>
                <a:latin typeface="PT Serif" panose="020A0603040505020204" pitchFamily="18" charset="0"/>
                <a:ea typeface="PT Serif" pitchFamily="34" charset="-122"/>
                <a:cs typeface="PT Serif" pitchFamily="34" charset="-120"/>
              </a:rPr>
              <a:t>Contents</a:t>
            </a:r>
            <a:br>
              <a:rPr lang="en-US" sz="3600" dirty="0">
                <a:solidFill>
                  <a:schemeClr val="tx1"/>
                </a:solidFill>
                <a:latin typeface="PT Serif" panose="020A0603040505020204" pitchFamily="18" charset="0"/>
              </a:rPr>
            </a:br>
            <a:endParaRPr lang="en-IN" sz="3600" dirty="0">
              <a:solidFill>
                <a:schemeClr val="tx1"/>
              </a:solidFill>
            </a:endParaRPr>
          </a:p>
        </p:txBody>
      </p:sp>
    </p:spTree>
    <p:extLst>
      <p:ext uri="{BB962C8B-B14F-4D97-AF65-F5344CB8AC3E}">
        <p14:creationId xmlns:p14="http://schemas.microsoft.com/office/powerpoint/2010/main" val="250545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 name="object 13">
            <a:extLst>
              <a:ext uri="{FF2B5EF4-FFF2-40B4-BE49-F238E27FC236}">
                <a16:creationId xmlns:a16="http://schemas.microsoft.com/office/drawing/2014/main" id="{3D639589-1851-8CA7-534F-EFA65DE9761F}"/>
              </a:ext>
            </a:extLst>
          </p:cNvPr>
          <p:cNvGrpSpPr/>
          <p:nvPr/>
        </p:nvGrpSpPr>
        <p:grpSpPr>
          <a:xfrm>
            <a:off x="7306572" y="2954878"/>
            <a:ext cx="5512004" cy="2880727"/>
            <a:chOff x="793788" y="4631308"/>
            <a:chExt cx="6437630" cy="2974340"/>
          </a:xfrm>
        </p:grpSpPr>
        <p:sp>
          <p:nvSpPr>
            <p:cNvPr id="21" name="object 14">
              <a:extLst>
                <a:ext uri="{FF2B5EF4-FFF2-40B4-BE49-F238E27FC236}">
                  <a16:creationId xmlns:a16="http://schemas.microsoft.com/office/drawing/2014/main" id="{4606672B-92B9-3714-6EB3-981BA126499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2" name="object 15">
              <a:extLst>
                <a:ext uri="{FF2B5EF4-FFF2-40B4-BE49-F238E27FC236}">
                  <a16:creationId xmlns:a16="http://schemas.microsoft.com/office/drawing/2014/main" id="{7F7749E9-C985-5896-F52F-A1D884EFEBF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6" name="object 13">
            <a:extLst>
              <a:ext uri="{FF2B5EF4-FFF2-40B4-BE49-F238E27FC236}">
                <a16:creationId xmlns:a16="http://schemas.microsoft.com/office/drawing/2014/main" id="{4A8E25B1-C867-DFD4-04E6-53FFD05DC269}"/>
              </a:ext>
            </a:extLst>
          </p:cNvPr>
          <p:cNvGrpSpPr/>
          <p:nvPr/>
        </p:nvGrpSpPr>
        <p:grpSpPr>
          <a:xfrm>
            <a:off x="1050381" y="2954879"/>
            <a:ext cx="5512004" cy="2880728"/>
            <a:chOff x="793788" y="4631308"/>
            <a:chExt cx="6437630" cy="2974340"/>
          </a:xfrm>
        </p:grpSpPr>
        <p:sp>
          <p:nvSpPr>
            <p:cNvPr id="18" name="object 14">
              <a:extLst>
                <a:ext uri="{FF2B5EF4-FFF2-40B4-BE49-F238E27FC236}">
                  <a16:creationId xmlns:a16="http://schemas.microsoft.com/office/drawing/2014/main" id="{63822B8B-D8EC-C143-365D-A3228E979533}"/>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9" name="object 15">
              <a:extLst>
                <a:ext uri="{FF2B5EF4-FFF2-40B4-BE49-F238E27FC236}">
                  <a16:creationId xmlns:a16="http://schemas.microsoft.com/office/drawing/2014/main" id="{75926034-C1BE-4EBE-A523-0E0424403E50}"/>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1046068" y="319632"/>
            <a:ext cx="13656055" cy="817135"/>
          </a:xfrm>
          <a:prstGeom prst="rect">
            <a:avLst/>
          </a:prstGeom>
        </p:spPr>
        <p:txBody>
          <a:bodyPr vert="horz" wrap="square" lIns="0" tIns="205029"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Ensemble Learning – An Overview</a:t>
            </a:r>
            <a:endParaRPr lang="en-US" sz="3600" dirty="0">
              <a:solidFill>
                <a:schemeClr val="tx1"/>
              </a:solidFill>
            </a:endParaRPr>
          </a:p>
        </p:txBody>
      </p:sp>
      <p:sp>
        <p:nvSpPr>
          <p:cNvPr id="7" name="Text 1">
            <a:extLst>
              <a:ext uri="{FF2B5EF4-FFF2-40B4-BE49-F238E27FC236}">
                <a16:creationId xmlns:a16="http://schemas.microsoft.com/office/drawing/2014/main" id="{26037FEF-7E7B-5971-66FC-5FF3B2DBCF6A}"/>
              </a:ext>
            </a:extLst>
          </p:cNvPr>
          <p:cNvSpPr/>
          <p:nvPr/>
        </p:nvSpPr>
        <p:spPr>
          <a:xfrm>
            <a:off x="1050381" y="1524000"/>
            <a:ext cx="13042821" cy="635079"/>
          </a:xfrm>
          <a:prstGeom prst="rect">
            <a:avLst/>
          </a:prstGeom>
          <a:noFill/>
          <a:ln/>
        </p:spPr>
        <p:txBody>
          <a:bodyPr wrap="square" lIns="0" tIns="0" rIns="0" bIns="0" rtlCol="0" anchor="t"/>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Ensemble learning refers to techniques that combine multiple models to improve overall performance. The fundamental principle is that multiple models, when combined strategically, perform better than any single model working in isolation.</a:t>
            </a:r>
            <a:endParaRPr lang="en-US" sz="1800" dirty="0">
              <a:solidFill>
                <a:schemeClr val="tx1"/>
              </a:solidFill>
              <a:latin typeface="PT Serif" panose="020A0603040505020204" pitchFamily="18" charset="0"/>
            </a:endParaRPr>
          </a:p>
        </p:txBody>
      </p:sp>
      <p:sp>
        <p:nvSpPr>
          <p:cNvPr id="8" name="Text 2">
            <a:extLst>
              <a:ext uri="{FF2B5EF4-FFF2-40B4-BE49-F238E27FC236}">
                <a16:creationId xmlns:a16="http://schemas.microsoft.com/office/drawing/2014/main" id="{12EA2F72-521B-1AE2-406F-47C3C7BE5D75}"/>
              </a:ext>
            </a:extLst>
          </p:cNvPr>
          <p:cNvSpPr/>
          <p:nvPr/>
        </p:nvSpPr>
        <p:spPr>
          <a:xfrm>
            <a:off x="1602017" y="2819400"/>
            <a:ext cx="4408731" cy="2355886"/>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Core Principle</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Multiple models collectively compensate for individual errors, leading to superior predictive accuracy and robustness</a:t>
            </a:r>
            <a:endParaRPr lang="en-US" sz="1800" dirty="0">
              <a:solidFill>
                <a:schemeClr val="tx1"/>
              </a:solidFill>
              <a:latin typeface="PT Serif" panose="020A0603040505020204" pitchFamily="18" charset="0"/>
            </a:endParaRPr>
          </a:p>
        </p:txBody>
      </p:sp>
      <p:sp>
        <p:nvSpPr>
          <p:cNvPr id="11" name="Text 5">
            <a:extLst>
              <a:ext uri="{FF2B5EF4-FFF2-40B4-BE49-F238E27FC236}">
                <a16:creationId xmlns:a16="http://schemas.microsoft.com/office/drawing/2014/main" id="{8ABA8395-421C-E099-44BF-7E7F397E2E86}"/>
              </a:ext>
            </a:extLst>
          </p:cNvPr>
          <p:cNvSpPr/>
          <p:nvPr/>
        </p:nvSpPr>
        <p:spPr>
          <a:xfrm>
            <a:off x="7758507" y="2835325"/>
            <a:ext cx="4608133" cy="233996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Common Approaches</a:t>
            </a:r>
            <a:endParaRPr lang="en-US" b="0" i="0" u="none" strike="noStrike" dirty="0">
              <a:solidFill>
                <a:schemeClr val="tx1"/>
              </a:solidFill>
              <a:effectLst/>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Bagging: Training models independently on random subsets</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Boosting: Training models sequentially to correct previous errors</a:t>
            </a:r>
            <a:endParaRPr lang="en-US" sz="1800" dirty="0">
              <a:solidFill>
                <a:schemeClr val="tx1"/>
              </a:solidFill>
              <a:latin typeface="PT Serif" panose="020A060304050502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13">
            <a:extLst>
              <a:ext uri="{FF2B5EF4-FFF2-40B4-BE49-F238E27FC236}">
                <a16:creationId xmlns:a16="http://schemas.microsoft.com/office/drawing/2014/main" id="{3D639589-1851-8CA7-534F-EFA65DE9761F}"/>
              </a:ext>
            </a:extLst>
          </p:cNvPr>
          <p:cNvGrpSpPr/>
          <p:nvPr/>
        </p:nvGrpSpPr>
        <p:grpSpPr>
          <a:xfrm>
            <a:off x="7306572" y="2406646"/>
            <a:ext cx="5512004" cy="3979321"/>
            <a:chOff x="793788" y="4631308"/>
            <a:chExt cx="6437630" cy="2974340"/>
          </a:xfrm>
        </p:grpSpPr>
        <p:sp>
          <p:nvSpPr>
            <p:cNvPr id="21" name="object 14">
              <a:extLst>
                <a:ext uri="{FF2B5EF4-FFF2-40B4-BE49-F238E27FC236}">
                  <a16:creationId xmlns:a16="http://schemas.microsoft.com/office/drawing/2014/main" id="{4606672B-92B9-3714-6EB3-981BA126499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pPr>
                <a:lnSpc>
                  <a:spcPct val="200000"/>
                </a:lnSpc>
              </a:pPr>
              <a:endParaRPr>
                <a:solidFill>
                  <a:schemeClr val="tx1"/>
                </a:solidFill>
                <a:latin typeface="PT Serif" panose="020A0603040505020204" pitchFamily="18" charset="0"/>
              </a:endParaRPr>
            </a:p>
          </p:txBody>
        </p:sp>
        <p:sp>
          <p:nvSpPr>
            <p:cNvPr id="22" name="object 15">
              <a:extLst>
                <a:ext uri="{FF2B5EF4-FFF2-40B4-BE49-F238E27FC236}">
                  <a16:creationId xmlns:a16="http://schemas.microsoft.com/office/drawing/2014/main" id="{7F7749E9-C985-5896-F52F-A1D884EFEBF7}"/>
                </a:ext>
              </a:extLst>
            </p:cNvPr>
            <p:cNvSpPr/>
            <p:nvPr/>
          </p:nvSpPr>
          <p:spPr>
            <a:xfrm>
              <a:off x="816648" y="4654167"/>
              <a:ext cx="6391910" cy="50239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pPr>
                <a:lnSpc>
                  <a:spcPct val="200000"/>
                </a:lnSpc>
              </a:pPr>
              <a:endParaRPr dirty="0">
                <a:solidFill>
                  <a:schemeClr val="tx1"/>
                </a:solidFill>
                <a:latin typeface="PT Serif" panose="020A0603040505020204" pitchFamily="18" charset="0"/>
              </a:endParaRPr>
            </a:p>
          </p:txBody>
        </p:sp>
      </p:grpSp>
      <p:grpSp>
        <p:nvGrpSpPr>
          <p:cNvPr id="16" name="object 13">
            <a:extLst>
              <a:ext uri="{FF2B5EF4-FFF2-40B4-BE49-F238E27FC236}">
                <a16:creationId xmlns:a16="http://schemas.microsoft.com/office/drawing/2014/main" id="{4A8E25B1-C867-DFD4-04E6-53FFD05DC269}"/>
              </a:ext>
            </a:extLst>
          </p:cNvPr>
          <p:cNvGrpSpPr/>
          <p:nvPr/>
        </p:nvGrpSpPr>
        <p:grpSpPr>
          <a:xfrm>
            <a:off x="1050381" y="2406646"/>
            <a:ext cx="5512004" cy="3979321"/>
            <a:chOff x="793788" y="4631308"/>
            <a:chExt cx="6437630" cy="2974340"/>
          </a:xfrm>
        </p:grpSpPr>
        <p:sp>
          <p:nvSpPr>
            <p:cNvPr id="18" name="object 14">
              <a:extLst>
                <a:ext uri="{FF2B5EF4-FFF2-40B4-BE49-F238E27FC236}">
                  <a16:creationId xmlns:a16="http://schemas.microsoft.com/office/drawing/2014/main" id="{63822B8B-D8EC-C143-365D-A3228E979533}"/>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pPr>
                <a:lnSpc>
                  <a:spcPct val="200000"/>
                </a:lnSpc>
              </a:pPr>
              <a:endParaRPr>
                <a:solidFill>
                  <a:schemeClr val="tx1"/>
                </a:solidFill>
                <a:latin typeface="PT Serif" panose="020A0603040505020204" pitchFamily="18" charset="0"/>
              </a:endParaRPr>
            </a:p>
          </p:txBody>
        </p:sp>
        <p:sp>
          <p:nvSpPr>
            <p:cNvPr id="19" name="object 15">
              <a:extLst>
                <a:ext uri="{FF2B5EF4-FFF2-40B4-BE49-F238E27FC236}">
                  <a16:creationId xmlns:a16="http://schemas.microsoft.com/office/drawing/2014/main" id="{75926034-C1BE-4EBE-A523-0E0424403E50}"/>
                </a:ext>
              </a:extLst>
            </p:cNvPr>
            <p:cNvSpPr/>
            <p:nvPr/>
          </p:nvSpPr>
          <p:spPr>
            <a:xfrm>
              <a:off x="816648" y="4654167"/>
              <a:ext cx="6391910" cy="50239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pPr>
                <a:lnSpc>
                  <a:spcPct val="200000"/>
                </a:lnSpc>
              </a:pPr>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1046068" y="-228600"/>
            <a:ext cx="13656055" cy="1157612"/>
          </a:xfrm>
          <a:prstGeom prst="rect">
            <a:avLst/>
          </a:prstGeom>
        </p:spPr>
        <p:txBody>
          <a:bodyPr vert="horz" wrap="square" lIns="0" tIns="205029" rIns="0" bIns="0" rtlCol="0">
            <a:spAutoFit/>
          </a:bodyPr>
          <a:lstStyle/>
          <a:p>
            <a:pPr marL="0" indent="0" algn="l">
              <a:lnSpc>
                <a:spcPct val="200000"/>
              </a:lnSpc>
              <a:buNone/>
            </a:pPr>
            <a:r>
              <a:rPr lang="en-US" sz="3600" dirty="0">
                <a:solidFill>
                  <a:schemeClr val="tx1"/>
                </a:solidFill>
                <a:ea typeface="PT Serif" pitchFamily="34" charset="-122"/>
                <a:cs typeface="PT Serif" pitchFamily="34" charset="-120"/>
              </a:rPr>
              <a:t>What is a Weak Learner?</a:t>
            </a:r>
            <a:endParaRPr lang="en-US" sz="3600" dirty="0">
              <a:solidFill>
                <a:schemeClr val="tx1"/>
              </a:solidFill>
            </a:endParaRPr>
          </a:p>
        </p:txBody>
      </p:sp>
      <p:sp>
        <p:nvSpPr>
          <p:cNvPr id="7" name="Text 1">
            <a:extLst>
              <a:ext uri="{FF2B5EF4-FFF2-40B4-BE49-F238E27FC236}">
                <a16:creationId xmlns:a16="http://schemas.microsoft.com/office/drawing/2014/main" id="{26037FEF-7E7B-5971-66FC-5FF3B2DBCF6A}"/>
              </a:ext>
            </a:extLst>
          </p:cNvPr>
          <p:cNvSpPr/>
          <p:nvPr/>
        </p:nvSpPr>
        <p:spPr>
          <a:xfrm>
            <a:off x="1050381" y="975768"/>
            <a:ext cx="13042821" cy="635079"/>
          </a:xfrm>
          <a:prstGeom prst="rect">
            <a:avLst/>
          </a:prstGeom>
          <a:noFill/>
          <a:ln/>
        </p:spPr>
        <p:txBody>
          <a:bodyPr wrap="square" lIns="0" tIns="0" rIns="0" bIns="0" rtlCol="0" anchor="t"/>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A weak learner is a model that performs only slightly better than random guessing. Despite their simplicity, weak learners form the foundation of boosting algorithms. Their strength lies not in individual performance but in their potential when combined.</a:t>
            </a:r>
            <a:endParaRPr lang="en-US" sz="1800" dirty="0">
              <a:solidFill>
                <a:schemeClr val="tx1"/>
              </a:solidFill>
              <a:latin typeface="PT Serif" panose="020A0603040505020204" pitchFamily="18" charset="0"/>
            </a:endParaRPr>
          </a:p>
        </p:txBody>
      </p:sp>
      <p:sp>
        <p:nvSpPr>
          <p:cNvPr id="8" name="Text 2">
            <a:extLst>
              <a:ext uri="{FF2B5EF4-FFF2-40B4-BE49-F238E27FC236}">
                <a16:creationId xmlns:a16="http://schemas.microsoft.com/office/drawing/2014/main" id="{12EA2F72-521B-1AE2-406F-47C3C7BE5D75}"/>
              </a:ext>
            </a:extLst>
          </p:cNvPr>
          <p:cNvSpPr/>
          <p:nvPr/>
        </p:nvSpPr>
        <p:spPr>
          <a:xfrm>
            <a:off x="1602017" y="2327460"/>
            <a:ext cx="4408731" cy="2355886"/>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Characteristics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Simple and interpretable structure</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Low computational complexity</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Performance marginally above chance</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Fast to train and evaluate</a:t>
            </a:r>
            <a:endParaRPr lang="en-US" sz="1800" dirty="0">
              <a:solidFill>
                <a:schemeClr val="tx1"/>
              </a:solidFill>
              <a:latin typeface="PT Serif" panose="020A0603040505020204" pitchFamily="18" charset="0"/>
            </a:endParaRPr>
          </a:p>
        </p:txBody>
      </p:sp>
      <p:sp>
        <p:nvSpPr>
          <p:cNvPr id="11" name="Text 5">
            <a:extLst>
              <a:ext uri="{FF2B5EF4-FFF2-40B4-BE49-F238E27FC236}">
                <a16:creationId xmlns:a16="http://schemas.microsoft.com/office/drawing/2014/main" id="{8ABA8395-421C-E099-44BF-7E7F397E2E86}"/>
              </a:ext>
            </a:extLst>
          </p:cNvPr>
          <p:cNvSpPr/>
          <p:nvPr/>
        </p:nvSpPr>
        <p:spPr>
          <a:xfrm>
            <a:off x="7758507" y="2287093"/>
            <a:ext cx="4608133" cy="233996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Common Examples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Decision stump: A decision tree with a single split</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Simple linear classifier with minimal features</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Shallow neural networks with few parameters</a:t>
            </a:r>
            <a:endParaRPr lang="en-US" sz="1800" dirty="0">
              <a:solidFill>
                <a:schemeClr val="tx1"/>
              </a:solidFill>
              <a:latin typeface="PT Serif" panose="020A0603040505020204" pitchFamily="18" charset="0"/>
            </a:endParaRPr>
          </a:p>
        </p:txBody>
      </p:sp>
      <p:sp>
        <p:nvSpPr>
          <p:cNvPr id="13" name="TextBox 12">
            <a:extLst>
              <a:ext uri="{FF2B5EF4-FFF2-40B4-BE49-F238E27FC236}">
                <a16:creationId xmlns:a16="http://schemas.microsoft.com/office/drawing/2014/main" id="{199892C8-C984-ACB1-B28B-003D41C56B4E}"/>
              </a:ext>
            </a:extLst>
          </p:cNvPr>
          <p:cNvSpPr txBox="1"/>
          <p:nvPr/>
        </p:nvSpPr>
        <p:spPr>
          <a:xfrm>
            <a:off x="1069954" y="6800909"/>
            <a:ext cx="12265046" cy="567656"/>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power of Boosting lies in combining many such weak learners to create a strong, highly accurate model.</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155303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4345" y="-381000"/>
            <a:ext cx="13656055" cy="1394344"/>
          </a:xfrm>
          <a:prstGeom prst="rect">
            <a:avLst/>
          </a:prstGeom>
        </p:spPr>
        <p:txBody>
          <a:bodyPr vert="horz" wrap="square" lIns="0" tIns="439471" rIns="0" bIns="0" rtlCol="0">
            <a:spAutoFit/>
          </a:bodyPr>
          <a:lstStyle/>
          <a:p>
            <a:pPr marL="0" indent="0" algn="l">
              <a:lnSpc>
                <a:spcPct val="200000"/>
              </a:lnSpc>
              <a:buNone/>
            </a:pPr>
            <a:r>
              <a:rPr lang="en-US" sz="3600" dirty="0">
                <a:solidFill>
                  <a:schemeClr val="tx1"/>
                </a:solidFill>
                <a:ea typeface="PT Serif" pitchFamily="34" charset="-122"/>
                <a:cs typeface="PT Serif" pitchFamily="34" charset="-120"/>
              </a:rPr>
              <a:t>Limitations of Single Models</a:t>
            </a:r>
            <a:endParaRPr lang="en-US" sz="3600" dirty="0">
              <a:solidFill>
                <a:schemeClr val="tx1"/>
              </a:solidFill>
            </a:endParaRPr>
          </a:p>
        </p:txBody>
      </p:sp>
      <p:sp>
        <p:nvSpPr>
          <p:cNvPr id="15" name="Text 7">
            <a:extLst>
              <a:ext uri="{FF2B5EF4-FFF2-40B4-BE49-F238E27FC236}">
                <a16:creationId xmlns:a16="http://schemas.microsoft.com/office/drawing/2014/main" id="{36221D7B-8D1F-CF5A-6FD1-DA6DD3F7C3CC}"/>
              </a:ext>
            </a:extLst>
          </p:cNvPr>
          <p:cNvSpPr/>
          <p:nvPr/>
        </p:nvSpPr>
        <p:spPr>
          <a:xfrm>
            <a:off x="5601463" y="3264237"/>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49735" y="3264237"/>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9" name="TextBox 18">
            <a:extLst>
              <a:ext uri="{FF2B5EF4-FFF2-40B4-BE49-F238E27FC236}">
                <a16:creationId xmlns:a16="http://schemas.microsoft.com/office/drawing/2014/main" id="{1AB50036-033B-A3CF-82EF-6AB002D6B489}"/>
              </a:ext>
            </a:extLst>
          </p:cNvPr>
          <p:cNvSpPr txBox="1"/>
          <p:nvPr/>
        </p:nvSpPr>
        <p:spPr>
          <a:xfrm>
            <a:off x="940180" y="970085"/>
            <a:ext cx="12666167"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Single machine learning models frequently encounter fundamental limitations that constrain their effectiveness. These challenges motivate the development and application of ensemble methods like boosting.</a:t>
            </a:r>
            <a:endParaRPr lang="en-US" sz="1800" dirty="0">
              <a:solidFill>
                <a:schemeClr val="tx1"/>
              </a:solidFill>
              <a:latin typeface="PT Serif" panose="020A0603040505020204" pitchFamily="18" charset="0"/>
            </a:endParaRPr>
          </a:p>
        </p:txBody>
      </p:sp>
      <p:sp>
        <p:nvSpPr>
          <p:cNvPr id="24" name="Shape 2">
            <a:extLst>
              <a:ext uri="{FF2B5EF4-FFF2-40B4-BE49-F238E27FC236}">
                <a16:creationId xmlns:a16="http://schemas.microsoft.com/office/drawing/2014/main" id="{B9A17045-D612-E18E-A05E-6B24EBE4AD1F}"/>
              </a:ext>
            </a:extLst>
          </p:cNvPr>
          <p:cNvSpPr/>
          <p:nvPr/>
        </p:nvSpPr>
        <p:spPr>
          <a:xfrm>
            <a:off x="3885382" y="2477310"/>
            <a:ext cx="3374035" cy="4081795"/>
          </a:xfrm>
          <a:prstGeom prst="roundRect">
            <a:avLst>
              <a:gd name="adj" fmla="val 1410"/>
            </a:avLst>
          </a:prstGeom>
          <a:solidFill>
            <a:srgbClr val="F2EEEE"/>
          </a:solidFill>
          <a:ln/>
        </p:spPr>
        <p:txBody>
          <a:bodyPr wrap="square"/>
          <a:lstStyle/>
          <a:p>
            <a:pPr>
              <a:lnSpc>
                <a:spcPct val="200000"/>
              </a:lnSpc>
            </a:pPr>
            <a:endParaRPr lang="en-IN">
              <a:solidFill>
                <a:schemeClr val="tx1"/>
              </a:solidFill>
              <a:latin typeface="PT Serif" panose="020A0603040505020204" pitchFamily="18" charset="0"/>
            </a:endParaRPr>
          </a:p>
        </p:txBody>
      </p:sp>
      <p:sp>
        <p:nvSpPr>
          <p:cNvPr id="25" name="Text 3">
            <a:extLst>
              <a:ext uri="{FF2B5EF4-FFF2-40B4-BE49-F238E27FC236}">
                <a16:creationId xmlns:a16="http://schemas.microsoft.com/office/drawing/2014/main" id="{B03F4BC2-3FE8-D181-9003-C7C595F52218}"/>
              </a:ext>
            </a:extLst>
          </p:cNvPr>
          <p:cNvSpPr/>
          <p:nvPr/>
        </p:nvSpPr>
        <p:spPr>
          <a:xfrm>
            <a:off x="4069608" y="2445923"/>
            <a:ext cx="3288724"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Limited Complexity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Single models often struggle to capture intricate, non-linear relationships present in real-world datasets.</a:t>
            </a:r>
            <a:endParaRPr lang="en-US" sz="1800" dirty="0">
              <a:solidFill>
                <a:schemeClr val="tx1"/>
              </a:solidFill>
              <a:latin typeface="PT Serif" panose="020A0603040505020204" pitchFamily="18" charset="0"/>
            </a:endParaRPr>
          </a:p>
        </p:txBody>
      </p:sp>
      <p:sp>
        <p:nvSpPr>
          <p:cNvPr id="26" name="Shape 2">
            <a:extLst>
              <a:ext uri="{FF2B5EF4-FFF2-40B4-BE49-F238E27FC236}">
                <a16:creationId xmlns:a16="http://schemas.microsoft.com/office/drawing/2014/main" id="{4A039F9F-FD8A-D2A3-D9FB-82CF8417A530}"/>
              </a:ext>
            </a:extLst>
          </p:cNvPr>
          <p:cNvSpPr/>
          <p:nvPr/>
        </p:nvSpPr>
        <p:spPr>
          <a:xfrm>
            <a:off x="7522565" y="2516219"/>
            <a:ext cx="3374035" cy="4081795"/>
          </a:xfrm>
          <a:prstGeom prst="roundRect">
            <a:avLst>
              <a:gd name="adj" fmla="val 1410"/>
            </a:avLst>
          </a:prstGeom>
          <a:solidFill>
            <a:srgbClr val="F2EEEE"/>
          </a:solidFill>
          <a:ln/>
        </p:spPr>
        <p:txBody>
          <a:bodyPr wrap="square"/>
          <a:lstStyle/>
          <a:p>
            <a:pPr>
              <a:lnSpc>
                <a:spcPct val="200000"/>
              </a:lnSpc>
            </a:pPr>
            <a:endParaRPr lang="en-IN">
              <a:solidFill>
                <a:schemeClr val="tx1"/>
              </a:solidFill>
              <a:latin typeface="PT Serif" panose="020A0603040505020204" pitchFamily="18" charset="0"/>
            </a:endParaRPr>
          </a:p>
        </p:txBody>
      </p:sp>
      <p:sp>
        <p:nvSpPr>
          <p:cNvPr id="27" name="Text 3">
            <a:extLst>
              <a:ext uri="{FF2B5EF4-FFF2-40B4-BE49-F238E27FC236}">
                <a16:creationId xmlns:a16="http://schemas.microsoft.com/office/drawing/2014/main" id="{C31B8103-2768-F670-9954-0CE655C35017}"/>
              </a:ext>
            </a:extLst>
          </p:cNvPr>
          <p:cNvSpPr/>
          <p:nvPr/>
        </p:nvSpPr>
        <p:spPr>
          <a:xfrm>
            <a:off x="7685004" y="2477310"/>
            <a:ext cx="3119979"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Data Sensitivity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Models can be overly influenced by specific training examples, leading to instability and inconsistent predictions.</a:t>
            </a:r>
            <a:endParaRPr lang="en-US" sz="1800" dirty="0">
              <a:solidFill>
                <a:schemeClr val="tx1"/>
              </a:solidFill>
              <a:latin typeface="PT Serif" panose="020A0603040505020204" pitchFamily="18" charset="0"/>
            </a:endParaRPr>
          </a:p>
        </p:txBody>
      </p:sp>
      <p:sp>
        <p:nvSpPr>
          <p:cNvPr id="30" name="Shape 2">
            <a:extLst>
              <a:ext uri="{FF2B5EF4-FFF2-40B4-BE49-F238E27FC236}">
                <a16:creationId xmlns:a16="http://schemas.microsoft.com/office/drawing/2014/main" id="{A9F5AE25-5BAD-BC01-4CF9-E3AA3ACF7947}"/>
              </a:ext>
            </a:extLst>
          </p:cNvPr>
          <p:cNvSpPr/>
          <p:nvPr/>
        </p:nvSpPr>
        <p:spPr>
          <a:xfrm>
            <a:off x="279053" y="2445923"/>
            <a:ext cx="3374035" cy="4081795"/>
          </a:xfrm>
          <a:prstGeom prst="roundRect">
            <a:avLst>
              <a:gd name="adj" fmla="val 1410"/>
            </a:avLst>
          </a:prstGeom>
          <a:solidFill>
            <a:srgbClr val="F2EEEE"/>
          </a:solidFill>
          <a:ln/>
        </p:spPr>
        <p:txBody>
          <a:bodyPr wrap="square"/>
          <a:lstStyle/>
          <a:p>
            <a:pPr>
              <a:lnSpc>
                <a:spcPct val="200000"/>
              </a:lnSpc>
            </a:pPr>
            <a:endParaRPr lang="en-IN">
              <a:solidFill>
                <a:schemeClr val="tx1"/>
              </a:solidFill>
              <a:latin typeface="PT Serif" panose="020A0603040505020204" pitchFamily="18" charset="0"/>
            </a:endParaRPr>
          </a:p>
        </p:txBody>
      </p:sp>
      <p:sp>
        <p:nvSpPr>
          <p:cNvPr id="31" name="Text 3">
            <a:extLst>
              <a:ext uri="{FF2B5EF4-FFF2-40B4-BE49-F238E27FC236}">
                <a16:creationId xmlns:a16="http://schemas.microsoft.com/office/drawing/2014/main" id="{EFBD12D4-BA19-D483-492C-21AC783356E2}"/>
              </a:ext>
            </a:extLst>
          </p:cNvPr>
          <p:cNvSpPr/>
          <p:nvPr/>
        </p:nvSpPr>
        <p:spPr>
          <a:xfrm>
            <a:off x="457481" y="2429461"/>
            <a:ext cx="3119979"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High Bias</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Underfitting occurs when models are too simple to capture the underlying patterns in the data, leading to poor performance on both training and test sets.</a:t>
            </a:r>
            <a:endParaRPr lang="en-US" sz="1800" dirty="0">
              <a:solidFill>
                <a:schemeClr val="tx1"/>
              </a:solidFill>
              <a:latin typeface="PT Serif" panose="020A0603040505020204" pitchFamily="18" charset="0"/>
            </a:endParaRPr>
          </a:p>
        </p:txBody>
      </p:sp>
      <p:sp>
        <p:nvSpPr>
          <p:cNvPr id="33" name="Shape 2">
            <a:extLst>
              <a:ext uri="{FF2B5EF4-FFF2-40B4-BE49-F238E27FC236}">
                <a16:creationId xmlns:a16="http://schemas.microsoft.com/office/drawing/2014/main" id="{AE88927A-3B9C-5689-8401-75B4D749CF79}"/>
              </a:ext>
            </a:extLst>
          </p:cNvPr>
          <p:cNvSpPr/>
          <p:nvPr/>
        </p:nvSpPr>
        <p:spPr>
          <a:xfrm>
            <a:off x="11180165" y="2547605"/>
            <a:ext cx="3374035" cy="4081795"/>
          </a:xfrm>
          <a:prstGeom prst="roundRect">
            <a:avLst>
              <a:gd name="adj" fmla="val 1410"/>
            </a:avLst>
          </a:prstGeom>
          <a:solidFill>
            <a:srgbClr val="F2EEEE"/>
          </a:solidFill>
          <a:ln/>
        </p:spPr>
        <p:txBody>
          <a:bodyPr wrap="square"/>
          <a:lstStyle/>
          <a:p>
            <a:pPr>
              <a:lnSpc>
                <a:spcPct val="200000"/>
              </a:lnSpc>
            </a:pPr>
            <a:endParaRPr lang="en-IN">
              <a:solidFill>
                <a:schemeClr val="tx1"/>
              </a:solidFill>
              <a:latin typeface="PT Serif" panose="020A0603040505020204" pitchFamily="18" charset="0"/>
            </a:endParaRPr>
          </a:p>
        </p:txBody>
      </p:sp>
      <p:sp>
        <p:nvSpPr>
          <p:cNvPr id="34" name="Text 3">
            <a:extLst>
              <a:ext uri="{FF2B5EF4-FFF2-40B4-BE49-F238E27FC236}">
                <a16:creationId xmlns:a16="http://schemas.microsoft.com/office/drawing/2014/main" id="{C1C483D7-C115-FA93-92E4-74CA9824A6A5}"/>
              </a:ext>
            </a:extLst>
          </p:cNvPr>
          <p:cNvSpPr/>
          <p:nvPr/>
        </p:nvSpPr>
        <p:spPr>
          <a:xfrm>
            <a:off x="11434221" y="2471496"/>
            <a:ext cx="3119979"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Poor Generalisation</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Single models may fail to generalise well to unseen data, particularly when faced with noise or outliers.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4276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4345" y="-492290"/>
            <a:ext cx="13656055" cy="1394344"/>
          </a:xfrm>
          <a:prstGeom prst="rect">
            <a:avLst/>
          </a:prstGeom>
        </p:spPr>
        <p:txBody>
          <a:bodyPr vert="horz" wrap="square" lIns="0" tIns="439471" rIns="0" bIns="0" rtlCol="0">
            <a:spAutoFit/>
          </a:bodyPr>
          <a:lstStyle/>
          <a:p>
            <a:pPr marL="0" indent="0" algn="l">
              <a:lnSpc>
                <a:spcPct val="200000"/>
              </a:lnSpc>
              <a:buNone/>
            </a:pPr>
            <a:r>
              <a:rPr lang="en-US" sz="3600" dirty="0">
                <a:solidFill>
                  <a:schemeClr val="tx1"/>
                </a:solidFill>
                <a:ea typeface="PT Serif" pitchFamily="34" charset="-122"/>
                <a:cs typeface="PT Serif" pitchFamily="34" charset="-120"/>
              </a:rPr>
              <a:t>Definition of Boosting</a:t>
            </a:r>
            <a:endParaRPr lang="en-US" sz="3600" dirty="0">
              <a:solidFill>
                <a:schemeClr val="tx1"/>
              </a:solidFill>
            </a:endParaRPr>
          </a:p>
        </p:txBody>
      </p:sp>
      <p:sp>
        <p:nvSpPr>
          <p:cNvPr id="10" name="Shape 2">
            <a:extLst>
              <a:ext uri="{FF2B5EF4-FFF2-40B4-BE49-F238E27FC236}">
                <a16:creationId xmlns:a16="http://schemas.microsoft.com/office/drawing/2014/main" id="{519795FC-9908-4415-E19C-266E73B2AD9C}"/>
              </a:ext>
            </a:extLst>
          </p:cNvPr>
          <p:cNvSpPr/>
          <p:nvPr/>
        </p:nvSpPr>
        <p:spPr>
          <a:xfrm>
            <a:off x="1058711" y="2739941"/>
            <a:ext cx="4215289" cy="2829640"/>
          </a:xfrm>
          <a:prstGeom prst="roundRect">
            <a:avLst>
              <a:gd name="adj" fmla="val 1410"/>
            </a:avLst>
          </a:prstGeom>
          <a:solidFill>
            <a:srgbClr val="F2EEEE"/>
          </a:solidFill>
          <a:ln/>
        </p:spPr>
      </p:sp>
      <p:sp>
        <p:nvSpPr>
          <p:cNvPr id="11" name="Text 3">
            <a:extLst>
              <a:ext uri="{FF2B5EF4-FFF2-40B4-BE49-F238E27FC236}">
                <a16:creationId xmlns:a16="http://schemas.microsoft.com/office/drawing/2014/main" id="{1729E060-4A6E-E272-7665-9392F1B6E4F8}"/>
              </a:ext>
            </a:extLst>
          </p:cNvPr>
          <p:cNvSpPr/>
          <p:nvPr/>
        </p:nvSpPr>
        <p:spPr>
          <a:xfrm>
            <a:off x="1291575" y="2985307"/>
            <a:ext cx="3975236" cy="24764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1. Sequential Training</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Models are trained one after another, not in parallel, allowing each to learn from previous mistakes.</a:t>
            </a:r>
            <a:endParaRPr lang="en-US" sz="1800" dirty="0">
              <a:solidFill>
                <a:schemeClr val="tx1"/>
              </a:solidFill>
              <a:latin typeface="PT Serif" panose="020A0603040505020204" pitchFamily="18" charset="0"/>
            </a:endParaRPr>
          </a:p>
        </p:txBody>
      </p:sp>
      <p:sp>
        <p:nvSpPr>
          <p:cNvPr id="12" name="Text 4">
            <a:extLst>
              <a:ext uri="{FF2B5EF4-FFF2-40B4-BE49-F238E27FC236}">
                <a16:creationId xmlns:a16="http://schemas.microsoft.com/office/drawing/2014/main" id="{588280D7-090B-45D5-C4BA-D51200121A40}"/>
              </a:ext>
            </a:extLst>
          </p:cNvPr>
          <p:cNvSpPr/>
          <p:nvPr/>
        </p:nvSpPr>
        <p:spPr>
          <a:xfrm>
            <a:off x="1257069" y="3593347"/>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3" name="Shape 5">
            <a:extLst>
              <a:ext uri="{FF2B5EF4-FFF2-40B4-BE49-F238E27FC236}">
                <a16:creationId xmlns:a16="http://schemas.microsoft.com/office/drawing/2014/main" id="{E7C49C67-C298-4068-CA76-A4C08A84BF5C}"/>
              </a:ext>
            </a:extLst>
          </p:cNvPr>
          <p:cNvSpPr/>
          <p:nvPr/>
        </p:nvSpPr>
        <p:spPr>
          <a:xfrm>
            <a:off x="5492486" y="2731974"/>
            <a:ext cx="4215408" cy="282964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677905" y="2925114"/>
            <a:ext cx="3784186" cy="23137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2. Error Correction Focus</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Each new model concentrates on observations that previous models misclassified or predicted poorly.</a:t>
            </a:r>
            <a:endParaRPr lang="en-US" sz="18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593347"/>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3" y="2773904"/>
            <a:ext cx="4215289" cy="282964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091671" y="2925115"/>
            <a:ext cx="3982544" cy="231374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3. Weighted Combination</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Final predictions are obtained by combining all models, typically with weighted voting or averaging.</a:t>
            </a:r>
            <a:endParaRPr lang="en-US" sz="1800" dirty="0">
              <a:solidFill>
                <a:schemeClr val="tx1"/>
              </a:solidFill>
              <a:latin typeface="PT Serif" panose="020A0603040505020204" pitchFamily="18" charset="0"/>
            </a:endParaRPr>
          </a:p>
          <a:p>
            <a:pPr marL="0" indent="0" algn="l">
              <a:lnSpc>
                <a:spcPct val="20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593347"/>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9" name="Text 11">
            <a:extLst>
              <a:ext uri="{FF2B5EF4-FFF2-40B4-BE49-F238E27FC236}">
                <a16:creationId xmlns:a16="http://schemas.microsoft.com/office/drawing/2014/main" id="{B0E96A68-5AC2-E389-6822-412F3EE15715}"/>
              </a:ext>
            </a:extLst>
          </p:cNvPr>
          <p:cNvSpPr/>
          <p:nvPr/>
        </p:nvSpPr>
        <p:spPr>
          <a:xfrm>
            <a:off x="1031335" y="1128348"/>
            <a:ext cx="12878910" cy="635079"/>
          </a:xfrm>
          <a:prstGeom prst="rect">
            <a:avLst/>
          </a:prstGeom>
          <a:noFill/>
          <a:ln/>
        </p:spPr>
        <p:txBody>
          <a:bodyPr wrap="square" lIns="0" tIns="0" rIns="0" bIns="0" rtlCol="0" anchor="t"/>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Boosting is an ensemble learning technique characterised by sequential model training, where each successive model focuses on correcting the errors made by its predecessors.</a:t>
            </a:r>
            <a:endParaRPr lang="en-US" sz="1800" dirty="0">
              <a:solidFill>
                <a:schemeClr val="tx1"/>
              </a:solidFill>
              <a:latin typeface="PT Serif" panose="020A0603040505020204" pitchFamily="18" charset="0"/>
            </a:endParaRPr>
          </a:p>
        </p:txBody>
      </p:sp>
      <p:sp>
        <p:nvSpPr>
          <p:cNvPr id="20" name="TextBox 19">
            <a:extLst>
              <a:ext uri="{FF2B5EF4-FFF2-40B4-BE49-F238E27FC236}">
                <a16:creationId xmlns:a16="http://schemas.microsoft.com/office/drawing/2014/main" id="{A8318B74-D4F1-5CAC-641D-872794328270}"/>
              </a:ext>
            </a:extLst>
          </p:cNvPr>
          <p:cNvSpPr txBox="1"/>
          <p:nvPr/>
        </p:nvSpPr>
        <p:spPr>
          <a:xfrm>
            <a:off x="1042896" y="5964946"/>
            <a:ext cx="11987304" cy="567656"/>
          </a:xfrm>
          <a:prstGeom prst="rect">
            <a:avLst/>
          </a:prstGeom>
          <a:noFill/>
        </p:spPr>
        <p:txBody>
          <a:bodyPr wrap="square">
            <a:spAutoFit/>
          </a:bodyPr>
          <a:lstStyle/>
          <a:p>
            <a:pPr marL="0" indent="0" algn="l">
              <a:lnSpc>
                <a:spcPct val="200000"/>
              </a:lnSpc>
              <a:buNone/>
            </a:pPr>
            <a:r>
              <a:rPr lang="en-US" sz="1800" b="1" dirty="0">
                <a:solidFill>
                  <a:schemeClr val="tx1"/>
                </a:solidFill>
                <a:latin typeface="PT Serif" panose="020A0603040505020204" pitchFamily="18" charset="0"/>
                <a:ea typeface="DM Sans" pitchFamily="34" charset="-122"/>
                <a:cs typeface="DM Sans" pitchFamily="34" charset="-120"/>
              </a:rPr>
              <a:t>Primary objective:</a:t>
            </a:r>
            <a:r>
              <a:rPr lang="en-US" sz="1800" dirty="0">
                <a:solidFill>
                  <a:schemeClr val="tx1"/>
                </a:solidFill>
                <a:latin typeface="PT Serif" panose="020A0603040505020204" pitchFamily="18" charset="0"/>
                <a:ea typeface="DM Sans" pitchFamily="34" charset="-122"/>
                <a:cs typeface="DM Sans" pitchFamily="34" charset="-120"/>
              </a:rPr>
              <a:t> Boosting aims to reduce bias, transforming weak learners into a strong, accurate predictor.</a:t>
            </a:r>
            <a:endParaRPr lang="en-US" sz="1800" dirty="0">
              <a:solidFill>
                <a:schemeClr val="tx1"/>
              </a:solidFill>
              <a:latin typeface="PT Serif" panose="020A060304050502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4345" y="-161621"/>
            <a:ext cx="13656055" cy="1551758"/>
          </a:xfrm>
          <a:prstGeom prst="rect">
            <a:avLst/>
          </a:prstGeom>
        </p:spPr>
        <p:txBody>
          <a:bodyPr vert="horz" wrap="square" lIns="0" tIns="439471" rIns="0" bIns="0" rtlCol="0">
            <a:spAutoFit/>
          </a:bodyPr>
          <a:lstStyle/>
          <a:p>
            <a:pPr algn="l"/>
            <a:r>
              <a:rPr lang="en-US" sz="3600" dirty="0">
                <a:solidFill>
                  <a:schemeClr val="tx1"/>
                </a:solidFill>
                <a:ea typeface="PT Serif" pitchFamily="34" charset="-122"/>
                <a:cs typeface="PT Serif" pitchFamily="34" charset="-120"/>
              </a:rPr>
              <a:t>Intuition Behind Boosting</a:t>
            </a:r>
            <a:br>
              <a:rPr lang="en-US" sz="3600" dirty="0">
                <a:solidFill>
                  <a:schemeClr val="tx1"/>
                </a:solidFill>
                <a:ea typeface="PT Serif" pitchFamily="34" charset="-122"/>
                <a:cs typeface="PT Serif" pitchFamily="34" charset="-120"/>
              </a:rPr>
            </a:br>
            <a:r>
              <a:rPr lang="en-US" sz="3600" dirty="0">
                <a:solidFill>
                  <a:schemeClr val="tx1"/>
                </a:solidFill>
                <a:ea typeface="PT Serif" pitchFamily="34" charset="-122"/>
                <a:cs typeface="PT Serif" pitchFamily="34" charset="-120"/>
              </a:rPr>
              <a:t>Learning from Mistakes</a:t>
            </a:r>
            <a:endParaRPr lang="en-US" sz="3600" dirty="0">
              <a:solidFill>
                <a:schemeClr val="tx1"/>
              </a:solidFill>
            </a:endParaRPr>
          </a:p>
        </p:txBody>
      </p:sp>
      <p:sp>
        <p:nvSpPr>
          <p:cNvPr id="10" name="Shape 2">
            <a:extLst>
              <a:ext uri="{FF2B5EF4-FFF2-40B4-BE49-F238E27FC236}">
                <a16:creationId xmlns:a16="http://schemas.microsoft.com/office/drawing/2014/main" id="{519795FC-9908-4415-E19C-266E73B2AD9C}"/>
              </a:ext>
            </a:extLst>
          </p:cNvPr>
          <p:cNvSpPr/>
          <p:nvPr/>
        </p:nvSpPr>
        <p:spPr>
          <a:xfrm>
            <a:off x="1058711" y="3156196"/>
            <a:ext cx="4215289" cy="3625603"/>
          </a:xfrm>
          <a:prstGeom prst="roundRect">
            <a:avLst>
              <a:gd name="adj" fmla="val 1410"/>
            </a:avLst>
          </a:prstGeom>
          <a:solidFill>
            <a:srgbClr val="F2EEEE"/>
          </a:solidFill>
          <a:ln/>
        </p:spPr>
      </p:sp>
      <p:sp>
        <p:nvSpPr>
          <p:cNvPr id="11" name="Text 3">
            <a:extLst>
              <a:ext uri="{FF2B5EF4-FFF2-40B4-BE49-F238E27FC236}">
                <a16:creationId xmlns:a16="http://schemas.microsoft.com/office/drawing/2014/main" id="{1729E060-4A6E-E272-7665-9392F1B6E4F8}"/>
              </a:ext>
            </a:extLst>
          </p:cNvPr>
          <p:cNvSpPr/>
          <p:nvPr/>
        </p:nvSpPr>
        <p:spPr>
          <a:xfrm>
            <a:off x="1291575" y="2985307"/>
            <a:ext cx="3975236" cy="24764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1. Increase Importance</a:t>
            </a:r>
            <a:endParaRPr lang="en-US" sz="24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Misclassified observations receive higher weights, making them more influential in training subsequent models.</a:t>
            </a:r>
            <a:endParaRPr lang="en-US" sz="1800" dirty="0">
              <a:solidFill>
                <a:schemeClr val="tx1"/>
              </a:solidFill>
              <a:latin typeface="PT Serif" panose="020A0603040505020204" pitchFamily="18" charset="0"/>
            </a:endParaRPr>
          </a:p>
        </p:txBody>
      </p:sp>
      <p:sp>
        <p:nvSpPr>
          <p:cNvPr id="12" name="Text 4">
            <a:extLst>
              <a:ext uri="{FF2B5EF4-FFF2-40B4-BE49-F238E27FC236}">
                <a16:creationId xmlns:a16="http://schemas.microsoft.com/office/drawing/2014/main" id="{588280D7-090B-45D5-C4BA-D51200121A40}"/>
              </a:ext>
            </a:extLst>
          </p:cNvPr>
          <p:cNvSpPr/>
          <p:nvPr/>
        </p:nvSpPr>
        <p:spPr>
          <a:xfrm>
            <a:off x="1257069" y="3593347"/>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3" name="Shape 5">
            <a:extLst>
              <a:ext uri="{FF2B5EF4-FFF2-40B4-BE49-F238E27FC236}">
                <a16:creationId xmlns:a16="http://schemas.microsoft.com/office/drawing/2014/main" id="{E7C49C67-C298-4068-CA76-A4C08A84BF5C}"/>
              </a:ext>
            </a:extLst>
          </p:cNvPr>
          <p:cNvSpPr/>
          <p:nvPr/>
        </p:nvSpPr>
        <p:spPr>
          <a:xfrm>
            <a:off x="5492486" y="3148229"/>
            <a:ext cx="4215408" cy="362560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677905" y="2925114"/>
            <a:ext cx="3784186" cy="23137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2. Decrease Importance</a:t>
            </a:r>
            <a:endParaRPr lang="en-US" sz="24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Correctly classified observations receive lower weights, allowing the algorithm to focus resources on harder cases.</a:t>
            </a:r>
            <a:endParaRPr lang="en-US" sz="18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593347"/>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3" y="3190159"/>
            <a:ext cx="4215289" cy="362560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091671" y="2985307"/>
            <a:ext cx="3982544" cy="231374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3. Progressive Strength</a:t>
            </a:r>
            <a:endParaRPr lang="en-US" sz="24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Over iterations, the ensemble becomes increasingly adept at handling difficult patterns.</a:t>
            </a:r>
            <a:endParaRPr lang="en-US" sz="1800" dirty="0">
              <a:solidFill>
                <a:schemeClr val="tx1"/>
              </a:solidFill>
              <a:latin typeface="PT Serif" panose="020A0603040505020204" pitchFamily="18" charset="0"/>
            </a:endParaRPr>
          </a:p>
          <a:p>
            <a:pPr marL="0" indent="0" algn="l">
              <a:lnSpc>
                <a:spcPct val="20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593347"/>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9" name="Text 11">
            <a:extLst>
              <a:ext uri="{FF2B5EF4-FFF2-40B4-BE49-F238E27FC236}">
                <a16:creationId xmlns:a16="http://schemas.microsoft.com/office/drawing/2014/main" id="{B0E96A68-5AC2-E389-6822-412F3EE15715}"/>
              </a:ext>
            </a:extLst>
          </p:cNvPr>
          <p:cNvSpPr/>
          <p:nvPr/>
        </p:nvSpPr>
        <p:spPr>
          <a:xfrm>
            <a:off x="974345" y="1597146"/>
            <a:ext cx="12878910" cy="635079"/>
          </a:xfrm>
          <a:prstGeom prst="rect">
            <a:avLst/>
          </a:prstGeom>
          <a:noFill/>
          <a:ln/>
        </p:spPr>
        <p:txBody>
          <a:bodyPr wrap="square" lIns="0" tIns="0" rIns="0" bIns="0" rtlCol="0" anchor="t"/>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fundamental intuition of boosting mirrors how humans learn: by paying more attention to difficult problems and less to those already mastered. This adaptive focus drives progressive improvement.</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5602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43248"/>
            <a:ext cx="13656055" cy="997761"/>
          </a:xfrm>
          <a:prstGeom prst="rect">
            <a:avLst/>
          </a:prstGeom>
        </p:spPr>
        <p:txBody>
          <a:bodyPr vert="horz" wrap="square" lIns="0" tIns="439471" rIns="0" bIns="0" rtlCol="0">
            <a:spAutoFit/>
          </a:bodyPr>
          <a:lstStyle/>
          <a:p>
            <a:pPr marL="0" indent="0" algn="l">
              <a:buNone/>
            </a:pPr>
            <a:r>
              <a:rPr lang="en-US" sz="3600" dirty="0">
                <a:solidFill>
                  <a:schemeClr val="tx1"/>
                </a:solidFill>
                <a:ea typeface="PT Serif" pitchFamily="34" charset="-122"/>
                <a:cs typeface="PT Serif" pitchFamily="34" charset="-120"/>
              </a:rPr>
              <a:t>How Boosting Works: Conceptual Steps</a:t>
            </a:r>
            <a:endParaRPr lang="en-US" sz="3600" dirty="0">
              <a:solidFill>
                <a:schemeClr val="tx1"/>
              </a:solidFill>
            </a:endParaRPr>
          </a:p>
        </p:txBody>
      </p:sp>
      <p:sp>
        <p:nvSpPr>
          <p:cNvPr id="12" name="Text 4">
            <a:extLst>
              <a:ext uri="{FF2B5EF4-FFF2-40B4-BE49-F238E27FC236}">
                <a16:creationId xmlns:a16="http://schemas.microsoft.com/office/drawing/2014/main" id="{588280D7-090B-45D5-C4BA-D51200121A40}"/>
              </a:ext>
            </a:extLst>
          </p:cNvPr>
          <p:cNvSpPr/>
          <p:nvPr/>
        </p:nvSpPr>
        <p:spPr>
          <a:xfrm>
            <a:off x="1257069" y="3678192"/>
            <a:ext cx="3818573" cy="95261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3" name="Shape 5">
            <a:extLst>
              <a:ext uri="{FF2B5EF4-FFF2-40B4-BE49-F238E27FC236}">
                <a16:creationId xmlns:a16="http://schemas.microsoft.com/office/drawing/2014/main" id="{E7C49C67-C298-4068-CA76-A4C08A84BF5C}"/>
              </a:ext>
            </a:extLst>
          </p:cNvPr>
          <p:cNvSpPr/>
          <p:nvPr/>
        </p:nvSpPr>
        <p:spPr>
          <a:xfrm>
            <a:off x="5223092" y="1761227"/>
            <a:ext cx="4215408" cy="302397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438703" y="1761227"/>
            <a:ext cx="3784186" cy="23137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2. Identify Errors</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Evaluate the model and identify incorrectly predicted data points.</a:t>
            </a:r>
            <a:endParaRPr lang="en-US" sz="18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760454" y="1752600"/>
            <a:ext cx="4215289" cy="302397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9996193" y="1752600"/>
            <a:ext cx="3982544" cy="231374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3. Adjust Weights</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Increase the importance of misclassified observations whilst reducing the weight of correct predictions.</a:t>
            </a:r>
            <a:endParaRPr lang="en-US" sz="1800" dirty="0">
              <a:solidFill>
                <a:schemeClr val="tx1"/>
              </a:solidFill>
              <a:latin typeface="PT Serif" panose="020A0603040505020204" pitchFamily="18" charset="0"/>
            </a:endParaRPr>
          </a:p>
          <a:p>
            <a:pPr marL="0" indent="0" algn="l">
              <a:lnSpc>
                <a:spcPct val="20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678192"/>
            <a:ext cx="3818573" cy="95261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9" name="Text 11">
            <a:extLst>
              <a:ext uri="{FF2B5EF4-FFF2-40B4-BE49-F238E27FC236}">
                <a16:creationId xmlns:a16="http://schemas.microsoft.com/office/drawing/2014/main" id="{B0E96A68-5AC2-E389-6822-412F3EE15715}"/>
              </a:ext>
            </a:extLst>
          </p:cNvPr>
          <p:cNvSpPr/>
          <p:nvPr/>
        </p:nvSpPr>
        <p:spPr>
          <a:xfrm>
            <a:off x="863395" y="1165863"/>
            <a:ext cx="13042821" cy="635079"/>
          </a:xfrm>
          <a:prstGeom prst="rect">
            <a:avLst/>
          </a:prstGeom>
          <a:noFill/>
          <a:ln/>
        </p:spPr>
        <p:txBody>
          <a:bodyPr wrap="square" lIns="0" tIns="0" rIns="0" bIns="0" rtlCol="0" anchor="t"/>
          <a:lstStyle/>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Boosting follows a systematic, iterative process that progressively builds model strength through focused learning.</a:t>
            </a:r>
            <a:endParaRPr lang="en-US" sz="1800" dirty="0">
              <a:solidFill>
                <a:schemeClr val="tx1"/>
              </a:solidFill>
              <a:latin typeface="PT Serif" panose="020A0603040505020204" pitchFamily="18" charset="0"/>
            </a:endParaRPr>
          </a:p>
        </p:txBody>
      </p:sp>
      <p:sp>
        <p:nvSpPr>
          <p:cNvPr id="20" name="Shape 2">
            <a:extLst>
              <a:ext uri="{FF2B5EF4-FFF2-40B4-BE49-F238E27FC236}">
                <a16:creationId xmlns:a16="http://schemas.microsoft.com/office/drawing/2014/main" id="{666D6581-D1E0-AF91-D068-74CCD617E593}"/>
              </a:ext>
            </a:extLst>
          </p:cNvPr>
          <p:cNvSpPr/>
          <p:nvPr/>
        </p:nvSpPr>
        <p:spPr>
          <a:xfrm>
            <a:off x="762000" y="1752600"/>
            <a:ext cx="4215289" cy="3023970"/>
          </a:xfrm>
          <a:prstGeom prst="roundRect">
            <a:avLst>
              <a:gd name="adj" fmla="val 1410"/>
            </a:avLst>
          </a:prstGeom>
          <a:solidFill>
            <a:srgbClr val="F2EEEE"/>
          </a:solidFill>
          <a:ln/>
        </p:spPr>
      </p:sp>
      <p:sp>
        <p:nvSpPr>
          <p:cNvPr id="21" name="Text 3">
            <a:extLst>
              <a:ext uri="{FF2B5EF4-FFF2-40B4-BE49-F238E27FC236}">
                <a16:creationId xmlns:a16="http://schemas.microsoft.com/office/drawing/2014/main" id="{A1519BA7-7C23-57DB-4090-669E99ED9820}"/>
              </a:ext>
            </a:extLst>
          </p:cNvPr>
          <p:cNvSpPr/>
          <p:nvPr/>
        </p:nvSpPr>
        <p:spPr>
          <a:xfrm>
            <a:off x="967547" y="1777362"/>
            <a:ext cx="3975236" cy="24764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1. Train First Weak Learner</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Begin with a simple model trained on the original dataset with equal observation weights.</a:t>
            </a:r>
            <a:endParaRPr lang="en-US" sz="1800" dirty="0">
              <a:solidFill>
                <a:schemeClr val="tx1"/>
              </a:solidFill>
              <a:latin typeface="PT Serif" panose="020A0603040505020204" pitchFamily="18" charset="0"/>
            </a:endParaRPr>
          </a:p>
        </p:txBody>
      </p:sp>
      <p:sp>
        <p:nvSpPr>
          <p:cNvPr id="23" name="Shape 5">
            <a:extLst>
              <a:ext uri="{FF2B5EF4-FFF2-40B4-BE49-F238E27FC236}">
                <a16:creationId xmlns:a16="http://schemas.microsoft.com/office/drawing/2014/main" id="{437DA822-EAB9-086A-61B4-97D18D96AEB1}"/>
              </a:ext>
            </a:extLst>
          </p:cNvPr>
          <p:cNvSpPr/>
          <p:nvPr/>
        </p:nvSpPr>
        <p:spPr>
          <a:xfrm>
            <a:off x="5223092" y="5053230"/>
            <a:ext cx="4215408" cy="3023970"/>
          </a:xfrm>
          <a:prstGeom prst="roundRect">
            <a:avLst>
              <a:gd name="adj" fmla="val 1410"/>
            </a:avLst>
          </a:prstGeom>
          <a:solidFill>
            <a:srgbClr val="F2EEEE"/>
          </a:solidFill>
          <a:ln/>
        </p:spPr>
      </p:sp>
      <p:sp>
        <p:nvSpPr>
          <p:cNvPr id="24" name="Text 6">
            <a:extLst>
              <a:ext uri="{FF2B5EF4-FFF2-40B4-BE49-F238E27FC236}">
                <a16:creationId xmlns:a16="http://schemas.microsoft.com/office/drawing/2014/main" id="{3E6F42F6-B033-3C6A-38BC-D35C6D3F7D72}"/>
              </a:ext>
            </a:extLst>
          </p:cNvPr>
          <p:cNvSpPr/>
          <p:nvPr/>
        </p:nvSpPr>
        <p:spPr>
          <a:xfrm>
            <a:off x="5438703" y="5053230"/>
            <a:ext cx="3784186" cy="23137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5. Iterate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Repeat the process for a predetermined number of iterations or until performance plateaus.</a:t>
            </a:r>
            <a:endParaRPr lang="en-US" sz="1800" dirty="0">
              <a:solidFill>
                <a:schemeClr val="tx1"/>
              </a:solidFill>
              <a:latin typeface="PT Serif" panose="020A0603040505020204" pitchFamily="18" charset="0"/>
            </a:endParaRPr>
          </a:p>
        </p:txBody>
      </p:sp>
      <p:sp>
        <p:nvSpPr>
          <p:cNvPr id="25" name="Shape 8">
            <a:extLst>
              <a:ext uri="{FF2B5EF4-FFF2-40B4-BE49-F238E27FC236}">
                <a16:creationId xmlns:a16="http://schemas.microsoft.com/office/drawing/2014/main" id="{DE061AE2-6791-AB13-0791-D1FF4D43B7FD}"/>
              </a:ext>
            </a:extLst>
          </p:cNvPr>
          <p:cNvSpPr/>
          <p:nvPr/>
        </p:nvSpPr>
        <p:spPr>
          <a:xfrm>
            <a:off x="9760454" y="5044603"/>
            <a:ext cx="4215289" cy="3023970"/>
          </a:xfrm>
          <a:prstGeom prst="roundRect">
            <a:avLst>
              <a:gd name="adj" fmla="val 1410"/>
            </a:avLst>
          </a:prstGeom>
          <a:solidFill>
            <a:srgbClr val="F2EEEE"/>
          </a:solidFill>
          <a:ln/>
        </p:spPr>
      </p:sp>
      <p:sp>
        <p:nvSpPr>
          <p:cNvPr id="26" name="Text 9">
            <a:extLst>
              <a:ext uri="{FF2B5EF4-FFF2-40B4-BE49-F238E27FC236}">
                <a16:creationId xmlns:a16="http://schemas.microsoft.com/office/drawing/2014/main" id="{FD7BB77D-A1FC-89B0-6CCF-353EDA16E91E}"/>
              </a:ext>
            </a:extLst>
          </p:cNvPr>
          <p:cNvSpPr/>
          <p:nvPr/>
        </p:nvSpPr>
        <p:spPr>
          <a:xfrm>
            <a:off x="9996193" y="5044603"/>
            <a:ext cx="3982544" cy="231374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6. Combine Models</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Aggregate all learners into a final ensemble model, typically through weighted voting.</a:t>
            </a:r>
            <a:endParaRPr lang="en-US" sz="1800" dirty="0">
              <a:solidFill>
                <a:schemeClr val="tx1"/>
              </a:solidFill>
              <a:latin typeface="PT Serif" panose="020A0603040505020204" pitchFamily="18" charset="0"/>
            </a:endParaRPr>
          </a:p>
          <a:p>
            <a:pPr marL="0" indent="0" algn="l">
              <a:lnSpc>
                <a:spcPct val="20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27" name="Shape 2">
            <a:extLst>
              <a:ext uri="{FF2B5EF4-FFF2-40B4-BE49-F238E27FC236}">
                <a16:creationId xmlns:a16="http://schemas.microsoft.com/office/drawing/2014/main" id="{6BD417C1-B5D0-6C6D-1E8E-138EFF0D340E}"/>
              </a:ext>
            </a:extLst>
          </p:cNvPr>
          <p:cNvSpPr/>
          <p:nvPr/>
        </p:nvSpPr>
        <p:spPr>
          <a:xfrm>
            <a:off x="762000" y="5044603"/>
            <a:ext cx="4215289" cy="3023970"/>
          </a:xfrm>
          <a:prstGeom prst="roundRect">
            <a:avLst>
              <a:gd name="adj" fmla="val 1410"/>
            </a:avLst>
          </a:prstGeom>
          <a:solidFill>
            <a:srgbClr val="F2EEEE"/>
          </a:solidFill>
          <a:ln/>
        </p:spPr>
      </p:sp>
      <p:sp>
        <p:nvSpPr>
          <p:cNvPr id="28" name="Text 3">
            <a:extLst>
              <a:ext uri="{FF2B5EF4-FFF2-40B4-BE49-F238E27FC236}">
                <a16:creationId xmlns:a16="http://schemas.microsoft.com/office/drawing/2014/main" id="{ED322ABC-287A-1DA1-3B24-9DD71124ED35}"/>
              </a:ext>
            </a:extLst>
          </p:cNvPr>
          <p:cNvSpPr/>
          <p:nvPr/>
        </p:nvSpPr>
        <p:spPr>
          <a:xfrm>
            <a:off x="967547" y="5069365"/>
            <a:ext cx="3975236" cy="247644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4. Train Next Learner</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Train a new weak learner focusing on the weighted dataset, emphasizing difficult cases.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79586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DDED-DA84-4F7B-19C8-88A6A5812D24}"/>
              </a:ext>
            </a:extLst>
          </p:cNvPr>
          <p:cNvSpPr>
            <a:spLocks noGrp="1"/>
          </p:cNvSpPr>
          <p:nvPr>
            <p:ph type="title"/>
          </p:nvPr>
        </p:nvSpPr>
        <p:spPr>
          <a:xfrm>
            <a:off x="838200" y="411126"/>
            <a:ext cx="13656055" cy="1123384"/>
          </a:xfrm>
        </p:spPr>
        <p:txBody>
          <a:bodyPr/>
          <a:lstStyle/>
          <a:p>
            <a:r>
              <a:rPr lang="en-US" sz="3600" dirty="0">
                <a:solidFill>
                  <a:schemeClr val="tx1"/>
                </a:solidFill>
                <a:ea typeface="PT Serif" pitchFamily="34" charset="-122"/>
                <a:cs typeface="PT Serif" pitchFamily="34" charset="-120"/>
              </a:rPr>
              <a:t>Boosting vs Bagging</a:t>
            </a:r>
            <a:br>
              <a:rPr lang="en-US" sz="3600" dirty="0">
                <a:solidFill>
                  <a:schemeClr val="tx1"/>
                </a:solidFill>
              </a:rPr>
            </a:br>
            <a:endParaRPr lang="en-IN" sz="3600" dirty="0">
              <a:solidFill>
                <a:schemeClr val="tx1"/>
              </a:solidFill>
            </a:endParaRPr>
          </a:p>
        </p:txBody>
      </p:sp>
      <p:sp>
        <p:nvSpPr>
          <p:cNvPr id="4" name="TextBox 3">
            <a:extLst>
              <a:ext uri="{FF2B5EF4-FFF2-40B4-BE49-F238E27FC236}">
                <a16:creationId xmlns:a16="http://schemas.microsoft.com/office/drawing/2014/main" id="{BF823128-70D2-B1E4-9450-26BA4592F1BF}"/>
              </a:ext>
            </a:extLst>
          </p:cNvPr>
          <p:cNvSpPr txBox="1"/>
          <p:nvPr/>
        </p:nvSpPr>
        <p:spPr>
          <a:xfrm>
            <a:off x="822385" y="1276579"/>
            <a:ext cx="13450239"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Whilst both boosting and bagging are ensemble methods, they differ fundamentally in their approach, objectives, and characteristics. Understanding these distinctions is crucial for selecting the appropriate technique.</a:t>
            </a:r>
            <a:endParaRPr lang="en-US" sz="1800" dirty="0">
              <a:solidFill>
                <a:schemeClr val="tx1"/>
              </a:solidFill>
              <a:latin typeface="PT Serif" panose="020A0603040505020204" pitchFamily="18" charset="0"/>
            </a:endParaRPr>
          </a:p>
        </p:txBody>
      </p:sp>
      <p:graphicFrame>
        <p:nvGraphicFramePr>
          <p:cNvPr id="5" name="Table 5">
            <a:extLst>
              <a:ext uri="{FF2B5EF4-FFF2-40B4-BE49-F238E27FC236}">
                <a16:creationId xmlns:a16="http://schemas.microsoft.com/office/drawing/2014/main" id="{A6092A9F-B9A7-8D40-3D00-0443AF81F07C}"/>
              </a:ext>
            </a:extLst>
          </p:cNvPr>
          <p:cNvGraphicFramePr>
            <a:graphicFrameLocks noGrp="1"/>
          </p:cNvGraphicFramePr>
          <p:nvPr>
            <p:extLst>
              <p:ext uri="{D42A27DB-BD31-4B8C-83A1-F6EECF244321}">
                <p14:modId xmlns:p14="http://schemas.microsoft.com/office/powerpoint/2010/main" val="2038624005"/>
              </p:ext>
            </p:extLst>
          </p:nvPr>
        </p:nvGraphicFramePr>
        <p:xfrm>
          <a:off x="1361839" y="2849173"/>
          <a:ext cx="11906721" cy="4175760"/>
        </p:xfrm>
        <a:graphic>
          <a:graphicData uri="http://schemas.openxmlformats.org/drawingml/2006/table">
            <a:tbl>
              <a:tblPr firstRow="1" bandRow="1">
                <a:tableStyleId>{7DF18680-E054-41AD-8BC1-D1AEF772440D}</a:tableStyleId>
              </a:tblPr>
              <a:tblGrid>
                <a:gridCol w="2610322">
                  <a:extLst>
                    <a:ext uri="{9D8B030D-6E8A-4147-A177-3AD203B41FA5}">
                      <a16:colId xmlns:a16="http://schemas.microsoft.com/office/drawing/2014/main" val="2613363584"/>
                    </a:ext>
                  </a:extLst>
                </a:gridCol>
                <a:gridCol w="5327492">
                  <a:extLst>
                    <a:ext uri="{9D8B030D-6E8A-4147-A177-3AD203B41FA5}">
                      <a16:colId xmlns:a16="http://schemas.microsoft.com/office/drawing/2014/main" val="2022156539"/>
                    </a:ext>
                  </a:extLst>
                </a:gridCol>
                <a:gridCol w="3968907">
                  <a:extLst>
                    <a:ext uri="{9D8B030D-6E8A-4147-A177-3AD203B41FA5}">
                      <a16:colId xmlns:a16="http://schemas.microsoft.com/office/drawing/2014/main" val="3828929917"/>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PT Serif" panose="020A0603040505020204" pitchFamily="18" charset="0"/>
                        </a:rPr>
                        <a:t>Aspect</a:t>
                      </a:r>
                      <a:endParaRPr lang="en-US" sz="2000" dirty="0">
                        <a:solidFill>
                          <a:schemeClr val="tx1"/>
                        </a:solidFill>
                        <a:latin typeface="PT Serif" panose="020A0603040505020204" pitchFamily="18" charset="0"/>
                      </a:endParaRPr>
                    </a:p>
                    <a:p>
                      <a:endParaRPr lang="en-IN" sz="2000"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PT Serif" panose="020A0603040505020204" pitchFamily="18" charset="0"/>
                        </a:rPr>
                        <a:t>Bagging</a:t>
                      </a:r>
                      <a:endParaRPr lang="en-US" sz="2000" dirty="0">
                        <a:solidFill>
                          <a:schemeClr val="tx1"/>
                        </a:solidFill>
                        <a:latin typeface="PT Serif" panose="020A0603040505020204" pitchFamily="18" charset="0"/>
                      </a:endParaRPr>
                    </a:p>
                    <a:p>
                      <a:endParaRPr lang="en-IN" sz="2000"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PT Serif" panose="020A0603040505020204" pitchFamily="18" charset="0"/>
                        </a:rPr>
                        <a:t>Boosting</a:t>
                      </a:r>
                      <a:endParaRPr lang="en-US" sz="2000" dirty="0">
                        <a:solidFill>
                          <a:schemeClr val="tx1"/>
                        </a:solidFill>
                        <a:latin typeface="PT Serif" panose="020A0603040505020204" pitchFamily="18" charset="0"/>
                      </a:endParaRPr>
                    </a:p>
                    <a:p>
                      <a:endParaRPr lang="en-IN" sz="2000" dirty="0">
                        <a:solidFill>
                          <a:schemeClr val="tx1"/>
                        </a:solidFill>
                        <a:latin typeface="PT Serif" panose="020A0603040505020204" pitchFamily="18" charset="0"/>
                      </a:endParaRPr>
                    </a:p>
                  </a:txBody>
                  <a:tcPr/>
                </a:tc>
                <a:extLst>
                  <a:ext uri="{0D108BD9-81ED-4DB2-BD59-A6C34878D82A}">
                    <a16:rowId xmlns:a16="http://schemas.microsoft.com/office/drawing/2014/main" val="408889581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Training Style</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Parallel: models trained independently</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Sequential: models trained one after another</a:t>
                      </a:r>
                    </a:p>
                    <a:p>
                      <a:endParaRPr lang="en-IN" dirty="0">
                        <a:solidFill>
                          <a:schemeClr val="tx1"/>
                        </a:solidFill>
                        <a:latin typeface="PT Serif" panose="020A0603040505020204" pitchFamily="18" charset="0"/>
                      </a:endParaRPr>
                    </a:p>
                  </a:txBody>
                  <a:tcPr/>
                </a:tc>
                <a:extLst>
                  <a:ext uri="{0D108BD9-81ED-4DB2-BD59-A6C34878D82A}">
                    <a16:rowId xmlns:a16="http://schemas.microsoft.com/office/drawing/2014/main" val="1196183646"/>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Main Goal</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Reduce variance and prevent overfitting</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Reduce bias and improve accuracy</a:t>
                      </a:r>
                    </a:p>
                    <a:p>
                      <a:endParaRPr lang="en-IN" dirty="0">
                        <a:solidFill>
                          <a:schemeClr val="tx1"/>
                        </a:solidFill>
                        <a:latin typeface="PT Serif" panose="020A0603040505020204" pitchFamily="18" charset="0"/>
                      </a:endParaRPr>
                    </a:p>
                  </a:txBody>
                  <a:tcPr/>
                </a:tc>
                <a:extLst>
                  <a:ext uri="{0D108BD9-81ED-4DB2-BD59-A6C34878D82A}">
                    <a16:rowId xmlns:a16="http://schemas.microsoft.com/office/drawing/2014/main" val="69953428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Data Weighting</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Equal weights for all observations</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Adaptive weights focusing on errors</a:t>
                      </a:r>
                    </a:p>
                    <a:p>
                      <a:endParaRPr lang="en-IN" dirty="0">
                        <a:solidFill>
                          <a:schemeClr val="tx1"/>
                        </a:solidFill>
                        <a:latin typeface="PT Serif" panose="020A0603040505020204" pitchFamily="18" charset="0"/>
                      </a:endParaRPr>
                    </a:p>
                  </a:txBody>
                  <a:tcPr/>
                </a:tc>
                <a:extLst>
                  <a:ext uri="{0D108BD9-81ED-4DB2-BD59-A6C34878D82A}">
                    <a16:rowId xmlns:a16="http://schemas.microsoft.com/office/drawing/2014/main" val="344196166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Noise Sensitivity</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Lower: robust to noisy data</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Higher: can overfit to noise</a:t>
                      </a:r>
                    </a:p>
                    <a:p>
                      <a:endParaRPr lang="en-IN" dirty="0">
                        <a:solidFill>
                          <a:schemeClr val="tx1"/>
                        </a:solidFill>
                        <a:latin typeface="PT Serif" panose="020A0603040505020204" pitchFamily="18" charset="0"/>
                      </a:endParaRPr>
                    </a:p>
                  </a:txBody>
                  <a:tcPr/>
                </a:tc>
                <a:extLst>
                  <a:ext uri="{0D108BD9-81ED-4DB2-BD59-A6C34878D82A}">
                    <a16:rowId xmlns:a16="http://schemas.microsoft.com/office/drawing/2014/main" val="3708482703"/>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Computational Cost</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Lower: easily parallelisable</a:t>
                      </a:r>
                    </a:p>
                    <a:p>
                      <a:endParaRPr lang="en-IN" dirty="0">
                        <a:solidFill>
                          <a:schemeClr val="tx1"/>
                        </a:solidFill>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PT Serif" panose="020A0603040505020204" pitchFamily="18" charset="0"/>
                        </a:rPr>
                        <a:t>Higher: sequential dependency</a:t>
                      </a:r>
                    </a:p>
                    <a:p>
                      <a:endParaRPr lang="en-IN" dirty="0">
                        <a:solidFill>
                          <a:schemeClr val="tx1"/>
                        </a:solidFill>
                        <a:latin typeface="PT Serif" panose="020A0603040505020204" pitchFamily="18" charset="0"/>
                      </a:endParaRPr>
                    </a:p>
                  </a:txBody>
                  <a:tcPr/>
                </a:tc>
                <a:extLst>
                  <a:ext uri="{0D108BD9-81ED-4DB2-BD59-A6C34878D82A}">
                    <a16:rowId xmlns:a16="http://schemas.microsoft.com/office/drawing/2014/main" val="1417563418"/>
                  </a:ext>
                </a:extLst>
              </a:tr>
            </a:tbl>
          </a:graphicData>
        </a:graphic>
      </p:graphicFrame>
    </p:spTree>
    <p:extLst>
      <p:ext uri="{BB962C8B-B14F-4D97-AF65-F5344CB8AC3E}">
        <p14:creationId xmlns:p14="http://schemas.microsoft.com/office/powerpoint/2010/main" val="269128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6206" y="-490455"/>
            <a:ext cx="13656055" cy="1186595"/>
          </a:xfrm>
          <a:prstGeom prst="rect">
            <a:avLst/>
          </a:prstGeom>
        </p:spPr>
        <p:txBody>
          <a:bodyPr vert="horz" wrap="square" lIns="0" tIns="439471" rIns="0" bIns="0" rtlCol="0">
            <a:spAutoFit/>
          </a:bodyPr>
          <a:lstStyle/>
          <a:p>
            <a:pPr marL="0" indent="0" algn="l">
              <a:lnSpc>
                <a:spcPct val="150000"/>
              </a:lnSpc>
              <a:buNone/>
            </a:pPr>
            <a:r>
              <a:rPr lang="en-US" sz="3600" dirty="0">
                <a:solidFill>
                  <a:schemeClr val="tx1"/>
                </a:solidFill>
                <a:ea typeface="PT Serif" pitchFamily="34" charset="-122"/>
                <a:cs typeface="PT Serif" pitchFamily="34" charset="-120"/>
              </a:rPr>
              <a:t>Popular Boosting Algorithms</a:t>
            </a:r>
            <a:endParaRPr lang="en-US" sz="3600" dirty="0">
              <a:solidFill>
                <a:schemeClr val="tx1"/>
              </a:solidFill>
            </a:endParaRPr>
          </a:p>
        </p:txBody>
      </p:sp>
      <p:sp>
        <p:nvSpPr>
          <p:cNvPr id="12" name="Text 4">
            <a:extLst>
              <a:ext uri="{FF2B5EF4-FFF2-40B4-BE49-F238E27FC236}">
                <a16:creationId xmlns:a16="http://schemas.microsoft.com/office/drawing/2014/main" id="{588280D7-090B-45D5-C4BA-D51200121A40}"/>
              </a:ext>
            </a:extLst>
          </p:cNvPr>
          <p:cNvSpPr/>
          <p:nvPr/>
        </p:nvSpPr>
        <p:spPr>
          <a:xfrm>
            <a:off x="1257069" y="3264240"/>
            <a:ext cx="3818573" cy="95261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3" name="Shape 5">
            <a:extLst>
              <a:ext uri="{FF2B5EF4-FFF2-40B4-BE49-F238E27FC236}">
                <a16:creationId xmlns:a16="http://schemas.microsoft.com/office/drawing/2014/main" id="{E7C49C67-C298-4068-CA76-A4C08A84BF5C}"/>
              </a:ext>
            </a:extLst>
          </p:cNvPr>
          <p:cNvSpPr/>
          <p:nvPr/>
        </p:nvSpPr>
        <p:spPr>
          <a:xfrm>
            <a:off x="5223092" y="1776630"/>
            <a:ext cx="4215408" cy="302397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438703" y="1776630"/>
            <a:ext cx="3784186" cy="23137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Gradient Boosting</a:t>
            </a:r>
            <a:endParaRPr lang="en-US" sz="2400" dirty="0">
              <a:solidFill>
                <a:schemeClr val="tx1"/>
              </a:solidFill>
              <a:latin typeface="PT Serif" panose="020A0603040505020204" pitchFamily="18" charset="0"/>
            </a:endParaRPr>
          </a:p>
          <a:p>
            <a:pPr>
              <a:lnSpc>
                <a:spcPct val="150000"/>
              </a:lnSpc>
            </a:pPr>
            <a:r>
              <a:rPr lang="en-IN" sz="1800" dirty="0">
                <a:solidFill>
                  <a:schemeClr val="tx1"/>
                </a:solidFill>
                <a:latin typeface="PT Serif" panose="020A0603040505020204" pitchFamily="18" charset="0"/>
              </a:rPr>
              <a:t>Gradient Boosting builds models in a stage-wise manner by fitting each new tree to the residual errors of the previous model. It minimizes a specified loss function using gradient-based optimization.  </a:t>
            </a:r>
            <a:endParaRPr lang="en-US" sz="18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264240"/>
            <a:ext cx="3818692" cy="127015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628651" y="1768003"/>
            <a:ext cx="4696949" cy="302397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9864390" y="1768003"/>
            <a:ext cx="4249063" cy="2313740"/>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XGBoost</a:t>
            </a:r>
            <a:endParaRPr lang="en-US" sz="2400" dirty="0">
              <a:solidFill>
                <a:schemeClr val="tx1"/>
              </a:solidFill>
              <a:latin typeface="PT Serif" panose="020A0603040505020204" pitchFamily="18" charset="0"/>
            </a:endParaRPr>
          </a:p>
          <a:p>
            <a:pPr>
              <a:lnSpc>
                <a:spcPct val="150000"/>
              </a:lnSpc>
            </a:pPr>
            <a:r>
              <a:rPr lang="en-IN" sz="1800" dirty="0">
                <a:solidFill>
                  <a:schemeClr val="tx1"/>
                </a:solidFill>
                <a:latin typeface="PT Serif" panose="020A0603040505020204" pitchFamily="18" charset="0"/>
              </a:rPr>
              <a:t>XGBoost is an optimized implementation of Gradient Boosting with regularization to control overfitting. It supports parallel processing, tree pruning, and efficient handling of missing values. Designed for speed and performance on large datasets.</a:t>
            </a:r>
            <a:endParaRPr lang="en-US" sz="1800" dirty="0">
              <a:solidFill>
                <a:schemeClr val="tx1"/>
              </a:solidFill>
              <a:latin typeface="PT Serif" panose="020A0603040505020204" pitchFamily="18" charset="0"/>
            </a:endParaRPr>
          </a:p>
          <a:p>
            <a:pPr marL="0" indent="0" algn="l">
              <a:lnSpc>
                <a:spcPct val="15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264240"/>
            <a:ext cx="3818573" cy="952619"/>
          </a:xfrm>
          <a:prstGeom prst="rect">
            <a:avLst/>
          </a:prstGeom>
          <a:noFill/>
          <a:ln/>
        </p:spPr>
        <p:txBody>
          <a:bodyPr wrap="square" lIns="0" tIns="0" rIns="0" bIns="0" rtlCol="0" anchor="t"/>
          <a:lstStyle/>
          <a:p>
            <a:pPr marL="0" indent="0" algn="l">
              <a:lnSpc>
                <a:spcPct val="150000"/>
              </a:lnSpc>
              <a:buNone/>
            </a:pPr>
            <a:endParaRPr lang="en-US" dirty="0">
              <a:solidFill>
                <a:schemeClr val="tx1"/>
              </a:solidFill>
              <a:latin typeface="PT Serif" panose="020A0603040505020204" pitchFamily="18" charset="0"/>
            </a:endParaRPr>
          </a:p>
        </p:txBody>
      </p:sp>
      <p:sp>
        <p:nvSpPr>
          <p:cNvPr id="19" name="Text 11">
            <a:extLst>
              <a:ext uri="{FF2B5EF4-FFF2-40B4-BE49-F238E27FC236}">
                <a16:creationId xmlns:a16="http://schemas.microsoft.com/office/drawing/2014/main" id="{B0E96A68-5AC2-E389-6822-412F3EE15715}"/>
              </a:ext>
            </a:extLst>
          </p:cNvPr>
          <p:cNvSpPr/>
          <p:nvPr/>
        </p:nvSpPr>
        <p:spPr>
          <a:xfrm>
            <a:off x="863395" y="751911"/>
            <a:ext cx="13042821" cy="635079"/>
          </a:xfrm>
          <a:prstGeom prst="rect">
            <a:avLst/>
          </a:prstGeom>
          <a:noFill/>
          <a:ln/>
        </p:spPr>
        <p:txBody>
          <a:bodyPr wrap="square" lIns="0" tIns="0" rIns="0" bIns="0" rtlCol="0" anchor="t"/>
          <a:lstStyle/>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Several boosting algorithms have been developed, each with unique characteristics and advantages. These algorithms are widely used in industry and machine learning competitions due to their exceptional performance.</a:t>
            </a:r>
            <a:endParaRPr lang="en-US" sz="1800" dirty="0">
              <a:solidFill>
                <a:schemeClr val="tx1"/>
              </a:solidFill>
              <a:latin typeface="PT Serif" panose="020A0603040505020204" pitchFamily="18" charset="0"/>
            </a:endParaRPr>
          </a:p>
        </p:txBody>
      </p:sp>
      <p:sp>
        <p:nvSpPr>
          <p:cNvPr id="20" name="Shape 2">
            <a:extLst>
              <a:ext uri="{FF2B5EF4-FFF2-40B4-BE49-F238E27FC236}">
                <a16:creationId xmlns:a16="http://schemas.microsoft.com/office/drawing/2014/main" id="{666D6581-D1E0-AF91-D068-74CCD617E593}"/>
              </a:ext>
            </a:extLst>
          </p:cNvPr>
          <p:cNvSpPr/>
          <p:nvPr/>
        </p:nvSpPr>
        <p:spPr>
          <a:xfrm>
            <a:off x="762000" y="1768003"/>
            <a:ext cx="4215289" cy="3023970"/>
          </a:xfrm>
          <a:prstGeom prst="roundRect">
            <a:avLst>
              <a:gd name="adj" fmla="val 1410"/>
            </a:avLst>
          </a:prstGeom>
          <a:solidFill>
            <a:srgbClr val="F2EEEE"/>
          </a:solidFill>
          <a:ln/>
        </p:spPr>
      </p:sp>
      <p:sp>
        <p:nvSpPr>
          <p:cNvPr id="21" name="Text 3">
            <a:extLst>
              <a:ext uri="{FF2B5EF4-FFF2-40B4-BE49-F238E27FC236}">
                <a16:creationId xmlns:a16="http://schemas.microsoft.com/office/drawing/2014/main" id="{A1519BA7-7C23-57DB-4090-669E99ED9820}"/>
              </a:ext>
            </a:extLst>
          </p:cNvPr>
          <p:cNvSpPr/>
          <p:nvPr/>
        </p:nvSpPr>
        <p:spPr>
          <a:xfrm>
            <a:off x="967547" y="1792765"/>
            <a:ext cx="3975236" cy="2476441"/>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AdaBoost</a:t>
            </a:r>
            <a:endParaRPr lang="en-US" sz="2400" dirty="0">
              <a:solidFill>
                <a:schemeClr val="tx1"/>
              </a:solidFill>
              <a:latin typeface="PT Serif" panose="020A0603040505020204" pitchFamily="18" charset="0"/>
            </a:endParaRPr>
          </a:p>
          <a:p>
            <a:pPr marL="0" indent="0" algn="l">
              <a:lnSpc>
                <a:spcPct val="150000"/>
              </a:lnSpc>
              <a:buNone/>
            </a:pPr>
            <a:r>
              <a:rPr lang="en-US" sz="1800" dirty="0">
                <a:solidFill>
                  <a:schemeClr val="tx1"/>
                </a:solidFill>
                <a:latin typeface="PT Serif" panose="020A0603040505020204" pitchFamily="18" charset="0"/>
                <a:ea typeface="DM Sans" pitchFamily="34" charset="-122"/>
                <a:cs typeface="DM Sans" pitchFamily="34" charset="-120"/>
              </a:rPr>
              <a:t>Adaptive Boosting: the original boosting algorithm that adjusts weights based on classification errors. Simple and effective for binary classification.</a:t>
            </a:r>
            <a:endParaRPr lang="en-US" sz="1800" dirty="0">
              <a:solidFill>
                <a:schemeClr val="tx1"/>
              </a:solidFill>
              <a:latin typeface="PT Serif" panose="020A0603040505020204" pitchFamily="18" charset="0"/>
            </a:endParaRPr>
          </a:p>
        </p:txBody>
      </p:sp>
      <p:sp>
        <p:nvSpPr>
          <p:cNvPr id="23" name="Shape 5">
            <a:extLst>
              <a:ext uri="{FF2B5EF4-FFF2-40B4-BE49-F238E27FC236}">
                <a16:creationId xmlns:a16="http://schemas.microsoft.com/office/drawing/2014/main" id="{437DA822-EAB9-086A-61B4-97D18D96AEB1}"/>
              </a:ext>
            </a:extLst>
          </p:cNvPr>
          <p:cNvSpPr/>
          <p:nvPr/>
        </p:nvSpPr>
        <p:spPr>
          <a:xfrm>
            <a:off x="7768835" y="5181600"/>
            <a:ext cx="6206908" cy="2637694"/>
          </a:xfrm>
          <a:prstGeom prst="roundRect">
            <a:avLst>
              <a:gd name="adj" fmla="val 1410"/>
            </a:avLst>
          </a:prstGeom>
          <a:solidFill>
            <a:srgbClr val="F2EEEE"/>
          </a:solidFill>
          <a:ln/>
        </p:spPr>
      </p:sp>
      <p:sp>
        <p:nvSpPr>
          <p:cNvPr id="24" name="Text 6">
            <a:extLst>
              <a:ext uri="{FF2B5EF4-FFF2-40B4-BE49-F238E27FC236}">
                <a16:creationId xmlns:a16="http://schemas.microsoft.com/office/drawing/2014/main" id="{3E6F42F6-B033-3C6A-38BC-D35C6D3F7D72}"/>
              </a:ext>
            </a:extLst>
          </p:cNvPr>
          <p:cNvSpPr/>
          <p:nvPr/>
        </p:nvSpPr>
        <p:spPr>
          <a:xfrm>
            <a:off x="8064211" y="5181600"/>
            <a:ext cx="5571962" cy="2018188"/>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CatBoost</a:t>
            </a:r>
            <a:endParaRPr lang="en-US" sz="2400" dirty="0">
              <a:solidFill>
                <a:schemeClr val="tx1"/>
              </a:solidFill>
              <a:latin typeface="PT Serif" panose="020A0603040505020204" pitchFamily="18" charset="0"/>
            </a:endParaRPr>
          </a:p>
          <a:p>
            <a:pPr>
              <a:lnSpc>
                <a:spcPct val="150000"/>
              </a:lnSpc>
            </a:pPr>
            <a:r>
              <a:rPr lang="en-IN" sz="1800" dirty="0">
                <a:solidFill>
                  <a:schemeClr val="tx1"/>
                </a:solidFill>
                <a:latin typeface="PT Serif" panose="020A0603040505020204" pitchFamily="18" charset="0"/>
              </a:rPr>
              <a:t>CatBoost is a Gradient Boosting algorithm designed to handle categorical variables directly. It uses ordered boosting to reduce prediction bias and overfitting. Particularly effective when datasets contain many categorical features.</a:t>
            </a:r>
            <a:endParaRPr lang="en-US" sz="1800" dirty="0">
              <a:solidFill>
                <a:schemeClr val="tx1"/>
              </a:solidFill>
              <a:latin typeface="PT Serif" panose="020A0603040505020204" pitchFamily="18" charset="0"/>
            </a:endParaRPr>
          </a:p>
        </p:txBody>
      </p:sp>
      <p:sp>
        <p:nvSpPr>
          <p:cNvPr id="27" name="Shape 2">
            <a:extLst>
              <a:ext uri="{FF2B5EF4-FFF2-40B4-BE49-F238E27FC236}">
                <a16:creationId xmlns:a16="http://schemas.microsoft.com/office/drawing/2014/main" id="{6BD417C1-B5D0-6C6D-1E8E-138EFF0D340E}"/>
              </a:ext>
            </a:extLst>
          </p:cNvPr>
          <p:cNvSpPr/>
          <p:nvPr/>
        </p:nvSpPr>
        <p:spPr>
          <a:xfrm>
            <a:off x="762000" y="5134706"/>
            <a:ext cx="6206733" cy="2637694"/>
          </a:xfrm>
          <a:prstGeom prst="roundRect">
            <a:avLst>
              <a:gd name="adj" fmla="val 1410"/>
            </a:avLst>
          </a:prstGeom>
          <a:solidFill>
            <a:srgbClr val="F2EEEE"/>
          </a:solidFill>
          <a:ln/>
        </p:spPr>
      </p:sp>
      <p:sp>
        <p:nvSpPr>
          <p:cNvPr id="28" name="Text 3">
            <a:extLst>
              <a:ext uri="{FF2B5EF4-FFF2-40B4-BE49-F238E27FC236}">
                <a16:creationId xmlns:a16="http://schemas.microsoft.com/office/drawing/2014/main" id="{ED322ABC-287A-1DA1-3B24-9DD71124ED35}"/>
              </a:ext>
            </a:extLst>
          </p:cNvPr>
          <p:cNvSpPr/>
          <p:nvPr/>
        </p:nvSpPr>
        <p:spPr>
          <a:xfrm>
            <a:off x="967546" y="5159468"/>
            <a:ext cx="5853271" cy="2160106"/>
          </a:xfrm>
          <a:prstGeom prst="rect">
            <a:avLst/>
          </a:prstGeom>
          <a:noFill/>
          <a:ln/>
        </p:spPr>
        <p:txBody>
          <a:bodyPr wrap="square" lIns="0" tIns="0" rIns="0" bIns="0" rtlCol="0" anchor="t"/>
          <a:lstStyle/>
          <a:p>
            <a:pPr marL="0" indent="0" algn="l">
              <a:lnSpc>
                <a:spcPct val="150000"/>
              </a:lnSpc>
              <a:buNone/>
            </a:pPr>
            <a:r>
              <a:rPr lang="en-US" sz="2400" dirty="0">
                <a:solidFill>
                  <a:schemeClr val="tx1"/>
                </a:solidFill>
                <a:latin typeface="PT Serif" panose="020A0603040505020204" pitchFamily="18" charset="0"/>
                <a:ea typeface="PT Serif" pitchFamily="34" charset="-122"/>
                <a:cs typeface="PT Serif" pitchFamily="34" charset="-120"/>
              </a:rPr>
              <a:t>LightGBM</a:t>
            </a:r>
            <a:endParaRPr lang="en-US" sz="2400" dirty="0">
              <a:solidFill>
                <a:schemeClr val="tx1"/>
              </a:solidFill>
              <a:latin typeface="PT Serif" panose="020A0603040505020204" pitchFamily="18" charset="0"/>
            </a:endParaRPr>
          </a:p>
          <a:p>
            <a:pPr>
              <a:lnSpc>
                <a:spcPct val="150000"/>
              </a:lnSpc>
            </a:pPr>
            <a:r>
              <a:rPr lang="en-IN" sz="1800" dirty="0">
                <a:solidFill>
                  <a:schemeClr val="tx1"/>
                </a:solidFill>
                <a:latin typeface="PT Serif" panose="020A0603040505020204" pitchFamily="18" charset="0"/>
              </a:rPr>
              <a:t>LightGBM is a fast Gradient Boosting framework that uses histogram-based splitting and leaf-wise tree growth. This approach significantly reduces training time and memory usage. It is well suited for large-scale and high-dimensional data.</a:t>
            </a:r>
          </a:p>
        </p:txBody>
      </p:sp>
    </p:spTree>
    <p:extLst>
      <p:ext uri="{BB962C8B-B14F-4D97-AF65-F5344CB8AC3E}">
        <p14:creationId xmlns:p14="http://schemas.microsoft.com/office/powerpoint/2010/main" val="45483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004" y="-636141"/>
            <a:ext cx="13656055" cy="1394344"/>
          </a:xfrm>
          <a:prstGeom prst="rect">
            <a:avLst/>
          </a:prstGeom>
        </p:spPr>
        <p:txBody>
          <a:bodyPr vert="horz" wrap="square" lIns="0" tIns="439471" rIns="0" bIns="0" rtlCol="0">
            <a:spAutoFit/>
          </a:bodyPr>
          <a:lstStyle/>
          <a:p>
            <a:pPr marL="0" indent="0" algn="l">
              <a:lnSpc>
                <a:spcPct val="200000"/>
              </a:lnSpc>
              <a:buNone/>
            </a:pPr>
            <a:r>
              <a:rPr lang="en-US" sz="3600" dirty="0">
                <a:solidFill>
                  <a:schemeClr val="tx1"/>
                </a:solidFill>
                <a:ea typeface="PT Serif" pitchFamily="34" charset="-122"/>
                <a:cs typeface="PT Serif" pitchFamily="34" charset="-120"/>
              </a:rPr>
              <a:t>Applications of Boosting</a:t>
            </a:r>
            <a:endParaRPr lang="en-US" sz="3600" dirty="0">
              <a:solidFill>
                <a:schemeClr val="tx1"/>
              </a:solidFill>
            </a:endParaRPr>
          </a:p>
        </p:txBody>
      </p:sp>
      <p:sp>
        <p:nvSpPr>
          <p:cNvPr id="12" name="Text 4">
            <a:extLst>
              <a:ext uri="{FF2B5EF4-FFF2-40B4-BE49-F238E27FC236}">
                <a16:creationId xmlns:a16="http://schemas.microsoft.com/office/drawing/2014/main" id="{588280D7-090B-45D5-C4BA-D51200121A40}"/>
              </a:ext>
            </a:extLst>
          </p:cNvPr>
          <p:cNvSpPr/>
          <p:nvPr/>
        </p:nvSpPr>
        <p:spPr>
          <a:xfrm>
            <a:off x="1257069" y="3445946"/>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3" name="Shape 5">
            <a:extLst>
              <a:ext uri="{FF2B5EF4-FFF2-40B4-BE49-F238E27FC236}">
                <a16:creationId xmlns:a16="http://schemas.microsoft.com/office/drawing/2014/main" id="{E7C49C67-C298-4068-CA76-A4C08A84BF5C}"/>
              </a:ext>
            </a:extLst>
          </p:cNvPr>
          <p:cNvSpPr/>
          <p:nvPr/>
        </p:nvSpPr>
        <p:spPr>
          <a:xfrm>
            <a:off x="5223092" y="1958336"/>
            <a:ext cx="4215408" cy="3023970"/>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438703" y="1958336"/>
            <a:ext cx="3784186" cy="23137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Marketing</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Customer response modelling, churn prediction, segmentation analysis, and lifetime value estimation.</a:t>
            </a:r>
            <a:endParaRPr lang="en-US" sz="18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445946"/>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628651" y="1949709"/>
            <a:ext cx="4696949" cy="302397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9864390" y="1949709"/>
            <a:ext cx="4249063"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Healthcare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Disease prediction, patient risk stratification, treatment response forecasting, and medical image analysis.</a:t>
            </a:r>
            <a:endParaRPr lang="en-US" sz="1800" dirty="0">
              <a:solidFill>
                <a:schemeClr val="tx1"/>
              </a:solidFill>
              <a:latin typeface="PT Serif" panose="020A0603040505020204" pitchFamily="18" charset="0"/>
            </a:endParaRPr>
          </a:p>
          <a:p>
            <a:pPr marL="0" indent="0" algn="l">
              <a:lnSpc>
                <a:spcPct val="200000"/>
              </a:lnSpc>
              <a:buNone/>
            </a:pPr>
            <a:r>
              <a:rPr lang="en-US" b="0" i="0" dirty="0">
                <a:solidFill>
                  <a:schemeClr val="tx1"/>
                </a:solidFill>
                <a:effectLst/>
                <a:latin typeface="PT Serif" panose="020A0603040505020204" pitchFamily="18" charset="0"/>
              </a:rPr>
              <a:t>​</a:t>
            </a: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445946"/>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9" name="Text 11">
            <a:extLst>
              <a:ext uri="{FF2B5EF4-FFF2-40B4-BE49-F238E27FC236}">
                <a16:creationId xmlns:a16="http://schemas.microsoft.com/office/drawing/2014/main" id="{B0E96A68-5AC2-E389-6822-412F3EE15715}"/>
              </a:ext>
            </a:extLst>
          </p:cNvPr>
          <p:cNvSpPr/>
          <p:nvPr/>
        </p:nvSpPr>
        <p:spPr>
          <a:xfrm>
            <a:off x="785004" y="728221"/>
            <a:ext cx="13042821" cy="635079"/>
          </a:xfrm>
          <a:prstGeom prst="rect">
            <a:avLst/>
          </a:prstGeom>
          <a:noFill/>
          <a:ln/>
        </p:spPr>
        <p:txBody>
          <a:bodyPr wrap="square" lIns="0" tIns="0" rIns="0" bIns="0" rtlCol="0" anchor="t"/>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Boosting algorithms have proven exceptionally effective across diverse domains, consistently delivering state-of-the-art results in real-world applications.</a:t>
            </a:r>
            <a:endParaRPr lang="en-US" sz="1800" dirty="0">
              <a:solidFill>
                <a:schemeClr val="tx1"/>
              </a:solidFill>
              <a:latin typeface="PT Serif" panose="020A0603040505020204" pitchFamily="18" charset="0"/>
            </a:endParaRPr>
          </a:p>
        </p:txBody>
      </p:sp>
      <p:sp>
        <p:nvSpPr>
          <p:cNvPr id="20" name="Shape 2">
            <a:extLst>
              <a:ext uri="{FF2B5EF4-FFF2-40B4-BE49-F238E27FC236}">
                <a16:creationId xmlns:a16="http://schemas.microsoft.com/office/drawing/2014/main" id="{666D6581-D1E0-AF91-D068-74CCD617E593}"/>
              </a:ext>
            </a:extLst>
          </p:cNvPr>
          <p:cNvSpPr/>
          <p:nvPr/>
        </p:nvSpPr>
        <p:spPr>
          <a:xfrm>
            <a:off x="762000" y="1949709"/>
            <a:ext cx="4215289" cy="3023970"/>
          </a:xfrm>
          <a:prstGeom prst="roundRect">
            <a:avLst>
              <a:gd name="adj" fmla="val 1410"/>
            </a:avLst>
          </a:prstGeom>
          <a:solidFill>
            <a:srgbClr val="F2EEEE"/>
          </a:solidFill>
          <a:ln/>
        </p:spPr>
      </p:sp>
      <p:sp>
        <p:nvSpPr>
          <p:cNvPr id="21" name="Text 3">
            <a:extLst>
              <a:ext uri="{FF2B5EF4-FFF2-40B4-BE49-F238E27FC236}">
                <a16:creationId xmlns:a16="http://schemas.microsoft.com/office/drawing/2014/main" id="{A1519BA7-7C23-57DB-4090-669E99ED9820}"/>
              </a:ext>
            </a:extLst>
          </p:cNvPr>
          <p:cNvSpPr/>
          <p:nvPr/>
        </p:nvSpPr>
        <p:spPr>
          <a:xfrm>
            <a:off x="967547" y="1974471"/>
            <a:ext cx="3975236"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Banking &amp; Finance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Credit risk assessment, fraud detection, loan default prediction, and algorithmic trading strategies.</a:t>
            </a:r>
            <a:endParaRPr lang="en-US" sz="1800" dirty="0">
              <a:solidFill>
                <a:schemeClr val="tx1"/>
              </a:solidFill>
              <a:latin typeface="PT Serif" panose="020A0603040505020204" pitchFamily="18" charset="0"/>
            </a:endParaRPr>
          </a:p>
        </p:txBody>
      </p:sp>
      <p:sp>
        <p:nvSpPr>
          <p:cNvPr id="23" name="Shape 5">
            <a:extLst>
              <a:ext uri="{FF2B5EF4-FFF2-40B4-BE49-F238E27FC236}">
                <a16:creationId xmlns:a16="http://schemas.microsoft.com/office/drawing/2014/main" id="{437DA822-EAB9-086A-61B4-97D18D96AEB1}"/>
              </a:ext>
            </a:extLst>
          </p:cNvPr>
          <p:cNvSpPr/>
          <p:nvPr/>
        </p:nvSpPr>
        <p:spPr>
          <a:xfrm>
            <a:off x="7768835" y="5363306"/>
            <a:ext cx="6206908" cy="2637694"/>
          </a:xfrm>
          <a:prstGeom prst="roundRect">
            <a:avLst>
              <a:gd name="adj" fmla="val 1410"/>
            </a:avLst>
          </a:prstGeom>
          <a:solidFill>
            <a:srgbClr val="F2EEEE"/>
          </a:solidFill>
          <a:ln/>
        </p:spPr>
      </p:sp>
      <p:sp>
        <p:nvSpPr>
          <p:cNvPr id="24" name="Text 6">
            <a:extLst>
              <a:ext uri="{FF2B5EF4-FFF2-40B4-BE49-F238E27FC236}">
                <a16:creationId xmlns:a16="http://schemas.microsoft.com/office/drawing/2014/main" id="{3E6F42F6-B033-3C6A-38BC-D35C6D3F7D72}"/>
              </a:ext>
            </a:extLst>
          </p:cNvPr>
          <p:cNvSpPr/>
          <p:nvPr/>
        </p:nvSpPr>
        <p:spPr>
          <a:xfrm>
            <a:off x="8064211" y="5363306"/>
            <a:ext cx="5571962" cy="2018188"/>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Technology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Search ranking, content recommendation, click-through rate prediction, and quality assessment systems.</a:t>
            </a:r>
            <a:endParaRPr lang="en-US" sz="1800" dirty="0">
              <a:solidFill>
                <a:schemeClr val="tx1"/>
              </a:solidFill>
              <a:latin typeface="PT Serif" panose="020A0603040505020204" pitchFamily="18" charset="0"/>
            </a:endParaRPr>
          </a:p>
        </p:txBody>
      </p:sp>
      <p:sp>
        <p:nvSpPr>
          <p:cNvPr id="27" name="Shape 2">
            <a:extLst>
              <a:ext uri="{FF2B5EF4-FFF2-40B4-BE49-F238E27FC236}">
                <a16:creationId xmlns:a16="http://schemas.microsoft.com/office/drawing/2014/main" id="{6BD417C1-B5D0-6C6D-1E8E-138EFF0D340E}"/>
              </a:ext>
            </a:extLst>
          </p:cNvPr>
          <p:cNvSpPr/>
          <p:nvPr/>
        </p:nvSpPr>
        <p:spPr>
          <a:xfrm>
            <a:off x="762000" y="5316412"/>
            <a:ext cx="6206733" cy="2637694"/>
          </a:xfrm>
          <a:prstGeom prst="roundRect">
            <a:avLst>
              <a:gd name="adj" fmla="val 1410"/>
            </a:avLst>
          </a:prstGeom>
          <a:solidFill>
            <a:srgbClr val="F2EEEE"/>
          </a:solidFill>
          <a:ln/>
        </p:spPr>
      </p:sp>
      <p:sp>
        <p:nvSpPr>
          <p:cNvPr id="28" name="Text 3">
            <a:extLst>
              <a:ext uri="{FF2B5EF4-FFF2-40B4-BE49-F238E27FC236}">
                <a16:creationId xmlns:a16="http://schemas.microsoft.com/office/drawing/2014/main" id="{ED322ABC-287A-1DA1-3B24-9DD71124ED35}"/>
              </a:ext>
            </a:extLst>
          </p:cNvPr>
          <p:cNvSpPr/>
          <p:nvPr/>
        </p:nvSpPr>
        <p:spPr>
          <a:xfrm>
            <a:off x="967546" y="5341174"/>
            <a:ext cx="5853271" cy="2160106"/>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Retail &amp; E-commerce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Demand forecasting, inventory optimisation, price optimisation, and recommendation systems.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62838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412703" y="1276421"/>
            <a:ext cx="5530189" cy="2754655"/>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432340" y="4236768"/>
            <a:ext cx="5530189" cy="2461309"/>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67871" y="4236768"/>
            <a:ext cx="5530189" cy="2461309"/>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40979" y="1284143"/>
            <a:ext cx="5530189" cy="2746933"/>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914400" y="0"/>
            <a:ext cx="13656055" cy="830677"/>
          </a:xfrm>
          <a:prstGeom prst="rect">
            <a:avLst/>
          </a:prstGeom>
          <a:noFill/>
        </p:spPr>
        <p:txBody>
          <a:bodyPr vert="horz" wrap="square" lIns="0" tIns="220853"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Key Takeaways</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992579" y="1085376"/>
            <a:ext cx="4409709"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Powerful Ensemble Technique</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Boosting is one of the most effective machine learning methods, consistently achieving excellent results across diverse applications.</a:t>
            </a: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Sequential Training Process</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Models are trained one after another, with each focusing on correcting the errors of previous models.</a:t>
            </a: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042854" y="1085376"/>
            <a:ext cx="4780222"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Weak to Strong Transformation</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algorithm combines multiple weak learners to create a strong, highly accurate predictive model.</a:t>
            </a:r>
            <a:endParaRPr lang="en-US" sz="18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Focus on Difficult Cases</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Boosting improves prediction accuracy by adaptively concentrating on hard-to-classify observations.</a:t>
            </a:r>
            <a:endParaRPr lang="en-US" sz="1800" dirty="0">
              <a:solidFill>
                <a:schemeClr val="tx1"/>
              </a:solidFill>
              <a:latin typeface="PT Serif" panose="020A0603040505020204" pitchFamily="18" charset="0"/>
            </a:endParaRPr>
          </a:p>
        </p:txBody>
      </p:sp>
      <p:sp>
        <p:nvSpPr>
          <p:cNvPr id="27" name="TextBox 26">
            <a:extLst>
              <a:ext uri="{FF2B5EF4-FFF2-40B4-BE49-F238E27FC236}">
                <a16:creationId xmlns:a16="http://schemas.microsoft.com/office/drawing/2014/main" id="{D2DF92B6-DDCA-8023-8295-90D595A69168}"/>
              </a:ext>
            </a:extLst>
          </p:cNvPr>
          <p:cNvSpPr txBox="1"/>
          <p:nvPr/>
        </p:nvSpPr>
        <p:spPr>
          <a:xfrm>
            <a:off x="914400" y="6621877"/>
            <a:ext cx="12877800"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Mastering boosting methods equips practitioners with a versatile tool for tackling complex prediction challenges across virtually any domain.</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368230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472</TotalTime>
  <Words>1212</Words>
  <Application>Microsoft Macintosh PowerPoint</Application>
  <PresentationFormat>Custom</PresentationFormat>
  <Paragraphs>138</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DM Sans</vt:lpstr>
      <vt:lpstr>Lucida Sans Unicode</vt:lpstr>
      <vt:lpstr>PT Serif</vt:lpstr>
      <vt:lpstr>PT Serif Light</vt:lpstr>
      <vt:lpstr>Office Theme</vt:lpstr>
      <vt:lpstr>PowerPoint Presentation</vt:lpstr>
      <vt:lpstr>Contents </vt:lpstr>
      <vt:lpstr>Ensemble Learning – An Overview</vt:lpstr>
      <vt:lpstr>What is a Weak Learner?</vt:lpstr>
      <vt:lpstr>Limitations of Single Models</vt:lpstr>
      <vt:lpstr>Definition of Boosting</vt:lpstr>
      <vt:lpstr>Intuition Behind Boosting Learning from Mistakes</vt:lpstr>
      <vt:lpstr>How Boosting Works: Conceptual Steps</vt:lpstr>
      <vt:lpstr>Boosting vs Bagging </vt:lpstr>
      <vt:lpstr>Popular Boosting Algorithms</vt:lpstr>
      <vt:lpstr>Applications of Boosting</vt:lpstr>
      <vt:lpstr>Key Takeaways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160</cp:revision>
  <dcterms:created xsi:type="dcterms:W3CDTF">2025-08-01T06:43:07Z</dcterms:created>
  <dcterms:modified xsi:type="dcterms:W3CDTF">2026-02-27T05:16:58Z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