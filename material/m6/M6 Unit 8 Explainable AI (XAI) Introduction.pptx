
<file path=[Content_Types].xml><?xml version="1.0" encoding="utf-8"?>
<Types xmlns="http://schemas.openxmlformats.org/package/2006/content-types">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74" r:id="rId2"/>
    <p:sldId id="275" r:id="rId3"/>
    <p:sldId id="300" r:id="rId4"/>
    <p:sldId id="377" r:id="rId5"/>
    <p:sldId id="389" r:id="rId6"/>
    <p:sldId id="388" r:id="rId7"/>
    <p:sldId id="387" r:id="rId8"/>
    <p:sldId id="386" r:id="rId9"/>
    <p:sldId id="382" r:id="rId10"/>
    <p:sldId id="383" r:id="rId11"/>
    <p:sldId id="376" r:id="rId12"/>
    <p:sldId id="384" r:id="rId13"/>
    <p:sldId id="304" r:id="rId14"/>
    <p:sldId id="385" r:id="rId15"/>
    <p:sldId id="390" r:id="rId16"/>
    <p:sldId id="337" r:id="rId17"/>
    <p:sldId id="328" r:id="rId18"/>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2891" autoAdjust="0"/>
  </p:normalViewPr>
  <p:slideViewPr>
    <p:cSldViewPr>
      <p:cViewPr varScale="1">
        <p:scale>
          <a:sx n="84" d="100"/>
          <a:sy n="84" d="100"/>
        </p:scale>
        <p:origin x="1000" y="19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DD48891F-FB35-E1C6-2832-95F5AEC01C35}"/>
    <pc:docChg chg="modSld">
      <pc:chgData name="Guest User" userId="" providerId="Windows Live" clId="Web-{DD48891F-FB35-E1C6-2832-95F5AEC01C35}" dt="2025-11-06T07:40:41.129" v="0" actId="1076"/>
      <pc:docMkLst>
        <pc:docMk/>
      </pc:docMkLst>
      <pc:sldChg chg="modSp">
        <pc:chgData name="Guest User" userId="" providerId="Windows Live" clId="Web-{DD48891F-FB35-E1C6-2832-95F5AEC01C35}" dt="2025-11-06T07:40:41.129" v="0" actId="1076"/>
        <pc:sldMkLst>
          <pc:docMk/>
          <pc:sldMk cId="0" sldId="260"/>
        </pc:sldMkLst>
        <pc:spChg chg="mod">
          <ac:chgData name="Guest User" userId="" providerId="Windows Live" clId="Web-{DD48891F-FB35-E1C6-2832-95F5AEC01C35}" dt="2025-11-06T07:40:41.129" v="0" actId="1076"/>
          <ac:spMkLst>
            <pc:docMk/>
            <pc:sldMk cId="0" sldId="260"/>
            <ac:spMk id="11" creationId="{1729E060-4A6E-E272-7665-9392F1B6E4F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04E097FF-D63A-4701-9D59-A7186DD4FFE5}" type="datetimeFigureOut">
              <a:rPr lang="en-IN" smtClean="0"/>
              <a:t>05/03/26</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986E45C9-D4C9-4BB9-AC1A-6D12C2483BB1}" type="slidenum">
              <a:rPr lang="en-IN" smtClean="0"/>
              <a:t>‹#›</a:t>
            </a:fld>
            <a:endParaRPr lang="en-IN"/>
          </a:p>
        </p:txBody>
      </p:sp>
    </p:spTree>
    <p:extLst>
      <p:ext uri="{BB962C8B-B14F-4D97-AF65-F5344CB8AC3E}">
        <p14:creationId xmlns:p14="http://schemas.microsoft.com/office/powerpoint/2010/main" val="1837676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C471-F21A-8034-1182-7EC20A462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DEB8-E147-4787-5FDF-AACC13D35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F521C-0896-D5EA-62D4-7B080E31F4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F912D4-651F-022F-E212-0668CF912244}"/>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142438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B5D64-14C4-F16C-5619-287C7EA27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13F94-501F-3960-9E11-DE7F03BD9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E30D1C-21CC-DCF2-1302-0D6A57E7F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C2F6F-17C8-6775-A32C-6E7DBAEA8A44}"/>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346238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4</a:t>
            </a:fld>
            <a:endParaRPr lang="en-IN"/>
          </a:p>
        </p:txBody>
      </p:sp>
    </p:spTree>
    <p:extLst>
      <p:ext uri="{BB962C8B-B14F-4D97-AF65-F5344CB8AC3E}">
        <p14:creationId xmlns:p14="http://schemas.microsoft.com/office/powerpoint/2010/main" val="754690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940D9-502D-801B-0938-C57252B14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0810E-815A-2EE6-A3D3-182CA6720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AB294-8CD8-99DD-FC85-691066C0706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887D67-E34D-41E5-43DF-184D034E9B26}"/>
              </a:ext>
            </a:extLst>
          </p:cNvPr>
          <p:cNvSpPr>
            <a:spLocks noGrp="1"/>
          </p:cNvSpPr>
          <p:nvPr>
            <p:ph type="sldNum" sz="quarter" idx="5"/>
          </p:nvPr>
        </p:nvSpPr>
        <p:spPr/>
        <p:txBody>
          <a:bodyPr/>
          <a:lstStyle/>
          <a:p>
            <a:fld id="{986E45C9-D4C9-4BB9-AC1A-6D12C2483BB1}" type="slidenum">
              <a:rPr lang="en-IN" smtClean="0"/>
              <a:t>5</a:t>
            </a:fld>
            <a:endParaRPr lang="en-IN"/>
          </a:p>
        </p:txBody>
      </p:sp>
    </p:spTree>
    <p:extLst>
      <p:ext uri="{BB962C8B-B14F-4D97-AF65-F5344CB8AC3E}">
        <p14:creationId xmlns:p14="http://schemas.microsoft.com/office/powerpoint/2010/main" val="21972287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6</a:t>
            </a:fld>
            <a:endParaRPr lang="en-IN"/>
          </a:p>
        </p:txBody>
      </p:sp>
    </p:spTree>
    <p:extLst>
      <p:ext uri="{BB962C8B-B14F-4D97-AF65-F5344CB8AC3E}">
        <p14:creationId xmlns:p14="http://schemas.microsoft.com/office/powerpoint/2010/main" val="1815958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9</a:t>
            </a:fld>
            <a:endParaRPr lang="en-IN"/>
          </a:p>
        </p:txBody>
      </p:sp>
    </p:spTree>
    <p:extLst>
      <p:ext uri="{BB962C8B-B14F-4D97-AF65-F5344CB8AC3E}">
        <p14:creationId xmlns:p14="http://schemas.microsoft.com/office/powerpoint/2010/main" val="2639483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13</a:t>
            </a:fld>
            <a:endParaRPr lang="en-IN"/>
          </a:p>
        </p:txBody>
      </p:sp>
    </p:spTree>
    <p:extLst>
      <p:ext uri="{BB962C8B-B14F-4D97-AF65-F5344CB8AC3E}">
        <p14:creationId xmlns:p14="http://schemas.microsoft.com/office/powerpoint/2010/main" val="3728505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14</a:t>
            </a:fld>
            <a:endParaRPr lang="en-IN"/>
          </a:p>
        </p:txBody>
      </p:sp>
    </p:spTree>
    <p:extLst>
      <p:ext uri="{BB962C8B-B14F-4D97-AF65-F5344CB8AC3E}">
        <p14:creationId xmlns:p14="http://schemas.microsoft.com/office/powerpoint/2010/main" val="1306858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86E45C9-D4C9-4BB9-AC1A-6D12C2483BB1}" type="slidenum">
              <a:rPr lang="en-IN" smtClean="0"/>
              <a:t>17</a:t>
            </a:fld>
            <a:endParaRPr lang="en-IN"/>
          </a:p>
        </p:txBody>
      </p:sp>
    </p:spTree>
    <p:extLst>
      <p:ext uri="{BB962C8B-B14F-4D97-AF65-F5344CB8AC3E}">
        <p14:creationId xmlns:p14="http://schemas.microsoft.com/office/powerpoint/2010/main" val="724001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body" idx="1"/>
          </p:nvPr>
        </p:nvSpPr>
        <p:spPr/>
        <p:txBody>
          <a:bodyPr lIns="0" tIns="0" rIns="0" bIns="0"/>
          <a:lstStyle>
            <a:lvl1pPr>
              <a:defRPr sz="2800" b="0" i="0">
                <a:solidFill>
                  <a:srgbClr val="272C45"/>
                </a:solidFill>
                <a:latin typeface="PT Serif" panose="020A0603040505020204" pitchFamily="18" charset="0"/>
                <a:cs typeface="Lucida Sans Unicode"/>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6A85DC-158A-6A4D-AEC5-3C4D0AA39301}" type="datetime1">
              <a:rPr lang="en-IN" smtClean="0"/>
              <a:t>05/03/26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sz="half" idx="2"/>
          </p:nvPr>
        </p:nvSpPr>
        <p:spPr>
          <a:xfrm>
            <a:off x="731520"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4" name="Holder 4"/>
          <p:cNvSpPr>
            <a:spLocks noGrp="1"/>
          </p:cNvSpPr>
          <p:nvPr>
            <p:ph sz="half" idx="3"/>
          </p:nvPr>
        </p:nvSpPr>
        <p:spPr>
          <a:xfrm>
            <a:off x="7534656" y="1892808"/>
            <a:ext cx="6364224" cy="430887"/>
          </a:xfrm>
          <a:prstGeom prst="rect">
            <a:avLst/>
          </a:prstGeom>
        </p:spPr>
        <p:txBody>
          <a:bodyPr wrap="square" lIns="0" tIns="0" rIns="0" bIns="0">
            <a:spAutoFit/>
          </a:bodyPr>
          <a:lstStyle>
            <a:lvl1pPr>
              <a:defRPr>
                <a:latin typeface="PT Serif" panose="020A0603040505020204" pitchFamily="18" charset="0"/>
              </a:defRPr>
            </a:lvl1pPr>
          </a:lstStyle>
          <a:p>
            <a:endParaRPr dirty="0"/>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3A60CBE1-E654-804F-8DD3-1999B1EAA43E}" type="datetime1">
              <a:rPr lang="en-IN" smtClean="0"/>
              <a:t>05/03/26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00" b="0" i="0">
                <a:solidFill>
                  <a:srgbClr val="272C45"/>
                </a:solidFill>
                <a:latin typeface="PT Serif" panose="020A0603040505020204" pitchFamily="18" charset="0"/>
                <a:cs typeface="Lucida Sans Unicode"/>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0C0E4A29-2FA4-5F43-8886-1C2CFE02D9AE}" type="datetime1">
              <a:rPr lang="en-IN" smtClean="0"/>
              <a:t>05/03/26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extLst>
      <p:ext uri="{BB962C8B-B14F-4D97-AF65-F5344CB8AC3E}">
        <p14:creationId xmlns:p14="http://schemas.microsoft.com/office/powerpoint/2010/main" val="4162544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87172" y="401522"/>
            <a:ext cx="13656055" cy="569387"/>
          </a:xfrm>
          <a:prstGeom prst="rect">
            <a:avLst/>
          </a:prstGeom>
        </p:spPr>
        <p:txBody>
          <a:bodyPr wrap="square" lIns="0" tIns="0" rIns="0" bIns="0">
            <a:spAutoFit/>
          </a:bodyPr>
          <a:lstStyle>
            <a:lvl1pPr>
              <a:defRPr sz="3700" b="0" i="0">
                <a:solidFill>
                  <a:srgbClr val="272C45"/>
                </a:solidFill>
                <a:latin typeface="Lucida Sans Unicode"/>
                <a:cs typeface="Lucida Sans Unicode"/>
              </a:defRPr>
            </a:lvl1pPr>
          </a:lstStyle>
          <a:p>
            <a:endParaRPr dirty="0"/>
          </a:p>
        </p:txBody>
      </p:sp>
      <p:sp>
        <p:nvSpPr>
          <p:cNvPr id="3" name="Holder 3"/>
          <p:cNvSpPr>
            <a:spLocks noGrp="1"/>
          </p:cNvSpPr>
          <p:nvPr>
            <p:ph type="body" idx="1"/>
          </p:nvPr>
        </p:nvSpPr>
        <p:spPr>
          <a:xfrm>
            <a:off x="5769609" y="3090163"/>
            <a:ext cx="7381240" cy="430887"/>
          </a:xfrm>
          <a:prstGeom prst="rect">
            <a:avLst/>
          </a:prstGeom>
        </p:spPr>
        <p:txBody>
          <a:bodyPr wrap="square" lIns="0" tIns="0" rIns="0" bIns="0">
            <a:spAutoFit/>
          </a:bodyPr>
          <a:lstStyle>
            <a:lvl1pPr>
              <a:defRPr sz="2800" b="0" i="0">
                <a:solidFill>
                  <a:srgbClr val="272C45"/>
                </a:solidFill>
                <a:latin typeface="Lucida Sans Unicode"/>
                <a:cs typeface="Lucida Sans Unicode"/>
              </a:defRPr>
            </a:lvl1pPr>
          </a:lstStyle>
          <a:p>
            <a:endParaRPr dirty="0"/>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9D47C385-8D9F-4541-81D3-BBF55B3B60AF}" type="datetime1">
              <a:rPr lang="en-IN" smtClean="0"/>
              <a:t>05/03/26</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sldNum="0" hdr="0" ftr="0" dt="0"/>
  <p:txStyles>
    <p:titleStyle>
      <a:lvl1pPr>
        <a:defRPr>
          <a:latin typeface="PT Serif" panose="020A0603040505020204" pitchFamily="18" charset="0"/>
          <a:ea typeface="+mj-ea"/>
          <a:cs typeface="+mj-cs"/>
        </a:defRPr>
      </a:lvl1pPr>
    </p:titleStyle>
    <p:bodyStyle>
      <a:lvl1pPr marL="0">
        <a:defRPr>
          <a:latin typeface="PT Serif" panose="020A0603040505020204" pitchFamily="18" charset="0"/>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48BBC-7E6C-F114-F782-376A30F06152}"/>
            </a:ext>
          </a:extLst>
        </p:cNvPr>
        <p:cNvGrpSpPr/>
        <p:nvPr/>
      </p:nvGrpSpPr>
      <p:grpSpPr>
        <a:xfrm>
          <a:off x="0" y="0"/>
          <a:ext cx="0" cy="0"/>
          <a:chOff x="0" y="0"/>
          <a:chExt cx="0" cy="0"/>
        </a:xfrm>
      </p:grpSpPr>
      <p:sp>
        <p:nvSpPr>
          <p:cNvPr id="21" name="Text 0">
            <a:extLst>
              <a:ext uri="{FF2B5EF4-FFF2-40B4-BE49-F238E27FC236}">
                <a16:creationId xmlns:a16="http://schemas.microsoft.com/office/drawing/2014/main" id="{F82AA0A4-B4C8-BFF7-1622-4303CB7DF1F3}"/>
              </a:ext>
            </a:extLst>
          </p:cNvPr>
          <p:cNvSpPr/>
          <p:nvPr/>
        </p:nvSpPr>
        <p:spPr>
          <a:xfrm>
            <a:off x="1295400" y="2209800"/>
            <a:ext cx="13582132" cy="651272"/>
          </a:xfrm>
          <a:prstGeom prst="rect">
            <a:avLst/>
          </a:prstGeom>
          <a:noFill/>
          <a:ln/>
        </p:spPr>
        <p:txBody>
          <a:bodyPr wrap="square" lIns="0" tIns="0" rIns="0" bIns="0" rtlCol="0" anchor="t"/>
          <a:lstStyle/>
          <a:p>
            <a:pPr algn="l">
              <a:lnSpc>
                <a:spcPts val="5850"/>
              </a:lnSpc>
            </a:pPr>
            <a:r>
              <a:rPr lang="en-US" sz="4100" dirty="0">
                <a:solidFill>
                  <a:srgbClr val="020202"/>
                </a:solidFill>
                <a:latin typeface="PT Serif" pitchFamily="34" charset="0"/>
              </a:rPr>
              <a:t>Explainable AI (XAI): Introduction</a:t>
            </a:r>
            <a:endParaRPr lang="en-IN" sz="4100" dirty="0">
              <a:solidFill>
                <a:srgbClr val="020202"/>
              </a:solidFill>
              <a:latin typeface="PT Serif" pitchFamily="34" charset="0"/>
            </a:endParaRPr>
          </a:p>
          <a:p>
            <a:pPr marL="0" indent="0" algn="l">
              <a:lnSpc>
                <a:spcPts val="5850"/>
              </a:lnSpc>
              <a:buNone/>
            </a:pPr>
            <a:endParaRPr lang="en-US" sz="4100" dirty="0"/>
          </a:p>
        </p:txBody>
      </p:sp>
      <p:sp>
        <p:nvSpPr>
          <p:cNvPr id="6" name="TextBox 5">
            <a:extLst>
              <a:ext uri="{FF2B5EF4-FFF2-40B4-BE49-F238E27FC236}">
                <a16:creationId xmlns:a16="http://schemas.microsoft.com/office/drawing/2014/main" id="{515A8D49-1B61-4101-77B3-D68D40457217}"/>
              </a:ext>
            </a:extLst>
          </p:cNvPr>
          <p:cNvSpPr txBox="1"/>
          <p:nvPr/>
        </p:nvSpPr>
        <p:spPr>
          <a:xfrm>
            <a:off x="1312984" y="3189033"/>
            <a:ext cx="12022016" cy="813043"/>
          </a:xfrm>
          <a:prstGeom prst="rect">
            <a:avLst/>
          </a:prstGeom>
          <a:noFill/>
        </p:spPr>
        <p:txBody>
          <a:bodyPr wrap="square">
            <a:spAutoFit/>
          </a:bodyPr>
          <a:lstStyle/>
          <a:p>
            <a:pPr marL="0" indent="0" algn="l">
              <a:lnSpc>
                <a:spcPts val="2850"/>
              </a:lnSpc>
              <a:buNone/>
            </a:pPr>
            <a:r>
              <a:rPr lang="en-US" sz="2000" dirty="0">
                <a:solidFill>
                  <a:schemeClr val="tx1"/>
                </a:solidFill>
                <a:latin typeface="PT Serif" panose="020A0603040505020204" pitchFamily="18" charset="0"/>
                <a:ea typeface="DM Sans" pitchFamily="34" charset="-122"/>
                <a:cs typeface="DM Sans" pitchFamily="34" charset="-120"/>
              </a:rPr>
              <a:t>Making machine learning models understandable to humans through transparency, trust, and accountability in real-world decision systems.</a:t>
            </a:r>
            <a:endParaRPr lang="en-US" sz="20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424820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79A3-6285-EA7B-A2B4-F0C9DCE16B7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6EF8EC6-F255-C70E-3023-DC7EAEC5B16D}"/>
              </a:ext>
            </a:extLst>
          </p:cNvPr>
          <p:cNvSpPr/>
          <p:nvPr/>
        </p:nvSpPr>
        <p:spPr>
          <a:xfrm>
            <a:off x="793790" y="327886"/>
            <a:ext cx="4763333" cy="595432"/>
          </a:xfrm>
          <a:prstGeom prst="rect">
            <a:avLst/>
          </a:prstGeom>
          <a:noFill/>
          <a:ln/>
        </p:spPr>
        <p:txBody>
          <a:bodyPr wrap="none" lIns="0" tIns="0" rIns="0" bIns="0" rtlCol="0" anchor="t"/>
          <a:lstStyle/>
          <a:p>
            <a:pPr marL="0" indent="0" algn="l">
              <a:buNone/>
            </a:pPr>
            <a:r>
              <a:rPr lang="en-US" sz="3600" dirty="0">
                <a:solidFill>
                  <a:schemeClr val="tx1"/>
                </a:solidFill>
                <a:latin typeface="PT Serif" panose="020A0603040505020204" pitchFamily="18" charset="0"/>
                <a:ea typeface="PT Serif" pitchFamily="34" charset="-122"/>
                <a:cs typeface="PT Serif" pitchFamily="34" charset="-120"/>
              </a:rPr>
              <a:t>Contents</a:t>
            </a:r>
            <a:endParaRPr lang="en-US" sz="3600" dirty="0">
              <a:solidFill>
                <a:schemeClr val="tx1"/>
              </a:solidFill>
              <a:latin typeface="PT Serif" panose="020A0603040505020204" pitchFamily="18" charset="0"/>
            </a:endParaRPr>
          </a:p>
        </p:txBody>
      </p:sp>
      <p:sp>
        <p:nvSpPr>
          <p:cNvPr id="3" name="Text 1">
            <a:extLst>
              <a:ext uri="{FF2B5EF4-FFF2-40B4-BE49-F238E27FC236}">
                <a16:creationId xmlns:a16="http://schemas.microsoft.com/office/drawing/2014/main" id="{630CCEE3-6042-A6A9-3891-B76B33DC9098}"/>
              </a:ext>
            </a:extLst>
          </p:cNvPr>
          <p:cNvSpPr/>
          <p:nvPr/>
        </p:nvSpPr>
        <p:spPr>
          <a:xfrm>
            <a:off x="793790" y="1201460"/>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01</a:t>
            </a:r>
            <a:endParaRPr lang="en-US" sz="1750" dirty="0">
              <a:solidFill>
                <a:schemeClr val="tx1"/>
              </a:solidFill>
              <a:latin typeface="PT Serif" panose="020A0603040505020204" pitchFamily="18" charset="0"/>
            </a:endParaRPr>
          </a:p>
        </p:txBody>
      </p:sp>
      <p:sp>
        <p:nvSpPr>
          <p:cNvPr id="4" name="Shape 2">
            <a:extLst>
              <a:ext uri="{FF2B5EF4-FFF2-40B4-BE49-F238E27FC236}">
                <a16:creationId xmlns:a16="http://schemas.microsoft.com/office/drawing/2014/main" id="{109D6074-985D-ECFD-41A9-CC64CE8CCED8}"/>
              </a:ext>
            </a:extLst>
          </p:cNvPr>
          <p:cNvSpPr/>
          <p:nvPr/>
        </p:nvSpPr>
        <p:spPr>
          <a:xfrm>
            <a:off x="793790" y="1556504"/>
            <a:ext cx="6407944" cy="30480"/>
          </a:xfrm>
          <a:prstGeom prst="rect">
            <a:avLst/>
          </a:prstGeom>
          <a:solidFill>
            <a:srgbClr val="E04F00"/>
          </a:solidFill>
          <a:ln/>
        </p:spPr>
      </p:sp>
      <p:sp>
        <p:nvSpPr>
          <p:cNvPr id="5" name="Text 3">
            <a:extLst>
              <a:ext uri="{FF2B5EF4-FFF2-40B4-BE49-F238E27FC236}">
                <a16:creationId xmlns:a16="http://schemas.microsoft.com/office/drawing/2014/main" id="{18BB4AFD-62D3-1AAB-C8B6-84BCFD0B3499}"/>
              </a:ext>
            </a:extLst>
          </p:cNvPr>
          <p:cNvSpPr/>
          <p:nvPr/>
        </p:nvSpPr>
        <p:spPr>
          <a:xfrm>
            <a:off x="793790" y="1730812"/>
            <a:ext cx="4370308" cy="372070"/>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What is Explainable AI?</a:t>
            </a:r>
            <a:endParaRPr lang="en-US" sz="2400" dirty="0">
              <a:solidFill>
                <a:schemeClr val="tx1"/>
              </a:solidFill>
            </a:endParaRPr>
          </a:p>
        </p:txBody>
      </p:sp>
      <p:sp>
        <p:nvSpPr>
          <p:cNvPr id="6" name="Text 4">
            <a:extLst>
              <a:ext uri="{FF2B5EF4-FFF2-40B4-BE49-F238E27FC236}">
                <a16:creationId xmlns:a16="http://schemas.microsoft.com/office/drawing/2014/main" id="{A95C41F2-E8AE-183D-B7D2-B584B66A5047}"/>
              </a:ext>
            </a:extLst>
          </p:cNvPr>
          <p:cNvSpPr/>
          <p:nvPr/>
        </p:nvSpPr>
        <p:spPr>
          <a:xfrm>
            <a:off x="7428548" y="1201460"/>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02</a:t>
            </a:r>
            <a:endParaRPr lang="en-US" sz="1750" dirty="0">
              <a:solidFill>
                <a:schemeClr val="tx1"/>
              </a:solidFill>
              <a:latin typeface="PT Serif" panose="020A0603040505020204" pitchFamily="18" charset="0"/>
            </a:endParaRPr>
          </a:p>
        </p:txBody>
      </p:sp>
      <p:sp>
        <p:nvSpPr>
          <p:cNvPr id="7" name="Shape 5">
            <a:extLst>
              <a:ext uri="{FF2B5EF4-FFF2-40B4-BE49-F238E27FC236}">
                <a16:creationId xmlns:a16="http://schemas.microsoft.com/office/drawing/2014/main" id="{420FFCDF-EFCF-D95B-39BF-71DEE8C305CC}"/>
              </a:ext>
            </a:extLst>
          </p:cNvPr>
          <p:cNvSpPr/>
          <p:nvPr/>
        </p:nvSpPr>
        <p:spPr>
          <a:xfrm>
            <a:off x="7428548" y="1556504"/>
            <a:ext cx="6408063" cy="30480"/>
          </a:xfrm>
          <a:prstGeom prst="rect">
            <a:avLst/>
          </a:prstGeom>
          <a:solidFill>
            <a:srgbClr val="E04F00"/>
          </a:solidFill>
          <a:ln/>
        </p:spPr>
      </p:sp>
      <p:sp>
        <p:nvSpPr>
          <p:cNvPr id="8" name="Text 6">
            <a:extLst>
              <a:ext uri="{FF2B5EF4-FFF2-40B4-BE49-F238E27FC236}">
                <a16:creationId xmlns:a16="http://schemas.microsoft.com/office/drawing/2014/main" id="{C5C44485-ABDB-D8CB-78F7-9276AAADB0B2}"/>
              </a:ext>
            </a:extLst>
          </p:cNvPr>
          <p:cNvSpPr/>
          <p:nvPr/>
        </p:nvSpPr>
        <p:spPr>
          <a:xfrm>
            <a:off x="7428548" y="1688306"/>
            <a:ext cx="4915852" cy="506016"/>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Why Do We Need XAI?</a:t>
            </a:r>
            <a:endParaRPr lang="en-US" sz="2400" dirty="0">
              <a:solidFill>
                <a:schemeClr val="tx1"/>
              </a:solidFill>
            </a:endParaRPr>
          </a:p>
        </p:txBody>
      </p:sp>
      <p:sp>
        <p:nvSpPr>
          <p:cNvPr id="9" name="Text 7">
            <a:extLst>
              <a:ext uri="{FF2B5EF4-FFF2-40B4-BE49-F238E27FC236}">
                <a16:creationId xmlns:a16="http://schemas.microsoft.com/office/drawing/2014/main" id="{F49AA9FB-4CAF-BC7C-90F0-1D48BD93C205}"/>
              </a:ext>
            </a:extLst>
          </p:cNvPr>
          <p:cNvSpPr/>
          <p:nvPr/>
        </p:nvSpPr>
        <p:spPr>
          <a:xfrm>
            <a:off x="793790" y="2499717"/>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03</a:t>
            </a:r>
            <a:endParaRPr lang="en-US" sz="1750" dirty="0">
              <a:solidFill>
                <a:schemeClr val="tx1"/>
              </a:solidFill>
              <a:latin typeface="PT Serif" panose="020A0603040505020204" pitchFamily="18" charset="0"/>
            </a:endParaRPr>
          </a:p>
        </p:txBody>
      </p:sp>
      <p:sp>
        <p:nvSpPr>
          <p:cNvPr id="10" name="Shape 8">
            <a:extLst>
              <a:ext uri="{FF2B5EF4-FFF2-40B4-BE49-F238E27FC236}">
                <a16:creationId xmlns:a16="http://schemas.microsoft.com/office/drawing/2014/main" id="{F735EFEC-254C-A190-497E-54797BC377D7}"/>
              </a:ext>
            </a:extLst>
          </p:cNvPr>
          <p:cNvSpPr/>
          <p:nvPr/>
        </p:nvSpPr>
        <p:spPr>
          <a:xfrm>
            <a:off x="793790" y="2854762"/>
            <a:ext cx="6407944" cy="30480"/>
          </a:xfrm>
          <a:prstGeom prst="rect">
            <a:avLst/>
          </a:prstGeom>
          <a:solidFill>
            <a:srgbClr val="E04F00"/>
          </a:solidFill>
          <a:ln/>
        </p:spPr>
      </p:sp>
      <p:sp>
        <p:nvSpPr>
          <p:cNvPr id="11" name="Text 9">
            <a:extLst>
              <a:ext uri="{FF2B5EF4-FFF2-40B4-BE49-F238E27FC236}">
                <a16:creationId xmlns:a16="http://schemas.microsoft.com/office/drawing/2014/main" id="{1AC6FBEA-485A-7F7D-47FB-5FEB6466C2AF}"/>
              </a:ext>
            </a:extLst>
          </p:cNvPr>
          <p:cNvSpPr/>
          <p:nvPr/>
        </p:nvSpPr>
        <p:spPr>
          <a:xfrm>
            <a:off x="793790" y="3029069"/>
            <a:ext cx="5149810" cy="341590"/>
          </a:xfrm>
          <a:prstGeom prst="rect">
            <a:avLst/>
          </a:prstGeom>
          <a:noFill/>
          <a:ln/>
        </p:spPr>
        <p:txBody>
          <a:bodyPr wrap="squar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The Black Box vs White Box Model</a:t>
            </a:r>
            <a:endParaRPr lang="en-US" sz="2400" dirty="0">
              <a:solidFill>
                <a:schemeClr val="tx1"/>
              </a:solidFill>
            </a:endParaRPr>
          </a:p>
        </p:txBody>
      </p:sp>
      <p:sp>
        <p:nvSpPr>
          <p:cNvPr id="12" name="Text 10">
            <a:extLst>
              <a:ext uri="{FF2B5EF4-FFF2-40B4-BE49-F238E27FC236}">
                <a16:creationId xmlns:a16="http://schemas.microsoft.com/office/drawing/2014/main" id="{BB65B506-59D4-7376-A944-4C46A5D3D0DA}"/>
              </a:ext>
            </a:extLst>
          </p:cNvPr>
          <p:cNvSpPr/>
          <p:nvPr/>
        </p:nvSpPr>
        <p:spPr>
          <a:xfrm>
            <a:off x="7428548" y="2499717"/>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04</a:t>
            </a:r>
            <a:endParaRPr lang="en-US" sz="1750" dirty="0">
              <a:solidFill>
                <a:schemeClr val="tx1"/>
              </a:solidFill>
              <a:latin typeface="PT Serif" panose="020A0603040505020204" pitchFamily="18" charset="0"/>
            </a:endParaRPr>
          </a:p>
        </p:txBody>
      </p:sp>
      <p:sp>
        <p:nvSpPr>
          <p:cNvPr id="13" name="Shape 11">
            <a:extLst>
              <a:ext uri="{FF2B5EF4-FFF2-40B4-BE49-F238E27FC236}">
                <a16:creationId xmlns:a16="http://schemas.microsoft.com/office/drawing/2014/main" id="{D64D1A4C-2B9B-4174-ACD2-FF1592E30587}"/>
              </a:ext>
            </a:extLst>
          </p:cNvPr>
          <p:cNvSpPr/>
          <p:nvPr/>
        </p:nvSpPr>
        <p:spPr>
          <a:xfrm>
            <a:off x="7428548" y="2854762"/>
            <a:ext cx="6408063" cy="30480"/>
          </a:xfrm>
          <a:prstGeom prst="rect">
            <a:avLst/>
          </a:prstGeom>
          <a:solidFill>
            <a:srgbClr val="E04F00"/>
          </a:solidFill>
          <a:ln/>
        </p:spPr>
      </p:sp>
      <p:sp>
        <p:nvSpPr>
          <p:cNvPr id="14" name="Text 12">
            <a:extLst>
              <a:ext uri="{FF2B5EF4-FFF2-40B4-BE49-F238E27FC236}">
                <a16:creationId xmlns:a16="http://schemas.microsoft.com/office/drawing/2014/main" id="{5B2CEF56-AF19-B00B-757E-9F9AA779999A}"/>
              </a:ext>
            </a:extLst>
          </p:cNvPr>
          <p:cNvSpPr/>
          <p:nvPr/>
        </p:nvSpPr>
        <p:spPr>
          <a:xfrm>
            <a:off x="7428548" y="3029069"/>
            <a:ext cx="3837027" cy="372070"/>
          </a:xfrm>
          <a:prstGeom prst="rect">
            <a:avLst/>
          </a:prstGeom>
          <a:noFill/>
          <a:ln/>
        </p:spPr>
        <p:txBody>
          <a:bodyPr wrap="none" lIns="0" tIns="0" rIns="0" bIns="0" rtlCol="0" anchor="t"/>
          <a:lstStyle/>
          <a:p>
            <a:pPr marL="0" indent="0" algn="l">
              <a:buNone/>
            </a:pPr>
            <a:endParaRPr lang="en-US" sz="2400" dirty="0">
              <a:solidFill>
                <a:schemeClr val="tx1"/>
              </a:solidFill>
              <a:latin typeface="PT Serif" panose="020A0603040505020204" pitchFamily="18" charset="0"/>
            </a:endParaRPr>
          </a:p>
        </p:txBody>
      </p:sp>
      <p:sp>
        <p:nvSpPr>
          <p:cNvPr id="15" name="Text 13">
            <a:extLst>
              <a:ext uri="{FF2B5EF4-FFF2-40B4-BE49-F238E27FC236}">
                <a16:creationId xmlns:a16="http://schemas.microsoft.com/office/drawing/2014/main" id="{D26178CF-9339-DE4A-28C3-77F3A415D7BD}"/>
              </a:ext>
            </a:extLst>
          </p:cNvPr>
          <p:cNvSpPr/>
          <p:nvPr/>
        </p:nvSpPr>
        <p:spPr>
          <a:xfrm>
            <a:off x="793790" y="3998238"/>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05</a:t>
            </a:r>
            <a:endParaRPr lang="en-US" sz="1750" dirty="0">
              <a:solidFill>
                <a:schemeClr val="tx1"/>
              </a:solidFill>
              <a:latin typeface="PT Serif" panose="020A0603040505020204" pitchFamily="18" charset="0"/>
            </a:endParaRPr>
          </a:p>
        </p:txBody>
      </p:sp>
      <p:sp>
        <p:nvSpPr>
          <p:cNvPr id="16" name="Shape 14">
            <a:extLst>
              <a:ext uri="{FF2B5EF4-FFF2-40B4-BE49-F238E27FC236}">
                <a16:creationId xmlns:a16="http://schemas.microsoft.com/office/drawing/2014/main" id="{91EAC6A6-8C3F-4954-512B-A2B54B6C5FB6}"/>
              </a:ext>
            </a:extLst>
          </p:cNvPr>
          <p:cNvSpPr/>
          <p:nvPr/>
        </p:nvSpPr>
        <p:spPr>
          <a:xfrm>
            <a:off x="793790" y="4353282"/>
            <a:ext cx="6407944" cy="30480"/>
          </a:xfrm>
          <a:prstGeom prst="rect">
            <a:avLst/>
          </a:prstGeom>
          <a:solidFill>
            <a:srgbClr val="E04F00"/>
          </a:solidFill>
          <a:ln/>
        </p:spPr>
      </p:sp>
      <p:sp>
        <p:nvSpPr>
          <p:cNvPr id="17" name="Text 15">
            <a:extLst>
              <a:ext uri="{FF2B5EF4-FFF2-40B4-BE49-F238E27FC236}">
                <a16:creationId xmlns:a16="http://schemas.microsoft.com/office/drawing/2014/main" id="{DB97DF43-3297-7260-5B91-2DAB55D3B09B}"/>
              </a:ext>
            </a:extLst>
          </p:cNvPr>
          <p:cNvSpPr/>
          <p:nvPr/>
        </p:nvSpPr>
        <p:spPr>
          <a:xfrm>
            <a:off x="793790" y="4527590"/>
            <a:ext cx="5378410" cy="506016"/>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Complexity vs Interpretability Trade-off</a:t>
            </a:r>
            <a:endParaRPr lang="en-US" sz="2400" dirty="0">
              <a:solidFill>
                <a:schemeClr val="tx1"/>
              </a:solidFill>
            </a:endParaRPr>
          </a:p>
        </p:txBody>
      </p:sp>
      <p:sp>
        <p:nvSpPr>
          <p:cNvPr id="27" name="Text 9">
            <a:extLst>
              <a:ext uri="{FF2B5EF4-FFF2-40B4-BE49-F238E27FC236}">
                <a16:creationId xmlns:a16="http://schemas.microsoft.com/office/drawing/2014/main" id="{7E44A9EB-37D4-D3CC-6CA9-BE886EEF64E4}"/>
              </a:ext>
            </a:extLst>
          </p:cNvPr>
          <p:cNvSpPr/>
          <p:nvPr/>
        </p:nvSpPr>
        <p:spPr>
          <a:xfrm>
            <a:off x="7428548" y="3041586"/>
            <a:ext cx="5149810" cy="341590"/>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Model Interpretability</a:t>
            </a:r>
            <a:endParaRPr lang="en-US" sz="2400" dirty="0">
              <a:solidFill>
                <a:schemeClr val="tx1"/>
              </a:solidFill>
            </a:endParaRPr>
          </a:p>
        </p:txBody>
      </p:sp>
      <p:sp>
        <p:nvSpPr>
          <p:cNvPr id="19" name="Shape 11">
            <a:extLst>
              <a:ext uri="{FF2B5EF4-FFF2-40B4-BE49-F238E27FC236}">
                <a16:creationId xmlns:a16="http://schemas.microsoft.com/office/drawing/2014/main" id="{6DFA16B1-6A6D-E449-B2C3-5B3B26C2C568}"/>
              </a:ext>
            </a:extLst>
          </p:cNvPr>
          <p:cNvSpPr/>
          <p:nvPr/>
        </p:nvSpPr>
        <p:spPr>
          <a:xfrm>
            <a:off x="7428547" y="4338042"/>
            <a:ext cx="6408063" cy="30480"/>
          </a:xfrm>
          <a:prstGeom prst="rect">
            <a:avLst/>
          </a:prstGeom>
          <a:solidFill>
            <a:srgbClr val="E04F00"/>
          </a:solidFill>
          <a:ln/>
        </p:spPr>
      </p:sp>
      <p:sp>
        <p:nvSpPr>
          <p:cNvPr id="20" name="Text 15">
            <a:extLst>
              <a:ext uri="{FF2B5EF4-FFF2-40B4-BE49-F238E27FC236}">
                <a16:creationId xmlns:a16="http://schemas.microsoft.com/office/drawing/2014/main" id="{B399EC45-7608-BF4F-96F3-D57F5F5EACFF}"/>
              </a:ext>
            </a:extLst>
          </p:cNvPr>
          <p:cNvSpPr/>
          <p:nvPr/>
        </p:nvSpPr>
        <p:spPr>
          <a:xfrm>
            <a:off x="7428547" y="4582968"/>
            <a:ext cx="5378410" cy="506016"/>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Approaches in XAI</a:t>
            </a:r>
            <a:endParaRPr lang="en-US" sz="2400" dirty="0">
              <a:solidFill>
                <a:schemeClr val="tx1"/>
              </a:solidFill>
            </a:endParaRPr>
          </a:p>
        </p:txBody>
      </p:sp>
      <p:sp>
        <p:nvSpPr>
          <p:cNvPr id="21" name="Text 10">
            <a:extLst>
              <a:ext uri="{FF2B5EF4-FFF2-40B4-BE49-F238E27FC236}">
                <a16:creationId xmlns:a16="http://schemas.microsoft.com/office/drawing/2014/main" id="{5F7B4E8E-7E63-124E-A4D0-9C605AEF0532}"/>
              </a:ext>
            </a:extLst>
          </p:cNvPr>
          <p:cNvSpPr/>
          <p:nvPr/>
        </p:nvSpPr>
        <p:spPr>
          <a:xfrm>
            <a:off x="7428548" y="4011276"/>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06</a:t>
            </a:r>
            <a:endParaRPr lang="en-US" sz="1750" dirty="0">
              <a:solidFill>
                <a:schemeClr val="tx1"/>
              </a:solidFill>
              <a:latin typeface="PT Serif" panose="020A0603040505020204" pitchFamily="18" charset="0"/>
            </a:endParaRPr>
          </a:p>
        </p:txBody>
      </p:sp>
      <p:sp>
        <p:nvSpPr>
          <p:cNvPr id="22" name="Text 13">
            <a:extLst>
              <a:ext uri="{FF2B5EF4-FFF2-40B4-BE49-F238E27FC236}">
                <a16:creationId xmlns:a16="http://schemas.microsoft.com/office/drawing/2014/main" id="{61A48F65-9960-09D7-F7AD-889530E219FC}"/>
              </a:ext>
            </a:extLst>
          </p:cNvPr>
          <p:cNvSpPr/>
          <p:nvPr/>
        </p:nvSpPr>
        <p:spPr>
          <a:xfrm>
            <a:off x="838200" y="5269692"/>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07</a:t>
            </a:r>
            <a:endParaRPr lang="en-US" sz="1750" dirty="0">
              <a:solidFill>
                <a:schemeClr val="tx1"/>
              </a:solidFill>
              <a:latin typeface="PT Serif" panose="020A0603040505020204" pitchFamily="18" charset="0"/>
            </a:endParaRPr>
          </a:p>
        </p:txBody>
      </p:sp>
      <p:sp>
        <p:nvSpPr>
          <p:cNvPr id="23" name="Shape 14">
            <a:extLst>
              <a:ext uri="{FF2B5EF4-FFF2-40B4-BE49-F238E27FC236}">
                <a16:creationId xmlns:a16="http://schemas.microsoft.com/office/drawing/2014/main" id="{C24968C1-ABDF-15B0-CF88-81F295185DD3}"/>
              </a:ext>
            </a:extLst>
          </p:cNvPr>
          <p:cNvSpPr/>
          <p:nvPr/>
        </p:nvSpPr>
        <p:spPr>
          <a:xfrm>
            <a:off x="838200" y="5624736"/>
            <a:ext cx="6407944" cy="30480"/>
          </a:xfrm>
          <a:prstGeom prst="rect">
            <a:avLst/>
          </a:prstGeom>
          <a:solidFill>
            <a:srgbClr val="E04F00"/>
          </a:solidFill>
          <a:ln/>
        </p:spPr>
      </p:sp>
      <p:sp>
        <p:nvSpPr>
          <p:cNvPr id="24" name="Text 15">
            <a:extLst>
              <a:ext uri="{FF2B5EF4-FFF2-40B4-BE49-F238E27FC236}">
                <a16:creationId xmlns:a16="http://schemas.microsoft.com/office/drawing/2014/main" id="{4B70E2BD-41DE-2DA2-5201-454012CC1AC3}"/>
              </a:ext>
            </a:extLst>
          </p:cNvPr>
          <p:cNvSpPr/>
          <p:nvPr/>
        </p:nvSpPr>
        <p:spPr>
          <a:xfrm>
            <a:off x="838200" y="5799044"/>
            <a:ext cx="5378410" cy="506016"/>
          </a:xfrm>
          <a:prstGeom prst="rect">
            <a:avLst/>
          </a:prstGeom>
          <a:noFill/>
          <a:ln/>
        </p:spPr>
        <p:txBody>
          <a:bodyPr wrap="squar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Introduction to LIME and SHAP</a:t>
            </a:r>
            <a:endParaRPr lang="en-US" sz="2400" dirty="0">
              <a:solidFill>
                <a:schemeClr val="tx1"/>
              </a:solidFill>
            </a:endParaRPr>
          </a:p>
        </p:txBody>
      </p:sp>
      <p:sp>
        <p:nvSpPr>
          <p:cNvPr id="29" name="Shape 11">
            <a:extLst>
              <a:ext uri="{FF2B5EF4-FFF2-40B4-BE49-F238E27FC236}">
                <a16:creationId xmlns:a16="http://schemas.microsoft.com/office/drawing/2014/main" id="{F8CFB441-D47D-6E29-1615-14152B7D26C7}"/>
              </a:ext>
            </a:extLst>
          </p:cNvPr>
          <p:cNvSpPr/>
          <p:nvPr/>
        </p:nvSpPr>
        <p:spPr>
          <a:xfrm>
            <a:off x="7467600" y="5620404"/>
            <a:ext cx="6408063" cy="30480"/>
          </a:xfrm>
          <a:prstGeom prst="rect">
            <a:avLst/>
          </a:prstGeom>
          <a:solidFill>
            <a:srgbClr val="E04F00"/>
          </a:solidFill>
          <a:ln/>
        </p:spPr>
      </p:sp>
      <p:sp>
        <p:nvSpPr>
          <p:cNvPr id="30" name="Text 15">
            <a:extLst>
              <a:ext uri="{FF2B5EF4-FFF2-40B4-BE49-F238E27FC236}">
                <a16:creationId xmlns:a16="http://schemas.microsoft.com/office/drawing/2014/main" id="{8FA6D861-81F3-D849-70BE-33A381A31ACD}"/>
              </a:ext>
            </a:extLst>
          </p:cNvPr>
          <p:cNvSpPr/>
          <p:nvPr/>
        </p:nvSpPr>
        <p:spPr>
          <a:xfrm>
            <a:off x="7451993" y="5849174"/>
            <a:ext cx="5378410" cy="506016"/>
          </a:xfrm>
          <a:prstGeom prst="rect">
            <a:avLst/>
          </a:prstGeom>
          <a:noFill/>
          <a:ln/>
        </p:spPr>
        <p:txBody>
          <a:bodyPr wrap="none" lIns="0" tIns="0" rIns="0" bIns="0" rtlCol="0" anchor="t"/>
          <a:lstStyle/>
          <a:p>
            <a:pPr marL="0" indent="0" algn="l">
              <a:buNone/>
            </a:pPr>
            <a:r>
              <a:rPr lang="en-US" sz="2400" dirty="0">
                <a:solidFill>
                  <a:schemeClr val="tx1"/>
                </a:solidFill>
                <a:latin typeface="PT Serif" pitchFamily="34" charset="0"/>
                <a:ea typeface="PT Serif" pitchFamily="34" charset="-122"/>
                <a:cs typeface="PT Serif" pitchFamily="34" charset="-120"/>
              </a:rPr>
              <a:t>LIME vs SHAP Comparison</a:t>
            </a:r>
            <a:endParaRPr lang="en-US" sz="2400" dirty="0">
              <a:solidFill>
                <a:schemeClr val="tx1"/>
              </a:solidFill>
            </a:endParaRPr>
          </a:p>
        </p:txBody>
      </p:sp>
      <p:sp>
        <p:nvSpPr>
          <p:cNvPr id="31" name="Text 10">
            <a:extLst>
              <a:ext uri="{FF2B5EF4-FFF2-40B4-BE49-F238E27FC236}">
                <a16:creationId xmlns:a16="http://schemas.microsoft.com/office/drawing/2014/main" id="{32BC5D34-A8B6-F853-8ECE-5244C512672C}"/>
              </a:ext>
            </a:extLst>
          </p:cNvPr>
          <p:cNvSpPr/>
          <p:nvPr/>
        </p:nvSpPr>
        <p:spPr>
          <a:xfrm>
            <a:off x="7467601" y="5293638"/>
            <a:ext cx="226814" cy="283488"/>
          </a:xfrm>
          <a:prstGeom prst="rect">
            <a:avLst/>
          </a:prstGeom>
          <a:noFill/>
          <a:ln/>
        </p:spPr>
        <p:txBody>
          <a:bodyPr wrap="none" lIns="0" tIns="0" rIns="0" bIns="0" rtlCol="0" anchor="t"/>
          <a:lstStyle/>
          <a:p>
            <a:pPr marL="0" indent="0" algn="l">
              <a:buNone/>
            </a:pPr>
            <a:r>
              <a:rPr lang="en-US" sz="1750" dirty="0">
                <a:solidFill>
                  <a:schemeClr val="tx1"/>
                </a:solidFill>
                <a:latin typeface="PT Serif" panose="020A0603040505020204" pitchFamily="18" charset="0"/>
                <a:ea typeface="PT Serif Light" pitchFamily="34" charset="-122"/>
                <a:cs typeface="PT Serif Light" pitchFamily="34" charset="-120"/>
              </a:rPr>
              <a:t>08</a:t>
            </a:r>
            <a:endParaRPr lang="en-US" sz="1750" dirty="0">
              <a:solidFill>
                <a:schemeClr val="tx1"/>
              </a:solidFill>
              <a:latin typeface="PT Serif" panose="020A0603040505020204" pitchFamily="18" charset="0"/>
            </a:endParaRPr>
          </a:p>
        </p:txBody>
      </p:sp>
      <p:sp>
        <p:nvSpPr>
          <p:cNvPr id="33" name="Text 15">
            <a:extLst>
              <a:ext uri="{FF2B5EF4-FFF2-40B4-BE49-F238E27FC236}">
                <a16:creationId xmlns:a16="http://schemas.microsoft.com/office/drawing/2014/main" id="{2108593E-AD7B-BBD7-B473-DE4212724716}"/>
              </a:ext>
            </a:extLst>
          </p:cNvPr>
          <p:cNvSpPr/>
          <p:nvPr/>
        </p:nvSpPr>
        <p:spPr>
          <a:xfrm>
            <a:off x="838200" y="7082552"/>
            <a:ext cx="5378410" cy="506016"/>
          </a:xfrm>
          <a:prstGeom prst="rect">
            <a:avLst/>
          </a:prstGeom>
          <a:noFill/>
          <a:ln/>
        </p:spPr>
        <p:txBody>
          <a:bodyPr wrap="square" lIns="0" tIns="0" rIns="0" bIns="0" rtlCol="0" anchor="t"/>
          <a:lstStyle/>
          <a:p>
            <a:pPr marL="0" indent="0" algn="l">
              <a:buNone/>
            </a:pPr>
            <a:endParaRPr lang="en-US" sz="2400" dirty="0">
              <a:solidFill>
                <a:schemeClr val="tx1"/>
              </a:solidFill>
            </a:endParaRPr>
          </a:p>
        </p:txBody>
      </p:sp>
    </p:spTree>
    <p:extLst>
      <p:ext uri="{BB962C8B-B14F-4D97-AF65-F5344CB8AC3E}">
        <p14:creationId xmlns:p14="http://schemas.microsoft.com/office/powerpoint/2010/main" val="2416296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177860"/>
            <a:ext cx="13656055" cy="997761"/>
          </a:xfrm>
          <a:prstGeom prst="rect">
            <a:avLst/>
          </a:prstGeom>
        </p:spPr>
        <p:txBody>
          <a:bodyPr vert="horz" wrap="square" lIns="0" tIns="439471" rIns="0" bIns="0" rtlCol="0">
            <a:spAutoFit/>
          </a:bodyPr>
          <a:lstStyle/>
          <a:p>
            <a:pPr marL="0" indent="0" algn="l">
              <a:buNone/>
            </a:pPr>
            <a:r>
              <a:rPr lang="en-US" sz="3600" dirty="0">
                <a:solidFill>
                  <a:srgbClr val="020202"/>
                </a:solidFill>
                <a:ea typeface="PT Serif" pitchFamily="34" charset="-122"/>
                <a:cs typeface="PT Serif" pitchFamily="34" charset="-120"/>
              </a:rPr>
              <a:t>What is Explainable AI?</a:t>
            </a:r>
            <a:endParaRPr lang="en-US" sz="3600" dirty="0"/>
          </a:p>
        </p:txBody>
      </p:sp>
      <p:sp>
        <p:nvSpPr>
          <p:cNvPr id="13" name="Shape 5">
            <a:extLst>
              <a:ext uri="{FF2B5EF4-FFF2-40B4-BE49-F238E27FC236}">
                <a16:creationId xmlns:a16="http://schemas.microsoft.com/office/drawing/2014/main" id="{E7C49C67-C298-4068-CA76-A4C08A84BF5C}"/>
              </a:ext>
            </a:extLst>
          </p:cNvPr>
          <p:cNvSpPr/>
          <p:nvPr/>
        </p:nvSpPr>
        <p:spPr>
          <a:xfrm>
            <a:off x="5249508" y="2273738"/>
            <a:ext cx="4164095" cy="3288862"/>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25416" y="2190007"/>
            <a:ext cx="3718279" cy="486528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Transparency Focus</a:t>
            </a:r>
            <a:endParaRPr lang="en-US" dirty="0">
              <a:solidFill>
                <a:schemeClr val="tx1"/>
              </a:solidFill>
              <a:latin typeface="PT Serif" panose="020A0603040505020204" pitchFamily="18" charset="0"/>
            </a:endParaRPr>
          </a:p>
          <a:p>
            <a:pPr marL="0" indent="0" algn="l">
              <a:lnSpc>
                <a:spcPct val="200000"/>
              </a:lnSpc>
              <a:buNone/>
            </a:pPr>
            <a:r>
              <a:rPr lang="en-IN" dirty="0">
                <a:latin typeface="PT Serif" panose="020A0603040505020204" pitchFamily="18" charset="0"/>
              </a:rPr>
              <a:t>Transparency focus refers to designing AI systems so that their processes, assumptions, and decisions are clear and traceable.</a:t>
            </a:r>
            <a:endParaRPr lang="en-US"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4084724"/>
            <a:ext cx="3818692" cy="127015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232665" y="2247789"/>
            <a:ext cx="3818573" cy="3241385"/>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68258" y="2308907"/>
            <a:ext cx="3347385" cy="2313740"/>
          </a:xfrm>
          <a:prstGeom prst="rect">
            <a:avLst/>
          </a:prstGeom>
          <a:noFill/>
          <a:ln/>
        </p:spPr>
        <p:txBody>
          <a:bodyPr wrap="square" lIns="0" tIns="0" rIns="0" bIns="0" rtlCol="0" anchor="t"/>
          <a:lstStyle/>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Trust &amp; Accountability</a:t>
            </a:r>
            <a:endParaRPr lang="en-US" dirty="0">
              <a:solidFill>
                <a:schemeClr val="tx1"/>
              </a:solidFill>
              <a:latin typeface="PT Serif" panose="020A0603040505020204" pitchFamily="18" charset="0"/>
            </a:endParaRPr>
          </a:p>
          <a:p>
            <a:pPr marL="0" indent="0" algn="l">
              <a:lnSpc>
                <a:spcPct val="200000"/>
              </a:lnSpc>
              <a:buNone/>
            </a:pPr>
            <a:r>
              <a:rPr lang="en-US" sz="1800" dirty="0">
                <a:solidFill>
                  <a:srgbClr val="383838"/>
                </a:solidFill>
                <a:latin typeface="PT Serif" panose="020A0603040505020204" pitchFamily="18" charset="0"/>
                <a:ea typeface="DM Sans" pitchFamily="34" charset="-122"/>
                <a:cs typeface="DM Sans" pitchFamily="34" charset="-120"/>
              </a:rPr>
              <a:t>Critical for real-world systems requiring justification and fairness.</a:t>
            </a:r>
            <a:endParaRPr lang="en-US" sz="1800" dirty="0">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2997332"/>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701985" y="2247789"/>
            <a:ext cx="3976821" cy="3288862"/>
          </a:xfrm>
          <a:prstGeom prst="roundRect">
            <a:avLst>
              <a:gd name="adj" fmla="val 1410"/>
            </a:avLst>
          </a:prstGeom>
          <a:solidFill>
            <a:srgbClr val="F2EEEE"/>
          </a:solidFill>
          <a:ln/>
        </p:spPr>
        <p:txBody>
          <a:bodyPr/>
          <a:lstStyle/>
          <a:p>
            <a:pPr>
              <a:lnSpc>
                <a:spcPct val="200000"/>
              </a:lnSpc>
            </a:pPr>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853723" y="1371600"/>
            <a:ext cx="3718278" cy="3517462"/>
          </a:xfrm>
          <a:prstGeom prst="rect">
            <a:avLst/>
          </a:prstGeom>
          <a:noFill/>
          <a:ln/>
        </p:spPr>
        <p:txBody>
          <a:bodyPr wrap="square" lIns="0" tIns="0" rIns="0" bIns="0" rtlCol="0" anchor="t"/>
          <a:lstStyle/>
          <a:p>
            <a:pPr marL="0" indent="0" algn="l">
              <a:lnSpc>
                <a:spcPct val="200000"/>
              </a:lnSpc>
              <a:buNone/>
            </a:pPr>
            <a:endParaRPr lang="en-US" sz="2400" dirty="0">
              <a:solidFill>
                <a:srgbClr val="383838"/>
              </a:solidFill>
              <a:latin typeface="PT Serif" panose="020A0603040505020204" pitchFamily="18" charset="0"/>
              <a:ea typeface="PT Serif" pitchFamily="34" charset="-122"/>
              <a:cs typeface="PT Serif" pitchFamily="34" charset="-120"/>
            </a:endParaRPr>
          </a:p>
          <a:p>
            <a:pPr marL="0" indent="0" algn="l">
              <a:lnSpc>
                <a:spcPct val="200000"/>
              </a:lnSpc>
              <a:buNone/>
            </a:pPr>
            <a:r>
              <a:rPr lang="en-US" sz="2400" dirty="0">
                <a:solidFill>
                  <a:srgbClr val="383838"/>
                </a:solidFill>
                <a:latin typeface="PT Serif" panose="020A0603040505020204" pitchFamily="18" charset="0"/>
                <a:ea typeface="PT Serif" pitchFamily="34" charset="-122"/>
                <a:cs typeface="PT Serif" pitchFamily="34" charset="-120"/>
              </a:rPr>
              <a:t>Beyond Predictions</a:t>
            </a:r>
          </a:p>
          <a:p>
            <a:pPr marL="0" indent="0" algn="l">
              <a:lnSpc>
                <a:spcPct val="200000"/>
              </a:lnSpc>
              <a:buNone/>
            </a:pPr>
            <a:r>
              <a:rPr lang="en-IN" dirty="0">
                <a:latin typeface="PT Serif" panose="020A0603040505020204" pitchFamily="18" charset="0"/>
              </a:rPr>
              <a:t>Explainable AI (XAI) is an approach in AI that makes model decisions understandable to humans by providing clear reasoning behind those decisions.</a:t>
            </a:r>
            <a:endParaRPr lang="en-US"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p:txBody>
      </p:sp>
      <p:sp>
        <p:nvSpPr>
          <p:cNvPr id="3" name="TextBox 2">
            <a:extLst>
              <a:ext uri="{FF2B5EF4-FFF2-40B4-BE49-F238E27FC236}">
                <a16:creationId xmlns:a16="http://schemas.microsoft.com/office/drawing/2014/main" id="{B9A55042-FC07-524F-A88B-DC148FA4E9D9}"/>
              </a:ext>
            </a:extLst>
          </p:cNvPr>
          <p:cNvSpPr txBox="1"/>
          <p:nvPr/>
        </p:nvSpPr>
        <p:spPr>
          <a:xfrm>
            <a:off x="701985" y="6248400"/>
            <a:ext cx="13932019" cy="1200329"/>
          </a:xfrm>
          <a:prstGeom prst="rect">
            <a:avLst/>
          </a:prstGeom>
          <a:noFill/>
        </p:spPr>
        <p:txBody>
          <a:bodyPr wrap="none" rtlCol="0">
            <a:spAutoFit/>
          </a:bodyPr>
          <a:lstStyle/>
          <a:p>
            <a:r>
              <a:rPr lang="en-IN" dirty="0">
                <a:latin typeface="PT Serif" panose="020A0603040505020204" pitchFamily="18" charset="0"/>
              </a:rPr>
              <a:t>XAI refers to a set of methods that make the internal logic or decision </a:t>
            </a:r>
            <a:r>
              <a:rPr lang="en-IN" dirty="0" err="1">
                <a:latin typeface="PT Serif" panose="020A0603040505020204" pitchFamily="18" charset="0"/>
              </a:rPr>
              <a:t>behavior</a:t>
            </a:r>
            <a:r>
              <a:rPr lang="en-IN" dirty="0">
                <a:latin typeface="PT Serif" panose="020A0603040505020204" pitchFamily="18" charset="0"/>
              </a:rPr>
              <a:t> of machine learning models understandable to humans.</a:t>
            </a:r>
          </a:p>
          <a:p>
            <a:br>
              <a:rPr lang="en-IN" dirty="0">
                <a:latin typeface="PT Serif" panose="020A0603040505020204" pitchFamily="18" charset="0"/>
              </a:rPr>
            </a:br>
            <a:r>
              <a:rPr lang="en-IN" dirty="0">
                <a:latin typeface="PT Serif" panose="020A0603040505020204" pitchFamily="18" charset="0"/>
              </a:rPr>
              <a:t>Model → Prediction → Explanation Layer → User</a:t>
            </a:r>
          </a:p>
          <a:p>
            <a:endParaRPr lang="en-US" dirty="0"/>
          </a:p>
        </p:txBody>
      </p:sp>
    </p:spTree>
    <p:extLst>
      <p:ext uri="{BB962C8B-B14F-4D97-AF65-F5344CB8AC3E}">
        <p14:creationId xmlns:p14="http://schemas.microsoft.com/office/powerpoint/2010/main" val="3546163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1702" y="477646"/>
            <a:ext cx="13656055" cy="777008"/>
          </a:xfrm>
          <a:prstGeom prst="rect">
            <a:avLst/>
          </a:prstGeom>
          <a:noFill/>
        </p:spPr>
        <p:txBody>
          <a:bodyPr vert="horz" wrap="square" lIns="0" tIns="220853" rIns="0" bIns="0" rtlCol="0">
            <a:spAutoFit/>
          </a:bodyPr>
          <a:lstStyle/>
          <a:p>
            <a:pPr marL="0" indent="0" algn="l">
              <a:buNone/>
            </a:pPr>
            <a:r>
              <a:rPr lang="en-US" sz="3600" dirty="0">
                <a:solidFill>
                  <a:schemeClr val="tx1"/>
                </a:solidFill>
                <a:ea typeface="PT Serif" pitchFamily="34" charset="-122"/>
                <a:cs typeface="PT Serif" pitchFamily="34" charset="-120"/>
              </a:rPr>
              <a:t>Why Do We Need XAI?</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476871" y="2133600"/>
            <a:ext cx="4650230" cy="4698301"/>
          </a:xfrm>
          <a:prstGeom prst="rect">
            <a:avLst/>
          </a:prstGeom>
          <a:noFill/>
          <a:ln/>
        </p:spPr>
        <p:txBody>
          <a:bodyPr wrap="square" lIns="0" tIns="0" rIns="0" bIns="0" rtlCol="0" anchor="t"/>
          <a:lstStyle/>
          <a:p>
            <a:pPr marL="0" indent="0" algn="l">
              <a:lnSpc>
                <a:spcPct val="200000"/>
              </a:lnSpc>
              <a:buNone/>
            </a:pPr>
            <a:r>
              <a:rPr lang="en-US" sz="2200" b="1" dirty="0">
                <a:solidFill>
                  <a:schemeClr val="tx1"/>
                </a:solidFill>
                <a:latin typeface="PT Serif" panose="020A0603040505020204" pitchFamily="18" charset="0"/>
                <a:ea typeface="PT Serif" pitchFamily="34" charset="-122"/>
                <a:cs typeface="PT Serif" pitchFamily="34" charset="-120"/>
              </a:rPr>
              <a:t>The Black Box Problem</a:t>
            </a:r>
          </a:p>
          <a:p>
            <a:pPr marL="0" indent="0" algn="l">
              <a:lnSpc>
                <a:spcPct val="200000"/>
              </a:lnSpc>
              <a:buNone/>
            </a:pPr>
            <a:r>
              <a:rPr lang="en-US" sz="2000" dirty="0">
                <a:solidFill>
                  <a:schemeClr val="tx1"/>
                </a:solidFill>
                <a:latin typeface="PT Serif" panose="020A0603040505020204" pitchFamily="18" charset="0"/>
                <a:ea typeface="DM Sans" pitchFamily="34" charset="-122"/>
                <a:cs typeface="DM Sans" pitchFamily="34" charset="-120"/>
              </a:rPr>
              <a:t>Many ML models hide their internal logic, creating trust issues in critical applications.</a:t>
            </a:r>
          </a:p>
          <a:p>
            <a:pPr algn="l">
              <a:lnSpc>
                <a:spcPct val="200000"/>
              </a:lnSpc>
            </a:pPr>
            <a:r>
              <a:rPr lang="en-US" sz="2000" dirty="0">
                <a:solidFill>
                  <a:schemeClr val="tx1"/>
                </a:solidFill>
                <a:latin typeface="PT Serif" panose="020A0603040505020204" pitchFamily="18" charset="0"/>
                <a:ea typeface="DM Sans" pitchFamily="34" charset="-122"/>
                <a:cs typeface="DM Sans" pitchFamily="34" charset="-120"/>
              </a:rPr>
              <a:t>Without explanation, users cannot verify decisions or understand outcomes.</a:t>
            </a:r>
            <a:endParaRPr lang="en-US" sz="2000" dirty="0">
              <a:solidFill>
                <a:schemeClr val="tx1"/>
              </a:solidFill>
              <a:latin typeface="PT Serif" panose="020A0603040505020204" pitchFamily="18" charset="0"/>
            </a:endParaRPr>
          </a:p>
          <a:p>
            <a:pPr marL="0" indent="0" algn="l">
              <a:lnSpc>
                <a:spcPct val="200000"/>
              </a:lnSpc>
              <a:buNone/>
            </a:pPr>
            <a:endParaRPr lang="en-US" sz="2000"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8258006" y="2133599"/>
            <a:ext cx="4650230" cy="4698301"/>
          </a:xfrm>
          <a:prstGeom prst="rect">
            <a:avLst/>
          </a:prstGeom>
          <a:noFill/>
          <a:ln/>
        </p:spPr>
        <p:txBody>
          <a:bodyPr wrap="square" lIns="0" tIns="0" rIns="0" bIns="0" rtlCol="0" anchor="t"/>
          <a:lstStyle/>
          <a:p>
            <a:pPr marL="0" indent="0" algn="l">
              <a:lnSpc>
                <a:spcPct val="200000"/>
              </a:lnSpc>
              <a:buNone/>
            </a:pPr>
            <a:r>
              <a:rPr lang="en-US" sz="2000" dirty="0">
                <a:solidFill>
                  <a:schemeClr val="tx1"/>
                </a:solidFill>
                <a:latin typeface="PT Serif" panose="020A0603040505020204" pitchFamily="18" charset="0"/>
                <a:ea typeface="PT Serif" pitchFamily="34" charset="-122"/>
                <a:cs typeface="PT Serif" pitchFamily="34" charset="-120"/>
              </a:rPr>
              <a:t>Critical Industries and Areas</a:t>
            </a:r>
            <a:endParaRPr lang="en-US" sz="2000" dirty="0">
              <a:solidFill>
                <a:schemeClr val="tx1"/>
              </a:solidFill>
              <a:latin typeface="PT Serif" panose="020A0603040505020204" pitchFamily="18" charset="0"/>
            </a:endParaRPr>
          </a:p>
          <a:p>
            <a:pPr marL="342900" indent="-342900" algn="l">
              <a:lnSpc>
                <a:spcPct val="200000"/>
              </a:lnSpc>
              <a:buSzPct val="100000"/>
              <a:buChar char="•"/>
            </a:pPr>
            <a:r>
              <a:rPr lang="en-US" sz="2000" dirty="0">
                <a:solidFill>
                  <a:schemeClr val="tx1"/>
                </a:solidFill>
                <a:latin typeface="PT Serif" panose="020A0603040505020204" pitchFamily="18" charset="0"/>
                <a:ea typeface="DM Sans" pitchFamily="34" charset="-122"/>
                <a:cs typeface="DM Sans" pitchFamily="34" charset="-120"/>
              </a:rPr>
              <a:t>Healthcare diagnostics</a:t>
            </a:r>
            <a:endParaRPr lang="en-US" sz="2000" dirty="0">
              <a:solidFill>
                <a:schemeClr val="tx1"/>
              </a:solidFill>
              <a:latin typeface="PT Serif" panose="020A0603040505020204" pitchFamily="18" charset="0"/>
            </a:endParaRPr>
          </a:p>
          <a:p>
            <a:pPr marL="342900" indent="-342900" algn="l">
              <a:lnSpc>
                <a:spcPct val="200000"/>
              </a:lnSpc>
              <a:buSzPct val="100000"/>
              <a:buChar char="•"/>
            </a:pPr>
            <a:r>
              <a:rPr lang="en-US" sz="2000" dirty="0">
                <a:solidFill>
                  <a:schemeClr val="tx1"/>
                </a:solidFill>
                <a:latin typeface="PT Serif" panose="020A0603040505020204" pitchFamily="18" charset="0"/>
                <a:ea typeface="DM Sans" pitchFamily="34" charset="-122"/>
                <a:cs typeface="DM Sans" pitchFamily="34" charset="-120"/>
              </a:rPr>
              <a:t>Banking and loans</a:t>
            </a:r>
            <a:endParaRPr lang="en-US" sz="2000" dirty="0">
              <a:solidFill>
                <a:schemeClr val="tx1"/>
              </a:solidFill>
              <a:latin typeface="PT Serif" panose="020A0603040505020204" pitchFamily="18" charset="0"/>
            </a:endParaRPr>
          </a:p>
          <a:p>
            <a:pPr marL="342900" indent="-342900" algn="l">
              <a:lnSpc>
                <a:spcPct val="200000"/>
              </a:lnSpc>
              <a:buSzPct val="100000"/>
              <a:buChar char="•"/>
            </a:pPr>
            <a:r>
              <a:rPr lang="en-US" sz="2000" dirty="0">
                <a:solidFill>
                  <a:schemeClr val="tx1"/>
                </a:solidFill>
                <a:latin typeface="PT Serif" panose="020A0603040505020204" pitchFamily="18" charset="0"/>
                <a:ea typeface="DM Sans" pitchFamily="34" charset="-122"/>
                <a:cs typeface="DM Sans" pitchFamily="34" charset="-120"/>
              </a:rPr>
              <a:t>Insurance claims</a:t>
            </a:r>
            <a:endParaRPr lang="en-US" sz="2000" dirty="0">
              <a:solidFill>
                <a:schemeClr val="tx1"/>
              </a:solidFill>
              <a:latin typeface="PT Serif" panose="020A0603040505020204" pitchFamily="18" charset="0"/>
            </a:endParaRPr>
          </a:p>
          <a:p>
            <a:pPr marL="342900" indent="-342900" algn="l">
              <a:lnSpc>
                <a:spcPct val="200000"/>
              </a:lnSpc>
              <a:buSzPct val="100000"/>
              <a:buChar char="•"/>
            </a:pPr>
            <a:r>
              <a:rPr lang="en-US" sz="2000" dirty="0">
                <a:solidFill>
                  <a:schemeClr val="tx1"/>
                </a:solidFill>
                <a:latin typeface="PT Serif" panose="020A0603040505020204" pitchFamily="18" charset="0"/>
                <a:ea typeface="DM Sans" pitchFamily="34" charset="-122"/>
                <a:cs typeface="DM Sans" pitchFamily="34" charset="-120"/>
              </a:rPr>
              <a:t>Government systems</a:t>
            </a:r>
            <a:endParaRPr lang="en-US" sz="2000"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p:txBody>
      </p:sp>
    </p:spTree>
    <p:extLst>
      <p:ext uri="{BB962C8B-B14F-4D97-AF65-F5344CB8AC3E}">
        <p14:creationId xmlns:p14="http://schemas.microsoft.com/office/powerpoint/2010/main" val="1534836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E86E-5260-5ED8-CE1F-69D09EF0098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34CB169-1E8D-6D99-82A2-11A5D9427012}"/>
              </a:ext>
            </a:extLst>
          </p:cNvPr>
          <p:cNvSpPr txBox="1">
            <a:spLocks noGrp="1"/>
          </p:cNvSpPr>
          <p:nvPr>
            <p:ph type="title"/>
          </p:nvPr>
        </p:nvSpPr>
        <p:spPr>
          <a:xfrm>
            <a:off x="906162" y="192027"/>
            <a:ext cx="13656055" cy="1331005"/>
          </a:xfrm>
          <a:prstGeom prst="rect">
            <a:avLst/>
          </a:prstGeom>
          <a:noFill/>
        </p:spPr>
        <p:txBody>
          <a:bodyPr vert="horz" wrap="square" lIns="0" tIns="220853" rIns="0" bIns="0" rtlCol="0">
            <a:spAutoFit/>
          </a:bodyPr>
          <a:lstStyle/>
          <a:p>
            <a:pPr algn="l"/>
            <a:r>
              <a:rPr lang="en-US" sz="3600" dirty="0">
                <a:solidFill>
                  <a:schemeClr val="tx1"/>
                </a:solidFill>
                <a:latin typeface="PT Serif" pitchFamily="34" charset="0"/>
                <a:ea typeface="PT Serif" pitchFamily="34" charset="-122"/>
                <a:cs typeface="PT Serif" pitchFamily="34" charset="-120"/>
              </a:rPr>
              <a:t>The Black Box vs White Box Model</a:t>
            </a:r>
            <a:br>
              <a:rPr lang="en-US" sz="3600" dirty="0">
                <a:solidFill>
                  <a:schemeClr val="tx1"/>
                </a:solidFill>
              </a:rPr>
            </a:br>
            <a:endParaRPr lang="en-US" sz="3600" dirty="0">
              <a:solidFill>
                <a:schemeClr val="tx1"/>
              </a:solidFill>
            </a:endParaRPr>
          </a:p>
        </p:txBody>
      </p:sp>
      <p:sp>
        <p:nvSpPr>
          <p:cNvPr id="3" name="Rectangle 2">
            <a:extLst>
              <a:ext uri="{FF2B5EF4-FFF2-40B4-BE49-F238E27FC236}">
                <a16:creationId xmlns:a16="http://schemas.microsoft.com/office/drawing/2014/main" id="{EC3CA587-CB9D-A415-BD65-D94696FCCF98}"/>
              </a:ext>
            </a:extLst>
          </p:cNvPr>
          <p:cNvSpPr/>
          <p:nvPr/>
        </p:nvSpPr>
        <p:spPr>
          <a:xfrm>
            <a:off x="904103" y="1905000"/>
            <a:ext cx="5943600" cy="51624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endParaRPr lang="en-IN">
              <a:solidFill>
                <a:schemeClr val="tx1"/>
              </a:solidFill>
              <a:latin typeface="PT Serif" panose="020A0603040505020204" pitchFamily="18" charset="0"/>
            </a:endParaRPr>
          </a:p>
        </p:txBody>
      </p:sp>
      <p:sp>
        <p:nvSpPr>
          <p:cNvPr id="4" name="Rectangle 3">
            <a:extLst>
              <a:ext uri="{FF2B5EF4-FFF2-40B4-BE49-F238E27FC236}">
                <a16:creationId xmlns:a16="http://schemas.microsoft.com/office/drawing/2014/main" id="{A41E201E-8608-14C6-F50A-19188BD22B6E}"/>
              </a:ext>
            </a:extLst>
          </p:cNvPr>
          <p:cNvSpPr/>
          <p:nvPr/>
        </p:nvSpPr>
        <p:spPr>
          <a:xfrm>
            <a:off x="7162800" y="1905001"/>
            <a:ext cx="6096000" cy="51624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endParaRPr lang="en-IN">
              <a:solidFill>
                <a:schemeClr val="tx1"/>
              </a:solidFill>
              <a:latin typeface="PT Serif" panose="020A0603040505020204" pitchFamily="18" charset="0"/>
            </a:endParaRPr>
          </a:p>
        </p:txBody>
      </p:sp>
      <p:sp>
        <p:nvSpPr>
          <p:cNvPr id="5" name="TextBox 4">
            <a:extLst>
              <a:ext uri="{FF2B5EF4-FFF2-40B4-BE49-F238E27FC236}">
                <a16:creationId xmlns:a16="http://schemas.microsoft.com/office/drawing/2014/main" id="{8556913A-9668-65D1-6E4F-A9110D1B9216}"/>
              </a:ext>
            </a:extLst>
          </p:cNvPr>
          <p:cNvSpPr txBox="1"/>
          <p:nvPr/>
        </p:nvSpPr>
        <p:spPr>
          <a:xfrm>
            <a:off x="1132703" y="1371600"/>
            <a:ext cx="5715000" cy="5724644"/>
          </a:xfrm>
          <a:prstGeom prst="rect">
            <a:avLst/>
          </a:prstGeom>
          <a:noFill/>
        </p:spPr>
        <p:txBody>
          <a:bodyPr wrap="square" rtlCol="0">
            <a:spAutoFit/>
          </a:bodyPr>
          <a:lstStyle/>
          <a:p>
            <a:r>
              <a:rPr lang="en-US" sz="2400" b="1" dirty="0">
                <a:latin typeface="PT Serif" panose="020A0603040505020204" pitchFamily="18" charset="0"/>
              </a:rPr>
              <a:t>Black Box Models</a:t>
            </a:r>
          </a:p>
          <a:p>
            <a:endParaRPr lang="en-US" dirty="0">
              <a:latin typeface="PT Serif" panose="020A0603040505020204" pitchFamily="18" charset="0"/>
            </a:endParaRPr>
          </a:p>
          <a:p>
            <a:endParaRPr lang="en-US" dirty="0">
              <a:latin typeface="PT Serif" panose="020A0603040505020204" pitchFamily="18" charset="0"/>
            </a:endParaRPr>
          </a:p>
          <a:p>
            <a:r>
              <a:rPr lang="en-US" dirty="0">
                <a:latin typeface="PT Serif" panose="020A0603040505020204" pitchFamily="18" charset="0"/>
              </a:rPr>
              <a:t>Models where internal decision logic is not directly understandable.</a:t>
            </a:r>
          </a:p>
          <a:p>
            <a:endParaRPr lang="en-US" dirty="0">
              <a:latin typeface="PT Serif" panose="020A0603040505020204" pitchFamily="18" charset="0"/>
            </a:endParaRPr>
          </a:p>
          <a:p>
            <a:r>
              <a:rPr lang="en-US" b="1" dirty="0">
                <a:latin typeface="PT Serif" panose="020A0603040505020204" pitchFamily="18" charset="0"/>
              </a:rPr>
              <a:t>Characteristics:</a:t>
            </a:r>
          </a:p>
          <a:p>
            <a:pPr marL="285750" indent="-285750">
              <a:buFont typeface="Arial" panose="020B0604020202020204" pitchFamily="34" charset="0"/>
              <a:buChar char="•"/>
            </a:pPr>
            <a:r>
              <a:rPr lang="en-US" dirty="0">
                <a:latin typeface="PT Serif" panose="020A0603040505020204" pitchFamily="18" charset="0"/>
              </a:rPr>
              <a:t>Complex internal structure</a:t>
            </a:r>
          </a:p>
          <a:p>
            <a:pPr marL="285750" indent="-285750">
              <a:buFont typeface="Arial" panose="020B0604020202020204" pitchFamily="34" charset="0"/>
              <a:buChar char="•"/>
            </a:pPr>
            <a:r>
              <a:rPr lang="en-US" dirty="0">
                <a:latin typeface="PT Serif" panose="020A0603040505020204" pitchFamily="18" charset="0"/>
              </a:rPr>
              <a:t>High predictive accuracy</a:t>
            </a:r>
          </a:p>
          <a:p>
            <a:pPr marL="285750" indent="-285750">
              <a:buFont typeface="Arial" panose="020B0604020202020204" pitchFamily="34" charset="0"/>
              <a:buChar char="•"/>
            </a:pPr>
            <a:r>
              <a:rPr lang="en-US" dirty="0">
                <a:latin typeface="PT Serif" panose="020A0603040505020204" pitchFamily="18" charset="0"/>
              </a:rPr>
              <a:t>Hard to interpret</a:t>
            </a:r>
          </a:p>
          <a:p>
            <a:pPr marL="285750" indent="-285750">
              <a:buFont typeface="Arial" panose="020B0604020202020204" pitchFamily="34" charset="0"/>
              <a:buChar char="•"/>
            </a:pPr>
            <a:r>
              <a:rPr lang="en-US" dirty="0">
                <a:latin typeface="PT Serif" panose="020A0603040505020204" pitchFamily="18" charset="0"/>
              </a:rPr>
              <a:t>Requires post-hoc explanation methods</a:t>
            </a:r>
          </a:p>
          <a:p>
            <a:endParaRPr lang="en-US" dirty="0">
              <a:latin typeface="PT Serif" panose="020A0603040505020204" pitchFamily="18" charset="0"/>
            </a:endParaRPr>
          </a:p>
          <a:p>
            <a:r>
              <a:rPr lang="en-US" b="1" dirty="0">
                <a:latin typeface="PT Serif" panose="020A0603040505020204" pitchFamily="18" charset="0"/>
              </a:rPr>
              <a:t>Examples:</a:t>
            </a:r>
          </a:p>
          <a:p>
            <a:pPr marL="342900" indent="-342900">
              <a:buFont typeface="+mj-lt"/>
              <a:buAutoNum type="arabicPeriod"/>
            </a:pPr>
            <a:r>
              <a:rPr lang="en-US" dirty="0">
                <a:latin typeface="PT Serif" panose="020A0603040505020204" pitchFamily="18" charset="0"/>
              </a:rPr>
              <a:t>Deep Neural Networks</a:t>
            </a:r>
          </a:p>
          <a:p>
            <a:pPr marL="342900" indent="-342900">
              <a:buFont typeface="+mj-lt"/>
              <a:buAutoNum type="arabicPeriod"/>
            </a:pPr>
            <a:r>
              <a:rPr lang="en-US" dirty="0">
                <a:latin typeface="PT Serif" panose="020A0603040505020204" pitchFamily="18" charset="0"/>
              </a:rPr>
              <a:t>Random Forest</a:t>
            </a:r>
          </a:p>
          <a:p>
            <a:pPr marL="342900" indent="-342900">
              <a:buFont typeface="+mj-lt"/>
              <a:buAutoNum type="arabicPeriod"/>
            </a:pPr>
            <a:r>
              <a:rPr lang="en-US" dirty="0" err="1">
                <a:latin typeface="PT Serif" panose="020A0603040505020204" pitchFamily="18" charset="0"/>
              </a:rPr>
              <a:t>XGBoost</a:t>
            </a:r>
            <a:endParaRPr lang="en-US" dirty="0">
              <a:latin typeface="PT Serif" panose="020A0603040505020204" pitchFamily="18" charset="0"/>
            </a:endParaRPr>
          </a:p>
          <a:p>
            <a:endParaRPr lang="en-US" dirty="0">
              <a:latin typeface="PT Serif" panose="020A0603040505020204" pitchFamily="18" charset="0"/>
            </a:endParaRPr>
          </a:p>
          <a:p>
            <a:r>
              <a:rPr lang="en-US" b="1" dirty="0">
                <a:latin typeface="PT Serif" panose="020A0603040505020204" pitchFamily="18" charset="0"/>
              </a:rPr>
              <a:t>Problem:</a:t>
            </a:r>
          </a:p>
          <a:p>
            <a:r>
              <a:rPr lang="en-US" dirty="0">
                <a:latin typeface="PT Serif" panose="020A0603040505020204" pitchFamily="18" charset="0"/>
              </a:rPr>
              <a:t>Users see the prediction but cannot understand why the decision was made.</a:t>
            </a:r>
            <a:endParaRPr lang="en-IN" dirty="0">
              <a:latin typeface="PT Serif" panose="020A0603040505020204" pitchFamily="18" charset="0"/>
            </a:endParaRPr>
          </a:p>
        </p:txBody>
      </p:sp>
      <p:sp>
        <p:nvSpPr>
          <p:cNvPr id="6" name="TextBox 5">
            <a:extLst>
              <a:ext uri="{FF2B5EF4-FFF2-40B4-BE49-F238E27FC236}">
                <a16:creationId xmlns:a16="http://schemas.microsoft.com/office/drawing/2014/main" id="{DCABE115-C574-801A-F779-54323FAD637F}"/>
              </a:ext>
            </a:extLst>
          </p:cNvPr>
          <p:cNvSpPr txBox="1"/>
          <p:nvPr/>
        </p:nvSpPr>
        <p:spPr>
          <a:xfrm>
            <a:off x="7467600" y="1371600"/>
            <a:ext cx="5486400" cy="5724644"/>
          </a:xfrm>
          <a:prstGeom prst="rect">
            <a:avLst/>
          </a:prstGeom>
          <a:noFill/>
        </p:spPr>
        <p:txBody>
          <a:bodyPr wrap="square" rtlCol="0">
            <a:spAutoFit/>
          </a:bodyPr>
          <a:lstStyle/>
          <a:p>
            <a:r>
              <a:rPr lang="en-US" sz="2400" b="1" dirty="0"/>
              <a:t>White Box Models</a:t>
            </a:r>
          </a:p>
          <a:p>
            <a:endParaRPr lang="en-US" b="1" dirty="0"/>
          </a:p>
          <a:p>
            <a:endParaRPr lang="en-US" b="1" dirty="0"/>
          </a:p>
          <a:p>
            <a:r>
              <a:rPr lang="en-US" dirty="0">
                <a:latin typeface="PT Serif" panose="020A0603040505020204" pitchFamily="18" charset="0"/>
              </a:rPr>
              <a:t>Models where decision logic is </a:t>
            </a:r>
            <a:r>
              <a:rPr lang="en-US" b="1" dirty="0">
                <a:latin typeface="PT Serif" panose="020A0603040505020204" pitchFamily="18" charset="0"/>
              </a:rPr>
              <a:t>transparent and easily interpretable</a:t>
            </a:r>
            <a:r>
              <a:rPr lang="en-US" dirty="0">
                <a:latin typeface="PT Serif" panose="020A0603040505020204" pitchFamily="18" charset="0"/>
              </a:rPr>
              <a:t>.</a:t>
            </a:r>
          </a:p>
          <a:p>
            <a:endParaRPr lang="en-US" dirty="0">
              <a:latin typeface="PT Serif" panose="020A0603040505020204" pitchFamily="18" charset="0"/>
            </a:endParaRPr>
          </a:p>
          <a:p>
            <a:r>
              <a:rPr lang="en-US" b="1" dirty="0">
                <a:latin typeface="PT Serif" panose="020A0603040505020204" pitchFamily="18" charset="0"/>
              </a:rPr>
              <a:t>Characteristics:</a:t>
            </a:r>
          </a:p>
          <a:p>
            <a:pPr marL="285750" indent="-285750">
              <a:buFont typeface="Arial" panose="020B0604020202020204" pitchFamily="34" charset="0"/>
              <a:buChar char="•"/>
            </a:pPr>
            <a:r>
              <a:rPr lang="en-US" dirty="0">
                <a:latin typeface="PT Serif" panose="020A0603040505020204" pitchFamily="18" charset="0"/>
              </a:rPr>
              <a:t>Simple mathematical structure</a:t>
            </a:r>
          </a:p>
          <a:p>
            <a:pPr marL="285750" indent="-285750">
              <a:buFont typeface="Arial" panose="020B0604020202020204" pitchFamily="34" charset="0"/>
              <a:buChar char="•"/>
            </a:pPr>
            <a:r>
              <a:rPr lang="en-US" dirty="0">
                <a:latin typeface="PT Serif" panose="020A0603040505020204" pitchFamily="18" charset="0"/>
              </a:rPr>
              <a:t>Easy to explain</a:t>
            </a:r>
          </a:p>
          <a:p>
            <a:pPr marL="285750" indent="-285750">
              <a:buFont typeface="Arial" panose="020B0604020202020204" pitchFamily="34" charset="0"/>
              <a:buChar char="•"/>
            </a:pPr>
            <a:r>
              <a:rPr lang="en-US" dirty="0">
                <a:latin typeface="PT Serif" panose="020A0603040505020204" pitchFamily="18" charset="0"/>
              </a:rPr>
              <a:t>Transparent decision rules</a:t>
            </a:r>
          </a:p>
          <a:p>
            <a:pPr marL="285750" indent="-285750">
              <a:buFont typeface="Arial" panose="020B0604020202020204" pitchFamily="34" charset="0"/>
              <a:buChar char="•"/>
            </a:pPr>
            <a:r>
              <a:rPr lang="en-US" dirty="0">
                <a:latin typeface="PT Serif" panose="020A0603040505020204" pitchFamily="18" charset="0"/>
              </a:rPr>
              <a:t>Lower computational complexity</a:t>
            </a:r>
          </a:p>
          <a:p>
            <a:endParaRPr lang="en-US" dirty="0">
              <a:latin typeface="PT Serif" panose="020A0603040505020204" pitchFamily="18" charset="0"/>
            </a:endParaRPr>
          </a:p>
          <a:p>
            <a:r>
              <a:rPr lang="en-US" b="1" dirty="0">
                <a:latin typeface="PT Serif" panose="020A0603040505020204" pitchFamily="18" charset="0"/>
              </a:rPr>
              <a:t>Examples:</a:t>
            </a:r>
          </a:p>
          <a:p>
            <a:pPr marL="342900" indent="-342900">
              <a:buFont typeface="+mj-lt"/>
              <a:buAutoNum type="arabicPeriod"/>
            </a:pPr>
            <a:r>
              <a:rPr lang="en-US" dirty="0">
                <a:latin typeface="PT Serif" panose="020A0603040505020204" pitchFamily="18" charset="0"/>
              </a:rPr>
              <a:t>Linear Regression</a:t>
            </a:r>
          </a:p>
          <a:p>
            <a:pPr marL="342900" indent="-342900">
              <a:buFont typeface="+mj-lt"/>
              <a:buAutoNum type="arabicPeriod"/>
            </a:pPr>
            <a:r>
              <a:rPr lang="en-US" dirty="0">
                <a:latin typeface="PT Serif" panose="020A0603040505020204" pitchFamily="18" charset="0"/>
              </a:rPr>
              <a:t>Logistic Regression</a:t>
            </a:r>
          </a:p>
          <a:p>
            <a:pPr marL="342900" indent="-342900">
              <a:buFont typeface="+mj-lt"/>
              <a:buAutoNum type="arabicPeriod"/>
            </a:pPr>
            <a:r>
              <a:rPr lang="en-US" dirty="0">
                <a:latin typeface="PT Serif" panose="020A0603040505020204" pitchFamily="18" charset="0"/>
              </a:rPr>
              <a:t>Decision Trees (shallow)</a:t>
            </a:r>
          </a:p>
          <a:p>
            <a:endParaRPr lang="en-US" dirty="0">
              <a:latin typeface="PT Serif" panose="020A0603040505020204" pitchFamily="18" charset="0"/>
            </a:endParaRPr>
          </a:p>
          <a:p>
            <a:r>
              <a:rPr lang="en-US" b="1" dirty="0">
                <a:latin typeface="PT Serif" panose="020A0603040505020204" pitchFamily="18" charset="0"/>
              </a:rPr>
              <a:t>Advantage:</a:t>
            </a:r>
            <a:br>
              <a:rPr lang="en-US" dirty="0">
                <a:latin typeface="PT Serif" panose="020A0603040505020204" pitchFamily="18" charset="0"/>
              </a:rPr>
            </a:br>
            <a:r>
              <a:rPr lang="en-US" dirty="0">
                <a:latin typeface="PT Serif" panose="020A0603040505020204" pitchFamily="18" charset="0"/>
              </a:rPr>
              <a:t>Users can trace exactly how inputs lead to outputs.</a:t>
            </a:r>
          </a:p>
          <a:p>
            <a:endParaRPr lang="en-IN" dirty="0"/>
          </a:p>
        </p:txBody>
      </p:sp>
      <p:sp>
        <p:nvSpPr>
          <p:cNvPr id="7" name="TextBox 6">
            <a:extLst>
              <a:ext uri="{FF2B5EF4-FFF2-40B4-BE49-F238E27FC236}">
                <a16:creationId xmlns:a16="http://schemas.microsoft.com/office/drawing/2014/main" id="{FD369D84-982D-2260-7FAA-49B7B4459033}"/>
              </a:ext>
            </a:extLst>
          </p:cNvPr>
          <p:cNvSpPr txBox="1"/>
          <p:nvPr/>
        </p:nvSpPr>
        <p:spPr>
          <a:xfrm>
            <a:off x="990600" y="7239000"/>
            <a:ext cx="12268200" cy="646331"/>
          </a:xfrm>
          <a:prstGeom prst="rect">
            <a:avLst/>
          </a:prstGeom>
          <a:noFill/>
        </p:spPr>
        <p:txBody>
          <a:bodyPr wrap="square" rtlCol="0">
            <a:spAutoFit/>
          </a:bodyPr>
          <a:lstStyle/>
          <a:p>
            <a:r>
              <a:rPr lang="en-US" dirty="0"/>
              <a:t>Black box models prioritize performance, while white box models prioritize transparency.</a:t>
            </a:r>
            <a:br>
              <a:rPr lang="en-US" dirty="0"/>
            </a:br>
            <a:r>
              <a:rPr lang="en-US" dirty="0"/>
              <a:t>Explainable AI aims to make black box models more understandable.</a:t>
            </a:r>
            <a:endParaRPr lang="en-IN" dirty="0"/>
          </a:p>
        </p:txBody>
      </p:sp>
    </p:spTree>
    <p:extLst>
      <p:ext uri="{BB962C8B-B14F-4D97-AF65-F5344CB8AC3E}">
        <p14:creationId xmlns:p14="http://schemas.microsoft.com/office/powerpoint/2010/main" val="2197664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39347FB-508F-2935-5FA1-C5A74B83056C}"/>
              </a:ext>
            </a:extLst>
          </p:cNvPr>
          <p:cNvSpPr/>
          <p:nvPr/>
        </p:nvSpPr>
        <p:spPr>
          <a:xfrm>
            <a:off x="7315200" y="2225775"/>
            <a:ext cx="5370472" cy="45560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endParaRPr lang="en-IN">
              <a:solidFill>
                <a:schemeClr val="tx1"/>
              </a:solidFill>
              <a:latin typeface="PT Serif" panose="020A0603040505020204" pitchFamily="18" charset="0"/>
            </a:endParaRPr>
          </a:p>
        </p:txBody>
      </p:sp>
      <p:sp>
        <p:nvSpPr>
          <p:cNvPr id="5" name="Rectangle 4">
            <a:extLst>
              <a:ext uri="{FF2B5EF4-FFF2-40B4-BE49-F238E27FC236}">
                <a16:creationId xmlns:a16="http://schemas.microsoft.com/office/drawing/2014/main" id="{DF5EAB96-6E3B-9932-193F-7345AC5A21A3}"/>
              </a:ext>
            </a:extLst>
          </p:cNvPr>
          <p:cNvSpPr/>
          <p:nvPr/>
        </p:nvSpPr>
        <p:spPr>
          <a:xfrm>
            <a:off x="1441701" y="2204774"/>
            <a:ext cx="5263899" cy="457702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50000"/>
              </a:lnSpc>
            </a:pPr>
            <a:endParaRPr lang="en-IN">
              <a:solidFill>
                <a:schemeClr val="tx1"/>
              </a:solidFill>
              <a:latin typeface="PT Serif" panose="020A0603040505020204" pitchFamily="18" charset="0"/>
            </a:endParaRPr>
          </a:p>
        </p:txBody>
      </p:sp>
      <p:sp>
        <p:nvSpPr>
          <p:cNvPr id="2" name="object 2"/>
          <p:cNvSpPr txBox="1">
            <a:spLocks noGrp="1"/>
          </p:cNvSpPr>
          <p:nvPr>
            <p:ph type="title"/>
          </p:nvPr>
        </p:nvSpPr>
        <p:spPr>
          <a:xfrm>
            <a:off x="1295400" y="320021"/>
            <a:ext cx="13656055" cy="910057"/>
          </a:xfrm>
          <a:prstGeom prst="rect">
            <a:avLst/>
          </a:prstGeom>
          <a:noFill/>
        </p:spPr>
        <p:txBody>
          <a:bodyPr vert="horz" wrap="square" lIns="0" tIns="220853" rIns="0" bIns="0" rtlCol="0">
            <a:spAutoFit/>
          </a:bodyPr>
          <a:lstStyle/>
          <a:p>
            <a:pPr marL="0" indent="0" algn="l">
              <a:lnSpc>
                <a:spcPts val="5850"/>
              </a:lnSpc>
              <a:buNone/>
            </a:pPr>
            <a:r>
              <a:rPr lang="en-US" sz="3600" dirty="0">
                <a:solidFill>
                  <a:schemeClr val="tx1"/>
                </a:solidFill>
                <a:ea typeface="PT Serif" pitchFamily="34" charset="-122"/>
                <a:cs typeface="PT Serif" pitchFamily="34" charset="-120"/>
              </a:rPr>
              <a:t>Simple Example: Loan Approval</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804086" y="1371601"/>
            <a:ext cx="4876800" cy="762000"/>
          </a:xfrm>
          <a:prstGeom prst="rect">
            <a:avLst/>
          </a:prstGeom>
          <a:noFill/>
          <a:ln/>
        </p:spPr>
        <p:txBody>
          <a:bodyPr wrap="square" lIns="0" tIns="0" rIns="0" bIns="0" rtlCol="0" anchor="t"/>
          <a:lstStyle/>
          <a:p>
            <a:pPr marL="0" indent="0" algn="l">
              <a:lnSpc>
                <a:spcPct val="200000"/>
              </a:lnSpc>
              <a:buNone/>
            </a:pPr>
            <a:r>
              <a:rPr lang="en-US" sz="2400" b="1" dirty="0">
                <a:solidFill>
                  <a:schemeClr val="tx1"/>
                </a:solidFill>
                <a:latin typeface="PT Serif" panose="020A0603040505020204" pitchFamily="18" charset="0"/>
                <a:ea typeface="PT Serif" pitchFamily="34" charset="-122"/>
                <a:cs typeface="PT Serif" pitchFamily="34" charset="-120"/>
              </a:rPr>
              <a:t>Without XAI</a:t>
            </a:r>
          </a:p>
          <a:p>
            <a:pPr marL="0" indent="0" algn="l">
              <a:lnSpc>
                <a:spcPct val="200000"/>
              </a:lnSpc>
              <a:buNone/>
            </a:pPr>
            <a:endParaRPr lang="en-US" sz="2800"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772400" y="1295400"/>
            <a:ext cx="4724400" cy="4698301"/>
          </a:xfrm>
          <a:prstGeom prst="rect">
            <a:avLst/>
          </a:prstGeom>
          <a:noFill/>
          <a:ln/>
        </p:spPr>
        <p:txBody>
          <a:bodyPr wrap="square" lIns="0" tIns="0" rIns="0" bIns="0" rtlCol="0" anchor="t"/>
          <a:lstStyle/>
          <a:p>
            <a:pPr marL="0" indent="0" algn="l">
              <a:lnSpc>
                <a:spcPct val="200000"/>
              </a:lnSpc>
              <a:buNone/>
            </a:pPr>
            <a:r>
              <a:rPr lang="en-US" sz="2400" b="1" dirty="0">
                <a:solidFill>
                  <a:schemeClr val="tx1"/>
                </a:solidFill>
                <a:latin typeface="PT Serif" panose="020A0603040505020204" pitchFamily="18" charset="0"/>
                <a:ea typeface="PT Serif" pitchFamily="34" charset="-122"/>
                <a:cs typeface="PT Serif" pitchFamily="34" charset="-120"/>
              </a:rPr>
              <a:t>With XAI</a:t>
            </a:r>
          </a:p>
          <a:p>
            <a:pPr marL="0" indent="0" algn="l">
              <a:lnSpc>
                <a:spcPct val="200000"/>
              </a:lnSpc>
              <a:buNone/>
            </a:pPr>
            <a:endParaRPr lang="en-US" sz="2000" b="1" dirty="0">
              <a:solidFill>
                <a:schemeClr val="tx1"/>
              </a:solidFill>
              <a:latin typeface="PT Serif" panose="020A0603040505020204" pitchFamily="18" charset="0"/>
            </a:endParaRPr>
          </a:p>
          <a:p>
            <a:r>
              <a:rPr lang="en-US" dirty="0">
                <a:latin typeface="PT Serif" panose="020A0603040505020204" pitchFamily="18" charset="0"/>
              </a:rPr>
              <a:t>"Loan rejected due to low income and high debt ratio.“</a:t>
            </a:r>
          </a:p>
          <a:p>
            <a:endParaRPr lang="en-US" dirty="0">
              <a:latin typeface="PT Serif" panose="020A0603040505020204" pitchFamily="18" charset="0"/>
            </a:endParaRPr>
          </a:p>
          <a:p>
            <a:r>
              <a:rPr lang="en-US" b="1" dirty="0">
                <a:latin typeface="PT Serif" panose="020A0603040505020204" pitchFamily="18" charset="0"/>
              </a:rPr>
              <a:t>User Experience:</a:t>
            </a:r>
            <a:endParaRPr lang="en-US" dirty="0">
              <a:latin typeface="PT Serif" panose="020A0603040505020204" pitchFamily="18" charset="0"/>
            </a:endParaRPr>
          </a:p>
          <a:p>
            <a:pPr marL="342900" indent="-342900">
              <a:buFont typeface="Arial" panose="020B0604020202020204" pitchFamily="34" charset="0"/>
              <a:buChar char="•"/>
            </a:pPr>
            <a:r>
              <a:rPr lang="en-US" dirty="0">
                <a:latin typeface="PT Serif" panose="020A0603040505020204" pitchFamily="18" charset="0"/>
              </a:rPr>
              <a:t>Clear reasoning behind decision</a:t>
            </a:r>
          </a:p>
          <a:p>
            <a:pPr marL="342900" indent="-342900">
              <a:buFont typeface="Arial" panose="020B0604020202020204" pitchFamily="34" charset="0"/>
              <a:buChar char="•"/>
            </a:pPr>
            <a:r>
              <a:rPr lang="en-US" dirty="0">
                <a:latin typeface="PT Serif" panose="020A0603040505020204" pitchFamily="18" charset="0"/>
              </a:rPr>
              <a:t>Increased trust and transparency</a:t>
            </a:r>
          </a:p>
          <a:p>
            <a:pPr marL="342900" indent="-342900">
              <a:buFont typeface="Arial" panose="020B0604020202020204" pitchFamily="34" charset="0"/>
              <a:buChar char="•"/>
            </a:pPr>
            <a:r>
              <a:rPr lang="en-US" dirty="0">
                <a:latin typeface="PT Serif" panose="020A0603040505020204" pitchFamily="18" charset="0"/>
              </a:rPr>
              <a:t>Perception of fairness</a:t>
            </a:r>
          </a:p>
          <a:p>
            <a:pPr marL="342900" indent="-342900">
              <a:buFont typeface="Arial" panose="020B0604020202020204" pitchFamily="34" charset="0"/>
              <a:buChar char="•"/>
            </a:pPr>
            <a:r>
              <a:rPr lang="en-US" dirty="0">
                <a:latin typeface="PT Serif" panose="020A0603040505020204" pitchFamily="18" charset="0"/>
              </a:rPr>
              <a:t>Opportunity to improve future application</a:t>
            </a:r>
          </a:p>
          <a:p>
            <a:pPr marL="342900" indent="-342900">
              <a:buFont typeface="Arial" panose="020B0604020202020204" pitchFamily="34" charset="0"/>
              <a:buChar char="•"/>
            </a:pPr>
            <a:endParaRPr lang="en-US" dirty="0">
              <a:latin typeface="PT Serif" panose="020A0603040505020204" pitchFamily="18" charset="0"/>
            </a:endParaRPr>
          </a:p>
          <a:p>
            <a:endParaRPr lang="en-US" dirty="0">
              <a:latin typeface="PT Serif" panose="020A0603040505020204" pitchFamily="18" charset="0"/>
            </a:endParaRPr>
          </a:p>
          <a:p>
            <a:r>
              <a:rPr lang="en-US" dirty="0">
                <a:latin typeface="PT Serif" panose="020A0603040505020204" pitchFamily="18" charset="0"/>
              </a:rPr>
              <a:t> The explanation makes the decision understandable and actionable.</a:t>
            </a:r>
          </a:p>
          <a:p>
            <a:pPr marL="0" indent="0" algn="l">
              <a:lnSpc>
                <a:spcPct val="200000"/>
              </a:lnSpc>
              <a:buNone/>
            </a:pPr>
            <a:endParaRPr lang="en-US" sz="2400" dirty="0">
              <a:solidFill>
                <a:schemeClr val="tx1"/>
              </a:solidFill>
              <a:latin typeface="PT Serif" panose="020A0603040505020204" pitchFamily="18" charset="0"/>
            </a:endParaRPr>
          </a:p>
        </p:txBody>
      </p:sp>
      <p:sp>
        <p:nvSpPr>
          <p:cNvPr id="3" name="TextBox 2">
            <a:extLst>
              <a:ext uri="{FF2B5EF4-FFF2-40B4-BE49-F238E27FC236}">
                <a16:creationId xmlns:a16="http://schemas.microsoft.com/office/drawing/2014/main" id="{A972BEC2-F8EE-4E4B-82F4-DA52AD72C1AE}"/>
              </a:ext>
            </a:extLst>
          </p:cNvPr>
          <p:cNvSpPr txBox="1"/>
          <p:nvPr/>
        </p:nvSpPr>
        <p:spPr>
          <a:xfrm>
            <a:off x="1600200" y="2380128"/>
            <a:ext cx="4800600" cy="4247317"/>
          </a:xfrm>
          <a:prstGeom prst="rect">
            <a:avLst/>
          </a:prstGeom>
          <a:noFill/>
        </p:spPr>
        <p:txBody>
          <a:bodyPr wrap="square" rtlCol="0">
            <a:spAutoFit/>
          </a:bodyPr>
          <a:lstStyle/>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"Loan Rejected“</a:t>
            </a:r>
          </a:p>
          <a:p>
            <a:pPr marL="0" indent="0" algn="l">
              <a:lnSpc>
                <a:spcPct val="200000"/>
              </a:lnSpc>
              <a:buNone/>
            </a:pPr>
            <a:endParaRPr lang="en-US" sz="1800" dirty="0">
              <a:solidFill>
                <a:schemeClr val="tx1"/>
              </a:solidFill>
              <a:latin typeface="PT Serif" panose="020A0603040505020204" pitchFamily="18" charset="0"/>
            </a:endParaRPr>
          </a:p>
          <a:p>
            <a:r>
              <a:rPr lang="en-US" sz="1800" b="1" dirty="0">
                <a:latin typeface="PT Serif" panose="020A0603040505020204" pitchFamily="18" charset="0"/>
              </a:rPr>
              <a:t>User Experience:</a:t>
            </a:r>
            <a:endParaRPr lang="en-US" sz="1800" dirty="0">
              <a:latin typeface="PT Serif" panose="020A0603040505020204" pitchFamily="18" charset="0"/>
            </a:endParaRPr>
          </a:p>
          <a:p>
            <a:pPr marL="285750" indent="-285750">
              <a:buFont typeface="Arial" panose="020B0604020202020204" pitchFamily="34" charset="0"/>
              <a:buChar char="•"/>
            </a:pPr>
            <a:r>
              <a:rPr lang="en-US" sz="1800" dirty="0">
                <a:latin typeface="PT Serif" panose="020A0603040505020204" pitchFamily="18" charset="0"/>
              </a:rPr>
              <a:t>No reason provided</a:t>
            </a:r>
          </a:p>
          <a:p>
            <a:pPr marL="285750" indent="-285750">
              <a:buFont typeface="Arial" panose="020B0604020202020204" pitchFamily="34" charset="0"/>
              <a:buChar char="•"/>
            </a:pPr>
            <a:r>
              <a:rPr lang="en-US" sz="1800" dirty="0">
                <a:latin typeface="PT Serif" panose="020A0603040505020204" pitchFamily="18" charset="0"/>
              </a:rPr>
              <a:t>No transparency</a:t>
            </a:r>
          </a:p>
          <a:p>
            <a:pPr marL="285750" indent="-285750">
              <a:buFont typeface="Arial" panose="020B0604020202020204" pitchFamily="34" charset="0"/>
              <a:buChar char="•"/>
            </a:pPr>
            <a:r>
              <a:rPr lang="en-US" sz="1800" dirty="0">
                <a:latin typeface="PT Serif" panose="020A0603040505020204" pitchFamily="18" charset="0"/>
              </a:rPr>
              <a:t>User frustration and distrust</a:t>
            </a:r>
          </a:p>
          <a:p>
            <a:pPr marL="285750" indent="-285750">
              <a:buFont typeface="Arial" panose="020B0604020202020204" pitchFamily="34" charset="0"/>
              <a:buChar char="•"/>
            </a:pPr>
            <a:r>
              <a:rPr lang="en-US" sz="1800" dirty="0">
                <a:latin typeface="PT Serif" panose="020A0603040505020204" pitchFamily="18" charset="0"/>
              </a:rPr>
              <a:t>Difficult to challenge or appeal the decision</a:t>
            </a:r>
          </a:p>
          <a:p>
            <a:endParaRPr lang="en-US" sz="1800" dirty="0">
              <a:latin typeface="PT Serif" panose="020A0603040505020204" pitchFamily="18" charset="0"/>
            </a:endParaRPr>
          </a:p>
          <a:p>
            <a:endParaRPr lang="en-US" sz="1800" dirty="0">
              <a:latin typeface="PT Serif" panose="020A0603040505020204" pitchFamily="18" charset="0"/>
            </a:endParaRPr>
          </a:p>
          <a:p>
            <a:r>
              <a:rPr lang="en-US" sz="1800" dirty="0">
                <a:latin typeface="PT Serif" panose="020A0603040505020204" pitchFamily="18" charset="0"/>
              </a:rPr>
              <a:t> The model acts like a black box — prediction without justification.</a:t>
            </a:r>
          </a:p>
          <a:p>
            <a:endParaRPr lang="en-IN" dirty="0"/>
          </a:p>
        </p:txBody>
      </p:sp>
    </p:spTree>
    <p:extLst>
      <p:ext uri="{BB962C8B-B14F-4D97-AF65-F5344CB8AC3E}">
        <p14:creationId xmlns:p14="http://schemas.microsoft.com/office/powerpoint/2010/main" val="2100699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85235-1D50-FA42-92DF-FA1BD425188A}"/>
              </a:ext>
            </a:extLst>
          </p:cNvPr>
          <p:cNvSpPr>
            <a:spLocks noGrp="1"/>
          </p:cNvSpPr>
          <p:nvPr>
            <p:ph type="title"/>
          </p:nvPr>
        </p:nvSpPr>
        <p:spPr>
          <a:xfrm>
            <a:off x="487172" y="401522"/>
            <a:ext cx="13656055" cy="615553"/>
          </a:xfrm>
        </p:spPr>
        <p:txBody>
          <a:bodyPr/>
          <a:lstStyle/>
          <a:p>
            <a:r>
              <a:rPr lang="en-US" sz="4000" dirty="0">
                <a:solidFill>
                  <a:schemeClr val="tx1"/>
                </a:solidFill>
                <a:ea typeface="PT Serif" pitchFamily="34" charset="-122"/>
                <a:cs typeface="PT Serif" pitchFamily="34" charset="-120"/>
              </a:rPr>
              <a:t>Model Interpretability</a:t>
            </a:r>
            <a:endParaRPr lang="en-US" dirty="0"/>
          </a:p>
        </p:txBody>
      </p:sp>
      <p:sp>
        <p:nvSpPr>
          <p:cNvPr id="3" name="Content Placeholder 2">
            <a:extLst>
              <a:ext uri="{FF2B5EF4-FFF2-40B4-BE49-F238E27FC236}">
                <a16:creationId xmlns:a16="http://schemas.microsoft.com/office/drawing/2014/main" id="{AC8EC47D-E60E-AD40-87D6-0510F00060B5}"/>
              </a:ext>
            </a:extLst>
          </p:cNvPr>
          <p:cNvSpPr>
            <a:spLocks noGrp="1"/>
          </p:cNvSpPr>
          <p:nvPr>
            <p:ph sz="half" idx="2"/>
          </p:nvPr>
        </p:nvSpPr>
        <p:spPr>
          <a:xfrm>
            <a:off x="487172" y="1371600"/>
            <a:ext cx="12679680" cy="6247864"/>
          </a:xfrm>
        </p:spPr>
        <p:txBody>
          <a:bodyPr/>
          <a:lstStyle/>
          <a:p>
            <a:r>
              <a:rPr lang="en-IN" sz="1800" b="1" dirty="0"/>
              <a:t> </a:t>
            </a:r>
          </a:p>
          <a:p>
            <a:r>
              <a:rPr lang="en-IN" sz="2000" dirty="0"/>
              <a:t>Model interpretability can be understood at two complementary levels: global and local.</a:t>
            </a:r>
          </a:p>
          <a:p>
            <a:endParaRPr lang="en-IN" sz="2000" dirty="0"/>
          </a:p>
          <a:p>
            <a:r>
              <a:rPr lang="en-IN" sz="2000" b="1" dirty="0"/>
              <a:t>Global Interpretability</a:t>
            </a:r>
            <a:r>
              <a:rPr lang="en-IN" sz="2000" dirty="0"/>
              <a:t> refers to understanding how a model behaves across the entire dataset. </a:t>
            </a:r>
          </a:p>
          <a:p>
            <a:r>
              <a:rPr lang="en-IN" sz="2000" dirty="0"/>
              <a:t>It provides a comprehensive, big-picture view of how input features influence predictions overall. </a:t>
            </a:r>
          </a:p>
          <a:p>
            <a:endParaRPr lang="en-IN" sz="2000" dirty="0"/>
          </a:p>
          <a:p>
            <a:r>
              <a:rPr lang="en-IN" sz="2000" dirty="0"/>
              <a:t>This includes identifying which variables are most important, the direction of their influence, and how they interact. Methods such as SHAP are particularly strong in offering consistent global explanations derived from aggregated feature contributions.</a:t>
            </a:r>
          </a:p>
          <a:p>
            <a:endParaRPr lang="en-IN" sz="2000" dirty="0"/>
          </a:p>
          <a:p>
            <a:r>
              <a:rPr lang="en-IN" sz="2000" b="1" dirty="0"/>
              <a:t>Local Interpretability</a:t>
            </a:r>
            <a:r>
              <a:rPr lang="en-IN" sz="2000" dirty="0"/>
              <a:t> focuses on explaining a single prediction for an individual data point. Instead of </a:t>
            </a:r>
            <a:r>
              <a:rPr lang="en-IN" sz="2000" dirty="0" err="1"/>
              <a:t>analyzing</a:t>
            </a:r>
            <a:r>
              <a:rPr lang="en-IN" sz="2000" dirty="0"/>
              <a:t> overall model </a:t>
            </a:r>
            <a:r>
              <a:rPr lang="en-IN" sz="2000" dirty="0" err="1"/>
              <a:t>behavior</a:t>
            </a:r>
            <a:r>
              <a:rPr lang="en-IN" sz="2000" dirty="0"/>
              <a:t>, it answers the question: why did the model make this specific decision? </a:t>
            </a:r>
          </a:p>
          <a:p>
            <a:endParaRPr lang="en-IN" sz="2000" dirty="0"/>
          </a:p>
          <a:p>
            <a:r>
              <a:rPr lang="en-IN" sz="2000" dirty="0"/>
              <a:t>For example, in a loan approval model, local interpretability would explain why one particular applicant was approved or rejected. Techniques such as LIME approximate the model locally around that instance to provide an interpretable explanation.</a:t>
            </a:r>
          </a:p>
          <a:p>
            <a:endParaRPr lang="en-IN" sz="2000" dirty="0"/>
          </a:p>
          <a:p>
            <a:r>
              <a:rPr lang="en-IN" sz="2000" dirty="0"/>
              <a:t>In summary, global interpretability explains the model’s overall logic, while local interpretability explains individual decisions. Both perspectives are essential for building trustworthy and transparent AI systems.</a:t>
            </a:r>
          </a:p>
          <a:p>
            <a:endParaRPr lang="en-US" dirty="0"/>
          </a:p>
        </p:txBody>
      </p:sp>
    </p:spTree>
    <p:extLst>
      <p:ext uri="{BB962C8B-B14F-4D97-AF65-F5344CB8AC3E}">
        <p14:creationId xmlns:p14="http://schemas.microsoft.com/office/powerpoint/2010/main" val="3060239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1C286-A3DC-1E4C-9366-26B048047D8E}"/>
              </a:ext>
            </a:extLst>
          </p:cNvPr>
          <p:cNvSpPr>
            <a:spLocks noGrp="1"/>
          </p:cNvSpPr>
          <p:nvPr>
            <p:ph type="title"/>
          </p:nvPr>
        </p:nvSpPr>
        <p:spPr>
          <a:xfrm>
            <a:off x="487172" y="401522"/>
            <a:ext cx="13656055" cy="615553"/>
          </a:xfrm>
        </p:spPr>
        <p:txBody>
          <a:bodyPr/>
          <a:lstStyle/>
          <a:p>
            <a:r>
              <a:rPr lang="en-US" sz="4000" dirty="0">
                <a:solidFill>
                  <a:schemeClr val="tx1"/>
                </a:solidFill>
                <a:ea typeface="PT Serif" pitchFamily="34" charset="-122"/>
                <a:cs typeface="PT Serif" pitchFamily="34" charset="-120"/>
              </a:rPr>
              <a:t>Model Complexity  vs Interpretability Trade-off</a:t>
            </a:r>
            <a:endParaRPr lang="en-US" dirty="0"/>
          </a:p>
        </p:txBody>
      </p:sp>
      <p:sp>
        <p:nvSpPr>
          <p:cNvPr id="3" name="Content Placeholder 2">
            <a:extLst>
              <a:ext uri="{FF2B5EF4-FFF2-40B4-BE49-F238E27FC236}">
                <a16:creationId xmlns:a16="http://schemas.microsoft.com/office/drawing/2014/main" id="{1FBB79A4-0C92-A444-8C56-CCB3A4E56FD4}"/>
              </a:ext>
            </a:extLst>
          </p:cNvPr>
          <p:cNvSpPr>
            <a:spLocks noGrp="1"/>
          </p:cNvSpPr>
          <p:nvPr>
            <p:ph sz="half" idx="2"/>
          </p:nvPr>
        </p:nvSpPr>
        <p:spPr>
          <a:xfrm>
            <a:off x="487172" y="1143000"/>
            <a:ext cx="13898880" cy="5324535"/>
          </a:xfrm>
        </p:spPr>
        <p:txBody>
          <a:bodyPr/>
          <a:lstStyle/>
          <a:p>
            <a:endParaRPr lang="en-IN" sz="1800" b="1" dirty="0"/>
          </a:p>
          <a:p>
            <a:r>
              <a:rPr lang="en-IN" sz="2000" dirty="0"/>
              <a:t>This graph illustrates a fundamental trade-off in machine learning: as model complexity increases, interpretability typically decreases.</a:t>
            </a:r>
          </a:p>
          <a:p>
            <a:endParaRPr lang="en-IN" sz="2000" dirty="0"/>
          </a:p>
          <a:p>
            <a:r>
              <a:rPr lang="en-IN" sz="2000" b="1" dirty="0"/>
              <a:t>Simple Models:</a:t>
            </a:r>
            <a:r>
              <a:rPr lang="en-IN" sz="2000" dirty="0"/>
              <a:t> Linear regression and shallow decision trees are highly interpretable because their structure and parameters are directly understandable. However, they may lack the expressive capacity to capture complex nonlinear relationships.</a:t>
            </a:r>
          </a:p>
          <a:p>
            <a:endParaRPr lang="en-IN" sz="2000" dirty="0"/>
          </a:p>
          <a:p>
            <a:r>
              <a:rPr lang="en-IN" sz="2000" b="1" dirty="0"/>
              <a:t>Complex Models:</a:t>
            </a:r>
            <a:r>
              <a:rPr lang="en-IN" sz="2000" dirty="0"/>
              <a:t> Deep neural networks and ensemble methods such as </a:t>
            </a:r>
            <a:r>
              <a:rPr lang="en-IN" sz="2000" dirty="0" err="1"/>
              <a:t>XGBoost</a:t>
            </a:r>
            <a:r>
              <a:rPr lang="en-IN" sz="2000" dirty="0"/>
              <a:t> possess high representational power, enabling them to model intricate patterns. However, their internal decision processes are often opaque, leading to reduced interpretability.</a:t>
            </a:r>
          </a:p>
          <a:p>
            <a:endParaRPr lang="en-IN" sz="2000" dirty="0"/>
          </a:p>
          <a:p>
            <a:r>
              <a:rPr lang="en-IN" sz="2000" b="1" dirty="0"/>
              <a:t>The Goal of Explainable AI (XAI):</a:t>
            </a:r>
            <a:r>
              <a:rPr lang="en-IN" sz="2000" dirty="0"/>
              <a:t> Explainable AI seeks to expand the frontier</a:t>
            </a:r>
          </a:p>
          <a:p>
            <a:r>
              <a:rPr lang="en-IN" sz="2000" dirty="0"/>
              <a:t> by preserving the predictive strength of complex models while introducing </a:t>
            </a:r>
          </a:p>
          <a:p>
            <a:r>
              <a:rPr lang="en-IN" sz="2000" dirty="0"/>
              <a:t>methods that improve their transparency and interpretability.</a:t>
            </a:r>
          </a:p>
          <a:p>
            <a:endParaRPr lang="en-IN" sz="2000" dirty="0"/>
          </a:p>
          <a:p>
            <a:endParaRPr lang="en-US" dirty="0"/>
          </a:p>
        </p:txBody>
      </p:sp>
      <p:pic>
        <p:nvPicPr>
          <p:cNvPr id="5" name="Picture 4">
            <a:extLst>
              <a:ext uri="{FF2B5EF4-FFF2-40B4-BE49-F238E27FC236}">
                <a16:creationId xmlns:a16="http://schemas.microsoft.com/office/drawing/2014/main" id="{14BC6DF6-703B-E647-86F8-48DDDAB2B49A}"/>
              </a:ext>
            </a:extLst>
          </p:cNvPr>
          <p:cNvPicPr>
            <a:picLocks noChangeAspect="1"/>
          </p:cNvPicPr>
          <p:nvPr/>
        </p:nvPicPr>
        <p:blipFill>
          <a:blip r:embed="rId2"/>
          <a:stretch>
            <a:fillRect/>
          </a:stretch>
        </p:blipFill>
        <p:spPr>
          <a:xfrm>
            <a:off x="9829800" y="4343400"/>
            <a:ext cx="4556252" cy="3429000"/>
          </a:xfrm>
          <a:prstGeom prst="rect">
            <a:avLst/>
          </a:prstGeom>
        </p:spPr>
      </p:pic>
    </p:spTree>
    <p:extLst>
      <p:ext uri="{BB962C8B-B14F-4D97-AF65-F5344CB8AC3E}">
        <p14:creationId xmlns:p14="http://schemas.microsoft.com/office/powerpoint/2010/main" val="167578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41702" y="477689"/>
            <a:ext cx="13656055" cy="777008"/>
          </a:xfrm>
          <a:prstGeom prst="rect">
            <a:avLst/>
          </a:prstGeom>
          <a:noFill/>
        </p:spPr>
        <p:txBody>
          <a:bodyPr vert="horz" wrap="square" lIns="0" tIns="220853" rIns="0" bIns="0" rtlCol="0">
            <a:spAutoFit/>
          </a:bodyPr>
          <a:lstStyle/>
          <a:p>
            <a:pPr marL="0" indent="0" algn="l">
              <a:buNone/>
            </a:pPr>
            <a:r>
              <a:rPr lang="en-US" sz="3600" dirty="0">
                <a:solidFill>
                  <a:schemeClr val="tx1"/>
                </a:solidFill>
                <a:ea typeface="PT Serif" pitchFamily="34" charset="-122"/>
                <a:cs typeface="PT Serif" pitchFamily="34" charset="-120"/>
              </a:rPr>
              <a:t>Approaches in XAI</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702210" y="1702499"/>
            <a:ext cx="11937590" cy="4698301"/>
          </a:xfrm>
          <a:prstGeom prst="rect">
            <a:avLst/>
          </a:prstGeom>
          <a:noFill/>
          <a:ln/>
        </p:spPr>
        <p:txBody>
          <a:bodyPr wrap="square" lIns="0" tIns="0" rIns="0" bIns="0" rtlCol="0" anchor="t"/>
          <a:lstStyle/>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1. Intrinsic Interpretability</a:t>
            </a:r>
            <a:endParaRPr lang="en-US" sz="2400" dirty="0">
              <a:solidFill>
                <a:schemeClr val="tx1"/>
              </a:solidFill>
              <a:latin typeface="PT Serif" panose="020A0603040505020204" pitchFamily="18" charset="0"/>
            </a:endParaRPr>
          </a:p>
          <a:p>
            <a:pPr marL="0" indent="0" algn="l">
              <a:lnSpc>
                <a:spcPct val="200000"/>
              </a:lnSpc>
              <a:buNone/>
            </a:pPr>
            <a:r>
              <a:rPr lang="en-US" dirty="0">
                <a:solidFill>
                  <a:schemeClr val="tx1"/>
                </a:solidFill>
                <a:latin typeface="PT Serif" panose="020A0603040505020204" pitchFamily="18" charset="0"/>
                <a:ea typeface="DM Sans" pitchFamily="34" charset="-122"/>
                <a:cs typeface="DM Sans" pitchFamily="34" charset="-120"/>
              </a:rPr>
              <a:t>Model is simple by design, inherently understandable</a:t>
            </a:r>
            <a:endParaRPr lang="en-US" dirty="0">
              <a:solidFill>
                <a:schemeClr val="tx1"/>
              </a:solidFill>
              <a:latin typeface="PT Serif" panose="020A0603040505020204" pitchFamily="18" charset="0"/>
            </a:endParaRPr>
          </a:p>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2. Post-hoc Interpretability</a:t>
            </a:r>
            <a:endParaRPr lang="en-US" sz="2400" dirty="0">
              <a:solidFill>
                <a:schemeClr val="tx1"/>
              </a:solidFill>
              <a:latin typeface="PT Serif" panose="020A0603040505020204" pitchFamily="18" charset="0"/>
            </a:endParaRPr>
          </a:p>
          <a:p>
            <a:pPr marL="0" indent="0" algn="l">
              <a:lnSpc>
                <a:spcPct val="200000"/>
              </a:lnSpc>
              <a:buNone/>
            </a:pPr>
            <a:r>
              <a:rPr lang="en-US" dirty="0">
                <a:solidFill>
                  <a:schemeClr val="tx1"/>
                </a:solidFill>
                <a:latin typeface="PT Serif" panose="020A0603040505020204" pitchFamily="18" charset="0"/>
                <a:ea typeface="DM Sans" pitchFamily="34" charset="-122"/>
                <a:cs typeface="DM Sans" pitchFamily="34" charset="-120"/>
              </a:rPr>
              <a:t>Explain complex models after training using specialized techniques</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a:p>
            <a:pPr marL="0" indent="0" algn="l">
              <a:lnSpc>
                <a:spcPct val="200000"/>
              </a:lnSpc>
              <a:buNone/>
            </a:pPr>
            <a:endParaRPr lang="en-US" sz="1800" dirty="0">
              <a:solidFill>
                <a:schemeClr val="tx1"/>
              </a:solidFill>
              <a:latin typeface="PT Serif" panose="020A0603040505020204" pitchFamily="18" charset="0"/>
            </a:endParaRPr>
          </a:p>
          <a:p>
            <a:pPr marL="0" indent="0" algn="l">
              <a:lnSpc>
                <a:spcPct val="200000"/>
              </a:lnSpc>
              <a:buNone/>
            </a:pPr>
            <a:endParaRPr lang="en-US" sz="2800"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8277962" y="1677449"/>
            <a:ext cx="4165190" cy="4698301"/>
          </a:xfrm>
          <a:prstGeom prst="rect">
            <a:avLst/>
          </a:prstGeom>
          <a:noFill/>
          <a:ln/>
        </p:spPr>
        <p:txBody>
          <a:bodyPr wrap="square" lIns="0" tIns="0" rIns="0" bIns="0" rtlCol="0" anchor="t"/>
          <a:lstStyle/>
          <a:p>
            <a:pPr marL="0" indent="0" algn="l">
              <a:lnSpc>
                <a:spcPct val="200000"/>
              </a:lnSpc>
              <a:buNone/>
            </a:pPr>
            <a:endParaRPr lang="en-US" sz="2400" dirty="0">
              <a:solidFill>
                <a:schemeClr val="tx1"/>
              </a:solidFill>
              <a:latin typeface="PT Serif" panose="020A0603040505020204" pitchFamily="18" charset="0"/>
            </a:endParaRPr>
          </a:p>
        </p:txBody>
      </p:sp>
      <p:sp>
        <p:nvSpPr>
          <p:cNvPr id="11" name="TextBox 10">
            <a:extLst>
              <a:ext uri="{FF2B5EF4-FFF2-40B4-BE49-F238E27FC236}">
                <a16:creationId xmlns:a16="http://schemas.microsoft.com/office/drawing/2014/main" id="{D09629B0-8306-33D4-370A-7D623F4F82BF}"/>
              </a:ext>
            </a:extLst>
          </p:cNvPr>
          <p:cNvSpPr txBox="1"/>
          <p:nvPr/>
        </p:nvSpPr>
        <p:spPr>
          <a:xfrm>
            <a:off x="1708388" y="7010400"/>
            <a:ext cx="7552592" cy="567656"/>
          </a:xfrm>
          <a:prstGeom prst="rect">
            <a:avLst/>
          </a:prstGeom>
          <a:noFill/>
        </p:spPr>
        <p:txBody>
          <a:bodyPr wrap="square">
            <a:spAutoFit/>
          </a:bodyPr>
          <a:lstStyle/>
          <a:p>
            <a:pPr marL="0" indent="0" algn="l">
              <a:lnSpc>
                <a:spcPct val="200000"/>
              </a:lnSpc>
              <a:buNone/>
            </a:pPr>
            <a:r>
              <a:rPr lang="en-US" sz="1800" b="1" dirty="0">
                <a:solidFill>
                  <a:schemeClr val="tx1"/>
                </a:solidFill>
                <a:latin typeface="PT Serif" panose="020A0603040505020204" pitchFamily="18" charset="0"/>
                <a:ea typeface="DM Sans" pitchFamily="34" charset="-122"/>
                <a:cs typeface="DM Sans" pitchFamily="34" charset="-120"/>
              </a:rPr>
              <a:t>NOTE : LIME and SHAP fall under Post-hoc methods</a:t>
            </a:r>
            <a:endParaRPr lang="en-US" sz="1800" b="1" dirty="0">
              <a:solidFill>
                <a:schemeClr val="tx1"/>
              </a:solidFill>
              <a:latin typeface="PT Serif" panose="020A0603040505020204" pitchFamily="18" charset="0"/>
            </a:endParaRPr>
          </a:p>
        </p:txBody>
      </p:sp>
      <p:graphicFrame>
        <p:nvGraphicFramePr>
          <p:cNvPr id="3" name="Table 2">
            <a:extLst>
              <a:ext uri="{FF2B5EF4-FFF2-40B4-BE49-F238E27FC236}">
                <a16:creationId xmlns:a16="http://schemas.microsoft.com/office/drawing/2014/main" id="{70DAC082-CC7B-DBB6-1238-0F60132B94F0}"/>
              </a:ext>
            </a:extLst>
          </p:cNvPr>
          <p:cNvGraphicFramePr>
            <a:graphicFrameLocks noGrp="1"/>
          </p:cNvGraphicFramePr>
          <p:nvPr>
            <p:extLst>
              <p:ext uri="{D42A27DB-BD31-4B8C-83A1-F6EECF244321}">
                <p14:modId xmlns:p14="http://schemas.microsoft.com/office/powerpoint/2010/main" val="4262701937"/>
              </p:ext>
            </p:extLst>
          </p:nvPr>
        </p:nvGraphicFramePr>
        <p:xfrm>
          <a:off x="1683675" y="4669548"/>
          <a:ext cx="10287000" cy="1706202"/>
        </p:xfrm>
        <a:graphic>
          <a:graphicData uri="http://schemas.openxmlformats.org/drawingml/2006/table">
            <a:tbl>
              <a:tblPr firstRow="1" bandRow="1">
                <a:tableStyleId>{073A0DAA-6AF3-43AB-8588-CEC1D06C72B9}</a:tableStyleId>
              </a:tblPr>
              <a:tblGrid>
                <a:gridCol w="5143500">
                  <a:extLst>
                    <a:ext uri="{9D8B030D-6E8A-4147-A177-3AD203B41FA5}">
                      <a16:colId xmlns:a16="http://schemas.microsoft.com/office/drawing/2014/main" val="1462427505"/>
                    </a:ext>
                  </a:extLst>
                </a:gridCol>
                <a:gridCol w="5143500">
                  <a:extLst>
                    <a:ext uri="{9D8B030D-6E8A-4147-A177-3AD203B41FA5}">
                      <a16:colId xmlns:a16="http://schemas.microsoft.com/office/drawing/2014/main" val="4153282619"/>
                    </a:ext>
                  </a:extLst>
                </a:gridCol>
              </a:tblGrid>
              <a:tr h="568734">
                <a:tc>
                  <a:txBody>
                    <a:bodyPr/>
                    <a:lstStyle/>
                    <a:p>
                      <a:pPr algn="ctr">
                        <a:buNone/>
                      </a:pPr>
                      <a:r>
                        <a:rPr lang="en-IN" sz="2000" dirty="0"/>
                        <a:t>Intrinsic</a:t>
                      </a:r>
                      <a:endParaRPr lang="en-IN" sz="2000" dirty="0">
                        <a:latin typeface="PT Serif" panose="020A0603040505020204" pitchFamily="18" charset="0"/>
                      </a:endParaRPr>
                    </a:p>
                  </a:txBody>
                  <a:tcPr anchor="ctr"/>
                </a:tc>
                <a:tc>
                  <a:txBody>
                    <a:bodyPr/>
                    <a:lstStyle/>
                    <a:p>
                      <a:pPr algn="ctr">
                        <a:buNone/>
                      </a:pPr>
                      <a:r>
                        <a:rPr lang="en-IN" sz="2000" dirty="0"/>
                        <a:t>Post-hoc</a:t>
                      </a:r>
                      <a:endParaRPr lang="en-IN" sz="2000" dirty="0">
                        <a:latin typeface="PT Serif" panose="020A0603040505020204" pitchFamily="18" charset="0"/>
                      </a:endParaRPr>
                    </a:p>
                  </a:txBody>
                  <a:tcPr anchor="ctr"/>
                </a:tc>
                <a:extLst>
                  <a:ext uri="{0D108BD9-81ED-4DB2-BD59-A6C34878D82A}">
                    <a16:rowId xmlns:a16="http://schemas.microsoft.com/office/drawing/2014/main" val="1180315361"/>
                  </a:ext>
                </a:extLst>
              </a:tr>
              <a:tr h="568734">
                <a:tc>
                  <a:txBody>
                    <a:bodyPr/>
                    <a:lstStyle/>
                    <a:p>
                      <a:pPr algn="ctr">
                        <a:buNone/>
                      </a:pPr>
                      <a:r>
                        <a:rPr lang="en-IN"/>
                        <a:t>Simple but limited power</a:t>
                      </a:r>
                      <a:endParaRPr lang="en-IN">
                        <a:latin typeface="PT Serif" panose="020A0603040505020204" pitchFamily="18" charset="0"/>
                      </a:endParaRPr>
                    </a:p>
                  </a:txBody>
                  <a:tcPr anchor="ctr"/>
                </a:tc>
                <a:tc>
                  <a:txBody>
                    <a:bodyPr/>
                    <a:lstStyle/>
                    <a:p>
                      <a:pPr algn="ctr">
                        <a:buNone/>
                      </a:pPr>
                      <a:r>
                        <a:rPr lang="en-US"/>
                        <a:t>Works with complex high-accuracy models</a:t>
                      </a:r>
                      <a:endParaRPr lang="en-US">
                        <a:latin typeface="PT Serif" panose="020A0603040505020204" pitchFamily="18" charset="0"/>
                      </a:endParaRPr>
                    </a:p>
                  </a:txBody>
                  <a:tcPr anchor="ctr"/>
                </a:tc>
                <a:extLst>
                  <a:ext uri="{0D108BD9-81ED-4DB2-BD59-A6C34878D82A}">
                    <a16:rowId xmlns:a16="http://schemas.microsoft.com/office/drawing/2014/main" val="83459405"/>
                  </a:ext>
                </a:extLst>
              </a:tr>
              <a:tr h="568734">
                <a:tc>
                  <a:txBody>
                    <a:bodyPr/>
                    <a:lstStyle/>
                    <a:p>
                      <a:pPr algn="ctr">
                        <a:buNone/>
                      </a:pPr>
                      <a:r>
                        <a:rPr lang="en-IN"/>
                        <a:t>Transparent by design</a:t>
                      </a:r>
                      <a:endParaRPr lang="en-IN">
                        <a:latin typeface="PT Serif" panose="020A0603040505020204" pitchFamily="18" charset="0"/>
                      </a:endParaRPr>
                    </a:p>
                  </a:txBody>
                  <a:tcPr anchor="ctr"/>
                </a:tc>
                <a:tc>
                  <a:txBody>
                    <a:bodyPr/>
                    <a:lstStyle/>
                    <a:p>
                      <a:pPr algn="ctr">
                        <a:buNone/>
                      </a:pPr>
                      <a:r>
                        <a:rPr lang="en-IN" dirty="0"/>
                        <a:t>Requires explanation techniques</a:t>
                      </a:r>
                      <a:endParaRPr lang="en-IN" dirty="0">
                        <a:latin typeface="PT Serif" panose="020A0603040505020204" pitchFamily="18" charset="0"/>
                      </a:endParaRPr>
                    </a:p>
                  </a:txBody>
                  <a:tcPr anchor="ctr"/>
                </a:tc>
                <a:extLst>
                  <a:ext uri="{0D108BD9-81ED-4DB2-BD59-A6C34878D82A}">
                    <a16:rowId xmlns:a16="http://schemas.microsoft.com/office/drawing/2014/main" val="3628600307"/>
                  </a:ext>
                </a:extLst>
              </a:tr>
            </a:tbl>
          </a:graphicData>
        </a:graphic>
      </p:graphicFrame>
    </p:spTree>
    <p:extLst>
      <p:ext uri="{BB962C8B-B14F-4D97-AF65-F5344CB8AC3E}">
        <p14:creationId xmlns:p14="http://schemas.microsoft.com/office/powerpoint/2010/main" val="2209903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24716" y="327906"/>
            <a:ext cx="13656055" cy="997761"/>
          </a:xfrm>
          <a:prstGeom prst="rect">
            <a:avLst/>
          </a:prstGeom>
        </p:spPr>
        <p:txBody>
          <a:bodyPr vert="horz" wrap="square" lIns="0" tIns="439471" rIns="0" bIns="0" rtlCol="0">
            <a:spAutoFit/>
          </a:bodyPr>
          <a:lstStyle/>
          <a:p>
            <a:pPr marL="0" indent="0" algn="l">
              <a:buNone/>
            </a:pPr>
            <a:r>
              <a:rPr lang="en-US" sz="3600" dirty="0">
                <a:solidFill>
                  <a:schemeClr val="tx1"/>
                </a:solidFill>
                <a:ea typeface="PT Serif" pitchFamily="34" charset="-122"/>
                <a:cs typeface="PT Serif" pitchFamily="34" charset="-120"/>
              </a:rPr>
              <a:t>Introduction to LIME</a:t>
            </a:r>
            <a:endParaRPr lang="en-US" sz="3600" dirty="0">
              <a:solidFill>
                <a:schemeClr val="tx1"/>
              </a:solidFill>
            </a:endParaRPr>
          </a:p>
        </p:txBody>
      </p:sp>
      <p:sp>
        <p:nvSpPr>
          <p:cNvPr id="13" name="Shape 5">
            <a:extLst>
              <a:ext uri="{FF2B5EF4-FFF2-40B4-BE49-F238E27FC236}">
                <a16:creationId xmlns:a16="http://schemas.microsoft.com/office/drawing/2014/main" id="{E7C49C67-C298-4068-CA76-A4C08A84BF5C}"/>
              </a:ext>
            </a:extLst>
          </p:cNvPr>
          <p:cNvSpPr/>
          <p:nvPr/>
        </p:nvSpPr>
        <p:spPr>
          <a:xfrm>
            <a:off x="5249508" y="2931737"/>
            <a:ext cx="4164095" cy="4231063"/>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64334" y="2983320"/>
            <a:ext cx="3976821" cy="486528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Model-Agnostic</a:t>
            </a:r>
            <a:endParaRPr lang="en-US" dirty="0">
              <a:latin typeface="PT Serif" panose="020A0603040505020204" pitchFamily="18" charset="0"/>
            </a:endParaRPr>
          </a:p>
          <a:p>
            <a:pPr marL="285750" indent="-285750" algn="l">
              <a:buFont typeface="Arial" panose="020B0604020202020204" pitchFamily="34" charset="0"/>
              <a:buChar char="•"/>
            </a:pPr>
            <a:r>
              <a:rPr lang="en-US" dirty="0">
                <a:solidFill>
                  <a:schemeClr val="tx1"/>
                </a:solidFill>
                <a:latin typeface="PT Serif" panose="020A0603040505020204" pitchFamily="18" charset="0"/>
                <a:ea typeface="DM Sans" pitchFamily="34" charset="-122"/>
                <a:cs typeface="DM Sans" pitchFamily="34" charset="-120"/>
              </a:rPr>
              <a:t>Works with any model type</a:t>
            </a:r>
          </a:p>
          <a:p>
            <a:pPr marL="285750" indent="-285750">
              <a:buFont typeface="Arial" panose="020B0604020202020204" pitchFamily="34" charset="0"/>
              <a:buChar char="•"/>
            </a:pPr>
            <a:r>
              <a:rPr lang="en-US" dirty="0">
                <a:latin typeface="PT Serif" panose="020A0603040505020204" pitchFamily="18" charset="0"/>
              </a:rPr>
              <a:t>Compatible with black-box models</a:t>
            </a:r>
          </a:p>
          <a:p>
            <a:pPr marL="285750" indent="-285750">
              <a:buFont typeface="Arial" panose="020B0604020202020204" pitchFamily="34" charset="0"/>
              <a:buChar char="•"/>
            </a:pPr>
            <a:r>
              <a:rPr lang="en-US" dirty="0">
                <a:latin typeface="PT Serif" panose="020A0603040505020204" pitchFamily="18" charset="0"/>
              </a:rPr>
              <a:t>No need to access internal model structure</a:t>
            </a:r>
          </a:p>
          <a:p>
            <a:pPr marL="285750" indent="-285750">
              <a:buFont typeface="Arial" panose="020B0604020202020204" pitchFamily="34" charset="0"/>
              <a:buChar char="•"/>
            </a:pPr>
            <a:r>
              <a:rPr lang="en-US" dirty="0">
                <a:latin typeface="PT Serif" panose="020A0603040505020204" pitchFamily="18" charset="0"/>
              </a:rPr>
              <a:t>Works with neural networks, ensembles, SVM, etc.</a:t>
            </a:r>
          </a:p>
          <a:p>
            <a:pPr marL="285750" indent="-285750">
              <a:buFont typeface="Arial" panose="020B0604020202020204" pitchFamily="34" charset="0"/>
              <a:buChar char="•"/>
            </a:pPr>
            <a:endParaRPr lang="en-US" dirty="0">
              <a:latin typeface="PT Serif" panose="020A0603040505020204" pitchFamily="18" charset="0"/>
            </a:endParaRPr>
          </a:p>
          <a:p>
            <a:r>
              <a:rPr lang="en-US" dirty="0">
                <a:latin typeface="PT Serif" panose="020A0603040505020204" pitchFamily="18" charset="0"/>
              </a:rPr>
              <a:t> Treats model as a prediction function only.</a:t>
            </a:r>
          </a:p>
          <a:p>
            <a:pPr marL="0" indent="0" algn="l">
              <a:lnSpc>
                <a:spcPct val="200000"/>
              </a:lnSpc>
              <a:buNone/>
            </a:pP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4742724"/>
            <a:ext cx="3818692" cy="127015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232665" y="2905790"/>
            <a:ext cx="3976821" cy="4257010"/>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468258" y="2966907"/>
            <a:ext cx="3723974"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Surrogate Model</a:t>
            </a:r>
          </a:p>
          <a:p>
            <a:pPr marL="285750" indent="-285750">
              <a:buFont typeface="Arial" panose="020B0604020202020204" pitchFamily="34" charset="0"/>
              <a:buChar char="•"/>
            </a:pPr>
            <a:r>
              <a:rPr lang="en-US" dirty="0">
                <a:latin typeface="PT Serif" panose="020A0603040505020204" pitchFamily="18" charset="0"/>
              </a:rPr>
              <a:t>Generates synthetic data near the selected instance</a:t>
            </a:r>
          </a:p>
          <a:p>
            <a:pPr marL="285750" indent="-285750">
              <a:buFont typeface="Arial" panose="020B0604020202020204" pitchFamily="34" charset="0"/>
              <a:buChar char="•"/>
            </a:pPr>
            <a:r>
              <a:rPr lang="en-US" dirty="0">
                <a:latin typeface="PT Serif" panose="020A0603040505020204" pitchFamily="18" charset="0"/>
              </a:rPr>
              <a:t>Fits an interpretable model (e.g., linear regression) locally</a:t>
            </a:r>
          </a:p>
          <a:p>
            <a:pPr marL="285750" indent="-285750">
              <a:buFont typeface="Arial" panose="020B0604020202020204" pitchFamily="34" charset="0"/>
              <a:buChar char="•"/>
            </a:pPr>
            <a:r>
              <a:rPr lang="en-US" dirty="0">
                <a:latin typeface="PT Serif" panose="020A0603040505020204" pitchFamily="18" charset="0"/>
              </a:rPr>
              <a:t>Approximates complex decision boundary nearby</a:t>
            </a:r>
          </a:p>
          <a:p>
            <a:pPr marL="285750" indent="-285750" algn="l">
              <a:buFont typeface="Arial" panose="020B0604020202020204" pitchFamily="34" charset="0"/>
              <a:buChar char="•"/>
            </a:pPr>
            <a:r>
              <a:rPr lang="en-US" dirty="0">
                <a:solidFill>
                  <a:schemeClr val="tx1"/>
                </a:solidFill>
                <a:latin typeface="PT Serif" panose="020A0603040505020204" pitchFamily="18" charset="0"/>
              </a:rPr>
              <a:t>Creates simple model around prediction.</a:t>
            </a:r>
          </a:p>
          <a:p>
            <a:pPr marL="285750" indent="-285750">
              <a:buFont typeface="Arial" panose="020B0604020202020204" pitchFamily="34" charset="0"/>
              <a:buChar char="•"/>
            </a:pPr>
            <a:endParaRPr lang="en-US" dirty="0">
              <a:latin typeface="PT Serif" panose="020A0603040505020204" pitchFamily="18" charset="0"/>
            </a:endParaRPr>
          </a:p>
          <a:p>
            <a:r>
              <a:rPr lang="en-US" dirty="0">
                <a:latin typeface="PT Serif" panose="020A0603040505020204" pitchFamily="18" charset="0"/>
              </a:rPr>
              <a:t>Builds a local approximation of the black-box model.</a:t>
            </a:r>
          </a:p>
          <a:p>
            <a:pPr marL="0" indent="0" algn="l">
              <a:lnSpc>
                <a:spcPct val="200000"/>
              </a:lnSpc>
              <a:buNone/>
            </a:pP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655332"/>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21" name="Shape 2">
            <a:extLst>
              <a:ext uri="{FF2B5EF4-FFF2-40B4-BE49-F238E27FC236}">
                <a16:creationId xmlns:a16="http://schemas.microsoft.com/office/drawing/2014/main" id="{5FE26A02-BF48-BE3A-0BC6-D1E3F1CF2B05}"/>
              </a:ext>
            </a:extLst>
          </p:cNvPr>
          <p:cNvSpPr/>
          <p:nvPr/>
        </p:nvSpPr>
        <p:spPr>
          <a:xfrm>
            <a:off x="701985" y="2905789"/>
            <a:ext cx="3976821" cy="4257012"/>
          </a:xfrm>
          <a:prstGeom prst="roundRect">
            <a:avLst>
              <a:gd name="adj" fmla="val 1410"/>
            </a:avLst>
          </a:prstGeom>
          <a:solidFill>
            <a:srgbClr val="F2EEEE"/>
          </a:solidFill>
          <a:ln/>
        </p:spPr>
        <p:txBody>
          <a:bodyPr/>
          <a:lstStyle/>
          <a:p>
            <a:pPr algn="l">
              <a:lnSpc>
                <a:spcPct val="200000"/>
              </a:lnSpc>
            </a:pPr>
            <a:endParaRPr lang="en-IN"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933843" y="2931738"/>
            <a:ext cx="3626798"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Local Focus</a:t>
            </a:r>
            <a:endParaRPr lang="en-US" sz="2400" dirty="0">
              <a:solidFill>
                <a:schemeClr val="tx1"/>
              </a:solidFill>
              <a:latin typeface="PT Serif" panose="020A0603040505020204" pitchFamily="18" charset="0"/>
            </a:endParaRPr>
          </a:p>
          <a:p>
            <a:pPr marL="285750" indent="-285750" algn="l">
              <a:buFont typeface="Arial" panose="020B0604020202020204" pitchFamily="34" charset="0"/>
              <a:buChar char="•"/>
            </a:pPr>
            <a:r>
              <a:rPr lang="en-US" sz="1800" dirty="0">
                <a:solidFill>
                  <a:schemeClr val="tx1"/>
                </a:solidFill>
                <a:latin typeface="PT Serif" panose="020A0603040505020204" pitchFamily="18" charset="0"/>
                <a:ea typeface="DM Sans" pitchFamily="34" charset="-122"/>
                <a:cs typeface="DM Sans" pitchFamily="34" charset="-120"/>
              </a:rPr>
              <a:t>Explains one prediction at a time.</a:t>
            </a:r>
          </a:p>
          <a:p>
            <a:pPr marL="285750" indent="-285750">
              <a:buFont typeface="Arial" panose="020B0604020202020204" pitchFamily="34" charset="0"/>
              <a:buChar char="•"/>
            </a:pPr>
            <a:r>
              <a:rPr lang="en-US" dirty="0">
                <a:latin typeface="PT Serif" panose="020A0603040505020204" pitchFamily="18" charset="0"/>
              </a:rPr>
              <a:t>Identifies which features influenced this specific decision</a:t>
            </a:r>
          </a:p>
          <a:p>
            <a:pPr marL="285750" indent="-285750">
              <a:buFont typeface="Arial" panose="020B0604020202020204" pitchFamily="34" charset="0"/>
              <a:buChar char="•"/>
            </a:pPr>
            <a:r>
              <a:rPr lang="en-US" dirty="0">
                <a:latin typeface="PT Serif" panose="020A0603040505020204" pitchFamily="18" charset="0"/>
              </a:rPr>
              <a:t>Does not explain overall model behavior</a:t>
            </a:r>
          </a:p>
          <a:p>
            <a:endParaRPr lang="en-US" dirty="0">
              <a:latin typeface="PT Serif" panose="020A0603040505020204" pitchFamily="18" charset="0"/>
            </a:endParaRPr>
          </a:p>
          <a:p>
            <a:r>
              <a:rPr lang="en-US" dirty="0">
                <a:latin typeface="PT Serif" panose="020A0603040505020204" pitchFamily="18" charset="0"/>
              </a:rPr>
              <a:t> Answers: </a:t>
            </a:r>
            <a:r>
              <a:rPr lang="en-US" i="1" dirty="0">
                <a:latin typeface="PT Serif" panose="020A0603040505020204" pitchFamily="18" charset="0"/>
              </a:rPr>
              <a:t>Why did the model predict this for this instance?</a:t>
            </a:r>
            <a:endParaRPr lang="en-US" dirty="0">
              <a:latin typeface="PT Serif" panose="020A0603040505020204" pitchFamily="18" charset="0"/>
            </a:endParaRPr>
          </a:p>
          <a:p>
            <a:pPr marL="0" indent="0" algn="l">
              <a:lnSpc>
                <a:spcPct val="200000"/>
              </a:lnSpc>
              <a:buNone/>
            </a:pPr>
            <a:endParaRPr lang="en-US" sz="1800" dirty="0">
              <a:solidFill>
                <a:schemeClr val="tx1"/>
              </a:solidFill>
              <a:latin typeface="PT Serif" panose="020A0603040505020204" pitchFamily="18" charset="0"/>
              <a:ea typeface="DM Sans" pitchFamily="34" charset="-122"/>
              <a:cs typeface="DM Sans" pitchFamily="34" charset="-120"/>
            </a:endParaRPr>
          </a:p>
          <a:p>
            <a:pPr marL="0" indent="0" algn="l">
              <a:lnSpc>
                <a:spcPct val="200000"/>
              </a:lnSpc>
              <a:buNone/>
            </a:pPr>
            <a:endParaRPr lang="en-US" sz="1800" dirty="0">
              <a:solidFill>
                <a:schemeClr val="tx1"/>
              </a:solidFill>
              <a:latin typeface="PT Serif" panose="020A0603040505020204" pitchFamily="18" charset="0"/>
              <a:ea typeface="DM Sans" pitchFamily="34" charset="-122"/>
              <a:cs typeface="DM Sans" pitchFamily="34" charset="-120"/>
            </a:endParaRPr>
          </a:p>
          <a:p>
            <a:pPr marL="0" indent="0" algn="l">
              <a:lnSpc>
                <a:spcPct val="200000"/>
              </a:lnSpc>
              <a:buNone/>
            </a:pPr>
            <a:endParaRPr lang="en-US" sz="1800" dirty="0">
              <a:solidFill>
                <a:schemeClr val="tx1"/>
              </a:solidFill>
              <a:latin typeface="PT Serif" panose="020A0603040505020204" pitchFamily="18" charset="0"/>
            </a:endParaRPr>
          </a:p>
          <a:p>
            <a:pPr algn="l">
              <a:lnSpc>
                <a:spcPct val="200000"/>
              </a:lnSpc>
            </a:pPr>
            <a:r>
              <a:rPr lang="en-US" dirty="0">
                <a:solidFill>
                  <a:schemeClr val="tx1"/>
                </a:solidFill>
                <a:latin typeface="PT Serif" panose="020A0603040505020204" pitchFamily="18" charset="0"/>
              </a:rPr>
              <a:t>	</a:t>
            </a:r>
          </a:p>
        </p:txBody>
      </p:sp>
      <p:sp>
        <p:nvSpPr>
          <p:cNvPr id="19" name="TextBox 18">
            <a:extLst>
              <a:ext uri="{FF2B5EF4-FFF2-40B4-BE49-F238E27FC236}">
                <a16:creationId xmlns:a16="http://schemas.microsoft.com/office/drawing/2014/main" id="{6ED7C590-8D16-0ED7-FC16-BD2B6BA68793}"/>
              </a:ext>
            </a:extLst>
          </p:cNvPr>
          <p:cNvSpPr txBox="1"/>
          <p:nvPr/>
        </p:nvSpPr>
        <p:spPr>
          <a:xfrm>
            <a:off x="701985" y="1561046"/>
            <a:ext cx="7315200" cy="619657"/>
          </a:xfrm>
          <a:prstGeom prst="rect">
            <a:avLst/>
          </a:prstGeom>
          <a:noFill/>
        </p:spPr>
        <p:txBody>
          <a:bodyPr wrap="square">
            <a:spAutoFit/>
          </a:bodyPr>
          <a:lstStyle/>
          <a:p>
            <a:pPr marL="0" indent="0" algn="l">
              <a:lnSpc>
                <a:spcPct val="200000"/>
              </a:lnSpc>
              <a:buNone/>
            </a:pPr>
            <a:r>
              <a:rPr lang="en-US" sz="2000" dirty="0">
                <a:solidFill>
                  <a:schemeClr val="tx1"/>
                </a:solidFill>
                <a:latin typeface="PT Serif" panose="020A0603040505020204" pitchFamily="18" charset="0"/>
                <a:ea typeface="PT Serif" pitchFamily="34" charset="-122"/>
                <a:cs typeface="PT Serif" pitchFamily="34" charset="-120"/>
              </a:rPr>
              <a:t>Local Interpretable Model-agnostic Explanations</a:t>
            </a:r>
            <a:endParaRPr lang="en-US" sz="20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1382187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A69ED-B926-16DB-CF50-616BE44911F3}"/>
              </a:ext>
            </a:extLst>
          </p:cNvPr>
          <p:cNvSpPr>
            <a:spLocks noGrp="1"/>
          </p:cNvSpPr>
          <p:nvPr>
            <p:ph type="title"/>
          </p:nvPr>
        </p:nvSpPr>
        <p:spPr>
          <a:xfrm>
            <a:off x="1143000" y="342769"/>
            <a:ext cx="13656055" cy="571631"/>
          </a:xfrm>
        </p:spPr>
        <p:txBody>
          <a:bodyPr/>
          <a:lstStyle/>
          <a:p>
            <a:pPr marL="0" indent="0" algn="l">
              <a:lnSpc>
                <a:spcPts val="4700"/>
              </a:lnSpc>
              <a:buNone/>
            </a:pPr>
            <a:r>
              <a:rPr lang="en-US" sz="3600" dirty="0">
                <a:solidFill>
                  <a:srgbClr val="020202"/>
                </a:solidFill>
                <a:ea typeface="PT Serif" pitchFamily="34" charset="-122"/>
                <a:cs typeface="PT Serif" pitchFamily="34" charset="-120"/>
              </a:rPr>
              <a:t>How LIME Works</a:t>
            </a:r>
            <a:endParaRPr lang="en-US" sz="3600" dirty="0"/>
          </a:p>
        </p:txBody>
      </p:sp>
      <p:sp>
        <p:nvSpPr>
          <p:cNvPr id="4" name="TextBox 3">
            <a:extLst>
              <a:ext uri="{FF2B5EF4-FFF2-40B4-BE49-F238E27FC236}">
                <a16:creationId xmlns:a16="http://schemas.microsoft.com/office/drawing/2014/main" id="{F8D7E90F-852D-B7FB-AA40-6D03F55B29F3}"/>
              </a:ext>
            </a:extLst>
          </p:cNvPr>
          <p:cNvSpPr txBox="1"/>
          <p:nvPr/>
        </p:nvSpPr>
        <p:spPr>
          <a:xfrm>
            <a:off x="1905000" y="1040260"/>
            <a:ext cx="7315200" cy="7189340"/>
          </a:xfrm>
          <a:prstGeom prst="rect">
            <a:avLst/>
          </a:prstGeom>
          <a:noFill/>
        </p:spPr>
        <p:txBody>
          <a:bodyPr wrap="square">
            <a:spAutoFit/>
          </a:bodyPr>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Pick Data Point</a:t>
            </a: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Select the prediction to explain</a:t>
            </a:r>
            <a:endParaRPr lang="en-US" dirty="0">
              <a:solidFill>
                <a:schemeClr val="tx1"/>
              </a:solidFill>
              <a:latin typeface="PT Serif" panose="020A0603040505020204" pitchFamily="18" charset="0"/>
            </a:endParaRPr>
          </a:p>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Generate Synthetic Data</a:t>
            </a:r>
            <a:endParaRPr lang="en-US" sz="2400" dirty="0">
              <a:solidFill>
                <a:schemeClr val="tx1"/>
              </a:solidFill>
              <a:latin typeface="PT Serif" panose="020A0603040505020204" pitchFamily="18" charset="0"/>
            </a:endParaRP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Create similar data around it</a:t>
            </a:r>
            <a:endParaRPr lang="en-US" dirty="0">
              <a:solidFill>
                <a:schemeClr val="tx1"/>
              </a:solidFill>
              <a:latin typeface="PT Serif" panose="020A0603040505020204" pitchFamily="18" charset="0"/>
            </a:endParaRPr>
          </a:p>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Observe Predictions</a:t>
            </a:r>
            <a:endParaRPr lang="en-US" sz="2400" dirty="0">
              <a:solidFill>
                <a:schemeClr val="tx1"/>
              </a:solidFill>
              <a:latin typeface="PT Serif" panose="020A0603040505020204" pitchFamily="18" charset="0"/>
            </a:endParaRP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Run model on synthetic samples</a:t>
            </a:r>
            <a:endParaRPr lang="en-US" dirty="0">
              <a:solidFill>
                <a:schemeClr val="tx1"/>
              </a:solidFill>
              <a:latin typeface="PT Serif" panose="020A0603040505020204" pitchFamily="18" charset="0"/>
            </a:endParaRPr>
          </a:p>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Fit Simple Model</a:t>
            </a:r>
            <a:endParaRPr lang="en-US" sz="2400" dirty="0">
              <a:solidFill>
                <a:schemeClr val="tx1"/>
              </a:solidFill>
              <a:latin typeface="PT Serif" panose="020A0603040505020204" pitchFamily="18" charset="0"/>
            </a:endParaRP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Use linear regression locally</a:t>
            </a:r>
            <a:endParaRPr lang="en-US" dirty="0">
              <a:solidFill>
                <a:schemeClr val="tx1"/>
              </a:solidFill>
              <a:latin typeface="PT Serif" panose="020A0603040505020204" pitchFamily="18" charset="0"/>
            </a:endParaRPr>
          </a:p>
          <a:p>
            <a:pPr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Identify Features</a:t>
            </a:r>
            <a:endParaRPr lang="en-US" sz="2400" dirty="0">
              <a:solidFill>
                <a:schemeClr val="tx1"/>
              </a:solidFill>
              <a:latin typeface="PT Serif" panose="020A0603040505020204" pitchFamily="18" charset="0"/>
            </a:endParaRP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Find top influencing factors</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3" name="Arrow: Down 2">
            <a:extLst>
              <a:ext uri="{FF2B5EF4-FFF2-40B4-BE49-F238E27FC236}">
                <a16:creationId xmlns:a16="http://schemas.microsoft.com/office/drawing/2014/main" id="{C3EB768B-70E3-9C02-98DF-F0C11D3105AD}"/>
              </a:ext>
            </a:extLst>
          </p:cNvPr>
          <p:cNvSpPr/>
          <p:nvPr/>
        </p:nvSpPr>
        <p:spPr>
          <a:xfrm>
            <a:off x="990600" y="1371601"/>
            <a:ext cx="762000" cy="5486400"/>
          </a:xfrm>
          <a:prstGeom prst="down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Tree>
    <p:extLst>
      <p:ext uri="{BB962C8B-B14F-4D97-AF65-F5344CB8AC3E}">
        <p14:creationId xmlns:p14="http://schemas.microsoft.com/office/powerpoint/2010/main" val="1554266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01985" y="-34789"/>
            <a:ext cx="13656055" cy="1130810"/>
          </a:xfrm>
          <a:prstGeom prst="rect">
            <a:avLst/>
          </a:prstGeom>
        </p:spPr>
        <p:txBody>
          <a:bodyPr vert="horz" wrap="square" lIns="0" tIns="439471" rIns="0" bIns="0" rtlCol="0">
            <a:spAutoFit/>
          </a:bodyPr>
          <a:lstStyle/>
          <a:p>
            <a:pPr marL="0" indent="0" algn="l">
              <a:lnSpc>
                <a:spcPts val="5850"/>
              </a:lnSpc>
              <a:buNone/>
            </a:pPr>
            <a:r>
              <a:rPr lang="en-US" sz="3600" dirty="0">
                <a:solidFill>
                  <a:schemeClr val="tx1"/>
                </a:solidFill>
                <a:ea typeface="PT Serif" pitchFamily="34" charset="-122"/>
                <a:cs typeface="PT Serif" pitchFamily="34" charset="-120"/>
              </a:rPr>
              <a:t>LIME Example: Loan Rejection</a:t>
            </a:r>
            <a:endParaRPr lang="en-US" sz="3600" dirty="0">
              <a:solidFill>
                <a:schemeClr val="tx1"/>
              </a:solidFill>
            </a:endParaRPr>
          </a:p>
        </p:txBody>
      </p:sp>
      <p:sp>
        <p:nvSpPr>
          <p:cNvPr id="13" name="Shape 5">
            <a:extLst>
              <a:ext uri="{FF2B5EF4-FFF2-40B4-BE49-F238E27FC236}">
                <a16:creationId xmlns:a16="http://schemas.microsoft.com/office/drawing/2014/main" id="{E7C49C67-C298-4068-CA76-A4C08A84BF5C}"/>
              </a:ext>
            </a:extLst>
          </p:cNvPr>
          <p:cNvSpPr/>
          <p:nvPr/>
        </p:nvSpPr>
        <p:spPr>
          <a:xfrm>
            <a:off x="5249508" y="3769938"/>
            <a:ext cx="4164095" cy="2173662"/>
          </a:xfrm>
          <a:prstGeom prst="roundRect">
            <a:avLst>
              <a:gd name="adj" fmla="val 1410"/>
            </a:avLst>
          </a:prstGeom>
          <a:solidFill>
            <a:srgbClr val="F2EEEE"/>
          </a:solidFill>
          <a:ln/>
        </p:spPr>
      </p:sp>
      <p:sp>
        <p:nvSpPr>
          <p:cNvPr id="14" name="Text 6">
            <a:extLst>
              <a:ext uri="{FF2B5EF4-FFF2-40B4-BE49-F238E27FC236}">
                <a16:creationId xmlns:a16="http://schemas.microsoft.com/office/drawing/2014/main" id="{BEBCEDAE-A091-212D-F1FD-EBC293DAA8C5}"/>
              </a:ext>
            </a:extLst>
          </p:cNvPr>
          <p:cNvSpPr/>
          <p:nvPr/>
        </p:nvSpPr>
        <p:spPr>
          <a:xfrm>
            <a:off x="5564334" y="3821520"/>
            <a:ext cx="3976821" cy="486528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Credit Score</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Lower than acceptable range</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
        <p:nvSpPr>
          <p:cNvPr id="15" name="Text 7">
            <a:extLst>
              <a:ext uri="{FF2B5EF4-FFF2-40B4-BE49-F238E27FC236}">
                <a16:creationId xmlns:a16="http://schemas.microsoft.com/office/drawing/2014/main" id="{36221D7B-8D1F-CF5A-6FD1-DA6DD3F7C3CC}"/>
              </a:ext>
            </a:extLst>
          </p:cNvPr>
          <p:cNvSpPr/>
          <p:nvPr/>
        </p:nvSpPr>
        <p:spPr>
          <a:xfrm>
            <a:off x="5643399" y="4742724"/>
            <a:ext cx="3818692" cy="127015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6" name="Shape 8">
            <a:extLst>
              <a:ext uri="{FF2B5EF4-FFF2-40B4-BE49-F238E27FC236}">
                <a16:creationId xmlns:a16="http://schemas.microsoft.com/office/drawing/2014/main" id="{56E40DDF-DB35-15B5-6D48-502B983E2206}"/>
              </a:ext>
            </a:extLst>
          </p:cNvPr>
          <p:cNvSpPr/>
          <p:nvPr/>
        </p:nvSpPr>
        <p:spPr>
          <a:xfrm>
            <a:off x="10507027" y="3743990"/>
            <a:ext cx="3818573" cy="2142284"/>
          </a:xfrm>
          <a:prstGeom prst="roundRect">
            <a:avLst>
              <a:gd name="adj" fmla="val 1410"/>
            </a:avLst>
          </a:prstGeom>
          <a:solidFill>
            <a:srgbClr val="F2EEEE"/>
          </a:solidFill>
          <a:ln/>
        </p:spPr>
      </p:sp>
      <p:sp>
        <p:nvSpPr>
          <p:cNvPr id="17" name="Text 9">
            <a:extLst>
              <a:ext uri="{FF2B5EF4-FFF2-40B4-BE49-F238E27FC236}">
                <a16:creationId xmlns:a16="http://schemas.microsoft.com/office/drawing/2014/main" id="{A0DABD8D-9C74-8096-EA52-80379EDA21AF}"/>
              </a:ext>
            </a:extLst>
          </p:cNvPr>
          <p:cNvSpPr/>
          <p:nvPr/>
        </p:nvSpPr>
        <p:spPr>
          <a:xfrm>
            <a:off x="10742620" y="3736068"/>
            <a:ext cx="3347385"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Debt Ratio</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Higher than recommended limit</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4493532"/>
            <a:ext cx="3818573" cy="952619"/>
          </a:xfrm>
          <a:prstGeom prst="rect">
            <a:avLst/>
          </a:prstGeom>
          <a:noFill/>
          <a:ln/>
        </p:spPr>
        <p:txBody>
          <a:bodyPr wrap="square" lIns="0" tIns="0" rIns="0" bIns="0" rtlCol="0" anchor="t"/>
          <a:lstStyle/>
          <a:p>
            <a:pPr marL="0" indent="0" algn="l">
              <a:lnSpc>
                <a:spcPct val="200000"/>
              </a:lnSpc>
              <a:buNone/>
            </a:pPr>
            <a:endParaRPr lang="en-US" dirty="0">
              <a:solidFill>
                <a:schemeClr val="tx1"/>
              </a:solidFill>
              <a:latin typeface="PT Serif" panose="020A0603040505020204" pitchFamily="18" charset="0"/>
            </a:endParaRPr>
          </a:p>
        </p:txBody>
      </p:sp>
      <p:sp>
        <p:nvSpPr>
          <p:cNvPr id="19" name="TextBox 18">
            <a:extLst>
              <a:ext uri="{FF2B5EF4-FFF2-40B4-BE49-F238E27FC236}">
                <a16:creationId xmlns:a16="http://schemas.microsoft.com/office/drawing/2014/main" id="{6ED7C590-8D16-0ED7-FC16-BD2B6BA68793}"/>
              </a:ext>
            </a:extLst>
          </p:cNvPr>
          <p:cNvSpPr txBox="1"/>
          <p:nvPr/>
        </p:nvSpPr>
        <p:spPr>
          <a:xfrm>
            <a:off x="701984" y="1561046"/>
            <a:ext cx="8442015" cy="431080"/>
          </a:xfrm>
          <a:prstGeom prst="rect">
            <a:avLst/>
          </a:prstGeom>
          <a:noFill/>
        </p:spPr>
        <p:txBody>
          <a:bodyPr wrap="square">
            <a:spAutoFit/>
          </a:bodyPr>
          <a:lstStyle/>
          <a:p>
            <a:pPr marL="0" indent="0" algn="l">
              <a:lnSpc>
                <a:spcPts val="2850"/>
              </a:lnSpc>
              <a:buNone/>
            </a:pPr>
            <a:r>
              <a:rPr lang="en-US" sz="1800" dirty="0">
                <a:solidFill>
                  <a:schemeClr val="tx1"/>
                </a:solidFill>
                <a:latin typeface="PT Serif" panose="020A0603040505020204" pitchFamily="18" charset="0"/>
                <a:ea typeface="DM Sans" pitchFamily="34" charset="-122"/>
                <a:cs typeface="DM Sans" pitchFamily="34" charset="-120"/>
              </a:rPr>
              <a:t>LIME reveals which features contributed most to the rejection decision:</a:t>
            </a:r>
            <a:endParaRPr lang="en-US" sz="1800" dirty="0">
              <a:solidFill>
                <a:schemeClr val="tx1"/>
              </a:solidFill>
              <a:latin typeface="PT Serif" panose="020A0603040505020204" pitchFamily="18" charset="0"/>
            </a:endParaRPr>
          </a:p>
        </p:txBody>
      </p:sp>
      <p:sp>
        <p:nvSpPr>
          <p:cNvPr id="20" name="TextBox 19">
            <a:extLst>
              <a:ext uri="{FF2B5EF4-FFF2-40B4-BE49-F238E27FC236}">
                <a16:creationId xmlns:a16="http://schemas.microsoft.com/office/drawing/2014/main" id="{33601680-6A62-A850-5080-242660A92189}"/>
              </a:ext>
            </a:extLst>
          </p:cNvPr>
          <p:cNvSpPr txBox="1"/>
          <p:nvPr/>
        </p:nvSpPr>
        <p:spPr>
          <a:xfrm>
            <a:off x="457200" y="6831533"/>
            <a:ext cx="7315200" cy="434221"/>
          </a:xfrm>
          <a:prstGeom prst="rect">
            <a:avLst/>
          </a:prstGeom>
          <a:noFill/>
        </p:spPr>
        <p:txBody>
          <a:bodyPr wrap="square">
            <a:spAutoFit/>
          </a:bodyPr>
          <a:lstStyle/>
          <a:p>
            <a:pPr marL="0" indent="0" algn="l">
              <a:lnSpc>
                <a:spcPts val="2850"/>
              </a:lnSpc>
              <a:buNone/>
            </a:pPr>
            <a:r>
              <a:rPr lang="en-US" sz="1800" dirty="0">
                <a:solidFill>
                  <a:schemeClr val="tx1"/>
                </a:solidFill>
                <a:latin typeface="PT Serif" panose="020A0603040505020204" pitchFamily="18" charset="0"/>
                <a:ea typeface="DM Sans" pitchFamily="34" charset="-122"/>
                <a:cs typeface="DM Sans" pitchFamily="34" charset="-120"/>
              </a:rPr>
              <a:t>This explanation applies only to this single prediction.</a:t>
            </a:r>
            <a:endParaRPr lang="en-US" sz="1800" dirty="0">
              <a:solidFill>
                <a:schemeClr val="tx1"/>
              </a:solidFill>
              <a:latin typeface="PT Serif" panose="020A0603040505020204" pitchFamily="18" charset="0"/>
            </a:endParaRPr>
          </a:p>
        </p:txBody>
      </p:sp>
      <p:sp>
        <p:nvSpPr>
          <p:cNvPr id="23" name="Shape 2">
            <a:extLst>
              <a:ext uri="{FF2B5EF4-FFF2-40B4-BE49-F238E27FC236}">
                <a16:creationId xmlns:a16="http://schemas.microsoft.com/office/drawing/2014/main" id="{6227553A-553A-E741-7B15-2BE6EA016F76}"/>
              </a:ext>
            </a:extLst>
          </p:cNvPr>
          <p:cNvSpPr/>
          <p:nvPr/>
        </p:nvSpPr>
        <p:spPr>
          <a:xfrm>
            <a:off x="457200" y="3743990"/>
            <a:ext cx="3976821" cy="2173662"/>
          </a:xfrm>
          <a:prstGeom prst="roundRect">
            <a:avLst>
              <a:gd name="adj" fmla="val 1410"/>
            </a:avLst>
          </a:prstGeom>
          <a:solidFill>
            <a:srgbClr val="F2EEEE"/>
          </a:solidFill>
          <a:ln/>
        </p:spPr>
        <p:txBody>
          <a:bodyPr/>
          <a:lstStyle/>
          <a:p>
            <a:pPr algn="l">
              <a:lnSpc>
                <a:spcPct val="200000"/>
              </a:lnSpc>
            </a:pPr>
            <a:endParaRPr lang="en-IN" dirty="0">
              <a:solidFill>
                <a:schemeClr val="tx1"/>
              </a:solidFill>
              <a:latin typeface="PT Serif" panose="020A0603040505020204" pitchFamily="18" charset="0"/>
            </a:endParaRPr>
          </a:p>
        </p:txBody>
      </p:sp>
      <p:sp>
        <p:nvSpPr>
          <p:cNvPr id="24" name="Text 3">
            <a:extLst>
              <a:ext uri="{FF2B5EF4-FFF2-40B4-BE49-F238E27FC236}">
                <a16:creationId xmlns:a16="http://schemas.microsoft.com/office/drawing/2014/main" id="{36574C76-10E8-0AEE-7579-97C8B3F9D339}"/>
              </a:ext>
            </a:extLst>
          </p:cNvPr>
          <p:cNvSpPr/>
          <p:nvPr/>
        </p:nvSpPr>
        <p:spPr>
          <a:xfrm>
            <a:off x="679751" y="3769938"/>
            <a:ext cx="3626798"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Income Level</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Below threshold requirement</a:t>
            </a:r>
            <a:endParaRPr lang="en-US" sz="1800" dirty="0">
              <a:solidFill>
                <a:schemeClr val="tx1"/>
              </a:solidFill>
              <a:latin typeface="PT Serif" panose="020A0603040505020204" pitchFamily="18" charset="0"/>
            </a:endParaRPr>
          </a:p>
          <a:p>
            <a:pPr algn="l">
              <a:lnSpc>
                <a:spcPct val="200000"/>
              </a:lnSpc>
            </a:pPr>
            <a:r>
              <a:rPr lang="en-US" dirty="0">
                <a:solidFill>
                  <a:schemeClr val="tx1"/>
                </a:solidFill>
                <a:latin typeface="PT Serif" panose="020A0603040505020204" pitchFamily="18" charset="0"/>
              </a:rPr>
              <a:t>	</a:t>
            </a:r>
          </a:p>
        </p:txBody>
      </p:sp>
      <p:sp>
        <p:nvSpPr>
          <p:cNvPr id="31" name="Shape 2">
            <a:extLst>
              <a:ext uri="{FF2B5EF4-FFF2-40B4-BE49-F238E27FC236}">
                <a16:creationId xmlns:a16="http://schemas.microsoft.com/office/drawing/2014/main" id="{D16D28F4-36E2-E270-FE2A-B040C06920DF}"/>
              </a:ext>
            </a:extLst>
          </p:cNvPr>
          <p:cNvSpPr/>
          <p:nvPr/>
        </p:nvSpPr>
        <p:spPr>
          <a:xfrm>
            <a:off x="457200" y="2971800"/>
            <a:ext cx="3457813" cy="283488"/>
          </a:xfrm>
          <a:prstGeom prst="roundRect">
            <a:avLst>
              <a:gd name="adj" fmla="val 12002"/>
            </a:avLst>
          </a:prstGeom>
          <a:solidFill>
            <a:srgbClr val="F2EEEE"/>
          </a:solidFill>
          <a:ln/>
        </p:spPr>
      </p:sp>
      <p:sp>
        <p:nvSpPr>
          <p:cNvPr id="32" name="Shape 3">
            <a:extLst>
              <a:ext uri="{FF2B5EF4-FFF2-40B4-BE49-F238E27FC236}">
                <a16:creationId xmlns:a16="http://schemas.microsoft.com/office/drawing/2014/main" id="{AB8DCBAE-971F-39AD-5AE7-881F98A29BB1}"/>
              </a:ext>
            </a:extLst>
          </p:cNvPr>
          <p:cNvSpPr/>
          <p:nvPr/>
        </p:nvSpPr>
        <p:spPr>
          <a:xfrm>
            <a:off x="457200" y="2971800"/>
            <a:ext cx="1555909" cy="283488"/>
          </a:xfrm>
          <a:prstGeom prst="roundRect">
            <a:avLst>
              <a:gd name="adj" fmla="val 12002"/>
            </a:avLst>
          </a:prstGeom>
          <a:solidFill>
            <a:srgbClr val="E04F00"/>
          </a:solidFill>
          <a:ln/>
        </p:spPr>
      </p:sp>
      <p:sp>
        <p:nvSpPr>
          <p:cNvPr id="33" name="Text 4">
            <a:extLst>
              <a:ext uri="{FF2B5EF4-FFF2-40B4-BE49-F238E27FC236}">
                <a16:creationId xmlns:a16="http://schemas.microsoft.com/office/drawing/2014/main" id="{DD24B7CF-D659-E1CC-D2EA-D385D23AD355}"/>
              </a:ext>
            </a:extLst>
          </p:cNvPr>
          <p:cNvSpPr/>
          <p:nvPr/>
        </p:nvSpPr>
        <p:spPr>
          <a:xfrm>
            <a:off x="4085034" y="2971800"/>
            <a:ext cx="530781" cy="283488"/>
          </a:xfrm>
          <a:prstGeom prst="rect">
            <a:avLst/>
          </a:prstGeom>
          <a:noFill/>
          <a:ln/>
        </p:spPr>
        <p:txBody>
          <a:bodyPr wrap="none" lIns="0" tIns="0" rIns="0" bIns="0" rtlCol="0" anchor="t"/>
          <a:lstStyle/>
          <a:p>
            <a:pPr marL="0" indent="0" algn="l">
              <a:lnSpc>
                <a:spcPts val="2200"/>
              </a:lnSpc>
              <a:buNone/>
            </a:pPr>
            <a:r>
              <a:rPr lang="en-US" sz="2200" dirty="0">
                <a:solidFill>
                  <a:srgbClr val="383838"/>
                </a:solidFill>
                <a:latin typeface="PT Serif" pitchFamily="34" charset="0"/>
                <a:ea typeface="PT Serif" pitchFamily="34" charset="-122"/>
                <a:cs typeface="PT Serif" pitchFamily="34" charset="-120"/>
              </a:rPr>
              <a:t>45%</a:t>
            </a:r>
            <a:endParaRPr lang="en-US" sz="2200" dirty="0"/>
          </a:p>
        </p:txBody>
      </p:sp>
      <p:sp>
        <p:nvSpPr>
          <p:cNvPr id="34" name="Shape 7">
            <a:extLst>
              <a:ext uri="{FF2B5EF4-FFF2-40B4-BE49-F238E27FC236}">
                <a16:creationId xmlns:a16="http://schemas.microsoft.com/office/drawing/2014/main" id="{AAFC9B59-F8BE-2EFA-1D09-89C0AB33FC60}"/>
              </a:ext>
            </a:extLst>
          </p:cNvPr>
          <p:cNvSpPr/>
          <p:nvPr/>
        </p:nvSpPr>
        <p:spPr>
          <a:xfrm>
            <a:off x="5235893" y="2971800"/>
            <a:ext cx="3457813" cy="283488"/>
          </a:xfrm>
          <a:prstGeom prst="roundRect">
            <a:avLst>
              <a:gd name="adj" fmla="val 12002"/>
            </a:avLst>
          </a:prstGeom>
          <a:solidFill>
            <a:srgbClr val="F2EEEE"/>
          </a:solidFill>
          <a:ln/>
        </p:spPr>
      </p:sp>
      <p:sp>
        <p:nvSpPr>
          <p:cNvPr id="35" name="Shape 8">
            <a:extLst>
              <a:ext uri="{FF2B5EF4-FFF2-40B4-BE49-F238E27FC236}">
                <a16:creationId xmlns:a16="http://schemas.microsoft.com/office/drawing/2014/main" id="{D0FEEA66-2EFD-EEB7-BB44-0C1A0981DBBF}"/>
              </a:ext>
            </a:extLst>
          </p:cNvPr>
          <p:cNvSpPr/>
          <p:nvPr/>
        </p:nvSpPr>
        <p:spPr>
          <a:xfrm>
            <a:off x="5235893" y="2971800"/>
            <a:ext cx="1210151" cy="283488"/>
          </a:xfrm>
          <a:prstGeom prst="roundRect">
            <a:avLst>
              <a:gd name="adj" fmla="val 12002"/>
            </a:avLst>
          </a:prstGeom>
          <a:solidFill>
            <a:srgbClr val="E04F00"/>
          </a:solidFill>
          <a:ln/>
        </p:spPr>
      </p:sp>
      <p:sp>
        <p:nvSpPr>
          <p:cNvPr id="36" name="Text 9">
            <a:extLst>
              <a:ext uri="{FF2B5EF4-FFF2-40B4-BE49-F238E27FC236}">
                <a16:creationId xmlns:a16="http://schemas.microsoft.com/office/drawing/2014/main" id="{7650FF11-A848-625E-3BFC-C7982F45D412}"/>
              </a:ext>
            </a:extLst>
          </p:cNvPr>
          <p:cNvSpPr/>
          <p:nvPr/>
        </p:nvSpPr>
        <p:spPr>
          <a:xfrm>
            <a:off x="8863727" y="2971800"/>
            <a:ext cx="530781" cy="283488"/>
          </a:xfrm>
          <a:prstGeom prst="rect">
            <a:avLst/>
          </a:prstGeom>
          <a:noFill/>
          <a:ln/>
        </p:spPr>
        <p:txBody>
          <a:bodyPr wrap="none" lIns="0" tIns="0" rIns="0" bIns="0" rtlCol="0" anchor="t"/>
          <a:lstStyle/>
          <a:p>
            <a:pPr marL="0" indent="0" algn="l">
              <a:lnSpc>
                <a:spcPts val="2200"/>
              </a:lnSpc>
              <a:buNone/>
            </a:pPr>
            <a:r>
              <a:rPr lang="en-US" sz="2200" dirty="0">
                <a:solidFill>
                  <a:srgbClr val="383838"/>
                </a:solidFill>
                <a:latin typeface="PT Serif" pitchFamily="34" charset="0"/>
                <a:ea typeface="PT Serif" pitchFamily="34" charset="-122"/>
                <a:cs typeface="PT Serif" pitchFamily="34" charset="-120"/>
              </a:rPr>
              <a:t>35%</a:t>
            </a:r>
            <a:endParaRPr lang="en-US" sz="2200" dirty="0"/>
          </a:p>
        </p:txBody>
      </p:sp>
      <p:sp>
        <p:nvSpPr>
          <p:cNvPr id="37" name="Shape 12">
            <a:extLst>
              <a:ext uri="{FF2B5EF4-FFF2-40B4-BE49-F238E27FC236}">
                <a16:creationId xmlns:a16="http://schemas.microsoft.com/office/drawing/2014/main" id="{F088CAD5-8DBF-6A3C-6E6F-E1C75655572F}"/>
              </a:ext>
            </a:extLst>
          </p:cNvPr>
          <p:cNvSpPr/>
          <p:nvPr/>
        </p:nvSpPr>
        <p:spPr>
          <a:xfrm>
            <a:off x="10210800" y="2971800"/>
            <a:ext cx="3457813" cy="283488"/>
          </a:xfrm>
          <a:prstGeom prst="roundRect">
            <a:avLst>
              <a:gd name="adj" fmla="val 12002"/>
            </a:avLst>
          </a:prstGeom>
          <a:solidFill>
            <a:srgbClr val="F2EEEE"/>
          </a:solidFill>
          <a:ln/>
        </p:spPr>
      </p:sp>
      <p:sp>
        <p:nvSpPr>
          <p:cNvPr id="38" name="Shape 13">
            <a:extLst>
              <a:ext uri="{FF2B5EF4-FFF2-40B4-BE49-F238E27FC236}">
                <a16:creationId xmlns:a16="http://schemas.microsoft.com/office/drawing/2014/main" id="{416DDAA3-6928-4EEC-6BA8-641BA743ADB1}"/>
              </a:ext>
            </a:extLst>
          </p:cNvPr>
          <p:cNvSpPr/>
          <p:nvPr/>
        </p:nvSpPr>
        <p:spPr>
          <a:xfrm>
            <a:off x="10210800" y="2971800"/>
            <a:ext cx="691515" cy="283488"/>
          </a:xfrm>
          <a:prstGeom prst="roundRect">
            <a:avLst>
              <a:gd name="adj" fmla="val 12002"/>
            </a:avLst>
          </a:prstGeom>
          <a:solidFill>
            <a:srgbClr val="E04F00"/>
          </a:solidFill>
          <a:ln/>
        </p:spPr>
      </p:sp>
      <p:sp>
        <p:nvSpPr>
          <p:cNvPr id="39" name="Text 14">
            <a:extLst>
              <a:ext uri="{FF2B5EF4-FFF2-40B4-BE49-F238E27FC236}">
                <a16:creationId xmlns:a16="http://schemas.microsoft.com/office/drawing/2014/main" id="{1A390F85-9DCC-D9A6-8567-305D92897C1A}"/>
              </a:ext>
            </a:extLst>
          </p:cNvPr>
          <p:cNvSpPr/>
          <p:nvPr/>
        </p:nvSpPr>
        <p:spPr>
          <a:xfrm>
            <a:off x="13838635" y="2971800"/>
            <a:ext cx="530781" cy="283488"/>
          </a:xfrm>
          <a:prstGeom prst="rect">
            <a:avLst/>
          </a:prstGeom>
          <a:noFill/>
          <a:ln/>
        </p:spPr>
        <p:txBody>
          <a:bodyPr wrap="none" lIns="0" tIns="0" rIns="0" bIns="0" rtlCol="0" anchor="t"/>
          <a:lstStyle/>
          <a:p>
            <a:pPr marL="0" indent="0" algn="l">
              <a:lnSpc>
                <a:spcPts val="2200"/>
              </a:lnSpc>
              <a:buNone/>
            </a:pPr>
            <a:r>
              <a:rPr lang="en-US" sz="2200" dirty="0">
                <a:solidFill>
                  <a:srgbClr val="383838"/>
                </a:solidFill>
                <a:latin typeface="PT Serif" pitchFamily="34" charset="0"/>
                <a:ea typeface="PT Serif" pitchFamily="34" charset="-122"/>
                <a:cs typeface="PT Serif" pitchFamily="34" charset="-120"/>
              </a:rPr>
              <a:t>20%</a:t>
            </a:r>
            <a:endParaRPr lang="en-US" sz="2200" dirty="0"/>
          </a:p>
        </p:txBody>
      </p:sp>
    </p:spTree>
    <p:extLst>
      <p:ext uri="{BB962C8B-B14F-4D97-AF65-F5344CB8AC3E}">
        <p14:creationId xmlns:p14="http://schemas.microsoft.com/office/powerpoint/2010/main" val="1967218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object 13">
            <a:extLst>
              <a:ext uri="{FF2B5EF4-FFF2-40B4-BE49-F238E27FC236}">
                <a16:creationId xmlns:a16="http://schemas.microsoft.com/office/drawing/2014/main" id="{8BC26874-D32D-B0C4-504A-8319293B7F2A}"/>
              </a:ext>
            </a:extLst>
          </p:cNvPr>
          <p:cNvGrpSpPr/>
          <p:nvPr/>
        </p:nvGrpSpPr>
        <p:grpSpPr>
          <a:xfrm>
            <a:off x="751470" y="3962400"/>
            <a:ext cx="6411330" cy="1689494"/>
            <a:chOff x="793788" y="4631308"/>
            <a:chExt cx="6437630" cy="2974340"/>
          </a:xfrm>
        </p:grpSpPr>
        <p:sp>
          <p:nvSpPr>
            <p:cNvPr id="34" name="object 14">
              <a:extLst>
                <a:ext uri="{FF2B5EF4-FFF2-40B4-BE49-F238E27FC236}">
                  <a16:creationId xmlns:a16="http://schemas.microsoft.com/office/drawing/2014/main" id="{1EBA9424-EEBD-DCA3-3EAC-C27465A465E3}"/>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5" name="object 15">
              <a:extLst>
                <a:ext uri="{FF2B5EF4-FFF2-40B4-BE49-F238E27FC236}">
                  <a16:creationId xmlns:a16="http://schemas.microsoft.com/office/drawing/2014/main" id="{5E7C18E8-C80E-C1A0-CF76-5E1455C6789F}"/>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30" name="object 13">
            <a:extLst>
              <a:ext uri="{FF2B5EF4-FFF2-40B4-BE49-F238E27FC236}">
                <a16:creationId xmlns:a16="http://schemas.microsoft.com/office/drawing/2014/main" id="{3CC01AED-2482-CBED-1EFE-AA3F3687B2DC}"/>
              </a:ext>
            </a:extLst>
          </p:cNvPr>
          <p:cNvGrpSpPr/>
          <p:nvPr/>
        </p:nvGrpSpPr>
        <p:grpSpPr>
          <a:xfrm>
            <a:off x="7620000" y="3962400"/>
            <a:ext cx="6411330" cy="1689494"/>
            <a:chOff x="793788" y="4631308"/>
            <a:chExt cx="6437630" cy="2974340"/>
          </a:xfrm>
        </p:grpSpPr>
        <p:sp>
          <p:nvSpPr>
            <p:cNvPr id="31" name="object 14">
              <a:extLst>
                <a:ext uri="{FF2B5EF4-FFF2-40B4-BE49-F238E27FC236}">
                  <a16:creationId xmlns:a16="http://schemas.microsoft.com/office/drawing/2014/main" id="{42DEF435-3D17-4FA9-9522-3E98EF868AEF}"/>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2" name="object 15">
              <a:extLst>
                <a:ext uri="{FF2B5EF4-FFF2-40B4-BE49-F238E27FC236}">
                  <a16:creationId xmlns:a16="http://schemas.microsoft.com/office/drawing/2014/main" id="{A38FA84D-C25A-6721-9EFF-93A9BCD893C7}"/>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7" name="object 13">
            <a:extLst>
              <a:ext uri="{FF2B5EF4-FFF2-40B4-BE49-F238E27FC236}">
                <a16:creationId xmlns:a16="http://schemas.microsoft.com/office/drawing/2014/main" id="{7453EB64-7342-4751-B226-B2A3A885DF46}"/>
              </a:ext>
            </a:extLst>
          </p:cNvPr>
          <p:cNvGrpSpPr/>
          <p:nvPr/>
        </p:nvGrpSpPr>
        <p:grpSpPr>
          <a:xfrm>
            <a:off x="7620000" y="1524000"/>
            <a:ext cx="6411330" cy="1689494"/>
            <a:chOff x="793788" y="4631308"/>
            <a:chExt cx="6437630" cy="2974340"/>
          </a:xfrm>
        </p:grpSpPr>
        <p:sp>
          <p:nvSpPr>
            <p:cNvPr id="28" name="object 14">
              <a:extLst>
                <a:ext uri="{FF2B5EF4-FFF2-40B4-BE49-F238E27FC236}">
                  <a16:creationId xmlns:a16="http://schemas.microsoft.com/office/drawing/2014/main" id="{1135B5DA-3FAF-6B95-B7FB-F2C8A5891D70}"/>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9" name="object 15">
              <a:extLst>
                <a:ext uri="{FF2B5EF4-FFF2-40B4-BE49-F238E27FC236}">
                  <a16:creationId xmlns:a16="http://schemas.microsoft.com/office/drawing/2014/main" id="{659D6209-EFA4-3521-61A1-BFBE38D0E14B}"/>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4" name="object 13">
            <a:extLst>
              <a:ext uri="{FF2B5EF4-FFF2-40B4-BE49-F238E27FC236}">
                <a16:creationId xmlns:a16="http://schemas.microsoft.com/office/drawing/2014/main" id="{9EDED71C-1B31-D97D-38B2-DAFD66018FF9}"/>
              </a:ext>
            </a:extLst>
          </p:cNvPr>
          <p:cNvGrpSpPr/>
          <p:nvPr/>
        </p:nvGrpSpPr>
        <p:grpSpPr>
          <a:xfrm>
            <a:off x="750141" y="1510906"/>
            <a:ext cx="6411330" cy="1689494"/>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760896" y="175380"/>
            <a:ext cx="13656055" cy="910057"/>
          </a:xfrm>
          <a:prstGeom prst="rect">
            <a:avLst/>
          </a:prstGeom>
          <a:noFill/>
        </p:spPr>
        <p:txBody>
          <a:bodyPr vert="horz" wrap="square" lIns="0" tIns="220853" rIns="0" bIns="0" rtlCol="0">
            <a:spAutoFit/>
          </a:bodyPr>
          <a:lstStyle/>
          <a:p>
            <a:pPr marL="0" indent="0" algn="l">
              <a:lnSpc>
                <a:spcPts val="5850"/>
              </a:lnSpc>
              <a:buNone/>
            </a:pPr>
            <a:r>
              <a:rPr lang="en-US" sz="3600" dirty="0">
                <a:solidFill>
                  <a:schemeClr val="tx1"/>
                </a:solidFill>
                <a:ea typeface="PT Serif" pitchFamily="34" charset="-122"/>
                <a:cs typeface="PT Serif" pitchFamily="34" charset="-120"/>
              </a:rPr>
              <a:t>Limitations of LIME</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058373" y="1503683"/>
            <a:ext cx="6034239" cy="469830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Inconsistent Results</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Explanations may vary between runs</a:t>
            </a:r>
            <a:endParaRPr lang="en-US" sz="1800"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algn="l">
              <a:lnSpc>
                <a:spcPct val="200000"/>
              </a:lnSpc>
            </a:pPr>
            <a:endParaRPr lang="en-US" dirty="0">
              <a:solidFill>
                <a:schemeClr val="tx1"/>
              </a:solidFill>
              <a:latin typeface="PT Serif" panose="020A0603040505020204" pitchFamily="18" charset="0"/>
            </a:endParaRPr>
          </a:p>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Computational Cost</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Expensive for large datasets</a:t>
            </a:r>
            <a:endParaRPr lang="en-US" sz="1800"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970996" y="1503683"/>
            <a:ext cx="5973604" cy="469830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Local Only</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Cannot provide global model insights</a:t>
            </a:r>
            <a:endParaRPr lang="en-US" sz="1800"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Noise Sensitivity</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Can be unstable with noisy data</a:t>
            </a:r>
            <a:endParaRPr lang="en-US" sz="18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2050921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object 13">
            <a:extLst>
              <a:ext uri="{FF2B5EF4-FFF2-40B4-BE49-F238E27FC236}">
                <a16:creationId xmlns:a16="http://schemas.microsoft.com/office/drawing/2014/main" id="{8BC26874-D32D-B0C4-504A-8319293B7F2A}"/>
              </a:ext>
            </a:extLst>
          </p:cNvPr>
          <p:cNvGrpSpPr/>
          <p:nvPr/>
        </p:nvGrpSpPr>
        <p:grpSpPr>
          <a:xfrm>
            <a:off x="746744" y="3937385"/>
            <a:ext cx="6411330" cy="1689494"/>
            <a:chOff x="793788" y="4631308"/>
            <a:chExt cx="6437630" cy="2974340"/>
          </a:xfrm>
        </p:grpSpPr>
        <p:sp>
          <p:nvSpPr>
            <p:cNvPr id="34" name="object 14">
              <a:extLst>
                <a:ext uri="{FF2B5EF4-FFF2-40B4-BE49-F238E27FC236}">
                  <a16:creationId xmlns:a16="http://schemas.microsoft.com/office/drawing/2014/main" id="{1EBA9424-EEBD-DCA3-3EAC-C27465A465E3}"/>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5" name="object 15">
              <a:extLst>
                <a:ext uri="{FF2B5EF4-FFF2-40B4-BE49-F238E27FC236}">
                  <a16:creationId xmlns:a16="http://schemas.microsoft.com/office/drawing/2014/main" id="{5E7C18E8-C80E-C1A0-CF76-5E1455C6789F}"/>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30" name="object 13">
            <a:extLst>
              <a:ext uri="{FF2B5EF4-FFF2-40B4-BE49-F238E27FC236}">
                <a16:creationId xmlns:a16="http://schemas.microsoft.com/office/drawing/2014/main" id="{3CC01AED-2482-CBED-1EFE-AA3F3687B2DC}"/>
              </a:ext>
            </a:extLst>
          </p:cNvPr>
          <p:cNvGrpSpPr/>
          <p:nvPr/>
        </p:nvGrpSpPr>
        <p:grpSpPr>
          <a:xfrm>
            <a:off x="7597234" y="3950368"/>
            <a:ext cx="6411330" cy="1689494"/>
            <a:chOff x="793788" y="4631308"/>
            <a:chExt cx="6437630" cy="2974340"/>
          </a:xfrm>
        </p:grpSpPr>
        <p:sp>
          <p:nvSpPr>
            <p:cNvPr id="31" name="object 14">
              <a:extLst>
                <a:ext uri="{FF2B5EF4-FFF2-40B4-BE49-F238E27FC236}">
                  <a16:creationId xmlns:a16="http://schemas.microsoft.com/office/drawing/2014/main" id="{42DEF435-3D17-4FA9-9522-3E98EF868AEF}"/>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2" name="object 15">
              <a:extLst>
                <a:ext uri="{FF2B5EF4-FFF2-40B4-BE49-F238E27FC236}">
                  <a16:creationId xmlns:a16="http://schemas.microsoft.com/office/drawing/2014/main" id="{A38FA84D-C25A-6721-9EFF-93A9BCD893C7}"/>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7" name="object 13">
            <a:extLst>
              <a:ext uri="{FF2B5EF4-FFF2-40B4-BE49-F238E27FC236}">
                <a16:creationId xmlns:a16="http://schemas.microsoft.com/office/drawing/2014/main" id="{7453EB64-7342-4751-B226-B2A3A885DF46}"/>
              </a:ext>
            </a:extLst>
          </p:cNvPr>
          <p:cNvGrpSpPr/>
          <p:nvPr/>
        </p:nvGrpSpPr>
        <p:grpSpPr>
          <a:xfrm>
            <a:off x="7597234" y="1789726"/>
            <a:ext cx="6411330" cy="1689494"/>
            <a:chOff x="793788" y="4631308"/>
            <a:chExt cx="6437630" cy="2974340"/>
          </a:xfrm>
        </p:grpSpPr>
        <p:sp>
          <p:nvSpPr>
            <p:cNvPr id="28" name="object 14">
              <a:extLst>
                <a:ext uri="{FF2B5EF4-FFF2-40B4-BE49-F238E27FC236}">
                  <a16:creationId xmlns:a16="http://schemas.microsoft.com/office/drawing/2014/main" id="{1135B5DA-3FAF-6B95-B7FB-F2C8A5891D70}"/>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9" name="object 15">
              <a:extLst>
                <a:ext uri="{FF2B5EF4-FFF2-40B4-BE49-F238E27FC236}">
                  <a16:creationId xmlns:a16="http://schemas.microsoft.com/office/drawing/2014/main" id="{659D6209-EFA4-3521-61A1-BFBE38D0E14B}"/>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4" name="object 13">
            <a:extLst>
              <a:ext uri="{FF2B5EF4-FFF2-40B4-BE49-F238E27FC236}">
                <a16:creationId xmlns:a16="http://schemas.microsoft.com/office/drawing/2014/main" id="{9EDED71C-1B31-D97D-38B2-DAFD66018FF9}"/>
              </a:ext>
            </a:extLst>
          </p:cNvPr>
          <p:cNvGrpSpPr/>
          <p:nvPr/>
        </p:nvGrpSpPr>
        <p:grpSpPr>
          <a:xfrm>
            <a:off x="723977" y="1776743"/>
            <a:ext cx="6411330" cy="1689494"/>
            <a:chOff x="793788" y="4631308"/>
            <a:chExt cx="6437630" cy="2974340"/>
          </a:xfrm>
        </p:grpSpPr>
        <p:sp>
          <p:nvSpPr>
            <p:cNvPr id="25" name="object 14">
              <a:extLst>
                <a:ext uri="{FF2B5EF4-FFF2-40B4-BE49-F238E27FC236}">
                  <a16:creationId xmlns:a16="http://schemas.microsoft.com/office/drawing/2014/main" id="{35293503-1DBD-8E87-3BE0-DDA71A76F25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6" name="object 15">
              <a:extLst>
                <a:ext uri="{FF2B5EF4-FFF2-40B4-BE49-F238E27FC236}">
                  <a16:creationId xmlns:a16="http://schemas.microsoft.com/office/drawing/2014/main" id="{222A1FF6-5464-B670-5D90-F39A5749423F}"/>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791972" y="0"/>
            <a:ext cx="13656055" cy="910057"/>
          </a:xfrm>
          <a:prstGeom prst="rect">
            <a:avLst/>
          </a:prstGeom>
          <a:noFill/>
        </p:spPr>
        <p:txBody>
          <a:bodyPr vert="horz" wrap="square" lIns="0" tIns="220853" rIns="0" bIns="0" rtlCol="0">
            <a:spAutoFit/>
          </a:bodyPr>
          <a:lstStyle/>
          <a:p>
            <a:pPr marL="0" indent="0" algn="l">
              <a:lnSpc>
                <a:spcPts val="5850"/>
              </a:lnSpc>
              <a:buNone/>
            </a:pPr>
            <a:r>
              <a:rPr lang="en-US" sz="3600" dirty="0">
                <a:solidFill>
                  <a:schemeClr val="tx1"/>
                </a:solidFill>
                <a:ea typeface="PT Serif" pitchFamily="34" charset="-122"/>
                <a:cs typeface="PT Serif" pitchFamily="34" charset="-120"/>
              </a:rPr>
              <a:t>Introduction to SHAP</a:t>
            </a:r>
            <a:endParaRPr lang="en-US" sz="3600" dirty="0">
              <a:solidFill>
                <a:schemeClr val="tx1"/>
              </a:solidFill>
            </a:endParaRPr>
          </a:p>
        </p:txBody>
      </p:sp>
      <p:sp>
        <p:nvSpPr>
          <p:cNvPr id="8" name="Text 3">
            <a:extLst>
              <a:ext uri="{FF2B5EF4-FFF2-40B4-BE49-F238E27FC236}">
                <a16:creationId xmlns:a16="http://schemas.microsoft.com/office/drawing/2014/main" id="{A0D38183-3593-0CD5-9F87-5CFCC2BA96CD}"/>
              </a:ext>
            </a:extLst>
          </p:cNvPr>
          <p:cNvSpPr/>
          <p:nvPr/>
        </p:nvSpPr>
        <p:spPr>
          <a:xfrm>
            <a:off x="1078302" y="1570041"/>
            <a:ext cx="6034239" cy="4698301"/>
          </a:xfrm>
          <a:prstGeom prst="rect">
            <a:avLst/>
          </a:prstGeom>
          <a:noFill/>
          <a:ln/>
        </p:spPr>
        <p:txBody>
          <a:bodyPr wrap="square" lIns="0" tIns="0" rIns="0" bIns="0" rtlCol="0" anchor="t"/>
          <a:lstStyle/>
          <a:p>
            <a:pPr lvl="1"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Game Theory Based</a:t>
            </a:r>
            <a:endParaRPr lang="en-US" sz="2400" dirty="0">
              <a:solidFill>
                <a:schemeClr val="tx1"/>
              </a:solidFill>
              <a:latin typeface="PT Serif" panose="020A0603040505020204" pitchFamily="18" charset="0"/>
            </a:endParaRPr>
          </a:p>
          <a:p>
            <a:pPr lvl="1" algn="l">
              <a:lnSpc>
                <a:spcPct val="200000"/>
              </a:lnSpc>
            </a:pPr>
            <a:r>
              <a:rPr lang="en-US" dirty="0">
                <a:solidFill>
                  <a:schemeClr val="tx1"/>
                </a:solidFill>
                <a:latin typeface="PT Serif" panose="020A0603040505020204" pitchFamily="18" charset="0"/>
                <a:ea typeface="DM Sans" pitchFamily="34" charset="-122"/>
                <a:cs typeface="DM Sans" pitchFamily="34" charset="-120"/>
              </a:rPr>
              <a:t>Uses Shapley values from cooperative game theory</a:t>
            </a:r>
          </a:p>
          <a:p>
            <a:pPr lvl="1" algn="l">
              <a:lnSpc>
                <a:spcPct val="200000"/>
              </a:lnSpc>
            </a:pPr>
            <a:endParaRPr lang="en-US" dirty="0">
              <a:solidFill>
                <a:schemeClr val="tx1"/>
              </a:solidFill>
              <a:latin typeface="PT Serif" panose="020A0603040505020204" pitchFamily="18" charset="0"/>
            </a:endParaRPr>
          </a:p>
          <a:p>
            <a:pPr lvl="1" algn="l">
              <a:lnSpc>
                <a:spcPct val="200000"/>
              </a:lnSpc>
            </a:pPr>
            <a:endParaRPr lang="en-US" dirty="0">
              <a:solidFill>
                <a:schemeClr val="tx1"/>
              </a:solidFill>
              <a:latin typeface="PT Serif" panose="020A0603040505020204" pitchFamily="18" charset="0"/>
            </a:endParaRPr>
          </a:p>
          <a:p>
            <a:pPr lvl="1" algn="l">
              <a:lnSpc>
                <a:spcPct val="200000"/>
              </a:lnSpc>
            </a:pPr>
            <a:r>
              <a:rPr lang="en-US" sz="2400" dirty="0">
                <a:solidFill>
                  <a:schemeClr val="tx1"/>
                </a:solidFill>
                <a:latin typeface="PT Serif" panose="020A0603040505020204" pitchFamily="18" charset="0"/>
                <a:ea typeface="PT Serif" pitchFamily="34" charset="-122"/>
                <a:cs typeface="PT Serif" pitchFamily="34" charset="-120"/>
              </a:rPr>
              <a:t>Dual Explanations</a:t>
            </a:r>
            <a:endParaRPr lang="en-US" sz="2400" dirty="0">
              <a:solidFill>
                <a:schemeClr val="tx1"/>
              </a:solidFill>
              <a:latin typeface="PT Serif" panose="020A0603040505020204" pitchFamily="18" charset="0"/>
            </a:endParaRPr>
          </a:p>
          <a:p>
            <a:pPr lvl="1" algn="l">
              <a:lnSpc>
                <a:spcPct val="200000"/>
              </a:lnSpc>
            </a:pPr>
            <a:r>
              <a:rPr lang="en-US" dirty="0">
                <a:solidFill>
                  <a:schemeClr val="tx1"/>
                </a:solidFill>
                <a:latin typeface="PT Serif" panose="020A0603040505020204" pitchFamily="18" charset="0"/>
                <a:ea typeface="DM Sans" pitchFamily="34" charset="-122"/>
                <a:cs typeface="DM Sans" pitchFamily="34" charset="-120"/>
              </a:rPr>
              <a:t>Provides both local and global insights</a:t>
            </a:r>
            <a:endParaRPr lang="en-US" dirty="0">
              <a:solidFill>
                <a:schemeClr val="tx1"/>
              </a:solidFill>
              <a:latin typeface="PT Serif" panose="020A0603040505020204" pitchFamily="18" charset="0"/>
            </a:endParaRPr>
          </a:p>
        </p:txBody>
      </p:sp>
      <p:sp>
        <p:nvSpPr>
          <p:cNvPr id="10" name="Text 6">
            <a:extLst>
              <a:ext uri="{FF2B5EF4-FFF2-40B4-BE49-F238E27FC236}">
                <a16:creationId xmlns:a16="http://schemas.microsoft.com/office/drawing/2014/main" id="{B7C25592-1A5D-94A2-1249-6AAE7946F079}"/>
              </a:ext>
            </a:extLst>
          </p:cNvPr>
          <p:cNvSpPr/>
          <p:nvPr/>
        </p:nvSpPr>
        <p:spPr>
          <a:xfrm>
            <a:off x="7816097" y="1557058"/>
            <a:ext cx="5973604" cy="469830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Fair Contribution</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Assigns fair value to each feature mathematically</a:t>
            </a:r>
            <a:endParaRPr lang="en-US" sz="1800"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ndParaRPr>
          </a:p>
          <a:p>
            <a:pPr marL="0" indent="0" algn="l">
              <a:lnSpc>
                <a:spcPct val="200000"/>
              </a:lnSpc>
              <a:buNone/>
            </a:pPr>
            <a:endParaRPr lang="en-US" dirty="0">
              <a:solidFill>
                <a:schemeClr val="tx1"/>
              </a:solidFill>
              <a:latin typeface="PT Serif" panose="020A0603040505020204" pitchFamily="18" charset="0"/>
              <a:ea typeface="PT Serif" pitchFamily="34" charset="-122"/>
              <a:cs typeface="PT Serif" pitchFamily="34" charset="-120"/>
            </a:endParaRPr>
          </a:p>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High Consistency</a:t>
            </a:r>
            <a:endParaRPr lang="en-US" sz="2400" dirty="0">
              <a:solidFill>
                <a:schemeClr val="tx1"/>
              </a:solidFill>
              <a:latin typeface="PT Serif" panose="020A0603040505020204" pitchFamily="18" charset="0"/>
            </a:endParaRPr>
          </a:p>
          <a:p>
            <a:pPr marL="0" indent="0" algn="l">
              <a:lnSpc>
                <a:spcPct val="200000"/>
              </a:lnSpc>
              <a:buNone/>
            </a:pPr>
            <a:r>
              <a:rPr lang="en-US" sz="1800" dirty="0">
                <a:solidFill>
                  <a:schemeClr val="tx1"/>
                </a:solidFill>
                <a:latin typeface="PT Serif" panose="020A0603040505020204" pitchFamily="18" charset="0"/>
                <a:ea typeface="DM Sans" pitchFamily="34" charset="-122"/>
                <a:cs typeface="DM Sans" pitchFamily="34" charset="-120"/>
              </a:rPr>
              <a:t>More stable than LIME</a:t>
            </a:r>
            <a:endParaRPr lang="en-US" sz="1800" dirty="0">
              <a:solidFill>
                <a:schemeClr val="tx1"/>
              </a:solidFill>
              <a:latin typeface="PT Serif" panose="020A0603040505020204" pitchFamily="18" charset="0"/>
            </a:endParaRPr>
          </a:p>
        </p:txBody>
      </p:sp>
      <p:sp>
        <p:nvSpPr>
          <p:cNvPr id="18" name="TextBox 17">
            <a:extLst>
              <a:ext uri="{FF2B5EF4-FFF2-40B4-BE49-F238E27FC236}">
                <a16:creationId xmlns:a16="http://schemas.microsoft.com/office/drawing/2014/main" id="{D2606A32-DC38-C57A-185C-C0ED8A25CEB1}"/>
              </a:ext>
            </a:extLst>
          </p:cNvPr>
          <p:cNvSpPr txBox="1"/>
          <p:nvPr/>
        </p:nvSpPr>
        <p:spPr>
          <a:xfrm>
            <a:off x="750141" y="1103540"/>
            <a:ext cx="7315200" cy="429541"/>
          </a:xfrm>
          <a:prstGeom prst="rect">
            <a:avLst/>
          </a:prstGeom>
          <a:noFill/>
        </p:spPr>
        <p:txBody>
          <a:bodyPr wrap="square">
            <a:spAutoFit/>
          </a:bodyPr>
          <a:lstStyle/>
          <a:p>
            <a:pPr marL="0" indent="0" algn="l">
              <a:lnSpc>
                <a:spcPts val="2900"/>
              </a:lnSpc>
              <a:buNone/>
            </a:pPr>
            <a:r>
              <a:rPr lang="en-US" sz="1800" dirty="0">
                <a:solidFill>
                  <a:schemeClr val="tx1"/>
                </a:solidFill>
                <a:latin typeface="PT Serif" panose="020A0603040505020204" pitchFamily="18" charset="0"/>
                <a:ea typeface="PT Serif" pitchFamily="34" charset="-122"/>
                <a:cs typeface="PT Serif" pitchFamily="34" charset="-120"/>
              </a:rPr>
              <a:t>SHapley Additive exPlanations</a:t>
            </a:r>
            <a:endParaRPr lang="en-US" sz="1800" dirty="0">
              <a:solidFill>
                <a:schemeClr val="tx1"/>
              </a:solidFill>
              <a:latin typeface="PT Serif" panose="020A0603040505020204" pitchFamily="18" charset="0"/>
            </a:endParaRPr>
          </a:p>
        </p:txBody>
      </p:sp>
      <p:sp>
        <p:nvSpPr>
          <p:cNvPr id="3" name="TextBox 2">
            <a:extLst>
              <a:ext uri="{FF2B5EF4-FFF2-40B4-BE49-F238E27FC236}">
                <a16:creationId xmlns:a16="http://schemas.microsoft.com/office/drawing/2014/main" id="{F374BD3F-4E56-584C-A66E-A5161639EF7E}"/>
              </a:ext>
            </a:extLst>
          </p:cNvPr>
          <p:cNvSpPr txBox="1"/>
          <p:nvPr/>
        </p:nvSpPr>
        <p:spPr>
          <a:xfrm>
            <a:off x="597741" y="5870541"/>
            <a:ext cx="14032659" cy="2585323"/>
          </a:xfrm>
          <a:prstGeom prst="rect">
            <a:avLst/>
          </a:prstGeom>
          <a:noFill/>
        </p:spPr>
        <p:txBody>
          <a:bodyPr wrap="square" rtlCol="0">
            <a:spAutoFit/>
          </a:bodyPr>
          <a:lstStyle/>
          <a:p>
            <a:r>
              <a:rPr lang="en-IN" dirty="0">
                <a:latin typeface="PT Serif" panose="020A0603040505020204" pitchFamily="18" charset="77"/>
              </a:rPr>
              <a:t>Game Theory Based – Uses Shapley Values from Cooperative Game Theory means:</a:t>
            </a:r>
          </a:p>
          <a:p>
            <a:endParaRPr lang="en-IN" dirty="0">
              <a:latin typeface="PT Serif" panose="020A0603040505020204" pitchFamily="18" charset="77"/>
            </a:endParaRPr>
          </a:p>
          <a:p>
            <a:r>
              <a:rPr lang="en-IN" dirty="0">
                <a:latin typeface="PT Serif" panose="020A0603040505020204" pitchFamily="18" charset="77"/>
              </a:rPr>
              <a:t>In model explainability (like SHAP), each feature is treated as a “player” in a game, and the model prediction is the “payout”.</a:t>
            </a:r>
          </a:p>
          <a:p>
            <a:r>
              <a:rPr lang="en-IN" dirty="0">
                <a:latin typeface="PT Serif" panose="020A0603040505020204" pitchFamily="18" charset="77"/>
              </a:rPr>
              <a:t>The goal is to fairly distribute the prediction among the features based on how much each feature contributed.</a:t>
            </a:r>
          </a:p>
          <a:p>
            <a:endParaRPr lang="en-IN" dirty="0">
              <a:latin typeface="PT Serif" panose="020A0603040505020204" pitchFamily="18" charset="77"/>
            </a:endParaRPr>
          </a:p>
          <a:p>
            <a:r>
              <a:rPr lang="en-IN" b="1" dirty="0">
                <a:latin typeface="PT Serif" panose="020A0603040505020204" pitchFamily="18" charset="77"/>
              </a:rPr>
              <a:t>Core Idea</a:t>
            </a:r>
          </a:p>
          <a:p>
            <a:endParaRPr lang="en-IN" b="1" dirty="0">
              <a:latin typeface="PT Serif" panose="020A0603040505020204" pitchFamily="18" charset="77"/>
            </a:endParaRPr>
          </a:p>
          <a:p>
            <a:r>
              <a:rPr lang="en-IN" dirty="0">
                <a:latin typeface="PT Serif" panose="020A0603040505020204" pitchFamily="18" charset="77"/>
              </a:rPr>
              <a:t>Shapley value = average marginal contribution of a feature across all possible feature combinations.</a:t>
            </a:r>
          </a:p>
          <a:p>
            <a:endParaRPr lang="en-US" dirty="0"/>
          </a:p>
        </p:txBody>
      </p:sp>
    </p:spTree>
    <p:extLst>
      <p:ext uri="{BB962C8B-B14F-4D97-AF65-F5344CB8AC3E}">
        <p14:creationId xmlns:p14="http://schemas.microsoft.com/office/powerpoint/2010/main" val="4191064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227EB-3A45-20AE-86A8-1E9187D1B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BBF3A-5114-DB4C-4C73-D2B040C77E38}"/>
              </a:ext>
            </a:extLst>
          </p:cNvPr>
          <p:cNvSpPr>
            <a:spLocks noGrp="1"/>
          </p:cNvSpPr>
          <p:nvPr>
            <p:ph type="title"/>
          </p:nvPr>
        </p:nvSpPr>
        <p:spPr>
          <a:xfrm>
            <a:off x="1143000" y="342769"/>
            <a:ext cx="13656055" cy="571631"/>
          </a:xfrm>
        </p:spPr>
        <p:txBody>
          <a:bodyPr/>
          <a:lstStyle/>
          <a:p>
            <a:pPr marL="0" indent="0" algn="l">
              <a:lnSpc>
                <a:spcPts val="4700"/>
              </a:lnSpc>
              <a:buNone/>
            </a:pPr>
            <a:r>
              <a:rPr lang="en-US" sz="3600" dirty="0">
                <a:solidFill>
                  <a:srgbClr val="020202"/>
                </a:solidFill>
                <a:ea typeface="PT Serif" pitchFamily="34" charset="-122"/>
                <a:cs typeface="PT Serif" pitchFamily="34" charset="-120"/>
              </a:rPr>
              <a:t>How SHAP Works</a:t>
            </a:r>
            <a:endParaRPr lang="en-US" sz="3600" dirty="0"/>
          </a:p>
        </p:txBody>
      </p:sp>
      <p:sp>
        <p:nvSpPr>
          <p:cNvPr id="4" name="TextBox 3">
            <a:extLst>
              <a:ext uri="{FF2B5EF4-FFF2-40B4-BE49-F238E27FC236}">
                <a16:creationId xmlns:a16="http://schemas.microsoft.com/office/drawing/2014/main" id="{B96AE2AD-611C-8164-AB6C-B0CB17753F80}"/>
              </a:ext>
            </a:extLst>
          </p:cNvPr>
          <p:cNvSpPr txBox="1"/>
          <p:nvPr/>
        </p:nvSpPr>
        <p:spPr>
          <a:xfrm>
            <a:off x="1905000" y="914400"/>
            <a:ext cx="7315200" cy="7347461"/>
          </a:xfrm>
          <a:prstGeom prst="rect">
            <a:avLst/>
          </a:prstGeom>
          <a:noFill/>
        </p:spPr>
        <p:txBody>
          <a:bodyPr wrap="square">
            <a:spAutoFit/>
          </a:bodyPr>
          <a:lstStyle/>
          <a:p>
            <a:pPr marL="0" indent="0" algn="l">
              <a:lnSpc>
                <a:spcPct val="200000"/>
              </a:lnSpc>
              <a:buNone/>
            </a:pPr>
            <a:r>
              <a:rPr lang="en-US" b="1" dirty="0">
                <a:solidFill>
                  <a:schemeClr val="tx1"/>
                </a:solidFill>
                <a:latin typeface="PT Serif" panose="020A0603040505020204" pitchFamily="18" charset="0"/>
                <a:ea typeface="PT Serif" pitchFamily="34" charset="-122"/>
                <a:cs typeface="PT Serif" pitchFamily="34" charset="-120"/>
              </a:rPr>
              <a:t>Pick Data Point</a:t>
            </a:r>
          </a:p>
          <a:p>
            <a:pPr marL="0" indent="0" algn="l">
              <a:lnSpc>
                <a:spcPct val="200000"/>
              </a:lnSpc>
              <a:buNone/>
            </a:pPr>
            <a:r>
              <a:rPr lang="en-US" sz="1600" dirty="0">
                <a:solidFill>
                  <a:schemeClr val="tx1"/>
                </a:solidFill>
                <a:latin typeface="PT Serif" panose="020A0603040505020204" pitchFamily="18" charset="0"/>
                <a:ea typeface="PT Serif" pitchFamily="34" charset="-122"/>
                <a:cs typeface="PT Serif" pitchFamily="34" charset="-120"/>
              </a:rPr>
              <a:t>Select the prediction to explain</a:t>
            </a:r>
          </a:p>
          <a:p>
            <a:pPr marL="0" indent="0" algn="l">
              <a:lnSpc>
                <a:spcPct val="200000"/>
              </a:lnSpc>
              <a:buNone/>
            </a:pPr>
            <a:r>
              <a:rPr lang="en-US" b="1" dirty="0">
                <a:solidFill>
                  <a:schemeClr val="tx1"/>
                </a:solidFill>
                <a:latin typeface="PT Serif" panose="020A0603040505020204" pitchFamily="18" charset="0"/>
                <a:ea typeface="PT Serif" pitchFamily="34" charset="-122"/>
                <a:cs typeface="PT Serif" pitchFamily="34" charset="-120"/>
              </a:rPr>
              <a:t>Compute Base Value</a:t>
            </a:r>
          </a:p>
          <a:p>
            <a:pPr marL="0" indent="0" algn="l">
              <a:lnSpc>
                <a:spcPct val="200000"/>
              </a:lnSpc>
              <a:buNone/>
            </a:pPr>
            <a:r>
              <a:rPr lang="en-US" sz="1600" dirty="0">
                <a:solidFill>
                  <a:schemeClr val="tx1"/>
                </a:solidFill>
                <a:latin typeface="PT Serif" panose="020A0603040505020204" pitchFamily="18" charset="0"/>
                <a:ea typeface="PT Serif" pitchFamily="34" charset="-122"/>
                <a:cs typeface="PT Serif" pitchFamily="34" charset="-120"/>
              </a:rPr>
              <a:t>Calculate the average model prediction across the dataset</a:t>
            </a:r>
          </a:p>
          <a:p>
            <a:pPr marL="0" indent="0" algn="l">
              <a:lnSpc>
                <a:spcPct val="200000"/>
              </a:lnSpc>
              <a:buNone/>
            </a:pPr>
            <a:r>
              <a:rPr lang="en-US" b="1" dirty="0">
                <a:solidFill>
                  <a:schemeClr val="tx1"/>
                </a:solidFill>
                <a:latin typeface="PT Serif" panose="020A0603040505020204" pitchFamily="18" charset="0"/>
                <a:ea typeface="PT Serif" pitchFamily="34" charset="-122"/>
                <a:cs typeface="PT Serif" pitchFamily="34" charset="-120"/>
              </a:rPr>
              <a:t>Create Feature Coalitions</a:t>
            </a:r>
          </a:p>
          <a:p>
            <a:pPr marL="0" indent="0" algn="l">
              <a:lnSpc>
                <a:spcPct val="200000"/>
              </a:lnSpc>
              <a:buNone/>
            </a:pPr>
            <a:r>
              <a:rPr lang="en-US" sz="1600" dirty="0">
                <a:solidFill>
                  <a:schemeClr val="tx1"/>
                </a:solidFill>
                <a:latin typeface="PT Serif" panose="020A0603040505020204" pitchFamily="18" charset="0"/>
                <a:ea typeface="PT Serif" pitchFamily="34" charset="-122"/>
                <a:cs typeface="PT Serif" pitchFamily="34" charset="-120"/>
              </a:rPr>
              <a:t>Generate different combinations of features (subsets)</a:t>
            </a:r>
          </a:p>
          <a:p>
            <a:pPr marL="0" indent="0" algn="l">
              <a:lnSpc>
                <a:spcPct val="200000"/>
              </a:lnSpc>
              <a:buNone/>
            </a:pPr>
            <a:r>
              <a:rPr lang="en-US" b="1" dirty="0">
                <a:solidFill>
                  <a:schemeClr val="tx1"/>
                </a:solidFill>
                <a:latin typeface="PT Serif" panose="020A0603040505020204" pitchFamily="18" charset="0"/>
                <a:ea typeface="PT Serif" pitchFamily="34" charset="-122"/>
                <a:cs typeface="PT Serif" pitchFamily="34" charset="-120"/>
              </a:rPr>
              <a:t>Measure Marginal Contribution</a:t>
            </a:r>
          </a:p>
          <a:p>
            <a:pPr marL="0" indent="0" algn="l">
              <a:lnSpc>
                <a:spcPct val="200000"/>
              </a:lnSpc>
              <a:buNone/>
            </a:pPr>
            <a:r>
              <a:rPr lang="en-US" sz="1600" dirty="0">
                <a:solidFill>
                  <a:schemeClr val="tx1"/>
                </a:solidFill>
                <a:latin typeface="PT Serif" panose="020A0603040505020204" pitchFamily="18" charset="0"/>
                <a:ea typeface="PT Serif" pitchFamily="34" charset="-122"/>
                <a:cs typeface="PT Serif" pitchFamily="34" charset="-120"/>
              </a:rPr>
              <a:t>Compare model output with and without each feature</a:t>
            </a:r>
          </a:p>
          <a:p>
            <a:pPr marL="0" indent="0" algn="l">
              <a:lnSpc>
                <a:spcPct val="200000"/>
              </a:lnSpc>
              <a:buNone/>
            </a:pPr>
            <a:r>
              <a:rPr lang="en-US" b="1" dirty="0">
                <a:solidFill>
                  <a:schemeClr val="tx1"/>
                </a:solidFill>
                <a:latin typeface="PT Serif" panose="020A0603040505020204" pitchFamily="18" charset="0"/>
                <a:ea typeface="PT Serif" pitchFamily="34" charset="-122"/>
                <a:cs typeface="PT Serif" pitchFamily="34" charset="-120"/>
              </a:rPr>
              <a:t>Calculate Shapley Values</a:t>
            </a:r>
          </a:p>
          <a:p>
            <a:pPr marL="0" indent="0" algn="l">
              <a:lnSpc>
                <a:spcPct val="200000"/>
              </a:lnSpc>
              <a:buNone/>
            </a:pPr>
            <a:r>
              <a:rPr lang="en-US" sz="1600" dirty="0">
                <a:solidFill>
                  <a:schemeClr val="tx1"/>
                </a:solidFill>
                <a:latin typeface="PT Serif" panose="020A0603040505020204" pitchFamily="18" charset="0"/>
                <a:ea typeface="PT Serif" pitchFamily="34" charset="-122"/>
                <a:cs typeface="PT Serif" pitchFamily="34" charset="-120"/>
              </a:rPr>
              <a:t>Average each feature’s contribution across all possible permutations</a:t>
            </a:r>
          </a:p>
          <a:p>
            <a:pPr marL="0" indent="0" algn="l">
              <a:lnSpc>
                <a:spcPct val="200000"/>
              </a:lnSpc>
              <a:buNone/>
            </a:pPr>
            <a:r>
              <a:rPr lang="en-US" b="1" dirty="0">
                <a:solidFill>
                  <a:schemeClr val="tx1"/>
                </a:solidFill>
                <a:latin typeface="PT Serif" panose="020A0603040505020204" pitchFamily="18" charset="0"/>
                <a:ea typeface="PT Serif" pitchFamily="34" charset="-122"/>
                <a:cs typeface="PT Serif" pitchFamily="34" charset="-120"/>
              </a:rPr>
              <a:t>Sum Contributions</a:t>
            </a:r>
          </a:p>
          <a:p>
            <a:pPr marL="0" indent="0" algn="l">
              <a:lnSpc>
                <a:spcPct val="200000"/>
              </a:lnSpc>
              <a:buNone/>
            </a:pPr>
            <a:r>
              <a:rPr lang="en-US" sz="1600" dirty="0">
                <a:solidFill>
                  <a:schemeClr val="tx1"/>
                </a:solidFill>
                <a:latin typeface="PT Serif" panose="020A0603040505020204" pitchFamily="18" charset="0"/>
                <a:ea typeface="PT Serif" pitchFamily="34" charset="-122"/>
                <a:cs typeface="PT Serif" pitchFamily="34" charset="-120"/>
              </a:rPr>
              <a:t>Base Value + Sum of SHAP values = Final Prediction</a:t>
            </a:r>
          </a:p>
          <a:p>
            <a:pPr marL="0" indent="0" algn="l">
              <a:lnSpc>
                <a:spcPct val="200000"/>
              </a:lnSpc>
              <a:buNone/>
            </a:pPr>
            <a:r>
              <a:rPr lang="en-US" b="1" dirty="0">
                <a:solidFill>
                  <a:schemeClr val="tx1"/>
                </a:solidFill>
                <a:latin typeface="PT Serif" panose="020A0603040505020204" pitchFamily="18" charset="0"/>
                <a:ea typeface="PT Serif" pitchFamily="34" charset="-122"/>
                <a:cs typeface="PT Serif" pitchFamily="34" charset="-120"/>
              </a:rPr>
              <a:t>Visualize Explanation</a:t>
            </a:r>
          </a:p>
          <a:p>
            <a:pPr marL="0" indent="0" algn="l">
              <a:lnSpc>
                <a:spcPct val="200000"/>
              </a:lnSpc>
              <a:buNone/>
            </a:pPr>
            <a:r>
              <a:rPr lang="en-US" sz="1600" dirty="0">
                <a:solidFill>
                  <a:schemeClr val="tx1"/>
                </a:solidFill>
                <a:latin typeface="PT Serif" panose="020A0603040505020204" pitchFamily="18" charset="0"/>
                <a:ea typeface="PT Serif" pitchFamily="34" charset="-122"/>
                <a:cs typeface="PT Serif" pitchFamily="34" charset="-120"/>
              </a:rPr>
              <a:t>Display results using force plot, summary plot, or waterfall plot</a:t>
            </a:r>
            <a:endParaRPr lang="en-US" sz="1600" dirty="0">
              <a:solidFill>
                <a:schemeClr val="tx1"/>
              </a:solidFill>
              <a:latin typeface="PT Serif" panose="020A0603040505020204" pitchFamily="18" charset="0"/>
            </a:endParaRPr>
          </a:p>
        </p:txBody>
      </p:sp>
      <p:sp>
        <p:nvSpPr>
          <p:cNvPr id="3" name="Arrow: Down 2">
            <a:extLst>
              <a:ext uri="{FF2B5EF4-FFF2-40B4-BE49-F238E27FC236}">
                <a16:creationId xmlns:a16="http://schemas.microsoft.com/office/drawing/2014/main" id="{3B06D20F-2984-DC19-FF14-A48F7FE273C1}"/>
              </a:ext>
            </a:extLst>
          </p:cNvPr>
          <p:cNvSpPr/>
          <p:nvPr/>
        </p:nvSpPr>
        <p:spPr>
          <a:xfrm>
            <a:off x="990600" y="1219199"/>
            <a:ext cx="609600" cy="6667631"/>
          </a:xfrm>
          <a:prstGeom prst="downArrow">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PT Serif" panose="020A0603040505020204" pitchFamily="18" charset="0"/>
            </a:endParaRPr>
          </a:p>
        </p:txBody>
      </p:sp>
    </p:spTree>
    <p:extLst>
      <p:ext uri="{BB962C8B-B14F-4D97-AF65-F5344CB8AC3E}">
        <p14:creationId xmlns:p14="http://schemas.microsoft.com/office/powerpoint/2010/main" val="1164823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8844C-6C9D-F7A9-AF83-99D447373D27}"/>
              </a:ext>
            </a:extLst>
          </p:cNvPr>
          <p:cNvSpPr>
            <a:spLocks noGrp="1"/>
          </p:cNvSpPr>
          <p:nvPr>
            <p:ph type="title"/>
          </p:nvPr>
        </p:nvSpPr>
        <p:spPr>
          <a:xfrm>
            <a:off x="974345" y="850741"/>
            <a:ext cx="13656055" cy="700320"/>
          </a:xfrm>
        </p:spPr>
        <p:txBody>
          <a:bodyPr/>
          <a:lstStyle/>
          <a:p>
            <a:pPr marL="0" indent="0" algn="l">
              <a:lnSpc>
                <a:spcPts val="5850"/>
              </a:lnSpc>
              <a:buNone/>
            </a:pPr>
            <a:r>
              <a:rPr lang="en-US" sz="3600" dirty="0">
                <a:solidFill>
                  <a:srgbClr val="020202"/>
                </a:solidFill>
                <a:latin typeface="PT Serif" pitchFamily="34" charset="0"/>
                <a:ea typeface="PT Serif" pitchFamily="34" charset="-122"/>
                <a:cs typeface="PT Serif" pitchFamily="34" charset="-120"/>
              </a:rPr>
              <a:t>LIME vs SHAP Comparison</a:t>
            </a:r>
            <a:endParaRPr lang="en-US" sz="3600" dirty="0"/>
          </a:p>
        </p:txBody>
      </p:sp>
      <p:sp>
        <p:nvSpPr>
          <p:cNvPr id="3" name="Title 1">
            <a:extLst>
              <a:ext uri="{FF2B5EF4-FFF2-40B4-BE49-F238E27FC236}">
                <a16:creationId xmlns:a16="http://schemas.microsoft.com/office/drawing/2014/main" id="{46FAD8A7-E671-F19F-40D5-16C95F6B4BDD}"/>
              </a:ext>
            </a:extLst>
          </p:cNvPr>
          <p:cNvSpPr txBox="1">
            <a:spLocks/>
          </p:cNvSpPr>
          <p:nvPr/>
        </p:nvSpPr>
        <p:spPr>
          <a:xfrm>
            <a:off x="487172" y="304800"/>
            <a:ext cx="13656055" cy="569387"/>
          </a:xfrm>
          <a:prstGeom prst="rect">
            <a:avLst/>
          </a:prstGeom>
        </p:spPr>
        <p:txBody>
          <a:bodyPr wrap="square" lIns="0" tIns="0" rIns="0" bIns="0">
            <a:spAutoFit/>
          </a:bodyPr>
          <a:lstStyle>
            <a:lvl1pPr>
              <a:defRPr sz="3700" b="0" i="0">
                <a:solidFill>
                  <a:srgbClr val="272C45"/>
                </a:solidFill>
                <a:latin typeface="PT Serif" panose="020A0603040505020204" pitchFamily="18" charset="0"/>
                <a:ea typeface="+mj-ea"/>
                <a:cs typeface="Lucida Sans Unicode"/>
              </a:defRPr>
            </a:lvl1pPr>
          </a:lstStyle>
          <a:p>
            <a:endParaRPr lang="en-IN" dirty="0"/>
          </a:p>
        </p:txBody>
      </p:sp>
      <p:graphicFrame>
        <p:nvGraphicFramePr>
          <p:cNvPr id="7" name="Table 7">
            <a:extLst>
              <a:ext uri="{FF2B5EF4-FFF2-40B4-BE49-F238E27FC236}">
                <a16:creationId xmlns:a16="http://schemas.microsoft.com/office/drawing/2014/main" id="{5CDD8641-59F6-D122-E657-FBB6E2EE9602}"/>
              </a:ext>
            </a:extLst>
          </p:cNvPr>
          <p:cNvGraphicFramePr>
            <a:graphicFrameLocks noGrp="1"/>
          </p:cNvGraphicFramePr>
          <p:nvPr>
            <p:extLst>
              <p:ext uri="{D42A27DB-BD31-4B8C-83A1-F6EECF244321}">
                <p14:modId xmlns:p14="http://schemas.microsoft.com/office/powerpoint/2010/main" val="459666525"/>
              </p:ext>
            </p:extLst>
          </p:nvPr>
        </p:nvGraphicFramePr>
        <p:xfrm>
          <a:off x="2057399" y="2067653"/>
          <a:ext cx="10515600" cy="5095306"/>
        </p:xfrm>
        <a:graphic>
          <a:graphicData uri="http://schemas.openxmlformats.org/drawingml/2006/table">
            <a:tbl>
              <a:tblPr firstRow="1" bandRow="1">
                <a:tableStyleId>{7DF18680-E054-41AD-8BC1-D1AEF772440D}</a:tableStyleId>
              </a:tblPr>
              <a:tblGrid>
                <a:gridCol w="3505200">
                  <a:extLst>
                    <a:ext uri="{9D8B030D-6E8A-4147-A177-3AD203B41FA5}">
                      <a16:colId xmlns:a16="http://schemas.microsoft.com/office/drawing/2014/main" val="4209381654"/>
                    </a:ext>
                  </a:extLst>
                </a:gridCol>
                <a:gridCol w="3505200">
                  <a:extLst>
                    <a:ext uri="{9D8B030D-6E8A-4147-A177-3AD203B41FA5}">
                      <a16:colId xmlns:a16="http://schemas.microsoft.com/office/drawing/2014/main" val="1028033252"/>
                    </a:ext>
                  </a:extLst>
                </a:gridCol>
                <a:gridCol w="3505200">
                  <a:extLst>
                    <a:ext uri="{9D8B030D-6E8A-4147-A177-3AD203B41FA5}">
                      <a16:colId xmlns:a16="http://schemas.microsoft.com/office/drawing/2014/main" val="849334779"/>
                    </a:ext>
                  </a:extLst>
                </a:gridCol>
              </a:tblGrid>
              <a:tr h="370840">
                <a:tc>
                  <a:txBody>
                    <a:bodyPr/>
                    <a:lstStyle/>
                    <a:p>
                      <a:pPr marL="0" marR="0" lvl="0" indent="0" algn="ctr" defTabSz="914400" eaLnBrk="1" fontAlgn="auto" latinLnBrk="0" hangingPunct="1">
                        <a:lnSpc>
                          <a:spcPct val="150000"/>
                        </a:lnSpc>
                        <a:spcBef>
                          <a:spcPts val="0"/>
                        </a:spcBef>
                        <a:spcAft>
                          <a:spcPts val="0"/>
                        </a:spcAft>
                        <a:buClrTx/>
                        <a:buSzTx/>
                        <a:buFontTx/>
                        <a:buNone/>
                        <a:tabLst/>
                        <a:defRPr/>
                      </a:pPr>
                      <a:r>
                        <a:rPr lang="en-US" sz="2000" b="1" dirty="0">
                          <a:solidFill>
                            <a:srgbClr val="383838"/>
                          </a:solidFill>
                          <a:latin typeface="PT Serif" panose="020A0603040505020204" pitchFamily="18" charset="0"/>
                        </a:rPr>
                        <a:t>Aspect</a:t>
                      </a:r>
                      <a:endParaRPr lang="en-US" sz="2000" dirty="0">
                        <a:latin typeface="PT Serif" panose="020A0603040505020204" pitchFamily="18" charset="0"/>
                      </a:endParaRPr>
                    </a:p>
                    <a:p>
                      <a:pPr algn="ctr">
                        <a:lnSpc>
                          <a:spcPct val="150000"/>
                        </a:lnSpc>
                      </a:pPr>
                      <a:endParaRPr lang="en-IN" sz="2000" dirty="0">
                        <a:latin typeface="PT Serif" panose="020A0603040505020204" pitchFamily="18" charset="0"/>
                      </a:endParaRPr>
                    </a:p>
                  </a:txBody>
                  <a:tcPr/>
                </a:tc>
                <a:tc>
                  <a:txBody>
                    <a:bodyPr/>
                    <a:lstStyle/>
                    <a:p>
                      <a:pPr marL="0" indent="0" algn="ctr">
                        <a:lnSpc>
                          <a:spcPts val="2850"/>
                        </a:lnSpc>
                        <a:buNone/>
                      </a:pPr>
                      <a:r>
                        <a:rPr lang="en-US" sz="2000" b="1" dirty="0">
                          <a:solidFill>
                            <a:srgbClr val="383838"/>
                          </a:solidFill>
                          <a:latin typeface="PT Serif" panose="020A0603040505020204" pitchFamily="18" charset="0"/>
                          <a:ea typeface="DM Sans" pitchFamily="34" charset="-122"/>
                          <a:cs typeface="DM Sans" pitchFamily="34" charset="-120"/>
                        </a:rPr>
                        <a:t>LIME</a:t>
                      </a:r>
                      <a:endParaRPr lang="en-US" sz="2000" dirty="0">
                        <a:latin typeface="PT Serif" panose="020A0603040505020204" pitchFamily="18" charset="0"/>
                      </a:endParaRPr>
                    </a:p>
                    <a:p>
                      <a:pPr algn="ctr">
                        <a:lnSpc>
                          <a:spcPct val="150000"/>
                        </a:lnSpc>
                      </a:pPr>
                      <a:endParaRPr lang="en-IN" sz="2000" dirty="0">
                        <a:latin typeface="PT Serif" panose="020A0603040505020204" pitchFamily="18" charset="0"/>
                      </a:endParaRPr>
                    </a:p>
                  </a:txBody>
                  <a:tcPr/>
                </a:tc>
                <a:tc>
                  <a:txBody>
                    <a:bodyPr/>
                    <a:lstStyle/>
                    <a:p>
                      <a:pPr marL="0" indent="0" algn="ctr">
                        <a:lnSpc>
                          <a:spcPts val="2850"/>
                        </a:lnSpc>
                        <a:buNone/>
                      </a:pPr>
                      <a:r>
                        <a:rPr lang="en-US" sz="2000" b="1" dirty="0">
                          <a:solidFill>
                            <a:srgbClr val="383838"/>
                          </a:solidFill>
                          <a:latin typeface="PT Serif" panose="020A0603040505020204" pitchFamily="18" charset="0"/>
                          <a:ea typeface="DM Sans" pitchFamily="34" charset="-122"/>
                          <a:cs typeface="DM Sans" pitchFamily="34" charset="-120"/>
                        </a:rPr>
                        <a:t>SHAP</a:t>
                      </a:r>
                      <a:endParaRPr lang="en-US" sz="2000" dirty="0">
                        <a:latin typeface="PT Serif" panose="020A0603040505020204" pitchFamily="18" charset="0"/>
                      </a:endParaRPr>
                    </a:p>
                    <a:p>
                      <a:pPr algn="ctr">
                        <a:lnSpc>
                          <a:spcPct val="150000"/>
                        </a:lnSpc>
                      </a:pPr>
                      <a:endParaRPr lang="en-IN" sz="2000" dirty="0">
                        <a:latin typeface="PT Serif" panose="020A0603040505020204" pitchFamily="18" charset="0"/>
                      </a:endParaRPr>
                    </a:p>
                  </a:txBody>
                  <a:tcPr/>
                </a:tc>
                <a:extLst>
                  <a:ext uri="{0D108BD9-81ED-4DB2-BD59-A6C34878D82A}">
                    <a16:rowId xmlns:a16="http://schemas.microsoft.com/office/drawing/2014/main" val="2200628742"/>
                  </a:ext>
                </a:extLst>
              </a:tr>
              <a:tr h="370840">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Explanation Type</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Local</a:t>
                      </a:r>
                      <a:endParaRPr lang="en-US" sz="1800"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Local + Global</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extLst>
                  <a:ext uri="{0D108BD9-81ED-4DB2-BD59-A6C34878D82A}">
                    <a16:rowId xmlns:a16="http://schemas.microsoft.com/office/drawing/2014/main" val="2612493649"/>
                  </a:ext>
                </a:extLst>
              </a:tr>
              <a:tr h="370840">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Stability</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Moderate</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High</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extLst>
                  <a:ext uri="{0D108BD9-81ED-4DB2-BD59-A6C34878D82A}">
                    <a16:rowId xmlns:a16="http://schemas.microsoft.com/office/drawing/2014/main" val="2222745369"/>
                  </a:ext>
                </a:extLst>
              </a:tr>
              <a:tr h="370840">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Speed</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Faster</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Slower</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extLst>
                  <a:ext uri="{0D108BD9-81ED-4DB2-BD59-A6C34878D82A}">
                    <a16:rowId xmlns:a16="http://schemas.microsoft.com/office/drawing/2014/main" val="2150551005"/>
                  </a:ext>
                </a:extLst>
              </a:tr>
              <a:tr h="370840">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Theory Base</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Surrogate Models</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Game Theory</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extLst>
                  <a:ext uri="{0D108BD9-81ED-4DB2-BD59-A6C34878D82A}">
                    <a16:rowId xmlns:a16="http://schemas.microsoft.com/office/drawing/2014/main" val="1105433087"/>
                  </a:ext>
                </a:extLst>
              </a:tr>
              <a:tr h="370840">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Consistency</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Lower</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tc>
                  <a:txBody>
                    <a:bodyPr/>
                    <a:lstStyle/>
                    <a:p>
                      <a:pPr marL="0" indent="0" algn="ctr">
                        <a:lnSpc>
                          <a:spcPts val="2850"/>
                        </a:lnSpc>
                        <a:buNone/>
                      </a:pPr>
                      <a:r>
                        <a:rPr lang="en-US" sz="1800" dirty="0">
                          <a:solidFill>
                            <a:srgbClr val="383838"/>
                          </a:solidFill>
                          <a:latin typeface="PT Serif" panose="020A0603040505020204" pitchFamily="18" charset="0"/>
                          <a:ea typeface="DM Sans" pitchFamily="34" charset="-122"/>
                          <a:cs typeface="DM Sans" pitchFamily="34" charset="-120"/>
                        </a:rPr>
                        <a:t>Higher</a:t>
                      </a:r>
                      <a:endParaRPr lang="en-US" sz="1800" dirty="0">
                        <a:latin typeface="PT Serif" panose="020A0603040505020204" pitchFamily="18" charset="0"/>
                      </a:endParaRPr>
                    </a:p>
                    <a:p>
                      <a:pPr algn="ctr">
                        <a:lnSpc>
                          <a:spcPct val="150000"/>
                        </a:lnSpc>
                      </a:pPr>
                      <a:endParaRPr lang="en-IN" dirty="0">
                        <a:latin typeface="PT Serif" panose="020A0603040505020204" pitchFamily="18" charset="0"/>
                      </a:endParaRPr>
                    </a:p>
                  </a:txBody>
                  <a:tcPr/>
                </a:tc>
                <a:extLst>
                  <a:ext uri="{0D108BD9-81ED-4DB2-BD59-A6C34878D82A}">
                    <a16:rowId xmlns:a16="http://schemas.microsoft.com/office/drawing/2014/main" val="2415761055"/>
                  </a:ext>
                </a:extLst>
              </a:tr>
            </a:tbl>
          </a:graphicData>
        </a:graphic>
      </p:graphicFrame>
    </p:spTree>
    <p:extLst>
      <p:ext uri="{BB962C8B-B14F-4D97-AF65-F5344CB8AC3E}">
        <p14:creationId xmlns:p14="http://schemas.microsoft.com/office/powerpoint/2010/main" val="1818704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object 13">
            <a:extLst>
              <a:ext uri="{FF2B5EF4-FFF2-40B4-BE49-F238E27FC236}">
                <a16:creationId xmlns:a16="http://schemas.microsoft.com/office/drawing/2014/main" id="{3F04B697-473D-669D-9C8F-C9DE89AB5E4F}"/>
              </a:ext>
            </a:extLst>
          </p:cNvPr>
          <p:cNvGrpSpPr/>
          <p:nvPr/>
        </p:nvGrpSpPr>
        <p:grpSpPr>
          <a:xfrm>
            <a:off x="7924800" y="4740298"/>
            <a:ext cx="5606582" cy="2270102"/>
            <a:chOff x="793788" y="4631308"/>
            <a:chExt cx="6437630" cy="2974340"/>
          </a:xfrm>
        </p:grpSpPr>
        <p:sp>
          <p:nvSpPr>
            <p:cNvPr id="36" name="object 14">
              <a:extLst>
                <a:ext uri="{FF2B5EF4-FFF2-40B4-BE49-F238E27FC236}">
                  <a16:creationId xmlns:a16="http://schemas.microsoft.com/office/drawing/2014/main" id="{32F01402-69CE-FD7F-E22D-7E23D4488693}"/>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7" name="object 15">
              <a:extLst>
                <a:ext uri="{FF2B5EF4-FFF2-40B4-BE49-F238E27FC236}">
                  <a16:creationId xmlns:a16="http://schemas.microsoft.com/office/drawing/2014/main" id="{4B7E94B8-8438-BEC4-B884-F0B4F3969A3F}"/>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32" name="object 13">
            <a:extLst>
              <a:ext uri="{FF2B5EF4-FFF2-40B4-BE49-F238E27FC236}">
                <a16:creationId xmlns:a16="http://schemas.microsoft.com/office/drawing/2014/main" id="{B6CE0EED-ED13-A0D4-5601-FBCB943237BF}"/>
              </a:ext>
            </a:extLst>
          </p:cNvPr>
          <p:cNvGrpSpPr/>
          <p:nvPr/>
        </p:nvGrpSpPr>
        <p:grpSpPr>
          <a:xfrm>
            <a:off x="919687" y="4707829"/>
            <a:ext cx="5606582" cy="2270102"/>
            <a:chOff x="793788" y="4631308"/>
            <a:chExt cx="6437630" cy="2974340"/>
          </a:xfrm>
        </p:grpSpPr>
        <p:sp>
          <p:nvSpPr>
            <p:cNvPr id="33" name="object 14">
              <a:extLst>
                <a:ext uri="{FF2B5EF4-FFF2-40B4-BE49-F238E27FC236}">
                  <a16:creationId xmlns:a16="http://schemas.microsoft.com/office/drawing/2014/main" id="{3DB9D33C-ABD1-3B2A-1A8B-EEF38D5203FC}"/>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34" name="object 15">
              <a:extLst>
                <a:ext uri="{FF2B5EF4-FFF2-40B4-BE49-F238E27FC236}">
                  <a16:creationId xmlns:a16="http://schemas.microsoft.com/office/drawing/2014/main" id="{857A84F6-63C8-59A6-5091-73BF0328F99A}"/>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6" name="object 13">
            <a:extLst>
              <a:ext uri="{FF2B5EF4-FFF2-40B4-BE49-F238E27FC236}">
                <a16:creationId xmlns:a16="http://schemas.microsoft.com/office/drawing/2014/main" id="{B7C91B19-2669-5848-F6EF-302DD70AD79E}"/>
              </a:ext>
            </a:extLst>
          </p:cNvPr>
          <p:cNvGrpSpPr/>
          <p:nvPr/>
        </p:nvGrpSpPr>
        <p:grpSpPr>
          <a:xfrm>
            <a:off x="9906000" y="1828800"/>
            <a:ext cx="4246124" cy="2270102"/>
            <a:chOff x="793788" y="4631308"/>
            <a:chExt cx="6437630" cy="2974340"/>
          </a:xfrm>
        </p:grpSpPr>
        <p:sp>
          <p:nvSpPr>
            <p:cNvPr id="27" name="object 14">
              <a:extLst>
                <a:ext uri="{FF2B5EF4-FFF2-40B4-BE49-F238E27FC236}">
                  <a16:creationId xmlns:a16="http://schemas.microsoft.com/office/drawing/2014/main" id="{6273988E-570B-6FEA-9AF5-4A38882E3570}"/>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8" name="object 15">
              <a:extLst>
                <a:ext uri="{FF2B5EF4-FFF2-40B4-BE49-F238E27FC236}">
                  <a16:creationId xmlns:a16="http://schemas.microsoft.com/office/drawing/2014/main" id="{92A7C6C3-C862-08B2-A2F0-79354B9480A5}"/>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20" name="object 13">
            <a:extLst>
              <a:ext uri="{FF2B5EF4-FFF2-40B4-BE49-F238E27FC236}">
                <a16:creationId xmlns:a16="http://schemas.microsoft.com/office/drawing/2014/main" id="{2DB218D0-A26E-A49E-F576-DEC2CE02D702}"/>
              </a:ext>
            </a:extLst>
          </p:cNvPr>
          <p:cNvGrpSpPr/>
          <p:nvPr/>
        </p:nvGrpSpPr>
        <p:grpSpPr>
          <a:xfrm>
            <a:off x="5091352" y="1828800"/>
            <a:ext cx="4502204" cy="2270102"/>
            <a:chOff x="793788" y="4631308"/>
            <a:chExt cx="6437630" cy="2974340"/>
          </a:xfrm>
        </p:grpSpPr>
        <p:sp>
          <p:nvSpPr>
            <p:cNvPr id="21" name="object 14">
              <a:extLst>
                <a:ext uri="{FF2B5EF4-FFF2-40B4-BE49-F238E27FC236}">
                  <a16:creationId xmlns:a16="http://schemas.microsoft.com/office/drawing/2014/main" id="{43B07B8E-BE07-2CE5-97C3-2FAAA3B06929}"/>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24" name="object 15">
              <a:extLst>
                <a:ext uri="{FF2B5EF4-FFF2-40B4-BE49-F238E27FC236}">
                  <a16:creationId xmlns:a16="http://schemas.microsoft.com/office/drawing/2014/main" id="{D83463B3-B40E-E2EE-2426-47CBDAE9CF3C}"/>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grpSp>
        <p:nvGrpSpPr>
          <p:cNvPr id="15" name="object 13">
            <a:extLst>
              <a:ext uri="{FF2B5EF4-FFF2-40B4-BE49-F238E27FC236}">
                <a16:creationId xmlns:a16="http://schemas.microsoft.com/office/drawing/2014/main" id="{FF103E19-A9C3-618F-EC24-214C933E6ABB}"/>
              </a:ext>
            </a:extLst>
          </p:cNvPr>
          <p:cNvGrpSpPr/>
          <p:nvPr/>
        </p:nvGrpSpPr>
        <p:grpSpPr>
          <a:xfrm>
            <a:off x="362191" y="1853683"/>
            <a:ext cx="4246124" cy="2270102"/>
            <a:chOff x="793788" y="4631308"/>
            <a:chExt cx="6437630" cy="2974340"/>
          </a:xfrm>
        </p:grpSpPr>
        <p:sp>
          <p:nvSpPr>
            <p:cNvPr id="16" name="object 14">
              <a:extLst>
                <a:ext uri="{FF2B5EF4-FFF2-40B4-BE49-F238E27FC236}">
                  <a16:creationId xmlns:a16="http://schemas.microsoft.com/office/drawing/2014/main" id="{5458F2A0-BD49-9250-8D98-B24A05CE824E}"/>
                </a:ext>
              </a:extLst>
            </p:cNvPr>
            <p:cNvSpPr/>
            <p:nvPr/>
          </p:nvSpPr>
          <p:spPr>
            <a:xfrm>
              <a:off x="793788" y="4631308"/>
              <a:ext cx="6437630" cy="2974340"/>
            </a:xfrm>
            <a:custGeom>
              <a:avLst/>
              <a:gdLst/>
              <a:ahLst/>
              <a:cxnLst/>
              <a:rect l="l" t="t" r="r" b="b"/>
              <a:pathLst>
                <a:path w="6437630" h="2974340">
                  <a:moveTo>
                    <a:pt x="0" y="70865"/>
                  </a:moveTo>
                  <a:lnTo>
                    <a:pt x="5568" y="43291"/>
                  </a:lnTo>
                  <a:lnTo>
                    <a:pt x="20753" y="20764"/>
                  </a:lnTo>
                  <a:lnTo>
                    <a:pt x="43275" y="5572"/>
                  </a:lnTo>
                  <a:lnTo>
                    <a:pt x="70853" y="0"/>
                  </a:lnTo>
                  <a:lnTo>
                    <a:pt x="6366217" y="0"/>
                  </a:lnTo>
                  <a:lnTo>
                    <a:pt x="6393792" y="5572"/>
                  </a:lnTo>
                  <a:lnTo>
                    <a:pt x="6416319" y="20764"/>
                  </a:lnTo>
                  <a:lnTo>
                    <a:pt x="6431511" y="43291"/>
                  </a:lnTo>
                  <a:lnTo>
                    <a:pt x="6437083" y="70865"/>
                  </a:lnTo>
                  <a:lnTo>
                    <a:pt x="6437083" y="2903435"/>
                  </a:lnTo>
                  <a:lnTo>
                    <a:pt x="6431511" y="2931014"/>
                  </a:lnTo>
                  <a:lnTo>
                    <a:pt x="6416319" y="2953535"/>
                  </a:lnTo>
                  <a:lnTo>
                    <a:pt x="6393792" y="2968720"/>
                  </a:lnTo>
                  <a:lnTo>
                    <a:pt x="6366217" y="2974289"/>
                  </a:lnTo>
                  <a:lnTo>
                    <a:pt x="70853" y="2974289"/>
                  </a:lnTo>
                  <a:lnTo>
                    <a:pt x="43275" y="2968720"/>
                  </a:lnTo>
                  <a:lnTo>
                    <a:pt x="20753" y="2953535"/>
                  </a:lnTo>
                  <a:lnTo>
                    <a:pt x="5568" y="2931014"/>
                  </a:lnTo>
                  <a:lnTo>
                    <a:pt x="0" y="2903435"/>
                  </a:lnTo>
                  <a:lnTo>
                    <a:pt x="0" y="70865"/>
                  </a:lnTo>
                  <a:close/>
                </a:path>
              </a:pathLst>
            </a:custGeom>
            <a:ln w="22860">
              <a:solidFill>
                <a:srgbClr val="C5D2CF"/>
              </a:solidFill>
            </a:ln>
          </p:spPr>
          <p:txBody>
            <a:bodyPr wrap="square" lIns="0" tIns="0" rIns="0" bIns="0" rtlCol="0"/>
            <a:lstStyle>
              <a:defPPr>
                <a:defRPr kern="0"/>
              </a:defPPr>
            </a:lstStyle>
            <a:p>
              <a:endParaRPr>
                <a:solidFill>
                  <a:schemeClr val="tx1"/>
                </a:solidFill>
                <a:latin typeface="PT Serif" panose="020A0603040505020204" pitchFamily="18" charset="0"/>
              </a:endParaRPr>
            </a:p>
          </p:txBody>
        </p:sp>
        <p:sp>
          <p:nvSpPr>
            <p:cNvPr id="19" name="object 15">
              <a:extLst>
                <a:ext uri="{FF2B5EF4-FFF2-40B4-BE49-F238E27FC236}">
                  <a16:creationId xmlns:a16="http://schemas.microsoft.com/office/drawing/2014/main" id="{F5166431-6B27-7A5A-DD4A-745D33D2AA2D}"/>
                </a:ext>
              </a:extLst>
            </p:cNvPr>
            <p:cNvSpPr/>
            <p:nvPr/>
          </p:nvSpPr>
          <p:spPr>
            <a:xfrm>
              <a:off x="816648" y="4654164"/>
              <a:ext cx="6391910" cy="1184309"/>
            </a:xfrm>
            <a:custGeom>
              <a:avLst/>
              <a:gdLst/>
              <a:ahLst/>
              <a:cxnLst/>
              <a:rect l="l" t="t" r="r" b="b"/>
              <a:pathLst>
                <a:path w="6391909" h="506095">
                  <a:moveTo>
                    <a:pt x="6347929" y="0"/>
                  </a:moveTo>
                  <a:lnTo>
                    <a:pt x="43421" y="0"/>
                  </a:lnTo>
                  <a:lnTo>
                    <a:pt x="26521" y="3411"/>
                  </a:lnTo>
                  <a:lnTo>
                    <a:pt x="12719" y="12715"/>
                  </a:lnTo>
                  <a:lnTo>
                    <a:pt x="3412" y="26521"/>
                  </a:lnTo>
                  <a:lnTo>
                    <a:pt x="0" y="43433"/>
                  </a:lnTo>
                  <a:lnTo>
                    <a:pt x="0" y="462533"/>
                  </a:lnTo>
                  <a:lnTo>
                    <a:pt x="3412" y="479446"/>
                  </a:lnTo>
                  <a:lnTo>
                    <a:pt x="12719" y="493252"/>
                  </a:lnTo>
                  <a:lnTo>
                    <a:pt x="26521" y="502556"/>
                  </a:lnTo>
                  <a:lnTo>
                    <a:pt x="43421" y="505967"/>
                  </a:lnTo>
                  <a:lnTo>
                    <a:pt x="6347929" y="505967"/>
                  </a:lnTo>
                  <a:lnTo>
                    <a:pt x="6364842" y="502556"/>
                  </a:lnTo>
                  <a:lnTo>
                    <a:pt x="6378648" y="493252"/>
                  </a:lnTo>
                  <a:lnTo>
                    <a:pt x="6387952" y="479446"/>
                  </a:lnTo>
                  <a:lnTo>
                    <a:pt x="6391363" y="462533"/>
                  </a:lnTo>
                  <a:lnTo>
                    <a:pt x="6391363" y="43433"/>
                  </a:lnTo>
                  <a:lnTo>
                    <a:pt x="6387952" y="26521"/>
                  </a:lnTo>
                  <a:lnTo>
                    <a:pt x="6378648" y="12715"/>
                  </a:lnTo>
                  <a:lnTo>
                    <a:pt x="6364842" y="3411"/>
                  </a:lnTo>
                  <a:lnTo>
                    <a:pt x="6347929" y="0"/>
                  </a:lnTo>
                  <a:close/>
                </a:path>
              </a:pathLst>
            </a:custGeom>
            <a:solidFill>
              <a:srgbClr val="DFEBE9"/>
            </a:solidFill>
          </p:spPr>
          <p:txBody>
            <a:bodyPr wrap="square" lIns="0" tIns="0" rIns="0" bIns="0" rtlCol="0"/>
            <a:lstStyle>
              <a:defPPr>
                <a:defRPr kern="0"/>
              </a:defPPr>
            </a:lstStyle>
            <a:p>
              <a:endParaRPr dirty="0">
                <a:solidFill>
                  <a:schemeClr val="tx1"/>
                </a:solidFill>
                <a:latin typeface="PT Serif" panose="020A0603040505020204" pitchFamily="18" charset="0"/>
              </a:endParaRPr>
            </a:p>
          </p:txBody>
        </p:sp>
      </p:grpSp>
      <p:sp>
        <p:nvSpPr>
          <p:cNvPr id="2" name="object 2"/>
          <p:cNvSpPr txBox="1">
            <a:spLocks noGrp="1"/>
          </p:cNvSpPr>
          <p:nvPr>
            <p:ph type="title"/>
          </p:nvPr>
        </p:nvSpPr>
        <p:spPr>
          <a:xfrm>
            <a:off x="653695" y="186919"/>
            <a:ext cx="13656055" cy="1082720"/>
          </a:xfrm>
          <a:prstGeom prst="rect">
            <a:avLst/>
          </a:prstGeom>
        </p:spPr>
        <p:txBody>
          <a:bodyPr vert="horz" wrap="square" lIns="0" tIns="439471" rIns="0" bIns="0" rtlCol="0">
            <a:spAutoFit/>
          </a:bodyPr>
          <a:lstStyle/>
          <a:p>
            <a:pPr marL="0" indent="0" algn="l">
              <a:lnSpc>
                <a:spcPts val="5350"/>
              </a:lnSpc>
              <a:buNone/>
            </a:pPr>
            <a:r>
              <a:rPr lang="en-US" sz="3600" dirty="0">
                <a:solidFill>
                  <a:schemeClr val="tx1"/>
                </a:solidFill>
                <a:ea typeface="PT Serif" pitchFamily="34" charset="-122"/>
                <a:cs typeface="PT Serif" pitchFamily="34" charset="-120"/>
              </a:rPr>
              <a:t>Key Takeaways</a:t>
            </a:r>
            <a:endParaRPr lang="en-US" sz="3600" dirty="0">
              <a:solidFill>
                <a:schemeClr val="tx1"/>
              </a:solidFill>
            </a:endParaRPr>
          </a:p>
        </p:txBody>
      </p:sp>
      <p:sp>
        <p:nvSpPr>
          <p:cNvPr id="14" name="Text 6">
            <a:extLst>
              <a:ext uri="{FF2B5EF4-FFF2-40B4-BE49-F238E27FC236}">
                <a16:creationId xmlns:a16="http://schemas.microsoft.com/office/drawing/2014/main" id="{BEBCEDAE-A091-212D-F1FD-EBC293DAA8C5}"/>
              </a:ext>
            </a:extLst>
          </p:cNvPr>
          <p:cNvSpPr/>
          <p:nvPr/>
        </p:nvSpPr>
        <p:spPr>
          <a:xfrm>
            <a:off x="5240269" y="1999956"/>
            <a:ext cx="4536611" cy="486528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Critical for Sensitive Domains</a:t>
            </a: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Interpretability is essential in healthcare, finance, and government</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7" name="Text 9">
            <a:extLst>
              <a:ext uri="{FF2B5EF4-FFF2-40B4-BE49-F238E27FC236}">
                <a16:creationId xmlns:a16="http://schemas.microsoft.com/office/drawing/2014/main" id="{A0DABD8D-9C74-8096-EA52-80379EDA21AF}"/>
              </a:ext>
            </a:extLst>
          </p:cNvPr>
          <p:cNvSpPr/>
          <p:nvPr/>
        </p:nvSpPr>
        <p:spPr>
          <a:xfrm>
            <a:off x="10134600" y="1966238"/>
            <a:ext cx="3818573" cy="2313740"/>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LIME for Quick Insights</a:t>
            </a: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Fast, local explanations for individual predictions</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18" name="Text 10">
            <a:extLst>
              <a:ext uri="{FF2B5EF4-FFF2-40B4-BE49-F238E27FC236}">
                <a16:creationId xmlns:a16="http://schemas.microsoft.com/office/drawing/2014/main" id="{A28AB057-DF06-4518-36F1-6697D1A50CCF}"/>
              </a:ext>
            </a:extLst>
          </p:cNvPr>
          <p:cNvSpPr/>
          <p:nvPr/>
        </p:nvSpPr>
        <p:spPr>
          <a:xfrm>
            <a:off x="10091671" y="3216717"/>
            <a:ext cx="3818573" cy="952619"/>
          </a:xfrm>
          <a:prstGeom prst="rect">
            <a:avLst/>
          </a:prstGeom>
          <a:noFill/>
          <a:ln/>
        </p:spPr>
        <p:txBody>
          <a:bodyPr wrap="square" lIns="0" tIns="0" rIns="0" bIns="0" rtlCol="0" anchor="t"/>
          <a:lstStyle/>
          <a:p>
            <a:pPr marL="0" indent="0" algn="l">
              <a:lnSpc>
                <a:spcPct val="200000"/>
              </a:lnSpc>
              <a:buNone/>
            </a:pPr>
            <a:endParaRPr lang="en-US" sz="2400" dirty="0">
              <a:solidFill>
                <a:schemeClr val="tx1"/>
              </a:solidFill>
              <a:latin typeface="PT Serif" panose="020A0603040505020204" pitchFamily="18" charset="0"/>
            </a:endParaRPr>
          </a:p>
        </p:txBody>
      </p:sp>
      <p:sp>
        <p:nvSpPr>
          <p:cNvPr id="22" name="Text 3">
            <a:extLst>
              <a:ext uri="{FF2B5EF4-FFF2-40B4-BE49-F238E27FC236}">
                <a16:creationId xmlns:a16="http://schemas.microsoft.com/office/drawing/2014/main" id="{14E2EBE4-A5A4-AC65-201B-5D66F292BE53}"/>
              </a:ext>
            </a:extLst>
          </p:cNvPr>
          <p:cNvSpPr/>
          <p:nvPr/>
        </p:nvSpPr>
        <p:spPr>
          <a:xfrm>
            <a:off x="659557" y="1937635"/>
            <a:ext cx="4246124"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XAI Makes ML Transparent</a:t>
            </a:r>
            <a:endParaRPr lang="en-US" sz="2400" dirty="0">
              <a:solidFill>
                <a:schemeClr val="tx1"/>
              </a:solidFill>
              <a:latin typeface="PT Serif" panose="020A0603040505020204" pitchFamily="18" charset="0"/>
            </a:endParaRP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Builds trust and accountability in AI systems</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23" name="Text 3">
            <a:extLst>
              <a:ext uri="{FF2B5EF4-FFF2-40B4-BE49-F238E27FC236}">
                <a16:creationId xmlns:a16="http://schemas.microsoft.com/office/drawing/2014/main" id="{3DCBC250-CD01-2E79-92CE-66C8490F3F70}"/>
              </a:ext>
            </a:extLst>
          </p:cNvPr>
          <p:cNvSpPr/>
          <p:nvPr/>
        </p:nvSpPr>
        <p:spPr>
          <a:xfrm>
            <a:off x="1090080" y="4794050"/>
            <a:ext cx="5791200"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SHAP for Consistency</a:t>
            </a: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Fair, stable explanations with both local and global views</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
        <p:nvSpPr>
          <p:cNvPr id="25" name="Text 3">
            <a:extLst>
              <a:ext uri="{FF2B5EF4-FFF2-40B4-BE49-F238E27FC236}">
                <a16:creationId xmlns:a16="http://schemas.microsoft.com/office/drawing/2014/main" id="{E3294D3C-0418-C801-8DB9-F254AEFAC6F0}"/>
              </a:ext>
            </a:extLst>
          </p:cNvPr>
          <p:cNvSpPr/>
          <p:nvPr/>
        </p:nvSpPr>
        <p:spPr>
          <a:xfrm>
            <a:off x="8104132" y="4794050"/>
            <a:ext cx="5427250" cy="2476441"/>
          </a:xfrm>
          <a:prstGeom prst="rect">
            <a:avLst/>
          </a:prstGeom>
          <a:noFill/>
          <a:ln/>
        </p:spPr>
        <p:txBody>
          <a:bodyPr wrap="square" lIns="0" tIns="0" rIns="0" bIns="0" rtlCol="0" anchor="t"/>
          <a:lstStyle/>
          <a:p>
            <a:pPr marL="0" indent="0" algn="l">
              <a:lnSpc>
                <a:spcPct val="200000"/>
              </a:lnSpc>
              <a:buNone/>
            </a:pPr>
            <a:r>
              <a:rPr lang="en-US" sz="2400" dirty="0">
                <a:solidFill>
                  <a:schemeClr val="tx1"/>
                </a:solidFill>
                <a:latin typeface="PT Serif" panose="020A0603040505020204" pitchFamily="18" charset="0"/>
                <a:ea typeface="PT Serif" pitchFamily="34" charset="-122"/>
                <a:cs typeface="PT Serif" pitchFamily="34" charset="-120"/>
              </a:rPr>
              <a:t>Future of ML</a:t>
            </a:r>
          </a:p>
          <a:p>
            <a:pPr algn="l">
              <a:lnSpc>
                <a:spcPct val="200000"/>
              </a:lnSpc>
            </a:pPr>
            <a:r>
              <a:rPr lang="en-US" dirty="0">
                <a:solidFill>
                  <a:schemeClr val="tx1"/>
                </a:solidFill>
                <a:latin typeface="PT Serif" panose="020A0603040505020204" pitchFamily="18" charset="0"/>
                <a:ea typeface="DM Sans" pitchFamily="34" charset="-122"/>
                <a:cs typeface="DM Sans" pitchFamily="34" charset="-120"/>
              </a:rPr>
              <a:t>Systems will combine high accuracy with explainability</a:t>
            </a:r>
            <a:endParaRPr lang="en-US" dirty="0">
              <a:solidFill>
                <a:schemeClr val="tx1"/>
              </a:solidFill>
              <a:latin typeface="PT Serif" panose="020A0603040505020204" pitchFamily="18" charset="0"/>
            </a:endParaRPr>
          </a:p>
          <a:p>
            <a:pPr marL="0" indent="0" algn="l">
              <a:lnSpc>
                <a:spcPct val="200000"/>
              </a:lnSpc>
              <a:buNone/>
            </a:pPr>
            <a:endParaRPr lang="en-US" sz="2400" dirty="0">
              <a:solidFill>
                <a:schemeClr val="tx1"/>
              </a:solidFill>
              <a:latin typeface="PT Serif" panose="020A0603040505020204" pitchFamily="18" charset="0"/>
            </a:endParaRPr>
          </a:p>
        </p:txBody>
      </p:sp>
    </p:spTree>
    <p:extLst>
      <p:ext uri="{BB962C8B-B14F-4D97-AF65-F5344CB8AC3E}">
        <p14:creationId xmlns:p14="http://schemas.microsoft.com/office/powerpoint/2010/main" val="8955261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1174</TotalTime>
  <Words>1349</Words>
  <Application>Microsoft Macintosh PowerPoint</Application>
  <PresentationFormat>Custom</PresentationFormat>
  <Paragraphs>278</Paragraphs>
  <Slides>17</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DM Sans</vt:lpstr>
      <vt:lpstr>Lucida Sans Unicode</vt:lpstr>
      <vt:lpstr>PT Serif</vt:lpstr>
      <vt:lpstr>PT Serif Light</vt:lpstr>
      <vt:lpstr>Office Theme</vt:lpstr>
      <vt:lpstr>PowerPoint Presentation</vt:lpstr>
      <vt:lpstr>PowerPoint Presentation</vt:lpstr>
      <vt:lpstr>What is Explainable AI?</vt:lpstr>
      <vt:lpstr>Why Do We Need XAI?</vt:lpstr>
      <vt:lpstr>The Black Box vs White Box Model </vt:lpstr>
      <vt:lpstr>Simple Example: Loan Approval</vt:lpstr>
      <vt:lpstr>Model Interpretability</vt:lpstr>
      <vt:lpstr>Model Complexity  vs Interpretability Trade-off</vt:lpstr>
      <vt:lpstr>Approaches in XAI</vt:lpstr>
      <vt:lpstr>Introduction to LIME</vt:lpstr>
      <vt:lpstr>How LIME Works</vt:lpstr>
      <vt:lpstr>LIME Example: Loan Rejection</vt:lpstr>
      <vt:lpstr>Limitations of LIME</vt:lpstr>
      <vt:lpstr>Introduction to SHAP</vt:lpstr>
      <vt:lpstr>How SHAP Works</vt:lpstr>
      <vt:lpstr>LIME vs SHAP Comparison</vt:lpstr>
      <vt:lpstr>Key Takeaways</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Vinayak Deshpande</cp:lastModifiedBy>
  <cp:revision>351</cp:revision>
  <dcterms:created xsi:type="dcterms:W3CDTF">2025-08-01T06:43:07Z</dcterms:created>
  <dcterms:modified xsi:type="dcterms:W3CDTF">2026-03-05T02:53:09Z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2025-08-01T00:00:00Z</vt:filetime>
  </property>
  <property fmtid="{D5CDD505-2E9C-101B-9397-08002B2CF9AE}" pid="3" name="Creator">
    <vt:lpwstr>Microsoft® PowerPoint® 2021</vt:lpwstr>
  </property>
  <property fmtid="{D5CDD505-2E9C-101B-9397-08002B2CF9AE}" pid="4" name="LastSaved">
    <vt:filetime>2025-08-01T00:00:00Z</vt:filetime>
  </property>
  <property fmtid="{D5CDD505-2E9C-101B-9397-08002B2CF9AE}" pid="5" name="Producer">
    <vt:lpwstr>Microsoft® PowerPoint® 2021</vt:lpwstr>
  </property>
</Properties>
</file>