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4" r:id="rId2"/>
    <p:sldId id="275" r:id="rId3"/>
    <p:sldId id="300" r:id="rId4"/>
    <p:sldId id="314" r:id="rId5"/>
    <p:sldId id="337" r:id="rId6"/>
    <p:sldId id="304" r:id="rId7"/>
    <p:sldId id="266" r:id="rId8"/>
    <p:sldId id="334" r:id="rId9"/>
    <p:sldId id="338" r:id="rId10"/>
    <p:sldId id="375" r:id="rId11"/>
    <p:sldId id="374" r:id="rId12"/>
    <p:sldId id="292" r:id="rId13"/>
    <p:sldId id="339" r:id="rId14"/>
    <p:sldId id="340" r:id="rId15"/>
    <p:sldId id="341" r:id="rId16"/>
    <p:sldId id="328" r:id="rId1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2891" autoAdjust="0"/>
  </p:normalViewPr>
  <p:slideViewPr>
    <p:cSldViewPr>
      <p:cViewPr varScale="1">
        <p:scale>
          <a:sx n="58" d="100"/>
          <a:sy n="58" d="100"/>
        </p:scale>
        <p:origin x="519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68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50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473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398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0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02-03-2026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02-03-2026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02-03-2026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02-03-2026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381000" y="2209800"/>
            <a:ext cx="13582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1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Gradient Boosting Machine (GBM)</a:t>
            </a:r>
            <a:endParaRPr lang="en-US" sz="41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5100"/>
              </a:lnSpc>
              <a:buNone/>
            </a:pPr>
            <a:endParaRPr lang="en-US" sz="41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A8D49-1B61-4101-77B3-D68D40457217}"/>
              </a:ext>
            </a:extLst>
          </p:cNvPr>
          <p:cNvSpPr txBox="1"/>
          <p:nvPr/>
        </p:nvSpPr>
        <p:spPr>
          <a:xfrm>
            <a:off x="398584" y="3189033"/>
            <a:ext cx="14079416" cy="39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Understanding and implementing one of machine learning's most elegant ensemble methods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93790" y="110716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251126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2685574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Idea of GBM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2156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251126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264306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GBM vs AdaBoost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380952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983831"/>
            <a:ext cx="5149810" cy="34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Term: Residuals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345447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380952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983831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953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1EAC6A6-8C3F-4954-512B-A2B54B6C5FB6}"/>
              </a:ext>
            </a:extLst>
          </p:cNvPr>
          <p:cNvSpPr/>
          <p:nvPr/>
        </p:nvSpPr>
        <p:spPr>
          <a:xfrm>
            <a:off x="793790" y="5308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54823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996348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Parameters: Learning Rate &amp; Trees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DFA16B1-6A6D-E449-B2C3-5B3B26C2C568}"/>
              </a:ext>
            </a:extLst>
          </p:cNvPr>
          <p:cNvSpPr/>
          <p:nvPr/>
        </p:nvSpPr>
        <p:spPr>
          <a:xfrm>
            <a:off x="7428547" y="529280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399EC45-7608-BF4F-96F3-D57F5F5EACFF}"/>
              </a:ext>
            </a:extLst>
          </p:cNvPr>
          <p:cNvSpPr/>
          <p:nvPr/>
        </p:nvSpPr>
        <p:spPr>
          <a:xfrm>
            <a:off x="7428547" y="5537730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Hyperparameter Tuning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F7B4E8E-7E63-124E-A4D0-9C605AEF0532}"/>
              </a:ext>
            </a:extLst>
          </p:cNvPr>
          <p:cNvSpPr/>
          <p:nvPr/>
        </p:nvSpPr>
        <p:spPr>
          <a:xfrm>
            <a:off x="7428548" y="49660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-92356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Gradient Boosting Machine (GBM)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273738"/>
            <a:ext cx="4164095" cy="3593662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526120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Residual Focus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Reduces errors from previous trees rather than re-weighting samples.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08472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325320"/>
            <a:ext cx="3818573" cy="3465880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60" y="2526120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Versatile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Works well for both classification and regression tasks.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9973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2278175"/>
            <a:ext cx="3976821" cy="3589225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526120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Sequential Building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Models built one after another, each improving on the last.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4408F-0F7C-ADF6-E881-8EDFE9974A5F}"/>
              </a:ext>
            </a:extLst>
          </p:cNvPr>
          <p:cNvSpPr txBox="1"/>
          <p:nvPr/>
        </p:nvSpPr>
        <p:spPr>
          <a:xfrm>
            <a:off x="582317" y="1311448"/>
            <a:ext cx="13940853" cy="80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An ensemble technique that builds models sequentially using gradient descent optimization to reduce residual errors.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 </a:t>
            </a:r>
            <a:endParaRPr lang="en-US" sz="2000" dirty="0">
              <a:latin typeface="PT Serif" panose="020A060304050502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719530-B631-C345-963F-D39AC10F1468}"/>
              </a:ext>
            </a:extLst>
          </p:cNvPr>
          <p:cNvSpPr txBox="1"/>
          <p:nvPr/>
        </p:nvSpPr>
        <p:spPr>
          <a:xfrm>
            <a:off x="582317" y="6271214"/>
            <a:ext cx="13940853" cy="1179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IN" sz="2000" dirty="0"/>
              <a:t>Each new model is trained to correct the residual errors of the previous one using gradient descent optimization. By minimizing a specified loss function stage-by-stage, GBM progressively improves predictive accuracy and handles complex nonlinear relationships effectively.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object 13">
            <a:extLst>
              <a:ext uri="{FF2B5EF4-FFF2-40B4-BE49-F238E27FC236}">
                <a16:creationId xmlns:a16="http://schemas.microsoft.com/office/drawing/2014/main" id="{6E45B585-A0FE-30FE-FC36-C60DF54B2BC2}"/>
              </a:ext>
            </a:extLst>
          </p:cNvPr>
          <p:cNvGrpSpPr/>
          <p:nvPr/>
        </p:nvGrpSpPr>
        <p:grpSpPr>
          <a:xfrm>
            <a:off x="7363372" y="4567423"/>
            <a:ext cx="6124028" cy="2061977"/>
            <a:chOff x="793788" y="4631308"/>
            <a:chExt cx="6437630" cy="2974340"/>
          </a:xfrm>
        </p:grpSpPr>
        <p:sp>
          <p:nvSpPr>
            <p:cNvPr id="47" name="object 14">
              <a:extLst>
                <a:ext uri="{FF2B5EF4-FFF2-40B4-BE49-F238E27FC236}">
                  <a16:creationId xmlns:a16="http://schemas.microsoft.com/office/drawing/2014/main" id="{7396689F-631B-A245-53E6-96710016A36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8" name="object 15">
              <a:extLst>
                <a:ext uri="{FF2B5EF4-FFF2-40B4-BE49-F238E27FC236}">
                  <a16:creationId xmlns:a16="http://schemas.microsoft.com/office/drawing/2014/main" id="{57101910-42A8-14D5-73BB-F1A908221F7D}"/>
                </a:ext>
              </a:extLst>
            </p:cNvPr>
            <p:cNvSpPr/>
            <p:nvPr/>
          </p:nvSpPr>
          <p:spPr>
            <a:xfrm>
              <a:off x="816648" y="4654167"/>
              <a:ext cx="6391910" cy="8518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43" name="object 13">
            <a:extLst>
              <a:ext uri="{FF2B5EF4-FFF2-40B4-BE49-F238E27FC236}">
                <a16:creationId xmlns:a16="http://schemas.microsoft.com/office/drawing/2014/main" id="{54840197-5C4F-D3B6-B2B2-BB33E053E26C}"/>
              </a:ext>
            </a:extLst>
          </p:cNvPr>
          <p:cNvGrpSpPr/>
          <p:nvPr/>
        </p:nvGrpSpPr>
        <p:grpSpPr>
          <a:xfrm>
            <a:off x="376365" y="1371601"/>
            <a:ext cx="4382591" cy="2743200"/>
            <a:chOff x="793788" y="4631308"/>
            <a:chExt cx="6437630" cy="2974340"/>
          </a:xfrm>
        </p:grpSpPr>
        <p:sp>
          <p:nvSpPr>
            <p:cNvPr id="44" name="object 14">
              <a:extLst>
                <a:ext uri="{FF2B5EF4-FFF2-40B4-BE49-F238E27FC236}">
                  <a16:creationId xmlns:a16="http://schemas.microsoft.com/office/drawing/2014/main" id="{86164584-B7BA-12A8-616B-9BA1158E8FCE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5" name="object 15">
              <a:extLst>
                <a:ext uri="{FF2B5EF4-FFF2-40B4-BE49-F238E27FC236}">
                  <a16:creationId xmlns:a16="http://schemas.microsoft.com/office/drawing/2014/main" id="{3DDA5C7D-C798-EB82-A835-7A4BD4CAA2FE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6" name="object 13">
            <a:extLst>
              <a:ext uri="{FF2B5EF4-FFF2-40B4-BE49-F238E27FC236}">
                <a16:creationId xmlns:a16="http://schemas.microsoft.com/office/drawing/2014/main" id="{D64B51DE-8551-E474-D43D-A4E8498B004A}"/>
              </a:ext>
            </a:extLst>
          </p:cNvPr>
          <p:cNvGrpSpPr/>
          <p:nvPr/>
        </p:nvGrpSpPr>
        <p:grpSpPr>
          <a:xfrm>
            <a:off x="5063756" y="1371601"/>
            <a:ext cx="4718986" cy="2743200"/>
            <a:chOff x="793788" y="4631308"/>
            <a:chExt cx="6437630" cy="2974340"/>
          </a:xfrm>
        </p:grpSpPr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013F44D9-F643-F6CB-830D-BC844CCFFC92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2" name="object 14">
              <a:extLst>
                <a:ext uri="{FF2B5EF4-FFF2-40B4-BE49-F238E27FC236}">
                  <a16:creationId xmlns:a16="http://schemas.microsoft.com/office/drawing/2014/main" id="{24B9657A-70C1-1FF1-29D6-0A84FB24C5E1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5" name="object 13">
            <a:extLst>
              <a:ext uri="{FF2B5EF4-FFF2-40B4-BE49-F238E27FC236}">
                <a16:creationId xmlns:a16="http://schemas.microsoft.com/office/drawing/2014/main" id="{70148CBA-CCB0-CF90-D30B-74347CD2AFE9}"/>
              </a:ext>
            </a:extLst>
          </p:cNvPr>
          <p:cNvGrpSpPr/>
          <p:nvPr/>
        </p:nvGrpSpPr>
        <p:grpSpPr>
          <a:xfrm>
            <a:off x="762000" y="4539821"/>
            <a:ext cx="6124028" cy="2061977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AFAFB433-445F-84F2-5654-05E266EFCBA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691360C6-AC20-985E-26C6-F44538D6EEAF}"/>
                </a:ext>
              </a:extLst>
            </p:cNvPr>
            <p:cNvSpPr/>
            <p:nvPr/>
          </p:nvSpPr>
          <p:spPr>
            <a:xfrm>
              <a:off x="816648" y="4654167"/>
              <a:ext cx="6391910" cy="8518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316B79C2-0084-6D29-58C4-A0BA282FB8B6}"/>
              </a:ext>
            </a:extLst>
          </p:cNvPr>
          <p:cNvGrpSpPr/>
          <p:nvPr/>
        </p:nvGrpSpPr>
        <p:grpSpPr>
          <a:xfrm>
            <a:off x="9943009" y="1371601"/>
            <a:ext cx="4382591" cy="2743200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62217902-07B9-CB3E-14BE-5B41480EDC3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16C54A3B-48D1-B03B-1A3D-B17D54D0F72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620" y="-183184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Core Idea of GBM</a:t>
            </a:r>
            <a:endParaRPr lang="en-US" sz="3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40269" y="1374039"/>
            <a:ext cx="453661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Calculate Residuals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Compute errors between actual and predicted values.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270163" y="1340321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Train New Tree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Build a tree to predict those residuals.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659557" y="1311718"/>
            <a:ext cx="4246124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Initial Prediction</a:t>
            </a:r>
            <a:endParaRPr lang="en-US" sz="2400" dirty="0"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marL="228600" indent="-228600" algn="l">
              <a:lnSpc>
                <a:spcPct val="200000"/>
              </a:lnSpc>
              <a:buAutoNum type="arabicPeriod"/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Start with a simple prediction like mean or log-odds.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928413" y="4456068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4.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Add Prediction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Combine new tree's output with previous model.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681805" y="4456068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5.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Iterate</a:t>
            </a:r>
            <a:endParaRPr lang="en-US" sz="2400" dirty="0">
              <a:latin typeface="PT Serif" panose="020A0603040505020204" pitchFamily="18" charset="0"/>
              <a:ea typeface="PT Serif" pitchFamily="34" charset="-122"/>
              <a:cs typeface="PT Serif" pitchFamily="34" charset="-120"/>
            </a:endParaRPr>
          </a:p>
          <a:p>
            <a:pPr algn="l">
              <a:lnSpc>
                <a:spcPct val="200000"/>
              </a:lnSpc>
            </a:pP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Repeat until error is minimized.</a:t>
            </a:r>
            <a:endParaRPr lang="en-US" sz="20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88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844C-6C9D-F7A9-AF83-99D44737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50741"/>
            <a:ext cx="13656055" cy="700320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GBM vs AdaBoost</a:t>
            </a:r>
            <a:endParaRPr lang="en-US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6FAD8A7-E671-F19F-40D5-16C95F6B4BDD}"/>
              </a:ext>
            </a:extLst>
          </p:cNvPr>
          <p:cNvSpPr txBox="1">
            <a:spLocks/>
          </p:cNvSpPr>
          <p:nvPr/>
        </p:nvSpPr>
        <p:spPr>
          <a:xfrm>
            <a:off x="487172" y="304800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CDD8641-59F6-D122-E657-FBB6E2EE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906739"/>
              </p:ext>
            </p:extLst>
          </p:nvPr>
        </p:nvGraphicFramePr>
        <p:xfrm>
          <a:off x="2057399" y="2067653"/>
          <a:ext cx="10515600" cy="53112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093816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80332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9334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Aspect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AdaBoost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GBM</a:t>
                      </a:r>
                      <a:endParaRPr lang="en-US" sz="20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sz="20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0628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Focus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Misclassified samples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Residual errors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49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Loss Function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Exponential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Any differentiable loss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74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Probability Calibration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Can be unstable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Usually smoother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55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Noise Handling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Sensitive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More robust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3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Flexibility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Limited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83838"/>
                          </a:solidFill>
                          <a:latin typeface="PT Serif" panose="020A0603040505020204" pitchFamily="18" charset="0"/>
                        </a:rPr>
                        <a:t>Highly flexible</a:t>
                      </a:r>
                      <a:endParaRPr lang="en-US" sz="1800" dirty="0">
                        <a:latin typeface="PT Serif" panose="020A060304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>
                        <a:latin typeface="PT Serif" panose="020A060304050502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761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70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object 13">
            <a:extLst>
              <a:ext uri="{FF2B5EF4-FFF2-40B4-BE49-F238E27FC236}">
                <a16:creationId xmlns:a16="http://schemas.microsoft.com/office/drawing/2014/main" id="{9EDED71C-1B31-D97D-38B2-DAFD66018FF9}"/>
              </a:ext>
            </a:extLst>
          </p:cNvPr>
          <p:cNvGrpSpPr/>
          <p:nvPr/>
        </p:nvGrpSpPr>
        <p:grpSpPr>
          <a:xfrm>
            <a:off x="750141" y="1510906"/>
            <a:ext cx="6411330" cy="2819400"/>
            <a:chOff x="793788" y="4631308"/>
            <a:chExt cx="6437630" cy="2974340"/>
          </a:xfrm>
        </p:grpSpPr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35293503-1DBD-8E87-3BE0-DDA71A76F25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22A1FF6-5464-B670-5D90-F39A5749423F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1" name="object 13">
            <a:extLst>
              <a:ext uri="{FF2B5EF4-FFF2-40B4-BE49-F238E27FC236}">
                <a16:creationId xmlns:a16="http://schemas.microsoft.com/office/drawing/2014/main" id="{5D4C71A9-44DE-C30C-23FB-01ADE60A16CF}"/>
              </a:ext>
            </a:extLst>
          </p:cNvPr>
          <p:cNvGrpSpPr/>
          <p:nvPr/>
        </p:nvGrpSpPr>
        <p:grpSpPr>
          <a:xfrm>
            <a:off x="760896" y="4548057"/>
            <a:ext cx="6377809" cy="2800483"/>
            <a:chOff x="793788" y="4631308"/>
            <a:chExt cx="6437630" cy="2974340"/>
          </a:xfrm>
        </p:grpSpPr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3AACB49F-E75F-EA46-C29E-950076399A3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3" name="object 15">
              <a:extLst>
                <a:ext uri="{FF2B5EF4-FFF2-40B4-BE49-F238E27FC236}">
                  <a16:creationId xmlns:a16="http://schemas.microsoft.com/office/drawing/2014/main" id="{6237666D-DF67-98DC-05C9-F9F742175B6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5" name="object 13">
            <a:extLst>
              <a:ext uri="{FF2B5EF4-FFF2-40B4-BE49-F238E27FC236}">
                <a16:creationId xmlns:a16="http://schemas.microsoft.com/office/drawing/2014/main" id="{E03DB111-066A-1466-380E-B1A5D264D147}"/>
              </a:ext>
            </a:extLst>
          </p:cNvPr>
          <p:cNvGrpSpPr/>
          <p:nvPr/>
        </p:nvGrpSpPr>
        <p:grpSpPr>
          <a:xfrm>
            <a:off x="7661042" y="4548056"/>
            <a:ext cx="6703784" cy="2800484"/>
            <a:chOff x="793788" y="4631308"/>
            <a:chExt cx="6437630" cy="2974340"/>
          </a:xfrm>
        </p:grpSpPr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692C152D-7A07-F647-B072-3F50C547CA6A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834CABA1-B7A9-4D1F-38E0-F9624839AD9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ECB50A61-AEB7-0B14-8AE8-E898A2B99D8F}"/>
              </a:ext>
            </a:extLst>
          </p:cNvPr>
          <p:cNvGrpSpPr/>
          <p:nvPr/>
        </p:nvGrpSpPr>
        <p:grpSpPr>
          <a:xfrm>
            <a:off x="7621816" y="1529822"/>
            <a:ext cx="6703784" cy="2800484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4874B8-2992-7984-EADD-99110A13FC67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C59F4FA-A558-F930-8313-B0B11B9AD525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896" y="175380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When GBM Performs Better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058373" y="1503683"/>
            <a:ext cx="6034239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Imbalanced Datasets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Handles class imbalance more effectively than AdaBoost.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Complex Patterns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Excels at capturing complex nonlinear relationships.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70996" y="1503683"/>
            <a:ext cx="5973604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Noisy Data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More robust to noise and outliers in the data.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Probability Calibration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Produces smoother, more reliable probability estimates.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21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F695D2-9B7A-1E1D-4200-79145B4B8CD6}"/>
              </a:ext>
            </a:extLst>
          </p:cNvPr>
          <p:cNvSpPr/>
          <p:nvPr/>
        </p:nvSpPr>
        <p:spPr>
          <a:xfrm>
            <a:off x="1408613" y="2681515"/>
            <a:ext cx="5185803" cy="2209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571" y="457200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Term: Residuals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676400" y="2285583"/>
            <a:ext cx="46502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Residual = Actual – Predicted</a:t>
            </a:r>
          </a:p>
          <a:p>
            <a:pPr algn="l">
              <a:lnSpc>
                <a:spcPct val="250000"/>
              </a:lnSpc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difference between true values and model predictions.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20598" y="2356130"/>
            <a:ext cx="4780222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How GBM Uses Residuals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Trains new trees to predict residuals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Enables gradual error correction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Makes refinement smoother than AdaBoost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object 13">
            <a:extLst>
              <a:ext uri="{FF2B5EF4-FFF2-40B4-BE49-F238E27FC236}">
                <a16:creationId xmlns:a16="http://schemas.microsoft.com/office/drawing/2014/main" id="{3A7BD985-4F33-92C4-8CA6-B96C8FF5B89E}"/>
              </a:ext>
            </a:extLst>
          </p:cNvPr>
          <p:cNvGrpSpPr/>
          <p:nvPr/>
        </p:nvGrpSpPr>
        <p:grpSpPr>
          <a:xfrm>
            <a:off x="7540262" y="2279126"/>
            <a:ext cx="5530189" cy="3514030"/>
            <a:chOff x="793788" y="4631308"/>
            <a:chExt cx="6437630" cy="297434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EF009A0C-E269-9B9B-724D-1EA47701A74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l"/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54AAF6B-CF3B-8A7E-D12F-750BEE487628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l"/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7" name="object 13">
            <a:extLst>
              <a:ext uri="{FF2B5EF4-FFF2-40B4-BE49-F238E27FC236}">
                <a16:creationId xmlns:a16="http://schemas.microsoft.com/office/drawing/2014/main" id="{71BCED2E-FE8E-F08D-11A2-6AA41947F461}"/>
              </a:ext>
            </a:extLst>
          </p:cNvPr>
          <p:cNvGrpSpPr/>
          <p:nvPr/>
        </p:nvGrpSpPr>
        <p:grpSpPr>
          <a:xfrm>
            <a:off x="1295400" y="2260209"/>
            <a:ext cx="5530189" cy="3530991"/>
            <a:chOff x="793788" y="4631308"/>
            <a:chExt cx="6437630" cy="297434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480FE160-EE77-03F2-9C11-9E87BC4678C6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l"/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985591CC-C239-2601-DAF4-E4354156F49D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 algn="l"/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571" y="457200"/>
            <a:ext cx="13656055" cy="910057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Parameters: Learning Rate &amp; Trees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735379" y="2290475"/>
            <a:ext cx="4650230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Learning Rate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Controls the contribution of each tree to the final model. Lower rates lead to better generalization but require more trees.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920598" y="2299666"/>
            <a:ext cx="4780222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Number of Trees (n_estimators)</a:t>
            </a: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More trees improve learning but slow training. Balance between accuracy and computational cost.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65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084" y="168459"/>
            <a:ext cx="13656055" cy="1130810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Additional Key Parameters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1908894"/>
            <a:ext cx="4164095" cy="415259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20702" y="2161276"/>
            <a:ext cx="397682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Subsample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Fraction of data used per tree. Prevents overfitting by adding randomness.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371988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1960476"/>
            <a:ext cx="3818573" cy="409264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68260" y="2161276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Loss Function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Logistic for classification tasks, Squared Error for regression problems.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63248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685800" y="1913331"/>
            <a:ext cx="3976821" cy="415259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38201" y="216127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Max Depth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Controls tree complexity. Deeper trees capture more patterns but risk overfitting.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accent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33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CB1C-B5B0-5CA1-C05E-E4AA920F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204" y="304800"/>
            <a:ext cx="13656055" cy="569387"/>
          </a:xfrm>
        </p:spPr>
        <p:txBody>
          <a:bodyPr/>
          <a:lstStyle/>
          <a:p>
            <a:r>
              <a:rPr lang="en-IN" sz="3600" dirty="0"/>
              <a:t>Example - Data snapshot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AEF6482-790A-8ED5-23B3-16552187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547177"/>
              </p:ext>
            </p:extLst>
          </p:nvPr>
        </p:nvGraphicFramePr>
        <p:xfrm>
          <a:off x="535299" y="3631989"/>
          <a:ext cx="13457433" cy="425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628">
                  <a:extLst>
                    <a:ext uri="{9D8B030D-6E8A-4147-A177-3AD203B41FA5}">
                      <a16:colId xmlns:a16="http://schemas.microsoft.com/office/drawing/2014/main" val="4367024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753841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168914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958356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20233843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65528654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52425665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9211791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00306412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484397359"/>
                    </a:ext>
                  </a:extLst>
                </a:gridCol>
                <a:gridCol w="1371605">
                  <a:extLst>
                    <a:ext uri="{9D8B030D-6E8A-4147-A177-3AD203B41FA5}">
                      <a16:colId xmlns:a16="http://schemas.microsoft.com/office/drawing/2014/main" val="4224849389"/>
                    </a:ext>
                  </a:extLst>
                </a:gridCol>
              </a:tblGrid>
              <a:tr h="990601">
                <a:tc>
                  <a:txBody>
                    <a:bodyPr/>
                    <a:lstStyle/>
                    <a:p>
                      <a:pPr algn="ctr" fontAlgn="ctr"/>
                      <a:br>
                        <a:rPr lang="en-IN" b="1" dirty="0">
                          <a:effectLst/>
                          <a:latin typeface="PT Serif" panose="020A0603040505020204" pitchFamily="18" charset="0"/>
                        </a:rPr>
                      </a:br>
                      <a:r>
                        <a:rPr lang="en-IN" b="1" dirty="0" err="1">
                          <a:effectLst/>
                          <a:latin typeface="PT Serif" panose="020A0603040505020204" pitchFamily="18" charset="0"/>
                        </a:rPr>
                        <a:t>Custid</a:t>
                      </a:r>
                      <a:endParaRPr lang="en-IN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 err="1">
                          <a:effectLst/>
                          <a:latin typeface="PT Serif" panose="020A0603040505020204" pitchFamily="18" charset="0"/>
                        </a:rPr>
                        <a:t>Pre_Month</a:t>
                      </a:r>
                      <a:endParaRPr lang="en-IN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 err="1">
                          <a:effectLst/>
                          <a:latin typeface="PT Serif" panose="020A0603040505020204" pitchFamily="18" charset="0"/>
                        </a:rPr>
                        <a:t>N_Products</a:t>
                      </a:r>
                      <a:endParaRPr lang="en-IN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 err="1">
                          <a:effectLst/>
                          <a:latin typeface="PT Serif" panose="020A0603040505020204" pitchFamily="18" charset="0"/>
                        </a:rPr>
                        <a:t>N_Service</a:t>
                      </a:r>
                      <a:endParaRPr lang="en-IN" b="1" dirty="0">
                        <a:effectLst/>
                        <a:latin typeface="PT Serif" panose="020A060304050502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BillAmt_1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BillAmt_2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BillAmt_3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112681"/>
                  </a:ext>
                </a:extLst>
              </a:tr>
              <a:tr h="653223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12.34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13.26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5.88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770528"/>
                  </a:ext>
                </a:extLst>
              </a:tr>
              <a:tr h="653223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18.65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5.13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368818"/>
                  </a:ext>
                </a:extLst>
              </a:tr>
              <a:tr h="653223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7.22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3797285"/>
                  </a:ext>
                </a:extLst>
              </a:tr>
              <a:tr h="653223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6.15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2.34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538851"/>
                  </a:ext>
                </a:extLst>
              </a:tr>
              <a:tr h="653223"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4.07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5547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84C9C4-A6AE-13F0-177F-D6BE3B052E30}"/>
              </a:ext>
            </a:extLst>
          </p:cNvPr>
          <p:cNvSpPr txBox="1"/>
          <p:nvPr/>
        </p:nvSpPr>
        <p:spPr>
          <a:xfrm>
            <a:off x="499204" y="888233"/>
            <a:ext cx="13457432" cy="226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Background: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The large skin-clinic in the city of “XXX” offers variety of products and services to customers. The marketing campaign was launched for introducing a new product.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The data shows response to the marketing campaign along with demographic and transaction data of customers.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The objective is to develop a predictive model which can be implemented for the next campaign</a:t>
            </a:r>
          </a:p>
        </p:txBody>
      </p:sp>
    </p:spTree>
    <p:extLst>
      <p:ext uri="{BB962C8B-B14F-4D97-AF65-F5344CB8AC3E}">
        <p14:creationId xmlns:p14="http://schemas.microsoft.com/office/powerpoint/2010/main" val="3328888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7D64-9A3D-ED56-868A-77A06913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345162"/>
            <a:ext cx="13656055" cy="553998"/>
          </a:xfrm>
        </p:spPr>
        <p:txBody>
          <a:bodyPr/>
          <a:lstStyle/>
          <a:p>
            <a:r>
              <a:rPr lang="en-IN" sz="3600" b="0" i="0" dirty="0">
                <a:solidFill>
                  <a:schemeClr val="tx1"/>
                </a:solidFill>
                <a:effectLst/>
              </a:rPr>
              <a:t>Variable Description</a:t>
            </a:r>
            <a:endParaRPr lang="en-IN" sz="36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B01CC8D-E2D1-B603-682F-197C45F84470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295400"/>
          <a:ext cx="1089660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3401592079"/>
                    </a:ext>
                  </a:extLst>
                </a:gridCol>
                <a:gridCol w="8172450">
                  <a:extLst>
                    <a:ext uri="{9D8B030D-6E8A-4147-A177-3AD203B41FA5}">
                      <a16:colId xmlns:a16="http://schemas.microsoft.com/office/drawing/2014/main" val="3196011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 b="1" dirty="0">
                          <a:effectLst/>
                          <a:latin typeface="PT Serif" panose="020A0603040505020204" pitchFamily="18" charset="0"/>
                        </a:rPr>
                        <a:t>Column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 b="1">
                          <a:effectLst/>
                          <a:latin typeface="PT Serif" panose="020A06030405050202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31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Custid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Unique Customer Identification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83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Age Group (1: &lt;32 years, 2: 32–48 years, 3: &gt;48 years)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93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Gender of Customer (1: Female, 2: Male)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955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Marital Status (1: Not Married, 2: Married)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0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Customer Campaign Response (1: Responded, 0: Not Responded)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515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Pre_Month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PT Serif" panose="020A0603040505020204" pitchFamily="18" charset="0"/>
                        </a:rPr>
                        <a:t>Purchase Status in Previous Month (1: Purchased, 2: No Purchase)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N_Products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Unique Products Purchased in One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389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N_Service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Number of Unique Services Purchased in One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53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BillAmt_1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Bill Amount (USD) for Purchase Transaction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69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 dirty="0">
                          <a:effectLst/>
                          <a:latin typeface="PT Serif" panose="020A0603040505020204" pitchFamily="18" charset="0"/>
                        </a:rPr>
                        <a:t>BillAmt_2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>
                          <a:effectLst/>
                          <a:latin typeface="PT Serif" panose="020A0603040505020204" pitchFamily="18" charset="0"/>
                        </a:rPr>
                        <a:t>Bill Amount (USD) for Purchase Transaction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20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IN">
                          <a:effectLst/>
                          <a:latin typeface="PT Serif" panose="020A0603040505020204" pitchFamily="18" charset="0"/>
                        </a:rPr>
                        <a:t>BillAmt_3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150000"/>
                        </a:lnSpc>
                      </a:pPr>
                      <a:r>
                        <a:rPr lang="en-US" dirty="0">
                          <a:effectLst/>
                          <a:latin typeface="PT Serif" panose="020A0603040505020204" pitchFamily="18" charset="0"/>
                        </a:rPr>
                        <a:t>Bill Amount (USD) for Purchase Transaction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053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4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85800" y="2130266"/>
            <a:ext cx="11599985" cy="5870734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830867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Implementation: Setup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914400" y="1295400"/>
            <a:ext cx="12801600" cy="666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Import libraries and initialize the GradientBoostingClassifier with key parameters.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sklearn.ensemble import GradientBoostingClassifier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sklearn.model_selection import train_test_split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sklearn.metrics import accuracy_score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gbm = GradientBoostingClassifier(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n_estimators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=200,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learning_rate=0.1,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random_state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=42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45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B60AFB3A-3C89-B0D5-7DF4-BBBC0DEF83EF}"/>
              </a:ext>
            </a:extLst>
          </p:cNvPr>
          <p:cNvSpPr/>
          <p:nvPr/>
        </p:nvSpPr>
        <p:spPr>
          <a:xfrm>
            <a:off x="650630" y="2362200"/>
            <a:ext cx="11599985" cy="2905394"/>
          </a:xfrm>
          <a:prstGeom prst="roundRect">
            <a:avLst>
              <a:gd name="adj" fmla="val 857"/>
            </a:avLst>
          </a:prstGeom>
          <a:solidFill>
            <a:srgbClr val="F2F2F2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A34AB-82AD-5A1C-DAC9-54A9A9B4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5" y="304800"/>
            <a:ext cx="12573000" cy="1443665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Implementation: Training &amp; Prediction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1FFF0-4CA2-49EC-F5F6-355FBF7303C5}"/>
              </a:ext>
            </a:extLst>
          </p:cNvPr>
          <p:cNvSpPr txBox="1"/>
          <p:nvPr/>
        </p:nvSpPr>
        <p:spPr>
          <a:xfrm>
            <a:off x="762000" y="1295400"/>
            <a:ext cx="12801600" cy="3787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Fit the model on training data and evaluate accuracy on test data.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gbm.fit(X_train, y_train)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y_pred = gbm.predict(X_test)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print("Accuracy:", accuracy_score(y_test, y_pred))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79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C136-BEE5-E4BC-0DFE-D0E2AB6E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9144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Hyperparameter Tuning: Learning Rate &amp; Trees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E4F5-B070-42C3-DA5D-3A791595C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1" y="2695592"/>
            <a:ext cx="6364224" cy="3580019"/>
          </a:xfrm>
        </p:spPr>
        <p:txBody>
          <a:bodyPr/>
          <a:lstStyle/>
          <a:p>
            <a:pPr algn="l">
              <a:lnSpc>
                <a:spcPct val="2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Learning Rate</a:t>
            </a: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0.01 – 0.1: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Better generalization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0.3 – 1.0: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Faster but risks overfitting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FB216-5D9E-598C-B16A-AC67ABCD09C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73141" y="2695592"/>
            <a:ext cx="6364224" cy="2887522"/>
          </a:xfrm>
        </p:spPr>
        <p:txBody>
          <a:bodyPr/>
          <a:lstStyle/>
          <a:p>
            <a:pPr algn="l">
              <a:lnSpc>
                <a:spcPct val="250000"/>
              </a:lnSpc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n_estimators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Typical range: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100 – 500</a:t>
            </a: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250000"/>
              </a:lnSpc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Strategy: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Increase if underfitting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5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324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C136-BEE5-E4BC-0DFE-D0E2AB6E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914400"/>
            <a:ext cx="13656055" cy="687048"/>
          </a:xfrm>
        </p:spPr>
        <p:txBody>
          <a:bodyPr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Hyperparameter Tuning: Depth &amp; Subsample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E4F5-B070-42C3-DA5D-3A791595C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695591"/>
            <a:ext cx="5669279" cy="3773021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max_depth</a:t>
            </a:r>
          </a:p>
          <a:p>
            <a:pPr algn="l">
              <a:lnSpc>
                <a:spcPct val="25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Ideal range: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3–5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High depth increases overfitting risk. Keep trees shallow for better generalization.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FB216-5D9E-598C-B16A-AC67ABCD09C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924800" y="2695590"/>
            <a:ext cx="5669279" cy="3773021"/>
          </a:xfrm>
        </p:spPr>
        <p:txBody>
          <a:bodyPr/>
          <a:lstStyle/>
          <a:p>
            <a:pPr marL="0" indent="0" algn="l">
              <a:lnSpc>
                <a:spcPct val="25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Subsample</a:t>
            </a:r>
          </a:p>
          <a:p>
            <a:pPr algn="l">
              <a:lnSpc>
                <a:spcPct val="250000"/>
              </a:lnSpc>
            </a:pPr>
            <a:r>
              <a:rPr lang="en-US" sz="1800" b="1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Recommended:</a:t>
            </a: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 0.7 – 0.9</a:t>
            </a: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5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Reduces variance, adds randomness, and improves model stability.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5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473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object 13">
            <a:extLst>
              <a:ext uri="{FF2B5EF4-FFF2-40B4-BE49-F238E27FC236}">
                <a16:creationId xmlns:a16="http://schemas.microsoft.com/office/drawing/2014/main" id="{6E45B585-A0FE-30FE-FC36-C60DF54B2BC2}"/>
              </a:ext>
            </a:extLst>
          </p:cNvPr>
          <p:cNvGrpSpPr/>
          <p:nvPr/>
        </p:nvGrpSpPr>
        <p:grpSpPr>
          <a:xfrm>
            <a:off x="7363372" y="4567423"/>
            <a:ext cx="6124028" cy="2061977"/>
            <a:chOff x="793788" y="4631308"/>
            <a:chExt cx="6437630" cy="2974340"/>
          </a:xfrm>
        </p:grpSpPr>
        <p:sp>
          <p:nvSpPr>
            <p:cNvPr id="47" name="object 14">
              <a:extLst>
                <a:ext uri="{FF2B5EF4-FFF2-40B4-BE49-F238E27FC236}">
                  <a16:creationId xmlns:a16="http://schemas.microsoft.com/office/drawing/2014/main" id="{7396689F-631B-A245-53E6-96710016A36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8" name="object 15">
              <a:extLst>
                <a:ext uri="{FF2B5EF4-FFF2-40B4-BE49-F238E27FC236}">
                  <a16:creationId xmlns:a16="http://schemas.microsoft.com/office/drawing/2014/main" id="{57101910-42A8-14D5-73BB-F1A908221F7D}"/>
                </a:ext>
              </a:extLst>
            </p:cNvPr>
            <p:cNvSpPr/>
            <p:nvPr/>
          </p:nvSpPr>
          <p:spPr>
            <a:xfrm>
              <a:off x="816648" y="4654167"/>
              <a:ext cx="6391910" cy="8518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43" name="object 13">
            <a:extLst>
              <a:ext uri="{FF2B5EF4-FFF2-40B4-BE49-F238E27FC236}">
                <a16:creationId xmlns:a16="http://schemas.microsoft.com/office/drawing/2014/main" id="{54840197-5C4F-D3B6-B2B2-BB33E053E26C}"/>
              </a:ext>
            </a:extLst>
          </p:cNvPr>
          <p:cNvGrpSpPr/>
          <p:nvPr/>
        </p:nvGrpSpPr>
        <p:grpSpPr>
          <a:xfrm>
            <a:off x="376365" y="1371601"/>
            <a:ext cx="4382591" cy="2743200"/>
            <a:chOff x="793788" y="4631308"/>
            <a:chExt cx="6437630" cy="2974340"/>
          </a:xfrm>
        </p:grpSpPr>
        <p:sp>
          <p:nvSpPr>
            <p:cNvPr id="44" name="object 14">
              <a:extLst>
                <a:ext uri="{FF2B5EF4-FFF2-40B4-BE49-F238E27FC236}">
                  <a16:creationId xmlns:a16="http://schemas.microsoft.com/office/drawing/2014/main" id="{86164584-B7BA-12A8-616B-9BA1158E8FCE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5" name="object 15">
              <a:extLst>
                <a:ext uri="{FF2B5EF4-FFF2-40B4-BE49-F238E27FC236}">
                  <a16:creationId xmlns:a16="http://schemas.microsoft.com/office/drawing/2014/main" id="{3DDA5C7D-C798-EB82-A835-7A4BD4CAA2FE}"/>
                </a:ext>
              </a:extLst>
            </p:cNvPr>
            <p:cNvSpPr/>
            <p:nvPr/>
          </p:nvSpPr>
          <p:spPr>
            <a:xfrm>
              <a:off x="816649" y="4654167"/>
              <a:ext cx="6391910" cy="803345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6" name="object 13">
            <a:extLst>
              <a:ext uri="{FF2B5EF4-FFF2-40B4-BE49-F238E27FC236}">
                <a16:creationId xmlns:a16="http://schemas.microsoft.com/office/drawing/2014/main" id="{D64B51DE-8551-E474-D43D-A4E8498B004A}"/>
              </a:ext>
            </a:extLst>
          </p:cNvPr>
          <p:cNvGrpSpPr/>
          <p:nvPr/>
        </p:nvGrpSpPr>
        <p:grpSpPr>
          <a:xfrm>
            <a:off x="5063756" y="1371601"/>
            <a:ext cx="4718986" cy="2743200"/>
            <a:chOff x="793788" y="4631308"/>
            <a:chExt cx="6437630" cy="2974340"/>
          </a:xfrm>
        </p:grpSpPr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013F44D9-F643-F6CB-830D-BC844CCFFC92}"/>
                </a:ext>
              </a:extLst>
            </p:cNvPr>
            <p:cNvSpPr/>
            <p:nvPr/>
          </p:nvSpPr>
          <p:spPr>
            <a:xfrm>
              <a:off x="816648" y="4654167"/>
              <a:ext cx="6391910" cy="803345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2" name="object 14">
              <a:extLst>
                <a:ext uri="{FF2B5EF4-FFF2-40B4-BE49-F238E27FC236}">
                  <a16:creationId xmlns:a16="http://schemas.microsoft.com/office/drawing/2014/main" id="{24B9657A-70C1-1FF1-29D6-0A84FB24C5E1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5" name="object 13">
            <a:extLst>
              <a:ext uri="{FF2B5EF4-FFF2-40B4-BE49-F238E27FC236}">
                <a16:creationId xmlns:a16="http://schemas.microsoft.com/office/drawing/2014/main" id="{70148CBA-CCB0-CF90-D30B-74347CD2AFE9}"/>
              </a:ext>
            </a:extLst>
          </p:cNvPr>
          <p:cNvGrpSpPr/>
          <p:nvPr/>
        </p:nvGrpSpPr>
        <p:grpSpPr>
          <a:xfrm>
            <a:off x="762000" y="4539821"/>
            <a:ext cx="6124028" cy="2061977"/>
            <a:chOff x="793788" y="4631308"/>
            <a:chExt cx="6437630" cy="2974340"/>
          </a:xfrm>
        </p:grpSpPr>
        <p:sp>
          <p:nvSpPr>
            <p:cNvPr id="36" name="object 14">
              <a:extLst>
                <a:ext uri="{FF2B5EF4-FFF2-40B4-BE49-F238E27FC236}">
                  <a16:creationId xmlns:a16="http://schemas.microsoft.com/office/drawing/2014/main" id="{AFAFB433-445F-84F2-5654-05E266EFCBAF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691360C6-AC20-985E-26C6-F44538D6EEAF}"/>
                </a:ext>
              </a:extLst>
            </p:cNvPr>
            <p:cNvSpPr/>
            <p:nvPr/>
          </p:nvSpPr>
          <p:spPr>
            <a:xfrm>
              <a:off x="816648" y="4654167"/>
              <a:ext cx="6391910" cy="8518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object 13">
            <a:extLst>
              <a:ext uri="{FF2B5EF4-FFF2-40B4-BE49-F238E27FC236}">
                <a16:creationId xmlns:a16="http://schemas.microsoft.com/office/drawing/2014/main" id="{316B79C2-0084-6D29-58C4-A0BA282FB8B6}"/>
              </a:ext>
            </a:extLst>
          </p:cNvPr>
          <p:cNvGrpSpPr/>
          <p:nvPr/>
        </p:nvGrpSpPr>
        <p:grpSpPr>
          <a:xfrm>
            <a:off x="9943009" y="1371601"/>
            <a:ext cx="4382591" cy="2743200"/>
            <a:chOff x="793788" y="4631308"/>
            <a:chExt cx="6437630" cy="2974340"/>
          </a:xfrm>
        </p:grpSpPr>
        <p:sp>
          <p:nvSpPr>
            <p:cNvPr id="33" name="object 14">
              <a:extLst>
                <a:ext uri="{FF2B5EF4-FFF2-40B4-BE49-F238E27FC236}">
                  <a16:creationId xmlns:a16="http://schemas.microsoft.com/office/drawing/2014/main" id="{62217902-07B9-CB3E-14BE-5B41480EDC3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16C54A3B-48D1-B03B-1A3D-B17D54D0F728}"/>
                </a:ext>
              </a:extLst>
            </p:cNvPr>
            <p:cNvSpPr/>
            <p:nvPr/>
          </p:nvSpPr>
          <p:spPr>
            <a:xfrm>
              <a:off x="816649" y="4654167"/>
              <a:ext cx="6391910" cy="80830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pPr>
                <a:lnSpc>
                  <a:spcPct val="200000"/>
                </a:lnSpc>
              </a:pP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620" y="-183184"/>
            <a:ext cx="13656055" cy="997761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240269" y="1374039"/>
            <a:ext cx="453661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Stable Probabilities</a:t>
            </a: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Produces more stable probability outputs than AdaBoost.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270163" y="1340321"/>
            <a:ext cx="3818573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Complex Data</a:t>
            </a: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Excels with complex and noisy datasets.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8AB057-DF06-4518-36F1-6697D1A50CCF}"/>
              </a:ext>
            </a:extLst>
          </p:cNvPr>
          <p:cNvSpPr/>
          <p:nvPr/>
        </p:nvSpPr>
        <p:spPr>
          <a:xfrm>
            <a:off x="10091671" y="2590800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659557" y="1311718"/>
            <a:ext cx="4246124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Residual Learning</a:t>
            </a: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GBM improves predictions by learning residuals, not re-weighting samples like AdaBoost.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DCBC250-CD01-2E79-92CE-66C8490F3F70}"/>
              </a:ext>
            </a:extLst>
          </p:cNvPr>
          <p:cNvSpPr/>
          <p:nvPr/>
        </p:nvSpPr>
        <p:spPr>
          <a:xfrm>
            <a:off x="935390" y="4441442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Tuning Essentials</a:t>
            </a: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Key parameters: learning rate, n_estimators, max_depth, subsample.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E3294D3C-0418-C801-8DB9-F254AEFAC6F0}"/>
              </a:ext>
            </a:extLst>
          </p:cNvPr>
          <p:cNvSpPr/>
          <p:nvPr/>
        </p:nvSpPr>
        <p:spPr>
          <a:xfrm>
            <a:off x="7575099" y="4441442"/>
            <a:ext cx="5791200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Foundation Model</a:t>
            </a:r>
            <a:endParaRPr lang="en-US" sz="12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Preferred base before advancing to XGBoost, LightGBM, or CatBoost.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26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</TotalTime>
  <Words>995</Words>
  <Application>Microsoft Office PowerPoint</Application>
  <PresentationFormat>Custom</PresentationFormat>
  <Paragraphs>254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DM Sans</vt:lpstr>
      <vt:lpstr>Lucida Sans Unicode</vt:lpstr>
      <vt:lpstr>PT Serif</vt:lpstr>
      <vt:lpstr>Office Theme</vt:lpstr>
      <vt:lpstr>PowerPoint Presentation</vt:lpstr>
      <vt:lpstr>PowerPoint Presentation</vt:lpstr>
      <vt:lpstr>Gradient Boosting Machine (GBM)</vt:lpstr>
      <vt:lpstr>Core Idea of GBM</vt:lpstr>
      <vt:lpstr>GBM vs AdaBoost</vt:lpstr>
      <vt:lpstr>When GBM Performs Better</vt:lpstr>
      <vt:lpstr>Key Term: Residuals</vt:lpstr>
      <vt:lpstr>Key Parameters: Learning Rate &amp; Trees</vt:lpstr>
      <vt:lpstr>Additional Key Parameters</vt:lpstr>
      <vt:lpstr>Example - Data snapshot</vt:lpstr>
      <vt:lpstr>Variable Description</vt:lpstr>
      <vt:lpstr>Python Implementation: Setup</vt:lpstr>
      <vt:lpstr>Python Implementation: Training &amp; Prediction</vt:lpstr>
      <vt:lpstr>Hyperparameter Tuning: Learning Rate &amp; Trees </vt:lpstr>
      <vt:lpstr>Hyperparameter Tuning: Depth &amp; Subsample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Fimran Sanghvi</cp:lastModifiedBy>
  <cp:revision>281</cp:revision>
  <dcterms:created xsi:type="dcterms:W3CDTF">2025-08-01T06:43:07Z</dcterms:created>
  <dcterms:modified xsi:type="dcterms:W3CDTF">2026-03-02T08:35:34Z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