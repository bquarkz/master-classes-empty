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4" r:id="rId2"/>
    <p:sldId id="275" r:id="rId3"/>
    <p:sldId id="304" r:id="rId4"/>
    <p:sldId id="337" r:id="rId5"/>
    <p:sldId id="376" r:id="rId6"/>
    <p:sldId id="266" r:id="rId7"/>
    <p:sldId id="377" r:id="rId8"/>
    <p:sldId id="300" r:id="rId9"/>
    <p:sldId id="292" r:id="rId10"/>
    <p:sldId id="378" r:id="rId11"/>
    <p:sldId id="340" r:id="rId12"/>
    <p:sldId id="341" r:id="rId13"/>
    <p:sldId id="328" r:id="rId14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2891" autoAdjust="0"/>
  </p:normalViewPr>
  <p:slideViewPr>
    <p:cSldViewPr>
      <p:cViewPr varScale="1">
        <p:scale>
          <a:sx n="58" d="100"/>
          <a:sy n="58" d="100"/>
        </p:scale>
        <p:origin x="519" y="3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05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42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0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398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00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06-03-2026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06-03-2026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06-03-2026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06-03-2026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381000" y="2209800"/>
            <a:ext cx="135821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XGBoost: Extreme Gradient Boosting</a:t>
            </a:r>
            <a:endParaRPr lang="en-US" sz="4100" dirty="0"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A8D49-1B61-4101-77B3-D68D40457217}"/>
              </a:ext>
            </a:extLst>
          </p:cNvPr>
          <p:cNvSpPr txBox="1"/>
          <p:nvPr/>
        </p:nvSpPr>
        <p:spPr>
          <a:xfrm>
            <a:off x="398584" y="3189033"/>
            <a:ext cx="14079416" cy="1235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An optimized and regularized version of Gradient Boosting designed for speed, scalability, and performance.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Widely used in Kaggle competitions and industry ML projects.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110716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251126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2685574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Idea of XGBoost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25112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2643068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XGBoost vs GBM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80952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983831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2"/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XGBoost Performs Better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8095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983831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4953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1EAC6A6-8C3F-4954-512B-A2B54B6C5FB6}"/>
              </a:ext>
            </a:extLst>
          </p:cNvPr>
          <p:cNvSpPr/>
          <p:nvPr/>
        </p:nvSpPr>
        <p:spPr>
          <a:xfrm>
            <a:off x="793790" y="53080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5482352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Terms: Learning Rate &amp; Trees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996348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Term: Regularization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6DFA16B1-6A6D-E449-B2C3-5B3B26C2C568}"/>
              </a:ext>
            </a:extLst>
          </p:cNvPr>
          <p:cNvSpPr/>
          <p:nvPr/>
        </p:nvSpPr>
        <p:spPr>
          <a:xfrm>
            <a:off x="7428547" y="529280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399EC45-7608-BF4F-96F3-D57F5F5EACFF}"/>
              </a:ext>
            </a:extLst>
          </p:cNvPr>
          <p:cNvSpPr/>
          <p:nvPr/>
        </p:nvSpPr>
        <p:spPr>
          <a:xfrm>
            <a:off x="7428547" y="5537730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/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Implementation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F7B4E8E-7E63-124E-A4D0-9C605AEF0532}"/>
              </a:ext>
            </a:extLst>
          </p:cNvPr>
          <p:cNvSpPr/>
          <p:nvPr/>
        </p:nvSpPr>
        <p:spPr>
          <a:xfrm>
            <a:off x="7428548" y="49660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61A48F65-9960-09D7-F7AD-889530E219FC}"/>
              </a:ext>
            </a:extLst>
          </p:cNvPr>
          <p:cNvSpPr/>
          <p:nvPr/>
        </p:nvSpPr>
        <p:spPr>
          <a:xfrm>
            <a:off x="838200" y="62244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C24968C1-ABDF-15B0-CF88-81F295185DD3}"/>
              </a:ext>
            </a:extLst>
          </p:cNvPr>
          <p:cNvSpPr/>
          <p:nvPr/>
        </p:nvSpPr>
        <p:spPr>
          <a:xfrm>
            <a:off x="838200" y="657949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B70E2BD-41DE-2DA2-5201-454012CC1AC3}"/>
              </a:ext>
            </a:extLst>
          </p:cNvPr>
          <p:cNvSpPr/>
          <p:nvPr/>
        </p:nvSpPr>
        <p:spPr>
          <a:xfrm>
            <a:off x="838200" y="6753806"/>
            <a:ext cx="5378410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algn="l"/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Hyperparameter Tuning: Learning Rate &amp; Trees</a:t>
            </a:r>
            <a:endParaRPr lang="en-US" sz="240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F8CFB441-D47D-6E29-1615-14152B7D26C7}"/>
              </a:ext>
            </a:extLst>
          </p:cNvPr>
          <p:cNvSpPr/>
          <p:nvPr/>
        </p:nvSpPr>
        <p:spPr>
          <a:xfrm>
            <a:off x="7467600" y="65751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8FA6D861-81F3-D849-70BE-33A381A31ACD}"/>
              </a:ext>
            </a:extLst>
          </p:cNvPr>
          <p:cNvSpPr/>
          <p:nvPr/>
        </p:nvSpPr>
        <p:spPr>
          <a:xfrm>
            <a:off x="7467600" y="6820092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Hyperparameter Tuning: Depth &amp; Sampling</a:t>
            </a:r>
            <a:endParaRPr lang="en-US" sz="24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32BC5D34-A8B6-F853-8ECE-5244C512672C}"/>
              </a:ext>
            </a:extLst>
          </p:cNvPr>
          <p:cNvSpPr/>
          <p:nvPr/>
        </p:nvSpPr>
        <p:spPr>
          <a:xfrm>
            <a:off x="7467601" y="62484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object 13">
            <a:extLst>
              <a:ext uri="{FF2B5EF4-FFF2-40B4-BE49-F238E27FC236}">
                <a16:creationId xmlns:a16="http://schemas.microsoft.com/office/drawing/2014/main" id="{8BC26874-D32D-B0C4-504A-8319293B7F2A}"/>
              </a:ext>
            </a:extLst>
          </p:cNvPr>
          <p:cNvGrpSpPr/>
          <p:nvPr/>
        </p:nvGrpSpPr>
        <p:grpSpPr>
          <a:xfrm>
            <a:off x="751470" y="4038600"/>
            <a:ext cx="6411330" cy="1689494"/>
            <a:chOff x="793788" y="4631308"/>
            <a:chExt cx="6437630" cy="2974340"/>
          </a:xfrm>
        </p:grpSpPr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1EBA9424-EEBD-DCA3-3EAC-C27465A465E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5" name="object 15">
              <a:extLst>
                <a:ext uri="{FF2B5EF4-FFF2-40B4-BE49-F238E27FC236}">
                  <a16:creationId xmlns:a16="http://schemas.microsoft.com/office/drawing/2014/main" id="{5E7C18E8-C80E-C1A0-CF76-5E1455C6789F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0" name="object 13">
            <a:extLst>
              <a:ext uri="{FF2B5EF4-FFF2-40B4-BE49-F238E27FC236}">
                <a16:creationId xmlns:a16="http://schemas.microsoft.com/office/drawing/2014/main" id="{3CC01AED-2482-CBED-1EFE-AA3F3687B2DC}"/>
              </a:ext>
            </a:extLst>
          </p:cNvPr>
          <p:cNvGrpSpPr/>
          <p:nvPr/>
        </p:nvGrpSpPr>
        <p:grpSpPr>
          <a:xfrm>
            <a:off x="7620000" y="4038600"/>
            <a:ext cx="6411330" cy="1689494"/>
            <a:chOff x="793788" y="4631308"/>
            <a:chExt cx="6437630" cy="2974340"/>
          </a:xfrm>
        </p:grpSpPr>
        <p:sp>
          <p:nvSpPr>
            <p:cNvPr id="31" name="object 14">
              <a:extLst>
                <a:ext uri="{FF2B5EF4-FFF2-40B4-BE49-F238E27FC236}">
                  <a16:creationId xmlns:a16="http://schemas.microsoft.com/office/drawing/2014/main" id="{42DEF435-3D17-4FA9-9522-3E98EF868AE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A38FA84D-C25A-6721-9EFF-93A9BCD893C7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7" name="object 13">
            <a:extLst>
              <a:ext uri="{FF2B5EF4-FFF2-40B4-BE49-F238E27FC236}">
                <a16:creationId xmlns:a16="http://schemas.microsoft.com/office/drawing/2014/main" id="{7453EB64-7342-4751-B226-B2A3A885DF46}"/>
              </a:ext>
            </a:extLst>
          </p:cNvPr>
          <p:cNvGrpSpPr/>
          <p:nvPr/>
        </p:nvGrpSpPr>
        <p:grpSpPr>
          <a:xfrm>
            <a:off x="7620000" y="1524000"/>
            <a:ext cx="6411330" cy="1689494"/>
            <a:chOff x="793788" y="4631308"/>
            <a:chExt cx="6437630" cy="2974340"/>
          </a:xfrm>
        </p:grpSpPr>
        <p:sp>
          <p:nvSpPr>
            <p:cNvPr id="28" name="object 14">
              <a:extLst>
                <a:ext uri="{FF2B5EF4-FFF2-40B4-BE49-F238E27FC236}">
                  <a16:creationId xmlns:a16="http://schemas.microsoft.com/office/drawing/2014/main" id="{1135B5DA-3FAF-6B95-B7FB-F2C8A5891D7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9" name="object 15">
              <a:extLst>
                <a:ext uri="{FF2B5EF4-FFF2-40B4-BE49-F238E27FC236}">
                  <a16:creationId xmlns:a16="http://schemas.microsoft.com/office/drawing/2014/main" id="{659D6209-EFA4-3521-61A1-BFBE38D0E14B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750141" y="1510906"/>
            <a:ext cx="6411330" cy="1689494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896" y="175380"/>
            <a:ext cx="13656055" cy="910057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Core Idea of XGBoost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058373" y="1503683"/>
            <a:ext cx="603423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Sequential Trees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Builds trees sequentially like GBM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Regularization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Controls model complexity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70996" y="1503683"/>
            <a:ext cx="5973604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Second-Order Gradients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Uses Hessian for better optimization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Parallel Processing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Enables faster training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9B7288-A522-1748-A403-B4FF6B316952}"/>
              </a:ext>
            </a:extLst>
          </p:cNvPr>
          <p:cNvSpPr txBox="1"/>
          <p:nvPr/>
        </p:nvSpPr>
        <p:spPr>
          <a:xfrm>
            <a:off x="750141" y="5672980"/>
            <a:ext cx="163587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PT Serif" panose="020A0603040505020204" pitchFamily="18" charset="0"/>
            </a:endParaRPr>
          </a:p>
          <a:p>
            <a:r>
              <a:rPr lang="en-IN" dirty="0" err="1">
                <a:latin typeface="PT Serif" panose="020A0603040505020204" pitchFamily="18" charset="0"/>
              </a:rPr>
              <a:t>XGBoost</a:t>
            </a:r>
            <a:r>
              <a:rPr lang="en-IN" dirty="0">
                <a:latin typeface="PT Serif" panose="020A0603040505020204" pitchFamily="18" charset="0"/>
              </a:rPr>
              <a:t> builds decision trees </a:t>
            </a:r>
            <a:r>
              <a:rPr lang="en-IN" b="1" dirty="0">
                <a:latin typeface="PT Serif" panose="020A0603040505020204" pitchFamily="18" charset="0"/>
              </a:rPr>
              <a:t>sequentially</a:t>
            </a:r>
            <a:r>
              <a:rPr lang="en-IN" dirty="0">
                <a:latin typeface="PT Serif" panose="020A0603040505020204" pitchFamily="18" charset="0"/>
              </a:rPr>
              <a:t>, where each new tree focuses on correcting the errors made by the previous trees </a:t>
            </a:r>
          </a:p>
          <a:p>
            <a:pPr marL="342900" indent="-342900">
              <a:buAutoNum type="arabicPeriod"/>
            </a:pPr>
            <a:endParaRPr lang="en-IN" dirty="0">
              <a:latin typeface="PT Serif" panose="020A0603040505020204" pitchFamily="18" charset="0"/>
            </a:endParaRPr>
          </a:p>
          <a:p>
            <a:r>
              <a:rPr lang="en-IN" dirty="0">
                <a:latin typeface="PT Serif" panose="020A0603040505020204" pitchFamily="18" charset="0"/>
              </a:rPr>
              <a:t>using gradient descent.</a:t>
            </a:r>
          </a:p>
          <a:p>
            <a:endParaRPr lang="en-IN" dirty="0">
              <a:latin typeface="PT Serif" panose="020A0603040505020204" pitchFamily="18" charset="0"/>
            </a:endParaRPr>
          </a:p>
          <a:p>
            <a:r>
              <a:rPr lang="en-IN" dirty="0">
                <a:latin typeface="PT Serif" panose="020A0603040505020204" pitchFamily="18" charset="0"/>
              </a:rPr>
              <a:t>It improves boosting by adding </a:t>
            </a:r>
            <a:r>
              <a:rPr lang="en-IN" b="1" dirty="0">
                <a:latin typeface="PT Serif" panose="020A0603040505020204" pitchFamily="18" charset="0"/>
              </a:rPr>
              <a:t>regularization, efficient optimization, and parallel computation</a:t>
            </a:r>
            <a:r>
              <a:rPr lang="en-IN" dirty="0">
                <a:latin typeface="PT Serif" panose="020A0603040505020204" pitchFamily="18" charset="0"/>
              </a:rPr>
              <a:t>, making the model both</a:t>
            </a:r>
          </a:p>
          <a:p>
            <a:endParaRPr lang="en-IN" dirty="0">
              <a:latin typeface="PT Serif" panose="020A0603040505020204" pitchFamily="18" charset="0"/>
            </a:endParaRPr>
          </a:p>
          <a:p>
            <a:r>
              <a:rPr lang="en-IN" b="1" dirty="0">
                <a:latin typeface="PT Serif" panose="020A0603040505020204" pitchFamily="18" charset="0"/>
              </a:rPr>
              <a:t>accurate and fast</a:t>
            </a:r>
            <a:r>
              <a:rPr lang="en-IN" dirty="0">
                <a:latin typeface="PT Serif" panose="020A0603040505020204" pitchFamily="18" charset="0"/>
              </a:rPr>
              <a:t>.</a:t>
            </a:r>
          </a:p>
          <a:p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2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844C-6C9D-F7A9-AF83-99D44737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850741"/>
            <a:ext cx="13656055" cy="700320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XGBoost vs GBM</a:t>
            </a:r>
            <a:endParaRPr lang="en-US" sz="3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6FAD8A7-E671-F19F-40D5-16C95F6B4BDD}"/>
              </a:ext>
            </a:extLst>
          </p:cNvPr>
          <p:cNvSpPr txBox="1">
            <a:spLocks/>
          </p:cNvSpPr>
          <p:nvPr/>
        </p:nvSpPr>
        <p:spPr>
          <a:xfrm>
            <a:off x="487172" y="304800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endParaRPr lang="en-IN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CDD8641-59F6-D122-E657-FBB6E2EE9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35050"/>
              </p:ext>
            </p:extLst>
          </p:nvPr>
        </p:nvGraphicFramePr>
        <p:xfrm>
          <a:off x="2057399" y="2067653"/>
          <a:ext cx="10515600" cy="529945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093816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80332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9334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Aspect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GBM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XGBoost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628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Speed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Moderate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Very Fast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49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Regularization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Limited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Strong (L1 &amp; L2)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74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Parallel Processing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No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Yes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55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Missing Values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Manual Handling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Automatic Handling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3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Performance on Large Data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Good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5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  <a:ea typeface="DM Sans" pitchFamily="34" charset="-122"/>
                          <a:cs typeface="DM Sans" pitchFamily="34" charset="-120"/>
                        </a:rPr>
                        <a:t>Excellent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761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70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69ED-B926-16DB-CF50-616BE449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52400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XGBoost Performs Better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7E90F-852D-B7FB-AA40-6D03F55B29F3}"/>
              </a:ext>
            </a:extLst>
          </p:cNvPr>
          <p:cNvSpPr txBox="1"/>
          <p:nvPr/>
        </p:nvSpPr>
        <p:spPr>
          <a:xfrm>
            <a:off x="365760" y="838200"/>
            <a:ext cx="7315200" cy="4583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Large datasets</a:t>
            </a: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High-dimensional features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Presence of missing values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Need for faster training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Competition-level accuracy requirements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792E4-FE27-494C-A6F0-10C3CE169122}"/>
              </a:ext>
            </a:extLst>
          </p:cNvPr>
          <p:cNvSpPr txBox="1"/>
          <p:nvPr/>
        </p:nvSpPr>
        <p:spPr>
          <a:xfrm>
            <a:off x="365760" y="5427427"/>
            <a:ext cx="14036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PT Serif" panose="020A0603040505020204" pitchFamily="18" charset="0"/>
              </a:rPr>
              <a:t>XGBoost</a:t>
            </a:r>
            <a:r>
              <a:rPr lang="en-IN" dirty="0">
                <a:latin typeface="PT Serif" panose="020A0603040505020204" pitchFamily="18" charset="0"/>
              </a:rPr>
              <a:t> performs best on </a:t>
            </a:r>
            <a:r>
              <a:rPr lang="en-IN" b="1" dirty="0">
                <a:latin typeface="PT Serif" panose="020A0603040505020204" pitchFamily="18" charset="0"/>
              </a:rPr>
              <a:t>structured/tabular datasets</a:t>
            </a:r>
            <a:r>
              <a:rPr lang="en-IN" dirty="0">
                <a:latin typeface="PT Serif" panose="020A0603040505020204" pitchFamily="18" charset="0"/>
              </a:rPr>
              <a:t> where relationships between variables are complex and non-linear.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br>
              <a:rPr lang="en-IN" dirty="0">
                <a:latin typeface="PT Serif" panose="020A0603040505020204" pitchFamily="18" charset="0"/>
              </a:rPr>
            </a:br>
            <a:r>
              <a:rPr lang="en-IN" dirty="0">
                <a:latin typeface="PT Serif" panose="020A0603040505020204" pitchFamily="18" charset="0"/>
              </a:rPr>
              <a:t>It works particularly well with </a:t>
            </a:r>
            <a:r>
              <a:rPr lang="en-IN" b="1" dirty="0">
                <a:latin typeface="PT Serif" panose="020A0603040505020204" pitchFamily="18" charset="0"/>
              </a:rPr>
              <a:t>large datasets, noisy data, and feature interactions</a:t>
            </a:r>
            <a:r>
              <a:rPr lang="en-IN" dirty="0">
                <a:latin typeface="PT Serif" panose="020A0603040505020204" pitchFamily="18" charset="0"/>
              </a:rPr>
              <a:t>, as sequential trees progressively correct  previous errors.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br>
              <a:rPr lang="en-IN" dirty="0">
                <a:latin typeface="PT Serif" panose="020A0603040505020204" pitchFamily="18" charset="0"/>
              </a:rPr>
            </a:br>
            <a:r>
              <a:rPr lang="en-IN" dirty="0">
                <a:latin typeface="PT Serif" panose="020A0603040505020204" pitchFamily="18" charset="0"/>
              </a:rPr>
              <a:t>Its </a:t>
            </a:r>
            <a:r>
              <a:rPr lang="en-IN" b="1" dirty="0">
                <a:latin typeface="PT Serif" panose="020A0603040505020204" pitchFamily="18" charset="0"/>
              </a:rPr>
              <a:t>regularization and handling of missing values</a:t>
            </a:r>
            <a:r>
              <a:rPr lang="en-IN" dirty="0">
                <a:latin typeface="PT Serif" panose="020A0603040505020204" pitchFamily="18" charset="0"/>
              </a:rPr>
              <a:t> also help it generalize better than many other tree models.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26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9347FB-508F-2935-5FA1-C5A74B83056C}"/>
              </a:ext>
            </a:extLst>
          </p:cNvPr>
          <p:cNvSpPr/>
          <p:nvPr/>
        </p:nvSpPr>
        <p:spPr>
          <a:xfrm>
            <a:off x="7447120" y="2678722"/>
            <a:ext cx="4650230" cy="18789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EAB96-6E3B-9932-193F-7345AC5A21A3}"/>
              </a:ext>
            </a:extLst>
          </p:cNvPr>
          <p:cNvSpPr/>
          <p:nvPr/>
        </p:nvSpPr>
        <p:spPr>
          <a:xfrm>
            <a:off x="1264920" y="2634761"/>
            <a:ext cx="4650230" cy="18789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702" y="477646"/>
            <a:ext cx="13656055" cy="910057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Term: Regularization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519330" y="2634761"/>
            <a:ext cx="465023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L1 (Alpha)</a:t>
            </a:r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Feature selection effect</a:t>
            </a:r>
            <a:endParaRPr lang="en-US" sz="2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2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772400" y="2678722"/>
            <a:ext cx="4780222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L2 (Lambda)</a:t>
            </a:r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Smooth weight reduction</a:t>
            </a:r>
            <a:endParaRPr lang="en-US" sz="2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2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875AF-6314-DFB1-2D30-07E307385F11}"/>
              </a:ext>
            </a:extLst>
          </p:cNvPr>
          <p:cNvSpPr txBox="1"/>
          <p:nvPr/>
        </p:nvSpPr>
        <p:spPr>
          <a:xfrm>
            <a:off x="1371600" y="1863645"/>
            <a:ext cx="9312655" cy="44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Prevents overfitting and makes XGBoost more stable than plain GBM.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FB542-5692-AF46-B359-DABA0E512CA8}"/>
              </a:ext>
            </a:extLst>
          </p:cNvPr>
          <p:cNvSpPr txBox="1"/>
          <p:nvPr/>
        </p:nvSpPr>
        <p:spPr>
          <a:xfrm>
            <a:off x="1143000" y="4885284"/>
            <a:ext cx="1366271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PT Serif" panose="020A0603040505020204" pitchFamily="18" charset="0"/>
              </a:rPr>
              <a:t>L1 Regularization (Lasso):</a:t>
            </a:r>
          </a:p>
          <a:p>
            <a:br>
              <a:rPr lang="en-IN" dirty="0">
                <a:latin typeface="PT Serif" panose="020A0603040505020204" pitchFamily="18" charset="0"/>
              </a:rPr>
            </a:br>
            <a:r>
              <a:rPr lang="en-IN" dirty="0">
                <a:latin typeface="PT Serif" panose="020A0603040505020204" pitchFamily="18" charset="0"/>
              </a:rPr>
              <a:t>Adds a penalty equal to the </a:t>
            </a:r>
            <a:r>
              <a:rPr lang="en-IN" b="1" dirty="0">
                <a:latin typeface="PT Serif" panose="020A0603040505020204" pitchFamily="18" charset="0"/>
              </a:rPr>
              <a:t>absolute value of leaf weights</a:t>
            </a:r>
            <a:r>
              <a:rPr lang="en-IN" dirty="0">
                <a:latin typeface="PT Serif" panose="020A0603040505020204" pitchFamily="18" charset="0"/>
              </a:rPr>
              <a:t> to the loss function. It encourages </a:t>
            </a:r>
            <a:r>
              <a:rPr lang="en-IN" b="1" dirty="0">
                <a:latin typeface="PT Serif" panose="020A0603040505020204" pitchFamily="18" charset="0"/>
              </a:rPr>
              <a:t>sparsity</a:t>
            </a:r>
            <a:r>
              <a:rPr lang="en-IN" dirty="0">
                <a:latin typeface="PT Serif" panose="020A0603040505020204" pitchFamily="18" charset="0"/>
              </a:rPr>
              <a:t>, meaning some weights</a:t>
            </a:r>
          </a:p>
          <a:p>
            <a:endParaRPr lang="en-IN" dirty="0">
              <a:latin typeface="PT Serif" panose="020A0603040505020204" pitchFamily="18" charset="0"/>
            </a:endParaRPr>
          </a:p>
          <a:p>
            <a:r>
              <a:rPr lang="en-IN" dirty="0">
                <a:latin typeface="PT Serif" panose="020A0603040505020204" pitchFamily="18" charset="0"/>
              </a:rPr>
              <a:t>become exactly zero, which helps in </a:t>
            </a:r>
            <a:r>
              <a:rPr lang="en-IN" b="1" dirty="0">
                <a:latin typeface="PT Serif" panose="020A0603040505020204" pitchFamily="18" charset="0"/>
              </a:rPr>
              <a:t>feature selection and simpler models</a:t>
            </a:r>
            <a:r>
              <a:rPr lang="en-IN" dirty="0">
                <a:latin typeface="PT Serif" panose="020A0603040505020204" pitchFamily="18" charset="0"/>
              </a:rPr>
              <a:t>.</a:t>
            </a:r>
          </a:p>
          <a:p>
            <a:endParaRPr lang="en-IN" dirty="0">
              <a:latin typeface="PT Serif" panose="020A0603040505020204" pitchFamily="18" charset="0"/>
            </a:endParaRPr>
          </a:p>
          <a:p>
            <a:r>
              <a:rPr lang="en-IN" b="1" dirty="0">
                <a:latin typeface="PT Serif" panose="020A0603040505020204" pitchFamily="18" charset="0"/>
              </a:rPr>
              <a:t>L2 Regularization (Ridge):</a:t>
            </a:r>
          </a:p>
          <a:p>
            <a:br>
              <a:rPr lang="en-IN" dirty="0">
                <a:latin typeface="PT Serif" panose="020A0603040505020204" pitchFamily="18" charset="0"/>
              </a:rPr>
            </a:br>
            <a:r>
              <a:rPr lang="en-IN" dirty="0">
                <a:latin typeface="PT Serif" panose="020A0603040505020204" pitchFamily="18" charset="0"/>
              </a:rPr>
              <a:t>Adds a penalty equal to the </a:t>
            </a:r>
            <a:r>
              <a:rPr lang="en-IN" b="1" dirty="0">
                <a:latin typeface="PT Serif" panose="020A0603040505020204" pitchFamily="18" charset="0"/>
              </a:rPr>
              <a:t>square of leaf weights</a:t>
            </a:r>
            <a:r>
              <a:rPr lang="en-IN" dirty="0">
                <a:latin typeface="PT Serif" panose="020A0603040505020204" pitchFamily="18" charset="0"/>
              </a:rPr>
              <a:t> to the loss function. It prevents very large weights and helps </a:t>
            </a:r>
            <a:r>
              <a:rPr lang="en-IN" b="1" dirty="0">
                <a:latin typeface="PT Serif" panose="020A0603040505020204" pitchFamily="18" charset="0"/>
              </a:rPr>
              <a:t>reduce overfitting</a:t>
            </a:r>
          </a:p>
          <a:p>
            <a:endParaRPr lang="en-IN" b="1" dirty="0">
              <a:latin typeface="PT Serif" panose="020A0603040505020204" pitchFamily="18" charset="0"/>
            </a:endParaRPr>
          </a:p>
          <a:p>
            <a:r>
              <a:rPr lang="en-IN" b="1" dirty="0">
                <a:latin typeface="PT Serif" panose="020A0603040505020204" pitchFamily="18" charset="0"/>
              </a:rPr>
              <a:t>by stabilizing the model</a:t>
            </a:r>
            <a:r>
              <a:rPr lang="en-IN" dirty="0">
                <a:latin typeface="PT Serif" panose="020A0603040505020204" pitchFamily="18" charset="0"/>
              </a:rPr>
              <a:t>.</a:t>
            </a:r>
          </a:p>
          <a:p>
            <a:endParaRPr lang="en-US" dirty="0">
              <a:latin typeface="PT Serif" panose="020A060304050502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702" y="477646"/>
            <a:ext cx="13656055" cy="910057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Terms: Learning Rate &amp; Trees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441702" y="1836851"/>
            <a:ext cx="465023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Learning Rate (eta)</a:t>
            </a:r>
            <a:endParaRPr lang="en-US" sz="2400" b="1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Controls step size of updates. Lower values improve generalization.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8269729" y="1821609"/>
            <a:ext cx="4650230" cy="266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400" b="1" dirty="0" err="1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n_estimators</a:t>
            </a:r>
            <a:endParaRPr lang="en-US" sz="2400" b="1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Number of boosting rounds. Higher values increase learning capacity.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541C8-E3F7-8045-9E77-AE65E614F652}"/>
              </a:ext>
            </a:extLst>
          </p:cNvPr>
          <p:cNvSpPr txBox="1"/>
          <p:nvPr/>
        </p:nvSpPr>
        <p:spPr>
          <a:xfrm>
            <a:off x="1143000" y="4699831"/>
            <a:ext cx="1313051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PT Serif" panose="020A0603040505020204" pitchFamily="18" charset="0"/>
              </a:rPr>
              <a:t>Learning Rate (</a:t>
            </a:r>
            <a:r>
              <a:rPr lang="el-GR" b="1" dirty="0">
                <a:latin typeface="PT Serif" panose="020A0603040505020204" pitchFamily="18" charset="0"/>
              </a:rPr>
              <a:t>η):</a:t>
            </a:r>
            <a:endParaRPr lang="en-US" b="1" dirty="0">
              <a:latin typeface="PT Serif" panose="020A0603040505020204" pitchFamily="18" charset="0"/>
            </a:endParaRPr>
          </a:p>
          <a:p>
            <a:br>
              <a:rPr lang="el-GR" dirty="0">
                <a:latin typeface="PT Serif" panose="020A0603040505020204" pitchFamily="18" charset="0"/>
              </a:rPr>
            </a:br>
            <a:r>
              <a:rPr lang="en-IN" dirty="0">
                <a:latin typeface="PT Serif" panose="020A0603040505020204" pitchFamily="18" charset="0"/>
              </a:rPr>
              <a:t>Controls how much each new tree contributes to correcting previous errors. A </a:t>
            </a:r>
            <a:r>
              <a:rPr lang="en-IN" b="1" dirty="0">
                <a:latin typeface="PT Serif" panose="020A0603040505020204" pitchFamily="18" charset="0"/>
              </a:rPr>
              <a:t>smaller learning rate makes learning slower </a:t>
            </a:r>
          </a:p>
          <a:p>
            <a:endParaRPr lang="en-IN" b="1" dirty="0">
              <a:latin typeface="PT Serif" panose="020A0603040505020204" pitchFamily="18" charset="0"/>
            </a:endParaRPr>
          </a:p>
          <a:p>
            <a:r>
              <a:rPr lang="en-IN" b="1" dirty="0">
                <a:latin typeface="PT Serif" panose="020A0603040505020204" pitchFamily="18" charset="0"/>
              </a:rPr>
              <a:t>but improves generalization</a:t>
            </a:r>
            <a:r>
              <a:rPr lang="en-IN" dirty="0">
                <a:latin typeface="PT Serif" panose="020A0603040505020204" pitchFamily="18" charset="0"/>
              </a:rPr>
              <a:t>.</a:t>
            </a:r>
          </a:p>
          <a:p>
            <a:endParaRPr lang="en-IN" dirty="0">
              <a:latin typeface="PT Serif" panose="020A06030405050202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b="1" dirty="0">
                <a:latin typeface="PT Serif" panose="020A0603040505020204" pitchFamily="18" charset="0"/>
              </a:rPr>
              <a:t>Number of Trees(</a:t>
            </a:r>
            <a:r>
              <a:rPr lang="en-US" b="1" dirty="0" err="1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n_estimators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)</a:t>
            </a:r>
            <a:endParaRPr lang="en-US" b="1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br>
              <a:rPr lang="en-IN" dirty="0">
                <a:latin typeface="PT Serif" panose="020A0603040505020204" pitchFamily="18" charset="0"/>
              </a:rPr>
            </a:br>
            <a:r>
              <a:rPr lang="en-IN" dirty="0">
                <a:latin typeface="PT Serif" panose="020A0603040505020204" pitchFamily="18" charset="0"/>
              </a:rPr>
              <a:t>Represents the total boosting rounds. </a:t>
            </a:r>
            <a:r>
              <a:rPr lang="en-IN" b="1" dirty="0">
                <a:latin typeface="PT Serif" panose="020A0603040505020204" pitchFamily="18" charset="0"/>
              </a:rPr>
              <a:t>More trees allow the model to learn complex patterns</a:t>
            </a:r>
            <a:r>
              <a:rPr lang="en-IN" dirty="0">
                <a:latin typeface="PT Serif" panose="020A0603040505020204" pitchFamily="18" charset="0"/>
              </a:rPr>
              <a:t>, but too many may lead to </a:t>
            </a:r>
          </a:p>
          <a:p>
            <a:endParaRPr lang="en-IN" dirty="0">
              <a:latin typeface="PT Serif" panose="020A0603040505020204" pitchFamily="18" charset="0"/>
            </a:endParaRPr>
          </a:p>
          <a:p>
            <a:r>
              <a:rPr lang="en-IN" dirty="0">
                <a:latin typeface="PT Serif" panose="020A0603040505020204" pitchFamily="18" charset="0"/>
              </a:rPr>
              <a:t>overfitting if not regularized.</a:t>
            </a:r>
          </a:p>
          <a:p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836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77860"/>
            <a:ext cx="13656055" cy="1130810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Additional Key Terms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273738"/>
            <a:ext cx="4164095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414828" y="213360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subsample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IN" dirty="0">
                <a:latin typeface="PT Serif" panose="020A0603040505020204" pitchFamily="18" charset="0"/>
              </a:rPr>
              <a:t>Specifies the </a:t>
            </a:r>
            <a:r>
              <a:rPr lang="en-IN" b="1" dirty="0">
                <a:latin typeface="PT Serif" panose="020A0603040505020204" pitchFamily="18" charset="0"/>
              </a:rPr>
              <a:t>fraction of training rows randomly sampled to build each tree</a:t>
            </a:r>
            <a:r>
              <a:rPr lang="en-IN" dirty="0">
                <a:latin typeface="PT Serif" panose="020A0603040505020204" pitchFamily="18" charset="0"/>
              </a:rPr>
              <a:t>, helping reduce overfitting and improve model robustness.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0847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325320"/>
            <a:ext cx="3818573" cy="324138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33706" y="213360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 err="1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colsample_bytree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IN" dirty="0">
                <a:latin typeface="PT Serif" panose="020A0603040505020204" pitchFamily="18" charset="0"/>
              </a:rPr>
              <a:t>Specifies the </a:t>
            </a:r>
            <a:r>
              <a:rPr lang="en-IN" b="1" dirty="0">
                <a:latin typeface="PT Serif" panose="020A0603040505020204" pitchFamily="18" charset="0"/>
              </a:rPr>
              <a:t>fraction of features randomly selected for building each tree</a:t>
            </a:r>
            <a:r>
              <a:rPr lang="en-IN" dirty="0">
                <a:latin typeface="PT Serif" panose="020A0603040505020204" pitchFamily="18" charset="0"/>
              </a:rPr>
              <a:t>, helping reduce overfitting and improve model diversity.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9973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01985" y="2247789"/>
            <a:ext cx="3976821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0" y="2228122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 err="1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max_depth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IN" dirty="0">
                <a:latin typeface="PT Serif" panose="020A0603040505020204" pitchFamily="18" charset="0"/>
              </a:rPr>
              <a:t>Controls the </a:t>
            </a:r>
            <a:r>
              <a:rPr lang="en-IN" b="1" dirty="0">
                <a:latin typeface="PT Serif" panose="020A0603040505020204" pitchFamily="18" charset="0"/>
              </a:rPr>
              <a:t>maximum depth of each tree</a:t>
            </a:r>
            <a:r>
              <a:rPr lang="en-IN" dirty="0">
                <a:latin typeface="PT Serif" panose="020A0603040505020204" pitchFamily="18" charset="0"/>
              </a:rPr>
              <a:t>, limiting tree complexity and helping prevent overfitting.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B60AFB3A-3C89-B0D5-7DF4-BBBC0DEF83EF}"/>
              </a:ext>
            </a:extLst>
          </p:cNvPr>
          <p:cNvSpPr/>
          <p:nvPr/>
        </p:nvSpPr>
        <p:spPr>
          <a:xfrm>
            <a:off x="685800" y="2590800"/>
            <a:ext cx="11599985" cy="3886200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xgboost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XGBClassifier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xgb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XGBClassifier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n_estimators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=100,      # number of trees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learning_rate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=0.1,     # step size shrinkage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random_state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=42,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use_label_encoder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=False,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eval_metric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='</a:t>
            </a:r>
            <a:r>
              <a:rPr lang="en-US" sz="1800" dirty="0" err="1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logloss</a:t>
            </a: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'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830867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Python Implementation (Part 1)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1113692" y="1752600"/>
            <a:ext cx="10011508" cy="138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2200" b="1" dirty="0">
              <a:solidFill>
                <a:schemeClr val="tx1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	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0F92E-A244-A04F-9EC9-458427A4A3EE}"/>
              </a:ext>
            </a:extLst>
          </p:cNvPr>
          <p:cNvSpPr txBox="1"/>
          <p:nvPr/>
        </p:nvSpPr>
        <p:spPr>
          <a:xfrm>
            <a:off x="609600" y="1414046"/>
            <a:ext cx="687399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Setting up the </a:t>
            </a:r>
            <a:r>
              <a:rPr lang="en-US" sz="2000" b="1" dirty="0" err="1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XGBoost</a:t>
            </a:r>
            <a:r>
              <a:rPr lang="en-US" sz="20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classifier with key parameters: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14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B60AFB3A-3C89-B0D5-7DF4-BBBC0DEF83EF}"/>
              </a:ext>
            </a:extLst>
          </p:cNvPr>
          <p:cNvSpPr/>
          <p:nvPr/>
        </p:nvSpPr>
        <p:spPr>
          <a:xfrm>
            <a:off x="685800" y="2590800"/>
            <a:ext cx="11599985" cy="3581400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xgb.fit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X_train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y_train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y_pred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xgb.predict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X_test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sklearn.metrics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accuracy_score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print("Accuracy:", 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accuracy_score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y_test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 err="1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y_pred</a:t>
            </a:r>
            <a:r>
              <a:rPr lang="en-US" sz="1800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830867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Implementation (Part 2)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2F4C3-7AE0-3644-BF9A-4CD410AFADDE}"/>
              </a:ext>
            </a:extLst>
          </p:cNvPr>
          <p:cNvSpPr txBox="1"/>
          <p:nvPr/>
        </p:nvSpPr>
        <p:spPr>
          <a:xfrm>
            <a:off x="685800" y="1371600"/>
            <a:ext cx="62343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Training the model and evaluating accuracy: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200" b="1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108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C136-BEE5-E4BC-0DFE-D0E2AB6E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10" y="457200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Hyperparameter Tuning: Learning Rate &amp; Trees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BE4F5-B070-42C3-DA5D-3A791595C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1" y="2695592"/>
            <a:ext cx="6364224" cy="3246145"/>
          </a:xfrm>
        </p:spPr>
        <p:txBody>
          <a:bodyPr/>
          <a:lstStyle/>
          <a:p>
            <a:pPr algn="l">
              <a:lnSpc>
                <a:spcPct val="250000"/>
              </a:lnSpc>
            </a:pPr>
            <a:r>
              <a:rPr lang="en-US" sz="2200" b="1" u="sng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Learning Rate</a:t>
            </a: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0.01 – 0.1 → better generalization</a:t>
            </a:r>
            <a:endParaRPr lang="en-US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0.2 – 0.3 → faster training</a:t>
            </a:r>
          </a:p>
          <a:p>
            <a:pPr algn="l">
              <a:lnSpc>
                <a:spcPct val="250000"/>
              </a:lnSpc>
              <a:buSzPct val="100000"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FB216-5D9E-598C-B16A-AC67ABCD09CE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773141" y="2695592"/>
            <a:ext cx="6364224" cy="3194592"/>
          </a:xfrm>
        </p:spPr>
        <p:txBody>
          <a:bodyPr/>
          <a:lstStyle/>
          <a:p>
            <a:pPr algn="l">
              <a:lnSpc>
                <a:spcPct val="250000"/>
              </a:lnSpc>
            </a:pPr>
            <a:r>
              <a:rPr lang="en-US" sz="2400" b="1" u="sng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n_estimators</a:t>
            </a:r>
            <a:endParaRPr lang="en-US" sz="2400" b="1" u="sng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Typical range: 200 – 800</a:t>
            </a:r>
            <a:endParaRPr lang="en-US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Increase gradually to avoid overfitting</a:t>
            </a: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2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324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C136-BEE5-E4BC-0DFE-D0E2AB6E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914400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Hyperparameter Tuning: Depth &amp; Sampling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62EBDD-CBA8-344D-B547-C38B4FD10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695575"/>
            <a:ext cx="5668963" cy="3310458"/>
          </a:xfrm>
        </p:spPr>
        <p:txBody>
          <a:bodyPr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200" b="1" u="sng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max_depth</a:t>
            </a:r>
          </a:p>
          <a:p>
            <a:pPr marL="0" indent="0" algn="l">
              <a:lnSpc>
                <a:spcPct val="250000"/>
              </a:lnSpc>
              <a:buNone/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3–8 common range. Higher depth increases risk of overfitting.</a:t>
            </a:r>
            <a:endParaRPr lang="en-US" sz="2200" dirty="0">
              <a:solidFill>
                <a:schemeClr val="tx1"/>
              </a:solidFill>
            </a:endParaRPr>
          </a:p>
          <a:p>
            <a:pPr marL="0" indent="0" algn="l">
              <a:lnSpc>
                <a:spcPct val="250000"/>
              </a:lnSpc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D7736D8-C9F4-124D-BDDD-44C622E28805}"/>
              </a:ext>
            </a:extLst>
          </p:cNvPr>
          <p:cNvSpPr txBox="1">
            <a:spLocks/>
          </p:cNvSpPr>
          <p:nvPr/>
        </p:nvSpPr>
        <p:spPr>
          <a:xfrm>
            <a:off x="8123239" y="2695575"/>
            <a:ext cx="5669279" cy="3323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>
                <a:solidFill>
                  <a:srgbClr val="272C45"/>
                </a:solidFill>
                <a:latin typeface="PT Serif" panose="020A0603040505020204" pitchFamily="18" charset="0"/>
                <a:ea typeface="+mn-ea"/>
                <a:cs typeface="Lucida Sans Unicode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50000"/>
              </a:lnSpc>
            </a:pPr>
            <a:r>
              <a:rPr lang="en-US" sz="2400" b="1" u="sng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subsample &amp; </a:t>
            </a:r>
            <a:r>
              <a:rPr lang="en-US" sz="2400" b="1" u="sng" dirty="0" err="1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colsample_bytree</a:t>
            </a:r>
            <a:endParaRPr lang="en-US" sz="2400" b="1" u="sng" dirty="0">
              <a:solidFill>
                <a:schemeClr val="tx1"/>
              </a:solidFill>
            </a:endParaRPr>
          </a:p>
          <a:p>
            <a:pPr algn="l">
              <a:lnSpc>
                <a:spcPct val="250000"/>
              </a:lnSpc>
            </a:pPr>
            <a:r>
              <a:rPr lang="en-US" sz="22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0.6 – 0.9 recommended. Adds randomness and improves stability.</a:t>
            </a:r>
            <a:endParaRPr lang="en-US" sz="2200" dirty="0">
              <a:solidFill>
                <a:schemeClr val="tx1"/>
              </a:solidFill>
            </a:endParaRPr>
          </a:p>
          <a:p>
            <a:pPr algn="l">
              <a:lnSpc>
                <a:spcPct val="250000"/>
              </a:lnSpc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473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2">
            <a:extLst>
              <a:ext uri="{FF2B5EF4-FFF2-40B4-BE49-F238E27FC236}">
                <a16:creationId xmlns:a16="http://schemas.microsoft.com/office/drawing/2014/main" id="{C0078594-3876-15D9-C95A-1EB0B3B66465}"/>
              </a:ext>
            </a:extLst>
          </p:cNvPr>
          <p:cNvSpPr/>
          <p:nvPr/>
        </p:nvSpPr>
        <p:spPr>
          <a:xfrm>
            <a:off x="7341188" y="4642377"/>
            <a:ext cx="6324514" cy="181227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en-IN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4854C919-630D-D989-45AB-4BCF4AA8EBA5}"/>
              </a:ext>
            </a:extLst>
          </p:cNvPr>
          <p:cNvSpPr/>
          <p:nvPr/>
        </p:nvSpPr>
        <p:spPr>
          <a:xfrm>
            <a:off x="468969" y="4655667"/>
            <a:ext cx="6324514" cy="181227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en-IN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A4794B4F-49FE-CE20-02C5-631BDB4BFD79}"/>
              </a:ext>
            </a:extLst>
          </p:cNvPr>
          <p:cNvSpPr/>
          <p:nvPr/>
        </p:nvSpPr>
        <p:spPr>
          <a:xfrm>
            <a:off x="9698476" y="1600200"/>
            <a:ext cx="4246124" cy="226947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en-IN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86E554B8-775F-1317-C2A4-05677779210F}"/>
              </a:ext>
            </a:extLst>
          </p:cNvPr>
          <p:cNvSpPr/>
          <p:nvPr/>
        </p:nvSpPr>
        <p:spPr>
          <a:xfrm>
            <a:off x="4974076" y="1600200"/>
            <a:ext cx="4246124" cy="2269471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en-IN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E929E277-53B5-AFFC-8668-28894B19C3F0}"/>
              </a:ext>
            </a:extLst>
          </p:cNvPr>
          <p:cNvSpPr/>
          <p:nvPr/>
        </p:nvSpPr>
        <p:spPr>
          <a:xfrm>
            <a:off x="324969" y="1633258"/>
            <a:ext cx="4246124" cy="223641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en-IN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3695" y="186919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240269" y="1999956"/>
            <a:ext cx="337033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Handles missing values automatically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34600" y="1966238"/>
            <a:ext cx="3818573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Parallel processing gives high speed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216717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659557" y="1937635"/>
            <a:ext cx="3607643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XGBoost = regularized + optimized GBM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DCBC250-CD01-2E79-92CE-66C8490F3F70}"/>
              </a:ext>
            </a:extLst>
          </p:cNvPr>
          <p:cNvSpPr/>
          <p:nvPr/>
        </p:nvSpPr>
        <p:spPr>
          <a:xfrm>
            <a:off x="735068" y="4762623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Strong control over overfitting via L1/L2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E3294D3C-0418-C801-8DB9-F254AEFAC6F0}"/>
              </a:ext>
            </a:extLst>
          </p:cNvPr>
          <p:cNvSpPr/>
          <p:nvPr/>
        </p:nvSpPr>
        <p:spPr>
          <a:xfrm>
            <a:off x="7696200" y="4753019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Often the first advanced boosting choice for tabular ML problems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526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987</TotalTime>
  <Words>785</Words>
  <Application>Microsoft Office PowerPoint</Application>
  <PresentationFormat>Custom</PresentationFormat>
  <Paragraphs>152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DM Sans</vt:lpstr>
      <vt:lpstr>Lucida Sans Unicode</vt:lpstr>
      <vt:lpstr>PT Serif</vt:lpstr>
      <vt:lpstr>Wingdings</vt:lpstr>
      <vt:lpstr>Office Theme</vt:lpstr>
      <vt:lpstr>PowerPoint Presentation</vt:lpstr>
      <vt:lpstr>PowerPoint Presentation</vt:lpstr>
      <vt:lpstr>Core Idea of XGBoost</vt:lpstr>
      <vt:lpstr>XGBoost vs GBM</vt:lpstr>
      <vt:lpstr>When XGBoost Performs Better </vt:lpstr>
      <vt:lpstr>Key Term: Regularization</vt:lpstr>
      <vt:lpstr>Key Terms: Learning Rate &amp; Trees</vt:lpstr>
      <vt:lpstr>Additional Key Terms</vt:lpstr>
      <vt:lpstr>Python Implementation (Part 1)</vt:lpstr>
      <vt:lpstr>Python Implementation (Part 2)</vt:lpstr>
      <vt:lpstr>Hyperparameter Tuning: Learning Rate &amp; Trees</vt:lpstr>
      <vt:lpstr>Hyperparameter Tuning: Depth &amp; Sampling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Fimran Sanghvi</cp:lastModifiedBy>
  <cp:revision>311</cp:revision>
  <dcterms:created xsi:type="dcterms:W3CDTF">2025-08-01T06:43:07Z</dcterms:created>
  <dcterms:modified xsi:type="dcterms:W3CDTF">2026-03-06T03:27:26Z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