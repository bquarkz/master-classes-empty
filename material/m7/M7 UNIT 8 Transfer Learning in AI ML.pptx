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4630400" cy="8229600"/>
  <p:notesSz cx="8229600" cy="14630400"/>
  <p:embeddedFontLst>
    <p:embeddedFont>
      <p:font typeface="DM Sans" pitchFamily="2" charset="77"/>
      <p:regular r:id="rId20"/>
    </p:embeddedFont>
    <p:embeddedFont>
      <p:font typeface="PT Serif" panose="020A0603040505020204" pitchFamily="18" charset="77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04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42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639" y="2462148"/>
            <a:ext cx="1172110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Transfer Learning in AI &amp; Machine Learning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667180" y="36741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Concept, types, pretrained models, BERT, fine-tuning, and applications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7286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Transfer Learning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35161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52592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Models</a:t>
            </a:r>
            <a:endParaRPr lang="en-US" sz="2400" dirty="0"/>
          </a:p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435161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4525923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BERT-Introduction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to Use BERT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Other Pre-Trained Models</a:t>
            </a:r>
            <a:endParaRPr lang="en-US" sz="23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Transfer Learning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40511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180" y="1235117"/>
            <a:ext cx="714672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Transfer Learning?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89" y="281283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 leverages knowledge gained from one problem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(source task)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applies it to a different but related problem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(target task)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instead of training from scratch.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472225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066348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500574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</a:t>
            </a: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model trained on general images can be adapted for medical image diagnosis.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043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Formal Definition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683913"/>
            <a:ext cx="4196358" cy="2059662"/>
          </a:xfrm>
          <a:prstGeom prst="roundRect">
            <a:avLst>
              <a:gd name="adj" fmla="val 1652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910727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Source Domain (Ds) &amp; Task (Ts)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20604" y="479095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the model is originally trained and what it learns to do.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16962" y="3683913"/>
            <a:ext cx="4196358" cy="2059662"/>
          </a:xfrm>
          <a:prstGeom prst="roundRect">
            <a:avLst>
              <a:gd name="adj" fmla="val 165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910727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Domain (Dt) &amp; Task (Tt)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43776" y="479095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new environment and task the model is applied to.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640133" y="3683913"/>
            <a:ext cx="4196358" cy="2059662"/>
          </a:xfrm>
          <a:prstGeom prst="roundRect">
            <a:avLst>
              <a:gd name="adj" fmla="val 165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91072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Objective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866948" y="441888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 performance on Tt using knowledge from Ds and Ts — reducing data and compute needs.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3897"/>
            <a:ext cx="81867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Domain &amp; Task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1090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Source Domain (Ds)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51084" y="361723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Original training environment.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General English text or ImageNet.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428548" y="2851785"/>
            <a:ext cx="6408063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31090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Source Task (Ts)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85842" y="361723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 model learns.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Masked Language Modeling or Image Classification.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3790" y="4827151"/>
            <a:ext cx="6407944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0844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Domain (Dt)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51084" y="5592604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data environment.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Financial documents or medical images.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428548" y="4827151"/>
            <a:ext cx="6408063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508444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Task (Tt)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85842" y="5592604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task to perform.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Sentiment analysis or tumor detection.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6441" y="1718731"/>
            <a:ext cx="709731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Types of Transfer Learning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69034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0347" y="3722251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3768209"/>
            <a:ext cx="342149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Inductive Transfer Learning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530906" y="464843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 tasks, labeled data available in the target domain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35893" y="369034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12450" y="3722251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73008" y="3768209"/>
            <a:ext cx="342149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Transductive Transfer Learning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973008" y="4648438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task but different domains — also called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adaptation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677995" y="369034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754552" y="3722251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415111" y="3768209"/>
            <a:ext cx="342149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Unsupervised Transfer Learning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415111" y="4648438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labeled data in either domain; used in clustering or representation learning.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3424"/>
            <a:ext cx="771405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Benefits of Transfer Learning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43435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4343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Saves Time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644253" y="3942517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Significantly reduces model training time.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43435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4343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Less Data Needed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8307348" y="3942517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effectively even with limited labeled data.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759047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7590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Better Performance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644253" y="5267206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Improves model accuracy and generalization.</a:t>
            </a:r>
            <a:endParaRPr lang="en-US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759047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75904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Lower Cost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8307348" y="526720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 computational cost and enables rapid AI deployment.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9987"/>
            <a:ext cx="810398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Pretrained Models — Overview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0856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Pretrained models are trained on very large datasets (millions or billions of samples), learning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general-purpose features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such as edges in images or grammar in text.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4541877"/>
            <a:ext cx="13042821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541877"/>
            <a:ext cx="4347567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47686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0604" y="527685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Natural Language Processing (NLP)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1357" y="4541877"/>
            <a:ext cx="4347567" cy="132468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5141357" y="4541877"/>
            <a:ext cx="30480" cy="1324689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5368171" y="47686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368171" y="527685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Computer Vision tasks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488924" y="4541877"/>
            <a:ext cx="4347567" cy="1324689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488924" y="4541877"/>
            <a:ext cx="30480" cy="1324689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738" y="47686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VGG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715738" y="527685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classification &amp; detection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0069"/>
            <a:ext cx="650021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Using Pretrained Models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657957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657957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9152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Extraction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42524" y="4423410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the pretrained model as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feature extractor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freezing its layers. No retraining occurs.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428548" y="3657957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657957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9152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Fine-Tuning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7282" y="4423410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Retrain part or all of the model to adapt to a new task. Typically yields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performance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but requires careful tuning.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5954"/>
            <a:ext cx="867787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Parameters in Pretrained Models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812949" y="22042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deep learning models contain millions to billions of parameters — including weights, biases,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embedding layers.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3518535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110M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2495074" y="45503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 Base Parameters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56884" y="3518535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340M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9158168" y="45503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 Large Parameters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93790" y="5676543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020633"/>
            <a:ext cx="283488" cy="2268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30906" y="5960031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Higher parameter count increases model capacity but also computational complexity.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706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 — Introduction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208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Bidirectional Encoder Representations from Transformers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developed by Google in 2018.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489728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447841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context from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left and right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directions in a sentence.</a:t>
            </a:r>
            <a:endParaRPr lang="en-US" sz="2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03" y="4489728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73008" y="447841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Bidirectional nature significantly improves language understanding.</a:t>
            </a:r>
            <a:endParaRPr lang="en-US" sz="2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3006" y="4489728"/>
            <a:ext cx="340162" cy="3401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415111" y="447841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Based on the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 encoder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architecture with self-attention.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3392"/>
            <a:ext cx="102304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BERT — Training Tasks &amp; Applications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502462"/>
            <a:ext cx="4196358" cy="2422565"/>
          </a:xfrm>
          <a:prstGeom prst="roundRect">
            <a:avLst>
              <a:gd name="adj" fmla="val 140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729276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Masked Language Modeling (MLM)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20604" y="460950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Randomly masks words and trains the model to predict them using surrounding context.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16962" y="3502462"/>
            <a:ext cx="4196358" cy="2422565"/>
          </a:xfrm>
          <a:prstGeom prst="roundRect">
            <a:avLst>
              <a:gd name="adj" fmla="val 140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3729276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 Sentence Prediction (NSP)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443776" y="460950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Trains the model to understand relationships between sentence pairs.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640133" y="3502462"/>
            <a:ext cx="4196358" cy="2422565"/>
          </a:xfrm>
          <a:prstGeom prst="roundRect">
            <a:avLst>
              <a:gd name="adj" fmla="val 140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72927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866948" y="423743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Sentiment analysis, question answering, text classification, and more.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894" y="533400"/>
            <a:ext cx="5091946" cy="636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to Use BERT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94" y="1501616"/>
            <a:ext cx="13272611" cy="582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1259" y="5788977"/>
            <a:ext cx="2005959" cy="377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Tokenize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4701259" y="6268268"/>
            <a:ext cx="2005959" cy="5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WordPiece tokenizer to text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073717" y="5522593"/>
            <a:ext cx="2005959" cy="377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Infer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11073717" y="6001884"/>
            <a:ext cx="2005959" cy="79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 embeddings through BERT for context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85268" y="2024885"/>
            <a:ext cx="2005959" cy="37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Model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1585268" y="2504176"/>
            <a:ext cx="2005959" cy="5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Hugging Face pretrained BERT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32184" y="2024885"/>
            <a:ext cx="2005959" cy="37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Embed</a:t>
            </a:r>
            <a:endParaRPr lang="en-US" sz="2350" dirty="0"/>
          </a:p>
        </p:txBody>
      </p:sp>
      <p:sp>
        <p:nvSpPr>
          <p:cNvPr id="11" name="Text 8"/>
          <p:cNvSpPr/>
          <p:nvPr/>
        </p:nvSpPr>
        <p:spPr>
          <a:xfrm>
            <a:off x="7932184" y="2504176"/>
            <a:ext cx="2005959" cy="5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 tokens into embeddings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78894" y="7510224"/>
            <a:ext cx="13272611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high-level libraries like Hugging Face </a:t>
            </a: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tokenization is automatic. For more control, use </a:t>
            </a: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BertTokenizer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explicitly.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9112"/>
            <a:ext cx="632102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to Fine-Tune BERT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Add Output Layer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70451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Attach a task-specific head (e.g., classification layer).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 on Labeled Data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28548" y="370451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from pretrained weights; use small learning rates (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2e-5 to 5e-5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3790" y="48271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8219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56503"/>
            <a:ext cx="32655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Optionally Freeze Layers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93790" y="586466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Freeze lower layers; train only higher layers to preserve learned knowledge.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28548" y="48271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8219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565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Run for 2–4 Epochs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28548" y="586466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Typically sufficient for convergence without overfitting.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7271"/>
            <a:ext cx="805576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Domain-Specific BERT Models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2251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Specialized BERT variants improve performance in real-world domains: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2843213"/>
            <a:ext cx="6407944" cy="206609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2873693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051084" y="37809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BioBERT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084" y="428910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Biomedical literature understanding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43213"/>
            <a:ext cx="6408063" cy="206609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2873693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685842" y="37809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ClinicalBERT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685842" y="428910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notes and EHR data.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3790" y="5136118"/>
            <a:ext cx="6407944" cy="206609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270" y="5166598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084" y="60738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FinBERT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51084" y="658201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sentiment analysis.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28548" y="5136118"/>
            <a:ext cx="6408063" cy="2066092"/>
          </a:xfrm>
          <a:prstGeom prst="roundRect">
            <a:avLst>
              <a:gd name="adj" fmla="val 164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9027" y="5166598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685842" y="607385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LegalBERT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685842" y="658201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 document understanding.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310" y="1587872"/>
            <a:ext cx="1074777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Other Pretrained Models: ResNet &amp; VGG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657957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657957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9152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42524" y="4423410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 connections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enable very deep networks and avoid vanishing gradients. Excellent for image classification and detection.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28548" y="3657957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657957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9152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VGG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7282" y="442341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Simple, consistent architecture with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filters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Widely used as a baseline in computer vision tasks.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15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2088356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2077045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 enables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 of knowledge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across tasks, saving time and data.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233738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222427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Pretrained models are trained on massive datasets with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millions of parameters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379119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436780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Fine-tuning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essential for adapting models to specific tasks.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524500"/>
            <a:ext cx="340162" cy="3401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30906" y="5513189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revolutionized NLP with bidirectional context understanding.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6669881"/>
            <a:ext cx="340162" cy="34016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30906" y="6658570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Domain-specific models (BioBERT, FinBERT, etc.) improve accuracy in specialized applications.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844</Words>
  <Application>Microsoft Macintosh PowerPoint</Application>
  <PresentationFormat>Custom</PresentationFormat>
  <Paragraphs>147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PT Serif</vt:lpstr>
      <vt:lpstr>Calibri</vt:lpstr>
      <vt:lpstr>DM Sans</vt:lpstr>
      <vt:lpstr>Arial</vt:lpstr>
      <vt:lpstr>Consolas</vt:lpstr>
      <vt:lpstr>PT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5</cp:revision>
  <dcterms:created xsi:type="dcterms:W3CDTF">2026-03-31T04:17:05Z</dcterms:created>
  <dcterms:modified xsi:type="dcterms:W3CDTF">2026-04-10T06:41:31Z</dcterms:modified>
</cp:coreProperties>
</file>