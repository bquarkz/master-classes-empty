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6" r:id="rId3"/>
    <p:sldId id="257" r:id="rId4"/>
    <p:sldId id="258" r:id="rId5"/>
    <p:sldId id="277" r:id="rId6"/>
    <p:sldId id="27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4630400" cy="8229600"/>
  <p:notesSz cx="8229600" cy="14630400"/>
  <p:embeddedFontLst>
    <p:embeddedFont>
      <p:font typeface="DM Sans" pitchFamily="2" charset="0"/>
      <p:regular r:id="rId18"/>
      <p:bold r:id="rId19"/>
    </p:embeddedFont>
    <p:embeddedFont>
      <p:font typeface="PT Serif" panose="020A0603040505020204" pitchFamily="18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2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60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89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66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8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46878"/>
            <a:ext cx="8237668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Model Deployment and Optimization</a:t>
            </a:r>
            <a:endParaRPr lang="en-US" sz="4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5436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7286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Model Deployment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28548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5436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35161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4525923"/>
            <a:ext cx="45714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Key Deployment Challenges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28548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435161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548" y="4525923"/>
            <a:ext cx="56999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Infrastructure Required for DL Models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3790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4987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824180"/>
            <a:ext cx="5879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Integrating into Web Applications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428548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64987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824180"/>
            <a:ext cx="42521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Optimization and Monitoring</a:t>
            </a:r>
            <a:endParaRPr lang="en-US" sz="23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F9B1597F-6088-ED47-BCF3-2426CD5CD6E2}"/>
              </a:ext>
            </a:extLst>
          </p:cNvPr>
          <p:cNvSpPr/>
          <p:nvPr/>
        </p:nvSpPr>
        <p:spPr>
          <a:xfrm>
            <a:off x="7428548" y="2793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Vs. Deployment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010302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85" y="1201432"/>
            <a:ext cx="747772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Model Deployment?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69085" y="246803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deployment is the process of making a trained model available for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or batch predictions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a production environment.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4231362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422433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Save &amp; Host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530906" y="4732496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training and evaluation, the model is saved and hosted on a server or cloud system.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0903" y="4231362"/>
            <a:ext cx="340162" cy="340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73008" y="422433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Connect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5973008" y="4732496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External systems — web apps or business tools — send new input data and receive predictions.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3006" y="4231362"/>
            <a:ext cx="340162" cy="3401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15111" y="422433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Deliver Value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10415111" y="4732496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enables insights from model development to drive real-world decision-making and automation.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1764140"/>
            <a:ext cx="649366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vs. Deployment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857250" y="37224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Phase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57250" y="4321373"/>
            <a:ext cx="6117788" cy="148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Learns patterns from historical data using large datasets, powerful GPUs, and longer computation times.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dirty="0">
              <a:solidFill>
                <a:srgbClr val="00000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ts val="2850"/>
              </a:lnSpc>
            </a:pP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focus: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Accuracy and convergence.</a:t>
            </a:r>
            <a:endParaRPr lang="en-US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5251252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224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 Phase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99521" y="4321373"/>
            <a:ext cx="6244709" cy="1292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Generates predictions quickly and reliably on new incoming data, often with limited hardware resources.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ts val="2850"/>
              </a:lnSpc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focus: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Speed, scalability, and system stability.</a:t>
            </a:r>
            <a:endParaRPr lang="en-US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2512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57984" y="2743200"/>
            <a:ext cx="1755648" cy="1645920"/>
          </a:xfrm>
          <a:prstGeom prst="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160" dirty="0">
                <a:solidFill>
                  <a:schemeClr val="tx1"/>
                </a:solidFill>
                <a:latin typeface="DM Sans" pitchFamily="2" charset="0"/>
              </a:rPr>
              <a:t>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242816" y="2743200"/>
            <a:ext cx="1755648" cy="1645920"/>
          </a:xfrm>
          <a:prstGeom prst="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160" dirty="0">
                <a:solidFill>
                  <a:schemeClr val="tx1"/>
                </a:solidFill>
                <a:latin typeface="DM Sans" pitchFamily="2" charset="0"/>
              </a:rPr>
              <a:t>Web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7647" y="2743200"/>
            <a:ext cx="1755648" cy="1645920"/>
          </a:xfrm>
          <a:prstGeom prst="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160" dirty="0">
                <a:solidFill>
                  <a:schemeClr val="tx1"/>
                </a:solidFill>
                <a:latin typeface="DM Sans" pitchFamily="2" charset="0"/>
              </a:rPr>
              <a:t>API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743200"/>
            <a:ext cx="1755648" cy="1645920"/>
          </a:xfrm>
          <a:prstGeom prst="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160" dirty="0">
                <a:solidFill>
                  <a:schemeClr val="tx1"/>
                </a:solidFill>
                <a:latin typeface="DM Sans" pitchFamily="2" charset="0"/>
              </a:rPr>
              <a:t>Model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97312" y="2743200"/>
            <a:ext cx="1755648" cy="1645920"/>
          </a:xfrm>
          <a:prstGeom prst="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160" dirty="0">
                <a:solidFill>
                  <a:schemeClr val="tx1"/>
                </a:solidFill>
                <a:latin typeface="DM Sans" pitchFamily="2" charset="0"/>
              </a:rP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5182494"/>
            <a:ext cx="741901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000" dirty="0">
                <a:latin typeface="DM Sans" pitchFamily="2" charset="0"/>
              </a:rPr>
              <a:t>Flow: User request → API → Model → Prediction → Response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4FD54C-91F9-FAA3-1B7C-A773E1EEBE9A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913632" y="3566160"/>
            <a:ext cx="32918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E1551D-9B0D-8D52-F73E-9855BFBDC6B3}"/>
              </a:ext>
            </a:extLst>
          </p:cNvPr>
          <p:cNvCxnSpPr/>
          <p:nvPr/>
        </p:nvCxnSpPr>
        <p:spPr>
          <a:xfrm>
            <a:off x="6015973" y="3566160"/>
            <a:ext cx="32918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499021-1BDB-CFE8-5CBE-A474DA61871B}"/>
              </a:ext>
            </a:extLst>
          </p:cNvPr>
          <p:cNvCxnSpPr/>
          <p:nvPr/>
        </p:nvCxnSpPr>
        <p:spPr>
          <a:xfrm>
            <a:off x="10168128" y="3573332"/>
            <a:ext cx="32918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9C1AFB-D595-070E-BC4E-9E0D2E106125}"/>
              </a:ext>
            </a:extLst>
          </p:cNvPr>
          <p:cNvCxnSpPr/>
          <p:nvPr/>
        </p:nvCxnSpPr>
        <p:spPr>
          <a:xfrm>
            <a:off x="8083295" y="3564367"/>
            <a:ext cx="32918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55AA312-6170-E06C-256A-5C15900D68BE}"/>
              </a:ext>
            </a:extLst>
          </p:cNvPr>
          <p:cNvSpPr txBox="1"/>
          <p:nvPr/>
        </p:nvSpPr>
        <p:spPr>
          <a:xfrm>
            <a:off x="2157984" y="1087007"/>
            <a:ext cx="10696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PT Serif" panose="020A0603040505020204" pitchFamily="18" charset="0"/>
              </a:rPr>
              <a:t>Model Deployment Architecture</a:t>
            </a:r>
            <a:endParaRPr lang="en-IN" sz="36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6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2518864"/>
            <a:ext cx="12303232" cy="389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000" dirty="0">
                <a:latin typeface="DM Sans" pitchFamily="2" charset="0"/>
              </a:rPr>
              <a:t>Model deployment uses a combination of tools to make trained models accessible in real-world applications</a:t>
            </a:r>
          </a:p>
          <a:p>
            <a:endParaRPr lang="en-IN" sz="2000" dirty="0">
              <a:latin typeface="DM Sans" pitchFamily="2" charset="0"/>
            </a:endParaRPr>
          </a:p>
          <a:p>
            <a:r>
              <a:rPr lang="en-IN" sz="2000" b="1" dirty="0">
                <a:latin typeface="DM Sans" pitchFamily="2" charset="0"/>
              </a:rPr>
              <a:t>Backend frameworks</a:t>
            </a:r>
            <a:r>
              <a:rPr lang="en-IN" sz="2000" dirty="0">
                <a:latin typeface="DM Sans" pitchFamily="2" charset="0"/>
              </a:rPr>
              <a:t> like </a:t>
            </a:r>
            <a:r>
              <a:rPr lang="en-IN" sz="2000" dirty="0" err="1">
                <a:latin typeface="DM Sans" pitchFamily="2" charset="0"/>
              </a:rPr>
              <a:t>FastAPI</a:t>
            </a:r>
            <a:r>
              <a:rPr lang="en-IN" sz="2000" dirty="0">
                <a:latin typeface="DM Sans" pitchFamily="2" charset="0"/>
              </a:rPr>
              <a:t> and Flask are used to expose models as APIs for prediction. </a:t>
            </a:r>
          </a:p>
          <a:p>
            <a:endParaRPr lang="en-IN" sz="2000" dirty="0">
              <a:latin typeface="DM Sans" pitchFamily="2" charset="0"/>
            </a:endParaRPr>
          </a:p>
          <a:p>
            <a:r>
              <a:rPr lang="en-IN" sz="2000" b="1" dirty="0">
                <a:latin typeface="DM Sans" pitchFamily="2" charset="0"/>
              </a:rPr>
              <a:t>UI tools</a:t>
            </a:r>
            <a:r>
              <a:rPr lang="en-IN" sz="2000" dirty="0">
                <a:latin typeface="DM Sans" pitchFamily="2" charset="0"/>
              </a:rPr>
              <a:t> such as </a:t>
            </a:r>
            <a:r>
              <a:rPr lang="en-IN" sz="2000" dirty="0" err="1">
                <a:latin typeface="DM Sans" pitchFamily="2" charset="0"/>
              </a:rPr>
              <a:t>Streamlit</a:t>
            </a:r>
            <a:r>
              <a:rPr lang="en-IN" sz="2000" dirty="0">
                <a:latin typeface="DM Sans" pitchFamily="2" charset="0"/>
              </a:rPr>
              <a:t> and Dash help build simple interfaces for user interaction. </a:t>
            </a:r>
          </a:p>
          <a:p>
            <a:endParaRPr lang="en-IN" sz="2000" dirty="0">
              <a:latin typeface="DM Sans" pitchFamily="2" charset="0"/>
            </a:endParaRPr>
          </a:p>
          <a:p>
            <a:r>
              <a:rPr lang="en-IN" sz="2000" b="1" dirty="0">
                <a:latin typeface="DM Sans" pitchFamily="2" charset="0"/>
              </a:rPr>
              <a:t>Model serving tools</a:t>
            </a:r>
            <a:r>
              <a:rPr lang="en-IN" sz="2000" dirty="0">
                <a:latin typeface="DM Sans" pitchFamily="2" charset="0"/>
              </a:rPr>
              <a:t> like TensorFlow Serving handle large-scale, efficient inference. </a:t>
            </a:r>
          </a:p>
          <a:p>
            <a:endParaRPr lang="en-IN" sz="2000" dirty="0">
              <a:latin typeface="DM Sans" pitchFamily="2" charset="0"/>
            </a:endParaRPr>
          </a:p>
          <a:p>
            <a:r>
              <a:rPr lang="en-IN" sz="2000" b="1" dirty="0">
                <a:latin typeface="DM Sans" pitchFamily="2" charset="0"/>
              </a:rPr>
              <a:t>Containerization tools</a:t>
            </a:r>
            <a:r>
              <a:rPr lang="en-IN" sz="2000" dirty="0">
                <a:latin typeface="DM Sans" pitchFamily="2" charset="0"/>
              </a:rPr>
              <a:t> such as Docker ensure consistent deployment across environments. </a:t>
            </a:r>
          </a:p>
          <a:p>
            <a:endParaRPr lang="en-IN" sz="2000" dirty="0">
              <a:latin typeface="DM Sans" pitchFamily="2" charset="0"/>
            </a:endParaRPr>
          </a:p>
          <a:p>
            <a:r>
              <a:rPr lang="en-IN" sz="2000" b="1" dirty="0">
                <a:latin typeface="DM Sans" pitchFamily="2" charset="0"/>
              </a:rPr>
              <a:t>Cloud platforms</a:t>
            </a:r>
            <a:r>
              <a:rPr lang="en-IN" sz="2000" dirty="0">
                <a:latin typeface="DM Sans" pitchFamily="2" charset="0"/>
              </a:rPr>
              <a:t> like Amazon Web Services, Google Cloud, and Microsoft Azure provide scalable infrastructure. </a:t>
            </a:r>
          </a:p>
          <a:p>
            <a:endParaRPr lang="en-IN" sz="2000" dirty="0">
              <a:latin typeface="DM Sans" pitchFamily="2" charset="0"/>
            </a:endParaRPr>
          </a:p>
          <a:p>
            <a:endParaRPr lang="en-IN" sz="2000" dirty="0">
              <a:latin typeface="DM Sans" pitchFamily="2" charset="0"/>
            </a:endParaRPr>
          </a:p>
          <a:p>
            <a:r>
              <a:rPr lang="en-IN" sz="2000" dirty="0">
                <a:latin typeface="DM Sans" pitchFamily="2" charset="0"/>
              </a:rPr>
              <a:t>Together, these technologies enable models to move from development to real-world usage efficiently.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F54784-E835-B474-34A8-24DDC9BC53D1}"/>
              </a:ext>
            </a:extLst>
          </p:cNvPr>
          <p:cNvSpPr txBox="1"/>
          <p:nvPr/>
        </p:nvSpPr>
        <p:spPr>
          <a:xfrm>
            <a:off x="793790" y="1103999"/>
            <a:ext cx="9671864" cy="77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850"/>
              </a:lnSpc>
            </a:pPr>
            <a:r>
              <a:rPr lang="en-IN" sz="3600" dirty="0">
                <a:latin typeface="PT Serif" panose="020A0603040505020204" pitchFamily="18" charset="0"/>
              </a:rPr>
              <a:t>Technologies Used in Model Deployment</a:t>
            </a:r>
            <a:endParaRPr lang="en-US" sz="36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914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4754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Deployment is More Challenging for Deep Learning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539609"/>
            <a:ext cx="4196358" cy="2474357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7969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Large Model Size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51084" y="430506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Millions of parameters increase memory requirements and slow down prediction time.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16962" y="3539609"/>
            <a:ext cx="4196358" cy="2474357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7969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Specialized Hardware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474256" y="430506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architectures require GPUs for efficient inference, adding infrastructure complexity.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640133" y="3539609"/>
            <a:ext cx="4196358" cy="2474357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7969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Latency Sensitivity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897427" y="4305062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real-time systems like fraud detection or recommendation engines, even small delays impact user experience.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790" y="62691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Deploying deep learning models requires careful planning around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and infrastructure constraints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6315"/>
            <a:ext cx="739378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Deployment Challenges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094196"/>
            <a:ext cx="6407944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3210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Size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20604" y="382916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models consume more storage and memory.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28548" y="3094196"/>
            <a:ext cx="6408063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20302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Latency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655183" y="3683914"/>
            <a:ext cx="67501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taken to generate predictions must be minimized.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93790" y="4645700"/>
            <a:ext cx="6407944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8725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Scalability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20604" y="538067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must handle increasing users or requests without failure.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28548" y="4645700"/>
            <a:ext cx="6408063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48725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Drift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55362" y="538067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 of incoming data may change over time, reducing model accuracy.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5624"/>
            <a:ext cx="1199792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Infrastructure for Deep Learning Deployment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1750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2529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Compute Resources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530906" y="3761065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CPUs, GPUs, or edge devices — often hosted on cloud platforms for flexible scaling.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456884" y="31750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194000" y="32529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Containerization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194000" y="376106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Packages the model with its dependencies, ensuring consistent execution across environments.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93790" y="49404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530906" y="501836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Balancers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530906" y="5526524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Distribute incoming requests across multiple servers to prevent overload.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456884" y="49404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8194000" y="501836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Storage Systems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194000" y="5526524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trained models, logs, and incoming data streams.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8200"/>
            <a:ext cx="618589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Inference Optimization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9860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Inference optimization improves the efficiency of prediction generation. Key techniques include: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3604141"/>
            <a:ext cx="4196358" cy="2837259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604141"/>
            <a:ext cx="121920" cy="283725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8614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Pruning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2524" y="436959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Removes less important network connections, reducing model complexity.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16962" y="3604141"/>
            <a:ext cx="4196358" cy="2837259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604141"/>
            <a:ext cx="121920" cy="283725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8614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Quantization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565696" y="4369594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numerical precision of parameters, enabling faster computation and lower memory usage.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640133" y="3604141"/>
            <a:ext cx="4196358" cy="2837259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604141"/>
            <a:ext cx="121920" cy="283725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8614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Batch vs. Real-Time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988868" y="4369594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 predictions improve throughput; real-time predictions serve latency-sensitive applications. Strategy depends on application requirements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4994"/>
            <a:ext cx="1105376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Integrating Models into Web Applications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20" y="2102882"/>
            <a:ext cx="11714440" cy="42406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17850" y="5299218"/>
            <a:ext cx="3081311" cy="38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Display Result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317850" y="4021045"/>
            <a:ext cx="3081311" cy="38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Generate Prediction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317850" y="2729829"/>
            <a:ext cx="3081311" cy="38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Send Input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3790" y="659868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integration requires reliable communication, fast response times, and proper handling of failures or incorrect inputs — enabling AI-driven features like recommendations, chatbots, and automated quality checks.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898" y="930986"/>
            <a:ext cx="62233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Continuous Monitoring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670" y="22013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deployment, models must be monitored to ensure continued performance.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drift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when incoming data differs from training data — can reduce prediction accuracy.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4178975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4057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Track Metrics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20604" y="491394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latency, error rates, and prediction distributions.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216962" y="4178975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44057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Analyze Logs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43776" y="491394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abnormal behavior or system failures.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40133" y="4178975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44057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Retrain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866948" y="4913948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performance drops below acceptable thresholds, update or retrain the model.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9221"/>
            <a:ext cx="823793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Scaling Deep Learning Systems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23028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Horizontal Scaling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82916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more servers to distribute workload as user demand increases.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47817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Auto-Scaling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538067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 platforms allocate resources dynamically based on traffic, keeping systems responsive during peak usage.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99521" y="3230285"/>
            <a:ext cx="300216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Resource Management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99521" y="382916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Efficient scaling ensures responsiveness and also helps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operational costs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2334"/>
            <a:ext cx="877490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Real-World Deployment Example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302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E-commerce image classification system: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3348276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347579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20604" y="42555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Uploads Image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0604" y="476369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 application receives a product image from the user.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216962" y="3348276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7145060" y="347579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443776" y="42555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Predicts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443776" y="476369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is sent to the deployed deep learning model, which returns the product category.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640133" y="3348276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568232" y="347579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9866948" y="42555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 &amp; Retrain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866948" y="476369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logs predictions; new product types over time require periodic model retraining.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3811" y="67141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illustrates how deployment connects machine learning models to real business workflows.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405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58233"/>
          </a:xfrm>
          <a:prstGeom prst="roundRect">
            <a:avLst>
              <a:gd name="adj" fmla="val 710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090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Real-World Value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084" y="361723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makes predictions accessible to applications and users.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542103"/>
            <a:ext cx="6408063" cy="2058233"/>
          </a:xfrm>
          <a:prstGeom prst="roundRect">
            <a:avLst>
              <a:gd name="adj" fmla="val 7108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31090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Unique Challenges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85842" y="3617238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Infrastructure, performance optimization, and scalability require careful planning.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67313"/>
            <a:ext cx="6407944" cy="2058233"/>
          </a:xfrm>
          <a:prstGeom prst="roundRect">
            <a:avLst>
              <a:gd name="adj" fmla="val 710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136833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82715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499729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734288"/>
            <a:ext cx="31105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Continuous Monitoring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051084" y="624244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Ensures long-term reliability and accuracy after deployment.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167313"/>
            <a:ext cx="6408063" cy="2058233"/>
          </a:xfrm>
          <a:prstGeom prst="roundRect">
            <a:avLst>
              <a:gd name="adj" fmla="val 7108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8548" y="5136833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82715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499729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7342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Practitioner Insight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685842" y="624244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deployment helps design AI systems that are accurate, efficient, and robust.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846</Words>
  <Application>Microsoft Office PowerPoint</Application>
  <PresentationFormat>Custom</PresentationFormat>
  <Paragraphs>146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PT Serif Light</vt:lpstr>
      <vt:lpstr>Arial</vt:lpstr>
      <vt:lpstr>PT Serif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Fimran Sanghvi</cp:lastModifiedBy>
  <cp:revision>9</cp:revision>
  <dcterms:created xsi:type="dcterms:W3CDTF">2026-03-20T04:34:40Z</dcterms:created>
  <dcterms:modified xsi:type="dcterms:W3CDTF">2026-04-06T08:35:00Z</dcterms:modified>
</cp:coreProperties>
</file>