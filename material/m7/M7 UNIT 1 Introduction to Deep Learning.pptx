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76" r:id="rId3"/>
    <p:sldId id="279" r:id="rId4"/>
    <p:sldId id="271" r:id="rId5"/>
    <p:sldId id="272" r:id="rId6"/>
    <p:sldId id="273" r:id="rId7"/>
    <p:sldId id="260" r:id="rId8"/>
    <p:sldId id="257" r:id="rId9"/>
    <p:sldId id="261" r:id="rId10"/>
    <p:sldId id="262" r:id="rId11"/>
    <p:sldId id="263" r:id="rId12"/>
    <p:sldId id="277" r:id="rId13"/>
    <p:sldId id="275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4630400" cy="8229600"/>
  <p:notesSz cx="8229600" cy="14630400"/>
  <p:embeddedFontLst>
    <p:embeddedFont>
      <p:font typeface="DM Sans" pitchFamily="2" charset="77"/>
      <p:regular r:id="rId23"/>
    </p:embeddedFont>
    <p:embeddedFont>
      <p:font typeface="PT Serif" panose="020A0603040505020204" pitchFamily="18" charset="77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6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2305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B5D64-14C4-F16C-5619-287C7EA27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713F94-501F-3960-9E11-DE7F03BD9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30D1C-21CC-DCF2-1302-0D6A57E7F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C2F6F-17C8-6775-A32C-6E7DBAEA8A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7579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6ED92-B178-48C0-7861-7BF351260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4206AF-0B28-CEB9-7410-6ADE3A1D2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E4F0F4-1FDD-EF1C-3FA7-990519E9DB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1EDA5-C5EF-A212-052F-DA62B9C821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7973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0734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500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8281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0175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3409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7658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8.pn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5.svg"/><Relationship Id="rId5" Type="http://schemas.openxmlformats.org/officeDocument/2006/relationships/image" Target="../media/image34.svg"/><Relationship Id="rId4" Type="http://schemas.openxmlformats.org/officeDocument/2006/relationships/image" Target="../media/image33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11567"/>
            <a:ext cx="11138297" cy="1027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50"/>
              </a:lnSpc>
              <a:buNone/>
            </a:pPr>
            <a:r>
              <a:rPr lang="en-US" sz="6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Introduction to Deep Learning</a:t>
            </a:r>
            <a:endParaRPr lang="en-US" sz="6450" dirty="0"/>
          </a:p>
        </p:txBody>
      </p:sp>
      <p:sp>
        <p:nvSpPr>
          <p:cNvPr id="3" name="Text 1"/>
          <p:cNvSpPr/>
          <p:nvPr/>
        </p:nvSpPr>
        <p:spPr>
          <a:xfrm>
            <a:off x="906331" y="44500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2400" dirty="0"/>
              <a:t>Why it Matters in Modern AI &amp;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D79A3-6285-EA7B-A2B4-F0C9DCE16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EF8EC6-F255-C70E-3023-DC7EAEC5B16D}"/>
              </a:ext>
            </a:extLst>
          </p:cNvPr>
          <p:cNvSpPr/>
          <p:nvPr/>
        </p:nvSpPr>
        <p:spPr>
          <a:xfrm>
            <a:off x="762000" y="447081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36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0CCEE3-6042-A6A9-3891-B76B33DC9098}"/>
              </a:ext>
            </a:extLst>
          </p:cNvPr>
          <p:cNvSpPr/>
          <p:nvPr/>
        </p:nvSpPr>
        <p:spPr>
          <a:xfrm>
            <a:off x="793790" y="129448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09D6074-985D-ECFD-41A9-CC64CE8CCED8}"/>
              </a:ext>
            </a:extLst>
          </p:cNvPr>
          <p:cNvSpPr/>
          <p:nvPr/>
        </p:nvSpPr>
        <p:spPr>
          <a:xfrm>
            <a:off x="793790" y="1649525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8BB4AFD-62D3-1AAB-C8B6-84BCFD0B3499}"/>
              </a:ext>
            </a:extLst>
          </p:cNvPr>
          <p:cNvSpPr/>
          <p:nvPr/>
        </p:nvSpPr>
        <p:spPr>
          <a:xfrm>
            <a:off x="793790" y="1823833"/>
            <a:ext cx="4370308" cy="342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latin typeface="PT Serif" pitchFamily="34" charset="0"/>
              </a:rPr>
              <a:t>What is Deep Learning?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95C41F2-E8AE-183D-B7D2-B584B66A5047}"/>
              </a:ext>
            </a:extLst>
          </p:cNvPr>
          <p:cNvSpPr/>
          <p:nvPr/>
        </p:nvSpPr>
        <p:spPr>
          <a:xfrm>
            <a:off x="7428548" y="129448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20FFCDF-EFCF-D95B-39BF-71DEE8C305CC}"/>
              </a:ext>
            </a:extLst>
          </p:cNvPr>
          <p:cNvSpPr/>
          <p:nvPr/>
        </p:nvSpPr>
        <p:spPr>
          <a:xfrm>
            <a:off x="7428548" y="1649525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5C44485-ABDB-D8CB-78F7-9276AAADB0B2}"/>
              </a:ext>
            </a:extLst>
          </p:cNvPr>
          <p:cNvSpPr/>
          <p:nvPr/>
        </p:nvSpPr>
        <p:spPr>
          <a:xfrm>
            <a:off x="7428548" y="1781327"/>
            <a:ext cx="4915852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Evolution of AI ,ML and DL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49AA9FB-4CAF-BC7C-90F0-1D48BD93C205}"/>
              </a:ext>
            </a:extLst>
          </p:cNvPr>
          <p:cNvSpPr/>
          <p:nvPr/>
        </p:nvSpPr>
        <p:spPr>
          <a:xfrm>
            <a:off x="793790" y="259273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735EFEC-254C-A190-497E-54797BC377D7}"/>
              </a:ext>
            </a:extLst>
          </p:cNvPr>
          <p:cNvSpPr/>
          <p:nvPr/>
        </p:nvSpPr>
        <p:spPr>
          <a:xfrm>
            <a:off x="793790" y="2947783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AC6FBEA-485A-7F7D-47FB-5FEB6466C2AF}"/>
              </a:ext>
            </a:extLst>
          </p:cNvPr>
          <p:cNvSpPr/>
          <p:nvPr/>
        </p:nvSpPr>
        <p:spPr>
          <a:xfrm>
            <a:off x="793790" y="3122089"/>
            <a:ext cx="5149810" cy="840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Machine Learning vs. Deep Learning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B65B506-59D4-7376-A944-4C46A5D3D0DA}"/>
              </a:ext>
            </a:extLst>
          </p:cNvPr>
          <p:cNvSpPr/>
          <p:nvPr/>
        </p:nvSpPr>
        <p:spPr>
          <a:xfrm>
            <a:off x="7428548" y="259273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64D1A4C-2B9B-4174-ACD2-FF1592E30587}"/>
              </a:ext>
            </a:extLst>
          </p:cNvPr>
          <p:cNvSpPr/>
          <p:nvPr/>
        </p:nvSpPr>
        <p:spPr>
          <a:xfrm>
            <a:off x="7428548" y="2947783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B2CEF56-AF19-B00B-757E-9F9AA779999A}"/>
              </a:ext>
            </a:extLst>
          </p:cNvPr>
          <p:cNvSpPr/>
          <p:nvPr/>
        </p:nvSpPr>
        <p:spPr>
          <a:xfrm>
            <a:off x="7428548" y="2800469"/>
            <a:ext cx="383702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7E44A9EB-37D4-D3CC-6CA9-BE886EEF64E4}"/>
              </a:ext>
            </a:extLst>
          </p:cNvPr>
          <p:cNvSpPr/>
          <p:nvPr/>
        </p:nvSpPr>
        <p:spPr>
          <a:xfrm>
            <a:off x="7428548" y="3134607"/>
            <a:ext cx="5149810" cy="341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Applications of Deep Learning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4817E384-431B-004E-9519-609CCEFD3F9D}"/>
              </a:ext>
            </a:extLst>
          </p:cNvPr>
          <p:cNvSpPr/>
          <p:nvPr/>
        </p:nvSpPr>
        <p:spPr>
          <a:xfrm>
            <a:off x="7461648" y="4318278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E7DC69CE-BE78-CF47-B8A0-AAF1F599331D}"/>
              </a:ext>
            </a:extLst>
          </p:cNvPr>
          <p:cNvSpPr/>
          <p:nvPr/>
        </p:nvSpPr>
        <p:spPr>
          <a:xfrm>
            <a:off x="762000" y="387515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22BC2E0A-B1F4-4040-8822-0C2B059492C6}"/>
              </a:ext>
            </a:extLst>
          </p:cNvPr>
          <p:cNvSpPr/>
          <p:nvPr/>
        </p:nvSpPr>
        <p:spPr>
          <a:xfrm>
            <a:off x="793790" y="4465260"/>
            <a:ext cx="5149810" cy="341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Deep Learning Model Architectures 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E1497569-81C6-4F40-AA53-929BF0F2FC56}"/>
              </a:ext>
            </a:extLst>
          </p:cNvPr>
          <p:cNvSpPr/>
          <p:nvPr/>
        </p:nvSpPr>
        <p:spPr>
          <a:xfrm>
            <a:off x="770513" y="4303038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2E7DDC5B-190B-EF43-A52C-45C712740911}"/>
              </a:ext>
            </a:extLst>
          </p:cNvPr>
          <p:cNvSpPr/>
          <p:nvPr/>
        </p:nvSpPr>
        <p:spPr>
          <a:xfrm>
            <a:off x="7461648" y="386682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C355E4A2-467C-9A45-8BC8-48D4B0185ACA}"/>
              </a:ext>
            </a:extLst>
          </p:cNvPr>
          <p:cNvSpPr/>
          <p:nvPr/>
        </p:nvSpPr>
        <p:spPr>
          <a:xfrm>
            <a:off x="7489508" y="4538306"/>
            <a:ext cx="5149810" cy="341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When is Traditional ML Preferred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431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1A3CB-41F7-32D8-792F-86BB7E7F3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5577E599-D18D-03B1-54CA-31B0188B51B2}"/>
              </a:ext>
            </a:extLst>
          </p:cNvPr>
          <p:cNvSpPr/>
          <p:nvPr/>
        </p:nvSpPr>
        <p:spPr>
          <a:xfrm>
            <a:off x="793790" y="2661761"/>
            <a:ext cx="6407944" cy="2066092"/>
          </a:xfrm>
          <a:prstGeom prst="roundRect">
            <a:avLst>
              <a:gd name="adj" fmla="val 164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1746D5C-8078-4A80-769E-5CD15308F3C2}"/>
              </a:ext>
            </a:extLst>
          </p:cNvPr>
          <p:cNvSpPr/>
          <p:nvPr/>
        </p:nvSpPr>
        <p:spPr>
          <a:xfrm>
            <a:off x="824270" y="2692241"/>
            <a:ext cx="6346984" cy="68044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EC3A262-12CE-097C-E9AC-54001C37D5BE}"/>
              </a:ext>
            </a:extLst>
          </p:cNvPr>
          <p:cNvSpPr/>
          <p:nvPr/>
        </p:nvSpPr>
        <p:spPr>
          <a:xfrm>
            <a:off x="2552071" y="287092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IN" sz="2400" b="1" dirty="0">
                <a:latin typeface="PT Serif" panose="020A0603040505020204" pitchFamily="18" charset="0"/>
              </a:rPr>
              <a:t>Netflix / YouTube</a:t>
            </a:r>
            <a:endParaRPr lang="en-US" sz="2400" dirty="0">
              <a:latin typeface="PT Serif" panose="020A0603040505020204" pitchFamily="18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7959B6A-E1B4-7726-6305-D8FFF8FBC1CC}"/>
              </a:ext>
            </a:extLst>
          </p:cNvPr>
          <p:cNvSpPr/>
          <p:nvPr/>
        </p:nvSpPr>
        <p:spPr>
          <a:xfrm>
            <a:off x="7428548" y="2661761"/>
            <a:ext cx="6408063" cy="2066092"/>
          </a:xfrm>
          <a:prstGeom prst="roundRect">
            <a:avLst>
              <a:gd name="adj" fmla="val 164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4A6FBA9-365E-EB0E-BE45-EBABD13D0430}"/>
              </a:ext>
            </a:extLst>
          </p:cNvPr>
          <p:cNvSpPr/>
          <p:nvPr/>
        </p:nvSpPr>
        <p:spPr>
          <a:xfrm>
            <a:off x="7459027" y="2692241"/>
            <a:ext cx="6347103" cy="68044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A8B9C98-04C9-72DC-7183-32DE002460EB}"/>
              </a:ext>
            </a:extLst>
          </p:cNvPr>
          <p:cNvSpPr/>
          <p:nvPr/>
        </p:nvSpPr>
        <p:spPr>
          <a:xfrm>
            <a:off x="9476621" y="287035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IN" sz="2400" b="1" dirty="0">
                <a:latin typeface="PT Serif" panose="020A0603040505020204" pitchFamily="18" charset="0"/>
              </a:rPr>
              <a:t>ChatGPT</a:t>
            </a:r>
            <a:endParaRPr lang="en-US" sz="2400" dirty="0">
              <a:latin typeface="PT Serif" panose="020A0603040505020204" pitchFamily="18" charset="0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7A950B7-B866-C09A-963F-C4D830EA8B77}"/>
              </a:ext>
            </a:extLst>
          </p:cNvPr>
          <p:cNvSpPr/>
          <p:nvPr/>
        </p:nvSpPr>
        <p:spPr>
          <a:xfrm>
            <a:off x="793790" y="4954667"/>
            <a:ext cx="6407944" cy="1876439"/>
          </a:xfrm>
          <a:prstGeom prst="roundRect">
            <a:avLst>
              <a:gd name="adj" fmla="val 140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8EE8A62-26BC-A5C9-8741-304A57956A0A}"/>
              </a:ext>
            </a:extLst>
          </p:cNvPr>
          <p:cNvSpPr/>
          <p:nvPr/>
        </p:nvSpPr>
        <p:spPr>
          <a:xfrm>
            <a:off x="824270" y="4985147"/>
            <a:ext cx="6346984" cy="68044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0976A89-403A-CD1F-F9E5-689F34FE5BE3}"/>
              </a:ext>
            </a:extLst>
          </p:cNvPr>
          <p:cNvSpPr/>
          <p:nvPr/>
        </p:nvSpPr>
        <p:spPr>
          <a:xfrm>
            <a:off x="2690232" y="512677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IN" sz="2400" dirty="0">
                <a:latin typeface="PT Serif" panose="020A0603040505020204" pitchFamily="18" charset="0"/>
              </a:rPr>
              <a:t>📱 </a:t>
            </a:r>
            <a:r>
              <a:rPr lang="en-IN" sz="2400" b="1" dirty="0">
                <a:latin typeface="PT Serif" panose="020A0603040505020204" pitchFamily="18" charset="0"/>
              </a:rPr>
              <a:t>Face Unlock </a:t>
            </a:r>
            <a:endParaRPr lang="en-US" sz="2400" dirty="0">
              <a:latin typeface="PT Serif" panose="020A0603040505020204" pitchFamily="18" charset="0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2800F00-7E8B-8309-401A-835DD36E3197}"/>
              </a:ext>
            </a:extLst>
          </p:cNvPr>
          <p:cNvSpPr/>
          <p:nvPr/>
        </p:nvSpPr>
        <p:spPr>
          <a:xfrm>
            <a:off x="7428548" y="4954667"/>
            <a:ext cx="6408063" cy="1876439"/>
          </a:xfrm>
          <a:prstGeom prst="roundRect">
            <a:avLst>
              <a:gd name="adj" fmla="val 140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58FA98C-2C30-7C80-AA40-25D2ED78BF5A}"/>
              </a:ext>
            </a:extLst>
          </p:cNvPr>
          <p:cNvSpPr/>
          <p:nvPr/>
        </p:nvSpPr>
        <p:spPr>
          <a:xfrm>
            <a:off x="7459027" y="4985147"/>
            <a:ext cx="6347103" cy="68044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4B52F14-3B18-3BF5-5AE8-3A0932ABA873}"/>
              </a:ext>
            </a:extLst>
          </p:cNvPr>
          <p:cNvSpPr/>
          <p:nvPr/>
        </p:nvSpPr>
        <p:spPr>
          <a:xfrm>
            <a:off x="8835879" y="513148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IN" sz="2400" dirty="0">
                <a:latin typeface="PT Serif" panose="020A0603040505020204" pitchFamily="18" charset="0"/>
              </a:rPr>
              <a:t>🩺 </a:t>
            </a:r>
            <a:r>
              <a:rPr lang="en-IN" sz="2400" b="1" dirty="0">
                <a:latin typeface="PT Serif" panose="020A0603040505020204" pitchFamily="18" charset="0"/>
              </a:rPr>
              <a:t>Medical Imaging</a:t>
            </a:r>
            <a:endParaRPr lang="en-US" sz="2400" dirty="0">
              <a:latin typeface="PT Serif" panose="020A0603040505020204" pitchFamily="18" charset="0"/>
            </a:endParaRPr>
          </a:p>
        </p:txBody>
      </p:sp>
      <p:sp>
        <p:nvSpPr>
          <p:cNvPr id="24" name="Text 0">
            <a:extLst>
              <a:ext uri="{FF2B5EF4-FFF2-40B4-BE49-F238E27FC236}">
                <a16:creationId xmlns:a16="http://schemas.microsoft.com/office/drawing/2014/main" id="{671BD88C-038F-D048-87E4-9772E81308A4}"/>
              </a:ext>
            </a:extLst>
          </p:cNvPr>
          <p:cNvSpPr/>
          <p:nvPr/>
        </p:nvSpPr>
        <p:spPr>
          <a:xfrm>
            <a:off x="913761" y="1101685"/>
            <a:ext cx="4233267" cy="500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Deep Learning in Your Daily Life</a:t>
            </a:r>
            <a:endParaRPr lang="en-US" sz="315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26DE41-FA95-F4FE-F16C-BE4AF98A870A}"/>
              </a:ext>
            </a:extLst>
          </p:cNvPr>
          <p:cNvSpPr txBox="1"/>
          <p:nvPr/>
        </p:nvSpPr>
        <p:spPr>
          <a:xfrm>
            <a:off x="2195453" y="3482862"/>
            <a:ext cx="483543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DM Sans" pitchFamily="2" charset="0"/>
              </a:rPr>
              <a:t>
Personalized recommendations</a:t>
            </a:r>
          </a:p>
          <a:p>
            <a:endParaRPr lang="en-IN" sz="1600" dirty="0">
              <a:latin typeface="DM Sans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AD3B65-3A65-D81C-2812-46988F91CFF6}"/>
              </a:ext>
            </a:extLst>
          </p:cNvPr>
          <p:cNvSpPr txBox="1"/>
          <p:nvPr/>
        </p:nvSpPr>
        <p:spPr>
          <a:xfrm>
            <a:off x="8214859" y="3457438"/>
            <a:ext cx="483543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DM Sans" pitchFamily="2" charset="0"/>
              </a:rPr>
              <a:t>
Answers your questions</a:t>
            </a:r>
          </a:p>
          <a:p>
            <a:endParaRPr lang="en-IN" sz="1600" dirty="0">
              <a:latin typeface="DM Sans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0D6B94-FB5D-1CFC-4AE6-497BE6840183}"/>
              </a:ext>
            </a:extLst>
          </p:cNvPr>
          <p:cNvSpPr txBox="1"/>
          <p:nvPr/>
        </p:nvSpPr>
        <p:spPr>
          <a:xfrm>
            <a:off x="8296575" y="6018439"/>
            <a:ext cx="48354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DM Sans" pitchFamily="2" charset="0"/>
              </a:rPr>
              <a:t>Detects diseases</a:t>
            </a:r>
            <a:endParaRPr lang="en-IN" sz="1600" dirty="0">
              <a:latin typeface="DM Sans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F31633-5793-3C31-49A2-1D24305F0566}"/>
              </a:ext>
            </a:extLst>
          </p:cNvPr>
          <p:cNvSpPr txBox="1"/>
          <p:nvPr/>
        </p:nvSpPr>
        <p:spPr>
          <a:xfrm>
            <a:off x="2335816" y="6005527"/>
            <a:ext cx="48354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DM Sans" pitchFamily="2" charset="0"/>
              </a:rPr>
              <a:t>Recognizes your face</a:t>
            </a:r>
          </a:p>
          <a:p>
            <a:endParaRPr lang="en-IN" sz="1600" dirty="0">
              <a:latin typeface="DM Sans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C1AFFE-E63C-BDE8-2C9B-57FA5717FE2F}"/>
              </a:ext>
            </a:extLst>
          </p:cNvPr>
          <p:cNvSpPr txBox="1"/>
          <p:nvPr/>
        </p:nvSpPr>
        <p:spPr>
          <a:xfrm>
            <a:off x="4933969" y="7313333"/>
            <a:ext cx="5201271" cy="677108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        All of this is powered by Deep Learning</a:t>
            </a:r>
          </a:p>
          <a:p>
            <a:endParaRPr lang="en-IN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A222AB7-BAE4-A833-DEF1-DDFCCB629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7957" y="2772715"/>
            <a:ext cx="438817" cy="42529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1BFFF7F-CE44-D697-46B9-40DE068AFD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7120" y="2888956"/>
            <a:ext cx="340162" cy="28701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749D031-7A08-8E0B-EB7F-F24570B61B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960" y="2857894"/>
            <a:ext cx="338643" cy="32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002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49899" y="235738"/>
            <a:ext cx="4233267" cy="500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Deep Learning?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2049899" y="1144786"/>
            <a:ext cx="11609830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 learning is a subset of machine learning that uses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multi-layer neural networks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automatically learn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hierarchical representations directly from raw data — no manual feature engineering required.</a:t>
            </a: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4598" y="1668661"/>
            <a:ext cx="9641086" cy="58025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60657" y="6137812"/>
            <a:ext cx="1590095" cy="310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Pixels</a:t>
            </a:r>
            <a:endParaRPr lang="en-US" sz="1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96064" y="4428756"/>
            <a:ext cx="526522" cy="52652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35239" y="5627086"/>
            <a:ext cx="1590095" cy="310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Edges</a:t>
            </a:r>
            <a:endParaRPr lang="en-US" sz="1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70481" y="3933826"/>
            <a:ext cx="526522" cy="52652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20186" y="5132156"/>
            <a:ext cx="1590096" cy="310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Shapes</a:t>
            </a:r>
            <a:endParaRPr lang="en-US" sz="1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44898" y="3438895"/>
            <a:ext cx="526522" cy="52652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383909" y="4637226"/>
            <a:ext cx="1590095" cy="310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Objects</a:t>
            </a:r>
            <a:endParaRPr lang="en-US" sz="19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19315" y="2943965"/>
            <a:ext cx="526521" cy="52652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258325" y="4142296"/>
            <a:ext cx="1590096" cy="310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Prediction</a:t>
            </a:r>
            <a:endParaRPr lang="en-US" sz="19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04262" y="2417443"/>
            <a:ext cx="526521" cy="52652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779597" y="7475349"/>
            <a:ext cx="10530602" cy="642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layer extracts increasingly abstract features, enabling powerful pattern recognition in unstructured data such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 images, speech, and text.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19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18373"/>
            <a:ext cx="998398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Evolution: AI → ML → Deep Learning</a:t>
            </a:r>
            <a:endParaRPr lang="en-US" sz="4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416260"/>
            <a:ext cx="4347567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455033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Artificial Intelligence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020604" y="5058489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Broad goal: machines capable of intelligent behavior</a:t>
            </a:r>
            <a:endParaRPr lang="en-US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3416260"/>
            <a:ext cx="4347567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8171" y="455033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Machine Learning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5368171" y="5058489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Systems learn patterns from data without explicit programming</a:t>
            </a:r>
            <a:endParaRPr lang="en-US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3416260"/>
            <a:ext cx="4347567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455033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Deep Learning</a:t>
            </a:r>
            <a:endParaRPr lang="en-US" sz="2300" dirty="0"/>
          </a:p>
        </p:txBody>
      </p:sp>
      <p:sp>
        <p:nvSpPr>
          <p:cNvPr id="11" name="Text 6"/>
          <p:cNvSpPr/>
          <p:nvPr/>
        </p:nvSpPr>
        <p:spPr>
          <a:xfrm>
            <a:off x="9715738" y="5058489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Specialized ML using deep neural networks with multiple hidden layers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662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35148"/>
            <a:ext cx="9871472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Deep Learning Became Practical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673197"/>
            <a:ext cx="4196358" cy="2421136"/>
          </a:xfrm>
          <a:prstGeom prst="roundRect">
            <a:avLst>
              <a:gd name="adj" fmla="val 6043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3642717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5" name="Shape 3"/>
          <p:cNvSpPr/>
          <p:nvPr/>
        </p:nvSpPr>
        <p:spPr>
          <a:xfrm>
            <a:off x="2551688" y="3333036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04F00"/>
          </a:solidFill>
          <a:ln/>
        </p:spPr>
      </p:sp>
      <p:sp>
        <p:nvSpPr>
          <p:cNvPr id="6" name="Text 4"/>
          <p:cNvSpPr/>
          <p:nvPr/>
        </p:nvSpPr>
        <p:spPr>
          <a:xfrm>
            <a:off x="2755761" y="3503176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4240173"/>
            <a:ext cx="299799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Large Data Availability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51084" y="4748332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Datasets like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ImageNet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provide millions of labeled examples for training.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3673197"/>
            <a:ext cx="4196358" cy="2421136"/>
          </a:xfrm>
          <a:prstGeom prst="roundRect">
            <a:avLst>
              <a:gd name="adj" fmla="val 604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216962" y="3642717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1" name="Shape 9"/>
          <p:cNvSpPr/>
          <p:nvPr/>
        </p:nvSpPr>
        <p:spPr>
          <a:xfrm>
            <a:off x="6974860" y="3333036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04F00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933" y="3503176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474256" y="424017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Computing Power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474256" y="4748332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GPUs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enable efficient parallel computation at scale.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640133" y="3673197"/>
            <a:ext cx="4196358" cy="2421136"/>
          </a:xfrm>
          <a:prstGeom prst="roundRect">
            <a:avLst>
              <a:gd name="adj" fmla="val 6043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640133" y="3642717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98032" y="3333036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04F00"/>
          </a:solidFill>
          <a:ln/>
        </p:spPr>
      </p:sp>
      <p:sp>
        <p:nvSpPr>
          <p:cNvPr id="18" name="Text 16"/>
          <p:cNvSpPr/>
          <p:nvPr/>
        </p:nvSpPr>
        <p:spPr>
          <a:xfrm>
            <a:off x="11602105" y="3503176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897427" y="4240173"/>
            <a:ext cx="358092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Algorithmic Improvements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9897427" y="4748332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advances: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ReLU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activation,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Adam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optimizer, and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dropout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regularization.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025359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8725"/>
            <a:ext cx="9623822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Machine Learning vs. Deep Learning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857250" y="219126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 learning is theoretically a subset of ML, but practically treated as a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separate paradigm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30436" y="3861435"/>
            <a:ext cx="6571417" cy="2322552"/>
          </a:xfrm>
          <a:prstGeom prst="roundRect">
            <a:avLst>
              <a:gd name="adj" fmla="val 1465"/>
            </a:avLst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857250" y="4088249"/>
            <a:ext cx="354961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Machine Learning Pipeline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57250" y="4687133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→ </a:t>
            </a:r>
            <a:r>
              <a:rPr lang="en-US" sz="17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 Engineering</a:t>
            </a: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Model → Prediction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57250" y="5254109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Features are </a:t>
            </a:r>
            <a:r>
              <a:rPr lang="en-US" sz="17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manually designed</a:t>
            </a: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by domain experts.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4088249"/>
            <a:ext cx="309062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Deep Learning Pipeline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599521" y="468713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Raw Data →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 Neural Network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Prediction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25410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network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automatically learns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relevant features from data.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2153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ML vs. Deep Learning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86170" y="205859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Comparison of key aspects across both paradigms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64193"/>
            <a:ext cx="13042821" cy="3917156"/>
          </a:xfrm>
          <a:prstGeom prst="roundRect">
            <a:avLst>
              <a:gd name="adj" fmla="val 86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3071812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462" y="3215521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Aspect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591889" y="3215521"/>
            <a:ext cx="370748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Machine Learning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760625" y="3215521"/>
            <a:ext cx="38415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 Learning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3722132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28462" y="3865840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 Engineering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591889" y="3865840"/>
            <a:ext cx="370748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Manual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760625" y="3865840"/>
            <a:ext cx="38415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Automatic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4372451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28462" y="4516160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Size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5591889" y="4516160"/>
            <a:ext cx="370748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Small–Medium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9760625" y="4516160"/>
            <a:ext cx="38415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Large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5022771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28462" y="5166479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Training Time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5591889" y="5166479"/>
            <a:ext cx="370748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Faster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9760625" y="5166479"/>
            <a:ext cx="38415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Slower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801410" y="5673090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28462" y="5816798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Hardware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5591889" y="5816798"/>
            <a:ext cx="370748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CPU often enough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9760625" y="5816798"/>
            <a:ext cx="38415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GPU often required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801410" y="6323409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28462" y="6467118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Interpretability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5591889" y="6467118"/>
            <a:ext cx="370748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Higher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9760625" y="6467118"/>
            <a:ext cx="38415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Lower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168572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0503"/>
            <a:ext cx="8036719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Applications of Deep Learning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368391"/>
            <a:ext cx="6407944" cy="2231946"/>
          </a:xfrm>
          <a:prstGeom prst="roundRect">
            <a:avLst>
              <a:gd name="adj" fmla="val 1524"/>
            </a:avLst>
          </a:prstGeom>
          <a:solidFill>
            <a:srgbClr val="F2EEEE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259520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2782253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50246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Computer Vision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020604" y="4010620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mage classification, face recognition, medical imaging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7428548" y="2368391"/>
            <a:ext cx="6408063" cy="2231946"/>
          </a:xfrm>
          <a:prstGeom prst="roundRect">
            <a:avLst>
              <a:gd name="adj" fmla="val 1524"/>
            </a:avLst>
          </a:prstGeom>
          <a:solidFill>
            <a:srgbClr val="F2EEEE"/>
          </a:solidFill>
          <a:ln/>
        </p:spPr>
      </p:sp>
      <p:sp>
        <p:nvSpPr>
          <p:cNvPr id="9" name="Shape 6"/>
          <p:cNvSpPr/>
          <p:nvPr/>
        </p:nvSpPr>
        <p:spPr>
          <a:xfrm>
            <a:off x="7655362" y="259520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42528" y="2782253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55362" y="350246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Natural Language Processing</a:t>
            </a:r>
            <a:endParaRPr lang="en-US" sz="2300" dirty="0"/>
          </a:p>
        </p:txBody>
      </p:sp>
      <p:sp>
        <p:nvSpPr>
          <p:cNvPr id="12" name="Text 8"/>
          <p:cNvSpPr/>
          <p:nvPr/>
        </p:nvSpPr>
        <p:spPr>
          <a:xfrm>
            <a:off x="7655362" y="4010620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Machine translation, chatbots, text summarization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793790" y="4827151"/>
            <a:ext cx="6407944" cy="2231946"/>
          </a:xfrm>
          <a:prstGeom prst="roundRect">
            <a:avLst>
              <a:gd name="adj" fmla="val 1524"/>
            </a:avLst>
          </a:prstGeom>
          <a:solidFill>
            <a:srgbClr val="F2EEEE"/>
          </a:solidFill>
          <a:ln/>
        </p:spPr>
      </p:sp>
      <p:sp>
        <p:nvSpPr>
          <p:cNvPr id="14" name="Shape 10"/>
          <p:cNvSpPr/>
          <p:nvPr/>
        </p:nvSpPr>
        <p:spPr>
          <a:xfrm>
            <a:off x="1020604" y="505396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7770" y="5241012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0604" y="596122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Speech Recognition</a:t>
            </a:r>
            <a:endParaRPr lang="en-US" sz="2300" dirty="0"/>
          </a:p>
        </p:txBody>
      </p:sp>
      <p:sp>
        <p:nvSpPr>
          <p:cNvPr id="17" name="Text 12"/>
          <p:cNvSpPr/>
          <p:nvPr/>
        </p:nvSpPr>
        <p:spPr>
          <a:xfrm>
            <a:off x="1020604" y="6469380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Voice assistants, dictation systems</a:t>
            </a: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7428548" y="4827151"/>
            <a:ext cx="6408063" cy="2231946"/>
          </a:xfrm>
          <a:prstGeom prst="roundRect">
            <a:avLst>
              <a:gd name="adj" fmla="val 1524"/>
            </a:avLst>
          </a:prstGeom>
          <a:solidFill>
            <a:srgbClr val="F2EEEE"/>
          </a:solidFill>
          <a:ln/>
        </p:spPr>
      </p:sp>
      <p:sp>
        <p:nvSpPr>
          <p:cNvPr id="19" name="Shape 14"/>
          <p:cNvSpPr/>
          <p:nvPr/>
        </p:nvSpPr>
        <p:spPr>
          <a:xfrm>
            <a:off x="7655362" y="505396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42528" y="5241012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55362" y="596122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Autonomous Systems</a:t>
            </a:r>
            <a:endParaRPr lang="en-US" sz="2300" dirty="0"/>
          </a:p>
        </p:txBody>
      </p:sp>
      <p:sp>
        <p:nvSpPr>
          <p:cNvPr id="22" name="Text 16"/>
          <p:cNvSpPr/>
          <p:nvPr/>
        </p:nvSpPr>
        <p:spPr>
          <a:xfrm>
            <a:off x="7655362" y="6469380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Self-driving vehicles, robotics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310" y="737116"/>
            <a:ext cx="9152334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Deep Learning in Computer Vision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89" y="19247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Computer vision enables machines to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interpret visual data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Convolutional Neural Networks (CNNs)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are the dominant architecture.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93790" y="3396139"/>
            <a:ext cx="6407944" cy="1385649"/>
          </a:xfrm>
          <a:prstGeom prst="roundRect">
            <a:avLst>
              <a:gd name="adj" fmla="val 1055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3396139"/>
            <a:ext cx="121920" cy="1385649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65343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Image Classification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42524" y="4161592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Assign a label to an entire image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396139"/>
            <a:ext cx="6408063" cy="1385649"/>
          </a:xfrm>
          <a:prstGeom prst="roundRect">
            <a:avLst>
              <a:gd name="adj" fmla="val 1055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98067" y="3396139"/>
            <a:ext cx="121920" cy="1385649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7777282" y="365343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Object Detection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777282" y="4161592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Locate and identify multiple objects in a scene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008602"/>
            <a:ext cx="6407944" cy="1385649"/>
          </a:xfrm>
          <a:prstGeom prst="roundRect">
            <a:avLst>
              <a:gd name="adj" fmla="val 1055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3310" y="5008602"/>
            <a:ext cx="121920" cy="1385649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2524" y="526589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Face Recognition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142524" y="5774055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individuals from facial features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008602"/>
            <a:ext cx="6408063" cy="1385649"/>
          </a:xfrm>
          <a:prstGeom prst="roundRect">
            <a:avLst>
              <a:gd name="adj" fmla="val 1055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98067" y="5008602"/>
            <a:ext cx="121920" cy="1385649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7282" y="526589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Medical Imaging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7777282" y="5774055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Diagnose conditions from X-rays, MRIs, and scans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93790" y="664940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CNNs learn hierarchical visual patterns — from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edges → shapes → objects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through successive convolutional layers.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181" y="808673"/>
            <a:ext cx="12364641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Deep Learning in Natural Language Processing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667181" y="229856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NLP focuses on enabling machines to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 and generate human language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Deep learning models learn semantic representations directly from text.</a:t>
            </a: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4278154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4253" y="427815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Sentiment Analysis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644253" y="4786313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Classify the emotional tone of text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893" y="4278154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86356" y="427815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Machine Translation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6086356" y="4786313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Translate text across languages automatically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4278154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28459" y="427815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Question Answering</a:t>
            </a:r>
            <a:endParaRPr lang="en-US" sz="2300" dirty="0"/>
          </a:p>
        </p:txBody>
      </p:sp>
      <p:sp>
        <p:nvSpPr>
          <p:cNvPr id="12" name="Text 7"/>
          <p:cNvSpPr/>
          <p:nvPr/>
        </p:nvSpPr>
        <p:spPr>
          <a:xfrm>
            <a:off x="10528459" y="4786313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Retrieve precise answers from large text corpora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793790" y="609891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Modern NLP systems predominantly use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Transformer architectures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(e.g., BERT, GPT).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9639"/>
            <a:ext cx="735222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600" dirty="0">
                <a:solidFill>
                  <a:srgbClr val="272D45"/>
                </a:solidFill>
                <a:latin typeface="PT Serif" panose="020A0603040505020204" pitchFamily="18" charset="0"/>
                <a:ea typeface="Kanit Light" pitchFamily="34" charset="-122"/>
                <a:cs typeface="Kanit Light" pitchFamily="34" charset="-120"/>
              </a:rPr>
              <a:t>Deep Learning Architecture Types</a:t>
            </a:r>
            <a:endParaRPr lang="en-US" sz="3600" dirty="0">
              <a:latin typeface="PT Serif" panose="020A06030405050202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1936552"/>
            <a:ext cx="6422231" cy="2587466"/>
          </a:xfrm>
          <a:prstGeom prst="roundRect">
            <a:avLst>
              <a:gd name="adj" fmla="val 3222"/>
            </a:avLst>
          </a:prstGeom>
          <a:noFill/>
          <a:ln w="7620">
            <a:solidFill>
              <a:srgbClr val="C5D2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9768" y="214253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3706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479" y="2272665"/>
            <a:ext cx="267891" cy="3349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9768" y="29362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PT Serif" panose="020A0603040505020204" pitchFamily="18" charset="0"/>
                <a:ea typeface="Kanit Light" pitchFamily="34" charset="-122"/>
                <a:cs typeface="Kanit Light" pitchFamily="34" charset="-120"/>
              </a:rPr>
              <a:t>Feedforward Networks</a:t>
            </a:r>
            <a:endParaRPr lang="en-US" sz="1950" dirty="0">
              <a:latin typeface="PT Serif" panose="020A06030405050202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99768" y="3365421"/>
            <a:ext cx="601027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DM Sans" pitchFamily="2" charset="0"/>
                <a:ea typeface="Martel Sans" pitchFamily="34" charset="-122"/>
                <a:cs typeface="Martel Sans" pitchFamily="34" charset="-120"/>
              </a:rPr>
              <a:t>Information flows in one direction from input to output through fully connected layers. Best for structured data and basic classification tasks.</a:t>
            </a:r>
            <a:endParaRPr lang="en-US" sz="1550" dirty="0">
              <a:latin typeface="DM Sans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414379" y="1936552"/>
            <a:ext cx="6422231" cy="2587466"/>
          </a:xfrm>
          <a:prstGeom prst="roundRect">
            <a:avLst>
              <a:gd name="adj" fmla="val 3222"/>
            </a:avLst>
          </a:prstGeom>
          <a:noFill/>
          <a:ln w="7620">
            <a:solidFill>
              <a:srgbClr val="C5D2C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20357" y="214253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3706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4068" y="2272665"/>
            <a:ext cx="267891" cy="33492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20357" y="2936200"/>
            <a:ext cx="336554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PT Serif" panose="020A0603040505020204" pitchFamily="18" charset="0"/>
                <a:ea typeface="Kanit Light" pitchFamily="34" charset="-122"/>
                <a:cs typeface="Kanit Light" pitchFamily="34" charset="-120"/>
              </a:rPr>
              <a:t>Convolutional Neural Networks</a:t>
            </a:r>
            <a:endParaRPr lang="en-US" sz="1950" dirty="0">
              <a:latin typeface="PT Serif" panose="020A06030405050202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620357" y="3365421"/>
            <a:ext cx="601027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DM Sans" pitchFamily="2" charset="0"/>
                <a:ea typeface="Martel Sans" pitchFamily="34" charset="-122"/>
                <a:cs typeface="Martel Sans" pitchFamily="34" charset="-120"/>
              </a:rPr>
              <a:t>Specialized for processing grid-like data such as images, using convolutional layers to detect local patterns and spatial relationships.</a:t>
            </a:r>
            <a:endParaRPr lang="en-US" sz="1550" dirty="0">
              <a:latin typeface="DM Sans" pitchFamily="2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793790" y="4722376"/>
            <a:ext cx="6422231" cy="2587466"/>
          </a:xfrm>
          <a:prstGeom prst="roundRect">
            <a:avLst>
              <a:gd name="adj" fmla="val 3222"/>
            </a:avLst>
          </a:prstGeom>
          <a:noFill/>
          <a:ln w="7620">
            <a:solidFill>
              <a:srgbClr val="C5D2C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99768" y="4928354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3706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3479" y="5058489"/>
            <a:ext cx="267891" cy="33492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99768" y="5722025"/>
            <a:ext cx="290250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PT Serif" panose="020A0603040505020204" pitchFamily="18" charset="0"/>
                <a:ea typeface="Kanit Light" pitchFamily="34" charset="-122"/>
                <a:cs typeface="Kanit Light" pitchFamily="34" charset="-120"/>
              </a:rPr>
              <a:t>Recurrent Neural Networks</a:t>
            </a:r>
            <a:endParaRPr lang="en-US" sz="1950" dirty="0">
              <a:latin typeface="PT Serif" panose="020A0603040505020204" pitchFamily="18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999768" y="6151245"/>
            <a:ext cx="601027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DM Sans" pitchFamily="2" charset="0"/>
                <a:ea typeface="Martel Sans" pitchFamily="34" charset="-122"/>
                <a:cs typeface="Martel Sans" pitchFamily="34" charset="-120"/>
              </a:rPr>
              <a:t>Designed for sequential data with memory capabilities, allowing information to persist across time steps for temporal pattern recognition.</a:t>
            </a:r>
            <a:endParaRPr lang="en-US" sz="1550" dirty="0">
              <a:latin typeface="DM Sans" pitchFamily="2" charset="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7414379" y="4722376"/>
            <a:ext cx="6422231" cy="2587466"/>
          </a:xfrm>
          <a:prstGeom prst="roundRect">
            <a:avLst>
              <a:gd name="adj" fmla="val 3222"/>
            </a:avLst>
          </a:prstGeom>
          <a:noFill/>
          <a:ln w="7620">
            <a:solidFill>
              <a:srgbClr val="C5D2C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20357" y="4928354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37066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4068" y="5058489"/>
            <a:ext cx="267891" cy="33492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20357" y="572202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PT Serif" panose="020A0603040505020204" pitchFamily="18" charset="0"/>
                <a:ea typeface="Kanit Light" pitchFamily="34" charset="-122"/>
                <a:cs typeface="Kanit Light" pitchFamily="34" charset="-120"/>
              </a:rPr>
              <a:t>Transformers</a:t>
            </a:r>
            <a:endParaRPr lang="en-US" sz="1950" dirty="0">
              <a:latin typeface="PT Serif" panose="020A0603040505020204" pitchFamily="18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7620357" y="6151245"/>
            <a:ext cx="601027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DM Sans" pitchFamily="2" charset="0"/>
                <a:ea typeface="Martel Sans" pitchFamily="34" charset="-122"/>
                <a:cs typeface="Martel Sans" pitchFamily="34" charset="-120"/>
              </a:rPr>
              <a:t>Attention-based architectures that can process sequences in parallel, revolutionizing natural language processing and computer vision tasks.</a:t>
            </a:r>
            <a:endParaRPr lang="en-US" sz="1550" dirty="0"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44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1410" y="1012307"/>
            <a:ext cx="789741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Deep Learning Models-Architectures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801410" y="222543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deep learning architectures and their primary application domains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93790" y="3714512"/>
            <a:ext cx="13042821" cy="2616518"/>
          </a:xfrm>
          <a:prstGeom prst="roundRect">
            <a:avLst>
              <a:gd name="adj" fmla="val 130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3722132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343" y="3865840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Architecture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940379" y="3865840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Used For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499997" y="3865840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4372451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28343" y="4516160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CNN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4940379" y="4516160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Images / Vision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499997" y="4516160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Pneumonia detection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5022771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28343" y="5166479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RNN / LSTM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4940379" y="5166479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Sequential data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9499997" y="5166479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Speech recognition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5673090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28343" y="5816798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Transformer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4940379" y="5816798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Language / Modern AI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9499997" y="5816798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ChatGPT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549685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1403" y="676751"/>
            <a:ext cx="13127593" cy="1408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Case Study 1: Pneumonia Detection from Chest X-rays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51403" y="2593658"/>
            <a:ext cx="2817852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1403" y="3148965"/>
            <a:ext cx="4254222" cy="668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Detect pneumonia from chest X-ray images automatically.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51403" y="4020503"/>
            <a:ext cx="2817852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Approach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1403" y="4575810"/>
            <a:ext cx="4254222" cy="100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CNNs trained on large labeled X-ray datasets to identify abnormal lung patterns.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51403" y="5781556"/>
            <a:ext cx="2817852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Impact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1403" y="6336863"/>
            <a:ext cx="4254222" cy="1144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Faster hospital screening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Early detection of lung infections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Decision support for radiologists</a:t>
            </a:r>
            <a:endParaRPr lang="en-US" sz="16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467" y="3122057"/>
            <a:ext cx="6232446" cy="3699034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06068" y="4026163"/>
            <a:ext cx="530571" cy="53057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33362" y="5955617"/>
            <a:ext cx="1549267" cy="31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Classification</a:t>
            </a:r>
            <a:endParaRPr lang="en-US" sz="1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3680" y="4027157"/>
            <a:ext cx="530571" cy="53057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80860" y="5955617"/>
            <a:ext cx="1549267" cy="31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CNN Features</a:t>
            </a:r>
            <a:endParaRPr lang="en-US" sz="1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11178" y="4027157"/>
            <a:ext cx="530571" cy="53057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96525" y="5955617"/>
            <a:ext cx="1549267" cy="31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X‑ray Input</a:t>
            </a:r>
            <a:endParaRPr lang="en-US" sz="1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2038" y="519827"/>
            <a:ext cx="7125891" cy="594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Case Study 2: Speech Recognition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1062038" y="1404104"/>
            <a:ext cx="12506325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Speech recognition converts spoken language into written text — e.g., </a:t>
            </a:r>
            <a:r>
              <a:rPr lang="en-US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"Schedule a meeting tomorrow at 10 AM."</a:t>
            </a: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2449" y="1827728"/>
            <a:ext cx="9725501" cy="4451033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56411" y="2939032"/>
            <a:ext cx="625303" cy="62530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899305" y="5028327"/>
            <a:ext cx="1825886" cy="73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Language Model</a:t>
            </a:r>
            <a:endParaRPr lang="en-US" sz="2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67213" y="2940204"/>
            <a:ext cx="625304" cy="62530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98187" y="5028327"/>
            <a:ext cx="1825887" cy="73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Deep Network</a:t>
            </a:r>
            <a:endParaRPr lang="en-US" sz="23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8603" y="2940204"/>
            <a:ext cx="625303" cy="62530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309576" y="5212987"/>
            <a:ext cx="1825886" cy="369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Spectrogram</a:t>
            </a:r>
            <a:endParaRPr lang="en-US" sz="23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77486" y="2940204"/>
            <a:ext cx="625303" cy="62530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970941" y="5212987"/>
            <a:ext cx="1825886" cy="369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Capture</a:t>
            </a:r>
            <a:endParaRPr lang="en-US" sz="2300" dirty="0"/>
          </a:p>
        </p:txBody>
      </p:sp>
      <p:sp>
        <p:nvSpPr>
          <p:cNvPr id="13" name="Shape 6"/>
          <p:cNvSpPr/>
          <p:nvPr/>
        </p:nvSpPr>
        <p:spPr>
          <a:xfrm>
            <a:off x="1062038" y="6441638"/>
            <a:ext cx="12506325" cy="1268016"/>
          </a:xfrm>
          <a:prstGeom prst="roundRect">
            <a:avLst>
              <a:gd name="adj" fmla="val 2144"/>
            </a:avLst>
          </a:prstGeom>
          <a:solidFill>
            <a:srgbClr val="F2EEEE"/>
          </a:solidFill>
          <a:ln/>
        </p:spPr>
      </p:sp>
      <p:sp>
        <p:nvSpPr>
          <p:cNvPr id="14" name="Shape 7"/>
          <p:cNvSpPr/>
          <p:nvPr/>
        </p:nvSpPr>
        <p:spPr>
          <a:xfrm>
            <a:off x="1062038" y="6441638"/>
            <a:ext cx="4168735" cy="1268016"/>
          </a:xfrm>
          <a:prstGeom prst="roundRect">
            <a:avLst>
              <a:gd name="adj" fmla="val 2144"/>
            </a:avLst>
          </a:prstGeom>
          <a:solidFill>
            <a:srgbClr val="F2EEEE"/>
          </a:solidFill>
          <a:ln/>
        </p:spPr>
      </p:sp>
      <p:sp>
        <p:nvSpPr>
          <p:cNvPr id="15" name="Text 8"/>
          <p:cNvSpPr/>
          <p:nvPr/>
        </p:nvSpPr>
        <p:spPr>
          <a:xfrm>
            <a:off x="1243251" y="6622852"/>
            <a:ext cx="2378869" cy="297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RNN</a:t>
            </a:r>
            <a:endParaRPr lang="en-US" sz="1850" dirty="0"/>
          </a:p>
        </p:txBody>
      </p:sp>
      <p:sp>
        <p:nvSpPr>
          <p:cNvPr id="16" name="Text 9"/>
          <p:cNvSpPr/>
          <p:nvPr/>
        </p:nvSpPr>
        <p:spPr>
          <a:xfrm>
            <a:off x="1243251" y="7006947"/>
            <a:ext cx="3806309" cy="521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Recurrent Neural Networks for sequential data</a:t>
            </a:r>
            <a:endParaRPr lang="en-US" sz="1600" dirty="0"/>
          </a:p>
        </p:txBody>
      </p:sp>
      <p:sp>
        <p:nvSpPr>
          <p:cNvPr id="17" name="Shape 10"/>
          <p:cNvSpPr/>
          <p:nvPr/>
        </p:nvSpPr>
        <p:spPr>
          <a:xfrm>
            <a:off x="5230773" y="6441638"/>
            <a:ext cx="4168735" cy="1268016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8" name="Shape 11"/>
          <p:cNvSpPr/>
          <p:nvPr/>
        </p:nvSpPr>
        <p:spPr>
          <a:xfrm>
            <a:off x="5230773" y="6441638"/>
            <a:ext cx="22860" cy="1268016"/>
          </a:xfrm>
          <a:prstGeom prst="roundRect">
            <a:avLst>
              <a:gd name="adj" fmla="val 118931"/>
            </a:avLst>
          </a:prstGeom>
          <a:solidFill>
            <a:srgbClr val="D8D4D4"/>
          </a:solidFill>
          <a:ln/>
        </p:spPr>
      </p:sp>
      <p:sp>
        <p:nvSpPr>
          <p:cNvPr id="19" name="Text 12"/>
          <p:cNvSpPr/>
          <p:nvPr/>
        </p:nvSpPr>
        <p:spPr>
          <a:xfrm>
            <a:off x="5411986" y="6622852"/>
            <a:ext cx="2378869" cy="297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LSTM</a:t>
            </a:r>
            <a:endParaRPr lang="en-US" sz="1850" dirty="0"/>
          </a:p>
        </p:txBody>
      </p:sp>
      <p:sp>
        <p:nvSpPr>
          <p:cNvPr id="20" name="Text 13"/>
          <p:cNvSpPr/>
          <p:nvPr/>
        </p:nvSpPr>
        <p:spPr>
          <a:xfrm>
            <a:off x="5411986" y="7006947"/>
            <a:ext cx="3806309" cy="521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Long Short-Term Memory for long-range dependencies</a:t>
            </a:r>
            <a:endParaRPr lang="en-US" sz="1600" dirty="0"/>
          </a:p>
        </p:txBody>
      </p:sp>
      <p:sp>
        <p:nvSpPr>
          <p:cNvPr id="21" name="Shape 14"/>
          <p:cNvSpPr/>
          <p:nvPr/>
        </p:nvSpPr>
        <p:spPr>
          <a:xfrm>
            <a:off x="9399508" y="6441638"/>
            <a:ext cx="4168854" cy="1268016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2" name="Shape 15"/>
          <p:cNvSpPr/>
          <p:nvPr/>
        </p:nvSpPr>
        <p:spPr>
          <a:xfrm>
            <a:off x="9399508" y="6441638"/>
            <a:ext cx="22860" cy="1268016"/>
          </a:xfrm>
          <a:prstGeom prst="roundRect">
            <a:avLst>
              <a:gd name="adj" fmla="val 118931"/>
            </a:avLst>
          </a:prstGeom>
          <a:solidFill>
            <a:srgbClr val="D8D4D4"/>
          </a:solidFill>
          <a:ln/>
        </p:spPr>
      </p:sp>
      <p:sp>
        <p:nvSpPr>
          <p:cNvPr id="23" name="Text 16"/>
          <p:cNvSpPr/>
          <p:nvPr/>
        </p:nvSpPr>
        <p:spPr>
          <a:xfrm>
            <a:off x="9580721" y="6622852"/>
            <a:ext cx="2378869" cy="297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Transformer</a:t>
            </a:r>
            <a:endParaRPr lang="en-US" sz="1850" dirty="0"/>
          </a:p>
        </p:txBody>
      </p:sp>
      <p:sp>
        <p:nvSpPr>
          <p:cNvPr id="24" name="Text 17"/>
          <p:cNvSpPr/>
          <p:nvPr/>
        </p:nvSpPr>
        <p:spPr>
          <a:xfrm>
            <a:off x="9580721" y="7006947"/>
            <a:ext cx="3806428" cy="521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Attention-based models for state-of-the-art speech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5820"/>
            <a:ext cx="13008769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When Traditional Machine Learning is Preferable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04370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 learning is not always the right tool. Traditional ML is preferable when: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93790" y="2661761"/>
            <a:ext cx="6407944" cy="2066092"/>
          </a:xfrm>
          <a:prstGeom prst="roundRect">
            <a:avLst>
              <a:gd name="adj" fmla="val 164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4270" y="2692241"/>
            <a:ext cx="6346984" cy="68044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3827621" y="281975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051084" y="3599497"/>
            <a:ext cx="351365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Small or Moderate Dataset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51084" y="4107656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 learning requires large data to generalize well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428548" y="2661761"/>
            <a:ext cx="6408063" cy="2066092"/>
          </a:xfrm>
          <a:prstGeom prst="roundRect">
            <a:avLst>
              <a:gd name="adj" fmla="val 164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59027" y="2692241"/>
            <a:ext cx="6347103" cy="68044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10462498" y="281975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7685842" y="359949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Structured Data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7685842" y="4107656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Tabular data suits classical algorithms better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93790" y="4954667"/>
            <a:ext cx="6407944" cy="2428994"/>
          </a:xfrm>
          <a:prstGeom prst="roundRect">
            <a:avLst>
              <a:gd name="adj" fmla="val 140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4270" y="4985147"/>
            <a:ext cx="6346984" cy="68044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3827621" y="511266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1051084" y="5892403"/>
            <a:ext cx="334196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Feature Control Required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051084" y="6400562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Domain expertise can be directly encoded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7428548" y="4954667"/>
            <a:ext cx="6408063" cy="2428994"/>
          </a:xfrm>
          <a:prstGeom prst="roundRect">
            <a:avLst>
              <a:gd name="adj" fmla="val 140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59027" y="4985147"/>
            <a:ext cx="6347103" cy="68044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10462498" y="511266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2650" dirty="0"/>
          </a:p>
        </p:txBody>
      </p:sp>
      <p:sp>
        <p:nvSpPr>
          <p:cNvPr id="22" name="Text 20"/>
          <p:cNvSpPr/>
          <p:nvPr/>
        </p:nvSpPr>
        <p:spPr>
          <a:xfrm>
            <a:off x="7685842" y="5892403"/>
            <a:ext cx="313372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Interpretability Matters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7685842" y="6400562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Logistic regression, decision trees, and random forests are explainable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67242"/>
            <a:ext cx="843081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Example: Credit Risk Prediction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04609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Input Features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3644979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Income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Credit score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Loan amount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Employment history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599521" y="304609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Models Used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599521" y="364497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models deliver strong predictive performance with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interpretability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critical in regulated banking environments.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93790" y="5668923"/>
            <a:ext cx="4196358" cy="825698"/>
          </a:xfrm>
          <a:prstGeom prst="roundRect">
            <a:avLst>
              <a:gd name="adj" fmla="val 4121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1020604" y="589573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Logistic Regression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216962" y="5668923"/>
            <a:ext cx="4196358" cy="825698"/>
          </a:xfrm>
          <a:prstGeom prst="roundRect">
            <a:avLst>
              <a:gd name="adj" fmla="val 4121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5443776" y="589573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Random Forest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9640133" y="5668923"/>
            <a:ext cx="4196358" cy="825698"/>
          </a:xfrm>
          <a:prstGeom prst="roundRect">
            <a:avLst>
              <a:gd name="adj" fmla="val 4121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9866948" y="589573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Gradient Boosting</a:t>
            </a:r>
            <a:endParaRPr lang="en-US" sz="2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5316" y="696396"/>
            <a:ext cx="11802070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Mathematical Foundations of Deep Learning</a:t>
            </a:r>
            <a:endParaRPr lang="en-US" sz="4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402443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25290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Linear Algebra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793790" y="3761065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Matrix and tensor operations underpin all neural network computations</a:t>
            </a:r>
            <a:endParaRPr lang="en-US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6884" y="2402443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3252907"/>
            <a:ext cx="30789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Probability &amp; Statistics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7456884" y="3761065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Loss functions and uncertainty quantification</a:t>
            </a:r>
            <a:endParaRPr lang="en-US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94049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79096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Optimization</a:t>
            </a:r>
            <a:endParaRPr lang="en-US" sz="2300" dirty="0"/>
          </a:p>
        </p:txBody>
      </p:sp>
      <p:sp>
        <p:nvSpPr>
          <p:cNvPr id="11" name="Text 6"/>
          <p:cNvSpPr/>
          <p:nvPr/>
        </p:nvSpPr>
        <p:spPr>
          <a:xfrm>
            <a:off x="793790" y="6299121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Gradient descent and stochastic gradient descent (SGD)</a:t>
            </a:r>
            <a:endParaRPr lang="en-US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56884" y="494049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79096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Calculus</a:t>
            </a:r>
            <a:endParaRPr lang="en-US" sz="2300" dirty="0"/>
          </a:p>
        </p:txBody>
      </p:sp>
      <p:sp>
        <p:nvSpPr>
          <p:cNvPr id="14" name="Text 8"/>
          <p:cNvSpPr/>
          <p:nvPr/>
        </p:nvSpPr>
        <p:spPr>
          <a:xfrm>
            <a:off x="7456884" y="6299121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Backpropagation uses derivatives to update network weights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5098" y="629722"/>
            <a:ext cx="9636323" cy="736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750"/>
              </a:lnSpc>
              <a:buNone/>
            </a:pPr>
            <a:r>
              <a:rPr lang="en-US" sz="4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Python Ecosystem for Deep Learning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85098" y="1920359"/>
            <a:ext cx="2944297" cy="368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Core Frameworks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85098" y="2537936"/>
            <a:ext cx="6256496" cy="1456253"/>
          </a:xfrm>
          <a:prstGeom prst="roundRect">
            <a:avLst>
              <a:gd name="adj" fmla="val 1004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618" y="2537936"/>
            <a:ext cx="121920" cy="1456253"/>
          </a:xfrm>
          <a:prstGeom prst="roundRect">
            <a:avLst>
              <a:gd name="adj" fmla="val 27600"/>
            </a:avLst>
          </a:prstGeom>
          <a:solidFill>
            <a:srgbClr val="E04F00"/>
          </a:solidFill>
          <a:ln/>
        </p:spPr>
      </p:sp>
      <p:sp>
        <p:nvSpPr>
          <p:cNvPr id="6" name="Text 4"/>
          <p:cNvSpPr/>
          <p:nvPr/>
        </p:nvSpPr>
        <p:spPr>
          <a:xfrm>
            <a:off x="1131332" y="2792730"/>
            <a:ext cx="2944297" cy="368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TensorFlow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31332" y="3382566"/>
            <a:ext cx="5655469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— large-scale ML systems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85098" y="4216003"/>
            <a:ext cx="6256496" cy="1456253"/>
          </a:xfrm>
          <a:prstGeom prst="roundRect">
            <a:avLst>
              <a:gd name="adj" fmla="val 1004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4618" y="4216003"/>
            <a:ext cx="121920" cy="1456253"/>
          </a:xfrm>
          <a:prstGeom prst="roundRect">
            <a:avLst>
              <a:gd name="adj" fmla="val 27600"/>
            </a:avLst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1131332" y="4470797"/>
            <a:ext cx="2944297" cy="368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PyTorch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131332" y="5060633"/>
            <a:ext cx="5655469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Widely used in academic research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85098" y="5894070"/>
            <a:ext cx="6256496" cy="1456253"/>
          </a:xfrm>
          <a:prstGeom prst="roundRect">
            <a:avLst>
              <a:gd name="adj" fmla="val 1004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4618" y="5894070"/>
            <a:ext cx="121920" cy="1456253"/>
          </a:xfrm>
          <a:prstGeom prst="roundRect">
            <a:avLst>
              <a:gd name="adj" fmla="val 27600"/>
            </a:avLst>
          </a:prstGeom>
          <a:solidFill>
            <a:srgbClr val="E04F00"/>
          </a:solidFill>
          <a:ln/>
        </p:spPr>
      </p:sp>
      <p:sp>
        <p:nvSpPr>
          <p:cNvPr id="14" name="Text 12"/>
          <p:cNvSpPr/>
          <p:nvPr/>
        </p:nvSpPr>
        <p:spPr>
          <a:xfrm>
            <a:off x="1131332" y="6148864"/>
            <a:ext cx="2944297" cy="368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Keras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131332" y="6738699"/>
            <a:ext cx="5655469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High-level API for rapid prototyping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596426" y="1920359"/>
            <a:ext cx="2944297" cy="368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Supporting Libraries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7596426" y="2537936"/>
            <a:ext cx="3017282" cy="1395293"/>
          </a:xfrm>
          <a:prstGeom prst="roundRect">
            <a:avLst>
              <a:gd name="adj" fmla="val 2412"/>
            </a:avLst>
          </a:prstGeom>
          <a:solidFill>
            <a:srgbClr val="F2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7820739" y="2762250"/>
            <a:ext cx="2568654" cy="368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NumPy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7820739" y="3352086"/>
            <a:ext cx="2568654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Numerical computation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10835521" y="2537936"/>
            <a:ext cx="3017401" cy="1395293"/>
          </a:xfrm>
          <a:prstGeom prst="roundRect">
            <a:avLst>
              <a:gd name="adj" fmla="val 2412"/>
            </a:avLst>
          </a:prstGeom>
          <a:solidFill>
            <a:srgbClr val="F2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11059835" y="2762250"/>
            <a:ext cx="2568773" cy="368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Pandas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1059835" y="3352086"/>
            <a:ext cx="256877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manipulation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7596426" y="4155043"/>
            <a:ext cx="3017282" cy="1395293"/>
          </a:xfrm>
          <a:prstGeom prst="roundRect">
            <a:avLst>
              <a:gd name="adj" fmla="val 2412"/>
            </a:avLst>
          </a:prstGeom>
          <a:solidFill>
            <a:srgbClr val="F2EEEE"/>
          </a:solidFill>
          <a:ln/>
        </p:spPr>
      </p:sp>
      <p:sp>
        <p:nvSpPr>
          <p:cNvPr id="24" name="Text 22"/>
          <p:cNvSpPr/>
          <p:nvPr/>
        </p:nvSpPr>
        <p:spPr>
          <a:xfrm>
            <a:off x="7820739" y="4379357"/>
            <a:ext cx="2568654" cy="368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Matplotlib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7820739" y="4969193"/>
            <a:ext cx="2568654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Visualization</a:t>
            </a:r>
            <a:endParaRPr lang="en-US" sz="1750" dirty="0"/>
          </a:p>
        </p:txBody>
      </p:sp>
      <p:sp>
        <p:nvSpPr>
          <p:cNvPr id="26" name="Shape 24"/>
          <p:cNvSpPr/>
          <p:nvPr/>
        </p:nvSpPr>
        <p:spPr>
          <a:xfrm>
            <a:off x="10835521" y="4155043"/>
            <a:ext cx="3017401" cy="1395293"/>
          </a:xfrm>
          <a:prstGeom prst="roundRect">
            <a:avLst>
              <a:gd name="adj" fmla="val 2412"/>
            </a:avLst>
          </a:prstGeom>
          <a:solidFill>
            <a:srgbClr val="F2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11059835" y="4379357"/>
            <a:ext cx="2568773" cy="368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Scikit-learn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11059835" y="4969193"/>
            <a:ext cx="256877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Classical ML utilities</a:t>
            </a:r>
            <a:endParaRPr lang="en-US" sz="1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302" y="748427"/>
            <a:ext cx="7279838" cy="90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0"/>
              </a:lnSpc>
              <a:buNone/>
            </a:pPr>
            <a:r>
              <a:rPr lang="en-US" sz="5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703302" y="2014299"/>
            <a:ext cx="452080" cy="45208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771049" y="2042458"/>
            <a:ext cx="316468" cy="395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333381" y="2083356"/>
            <a:ext cx="4946928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Deep Learning automates feature learning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1333381" y="2519720"/>
            <a:ext cx="12593717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Multi-layer networks extract hierarchical representations from raw data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03302" y="3178850"/>
            <a:ext cx="452080" cy="45208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771049" y="3207008"/>
            <a:ext cx="316468" cy="395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450" dirty="0"/>
          </a:p>
        </p:txBody>
      </p:sp>
      <p:sp>
        <p:nvSpPr>
          <p:cNvPr id="9" name="Text 7"/>
          <p:cNvSpPr/>
          <p:nvPr/>
        </p:nvSpPr>
        <p:spPr>
          <a:xfrm>
            <a:off x="1333381" y="3247906"/>
            <a:ext cx="4644271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Three enablers: Data, GPUs, Algorithms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1333381" y="3684270"/>
            <a:ext cx="12593717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Large datasets, parallel computing, and improved optimizers made DL practical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03302" y="4343400"/>
            <a:ext cx="452080" cy="45208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771049" y="4371558"/>
            <a:ext cx="316468" cy="395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450" dirty="0"/>
          </a:p>
        </p:txBody>
      </p:sp>
      <p:sp>
        <p:nvSpPr>
          <p:cNvPr id="13" name="Text 11"/>
          <p:cNvSpPr/>
          <p:nvPr/>
        </p:nvSpPr>
        <p:spPr>
          <a:xfrm>
            <a:off x="1333381" y="4412456"/>
            <a:ext cx="4884182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Dominant in vision, language, and speech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1333381" y="4848820"/>
            <a:ext cx="12593717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CNNs and Transformers power state-of-the-art applications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703302" y="5507950"/>
            <a:ext cx="452080" cy="45208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771049" y="5536109"/>
            <a:ext cx="316468" cy="395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2450" dirty="0"/>
          </a:p>
        </p:txBody>
      </p:sp>
      <p:sp>
        <p:nvSpPr>
          <p:cNvPr id="17" name="Text 15"/>
          <p:cNvSpPr/>
          <p:nvPr/>
        </p:nvSpPr>
        <p:spPr>
          <a:xfrm>
            <a:off x="1333381" y="5577007"/>
            <a:ext cx="3758089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Traditional ML still has its place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1333381" y="6013371"/>
            <a:ext cx="12593717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Structured data, small datasets, and interpretability favor classical methods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703302" y="6672501"/>
            <a:ext cx="452080" cy="45208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0" name="Text 18"/>
          <p:cNvSpPr/>
          <p:nvPr/>
        </p:nvSpPr>
        <p:spPr>
          <a:xfrm>
            <a:off x="771049" y="6700659"/>
            <a:ext cx="316468" cy="395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5</a:t>
            </a:r>
            <a:endParaRPr lang="en-US" sz="2450" dirty="0"/>
          </a:p>
        </p:txBody>
      </p:sp>
      <p:sp>
        <p:nvSpPr>
          <p:cNvPr id="21" name="Text 19"/>
          <p:cNvSpPr/>
          <p:nvPr/>
        </p:nvSpPr>
        <p:spPr>
          <a:xfrm>
            <a:off x="1333381" y="6741557"/>
            <a:ext cx="3926324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Python is the standard ecosystem</a:t>
            </a:r>
            <a:endParaRPr lang="en-US" sz="2050" dirty="0"/>
          </a:p>
        </p:txBody>
      </p:sp>
      <p:sp>
        <p:nvSpPr>
          <p:cNvPr id="22" name="Text 20"/>
          <p:cNvSpPr/>
          <p:nvPr/>
        </p:nvSpPr>
        <p:spPr>
          <a:xfrm>
            <a:off x="1333381" y="7177921"/>
            <a:ext cx="12593717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TensorFlow, PyTorch, and Keras are the primary tools for practitioners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1053</Words>
  <Application>Microsoft Macintosh PowerPoint</Application>
  <PresentationFormat>Custom</PresentationFormat>
  <Paragraphs>246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PT Serif</vt:lpstr>
      <vt:lpstr>Kanit Light</vt:lpstr>
      <vt:lpstr>Calibri</vt:lpstr>
      <vt:lpstr>DM Sans</vt:lpstr>
      <vt:lpstr>Arial</vt:lpstr>
      <vt:lpstr>Martel Sans</vt:lpstr>
      <vt:lpstr>PT Serif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Vinayak Deshpande</cp:lastModifiedBy>
  <cp:revision>16</cp:revision>
  <dcterms:created xsi:type="dcterms:W3CDTF">2026-03-11T05:36:13Z</dcterms:created>
  <dcterms:modified xsi:type="dcterms:W3CDTF">2026-04-10T02:47:21Z</dcterms:modified>
</cp:coreProperties>
</file>