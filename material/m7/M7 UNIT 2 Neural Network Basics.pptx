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7" r:id="rId12"/>
    <p:sldId id="278" r:id="rId13"/>
    <p:sldId id="279" r:id="rId14"/>
    <p:sldId id="267" r:id="rId15"/>
    <p:sldId id="281" r:id="rId16"/>
    <p:sldId id="269" r:id="rId17"/>
    <p:sldId id="270" r:id="rId18"/>
    <p:sldId id="271" r:id="rId19"/>
    <p:sldId id="280" r:id="rId20"/>
    <p:sldId id="273" r:id="rId21"/>
    <p:sldId id="275" r:id="rId22"/>
  </p:sldIdLst>
  <p:sldSz cx="14630400" cy="8229600"/>
  <p:notesSz cx="8229600" cy="14630400"/>
  <p:embeddedFontLst>
    <p:embeddedFont>
      <p:font typeface="DM Sans" pitchFamily="2" charset="77"/>
      <p:regular r:id="rId24"/>
      <p:bold r:id="rId25"/>
      <p:italic r:id="rId26"/>
      <p:boldItalic r:id="rId27"/>
    </p:embeddedFont>
    <p:embeddedFont>
      <p:font typeface="PT Serif" panose="020A0603040505020204" pitchFamily="18" charset="77"/>
      <p:regular r:id="rId28"/>
      <p: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6191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8732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391138"/>
            <a:ext cx="596086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Neural Network Basics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47555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Artificial Neural Networks — Introduction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143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54367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72867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Pigeons as Art Experts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28548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554367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7428548" y="2728674"/>
            <a:ext cx="397514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Neural Networks Introduction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428548" y="32368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do our brains work?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39965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35161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93790" y="4525923"/>
            <a:ext cx="457140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Features &amp; Why Neural Networks?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28548" y="39965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8548" y="435161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28548" y="4525923"/>
            <a:ext cx="56999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Biological vs Artificial Neuron (Perceptron)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3790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649873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824180"/>
            <a:ext cx="587966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Perceptron Model &amp; Single Artificial Neuron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428548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649873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824180"/>
            <a:ext cx="42521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Artificial Neural Network (ANN)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428548" y="6332339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Types, Learning, Gradient Descent, Backpropagation, Resilient Backpropagation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956" y="810816"/>
            <a:ext cx="5910382" cy="738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Pigeons as Art Experts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640" y="3171468"/>
            <a:ext cx="3813572" cy="29604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7990" y="2108240"/>
            <a:ext cx="2955131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Experiment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9637990" y="2701052"/>
            <a:ext cx="4211955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Pigeon placed in a Skinner box</a:t>
            </a:r>
            <a:endParaRPr lang="en-US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Presented paintings by two artists (e.g. Chagall / Van Gogh)</a:t>
            </a:r>
            <a:endParaRPr lang="en-US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Rewarded for pecking when shown a particular artist (e.g. Van Gogh)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637990" y="4875252"/>
            <a:ext cx="2955131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Results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9637990" y="5468064"/>
            <a:ext cx="4211955" cy="187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95% accuracy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discriminating Van Gogh from Chagall on trained images</a:t>
            </a:r>
            <a:endParaRPr lang="en-US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85% accuracy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previously unseen paintings — showing genuine generalization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08419" y="60035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Pigeons as Art Experts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2412117" y="2536566"/>
            <a:ext cx="3664744" cy="241339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2638931" y="277659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Pattern Extraction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2638931" y="3284755"/>
            <a:ext cx="3211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Pigeons do not simply memorize the pictures — they can extract and recognize patterns (the "style").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967896" y="2493049"/>
            <a:ext cx="3664863" cy="241339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7311807" y="281059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Generalization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315200" y="3318749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generalize from already seen examples to make predictions on new, unseen data.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3076338" y="5333642"/>
            <a:ext cx="7556421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5200718" y="549549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This Tells Us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3416499" y="6065207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what neural networks (biological and artificial) are good at — unlike conventional computers.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7697"/>
            <a:ext cx="795337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Neural Networks Introduction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295055"/>
            <a:ext cx="4196358" cy="2837259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295055"/>
            <a:ext cx="121920" cy="2837259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55234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an ANN?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42524" y="4060508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Artificial Neural Network (ANN) is a machine learning approach that models the human brain and consists of a number of artificial neurons.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16962" y="3295055"/>
            <a:ext cx="4196358" cy="2837259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295055"/>
            <a:ext cx="121920" cy="2837259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55234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565696" y="406050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neuron in an ANN receives a number of inputs from other neurons or raw data.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640133" y="3295055"/>
            <a:ext cx="4196358" cy="2837259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295055"/>
            <a:ext cx="121920" cy="2837259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55234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Activation Function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988868" y="4060508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activation function is applied  to the weighted sum of inputs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 plus bias), producing the output.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73085"/>
            <a:ext cx="687883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Do Our Brains Work?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620351" y="4112657"/>
            <a:ext cx="777089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Brain is a massively parallel information processing system. Our brains are a huge network of processing elements. A typical brain contains a network of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86 billion neurons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280190" y="3857506"/>
            <a:ext cx="30480" cy="1599009"/>
          </a:xfrm>
          <a:prstGeom prst="rect">
            <a:avLst/>
          </a:prstGeom>
          <a:solidFill>
            <a:srgbClr val="E04F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9615"/>
            <a:ext cx="6400086" cy="63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Features of Neural Networks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93790" y="1689854"/>
            <a:ext cx="6439495" cy="1827490"/>
          </a:xfrm>
          <a:prstGeom prst="roundRect">
            <a:avLst>
              <a:gd name="adj" fmla="val 1583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986552" y="1882616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E04F0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5619" y="2041684"/>
            <a:ext cx="260271" cy="2602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6552" y="2554239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Massive Connectivity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86552" y="2908632"/>
            <a:ext cx="60539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Neurons are densely interconnected, enabling rich 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information flow.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397115" y="1689854"/>
            <a:ext cx="6439495" cy="1827490"/>
          </a:xfrm>
          <a:prstGeom prst="roundRect">
            <a:avLst>
              <a:gd name="adj" fmla="val 1583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7589877" y="1882616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E04F0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48945" y="2041684"/>
            <a:ext cx="260271" cy="2602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877" y="2624852"/>
            <a:ext cx="322611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Nonlinear, Parallel &amp; Robust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589877" y="3039308"/>
            <a:ext cx="60539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Processes information in parallel and is fault tolerant.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93790" y="3681174"/>
            <a:ext cx="6439495" cy="1827490"/>
          </a:xfrm>
          <a:prstGeom prst="roundRect">
            <a:avLst>
              <a:gd name="adj" fmla="val 1583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552" y="3873937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E04F0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5619" y="4033004"/>
            <a:ext cx="260271" cy="2602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10281" y="4516421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Adaptive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6552" y="4905256"/>
            <a:ext cx="60539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Capable of adapting to surroundings and learning from 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experience.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397115" y="3681174"/>
            <a:ext cx="6439495" cy="1827490"/>
          </a:xfrm>
          <a:prstGeom prst="roundRect">
            <a:avLst>
              <a:gd name="adj" fmla="val 1583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7589877" y="3873937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E04F0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48945" y="4033004"/>
            <a:ext cx="260271" cy="26027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89877" y="4616172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Generalization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589877" y="5030629"/>
            <a:ext cx="60539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Learns from known examples and generalizes to unseen data.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793790" y="5672495"/>
            <a:ext cx="6439495" cy="1827490"/>
          </a:xfrm>
          <a:prstGeom prst="roundRect">
            <a:avLst>
              <a:gd name="adj" fmla="val 1583"/>
            </a:avLst>
          </a:prstGeom>
          <a:solidFill>
            <a:srgbClr val="F2EEEE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552" y="5865257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E04F00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5619" y="6024324"/>
            <a:ext cx="260271" cy="26027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10280" y="6541888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Collective Behavior</a:t>
            </a:r>
            <a:endParaRPr lang="en-US" sz="1950" dirty="0"/>
          </a:p>
        </p:txBody>
      </p:sp>
      <p:sp>
        <p:nvSpPr>
          <p:cNvPr id="27" name="Text 20"/>
          <p:cNvSpPr/>
          <p:nvPr/>
        </p:nvSpPr>
        <p:spPr>
          <a:xfrm>
            <a:off x="986552" y="6926290"/>
            <a:ext cx="60539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Collective behavior is different from individual neuron 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behavior.</a:t>
            </a:r>
            <a:endParaRPr lang="en-US" sz="1700" dirty="0"/>
          </a:p>
        </p:txBody>
      </p:sp>
      <p:sp>
        <p:nvSpPr>
          <p:cNvPr id="28" name="Shape 21"/>
          <p:cNvSpPr/>
          <p:nvPr/>
        </p:nvSpPr>
        <p:spPr>
          <a:xfrm>
            <a:off x="7397115" y="5672495"/>
            <a:ext cx="6439495" cy="1827490"/>
          </a:xfrm>
          <a:prstGeom prst="roundRect">
            <a:avLst>
              <a:gd name="adj" fmla="val 1583"/>
            </a:avLst>
          </a:prstGeom>
          <a:solidFill>
            <a:srgbClr val="F2EEEE"/>
          </a:solidFill>
          <a:ln/>
        </p:spPr>
      </p:sp>
      <p:sp>
        <p:nvSpPr>
          <p:cNvPr id="29" name="Shape 22"/>
          <p:cNvSpPr/>
          <p:nvPr/>
        </p:nvSpPr>
        <p:spPr>
          <a:xfrm>
            <a:off x="7589877" y="5865257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E04F00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48945" y="6024324"/>
            <a:ext cx="260271" cy="26027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89877" y="6607492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Biological Mimicry</a:t>
            </a:r>
            <a:endParaRPr lang="en-US" sz="1950" dirty="0"/>
          </a:p>
        </p:txBody>
      </p:sp>
      <p:sp>
        <p:nvSpPr>
          <p:cNvPr id="32" name="Text 24"/>
          <p:cNvSpPr/>
          <p:nvPr/>
        </p:nvSpPr>
        <p:spPr>
          <a:xfrm>
            <a:off x="7589877" y="7021949"/>
            <a:ext cx="60539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ANNs mimic key properties of biological neural networks.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436" y="1219062"/>
            <a:ext cx="606742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Neural Networks?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680442" y="24893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There are two basic reasons why we are interested in building artificial neural networks (ANNs):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30436" y="3963472"/>
            <a:ext cx="6571417" cy="2118479"/>
          </a:xfrm>
          <a:prstGeom prst="roundRect">
            <a:avLst>
              <a:gd name="adj" fmla="val 1606"/>
            </a:avLst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857250" y="419028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Technical Viewpoint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57250" y="4789170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Some problems such as character recognition or the prediction of future states of a system require massively parallel and adaptive processing.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99521" y="419028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Biological Viewpoint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99521" y="478917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ANNs can be used to replicate and simulate components of the human (or animal) brain, thereby giving us insight into natural information processing.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1645"/>
            <a:ext cx="11627763" cy="63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Biological Neuron vs. Artificial Neuron (Perceptron)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93790" y="3147893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Biological Neuron</a:t>
            </a:r>
            <a:endParaRPr lang="en-US" sz="1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021" y="3648432"/>
            <a:ext cx="4988719" cy="22910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84888" y="1823799"/>
            <a:ext cx="283618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Artificial Neural Network</a:t>
            </a:r>
            <a:endParaRPr lang="en-US" sz="1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4888" y="2324338"/>
            <a:ext cx="3680946" cy="2818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84888" y="5326856"/>
            <a:ext cx="4259223" cy="1540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Information flow is unidirectional</a:t>
            </a:r>
            <a:endParaRPr lang="en-US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is presented to Input layer → Hidden Layer → Output layer</a:t>
            </a:r>
            <a:endParaRPr lang="en-US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Information is distributed and processing is parallel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9933153" y="7462148"/>
            <a:ext cx="425922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 function f: R³ → {0, 1}²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95008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Perceptron Model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89775" y="1381422"/>
            <a:ext cx="13564000" cy="1520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2" charset="0"/>
                <a:ea typeface="DM Sans" pitchFamily="34" charset="-122"/>
                <a:cs typeface="DM Sans" pitchFamily="34" charset="-120"/>
              </a:rPr>
              <a:t>Consider data with 3 Boolean variables X1, X2, X3 and an output variable y.</a:t>
            </a:r>
          </a:p>
          <a:p>
            <a:pPr marL="0" indent="0" algn="l">
              <a:lnSpc>
                <a:spcPts val="2050"/>
              </a:lnSpc>
              <a:buNone/>
            </a:pPr>
            <a:endParaRPr lang="en-US" dirty="0">
              <a:solidFill>
                <a:srgbClr val="383838"/>
              </a:solidFill>
              <a:latin typeface="DM Sans" pitchFamily="2" charset="0"/>
              <a:ea typeface="DM Sans" pitchFamily="34" charset="-122"/>
              <a:cs typeface="DM Sans" pitchFamily="34" charset="-120"/>
            </a:endParaRPr>
          </a:p>
          <a:p>
            <a:pPr>
              <a:lnSpc>
                <a:spcPts val="2050"/>
              </a:lnSpc>
            </a:pPr>
            <a:r>
              <a:rPr lang="en-IN" dirty="0"/>
              <a:t>A perceptron is a simple artificial neuron that computes a weighted sum of inputs (along with a bias) and uses a step (sign) activation</a:t>
            </a:r>
          </a:p>
          <a:p>
            <a:pPr>
              <a:lnSpc>
                <a:spcPts val="2050"/>
              </a:lnSpc>
            </a:pPr>
            <a:r>
              <a:rPr lang="en-IN" dirty="0"/>
              <a:t> </a:t>
            </a:r>
          </a:p>
          <a:p>
            <a:pPr>
              <a:lnSpc>
                <a:spcPts val="2050"/>
              </a:lnSpc>
            </a:pPr>
            <a:r>
              <a:rPr lang="en-IN" dirty="0"/>
              <a:t>function to produce a binary output.</a:t>
            </a:r>
            <a:endParaRPr lang="en-US" dirty="0">
              <a:latin typeface="DM Sans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298269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178" y="3321248"/>
            <a:ext cx="3356139" cy="36141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85290" y="3298269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Perceptron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1457" y="2439393"/>
            <a:ext cx="3950992" cy="23065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11457" y="4900337"/>
            <a:ext cx="4277201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 = </a:t>
            </a:r>
            <a:r>
              <a:rPr lang="en-US" sz="1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if 0.3X₁ + 0.3X₂ + 0.3X₃ − 0.4 &gt; 0;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-1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if 0.3X₁ + 0.3X₂ + 0.3X₃ − 0.4 &lt; 0.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611457" y="5819380"/>
            <a:ext cx="5442168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perceptron consists of two types of nodes: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nodes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representing attributes, and an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 node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representing the model output. </a:t>
            </a:r>
          </a:p>
          <a:p>
            <a:pPr marL="0" indent="0" algn="l">
              <a:lnSpc>
                <a:spcPts val="2050"/>
              </a:lnSpc>
              <a:buNone/>
            </a:pPr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computes a weighted sum of inputs, subtracts a bias factor, and examines the sign of the result.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2127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Single Artificial Neuron — Step 1: Basic Summation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05958"/>
            <a:ext cx="1134070" cy="14154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313277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2154674" y="3731657"/>
            <a:ext cx="48838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x₁, x₂, … xₘ — raw signals fed into the neuron</a:t>
            </a: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321373"/>
            <a:ext cx="1134070" cy="14154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454818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Processing (∑)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2154674" y="5147072"/>
            <a:ext cx="48838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inputs are summed: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∑ = X₁ + X₂ + … + Xₘ = y</a:t>
            </a: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736788"/>
            <a:ext cx="1134070" cy="14154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59636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2154674" y="6562487"/>
            <a:ext cx="48838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the result passed forward</a:t>
            </a: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7599521" y="5844421"/>
            <a:ext cx="6244709" cy="493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1084" y="6149637"/>
            <a:ext cx="6244709" cy="4939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6BC5596-9152-2985-ACA4-6DF247186C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2759" y="3019413"/>
            <a:ext cx="6181770" cy="30575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1549"/>
            <a:ext cx="12532995" cy="669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Single Artificial Neuron — Step 2: Weighted Inputs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13598"/>
            <a:ext cx="1020723" cy="1236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98226" y="2317671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998226" y="2836188"/>
            <a:ext cx="506801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x₁, x₂, … xₘ — raw signals</a:t>
            </a: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350538"/>
            <a:ext cx="1020723" cy="12369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98226" y="3554611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Weights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998226" y="4073128"/>
            <a:ext cx="506801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w₁, w₂, … wₘ — each input is scaled by its importance</a:t>
            </a: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587478"/>
            <a:ext cx="1020723" cy="12369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98226" y="4791551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Processing (∑)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1998226" y="5310068"/>
            <a:ext cx="506801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∑ = X₁w₁ + X₂w₂ + … + Xₘwₘ = y</a:t>
            </a:r>
            <a:endParaRPr lang="en-US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824418"/>
            <a:ext cx="1020723" cy="12369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98226" y="6028492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1998226" y="6547009"/>
            <a:ext cx="506801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weighted sum result</a:t>
            </a:r>
            <a:endParaRPr lang="en-US" dirty="0"/>
          </a:p>
        </p:txBody>
      </p:sp>
      <p:sp>
        <p:nvSpPr>
          <p:cNvPr id="15" name="Shape 9"/>
          <p:cNvSpPr/>
          <p:nvPr/>
        </p:nvSpPr>
        <p:spPr>
          <a:xfrm>
            <a:off x="7571780" y="2113598"/>
            <a:ext cx="6272451" cy="1951315"/>
          </a:xfrm>
          <a:prstGeom prst="roundRect">
            <a:avLst>
              <a:gd name="adj" fmla="val 1569"/>
            </a:avLst>
          </a:prstGeom>
          <a:solidFill>
            <a:srgbClr val="FFCDB3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5853" y="2380536"/>
            <a:ext cx="334923" cy="26789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314849" y="2348270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Weights Matter</a:t>
            </a:r>
            <a:endParaRPr lang="en-US" sz="2100" dirty="0"/>
          </a:p>
        </p:txBody>
      </p:sp>
      <p:sp>
        <p:nvSpPr>
          <p:cNvPr id="18" name="Text 11"/>
          <p:cNvSpPr/>
          <p:nvPr/>
        </p:nvSpPr>
        <p:spPr>
          <a:xfrm>
            <a:off x="8314848" y="2866787"/>
            <a:ext cx="5529381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Weights determine how much influence each input has on the output. During training, the network learns by adjusting these weights to minimize error.</a:t>
            </a: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7571780" y="4297442"/>
            <a:ext cx="6272451" cy="444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E7E5543-B233-D9BB-D28E-D2A6C9E2E8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1779" y="4331851"/>
            <a:ext cx="6272451" cy="32983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7048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Single Artificial Neuron — Step 3: Activation Function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1" y="3089196"/>
            <a:ext cx="10109854" cy="3012281"/>
          </a:xfrm>
          <a:prstGeom prst="roundRect">
            <a:avLst>
              <a:gd name="adj" fmla="val 1130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1" y="3089196"/>
            <a:ext cx="2018566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31601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20604" y="3824168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x₁, x₂, … xₘ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41357" y="3089196"/>
            <a:ext cx="4347567" cy="168759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8" name="Shape 6"/>
          <p:cNvSpPr/>
          <p:nvPr/>
        </p:nvSpPr>
        <p:spPr>
          <a:xfrm>
            <a:off x="5141357" y="3089196"/>
            <a:ext cx="30480" cy="1687592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9" name="Text 7"/>
          <p:cNvSpPr/>
          <p:nvPr/>
        </p:nvSpPr>
        <p:spPr>
          <a:xfrm>
            <a:off x="5368171" y="331601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Weights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368171" y="3824168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w₁, w₂, … wₘ scale each input signal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488924" y="3089196"/>
            <a:ext cx="4347567" cy="168759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2" name="Shape 10"/>
          <p:cNvSpPr/>
          <p:nvPr/>
        </p:nvSpPr>
        <p:spPr>
          <a:xfrm>
            <a:off x="9488924" y="3089196"/>
            <a:ext cx="30480" cy="1687592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738" y="331601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Processing (∑)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715738" y="382416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Weighted inputs are summed together( plus bias)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93790" y="4776788"/>
            <a:ext cx="6521291" cy="132468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4776788"/>
            <a:ext cx="6521291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1020604" y="50036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Transfer Function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020604" y="5511760"/>
            <a:ext cx="60676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f(vk)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the activation function transforms the sum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315081" y="4776788"/>
            <a:ext cx="6521410" cy="132468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081" y="4776788"/>
            <a:ext cx="30480" cy="1324689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081" y="4776788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22" name="Text 20"/>
          <p:cNvSpPr/>
          <p:nvPr/>
        </p:nvSpPr>
        <p:spPr>
          <a:xfrm>
            <a:off x="7541895" y="50036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7541895" y="5511760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final neuron output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93790" y="635662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activation (transfer) function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f(vk) introduces non-linearity, enabling the network to learn complex patterns beyond simple linear relationships.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0558" y="511135"/>
            <a:ext cx="8518922" cy="609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Single Artificial Neuron — Full Model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595004" y="6035614"/>
            <a:ext cx="3148968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Activation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1595004" y="4716047"/>
            <a:ext cx="3148968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Summation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595004" y="3409808"/>
            <a:ext cx="3148968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Weights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1595004" y="2090240"/>
            <a:ext cx="3148968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</a:t>
            </a:r>
            <a:endParaRPr lang="en-US" sz="24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E305C0-6C8F-CED9-EBC2-6ED07AB1F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809" y="1977830"/>
            <a:ext cx="9416983" cy="53757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5064" y="903761"/>
            <a:ext cx="13037470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Output Is a Function of Inputs, Weights &amp; Transfer Functions</a:t>
            </a:r>
            <a:endParaRPr lang="en-US" sz="3200" dirty="0"/>
          </a:p>
        </p:txBody>
      </p:sp>
      <p:pic>
        <p:nvPicPr>
          <p:cNvPr id="4" name="Google Shape;1283;p123">
            <a:extLst>
              <a:ext uri="{FF2B5EF4-FFF2-40B4-BE49-F238E27FC236}">
                <a16:creationId xmlns:a16="http://schemas.microsoft.com/office/drawing/2014/main" id="{9328FA7A-595E-A355-89C5-93A78171F5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8630" b="7414"/>
          <a:stretch/>
        </p:blipFill>
        <p:spPr>
          <a:xfrm>
            <a:off x="159723" y="2399878"/>
            <a:ext cx="7422763" cy="492596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634728-F777-BF45-8104-57D522166EAD}"/>
              </a:ext>
            </a:extLst>
          </p:cNvPr>
          <p:cNvSpPr txBox="1"/>
          <p:nvPr/>
        </p:nvSpPr>
        <p:spPr>
          <a:xfrm>
            <a:off x="7685678" y="3385530"/>
            <a:ext cx="67313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DM Sans" pitchFamily="2" charset="0"/>
              </a:rPr>
              <a:t>Multiple neurons in the middle → </a:t>
            </a:r>
            <a:r>
              <a:rPr lang="en-IN" b="1" dirty="0">
                <a:latin typeface="DM Sans" pitchFamily="2" charset="0"/>
              </a:rPr>
              <a:t>hidden layer</a:t>
            </a:r>
            <a:r>
              <a:rPr lang="en-IN" dirty="0">
                <a:latin typeface="DM Sans" pitchFamily="2" charset="0"/>
              </a:rPr>
              <a:t> </a:t>
            </a:r>
          </a:p>
          <a:p>
            <a:endParaRPr lang="en-IN" dirty="0">
              <a:latin typeface="DM Sans" pitchFamily="2" charset="0"/>
            </a:endParaRPr>
          </a:p>
          <a:p>
            <a:r>
              <a:rPr lang="en-IN" dirty="0">
                <a:latin typeface="DM Sans" pitchFamily="2" charset="0"/>
              </a:rPr>
              <a:t>Each neuron has its own: weighted sum (</a:t>
            </a:r>
            <a:r>
              <a:rPr lang="el-GR" dirty="0"/>
              <a:t>Σ) </a:t>
            </a:r>
            <a:r>
              <a:rPr lang="en-US" dirty="0">
                <a:latin typeface="DM Sans" pitchFamily="2" charset="0"/>
              </a:rPr>
              <a:t> </a:t>
            </a:r>
          </a:p>
          <a:p>
            <a:r>
              <a:rPr lang="en-US" dirty="0">
                <a:latin typeface="DM Sans" pitchFamily="2" charset="0"/>
              </a:rPr>
              <a:t>and </a:t>
            </a:r>
            <a:r>
              <a:rPr lang="en-IN" dirty="0">
                <a:latin typeface="DM Sans" pitchFamily="2" charset="0"/>
              </a:rPr>
              <a:t>activation function f(</a:t>
            </a:r>
            <a:r>
              <a:rPr lang="en-IN" dirty="0" err="1">
                <a:latin typeface="DM Sans" pitchFamily="2" charset="0"/>
              </a:rPr>
              <a:t>vk</a:t>
            </a:r>
            <a:r>
              <a:rPr lang="en-IN" dirty="0">
                <a:latin typeface="DM Sans" pitchFamily="2" charset="0"/>
              </a:rPr>
              <a:t>)</a:t>
            </a:r>
          </a:p>
          <a:p>
            <a:endParaRPr lang="en-IN" dirty="0">
              <a:latin typeface="DM Sans" pitchFamily="2" charset="0"/>
            </a:endParaRPr>
          </a:p>
          <a:p>
            <a:r>
              <a:rPr lang="en-IN" dirty="0">
                <a:latin typeface="DM Sans" pitchFamily="2" charset="0"/>
              </a:rPr>
              <a:t>Outputs from hidden neurons combine → final output neuron</a:t>
            </a:r>
            <a:endParaRPr lang="en-US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085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1644"/>
            <a:ext cx="664725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ANN With Hidden Layers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515" y="2250996"/>
            <a:ext cx="5358994" cy="48119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5296" y="1997690"/>
            <a:ext cx="4205168" cy="5318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neural network is more complex than a perceptron model in multiple ways.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Networks may contain several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layers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between input and output layers; nodes within are called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nodes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This is a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multilayer neural network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a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feed-forward network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nodes in one layer connect only to nodes in the next layer.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a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recurrent network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links may connect nodes within the same layer or back to previous layers.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1269"/>
            <a:ext cx="8040172" cy="63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Quick Note on Activation Functions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93790" y="1591508"/>
            <a:ext cx="2059424" cy="343614"/>
          </a:xfrm>
          <a:prstGeom prst="roundRect">
            <a:avLst>
              <a:gd name="adj" fmla="val 6733"/>
            </a:avLst>
          </a:prstGeom>
          <a:solidFill>
            <a:srgbClr val="FFDECC"/>
          </a:solidFill>
          <a:ln/>
        </p:spPr>
      </p:sp>
      <p:sp>
        <p:nvSpPr>
          <p:cNvPr id="4" name="Text 2"/>
          <p:cNvSpPr/>
          <p:nvPr/>
        </p:nvSpPr>
        <p:spPr>
          <a:xfrm>
            <a:off x="909399" y="1649254"/>
            <a:ext cx="1828205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DETAILS IN NEXT SESSION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372" y="2303740"/>
            <a:ext cx="4828241" cy="38622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40074" y="2920841"/>
            <a:ext cx="425922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ANNs may use activation functions other than the sign function. Examples include: Linear, Sigmoid and Tanh 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340073" y="4023241"/>
            <a:ext cx="4259223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additional complexities allow multilayer neural networks to model more complex relationships between input and output variables.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93790" y="6534626"/>
            <a:ext cx="3137773" cy="1063704"/>
          </a:xfrm>
          <a:prstGeom prst="roundRect">
            <a:avLst>
              <a:gd name="adj" fmla="val 271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9412" y="6750248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Linear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4095393" y="6534626"/>
            <a:ext cx="3137892" cy="1063704"/>
          </a:xfrm>
          <a:prstGeom prst="roundRect">
            <a:avLst>
              <a:gd name="adj" fmla="val 271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11015" y="6750248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Sigmoid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7397115" y="6534626"/>
            <a:ext cx="3137773" cy="1063704"/>
          </a:xfrm>
          <a:prstGeom prst="roundRect">
            <a:avLst>
              <a:gd name="adj" fmla="val 271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12737" y="6750248"/>
            <a:ext cx="2706529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Hyperbolic Tangent (Tanh)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10698718" y="6534626"/>
            <a:ext cx="3137892" cy="1063704"/>
          </a:xfrm>
          <a:prstGeom prst="roundRect">
            <a:avLst>
              <a:gd name="adj" fmla="val 271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14340" y="6750248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Sign</a:t>
            </a:r>
            <a:endParaRPr lang="en-US" sz="1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61003" y="46578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Learning ANN</a:t>
            </a:r>
            <a:endParaRPr lang="en-US" sz="4650" dirty="0"/>
          </a:p>
        </p:txBody>
      </p:sp>
      <p:pic>
        <p:nvPicPr>
          <p:cNvPr id="4" name="Google Shape;1311;p126">
            <a:extLst>
              <a:ext uri="{FF2B5EF4-FFF2-40B4-BE49-F238E27FC236}">
                <a16:creationId xmlns:a16="http://schemas.microsoft.com/office/drawing/2014/main" id="{53F31F49-3165-C52E-C29A-01588F111C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836" t="40942" r="27087" b="24852"/>
          <a:stretch/>
        </p:blipFill>
        <p:spPr>
          <a:xfrm>
            <a:off x="1361003" y="1589650"/>
            <a:ext cx="7893419" cy="3151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6C2703-6B8D-D505-C983-C667D278FD4F}"/>
              </a:ext>
            </a:extLst>
          </p:cNvPr>
          <p:cNvSpPr txBox="1"/>
          <p:nvPr/>
        </p:nvSpPr>
        <p:spPr>
          <a:xfrm>
            <a:off x="1252962" y="4567059"/>
            <a:ext cx="1212447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DM Sans" pitchFamily="2" charset="0"/>
              </a:rPr>
              <a:t> :</a:t>
            </a:r>
          </a:p>
          <a:p>
            <a:endParaRPr lang="en-US" dirty="0">
              <a:latin typeface="DM Sans" pitchFamily="2" charset="0"/>
            </a:endParaRPr>
          </a:p>
          <a:p>
            <a:r>
              <a:rPr lang="en-US" dirty="0">
                <a:latin typeface="DM Sans" pitchFamily="2" charset="0"/>
              </a:rPr>
              <a:t>• In ANN, we determine set of weights w that minimize total sum of squared errors.</a:t>
            </a:r>
          </a:p>
          <a:p>
            <a:endParaRPr lang="en-US" dirty="0">
              <a:latin typeface="DM Sans" pitchFamily="2" charset="0"/>
            </a:endParaRPr>
          </a:p>
          <a:p>
            <a:endParaRPr lang="en-US" dirty="0">
              <a:latin typeface="DM Sans" pitchFamily="2" charset="0"/>
            </a:endParaRPr>
          </a:p>
          <a:p>
            <a:endParaRPr lang="en-US" dirty="0">
              <a:latin typeface="DM Sans" pitchFamily="2" charset="0"/>
            </a:endParaRPr>
          </a:p>
          <a:p>
            <a:r>
              <a:rPr lang="en-US" dirty="0">
                <a:latin typeface="DM Sans" pitchFamily="2" charset="0"/>
              </a:rPr>
              <a:t>• Minimum solution can be obtained by replacing y = w · x in the above equation.</a:t>
            </a:r>
          </a:p>
          <a:p>
            <a:endParaRPr lang="en-US" dirty="0">
              <a:latin typeface="DM Sans" pitchFamily="2" charset="0"/>
            </a:endParaRPr>
          </a:p>
          <a:p>
            <a:r>
              <a:rPr lang="en-US" dirty="0">
                <a:latin typeface="DM Sans" pitchFamily="2" charset="0"/>
              </a:rPr>
              <a:t>• In most cases, output of ANN is non-linear function of its parameters, because of the choice of its activation.</a:t>
            </a:r>
          </a:p>
          <a:p>
            <a:endParaRPr lang="en-US" dirty="0">
              <a:latin typeface="DM Sans" pitchFamily="2" charset="0"/>
            </a:endParaRPr>
          </a:p>
          <a:p>
            <a:r>
              <a:rPr lang="en-US" dirty="0">
                <a:latin typeface="DM Sans" pitchFamily="2" charset="0"/>
              </a:rPr>
              <a:t>• We use gradient descent method to efficiently solve optimization problem.</a:t>
            </a:r>
            <a:r>
              <a:rPr lang="en-IN" dirty="0"/>
              <a:t> Since the error surface is usually</a:t>
            </a:r>
          </a:p>
          <a:p>
            <a:endParaRPr lang="en-IN" dirty="0"/>
          </a:p>
          <a:p>
            <a:r>
              <a:rPr lang="en-IN" dirty="0">
                <a:latin typeface="DM Sans" pitchFamily="2" charset="0"/>
              </a:rPr>
              <a:t>   nonlinear and may contain multiple minima, Gradient Descent typically converges to a </a:t>
            </a:r>
            <a:r>
              <a:rPr lang="en-IN" b="1" dirty="0">
                <a:latin typeface="DM Sans" pitchFamily="2" charset="0"/>
              </a:rPr>
              <a:t>local minimum</a:t>
            </a:r>
            <a:r>
              <a:rPr lang="en-IN" dirty="0">
                <a:latin typeface="DM Sans" pitchFamily="2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1FBF9F-22BD-2E13-42E9-AA9565E24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101" y="5449470"/>
            <a:ext cx="3405235" cy="66466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541"/>
            <a:ext cx="677644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Gradient Descent Method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606" y="3045619"/>
            <a:ext cx="4366379" cy="3222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185035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Gradient Descent minimizes the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error surface E(w₁, w₂)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by iteratively updating weights in the direction that reduces overall error: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3923705"/>
            <a:ext cx="4205168" cy="74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943" y="3923705"/>
            <a:ext cx="4205168" cy="7406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38943" y="4951452"/>
            <a:ext cx="420516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λ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the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learning rate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 second term states that the weight should be increased in a direction that reduces the overall error, guiding the model toward the minimum of the error surface.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284" y="107630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Backpropagation</a:t>
            </a:r>
          </a:p>
          <a:p>
            <a:pPr marL="0" indent="0" algn="l">
              <a:lnSpc>
                <a:spcPts val="5850"/>
              </a:lnSpc>
              <a:buNone/>
            </a:pP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2026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57707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73201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Challenge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4240173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hidden nodes, the error term cannot be assessed without prior information of weights, making computation complex.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6962" y="32026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557707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73201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Forward Phase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216962" y="4240173"/>
            <a:ext cx="419635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 the output value of each neuron using the previous iteration's weights. Computation progresses forward — outputs at level k are computed before level k+1.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640133" y="32026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557707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73201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Backward Phase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640133" y="4240173"/>
            <a:ext cx="419635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weight update formula is applied in reverse — weights at level k+1 are updated before level k. Errors at layer k+1 are used to estimate errors at layer k.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03C10F-A92D-EC49-8809-B7CE7900B33B}"/>
              </a:ext>
            </a:extLst>
          </p:cNvPr>
          <p:cNvSpPr txBox="1"/>
          <p:nvPr/>
        </p:nvSpPr>
        <p:spPr>
          <a:xfrm>
            <a:off x="641532" y="6347033"/>
            <a:ext cx="1307761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i="1" dirty="0">
                <a:latin typeface="DM Sans" pitchFamily="2" charset="0"/>
              </a:rPr>
              <a:t>Backpropagation is an algorithm that computes the gradient of the loss function with respect to each network weight by</a:t>
            </a:r>
          </a:p>
          <a:p>
            <a:pPr>
              <a:lnSpc>
                <a:spcPct val="200000"/>
              </a:lnSpc>
            </a:pPr>
            <a:r>
              <a:rPr lang="en-IN" i="1" dirty="0">
                <a:latin typeface="DM Sans" pitchFamily="2" charset="0"/>
              </a:rPr>
              <a:t> propagating error backward through the layers using the chain rule.</a:t>
            </a:r>
            <a:endParaRPr lang="en-IN" dirty="0">
              <a:latin typeface="DM Sans" pitchFamily="2" charset="0"/>
            </a:endParaRPr>
          </a:p>
          <a:p>
            <a:endParaRPr lang="en-US" dirty="0">
              <a:latin typeface="DM Sans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464" y="91608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850464" y="3477577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33951" y="5167313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33951" y="6346746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A75B2D-89F1-7A13-4303-E0729B89F472}"/>
              </a:ext>
            </a:extLst>
          </p:cNvPr>
          <p:cNvSpPr txBox="1"/>
          <p:nvPr/>
        </p:nvSpPr>
        <p:spPr>
          <a:xfrm>
            <a:off x="675861" y="2178657"/>
            <a:ext cx="136285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IN" dirty="0">
                <a:latin typeface="DM Sans" pitchFamily="2" charset="0"/>
              </a:rPr>
              <a:t>An Artificial Neural Network (ANN) is a machine learning model inspired by the structure and functioning of the human brain and is composed of interconnected artificial neurons.</a:t>
            </a:r>
          </a:p>
          <a:p>
            <a:endParaRPr lang="en-IN" dirty="0">
              <a:latin typeface="DM Sans" pitchFamily="2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IN" dirty="0">
                <a:latin typeface="DM Sans" pitchFamily="2" charset="0"/>
              </a:rPr>
              <a:t>In ANN training, the objective is to determine a set of weights that minimizes the total prediction error, often measured using the sum of squared errors.</a:t>
            </a:r>
          </a:p>
          <a:p>
            <a:endParaRPr lang="en-IN" dirty="0">
              <a:latin typeface="DM Sans" pitchFamily="2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IN" dirty="0">
                <a:latin typeface="DM Sans" pitchFamily="2" charset="0"/>
              </a:rPr>
              <a:t>Since neural networks are nonlinear models, optimization techniques such as Gradient Descent are used to iteratively update the weights in order to reduce the loss function.</a:t>
            </a:r>
          </a:p>
          <a:p>
            <a:endParaRPr lang="en-IN" dirty="0">
              <a:latin typeface="DM Sans" pitchFamily="2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IN" dirty="0">
                <a:latin typeface="DM Sans" pitchFamily="2" charset="0"/>
              </a:rPr>
              <a:t>To efficiently compute the gradients required for weight updates, the Backpropagation algorithm is used, which propagates the error backward through the hidden layers of the network.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1502</Words>
  <Application>Microsoft Macintosh PowerPoint</Application>
  <PresentationFormat>Custom</PresentationFormat>
  <Paragraphs>199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PT Serif</vt:lpstr>
      <vt:lpstr>Calibri</vt:lpstr>
      <vt:lpstr>DM Sans</vt:lpstr>
      <vt:lpstr>Arial</vt:lpstr>
      <vt:lpstr>Wingdings</vt:lpstr>
      <vt:lpstr>PT Serif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41</cp:revision>
  <dcterms:created xsi:type="dcterms:W3CDTF">2026-03-13T09:21:48Z</dcterms:created>
  <dcterms:modified xsi:type="dcterms:W3CDTF">2026-04-06T05:50:32Z</dcterms:modified>
</cp:coreProperties>
</file>