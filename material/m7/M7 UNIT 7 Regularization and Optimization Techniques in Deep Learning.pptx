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7"/>
  </p:notesMasterIdLst>
  <p:sldIdLst>
    <p:sldId id="256" r:id="rId2"/>
    <p:sldId id="276" r:id="rId3"/>
    <p:sldId id="258" r:id="rId4"/>
    <p:sldId id="272" r:id="rId5"/>
    <p:sldId id="273" r:id="rId6"/>
    <p:sldId id="376" r:id="rId7"/>
    <p:sldId id="358" r:id="rId8"/>
    <p:sldId id="265" r:id="rId9"/>
    <p:sldId id="377" r:id="rId10"/>
    <p:sldId id="378" r:id="rId11"/>
    <p:sldId id="259" r:id="rId12"/>
    <p:sldId id="269" r:id="rId13"/>
    <p:sldId id="260" r:id="rId14"/>
    <p:sldId id="270" r:id="rId15"/>
    <p:sldId id="271" r:id="rId16"/>
  </p:sldIdLst>
  <p:sldSz cx="14630400" cy="8229600"/>
  <p:notesSz cx="8229600" cy="14630400"/>
  <p:embeddedFontLst>
    <p:embeddedFont>
      <p:font typeface="Consolas" panose="020B0609020204030204" pitchFamily="49" charset="0"/>
      <p:regular r:id="rId18"/>
      <p:bold r:id="rId19"/>
      <p:italic r:id="rId20"/>
      <p:boldItalic r:id="rId21"/>
    </p:embeddedFont>
    <p:embeddedFont>
      <p:font typeface="DM Sans" pitchFamily="2" charset="77"/>
      <p:regular r:id="rId22"/>
      <p:bold r:id="rId23"/>
      <p:italic r:id="rId24"/>
      <p:boldItalic r:id="rId25"/>
    </p:embeddedFont>
    <p:embeddedFont>
      <p:font typeface="PT Serif" panose="020A0603040505020204" pitchFamily="18" charset="77"/>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91" d="100"/>
          <a:sy n="91"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5402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8665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84170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85484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82079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07169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050288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712343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10/04/26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84271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488883"/>
            <a:ext cx="13042821" cy="1302544"/>
          </a:xfrm>
          <a:prstGeom prst="rect">
            <a:avLst/>
          </a:prstGeom>
          <a:noFill/>
          <a:ln/>
        </p:spPr>
        <p:txBody>
          <a:bodyPr wrap="squar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Regularization and Optimization Techniques in Deep Learning</a:t>
            </a:r>
            <a:endParaRPr lang="en-US" sz="4100" dirty="0"/>
          </a:p>
        </p:txBody>
      </p:sp>
      <p:sp>
        <p:nvSpPr>
          <p:cNvPr id="14" name="Text 12"/>
          <p:cNvSpPr/>
          <p:nvPr/>
        </p:nvSpPr>
        <p:spPr>
          <a:xfrm>
            <a:off x="793790" y="4205305"/>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In this unit, we explore the core techniques used to control model complexity, stabilise training, and ensure that deep neural networks generalise well to unseen data — rather than simply memorising the training set.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01435"/>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Contents</a:t>
            </a:r>
            <a:endParaRPr lang="en-US" sz="4650" dirty="0"/>
          </a:p>
        </p:txBody>
      </p:sp>
      <p:sp>
        <p:nvSpPr>
          <p:cNvPr id="3" name="Text 1"/>
          <p:cNvSpPr/>
          <p:nvPr/>
        </p:nvSpPr>
        <p:spPr>
          <a:xfrm>
            <a:off x="793790" y="219932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p:cNvSpPr/>
          <p:nvPr/>
        </p:nvSpPr>
        <p:spPr>
          <a:xfrm>
            <a:off x="793790" y="2554367"/>
            <a:ext cx="6407944" cy="30480"/>
          </a:xfrm>
          <a:prstGeom prst="rect">
            <a:avLst/>
          </a:prstGeom>
          <a:solidFill>
            <a:srgbClr val="E04F00"/>
          </a:solidFill>
          <a:ln/>
        </p:spPr>
      </p:sp>
      <p:sp>
        <p:nvSpPr>
          <p:cNvPr id="5" name="Text 3"/>
          <p:cNvSpPr/>
          <p:nvPr/>
        </p:nvSpPr>
        <p:spPr>
          <a:xfrm>
            <a:off x="793790" y="2728674"/>
            <a:ext cx="2977039" cy="372070"/>
          </a:xfrm>
          <a:prstGeom prst="rect">
            <a:avLst/>
          </a:prstGeom>
          <a:noFill/>
          <a:ln/>
        </p:spPr>
        <p:txBody>
          <a:bodyPr wrap="none" lIns="0" tIns="0" rIns="0" bIns="0" rtlCol="0" anchor="t"/>
          <a:lstStyle/>
          <a:p>
            <a:pPr>
              <a:lnSpc>
                <a:spcPts val="2550"/>
              </a:lnSpc>
            </a:pPr>
            <a:r>
              <a:rPr lang="en-US" sz="2400" dirty="0">
                <a:solidFill>
                  <a:srgbClr val="383838"/>
                </a:solidFill>
                <a:latin typeface="PT Serif" pitchFamily="34" charset="0"/>
                <a:ea typeface="PT Serif" pitchFamily="34" charset="-122"/>
                <a:cs typeface="PT Serif" pitchFamily="34" charset="-120"/>
              </a:rPr>
              <a:t>Overfitting vs Underfitting</a:t>
            </a:r>
            <a:endParaRPr lang="en-US" sz="2400" dirty="0"/>
          </a:p>
        </p:txBody>
      </p:sp>
      <p:sp>
        <p:nvSpPr>
          <p:cNvPr id="6" name="Text 4"/>
          <p:cNvSpPr/>
          <p:nvPr/>
        </p:nvSpPr>
        <p:spPr>
          <a:xfrm>
            <a:off x="7428548" y="219932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p:cNvSpPr/>
          <p:nvPr/>
        </p:nvSpPr>
        <p:spPr>
          <a:xfrm>
            <a:off x="7428548" y="2554367"/>
            <a:ext cx="6408063" cy="30480"/>
          </a:xfrm>
          <a:prstGeom prst="rect">
            <a:avLst/>
          </a:prstGeom>
          <a:solidFill>
            <a:srgbClr val="E04F00"/>
          </a:solidFill>
          <a:ln/>
        </p:spPr>
      </p:sp>
      <p:sp>
        <p:nvSpPr>
          <p:cNvPr id="10" name="Text 8"/>
          <p:cNvSpPr/>
          <p:nvPr/>
        </p:nvSpPr>
        <p:spPr>
          <a:xfrm>
            <a:off x="793790" y="399657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1" name="Shape 9"/>
          <p:cNvSpPr/>
          <p:nvPr/>
        </p:nvSpPr>
        <p:spPr>
          <a:xfrm>
            <a:off x="793790" y="4351615"/>
            <a:ext cx="6407944" cy="30480"/>
          </a:xfrm>
          <a:prstGeom prst="rect">
            <a:avLst/>
          </a:prstGeom>
          <a:solidFill>
            <a:srgbClr val="E04F00"/>
          </a:solidFill>
          <a:ln/>
        </p:spPr>
      </p:sp>
      <p:sp>
        <p:nvSpPr>
          <p:cNvPr id="12" name="Text 10"/>
          <p:cNvSpPr/>
          <p:nvPr/>
        </p:nvSpPr>
        <p:spPr>
          <a:xfrm>
            <a:off x="793790" y="4525923"/>
            <a:ext cx="4571405"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 </a:t>
            </a:r>
            <a:r>
              <a:rPr lang="en-US" sz="2400" dirty="0">
                <a:solidFill>
                  <a:srgbClr val="383838"/>
                </a:solidFill>
                <a:latin typeface="PT Serif" pitchFamily="34" charset="0"/>
                <a:ea typeface="PT Serif" pitchFamily="34" charset="-122"/>
                <a:cs typeface="PT Serif" pitchFamily="34" charset="-120"/>
              </a:rPr>
              <a:t>L1 and L2 Regularization</a:t>
            </a:r>
            <a:endParaRPr lang="en-US" sz="2400" dirty="0"/>
          </a:p>
          <a:p>
            <a:pPr marL="0" indent="0" algn="l">
              <a:lnSpc>
                <a:spcPts val="2900"/>
              </a:lnSpc>
              <a:buNone/>
            </a:pPr>
            <a:endParaRPr lang="en-US" sz="2300" dirty="0"/>
          </a:p>
        </p:txBody>
      </p:sp>
      <p:sp>
        <p:nvSpPr>
          <p:cNvPr id="13" name="Text 11"/>
          <p:cNvSpPr/>
          <p:nvPr/>
        </p:nvSpPr>
        <p:spPr>
          <a:xfrm>
            <a:off x="7428548" y="399657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4" name="Shape 12"/>
          <p:cNvSpPr/>
          <p:nvPr/>
        </p:nvSpPr>
        <p:spPr>
          <a:xfrm>
            <a:off x="7428548" y="4351615"/>
            <a:ext cx="6408063" cy="30480"/>
          </a:xfrm>
          <a:prstGeom prst="rect">
            <a:avLst/>
          </a:prstGeom>
          <a:solidFill>
            <a:srgbClr val="E04F00"/>
          </a:solidFill>
          <a:ln/>
        </p:spPr>
      </p:sp>
      <p:sp>
        <p:nvSpPr>
          <p:cNvPr id="15" name="Text 13"/>
          <p:cNvSpPr/>
          <p:nvPr/>
        </p:nvSpPr>
        <p:spPr>
          <a:xfrm>
            <a:off x="7428548" y="4525923"/>
            <a:ext cx="5699998" cy="372070"/>
          </a:xfrm>
          <a:prstGeom prst="rect">
            <a:avLst/>
          </a:prstGeom>
          <a:noFill/>
          <a:ln/>
        </p:spPr>
        <p:txBody>
          <a:bodyPr wrap="none" lIns="0" tIns="0" rIns="0" bIns="0" rtlCol="0" anchor="t"/>
          <a:lstStyle/>
          <a:p>
            <a:pPr>
              <a:lnSpc>
                <a:spcPts val="2550"/>
              </a:lnSpc>
            </a:pPr>
            <a:r>
              <a:rPr lang="en-US" sz="2400" dirty="0">
                <a:solidFill>
                  <a:srgbClr val="383838"/>
                </a:solidFill>
                <a:latin typeface="PT Serif" pitchFamily="34" charset="0"/>
                <a:ea typeface="PT Serif" pitchFamily="34" charset="-122"/>
                <a:cs typeface="PT Serif" pitchFamily="34" charset="-120"/>
              </a:rPr>
              <a:t>Dropout and Batch </a:t>
            </a:r>
            <a:r>
              <a:rPr lang="en-US" sz="2400" dirty="0" err="1">
                <a:solidFill>
                  <a:srgbClr val="383838"/>
                </a:solidFill>
                <a:latin typeface="PT Serif" pitchFamily="34" charset="0"/>
                <a:ea typeface="PT Serif" pitchFamily="34" charset="-122"/>
                <a:cs typeface="PT Serif" pitchFamily="34" charset="-120"/>
              </a:rPr>
              <a:t>Normalisation</a:t>
            </a:r>
            <a:endParaRPr lang="en-US" sz="2400" dirty="0"/>
          </a:p>
        </p:txBody>
      </p:sp>
      <p:sp>
        <p:nvSpPr>
          <p:cNvPr id="16" name="Text 14"/>
          <p:cNvSpPr/>
          <p:nvPr/>
        </p:nvSpPr>
        <p:spPr>
          <a:xfrm>
            <a:off x="793790" y="529482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7" name="Shape 15"/>
          <p:cNvSpPr/>
          <p:nvPr/>
        </p:nvSpPr>
        <p:spPr>
          <a:xfrm>
            <a:off x="793790" y="5649873"/>
            <a:ext cx="6407944" cy="30480"/>
          </a:xfrm>
          <a:prstGeom prst="rect">
            <a:avLst/>
          </a:prstGeom>
          <a:solidFill>
            <a:srgbClr val="E04F00"/>
          </a:solidFill>
          <a:ln/>
        </p:spPr>
      </p:sp>
      <p:sp>
        <p:nvSpPr>
          <p:cNvPr id="18" name="Text 16"/>
          <p:cNvSpPr/>
          <p:nvPr/>
        </p:nvSpPr>
        <p:spPr>
          <a:xfrm>
            <a:off x="793790" y="5824180"/>
            <a:ext cx="5879663" cy="372070"/>
          </a:xfrm>
          <a:prstGeom prst="rect">
            <a:avLst/>
          </a:prstGeom>
          <a:noFill/>
          <a:ln/>
        </p:spPr>
        <p:txBody>
          <a:bodyPr wrap="none" lIns="0" tIns="0" rIns="0" bIns="0" rtlCol="0" anchor="t"/>
          <a:lstStyle/>
          <a:p>
            <a:pPr>
              <a:lnSpc>
                <a:spcPts val="2550"/>
              </a:lnSpc>
            </a:pPr>
            <a:r>
              <a:rPr lang="en-US" sz="2400" dirty="0">
                <a:solidFill>
                  <a:srgbClr val="383838"/>
                </a:solidFill>
                <a:latin typeface="PT Serif" pitchFamily="34" charset="0"/>
                <a:ea typeface="PT Serif" pitchFamily="34" charset="-122"/>
                <a:cs typeface="PT Serif" pitchFamily="34" charset="-120"/>
              </a:rPr>
              <a:t>Batch Size and Hyperparameter Tuning</a:t>
            </a:r>
            <a:endParaRPr lang="en-US" sz="2400" dirty="0"/>
          </a:p>
        </p:txBody>
      </p:sp>
      <p:sp>
        <p:nvSpPr>
          <p:cNvPr id="19" name="Text 17"/>
          <p:cNvSpPr/>
          <p:nvPr/>
        </p:nvSpPr>
        <p:spPr>
          <a:xfrm>
            <a:off x="7428548" y="529482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20" name="Shape 18"/>
          <p:cNvSpPr/>
          <p:nvPr/>
        </p:nvSpPr>
        <p:spPr>
          <a:xfrm>
            <a:off x="7428548" y="5649873"/>
            <a:ext cx="6408063" cy="30480"/>
          </a:xfrm>
          <a:prstGeom prst="rect">
            <a:avLst/>
          </a:prstGeom>
          <a:solidFill>
            <a:srgbClr val="E04F00"/>
          </a:solidFill>
          <a:ln/>
        </p:spPr>
      </p:sp>
      <p:sp>
        <p:nvSpPr>
          <p:cNvPr id="21" name="Text 19"/>
          <p:cNvSpPr/>
          <p:nvPr/>
        </p:nvSpPr>
        <p:spPr>
          <a:xfrm>
            <a:off x="7428548" y="5824180"/>
            <a:ext cx="425219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Key Takeaways</a:t>
            </a:r>
            <a:endParaRPr lang="en-US" sz="2300" dirty="0"/>
          </a:p>
        </p:txBody>
      </p:sp>
      <p:sp>
        <p:nvSpPr>
          <p:cNvPr id="24" name="Text 3">
            <a:extLst>
              <a:ext uri="{FF2B5EF4-FFF2-40B4-BE49-F238E27FC236}">
                <a16:creationId xmlns:a16="http://schemas.microsoft.com/office/drawing/2014/main" id="{F9B1597F-6088-ED47-BCF3-2426CD5CD6E2}"/>
              </a:ext>
            </a:extLst>
          </p:cNvPr>
          <p:cNvSpPr/>
          <p:nvPr/>
        </p:nvSpPr>
        <p:spPr>
          <a:xfrm>
            <a:off x="7428548" y="2793206"/>
            <a:ext cx="2977039" cy="372070"/>
          </a:xfrm>
          <a:prstGeom prst="rect">
            <a:avLst/>
          </a:prstGeom>
          <a:noFill/>
          <a:ln/>
        </p:spPr>
        <p:txBody>
          <a:bodyPr wrap="none" lIns="0" tIns="0" rIns="0" bIns="0" rtlCol="0" anchor="t"/>
          <a:lstStyle/>
          <a:p>
            <a:pPr>
              <a:lnSpc>
                <a:spcPts val="2550"/>
              </a:lnSpc>
            </a:pPr>
            <a:r>
              <a:rPr lang="en-US" sz="2400" dirty="0">
                <a:solidFill>
                  <a:srgbClr val="383838"/>
                </a:solidFill>
                <a:latin typeface="PT Serif" pitchFamily="34" charset="0"/>
                <a:ea typeface="PT Serif" pitchFamily="34" charset="-122"/>
                <a:cs typeface="PT Serif" pitchFamily="34" charset="-120"/>
              </a:rPr>
              <a:t>What is Regularization?</a:t>
            </a:r>
            <a:endParaRPr lang="en-US" sz="2400" dirty="0"/>
          </a:p>
        </p:txBody>
      </p:sp>
    </p:spTree>
    <p:extLst>
      <p:ext uri="{BB962C8B-B14F-4D97-AF65-F5344CB8AC3E}">
        <p14:creationId xmlns:p14="http://schemas.microsoft.com/office/powerpoint/2010/main" val="2580365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2"/>
          <p:cNvSpPr/>
          <p:nvPr/>
        </p:nvSpPr>
        <p:spPr>
          <a:xfrm>
            <a:off x="695316" y="544532"/>
            <a:ext cx="6177915"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Overfitting vs Underfitting</a:t>
            </a:r>
            <a:endParaRPr lang="en-US" sz="4100" dirty="0"/>
          </a:p>
        </p:txBody>
      </p:sp>
      <p:sp>
        <p:nvSpPr>
          <p:cNvPr id="5" name="Text 3"/>
          <p:cNvSpPr/>
          <p:nvPr/>
        </p:nvSpPr>
        <p:spPr>
          <a:xfrm>
            <a:off x="752548" y="156087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Every machine learning model must balance two competing errors. Understanding this trade-off is fundamental before introducing any regularization strategy.</a:t>
            </a:r>
            <a:endParaRPr lang="en-US" dirty="0"/>
          </a:p>
        </p:txBody>
      </p:sp>
      <p:sp>
        <p:nvSpPr>
          <p:cNvPr id="7" name="Text 5"/>
          <p:cNvSpPr/>
          <p:nvPr/>
        </p:nvSpPr>
        <p:spPr>
          <a:xfrm>
            <a:off x="809268" y="2632219"/>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020202"/>
                </a:solidFill>
                <a:latin typeface="PT Serif" pitchFamily="34" charset="0"/>
                <a:ea typeface="PT Serif" pitchFamily="34" charset="-122"/>
                <a:cs typeface="PT Serif" pitchFamily="34" charset="-120"/>
              </a:rPr>
              <a:t>Overfitting</a:t>
            </a:r>
            <a:endParaRPr lang="en-US" sz="2050" b="1" dirty="0"/>
          </a:p>
        </p:txBody>
      </p:sp>
      <p:sp>
        <p:nvSpPr>
          <p:cNvPr id="8" name="Text 6"/>
          <p:cNvSpPr/>
          <p:nvPr/>
        </p:nvSpPr>
        <p:spPr>
          <a:xfrm>
            <a:off x="809268" y="3310583"/>
            <a:ext cx="6168390" cy="1270159"/>
          </a:xfrm>
          <a:prstGeom prst="rect">
            <a:avLst/>
          </a:prstGeom>
          <a:noFill/>
          <a:ln/>
        </p:spPr>
        <p:txBody>
          <a:bodyPr wrap="square" lIns="0" tIns="0" rIns="0" bIns="0" rtlCol="0" anchor="t"/>
          <a:lstStyle/>
          <a:p>
            <a:pPr marL="0" indent="0" algn="l">
              <a:lnSpc>
                <a:spcPts val="2500"/>
              </a:lnSpc>
              <a:buNone/>
            </a:pPr>
            <a:r>
              <a:rPr lang="en-US" dirty="0">
                <a:solidFill>
                  <a:srgbClr val="000000"/>
                </a:solidFill>
                <a:latin typeface="DM Sans" pitchFamily="34" charset="0"/>
                <a:ea typeface="DM Sans" pitchFamily="34" charset="-122"/>
                <a:cs typeface="DM Sans" pitchFamily="34" charset="-120"/>
              </a:rPr>
              <a:t>The model learns the training data </a:t>
            </a:r>
            <a:r>
              <a:rPr lang="en-US" b="1" dirty="0">
                <a:solidFill>
                  <a:srgbClr val="000000"/>
                </a:solidFill>
                <a:latin typeface="DM Sans" pitchFamily="34" charset="0"/>
                <a:ea typeface="DM Sans" pitchFamily="34" charset="-122"/>
                <a:cs typeface="DM Sans" pitchFamily="34" charset="-120"/>
              </a:rPr>
              <a:t>too well</a:t>
            </a:r>
            <a:r>
              <a:rPr lang="en-US" dirty="0">
                <a:solidFill>
                  <a:srgbClr val="000000"/>
                </a:solidFill>
                <a:latin typeface="DM Sans" pitchFamily="34" charset="0"/>
                <a:ea typeface="DM Sans" pitchFamily="34" charset="-122"/>
                <a:cs typeface="DM Sans" pitchFamily="34" charset="-120"/>
              </a:rPr>
              <a:t> — including noise, outliers, and random patterns that do not generalise. Performance on training data is excellent, but performance on unseen test data is poor.</a:t>
            </a:r>
            <a:endParaRPr lang="en-US" dirty="0"/>
          </a:p>
        </p:txBody>
      </p:sp>
      <p:sp>
        <p:nvSpPr>
          <p:cNvPr id="10" name="Text 8"/>
          <p:cNvSpPr/>
          <p:nvPr/>
        </p:nvSpPr>
        <p:spPr>
          <a:xfrm>
            <a:off x="7538382" y="2673191"/>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020202"/>
                </a:solidFill>
                <a:latin typeface="PT Serif" pitchFamily="34" charset="0"/>
                <a:ea typeface="PT Serif" pitchFamily="34" charset="-122"/>
                <a:cs typeface="PT Serif" pitchFamily="34" charset="-120"/>
              </a:rPr>
              <a:t>Underfitting</a:t>
            </a:r>
            <a:endParaRPr lang="en-US" sz="2050" b="1" dirty="0"/>
          </a:p>
        </p:txBody>
      </p:sp>
      <p:sp>
        <p:nvSpPr>
          <p:cNvPr id="11" name="Text 9"/>
          <p:cNvSpPr/>
          <p:nvPr/>
        </p:nvSpPr>
        <p:spPr>
          <a:xfrm>
            <a:off x="7512469" y="3287134"/>
            <a:ext cx="6279356"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model fails to capture the underlying structure of the data. It performs poorly on </a:t>
            </a:r>
            <a:r>
              <a:rPr lang="en-US" b="1" dirty="0">
                <a:solidFill>
                  <a:srgbClr val="383838"/>
                </a:solidFill>
                <a:latin typeface="DM Sans" pitchFamily="34" charset="0"/>
                <a:ea typeface="DM Sans" pitchFamily="34" charset="-122"/>
                <a:cs typeface="DM Sans" pitchFamily="34" charset="-120"/>
              </a:rPr>
              <a:t>both</a:t>
            </a:r>
            <a:r>
              <a:rPr lang="en-US" dirty="0">
                <a:solidFill>
                  <a:srgbClr val="383838"/>
                </a:solidFill>
                <a:latin typeface="DM Sans" pitchFamily="34" charset="0"/>
                <a:ea typeface="DM Sans" pitchFamily="34" charset="-122"/>
                <a:cs typeface="DM Sans" pitchFamily="34" charset="-120"/>
              </a:rPr>
              <a:t> the training and test sets, because it is too simple to represent the problem.</a:t>
            </a:r>
            <a:endParaRPr lang="en-US" dirty="0"/>
          </a:p>
        </p:txBody>
      </p:sp>
      <p:sp>
        <p:nvSpPr>
          <p:cNvPr id="13" name="Shape 11"/>
          <p:cNvSpPr/>
          <p:nvPr/>
        </p:nvSpPr>
        <p:spPr>
          <a:xfrm>
            <a:off x="456247" y="5206162"/>
            <a:ext cx="13042821" cy="1160740"/>
          </a:xfrm>
          <a:prstGeom prst="roundRect">
            <a:avLst>
              <a:gd name="adj" fmla="val 2565"/>
            </a:avLst>
          </a:prstGeom>
          <a:solidFill>
            <a:srgbClr val="FFCDB3"/>
          </a:solidFill>
          <a:ln/>
        </p:spPr>
      </p:sp>
      <p:pic>
        <p:nvPicPr>
          <p:cNvPr id="14" name="Image 0" descr="preencoded.png"/>
          <p:cNvPicPr>
            <a:picLocks noChangeAspect="1"/>
          </p:cNvPicPr>
          <p:nvPr/>
        </p:nvPicPr>
        <p:blipFill>
          <a:blip r:embed="rId3"/>
          <a:stretch>
            <a:fillRect/>
          </a:stretch>
        </p:blipFill>
        <p:spPr>
          <a:xfrm>
            <a:off x="551997" y="5622528"/>
            <a:ext cx="248007" cy="198358"/>
          </a:xfrm>
          <a:prstGeom prst="rect">
            <a:avLst/>
          </a:prstGeom>
        </p:spPr>
      </p:pic>
      <p:sp>
        <p:nvSpPr>
          <p:cNvPr id="15" name="Text 12"/>
          <p:cNvSpPr/>
          <p:nvPr/>
        </p:nvSpPr>
        <p:spPr>
          <a:xfrm>
            <a:off x="993746" y="5471153"/>
            <a:ext cx="12199739" cy="635079"/>
          </a:xfrm>
          <a:prstGeom prst="rect">
            <a:avLst/>
          </a:prstGeom>
          <a:noFill/>
          <a:ln/>
        </p:spPr>
        <p:txBody>
          <a:bodyPr wrap="square" lIns="0" tIns="0" rIns="0" bIns="0" rtlCol="0" anchor="t"/>
          <a:lstStyle/>
          <a:p>
            <a:pPr>
              <a:lnSpc>
                <a:spcPts val="2500"/>
              </a:lnSpc>
            </a:pPr>
            <a:r>
              <a:rPr lang="en-IN" dirty="0">
                <a:latin typeface="DM Sans" pitchFamily="2" charset="0"/>
              </a:rPr>
              <a:t>In deep learning models (like neural networks), </a:t>
            </a:r>
            <a:r>
              <a:rPr lang="en-IN" b="1" dirty="0">
                <a:latin typeface="DM Sans" pitchFamily="2" charset="0"/>
              </a:rPr>
              <a:t>overfitting happens more often than underfitting</a:t>
            </a:r>
            <a:r>
              <a:rPr lang="en-IN" dirty="0">
                <a:latin typeface="DM Sans" pitchFamily="2" charset="0"/>
              </a:rPr>
              <a:t> because of high model complexity</a:t>
            </a:r>
            <a:endParaRPr lang="en-US" dirty="0">
              <a:latin typeface="DM Sans"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81248" y="676028"/>
            <a:ext cx="1128688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Why Does Overfitting Happen in Deep Learning?</a:t>
            </a:r>
            <a:endParaRPr lang="en-US" sz="4100" dirty="0"/>
          </a:p>
        </p:txBody>
      </p:sp>
      <p:sp>
        <p:nvSpPr>
          <p:cNvPr id="5" name="Text 3"/>
          <p:cNvSpPr/>
          <p:nvPr/>
        </p:nvSpPr>
        <p:spPr>
          <a:xfrm>
            <a:off x="694610" y="1895815"/>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Deep neural networks are particularly </a:t>
            </a:r>
            <a:r>
              <a:rPr lang="en-US" b="1" dirty="0">
                <a:solidFill>
                  <a:srgbClr val="383838"/>
                </a:solidFill>
                <a:latin typeface="DM Sans" pitchFamily="34" charset="0"/>
                <a:ea typeface="DM Sans" pitchFamily="34" charset="-122"/>
                <a:cs typeface="DM Sans" pitchFamily="34" charset="-120"/>
              </a:rPr>
              <a:t>prone to overfitting</a:t>
            </a:r>
            <a:r>
              <a:rPr lang="en-US" dirty="0">
                <a:solidFill>
                  <a:srgbClr val="383838"/>
                </a:solidFill>
                <a:latin typeface="DM Sans" pitchFamily="34" charset="0"/>
                <a:ea typeface="DM Sans" pitchFamily="34" charset="-122"/>
                <a:cs typeface="DM Sans" pitchFamily="34" charset="-120"/>
              </a:rPr>
              <a:t> because of their inherent complexity. Understanding </a:t>
            </a:r>
            <a:r>
              <a:rPr lang="en-US" i="1" dirty="0">
                <a:solidFill>
                  <a:srgbClr val="383838"/>
                </a:solidFill>
                <a:latin typeface="DM Sans" pitchFamily="34" charset="0"/>
                <a:ea typeface="DM Sans" pitchFamily="34" charset="-122"/>
                <a:cs typeface="DM Sans" pitchFamily="34" charset="-120"/>
              </a:rPr>
              <a:t>why</a:t>
            </a:r>
            <a:r>
              <a:rPr lang="en-US" dirty="0">
                <a:solidFill>
                  <a:srgbClr val="383838"/>
                </a:solidFill>
                <a:latin typeface="DM Sans" pitchFamily="34" charset="0"/>
                <a:ea typeface="DM Sans" pitchFamily="34" charset="-122"/>
                <a:cs typeface="DM Sans" pitchFamily="34" charset="-120"/>
              </a:rPr>
              <a:t> this happens is the first step towards fixing it.</a:t>
            </a:r>
            <a:endParaRPr lang="en-US" dirty="0"/>
          </a:p>
        </p:txBody>
      </p:sp>
      <p:sp>
        <p:nvSpPr>
          <p:cNvPr id="6" name="Shape 4"/>
          <p:cNvSpPr/>
          <p:nvPr/>
        </p:nvSpPr>
        <p:spPr>
          <a:xfrm>
            <a:off x="793790" y="3313271"/>
            <a:ext cx="6422231" cy="1839754"/>
          </a:xfrm>
          <a:prstGeom prst="roundRect">
            <a:avLst>
              <a:gd name="adj" fmla="val 1618"/>
            </a:avLst>
          </a:prstGeom>
          <a:solidFill>
            <a:srgbClr val="FFFFFF"/>
          </a:solidFill>
          <a:ln w="22860">
            <a:solidFill>
              <a:srgbClr val="D8D4D4"/>
            </a:solidFill>
            <a:prstDash val="solid"/>
          </a:ln>
        </p:spPr>
      </p:sp>
      <p:sp>
        <p:nvSpPr>
          <p:cNvPr id="7" name="Text 5"/>
          <p:cNvSpPr/>
          <p:nvPr/>
        </p:nvSpPr>
        <p:spPr>
          <a:xfrm>
            <a:off x="1015008" y="3534489"/>
            <a:ext cx="2624257"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Millions of Parameters</a:t>
            </a:r>
            <a:endParaRPr lang="en-US" sz="2050" dirty="0"/>
          </a:p>
        </p:txBody>
      </p:sp>
      <p:sp>
        <p:nvSpPr>
          <p:cNvPr id="8" name="Text 6"/>
          <p:cNvSpPr/>
          <p:nvPr/>
        </p:nvSpPr>
        <p:spPr>
          <a:xfrm>
            <a:off x="1015008" y="3979188"/>
            <a:ext cx="5979795"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A deep network may have </a:t>
            </a:r>
            <a:r>
              <a:rPr lang="en-US" sz="1700" b="1" dirty="0">
                <a:solidFill>
                  <a:srgbClr val="383838"/>
                </a:solidFill>
                <a:latin typeface="DM Sans" pitchFamily="34" charset="0"/>
                <a:ea typeface="DM Sans" pitchFamily="34" charset="-122"/>
                <a:cs typeface="DM Sans" pitchFamily="34" charset="-120"/>
              </a:rPr>
              <a:t>millions of learnable weights</a:t>
            </a:r>
            <a:r>
              <a:rPr lang="en-US" sz="1700" dirty="0">
                <a:solidFill>
                  <a:srgbClr val="383838"/>
                </a:solidFill>
                <a:latin typeface="DM Sans" pitchFamily="34" charset="0"/>
                <a:ea typeface="DM Sans" pitchFamily="34" charset="-122"/>
                <a:cs typeface="DM Sans" pitchFamily="34" charset="-120"/>
              </a:rPr>
              <a:t>. With enough parameters, a model can perfectly fit any training dataset — even one made of pure noise.</a:t>
            </a:r>
            <a:endParaRPr lang="en-US" sz="1700" dirty="0"/>
          </a:p>
        </p:txBody>
      </p:sp>
      <p:sp>
        <p:nvSpPr>
          <p:cNvPr id="9" name="Shape 7"/>
          <p:cNvSpPr/>
          <p:nvPr/>
        </p:nvSpPr>
        <p:spPr>
          <a:xfrm>
            <a:off x="7414379" y="3313271"/>
            <a:ext cx="6422231" cy="1839754"/>
          </a:xfrm>
          <a:prstGeom prst="roundRect">
            <a:avLst>
              <a:gd name="adj" fmla="val 1618"/>
            </a:avLst>
          </a:prstGeom>
          <a:solidFill>
            <a:srgbClr val="FFFFFF"/>
          </a:solidFill>
          <a:ln w="22860">
            <a:solidFill>
              <a:srgbClr val="D8D4D4"/>
            </a:solidFill>
            <a:prstDash val="solid"/>
          </a:ln>
        </p:spPr>
      </p:sp>
      <p:sp>
        <p:nvSpPr>
          <p:cNvPr id="10" name="Text 8"/>
          <p:cNvSpPr/>
          <p:nvPr/>
        </p:nvSpPr>
        <p:spPr>
          <a:xfrm>
            <a:off x="7635597" y="3534489"/>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Limited Training Data</a:t>
            </a:r>
            <a:endParaRPr lang="en-US" sz="2050" dirty="0"/>
          </a:p>
        </p:txBody>
      </p:sp>
      <p:sp>
        <p:nvSpPr>
          <p:cNvPr id="11" name="Text 9"/>
          <p:cNvSpPr/>
          <p:nvPr/>
        </p:nvSpPr>
        <p:spPr>
          <a:xfrm>
            <a:off x="7635597" y="3979188"/>
            <a:ext cx="5979795"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When the dataset is </a:t>
            </a:r>
            <a:r>
              <a:rPr lang="en-US" sz="1700" b="1" dirty="0">
                <a:solidFill>
                  <a:srgbClr val="383838"/>
                </a:solidFill>
                <a:latin typeface="DM Sans" pitchFamily="34" charset="0"/>
                <a:ea typeface="DM Sans" pitchFamily="34" charset="-122"/>
                <a:cs typeface="DM Sans" pitchFamily="34" charset="-120"/>
              </a:rPr>
              <a:t>small relative to model size</a:t>
            </a:r>
            <a:r>
              <a:rPr lang="en-US" sz="1700" dirty="0">
                <a:solidFill>
                  <a:srgbClr val="383838"/>
                </a:solidFill>
                <a:latin typeface="DM Sans" pitchFamily="34" charset="0"/>
                <a:ea typeface="DM Sans" pitchFamily="34" charset="-122"/>
                <a:cs typeface="DM Sans" pitchFamily="34" charset="-120"/>
              </a:rPr>
              <a:t>, the network has too few examples to learn truly general patterns and instead memorises specific training samples.</a:t>
            </a:r>
            <a:endParaRPr lang="en-US" sz="1700" dirty="0"/>
          </a:p>
        </p:txBody>
      </p:sp>
      <p:sp>
        <p:nvSpPr>
          <p:cNvPr id="12" name="Shape 10"/>
          <p:cNvSpPr/>
          <p:nvPr/>
        </p:nvSpPr>
        <p:spPr>
          <a:xfrm>
            <a:off x="793790" y="5351383"/>
            <a:ext cx="6422231" cy="1839754"/>
          </a:xfrm>
          <a:prstGeom prst="roundRect">
            <a:avLst>
              <a:gd name="adj" fmla="val 1618"/>
            </a:avLst>
          </a:prstGeom>
          <a:solidFill>
            <a:srgbClr val="FFFFFF"/>
          </a:solidFill>
          <a:ln w="22860">
            <a:solidFill>
              <a:srgbClr val="D8D4D4"/>
            </a:solidFill>
            <a:prstDash val="solid"/>
          </a:ln>
        </p:spPr>
      </p:sp>
      <p:sp>
        <p:nvSpPr>
          <p:cNvPr id="13" name="Text 11"/>
          <p:cNvSpPr/>
          <p:nvPr/>
        </p:nvSpPr>
        <p:spPr>
          <a:xfrm>
            <a:off x="1015008" y="5572601"/>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Training for Too Long</a:t>
            </a:r>
            <a:endParaRPr lang="en-US" sz="2050" dirty="0"/>
          </a:p>
        </p:txBody>
      </p:sp>
      <p:sp>
        <p:nvSpPr>
          <p:cNvPr id="14" name="Text 12"/>
          <p:cNvSpPr/>
          <p:nvPr/>
        </p:nvSpPr>
        <p:spPr>
          <a:xfrm>
            <a:off x="1015008" y="6017300"/>
            <a:ext cx="5979795"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Training beyond the point of optimal generalisation causes the model to start fitting </a:t>
            </a:r>
            <a:r>
              <a:rPr lang="en-US" sz="1700" b="1" dirty="0">
                <a:solidFill>
                  <a:srgbClr val="383838"/>
                </a:solidFill>
                <a:latin typeface="DM Sans" pitchFamily="34" charset="0"/>
                <a:ea typeface="DM Sans" pitchFamily="34" charset="-122"/>
                <a:cs typeface="DM Sans" pitchFamily="34" charset="-120"/>
              </a:rPr>
              <a:t>noise and random variation</a:t>
            </a:r>
            <a:r>
              <a:rPr lang="en-US" sz="1700" dirty="0">
                <a:solidFill>
                  <a:srgbClr val="383838"/>
                </a:solidFill>
                <a:latin typeface="DM Sans" pitchFamily="34" charset="0"/>
                <a:ea typeface="DM Sans" pitchFamily="34" charset="-122"/>
                <a:cs typeface="DM Sans" pitchFamily="34" charset="-120"/>
              </a:rPr>
              <a:t> rather than meaningful structure in the data.</a:t>
            </a:r>
            <a:endParaRPr lang="en-US" sz="1700" dirty="0"/>
          </a:p>
        </p:txBody>
      </p:sp>
      <p:sp>
        <p:nvSpPr>
          <p:cNvPr id="15" name="Shape 13"/>
          <p:cNvSpPr/>
          <p:nvPr/>
        </p:nvSpPr>
        <p:spPr>
          <a:xfrm>
            <a:off x="7414379" y="5351383"/>
            <a:ext cx="6422231" cy="1839754"/>
          </a:xfrm>
          <a:prstGeom prst="roundRect">
            <a:avLst>
              <a:gd name="adj" fmla="val 1618"/>
            </a:avLst>
          </a:prstGeom>
          <a:solidFill>
            <a:srgbClr val="FFFFFF"/>
          </a:solidFill>
          <a:ln w="22860">
            <a:solidFill>
              <a:srgbClr val="D8D4D4"/>
            </a:solidFill>
            <a:prstDash val="solid"/>
          </a:ln>
        </p:spPr>
      </p:sp>
      <p:sp>
        <p:nvSpPr>
          <p:cNvPr id="16" name="Text 14"/>
          <p:cNvSpPr/>
          <p:nvPr/>
        </p:nvSpPr>
        <p:spPr>
          <a:xfrm>
            <a:off x="7635597" y="5572601"/>
            <a:ext cx="3068955"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Highly Non-Linear Models</a:t>
            </a:r>
            <a:endParaRPr lang="en-US" sz="2050" dirty="0"/>
          </a:p>
        </p:txBody>
      </p:sp>
      <p:sp>
        <p:nvSpPr>
          <p:cNvPr id="17" name="Text 15"/>
          <p:cNvSpPr/>
          <p:nvPr/>
        </p:nvSpPr>
        <p:spPr>
          <a:xfrm>
            <a:off x="7635597" y="6017300"/>
            <a:ext cx="5979795"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Deep networks with many layers and non-linear activations can learn </a:t>
            </a:r>
            <a:r>
              <a:rPr lang="en-US" sz="1700" b="1" dirty="0">
                <a:solidFill>
                  <a:srgbClr val="383838"/>
                </a:solidFill>
                <a:latin typeface="DM Sans" pitchFamily="34" charset="0"/>
                <a:ea typeface="DM Sans" pitchFamily="34" charset="-122"/>
                <a:cs typeface="DM Sans" pitchFamily="34" charset="-120"/>
              </a:rPr>
              <a:t>extremely complex decision boundaries</a:t>
            </a:r>
            <a:r>
              <a:rPr lang="en-US" sz="1700" dirty="0">
                <a:solidFill>
                  <a:srgbClr val="383838"/>
                </a:solidFill>
                <a:latin typeface="DM Sans" pitchFamily="34" charset="0"/>
                <a:ea typeface="DM Sans" pitchFamily="34" charset="-122"/>
                <a:cs typeface="DM Sans" pitchFamily="34" charset="-120"/>
              </a:rPr>
              <a:t>, making them powerful but also susceptible to overfitting.</a:t>
            </a:r>
            <a:endParaRPr lang="en-US" sz="1700" dirty="0"/>
          </a:p>
        </p:txBody>
      </p:sp>
    </p:spTree>
    <p:extLst>
      <p:ext uri="{BB962C8B-B14F-4D97-AF65-F5344CB8AC3E}">
        <p14:creationId xmlns:p14="http://schemas.microsoft.com/office/powerpoint/2010/main" val="3311859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93790" y="921315"/>
            <a:ext cx="5555456"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What Is Regularization?</a:t>
            </a:r>
            <a:endParaRPr lang="en-US" sz="4100" dirty="0"/>
          </a:p>
        </p:txBody>
      </p:sp>
      <p:sp>
        <p:nvSpPr>
          <p:cNvPr id="5" name="Text 3"/>
          <p:cNvSpPr/>
          <p:nvPr/>
        </p:nvSpPr>
        <p:spPr>
          <a:xfrm>
            <a:off x="816650" y="2836256"/>
            <a:ext cx="6955631"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Regularization is a set of techniques that </a:t>
            </a:r>
            <a:r>
              <a:rPr lang="en-US" b="1" dirty="0">
                <a:solidFill>
                  <a:srgbClr val="383838"/>
                </a:solidFill>
                <a:latin typeface="DM Sans" pitchFamily="34" charset="0"/>
                <a:ea typeface="DM Sans" pitchFamily="34" charset="-122"/>
                <a:cs typeface="DM Sans" pitchFamily="34" charset="-120"/>
              </a:rPr>
              <a:t>constrain or penalise model complexity</a:t>
            </a:r>
            <a:r>
              <a:rPr lang="en-US" dirty="0">
                <a:solidFill>
                  <a:srgbClr val="383838"/>
                </a:solidFill>
                <a:latin typeface="DM Sans" pitchFamily="34" charset="0"/>
                <a:ea typeface="DM Sans" pitchFamily="34" charset="-122"/>
                <a:cs typeface="DM Sans" pitchFamily="34" charset="-120"/>
              </a:rPr>
              <a:t> during training. Instead of simply minimising the training loss, we minimise a modified objective:</a:t>
            </a:r>
            <a:endParaRPr lang="en-US" dirty="0"/>
          </a:p>
        </p:txBody>
      </p:sp>
      <p:sp>
        <p:nvSpPr>
          <p:cNvPr id="6" name="Text 4"/>
          <p:cNvSpPr/>
          <p:nvPr/>
        </p:nvSpPr>
        <p:spPr>
          <a:xfrm>
            <a:off x="1091446" y="4223504"/>
            <a:ext cx="6657975" cy="317540"/>
          </a:xfrm>
          <a:prstGeom prst="rect">
            <a:avLst/>
          </a:prstGeom>
          <a:noFill/>
          <a:ln/>
        </p:spPr>
        <p:txBody>
          <a:bodyPr wrap="non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Total Loss = Training Loss + Regularization Penalty</a:t>
            </a:r>
            <a:endParaRPr lang="en-US" dirty="0"/>
          </a:p>
        </p:txBody>
      </p:sp>
      <p:sp>
        <p:nvSpPr>
          <p:cNvPr id="7" name="Shape 5"/>
          <p:cNvSpPr/>
          <p:nvPr/>
        </p:nvSpPr>
        <p:spPr>
          <a:xfrm>
            <a:off x="793790" y="4223504"/>
            <a:ext cx="22860" cy="317540"/>
          </a:xfrm>
          <a:prstGeom prst="rect">
            <a:avLst/>
          </a:prstGeom>
          <a:solidFill>
            <a:srgbClr val="E04F00"/>
          </a:solidFill>
          <a:ln/>
        </p:spPr>
      </p:sp>
      <p:sp>
        <p:nvSpPr>
          <p:cNvPr id="8" name="Text 6"/>
          <p:cNvSpPr/>
          <p:nvPr/>
        </p:nvSpPr>
        <p:spPr>
          <a:xfrm>
            <a:off x="793790" y="4764286"/>
            <a:ext cx="6955631"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penalty term discourages the model from learning overly large or complex weight configurations. This forces the network to find </a:t>
            </a:r>
            <a:r>
              <a:rPr lang="en-US" b="1" dirty="0">
                <a:solidFill>
                  <a:srgbClr val="383838"/>
                </a:solidFill>
                <a:latin typeface="DM Sans" pitchFamily="34" charset="0"/>
                <a:ea typeface="DM Sans" pitchFamily="34" charset="-122"/>
                <a:cs typeface="DM Sans" pitchFamily="34" charset="-120"/>
              </a:rPr>
              <a:t>simpler, more robust solutions</a:t>
            </a:r>
            <a:r>
              <a:rPr lang="en-US" dirty="0">
                <a:solidFill>
                  <a:srgbClr val="383838"/>
                </a:solidFill>
                <a:latin typeface="DM Sans" pitchFamily="34" charset="0"/>
                <a:ea typeface="DM Sans" pitchFamily="34" charset="-122"/>
                <a:cs typeface="DM Sans" pitchFamily="34" charset="-120"/>
              </a:rPr>
              <a:t> that generalise better to new data.</a:t>
            </a:r>
            <a:endParaRPr lang="en-US" dirty="0"/>
          </a:p>
        </p:txBody>
      </p:sp>
      <p:sp>
        <p:nvSpPr>
          <p:cNvPr id="9" name="Text 7"/>
          <p:cNvSpPr/>
          <p:nvPr/>
        </p:nvSpPr>
        <p:spPr>
          <a:xfrm>
            <a:off x="793789" y="6281023"/>
            <a:ext cx="695563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Think of it as adding a cost to complexity — the model must justify every bit of complexity it uses by improving predictions significantly.</a:t>
            </a:r>
            <a:endParaRPr lang="en-US" dirty="0"/>
          </a:p>
        </p:txBody>
      </p:sp>
      <p:sp>
        <p:nvSpPr>
          <p:cNvPr id="10" name="Shape 8"/>
          <p:cNvSpPr/>
          <p:nvPr/>
        </p:nvSpPr>
        <p:spPr>
          <a:xfrm>
            <a:off x="8098274" y="2869049"/>
            <a:ext cx="5888712" cy="3908108"/>
          </a:xfrm>
          <a:prstGeom prst="roundRect">
            <a:avLst>
              <a:gd name="adj" fmla="val 762"/>
            </a:avLst>
          </a:prstGeom>
          <a:solidFill>
            <a:schemeClr val="bg2"/>
          </a:solidFill>
          <a:ln/>
        </p:spPr>
      </p:sp>
      <p:sp>
        <p:nvSpPr>
          <p:cNvPr id="11" name="Text 9"/>
          <p:cNvSpPr/>
          <p:nvPr/>
        </p:nvSpPr>
        <p:spPr>
          <a:xfrm>
            <a:off x="8296632" y="306740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Core Idea</a:t>
            </a:r>
            <a:endParaRPr lang="en-US" sz="2050" dirty="0"/>
          </a:p>
        </p:txBody>
      </p:sp>
      <p:sp>
        <p:nvSpPr>
          <p:cNvPr id="12" name="Text 10"/>
          <p:cNvSpPr/>
          <p:nvPr/>
        </p:nvSpPr>
        <p:spPr>
          <a:xfrm>
            <a:off x="8296632" y="3591401"/>
            <a:ext cx="5491996" cy="952619"/>
          </a:xfrm>
          <a:prstGeom prst="rect">
            <a:avLst/>
          </a:prstGeom>
          <a:noFill/>
          <a:ln/>
        </p:spPr>
        <p:txBody>
          <a:bodyPr wrap="square" lIns="0" tIns="0" rIns="0" bIns="0" rtlCol="0" anchor="t"/>
          <a:lstStyle/>
          <a:p>
            <a:pPr marL="0" indent="0" algn="l">
              <a:lnSpc>
                <a:spcPts val="2500"/>
              </a:lnSpc>
              <a:buNone/>
            </a:pPr>
            <a:r>
              <a:rPr lang="en-US" sz="1700" dirty="0">
                <a:solidFill>
                  <a:srgbClr val="000000"/>
                </a:solidFill>
                <a:latin typeface="DM Sans" pitchFamily="34" charset="0"/>
                <a:ea typeface="DM Sans" pitchFamily="34" charset="-122"/>
                <a:cs typeface="DM Sans" pitchFamily="34" charset="-120"/>
              </a:rPr>
              <a:t>A well-regularised model sacrifices a small amount of training accuracy in exchange for </a:t>
            </a:r>
            <a:r>
              <a:rPr lang="en-US" sz="1700" b="1" dirty="0">
                <a:solidFill>
                  <a:srgbClr val="000000"/>
                </a:solidFill>
                <a:latin typeface="DM Sans" pitchFamily="34" charset="0"/>
                <a:ea typeface="DM Sans" pitchFamily="34" charset="-122"/>
                <a:cs typeface="DM Sans" pitchFamily="34" charset="-120"/>
              </a:rPr>
              <a:t>significantly better performance</a:t>
            </a:r>
            <a:r>
              <a:rPr lang="en-US" sz="1700" dirty="0">
                <a:solidFill>
                  <a:srgbClr val="000000"/>
                </a:solidFill>
                <a:latin typeface="DM Sans" pitchFamily="34" charset="0"/>
                <a:ea typeface="DM Sans" pitchFamily="34" charset="-122"/>
                <a:cs typeface="DM Sans" pitchFamily="34" charset="-120"/>
              </a:rPr>
              <a:t> on unseen data.</a:t>
            </a:r>
            <a:endParaRPr lang="en-US" sz="1700" dirty="0"/>
          </a:p>
        </p:txBody>
      </p:sp>
      <p:sp>
        <p:nvSpPr>
          <p:cNvPr id="13" name="Shape 11"/>
          <p:cNvSpPr/>
          <p:nvPr/>
        </p:nvSpPr>
        <p:spPr>
          <a:xfrm>
            <a:off x="8296632" y="4866411"/>
            <a:ext cx="5491996" cy="32385"/>
          </a:xfrm>
          <a:prstGeom prst="rect">
            <a:avLst/>
          </a:prstGeom>
          <a:solidFill>
            <a:srgbClr val="000000">
              <a:alpha val="50000"/>
            </a:srgbClr>
          </a:solidFill>
          <a:ln/>
        </p:spPr>
      </p:sp>
      <p:sp>
        <p:nvSpPr>
          <p:cNvPr id="14" name="Text 12"/>
          <p:cNvSpPr/>
          <p:nvPr/>
        </p:nvSpPr>
        <p:spPr>
          <a:xfrm>
            <a:off x="8296632" y="5121950"/>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Key Outcome</a:t>
            </a:r>
            <a:endParaRPr lang="en-US" sz="2050" dirty="0"/>
          </a:p>
        </p:txBody>
      </p:sp>
      <p:sp>
        <p:nvSpPr>
          <p:cNvPr id="15" name="Text 13"/>
          <p:cNvSpPr/>
          <p:nvPr/>
        </p:nvSpPr>
        <p:spPr>
          <a:xfrm>
            <a:off x="8296632" y="5645944"/>
            <a:ext cx="5491996" cy="952619"/>
          </a:xfrm>
          <a:prstGeom prst="rect">
            <a:avLst/>
          </a:prstGeom>
          <a:noFill/>
          <a:ln/>
        </p:spPr>
        <p:txBody>
          <a:bodyPr wrap="square" lIns="0" tIns="0" rIns="0" bIns="0" rtlCol="0" anchor="t"/>
          <a:lstStyle/>
          <a:p>
            <a:pPr marL="0" indent="0" algn="l">
              <a:lnSpc>
                <a:spcPts val="2500"/>
              </a:lnSpc>
              <a:buNone/>
            </a:pPr>
            <a:r>
              <a:rPr lang="en-US" sz="1700" dirty="0">
                <a:solidFill>
                  <a:srgbClr val="000000"/>
                </a:solidFill>
                <a:latin typeface="DM Sans" pitchFamily="34" charset="0"/>
                <a:ea typeface="DM Sans" pitchFamily="34" charset="-122"/>
                <a:cs typeface="DM Sans" pitchFamily="34" charset="-120"/>
              </a:rPr>
              <a:t>Regularization shifts the model from </a:t>
            </a:r>
            <a:r>
              <a:rPr lang="en-US" sz="1700" b="1" dirty="0">
                <a:solidFill>
                  <a:srgbClr val="000000"/>
                </a:solidFill>
                <a:latin typeface="DM Sans" pitchFamily="34" charset="0"/>
                <a:ea typeface="DM Sans" pitchFamily="34" charset="-122"/>
                <a:cs typeface="DM Sans" pitchFamily="34" charset="-120"/>
              </a:rPr>
              <a:t>memorising → generalising</a:t>
            </a:r>
            <a:r>
              <a:rPr lang="en-US" sz="1700" dirty="0">
                <a:solidFill>
                  <a:srgbClr val="000000"/>
                </a:solidFill>
                <a:latin typeface="DM Sans" pitchFamily="34" charset="0"/>
                <a:ea typeface="DM Sans" pitchFamily="34" charset="-122"/>
                <a:cs typeface="DM Sans" pitchFamily="34" charset="-120"/>
              </a:rPr>
              <a:t>, which is the fundamental goal of supervised learning.</a:t>
            </a:r>
            <a:endParaRPr lang="en-US" sz="1700" dirty="0"/>
          </a:p>
        </p:txBody>
      </p:sp>
    </p:spTree>
    <p:extLst>
      <p:ext uri="{BB962C8B-B14F-4D97-AF65-F5344CB8AC3E}">
        <p14:creationId xmlns:p14="http://schemas.microsoft.com/office/powerpoint/2010/main" val="1886544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3">
            <a:extLst>
              <a:ext uri="{FF2B5EF4-FFF2-40B4-BE49-F238E27FC236}">
                <a16:creationId xmlns:a16="http://schemas.microsoft.com/office/drawing/2014/main" id="{BB73459B-6469-E48E-523F-49DE8DF5997B}"/>
              </a:ext>
            </a:extLst>
          </p:cNvPr>
          <p:cNvGrpSpPr/>
          <p:nvPr/>
        </p:nvGrpSpPr>
        <p:grpSpPr>
          <a:xfrm>
            <a:off x="371387" y="4495800"/>
            <a:ext cx="6791413" cy="1632095"/>
            <a:chOff x="793788" y="4631308"/>
            <a:chExt cx="6437630" cy="2974340"/>
          </a:xfrm>
        </p:grpSpPr>
        <p:sp>
          <p:nvSpPr>
            <p:cNvPr id="15" name="object 14">
              <a:extLst>
                <a:ext uri="{FF2B5EF4-FFF2-40B4-BE49-F238E27FC236}">
                  <a16:creationId xmlns:a16="http://schemas.microsoft.com/office/drawing/2014/main" id="{71616C5E-65C8-6E58-8FBA-B20C0EDC16E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6" name="object 15">
              <a:extLst>
                <a:ext uri="{FF2B5EF4-FFF2-40B4-BE49-F238E27FC236}">
                  <a16:creationId xmlns:a16="http://schemas.microsoft.com/office/drawing/2014/main" id="{92C0E4B8-3324-4A15-E5FB-5927AF9E1041}"/>
                </a:ext>
              </a:extLst>
            </p:cNvPr>
            <p:cNvSpPr/>
            <p:nvPr/>
          </p:nvSpPr>
          <p:spPr>
            <a:xfrm>
              <a:off x="816648" y="4654166"/>
              <a:ext cx="6391910" cy="1237580"/>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1" name="object 13">
            <a:extLst>
              <a:ext uri="{FF2B5EF4-FFF2-40B4-BE49-F238E27FC236}">
                <a16:creationId xmlns:a16="http://schemas.microsoft.com/office/drawing/2014/main" id="{7EC27F32-5AE2-A457-BF6B-4E11B04E7022}"/>
              </a:ext>
            </a:extLst>
          </p:cNvPr>
          <p:cNvGrpSpPr/>
          <p:nvPr/>
        </p:nvGrpSpPr>
        <p:grpSpPr>
          <a:xfrm>
            <a:off x="7416285" y="4512916"/>
            <a:ext cx="6791413" cy="1632095"/>
            <a:chOff x="793788" y="4631308"/>
            <a:chExt cx="6437630" cy="2974340"/>
          </a:xfrm>
        </p:grpSpPr>
        <p:sp>
          <p:nvSpPr>
            <p:cNvPr id="12" name="object 14">
              <a:extLst>
                <a:ext uri="{FF2B5EF4-FFF2-40B4-BE49-F238E27FC236}">
                  <a16:creationId xmlns:a16="http://schemas.microsoft.com/office/drawing/2014/main" id="{914ADF9D-302C-11BE-1737-EC93DB200849}"/>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3" name="object 15">
              <a:extLst>
                <a:ext uri="{FF2B5EF4-FFF2-40B4-BE49-F238E27FC236}">
                  <a16:creationId xmlns:a16="http://schemas.microsoft.com/office/drawing/2014/main" id="{A8A7E959-E8B3-A90E-735F-57A80005DA27}"/>
                </a:ext>
              </a:extLst>
            </p:cNvPr>
            <p:cNvSpPr/>
            <p:nvPr/>
          </p:nvSpPr>
          <p:spPr>
            <a:xfrm>
              <a:off x="816648" y="4654166"/>
              <a:ext cx="6391910" cy="1192550"/>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8" name="object 13">
            <a:extLst>
              <a:ext uri="{FF2B5EF4-FFF2-40B4-BE49-F238E27FC236}">
                <a16:creationId xmlns:a16="http://schemas.microsoft.com/office/drawing/2014/main" id="{8C1FE014-3026-6862-3720-9E77AE2730D2}"/>
              </a:ext>
            </a:extLst>
          </p:cNvPr>
          <p:cNvGrpSpPr/>
          <p:nvPr/>
        </p:nvGrpSpPr>
        <p:grpSpPr>
          <a:xfrm>
            <a:off x="7671388" y="2142158"/>
            <a:ext cx="6791413" cy="1715608"/>
            <a:chOff x="793788" y="4631308"/>
            <a:chExt cx="6437630" cy="2974340"/>
          </a:xfrm>
        </p:grpSpPr>
        <p:sp>
          <p:nvSpPr>
            <p:cNvPr id="9" name="object 14">
              <a:extLst>
                <a:ext uri="{FF2B5EF4-FFF2-40B4-BE49-F238E27FC236}">
                  <a16:creationId xmlns:a16="http://schemas.microsoft.com/office/drawing/2014/main" id="{579AC416-E9EC-951C-0C59-953A86086D2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0" name="object 15">
              <a:extLst>
                <a:ext uri="{FF2B5EF4-FFF2-40B4-BE49-F238E27FC236}">
                  <a16:creationId xmlns:a16="http://schemas.microsoft.com/office/drawing/2014/main" id="{9B115779-7710-6EDD-DFF1-D0FB2943E089}"/>
                </a:ext>
              </a:extLst>
            </p:cNvPr>
            <p:cNvSpPr/>
            <p:nvPr/>
          </p:nvSpPr>
          <p:spPr>
            <a:xfrm>
              <a:off x="816648" y="4654167"/>
              <a:ext cx="6391910" cy="1151272"/>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5" name="object 13">
            <a:extLst>
              <a:ext uri="{FF2B5EF4-FFF2-40B4-BE49-F238E27FC236}">
                <a16:creationId xmlns:a16="http://schemas.microsoft.com/office/drawing/2014/main" id="{8A10505B-9623-8692-6E01-754220E5E1A5}"/>
              </a:ext>
            </a:extLst>
          </p:cNvPr>
          <p:cNvGrpSpPr/>
          <p:nvPr/>
        </p:nvGrpSpPr>
        <p:grpSpPr>
          <a:xfrm>
            <a:off x="356413" y="2142158"/>
            <a:ext cx="6791413" cy="1703566"/>
            <a:chOff x="793788" y="4631308"/>
            <a:chExt cx="6437630" cy="2974340"/>
          </a:xfrm>
        </p:grpSpPr>
        <p:sp>
          <p:nvSpPr>
            <p:cNvPr id="6" name="object 14">
              <a:extLst>
                <a:ext uri="{FF2B5EF4-FFF2-40B4-BE49-F238E27FC236}">
                  <a16:creationId xmlns:a16="http://schemas.microsoft.com/office/drawing/2014/main" id="{CCC4CF37-751F-54B7-DF88-A67DF0F558E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7" name="object 15">
              <a:extLst>
                <a:ext uri="{FF2B5EF4-FFF2-40B4-BE49-F238E27FC236}">
                  <a16:creationId xmlns:a16="http://schemas.microsoft.com/office/drawing/2014/main" id="{78A747FC-C403-4EA4-6231-4399095DDD25}"/>
                </a:ext>
              </a:extLst>
            </p:cNvPr>
            <p:cNvSpPr/>
            <p:nvPr/>
          </p:nvSpPr>
          <p:spPr>
            <a:xfrm>
              <a:off x="816648" y="4654166"/>
              <a:ext cx="6391910" cy="1159572"/>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Title 1">
            <a:extLst>
              <a:ext uri="{FF2B5EF4-FFF2-40B4-BE49-F238E27FC236}">
                <a16:creationId xmlns:a16="http://schemas.microsoft.com/office/drawing/2014/main" id="{4AF5101B-081F-A0A0-283B-952EF957F11A}"/>
              </a:ext>
            </a:extLst>
          </p:cNvPr>
          <p:cNvSpPr>
            <a:spLocks noGrp="1"/>
          </p:cNvSpPr>
          <p:nvPr>
            <p:ph type="title"/>
          </p:nvPr>
        </p:nvSpPr>
        <p:spPr>
          <a:xfrm>
            <a:off x="629959" y="209980"/>
            <a:ext cx="13656055" cy="610103"/>
          </a:xfrm>
        </p:spPr>
        <p:txBody>
          <a:bodyPr/>
          <a:lstStyle/>
          <a:p>
            <a:pPr marL="0" indent="0" algn="l">
              <a:lnSpc>
                <a:spcPts val="5050"/>
              </a:lnSpc>
              <a:buNone/>
            </a:pPr>
            <a:r>
              <a:rPr lang="en-US" sz="3600" dirty="0">
                <a:solidFill>
                  <a:schemeClr val="tx1"/>
                </a:solidFill>
                <a:ea typeface="PT Serif" pitchFamily="34" charset="-122"/>
                <a:cs typeface="PT Serif" pitchFamily="34" charset="-120"/>
              </a:rPr>
              <a:t>L1 Regularization</a:t>
            </a:r>
            <a:endParaRPr lang="en-US" sz="3600" dirty="0">
              <a:solidFill>
                <a:schemeClr val="tx1"/>
              </a:solidFill>
            </a:endParaRPr>
          </a:p>
        </p:txBody>
      </p:sp>
      <p:sp>
        <p:nvSpPr>
          <p:cNvPr id="3" name="Content Placeholder 2">
            <a:extLst>
              <a:ext uri="{FF2B5EF4-FFF2-40B4-BE49-F238E27FC236}">
                <a16:creationId xmlns:a16="http://schemas.microsoft.com/office/drawing/2014/main" id="{C270CAFA-D3A1-D9BB-F761-32F74583DD0B}"/>
              </a:ext>
            </a:extLst>
          </p:cNvPr>
          <p:cNvSpPr>
            <a:spLocks noGrp="1"/>
          </p:cNvSpPr>
          <p:nvPr>
            <p:ph sz="half" idx="2"/>
          </p:nvPr>
        </p:nvSpPr>
        <p:spPr>
          <a:xfrm>
            <a:off x="424811" y="1981200"/>
            <a:ext cx="6524394" cy="4518738"/>
          </a:xfrm>
        </p:spPr>
        <p:txBody>
          <a:bodyPr/>
          <a:lstStyle/>
          <a:p>
            <a:pPr marL="457200" indent="-457200" algn="ctr">
              <a:lnSpc>
                <a:spcPct val="200000"/>
              </a:lnSpc>
              <a:buAutoNum type="arabicPeriod"/>
            </a:pPr>
            <a:r>
              <a:rPr lang="en-US" sz="2400" dirty="0">
                <a:solidFill>
                  <a:schemeClr val="tx1"/>
                </a:solidFill>
                <a:ea typeface="PT Serif" pitchFamily="34" charset="-122"/>
                <a:cs typeface="PT Serif" pitchFamily="34" charset="-120"/>
              </a:rPr>
              <a:t>L1 Penalty Application</a:t>
            </a:r>
            <a:endParaRPr lang="en-US" sz="2400" dirty="0">
              <a:solidFill>
                <a:schemeClr val="tx1"/>
              </a:solidFill>
            </a:endParaRPr>
          </a:p>
          <a:p>
            <a:pPr marL="0" indent="0" algn="l">
              <a:lnSpc>
                <a:spcPct val="200000"/>
              </a:lnSpc>
              <a:buNone/>
            </a:pPr>
            <a:r>
              <a:rPr lang="en-US" sz="1800" dirty="0">
                <a:solidFill>
                  <a:schemeClr val="tx1"/>
                </a:solidFill>
                <a:latin typeface="DM Sans" pitchFamily="2" charset="0"/>
                <a:ea typeface="DM Sans" pitchFamily="34" charset="-122"/>
                <a:cs typeface="DM Sans" pitchFamily="34" charset="-120"/>
              </a:rPr>
              <a:t>Uses absolute value of coefficients as the penalty term</a:t>
            </a:r>
            <a:endParaRPr lang="en-US" sz="1800" dirty="0">
              <a:solidFill>
                <a:schemeClr val="tx1"/>
              </a:solidFill>
              <a:latin typeface="DM Sans" pitchFamily="2" charset="0"/>
            </a:endParaRPr>
          </a:p>
          <a:p>
            <a:pPr algn="l">
              <a:lnSpc>
                <a:spcPct val="200000"/>
              </a:lnSpc>
            </a:pPr>
            <a:endParaRPr lang="en-US" sz="1800" dirty="0">
              <a:solidFill>
                <a:schemeClr val="tx1"/>
              </a:solidFill>
            </a:endParaRPr>
          </a:p>
          <a:p>
            <a:pPr algn="l">
              <a:lnSpc>
                <a:spcPct val="200000"/>
              </a:lnSpc>
            </a:pPr>
            <a:endParaRPr lang="en-US" sz="1800" dirty="0">
              <a:solidFill>
                <a:schemeClr val="tx1"/>
              </a:solidFill>
            </a:endParaRPr>
          </a:p>
          <a:p>
            <a:pPr algn="ctr">
              <a:lnSpc>
                <a:spcPct val="200000"/>
              </a:lnSpc>
            </a:pPr>
            <a:r>
              <a:rPr lang="en-US" sz="2400" dirty="0">
                <a:solidFill>
                  <a:schemeClr val="tx1"/>
                </a:solidFill>
                <a:ea typeface="PT Serif" pitchFamily="34" charset="-122"/>
                <a:cs typeface="PT Serif" pitchFamily="34" charset="-120"/>
              </a:rPr>
              <a:t>3. Automatic Selection</a:t>
            </a:r>
            <a:endParaRPr lang="en-US" sz="2400" dirty="0">
              <a:solidFill>
                <a:schemeClr val="tx1"/>
              </a:solidFill>
            </a:endParaRPr>
          </a:p>
          <a:p>
            <a:pPr marL="0" indent="0" algn="l">
              <a:lnSpc>
                <a:spcPct val="200000"/>
              </a:lnSpc>
              <a:buNone/>
            </a:pPr>
            <a:r>
              <a:rPr lang="en-US" sz="1800" dirty="0">
                <a:solidFill>
                  <a:schemeClr val="tx1"/>
                </a:solidFill>
                <a:latin typeface="DM Sans" pitchFamily="2" charset="0"/>
                <a:ea typeface="DM Sans" pitchFamily="34" charset="-122"/>
                <a:cs typeface="DM Sans" pitchFamily="34" charset="-120"/>
              </a:rPr>
              <a:t>Produces sparse models by eliminating irrelevant predictors</a:t>
            </a:r>
            <a:endParaRPr lang="en-US" sz="1800" dirty="0">
              <a:solidFill>
                <a:schemeClr val="tx1"/>
              </a:solidFill>
              <a:latin typeface="DM Sans" pitchFamily="2" charset="0"/>
            </a:endParaRPr>
          </a:p>
          <a:p>
            <a:pPr>
              <a:lnSpc>
                <a:spcPct val="200000"/>
              </a:lnSpc>
            </a:pPr>
            <a:endParaRPr lang="en-IN" sz="1800" dirty="0">
              <a:solidFill>
                <a:schemeClr val="tx1"/>
              </a:solidFill>
            </a:endParaRPr>
          </a:p>
        </p:txBody>
      </p:sp>
      <p:sp>
        <p:nvSpPr>
          <p:cNvPr id="4" name="Content Placeholder 3">
            <a:extLst>
              <a:ext uri="{FF2B5EF4-FFF2-40B4-BE49-F238E27FC236}">
                <a16:creationId xmlns:a16="http://schemas.microsoft.com/office/drawing/2014/main" id="{92CC7E2B-A810-56BD-EE5C-66DF6AEC3FED}"/>
              </a:ext>
            </a:extLst>
          </p:cNvPr>
          <p:cNvSpPr>
            <a:spLocks noGrp="1"/>
          </p:cNvSpPr>
          <p:nvPr>
            <p:ph sz="half" idx="3"/>
          </p:nvPr>
        </p:nvSpPr>
        <p:spPr>
          <a:xfrm>
            <a:off x="7903232" y="1959253"/>
            <a:ext cx="6364224" cy="4464107"/>
          </a:xfrm>
        </p:spPr>
        <p:txBody>
          <a:bodyPr/>
          <a:lstStyle/>
          <a:p>
            <a:pPr algn="ctr">
              <a:lnSpc>
                <a:spcPct val="200000"/>
              </a:lnSpc>
            </a:pPr>
            <a:r>
              <a:rPr lang="en-US" sz="2400" dirty="0">
                <a:solidFill>
                  <a:schemeClr val="tx1"/>
                </a:solidFill>
                <a:ea typeface="PT Serif" pitchFamily="34" charset="-122"/>
                <a:cs typeface="PT Serif" pitchFamily="34" charset="-120"/>
              </a:rPr>
              <a:t>2. Sparsity Induction</a:t>
            </a:r>
            <a:endParaRPr lang="en-US" sz="2400" dirty="0">
              <a:solidFill>
                <a:schemeClr val="tx1"/>
              </a:solidFill>
            </a:endParaRPr>
          </a:p>
          <a:p>
            <a:pPr marL="0" indent="0" algn="l">
              <a:lnSpc>
                <a:spcPct val="200000"/>
              </a:lnSpc>
              <a:buNone/>
            </a:pPr>
            <a:r>
              <a:rPr lang="en-US" sz="1800" dirty="0">
                <a:solidFill>
                  <a:schemeClr val="tx1"/>
                </a:solidFill>
                <a:latin typeface="DM Sans" pitchFamily="2" charset="0"/>
                <a:ea typeface="DM Sans" pitchFamily="34" charset="-122"/>
                <a:cs typeface="DM Sans" pitchFamily="34" charset="-120"/>
              </a:rPr>
              <a:t>Non-differentiability at zero drives coefficients to exactly zero</a:t>
            </a:r>
            <a:endParaRPr lang="en-US" sz="1800" dirty="0">
              <a:latin typeface="DM Sans" pitchFamily="2" charset="0"/>
              <a:ea typeface="DM Sans" pitchFamily="34" charset="-122"/>
              <a:cs typeface="DM Sans" pitchFamily="34" charset="-120"/>
            </a:endParaRPr>
          </a:p>
          <a:p>
            <a:pPr marL="0" indent="0" algn="l">
              <a:lnSpc>
                <a:spcPct val="200000"/>
              </a:lnSpc>
              <a:buNone/>
            </a:pPr>
            <a:endParaRPr lang="en-US" sz="1800" dirty="0">
              <a:solidFill>
                <a:schemeClr val="tx1"/>
              </a:solidFill>
            </a:endParaRPr>
          </a:p>
          <a:p>
            <a:pPr algn="ctr">
              <a:lnSpc>
                <a:spcPct val="200000"/>
              </a:lnSpc>
            </a:pPr>
            <a:r>
              <a:rPr lang="en-US" sz="2400" dirty="0">
                <a:solidFill>
                  <a:schemeClr val="tx1"/>
                </a:solidFill>
                <a:ea typeface="PT Serif" pitchFamily="34" charset="-122"/>
                <a:cs typeface="PT Serif" pitchFamily="34" charset="-120"/>
              </a:rPr>
              <a:t>4. Interpretable Models</a:t>
            </a:r>
            <a:endParaRPr lang="en-US" sz="2400" dirty="0">
              <a:solidFill>
                <a:schemeClr val="tx1"/>
              </a:solidFill>
            </a:endParaRPr>
          </a:p>
          <a:p>
            <a:pPr marL="0" indent="0" algn="l">
              <a:lnSpc>
                <a:spcPct val="200000"/>
              </a:lnSpc>
              <a:buNone/>
            </a:pPr>
            <a:r>
              <a:rPr lang="en-US" sz="1800" dirty="0">
                <a:solidFill>
                  <a:schemeClr val="tx1"/>
                </a:solidFill>
                <a:latin typeface="DM Sans" pitchFamily="2" charset="0"/>
                <a:ea typeface="DM Sans" pitchFamily="34" charset="-122"/>
                <a:cs typeface="DM Sans" pitchFamily="34" charset="-120"/>
              </a:rPr>
              <a:t>Resulting models contain only the most important features</a:t>
            </a:r>
            <a:endParaRPr lang="en-US" sz="1800" dirty="0">
              <a:solidFill>
                <a:schemeClr val="tx1"/>
              </a:solidFill>
              <a:latin typeface="DM Sans" pitchFamily="2" charset="0"/>
            </a:endParaRPr>
          </a:p>
          <a:p>
            <a:pPr>
              <a:lnSpc>
                <a:spcPct val="200000"/>
              </a:lnSpc>
            </a:pPr>
            <a:endParaRPr lang="en-IN" sz="1800" dirty="0">
              <a:solidFill>
                <a:schemeClr val="tx1"/>
              </a:solidFill>
            </a:endParaRPr>
          </a:p>
        </p:txBody>
      </p:sp>
      <p:sp>
        <p:nvSpPr>
          <p:cNvPr id="19" name="TextBox 18">
            <a:extLst>
              <a:ext uri="{FF2B5EF4-FFF2-40B4-BE49-F238E27FC236}">
                <a16:creationId xmlns:a16="http://schemas.microsoft.com/office/drawing/2014/main" id="{A5B0EE8E-3E13-564A-372F-2513010A4E6D}"/>
              </a:ext>
            </a:extLst>
          </p:cNvPr>
          <p:cNvSpPr txBox="1"/>
          <p:nvPr/>
        </p:nvSpPr>
        <p:spPr>
          <a:xfrm>
            <a:off x="424811" y="6448732"/>
            <a:ext cx="13758770" cy="1972335"/>
          </a:xfrm>
          <a:prstGeom prst="rect">
            <a:avLst/>
          </a:prstGeom>
          <a:noFill/>
        </p:spPr>
        <p:txBody>
          <a:bodyPr wrap="square">
            <a:spAutoFit/>
          </a:bodyPr>
          <a:lstStyle/>
          <a:p>
            <a:pPr marL="0" indent="0" algn="l">
              <a:lnSpc>
                <a:spcPts val="3000"/>
              </a:lnSpc>
              <a:buNone/>
            </a:pPr>
            <a:r>
              <a:rPr lang="en-US" sz="1800" dirty="0">
                <a:solidFill>
                  <a:schemeClr val="tx1"/>
                </a:solidFill>
                <a:latin typeface="DM Sans" pitchFamily="2" charset="0"/>
                <a:ea typeface="PT Serif" pitchFamily="34" charset="-122"/>
                <a:cs typeface="PT Serif" pitchFamily="34" charset="-120"/>
              </a:rPr>
              <a:t>Mathematical Form</a:t>
            </a:r>
          </a:p>
          <a:p>
            <a:pPr marL="0" indent="0" algn="l">
              <a:lnSpc>
                <a:spcPts val="3000"/>
              </a:lnSpc>
              <a:buNone/>
            </a:pPr>
            <a:endParaRPr lang="en-US" dirty="0">
              <a:solidFill>
                <a:schemeClr val="tx1"/>
              </a:solidFill>
              <a:latin typeface="PT Serif" panose="020A0603040505020204" pitchFamily="18" charset="0"/>
            </a:endParaRPr>
          </a:p>
          <a:p>
            <a:pPr marL="0" indent="0" algn="l">
              <a:lnSpc>
                <a:spcPts val="3000"/>
              </a:lnSpc>
              <a:buNone/>
            </a:pPr>
            <a:endParaRPr lang="en-US" sz="1800" dirty="0">
              <a:solidFill>
                <a:schemeClr val="tx1"/>
              </a:solidFill>
              <a:latin typeface="PT Serif" panose="020A0603040505020204" pitchFamily="18" charset="0"/>
            </a:endParaRPr>
          </a:p>
          <a:p>
            <a:pPr algn="l">
              <a:lnSpc>
                <a:spcPts val="3000"/>
              </a:lnSpc>
            </a:pPr>
            <a:r>
              <a:rPr lang="en-US" sz="1800" dirty="0">
                <a:solidFill>
                  <a:schemeClr val="tx1"/>
                </a:solidFill>
                <a:latin typeface="DM Sans" pitchFamily="2" charset="0"/>
                <a:ea typeface="DM Sans" pitchFamily="34" charset="-122"/>
                <a:cs typeface="DM Sans" pitchFamily="34" charset="-120"/>
              </a:rPr>
              <a:t>The hyperparameter λ controls how aggressively features are eliminated. Higher values result in fewer selected features.</a:t>
            </a:r>
            <a:endParaRPr lang="en-US" sz="1800" dirty="0">
              <a:solidFill>
                <a:schemeClr val="tx1"/>
              </a:solidFill>
              <a:latin typeface="DM Sans" pitchFamily="2" charset="0"/>
            </a:endParaRPr>
          </a:p>
          <a:p>
            <a:pPr marL="0" indent="0" algn="l">
              <a:lnSpc>
                <a:spcPts val="3000"/>
              </a:lnSpc>
              <a:buNone/>
            </a:pPr>
            <a:endParaRPr lang="en-US" sz="1800" dirty="0">
              <a:solidFill>
                <a:schemeClr val="tx1"/>
              </a:solidFill>
              <a:latin typeface="PT Serif" panose="020A0603040505020204" pitchFamily="18" charset="0"/>
            </a:endParaRPr>
          </a:p>
        </p:txBody>
      </p:sp>
      <p:pic>
        <p:nvPicPr>
          <p:cNvPr id="20" name="Image 0" descr="preencoded.png">
            <a:extLst>
              <a:ext uri="{FF2B5EF4-FFF2-40B4-BE49-F238E27FC236}">
                <a16:creationId xmlns:a16="http://schemas.microsoft.com/office/drawing/2014/main" id="{7587BF86-4D9F-B079-75F2-3529975C4B3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762000" y="6799918"/>
            <a:ext cx="13061633" cy="830818"/>
          </a:xfrm>
          <a:prstGeom prst="rect">
            <a:avLst/>
          </a:prstGeom>
        </p:spPr>
      </p:pic>
    </p:spTree>
    <p:extLst>
      <p:ext uri="{BB962C8B-B14F-4D97-AF65-F5344CB8AC3E}">
        <p14:creationId xmlns:p14="http://schemas.microsoft.com/office/powerpoint/2010/main" val="264438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1C0F-F24E-159C-E6B0-D4C0714304AB}"/>
              </a:ext>
            </a:extLst>
          </p:cNvPr>
          <p:cNvSpPr>
            <a:spLocks noGrp="1"/>
          </p:cNvSpPr>
          <p:nvPr>
            <p:ph type="title"/>
          </p:nvPr>
        </p:nvSpPr>
        <p:spPr>
          <a:xfrm>
            <a:off x="706628" y="381000"/>
            <a:ext cx="13656055" cy="610103"/>
          </a:xfrm>
        </p:spPr>
        <p:txBody>
          <a:bodyPr/>
          <a:lstStyle/>
          <a:p>
            <a:pPr marL="0" indent="0" algn="l">
              <a:lnSpc>
                <a:spcPts val="5100"/>
              </a:lnSpc>
              <a:buNone/>
            </a:pPr>
            <a:r>
              <a:rPr lang="en-US" sz="3600" dirty="0">
                <a:solidFill>
                  <a:schemeClr val="tx1"/>
                </a:solidFill>
                <a:ea typeface="PT Serif" pitchFamily="34" charset="-122"/>
                <a:cs typeface="PT Serif" pitchFamily="34" charset="-120"/>
              </a:rPr>
              <a:t>L2 Regularization</a:t>
            </a:r>
            <a:endParaRPr lang="en-US" sz="3600" dirty="0">
              <a:solidFill>
                <a:schemeClr val="tx1"/>
              </a:solidFill>
            </a:endParaRPr>
          </a:p>
        </p:txBody>
      </p:sp>
      <p:sp>
        <p:nvSpPr>
          <p:cNvPr id="3" name="Content Placeholder 2">
            <a:extLst>
              <a:ext uri="{FF2B5EF4-FFF2-40B4-BE49-F238E27FC236}">
                <a16:creationId xmlns:a16="http://schemas.microsoft.com/office/drawing/2014/main" id="{E3084553-E1E2-710B-AAC9-112858F1CDE9}"/>
              </a:ext>
            </a:extLst>
          </p:cNvPr>
          <p:cNvSpPr>
            <a:spLocks noGrp="1"/>
          </p:cNvSpPr>
          <p:nvPr>
            <p:ph sz="half" idx="2"/>
          </p:nvPr>
        </p:nvSpPr>
        <p:spPr>
          <a:xfrm>
            <a:off x="713935" y="1512442"/>
            <a:ext cx="5915465" cy="6790129"/>
          </a:xfrm>
        </p:spPr>
        <p:txBody>
          <a:bodyPr/>
          <a:lstStyle/>
          <a:p>
            <a:pPr marL="0" indent="0" algn="l">
              <a:lnSpc>
                <a:spcPct val="200000"/>
              </a:lnSpc>
              <a:buNone/>
            </a:pPr>
            <a:r>
              <a:rPr lang="en-US" sz="2400" dirty="0">
                <a:solidFill>
                  <a:schemeClr val="tx1"/>
                </a:solidFill>
                <a:latin typeface="DM Sans" pitchFamily="2" charset="0"/>
                <a:ea typeface="PT Serif" pitchFamily="34" charset="-122"/>
                <a:cs typeface="PT Serif" pitchFamily="34" charset="-120"/>
              </a:rPr>
              <a:t>How </a:t>
            </a:r>
            <a:r>
              <a:rPr lang="en-US" sz="2400" dirty="0">
                <a:latin typeface="DM Sans" pitchFamily="2" charset="0"/>
                <a:ea typeface="PT Serif" pitchFamily="34" charset="-122"/>
                <a:cs typeface="PT Serif" pitchFamily="34" charset="-120"/>
              </a:rPr>
              <a:t>it</a:t>
            </a:r>
            <a:r>
              <a:rPr lang="en-US" sz="2400" dirty="0">
                <a:solidFill>
                  <a:schemeClr val="tx1"/>
                </a:solidFill>
                <a:latin typeface="DM Sans" pitchFamily="2" charset="0"/>
                <a:ea typeface="PT Serif" pitchFamily="34" charset="-122"/>
                <a:cs typeface="PT Serif" pitchFamily="34" charset="-120"/>
              </a:rPr>
              <a:t> Works</a:t>
            </a:r>
            <a:endParaRPr lang="en-US" sz="2400" dirty="0">
              <a:solidFill>
                <a:schemeClr val="tx1"/>
              </a:solidFill>
              <a:latin typeface="DM Sans" pitchFamily="2" charset="0"/>
            </a:endParaRPr>
          </a:p>
          <a:p>
            <a:pPr marL="0" indent="0" algn="l">
              <a:lnSpc>
                <a:spcPct val="200000"/>
              </a:lnSpc>
              <a:buNone/>
            </a:pPr>
            <a:r>
              <a:rPr lang="en-US" sz="1800" dirty="0">
                <a:solidFill>
                  <a:schemeClr val="tx1"/>
                </a:solidFill>
                <a:latin typeface="DM Sans" pitchFamily="2" charset="0"/>
                <a:ea typeface="DM Sans" pitchFamily="34" charset="-122"/>
                <a:cs typeface="DM Sans" pitchFamily="34" charset="-120"/>
              </a:rPr>
              <a:t>L2 penalty shrinks coefficients toward zero without ever setting them exactly to zero. This approach is particularly effective when dealing with multicollinearity among predictors.</a:t>
            </a:r>
            <a:endParaRPr lang="en-US" sz="1800" dirty="0">
              <a:solidFill>
                <a:schemeClr val="tx1"/>
              </a:solidFill>
              <a:latin typeface="DM Sans" pitchFamily="2" charset="0"/>
            </a:endParaRPr>
          </a:p>
          <a:p>
            <a:pPr marL="0" indent="0" algn="l">
              <a:lnSpc>
                <a:spcPct val="200000"/>
              </a:lnSpc>
              <a:buNone/>
            </a:pPr>
            <a:r>
              <a:rPr lang="en-US" sz="2400" dirty="0">
                <a:solidFill>
                  <a:schemeClr val="tx1"/>
                </a:solidFill>
                <a:latin typeface="DM Sans" pitchFamily="2" charset="0"/>
                <a:ea typeface="PT Serif" pitchFamily="34" charset="-122"/>
                <a:cs typeface="PT Serif" pitchFamily="34" charset="-120"/>
              </a:rPr>
              <a:t>Key Characteristics</a:t>
            </a:r>
            <a:endParaRPr lang="en-US" sz="2400" dirty="0">
              <a:solidFill>
                <a:schemeClr val="tx1"/>
              </a:solidFill>
              <a:latin typeface="DM Sans" pitchFamily="2" charset="0"/>
            </a:endParaRPr>
          </a:p>
          <a:p>
            <a:pPr marL="285750" indent="-285750" algn="l">
              <a:lnSpc>
                <a:spcPct val="200000"/>
              </a:lnSpc>
              <a:buFont typeface="Arial" panose="020B0604020202020204" pitchFamily="34" charset="0"/>
              <a:buChar char="•"/>
            </a:pPr>
            <a:r>
              <a:rPr lang="en-US" sz="1800" dirty="0">
                <a:solidFill>
                  <a:schemeClr val="tx1"/>
                </a:solidFill>
                <a:latin typeface="DM Sans" pitchFamily="2" charset="0"/>
                <a:ea typeface="DM Sans" pitchFamily="34" charset="-122"/>
                <a:cs typeface="DM Sans" pitchFamily="34" charset="-120"/>
              </a:rPr>
              <a:t>Shrinks all coefficients proportionally</a:t>
            </a:r>
            <a:endParaRPr lang="en-US" sz="1800" dirty="0">
              <a:solidFill>
                <a:schemeClr val="tx1"/>
              </a:solidFill>
              <a:latin typeface="DM Sans" pitchFamily="2" charset="0"/>
            </a:endParaRPr>
          </a:p>
          <a:p>
            <a:pPr marL="285750" indent="-285750" algn="l">
              <a:lnSpc>
                <a:spcPct val="200000"/>
              </a:lnSpc>
              <a:buFont typeface="Arial" panose="020B0604020202020204" pitchFamily="34" charset="0"/>
              <a:buChar char="•"/>
            </a:pPr>
            <a:r>
              <a:rPr lang="en-US" sz="1800" dirty="0">
                <a:solidFill>
                  <a:schemeClr val="tx1"/>
                </a:solidFill>
                <a:latin typeface="DM Sans" pitchFamily="2" charset="0"/>
                <a:ea typeface="DM Sans" pitchFamily="34" charset="-122"/>
                <a:cs typeface="DM Sans" pitchFamily="34" charset="-120"/>
              </a:rPr>
              <a:t>Retains all predictors in the model</a:t>
            </a:r>
            <a:endParaRPr lang="en-US" sz="1800" dirty="0">
              <a:solidFill>
                <a:schemeClr val="tx1"/>
              </a:solidFill>
              <a:latin typeface="DM Sans" pitchFamily="2" charset="0"/>
            </a:endParaRPr>
          </a:p>
          <a:p>
            <a:pPr marL="285750" indent="-285750" algn="l">
              <a:lnSpc>
                <a:spcPct val="200000"/>
              </a:lnSpc>
              <a:buFont typeface="Arial" panose="020B0604020202020204" pitchFamily="34" charset="0"/>
              <a:buChar char="•"/>
            </a:pPr>
            <a:r>
              <a:rPr lang="en-US" sz="1800" dirty="0">
                <a:solidFill>
                  <a:schemeClr val="tx1"/>
                </a:solidFill>
                <a:latin typeface="DM Sans" pitchFamily="2" charset="0"/>
                <a:ea typeface="DM Sans" pitchFamily="34" charset="-122"/>
                <a:cs typeface="DM Sans" pitchFamily="34" charset="-120"/>
              </a:rPr>
              <a:t>Produces stable, interpretable estimates</a:t>
            </a:r>
            <a:endParaRPr lang="en-US" sz="1800" dirty="0">
              <a:solidFill>
                <a:schemeClr val="tx1"/>
              </a:solidFill>
              <a:latin typeface="DM Sans" pitchFamily="2" charset="0"/>
            </a:endParaRPr>
          </a:p>
          <a:p>
            <a:pPr marL="285750" indent="-285750" algn="l">
              <a:lnSpc>
                <a:spcPct val="200000"/>
              </a:lnSpc>
              <a:buFont typeface="Arial" panose="020B0604020202020204" pitchFamily="34" charset="0"/>
              <a:buChar char="•"/>
            </a:pPr>
            <a:r>
              <a:rPr lang="en-US" sz="1800" dirty="0">
                <a:solidFill>
                  <a:schemeClr val="tx1"/>
                </a:solidFill>
                <a:latin typeface="DM Sans" pitchFamily="2" charset="0"/>
                <a:ea typeface="DM Sans" pitchFamily="34" charset="-122"/>
                <a:cs typeface="DM Sans" pitchFamily="34" charset="-120"/>
              </a:rPr>
              <a:t>Handles correlated features gracefully</a:t>
            </a:r>
            <a:endParaRPr lang="en-US" sz="1800" dirty="0">
              <a:solidFill>
                <a:schemeClr val="tx1"/>
              </a:solidFill>
              <a:latin typeface="DM Sans" pitchFamily="2" charset="0"/>
            </a:endParaRPr>
          </a:p>
          <a:p>
            <a:pPr>
              <a:lnSpc>
                <a:spcPct val="200000"/>
              </a:lnSpc>
            </a:pPr>
            <a:endParaRPr lang="en-IN" sz="1800" dirty="0">
              <a:solidFill>
                <a:schemeClr val="tx1"/>
              </a:solidFill>
              <a:latin typeface="DM Sans" pitchFamily="2" charset="0"/>
            </a:endParaRPr>
          </a:p>
        </p:txBody>
      </p:sp>
      <p:sp>
        <p:nvSpPr>
          <p:cNvPr id="4" name="Content Placeholder 3">
            <a:extLst>
              <a:ext uri="{FF2B5EF4-FFF2-40B4-BE49-F238E27FC236}">
                <a16:creationId xmlns:a16="http://schemas.microsoft.com/office/drawing/2014/main" id="{8442DA94-3EB7-1664-9254-28401F9D3F79}"/>
              </a:ext>
            </a:extLst>
          </p:cNvPr>
          <p:cNvSpPr>
            <a:spLocks noGrp="1"/>
          </p:cNvSpPr>
          <p:nvPr>
            <p:ph sz="half" idx="3"/>
          </p:nvPr>
        </p:nvSpPr>
        <p:spPr>
          <a:xfrm>
            <a:off x="7848600" y="1512442"/>
            <a:ext cx="6364224" cy="4617995"/>
          </a:xfrm>
        </p:spPr>
        <p:txBody>
          <a:bodyPr/>
          <a:lstStyle/>
          <a:p>
            <a:pPr marL="0" indent="0" algn="l">
              <a:lnSpc>
                <a:spcPct val="200000"/>
              </a:lnSpc>
              <a:buNone/>
            </a:pPr>
            <a:r>
              <a:rPr lang="en-US" sz="2400" dirty="0">
                <a:solidFill>
                  <a:schemeClr val="tx1"/>
                </a:solidFill>
                <a:latin typeface="DM Sans" pitchFamily="2" charset="0"/>
                <a:ea typeface="PT Serif" pitchFamily="34" charset="-122"/>
                <a:cs typeface="PT Serif" pitchFamily="34" charset="-120"/>
              </a:rPr>
              <a:t>Mathematical Formulation</a:t>
            </a:r>
          </a:p>
          <a:p>
            <a:pPr marL="0" indent="0" algn="l">
              <a:lnSpc>
                <a:spcPct val="200000"/>
              </a:lnSpc>
              <a:buNone/>
            </a:pPr>
            <a:endParaRPr lang="en-US" sz="2400" dirty="0">
              <a:solidFill>
                <a:schemeClr val="tx1"/>
              </a:solidFill>
              <a:latin typeface="DM Sans" pitchFamily="2" charset="0"/>
              <a:ea typeface="PT Serif" pitchFamily="34" charset="-122"/>
              <a:cs typeface="PT Serif" pitchFamily="34" charset="-120"/>
            </a:endParaRPr>
          </a:p>
          <a:p>
            <a:pPr marL="0" indent="0" algn="l">
              <a:lnSpc>
                <a:spcPct val="200000"/>
              </a:lnSpc>
              <a:buNone/>
            </a:pPr>
            <a:endParaRPr lang="en-US" sz="2400" dirty="0">
              <a:solidFill>
                <a:schemeClr val="tx1"/>
              </a:solidFill>
              <a:latin typeface="DM Sans" pitchFamily="2" charset="0"/>
            </a:endParaRPr>
          </a:p>
          <a:p>
            <a:pPr marL="0" indent="0" algn="l">
              <a:lnSpc>
                <a:spcPct val="200000"/>
              </a:lnSpc>
              <a:buNone/>
            </a:pPr>
            <a:r>
              <a:rPr lang="en-US" sz="1800" dirty="0">
                <a:solidFill>
                  <a:schemeClr val="tx1"/>
                </a:solidFill>
                <a:latin typeface="DM Sans" pitchFamily="2" charset="0"/>
                <a:ea typeface="DM Sans" pitchFamily="34" charset="-122"/>
                <a:cs typeface="DM Sans" pitchFamily="34" charset="-120"/>
              </a:rPr>
              <a:t>The L2 penalty term is the sum of squared coefficients. This quadratic penalty ensures smooth, continuous shrinkage across all coefficient values</a:t>
            </a:r>
            <a:r>
              <a:rPr lang="en-US" sz="1800" dirty="0">
                <a:latin typeface="DM Sans" pitchFamily="2" charset="0"/>
                <a:ea typeface="DM Sans" pitchFamily="34" charset="-122"/>
                <a:cs typeface="DM Sans" pitchFamily="34" charset="-120"/>
              </a:rPr>
              <a:t>.</a:t>
            </a:r>
            <a:endParaRPr lang="en-US" sz="1800" dirty="0">
              <a:solidFill>
                <a:schemeClr val="tx1"/>
              </a:solidFill>
              <a:latin typeface="DM Sans" pitchFamily="2" charset="0"/>
            </a:endParaRPr>
          </a:p>
          <a:p>
            <a:pPr>
              <a:lnSpc>
                <a:spcPct val="200000"/>
              </a:lnSpc>
            </a:pPr>
            <a:endParaRPr lang="en-IN" sz="1800" dirty="0">
              <a:solidFill>
                <a:schemeClr val="tx1"/>
              </a:solidFill>
              <a:latin typeface="DM Sans" pitchFamily="2" charset="0"/>
            </a:endParaRPr>
          </a:p>
        </p:txBody>
      </p:sp>
      <p:pic>
        <p:nvPicPr>
          <p:cNvPr id="5" name="Image 0" descr="preencoded.png">
            <a:extLst>
              <a:ext uri="{FF2B5EF4-FFF2-40B4-BE49-F238E27FC236}">
                <a16:creationId xmlns:a16="http://schemas.microsoft.com/office/drawing/2014/main" id="{30A18054-59B4-9D69-99EB-07B5418B5BA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7601940" y="2415588"/>
            <a:ext cx="6279356" cy="840819"/>
          </a:xfrm>
          <a:prstGeom prst="rect">
            <a:avLst/>
          </a:prstGeom>
        </p:spPr>
      </p:pic>
    </p:spTree>
    <p:extLst>
      <p:ext uri="{BB962C8B-B14F-4D97-AF65-F5344CB8AC3E}">
        <p14:creationId xmlns:p14="http://schemas.microsoft.com/office/powerpoint/2010/main" val="3966413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695316" y="791207"/>
            <a:ext cx="7492603"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Regularization in Deep Learning</a:t>
            </a:r>
            <a:endParaRPr lang="en-US" sz="4100" dirty="0"/>
          </a:p>
        </p:txBody>
      </p:sp>
      <p:sp>
        <p:nvSpPr>
          <p:cNvPr id="5" name="Text 3"/>
          <p:cNvSpPr/>
          <p:nvPr/>
        </p:nvSpPr>
        <p:spPr>
          <a:xfrm>
            <a:off x="793789" y="1737080"/>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Deep learning extends classical regularization with techniques that operate </a:t>
            </a:r>
            <a:r>
              <a:rPr lang="en-US" b="1" dirty="0">
                <a:solidFill>
                  <a:srgbClr val="383838"/>
                </a:solidFill>
                <a:latin typeface="DM Sans" pitchFamily="34" charset="0"/>
                <a:ea typeface="DM Sans" pitchFamily="34" charset="-122"/>
                <a:cs typeface="DM Sans" pitchFamily="34" charset="-120"/>
              </a:rPr>
              <a:t>at the layer level</a:t>
            </a:r>
            <a:r>
              <a:rPr lang="en-US" dirty="0">
                <a:solidFill>
                  <a:srgbClr val="383838"/>
                </a:solidFill>
                <a:latin typeface="DM Sans" pitchFamily="34" charset="0"/>
                <a:ea typeface="DM Sans" pitchFamily="34" charset="-122"/>
                <a:cs typeface="DM Sans" pitchFamily="34" charset="-120"/>
              </a:rPr>
              <a:t> rather than purely on the loss function. This is necessary because deep networks introduce new sources of instability and overfitting that global weight penalties alone cannot address</a:t>
            </a:r>
            <a:r>
              <a:rPr lang="en-US" sz="1550" dirty="0">
                <a:solidFill>
                  <a:srgbClr val="383838"/>
                </a:solidFill>
                <a:latin typeface="DM Sans" pitchFamily="34" charset="0"/>
                <a:ea typeface="DM Sans" pitchFamily="34" charset="-122"/>
                <a:cs typeface="DM Sans" pitchFamily="34" charset="-120"/>
              </a:rPr>
              <a:t>.</a:t>
            </a:r>
            <a:endParaRPr lang="en-US" sz="1550" dirty="0"/>
          </a:p>
        </p:txBody>
      </p:sp>
      <p:sp>
        <p:nvSpPr>
          <p:cNvPr id="6" name="Shape 4"/>
          <p:cNvSpPr/>
          <p:nvPr/>
        </p:nvSpPr>
        <p:spPr>
          <a:xfrm>
            <a:off x="793790" y="3301841"/>
            <a:ext cx="6422231" cy="1847374"/>
          </a:xfrm>
          <a:prstGeom prst="roundRect">
            <a:avLst>
              <a:gd name="adj" fmla="val 1612"/>
            </a:avLst>
          </a:prstGeom>
          <a:solidFill>
            <a:srgbClr val="FFFFFF"/>
          </a:solidFill>
          <a:ln w="22860">
            <a:solidFill>
              <a:srgbClr val="D8D4D4"/>
            </a:solidFill>
            <a:prstDash val="solid"/>
          </a:ln>
        </p:spPr>
      </p:sp>
      <p:sp>
        <p:nvSpPr>
          <p:cNvPr id="7" name="Text 5"/>
          <p:cNvSpPr/>
          <p:nvPr/>
        </p:nvSpPr>
        <p:spPr>
          <a:xfrm>
            <a:off x="1015008" y="3523059"/>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L1 / L2 (Loss-Level)</a:t>
            </a:r>
            <a:endParaRPr lang="en-US" sz="2050" dirty="0"/>
          </a:p>
        </p:txBody>
      </p:sp>
      <p:sp>
        <p:nvSpPr>
          <p:cNvPr id="8" name="Text 6"/>
          <p:cNvSpPr/>
          <p:nvPr/>
        </p:nvSpPr>
        <p:spPr>
          <a:xfrm>
            <a:off x="1015008" y="3967758"/>
            <a:ext cx="5979795" cy="96023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Applied globally on any dense or convolutional layer. Penalises weight magnitudes across the entire network.</a:t>
            </a:r>
            <a:endParaRPr lang="en-US" dirty="0"/>
          </a:p>
        </p:txBody>
      </p:sp>
      <p:sp>
        <p:nvSpPr>
          <p:cNvPr id="9" name="Shape 7"/>
          <p:cNvSpPr/>
          <p:nvPr/>
        </p:nvSpPr>
        <p:spPr>
          <a:xfrm>
            <a:off x="7414379" y="3301841"/>
            <a:ext cx="6422231" cy="1847374"/>
          </a:xfrm>
          <a:prstGeom prst="roundRect">
            <a:avLst>
              <a:gd name="adj" fmla="val 1612"/>
            </a:avLst>
          </a:prstGeom>
          <a:solidFill>
            <a:srgbClr val="FFFFFF"/>
          </a:solidFill>
          <a:ln w="22860">
            <a:solidFill>
              <a:srgbClr val="D8D4D4"/>
            </a:solidFill>
            <a:prstDash val="solid"/>
          </a:ln>
        </p:spPr>
      </p:sp>
      <p:sp>
        <p:nvSpPr>
          <p:cNvPr id="10" name="Text 8"/>
          <p:cNvSpPr/>
          <p:nvPr/>
        </p:nvSpPr>
        <p:spPr>
          <a:xfrm>
            <a:off x="7635597" y="3523059"/>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Dropout (Layer-Level)</a:t>
            </a:r>
            <a:endParaRPr lang="en-US" sz="2050" dirty="0"/>
          </a:p>
        </p:txBody>
      </p:sp>
      <p:sp>
        <p:nvSpPr>
          <p:cNvPr id="11" name="Text 9"/>
          <p:cNvSpPr/>
          <p:nvPr/>
        </p:nvSpPr>
        <p:spPr>
          <a:xfrm>
            <a:off x="7635597" y="3967758"/>
            <a:ext cx="5979795"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Inserted as a layer between dense layers. Randomly sets a fraction of neuron outputs to zero during each training forward pass, preventing co-adaptation.</a:t>
            </a:r>
            <a:endParaRPr lang="en-US" dirty="0"/>
          </a:p>
        </p:txBody>
      </p:sp>
      <p:sp>
        <p:nvSpPr>
          <p:cNvPr id="12" name="Shape 10"/>
          <p:cNvSpPr/>
          <p:nvPr/>
        </p:nvSpPr>
        <p:spPr>
          <a:xfrm>
            <a:off x="793790" y="5347573"/>
            <a:ext cx="6422231" cy="1839754"/>
          </a:xfrm>
          <a:prstGeom prst="roundRect">
            <a:avLst>
              <a:gd name="adj" fmla="val 1618"/>
            </a:avLst>
          </a:prstGeom>
          <a:solidFill>
            <a:srgbClr val="FFFFFF"/>
          </a:solidFill>
          <a:ln w="22860">
            <a:solidFill>
              <a:srgbClr val="D8D4D4"/>
            </a:solidFill>
            <a:prstDash val="solid"/>
          </a:ln>
        </p:spPr>
      </p:sp>
      <p:sp>
        <p:nvSpPr>
          <p:cNvPr id="13" name="Text 11"/>
          <p:cNvSpPr/>
          <p:nvPr/>
        </p:nvSpPr>
        <p:spPr>
          <a:xfrm>
            <a:off x="1015008" y="5568791"/>
            <a:ext cx="3971806"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Batch Normalisation (Layer-Level)</a:t>
            </a:r>
            <a:endParaRPr lang="en-US" sz="2050" dirty="0"/>
          </a:p>
        </p:txBody>
      </p:sp>
      <p:sp>
        <p:nvSpPr>
          <p:cNvPr id="14" name="Text 12"/>
          <p:cNvSpPr/>
          <p:nvPr/>
        </p:nvSpPr>
        <p:spPr>
          <a:xfrm>
            <a:off x="1015008" y="6013490"/>
            <a:ext cx="5979795"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Inserted after a dense or convolutional layer. Normalises the activations within each mini-batch, stabilising gradient flow and reducing sensitivity to initialisation.</a:t>
            </a:r>
            <a:endParaRPr lang="en-US" dirty="0"/>
          </a:p>
        </p:txBody>
      </p:sp>
      <p:sp>
        <p:nvSpPr>
          <p:cNvPr id="15" name="Shape 13"/>
          <p:cNvSpPr/>
          <p:nvPr/>
        </p:nvSpPr>
        <p:spPr>
          <a:xfrm>
            <a:off x="7414379" y="5347573"/>
            <a:ext cx="6422231" cy="1839754"/>
          </a:xfrm>
          <a:prstGeom prst="roundRect">
            <a:avLst>
              <a:gd name="adj" fmla="val 1618"/>
            </a:avLst>
          </a:prstGeom>
          <a:solidFill>
            <a:srgbClr val="FFFFFF"/>
          </a:solidFill>
          <a:ln w="22860">
            <a:solidFill>
              <a:srgbClr val="D8D4D4"/>
            </a:solidFill>
            <a:prstDash val="solid"/>
          </a:ln>
        </p:spPr>
      </p:sp>
      <p:sp>
        <p:nvSpPr>
          <p:cNvPr id="16" name="Text 14"/>
          <p:cNvSpPr/>
          <p:nvPr/>
        </p:nvSpPr>
        <p:spPr>
          <a:xfrm>
            <a:off x="7635597" y="5568791"/>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Combined Use</a:t>
            </a:r>
            <a:endParaRPr lang="en-US" sz="2050" dirty="0"/>
          </a:p>
        </p:txBody>
      </p:sp>
      <p:sp>
        <p:nvSpPr>
          <p:cNvPr id="17" name="Text 15"/>
          <p:cNvSpPr/>
          <p:nvPr/>
        </p:nvSpPr>
        <p:spPr>
          <a:xfrm>
            <a:off x="7635597" y="6013490"/>
            <a:ext cx="6530569"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In practice, L2 + Dropout + BatchNorm are often used together. Each targets a different failure mode, and their effects are largely complementary rather than redundant.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65453" y="1153716"/>
            <a:ext cx="8740973" cy="717590"/>
          </a:xfrm>
          <a:prstGeom prst="rect">
            <a:avLst/>
          </a:prstGeom>
          <a:noFill/>
          <a:ln/>
        </p:spPr>
        <p:txBody>
          <a:bodyPr wrap="none" lIns="0" tIns="0" rIns="0" bIns="0" rtlCol="0" anchor="t"/>
          <a:lstStyle/>
          <a:p>
            <a:pPr marL="0" indent="0" algn="l">
              <a:lnSpc>
                <a:spcPts val="5650"/>
              </a:lnSpc>
              <a:buNone/>
            </a:pPr>
            <a:r>
              <a:rPr lang="en-US" sz="4500" dirty="0">
                <a:solidFill>
                  <a:srgbClr val="020202"/>
                </a:solidFill>
                <a:latin typeface="PT Serif" pitchFamily="34" charset="0"/>
                <a:ea typeface="PT Serif" pitchFamily="34" charset="-122"/>
                <a:cs typeface="PT Serif" pitchFamily="34" charset="-120"/>
              </a:rPr>
              <a:t>L2 Regularization in </a:t>
            </a:r>
            <a:r>
              <a:rPr lang="en-US" sz="4500" dirty="0" err="1">
                <a:solidFill>
                  <a:srgbClr val="020202"/>
                </a:solidFill>
                <a:latin typeface="PT Serif" pitchFamily="34" charset="0"/>
                <a:ea typeface="PT Serif" pitchFamily="34" charset="-122"/>
                <a:cs typeface="PT Serif" pitchFamily="34" charset="-120"/>
              </a:rPr>
              <a:t>PyTorch</a:t>
            </a:r>
            <a:r>
              <a:rPr lang="en-US" sz="4500" dirty="0">
                <a:solidFill>
                  <a:srgbClr val="020202"/>
                </a:solidFill>
                <a:latin typeface="PT Serif" pitchFamily="34" charset="0"/>
                <a:ea typeface="PT Serif" pitchFamily="34" charset="-122"/>
                <a:cs typeface="PT Serif" pitchFamily="34" charset="-120"/>
              </a:rPr>
              <a:t> — Weight Decay</a:t>
            </a:r>
            <a:endParaRPr lang="en-US" sz="4500" dirty="0"/>
          </a:p>
        </p:txBody>
      </p:sp>
      <p:sp>
        <p:nvSpPr>
          <p:cNvPr id="5" name="Text 3"/>
          <p:cNvSpPr/>
          <p:nvPr/>
        </p:nvSpPr>
        <p:spPr>
          <a:xfrm>
            <a:off x="765453" y="2377440"/>
            <a:ext cx="6282928" cy="1046083"/>
          </a:xfrm>
          <a:prstGeom prst="rect">
            <a:avLst/>
          </a:prstGeom>
          <a:noFill/>
          <a:ln/>
        </p:spPr>
        <p:txBody>
          <a:bodyPr wrap="square" lIns="0" tIns="0" rIns="0" bIns="0" rtlCol="0" anchor="t"/>
          <a:lstStyle/>
          <a:p>
            <a:pPr marL="0" indent="0" algn="l">
              <a:lnSpc>
                <a:spcPts val="2700"/>
              </a:lnSpc>
              <a:buNone/>
            </a:pPr>
            <a:r>
              <a:rPr lang="en-US" b="1" dirty="0">
                <a:solidFill>
                  <a:srgbClr val="383838"/>
                </a:solidFill>
                <a:latin typeface="DM Sans" pitchFamily="34" charset="0"/>
                <a:ea typeface="DM Sans" pitchFamily="34" charset="-122"/>
                <a:cs typeface="DM Sans" pitchFamily="34" charset="-120"/>
              </a:rPr>
              <a:t>Key concept:</a:t>
            </a:r>
            <a:r>
              <a:rPr lang="en-US" dirty="0">
                <a:solidFill>
                  <a:srgbClr val="383838"/>
                </a:solidFill>
                <a:latin typeface="DM Sans" pitchFamily="34" charset="0"/>
                <a:ea typeface="DM Sans" pitchFamily="34" charset="-122"/>
                <a:cs typeface="DM Sans" pitchFamily="34" charset="-120"/>
              </a:rPr>
              <a:t> </a:t>
            </a:r>
            <a:r>
              <a:rPr lang="en-US" dirty="0">
                <a:solidFill>
                  <a:srgbClr val="383838"/>
                </a:solidFill>
                <a:highlight>
                  <a:srgbClr val="F2F2F2"/>
                </a:highlight>
                <a:latin typeface="Consolas" pitchFamily="34" charset="0"/>
                <a:ea typeface="Consolas" pitchFamily="34" charset="-122"/>
                <a:cs typeface="Consolas" pitchFamily="34" charset="-120"/>
              </a:rPr>
              <a:t>weight_decay</a:t>
            </a:r>
            <a:r>
              <a:rPr lang="en-US" dirty="0">
                <a:solidFill>
                  <a:srgbClr val="383838"/>
                </a:solidFill>
                <a:latin typeface="DM Sans" pitchFamily="34" charset="0"/>
                <a:ea typeface="DM Sans" pitchFamily="34" charset="-122"/>
                <a:cs typeface="DM Sans" pitchFamily="34" charset="-120"/>
              </a:rPr>
              <a:t> adds a penalty on large weights automatically during optimization. No manual change to the loss function is required</a:t>
            </a:r>
            <a:r>
              <a:rPr lang="en-US" sz="1700" dirty="0">
                <a:solidFill>
                  <a:srgbClr val="383838"/>
                </a:solidFill>
                <a:latin typeface="DM Sans" pitchFamily="34" charset="0"/>
                <a:ea typeface="DM Sans" pitchFamily="34" charset="-122"/>
                <a:cs typeface="DM Sans" pitchFamily="34" charset="-120"/>
              </a:rPr>
              <a:t>.</a:t>
            </a:r>
            <a:endParaRPr lang="en-US" sz="1700" dirty="0"/>
          </a:p>
        </p:txBody>
      </p:sp>
      <p:sp>
        <p:nvSpPr>
          <p:cNvPr id="6" name="Shape 4"/>
          <p:cNvSpPr/>
          <p:nvPr/>
        </p:nvSpPr>
        <p:spPr>
          <a:xfrm>
            <a:off x="765453" y="3660696"/>
            <a:ext cx="6282928" cy="1251823"/>
          </a:xfrm>
          <a:prstGeom prst="roundRect">
            <a:avLst>
              <a:gd name="adj" fmla="val 2621"/>
            </a:avLst>
          </a:prstGeom>
          <a:noFill/>
          <a:ln/>
        </p:spPr>
      </p:sp>
      <p:sp>
        <p:nvSpPr>
          <p:cNvPr id="8" name="Text 5"/>
          <p:cNvSpPr/>
          <p:nvPr/>
        </p:nvSpPr>
        <p:spPr>
          <a:xfrm>
            <a:off x="765453" y="3983189"/>
            <a:ext cx="6561654" cy="3628733"/>
          </a:xfrm>
          <a:prstGeom prst="rect">
            <a:avLst/>
          </a:prstGeom>
          <a:noFill/>
          <a:ln/>
        </p:spPr>
        <p:txBody>
          <a:bodyPr wrap="square" lIns="0" tIns="0" rIns="0" bIns="0" rtlCol="0" anchor="t"/>
          <a:lstStyle/>
          <a:p>
            <a:pPr marL="0" indent="0" algn="l">
              <a:lnSpc>
                <a:spcPts val="2700"/>
              </a:lnSpc>
              <a:buNone/>
            </a:pPr>
            <a:r>
              <a:rPr lang="en-US" sz="1700" b="1" dirty="0">
                <a:solidFill>
                  <a:srgbClr val="000000"/>
                </a:solidFill>
                <a:latin typeface="DM Sans" pitchFamily="34" charset="0"/>
                <a:ea typeface="DM Sans" pitchFamily="34" charset="-122"/>
                <a:cs typeface="DM Sans" pitchFamily="34" charset="-120"/>
              </a:rPr>
              <a:t>Effect:</a:t>
            </a:r>
            <a:r>
              <a:rPr lang="en-US" sz="1700" dirty="0">
                <a:solidFill>
                  <a:srgbClr val="000000"/>
                </a:solidFill>
                <a:latin typeface="DM Sans" pitchFamily="34" charset="0"/>
                <a:ea typeface="DM Sans" pitchFamily="34" charset="-122"/>
                <a:cs typeface="DM Sans" pitchFamily="34" charset="-120"/>
              </a:rPr>
              <a:t> Discourages large weight values, reducing model complexity and overfitting.</a:t>
            </a:r>
          </a:p>
          <a:p>
            <a:pPr marL="0" indent="0" algn="l">
              <a:lnSpc>
                <a:spcPts val="2700"/>
              </a:lnSpc>
              <a:buNone/>
            </a:pPr>
            <a:endParaRPr lang="en-US" sz="1700" dirty="0">
              <a:solidFill>
                <a:srgbClr val="000000"/>
              </a:solidFill>
              <a:latin typeface="DM Sans" pitchFamily="34" charset="0"/>
            </a:endParaRPr>
          </a:p>
          <a:p>
            <a:r>
              <a:rPr lang="en-IN" dirty="0" err="1"/>
              <a:t>weight_decay</a:t>
            </a:r>
            <a:r>
              <a:rPr lang="en-IN" dirty="0"/>
              <a:t>=0.01 means the optimizer applies L2 regularization by shrinking weights slightly on every update to prevent overfitting.</a:t>
            </a:r>
          </a:p>
          <a:p>
            <a:endParaRPr lang="en-IN" dirty="0"/>
          </a:p>
          <a:p>
            <a:r>
              <a:rPr lang="en-IN" dirty="0"/>
              <a:t>Increase it when the model is overfitting (training accuracy high, validation poor)</a:t>
            </a:r>
          </a:p>
          <a:p>
            <a:br>
              <a:rPr lang="en-IN" dirty="0"/>
            </a:br>
            <a:r>
              <a:rPr lang="en-IN" dirty="0"/>
              <a:t> Decrease it when the model is underfitting (both training and validation performance poor)</a:t>
            </a:r>
          </a:p>
          <a:p>
            <a:pPr marL="0" indent="0" algn="l">
              <a:lnSpc>
                <a:spcPts val="2700"/>
              </a:lnSpc>
              <a:buNone/>
            </a:pPr>
            <a:endParaRPr lang="en-US" sz="1700" dirty="0"/>
          </a:p>
        </p:txBody>
      </p:sp>
      <p:sp>
        <p:nvSpPr>
          <p:cNvPr id="9" name="Shape 6"/>
          <p:cNvSpPr/>
          <p:nvPr/>
        </p:nvSpPr>
        <p:spPr>
          <a:xfrm>
            <a:off x="7589639" y="2424827"/>
            <a:ext cx="6282928" cy="4904423"/>
          </a:xfrm>
          <a:prstGeom prst="roundRect">
            <a:avLst>
              <a:gd name="adj" fmla="val 669"/>
            </a:avLst>
          </a:prstGeom>
          <a:solidFill>
            <a:srgbClr val="F2F2F2"/>
          </a:solidFill>
          <a:ln/>
        </p:spPr>
      </p:sp>
      <p:sp>
        <p:nvSpPr>
          <p:cNvPr id="10" name="Shape 7"/>
          <p:cNvSpPr/>
          <p:nvPr/>
        </p:nvSpPr>
        <p:spPr>
          <a:xfrm>
            <a:off x="7560349" y="1990165"/>
            <a:ext cx="6304598" cy="6093439"/>
          </a:xfrm>
          <a:prstGeom prst="roundRect">
            <a:avLst>
              <a:gd name="adj" fmla="val 669"/>
            </a:avLst>
          </a:prstGeom>
          <a:solidFill>
            <a:srgbClr val="F2F2F2"/>
          </a:solidFill>
          <a:ln/>
        </p:spPr>
      </p:sp>
      <p:sp>
        <p:nvSpPr>
          <p:cNvPr id="11" name="Text 8"/>
          <p:cNvSpPr/>
          <p:nvPr/>
        </p:nvSpPr>
        <p:spPr>
          <a:xfrm>
            <a:off x="7975116" y="2306205"/>
            <a:ext cx="5757863" cy="4466987"/>
          </a:xfrm>
          <a:prstGeom prst="rect">
            <a:avLst/>
          </a:prstGeom>
          <a:noFill/>
          <a:ln/>
        </p:spPr>
        <p:txBody>
          <a:bodyPr wrap="square" lIns="0" tIns="0" rIns="0" bIns="0" rtlCol="0" anchor="t"/>
          <a:lstStyle/>
          <a:p>
            <a:pPr>
              <a:lnSpc>
                <a:spcPts val="2700"/>
              </a:lnSpc>
            </a:pPr>
            <a:r>
              <a:rPr lang="en-US" dirty="0">
                <a:solidFill>
                  <a:srgbClr val="22863A"/>
                </a:solidFill>
                <a:latin typeface="DM Sans" pitchFamily="2" charset="0"/>
                <a:ea typeface="Consolas" pitchFamily="34" charset="-122"/>
                <a:cs typeface="Consolas" pitchFamily="34" charset="-120"/>
              </a:rPr>
              <a:t>model_16_l2 = </a:t>
            </a:r>
            <a:r>
              <a:rPr lang="en-US" dirty="0" err="1">
                <a:solidFill>
                  <a:srgbClr val="22863A"/>
                </a:solidFill>
                <a:latin typeface="DM Sans" pitchFamily="2" charset="0"/>
                <a:ea typeface="Consolas" pitchFamily="34" charset="-122"/>
                <a:cs typeface="Consolas" pitchFamily="34" charset="-120"/>
              </a:rPr>
              <a:t>NeuralNetClassifier</a:t>
            </a:r>
            <a:r>
              <a:rPr lang="en-US" dirty="0">
                <a:solidFill>
                  <a:srgbClr val="22863A"/>
                </a:solidFill>
                <a:latin typeface="DM Sans" pitchFamily="2" charset="0"/>
                <a:ea typeface="Consolas" pitchFamily="34" charset="-122"/>
                <a:cs typeface="Consolas" pitchFamily="34" charset="-120"/>
              </a:rPr>
              <a:t>(</a:t>
            </a:r>
          </a:p>
          <a:p>
            <a:pPr>
              <a:lnSpc>
                <a:spcPts val="2700"/>
              </a:lnSpc>
            </a:pPr>
            <a:r>
              <a:rPr lang="en-US" dirty="0">
                <a:solidFill>
                  <a:srgbClr val="22863A"/>
                </a:solidFill>
                <a:latin typeface="DM Sans" pitchFamily="2" charset="0"/>
                <a:ea typeface="Consolas" pitchFamily="34" charset="-122"/>
                <a:cs typeface="Consolas" pitchFamily="34" charset="-120"/>
              </a:rPr>
              <a:t>    module=</a:t>
            </a:r>
            <a:r>
              <a:rPr lang="en-US" dirty="0" err="1">
                <a:solidFill>
                  <a:srgbClr val="22863A"/>
                </a:solidFill>
                <a:latin typeface="DM Sans" pitchFamily="2" charset="0"/>
                <a:ea typeface="Consolas" pitchFamily="34" charset="-122"/>
                <a:cs typeface="Consolas" pitchFamily="34" charset="-120"/>
              </a:rPr>
              <a:t>nn.Sequential</a:t>
            </a:r>
            <a:r>
              <a:rPr lang="en-US" dirty="0">
                <a:solidFill>
                  <a:srgbClr val="22863A"/>
                </a:solidFill>
                <a:latin typeface="DM Sans" pitchFamily="2" charset="0"/>
                <a:ea typeface="Consolas" pitchFamily="34" charset="-122"/>
                <a:cs typeface="Consolas" pitchFamily="34" charset="-120"/>
              </a:rPr>
              <a:t>(</a:t>
            </a:r>
          </a:p>
          <a:p>
            <a:pPr>
              <a:lnSpc>
                <a:spcPts val="2700"/>
              </a:lnSpc>
            </a:pPr>
            <a:r>
              <a:rPr lang="en-US" dirty="0">
                <a:solidFill>
                  <a:srgbClr val="22863A"/>
                </a:solidFill>
                <a:latin typeface="DM Sans" pitchFamily="2" charset="0"/>
                <a:ea typeface="Consolas" pitchFamily="34" charset="-122"/>
                <a:cs typeface="Consolas" pitchFamily="34" charset="-120"/>
              </a:rPr>
              <a:t>        </a:t>
            </a:r>
            <a:r>
              <a:rPr lang="en-US" dirty="0" err="1">
                <a:solidFill>
                  <a:srgbClr val="22863A"/>
                </a:solidFill>
                <a:latin typeface="DM Sans" pitchFamily="2" charset="0"/>
                <a:ea typeface="Consolas" pitchFamily="34" charset="-122"/>
                <a:cs typeface="Consolas" pitchFamily="34" charset="-120"/>
              </a:rPr>
              <a:t>nn.Linear</a:t>
            </a:r>
            <a:r>
              <a:rPr lang="en-US" dirty="0">
                <a:solidFill>
                  <a:srgbClr val="22863A"/>
                </a:solidFill>
                <a:latin typeface="DM Sans" pitchFamily="2" charset="0"/>
                <a:ea typeface="Consolas" pitchFamily="34" charset="-122"/>
                <a:cs typeface="Consolas" pitchFamily="34" charset="-120"/>
              </a:rPr>
              <a:t>(</a:t>
            </a:r>
            <a:r>
              <a:rPr lang="en-US" dirty="0" err="1">
                <a:solidFill>
                  <a:srgbClr val="22863A"/>
                </a:solidFill>
                <a:latin typeface="DM Sans" pitchFamily="2" charset="0"/>
                <a:ea typeface="Consolas" pitchFamily="34" charset="-122"/>
                <a:cs typeface="Consolas" pitchFamily="34" charset="-120"/>
              </a:rPr>
              <a:t>input_dim</a:t>
            </a:r>
            <a:r>
              <a:rPr lang="en-US" dirty="0">
                <a:solidFill>
                  <a:srgbClr val="22863A"/>
                </a:solidFill>
                <a:latin typeface="DM Sans" pitchFamily="2" charset="0"/>
                <a:ea typeface="Consolas" pitchFamily="34" charset="-122"/>
                <a:cs typeface="Consolas" pitchFamily="34" charset="-120"/>
              </a:rPr>
              <a:t>, 16),</a:t>
            </a:r>
          </a:p>
          <a:p>
            <a:pPr>
              <a:lnSpc>
                <a:spcPts val="2700"/>
              </a:lnSpc>
            </a:pPr>
            <a:r>
              <a:rPr lang="en-US" dirty="0">
                <a:solidFill>
                  <a:srgbClr val="22863A"/>
                </a:solidFill>
                <a:latin typeface="DM Sans" pitchFamily="2" charset="0"/>
                <a:ea typeface="Consolas" pitchFamily="34" charset="-122"/>
                <a:cs typeface="Consolas" pitchFamily="34" charset="-120"/>
              </a:rPr>
              <a:t>        </a:t>
            </a:r>
            <a:r>
              <a:rPr lang="en-US" dirty="0" err="1">
                <a:solidFill>
                  <a:srgbClr val="22863A"/>
                </a:solidFill>
                <a:latin typeface="DM Sans" pitchFamily="2" charset="0"/>
                <a:ea typeface="Consolas" pitchFamily="34" charset="-122"/>
                <a:cs typeface="Consolas" pitchFamily="34" charset="-120"/>
              </a:rPr>
              <a:t>nn.ReLU</a:t>
            </a:r>
            <a:r>
              <a:rPr lang="en-US" dirty="0">
                <a:solidFill>
                  <a:srgbClr val="22863A"/>
                </a:solidFill>
                <a:latin typeface="DM Sans" pitchFamily="2" charset="0"/>
                <a:ea typeface="Consolas" pitchFamily="34" charset="-122"/>
                <a:cs typeface="Consolas" pitchFamily="34" charset="-120"/>
              </a:rPr>
              <a:t>(),</a:t>
            </a:r>
          </a:p>
          <a:p>
            <a:pPr>
              <a:lnSpc>
                <a:spcPts val="2700"/>
              </a:lnSpc>
            </a:pPr>
            <a:r>
              <a:rPr lang="en-US" dirty="0">
                <a:solidFill>
                  <a:srgbClr val="22863A"/>
                </a:solidFill>
                <a:latin typeface="DM Sans" pitchFamily="2" charset="0"/>
                <a:ea typeface="Consolas" pitchFamily="34" charset="-122"/>
                <a:cs typeface="Consolas" pitchFamily="34" charset="-120"/>
              </a:rPr>
              <a:t>        </a:t>
            </a:r>
            <a:r>
              <a:rPr lang="en-US" dirty="0" err="1">
                <a:solidFill>
                  <a:srgbClr val="22863A"/>
                </a:solidFill>
                <a:latin typeface="DM Sans" pitchFamily="2" charset="0"/>
                <a:ea typeface="Consolas" pitchFamily="34" charset="-122"/>
                <a:cs typeface="Consolas" pitchFamily="34" charset="-120"/>
              </a:rPr>
              <a:t>nn.Linear</a:t>
            </a:r>
            <a:r>
              <a:rPr lang="en-US" dirty="0">
                <a:solidFill>
                  <a:srgbClr val="22863A"/>
                </a:solidFill>
                <a:latin typeface="DM Sans" pitchFamily="2" charset="0"/>
                <a:ea typeface="Consolas" pitchFamily="34" charset="-122"/>
                <a:cs typeface="Consolas" pitchFamily="34" charset="-120"/>
              </a:rPr>
              <a:t>(16, 1)</a:t>
            </a:r>
          </a:p>
          <a:p>
            <a:pPr>
              <a:lnSpc>
                <a:spcPts val="2700"/>
              </a:lnSpc>
            </a:pPr>
            <a:r>
              <a:rPr lang="en-US" dirty="0">
                <a:solidFill>
                  <a:srgbClr val="22863A"/>
                </a:solidFill>
                <a:latin typeface="DM Sans" pitchFamily="2" charset="0"/>
                <a:ea typeface="Consolas" pitchFamily="34" charset="-122"/>
                <a:cs typeface="Consolas" pitchFamily="34" charset="-120"/>
              </a:rPr>
              <a:t>    ),</a:t>
            </a:r>
          </a:p>
          <a:p>
            <a:pPr>
              <a:lnSpc>
                <a:spcPts val="2700"/>
              </a:lnSpc>
            </a:pPr>
            <a:r>
              <a:rPr lang="en-US" dirty="0">
                <a:solidFill>
                  <a:srgbClr val="22863A"/>
                </a:solidFill>
                <a:latin typeface="DM Sans" pitchFamily="2" charset="0"/>
                <a:ea typeface="Consolas" pitchFamily="34" charset="-122"/>
                <a:cs typeface="Consolas" pitchFamily="34" charset="-120"/>
              </a:rPr>
              <a:t>    </a:t>
            </a:r>
            <a:r>
              <a:rPr lang="en-US" dirty="0" err="1">
                <a:solidFill>
                  <a:srgbClr val="22863A"/>
                </a:solidFill>
                <a:latin typeface="DM Sans" pitchFamily="2" charset="0"/>
                <a:ea typeface="Consolas" pitchFamily="34" charset="-122"/>
                <a:cs typeface="Consolas" pitchFamily="34" charset="-120"/>
              </a:rPr>
              <a:t>max_epochs</a:t>
            </a:r>
            <a:r>
              <a:rPr lang="en-US" dirty="0">
                <a:solidFill>
                  <a:srgbClr val="22863A"/>
                </a:solidFill>
                <a:latin typeface="DM Sans" pitchFamily="2" charset="0"/>
                <a:ea typeface="Consolas" pitchFamily="34" charset="-122"/>
                <a:cs typeface="Consolas" pitchFamily="34" charset="-120"/>
              </a:rPr>
              <a:t>=300,</a:t>
            </a:r>
          </a:p>
          <a:p>
            <a:pPr>
              <a:lnSpc>
                <a:spcPts val="2700"/>
              </a:lnSpc>
            </a:pPr>
            <a:r>
              <a:rPr lang="en-US" dirty="0">
                <a:solidFill>
                  <a:srgbClr val="22863A"/>
                </a:solidFill>
                <a:latin typeface="DM Sans" pitchFamily="2" charset="0"/>
                <a:ea typeface="Consolas" pitchFamily="34" charset="-122"/>
                <a:cs typeface="Consolas" pitchFamily="34" charset="-120"/>
              </a:rPr>
              <a:t>    optimizer=</a:t>
            </a:r>
            <a:r>
              <a:rPr lang="en-US" dirty="0" err="1">
                <a:solidFill>
                  <a:srgbClr val="22863A"/>
                </a:solidFill>
                <a:latin typeface="DM Sans" pitchFamily="2" charset="0"/>
                <a:ea typeface="Consolas" pitchFamily="34" charset="-122"/>
                <a:cs typeface="Consolas" pitchFamily="34" charset="-120"/>
              </a:rPr>
              <a:t>optim.Adam</a:t>
            </a:r>
            <a:r>
              <a:rPr lang="en-US" dirty="0">
                <a:solidFill>
                  <a:srgbClr val="22863A"/>
                </a:solidFill>
                <a:latin typeface="DM Sans" pitchFamily="2" charset="0"/>
                <a:ea typeface="Consolas" pitchFamily="34" charset="-122"/>
                <a:cs typeface="Consolas" pitchFamily="34" charset="-120"/>
              </a:rPr>
              <a:t>,</a:t>
            </a:r>
          </a:p>
          <a:p>
            <a:pPr>
              <a:lnSpc>
                <a:spcPts val="2700"/>
              </a:lnSpc>
            </a:pPr>
            <a:r>
              <a:rPr lang="en-US" dirty="0">
                <a:solidFill>
                  <a:srgbClr val="22863A"/>
                </a:solidFill>
                <a:latin typeface="DM Sans" pitchFamily="2" charset="0"/>
                <a:ea typeface="Consolas" pitchFamily="34" charset="-122"/>
                <a:cs typeface="Consolas" pitchFamily="34" charset="-120"/>
              </a:rPr>
              <a:t>    optimizer__</a:t>
            </a:r>
            <a:r>
              <a:rPr lang="en-US" dirty="0" err="1">
                <a:solidFill>
                  <a:srgbClr val="22863A"/>
                </a:solidFill>
                <a:latin typeface="DM Sans" pitchFamily="2" charset="0"/>
                <a:ea typeface="Consolas" pitchFamily="34" charset="-122"/>
                <a:cs typeface="Consolas" pitchFamily="34" charset="-120"/>
              </a:rPr>
              <a:t>weight_decay</a:t>
            </a:r>
            <a:r>
              <a:rPr lang="en-US" dirty="0">
                <a:solidFill>
                  <a:srgbClr val="22863A"/>
                </a:solidFill>
                <a:latin typeface="DM Sans" pitchFamily="2" charset="0"/>
                <a:ea typeface="Consolas" pitchFamily="34" charset="-122"/>
                <a:cs typeface="Consolas" pitchFamily="34" charset="-120"/>
              </a:rPr>
              <a:t>=0.01,   # L2 Regularization = 0.01</a:t>
            </a:r>
          </a:p>
          <a:p>
            <a:pPr>
              <a:lnSpc>
                <a:spcPts val="2700"/>
              </a:lnSpc>
            </a:pPr>
            <a:r>
              <a:rPr lang="en-US" dirty="0">
                <a:solidFill>
                  <a:srgbClr val="22863A"/>
                </a:solidFill>
                <a:latin typeface="DM Sans" pitchFamily="2" charset="0"/>
                <a:ea typeface="Consolas" pitchFamily="34" charset="-122"/>
                <a:cs typeface="Consolas" pitchFamily="34" charset="-120"/>
              </a:rPr>
              <a:t>    criterion=</a:t>
            </a:r>
            <a:r>
              <a:rPr lang="en-US" dirty="0" err="1">
                <a:solidFill>
                  <a:srgbClr val="22863A"/>
                </a:solidFill>
                <a:latin typeface="DM Sans" pitchFamily="2" charset="0"/>
                <a:ea typeface="Consolas" pitchFamily="34" charset="-122"/>
                <a:cs typeface="Consolas" pitchFamily="34" charset="-120"/>
              </a:rPr>
              <a:t>nn.BCEWithLogitsLoss</a:t>
            </a:r>
            <a:r>
              <a:rPr lang="en-US" dirty="0">
                <a:solidFill>
                  <a:srgbClr val="22863A"/>
                </a:solidFill>
                <a:latin typeface="DM Sans" pitchFamily="2" charset="0"/>
                <a:ea typeface="Consolas" pitchFamily="34" charset="-122"/>
                <a:cs typeface="Consolas" pitchFamily="34" charset="-120"/>
              </a:rPr>
              <a:t>,</a:t>
            </a:r>
          </a:p>
          <a:p>
            <a:pPr>
              <a:lnSpc>
                <a:spcPts val="2700"/>
              </a:lnSpc>
            </a:pPr>
            <a:r>
              <a:rPr lang="en-US" dirty="0">
                <a:solidFill>
                  <a:srgbClr val="22863A"/>
                </a:solidFill>
                <a:latin typeface="DM Sans" pitchFamily="2" charset="0"/>
                <a:ea typeface="Consolas" pitchFamily="34" charset="-122"/>
                <a:cs typeface="Consolas" pitchFamily="34" charset="-120"/>
              </a:rPr>
              <a:t>    </a:t>
            </a:r>
            <a:r>
              <a:rPr lang="en-US" dirty="0" err="1">
                <a:solidFill>
                  <a:srgbClr val="22863A"/>
                </a:solidFill>
                <a:latin typeface="DM Sans" pitchFamily="2" charset="0"/>
                <a:ea typeface="Consolas" pitchFamily="34" charset="-122"/>
                <a:cs typeface="Consolas" pitchFamily="34" charset="-120"/>
              </a:rPr>
              <a:t>batch_size</a:t>
            </a:r>
            <a:r>
              <a:rPr lang="en-US" dirty="0">
                <a:solidFill>
                  <a:srgbClr val="22863A"/>
                </a:solidFill>
                <a:latin typeface="DM Sans" pitchFamily="2" charset="0"/>
                <a:ea typeface="Consolas" pitchFamily="34" charset="-122"/>
                <a:cs typeface="Consolas" pitchFamily="34" charset="-120"/>
              </a:rPr>
              <a:t>=32,</a:t>
            </a:r>
          </a:p>
          <a:p>
            <a:pPr>
              <a:lnSpc>
                <a:spcPts val="2700"/>
              </a:lnSpc>
            </a:pPr>
            <a:r>
              <a:rPr lang="en-US" dirty="0">
                <a:solidFill>
                  <a:srgbClr val="22863A"/>
                </a:solidFill>
                <a:latin typeface="DM Sans" pitchFamily="2" charset="0"/>
                <a:ea typeface="Consolas" pitchFamily="34" charset="-122"/>
                <a:cs typeface="Consolas" pitchFamily="34" charset="-120"/>
              </a:rPr>
              <a:t>    verbose=0</a:t>
            </a:r>
          </a:p>
          <a:p>
            <a:pPr>
              <a:lnSpc>
                <a:spcPts val="2700"/>
              </a:lnSpc>
            </a:pPr>
            <a:r>
              <a:rPr lang="en-US" dirty="0">
                <a:solidFill>
                  <a:srgbClr val="22863A"/>
                </a:solidFill>
                <a:latin typeface="DM Sans" pitchFamily="2" charset="0"/>
                <a:ea typeface="Consolas" pitchFamily="34" charset="-122"/>
                <a:cs typeface="Consolas" pitchFamily="34" charset="-120"/>
              </a:rPr>
              <a:t>)</a:t>
            </a:r>
          </a:p>
          <a:p>
            <a:pPr>
              <a:lnSpc>
                <a:spcPts val="2700"/>
              </a:lnSpc>
            </a:pPr>
            <a:endParaRPr lang="en-US" dirty="0">
              <a:solidFill>
                <a:srgbClr val="22863A"/>
              </a:solidFill>
              <a:latin typeface="DM Sans" pitchFamily="2" charset="0"/>
              <a:ea typeface="Consolas" pitchFamily="34" charset="-122"/>
              <a:cs typeface="Consolas" pitchFamily="34" charset="-120"/>
            </a:endParaRPr>
          </a:p>
          <a:p>
            <a:pPr>
              <a:lnSpc>
                <a:spcPts val="2700"/>
              </a:lnSpc>
            </a:pPr>
            <a:r>
              <a:rPr lang="en-US" dirty="0">
                <a:solidFill>
                  <a:srgbClr val="22863A"/>
                </a:solidFill>
                <a:latin typeface="DM Sans" pitchFamily="2" charset="0"/>
                <a:ea typeface="Consolas" pitchFamily="34" charset="-122"/>
                <a:cs typeface="Consolas" pitchFamily="34" charset="-120"/>
              </a:rPr>
              <a:t>model_16_l2.fit(</a:t>
            </a:r>
            <a:r>
              <a:rPr lang="en-US" dirty="0" err="1">
                <a:solidFill>
                  <a:srgbClr val="22863A"/>
                </a:solidFill>
                <a:latin typeface="DM Sans" pitchFamily="2" charset="0"/>
                <a:ea typeface="Consolas" pitchFamily="34" charset="-122"/>
                <a:cs typeface="Consolas" pitchFamily="34" charset="-120"/>
              </a:rPr>
              <a:t>X_train_t</a:t>
            </a:r>
            <a:r>
              <a:rPr lang="en-US" dirty="0">
                <a:solidFill>
                  <a:srgbClr val="22863A"/>
                </a:solidFill>
                <a:latin typeface="DM Sans" pitchFamily="2" charset="0"/>
                <a:ea typeface="Consolas" pitchFamily="34" charset="-122"/>
                <a:cs typeface="Consolas" pitchFamily="34" charset="-120"/>
              </a:rPr>
              <a:t>, </a:t>
            </a:r>
            <a:r>
              <a:rPr lang="en-US" dirty="0" err="1">
                <a:solidFill>
                  <a:srgbClr val="22863A"/>
                </a:solidFill>
                <a:latin typeface="DM Sans" pitchFamily="2" charset="0"/>
                <a:ea typeface="Consolas" pitchFamily="34" charset="-122"/>
                <a:cs typeface="Consolas" pitchFamily="34" charset="-120"/>
              </a:rPr>
              <a:t>y_train_t</a:t>
            </a:r>
            <a:r>
              <a:rPr lang="en-US" dirty="0">
                <a:solidFill>
                  <a:srgbClr val="22863A"/>
                </a:solidFill>
                <a:latin typeface="DM Sans" pitchFamily="2" charset="0"/>
                <a:ea typeface="Consolas" pitchFamily="34" charset="-122"/>
                <a:cs typeface="Consolas" pitchFamily="34" charset="-120"/>
              </a:rPr>
              <a:t>)</a:t>
            </a:r>
            <a:endParaRPr lang="en-US" dirty="0">
              <a:latin typeface="DM Sans" pitchFamily="2" charset="0"/>
            </a:endParaRPr>
          </a:p>
        </p:txBody>
      </p:sp>
    </p:spTree>
    <p:extLst>
      <p:ext uri="{BB962C8B-B14F-4D97-AF65-F5344CB8AC3E}">
        <p14:creationId xmlns:p14="http://schemas.microsoft.com/office/powerpoint/2010/main" val="3570390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93790" y="842422"/>
            <a:ext cx="9569053"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L1 Regularization in </a:t>
            </a:r>
            <a:r>
              <a:rPr lang="en-US" sz="4650" dirty="0" err="1">
                <a:solidFill>
                  <a:srgbClr val="020202"/>
                </a:solidFill>
                <a:latin typeface="PT Serif" pitchFamily="34" charset="0"/>
                <a:ea typeface="PT Serif" pitchFamily="34" charset="-122"/>
                <a:cs typeface="PT Serif" pitchFamily="34" charset="-120"/>
              </a:rPr>
              <a:t>PyTorch</a:t>
            </a:r>
            <a:r>
              <a:rPr lang="en-US" sz="4650" dirty="0">
                <a:solidFill>
                  <a:srgbClr val="020202"/>
                </a:solidFill>
                <a:latin typeface="PT Serif" pitchFamily="34" charset="0"/>
                <a:ea typeface="PT Serif" pitchFamily="34" charset="-122"/>
                <a:cs typeface="PT Serif" pitchFamily="34" charset="-120"/>
              </a:rPr>
              <a:t> — Manual Penalty</a:t>
            </a:r>
            <a:endParaRPr lang="en-US" sz="4650" dirty="0"/>
          </a:p>
        </p:txBody>
      </p:sp>
      <p:sp>
        <p:nvSpPr>
          <p:cNvPr id="5" name="Text 3"/>
          <p:cNvSpPr/>
          <p:nvPr/>
        </p:nvSpPr>
        <p:spPr>
          <a:xfrm>
            <a:off x="793790" y="2625356"/>
            <a:ext cx="6244709" cy="1088708"/>
          </a:xfrm>
          <a:prstGeom prst="rect">
            <a:avLst/>
          </a:prstGeom>
          <a:noFill/>
          <a:ln/>
        </p:spPr>
        <p:txBody>
          <a:bodyPr wrap="square" lIns="0" tIns="0" rIns="0" bIns="0" rtlCol="0" anchor="t"/>
          <a:lstStyle/>
          <a:p>
            <a:pPr marL="0" indent="0" algn="l">
              <a:lnSpc>
                <a:spcPts val="2850"/>
              </a:lnSpc>
              <a:buNone/>
            </a:pPr>
            <a:r>
              <a:rPr lang="en-US" sz="2000" b="1" dirty="0">
                <a:solidFill>
                  <a:srgbClr val="383838"/>
                </a:solidFill>
                <a:latin typeface="DM Sans" pitchFamily="34" charset="0"/>
                <a:ea typeface="DM Sans" pitchFamily="34" charset="-122"/>
                <a:cs typeface="DM Sans" pitchFamily="34" charset="-120"/>
              </a:rPr>
              <a:t>Key concept:</a:t>
            </a:r>
            <a:r>
              <a:rPr lang="en-US" sz="2000" dirty="0">
                <a:solidFill>
                  <a:srgbClr val="383838"/>
                </a:solidFill>
                <a:latin typeface="DM Sans" pitchFamily="34" charset="0"/>
                <a:ea typeface="DM Sans" pitchFamily="34" charset="-122"/>
                <a:cs typeface="DM Sans" pitchFamily="34" charset="-120"/>
              </a:rPr>
              <a:t> L1 is added </a:t>
            </a:r>
            <a:r>
              <a:rPr lang="en-US" sz="2000" i="1" dirty="0">
                <a:solidFill>
                  <a:srgbClr val="383838"/>
                </a:solidFill>
                <a:latin typeface="DM Sans" pitchFamily="34" charset="0"/>
                <a:ea typeface="DM Sans" pitchFamily="34" charset="-122"/>
                <a:cs typeface="DM Sans" pitchFamily="34" charset="-120"/>
              </a:rPr>
              <a:t>manually</a:t>
            </a:r>
            <a:r>
              <a:rPr lang="en-US" sz="2000" dirty="0">
                <a:solidFill>
                  <a:srgbClr val="383838"/>
                </a:solidFill>
                <a:latin typeface="DM Sans" pitchFamily="34" charset="0"/>
                <a:ea typeface="DM Sans" pitchFamily="34" charset="-122"/>
                <a:cs typeface="DM Sans" pitchFamily="34" charset="-120"/>
              </a:rPr>
              <a:t> to the loss. It sums the absolute values of all parameters, encouraging </a:t>
            </a:r>
            <a:r>
              <a:rPr lang="en-US" sz="2000" b="1" dirty="0">
                <a:solidFill>
                  <a:srgbClr val="383838"/>
                </a:solidFill>
                <a:latin typeface="DM Sans" pitchFamily="34" charset="0"/>
                <a:ea typeface="DM Sans" pitchFamily="34" charset="-122"/>
                <a:cs typeface="DM Sans" pitchFamily="34" charset="-120"/>
              </a:rPr>
              <a:t>sparsity</a:t>
            </a:r>
            <a:r>
              <a:rPr lang="en-US" sz="2000" dirty="0">
                <a:solidFill>
                  <a:srgbClr val="383838"/>
                </a:solidFill>
                <a:latin typeface="DM Sans" pitchFamily="34" charset="0"/>
                <a:ea typeface="DM Sans" pitchFamily="34" charset="-122"/>
                <a:cs typeface="DM Sans" pitchFamily="34" charset="-120"/>
              </a:rPr>
              <a:t> by pushing some weights to exactly zero.</a:t>
            </a:r>
            <a:endParaRPr lang="en-US" sz="2000" dirty="0"/>
          </a:p>
        </p:txBody>
      </p:sp>
      <p:sp>
        <p:nvSpPr>
          <p:cNvPr id="9" name="Shape 6"/>
          <p:cNvSpPr/>
          <p:nvPr/>
        </p:nvSpPr>
        <p:spPr>
          <a:xfrm>
            <a:off x="7599521" y="3237071"/>
            <a:ext cx="6244709" cy="3356848"/>
          </a:xfrm>
          <a:prstGeom prst="roundRect">
            <a:avLst>
              <a:gd name="adj" fmla="val 1014"/>
            </a:avLst>
          </a:prstGeom>
          <a:solidFill>
            <a:srgbClr val="F2F2F2"/>
          </a:solidFill>
          <a:ln/>
        </p:spPr>
      </p:sp>
      <p:sp>
        <p:nvSpPr>
          <p:cNvPr id="10" name="Shape 7"/>
          <p:cNvSpPr/>
          <p:nvPr/>
        </p:nvSpPr>
        <p:spPr>
          <a:xfrm>
            <a:off x="7588210" y="3237071"/>
            <a:ext cx="6267331" cy="3356848"/>
          </a:xfrm>
          <a:prstGeom prst="roundRect">
            <a:avLst>
              <a:gd name="adj" fmla="val 1014"/>
            </a:avLst>
          </a:prstGeom>
          <a:solidFill>
            <a:srgbClr val="F2F2F2"/>
          </a:solidFill>
          <a:ln/>
        </p:spPr>
      </p:sp>
      <p:sp>
        <p:nvSpPr>
          <p:cNvPr id="11" name="Text 8"/>
          <p:cNvSpPr/>
          <p:nvPr/>
        </p:nvSpPr>
        <p:spPr>
          <a:xfrm>
            <a:off x="7871698" y="3463885"/>
            <a:ext cx="5700355" cy="2903220"/>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2" charset="0"/>
                <a:ea typeface="Consolas" pitchFamily="34" charset="-122"/>
                <a:cs typeface="Consolas" pitchFamily="34" charset="-120"/>
              </a:rPr>
              <a:t>def l1_penalty(model, lambda_l1=0.01):</a:t>
            </a:r>
            <a:endParaRPr lang="en-US" sz="1750" dirty="0">
              <a:latin typeface="DM Sans" pitchFamily="2" charset="0"/>
            </a:endParaRPr>
          </a:p>
          <a:p>
            <a:pPr marL="0" indent="0" algn="l">
              <a:lnSpc>
                <a:spcPts val="2850"/>
              </a:lnSpc>
              <a:buNone/>
            </a:pPr>
            <a:r>
              <a:rPr lang="en-US" sz="1750" dirty="0">
                <a:solidFill>
                  <a:srgbClr val="383838"/>
                </a:solidFill>
                <a:latin typeface="DM Sans" pitchFamily="2" charset="0"/>
                <a:ea typeface="Consolas" pitchFamily="34" charset="-122"/>
                <a:cs typeface="Consolas" pitchFamily="34" charset="-120"/>
              </a:rPr>
              <a:t> l1 = 0</a:t>
            </a:r>
            <a:endParaRPr lang="en-US" sz="1750" dirty="0">
              <a:latin typeface="DM Sans" pitchFamily="2" charset="0"/>
            </a:endParaRPr>
          </a:p>
          <a:p>
            <a:pPr marL="0" indent="0" algn="l">
              <a:lnSpc>
                <a:spcPts val="2850"/>
              </a:lnSpc>
              <a:buNone/>
            </a:pPr>
            <a:r>
              <a:rPr lang="en-US" sz="1750" dirty="0">
                <a:solidFill>
                  <a:srgbClr val="383838"/>
                </a:solidFill>
                <a:latin typeface="DM Sans" pitchFamily="2" charset="0"/>
                <a:ea typeface="Consolas" pitchFamily="34" charset="-122"/>
                <a:cs typeface="Consolas" pitchFamily="34" charset="-120"/>
              </a:rPr>
              <a:t> for param in model.parameters():</a:t>
            </a:r>
            <a:endParaRPr lang="en-US" sz="1750" dirty="0">
              <a:latin typeface="DM Sans" pitchFamily="2" charset="0"/>
            </a:endParaRPr>
          </a:p>
          <a:p>
            <a:pPr marL="0" indent="0" algn="l">
              <a:lnSpc>
                <a:spcPts val="2850"/>
              </a:lnSpc>
              <a:buNone/>
            </a:pPr>
            <a:r>
              <a:rPr lang="en-US" sz="1750" dirty="0">
                <a:solidFill>
                  <a:srgbClr val="383838"/>
                </a:solidFill>
                <a:latin typeface="DM Sans" pitchFamily="2" charset="0"/>
                <a:ea typeface="Consolas" pitchFamily="34" charset="-122"/>
                <a:cs typeface="Consolas" pitchFamily="34" charset="-120"/>
              </a:rPr>
              <a:t> l1 += torch.sum(torch.abs(param))</a:t>
            </a:r>
            <a:endParaRPr lang="en-US" sz="1750" dirty="0">
              <a:latin typeface="DM Sans" pitchFamily="2" charset="0"/>
            </a:endParaRPr>
          </a:p>
          <a:p>
            <a:pPr marL="0" indent="0" algn="l">
              <a:lnSpc>
                <a:spcPts val="2850"/>
              </a:lnSpc>
              <a:buNone/>
            </a:pPr>
            <a:r>
              <a:rPr lang="en-US" sz="1750" dirty="0">
                <a:solidFill>
                  <a:srgbClr val="383838"/>
                </a:solidFill>
                <a:latin typeface="DM Sans" pitchFamily="2" charset="0"/>
                <a:ea typeface="Consolas" pitchFamily="34" charset="-122"/>
                <a:cs typeface="Consolas" pitchFamily="34" charset="-120"/>
              </a:rPr>
              <a:t> return lambda_l1 * l1</a:t>
            </a:r>
            <a:endParaRPr lang="en-US" sz="1750" dirty="0">
              <a:latin typeface="DM Sans" pitchFamily="2" charset="0"/>
            </a:endParaRPr>
          </a:p>
          <a:p>
            <a:pPr marL="0" indent="0" algn="l">
              <a:lnSpc>
                <a:spcPts val="2850"/>
              </a:lnSpc>
              <a:buNone/>
            </a:pPr>
            <a:endParaRPr lang="en-US" sz="1750" dirty="0">
              <a:latin typeface="DM Sans" pitchFamily="2" charset="0"/>
            </a:endParaRPr>
          </a:p>
          <a:p>
            <a:pPr marL="0" indent="0" algn="l">
              <a:lnSpc>
                <a:spcPts val="2850"/>
              </a:lnSpc>
              <a:buNone/>
            </a:pPr>
            <a:r>
              <a:rPr lang="en-US" sz="1750" dirty="0">
                <a:solidFill>
                  <a:srgbClr val="383838"/>
                </a:solidFill>
                <a:latin typeface="DM Sans" pitchFamily="2" charset="0"/>
                <a:ea typeface="Consolas" pitchFamily="34" charset="-122"/>
                <a:cs typeface="Consolas" pitchFamily="34" charset="-120"/>
              </a:rPr>
              <a:t>loss = criterion(output, target)</a:t>
            </a:r>
            <a:endParaRPr lang="en-US" sz="1750" dirty="0">
              <a:latin typeface="DM Sans" pitchFamily="2" charset="0"/>
            </a:endParaRPr>
          </a:p>
          <a:p>
            <a:pPr marL="0" indent="0" algn="l">
              <a:lnSpc>
                <a:spcPts val="2850"/>
              </a:lnSpc>
              <a:buNone/>
            </a:pPr>
            <a:r>
              <a:rPr lang="en-US" sz="1750" dirty="0">
                <a:solidFill>
                  <a:srgbClr val="383838"/>
                </a:solidFill>
                <a:latin typeface="DM Sans" pitchFamily="2" charset="0"/>
                <a:ea typeface="Consolas" pitchFamily="34" charset="-122"/>
                <a:cs typeface="Consolas" pitchFamily="34" charset="-120"/>
              </a:rPr>
              <a:t>loss = loss + l1_penalty(model)</a:t>
            </a:r>
            <a:endParaRPr lang="en-US" sz="1750" dirty="0">
              <a:latin typeface="DM Sans" pitchFamily="2" charset="0"/>
            </a:endParaRPr>
          </a:p>
        </p:txBody>
      </p:sp>
      <p:sp>
        <p:nvSpPr>
          <p:cNvPr id="12" name="Text 5">
            <a:extLst>
              <a:ext uri="{FF2B5EF4-FFF2-40B4-BE49-F238E27FC236}">
                <a16:creationId xmlns:a16="http://schemas.microsoft.com/office/drawing/2014/main" id="{2384D61B-3510-8F41-8157-20E99BAED976}"/>
              </a:ext>
            </a:extLst>
          </p:cNvPr>
          <p:cNvSpPr/>
          <p:nvPr/>
        </p:nvSpPr>
        <p:spPr>
          <a:xfrm>
            <a:off x="793790" y="4389835"/>
            <a:ext cx="5280779" cy="725805"/>
          </a:xfrm>
          <a:prstGeom prst="rect">
            <a:avLst/>
          </a:prstGeom>
          <a:noFill/>
          <a:ln/>
        </p:spPr>
        <p:txBody>
          <a:bodyPr wrap="square" lIns="0" tIns="0" rIns="0" bIns="0" rtlCol="0" anchor="t"/>
          <a:lstStyle/>
          <a:p>
            <a:pPr marL="0" indent="0" algn="l">
              <a:lnSpc>
                <a:spcPts val="2850"/>
              </a:lnSpc>
              <a:buNone/>
            </a:pPr>
            <a:r>
              <a:rPr lang="en-US" sz="2000" b="1" dirty="0">
                <a:solidFill>
                  <a:srgbClr val="000000"/>
                </a:solidFill>
                <a:latin typeface="DM Sans" pitchFamily="34" charset="0"/>
                <a:ea typeface="DM Sans" pitchFamily="34" charset="-122"/>
                <a:cs typeface="DM Sans" pitchFamily="34" charset="-120"/>
              </a:rPr>
              <a:t>Use case:</a:t>
            </a:r>
            <a:r>
              <a:rPr lang="en-US" sz="2000" dirty="0">
                <a:solidFill>
                  <a:srgbClr val="000000"/>
                </a:solidFill>
                <a:latin typeface="DM Sans" pitchFamily="34" charset="0"/>
                <a:ea typeface="DM Sans" pitchFamily="34" charset="-122"/>
                <a:cs typeface="DM Sans" pitchFamily="34" charset="-120"/>
              </a:rPr>
              <a:t> Feature selection — sparse models are easier to interpret.</a:t>
            </a:r>
            <a:endParaRPr lang="en-US" sz="2000" dirty="0"/>
          </a:p>
        </p:txBody>
      </p:sp>
    </p:spTree>
    <p:extLst>
      <p:ext uri="{BB962C8B-B14F-4D97-AF65-F5344CB8AC3E}">
        <p14:creationId xmlns:p14="http://schemas.microsoft.com/office/powerpoint/2010/main" val="547488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65453" y="1153716"/>
            <a:ext cx="5741551" cy="717590"/>
          </a:xfrm>
          <a:prstGeom prst="rect">
            <a:avLst/>
          </a:prstGeom>
          <a:noFill/>
          <a:ln/>
        </p:spPr>
        <p:txBody>
          <a:bodyPr wrap="none" lIns="0" tIns="0" rIns="0" bIns="0" rtlCol="0" anchor="t"/>
          <a:lstStyle/>
          <a:p>
            <a:pPr marL="0" indent="0" algn="l">
              <a:lnSpc>
                <a:spcPts val="5650"/>
              </a:lnSpc>
              <a:buNone/>
            </a:pPr>
            <a:r>
              <a:rPr lang="en-US" sz="4500" dirty="0">
                <a:solidFill>
                  <a:srgbClr val="020202"/>
                </a:solidFill>
                <a:latin typeface="PT Serif" pitchFamily="34" charset="0"/>
                <a:ea typeface="PT Serif" pitchFamily="34" charset="-122"/>
                <a:cs typeface="PT Serif" pitchFamily="34" charset="-120"/>
              </a:rPr>
              <a:t>Dropout Method in </a:t>
            </a:r>
            <a:r>
              <a:rPr lang="en-US" sz="4500" dirty="0" err="1">
                <a:solidFill>
                  <a:srgbClr val="020202"/>
                </a:solidFill>
                <a:latin typeface="PT Serif" pitchFamily="34" charset="0"/>
                <a:ea typeface="PT Serif" pitchFamily="34" charset="-122"/>
                <a:cs typeface="PT Serif" pitchFamily="34" charset="-120"/>
              </a:rPr>
              <a:t>PyTorch</a:t>
            </a:r>
            <a:endParaRPr lang="en-US" sz="4500" dirty="0"/>
          </a:p>
        </p:txBody>
      </p:sp>
      <p:sp>
        <p:nvSpPr>
          <p:cNvPr id="5" name="Text 3"/>
          <p:cNvSpPr/>
          <p:nvPr/>
        </p:nvSpPr>
        <p:spPr>
          <a:xfrm>
            <a:off x="765453" y="2669671"/>
            <a:ext cx="6282928" cy="1046083"/>
          </a:xfrm>
          <a:prstGeom prst="rect">
            <a:avLst/>
          </a:prstGeom>
          <a:noFill/>
          <a:ln/>
        </p:spPr>
        <p:txBody>
          <a:bodyPr wrap="square" lIns="0" tIns="0" rIns="0" bIns="0" rtlCol="0" anchor="t"/>
          <a:lstStyle/>
          <a:p>
            <a:pPr marL="0" indent="0" algn="l">
              <a:lnSpc>
                <a:spcPts val="2700"/>
              </a:lnSpc>
              <a:buNone/>
            </a:pPr>
            <a:r>
              <a:rPr lang="en-US" sz="2000" b="1" dirty="0">
                <a:solidFill>
                  <a:srgbClr val="383838"/>
                </a:solidFill>
                <a:latin typeface="DM Sans" pitchFamily="2" charset="0"/>
                <a:ea typeface="DM Sans" pitchFamily="34" charset="-122"/>
                <a:cs typeface="DM Sans" pitchFamily="34" charset="-120"/>
              </a:rPr>
              <a:t>Key concept:</a:t>
            </a:r>
            <a:r>
              <a:rPr lang="en-US" sz="2000" dirty="0">
                <a:solidFill>
                  <a:srgbClr val="383838"/>
                </a:solidFill>
                <a:latin typeface="DM Sans" pitchFamily="2" charset="0"/>
                <a:ea typeface="DM Sans" pitchFamily="34" charset="-122"/>
                <a:cs typeface="DM Sans" pitchFamily="34" charset="-120"/>
              </a:rPr>
              <a:t> </a:t>
            </a:r>
            <a:r>
              <a:rPr lang="en-US" sz="2000" dirty="0">
                <a:solidFill>
                  <a:srgbClr val="383838"/>
                </a:solidFill>
                <a:highlight>
                  <a:srgbClr val="F2F2F2"/>
                </a:highlight>
                <a:latin typeface="DM Sans" pitchFamily="2" charset="0"/>
                <a:ea typeface="Consolas" pitchFamily="34" charset="-122"/>
                <a:cs typeface="Consolas" pitchFamily="34" charset="-120"/>
              </a:rPr>
              <a:t>nn.Dropout(p=0.5)</a:t>
            </a:r>
            <a:r>
              <a:rPr lang="en-US" sz="2000" dirty="0">
                <a:solidFill>
                  <a:srgbClr val="383838"/>
                </a:solidFill>
                <a:latin typeface="DM Sans" pitchFamily="2" charset="0"/>
                <a:ea typeface="DM Sans" pitchFamily="34" charset="-122"/>
                <a:cs typeface="DM Sans" pitchFamily="34" charset="-120"/>
              </a:rPr>
              <a:t> randomly disables neurons during training, forcing the network to learn redundant representations and reducing overfitting.</a:t>
            </a:r>
            <a:endParaRPr lang="en-US" sz="2000" dirty="0">
              <a:latin typeface="DM Sans" pitchFamily="2" charset="0"/>
            </a:endParaRPr>
          </a:p>
        </p:txBody>
      </p:sp>
      <p:pic>
        <p:nvPicPr>
          <p:cNvPr id="7" name="Image 0" descr="preencoded.png"/>
          <p:cNvPicPr>
            <a:picLocks noChangeAspect="1"/>
          </p:cNvPicPr>
          <p:nvPr/>
        </p:nvPicPr>
        <p:blipFill>
          <a:blip r:embed="rId3"/>
          <a:stretch>
            <a:fillRect/>
          </a:stretch>
        </p:blipFill>
        <p:spPr>
          <a:xfrm>
            <a:off x="932259" y="4404488"/>
            <a:ext cx="273368" cy="218718"/>
          </a:xfrm>
          <a:prstGeom prst="rect">
            <a:avLst/>
          </a:prstGeom>
        </p:spPr>
      </p:pic>
      <p:sp>
        <p:nvSpPr>
          <p:cNvPr id="8" name="Text 5"/>
          <p:cNvSpPr/>
          <p:nvPr/>
        </p:nvSpPr>
        <p:spPr>
          <a:xfrm>
            <a:off x="1476256" y="4333459"/>
            <a:ext cx="5353407" cy="1489857"/>
          </a:xfrm>
          <a:prstGeom prst="rect">
            <a:avLst/>
          </a:prstGeom>
          <a:noFill/>
          <a:ln/>
        </p:spPr>
        <p:txBody>
          <a:bodyPr wrap="square" lIns="0" tIns="0" rIns="0" bIns="0" rtlCol="0" anchor="t"/>
          <a:lstStyle/>
          <a:p>
            <a:pPr>
              <a:lnSpc>
                <a:spcPts val="2700"/>
              </a:lnSpc>
            </a:pPr>
            <a:r>
              <a:rPr lang="en-IN" sz="2000" dirty="0" err="1">
                <a:latin typeface="DM Sans" pitchFamily="2" charset="0"/>
              </a:rPr>
              <a:t>nn.Dropout</a:t>
            </a:r>
            <a:r>
              <a:rPr lang="en-IN" sz="2000" dirty="0">
                <a:latin typeface="DM Sans" pitchFamily="2" charset="0"/>
              </a:rPr>
              <a:t>(p=0.5) randomly turns off 50% of neurons during training to prevent overfitting (increase if overfitting, decrease if underfitting).</a:t>
            </a:r>
            <a:endParaRPr lang="en-US" sz="2000" dirty="0">
              <a:latin typeface="DM Sans" pitchFamily="2" charset="0"/>
            </a:endParaRPr>
          </a:p>
        </p:txBody>
      </p:sp>
      <p:sp>
        <p:nvSpPr>
          <p:cNvPr id="9" name="Shape 6"/>
          <p:cNvSpPr/>
          <p:nvPr/>
        </p:nvSpPr>
        <p:spPr>
          <a:xfrm>
            <a:off x="7589639" y="2424827"/>
            <a:ext cx="6282928" cy="4904423"/>
          </a:xfrm>
          <a:prstGeom prst="roundRect">
            <a:avLst>
              <a:gd name="adj" fmla="val 669"/>
            </a:avLst>
          </a:prstGeom>
          <a:solidFill>
            <a:srgbClr val="F2F2F2"/>
          </a:solidFill>
          <a:ln/>
        </p:spPr>
      </p:sp>
      <p:sp>
        <p:nvSpPr>
          <p:cNvPr id="10" name="Shape 7"/>
          <p:cNvSpPr/>
          <p:nvPr/>
        </p:nvSpPr>
        <p:spPr>
          <a:xfrm>
            <a:off x="7589639" y="2377440"/>
            <a:ext cx="6304598" cy="5604988"/>
          </a:xfrm>
          <a:prstGeom prst="roundRect">
            <a:avLst>
              <a:gd name="adj" fmla="val 669"/>
            </a:avLst>
          </a:prstGeom>
          <a:solidFill>
            <a:srgbClr val="F2F2F2"/>
          </a:solidFill>
          <a:ln/>
        </p:spPr>
      </p:sp>
      <p:sp>
        <p:nvSpPr>
          <p:cNvPr id="11" name="Text 8"/>
          <p:cNvSpPr/>
          <p:nvPr/>
        </p:nvSpPr>
        <p:spPr>
          <a:xfrm>
            <a:off x="7852172" y="2643545"/>
            <a:ext cx="5757863" cy="4466987"/>
          </a:xfrm>
          <a:prstGeom prst="rect">
            <a:avLst/>
          </a:prstGeom>
          <a:noFill/>
          <a:ln/>
        </p:spPr>
        <p:txBody>
          <a:bodyPr wrap="square" lIns="0" tIns="0" rIns="0" bIns="0" rtlCol="0" anchor="t"/>
          <a:lstStyle/>
          <a:p>
            <a:pPr>
              <a:lnSpc>
                <a:spcPts val="2700"/>
              </a:lnSpc>
            </a:pPr>
            <a:r>
              <a:rPr lang="en-US" sz="1700" dirty="0">
                <a:solidFill>
                  <a:srgbClr val="22863A"/>
                </a:solidFill>
                <a:latin typeface="DM Sans" pitchFamily="2" charset="0"/>
                <a:ea typeface="Consolas" pitchFamily="34" charset="-122"/>
                <a:cs typeface="Consolas" pitchFamily="34" charset="-120"/>
              </a:rPr>
              <a:t>model_16_do = </a:t>
            </a:r>
            <a:r>
              <a:rPr lang="en-US" sz="1700" dirty="0" err="1">
                <a:solidFill>
                  <a:srgbClr val="22863A"/>
                </a:solidFill>
                <a:latin typeface="DM Sans" pitchFamily="2" charset="0"/>
                <a:ea typeface="Consolas" pitchFamily="34" charset="-122"/>
                <a:cs typeface="Consolas" pitchFamily="34" charset="-120"/>
              </a:rPr>
              <a:t>NeuralNetClassifier</a:t>
            </a:r>
            <a:r>
              <a:rPr lang="en-US" sz="1700" dirty="0">
                <a:solidFill>
                  <a:srgbClr val="22863A"/>
                </a:solidFill>
                <a:latin typeface="DM Sans" pitchFamily="2" charset="0"/>
                <a:ea typeface="Consolas" pitchFamily="34" charset="-122"/>
                <a:cs typeface="Consolas" pitchFamily="34" charset="-120"/>
              </a:rPr>
              <a:t>(</a:t>
            </a:r>
          </a:p>
          <a:p>
            <a:pPr>
              <a:lnSpc>
                <a:spcPts val="2700"/>
              </a:lnSpc>
            </a:pPr>
            <a:r>
              <a:rPr lang="en-US" sz="1700" dirty="0">
                <a:solidFill>
                  <a:srgbClr val="22863A"/>
                </a:solidFill>
                <a:latin typeface="DM Sans" pitchFamily="2" charset="0"/>
                <a:ea typeface="Consolas" pitchFamily="34" charset="-122"/>
                <a:cs typeface="Consolas" pitchFamily="34" charset="-120"/>
              </a:rPr>
              <a:t>    module=</a:t>
            </a:r>
            <a:r>
              <a:rPr lang="en-US" sz="1700" dirty="0" err="1">
                <a:solidFill>
                  <a:srgbClr val="22863A"/>
                </a:solidFill>
                <a:latin typeface="DM Sans" pitchFamily="2" charset="0"/>
                <a:ea typeface="Consolas" pitchFamily="34" charset="-122"/>
                <a:cs typeface="Consolas" pitchFamily="34" charset="-120"/>
              </a:rPr>
              <a:t>nn.Sequential</a:t>
            </a:r>
            <a:r>
              <a:rPr lang="en-US" sz="1700" dirty="0">
                <a:solidFill>
                  <a:srgbClr val="22863A"/>
                </a:solidFill>
                <a:latin typeface="DM Sans" pitchFamily="2" charset="0"/>
                <a:ea typeface="Consolas" pitchFamily="34" charset="-122"/>
                <a:cs typeface="Consolas" pitchFamily="34" charset="-120"/>
              </a:rPr>
              <a:t>(</a:t>
            </a:r>
          </a:p>
          <a:p>
            <a:pPr>
              <a:lnSpc>
                <a:spcPts val="2700"/>
              </a:lnSpc>
            </a:pP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nn.Linear</a:t>
            </a:r>
            <a:r>
              <a:rPr lang="en-US" sz="1700" dirty="0">
                <a:solidFill>
                  <a:srgbClr val="22863A"/>
                </a:solidFill>
                <a:latin typeface="DM Sans" pitchFamily="2" charset="0"/>
                <a:ea typeface="Consolas" pitchFamily="34" charset="-122"/>
                <a:cs typeface="Consolas" pitchFamily="34" charset="-120"/>
              </a:rPr>
              <a:t>(</a:t>
            </a:r>
            <a:r>
              <a:rPr lang="en-US" sz="1700" dirty="0" err="1">
                <a:solidFill>
                  <a:srgbClr val="22863A"/>
                </a:solidFill>
                <a:latin typeface="DM Sans" pitchFamily="2" charset="0"/>
                <a:ea typeface="Consolas" pitchFamily="34" charset="-122"/>
                <a:cs typeface="Consolas" pitchFamily="34" charset="-120"/>
              </a:rPr>
              <a:t>input_dim</a:t>
            </a:r>
            <a:r>
              <a:rPr lang="en-US" sz="1700" dirty="0">
                <a:solidFill>
                  <a:srgbClr val="22863A"/>
                </a:solidFill>
                <a:latin typeface="DM Sans" pitchFamily="2" charset="0"/>
                <a:ea typeface="Consolas" pitchFamily="34" charset="-122"/>
                <a:cs typeface="Consolas" pitchFamily="34" charset="-120"/>
              </a:rPr>
              <a:t>, 16),</a:t>
            </a:r>
          </a:p>
          <a:p>
            <a:pPr>
              <a:lnSpc>
                <a:spcPts val="2700"/>
              </a:lnSpc>
            </a:pP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nn.ReLU</a:t>
            </a:r>
            <a:r>
              <a:rPr lang="en-US" sz="1700" dirty="0">
                <a:solidFill>
                  <a:srgbClr val="22863A"/>
                </a:solidFill>
                <a:latin typeface="DM Sans" pitchFamily="2" charset="0"/>
                <a:ea typeface="Consolas" pitchFamily="34" charset="-122"/>
                <a:cs typeface="Consolas" pitchFamily="34" charset="-120"/>
              </a:rPr>
              <a:t>(),</a:t>
            </a:r>
          </a:p>
          <a:p>
            <a:pPr>
              <a:lnSpc>
                <a:spcPts val="2700"/>
              </a:lnSpc>
            </a:pP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nn.Dropout</a:t>
            </a:r>
            <a:r>
              <a:rPr lang="en-US" sz="1700" dirty="0">
                <a:solidFill>
                  <a:srgbClr val="22863A"/>
                </a:solidFill>
                <a:latin typeface="DM Sans" pitchFamily="2" charset="0"/>
                <a:ea typeface="Consolas" pitchFamily="34" charset="-122"/>
                <a:cs typeface="Consolas" pitchFamily="34" charset="-120"/>
              </a:rPr>
              <a:t>(p=0.5),   # Dropout added</a:t>
            </a:r>
          </a:p>
          <a:p>
            <a:pPr>
              <a:lnSpc>
                <a:spcPts val="2700"/>
              </a:lnSpc>
            </a:pP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nn.Linear</a:t>
            </a:r>
            <a:r>
              <a:rPr lang="en-US" sz="1700" dirty="0">
                <a:solidFill>
                  <a:srgbClr val="22863A"/>
                </a:solidFill>
                <a:latin typeface="DM Sans" pitchFamily="2" charset="0"/>
                <a:ea typeface="Consolas" pitchFamily="34" charset="-122"/>
                <a:cs typeface="Consolas" pitchFamily="34" charset="-120"/>
              </a:rPr>
              <a:t>(16, 1)</a:t>
            </a:r>
          </a:p>
          <a:p>
            <a:pPr>
              <a:lnSpc>
                <a:spcPts val="2700"/>
              </a:lnSpc>
            </a:pPr>
            <a:r>
              <a:rPr lang="en-US" sz="1700" dirty="0">
                <a:solidFill>
                  <a:srgbClr val="22863A"/>
                </a:solidFill>
                <a:latin typeface="DM Sans" pitchFamily="2" charset="0"/>
                <a:ea typeface="Consolas" pitchFamily="34" charset="-122"/>
                <a:cs typeface="Consolas" pitchFamily="34" charset="-120"/>
              </a:rPr>
              <a:t>    ),</a:t>
            </a:r>
          </a:p>
          <a:p>
            <a:pPr>
              <a:lnSpc>
                <a:spcPts val="2700"/>
              </a:lnSpc>
            </a:pP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max_epochs</a:t>
            </a:r>
            <a:r>
              <a:rPr lang="en-US" sz="1700" dirty="0">
                <a:solidFill>
                  <a:srgbClr val="22863A"/>
                </a:solidFill>
                <a:latin typeface="DM Sans" pitchFamily="2" charset="0"/>
                <a:ea typeface="Consolas" pitchFamily="34" charset="-122"/>
                <a:cs typeface="Consolas" pitchFamily="34" charset="-120"/>
              </a:rPr>
              <a:t>=300,</a:t>
            </a:r>
          </a:p>
          <a:p>
            <a:pPr>
              <a:lnSpc>
                <a:spcPts val="2700"/>
              </a:lnSpc>
            </a:pPr>
            <a:r>
              <a:rPr lang="en-US" sz="1700" dirty="0">
                <a:solidFill>
                  <a:srgbClr val="22863A"/>
                </a:solidFill>
                <a:latin typeface="DM Sans" pitchFamily="2" charset="0"/>
                <a:ea typeface="Consolas" pitchFamily="34" charset="-122"/>
                <a:cs typeface="Consolas" pitchFamily="34" charset="-120"/>
              </a:rPr>
              <a:t>    optimizer=</a:t>
            </a:r>
            <a:r>
              <a:rPr lang="en-US" sz="1700" dirty="0" err="1">
                <a:solidFill>
                  <a:srgbClr val="22863A"/>
                </a:solidFill>
                <a:latin typeface="DM Sans" pitchFamily="2" charset="0"/>
                <a:ea typeface="Consolas" pitchFamily="34" charset="-122"/>
                <a:cs typeface="Consolas" pitchFamily="34" charset="-120"/>
              </a:rPr>
              <a:t>optim.Adam</a:t>
            </a:r>
            <a:r>
              <a:rPr lang="en-US" sz="1700" dirty="0">
                <a:solidFill>
                  <a:srgbClr val="22863A"/>
                </a:solidFill>
                <a:latin typeface="DM Sans" pitchFamily="2" charset="0"/>
                <a:ea typeface="Consolas" pitchFamily="34" charset="-122"/>
                <a:cs typeface="Consolas" pitchFamily="34" charset="-120"/>
              </a:rPr>
              <a:t>,</a:t>
            </a:r>
          </a:p>
          <a:p>
            <a:pPr>
              <a:lnSpc>
                <a:spcPts val="2700"/>
              </a:lnSpc>
            </a:pPr>
            <a:r>
              <a:rPr lang="en-US" sz="1700" dirty="0">
                <a:solidFill>
                  <a:srgbClr val="22863A"/>
                </a:solidFill>
                <a:latin typeface="DM Sans" pitchFamily="2" charset="0"/>
                <a:ea typeface="Consolas" pitchFamily="34" charset="-122"/>
                <a:cs typeface="Consolas" pitchFamily="34" charset="-120"/>
              </a:rPr>
              <a:t>    criterion=</a:t>
            </a:r>
            <a:r>
              <a:rPr lang="en-US" sz="1700" dirty="0" err="1">
                <a:solidFill>
                  <a:srgbClr val="22863A"/>
                </a:solidFill>
                <a:latin typeface="DM Sans" pitchFamily="2" charset="0"/>
                <a:ea typeface="Consolas" pitchFamily="34" charset="-122"/>
                <a:cs typeface="Consolas" pitchFamily="34" charset="-120"/>
              </a:rPr>
              <a:t>nn.BCEWithLogitsLoss</a:t>
            </a:r>
            <a:r>
              <a:rPr lang="en-US" sz="1700" dirty="0">
                <a:solidFill>
                  <a:srgbClr val="22863A"/>
                </a:solidFill>
                <a:latin typeface="DM Sans" pitchFamily="2" charset="0"/>
                <a:ea typeface="Consolas" pitchFamily="34" charset="-122"/>
                <a:cs typeface="Consolas" pitchFamily="34" charset="-120"/>
              </a:rPr>
              <a:t>,</a:t>
            </a:r>
          </a:p>
          <a:p>
            <a:pPr>
              <a:lnSpc>
                <a:spcPts val="2700"/>
              </a:lnSpc>
            </a:pP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batch_size</a:t>
            </a:r>
            <a:r>
              <a:rPr lang="en-US" sz="1700" dirty="0">
                <a:solidFill>
                  <a:srgbClr val="22863A"/>
                </a:solidFill>
                <a:latin typeface="DM Sans" pitchFamily="2" charset="0"/>
                <a:ea typeface="Consolas" pitchFamily="34" charset="-122"/>
                <a:cs typeface="Consolas" pitchFamily="34" charset="-120"/>
              </a:rPr>
              <a:t>=32,</a:t>
            </a:r>
          </a:p>
          <a:p>
            <a:pPr>
              <a:lnSpc>
                <a:spcPts val="2700"/>
              </a:lnSpc>
            </a:pPr>
            <a:r>
              <a:rPr lang="en-US" sz="1700" dirty="0">
                <a:solidFill>
                  <a:srgbClr val="22863A"/>
                </a:solidFill>
                <a:latin typeface="DM Sans" pitchFamily="2" charset="0"/>
                <a:ea typeface="Consolas" pitchFamily="34" charset="-122"/>
                <a:cs typeface="Consolas" pitchFamily="34" charset="-120"/>
              </a:rPr>
              <a:t>    verbose=0</a:t>
            </a:r>
          </a:p>
          <a:p>
            <a:pPr>
              <a:lnSpc>
                <a:spcPts val="2700"/>
              </a:lnSpc>
            </a:pPr>
            <a:r>
              <a:rPr lang="en-US" sz="1700" dirty="0">
                <a:solidFill>
                  <a:srgbClr val="22863A"/>
                </a:solidFill>
                <a:latin typeface="DM Sans" pitchFamily="2" charset="0"/>
                <a:ea typeface="Consolas" pitchFamily="34" charset="-122"/>
                <a:cs typeface="Consolas" pitchFamily="34" charset="-120"/>
              </a:rPr>
              <a:t>)</a:t>
            </a:r>
          </a:p>
          <a:p>
            <a:pPr>
              <a:lnSpc>
                <a:spcPts val="2700"/>
              </a:lnSpc>
            </a:pPr>
            <a:endParaRPr lang="en-US" sz="1700" dirty="0">
              <a:solidFill>
                <a:srgbClr val="22863A"/>
              </a:solidFill>
              <a:latin typeface="DM Sans" pitchFamily="2" charset="0"/>
              <a:ea typeface="Consolas" pitchFamily="34" charset="-122"/>
              <a:cs typeface="Consolas" pitchFamily="34" charset="-120"/>
            </a:endParaRPr>
          </a:p>
          <a:p>
            <a:pPr>
              <a:lnSpc>
                <a:spcPts val="2700"/>
              </a:lnSpc>
            </a:pPr>
            <a:r>
              <a:rPr lang="en-US" sz="1700" dirty="0">
                <a:solidFill>
                  <a:srgbClr val="22863A"/>
                </a:solidFill>
                <a:latin typeface="DM Sans" pitchFamily="2" charset="0"/>
                <a:ea typeface="Consolas" pitchFamily="34" charset="-122"/>
                <a:cs typeface="Consolas" pitchFamily="34" charset="-120"/>
              </a:rPr>
              <a:t>model_16_do.fit(</a:t>
            </a:r>
            <a:r>
              <a:rPr lang="en-US" sz="1700" dirty="0" err="1">
                <a:solidFill>
                  <a:srgbClr val="22863A"/>
                </a:solidFill>
                <a:latin typeface="DM Sans" pitchFamily="2" charset="0"/>
                <a:ea typeface="Consolas" pitchFamily="34" charset="-122"/>
                <a:cs typeface="Consolas" pitchFamily="34" charset="-120"/>
              </a:rPr>
              <a:t>X_train_t</a:t>
            </a: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y_train_t</a:t>
            </a:r>
            <a:r>
              <a:rPr lang="en-US" sz="1700" dirty="0">
                <a:solidFill>
                  <a:srgbClr val="22863A"/>
                </a:solidFill>
                <a:latin typeface="DM Sans" pitchFamily="2" charset="0"/>
                <a:ea typeface="Consolas" pitchFamily="34" charset="-122"/>
                <a:cs typeface="Consolas" pitchFamily="34" charset="-120"/>
              </a:rPr>
              <a:t>)</a:t>
            </a:r>
            <a:endParaRPr lang="en-US" sz="1700" dirty="0">
              <a:latin typeface="DM Sans" pitchFamily="2" charset="0"/>
            </a:endParaRPr>
          </a:p>
        </p:txBody>
      </p:sp>
    </p:spTree>
    <p:extLst>
      <p:ext uri="{BB962C8B-B14F-4D97-AF65-F5344CB8AC3E}">
        <p14:creationId xmlns:p14="http://schemas.microsoft.com/office/powerpoint/2010/main" val="3473112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4" name="Text 2"/>
          <p:cNvSpPr/>
          <p:nvPr/>
        </p:nvSpPr>
        <p:spPr>
          <a:xfrm>
            <a:off x="1266349" y="553604"/>
            <a:ext cx="4021931" cy="502682"/>
          </a:xfrm>
          <a:prstGeom prst="rect">
            <a:avLst/>
          </a:prstGeom>
          <a:noFill/>
          <a:ln/>
        </p:spPr>
        <p:txBody>
          <a:bodyPr wrap="none" lIns="0" tIns="0" rIns="0" bIns="0" rtlCol="0" anchor="t"/>
          <a:lstStyle/>
          <a:p>
            <a:pPr marL="0" indent="0" algn="l">
              <a:lnSpc>
                <a:spcPts val="3950"/>
              </a:lnSpc>
              <a:buNone/>
            </a:pPr>
            <a:r>
              <a:rPr lang="en-US" sz="3200" dirty="0">
                <a:solidFill>
                  <a:srgbClr val="020202"/>
                </a:solidFill>
                <a:latin typeface="PT Serif" pitchFamily="34" charset="0"/>
                <a:ea typeface="PT Serif" pitchFamily="34" charset="-122"/>
                <a:cs typeface="PT Serif" pitchFamily="34" charset="-120"/>
              </a:rPr>
              <a:t>Batch </a:t>
            </a:r>
            <a:r>
              <a:rPr lang="en-US" sz="3600" dirty="0">
                <a:solidFill>
                  <a:srgbClr val="020202"/>
                </a:solidFill>
                <a:latin typeface="PT Serif" pitchFamily="34" charset="0"/>
                <a:ea typeface="PT Serif" pitchFamily="34" charset="-122"/>
                <a:cs typeface="PT Serif" pitchFamily="34" charset="-120"/>
              </a:rPr>
              <a:t>Normalisation</a:t>
            </a:r>
            <a:endParaRPr lang="en-US" sz="3200" dirty="0"/>
          </a:p>
        </p:txBody>
      </p:sp>
      <p:sp>
        <p:nvSpPr>
          <p:cNvPr id="5" name="Text 3"/>
          <p:cNvSpPr/>
          <p:nvPr/>
        </p:nvSpPr>
        <p:spPr>
          <a:xfrm>
            <a:off x="1245833" y="1796604"/>
            <a:ext cx="2667595" cy="251341"/>
          </a:xfrm>
          <a:prstGeom prst="rect">
            <a:avLst/>
          </a:prstGeom>
          <a:noFill/>
          <a:ln/>
        </p:spPr>
        <p:txBody>
          <a:bodyPr wrap="none" lIns="0" tIns="0" rIns="0" bIns="0" rtlCol="0" anchor="t"/>
          <a:lstStyle/>
          <a:p>
            <a:pPr marL="0" indent="0" algn="l">
              <a:lnSpc>
                <a:spcPts val="1950"/>
              </a:lnSpc>
              <a:buNone/>
            </a:pPr>
            <a:r>
              <a:rPr lang="en-US" sz="2000" b="1" dirty="0">
                <a:solidFill>
                  <a:srgbClr val="020202"/>
                </a:solidFill>
                <a:latin typeface="PT Serif" pitchFamily="34" charset="0"/>
                <a:ea typeface="PT Serif" pitchFamily="34" charset="-122"/>
                <a:cs typeface="PT Serif" pitchFamily="34" charset="-120"/>
              </a:rPr>
              <a:t>What is Batch Normalisation?</a:t>
            </a:r>
            <a:endParaRPr lang="en-US" sz="2000" b="1" dirty="0"/>
          </a:p>
        </p:txBody>
      </p:sp>
      <p:sp>
        <p:nvSpPr>
          <p:cNvPr id="6" name="Text 4"/>
          <p:cNvSpPr/>
          <p:nvPr/>
        </p:nvSpPr>
        <p:spPr>
          <a:xfrm>
            <a:off x="1245833" y="2772645"/>
            <a:ext cx="5854303" cy="2432905"/>
          </a:xfrm>
          <a:prstGeom prst="rect">
            <a:avLst/>
          </a:prstGeom>
          <a:noFill/>
          <a:ln/>
        </p:spPr>
        <p:txBody>
          <a:bodyPr wrap="square" lIns="0" tIns="0" rIns="0" bIns="0" rtlCol="0" anchor="t"/>
          <a:lstStyle/>
          <a:p>
            <a:pPr marL="0" indent="0" algn="l">
              <a:lnSpc>
                <a:spcPts val="1700"/>
              </a:lnSpc>
              <a:buNone/>
            </a:pPr>
            <a:r>
              <a:rPr lang="en-US" dirty="0">
                <a:solidFill>
                  <a:srgbClr val="383838"/>
                </a:solidFill>
                <a:latin typeface="DM Sans" pitchFamily="34" charset="0"/>
              </a:rPr>
              <a:t>Batch Normalisation (BatchNorm) normalises the output activations of a layer across the current mini-batch during training.</a:t>
            </a:r>
          </a:p>
          <a:p>
            <a:pPr marL="0" indent="0" algn="l">
              <a:lnSpc>
                <a:spcPts val="1700"/>
              </a:lnSpc>
              <a:buNone/>
            </a:pPr>
            <a:endParaRPr lang="en-US" dirty="0">
              <a:solidFill>
                <a:srgbClr val="383838"/>
              </a:solidFill>
              <a:latin typeface="DM Sans" pitchFamily="34" charset="0"/>
            </a:endParaRPr>
          </a:p>
          <a:p>
            <a:pPr marL="0" indent="0" algn="l">
              <a:lnSpc>
                <a:spcPts val="1700"/>
              </a:lnSpc>
              <a:buNone/>
            </a:pPr>
            <a:r>
              <a:rPr lang="en-US" dirty="0">
                <a:solidFill>
                  <a:srgbClr val="383838"/>
                </a:solidFill>
                <a:latin typeface="DM Sans" pitchFamily="34" charset="0"/>
              </a:rPr>
              <a:t>For each feature dimension, it subtracts the </a:t>
            </a:r>
          </a:p>
          <a:p>
            <a:pPr marL="0" indent="0" algn="l">
              <a:lnSpc>
                <a:spcPts val="1700"/>
              </a:lnSpc>
              <a:buNone/>
            </a:pPr>
            <a:r>
              <a:rPr lang="en-US" dirty="0">
                <a:solidFill>
                  <a:srgbClr val="383838"/>
                </a:solidFill>
                <a:latin typeface="DM Sans" pitchFamily="34" charset="0"/>
              </a:rPr>
              <a:t>batch mean and divides by the batch standard deviation, then applies learned scale (γ) and shift (β) parameters.</a:t>
            </a:r>
          </a:p>
        </p:txBody>
      </p:sp>
      <p:sp>
        <p:nvSpPr>
          <p:cNvPr id="7" name="Text 5"/>
          <p:cNvSpPr/>
          <p:nvPr/>
        </p:nvSpPr>
        <p:spPr>
          <a:xfrm>
            <a:off x="2455655" y="6435184"/>
            <a:ext cx="10538909" cy="638521"/>
          </a:xfrm>
          <a:prstGeom prst="rect">
            <a:avLst/>
          </a:prstGeom>
          <a:noFill/>
          <a:ln/>
        </p:spPr>
        <p:txBody>
          <a:bodyPr wrap="none" lIns="0" tIns="0" rIns="0" bIns="0" rtlCol="0" anchor="t"/>
          <a:lstStyle/>
          <a:p>
            <a:pPr marL="0" indent="0" algn="l">
              <a:lnSpc>
                <a:spcPts val="1700"/>
              </a:lnSpc>
              <a:buNone/>
            </a:pPr>
            <a:r>
              <a:rPr lang="en-US" sz="2000" b="1" dirty="0">
                <a:solidFill>
                  <a:srgbClr val="383838"/>
                </a:solidFill>
                <a:latin typeface="DM Sans" pitchFamily="34" charset="0"/>
                <a:ea typeface="DM Sans" pitchFamily="34" charset="-122"/>
                <a:cs typeface="DM Sans" pitchFamily="34" charset="-120"/>
              </a:rPr>
              <a:t>Formula:</a:t>
            </a:r>
            <a:r>
              <a:rPr lang="en-US" sz="2000" dirty="0">
                <a:solidFill>
                  <a:srgbClr val="383838"/>
                </a:solidFill>
                <a:latin typeface="DM Sans" pitchFamily="34" charset="0"/>
                <a:ea typeface="DM Sans" pitchFamily="34" charset="-122"/>
                <a:cs typeface="DM Sans" pitchFamily="34" charset="-120"/>
              </a:rPr>
              <a:t> x̂ = (x − μ_batch) / σ_batch, then scaled and shifted: </a:t>
            </a:r>
            <a:r>
              <a:rPr lang="en-US" sz="2000" b="1" dirty="0">
                <a:solidFill>
                  <a:srgbClr val="383838"/>
                </a:solidFill>
                <a:latin typeface="DM Sans" pitchFamily="34" charset="0"/>
                <a:ea typeface="DM Sans" pitchFamily="34" charset="-122"/>
                <a:cs typeface="DM Sans" pitchFamily="34" charset="-120"/>
              </a:rPr>
              <a:t>y = γx̂ + β</a:t>
            </a:r>
            <a:endParaRPr lang="en-US" sz="2000" dirty="0"/>
          </a:p>
        </p:txBody>
      </p:sp>
      <p:sp>
        <p:nvSpPr>
          <p:cNvPr id="9" name="Text 7"/>
          <p:cNvSpPr/>
          <p:nvPr/>
        </p:nvSpPr>
        <p:spPr>
          <a:xfrm>
            <a:off x="8171351" y="1796603"/>
            <a:ext cx="3641527" cy="251341"/>
          </a:xfrm>
          <a:prstGeom prst="rect">
            <a:avLst/>
          </a:prstGeom>
          <a:noFill/>
          <a:ln/>
        </p:spPr>
        <p:txBody>
          <a:bodyPr wrap="none" lIns="0" tIns="0" rIns="0" bIns="0" rtlCol="0" anchor="t"/>
          <a:lstStyle/>
          <a:p>
            <a:pPr marL="0" indent="0" algn="l">
              <a:lnSpc>
                <a:spcPts val="1950"/>
              </a:lnSpc>
              <a:buNone/>
            </a:pPr>
            <a:r>
              <a:rPr lang="en-US" sz="2000" b="1" dirty="0">
                <a:solidFill>
                  <a:srgbClr val="020202"/>
                </a:solidFill>
                <a:latin typeface="PT Serif" pitchFamily="34" charset="0"/>
                <a:ea typeface="PT Serif" pitchFamily="34" charset="-122"/>
                <a:cs typeface="PT Serif" pitchFamily="34" charset="-120"/>
              </a:rPr>
              <a:t>How is it Different from Feature Scaling?</a:t>
            </a:r>
            <a:endParaRPr lang="en-US" sz="2000" b="1" dirty="0"/>
          </a:p>
        </p:txBody>
      </p:sp>
      <p:sp>
        <p:nvSpPr>
          <p:cNvPr id="10" name="Text 8"/>
          <p:cNvSpPr/>
          <p:nvPr/>
        </p:nvSpPr>
        <p:spPr>
          <a:xfrm>
            <a:off x="8171351" y="2699455"/>
            <a:ext cx="5768578" cy="1546885"/>
          </a:xfrm>
          <a:prstGeom prst="rect">
            <a:avLst/>
          </a:prstGeom>
          <a:noFill/>
          <a:ln/>
        </p:spPr>
        <p:txBody>
          <a:bodyPr wrap="square" lIns="0" tIns="0" rIns="0" bIns="0" rtlCol="0" anchor="t"/>
          <a:lstStyle/>
          <a:p>
            <a:pPr>
              <a:lnSpc>
                <a:spcPts val="1700"/>
              </a:lnSpc>
            </a:pPr>
            <a:r>
              <a:rPr lang="en-US" dirty="0">
                <a:solidFill>
                  <a:srgbClr val="383838"/>
                </a:solidFill>
                <a:latin typeface="DM Sans" pitchFamily="34" charset="0"/>
              </a:rPr>
              <a:t>Feature scaling (e.g. StandardScaler) is applied once, before training, to the raw input variables — it is fixed.</a:t>
            </a:r>
          </a:p>
          <a:p>
            <a:pPr>
              <a:lnSpc>
                <a:spcPts val="1700"/>
              </a:lnSpc>
            </a:pPr>
            <a:endParaRPr lang="en-US" dirty="0">
              <a:solidFill>
                <a:srgbClr val="383838"/>
              </a:solidFill>
              <a:latin typeface="DM Sans" pitchFamily="34" charset="0"/>
            </a:endParaRPr>
          </a:p>
          <a:p>
            <a:pPr>
              <a:lnSpc>
                <a:spcPts val="1700"/>
              </a:lnSpc>
            </a:pPr>
            <a:r>
              <a:rPr lang="en-US" dirty="0">
                <a:solidFill>
                  <a:srgbClr val="383838"/>
                </a:solidFill>
                <a:latin typeface="DM Sans" pitchFamily="34" charset="0"/>
              </a:rPr>
              <a:t>Batch Normalization is applied inside the network, after each layer, during every forward pass. It re-normalises activations dynamically at each layer, not just the inputs. </a:t>
            </a:r>
          </a:p>
          <a:p>
            <a:pPr>
              <a:lnSpc>
                <a:spcPts val="1700"/>
              </a:lnSpc>
            </a:pPr>
            <a:endParaRPr lang="en-US" dirty="0">
              <a:solidFill>
                <a:srgbClr val="383838"/>
              </a:solidFill>
              <a:latin typeface="DM Sans" pitchFamily="34" charset="0"/>
            </a:endParaRPr>
          </a:p>
          <a:p>
            <a:pPr>
              <a:lnSpc>
                <a:spcPts val="1700"/>
              </a:lnSpc>
            </a:pPr>
            <a:r>
              <a:rPr lang="en-US" dirty="0">
                <a:solidFill>
                  <a:srgbClr val="383838"/>
                </a:solidFill>
                <a:latin typeface="DM Sans" pitchFamily="34" charset="0"/>
              </a:rPr>
              <a:t>It also includes trainable parameters (γ, β) so the network can learn to undo the normalisation if needed.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65453" y="1153716"/>
            <a:ext cx="5741551" cy="717590"/>
          </a:xfrm>
          <a:prstGeom prst="rect">
            <a:avLst/>
          </a:prstGeom>
          <a:noFill/>
          <a:ln/>
        </p:spPr>
        <p:txBody>
          <a:bodyPr wrap="none" lIns="0" tIns="0" rIns="0" bIns="0" rtlCol="0" anchor="t"/>
          <a:lstStyle/>
          <a:p>
            <a:pPr marL="0" indent="0" algn="l">
              <a:lnSpc>
                <a:spcPts val="5650"/>
              </a:lnSpc>
              <a:buNone/>
            </a:pPr>
            <a:r>
              <a:rPr lang="en-US" sz="4500" dirty="0">
                <a:solidFill>
                  <a:srgbClr val="020202"/>
                </a:solidFill>
                <a:latin typeface="PT Serif" pitchFamily="34" charset="0"/>
                <a:ea typeface="PT Serif" pitchFamily="34" charset="-122"/>
                <a:cs typeface="PT Serif" pitchFamily="34" charset="-120"/>
              </a:rPr>
              <a:t>Batch Normalization in </a:t>
            </a:r>
            <a:r>
              <a:rPr lang="en-US" sz="4500" dirty="0" err="1">
                <a:solidFill>
                  <a:srgbClr val="020202"/>
                </a:solidFill>
                <a:latin typeface="PT Serif" pitchFamily="34" charset="0"/>
                <a:ea typeface="PT Serif" pitchFamily="34" charset="-122"/>
                <a:cs typeface="PT Serif" pitchFamily="34" charset="-120"/>
              </a:rPr>
              <a:t>PyTorch</a:t>
            </a:r>
            <a:endParaRPr lang="en-US" sz="4500" dirty="0"/>
          </a:p>
        </p:txBody>
      </p:sp>
      <p:sp>
        <p:nvSpPr>
          <p:cNvPr id="5" name="Text 3"/>
          <p:cNvSpPr/>
          <p:nvPr/>
        </p:nvSpPr>
        <p:spPr>
          <a:xfrm>
            <a:off x="765453" y="2377440"/>
            <a:ext cx="6282928" cy="1046083"/>
          </a:xfrm>
          <a:prstGeom prst="rect">
            <a:avLst/>
          </a:prstGeom>
          <a:noFill/>
          <a:ln/>
        </p:spPr>
        <p:txBody>
          <a:bodyPr wrap="square" lIns="0" tIns="0" rIns="0" bIns="0" rtlCol="0" anchor="t"/>
          <a:lstStyle/>
          <a:p>
            <a:pPr marL="0" indent="0" algn="l">
              <a:lnSpc>
                <a:spcPts val="2700"/>
              </a:lnSpc>
              <a:buNone/>
            </a:pPr>
            <a:r>
              <a:rPr lang="en-US" sz="1700" b="1" dirty="0">
                <a:solidFill>
                  <a:srgbClr val="383838"/>
                </a:solidFill>
                <a:latin typeface="DM Sans" pitchFamily="34" charset="0"/>
                <a:ea typeface="DM Sans" pitchFamily="34" charset="-122"/>
                <a:cs typeface="DM Sans" pitchFamily="34" charset="-120"/>
              </a:rPr>
              <a:t>Key concept:</a:t>
            </a:r>
            <a:r>
              <a:rPr lang="en-US" sz="1700" dirty="0">
                <a:solidFill>
                  <a:srgbClr val="383838"/>
                </a:solidFill>
                <a:latin typeface="DM Sans" pitchFamily="34" charset="0"/>
                <a:ea typeface="DM Sans" pitchFamily="34" charset="-122"/>
                <a:cs typeface="DM Sans" pitchFamily="34" charset="-120"/>
              </a:rPr>
              <a:t> </a:t>
            </a:r>
            <a:r>
              <a:rPr lang="en-US" sz="1700" dirty="0">
                <a:solidFill>
                  <a:srgbClr val="383838"/>
                </a:solidFill>
                <a:highlight>
                  <a:srgbClr val="F2F2F2"/>
                </a:highlight>
                <a:latin typeface="Consolas" pitchFamily="34" charset="0"/>
                <a:ea typeface="Consolas" pitchFamily="34" charset="-122"/>
                <a:cs typeface="Consolas" pitchFamily="34" charset="-120"/>
              </a:rPr>
              <a:t>nn.BatchNorm1d</a:t>
            </a:r>
            <a:r>
              <a:rPr lang="en-US" sz="1700" dirty="0">
                <a:solidFill>
                  <a:srgbClr val="383838"/>
                </a:solidFill>
                <a:latin typeface="DM Sans" pitchFamily="34" charset="0"/>
                <a:ea typeface="DM Sans" pitchFamily="34" charset="-122"/>
                <a:cs typeface="DM Sans" pitchFamily="34" charset="-120"/>
              </a:rPr>
              <a:t> normalizes the outputs of a layer across each mini-batch, stabilizing gradients and enabling faster, more reliable training.</a:t>
            </a:r>
            <a:endParaRPr lang="en-US" sz="1700" dirty="0"/>
          </a:p>
        </p:txBody>
      </p:sp>
      <p:sp>
        <p:nvSpPr>
          <p:cNvPr id="6" name="Shape 4"/>
          <p:cNvSpPr/>
          <p:nvPr/>
        </p:nvSpPr>
        <p:spPr>
          <a:xfrm>
            <a:off x="765453" y="3660696"/>
            <a:ext cx="6282928" cy="1267063"/>
          </a:xfrm>
          <a:prstGeom prst="roundRect">
            <a:avLst>
              <a:gd name="adj" fmla="val 2589"/>
            </a:avLst>
          </a:prstGeom>
          <a:solidFill>
            <a:srgbClr val="FFCDB3"/>
          </a:solidFill>
          <a:ln/>
        </p:spPr>
      </p:sp>
      <p:pic>
        <p:nvPicPr>
          <p:cNvPr id="7" name="Image 0" descr="preencoded.png"/>
          <p:cNvPicPr>
            <a:picLocks noChangeAspect="1"/>
          </p:cNvPicPr>
          <p:nvPr/>
        </p:nvPicPr>
        <p:blipFill>
          <a:blip r:embed="rId3"/>
          <a:stretch>
            <a:fillRect/>
          </a:stretch>
        </p:blipFill>
        <p:spPr>
          <a:xfrm>
            <a:off x="984171" y="3986451"/>
            <a:ext cx="273368" cy="218718"/>
          </a:xfrm>
          <a:prstGeom prst="rect">
            <a:avLst/>
          </a:prstGeom>
        </p:spPr>
      </p:pic>
      <p:sp>
        <p:nvSpPr>
          <p:cNvPr id="8" name="Text 5"/>
          <p:cNvSpPr/>
          <p:nvPr/>
        </p:nvSpPr>
        <p:spPr>
          <a:xfrm>
            <a:off x="1476256" y="3926205"/>
            <a:ext cx="5353407" cy="702469"/>
          </a:xfrm>
          <a:prstGeom prst="rect">
            <a:avLst/>
          </a:prstGeom>
          <a:noFill/>
          <a:ln/>
        </p:spPr>
        <p:txBody>
          <a:bodyPr wrap="square" lIns="0" tIns="0" rIns="0" bIns="0" rtlCol="0" anchor="t"/>
          <a:lstStyle/>
          <a:p>
            <a:pPr marL="0" indent="0" algn="l">
              <a:lnSpc>
                <a:spcPts val="2700"/>
              </a:lnSpc>
              <a:buNone/>
            </a:pPr>
            <a:r>
              <a:rPr lang="en-US" sz="1700" b="1" dirty="0">
                <a:solidFill>
                  <a:srgbClr val="000000"/>
                </a:solidFill>
                <a:latin typeface="DM Sans" pitchFamily="34" charset="0"/>
                <a:ea typeface="DM Sans" pitchFamily="34" charset="-122"/>
                <a:cs typeface="DM Sans" pitchFamily="34" charset="-120"/>
              </a:rPr>
              <a:t>Placement:</a:t>
            </a:r>
            <a:r>
              <a:rPr lang="en-US" sz="1700" dirty="0">
                <a:solidFill>
                  <a:srgbClr val="000000"/>
                </a:solidFill>
                <a:latin typeface="DM Sans" pitchFamily="34" charset="0"/>
                <a:ea typeface="DM Sans" pitchFamily="34" charset="-122"/>
                <a:cs typeface="DM Sans" pitchFamily="34" charset="-120"/>
              </a:rPr>
              <a:t> Typically inserted </a:t>
            </a:r>
            <a:r>
              <a:rPr lang="en-US" sz="1700" i="1" dirty="0">
                <a:solidFill>
                  <a:srgbClr val="000000"/>
                </a:solidFill>
                <a:latin typeface="DM Sans" pitchFamily="34" charset="0"/>
                <a:ea typeface="DM Sans" pitchFamily="34" charset="-122"/>
                <a:cs typeface="DM Sans" pitchFamily="34" charset="-120"/>
              </a:rPr>
              <a:t>after</a:t>
            </a:r>
            <a:r>
              <a:rPr lang="en-US" sz="1700" dirty="0">
                <a:solidFill>
                  <a:srgbClr val="000000"/>
                </a:solidFill>
                <a:latin typeface="DM Sans" pitchFamily="34" charset="0"/>
                <a:ea typeface="DM Sans" pitchFamily="34" charset="-122"/>
                <a:cs typeface="DM Sans" pitchFamily="34" charset="-120"/>
              </a:rPr>
              <a:t> the </a:t>
            </a:r>
            <a:r>
              <a:rPr lang="en-US" sz="1700" dirty="0">
                <a:solidFill>
                  <a:srgbClr val="000000"/>
                </a:solidFill>
                <a:highlight>
                  <a:srgbClr val="F2F2F2"/>
                </a:highlight>
                <a:latin typeface="Consolas" pitchFamily="34" charset="0"/>
                <a:ea typeface="Consolas" pitchFamily="34" charset="-122"/>
                <a:cs typeface="Consolas" pitchFamily="34" charset="-120"/>
              </a:rPr>
              <a:t>Linear</a:t>
            </a:r>
            <a:r>
              <a:rPr lang="en-US" sz="1700" dirty="0">
                <a:solidFill>
                  <a:srgbClr val="000000"/>
                </a:solidFill>
                <a:latin typeface="DM Sans" pitchFamily="34" charset="0"/>
                <a:ea typeface="DM Sans" pitchFamily="34" charset="-122"/>
                <a:cs typeface="DM Sans" pitchFamily="34" charset="-120"/>
              </a:rPr>
              <a:t> layer and </a:t>
            </a:r>
            <a:r>
              <a:rPr lang="en-US" sz="1700" i="1" dirty="0">
                <a:solidFill>
                  <a:srgbClr val="000000"/>
                </a:solidFill>
                <a:latin typeface="DM Sans" pitchFamily="34" charset="0"/>
                <a:ea typeface="DM Sans" pitchFamily="34" charset="-122"/>
                <a:cs typeface="DM Sans" pitchFamily="34" charset="-120"/>
              </a:rPr>
              <a:t>before</a:t>
            </a:r>
            <a:r>
              <a:rPr lang="en-US" sz="1700" dirty="0">
                <a:solidFill>
                  <a:srgbClr val="000000"/>
                </a:solidFill>
                <a:latin typeface="DM Sans" pitchFamily="34" charset="0"/>
                <a:ea typeface="DM Sans" pitchFamily="34" charset="-122"/>
                <a:cs typeface="DM Sans" pitchFamily="34" charset="-120"/>
              </a:rPr>
              <a:t> the activation function.</a:t>
            </a:r>
            <a:endParaRPr lang="en-US" sz="1700" dirty="0"/>
          </a:p>
        </p:txBody>
      </p:sp>
      <p:sp>
        <p:nvSpPr>
          <p:cNvPr id="9" name="Shape 6"/>
          <p:cNvSpPr/>
          <p:nvPr/>
        </p:nvSpPr>
        <p:spPr>
          <a:xfrm>
            <a:off x="7589639" y="2424827"/>
            <a:ext cx="6282928" cy="4904423"/>
          </a:xfrm>
          <a:prstGeom prst="roundRect">
            <a:avLst>
              <a:gd name="adj" fmla="val 669"/>
            </a:avLst>
          </a:prstGeom>
          <a:solidFill>
            <a:srgbClr val="F2F2F2"/>
          </a:solidFill>
          <a:ln/>
        </p:spPr>
      </p:sp>
      <p:sp>
        <p:nvSpPr>
          <p:cNvPr id="10" name="Shape 7"/>
          <p:cNvSpPr/>
          <p:nvPr/>
        </p:nvSpPr>
        <p:spPr>
          <a:xfrm>
            <a:off x="7578804" y="2424827"/>
            <a:ext cx="6304598" cy="5458991"/>
          </a:xfrm>
          <a:prstGeom prst="roundRect">
            <a:avLst>
              <a:gd name="adj" fmla="val 669"/>
            </a:avLst>
          </a:prstGeom>
          <a:solidFill>
            <a:srgbClr val="F2F2F2"/>
          </a:solidFill>
          <a:ln/>
        </p:spPr>
      </p:sp>
      <p:sp>
        <p:nvSpPr>
          <p:cNvPr id="11" name="Text 8"/>
          <p:cNvSpPr/>
          <p:nvPr/>
        </p:nvSpPr>
        <p:spPr>
          <a:xfrm>
            <a:off x="7888366" y="2528285"/>
            <a:ext cx="5757863" cy="4466987"/>
          </a:xfrm>
          <a:prstGeom prst="rect">
            <a:avLst/>
          </a:prstGeom>
          <a:noFill/>
          <a:ln/>
        </p:spPr>
        <p:txBody>
          <a:bodyPr wrap="square" lIns="0" tIns="0" rIns="0" bIns="0" rtlCol="0" anchor="t"/>
          <a:lstStyle/>
          <a:p>
            <a:pPr>
              <a:lnSpc>
                <a:spcPts val="2700"/>
              </a:lnSpc>
            </a:pPr>
            <a:r>
              <a:rPr lang="en-US" sz="1700" dirty="0">
                <a:solidFill>
                  <a:srgbClr val="22863A"/>
                </a:solidFill>
                <a:latin typeface="DM Sans" pitchFamily="2" charset="0"/>
                <a:ea typeface="Consolas" pitchFamily="34" charset="-122"/>
                <a:cs typeface="Consolas" pitchFamily="34" charset="-120"/>
              </a:rPr>
              <a:t>model_16_bn = </a:t>
            </a:r>
            <a:r>
              <a:rPr lang="en-US" sz="1700" dirty="0" err="1">
                <a:solidFill>
                  <a:srgbClr val="22863A"/>
                </a:solidFill>
                <a:latin typeface="DM Sans" pitchFamily="2" charset="0"/>
                <a:ea typeface="Consolas" pitchFamily="34" charset="-122"/>
                <a:cs typeface="Consolas" pitchFamily="34" charset="-120"/>
              </a:rPr>
              <a:t>NeuralNetClassifier</a:t>
            </a:r>
            <a:r>
              <a:rPr lang="en-US" sz="1700" dirty="0">
                <a:solidFill>
                  <a:srgbClr val="22863A"/>
                </a:solidFill>
                <a:latin typeface="DM Sans" pitchFamily="2" charset="0"/>
                <a:ea typeface="Consolas" pitchFamily="34" charset="-122"/>
                <a:cs typeface="Consolas" pitchFamily="34" charset="-120"/>
              </a:rPr>
              <a:t>(</a:t>
            </a:r>
          </a:p>
          <a:p>
            <a:pPr>
              <a:lnSpc>
                <a:spcPts val="2700"/>
              </a:lnSpc>
            </a:pPr>
            <a:r>
              <a:rPr lang="en-US" sz="1700" dirty="0">
                <a:solidFill>
                  <a:srgbClr val="22863A"/>
                </a:solidFill>
                <a:latin typeface="DM Sans" pitchFamily="2" charset="0"/>
                <a:ea typeface="Consolas" pitchFamily="34" charset="-122"/>
                <a:cs typeface="Consolas" pitchFamily="34" charset="-120"/>
              </a:rPr>
              <a:t>    module=</a:t>
            </a:r>
            <a:r>
              <a:rPr lang="en-US" sz="1700" dirty="0" err="1">
                <a:solidFill>
                  <a:srgbClr val="22863A"/>
                </a:solidFill>
                <a:latin typeface="DM Sans" pitchFamily="2" charset="0"/>
                <a:ea typeface="Consolas" pitchFamily="34" charset="-122"/>
                <a:cs typeface="Consolas" pitchFamily="34" charset="-120"/>
              </a:rPr>
              <a:t>nn.Sequential</a:t>
            </a:r>
            <a:r>
              <a:rPr lang="en-US" sz="1700" dirty="0">
                <a:solidFill>
                  <a:srgbClr val="22863A"/>
                </a:solidFill>
                <a:latin typeface="DM Sans" pitchFamily="2" charset="0"/>
                <a:ea typeface="Consolas" pitchFamily="34" charset="-122"/>
                <a:cs typeface="Consolas" pitchFamily="34" charset="-120"/>
              </a:rPr>
              <a:t>(</a:t>
            </a:r>
          </a:p>
          <a:p>
            <a:pPr>
              <a:lnSpc>
                <a:spcPts val="2700"/>
              </a:lnSpc>
            </a:pP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nn.Linear</a:t>
            </a:r>
            <a:r>
              <a:rPr lang="en-US" sz="1700" dirty="0">
                <a:solidFill>
                  <a:srgbClr val="22863A"/>
                </a:solidFill>
                <a:latin typeface="DM Sans" pitchFamily="2" charset="0"/>
                <a:ea typeface="Consolas" pitchFamily="34" charset="-122"/>
                <a:cs typeface="Consolas" pitchFamily="34" charset="-120"/>
              </a:rPr>
              <a:t>(</a:t>
            </a:r>
            <a:r>
              <a:rPr lang="en-US" sz="1700" dirty="0" err="1">
                <a:solidFill>
                  <a:srgbClr val="22863A"/>
                </a:solidFill>
                <a:latin typeface="DM Sans" pitchFamily="2" charset="0"/>
                <a:ea typeface="Consolas" pitchFamily="34" charset="-122"/>
                <a:cs typeface="Consolas" pitchFamily="34" charset="-120"/>
              </a:rPr>
              <a:t>input_dim</a:t>
            </a:r>
            <a:r>
              <a:rPr lang="en-US" sz="1700" dirty="0">
                <a:solidFill>
                  <a:srgbClr val="22863A"/>
                </a:solidFill>
                <a:latin typeface="DM Sans" pitchFamily="2" charset="0"/>
                <a:ea typeface="Consolas" pitchFamily="34" charset="-122"/>
                <a:cs typeface="Consolas" pitchFamily="34" charset="-120"/>
              </a:rPr>
              <a:t>, 16),</a:t>
            </a:r>
          </a:p>
          <a:p>
            <a:pPr>
              <a:lnSpc>
                <a:spcPts val="2700"/>
              </a:lnSpc>
            </a:pPr>
            <a:r>
              <a:rPr lang="en-US" sz="1700" dirty="0">
                <a:solidFill>
                  <a:srgbClr val="22863A"/>
                </a:solidFill>
                <a:latin typeface="DM Sans" pitchFamily="2" charset="0"/>
                <a:ea typeface="Consolas" pitchFamily="34" charset="-122"/>
                <a:cs typeface="Consolas" pitchFamily="34" charset="-120"/>
              </a:rPr>
              <a:t>        nn.BatchNorm1d(16),   # Batch Normalization added</a:t>
            </a:r>
          </a:p>
          <a:p>
            <a:pPr>
              <a:lnSpc>
                <a:spcPts val="2700"/>
              </a:lnSpc>
            </a:pP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nn.ReLU</a:t>
            </a:r>
            <a:r>
              <a:rPr lang="en-US" sz="1700" dirty="0">
                <a:solidFill>
                  <a:srgbClr val="22863A"/>
                </a:solidFill>
                <a:latin typeface="DM Sans" pitchFamily="2" charset="0"/>
                <a:ea typeface="Consolas" pitchFamily="34" charset="-122"/>
                <a:cs typeface="Consolas" pitchFamily="34" charset="-120"/>
              </a:rPr>
              <a:t>(),</a:t>
            </a:r>
          </a:p>
          <a:p>
            <a:pPr>
              <a:lnSpc>
                <a:spcPts val="2700"/>
              </a:lnSpc>
            </a:pP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nn.Linear</a:t>
            </a:r>
            <a:r>
              <a:rPr lang="en-US" sz="1700" dirty="0">
                <a:solidFill>
                  <a:srgbClr val="22863A"/>
                </a:solidFill>
                <a:latin typeface="DM Sans" pitchFamily="2" charset="0"/>
                <a:ea typeface="Consolas" pitchFamily="34" charset="-122"/>
                <a:cs typeface="Consolas" pitchFamily="34" charset="-120"/>
              </a:rPr>
              <a:t>(16, 1)</a:t>
            </a:r>
          </a:p>
          <a:p>
            <a:pPr>
              <a:lnSpc>
                <a:spcPts val="2700"/>
              </a:lnSpc>
            </a:pPr>
            <a:r>
              <a:rPr lang="en-US" sz="1700" dirty="0">
                <a:solidFill>
                  <a:srgbClr val="22863A"/>
                </a:solidFill>
                <a:latin typeface="DM Sans" pitchFamily="2" charset="0"/>
                <a:ea typeface="Consolas" pitchFamily="34" charset="-122"/>
                <a:cs typeface="Consolas" pitchFamily="34" charset="-120"/>
              </a:rPr>
              <a:t>    ),</a:t>
            </a:r>
          </a:p>
          <a:p>
            <a:pPr>
              <a:lnSpc>
                <a:spcPts val="2700"/>
              </a:lnSpc>
            </a:pP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max_epochs</a:t>
            </a:r>
            <a:r>
              <a:rPr lang="en-US" sz="1700" dirty="0">
                <a:solidFill>
                  <a:srgbClr val="22863A"/>
                </a:solidFill>
                <a:latin typeface="DM Sans" pitchFamily="2" charset="0"/>
                <a:ea typeface="Consolas" pitchFamily="34" charset="-122"/>
                <a:cs typeface="Consolas" pitchFamily="34" charset="-120"/>
              </a:rPr>
              <a:t>=300,</a:t>
            </a:r>
          </a:p>
          <a:p>
            <a:pPr>
              <a:lnSpc>
                <a:spcPts val="2700"/>
              </a:lnSpc>
            </a:pPr>
            <a:r>
              <a:rPr lang="en-US" sz="1700" dirty="0">
                <a:solidFill>
                  <a:srgbClr val="22863A"/>
                </a:solidFill>
                <a:latin typeface="DM Sans" pitchFamily="2" charset="0"/>
                <a:ea typeface="Consolas" pitchFamily="34" charset="-122"/>
                <a:cs typeface="Consolas" pitchFamily="34" charset="-120"/>
              </a:rPr>
              <a:t>    optimizer=</a:t>
            </a:r>
            <a:r>
              <a:rPr lang="en-US" sz="1700" dirty="0" err="1">
                <a:solidFill>
                  <a:srgbClr val="22863A"/>
                </a:solidFill>
                <a:latin typeface="DM Sans" pitchFamily="2" charset="0"/>
                <a:ea typeface="Consolas" pitchFamily="34" charset="-122"/>
                <a:cs typeface="Consolas" pitchFamily="34" charset="-120"/>
              </a:rPr>
              <a:t>optim.Adam</a:t>
            </a:r>
            <a:r>
              <a:rPr lang="en-US" sz="1700" dirty="0">
                <a:solidFill>
                  <a:srgbClr val="22863A"/>
                </a:solidFill>
                <a:latin typeface="DM Sans" pitchFamily="2" charset="0"/>
                <a:ea typeface="Consolas" pitchFamily="34" charset="-122"/>
                <a:cs typeface="Consolas" pitchFamily="34" charset="-120"/>
              </a:rPr>
              <a:t>,</a:t>
            </a:r>
          </a:p>
          <a:p>
            <a:pPr>
              <a:lnSpc>
                <a:spcPts val="2700"/>
              </a:lnSpc>
            </a:pPr>
            <a:r>
              <a:rPr lang="en-US" sz="1700" dirty="0">
                <a:solidFill>
                  <a:srgbClr val="22863A"/>
                </a:solidFill>
                <a:latin typeface="DM Sans" pitchFamily="2" charset="0"/>
                <a:ea typeface="Consolas" pitchFamily="34" charset="-122"/>
                <a:cs typeface="Consolas" pitchFamily="34" charset="-120"/>
              </a:rPr>
              <a:t>    criterion=</a:t>
            </a:r>
            <a:r>
              <a:rPr lang="en-US" sz="1700" dirty="0" err="1">
                <a:solidFill>
                  <a:srgbClr val="22863A"/>
                </a:solidFill>
                <a:latin typeface="DM Sans" pitchFamily="2" charset="0"/>
                <a:ea typeface="Consolas" pitchFamily="34" charset="-122"/>
                <a:cs typeface="Consolas" pitchFamily="34" charset="-120"/>
              </a:rPr>
              <a:t>nn.BCEWithLogitsLoss</a:t>
            </a:r>
            <a:r>
              <a:rPr lang="en-US" sz="1700" dirty="0">
                <a:solidFill>
                  <a:srgbClr val="22863A"/>
                </a:solidFill>
                <a:latin typeface="DM Sans" pitchFamily="2" charset="0"/>
                <a:ea typeface="Consolas" pitchFamily="34" charset="-122"/>
                <a:cs typeface="Consolas" pitchFamily="34" charset="-120"/>
              </a:rPr>
              <a:t>,</a:t>
            </a:r>
          </a:p>
          <a:p>
            <a:pPr>
              <a:lnSpc>
                <a:spcPts val="2700"/>
              </a:lnSpc>
            </a:pP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batch_size</a:t>
            </a:r>
            <a:r>
              <a:rPr lang="en-US" sz="1700" dirty="0">
                <a:solidFill>
                  <a:srgbClr val="22863A"/>
                </a:solidFill>
                <a:latin typeface="DM Sans" pitchFamily="2" charset="0"/>
                <a:ea typeface="Consolas" pitchFamily="34" charset="-122"/>
                <a:cs typeface="Consolas" pitchFamily="34" charset="-120"/>
              </a:rPr>
              <a:t>=32,</a:t>
            </a:r>
          </a:p>
          <a:p>
            <a:pPr>
              <a:lnSpc>
                <a:spcPts val="2700"/>
              </a:lnSpc>
            </a:pPr>
            <a:r>
              <a:rPr lang="en-US" sz="1700" dirty="0">
                <a:solidFill>
                  <a:srgbClr val="22863A"/>
                </a:solidFill>
                <a:latin typeface="DM Sans" pitchFamily="2" charset="0"/>
                <a:ea typeface="Consolas" pitchFamily="34" charset="-122"/>
                <a:cs typeface="Consolas" pitchFamily="34" charset="-120"/>
              </a:rPr>
              <a:t>    verbose=0</a:t>
            </a:r>
          </a:p>
          <a:p>
            <a:pPr>
              <a:lnSpc>
                <a:spcPts val="2700"/>
              </a:lnSpc>
            </a:pPr>
            <a:r>
              <a:rPr lang="en-US" sz="1700" dirty="0">
                <a:solidFill>
                  <a:srgbClr val="22863A"/>
                </a:solidFill>
                <a:latin typeface="DM Sans" pitchFamily="2" charset="0"/>
                <a:ea typeface="Consolas" pitchFamily="34" charset="-122"/>
                <a:cs typeface="Consolas" pitchFamily="34" charset="-120"/>
              </a:rPr>
              <a:t>)</a:t>
            </a:r>
          </a:p>
          <a:p>
            <a:pPr>
              <a:lnSpc>
                <a:spcPts val="2700"/>
              </a:lnSpc>
            </a:pPr>
            <a:endParaRPr lang="en-US" sz="1700" dirty="0">
              <a:solidFill>
                <a:srgbClr val="22863A"/>
              </a:solidFill>
              <a:latin typeface="DM Sans" pitchFamily="2" charset="0"/>
              <a:ea typeface="Consolas" pitchFamily="34" charset="-122"/>
              <a:cs typeface="Consolas" pitchFamily="34" charset="-120"/>
            </a:endParaRPr>
          </a:p>
          <a:p>
            <a:pPr>
              <a:lnSpc>
                <a:spcPts val="2700"/>
              </a:lnSpc>
            </a:pPr>
            <a:r>
              <a:rPr lang="en-US" sz="1700" dirty="0">
                <a:solidFill>
                  <a:srgbClr val="22863A"/>
                </a:solidFill>
                <a:latin typeface="DM Sans" pitchFamily="2" charset="0"/>
                <a:ea typeface="Consolas" pitchFamily="34" charset="-122"/>
                <a:cs typeface="Consolas" pitchFamily="34" charset="-120"/>
              </a:rPr>
              <a:t>model_16_bn.fit(</a:t>
            </a:r>
            <a:r>
              <a:rPr lang="en-US" sz="1700" dirty="0" err="1">
                <a:solidFill>
                  <a:srgbClr val="22863A"/>
                </a:solidFill>
                <a:latin typeface="DM Sans" pitchFamily="2" charset="0"/>
                <a:ea typeface="Consolas" pitchFamily="34" charset="-122"/>
                <a:cs typeface="Consolas" pitchFamily="34" charset="-120"/>
              </a:rPr>
              <a:t>X_train_t</a:t>
            </a:r>
            <a:r>
              <a:rPr lang="en-US" sz="1700" dirty="0">
                <a:solidFill>
                  <a:srgbClr val="22863A"/>
                </a:solidFill>
                <a:latin typeface="DM Sans" pitchFamily="2" charset="0"/>
                <a:ea typeface="Consolas" pitchFamily="34" charset="-122"/>
                <a:cs typeface="Consolas" pitchFamily="34" charset="-120"/>
              </a:rPr>
              <a:t>, </a:t>
            </a:r>
            <a:r>
              <a:rPr lang="en-US" sz="1700" dirty="0" err="1">
                <a:solidFill>
                  <a:srgbClr val="22863A"/>
                </a:solidFill>
                <a:latin typeface="DM Sans" pitchFamily="2" charset="0"/>
                <a:ea typeface="Consolas" pitchFamily="34" charset="-122"/>
                <a:cs typeface="Consolas" pitchFamily="34" charset="-120"/>
              </a:rPr>
              <a:t>y_train_t</a:t>
            </a:r>
            <a:r>
              <a:rPr lang="en-US" sz="1700" dirty="0">
                <a:solidFill>
                  <a:srgbClr val="22863A"/>
                </a:solidFill>
                <a:latin typeface="DM Sans" pitchFamily="2" charset="0"/>
                <a:ea typeface="Consolas" pitchFamily="34" charset="-122"/>
                <a:cs typeface="Consolas" pitchFamily="34" charset="-120"/>
              </a:rPr>
              <a:t>)</a:t>
            </a:r>
            <a:endParaRPr lang="en-US" sz="1700" dirty="0">
              <a:latin typeface="DM Sans" pitchFamily="2" charset="0"/>
            </a:endParaRPr>
          </a:p>
        </p:txBody>
      </p:sp>
      <p:sp>
        <p:nvSpPr>
          <p:cNvPr id="2" name="TextBox 1">
            <a:extLst>
              <a:ext uri="{FF2B5EF4-FFF2-40B4-BE49-F238E27FC236}">
                <a16:creationId xmlns:a16="http://schemas.microsoft.com/office/drawing/2014/main" id="{7F77F283-46BE-2E44-B299-F984E46CC806}"/>
              </a:ext>
            </a:extLst>
          </p:cNvPr>
          <p:cNvSpPr txBox="1"/>
          <p:nvPr/>
        </p:nvSpPr>
        <p:spPr>
          <a:xfrm>
            <a:off x="209746" y="5641146"/>
            <a:ext cx="7568097" cy="923330"/>
          </a:xfrm>
          <a:prstGeom prst="rect">
            <a:avLst/>
          </a:prstGeom>
          <a:noFill/>
        </p:spPr>
        <p:txBody>
          <a:bodyPr wrap="none" rtlCol="0">
            <a:spAutoFit/>
          </a:bodyPr>
          <a:lstStyle/>
          <a:p>
            <a:r>
              <a:rPr lang="en-IN" dirty="0">
                <a:latin typeface="DM Sans" pitchFamily="2" charset="0"/>
              </a:rPr>
              <a:t>Applies batch normalization to 4 features (neurons) coming from the </a:t>
            </a:r>
          </a:p>
          <a:p>
            <a:r>
              <a:rPr lang="en-IN" dirty="0">
                <a:latin typeface="DM Sans" pitchFamily="2" charset="0"/>
              </a:rPr>
              <a:t>first hidden layer, stabilizing and speeding up training by normalizing</a:t>
            </a:r>
          </a:p>
          <a:p>
            <a:r>
              <a:rPr lang="en-IN" dirty="0">
                <a:latin typeface="DM Sans" pitchFamily="2" charset="0"/>
              </a:rPr>
              <a:t>their outputs.</a:t>
            </a:r>
            <a:endParaRPr lang="en-US" dirty="0">
              <a:latin typeface="DM Sans" pitchFamily="2" charset="0"/>
            </a:endParaRPr>
          </a:p>
        </p:txBody>
      </p:sp>
    </p:spTree>
    <p:extLst>
      <p:ext uri="{BB962C8B-B14F-4D97-AF65-F5344CB8AC3E}">
        <p14:creationId xmlns:p14="http://schemas.microsoft.com/office/powerpoint/2010/main" val="87101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4" name="Text 2"/>
          <p:cNvSpPr/>
          <p:nvPr/>
        </p:nvSpPr>
        <p:spPr>
          <a:xfrm>
            <a:off x="759381" y="699849"/>
            <a:ext cx="5133856" cy="641747"/>
          </a:xfrm>
          <a:prstGeom prst="rect">
            <a:avLst/>
          </a:prstGeom>
          <a:noFill/>
          <a:ln/>
        </p:spPr>
        <p:txBody>
          <a:bodyPr wrap="none" lIns="0" tIns="0" rIns="0" bIns="0" rtlCol="0" anchor="t"/>
          <a:lstStyle/>
          <a:p>
            <a:pPr marL="0" indent="0" algn="l">
              <a:lnSpc>
                <a:spcPts val="5050"/>
              </a:lnSpc>
              <a:buNone/>
            </a:pPr>
            <a:r>
              <a:rPr lang="en-US" sz="4000" dirty="0">
                <a:solidFill>
                  <a:srgbClr val="020202"/>
                </a:solidFill>
                <a:latin typeface="PT Serif" pitchFamily="34" charset="0"/>
                <a:ea typeface="PT Serif" pitchFamily="34" charset="-122"/>
                <a:cs typeface="PT Serif" pitchFamily="34" charset="-120"/>
              </a:rPr>
              <a:t>Batch Size- Method of Optimizing Training Speed</a:t>
            </a:r>
            <a:endParaRPr lang="en-US" sz="4000" dirty="0"/>
          </a:p>
        </p:txBody>
      </p:sp>
      <p:sp>
        <p:nvSpPr>
          <p:cNvPr id="5" name="Text 3"/>
          <p:cNvSpPr/>
          <p:nvPr/>
        </p:nvSpPr>
        <p:spPr>
          <a:xfrm>
            <a:off x="772478" y="1667470"/>
            <a:ext cx="13065919" cy="621268"/>
          </a:xfrm>
          <a:prstGeom prst="rect">
            <a:avLst/>
          </a:prstGeom>
          <a:noFill/>
          <a:ln/>
        </p:spPr>
        <p:txBody>
          <a:bodyPr wrap="square" lIns="0" tIns="0" rIns="0" bIns="0" rtlCol="0" anchor="t"/>
          <a:lstStyle/>
          <a:p>
            <a:pPr marL="0" indent="0" algn="l">
              <a:lnSpc>
                <a:spcPts val="2400"/>
              </a:lnSpc>
              <a:buNone/>
            </a:pPr>
            <a:r>
              <a:rPr lang="en-US" dirty="0">
                <a:solidFill>
                  <a:srgbClr val="383838"/>
                </a:solidFill>
                <a:latin typeface="DM Sans" pitchFamily="34" charset="0"/>
                <a:ea typeface="DM Sans" pitchFamily="34" charset="-122"/>
                <a:cs typeface="DM Sans" pitchFamily="34" charset="-120"/>
              </a:rPr>
              <a:t>The </a:t>
            </a:r>
            <a:r>
              <a:rPr lang="en-US" b="1" dirty="0">
                <a:solidFill>
                  <a:srgbClr val="383838"/>
                </a:solidFill>
                <a:latin typeface="DM Sans" pitchFamily="34" charset="0"/>
                <a:ea typeface="DM Sans" pitchFamily="34" charset="-122"/>
                <a:cs typeface="DM Sans" pitchFamily="34" charset="-120"/>
              </a:rPr>
              <a:t>batch size</a:t>
            </a:r>
            <a:r>
              <a:rPr lang="en-US" dirty="0">
                <a:solidFill>
                  <a:srgbClr val="383838"/>
                </a:solidFill>
                <a:latin typeface="DM Sans" pitchFamily="34" charset="0"/>
                <a:ea typeface="DM Sans" pitchFamily="34" charset="-122"/>
                <a:cs typeface="DM Sans" pitchFamily="34" charset="-120"/>
              </a:rPr>
              <a:t> is the number of training samples the model processes in a single forward and backward pass before updating the weights. It is one of the most impactful hyperparameters affecting training dynamics, speed, and generalisation.</a:t>
            </a:r>
            <a:endParaRPr lang="en-US" dirty="0"/>
          </a:p>
        </p:txBody>
      </p:sp>
      <p:sp>
        <p:nvSpPr>
          <p:cNvPr id="6" name="Shape 4"/>
          <p:cNvSpPr/>
          <p:nvPr/>
        </p:nvSpPr>
        <p:spPr>
          <a:xfrm>
            <a:off x="782241" y="2926794"/>
            <a:ext cx="4226838" cy="2737009"/>
          </a:xfrm>
          <a:prstGeom prst="roundRect">
            <a:avLst>
              <a:gd name="adj" fmla="val 4009"/>
            </a:avLst>
          </a:prstGeom>
          <a:solidFill>
            <a:srgbClr val="FFFFFF"/>
          </a:solidFill>
          <a:ln w="22860">
            <a:solidFill>
              <a:srgbClr val="D8D4D4"/>
            </a:solidFill>
            <a:prstDash val="solid"/>
          </a:ln>
        </p:spPr>
      </p:sp>
      <p:sp>
        <p:nvSpPr>
          <p:cNvPr id="7" name="Shape 5"/>
          <p:cNvSpPr/>
          <p:nvPr/>
        </p:nvSpPr>
        <p:spPr>
          <a:xfrm>
            <a:off x="759381" y="2926794"/>
            <a:ext cx="91440" cy="2737009"/>
          </a:xfrm>
          <a:prstGeom prst="roundRect">
            <a:avLst>
              <a:gd name="adj" fmla="val 32083"/>
            </a:avLst>
          </a:prstGeom>
          <a:solidFill>
            <a:srgbClr val="E04F00"/>
          </a:solidFill>
          <a:ln/>
        </p:spPr>
      </p:sp>
      <p:sp>
        <p:nvSpPr>
          <p:cNvPr id="8" name="Text 6"/>
          <p:cNvSpPr/>
          <p:nvPr/>
        </p:nvSpPr>
        <p:spPr>
          <a:xfrm>
            <a:off x="1069181" y="3145155"/>
            <a:ext cx="2763441" cy="320873"/>
          </a:xfrm>
          <a:prstGeom prst="rect">
            <a:avLst/>
          </a:prstGeom>
          <a:noFill/>
          <a:ln/>
        </p:spPr>
        <p:txBody>
          <a:bodyPr wrap="none" lIns="0" tIns="0" rIns="0" bIns="0" rtlCol="0" anchor="t"/>
          <a:lstStyle/>
          <a:p>
            <a:pPr marL="0" indent="0" algn="l">
              <a:lnSpc>
                <a:spcPts val="2500"/>
              </a:lnSpc>
              <a:buNone/>
            </a:pPr>
            <a:r>
              <a:rPr lang="en-US" sz="2000" dirty="0">
                <a:solidFill>
                  <a:srgbClr val="383838"/>
                </a:solidFill>
                <a:latin typeface="PT Serif" pitchFamily="34" charset="0"/>
                <a:ea typeface="PT Serif" pitchFamily="34" charset="-122"/>
                <a:cs typeface="PT Serif" pitchFamily="34" charset="-120"/>
              </a:rPr>
              <a:t>Small Batch (e.g. 16–32)</a:t>
            </a:r>
            <a:endParaRPr lang="en-US" sz="2000" dirty="0"/>
          </a:p>
        </p:txBody>
      </p:sp>
      <p:sp>
        <p:nvSpPr>
          <p:cNvPr id="9" name="Text 7"/>
          <p:cNvSpPr/>
          <p:nvPr/>
        </p:nvSpPr>
        <p:spPr>
          <a:xfrm>
            <a:off x="1069181" y="3488540"/>
            <a:ext cx="3721537" cy="1863804"/>
          </a:xfrm>
          <a:prstGeom prst="rect">
            <a:avLst/>
          </a:prstGeom>
          <a:noFill/>
          <a:ln/>
        </p:spPr>
        <p:txBody>
          <a:bodyPr wrap="square" lIns="0" tIns="0" rIns="0" bIns="0" rtlCol="0" anchor="t"/>
          <a:lstStyle/>
          <a:p>
            <a:pPr marL="0" indent="0" algn="l">
              <a:lnSpc>
                <a:spcPts val="2400"/>
              </a:lnSpc>
              <a:buNone/>
            </a:pPr>
            <a:r>
              <a:rPr lang="en-US" sz="1700" dirty="0">
                <a:solidFill>
                  <a:srgbClr val="383838"/>
                </a:solidFill>
                <a:latin typeface="DM Sans" pitchFamily="34" charset="0"/>
                <a:ea typeface="DM Sans" pitchFamily="34" charset="-122"/>
                <a:cs typeface="DM Sans" pitchFamily="34" charset="-120"/>
              </a:rPr>
              <a:t>More frequent weight updates. Introduces noise into gradient estimates — this can act as implicit regularization and sometimes improves generalisation. Slower in wall-clock time per epoch but may converge in fewer epochs.</a:t>
            </a:r>
            <a:endParaRPr lang="en-US" sz="1700" dirty="0"/>
          </a:p>
        </p:txBody>
      </p:sp>
      <p:sp>
        <p:nvSpPr>
          <p:cNvPr id="10" name="Shape 8"/>
          <p:cNvSpPr/>
          <p:nvPr/>
        </p:nvSpPr>
        <p:spPr>
          <a:xfrm>
            <a:off x="5201722" y="2926794"/>
            <a:ext cx="4226838" cy="2737009"/>
          </a:xfrm>
          <a:prstGeom prst="roundRect">
            <a:avLst>
              <a:gd name="adj" fmla="val 4009"/>
            </a:avLst>
          </a:prstGeom>
          <a:solidFill>
            <a:srgbClr val="FFFFFF"/>
          </a:solidFill>
          <a:ln w="22860">
            <a:solidFill>
              <a:srgbClr val="D8D4D4"/>
            </a:solidFill>
            <a:prstDash val="solid"/>
          </a:ln>
        </p:spPr>
      </p:sp>
      <p:sp>
        <p:nvSpPr>
          <p:cNvPr id="11" name="Shape 9"/>
          <p:cNvSpPr/>
          <p:nvPr/>
        </p:nvSpPr>
        <p:spPr>
          <a:xfrm>
            <a:off x="5178862" y="2926794"/>
            <a:ext cx="91440" cy="2737009"/>
          </a:xfrm>
          <a:prstGeom prst="roundRect">
            <a:avLst>
              <a:gd name="adj" fmla="val 32083"/>
            </a:avLst>
          </a:prstGeom>
          <a:solidFill>
            <a:srgbClr val="E04F00"/>
          </a:solidFill>
          <a:ln/>
        </p:spPr>
      </p:sp>
      <p:sp>
        <p:nvSpPr>
          <p:cNvPr id="12" name="Text 10"/>
          <p:cNvSpPr/>
          <p:nvPr/>
        </p:nvSpPr>
        <p:spPr>
          <a:xfrm>
            <a:off x="5488662" y="3145155"/>
            <a:ext cx="3163729" cy="320873"/>
          </a:xfrm>
          <a:prstGeom prst="rect">
            <a:avLst/>
          </a:prstGeom>
          <a:noFill/>
          <a:ln/>
        </p:spPr>
        <p:txBody>
          <a:bodyPr wrap="none" lIns="0" tIns="0" rIns="0" bIns="0" rtlCol="0" anchor="t"/>
          <a:lstStyle/>
          <a:p>
            <a:pPr marL="0" indent="0" algn="l">
              <a:lnSpc>
                <a:spcPts val="2500"/>
              </a:lnSpc>
              <a:buNone/>
            </a:pPr>
            <a:r>
              <a:rPr lang="en-US" sz="2000" dirty="0">
                <a:solidFill>
                  <a:srgbClr val="383838"/>
                </a:solidFill>
                <a:latin typeface="PT Serif" pitchFamily="34" charset="0"/>
                <a:ea typeface="PT Serif" pitchFamily="34" charset="-122"/>
                <a:cs typeface="PT Serif" pitchFamily="34" charset="-120"/>
              </a:rPr>
              <a:t>Large Batch (e.g. 256–1024)</a:t>
            </a:r>
            <a:endParaRPr lang="en-US" sz="2000" dirty="0"/>
          </a:p>
        </p:txBody>
      </p:sp>
      <p:sp>
        <p:nvSpPr>
          <p:cNvPr id="13" name="Text 11"/>
          <p:cNvSpPr/>
          <p:nvPr/>
        </p:nvSpPr>
        <p:spPr>
          <a:xfrm>
            <a:off x="5488662" y="3581638"/>
            <a:ext cx="3721537" cy="1553170"/>
          </a:xfrm>
          <a:prstGeom prst="rect">
            <a:avLst/>
          </a:prstGeom>
          <a:noFill/>
          <a:ln/>
        </p:spPr>
        <p:txBody>
          <a:bodyPr wrap="square" lIns="0" tIns="0" rIns="0" bIns="0" rtlCol="0" anchor="t"/>
          <a:lstStyle/>
          <a:p>
            <a:pPr marL="0" indent="0" algn="l">
              <a:lnSpc>
                <a:spcPts val="2400"/>
              </a:lnSpc>
              <a:buNone/>
            </a:pPr>
            <a:r>
              <a:rPr lang="en-US" sz="1700" dirty="0">
                <a:solidFill>
                  <a:srgbClr val="383838"/>
                </a:solidFill>
                <a:latin typeface="DM Sans" pitchFamily="34" charset="0"/>
                <a:ea typeface="DM Sans" pitchFamily="34" charset="-122"/>
                <a:cs typeface="DM Sans" pitchFamily="34" charset="-120"/>
              </a:rPr>
              <a:t>Fewer, more stable updates per epoch. Faster throughput on GPUs due to parallelism. However, may converge to sharp minima that generalise less well. Often requires a larger learning rate</a:t>
            </a:r>
            <a:r>
              <a:rPr lang="en-US" sz="1500" dirty="0">
                <a:solidFill>
                  <a:srgbClr val="383838"/>
                </a:solidFill>
                <a:latin typeface="DM Sans" pitchFamily="34" charset="0"/>
                <a:ea typeface="DM Sans" pitchFamily="34" charset="-122"/>
                <a:cs typeface="DM Sans" pitchFamily="34" charset="-120"/>
              </a:rPr>
              <a:t>.</a:t>
            </a:r>
            <a:endParaRPr lang="en-US" sz="1500" dirty="0"/>
          </a:p>
        </p:txBody>
      </p:sp>
      <p:sp>
        <p:nvSpPr>
          <p:cNvPr id="14" name="Shape 12"/>
          <p:cNvSpPr/>
          <p:nvPr/>
        </p:nvSpPr>
        <p:spPr>
          <a:xfrm>
            <a:off x="9621203" y="2926794"/>
            <a:ext cx="4226957" cy="2737009"/>
          </a:xfrm>
          <a:prstGeom prst="roundRect">
            <a:avLst>
              <a:gd name="adj" fmla="val 4009"/>
            </a:avLst>
          </a:prstGeom>
          <a:solidFill>
            <a:srgbClr val="FFFFFF"/>
          </a:solidFill>
          <a:ln w="22860">
            <a:solidFill>
              <a:srgbClr val="D8D4D4"/>
            </a:solidFill>
            <a:prstDash val="solid"/>
          </a:ln>
        </p:spPr>
      </p:sp>
      <p:sp>
        <p:nvSpPr>
          <p:cNvPr id="15" name="Shape 13"/>
          <p:cNvSpPr/>
          <p:nvPr/>
        </p:nvSpPr>
        <p:spPr>
          <a:xfrm>
            <a:off x="9598343" y="2926794"/>
            <a:ext cx="91440" cy="2737009"/>
          </a:xfrm>
          <a:prstGeom prst="roundRect">
            <a:avLst>
              <a:gd name="adj" fmla="val 32083"/>
            </a:avLst>
          </a:prstGeom>
          <a:solidFill>
            <a:srgbClr val="E04F00"/>
          </a:solidFill>
          <a:ln/>
        </p:spPr>
      </p:sp>
      <p:sp>
        <p:nvSpPr>
          <p:cNvPr id="16" name="Text 14"/>
          <p:cNvSpPr/>
          <p:nvPr/>
        </p:nvSpPr>
        <p:spPr>
          <a:xfrm>
            <a:off x="9908143" y="3145155"/>
            <a:ext cx="2566868" cy="320873"/>
          </a:xfrm>
          <a:prstGeom prst="rect">
            <a:avLst/>
          </a:prstGeom>
          <a:noFill/>
          <a:ln/>
        </p:spPr>
        <p:txBody>
          <a:bodyPr wrap="none" lIns="0" tIns="0" rIns="0" bIns="0" rtlCol="0" anchor="t"/>
          <a:lstStyle/>
          <a:p>
            <a:pPr marL="0" indent="0" algn="l">
              <a:lnSpc>
                <a:spcPts val="2500"/>
              </a:lnSpc>
              <a:buNone/>
            </a:pPr>
            <a:r>
              <a:rPr lang="en-US" sz="2000" dirty="0">
                <a:solidFill>
                  <a:srgbClr val="383838"/>
                </a:solidFill>
                <a:latin typeface="PT Serif" pitchFamily="34" charset="0"/>
                <a:ea typeface="PT Serif" pitchFamily="34" charset="-122"/>
                <a:cs typeface="PT Serif" pitchFamily="34" charset="-120"/>
              </a:rPr>
              <a:t>Common Default: 32</a:t>
            </a:r>
            <a:endParaRPr lang="en-US" sz="2000" dirty="0"/>
          </a:p>
        </p:txBody>
      </p:sp>
      <p:sp>
        <p:nvSpPr>
          <p:cNvPr id="17" name="Text 15"/>
          <p:cNvSpPr/>
          <p:nvPr/>
        </p:nvSpPr>
        <p:spPr>
          <a:xfrm>
            <a:off x="9908143" y="3581638"/>
            <a:ext cx="3721656" cy="1553170"/>
          </a:xfrm>
          <a:prstGeom prst="rect">
            <a:avLst/>
          </a:prstGeom>
          <a:noFill/>
          <a:ln/>
        </p:spPr>
        <p:txBody>
          <a:bodyPr wrap="square" lIns="0" tIns="0" rIns="0" bIns="0" rtlCol="0" anchor="t"/>
          <a:lstStyle/>
          <a:p>
            <a:pPr marL="0" indent="0" algn="l">
              <a:lnSpc>
                <a:spcPts val="2400"/>
              </a:lnSpc>
              <a:buNone/>
            </a:pPr>
            <a:r>
              <a:rPr lang="en-US" sz="1700" dirty="0">
                <a:solidFill>
                  <a:srgbClr val="383838"/>
                </a:solidFill>
                <a:latin typeface="DM Sans" pitchFamily="34" charset="0"/>
                <a:ea typeface="DM Sans" pitchFamily="34" charset="-122"/>
                <a:cs typeface="DM Sans" pitchFamily="34" charset="-120"/>
              </a:rPr>
              <a:t>A batch size of 32 is a widely used starting point. It balances training stability, memory efficiency, and generalisation for most architectures and datasets.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4" name="Text 2"/>
          <p:cNvSpPr/>
          <p:nvPr/>
        </p:nvSpPr>
        <p:spPr>
          <a:xfrm>
            <a:off x="766016" y="817959"/>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Key Takeaways</a:t>
            </a:r>
            <a:endParaRPr lang="en-US" sz="4100" dirty="0"/>
          </a:p>
        </p:txBody>
      </p:sp>
      <p:sp>
        <p:nvSpPr>
          <p:cNvPr id="5" name="Text 3"/>
          <p:cNvSpPr/>
          <p:nvPr/>
        </p:nvSpPr>
        <p:spPr>
          <a:xfrm>
            <a:off x="793790" y="1802249"/>
            <a:ext cx="13042821" cy="63507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This unit introduced the core regularization and optimisation techniques that underpin reliable deep learning practice. Understanding these tools is essential for building models that are not just accurate on training data, but genuinely useful on real-world inputs.</a:t>
            </a:r>
            <a:endParaRPr lang="en-US" sz="1700" dirty="0"/>
          </a:p>
        </p:txBody>
      </p:sp>
      <p:sp>
        <p:nvSpPr>
          <p:cNvPr id="6" name="Shape 4"/>
          <p:cNvSpPr/>
          <p:nvPr/>
        </p:nvSpPr>
        <p:spPr>
          <a:xfrm>
            <a:off x="793790" y="3417808"/>
            <a:ext cx="446484" cy="446484"/>
          </a:xfrm>
          <a:prstGeom prst="roundRect">
            <a:avLst>
              <a:gd name="adj" fmla="val 6668"/>
            </a:avLst>
          </a:prstGeom>
          <a:solidFill>
            <a:srgbClr val="F2EEEE"/>
          </a:solidFill>
          <a:ln/>
        </p:spPr>
      </p:sp>
      <p:sp>
        <p:nvSpPr>
          <p:cNvPr id="7" name="Text 5"/>
          <p:cNvSpPr/>
          <p:nvPr/>
        </p:nvSpPr>
        <p:spPr>
          <a:xfrm>
            <a:off x="860762" y="3445728"/>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1</a:t>
            </a:r>
            <a:endParaRPr lang="en-US" sz="2450" dirty="0"/>
          </a:p>
        </p:txBody>
      </p:sp>
      <p:sp>
        <p:nvSpPr>
          <p:cNvPr id="8" name="Text 6"/>
          <p:cNvSpPr/>
          <p:nvPr/>
        </p:nvSpPr>
        <p:spPr>
          <a:xfrm>
            <a:off x="1438632" y="3486031"/>
            <a:ext cx="4140041"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Overfitting is the primary challenge</a:t>
            </a:r>
            <a:endParaRPr lang="en-US" sz="2050" dirty="0"/>
          </a:p>
        </p:txBody>
      </p:sp>
      <p:sp>
        <p:nvSpPr>
          <p:cNvPr id="9" name="Text 7"/>
          <p:cNvSpPr/>
          <p:nvPr/>
        </p:nvSpPr>
        <p:spPr>
          <a:xfrm>
            <a:off x="1438632" y="3930729"/>
            <a:ext cx="5752505"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Deep networks have enormous capacity — without constraint, they memorise training data rather than learning generalisable patterns.</a:t>
            </a:r>
            <a:endParaRPr lang="en-US" sz="1700" dirty="0"/>
          </a:p>
        </p:txBody>
      </p:sp>
      <p:sp>
        <p:nvSpPr>
          <p:cNvPr id="10" name="Shape 8"/>
          <p:cNvSpPr/>
          <p:nvPr/>
        </p:nvSpPr>
        <p:spPr>
          <a:xfrm>
            <a:off x="7439144" y="3417808"/>
            <a:ext cx="446484" cy="446484"/>
          </a:xfrm>
          <a:prstGeom prst="roundRect">
            <a:avLst>
              <a:gd name="adj" fmla="val 6668"/>
            </a:avLst>
          </a:prstGeom>
          <a:solidFill>
            <a:srgbClr val="F2EEEE"/>
          </a:solidFill>
          <a:ln/>
        </p:spPr>
      </p:sp>
      <p:sp>
        <p:nvSpPr>
          <p:cNvPr id="11" name="Text 9"/>
          <p:cNvSpPr/>
          <p:nvPr/>
        </p:nvSpPr>
        <p:spPr>
          <a:xfrm>
            <a:off x="7506117" y="3445728"/>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2</a:t>
            </a:r>
            <a:endParaRPr lang="en-US" sz="2450" dirty="0"/>
          </a:p>
        </p:txBody>
      </p:sp>
      <p:sp>
        <p:nvSpPr>
          <p:cNvPr id="12" name="Text 10"/>
          <p:cNvSpPr/>
          <p:nvPr/>
        </p:nvSpPr>
        <p:spPr>
          <a:xfrm>
            <a:off x="8083987" y="3486031"/>
            <a:ext cx="4336613"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L1 and L2 penalise weight complexity</a:t>
            </a:r>
            <a:endParaRPr lang="en-US" sz="2050" dirty="0"/>
          </a:p>
        </p:txBody>
      </p:sp>
      <p:sp>
        <p:nvSpPr>
          <p:cNvPr id="13" name="Text 11"/>
          <p:cNvSpPr/>
          <p:nvPr/>
        </p:nvSpPr>
        <p:spPr>
          <a:xfrm>
            <a:off x="8083987" y="3930729"/>
            <a:ext cx="5752624"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L1 produces sparse models with feature selection; L2 produces stable, smooth models with weight decay. Both are controlled by the λ hyperparameter.</a:t>
            </a:r>
            <a:endParaRPr lang="en-US" sz="1700" dirty="0"/>
          </a:p>
        </p:txBody>
      </p:sp>
      <p:sp>
        <p:nvSpPr>
          <p:cNvPr id="14" name="Shape 12"/>
          <p:cNvSpPr/>
          <p:nvPr/>
        </p:nvSpPr>
        <p:spPr>
          <a:xfrm>
            <a:off x="793790" y="5280184"/>
            <a:ext cx="446484" cy="446484"/>
          </a:xfrm>
          <a:prstGeom prst="roundRect">
            <a:avLst>
              <a:gd name="adj" fmla="val 6668"/>
            </a:avLst>
          </a:prstGeom>
          <a:solidFill>
            <a:srgbClr val="F2EEEE"/>
          </a:solidFill>
          <a:ln/>
        </p:spPr>
      </p:sp>
      <p:sp>
        <p:nvSpPr>
          <p:cNvPr id="15" name="Text 13"/>
          <p:cNvSpPr/>
          <p:nvPr/>
        </p:nvSpPr>
        <p:spPr>
          <a:xfrm>
            <a:off x="860762" y="5308104"/>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3</a:t>
            </a:r>
            <a:endParaRPr lang="en-US" sz="2450" dirty="0"/>
          </a:p>
        </p:txBody>
      </p:sp>
      <p:sp>
        <p:nvSpPr>
          <p:cNvPr id="16" name="Text 14"/>
          <p:cNvSpPr/>
          <p:nvPr/>
        </p:nvSpPr>
        <p:spPr>
          <a:xfrm>
            <a:off x="1438632" y="5348407"/>
            <a:ext cx="5752505" cy="651272"/>
          </a:xfrm>
          <a:prstGeom prst="rect">
            <a:avLst/>
          </a:prstGeom>
          <a:noFill/>
          <a:ln/>
        </p:spPr>
        <p:txBody>
          <a:bodyPr wrap="squar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Dropout and BatchNorm operate at the layer level</a:t>
            </a:r>
            <a:endParaRPr lang="en-US" sz="2050" dirty="0"/>
          </a:p>
        </p:txBody>
      </p:sp>
      <p:sp>
        <p:nvSpPr>
          <p:cNvPr id="17" name="Text 15"/>
          <p:cNvSpPr/>
          <p:nvPr/>
        </p:nvSpPr>
        <p:spPr>
          <a:xfrm>
            <a:off x="1438632" y="6118741"/>
            <a:ext cx="5752505"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Dropout prevents neuron co-adaptation; BatchNorm stabilises activations and accelerates convergence. Both are implemented as Keras layers.</a:t>
            </a:r>
            <a:endParaRPr lang="en-US" sz="1700" dirty="0"/>
          </a:p>
        </p:txBody>
      </p:sp>
      <p:sp>
        <p:nvSpPr>
          <p:cNvPr id="18" name="Shape 16"/>
          <p:cNvSpPr/>
          <p:nvPr/>
        </p:nvSpPr>
        <p:spPr>
          <a:xfrm>
            <a:off x="7439144" y="5280184"/>
            <a:ext cx="446484" cy="446484"/>
          </a:xfrm>
          <a:prstGeom prst="roundRect">
            <a:avLst>
              <a:gd name="adj" fmla="val 6668"/>
            </a:avLst>
          </a:prstGeom>
          <a:solidFill>
            <a:srgbClr val="F2EEEE"/>
          </a:solidFill>
          <a:ln/>
        </p:spPr>
      </p:sp>
      <p:sp>
        <p:nvSpPr>
          <p:cNvPr id="19" name="Text 17"/>
          <p:cNvSpPr/>
          <p:nvPr/>
        </p:nvSpPr>
        <p:spPr>
          <a:xfrm>
            <a:off x="7506117" y="5308104"/>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4</a:t>
            </a:r>
            <a:endParaRPr lang="en-US" sz="2450" dirty="0"/>
          </a:p>
        </p:txBody>
      </p:sp>
      <p:sp>
        <p:nvSpPr>
          <p:cNvPr id="20" name="Text 18"/>
          <p:cNvSpPr/>
          <p:nvPr/>
        </p:nvSpPr>
        <p:spPr>
          <a:xfrm>
            <a:off x="8083987" y="5348407"/>
            <a:ext cx="5752624" cy="651272"/>
          </a:xfrm>
          <a:prstGeom prst="rect">
            <a:avLst/>
          </a:prstGeom>
          <a:noFill/>
          <a:ln/>
        </p:spPr>
        <p:txBody>
          <a:bodyPr wrap="squar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Batch size and hyperparameter tuning complete the picture</a:t>
            </a:r>
            <a:endParaRPr lang="en-US" sz="2050" dirty="0"/>
          </a:p>
        </p:txBody>
      </p:sp>
      <p:sp>
        <p:nvSpPr>
          <p:cNvPr id="21" name="Text 19"/>
          <p:cNvSpPr/>
          <p:nvPr/>
        </p:nvSpPr>
        <p:spPr>
          <a:xfrm>
            <a:off x="8083987" y="6118741"/>
            <a:ext cx="5752624"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Choosing the right batch size, λ, and dropout rate requires systematic experimentation. These choices directly affect training speed, stability, and final model quality.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1977</Words>
  <Application>Microsoft Macintosh PowerPoint</Application>
  <PresentationFormat>Custom</PresentationFormat>
  <Paragraphs>200</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PT Serif</vt:lpstr>
      <vt:lpstr>Calibri</vt:lpstr>
      <vt:lpstr>DM Sans</vt:lpstr>
      <vt:lpstr>Arial</vt:lpstr>
      <vt:lpstr>Consolas</vt:lpstr>
      <vt:lpstr>PT Serif Light</vt:lpstr>
      <vt:lpstr>Lucida Sans Unicode</vt:lpstr>
      <vt:lpstr>Office Theme</vt:lpstr>
      <vt:lpstr>PowerPoint Presentation</vt:lpstr>
      <vt:lpstr>PowerPoint Presentation</vt:lpstr>
      <vt:lpstr>PowerPoint Presentation</vt:lpstr>
      <vt:lpstr>PowerPoint Presentation</vt:lpstr>
      <vt:lpstr>PowerPoint Presentation</vt:lpstr>
      <vt:lpstr>L1 Regularization</vt:lpstr>
      <vt:lpstr>L2 Regularization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Vinayak Deshpande</cp:lastModifiedBy>
  <cp:revision>33</cp:revision>
  <dcterms:created xsi:type="dcterms:W3CDTF">2026-04-07T05:15:54Z</dcterms:created>
  <dcterms:modified xsi:type="dcterms:W3CDTF">2026-04-10T06:32:19Z</dcterms:modified>
</cp:coreProperties>
</file>