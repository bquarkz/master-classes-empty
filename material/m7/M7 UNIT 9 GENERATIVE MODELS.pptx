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9"/>
  </p:notesMasterIdLst>
  <p:sldIdLst>
    <p:sldId id="256" r:id="rId2"/>
    <p:sldId id="276" r:id="rId3"/>
    <p:sldId id="257" r:id="rId4"/>
    <p:sldId id="258" r:id="rId5"/>
    <p:sldId id="259" r:id="rId6"/>
    <p:sldId id="277" r:id="rId7"/>
    <p:sldId id="260" r:id="rId8"/>
    <p:sldId id="261" r:id="rId9"/>
    <p:sldId id="262" r:id="rId10"/>
    <p:sldId id="263" r:id="rId11"/>
    <p:sldId id="264" r:id="rId12"/>
    <p:sldId id="265" r:id="rId13"/>
    <p:sldId id="278" r:id="rId14"/>
    <p:sldId id="266" r:id="rId15"/>
    <p:sldId id="267" r:id="rId16"/>
    <p:sldId id="268" r:id="rId17"/>
    <p:sldId id="269" r:id="rId18"/>
  </p:sldIdLst>
  <p:sldSz cx="14630400" cy="8229600"/>
  <p:notesSz cx="8229600" cy="14630400"/>
  <p:embeddedFontLst>
    <p:embeddedFont>
      <p:font typeface="DM Sans" pitchFamily="2" charset="0"/>
      <p:regular r:id="rId20"/>
      <p:bold r:id="rId21"/>
      <p:italic r:id="rId22"/>
      <p:boldItalic r:id="rId23"/>
    </p:embeddedFont>
    <p:embeddedFont>
      <p:font typeface="PT Serif" panose="020A0603040505020204" pitchFamily="18" charset="0"/>
      <p:regular r:id="rId24"/>
      <p:bold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10"/>
  </p:normalViewPr>
  <p:slideViewPr>
    <p:cSldViewPr snapToGrid="0" snapToObjects="1">
      <p:cViewPr varScale="1">
        <p:scale>
          <a:sx n="62" d="100"/>
          <a:sy n="62" d="100"/>
        </p:scale>
        <p:origin x="327"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9976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10179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6.sv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279100"/>
            <a:ext cx="10538341"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Generative Models &amp; Transformers</a:t>
            </a:r>
            <a:endParaRPr lang="en-US" sz="4100" dirty="0"/>
          </a:p>
        </p:txBody>
      </p:sp>
      <p:sp>
        <p:nvSpPr>
          <p:cNvPr id="4" name="Text 2"/>
          <p:cNvSpPr/>
          <p:nvPr/>
        </p:nvSpPr>
        <p:spPr>
          <a:xfrm>
            <a:off x="892264" y="4253133"/>
            <a:ext cx="13042821" cy="317540"/>
          </a:xfrm>
          <a:prstGeom prst="rect">
            <a:avLst/>
          </a:prstGeom>
          <a:noFill/>
          <a:ln/>
        </p:spPr>
        <p:txBody>
          <a:bodyPr wrap="none" lIns="0" tIns="0" rIns="0" bIns="0" rtlCol="0" anchor="t"/>
          <a:lstStyle/>
          <a:p>
            <a:pPr marL="0" indent="0" algn="l">
              <a:lnSpc>
                <a:spcPts val="2500"/>
              </a:lnSpc>
              <a:buNone/>
            </a:pPr>
            <a:r>
              <a:rPr lang="en-US" sz="2200" dirty="0">
                <a:solidFill>
                  <a:srgbClr val="383838"/>
                </a:solidFill>
                <a:latin typeface="DM Sans" pitchFamily="34" charset="0"/>
                <a:ea typeface="DM Sans" pitchFamily="34" charset="-122"/>
                <a:cs typeface="DM Sans" pitchFamily="34" charset="-120"/>
              </a:rPr>
              <a:t>GANs, Attention &amp; Transformers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01435"/>
            <a:ext cx="5954197"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Contents</a:t>
            </a:r>
            <a:endParaRPr lang="en-US" sz="4650" dirty="0"/>
          </a:p>
        </p:txBody>
      </p:sp>
      <p:sp>
        <p:nvSpPr>
          <p:cNvPr id="3" name="Text 1"/>
          <p:cNvSpPr/>
          <p:nvPr/>
        </p:nvSpPr>
        <p:spPr>
          <a:xfrm>
            <a:off x="793790" y="219932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01</a:t>
            </a:r>
            <a:endParaRPr lang="en-US" sz="1750" dirty="0"/>
          </a:p>
        </p:txBody>
      </p:sp>
      <p:sp>
        <p:nvSpPr>
          <p:cNvPr id="4" name="Shape 2"/>
          <p:cNvSpPr/>
          <p:nvPr/>
        </p:nvSpPr>
        <p:spPr>
          <a:xfrm>
            <a:off x="793790" y="2554367"/>
            <a:ext cx="6407944" cy="30480"/>
          </a:xfrm>
          <a:prstGeom prst="rect">
            <a:avLst/>
          </a:prstGeom>
          <a:solidFill>
            <a:srgbClr val="E04F00"/>
          </a:solidFill>
          <a:ln/>
        </p:spPr>
      </p:sp>
      <p:sp>
        <p:nvSpPr>
          <p:cNvPr id="5" name="Text 3"/>
          <p:cNvSpPr/>
          <p:nvPr/>
        </p:nvSpPr>
        <p:spPr>
          <a:xfrm>
            <a:off x="793790" y="2728674"/>
            <a:ext cx="2977039" cy="372070"/>
          </a:xfrm>
          <a:prstGeom prst="rect">
            <a:avLst/>
          </a:prstGeom>
          <a:noFill/>
          <a:ln/>
        </p:spPr>
        <p:txBody>
          <a:bodyPr wrap="none" lIns="0" tIns="0" rIns="0" bIns="0" rtlCol="0" anchor="t"/>
          <a:lstStyle/>
          <a:p>
            <a:pPr>
              <a:lnSpc>
                <a:spcPts val="2900"/>
              </a:lnSpc>
            </a:pPr>
            <a:r>
              <a:rPr lang="en-US" sz="2300" dirty="0">
                <a:solidFill>
                  <a:srgbClr val="383838"/>
                </a:solidFill>
                <a:latin typeface="PT Serif" pitchFamily="34" charset="0"/>
                <a:ea typeface="PT Serif" pitchFamily="34" charset="-122"/>
                <a:cs typeface="PT Serif" pitchFamily="34" charset="-120"/>
              </a:rPr>
              <a:t>What are Generative Models</a:t>
            </a:r>
            <a:endParaRPr lang="en-US" sz="2300" dirty="0"/>
          </a:p>
        </p:txBody>
      </p:sp>
      <p:sp>
        <p:nvSpPr>
          <p:cNvPr id="6" name="Text 4"/>
          <p:cNvSpPr/>
          <p:nvPr/>
        </p:nvSpPr>
        <p:spPr>
          <a:xfrm>
            <a:off x="7428548" y="219932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02</a:t>
            </a:r>
            <a:endParaRPr lang="en-US" sz="1750" dirty="0"/>
          </a:p>
        </p:txBody>
      </p:sp>
      <p:sp>
        <p:nvSpPr>
          <p:cNvPr id="7" name="Shape 5"/>
          <p:cNvSpPr/>
          <p:nvPr/>
        </p:nvSpPr>
        <p:spPr>
          <a:xfrm>
            <a:off x="7428548" y="2554367"/>
            <a:ext cx="6408063" cy="30480"/>
          </a:xfrm>
          <a:prstGeom prst="rect">
            <a:avLst/>
          </a:prstGeom>
          <a:solidFill>
            <a:srgbClr val="E04F00"/>
          </a:solidFill>
          <a:ln/>
        </p:spPr>
      </p:sp>
      <p:sp>
        <p:nvSpPr>
          <p:cNvPr id="10" name="Text 8"/>
          <p:cNvSpPr/>
          <p:nvPr/>
        </p:nvSpPr>
        <p:spPr>
          <a:xfrm>
            <a:off x="793790" y="399657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03</a:t>
            </a:r>
            <a:endParaRPr lang="en-US" sz="1750" dirty="0"/>
          </a:p>
        </p:txBody>
      </p:sp>
      <p:sp>
        <p:nvSpPr>
          <p:cNvPr id="11" name="Shape 9"/>
          <p:cNvSpPr/>
          <p:nvPr/>
        </p:nvSpPr>
        <p:spPr>
          <a:xfrm>
            <a:off x="793790" y="4351615"/>
            <a:ext cx="6407944" cy="30480"/>
          </a:xfrm>
          <a:prstGeom prst="rect">
            <a:avLst/>
          </a:prstGeom>
          <a:solidFill>
            <a:srgbClr val="E04F00"/>
          </a:solidFill>
          <a:ln/>
        </p:spPr>
      </p:sp>
      <p:sp>
        <p:nvSpPr>
          <p:cNvPr id="12" name="Text 10"/>
          <p:cNvSpPr/>
          <p:nvPr/>
        </p:nvSpPr>
        <p:spPr>
          <a:xfrm>
            <a:off x="793790" y="4525923"/>
            <a:ext cx="4571405" cy="372070"/>
          </a:xfrm>
          <a:prstGeom prst="rect">
            <a:avLst/>
          </a:prstGeom>
          <a:noFill/>
          <a:ln/>
        </p:spPr>
        <p:txBody>
          <a:bodyPr wrap="none" lIns="0" tIns="0" rIns="0" bIns="0" rtlCol="0" anchor="t"/>
          <a:lstStyle/>
          <a:p>
            <a:pPr>
              <a:lnSpc>
                <a:spcPts val="2900"/>
              </a:lnSpc>
            </a:pPr>
            <a:r>
              <a:rPr lang="en-US" sz="2300" dirty="0">
                <a:solidFill>
                  <a:srgbClr val="383838"/>
                </a:solidFill>
                <a:latin typeface="PT Serif" pitchFamily="34" charset="0"/>
                <a:ea typeface="PT Serif" pitchFamily="34" charset="-122"/>
                <a:cs typeface="PT Serif" pitchFamily="34" charset="-120"/>
              </a:rPr>
              <a:t> Limitations of GAN</a:t>
            </a:r>
            <a:endParaRPr lang="en-US" sz="2300" dirty="0"/>
          </a:p>
          <a:p>
            <a:pPr marL="0" indent="0" algn="l">
              <a:lnSpc>
                <a:spcPts val="2900"/>
              </a:lnSpc>
              <a:buNone/>
            </a:pPr>
            <a:endParaRPr lang="en-US" sz="2300" dirty="0"/>
          </a:p>
        </p:txBody>
      </p:sp>
      <p:sp>
        <p:nvSpPr>
          <p:cNvPr id="13" name="Text 11"/>
          <p:cNvSpPr/>
          <p:nvPr/>
        </p:nvSpPr>
        <p:spPr>
          <a:xfrm>
            <a:off x="7428548" y="399657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04</a:t>
            </a:r>
            <a:endParaRPr lang="en-US" sz="1750" dirty="0"/>
          </a:p>
        </p:txBody>
      </p:sp>
      <p:sp>
        <p:nvSpPr>
          <p:cNvPr id="14" name="Shape 12"/>
          <p:cNvSpPr/>
          <p:nvPr/>
        </p:nvSpPr>
        <p:spPr>
          <a:xfrm>
            <a:off x="7428548" y="4351615"/>
            <a:ext cx="6408063" cy="30480"/>
          </a:xfrm>
          <a:prstGeom prst="rect">
            <a:avLst/>
          </a:prstGeom>
          <a:solidFill>
            <a:srgbClr val="E04F00"/>
          </a:solidFill>
          <a:ln/>
        </p:spPr>
      </p:sp>
      <p:sp>
        <p:nvSpPr>
          <p:cNvPr id="15" name="Text 13"/>
          <p:cNvSpPr/>
          <p:nvPr/>
        </p:nvSpPr>
        <p:spPr>
          <a:xfrm>
            <a:off x="7428548" y="4525923"/>
            <a:ext cx="5699998" cy="372070"/>
          </a:xfrm>
          <a:prstGeom prst="rect">
            <a:avLst/>
          </a:prstGeom>
          <a:noFill/>
          <a:ln/>
        </p:spPr>
        <p:txBody>
          <a:bodyPr wrap="none" lIns="0" tIns="0" rIns="0" bIns="0" rtlCol="0" anchor="t"/>
          <a:lstStyle/>
          <a:p>
            <a:pPr>
              <a:lnSpc>
                <a:spcPts val="2900"/>
              </a:lnSpc>
            </a:pPr>
            <a:r>
              <a:rPr lang="en-US" sz="2300" dirty="0">
                <a:solidFill>
                  <a:srgbClr val="383838"/>
                </a:solidFill>
                <a:latin typeface="PT Serif" pitchFamily="34" charset="0"/>
                <a:ea typeface="PT Serif" pitchFamily="34" charset="-122"/>
                <a:cs typeface="PT Serif" pitchFamily="34" charset="-120"/>
              </a:rPr>
              <a:t>What is Self Attention</a:t>
            </a:r>
            <a:endParaRPr lang="en-US" sz="2300" dirty="0"/>
          </a:p>
        </p:txBody>
      </p:sp>
      <p:sp>
        <p:nvSpPr>
          <p:cNvPr id="16" name="Text 14"/>
          <p:cNvSpPr/>
          <p:nvPr/>
        </p:nvSpPr>
        <p:spPr>
          <a:xfrm>
            <a:off x="793790" y="529482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05</a:t>
            </a:r>
            <a:endParaRPr lang="en-US" sz="1750" dirty="0"/>
          </a:p>
        </p:txBody>
      </p:sp>
      <p:sp>
        <p:nvSpPr>
          <p:cNvPr id="17" name="Shape 15"/>
          <p:cNvSpPr/>
          <p:nvPr/>
        </p:nvSpPr>
        <p:spPr>
          <a:xfrm>
            <a:off x="793790" y="5649873"/>
            <a:ext cx="6407944" cy="30480"/>
          </a:xfrm>
          <a:prstGeom prst="rect">
            <a:avLst/>
          </a:prstGeom>
          <a:solidFill>
            <a:srgbClr val="E04F00"/>
          </a:solidFill>
          <a:ln/>
        </p:spPr>
      </p:sp>
      <p:sp>
        <p:nvSpPr>
          <p:cNvPr id="18" name="Text 16"/>
          <p:cNvSpPr/>
          <p:nvPr/>
        </p:nvSpPr>
        <p:spPr>
          <a:xfrm>
            <a:off x="793790" y="5824180"/>
            <a:ext cx="5879663" cy="372070"/>
          </a:xfrm>
          <a:prstGeom prst="rect">
            <a:avLst/>
          </a:prstGeom>
          <a:noFill/>
          <a:ln/>
        </p:spPr>
        <p:txBody>
          <a:bodyPr wrap="none" lIns="0" tIns="0" rIns="0" bIns="0" rtlCol="0" anchor="t"/>
          <a:lstStyle/>
          <a:p>
            <a:pPr>
              <a:lnSpc>
                <a:spcPts val="2900"/>
              </a:lnSpc>
            </a:pPr>
            <a:r>
              <a:rPr lang="en-US" sz="2300" dirty="0">
                <a:solidFill>
                  <a:srgbClr val="383838"/>
                </a:solidFill>
                <a:latin typeface="PT Serif" pitchFamily="34" charset="0"/>
                <a:ea typeface="PT Serif" pitchFamily="34" charset="-122"/>
                <a:cs typeface="PT Serif" pitchFamily="34" charset="-120"/>
              </a:rPr>
              <a:t>Introduction to Transformers</a:t>
            </a:r>
            <a:endParaRPr lang="en-US" sz="2300" dirty="0"/>
          </a:p>
        </p:txBody>
      </p:sp>
      <p:sp>
        <p:nvSpPr>
          <p:cNvPr id="19" name="Text 17"/>
          <p:cNvSpPr/>
          <p:nvPr/>
        </p:nvSpPr>
        <p:spPr>
          <a:xfrm>
            <a:off x="7428548" y="529482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06</a:t>
            </a:r>
            <a:endParaRPr lang="en-US" sz="1750" dirty="0"/>
          </a:p>
        </p:txBody>
      </p:sp>
      <p:sp>
        <p:nvSpPr>
          <p:cNvPr id="20" name="Shape 18"/>
          <p:cNvSpPr/>
          <p:nvPr/>
        </p:nvSpPr>
        <p:spPr>
          <a:xfrm>
            <a:off x="7428548" y="5649873"/>
            <a:ext cx="6408063" cy="30480"/>
          </a:xfrm>
          <a:prstGeom prst="rect">
            <a:avLst/>
          </a:prstGeom>
          <a:solidFill>
            <a:srgbClr val="E04F00"/>
          </a:solidFill>
          <a:ln/>
        </p:spPr>
      </p:sp>
      <p:sp>
        <p:nvSpPr>
          <p:cNvPr id="21" name="Text 19"/>
          <p:cNvSpPr/>
          <p:nvPr/>
        </p:nvSpPr>
        <p:spPr>
          <a:xfrm>
            <a:off x="7428548" y="5824180"/>
            <a:ext cx="4252198"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GAN vs Transformers</a:t>
            </a:r>
            <a:endParaRPr lang="en-US" sz="2300" dirty="0"/>
          </a:p>
        </p:txBody>
      </p:sp>
      <p:sp>
        <p:nvSpPr>
          <p:cNvPr id="24" name="Text 3">
            <a:extLst>
              <a:ext uri="{FF2B5EF4-FFF2-40B4-BE49-F238E27FC236}">
                <a16:creationId xmlns:a16="http://schemas.microsoft.com/office/drawing/2014/main" id="{F9B1597F-6088-ED47-BCF3-2426CD5CD6E2}"/>
              </a:ext>
            </a:extLst>
          </p:cNvPr>
          <p:cNvSpPr/>
          <p:nvPr/>
        </p:nvSpPr>
        <p:spPr>
          <a:xfrm>
            <a:off x="7428548" y="2793206"/>
            <a:ext cx="2977039" cy="372070"/>
          </a:xfrm>
          <a:prstGeom prst="rect">
            <a:avLst/>
          </a:prstGeom>
          <a:noFill/>
          <a:ln/>
        </p:spPr>
        <p:txBody>
          <a:bodyPr wrap="none" lIns="0" tIns="0" rIns="0" bIns="0" rtlCol="0" anchor="t"/>
          <a:lstStyle/>
          <a:p>
            <a:pPr>
              <a:lnSpc>
                <a:spcPts val="2900"/>
              </a:lnSpc>
            </a:pPr>
            <a:r>
              <a:rPr lang="en-US" sz="2300" dirty="0">
                <a:solidFill>
                  <a:srgbClr val="383838"/>
                </a:solidFill>
                <a:latin typeface="PT Serif" pitchFamily="34" charset="0"/>
                <a:ea typeface="PT Serif" pitchFamily="34" charset="-122"/>
                <a:cs typeface="PT Serif" pitchFamily="34" charset="-120"/>
              </a:rPr>
              <a:t>Introduction to GANs</a:t>
            </a:r>
            <a:endParaRPr lang="en-US" sz="2300" dirty="0"/>
          </a:p>
        </p:txBody>
      </p:sp>
    </p:spTree>
    <p:extLst>
      <p:ext uri="{BB962C8B-B14F-4D97-AF65-F5344CB8AC3E}">
        <p14:creationId xmlns:p14="http://schemas.microsoft.com/office/powerpoint/2010/main" val="31547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322033"/>
            <a:ext cx="6877526"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What Are Generative Models?</a:t>
            </a:r>
            <a:endParaRPr lang="en-US" sz="4100" dirty="0"/>
          </a:p>
        </p:txBody>
      </p:sp>
      <p:sp>
        <p:nvSpPr>
          <p:cNvPr id="3" name="Text 1"/>
          <p:cNvSpPr/>
          <p:nvPr/>
        </p:nvSpPr>
        <p:spPr>
          <a:xfrm>
            <a:off x="793790" y="2616361"/>
            <a:ext cx="13042821" cy="635079"/>
          </a:xfrm>
          <a:prstGeom prst="rect">
            <a:avLst/>
          </a:prstGeom>
          <a:noFill/>
          <a:ln/>
        </p:spPr>
        <p:txBody>
          <a:bodyPr wrap="square" lIns="0" tIns="0" rIns="0" bIns="0" rtlCol="0" anchor="t"/>
          <a:lstStyle/>
          <a:p>
            <a:pPr>
              <a:lnSpc>
                <a:spcPts val="2500"/>
              </a:lnSpc>
            </a:pPr>
            <a:r>
              <a:rPr lang="en-IN" dirty="0">
                <a:latin typeface="DM Sans" pitchFamily="2" charset="0"/>
              </a:rPr>
              <a:t>Generative models are designed to learn the underlying probability distribution of a dataset, enabling them to generate new data that preserves univariate properties, multivariate relationships, and correlation structures observed in the original data.</a:t>
            </a:r>
            <a:endParaRPr lang="en-US" dirty="0">
              <a:latin typeface="DM Sans" pitchFamily="2" charset="0"/>
            </a:endParaRPr>
          </a:p>
        </p:txBody>
      </p:sp>
      <p:sp>
        <p:nvSpPr>
          <p:cNvPr id="4" name="Shape 2"/>
          <p:cNvSpPr/>
          <p:nvPr/>
        </p:nvSpPr>
        <p:spPr>
          <a:xfrm>
            <a:off x="793790" y="4170998"/>
            <a:ext cx="4215289" cy="1794034"/>
          </a:xfrm>
          <a:prstGeom prst="roundRect">
            <a:avLst>
              <a:gd name="adj" fmla="val 1659"/>
            </a:avLst>
          </a:prstGeom>
          <a:solidFill>
            <a:srgbClr val="F2EEEE"/>
          </a:solidFill>
          <a:ln/>
        </p:spPr>
      </p:sp>
      <p:sp>
        <p:nvSpPr>
          <p:cNvPr id="5" name="Text 3"/>
          <p:cNvSpPr/>
          <p:nvPr/>
        </p:nvSpPr>
        <p:spPr>
          <a:xfrm>
            <a:off x="992148" y="436935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What They Learn</a:t>
            </a:r>
            <a:endParaRPr lang="en-US" sz="2050" dirty="0"/>
          </a:p>
        </p:txBody>
      </p:sp>
      <p:sp>
        <p:nvSpPr>
          <p:cNvPr id="6" name="Text 4"/>
          <p:cNvSpPr/>
          <p:nvPr/>
        </p:nvSpPr>
        <p:spPr>
          <a:xfrm>
            <a:off x="992148" y="4814054"/>
            <a:ext cx="3818573"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Data distributions: univariate, multivariate, and correlation patterns</a:t>
            </a:r>
            <a:endParaRPr lang="en-US" dirty="0"/>
          </a:p>
        </p:txBody>
      </p:sp>
      <p:sp>
        <p:nvSpPr>
          <p:cNvPr id="7" name="Shape 5"/>
          <p:cNvSpPr/>
          <p:nvPr/>
        </p:nvSpPr>
        <p:spPr>
          <a:xfrm>
            <a:off x="5207437" y="4170998"/>
            <a:ext cx="4215408" cy="1794034"/>
          </a:xfrm>
          <a:prstGeom prst="roundRect">
            <a:avLst>
              <a:gd name="adj" fmla="val 1659"/>
            </a:avLst>
          </a:prstGeom>
          <a:solidFill>
            <a:srgbClr val="F2EEEE"/>
          </a:solidFill>
          <a:ln/>
        </p:spPr>
      </p:sp>
      <p:sp>
        <p:nvSpPr>
          <p:cNvPr id="8" name="Text 6"/>
          <p:cNvSpPr/>
          <p:nvPr/>
        </p:nvSpPr>
        <p:spPr>
          <a:xfrm>
            <a:off x="5405795" y="436935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What They Generate</a:t>
            </a:r>
            <a:endParaRPr lang="en-US" sz="2050" dirty="0"/>
          </a:p>
        </p:txBody>
      </p:sp>
      <p:sp>
        <p:nvSpPr>
          <p:cNvPr id="9" name="Text 7"/>
          <p:cNvSpPr/>
          <p:nvPr/>
        </p:nvSpPr>
        <p:spPr>
          <a:xfrm>
            <a:off x="5405795" y="4814054"/>
            <a:ext cx="3818692"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Images, text, audio, and rare-event structured data</a:t>
            </a:r>
            <a:endParaRPr lang="en-US" dirty="0"/>
          </a:p>
        </p:txBody>
      </p:sp>
      <p:sp>
        <p:nvSpPr>
          <p:cNvPr id="10" name="Shape 8"/>
          <p:cNvSpPr/>
          <p:nvPr/>
        </p:nvSpPr>
        <p:spPr>
          <a:xfrm>
            <a:off x="9621203" y="4170998"/>
            <a:ext cx="4215289" cy="1794034"/>
          </a:xfrm>
          <a:prstGeom prst="roundRect">
            <a:avLst>
              <a:gd name="adj" fmla="val 1659"/>
            </a:avLst>
          </a:prstGeom>
          <a:solidFill>
            <a:srgbClr val="F2EEEE"/>
          </a:solidFill>
          <a:ln/>
        </p:spPr>
      </p:sp>
      <p:sp>
        <p:nvSpPr>
          <p:cNvPr id="11" name="Text 9"/>
          <p:cNvSpPr/>
          <p:nvPr/>
        </p:nvSpPr>
        <p:spPr>
          <a:xfrm>
            <a:off x="9819561" y="4369356"/>
            <a:ext cx="3329702"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Discriminative vs Generative</a:t>
            </a:r>
            <a:endParaRPr lang="en-US" sz="2050" dirty="0"/>
          </a:p>
        </p:txBody>
      </p:sp>
      <p:sp>
        <p:nvSpPr>
          <p:cNvPr id="12" name="Text 10"/>
          <p:cNvSpPr/>
          <p:nvPr/>
        </p:nvSpPr>
        <p:spPr>
          <a:xfrm>
            <a:off x="9819561" y="4814054"/>
            <a:ext cx="3818573"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Discriminative models classify; generative models learn to produce new samples</a:t>
            </a:r>
            <a:endParaRPr lang="en-US" dirty="0"/>
          </a:p>
        </p:txBody>
      </p:sp>
      <p:sp>
        <p:nvSpPr>
          <p:cNvPr id="13" name="TextBox 12">
            <a:extLst>
              <a:ext uri="{FF2B5EF4-FFF2-40B4-BE49-F238E27FC236}">
                <a16:creationId xmlns:a16="http://schemas.microsoft.com/office/drawing/2014/main" id="{C57E3E63-2DFC-4442-A042-3B60B0E9F8B5}"/>
              </a:ext>
            </a:extLst>
          </p:cNvPr>
          <p:cNvSpPr txBox="1"/>
          <p:nvPr/>
        </p:nvSpPr>
        <p:spPr>
          <a:xfrm>
            <a:off x="745588" y="6625883"/>
            <a:ext cx="13917593" cy="646331"/>
          </a:xfrm>
          <a:prstGeom prst="rect">
            <a:avLst/>
          </a:prstGeom>
          <a:noFill/>
        </p:spPr>
        <p:txBody>
          <a:bodyPr wrap="none" rtlCol="0">
            <a:spAutoFit/>
          </a:bodyPr>
          <a:lstStyle/>
          <a:p>
            <a:r>
              <a:rPr lang="en-IN" dirty="0">
                <a:latin typeface="DM Sans" pitchFamily="2" charset="0"/>
              </a:rPr>
              <a:t>In other words, Generative models learn the data distribution and generate new samples that retain statistical properties such as</a:t>
            </a:r>
          </a:p>
          <a:p>
            <a:r>
              <a:rPr lang="en-IN" dirty="0">
                <a:latin typeface="DM Sans" pitchFamily="2" charset="0"/>
              </a:rPr>
              <a:t>distributions and correlations.</a:t>
            </a:r>
            <a:endParaRPr lang="en-US" dirty="0">
              <a:latin typeface="DM Sans"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419765"/>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Introduction to GANs</a:t>
            </a:r>
            <a:endParaRPr lang="en-US" sz="4100" dirty="0"/>
          </a:p>
        </p:txBody>
      </p:sp>
      <p:sp>
        <p:nvSpPr>
          <p:cNvPr id="3" name="Text 1"/>
          <p:cNvSpPr/>
          <p:nvPr/>
        </p:nvSpPr>
        <p:spPr>
          <a:xfrm>
            <a:off x="793790" y="2633277"/>
            <a:ext cx="13042821" cy="317540"/>
          </a:xfrm>
          <a:prstGeom prst="rect">
            <a:avLst/>
          </a:prstGeom>
          <a:noFill/>
          <a:ln/>
        </p:spPr>
        <p:txBody>
          <a:bodyPr wrap="none" lIns="0" tIns="0" rIns="0" bIns="0" rtlCol="0" anchor="t"/>
          <a:lstStyle/>
          <a:p>
            <a:pPr marL="0" indent="0" algn="l">
              <a:lnSpc>
                <a:spcPts val="2500"/>
              </a:lnSpc>
              <a:buNone/>
            </a:pPr>
            <a:r>
              <a:rPr lang="en-US" sz="2000" dirty="0">
                <a:solidFill>
                  <a:srgbClr val="383838"/>
                </a:solidFill>
                <a:latin typeface="DM Sans" pitchFamily="34" charset="0"/>
                <a:ea typeface="DM Sans" pitchFamily="34" charset="-122"/>
                <a:cs typeface="DM Sans" pitchFamily="34" charset="-120"/>
              </a:rPr>
              <a:t>Generative Adversarial Networks were proposed by </a:t>
            </a:r>
            <a:r>
              <a:rPr lang="en-US" sz="2000" b="1" dirty="0">
                <a:solidFill>
                  <a:srgbClr val="383838"/>
                </a:solidFill>
                <a:latin typeface="DM Sans" pitchFamily="34" charset="0"/>
                <a:ea typeface="DM Sans" pitchFamily="34" charset="-122"/>
                <a:cs typeface="DM Sans" pitchFamily="34" charset="-120"/>
              </a:rPr>
              <a:t>Ian Goodfellow in 2014</a:t>
            </a:r>
            <a:r>
              <a:rPr lang="en-US" sz="2000" dirty="0">
                <a:solidFill>
                  <a:srgbClr val="383838"/>
                </a:solidFill>
                <a:latin typeface="DM Sans" pitchFamily="34" charset="0"/>
                <a:ea typeface="DM Sans" pitchFamily="34" charset="-122"/>
                <a:cs typeface="DM Sans" pitchFamily="34" charset="-120"/>
              </a:rPr>
              <a:t>, introducing a revolutionary framework </a:t>
            </a:r>
          </a:p>
          <a:p>
            <a:pPr marL="0" indent="0" algn="l">
              <a:lnSpc>
                <a:spcPts val="2500"/>
              </a:lnSpc>
              <a:buNone/>
            </a:pPr>
            <a:r>
              <a:rPr lang="en-US" sz="2000" dirty="0">
                <a:solidFill>
                  <a:srgbClr val="383838"/>
                </a:solidFill>
                <a:latin typeface="DM Sans" pitchFamily="34" charset="0"/>
                <a:ea typeface="DM Sans" pitchFamily="34" charset="-122"/>
                <a:cs typeface="DM Sans" pitchFamily="34" charset="-120"/>
              </a:rPr>
              <a:t>for generative modeling.</a:t>
            </a:r>
            <a:endParaRPr lang="en-US" sz="2000" dirty="0"/>
          </a:p>
        </p:txBody>
      </p:sp>
      <p:sp>
        <p:nvSpPr>
          <p:cNvPr id="4" name="Shape 2"/>
          <p:cNvSpPr/>
          <p:nvPr/>
        </p:nvSpPr>
        <p:spPr>
          <a:xfrm>
            <a:off x="793790" y="4148138"/>
            <a:ext cx="6422231" cy="1522214"/>
          </a:xfrm>
          <a:prstGeom prst="roundRect">
            <a:avLst>
              <a:gd name="adj" fmla="val 1956"/>
            </a:avLst>
          </a:prstGeom>
          <a:solidFill>
            <a:srgbClr val="FFFFFF"/>
          </a:solidFill>
          <a:ln w="22860">
            <a:solidFill>
              <a:srgbClr val="D8D4D4"/>
            </a:solidFill>
            <a:prstDash val="solid"/>
          </a:ln>
        </p:spPr>
      </p:sp>
      <p:sp>
        <p:nvSpPr>
          <p:cNvPr id="5" name="Text 3"/>
          <p:cNvSpPr/>
          <p:nvPr/>
        </p:nvSpPr>
        <p:spPr>
          <a:xfrm>
            <a:off x="1015008" y="436935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Two Networks</a:t>
            </a:r>
            <a:endParaRPr lang="en-US" sz="2050" dirty="0"/>
          </a:p>
        </p:txBody>
      </p:sp>
      <p:sp>
        <p:nvSpPr>
          <p:cNvPr id="6" name="Text 4"/>
          <p:cNvSpPr/>
          <p:nvPr/>
        </p:nvSpPr>
        <p:spPr>
          <a:xfrm>
            <a:off x="1015008" y="4814054"/>
            <a:ext cx="5979795"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A </a:t>
            </a:r>
            <a:r>
              <a:rPr lang="en-US" b="1" dirty="0">
                <a:solidFill>
                  <a:srgbClr val="383838"/>
                </a:solidFill>
                <a:latin typeface="DM Sans" pitchFamily="34" charset="0"/>
                <a:ea typeface="DM Sans" pitchFamily="34" charset="-122"/>
                <a:cs typeface="DM Sans" pitchFamily="34" charset="-120"/>
              </a:rPr>
              <a:t>Generator</a:t>
            </a:r>
            <a:r>
              <a:rPr lang="en-US" dirty="0">
                <a:solidFill>
                  <a:srgbClr val="383838"/>
                </a:solidFill>
                <a:latin typeface="DM Sans" pitchFamily="34" charset="0"/>
                <a:ea typeface="DM Sans" pitchFamily="34" charset="-122"/>
                <a:cs typeface="DM Sans" pitchFamily="34" charset="-120"/>
              </a:rPr>
              <a:t> and a </a:t>
            </a:r>
            <a:r>
              <a:rPr lang="en-US" b="1" dirty="0">
                <a:solidFill>
                  <a:srgbClr val="383838"/>
                </a:solidFill>
                <a:latin typeface="DM Sans" pitchFamily="34" charset="0"/>
                <a:ea typeface="DM Sans" pitchFamily="34" charset="-122"/>
                <a:cs typeface="DM Sans" pitchFamily="34" charset="-120"/>
              </a:rPr>
              <a:t>Discriminator</a:t>
            </a:r>
            <a:r>
              <a:rPr lang="en-US" dirty="0">
                <a:solidFill>
                  <a:srgbClr val="383838"/>
                </a:solidFill>
                <a:latin typeface="DM Sans" pitchFamily="34" charset="0"/>
                <a:ea typeface="DM Sans" pitchFamily="34" charset="-122"/>
                <a:cs typeface="DM Sans" pitchFamily="34" charset="-120"/>
              </a:rPr>
              <a:t> work in opposition to each other</a:t>
            </a:r>
            <a:endParaRPr lang="en-US" dirty="0"/>
          </a:p>
        </p:txBody>
      </p:sp>
      <p:sp>
        <p:nvSpPr>
          <p:cNvPr id="7" name="Shape 5"/>
          <p:cNvSpPr/>
          <p:nvPr/>
        </p:nvSpPr>
        <p:spPr>
          <a:xfrm>
            <a:off x="7414379" y="4148138"/>
            <a:ext cx="6422231" cy="1522214"/>
          </a:xfrm>
          <a:prstGeom prst="roundRect">
            <a:avLst>
              <a:gd name="adj" fmla="val 1956"/>
            </a:avLst>
          </a:prstGeom>
          <a:solidFill>
            <a:srgbClr val="FFFFFF"/>
          </a:solidFill>
          <a:ln w="22860">
            <a:solidFill>
              <a:srgbClr val="D8D4D4"/>
            </a:solidFill>
            <a:prstDash val="solid"/>
          </a:ln>
        </p:spPr>
      </p:sp>
      <p:sp>
        <p:nvSpPr>
          <p:cNvPr id="8" name="Text 6"/>
          <p:cNvSpPr/>
          <p:nvPr/>
        </p:nvSpPr>
        <p:spPr>
          <a:xfrm>
            <a:off x="7635597" y="436935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Key Idea: Competition</a:t>
            </a:r>
            <a:endParaRPr lang="en-US" sz="2050" dirty="0"/>
          </a:p>
        </p:txBody>
      </p:sp>
      <p:sp>
        <p:nvSpPr>
          <p:cNvPr id="9" name="Text 7"/>
          <p:cNvSpPr/>
          <p:nvPr/>
        </p:nvSpPr>
        <p:spPr>
          <a:xfrm>
            <a:off x="7635597" y="4814054"/>
            <a:ext cx="5979795"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two networks compete against each other, driving both to improve over time through adversarial training</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17590"/>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GAN Architecture</a:t>
            </a:r>
            <a:endParaRPr lang="en-US" sz="4100" dirty="0"/>
          </a:p>
        </p:txBody>
      </p:sp>
      <p:pic>
        <p:nvPicPr>
          <p:cNvPr id="3" name="Image 0" descr="preencoded.png"/>
          <p:cNvPicPr>
            <a:picLocks noChangeAspect="1"/>
          </p:cNvPicPr>
          <p:nvPr/>
        </p:nvPicPr>
        <p:blipFill>
          <a:blip r:embed="rId3"/>
          <a:stretch>
            <a:fillRect/>
          </a:stretch>
        </p:blipFill>
        <p:spPr>
          <a:xfrm>
            <a:off x="1080968" y="1765697"/>
            <a:ext cx="12468344" cy="4887992"/>
          </a:xfrm>
          <a:prstGeom prst="rect">
            <a:avLst/>
          </a:prstGeom>
        </p:spPr>
      </p:pic>
      <p:sp>
        <p:nvSpPr>
          <p:cNvPr id="4" name="Text 1"/>
          <p:cNvSpPr/>
          <p:nvPr/>
        </p:nvSpPr>
        <p:spPr>
          <a:xfrm>
            <a:off x="1379365" y="2005414"/>
            <a:ext cx="2282477" cy="770336"/>
          </a:xfrm>
          <a:prstGeom prst="rect">
            <a:avLst/>
          </a:prstGeom>
          <a:noFill/>
          <a:ln/>
        </p:spPr>
        <p:txBody>
          <a:bodyPr wrap="square" lIns="0" tIns="0" rIns="0" bIns="0" rtlCol="0" anchor="t"/>
          <a:lstStyle/>
          <a:p>
            <a:pPr marL="0" indent="0" algn="r">
              <a:lnSpc>
                <a:spcPts val="3000"/>
              </a:lnSpc>
              <a:buNone/>
            </a:pPr>
            <a:r>
              <a:rPr lang="en-US" sz="2400" dirty="0">
                <a:solidFill>
                  <a:srgbClr val="020202"/>
                </a:solidFill>
                <a:latin typeface="PT Serif" pitchFamily="34" charset="0"/>
                <a:ea typeface="PT Serif" pitchFamily="34" charset="-122"/>
                <a:cs typeface="PT Serif" pitchFamily="34" charset="-120"/>
              </a:rPr>
              <a:t>Generator Creates Fakes</a:t>
            </a:r>
            <a:endParaRPr lang="en-US" sz="2400" dirty="0"/>
          </a:p>
        </p:txBody>
      </p:sp>
      <p:sp>
        <p:nvSpPr>
          <p:cNvPr id="5" name="Text 2"/>
          <p:cNvSpPr/>
          <p:nvPr/>
        </p:nvSpPr>
        <p:spPr>
          <a:xfrm>
            <a:off x="10968213" y="2005414"/>
            <a:ext cx="2282476" cy="770336"/>
          </a:xfrm>
          <a:prstGeom prst="rect">
            <a:avLst/>
          </a:prstGeom>
          <a:noFill/>
          <a:ln/>
        </p:spPr>
        <p:txBody>
          <a:bodyPr wrap="square" lIns="0" tIns="0" rIns="0" bIns="0" rtlCol="0" anchor="t"/>
          <a:lstStyle/>
          <a:p>
            <a:pPr marL="0" indent="0" algn="l">
              <a:lnSpc>
                <a:spcPts val="3000"/>
              </a:lnSpc>
              <a:buNone/>
            </a:pPr>
            <a:r>
              <a:rPr lang="en-US" sz="2400" dirty="0">
                <a:solidFill>
                  <a:srgbClr val="020202"/>
                </a:solidFill>
                <a:latin typeface="PT Serif" pitchFamily="34" charset="0"/>
                <a:ea typeface="PT Serif" pitchFamily="34" charset="-122"/>
                <a:cs typeface="PT Serif" pitchFamily="34" charset="-120"/>
              </a:rPr>
              <a:t>Discriminator Classifies</a:t>
            </a:r>
            <a:endParaRPr lang="en-US" sz="2400" dirty="0"/>
          </a:p>
        </p:txBody>
      </p:sp>
      <p:sp>
        <p:nvSpPr>
          <p:cNvPr id="6" name="Text 3"/>
          <p:cNvSpPr/>
          <p:nvPr/>
        </p:nvSpPr>
        <p:spPr>
          <a:xfrm>
            <a:off x="10968213" y="5643519"/>
            <a:ext cx="2282476" cy="770336"/>
          </a:xfrm>
          <a:prstGeom prst="rect">
            <a:avLst/>
          </a:prstGeom>
          <a:noFill/>
          <a:ln/>
        </p:spPr>
        <p:txBody>
          <a:bodyPr wrap="square" lIns="0" tIns="0" rIns="0" bIns="0" rtlCol="0" anchor="t"/>
          <a:lstStyle/>
          <a:p>
            <a:pPr marL="0" indent="0" algn="l">
              <a:lnSpc>
                <a:spcPts val="3000"/>
              </a:lnSpc>
              <a:buNone/>
            </a:pPr>
            <a:r>
              <a:rPr lang="en-US" sz="2400" dirty="0">
                <a:solidFill>
                  <a:srgbClr val="020202"/>
                </a:solidFill>
                <a:latin typeface="PT Serif" pitchFamily="34" charset="0"/>
                <a:ea typeface="PT Serif" pitchFamily="34" charset="-122"/>
                <a:cs typeface="PT Serif" pitchFamily="34" charset="-120"/>
              </a:rPr>
              <a:t>Compute Feedback Loss</a:t>
            </a:r>
            <a:endParaRPr lang="en-US" sz="2400" dirty="0"/>
          </a:p>
        </p:txBody>
      </p:sp>
      <p:sp>
        <p:nvSpPr>
          <p:cNvPr id="7" name="Text 4"/>
          <p:cNvSpPr/>
          <p:nvPr/>
        </p:nvSpPr>
        <p:spPr>
          <a:xfrm>
            <a:off x="1379365" y="5643519"/>
            <a:ext cx="2282477" cy="770336"/>
          </a:xfrm>
          <a:prstGeom prst="rect">
            <a:avLst/>
          </a:prstGeom>
          <a:noFill/>
          <a:ln/>
        </p:spPr>
        <p:txBody>
          <a:bodyPr wrap="square" lIns="0" tIns="0" rIns="0" bIns="0" rtlCol="0" anchor="t"/>
          <a:lstStyle/>
          <a:p>
            <a:pPr marL="0" indent="0" algn="r">
              <a:lnSpc>
                <a:spcPts val="3000"/>
              </a:lnSpc>
              <a:buNone/>
            </a:pPr>
            <a:r>
              <a:rPr lang="en-US" sz="2400" dirty="0">
                <a:solidFill>
                  <a:srgbClr val="020202"/>
                </a:solidFill>
                <a:latin typeface="PT Serif" pitchFamily="34" charset="0"/>
                <a:ea typeface="PT Serif" pitchFamily="34" charset="-122"/>
                <a:cs typeface="PT Serif" pitchFamily="34" charset="-120"/>
              </a:rPr>
              <a:t>Update Networks</a:t>
            </a:r>
            <a:endParaRPr lang="en-US" sz="2400" dirty="0"/>
          </a:p>
        </p:txBody>
      </p:sp>
      <p:sp>
        <p:nvSpPr>
          <p:cNvPr id="8" name="Text 5"/>
          <p:cNvSpPr/>
          <p:nvPr/>
        </p:nvSpPr>
        <p:spPr>
          <a:xfrm>
            <a:off x="793790" y="6876931"/>
            <a:ext cx="13042821" cy="958774"/>
          </a:xfrm>
          <a:prstGeom prst="rect">
            <a:avLst/>
          </a:prstGeom>
          <a:noFill/>
          <a:ln/>
        </p:spPr>
        <p:txBody>
          <a:bodyPr wrap="square" lIns="0" tIns="0" rIns="0" bIns="0" rtlCol="0" anchor="t"/>
          <a:lstStyle/>
          <a:p>
            <a:pPr>
              <a:lnSpc>
                <a:spcPts val="2500"/>
              </a:lnSpc>
            </a:pPr>
            <a:r>
              <a:rPr lang="en-US" dirty="0">
                <a:solidFill>
                  <a:srgbClr val="383838"/>
                </a:solidFill>
                <a:latin typeface="DM Sans" pitchFamily="2" charset="0"/>
                <a:ea typeface="DM Sans" pitchFamily="34" charset="-122"/>
                <a:cs typeface="DM Sans" pitchFamily="34" charset="-120"/>
              </a:rPr>
              <a:t>The Generator produces synthetic samples from random noise, while the Discriminator evaluates whether each sample is real or fake. </a:t>
            </a:r>
            <a:r>
              <a:rPr lang="en-IN" dirty="0">
                <a:latin typeface="DM Sans" pitchFamily="2" charset="0"/>
              </a:rPr>
              <a:t>This feedback loop drives iterative improvement in both networks, until an equilibrium is reached where the generated data becomes indistinguishable from real data and the Discriminator can no longer reliably differentiate between the two.</a:t>
            </a:r>
            <a:endParaRPr lang="en-US" dirty="0">
              <a:latin typeface="DM Sans"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5E5539-9371-F143-B3A8-93DF16EB2CA3}"/>
              </a:ext>
            </a:extLst>
          </p:cNvPr>
          <p:cNvPicPr>
            <a:picLocks noChangeAspect="1"/>
          </p:cNvPicPr>
          <p:nvPr/>
        </p:nvPicPr>
        <p:blipFill>
          <a:blip r:embed="rId2"/>
          <a:stretch>
            <a:fillRect/>
          </a:stretch>
        </p:blipFill>
        <p:spPr>
          <a:xfrm>
            <a:off x="2166424" y="2000738"/>
            <a:ext cx="9819250" cy="4878363"/>
          </a:xfrm>
          <a:prstGeom prst="rect">
            <a:avLst/>
          </a:prstGeom>
        </p:spPr>
      </p:pic>
      <p:sp>
        <p:nvSpPr>
          <p:cNvPr id="3" name="Text 0">
            <a:extLst>
              <a:ext uri="{FF2B5EF4-FFF2-40B4-BE49-F238E27FC236}">
                <a16:creationId xmlns:a16="http://schemas.microsoft.com/office/drawing/2014/main" id="{BFB51699-9D94-5E43-9EF5-21E6721C05E6}"/>
              </a:ext>
            </a:extLst>
          </p:cNvPr>
          <p:cNvSpPr/>
          <p:nvPr/>
        </p:nvSpPr>
        <p:spPr>
          <a:xfrm>
            <a:off x="793790" y="717590"/>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GAN Architecture</a:t>
            </a:r>
            <a:endParaRPr lang="en-US" sz="4100" dirty="0"/>
          </a:p>
        </p:txBody>
      </p:sp>
    </p:spTree>
    <p:extLst>
      <p:ext uri="{BB962C8B-B14F-4D97-AF65-F5344CB8AC3E}">
        <p14:creationId xmlns:p14="http://schemas.microsoft.com/office/powerpoint/2010/main" val="1851534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898964"/>
            <a:ext cx="7075408"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GAN Intuition: Artist vs. Critic</a:t>
            </a:r>
            <a:endParaRPr lang="en-US" sz="4100" dirty="0"/>
          </a:p>
        </p:txBody>
      </p:sp>
      <p:sp>
        <p:nvSpPr>
          <p:cNvPr id="3" name="Shape 1"/>
          <p:cNvSpPr/>
          <p:nvPr/>
        </p:nvSpPr>
        <p:spPr>
          <a:xfrm>
            <a:off x="793790" y="3467576"/>
            <a:ext cx="13042821" cy="1801654"/>
          </a:xfrm>
          <a:prstGeom prst="roundRect">
            <a:avLst>
              <a:gd name="adj" fmla="val 1652"/>
            </a:avLst>
          </a:prstGeom>
          <a:solidFill>
            <a:srgbClr val="F2EEEE"/>
          </a:solidFill>
          <a:ln/>
        </p:spPr>
      </p:sp>
      <p:sp>
        <p:nvSpPr>
          <p:cNvPr id="4" name="Shape 2"/>
          <p:cNvSpPr/>
          <p:nvPr/>
        </p:nvSpPr>
        <p:spPr>
          <a:xfrm>
            <a:off x="793790" y="3475260"/>
            <a:ext cx="6521410" cy="1801654"/>
          </a:xfrm>
          <a:prstGeom prst="roundRect">
            <a:avLst>
              <a:gd name="adj" fmla="val 1652"/>
            </a:avLst>
          </a:prstGeom>
          <a:solidFill>
            <a:srgbClr val="F2EEEE"/>
          </a:solidFill>
          <a:ln/>
        </p:spPr>
      </p:sp>
      <p:sp>
        <p:nvSpPr>
          <p:cNvPr id="5" name="Text 3"/>
          <p:cNvSpPr/>
          <p:nvPr/>
        </p:nvSpPr>
        <p:spPr>
          <a:xfrm>
            <a:off x="992148" y="3665934"/>
            <a:ext cx="2962870" cy="333256"/>
          </a:xfrm>
          <a:prstGeom prst="rect">
            <a:avLst/>
          </a:prstGeom>
          <a:noFill/>
          <a:ln/>
        </p:spPr>
        <p:txBody>
          <a:bodyPr wrap="none" lIns="0" tIns="0" rIns="0" bIns="0" rtlCol="0" anchor="t"/>
          <a:lstStyle/>
          <a:p>
            <a:pPr marL="0" indent="0" algn="l">
              <a:lnSpc>
                <a:spcPts val="2550"/>
              </a:lnSpc>
              <a:buNone/>
            </a:pPr>
            <a:r>
              <a:rPr lang="en-US" sz="2050" dirty="0">
                <a:solidFill>
                  <a:srgbClr val="000000"/>
                </a:solidFill>
                <a:latin typeface="PT Serif" pitchFamily="34" charset="0"/>
                <a:ea typeface="PT Serif" pitchFamily="34" charset="-122"/>
                <a:cs typeface="PT Serif" pitchFamily="34" charset="-120"/>
              </a:rPr>
              <a:t>🎨</a:t>
            </a:r>
            <a:r>
              <a:rPr lang="en-US" sz="2050" dirty="0">
                <a:solidFill>
                  <a:srgbClr val="383838"/>
                </a:solidFill>
                <a:latin typeface="PT Serif" pitchFamily="34" charset="0"/>
                <a:ea typeface="PT Serif" pitchFamily="34" charset="-122"/>
                <a:cs typeface="PT Serif" pitchFamily="34" charset="-120"/>
              </a:rPr>
              <a:t> The Artist (Generator)</a:t>
            </a:r>
            <a:endParaRPr lang="en-US" sz="2050" dirty="0"/>
          </a:p>
        </p:txBody>
      </p:sp>
      <p:sp>
        <p:nvSpPr>
          <p:cNvPr id="6" name="Text 4"/>
          <p:cNvSpPr/>
          <p:nvPr/>
        </p:nvSpPr>
        <p:spPr>
          <a:xfrm>
            <a:off x="992148" y="4118253"/>
            <a:ext cx="6124694"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Creates forgeries — fake paintings — trying to make them indistinguishable from real masterpieces. Gets better with every critique.</a:t>
            </a:r>
            <a:endParaRPr lang="en-US" dirty="0"/>
          </a:p>
        </p:txBody>
      </p:sp>
      <p:sp>
        <p:nvSpPr>
          <p:cNvPr id="7" name="Shape 5"/>
          <p:cNvSpPr/>
          <p:nvPr/>
        </p:nvSpPr>
        <p:spPr>
          <a:xfrm>
            <a:off x="7315200" y="3467576"/>
            <a:ext cx="6521410" cy="1801654"/>
          </a:xfrm>
          <a:prstGeom prst="rect">
            <a:avLst/>
          </a:prstGeom>
          <a:solidFill>
            <a:srgbClr val="F2EEEE"/>
          </a:solidFill>
          <a:ln/>
        </p:spPr>
      </p:sp>
      <p:sp>
        <p:nvSpPr>
          <p:cNvPr id="8" name="Shape 6"/>
          <p:cNvSpPr/>
          <p:nvPr/>
        </p:nvSpPr>
        <p:spPr>
          <a:xfrm>
            <a:off x="7315200" y="3467576"/>
            <a:ext cx="22860" cy="1801654"/>
          </a:xfrm>
          <a:prstGeom prst="roundRect">
            <a:avLst>
              <a:gd name="adj" fmla="val 130232"/>
            </a:avLst>
          </a:prstGeom>
          <a:solidFill>
            <a:srgbClr val="D8D4D4"/>
          </a:solidFill>
          <a:ln/>
        </p:spPr>
      </p:sp>
      <p:sp>
        <p:nvSpPr>
          <p:cNvPr id="9" name="Text 7"/>
          <p:cNvSpPr/>
          <p:nvPr/>
        </p:nvSpPr>
        <p:spPr>
          <a:xfrm>
            <a:off x="7513558" y="3665934"/>
            <a:ext cx="3385304" cy="333256"/>
          </a:xfrm>
          <a:prstGeom prst="rect">
            <a:avLst/>
          </a:prstGeom>
          <a:noFill/>
          <a:ln/>
        </p:spPr>
        <p:txBody>
          <a:bodyPr wrap="none" lIns="0" tIns="0" rIns="0" bIns="0" rtlCol="0" anchor="t"/>
          <a:lstStyle/>
          <a:p>
            <a:pPr marL="0" indent="0" algn="l">
              <a:lnSpc>
                <a:spcPts val="2550"/>
              </a:lnSpc>
              <a:buNone/>
            </a:pPr>
            <a:r>
              <a:rPr lang="en-US" sz="2050" dirty="0">
                <a:solidFill>
                  <a:srgbClr val="000000"/>
                </a:solidFill>
                <a:latin typeface="PT Serif" pitchFamily="34" charset="0"/>
                <a:ea typeface="PT Serif" pitchFamily="34" charset="-122"/>
                <a:cs typeface="PT Serif" pitchFamily="34" charset="-120"/>
              </a:rPr>
              <a:t>🔍</a:t>
            </a:r>
            <a:r>
              <a:rPr lang="en-US" sz="2050" dirty="0">
                <a:solidFill>
                  <a:srgbClr val="383838"/>
                </a:solidFill>
                <a:latin typeface="PT Serif" pitchFamily="34" charset="0"/>
                <a:ea typeface="PT Serif" pitchFamily="34" charset="-122"/>
                <a:cs typeface="PT Serif" pitchFamily="34" charset="-120"/>
              </a:rPr>
              <a:t> The Critic (Discriminator)</a:t>
            </a:r>
            <a:endParaRPr lang="en-US" sz="2050" dirty="0"/>
          </a:p>
        </p:txBody>
      </p:sp>
      <p:sp>
        <p:nvSpPr>
          <p:cNvPr id="10" name="Text 8"/>
          <p:cNvSpPr/>
          <p:nvPr/>
        </p:nvSpPr>
        <p:spPr>
          <a:xfrm>
            <a:off x="7513558" y="4118253"/>
            <a:ext cx="6124694"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Examines each painting and tries to spot the fake. Becomes sharper as the artist improves their craft.</a:t>
            </a:r>
            <a:endParaRPr lang="en-US" dirty="0"/>
          </a:p>
        </p:txBody>
      </p:sp>
      <p:sp>
        <p:nvSpPr>
          <p:cNvPr id="11" name="Text 9"/>
          <p:cNvSpPr/>
          <p:nvPr/>
        </p:nvSpPr>
        <p:spPr>
          <a:xfrm>
            <a:off x="816649" y="5721549"/>
            <a:ext cx="13042821"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Over time, the artist becomes so skilled that even the expert critic can no longer reliably tell the difference — this is the </a:t>
            </a:r>
          </a:p>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goal of GAN training.</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8892" y="1590731"/>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GAN Training Idea</a:t>
            </a:r>
            <a:endParaRPr lang="en-US" sz="4100" dirty="0"/>
          </a:p>
        </p:txBody>
      </p:sp>
      <p:sp>
        <p:nvSpPr>
          <p:cNvPr id="3" name="Text 1"/>
          <p:cNvSpPr/>
          <p:nvPr/>
        </p:nvSpPr>
        <p:spPr>
          <a:xfrm>
            <a:off x="690755" y="2765791"/>
            <a:ext cx="13042821" cy="317540"/>
          </a:xfrm>
          <a:prstGeom prst="rect">
            <a:avLst/>
          </a:prstGeom>
          <a:noFill/>
          <a:ln/>
        </p:spPr>
        <p:txBody>
          <a:bodyPr wrap="none" lIns="0" tIns="0" rIns="0" bIns="0" rtlCol="0" anchor="t"/>
          <a:lstStyle/>
          <a:p>
            <a:pPr marL="0" indent="0" algn="l">
              <a:lnSpc>
                <a:spcPts val="2500"/>
              </a:lnSpc>
              <a:buNone/>
            </a:pPr>
            <a:r>
              <a:rPr lang="en-US" sz="2000" dirty="0">
                <a:solidFill>
                  <a:srgbClr val="383838"/>
                </a:solidFill>
                <a:latin typeface="DM Sans" pitchFamily="34" charset="0"/>
                <a:ea typeface="DM Sans" pitchFamily="34" charset="-122"/>
                <a:cs typeface="DM Sans" pitchFamily="34" charset="-120"/>
              </a:rPr>
              <a:t>GAN training is fundamentally an </a:t>
            </a:r>
            <a:r>
              <a:rPr lang="en-US" sz="2000" b="1" dirty="0">
                <a:solidFill>
                  <a:srgbClr val="383838"/>
                </a:solidFill>
                <a:latin typeface="DM Sans" pitchFamily="34" charset="0"/>
                <a:ea typeface="DM Sans" pitchFamily="34" charset="-122"/>
                <a:cs typeface="DM Sans" pitchFamily="34" charset="-120"/>
              </a:rPr>
              <a:t>adversarial learning</a:t>
            </a:r>
            <a:r>
              <a:rPr lang="en-US" sz="2000" dirty="0">
                <a:solidFill>
                  <a:srgbClr val="383838"/>
                </a:solidFill>
                <a:latin typeface="DM Sans" pitchFamily="34" charset="0"/>
                <a:ea typeface="DM Sans" pitchFamily="34" charset="-122"/>
                <a:cs typeface="DM Sans" pitchFamily="34" charset="-120"/>
              </a:rPr>
              <a:t> process where two objectives are in direct conflict.</a:t>
            </a:r>
            <a:endParaRPr lang="en-US" sz="20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8204" y="4057888"/>
            <a:ext cx="297656" cy="297656"/>
          </a:xfrm>
          <a:prstGeom prst="rect">
            <a:avLst/>
          </a:prstGeom>
        </p:spPr>
      </p:pic>
      <p:sp>
        <p:nvSpPr>
          <p:cNvPr id="5" name="Text 2"/>
          <p:cNvSpPr/>
          <p:nvPr/>
        </p:nvSpPr>
        <p:spPr>
          <a:xfrm>
            <a:off x="1438632" y="405181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Generator's Goal</a:t>
            </a:r>
            <a:endParaRPr lang="en-US" sz="2050" dirty="0"/>
          </a:p>
        </p:txBody>
      </p:sp>
      <p:sp>
        <p:nvSpPr>
          <p:cNvPr id="6" name="Text 3"/>
          <p:cNvSpPr/>
          <p:nvPr/>
        </p:nvSpPr>
        <p:spPr>
          <a:xfrm>
            <a:off x="1438632" y="4496514"/>
            <a:ext cx="3537347"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Fool the Discriminator by producing fake samples realistic enough to be classified as real</a:t>
            </a:r>
            <a:endParaRPr lang="en-US"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98400" y="4057888"/>
            <a:ext cx="297656" cy="297656"/>
          </a:xfrm>
          <a:prstGeom prst="rect">
            <a:avLst/>
          </a:prstGeom>
        </p:spPr>
      </p:pic>
      <p:sp>
        <p:nvSpPr>
          <p:cNvPr id="8" name="Text 4"/>
          <p:cNvSpPr/>
          <p:nvPr/>
        </p:nvSpPr>
        <p:spPr>
          <a:xfrm>
            <a:off x="5868829" y="405181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Discriminator's Goal</a:t>
            </a:r>
            <a:endParaRPr lang="en-US" sz="2050" dirty="0"/>
          </a:p>
        </p:txBody>
      </p:sp>
      <p:sp>
        <p:nvSpPr>
          <p:cNvPr id="9" name="Text 5"/>
          <p:cNvSpPr/>
          <p:nvPr/>
        </p:nvSpPr>
        <p:spPr>
          <a:xfrm>
            <a:off x="5868829" y="4496514"/>
            <a:ext cx="3537466"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Detect the Generator's fakes and correctly distinguish real data from synthetic samples</a:t>
            </a:r>
            <a:endParaRPr lang="en-US"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28716" y="4057888"/>
            <a:ext cx="297656" cy="297656"/>
          </a:xfrm>
          <a:prstGeom prst="rect">
            <a:avLst/>
          </a:prstGeom>
        </p:spPr>
      </p:pic>
      <p:sp>
        <p:nvSpPr>
          <p:cNvPr id="11" name="Text 6"/>
          <p:cNvSpPr/>
          <p:nvPr/>
        </p:nvSpPr>
        <p:spPr>
          <a:xfrm>
            <a:off x="10299144" y="405181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Adversarial Learning</a:t>
            </a:r>
            <a:endParaRPr lang="en-US" sz="2050" dirty="0"/>
          </a:p>
        </p:txBody>
      </p:sp>
      <p:sp>
        <p:nvSpPr>
          <p:cNvPr id="12" name="Text 7"/>
          <p:cNvSpPr/>
          <p:nvPr/>
        </p:nvSpPr>
        <p:spPr>
          <a:xfrm>
            <a:off x="10299144" y="4496514"/>
            <a:ext cx="3537466" cy="127015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Both networks improve simultaneously through this competition, converging toward a Nash equilibrium</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718099"/>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Applications of GANs</a:t>
            </a:r>
            <a:endParaRPr lang="en-US" sz="41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790" y="3568065"/>
            <a:ext cx="496133" cy="496133"/>
          </a:xfrm>
          <a:prstGeom prst="rect">
            <a:avLst/>
          </a:prstGeom>
        </p:spPr>
      </p:pic>
      <p:sp>
        <p:nvSpPr>
          <p:cNvPr id="4" name="Text 1"/>
          <p:cNvSpPr/>
          <p:nvPr/>
        </p:nvSpPr>
        <p:spPr>
          <a:xfrm>
            <a:off x="793790" y="4312206"/>
            <a:ext cx="300132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Synthetic Structured Data</a:t>
            </a:r>
            <a:endParaRPr lang="en-US" sz="2050" dirty="0"/>
          </a:p>
        </p:txBody>
      </p:sp>
      <p:sp>
        <p:nvSpPr>
          <p:cNvPr id="5" name="Text 2"/>
          <p:cNvSpPr/>
          <p:nvPr/>
        </p:nvSpPr>
        <p:spPr>
          <a:xfrm>
            <a:off x="793790" y="4756904"/>
            <a:ext cx="4182189"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Generate realistic tabular or structured datasets for training, testing, and augmenting rare-event scenarios</a:t>
            </a:r>
            <a:endParaRPr lang="en-US" sz="15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23986" y="3568065"/>
            <a:ext cx="496133" cy="496133"/>
          </a:xfrm>
          <a:prstGeom prst="rect">
            <a:avLst/>
          </a:prstGeom>
        </p:spPr>
      </p:pic>
      <p:sp>
        <p:nvSpPr>
          <p:cNvPr id="7" name="Text 3"/>
          <p:cNvSpPr/>
          <p:nvPr/>
        </p:nvSpPr>
        <p:spPr>
          <a:xfrm>
            <a:off x="5223986" y="431220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Image Generation</a:t>
            </a:r>
            <a:endParaRPr lang="en-US" sz="2050" dirty="0"/>
          </a:p>
        </p:txBody>
      </p:sp>
      <p:sp>
        <p:nvSpPr>
          <p:cNvPr id="8" name="Text 4"/>
          <p:cNvSpPr/>
          <p:nvPr/>
        </p:nvSpPr>
        <p:spPr>
          <a:xfrm>
            <a:off x="5223986" y="4756904"/>
            <a:ext cx="4182308"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Create photorealistic images, artwork, and visual content from scratch or from text prompts.  </a:t>
            </a:r>
            <a:endParaRPr lang="en-US" sz="15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54302" y="3568065"/>
            <a:ext cx="496133" cy="496133"/>
          </a:xfrm>
          <a:prstGeom prst="rect">
            <a:avLst/>
          </a:prstGeom>
        </p:spPr>
      </p:pic>
      <p:sp>
        <p:nvSpPr>
          <p:cNvPr id="10" name="Text 5"/>
          <p:cNvSpPr/>
          <p:nvPr/>
        </p:nvSpPr>
        <p:spPr>
          <a:xfrm>
            <a:off x="9654302" y="431220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Deepfakes</a:t>
            </a:r>
            <a:endParaRPr lang="en-US" sz="2050" dirty="0"/>
          </a:p>
        </p:txBody>
      </p:sp>
      <p:sp>
        <p:nvSpPr>
          <p:cNvPr id="11" name="Text 6"/>
          <p:cNvSpPr/>
          <p:nvPr/>
        </p:nvSpPr>
        <p:spPr>
          <a:xfrm>
            <a:off x="9654302" y="4756904"/>
            <a:ext cx="4182308"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Synthesize highly realistic video and audio of people, raising both creative and ethical considerations</a:t>
            </a:r>
            <a:endParaRPr lang="en-US" sz="1550" dirty="0"/>
          </a:p>
        </p:txBody>
      </p:sp>
      <p:sp>
        <p:nvSpPr>
          <p:cNvPr id="12" name="TextBox 11">
            <a:extLst>
              <a:ext uri="{FF2B5EF4-FFF2-40B4-BE49-F238E27FC236}">
                <a16:creationId xmlns:a16="http://schemas.microsoft.com/office/drawing/2014/main" id="{F0D58DFC-1239-8146-9656-BD5283AA5804}"/>
              </a:ext>
            </a:extLst>
          </p:cNvPr>
          <p:cNvSpPr txBox="1"/>
          <p:nvPr/>
        </p:nvSpPr>
        <p:spPr>
          <a:xfrm>
            <a:off x="633046" y="6358597"/>
            <a:ext cx="14007361" cy="1323439"/>
          </a:xfrm>
          <a:prstGeom prst="rect">
            <a:avLst/>
          </a:prstGeom>
          <a:noFill/>
        </p:spPr>
        <p:txBody>
          <a:bodyPr wrap="none" rtlCol="0">
            <a:spAutoFit/>
          </a:bodyPr>
          <a:lstStyle/>
          <a:p>
            <a:pPr marL="285750" indent="-285750">
              <a:buFont typeface="Arial" panose="020B0604020202020204" pitchFamily="34" charset="0"/>
              <a:buChar char="•"/>
            </a:pPr>
            <a:r>
              <a:rPr lang="en-IN" sz="1600" dirty="0">
                <a:latin typeface="DM Sans" pitchFamily="2" charset="0"/>
              </a:rPr>
              <a:t>GANs can be used for image enhancement by improving resolution, reducing noise, and reconstructing missing details from low-quality inputs.</a:t>
            </a:r>
          </a:p>
          <a:p>
            <a:endParaRPr lang="en-IN" sz="1600" dirty="0">
              <a:latin typeface="DM Sans" pitchFamily="2" charset="0"/>
            </a:endParaRPr>
          </a:p>
          <a:p>
            <a:pPr marL="285750" indent="-285750">
              <a:buFont typeface="Arial" panose="020B0604020202020204" pitchFamily="34" charset="0"/>
              <a:buChar char="•"/>
            </a:pPr>
            <a:r>
              <a:rPr lang="en-IN" sz="1600" dirty="0">
                <a:latin typeface="DM Sans" pitchFamily="2" charset="0"/>
              </a:rPr>
              <a:t>They generate sharper, more realistic images by learning fine textures and complex visual patterns.</a:t>
            </a:r>
          </a:p>
          <a:p>
            <a:endParaRPr lang="en-IN" sz="1600" dirty="0">
              <a:latin typeface="DM Sans" pitchFamily="2" charset="0"/>
            </a:endParaRPr>
          </a:p>
          <a:p>
            <a:pPr marL="285750" indent="-285750">
              <a:buFont typeface="Arial" panose="020B0604020202020204" pitchFamily="34" charset="0"/>
              <a:buChar char="•"/>
            </a:pPr>
            <a:r>
              <a:rPr lang="en-IN" sz="1600" dirty="0">
                <a:latin typeface="DM Sans" pitchFamily="2" charset="0"/>
              </a:rPr>
              <a:t>This is widely applied in medical imaging, surveillance, photography, media restoration, and satellite imaging where visual quality is critical.</a:t>
            </a:r>
            <a:endParaRPr lang="en-US" sz="1600" dirty="0">
              <a:latin typeface="DM Sans" pitchFamily="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70930" y="2090069"/>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GAN Limitations</a:t>
            </a:r>
            <a:endParaRPr lang="en-US" sz="4100" dirty="0"/>
          </a:p>
        </p:txBody>
      </p:sp>
      <p:sp>
        <p:nvSpPr>
          <p:cNvPr id="3" name="Shape 1"/>
          <p:cNvSpPr/>
          <p:nvPr/>
        </p:nvSpPr>
        <p:spPr>
          <a:xfrm>
            <a:off x="793790" y="3560207"/>
            <a:ext cx="4215289" cy="2157293"/>
          </a:xfrm>
          <a:prstGeom prst="roundRect">
            <a:avLst>
              <a:gd name="adj" fmla="val 5086"/>
            </a:avLst>
          </a:prstGeom>
          <a:solidFill>
            <a:srgbClr val="FFFFFF"/>
          </a:solidFill>
          <a:ln w="22860">
            <a:solidFill>
              <a:srgbClr val="D8D4D4"/>
            </a:solidFill>
            <a:prstDash val="solid"/>
          </a:ln>
        </p:spPr>
      </p:sp>
      <p:sp>
        <p:nvSpPr>
          <p:cNvPr id="4" name="Shape 2"/>
          <p:cNvSpPr/>
          <p:nvPr/>
        </p:nvSpPr>
        <p:spPr>
          <a:xfrm>
            <a:off x="770930" y="3560207"/>
            <a:ext cx="91440" cy="2157293"/>
          </a:xfrm>
          <a:prstGeom prst="roundRect">
            <a:avLst>
              <a:gd name="adj" fmla="val 32558"/>
            </a:avLst>
          </a:prstGeom>
          <a:solidFill>
            <a:srgbClr val="E04F00"/>
          </a:solidFill>
          <a:ln/>
        </p:spPr>
      </p:sp>
      <p:sp>
        <p:nvSpPr>
          <p:cNvPr id="5" name="Text 3"/>
          <p:cNvSpPr/>
          <p:nvPr/>
        </p:nvSpPr>
        <p:spPr>
          <a:xfrm>
            <a:off x="1083588" y="3781425"/>
            <a:ext cx="2604968" cy="325636"/>
          </a:xfrm>
          <a:prstGeom prst="rect">
            <a:avLst/>
          </a:prstGeom>
          <a:noFill/>
          <a:ln/>
        </p:spPr>
        <p:txBody>
          <a:bodyPr wrap="none" lIns="0" tIns="0" rIns="0" bIns="0" rtlCol="0" anchor="t"/>
          <a:lstStyle/>
          <a:p>
            <a:pPr marL="0" indent="0" algn="l">
              <a:lnSpc>
                <a:spcPts val="2550"/>
              </a:lnSpc>
              <a:buNone/>
            </a:pPr>
            <a:r>
              <a:rPr lang="en-US" sz="2200" dirty="0">
                <a:solidFill>
                  <a:srgbClr val="383838"/>
                </a:solidFill>
                <a:latin typeface="PT Serif" pitchFamily="34" charset="0"/>
                <a:ea typeface="PT Serif" pitchFamily="34" charset="-122"/>
                <a:cs typeface="PT Serif" pitchFamily="34" charset="-120"/>
              </a:rPr>
              <a:t>Training Instability</a:t>
            </a:r>
            <a:endParaRPr lang="en-US" sz="2200" dirty="0"/>
          </a:p>
        </p:txBody>
      </p:sp>
      <p:sp>
        <p:nvSpPr>
          <p:cNvPr id="6" name="Text 4"/>
          <p:cNvSpPr/>
          <p:nvPr/>
        </p:nvSpPr>
        <p:spPr>
          <a:xfrm>
            <a:off x="1083588" y="4226123"/>
            <a:ext cx="3704273"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adversarial dynamic can cause training to oscillate or diverge, making convergence difficult to guarantee</a:t>
            </a:r>
            <a:endParaRPr lang="en-US" dirty="0"/>
          </a:p>
        </p:txBody>
      </p:sp>
      <p:sp>
        <p:nvSpPr>
          <p:cNvPr id="7" name="Shape 5"/>
          <p:cNvSpPr/>
          <p:nvPr/>
        </p:nvSpPr>
        <p:spPr>
          <a:xfrm>
            <a:off x="5207437" y="3560207"/>
            <a:ext cx="4215408" cy="2157293"/>
          </a:xfrm>
          <a:prstGeom prst="roundRect">
            <a:avLst>
              <a:gd name="adj" fmla="val 5086"/>
            </a:avLst>
          </a:prstGeom>
          <a:solidFill>
            <a:srgbClr val="FFFFFF"/>
          </a:solidFill>
          <a:ln w="22860">
            <a:solidFill>
              <a:srgbClr val="D8D4D4"/>
            </a:solidFill>
            <a:prstDash val="solid"/>
          </a:ln>
        </p:spPr>
      </p:sp>
      <p:sp>
        <p:nvSpPr>
          <p:cNvPr id="8" name="Shape 6"/>
          <p:cNvSpPr/>
          <p:nvPr/>
        </p:nvSpPr>
        <p:spPr>
          <a:xfrm>
            <a:off x="5184577" y="3560207"/>
            <a:ext cx="91440" cy="2157293"/>
          </a:xfrm>
          <a:prstGeom prst="roundRect">
            <a:avLst>
              <a:gd name="adj" fmla="val 32558"/>
            </a:avLst>
          </a:prstGeom>
          <a:solidFill>
            <a:srgbClr val="E04F00"/>
          </a:solidFill>
          <a:ln/>
        </p:spPr>
      </p:sp>
      <p:sp>
        <p:nvSpPr>
          <p:cNvPr id="9" name="Text 7"/>
          <p:cNvSpPr/>
          <p:nvPr/>
        </p:nvSpPr>
        <p:spPr>
          <a:xfrm>
            <a:off x="5497235" y="3781425"/>
            <a:ext cx="2604968" cy="325636"/>
          </a:xfrm>
          <a:prstGeom prst="rect">
            <a:avLst/>
          </a:prstGeom>
          <a:noFill/>
          <a:ln/>
        </p:spPr>
        <p:txBody>
          <a:bodyPr wrap="none" lIns="0" tIns="0" rIns="0" bIns="0" rtlCol="0" anchor="t"/>
          <a:lstStyle/>
          <a:p>
            <a:pPr marL="0" indent="0" algn="l">
              <a:lnSpc>
                <a:spcPts val="2550"/>
              </a:lnSpc>
              <a:buNone/>
            </a:pPr>
            <a:r>
              <a:rPr lang="en-US" sz="2200" dirty="0">
                <a:solidFill>
                  <a:srgbClr val="383838"/>
                </a:solidFill>
                <a:latin typeface="PT Serif" pitchFamily="34" charset="0"/>
                <a:ea typeface="PT Serif" pitchFamily="34" charset="-122"/>
                <a:cs typeface="PT Serif" pitchFamily="34" charset="-120"/>
              </a:rPr>
              <a:t>Mode Collapse</a:t>
            </a:r>
            <a:endParaRPr lang="en-US" sz="2200" dirty="0"/>
          </a:p>
        </p:txBody>
      </p:sp>
      <p:sp>
        <p:nvSpPr>
          <p:cNvPr id="10" name="Text 8"/>
          <p:cNvSpPr/>
          <p:nvPr/>
        </p:nvSpPr>
        <p:spPr>
          <a:xfrm>
            <a:off x="5497235" y="4226123"/>
            <a:ext cx="3704392" cy="1270159"/>
          </a:xfrm>
          <a:prstGeom prst="rect">
            <a:avLst/>
          </a:prstGeom>
          <a:noFill/>
          <a:ln/>
        </p:spPr>
        <p:txBody>
          <a:bodyPr wrap="square" lIns="0" tIns="0" rIns="0" bIns="0" rtlCol="0" anchor="t"/>
          <a:lstStyle/>
          <a:p>
            <a:pPr>
              <a:lnSpc>
                <a:spcPts val="2500"/>
              </a:lnSpc>
            </a:pPr>
            <a:r>
              <a:rPr lang="en-US" dirty="0">
                <a:solidFill>
                  <a:srgbClr val="383838"/>
                </a:solidFill>
                <a:latin typeface="DM Sans" pitchFamily="34" charset="0"/>
                <a:ea typeface="DM Sans" pitchFamily="34" charset="-122"/>
                <a:cs typeface="DM Sans" pitchFamily="34" charset="-120"/>
              </a:rPr>
              <a:t> </a:t>
            </a:r>
            <a:r>
              <a:rPr lang="en-IN" dirty="0"/>
              <a:t>The Generator may produce limited types of outputs, failing to capture the full diversity of real data (a problem known as mode collapse).</a:t>
            </a:r>
            <a:endParaRPr lang="en-US" dirty="0"/>
          </a:p>
        </p:txBody>
      </p:sp>
      <p:sp>
        <p:nvSpPr>
          <p:cNvPr id="11" name="Shape 9"/>
          <p:cNvSpPr/>
          <p:nvPr/>
        </p:nvSpPr>
        <p:spPr>
          <a:xfrm>
            <a:off x="9621203" y="3560207"/>
            <a:ext cx="4215289" cy="2157293"/>
          </a:xfrm>
          <a:prstGeom prst="roundRect">
            <a:avLst>
              <a:gd name="adj" fmla="val 5086"/>
            </a:avLst>
          </a:prstGeom>
          <a:solidFill>
            <a:srgbClr val="FFFFFF"/>
          </a:solidFill>
          <a:ln w="22860">
            <a:solidFill>
              <a:srgbClr val="D8D4D4"/>
            </a:solidFill>
            <a:prstDash val="solid"/>
          </a:ln>
        </p:spPr>
      </p:sp>
      <p:sp>
        <p:nvSpPr>
          <p:cNvPr id="12" name="Shape 10"/>
          <p:cNvSpPr/>
          <p:nvPr/>
        </p:nvSpPr>
        <p:spPr>
          <a:xfrm>
            <a:off x="9598343" y="3560207"/>
            <a:ext cx="91440" cy="2157293"/>
          </a:xfrm>
          <a:prstGeom prst="roundRect">
            <a:avLst>
              <a:gd name="adj" fmla="val 32558"/>
            </a:avLst>
          </a:prstGeom>
          <a:solidFill>
            <a:srgbClr val="E04F00"/>
          </a:solidFill>
          <a:ln/>
        </p:spPr>
      </p:sp>
      <p:sp>
        <p:nvSpPr>
          <p:cNvPr id="13" name="Text 11"/>
          <p:cNvSpPr/>
          <p:nvPr/>
        </p:nvSpPr>
        <p:spPr>
          <a:xfrm>
            <a:off x="9911001" y="3781425"/>
            <a:ext cx="2604968" cy="325636"/>
          </a:xfrm>
          <a:prstGeom prst="rect">
            <a:avLst/>
          </a:prstGeom>
          <a:noFill/>
          <a:ln/>
        </p:spPr>
        <p:txBody>
          <a:bodyPr wrap="none" lIns="0" tIns="0" rIns="0" bIns="0" rtlCol="0" anchor="t"/>
          <a:lstStyle/>
          <a:p>
            <a:pPr marL="0" indent="0" algn="l">
              <a:lnSpc>
                <a:spcPts val="2550"/>
              </a:lnSpc>
              <a:buNone/>
            </a:pPr>
            <a:r>
              <a:rPr lang="en-US" sz="2200" dirty="0">
                <a:solidFill>
                  <a:srgbClr val="383838"/>
                </a:solidFill>
                <a:latin typeface="PT Serif" pitchFamily="34" charset="0"/>
                <a:ea typeface="PT Serif" pitchFamily="34" charset="-122"/>
                <a:cs typeface="PT Serif" pitchFamily="34" charset="-120"/>
              </a:rPr>
              <a:t>Hard to Tune</a:t>
            </a:r>
            <a:endParaRPr lang="en-US" sz="2200" dirty="0"/>
          </a:p>
        </p:txBody>
      </p:sp>
      <p:sp>
        <p:nvSpPr>
          <p:cNvPr id="14" name="Text 12"/>
          <p:cNvSpPr/>
          <p:nvPr/>
        </p:nvSpPr>
        <p:spPr>
          <a:xfrm>
            <a:off x="9911001" y="4226123"/>
            <a:ext cx="3704273" cy="1270159"/>
          </a:xfrm>
          <a:prstGeom prst="rect">
            <a:avLst/>
          </a:prstGeom>
          <a:noFill/>
          <a:ln/>
        </p:spPr>
        <p:txBody>
          <a:bodyPr wrap="square" lIns="0" tIns="0" rIns="0" bIns="0" rtlCol="0" anchor="t"/>
          <a:lstStyle/>
          <a:p>
            <a:pPr>
              <a:lnSpc>
                <a:spcPts val="2500"/>
              </a:lnSpc>
            </a:pPr>
            <a:r>
              <a:rPr lang="en-US" sz="1550" dirty="0">
                <a:solidFill>
                  <a:srgbClr val="383838"/>
                </a:solidFill>
                <a:latin typeface="DM Sans" pitchFamily="34" charset="0"/>
                <a:ea typeface="DM Sans" pitchFamily="34" charset="-122"/>
                <a:cs typeface="DM Sans" pitchFamily="34" charset="-120"/>
              </a:rPr>
              <a:t> </a:t>
            </a:r>
            <a:r>
              <a:rPr lang="en-IN" dirty="0"/>
              <a:t>GANs are hard to train because they are very sensitive to hyperparameters and require careful balance between the Generator and Discriminator.</a:t>
            </a:r>
            <a:endParaRPr lang="en-US" dirty="0"/>
          </a:p>
        </p:txBody>
      </p:sp>
      <p:sp>
        <p:nvSpPr>
          <p:cNvPr id="15" name="TextBox 14">
            <a:extLst>
              <a:ext uri="{FF2B5EF4-FFF2-40B4-BE49-F238E27FC236}">
                <a16:creationId xmlns:a16="http://schemas.microsoft.com/office/drawing/2014/main" id="{2C50E6D9-54E8-1946-8C3F-F6B528501A47}"/>
              </a:ext>
            </a:extLst>
          </p:cNvPr>
          <p:cNvSpPr txBox="1"/>
          <p:nvPr/>
        </p:nvSpPr>
        <p:spPr>
          <a:xfrm>
            <a:off x="793790" y="6336311"/>
            <a:ext cx="11469807" cy="400110"/>
          </a:xfrm>
          <a:prstGeom prst="rect">
            <a:avLst/>
          </a:prstGeom>
          <a:noFill/>
        </p:spPr>
        <p:txBody>
          <a:bodyPr wrap="none" rtlCol="0">
            <a:spAutoFit/>
          </a:bodyPr>
          <a:lstStyle/>
          <a:p>
            <a:r>
              <a:rPr lang="en-IN" sz="2000" dirty="0">
                <a:latin typeface="DM Sans" pitchFamily="2" charset="0"/>
              </a:rPr>
              <a:t>GANs are powerful but require careful tuning and balance to achieve stable and diverse results.</a:t>
            </a:r>
            <a:endParaRPr lang="en-US" sz="2000" dirty="0">
              <a:latin typeface="DM Sans" pitchFamily="2"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729997"/>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What Is Attention?</a:t>
            </a:r>
            <a:endParaRPr lang="en-US" sz="4100" dirty="0"/>
          </a:p>
        </p:txBody>
      </p:sp>
      <p:sp>
        <p:nvSpPr>
          <p:cNvPr id="3" name="Text 1"/>
          <p:cNvSpPr/>
          <p:nvPr/>
        </p:nvSpPr>
        <p:spPr>
          <a:xfrm>
            <a:off x="793790" y="2746433"/>
            <a:ext cx="13042821" cy="635079"/>
          </a:xfrm>
          <a:prstGeom prst="rect">
            <a:avLst/>
          </a:prstGeom>
          <a:noFill/>
          <a:ln/>
        </p:spPr>
        <p:txBody>
          <a:bodyPr wrap="square" lIns="0" tIns="0" rIns="0" bIns="0" rtlCol="0" anchor="t"/>
          <a:lstStyle/>
          <a:p>
            <a:pPr marL="0" indent="0" algn="l">
              <a:lnSpc>
                <a:spcPts val="2500"/>
              </a:lnSpc>
              <a:buNone/>
            </a:pPr>
            <a:r>
              <a:rPr lang="en-US" sz="2000" dirty="0">
                <a:solidFill>
                  <a:srgbClr val="383838"/>
                </a:solidFill>
                <a:latin typeface="DM Sans" pitchFamily="34" charset="0"/>
                <a:ea typeface="DM Sans" pitchFamily="34" charset="-122"/>
                <a:cs typeface="DM Sans" pitchFamily="34" charset="-120"/>
              </a:rPr>
              <a:t>Attention is a mechanism that allows a model to </a:t>
            </a:r>
            <a:r>
              <a:rPr lang="en-US" sz="2000" b="1" dirty="0">
                <a:solidFill>
                  <a:srgbClr val="383838"/>
                </a:solidFill>
                <a:latin typeface="DM Sans" pitchFamily="34" charset="0"/>
                <a:ea typeface="DM Sans" pitchFamily="34" charset="-122"/>
                <a:cs typeface="DM Sans" pitchFamily="34" charset="-120"/>
              </a:rPr>
              <a:t>focus on the most relevant parts</a:t>
            </a:r>
            <a:r>
              <a:rPr lang="en-US" sz="2000" dirty="0">
                <a:solidFill>
                  <a:srgbClr val="383838"/>
                </a:solidFill>
                <a:latin typeface="DM Sans" pitchFamily="34" charset="0"/>
                <a:ea typeface="DM Sans" pitchFamily="34" charset="-122"/>
                <a:cs typeface="DM Sans" pitchFamily="34" charset="-120"/>
              </a:rPr>
              <a:t> of an input when producing an output — rather than treating all inputs equally.</a:t>
            </a:r>
            <a:endParaRPr lang="en-US" sz="2000" dirty="0"/>
          </a:p>
        </p:txBody>
      </p:sp>
      <p:sp>
        <p:nvSpPr>
          <p:cNvPr id="4" name="Shape 2"/>
          <p:cNvSpPr/>
          <p:nvPr/>
        </p:nvSpPr>
        <p:spPr>
          <a:xfrm>
            <a:off x="793790" y="4170998"/>
            <a:ext cx="4215289" cy="1794034"/>
          </a:xfrm>
          <a:prstGeom prst="roundRect">
            <a:avLst>
              <a:gd name="adj" fmla="val 1659"/>
            </a:avLst>
          </a:prstGeom>
          <a:solidFill>
            <a:srgbClr val="F2EEEE"/>
          </a:solidFill>
          <a:ln/>
        </p:spPr>
      </p:sp>
      <p:sp>
        <p:nvSpPr>
          <p:cNvPr id="5" name="Text 3"/>
          <p:cNvSpPr/>
          <p:nvPr/>
        </p:nvSpPr>
        <p:spPr>
          <a:xfrm>
            <a:off x="992148" y="4369356"/>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383838"/>
                </a:solidFill>
                <a:latin typeface="PT Serif" pitchFamily="34" charset="0"/>
                <a:ea typeface="PT Serif" pitchFamily="34" charset="-122"/>
                <a:cs typeface="PT Serif" pitchFamily="34" charset="-120"/>
              </a:rPr>
              <a:t>Selective Focus</a:t>
            </a:r>
            <a:endParaRPr lang="en-US" sz="2050" b="1" dirty="0"/>
          </a:p>
        </p:txBody>
      </p:sp>
      <p:sp>
        <p:nvSpPr>
          <p:cNvPr id="6" name="Text 4"/>
          <p:cNvSpPr/>
          <p:nvPr/>
        </p:nvSpPr>
        <p:spPr>
          <a:xfrm>
            <a:off x="985490" y="4853702"/>
            <a:ext cx="3818573"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Not all input tokens or features carry equal importance for a given task or prediction</a:t>
            </a:r>
            <a:endParaRPr lang="en-US" dirty="0"/>
          </a:p>
        </p:txBody>
      </p:sp>
      <p:sp>
        <p:nvSpPr>
          <p:cNvPr id="7" name="Shape 5"/>
          <p:cNvSpPr/>
          <p:nvPr/>
        </p:nvSpPr>
        <p:spPr>
          <a:xfrm>
            <a:off x="5207437" y="4170998"/>
            <a:ext cx="4215408" cy="1794034"/>
          </a:xfrm>
          <a:prstGeom prst="roundRect">
            <a:avLst>
              <a:gd name="adj" fmla="val 1659"/>
            </a:avLst>
          </a:prstGeom>
          <a:solidFill>
            <a:srgbClr val="F2EEEE"/>
          </a:solidFill>
          <a:ln/>
        </p:spPr>
      </p:sp>
      <p:sp>
        <p:nvSpPr>
          <p:cNvPr id="8" name="Text 6"/>
          <p:cNvSpPr/>
          <p:nvPr/>
        </p:nvSpPr>
        <p:spPr>
          <a:xfrm>
            <a:off x="5405795" y="4369356"/>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383838"/>
                </a:solidFill>
                <a:latin typeface="PT Serif" pitchFamily="34" charset="0"/>
                <a:ea typeface="PT Serif" pitchFamily="34" charset="-122"/>
                <a:cs typeface="PT Serif" pitchFamily="34" charset="-120"/>
              </a:rPr>
              <a:t>Dynamic Weighting</a:t>
            </a:r>
            <a:endParaRPr lang="en-US" sz="2050" b="1" dirty="0"/>
          </a:p>
        </p:txBody>
      </p:sp>
      <p:sp>
        <p:nvSpPr>
          <p:cNvPr id="9" name="Text 7"/>
          <p:cNvSpPr/>
          <p:nvPr/>
        </p:nvSpPr>
        <p:spPr>
          <a:xfrm>
            <a:off x="5405795" y="4814054"/>
            <a:ext cx="3818692"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model learns which parts of the input to emphasize, adapting its focus based on context</a:t>
            </a:r>
            <a:endParaRPr lang="en-US" dirty="0"/>
          </a:p>
        </p:txBody>
      </p:sp>
      <p:sp>
        <p:nvSpPr>
          <p:cNvPr id="10" name="Shape 8"/>
          <p:cNvSpPr/>
          <p:nvPr/>
        </p:nvSpPr>
        <p:spPr>
          <a:xfrm>
            <a:off x="9621203" y="4170998"/>
            <a:ext cx="4215289" cy="1794034"/>
          </a:xfrm>
          <a:prstGeom prst="roundRect">
            <a:avLst>
              <a:gd name="adj" fmla="val 1659"/>
            </a:avLst>
          </a:prstGeom>
          <a:solidFill>
            <a:srgbClr val="F2EEEE"/>
          </a:solidFill>
          <a:ln/>
        </p:spPr>
      </p:sp>
      <p:sp>
        <p:nvSpPr>
          <p:cNvPr id="11" name="Text 9"/>
          <p:cNvSpPr/>
          <p:nvPr/>
        </p:nvSpPr>
        <p:spPr>
          <a:xfrm>
            <a:off x="9819561" y="4290059"/>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383838"/>
                </a:solidFill>
                <a:latin typeface="PT Serif" pitchFamily="34" charset="0"/>
                <a:ea typeface="PT Serif" pitchFamily="34" charset="-122"/>
                <a:cs typeface="PT Serif" pitchFamily="34" charset="-120"/>
              </a:rPr>
              <a:t>Human Analogy</a:t>
            </a:r>
            <a:endParaRPr lang="en-US" sz="2050" b="1" dirty="0"/>
          </a:p>
        </p:txBody>
      </p:sp>
      <p:sp>
        <p:nvSpPr>
          <p:cNvPr id="12" name="Text 10"/>
          <p:cNvSpPr/>
          <p:nvPr/>
        </p:nvSpPr>
        <p:spPr>
          <a:xfrm>
            <a:off x="9819561" y="4683828"/>
            <a:ext cx="3818573"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Similar to how humans focus on key words in a sentence rather than processing every word with equal effort</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294924"/>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Attention Mechanism</a:t>
            </a:r>
            <a:endParaRPr lang="en-US" sz="4100" dirty="0"/>
          </a:p>
        </p:txBody>
      </p:sp>
      <p:sp>
        <p:nvSpPr>
          <p:cNvPr id="3" name="Text 1"/>
          <p:cNvSpPr/>
          <p:nvPr/>
        </p:nvSpPr>
        <p:spPr>
          <a:xfrm>
            <a:off x="793790" y="2621994"/>
            <a:ext cx="13042821" cy="317540"/>
          </a:xfrm>
          <a:prstGeom prst="rect">
            <a:avLst/>
          </a:prstGeom>
          <a:noFill/>
          <a:ln/>
        </p:spPr>
        <p:txBody>
          <a:bodyPr wrap="none" lIns="0" tIns="0" rIns="0" bIns="0" rtlCol="0" anchor="t"/>
          <a:lstStyle/>
          <a:p>
            <a:pPr marL="0" indent="0" algn="l">
              <a:lnSpc>
                <a:spcPts val="2500"/>
              </a:lnSpc>
              <a:buNone/>
            </a:pPr>
            <a:r>
              <a:rPr lang="en-US" sz="2000" dirty="0">
                <a:solidFill>
                  <a:srgbClr val="383838"/>
                </a:solidFill>
                <a:latin typeface="DM Sans" pitchFamily="34" charset="0"/>
                <a:ea typeface="DM Sans" pitchFamily="34" charset="-122"/>
                <a:cs typeface="DM Sans" pitchFamily="34" charset="-120"/>
              </a:rPr>
              <a:t>The attention mechanism operates through three core components that work together to compute </a:t>
            </a:r>
            <a:r>
              <a:rPr lang="en-US" sz="2000" b="1" dirty="0">
                <a:solidFill>
                  <a:srgbClr val="383838"/>
                </a:solidFill>
                <a:latin typeface="DM Sans" pitchFamily="34" charset="0"/>
                <a:ea typeface="DM Sans" pitchFamily="34" charset="-122"/>
                <a:cs typeface="DM Sans" pitchFamily="34" charset="-120"/>
              </a:rPr>
              <a:t>weighted </a:t>
            </a:r>
          </a:p>
          <a:p>
            <a:pPr marL="0" indent="0" algn="l">
              <a:lnSpc>
                <a:spcPts val="2500"/>
              </a:lnSpc>
              <a:buNone/>
            </a:pPr>
            <a:r>
              <a:rPr lang="en-US" sz="2000" b="1" dirty="0">
                <a:solidFill>
                  <a:srgbClr val="383838"/>
                </a:solidFill>
                <a:latin typeface="DM Sans" pitchFamily="34" charset="0"/>
                <a:ea typeface="DM Sans" pitchFamily="34" charset="-122"/>
                <a:cs typeface="DM Sans" pitchFamily="34" charset="-120"/>
              </a:rPr>
              <a:t>importance</a:t>
            </a:r>
            <a:r>
              <a:rPr lang="en-US" sz="2000" dirty="0">
                <a:solidFill>
                  <a:srgbClr val="383838"/>
                </a:solidFill>
                <a:latin typeface="DM Sans" pitchFamily="34" charset="0"/>
                <a:ea typeface="DM Sans" pitchFamily="34" charset="-122"/>
                <a:cs typeface="DM Sans" pitchFamily="34" charset="-120"/>
              </a:rPr>
              <a:t> across inputs.</a:t>
            </a:r>
            <a:endParaRPr lang="en-US" sz="2000" dirty="0"/>
          </a:p>
        </p:txBody>
      </p:sp>
      <p:pic>
        <p:nvPicPr>
          <p:cNvPr id="4" name="Image 0" descr="preencoded.png"/>
          <p:cNvPicPr>
            <a:picLocks noChangeAspect="1"/>
          </p:cNvPicPr>
          <p:nvPr/>
        </p:nvPicPr>
        <p:blipFill>
          <a:blip r:embed="rId3"/>
          <a:stretch>
            <a:fillRect/>
          </a:stretch>
        </p:blipFill>
        <p:spPr>
          <a:xfrm>
            <a:off x="793790" y="3615333"/>
            <a:ext cx="4347567" cy="793790"/>
          </a:xfrm>
          <a:prstGeom prst="rect">
            <a:avLst/>
          </a:prstGeom>
        </p:spPr>
      </p:pic>
      <p:sp>
        <p:nvSpPr>
          <p:cNvPr id="5" name="Text 2"/>
          <p:cNvSpPr/>
          <p:nvPr/>
        </p:nvSpPr>
        <p:spPr>
          <a:xfrm>
            <a:off x="992148" y="4607481"/>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Query (Q)</a:t>
            </a:r>
            <a:endParaRPr lang="en-US" sz="2050" dirty="0"/>
          </a:p>
        </p:txBody>
      </p:sp>
      <p:sp>
        <p:nvSpPr>
          <p:cNvPr id="6" name="Text 3"/>
          <p:cNvSpPr/>
          <p:nvPr/>
        </p:nvSpPr>
        <p:spPr>
          <a:xfrm>
            <a:off x="992148" y="5052179"/>
            <a:ext cx="3950851"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Represents what the model is currently looking for — the "question" being asked of the input</a:t>
            </a:r>
            <a:endParaRPr lang="en-US" dirty="0"/>
          </a:p>
        </p:txBody>
      </p:sp>
      <p:pic>
        <p:nvPicPr>
          <p:cNvPr id="7" name="Image 1" descr="preencoded.png"/>
          <p:cNvPicPr>
            <a:picLocks noChangeAspect="1"/>
          </p:cNvPicPr>
          <p:nvPr/>
        </p:nvPicPr>
        <p:blipFill>
          <a:blip r:embed="rId4"/>
          <a:stretch>
            <a:fillRect/>
          </a:stretch>
        </p:blipFill>
        <p:spPr>
          <a:xfrm>
            <a:off x="5141357" y="3615333"/>
            <a:ext cx="4347567" cy="793790"/>
          </a:xfrm>
          <a:prstGeom prst="rect">
            <a:avLst/>
          </a:prstGeom>
        </p:spPr>
      </p:pic>
      <p:sp>
        <p:nvSpPr>
          <p:cNvPr id="8" name="Text 4"/>
          <p:cNvSpPr/>
          <p:nvPr/>
        </p:nvSpPr>
        <p:spPr>
          <a:xfrm>
            <a:off x="5339715" y="4607481"/>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Key (K)</a:t>
            </a:r>
            <a:endParaRPr lang="en-US" sz="2050" dirty="0"/>
          </a:p>
        </p:txBody>
      </p:sp>
      <p:sp>
        <p:nvSpPr>
          <p:cNvPr id="9" name="Text 5"/>
          <p:cNvSpPr/>
          <p:nvPr/>
        </p:nvSpPr>
        <p:spPr>
          <a:xfrm>
            <a:off x="5339715" y="5052179"/>
            <a:ext cx="3950851"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Represents the identifiers of each input element — used to match against the Query</a:t>
            </a:r>
            <a:endParaRPr lang="en-US" dirty="0"/>
          </a:p>
        </p:txBody>
      </p:sp>
      <p:pic>
        <p:nvPicPr>
          <p:cNvPr id="10" name="Image 2" descr="preencoded.png"/>
          <p:cNvPicPr>
            <a:picLocks noChangeAspect="1"/>
          </p:cNvPicPr>
          <p:nvPr/>
        </p:nvPicPr>
        <p:blipFill>
          <a:blip r:embed="rId5"/>
          <a:stretch>
            <a:fillRect/>
          </a:stretch>
        </p:blipFill>
        <p:spPr>
          <a:xfrm>
            <a:off x="9488924" y="3615333"/>
            <a:ext cx="4347567" cy="793790"/>
          </a:xfrm>
          <a:prstGeom prst="rect">
            <a:avLst/>
          </a:prstGeom>
        </p:spPr>
      </p:pic>
      <p:sp>
        <p:nvSpPr>
          <p:cNvPr id="11" name="Text 6"/>
          <p:cNvSpPr/>
          <p:nvPr/>
        </p:nvSpPr>
        <p:spPr>
          <a:xfrm>
            <a:off x="9687282" y="4607481"/>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Value (V)</a:t>
            </a:r>
            <a:endParaRPr lang="en-US" sz="2050" dirty="0"/>
          </a:p>
        </p:txBody>
      </p:sp>
      <p:sp>
        <p:nvSpPr>
          <p:cNvPr id="12" name="Text 7"/>
          <p:cNvSpPr/>
          <p:nvPr/>
        </p:nvSpPr>
        <p:spPr>
          <a:xfrm>
            <a:off x="9687282" y="5052179"/>
            <a:ext cx="395085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actual content retrieved — weighted by how well each Key matched the Query</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E324C8-C24A-9EB8-E970-31E057782C30}"/>
              </a:ext>
            </a:extLst>
          </p:cNvPr>
          <p:cNvPicPr>
            <a:picLocks noChangeAspect="1"/>
          </p:cNvPicPr>
          <p:nvPr/>
        </p:nvPicPr>
        <p:blipFill>
          <a:blip r:embed="rId2"/>
          <a:stretch>
            <a:fillRect/>
          </a:stretch>
        </p:blipFill>
        <p:spPr>
          <a:xfrm>
            <a:off x="398946" y="1436913"/>
            <a:ext cx="6486572" cy="2973721"/>
          </a:xfrm>
          <a:prstGeom prst="rect">
            <a:avLst/>
          </a:prstGeom>
        </p:spPr>
      </p:pic>
      <p:pic>
        <p:nvPicPr>
          <p:cNvPr id="5" name="Picture 4">
            <a:extLst>
              <a:ext uri="{FF2B5EF4-FFF2-40B4-BE49-F238E27FC236}">
                <a16:creationId xmlns:a16="http://schemas.microsoft.com/office/drawing/2014/main" id="{CFCE805C-9EF1-7E6E-7BA3-D6D29D390C5E}"/>
              </a:ext>
            </a:extLst>
          </p:cNvPr>
          <p:cNvPicPr>
            <a:picLocks noChangeAspect="1"/>
          </p:cNvPicPr>
          <p:nvPr/>
        </p:nvPicPr>
        <p:blipFill>
          <a:blip r:embed="rId3"/>
          <a:stretch>
            <a:fillRect/>
          </a:stretch>
        </p:blipFill>
        <p:spPr>
          <a:xfrm>
            <a:off x="398947" y="4747122"/>
            <a:ext cx="6555104" cy="3171848"/>
          </a:xfrm>
          <a:prstGeom prst="rect">
            <a:avLst/>
          </a:prstGeom>
        </p:spPr>
      </p:pic>
      <p:sp>
        <p:nvSpPr>
          <p:cNvPr id="6" name="Text 0">
            <a:extLst>
              <a:ext uri="{FF2B5EF4-FFF2-40B4-BE49-F238E27FC236}">
                <a16:creationId xmlns:a16="http://schemas.microsoft.com/office/drawing/2014/main" id="{66BC452B-F141-E416-C775-3CC372D8388D}"/>
              </a:ext>
            </a:extLst>
          </p:cNvPr>
          <p:cNvSpPr/>
          <p:nvPr/>
        </p:nvSpPr>
        <p:spPr>
          <a:xfrm>
            <a:off x="655477" y="557256"/>
            <a:ext cx="5209937" cy="651272"/>
          </a:xfrm>
          <a:prstGeom prst="rect">
            <a:avLst/>
          </a:prstGeom>
          <a:noFill/>
          <a:ln/>
        </p:spPr>
        <p:txBody>
          <a:bodyPr wrap="none" lIns="0" tIns="0" rIns="0" bIns="0" rtlCol="0" anchor="t"/>
          <a:lstStyle/>
          <a:p>
            <a:pPr marL="0" indent="0" algn="l">
              <a:lnSpc>
                <a:spcPts val="5100"/>
              </a:lnSpc>
              <a:buNone/>
            </a:pPr>
            <a:r>
              <a:rPr lang="en-US" sz="4000" dirty="0">
                <a:solidFill>
                  <a:srgbClr val="020202"/>
                </a:solidFill>
                <a:latin typeface="PT Serif" pitchFamily="34" charset="0"/>
                <a:ea typeface="PT Serif" pitchFamily="34" charset="-122"/>
                <a:cs typeface="PT Serif" pitchFamily="34" charset="-120"/>
              </a:rPr>
              <a:t>Attention Mechanism - Example</a:t>
            </a:r>
            <a:endParaRPr lang="en-US" sz="4000" dirty="0"/>
          </a:p>
        </p:txBody>
      </p:sp>
      <p:sp>
        <p:nvSpPr>
          <p:cNvPr id="7" name="TextBox 6">
            <a:extLst>
              <a:ext uri="{FF2B5EF4-FFF2-40B4-BE49-F238E27FC236}">
                <a16:creationId xmlns:a16="http://schemas.microsoft.com/office/drawing/2014/main" id="{A5E8E253-D020-6DEC-F583-E1837C471C50}"/>
              </a:ext>
            </a:extLst>
          </p:cNvPr>
          <p:cNvSpPr txBox="1"/>
          <p:nvPr/>
        </p:nvSpPr>
        <p:spPr>
          <a:xfrm>
            <a:off x="7676350" y="2159213"/>
            <a:ext cx="6362379" cy="3693319"/>
          </a:xfrm>
          <a:prstGeom prst="rect">
            <a:avLst/>
          </a:prstGeom>
          <a:noFill/>
        </p:spPr>
        <p:txBody>
          <a:bodyPr wrap="square" rtlCol="0">
            <a:spAutoFit/>
          </a:bodyPr>
          <a:lstStyle/>
          <a:p>
            <a:pPr marL="457200" indent="-457200">
              <a:buFont typeface="+mj-lt"/>
              <a:buAutoNum type="arabicPeriod"/>
            </a:pPr>
            <a:r>
              <a:rPr lang="en-US" dirty="0">
                <a:latin typeface="DM Sans" pitchFamily="2" charset="0"/>
              </a:rPr>
              <a:t>Query — the word currently asking "what should I pay attention to?" ("sat" in this example)</a:t>
            </a:r>
          </a:p>
          <a:p>
            <a:pPr marL="457200" indent="-457200">
              <a:buFont typeface="+mj-lt"/>
              <a:buAutoNum type="arabicPeriod"/>
            </a:pPr>
            <a:endParaRPr lang="en-US" dirty="0">
              <a:latin typeface="DM Sans" pitchFamily="2" charset="0"/>
            </a:endParaRPr>
          </a:p>
          <a:p>
            <a:pPr marL="457200" indent="-457200">
              <a:buFont typeface="+mj-lt"/>
              <a:buAutoNum type="arabicPeriod"/>
            </a:pPr>
            <a:r>
              <a:rPr lang="en-US" dirty="0">
                <a:latin typeface="DM Sans" pitchFamily="2" charset="0"/>
              </a:rPr>
              <a:t>Key — every word advertises what it's about; the query dot-products against all keys to score relevance</a:t>
            </a:r>
          </a:p>
          <a:p>
            <a:pPr marL="457200" indent="-457200">
              <a:buFont typeface="+mj-lt"/>
              <a:buAutoNum type="arabicPeriod"/>
            </a:pPr>
            <a:endParaRPr lang="en-US" dirty="0">
              <a:latin typeface="DM Sans" pitchFamily="2" charset="0"/>
            </a:endParaRPr>
          </a:p>
          <a:p>
            <a:pPr marL="457200" indent="-457200">
              <a:buFont typeface="+mj-lt"/>
              <a:buAutoNum type="arabicPeriod"/>
            </a:pPr>
            <a:r>
              <a:rPr lang="en-US" dirty="0" err="1">
                <a:latin typeface="DM Sans" pitchFamily="2" charset="0"/>
              </a:rPr>
              <a:t>Softmax</a:t>
            </a:r>
            <a:r>
              <a:rPr lang="en-US" dirty="0">
                <a:latin typeface="DM Sans" pitchFamily="2" charset="0"/>
              </a:rPr>
              <a:t> — raw scores become attention weights that sum to 1 (notice "cat" gets 0.55 — it's the subject doing the sitting)</a:t>
            </a:r>
          </a:p>
          <a:p>
            <a:pPr marL="457200" indent="-457200">
              <a:buFont typeface="+mj-lt"/>
              <a:buAutoNum type="arabicPeriod"/>
            </a:pPr>
            <a:endParaRPr lang="en-US" dirty="0">
              <a:latin typeface="DM Sans" pitchFamily="2" charset="0"/>
            </a:endParaRPr>
          </a:p>
          <a:p>
            <a:pPr marL="457200" indent="-457200">
              <a:buFont typeface="+mj-lt"/>
              <a:buAutoNum type="arabicPeriod"/>
            </a:pPr>
            <a:r>
              <a:rPr lang="en-US" dirty="0">
                <a:latin typeface="DM Sans" pitchFamily="2" charset="0"/>
              </a:rPr>
              <a:t>Output — weighted sum of all Value vectors, giving "sat" a rich representation shaped mostly by "cat"</a:t>
            </a:r>
            <a:endParaRPr lang="en-IN" dirty="0">
              <a:latin typeface="DM Sans" pitchFamily="2" charset="0"/>
            </a:endParaRPr>
          </a:p>
        </p:txBody>
      </p:sp>
    </p:spTree>
    <p:extLst>
      <p:ext uri="{BB962C8B-B14F-4D97-AF65-F5344CB8AC3E}">
        <p14:creationId xmlns:p14="http://schemas.microsoft.com/office/powerpoint/2010/main" val="680348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707136"/>
            <a:ext cx="6785253"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Introduction to Transformers</a:t>
            </a:r>
            <a:endParaRPr lang="en-US" sz="4100" dirty="0"/>
          </a:p>
        </p:txBody>
      </p:sp>
      <p:sp>
        <p:nvSpPr>
          <p:cNvPr id="3" name="Text 1"/>
          <p:cNvSpPr/>
          <p:nvPr/>
        </p:nvSpPr>
        <p:spPr>
          <a:xfrm>
            <a:off x="793790" y="2862560"/>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Transformers are a landmark architecture built entirely on the </a:t>
            </a:r>
            <a:r>
              <a:rPr lang="en-US" b="1" dirty="0">
                <a:solidFill>
                  <a:srgbClr val="383838"/>
                </a:solidFill>
                <a:latin typeface="DM Sans" pitchFamily="34" charset="0"/>
                <a:ea typeface="DM Sans" pitchFamily="34" charset="-122"/>
                <a:cs typeface="DM Sans" pitchFamily="34" charset="-120"/>
              </a:rPr>
              <a:t>attention mechanism</a:t>
            </a:r>
            <a:r>
              <a:rPr lang="en-US" dirty="0">
                <a:solidFill>
                  <a:srgbClr val="383838"/>
                </a:solidFill>
                <a:latin typeface="DM Sans" pitchFamily="34" charset="0"/>
                <a:ea typeface="DM Sans" pitchFamily="34" charset="-122"/>
                <a:cs typeface="DM Sans" pitchFamily="34" charset="-120"/>
              </a:rPr>
              <a:t> — replacing recurrent (RNN) and convolutional (CNN) layers entirely.</a:t>
            </a:r>
            <a:endParaRPr lang="en-US" dirty="0"/>
          </a:p>
        </p:txBody>
      </p:sp>
      <p:sp>
        <p:nvSpPr>
          <p:cNvPr id="4" name="Shape 2"/>
          <p:cNvSpPr/>
          <p:nvPr/>
        </p:nvSpPr>
        <p:spPr>
          <a:xfrm>
            <a:off x="793790" y="4148137"/>
            <a:ext cx="4215289" cy="2126053"/>
          </a:xfrm>
          <a:prstGeom prst="roundRect">
            <a:avLst>
              <a:gd name="adj" fmla="val 1618"/>
            </a:avLst>
          </a:prstGeom>
          <a:solidFill>
            <a:srgbClr val="FFFFFF"/>
          </a:solidFill>
          <a:ln w="22860">
            <a:solidFill>
              <a:srgbClr val="D8D4D4"/>
            </a:solidFill>
            <a:prstDash val="solid"/>
          </a:ln>
        </p:spPr>
      </p:sp>
      <p:sp>
        <p:nvSpPr>
          <p:cNvPr id="5" name="Text 3"/>
          <p:cNvSpPr/>
          <p:nvPr/>
        </p:nvSpPr>
        <p:spPr>
          <a:xfrm>
            <a:off x="1015008" y="436935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Attention-Based</a:t>
            </a:r>
            <a:endParaRPr lang="en-US" sz="2050" dirty="0"/>
          </a:p>
        </p:txBody>
      </p:sp>
      <p:sp>
        <p:nvSpPr>
          <p:cNvPr id="6" name="Text 4"/>
          <p:cNvSpPr/>
          <p:nvPr/>
        </p:nvSpPr>
        <p:spPr>
          <a:xfrm>
            <a:off x="1015008" y="4814054"/>
            <a:ext cx="3772853"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Relies solely on self-attention to model relationships between all positions in a sequence simultaneously</a:t>
            </a:r>
            <a:endParaRPr lang="en-US" dirty="0"/>
          </a:p>
        </p:txBody>
      </p:sp>
      <p:sp>
        <p:nvSpPr>
          <p:cNvPr id="7" name="Shape 5"/>
          <p:cNvSpPr/>
          <p:nvPr/>
        </p:nvSpPr>
        <p:spPr>
          <a:xfrm>
            <a:off x="5207437" y="4148138"/>
            <a:ext cx="4215408" cy="2126052"/>
          </a:xfrm>
          <a:prstGeom prst="roundRect">
            <a:avLst>
              <a:gd name="adj" fmla="val 1618"/>
            </a:avLst>
          </a:prstGeom>
          <a:solidFill>
            <a:srgbClr val="FFFFFF"/>
          </a:solidFill>
          <a:ln w="22860">
            <a:solidFill>
              <a:srgbClr val="D8D4D4"/>
            </a:solidFill>
            <a:prstDash val="solid"/>
          </a:ln>
        </p:spPr>
      </p:sp>
      <p:sp>
        <p:nvSpPr>
          <p:cNvPr id="8" name="Text 6"/>
          <p:cNvSpPr/>
          <p:nvPr/>
        </p:nvSpPr>
        <p:spPr>
          <a:xfrm>
            <a:off x="5428655" y="436935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No CNN or RNN</a:t>
            </a:r>
            <a:endParaRPr lang="en-US" sz="2050" dirty="0"/>
          </a:p>
        </p:txBody>
      </p:sp>
      <p:sp>
        <p:nvSpPr>
          <p:cNvPr id="9" name="Text 7"/>
          <p:cNvSpPr/>
          <p:nvPr/>
        </p:nvSpPr>
        <p:spPr>
          <a:xfrm>
            <a:off x="5428655" y="4814054"/>
            <a:ext cx="3772972"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Eliminates sequential processing bottlenecks, enabling massive parallelization during training</a:t>
            </a:r>
            <a:endParaRPr lang="en-US" dirty="0"/>
          </a:p>
        </p:txBody>
      </p:sp>
      <p:sp>
        <p:nvSpPr>
          <p:cNvPr id="10" name="Shape 8"/>
          <p:cNvSpPr/>
          <p:nvPr/>
        </p:nvSpPr>
        <p:spPr>
          <a:xfrm>
            <a:off x="9621203" y="4148138"/>
            <a:ext cx="4215289" cy="1839754"/>
          </a:xfrm>
          <a:prstGeom prst="roundRect">
            <a:avLst>
              <a:gd name="adj" fmla="val 1618"/>
            </a:avLst>
          </a:prstGeom>
          <a:solidFill>
            <a:srgbClr val="FFFFFF"/>
          </a:solidFill>
          <a:ln w="22860">
            <a:solidFill>
              <a:srgbClr val="D8D4D4"/>
            </a:solidFill>
            <a:prstDash val="solid"/>
          </a:ln>
        </p:spPr>
      </p:sp>
      <p:sp>
        <p:nvSpPr>
          <p:cNvPr id="11" name="Text 9"/>
          <p:cNvSpPr/>
          <p:nvPr/>
        </p:nvSpPr>
        <p:spPr>
          <a:xfrm>
            <a:off x="9842421" y="436935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Broad Applications</a:t>
            </a:r>
            <a:endParaRPr lang="en-US" sz="2050" dirty="0"/>
          </a:p>
        </p:txBody>
      </p:sp>
      <p:sp>
        <p:nvSpPr>
          <p:cNvPr id="12" name="Text 10"/>
          <p:cNvSpPr/>
          <p:nvPr/>
        </p:nvSpPr>
        <p:spPr>
          <a:xfrm>
            <a:off x="9842421" y="4814054"/>
            <a:ext cx="3772853"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Foundational to modern NLP, computer vision, and large-scale AI systems like GPT and BERT</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41247" y="1953560"/>
            <a:ext cx="5902881"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Transformer Architecture</a:t>
            </a:r>
            <a:endParaRPr lang="en-US" sz="4100" dirty="0"/>
          </a:p>
        </p:txBody>
      </p:sp>
      <p:sp>
        <p:nvSpPr>
          <p:cNvPr id="3" name="Shape 1"/>
          <p:cNvSpPr/>
          <p:nvPr/>
        </p:nvSpPr>
        <p:spPr>
          <a:xfrm>
            <a:off x="793790" y="3747254"/>
            <a:ext cx="446484" cy="446484"/>
          </a:xfrm>
          <a:prstGeom prst="roundRect">
            <a:avLst>
              <a:gd name="adj" fmla="val 6668"/>
            </a:avLst>
          </a:prstGeom>
          <a:solidFill>
            <a:srgbClr val="F2EEEE"/>
          </a:solidFill>
          <a:ln/>
        </p:spPr>
      </p:sp>
      <p:sp>
        <p:nvSpPr>
          <p:cNvPr id="4" name="Text 2"/>
          <p:cNvSpPr/>
          <p:nvPr/>
        </p:nvSpPr>
        <p:spPr>
          <a:xfrm>
            <a:off x="860762" y="3775174"/>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1</a:t>
            </a:r>
            <a:endParaRPr lang="en-US" sz="2450" dirty="0"/>
          </a:p>
        </p:txBody>
      </p:sp>
      <p:sp>
        <p:nvSpPr>
          <p:cNvPr id="5" name="Text 3"/>
          <p:cNvSpPr/>
          <p:nvPr/>
        </p:nvSpPr>
        <p:spPr>
          <a:xfrm>
            <a:off x="1438632" y="3815477"/>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Encoder</a:t>
            </a:r>
            <a:endParaRPr lang="en-US" sz="2050" dirty="0"/>
          </a:p>
        </p:txBody>
      </p:sp>
      <p:sp>
        <p:nvSpPr>
          <p:cNvPr id="6" name="Text 4"/>
          <p:cNvSpPr/>
          <p:nvPr/>
        </p:nvSpPr>
        <p:spPr>
          <a:xfrm>
            <a:off x="1438632" y="4260175"/>
            <a:ext cx="3537347" cy="127015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Processes the input sequence and builds a rich contextual representation using stacked self-attention and feed-forward layers</a:t>
            </a:r>
            <a:endParaRPr lang="en-US" dirty="0"/>
          </a:p>
        </p:txBody>
      </p:sp>
      <p:sp>
        <p:nvSpPr>
          <p:cNvPr id="7" name="Shape 5"/>
          <p:cNvSpPr/>
          <p:nvPr/>
        </p:nvSpPr>
        <p:spPr>
          <a:xfrm>
            <a:off x="5223986" y="3747254"/>
            <a:ext cx="446484" cy="446484"/>
          </a:xfrm>
          <a:prstGeom prst="roundRect">
            <a:avLst>
              <a:gd name="adj" fmla="val 6668"/>
            </a:avLst>
          </a:prstGeom>
          <a:solidFill>
            <a:srgbClr val="F2EEEE"/>
          </a:solidFill>
          <a:ln/>
        </p:spPr>
      </p:sp>
      <p:sp>
        <p:nvSpPr>
          <p:cNvPr id="8" name="Text 6"/>
          <p:cNvSpPr/>
          <p:nvPr/>
        </p:nvSpPr>
        <p:spPr>
          <a:xfrm>
            <a:off x="5290959" y="3775174"/>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2</a:t>
            </a:r>
            <a:endParaRPr lang="en-US" sz="2450" dirty="0"/>
          </a:p>
        </p:txBody>
      </p:sp>
      <p:sp>
        <p:nvSpPr>
          <p:cNvPr id="9" name="Text 7"/>
          <p:cNvSpPr/>
          <p:nvPr/>
        </p:nvSpPr>
        <p:spPr>
          <a:xfrm>
            <a:off x="5868829" y="3815477"/>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Decoder</a:t>
            </a:r>
            <a:endParaRPr lang="en-US" sz="2050" dirty="0"/>
          </a:p>
        </p:txBody>
      </p:sp>
      <p:sp>
        <p:nvSpPr>
          <p:cNvPr id="10" name="Text 8"/>
          <p:cNvSpPr/>
          <p:nvPr/>
        </p:nvSpPr>
        <p:spPr>
          <a:xfrm>
            <a:off x="5868829" y="4260175"/>
            <a:ext cx="3537466" cy="127015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Generates the output sequence step-by-step, attending to both its own previous outputs and the encoder's representations</a:t>
            </a:r>
            <a:endParaRPr lang="en-US" dirty="0"/>
          </a:p>
        </p:txBody>
      </p:sp>
      <p:sp>
        <p:nvSpPr>
          <p:cNvPr id="11" name="Shape 9"/>
          <p:cNvSpPr/>
          <p:nvPr/>
        </p:nvSpPr>
        <p:spPr>
          <a:xfrm>
            <a:off x="9654302" y="3747254"/>
            <a:ext cx="446484" cy="446484"/>
          </a:xfrm>
          <a:prstGeom prst="roundRect">
            <a:avLst>
              <a:gd name="adj" fmla="val 6668"/>
            </a:avLst>
          </a:prstGeom>
          <a:solidFill>
            <a:srgbClr val="F2EEEE"/>
          </a:solidFill>
          <a:ln/>
        </p:spPr>
      </p:sp>
      <p:sp>
        <p:nvSpPr>
          <p:cNvPr id="12" name="Text 10"/>
          <p:cNvSpPr/>
          <p:nvPr/>
        </p:nvSpPr>
        <p:spPr>
          <a:xfrm>
            <a:off x="9721275" y="3775174"/>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3</a:t>
            </a:r>
            <a:endParaRPr lang="en-US" sz="2450" dirty="0"/>
          </a:p>
        </p:txBody>
      </p:sp>
      <p:sp>
        <p:nvSpPr>
          <p:cNvPr id="13" name="Text 11"/>
          <p:cNvSpPr/>
          <p:nvPr/>
        </p:nvSpPr>
        <p:spPr>
          <a:xfrm>
            <a:off x="10299144" y="3815477"/>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Self-Attention</a:t>
            </a:r>
            <a:endParaRPr lang="en-US" sz="2050" dirty="0"/>
          </a:p>
        </p:txBody>
      </p:sp>
      <p:sp>
        <p:nvSpPr>
          <p:cNvPr id="14" name="Text 12"/>
          <p:cNvSpPr/>
          <p:nvPr/>
        </p:nvSpPr>
        <p:spPr>
          <a:xfrm>
            <a:off x="10299144" y="4260175"/>
            <a:ext cx="3537466" cy="127015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Each token attends to every other token in the sequence, capturing long-range dependencies regardless of distance</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81249" y="1746111"/>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GAN vs. Transformer</a:t>
            </a:r>
            <a:endParaRPr lang="en-US" sz="4100" dirty="0"/>
          </a:p>
        </p:txBody>
      </p:sp>
      <p:sp>
        <p:nvSpPr>
          <p:cNvPr id="4" name="Text 2"/>
          <p:cNvSpPr/>
          <p:nvPr/>
        </p:nvSpPr>
        <p:spPr>
          <a:xfrm>
            <a:off x="793790" y="306229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GAN</a:t>
            </a:r>
            <a:endParaRPr lang="en-US" sz="2050" dirty="0"/>
          </a:p>
        </p:txBody>
      </p:sp>
      <p:sp>
        <p:nvSpPr>
          <p:cNvPr id="5" name="Text 3"/>
          <p:cNvSpPr/>
          <p:nvPr/>
        </p:nvSpPr>
        <p:spPr>
          <a:xfrm>
            <a:off x="849273" y="3906083"/>
            <a:ext cx="6168390" cy="147839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000000"/>
                </a:solidFill>
                <a:latin typeface="DM Sans" pitchFamily="34" charset="0"/>
                <a:ea typeface="DM Sans" pitchFamily="34" charset="-122"/>
                <a:cs typeface="DM Sans" pitchFamily="34" charset="-120"/>
              </a:rPr>
              <a:t>Adversarial learning framework</a:t>
            </a:r>
            <a:endParaRPr lang="en-US" dirty="0"/>
          </a:p>
          <a:p>
            <a:pPr marL="342900" indent="-342900" algn="l">
              <a:lnSpc>
                <a:spcPts val="2500"/>
              </a:lnSpc>
              <a:buSzPct val="100000"/>
              <a:buChar char="•"/>
            </a:pPr>
            <a:r>
              <a:rPr lang="en-US" dirty="0">
                <a:solidFill>
                  <a:srgbClr val="000000"/>
                </a:solidFill>
                <a:latin typeface="DM Sans" pitchFamily="34" charset="0"/>
                <a:ea typeface="DM Sans" pitchFamily="34" charset="-122"/>
                <a:cs typeface="DM Sans" pitchFamily="34" charset="-120"/>
              </a:rPr>
              <a:t>Two competing networks: Generator vs. Discriminator</a:t>
            </a:r>
            <a:endParaRPr lang="en-US" dirty="0"/>
          </a:p>
          <a:p>
            <a:pPr marL="342900" indent="-342900" algn="l">
              <a:lnSpc>
                <a:spcPts val="2500"/>
              </a:lnSpc>
              <a:buSzPct val="100000"/>
              <a:buChar char="•"/>
            </a:pPr>
            <a:r>
              <a:rPr lang="en-US" dirty="0">
                <a:solidFill>
                  <a:srgbClr val="000000"/>
                </a:solidFill>
                <a:latin typeface="DM Sans" pitchFamily="34" charset="0"/>
                <a:ea typeface="DM Sans" pitchFamily="34" charset="-122"/>
                <a:cs typeface="DM Sans" pitchFamily="34" charset="-120"/>
              </a:rPr>
              <a:t>Primarily used for data generation tasks</a:t>
            </a:r>
            <a:endParaRPr lang="en-US" dirty="0"/>
          </a:p>
          <a:p>
            <a:pPr marL="342900" indent="-342900" algn="l">
              <a:lnSpc>
                <a:spcPts val="2500"/>
              </a:lnSpc>
              <a:buSzPct val="100000"/>
              <a:buChar char="•"/>
            </a:pPr>
            <a:r>
              <a:rPr lang="en-US" dirty="0">
                <a:solidFill>
                  <a:srgbClr val="000000"/>
                </a:solidFill>
                <a:latin typeface="DM Sans" pitchFamily="34" charset="0"/>
                <a:ea typeface="DM Sans" pitchFamily="34" charset="-122"/>
                <a:cs typeface="DM Sans" pitchFamily="34" charset="-120"/>
              </a:rPr>
              <a:t>Training can be unstable and hard to tune</a:t>
            </a:r>
            <a:endParaRPr lang="en-US" dirty="0"/>
          </a:p>
        </p:txBody>
      </p:sp>
      <p:sp>
        <p:nvSpPr>
          <p:cNvPr id="6" name="Text 4"/>
          <p:cNvSpPr/>
          <p:nvPr/>
        </p:nvSpPr>
        <p:spPr>
          <a:xfrm>
            <a:off x="7564874" y="306229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Transformer</a:t>
            </a:r>
            <a:endParaRPr lang="en-US" sz="2050" dirty="0"/>
          </a:p>
        </p:txBody>
      </p:sp>
      <p:sp>
        <p:nvSpPr>
          <p:cNvPr id="7" name="Text 5"/>
          <p:cNvSpPr/>
          <p:nvPr/>
        </p:nvSpPr>
        <p:spPr>
          <a:xfrm>
            <a:off x="7564874" y="3906083"/>
            <a:ext cx="6279356" cy="147839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383838"/>
                </a:solidFill>
                <a:latin typeface="DM Sans" pitchFamily="34" charset="0"/>
                <a:ea typeface="DM Sans" pitchFamily="34" charset="-122"/>
                <a:cs typeface="DM Sans" pitchFamily="34" charset="-120"/>
              </a:rPr>
              <a:t>Attention-based architecture</a:t>
            </a:r>
            <a:endParaRPr lang="en-US" dirty="0"/>
          </a:p>
          <a:p>
            <a:pPr marL="342900" indent="-342900" algn="l">
              <a:lnSpc>
                <a:spcPts val="2500"/>
              </a:lnSpc>
              <a:buSzPct val="100000"/>
              <a:buChar char="•"/>
            </a:pPr>
            <a:r>
              <a:rPr lang="en-US" dirty="0">
                <a:solidFill>
                  <a:srgbClr val="383838"/>
                </a:solidFill>
                <a:latin typeface="DM Sans" pitchFamily="34" charset="0"/>
                <a:ea typeface="DM Sans" pitchFamily="34" charset="-122"/>
                <a:cs typeface="DM Sans" pitchFamily="34" charset="-120"/>
              </a:rPr>
              <a:t>Encoder-Decoder structure with self-attention</a:t>
            </a:r>
            <a:endParaRPr lang="en-US" dirty="0"/>
          </a:p>
          <a:p>
            <a:pPr marL="342900" indent="-342900" algn="l">
              <a:lnSpc>
                <a:spcPts val="2500"/>
              </a:lnSpc>
              <a:buSzPct val="100000"/>
              <a:buChar char="•"/>
            </a:pPr>
            <a:r>
              <a:rPr lang="en-US" dirty="0">
                <a:solidFill>
                  <a:srgbClr val="383838"/>
                </a:solidFill>
                <a:latin typeface="DM Sans" pitchFamily="34" charset="0"/>
                <a:ea typeface="DM Sans" pitchFamily="34" charset="-122"/>
                <a:cs typeface="DM Sans" pitchFamily="34" charset="-120"/>
              </a:rPr>
              <a:t>Used in NLP, vision, and general AI systems</a:t>
            </a:r>
            <a:endParaRPr lang="en-US" dirty="0"/>
          </a:p>
          <a:p>
            <a:pPr marL="342900" indent="-342900" algn="l">
              <a:lnSpc>
                <a:spcPts val="2500"/>
              </a:lnSpc>
              <a:buSzPct val="100000"/>
              <a:buChar char="•"/>
            </a:pPr>
            <a:r>
              <a:rPr lang="en-US" dirty="0">
                <a:solidFill>
                  <a:srgbClr val="383838"/>
                </a:solidFill>
                <a:latin typeface="DM Sans" pitchFamily="34" charset="0"/>
                <a:ea typeface="DM Sans" pitchFamily="34" charset="-122"/>
                <a:cs typeface="DM Sans" pitchFamily="34" charset="-120"/>
              </a:rPr>
              <a:t>Highly parallelizable and scalable</a:t>
            </a:r>
            <a:endParaRPr lang="en-US" dirty="0"/>
          </a:p>
        </p:txBody>
      </p:sp>
      <p:sp>
        <p:nvSpPr>
          <p:cNvPr id="8" name="Text 6"/>
          <p:cNvSpPr/>
          <p:nvPr/>
        </p:nvSpPr>
        <p:spPr>
          <a:xfrm>
            <a:off x="793790" y="5677138"/>
            <a:ext cx="13042821"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Both are powerful generative architectures, but they differ fundamentally in structure, training dynamics, and primary use cases.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4" name="Text 2"/>
          <p:cNvSpPr/>
          <p:nvPr/>
        </p:nvSpPr>
        <p:spPr>
          <a:xfrm>
            <a:off x="793790" y="2079546"/>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Key Takeaways</a:t>
            </a:r>
            <a:endParaRPr lang="en-US" sz="4100" dirty="0"/>
          </a:p>
        </p:txBody>
      </p:sp>
      <p:sp>
        <p:nvSpPr>
          <p:cNvPr id="5" name="Text 3"/>
          <p:cNvSpPr/>
          <p:nvPr/>
        </p:nvSpPr>
        <p:spPr>
          <a:xfrm>
            <a:off x="793790" y="3028474"/>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PT Serif Light" pitchFamily="34" charset="0"/>
                <a:ea typeface="PT Serif Light" pitchFamily="34" charset="-122"/>
                <a:cs typeface="PT Serif Light" pitchFamily="34" charset="-120"/>
              </a:rPr>
              <a:t>01</a:t>
            </a:r>
            <a:endParaRPr lang="en-US" sz="1550" dirty="0"/>
          </a:p>
        </p:txBody>
      </p:sp>
      <p:sp>
        <p:nvSpPr>
          <p:cNvPr id="6" name="Shape 4"/>
          <p:cNvSpPr/>
          <p:nvPr/>
        </p:nvSpPr>
        <p:spPr>
          <a:xfrm>
            <a:off x="793790" y="3342799"/>
            <a:ext cx="6422231" cy="22860"/>
          </a:xfrm>
          <a:prstGeom prst="rect">
            <a:avLst/>
          </a:prstGeom>
          <a:solidFill>
            <a:srgbClr val="E04F00"/>
          </a:solidFill>
          <a:ln/>
        </p:spPr>
      </p:sp>
      <p:sp>
        <p:nvSpPr>
          <p:cNvPr id="7" name="Text 5"/>
          <p:cNvSpPr/>
          <p:nvPr/>
        </p:nvSpPr>
        <p:spPr>
          <a:xfrm>
            <a:off x="793790" y="3487698"/>
            <a:ext cx="4475083"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Generative Models Learn Distributions</a:t>
            </a:r>
            <a:endParaRPr lang="en-US" sz="2050" dirty="0"/>
          </a:p>
        </p:txBody>
      </p:sp>
      <p:sp>
        <p:nvSpPr>
          <p:cNvPr id="8" name="Text 6"/>
          <p:cNvSpPr/>
          <p:nvPr/>
        </p:nvSpPr>
        <p:spPr>
          <a:xfrm>
            <a:off x="793790" y="3932396"/>
            <a:ext cx="642223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They model data distributions to generate new, realistic samples — images, text, audio, and structured data</a:t>
            </a:r>
            <a:endParaRPr lang="en-US" dirty="0"/>
          </a:p>
        </p:txBody>
      </p:sp>
      <p:sp>
        <p:nvSpPr>
          <p:cNvPr id="9" name="Text 7"/>
          <p:cNvSpPr/>
          <p:nvPr/>
        </p:nvSpPr>
        <p:spPr>
          <a:xfrm>
            <a:off x="7414379" y="3028474"/>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PT Serif Light" pitchFamily="34" charset="0"/>
                <a:ea typeface="PT Serif Light" pitchFamily="34" charset="-122"/>
                <a:cs typeface="PT Serif Light" pitchFamily="34" charset="-120"/>
              </a:rPr>
              <a:t>02</a:t>
            </a:r>
            <a:endParaRPr lang="en-US" sz="1550" dirty="0"/>
          </a:p>
        </p:txBody>
      </p:sp>
      <p:sp>
        <p:nvSpPr>
          <p:cNvPr id="10" name="Shape 8"/>
          <p:cNvSpPr/>
          <p:nvPr/>
        </p:nvSpPr>
        <p:spPr>
          <a:xfrm>
            <a:off x="7414379" y="3342799"/>
            <a:ext cx="6422231" cy="22860"/>
          </a:xfrm>
          <a:prstGeom prst="rect">
            <a:avLst/>
          </a:prstGeom>
          <a:solidFill>
            <a:srgbClr val="E04F00"/>
          </a:solidFill>
          <a:ln/>
        </p:spPr>
      </p:sp>
      <p:sp>
        <p:nvSpPr>
          <p:cNvPr id="11" name="Text 9"/>
          <p:cNvSpPr/>
          <p:nvPr/>
        </p:nvSpPr>
        <p:spPr>
          <a:xfrm>
            <a:off x="7414379" y="3487698"/>
            <a:ext cx="4034314"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GANs Use Adversarial Competition</a:t>
            </a:r>
            <a:endParaRPr lang="en-US" sz="2050" dirty="0"/>
          </a:p>
        </p:txBody>
      </p:sp>
      <p:sp>
        <p:nvSpPr>
          <p:cNvPr id="12" name="Text 10"/>
          <p:cNvSpPr/>
          <p:nvPr/>
        </p:nvSpPr>
        <p:spPr>
          <a:xfrm>
            <a:off x="7414379" y="3932396"/>
            <a:ext cx="642223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A Generator and Discriminator compete, driving both to improve — but training instability and mode collapse remain key challenges</a:t>
            </a:r>
            <a:endParaRPr lang="en-US" dirty="0"/>
          </a:p>
        </p:txBody>
      </p:sp>
      <p:sp>
        <p:nvSpPr>
          <p:cNvPr id="13" name="Text 11"/>
          <p:cNvSpPr/>
          <p:nvPr/>
        </p:nvSpPr>
        <p:spPr>
          <a:xfrm>
            <a:off x="793790" y="4914662"/>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PT Serif Light" pitchFamily="34" charset="0"/>
                <a:ea typeface="PT Serif Light" pitchFamily="34" charset="-122"/>
                <a:cs typeface="PT Serif Light" pitchFamily="34" charset="-120"/>
              </a:rPr>
              <a:t>03</a:t>
            </a:r>
            <a:endParaRPr lang="en-US" sz="1550" dirty="0"/>
          </a:p>
        </p:txBody>
      </p:sp>
      <p:sp>
        <p:nvSpPr>
          <p:cNvPr id="14" name="Shape 12"/>
          <p:cNvSpPr/>
          <p:nvPr/>
        </p:nvSpPr>
        <p:spPr>
          <a:xfrm>
            <a:off x="793790" y="5228987"/>
            <a:ext cx="6422231" cy="22860"/>
          </a:xfrm>
          <a:prstGeom prst="rect">
            <a:avLst/>
          </a:prstGeom>
          <a:solidFill>
            <a:srgbClr val="E04F00"/>
          </a:solidFill>
          <a:ln/>
        </p:spPr>
      </p:sp>
      <p:sp>
        <p:nvSpPr>
          <p:cNvPr id="15" name="Text 13"/>
          <p:cNvSpPr/>
          <p:nvPr/>
        </p:nvSpPr>
        <p:spPr>
          <a:xfrm>
            <a:off x="793790" y="5373886"/>
            <a:ext cx="3912632"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Attention Enables Selective Focus</a:t>
            </a:r>
            <a:endParaRPr lang="en-US" sz="2050" dirty="0"/>
          </a:p>
        </p:txBody>
      </p:sp>
      <p:sp>
        <p:nvSpPr>
          <p:cNvPr id="16" name="Text 14"/>
          <p:cNvSpPr/>
          <p:nvPr/>
        </p:nvSpPr>
        <p:spPr>
          <a:xfrm>
            <a:off x="793790" y="5818584"/>
            <a:ext cx="642223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Query, Key, and Value components allow models to weight the importance of different inputs dynamically</a:t>
            </a:r>
            <a:endParaRPr lang="en-US" dirty="0"/>
          </a:p>
        </p:txBody>
      </p:sp>
      <p:sp>
        <p:nvSpPr>
          <p:cNvPr id="17" name="Text 15"/>
          <p:cNvSpPr/>
          <p:nvPr/>
        </p:nvSpPr>
        <p:spPr>
          <a:xfrm>
            <a:off x="7414379" y="4914662"/>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PT Serif Light" pitchFamily="34" charset="0"/>
                <a:ea typeface="PT Serif Light" pitchFamily="34" charset="-122"/>
                <a:cs typeface="PT Serif Light" pitchFamily="34" charset="-120"/>
              </a:rPr>
              <a:t>04</a:t>
            </a:r>
            <a:endParaRPr lang="en-US" sz="1550" dirty="0"/>
          </a:p>
        </p:txBody>
      </p:sp>
      <p:sp>
        <p:nvSpPr>
          <p:cNvPr id="18" name="Shape 16"/>
          <p:cNvSpPr/>
          <p:nvPr/>
        </p:nvSpPr>
        <p:spPr>
          <a:xfrm>
            <a:off x="7414379" y="5228987"/>
            <a:ext cx="6422231" cy="22860"/>
          </a:xfrm>
          <a:prstGeom prst="rect">
            <a:avLst/>
          </a:prstGeom>
          <a:solidFill>
            <a:srgbClr val="E04F00"/>
          </a:solidFill>
          <a:ln/>
        </p:spPr>
      </p:sp>
      <p:sp>
        <p:nvSpPr>
          <p:cNvPr id="19" name="Text 17"/>
          <p:cNvSpPr/>
          <p:nvPr/>
        </p:nvSpPr>
        <p:spPr>
          <a:xfrm>
            <a:off x="7414379" y="5373886"/>
            <a:ext cx="3860006"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Transformers Are Attention-Only</a:t>
            </a:r>
            <a:endParaRPr lang="en-US" sz="2050" dirty="0"/>
          </a:p>
        </p:txBody>
      </p:sp>
      <p:sp>
        <p:nvSpPr>
          <p:cNvPr id="20" name="Text 18"/>
          <p:cNvSpPr/>
          <p:nvPr/>
        </p:nvSpPr>
        <p:spPr>
          <a:xfrm>
            <a:off x="7414379" y="5818584"/>
            <a:ext cx="642223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No RNNs or CNNs — just self-attention and feed-forward layers, enabling scalable, parallelizable AI systems</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1205</Words>
  <Application>Microsoft Office PowerPoint</Application>
  <PresentationFormat>Custom</PresentationFormat>
  <Paragraphs>157</Paragraphs>
  <Slides>17</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PT Serif Light</vt:lpstr>
      <vt:lpstr>Arial</vt:lpstr>
      <vt:lpstr>PT Serif</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Fimran Sanghvi</cp:lastModifiedBy>
  <cp:revision>24</cp:revision>
  <dcterms:created xsi:type="dcterms:W3CDTF">2026-04-01T10:47:02Z</dcterms:created>
  <dcterms:modified xsi:type="dcterms:W3CDTF">2026-04-06T09:21:38Z</dcterms:modified>
</cp:coreProperties>
</file>