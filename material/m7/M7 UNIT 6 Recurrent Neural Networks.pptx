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71" r:id="rId9"/>
    <p:sldId id="262" r:id="rId10"/>
    <p:sldId id="263" r:id="rId11"/>
    <p:sldId id="272" r:id="rId12"/>
    <p:sldId id="264" r:id="rId13"/>
    <p:sldId id="273" r:id="rId14"/>
    <p:sldId id="265" r:id="rId15"/>
    <p:sldId id="266" r:id="rId16"/>
    <p:sldId id="267" r:id="rId17"/>
    <p:sldId id="268" r:id="rId18"/>
    <p:sldId id="269" r:id="rId19"/>
    <p:sldId id="270" r:id="rId20"/>
  </p:sldIdLst>
  <p:sldSz cx="14630400" cy="8229600"/>
  <p:notesSz cx="8229600" cy="14630400"/>
  <p:embeddedFontLst>
    <p:embeddedFont>
      <p:font typeface="DM Sans" pitchFamily="2" charset="77"/>
      <p:regular r:id="rId22"/>
      <p:bold r:id="rId23"/>
      <p:italic r:id="rId24"/>
      <p:boldItalic r:id="rId25"/>
    </p:embeddedFont>
    <p:embeddedFont>
      <p:font typeface="PT Serif" panose="020A0603040505020204" pitchFamily="18" charset="77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08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2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7CC1-C078-4F0F-4A4E-0C293A21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00951-AFBA-7E20-8598-275F824F0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0D705-5513-9C1F-5469-A5349ED19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FA43-9A5C-2725-6228-EC8760D89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40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CFFE-1D26-9291-39B3-53AB81C3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978D3-FB5E-C6F1-1111-8126C2408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9146-5DDB-24B2-B7F2-2F179A2E6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1304A-FCDB-7BD2-6685-B30AF940E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12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E38AC-D51B-53DB-A0B4-828A9E5F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E1B9D-8E32-6197-FF39-02F678925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A6DBD-492E-6F16-C754-706224A24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DBB1C-96A6-9E36-D017-6ABFC36D4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39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29" y="2297695"/>
            <a:ext cx="11052453" cy="89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50"/>
              </a:lnSpc>
              <a:buNone/>
            </a:pPr>
            <a:r>
              <a:rPr lang="en-US" sz="5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Neural Networks (RNN)</a:t>
            </a:r>
            <a:endParaRPr lang="en-US" sz="5650" dirty="0"/>
          </a:p>
        </p:txBody>
      </p:sp>
      <p:sp>
        <p:nvSpPr>
          <p:cNvPr id="3" name="Text 1"/>
          <p:cNvSpPr/>
          <p:nvPr/>
        </p:nvSpPr>
        <p:spPr>
          <a:xfrm>
            <a:off x="864129" y="3761322"/>
            <a:ext cx="13042821" cy="104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How Models Handle Time-Dependent and Sequential Data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RNN?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Introduction to LSTM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LSTM Works?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for Text Prediction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RNN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52519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83761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We'll Cover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93790" y="378654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60762" y="3814465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1438632" y="38547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RNN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438632" y="4299466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Difference from Feedforward NN, Architecture, Key Terms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39144" y="378654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506117" y="3814465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083987" y="38547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RNN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083987" y="4299466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One-to-One, One-to-Many, Many-to-One, Many-to-Many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013841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0762" y="5041761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1438632" y="508206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1438632" y="5526762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Introduction, Working Mechanism, Stock Prediction Example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39144" y="5013841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506117" y="5041761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8083987" y="5082064"/>
            <a:ext cx="292739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&amp; Summary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8083987" y="5526762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Prediction, Advantages, Limitations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0979" y="681156"/>
            <a:ext cx="581227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Sequential Data?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89" y="175777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data is data where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matters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Unlike static data, each value depends on what came before it — making standard neural networks insufficient.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3453289"/>
            <a:ext cx="6422231" cy="1166574"/>
          </a:xfrm>
          <a:prstGeom prst="roundRect">
            <a:avLst>
              <a:gd name="adj" fmla="val 255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3651647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📈</a:t>
            </a: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Stock Prices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410396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series — past prices influence future trends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14379" y="3453289"/>
            <a:ext cx="6422231" cy="1166574"/>
          </a:xfrm>
          <a:prstGeom prst="roundRect">
            <a:avLst>
              <a:gd name="adj" fmla="val 255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612737" y="3651647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💬</a:t>
            </a: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Sentences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612737" y="410396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data — word order determines meaning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3790" y="4818221"/>
            <a:ext cx="6422231" cy="1166574"/>
          </a:xfrm>
          <a:prstGeom prst="roundRect">
            <a:avLst>
              <a:gd name="adj" fmla="val 2552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92148" y="5016579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🎙️</a:t>
            </a: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Speech Signals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92148" y="54688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 sequences — phonemes depend on context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14379" y="4818221"/>
            <a:ext cx="6422231" cy="1166574"/>
          </a:xfrm>
          <a:prstGeom prst="roundRect">
            <a:avLst>
              <a:gd name="adj" fmla="val 2552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12737" y="5016579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📡</a:t>
            </a: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Sensor Data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612737" y="54688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 streams — readings change over time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93788" y="6727215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26" y="7049636"/>
            <a:ext cx="248007" cy="1983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36870" y="6990045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Previous values influence future values. The sequence itself carries information.</a:t>
            </a:r>
            <a:endParaRPr 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0930" y="991699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RNN?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0930" y="21938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Neural Network (RNN)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neural network specifically designed for sequence data.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Unlike standard networks, it maintains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form of memory — that carries information from previous time steps into the current computation.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4332327"/>
            <a:ext cx="6422231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33232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55354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Mechanism</a:t>
            </a:r>
            <a:endParaRPr lang="en-US" sz="2050" b="1" dirty="0"/>
          </a:p>
        </p:txBody>
      </p:sp>
      <p:sp>
        <p:nvSpPr>
          <p:cNvPr id="9" name="Text 7"/>
          <p:cNvSpPr/>
          <p:nvPr/>
        </p:nvSpPr>
        <p:spPr>
          <a:xfrm>
            <a:off x="1083588" y="499824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each time step, the network takes the current input </a:t>
            </a:r>
            <a:r>
              <a:rPr lang="en-US" sz="2000" b="1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xt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the previous hidden state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h{t-1}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produce a new hidden state.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14379" y="4332327"/>
            <a:ext cx="6422231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1519" y="433232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177" y="455354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RNN Formula</a:t>
            </a:r>
            <a:endParaRPr lang="en-US" sz="2050" b="1" dirty="0"/>
          </a:p>
        </p:txBody>
      </p:sp>
      <p:sp>
        <p:nvSpPr>
          <p:cNvPr id="13" name="Text 11"/>
          <p:cNvSpPr/>
          <p:nvPr/>
        </p:nvSpPr>
        <p:spPr>
          <a:xfrm>
            <a:off x="7704177" y="499824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2000" b="1" dirty="0" err="1">
                <a:latin typeface="DM Sans" pitchFamily="2" charset="0"/>
              </a:rPr>
              <a:t>ht</a:t>
            </a:r>
            <a:r>
              <a:rPr lang="en-IN" sz="2000" b="1" dirty="0">
                <a:latin typeface="DM Sans" pitchFamily="2" charset="0"/>
              </a:rPr>
              <a:t>​=f(</a:t>
            </a:r>
            <a:r>
              <a:rPr lang="en-IN" sz="2000" b="1" dirty="0" err="1">
                <a:latin typeface="DM Sans" pitchFamily="2" charset="0"/>
              </a:rPr>
              <a:t>Wxt</a:t>
            </a:r>
            <a:r>
              <a:rPr lang="en-IN" sz="2000" b="1" dirty="0">
                <a:latin typeface="DM Sans" pitchFamily="2" charset="0"/>
              </a:rPr>
              <a:t>​+Uht−1​+b) 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W and U are weight matrices, b is bias, and f is the activation function.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0915" y="851060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Architecture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650915" y="2576393"/>
            <a:ext cx="6565106" cy="4493419"/>
          </a:xfrm>
          <a:prstGeom prst="roundRect">
            <a:avLst>
              <a:gd name="adj" fmla="val 66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77475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Core Layers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849273" y="3323630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16245" y="3351550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94115" y="339185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Layer (x_t)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94115" y="3915847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the current input at each time step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49273" y="463022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16245" y="465814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94115" y="469844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Layer (h_t)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94115" y="5222438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and updates memory across time steps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49273" y="593681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16245" y="5964734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94115" y="600503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Layer (y_t)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94115" y="6529030"/>
            <a:ext cx="55235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the prediction or result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64874" y="277475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Parameter Sharing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64873" y="3298746"/>
            <a:ext cx="65590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defining feature of RNNs is that the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weights are reused across all time steps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is called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 sharing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73702" y="5067093"/>
            <a:ext cx="7356698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the total number of parameters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Allows the model to generalize across sequence positions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the network efficient for variable-length sequences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406091"/>
            <a:ext cx="8633936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vs. Feedforward Neural Network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93790" y="3663196"/>
            <a:ext cx="13042821" cy="2319814"/>
          </a:xfrm>
          <a:prstGeom prst="roundRect">
            <a:avLst>
              <a:gd name="adj" fmla="val 1283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663196"/>
            <a:ext cx="6521410" cy="2319814"/>
          </a:xfrm>
          <a:prstGeom prst="roundRect">
            <a:avLst>
              <a:gd name="adj" fmla="val 128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3861554"/>
            <a:ext cx="265426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Feedforward NN (FNN)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4306253"/>
            <a:ext cx="6124694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memory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each input is processed independently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data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images, tabular data)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flows in one direction only: input → output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capture temporal or sequential dependencies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15200" y="3663196"/>
            <a:ext cx="6521410" cy="231981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3663196"/>
            <a:ext cx="22860" cy="231981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7513558" y="386155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NN (RNN)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513558" y="4306253"/>
            <a:ext cx="652141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memory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hidden state persists across time steps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data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text, time series)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loops back: output influences future processing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temporal dependencies and context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7961-069F-90BB-C4A7-87E45136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4F60D76-0325-E393-00AD-7E4B3B0EAFDC}"/>
              </a:ext>
            </a:extLst>
          </p:cNvPr>
          <p:cNvSpPr/>
          <p:nvPr/>
        </p:nvSpPr>
        <p:spPr>
          <a:xfrm>
            <a:off x="724634" y="770187"/>
            <a:ext cx="8633936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vs. Feedforward Neural Network</a:t>
            </a:r>
            <a:endParaRPr lang="en-US" sz="4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1BBA41-189B-E5E0-AD2B-CB388689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894" y="1798529"/>
            <a:ext cx="7398948" cy="2827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978190-4A09-F598-086D-98D4ABDC2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895" y="4625788"/>
            <a:ext cx="7507300" cy="260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12664" y="908447"/>
            <a:ext cx="3996214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Terms in RNN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312664" y="1583055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7904" y="1598295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1518166" y="1897023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053471" y="1750457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Step (t)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3471" y="2070140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position in the sequence; the model processes one step at a time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12664" y="2613065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7904" y="2628305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18166" y="2927032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053471" y="2780467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State (h_t</a:t>
            </a: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053471" y="3100149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network's memory; carries information from previous steps forward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312664" y="3643074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7904" y="3658314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1518166" y="3957042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053471" y="3810476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Weights (W, U)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53471" y="4130159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connects input to hidden; U connects previous hidden state to current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312664" y="4673084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7904" y="4688324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1518166" y="4987052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2053471" y="4840486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Function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53471" y="5160169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Typically tanh or ReLU; introduces non-linearity into the hidden state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312664" y="5703094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7904" y="5718334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1518166" y="6017062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053471" y="5870496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Sequence Length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053471" y="6190178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number of time steps in the input sequence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312664" y="6733103"/>
            <a:ext cx="12005072" cy="9133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7904" y="6748343"/>
            <a:ext cx="608886" cy="882848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1518166" y="7047071"/>
            <a:ext cx="22824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2053471" y="6900505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BPTT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53471" y="7220188"/>
            <a:ext cx="11096863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Backpropagation Through Time — the algorithm used to train RNNs across steps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39408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RNN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93790" y="3088600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92148" y="328695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One-to-One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92148" y="373165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input → single output. Standard mapping, similar to a feedforward network. Used for simple classification tasks.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3790" y="4763453"/>
            <a:ext cx="6422231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92148" y="49618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Many-to-One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992148" y="540650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 input → single output. Example: sentiment analysis — a full sentence is classified as positive or negative.</a:t>
            </a:r>
            <a:endParaRPr lang="en-US" sz="1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0D35C3-E684-B257-633A-209CF16B1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168" y="3088600"/>
            <a:ext cx="4895582" cy="3630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E6FC-E2DC-07BF-4E1F-8186588C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6E13FC3-77F4-D37E-2637-B125526C1425}"/>
              </a:ext>
            </a:extLst>
          </p:cNvPr>
          <p:cNvSpPr/>
          <p:nvPr/>
        </p:nvSpPr>
        <p:spPr>
          <a:xfrm>
            <a:off x="793790" y="139408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RNN</a:t>
            </a:r>
            <a:endParaRPr lang="en-US" sz="4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3BC2D9-BC03-79AC-C4DF-195C68CD862F}"/>
              </a:ext>
            </a:extLst>
          </p:cNvPr>
          <p:cNvSpPr/>
          <p:nvPr/>
        </p:nvSpPr>
        <p:spPr>
          <a:xfrm>
            <a:off x="7414379" y="3088600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31AAAB-5707-FF52-F1BE-353C470CE26C}"/>
              </a:ext>
            </a:extLst>
          </p:cNvPr>
          <p:cNvSpPr/>
          <p:nvPr/>
        </p:nvSpPr>
        <p:spPr>
          <a:xfrm>
            <a:off x="7612737" y="328695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One-to-Many</a:t>
            </a:r>
            <a:endParaRPr lang="en-US" sz="2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90935B-FEDA-30D7-586E-D4C084414212}"/>
              </a:ext>
            </a:extLst>
          </p:cNvPr>
          <p:cNvSpPr/>
          <p:nvPr/>
        </p:nvSpPr>
        <p:spPr>
          <a:xfrm>
            <a:off x="7612737" y="373165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input → sequence output. Example: image captioning — one image generates a full sentence description.</a:t>
            </a:r>
            <a:endParaRPr lang="en-US" sz="17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38B9EF0-2755-7E87-E803-DD8CAA126C55}"/>
              </a:ext>
            </a:extLst>
          </p:cNvPr>
          <p:cNvSpPr/>
          <p:nvPr/>
        </p:nvSpPr>
        <p:spPr>
          <a:xfrm>
            <a:off x="7414379" y="4763453"/>
            <a:ext cx="6422231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943C9B9-7309-1496-5936-E4955E379DE4}"/>
              </a:ext>
            </a:extLst>
          </p:cNvPr>
          <p:cNvSpPr/>
          <p:nvPr/>
        </p:nvSpPr>
        <p:spPr>
          <a:xfrm>
            <a:off x="7612737" y="49618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Many-to-Many</a:t>
            </a:r>
            <a:endParaRPr lang="en-US" sz="2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E3056F-1FAC-5D47-68BD-8D1E84E3FAC6}"/>
              </a:ext>
            </a:extLst>
          </p:cNvPr>
          <p:cNvSpPr/>
          <p:nvPr/>
        </p:nvSpPr>
        <p:spPr>
          <a:xfrm>
            <a:off x="7612737" y="5406509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 input → sequence output. Example: machine translation — a sentence in one language maps to another language.</a:t>
            </a:r>
            <a:endParaRPr lang="en-US" sz="1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BFB37-C55E-C53E-F938-1A565724B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460" y="3088600"/>
            <a:ext cx="5209937" cy="360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7702" y="917139"/>
            <a:ext cx="755201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Vanishing Gradient Problem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4610" y="20608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During training via BPTT, gradients are multiplied repeatedly across many time steps. When these values are small, they shrink exponentially — approaching zero. As a result,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effectively forgets long-term dependencies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0915" y="3560683"/>
            <a:ext cx="6565106" cy="3367921"/>
          </a:xfrm>
          <a:prstGeom prst="roundRect">
            <a:avLst>
              <a:gd name="adj" fmla="val 88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375904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Happens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849273" y="4283034"/>
            <a:ext cx="6128302" cy="21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Gradients become very small during backpropagation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time steps receive near-zero weight updates</a:t>
            </a:r>
          </a:p>
          <a:p>
            <a:pPr algn="l">
              <a:lnSpc>
                <a:spcPts val="2500"/>
              </a:lnSpc>
              <a:buSzPct val="100000"/>
            </a:pP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loses ability to learn long-range patterns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64874" y="375904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Solutions</a:t>
            </a:r>
            <a:endParaRPr lang="en-US" sz="2000" b="1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4313992"/>
            <a:ext cx="297656" cy="297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09717" y="430791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8209717" y="4831913"/>
            <a:ext cx="5634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— uses gating to preserve important information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5869900"/>
            <a:ext cx="297656" cy="297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09717" y="586382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GRU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8209717" y="6387822"/>
            <a:ext cx="563451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Gated Recurrent Unit — a simpler, faster alternative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LSTM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C8F6-8157-142B-809A-49803782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5BA587E-DC0B-DB7B-BE99-7898061F9110}"/>
              </a:ext>
            </a:extLst>
          </p:cNvPr>
          <p:cNvSpPr/>
          <p:nvPr/>
        </p:nvSpPr>
        <p:spPr>
          <a:xfrm>
            <a:off x="791171" y="1021721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LSTM</a:t>
            </a:r>
            <a:endParaRPr lang="en-US" sz="4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63867D-26F3-EE63-98A4-164043AB315D}"/>
              </a:ext>
            </a:extLst>
          </p:cNvPr>
          <p:cNvSpPr/>
          <p:nvPr/>
        </p:nvSpPr>
        <p:spPr>
          <a:xfrm>
            <a:off x="810047" y="212866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(LSTM)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network solves the vanishing gradient problem by introducing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mechanisms that control what information is kept, updated, or discarded at each time step.</a:t>
            </a:r>
            <a:endParaRPr lang="en-US" sz="20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B734D6A-8F62-4D9D-AE5D-EDB0A226B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4161592"/>
            <a:ext cx="267891" cy="267891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25B1AA1-DECC-6241-46DF-7FE201DFA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506" y="4161592"/>
            <a:ext cx="267891" cy="267891"/>
          </a:xfrm>
          <a:prstGeom prst="rect">
            <a:avLst/>
          </a:prstGeom>
        </p:spPr>
      </p:pic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754565D2-471A-AF11-3281-BC62B7E94D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3272" y="4161592"/>
            <a:ext cx="267891" cy="2678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F86E71-4D41-4183-4DEC-36926C5B80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8573" y="3315768"/>
            <a:ext cx="8188321" cy="439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63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1171" y="1570563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LSTM</a:t>
            </a:r>
            <a:endParaRPr lang="en-US" sz="4100" dirty="0"/>
          </a:p>
        </p:txBody>
      </p:sp>
      <p:sp>
        <p:nvSpPr>
          <p:cNvPr id="6" name="Shape 4"/>
          <p:cNvSpPr/>
          <p:nvPr/>
        </p:nvSpPr>
        <p:spPr>
          <a:xfrm>
            <a:off x="793790" y="3799642"/>
            <a:ext cx="4215289" cy="2905244"/>
          </a:xfrm>
          <a:prstGeom prst="roundRect">
            <a:avLst>
              <a:gd name="adj" fmla="val 1025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92148" y="399800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4161592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148" y="479167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Forget Gate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92148" y="5236369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what information from the previous cell state should be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discarded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Outputs values between 0 (forget) and 1 (keep).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207437" y="3799642"/>
            <a:ext cx="4215408" cy="2905244"/>
          </a:xfrm>
          <a:prstGeom prst="roundRect">
            <a:avLst>
              <a:gd name="adj" fmla="val 1025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5405795" y="399800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506" y="4161592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5795" y="479167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Gate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5405795" y="5236369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what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information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the current input should be written into the cell state.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9621203" y="3799642"/>
            <a:ext cx="4215289" cy="2905244"/>
          </a:xfrm>
          <a:prstGeom prst="roundRect">
            <a:avLst>
              <a:gd name="adj" fmla="val 1025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9819561" y="399800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3272" y="4161592"/>
            <a:ext cx="267891" cy="2678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19561" y="479167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Gate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819561" y="523636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what part of the cell state should be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the hidden state for the next step.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333143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LSTM Works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48042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 Types of Memory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793790" y="3029307"/>
            <a:ext cx="6279356" cy="1601510"/>
          </a:xfrm>
          <a:prstGeom prst="roundRect">
            <a:avLst>
              <a:gd name="adj" fmla="val 685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3029307"/>
            <a:ext cx="91440" cy="160151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3250525"/>
            <a:ext cx="374213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Cell State — Long-Term Memory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83588" y="3686294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through the entire sequence with minimal modification. Carries important context over many time steps.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3790" y="4829175"/>
            <a:ext cx="6279356" cy="1601510"/>
          </a:xfrm>
          <a:prstGeom prst="roundRect">
            <a:avLst>
              <a:gd name="adj" fmla="val 685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930" y="4829175"/>
            <a:ext cx="91440" cy="160151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88" y="5050393"/>
            <a:ext cx="417957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State — Short-Term Memory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083588" y="5574387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Updated at every step. Passed to the next time step and used to generate the output.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421999" y="2282071"/>
            <a:ext cx="6565106" cy="5081945"/>
          </a:xfrm>
          <a:prstGeom prst="roundRect">
            <a:avLst>
              <a:gd name="adj" fmla="val 5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357" y="248042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Information Flow</a:t>
            </a:r>
            <a:endParaRPr lang="en-US" sz="2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357" y="3029307"/>
            <a:ext cx="595313" cy="1143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14028" y="322766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Forget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8414028" y="3751659"/>
            <a:ext cx="53747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irrelevant past information from cell state</a:t>
            </a: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013" y="4465915"/>
            <a:ext cx="595313" cy="1143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11684" y="466427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Update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8711684" y="5188268"/>
            <a:ext cx="50770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new relevant information into cell state</a:t>
            </a: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670" y="5902523"/>
            <a:ext cx="595313" cy="1143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9340" y="610088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2050" dirty="0"/>
          </a:p>
        </p:txBody>
      </p:sp>
      <p:sp>
        <p:nvSpPr>
          <p:cNvPr id="24" name="Text 19"/>
          <p:cNvSpPr/>
          <p:nvPr/>
        </p:nvSpPr>
        <p:spPr>
          <a:xfrm>
            <a:off x="9009340" y="6624876"/>
            <a:ext cx="47794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 hidden state from updated cell state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0915" y="773548"/>
            <a:ext cx="756868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 Example: Stock Prediction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50915" y="18544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LSTMs are well-suited for financial time series because stock prices depend on historical patterns. The model learns temporal relationships across multiple input signals to forecast future returns.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0915" y="3228737"/>
            <a:ext cx="5212318" cy="4046934"/>
          </a:xfrm>
          <a:prstGeom prst="roundRect">
            <a:avLst>
              <a:gd name="adj" fmla="val 7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342709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Inputs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49273" y="3951089"/>
            <a:ext cx="4815602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historical closing prices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trading volume over time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RSI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Relative Strength Index (momentum indicator)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9273" y="5682465"/>
            <a:ext cx="4815602" cy="32385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9273" y="593800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Output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49273" y="6461998"/>
            <a:ext cx="481560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day return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predicted percentage change in price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2086" y="3427095"/>
            <a:ext cx="265580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LSTM Works Here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6212086" y="3951089"/>
            <a:ext cx="8136960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Markets have long-range dependencies — events from weeks ago can affect today's price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forget gate filters out market noise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cell state preserves meaningful trend signals over time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Outperforms standard RNN on longer sequences due to stable gradients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379577"/>
            <a:ext cx="554450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for Text Prediction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05220" y="26924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process text as sequences of words or characters, learning the statistical patterns of language to predict what comes next.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1446" y="412444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stock market is"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Output: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"volatile"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3790" y="3901202"/>
            <a:ext cx="22860" cy="764024"/>
          </a:xfrm>
          <a:prstGeom prst="rect">
            <a:avLst/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888468"/>
            <a:ext cx="496133" cy="4961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7930" y="48884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Autocomplete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537930" y="5333167"/>
            <a:ext cx="343804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Predicts the next word as a user types, used in search engines and mobile keyboards.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4888468"/>
            <a:ext cx="496133" cy="4961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68127" y="48884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Chatbots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968127" y="5333167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contextually relevant responses by modeling conversational sequences.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4888468"/>
            <a:ext cx="496133" cy="4961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98443" y="48884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10398443" y="5333167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Encodes a source sentence and decodes it into a target language using sequence-to-sequence RNN.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408390"/>
            <a:ext cx="7897416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&amp; Limitations of RNN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555677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Advantages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770930" y="3089315"/>
            <a:ext cx="45720" cy="1204793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037868" y="3112175"/>
            <a:ext cx="284607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Handles Sequential Data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37868" y="3636169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Natively processes time-ordered inputs — text, audio, financial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0930" y="4645223"/>
            <a:ext cx="45720" cy="887254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68" y="466808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Parameter Sharing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037868" y="5192078"/>
            <a:ext cx="6035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Reuses weights across time steps, reducing model complexity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0930" y="5883593"/>
            <a:ext cx="45720" cy="1204793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37868" y="590645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Flexible Architecture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37868" y="6430447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one-to-many, many-to-one, and many-to-many configurations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64874" y="2555677"/>
            <a:ext cx="2604968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⚠️</a:t>
            </a: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Limitations</a:t>
            </a: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7542014" y="3089315"/>
            <a:ext cx="45720" cy="887254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808952" y="311217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Vanishing Gradient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808952" y="3636169"/>
            <a:ext cx="6035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Struggles to learn long-range dependencies in deep sequences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42014" y="4327684"/>
            <a:ext cx="45720" cy="1204793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808952" y="435054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Slow Training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808952" y="4874538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processing prevents parallelization, making training slow on long sequences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542014" y="5883593"/>
            <a:ext cx="45720" cy="1204793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808952" y="5906453"/>
            <a:ext cx="288905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Limited Context Window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808952" y="6430447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RNNs forget distant past; LSTM/GRU partially address this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063640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93790" y="3067645"/>
            <a:ext cx="4215289" cy="21115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92148" y="326600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→ Memory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92148" y="3710702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sequences using a hidden state that carries information across time steps. Defined by: </a:t>
            </a:r>
          </a:p>
          <a:p>
            <a:pPr>
              <a:lnSpc>
                <a:spcPts val="2500"/>
              </a:lnSpc>
            </a:pPr>
            <a:r>
              <a:rPr lang="en-IN" b="1" dirty="0" err="1">
                <a:latin typeface="DM Sans" pitchFamily="2" charset="0"/>
              </a:rPr>
              <a:t>ht</a:t>
            </a:r>
            <a:r>
              <a:rPr lang="en-IN" b="1" dirty="0">
                <a:latin typeface="DM Sans" pitchFamily="2" charset="0"/>
              </a:rPr>
              <a:t>​=f(</a:t>
            </a:r>
            <a:r>
              <a:rPr lang="en-IN" b="1" dirty="0" err="1">
                <a:latin typeface="DM Sans" pitchFamily="2" charset="0"/>
              </a:rPr>
              <a:t>Wxt</a:t>
            </a:r>
            <a:r>
              <a:rPr lang="en-IN" b="1" dirty="0">
                <a:latin typeface="DM Sans" pitchFamily="2" charset="0"/>
              </a:rPr>
              <a:t>​+Uht−1​+b)</a:t>
            </a:r>
            <a:endParaRPr lang="en-US" b="1" dirty="0">
              <a:latin typeface="DM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07437" y="3067645"/>
            <a:ext cx="4215408" cy="21115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05795" y="3266003"/>
            <a:ext cx="277344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 → Smart Memory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405795" y="3710702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 RNN with Forget, Input, and Output gates to control long-term and short-term memory independently.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21203" y="3067645"/>
            <a:ext cx="4215289" cy="21115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19561" y="326600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9819561" y="371070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prediction, natural language processing (NLP), speech recognition, autocomplete, and chatbots.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3790" y="5402461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697736"/>
            <a:ext cx="248007" cy="19835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38513" y="5650349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data has order and context, RNNs and LSTMs are the go-to architectures — bridging the gap between static models and real-world sequential problems.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1350</Words>
  <Application>Microsoft Macintosh PowerPoint</Application>
  <PresentationFormat>Custom</PresentationFormat>
  <Paragraphs>205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PT Serif</vt:lpstr>
      <vt:lpstr>Calibri</vt:lpstr>
      <vt:lpstr>DM Sans</vt:lpstr>
      <vt:lpstr>Arial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14</cp:revision>
  <dcterms:created xsi:type="dcterms:W3CDTF">2026-04-09T11:09:35Z</dcterms:created>
  <dcterms:modified xsi:type="dcterms:W3CDTF">2026-04-10T08:48:37Z</dcterms:modified>
</cp:coreProperties>
</file>