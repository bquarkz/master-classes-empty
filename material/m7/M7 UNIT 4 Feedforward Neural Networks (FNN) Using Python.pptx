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2" r:id="rId16"/>
    <p:sldId id="273" r:id="rId17"/>
    <p:sldId id="270" r:id="rId18"/>
    <p:sldId id="271" r:id="rId19"/>
  </p:sldIdLst>
  <p:sldSz cx="14630400" cy="8229600"/>
  <p:notesSz cx="8229600" cy="146304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DM Sans" pitchFamily="2" charset="0"/>
      <p:regular r:id="rId25"/>
      <p:bold r:id="rId26"/>
      <p:italic r:id="rId27"/>
      <p:boldItalic r:id="rId28"/>
    </p:embeddedFont>
    <p:embeddedFont>
      <p:font typeface="PT Serif" panose="020A0603040505020204" pitchFamily="18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53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62275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Feedforward Neural Networks (FNN) Using Python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9044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and training FNNs with PyTorch and TensorFlow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491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34279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9784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872151"/>
            <a:ext cx="432232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Recap :Neural Networks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334279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69784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3872151"/>
            <a:ext cx="436018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FNN Architecture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46410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99610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5170408"/>
            <a:ext cx="640794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Implementing FNN using PyTorch and TensorFlow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28548" y="46410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996101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28548" y="5170408"/>
            <a:ext cx="56160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Comparison of Deep Learning Frameworks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711" y="1028255"/>
            <a:ext cx="705743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Recap: What is a Neural Network?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51750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Neural Network is a machine learning model inspired by the human brain — interconnected neurons that learn patterns from data.</a:t>
            </a:r>
            <a:endParaRPr lang="en-US" sz="20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16368A9A-F595-D947-AE7F-9679A09A0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00" y="3764441"/>
            <a:ext cx="4979963" cy="34382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ADFD2B-36AD-8F45-9F38-3A28751DAD56}"/>
              </a:ext>
            </a:extLst>
          </p:cNvPr>
          <p:cNvSpPr txBox="1"/>
          <p:nvPr/>
        </p:nvSpPr>
        <p:spPr>
          <a:xfrm>
            <a:off x="6977575" y="3913888"/>
            <a:ext cx="48533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Neural Network Training Pipeline</a:t>
            </a:r>
          </a:p>
          <a:p>
            <a:endParaRPr lang="en-IN" sz="2000" dirty="0"/>
          </a:p>
          <a:p>
            <a:r>
              <a:rPr lang="en-IN" sz="2000" dirty="0"/>
              <a:t>1. Input Data</a:t>
            </a:r>
          </a:p>
          <a:p>
            <a:r>
              <a:rPr lang="en-IN" sz="2000" dirty="0"/>
              <a:t>2. Forward Pass</a:t>
            </a:r>
          </a:p>
          <a:p>
            <a:r>
              <a:rPr lang="en-IN" sz="2000" dirty="0"/>
              <a:t>3. Compute Loss</a:t>
            </a:r>
          </a:p>
          <a:p>
            <a:r>
              <a:rPr lang="en-IN" sz="2000" dirty="0"/>
              <a:t>4. Backpropagation</a:t>
            </a:r>
          </a:p>
          <a:p>
            <a:r>
              <a:rPr lang="en-IN" sz="2000" dirty="0"/>
              <a:t>5. Update Weights</a:t>
            </a:r>
          </a:p>
          <a:p>
            <a:endParaRPr lang="en-IN" sz="2000" dirty="0"/>
          </a:p>
          <a:p>
            <a:r>
              <a:rPr lang="en-IN" sz="2000" dirty="0"/>
              <a:t>Repeat until model learns patterns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49" y="1136644"/>
            <a:ext cx="1116687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Definition of Feedforward Neural Network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681249" y="2575775"/>
            <a:ext cx="13042821" cy="4331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simplest type of Artificial Neural Network — information moves in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direction only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Input → Hidden Layer(s) → Output.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cycles or feedback connections.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Learns patterns by adjusting weights during training using data.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Commonly used for classification and regression tasks.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7" y="5479108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3213" y="538254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 Each neuron receives input, applies a transformation, and passes output to the next layer.</a:t>
            </a:r>
            <a:endParaRPr lang="en-US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0131" y="656868"/>
            <a:ext cx="4766905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Components of FNN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1050131" y="1543526"/>
            <a:ext cx="12530138" cy="108954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991" y="1566386"/>
            <a:ext cx="726281" cy="104382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299924" y="1918097"/>
            <a:ext cx="272296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944648" y="1747957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Layer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944648" y="2133005"/>
            <a:ext cx="1143119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Receives raw features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050131" y="2778443"/>
            <a:ext cx="12530138" cy="108954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2991" y="2801303"/>
            <a:ext cx="726281" cy="104382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299924" y="3153013"/>
            <a:ext cx="272296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44648" y="2982873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Layer(s)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944648" y="3367921"/>
            <a:ext cx="1143119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complex relationships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50131" y="4013359"/>
            <a:ext cx="12530138" cy="108954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2991" y="4036219"/>
            <a:ext cx="726281" cy="104382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299924" y="4387929"/>
            <a:ext cx="272296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44648" y="4217789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Layer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944648" y="4602837"/>
            <a:ext cx="1143119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final prediction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50131" y="5248275"/>
            <a:ext cx="12530138" cy="108954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2991" y="5271135"/>
            <a:ext cx="726281" cy="104382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1299924" y="5622846"/>
            <a:ext cx="272296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944648" y="5452705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Weights &amp; Bias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944648" y="5837753"/>
            <a:ext cx="1143119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Connection strength &amp; activation threshold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050131" y="6483191"/>
            <a:ext cx="12530138" cy="108954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2991" y="6506051"/>
            <a:ext cx="726281" cy="104382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1299924" y="6857762"/>
            <a:ext cx="272296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944648" y="6687622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Activation Function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944648" y="7072670"/>
            <a:ext cx="1143119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ntroduces non-linearity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2467" y="489228"/>
            <a:ext cx="4316135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Simple Architecture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642467" y="1267063"/>
            <a:ext cx="113454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basic FNN: 3 input features → 1 hidden layer (4 neurons) → 1 output neuron.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614294" y="4200346"/>
            <a:ext cx="1395483" cy="10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Simple Feedforward Network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750044" y="6962537"/>
            <a:ext cx="113454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neuron computes: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= Activation( Σ(Weight × Input) + Bias )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926980-11D3-1CB1-B9DF-358E9F90B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176" y="1732240"/>
            <a:ext cx="7697223" cy="45815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113" y="1175550"/>
            <a:ext cx="785038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Mathematical Representation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653113" y="25202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neuron, the computation follows two steps: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4176951"/>
            <a:ext cx="13042821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19611" y="3768243"/>
            <a:ext cx="13042821" cy="3932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857274"/>
            <a:ext cx="13042821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32208" y="4772326"/>
            <a:ext cx="13042821" cy="3932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3789" y="60090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activation functions: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ReLU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Sigmoid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Tanh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process repeats layer by layer.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6C6B1-A155-375C-77D4-01EEFCE313D5}"/>
              </a:ext>
            </a:extLst>
          </p:cNvPr>
          <p:cNvSpPr txBox="1"/>
          <p:nvPr/>
        </p:nvSpPr>
        <p:spPr>
          <a:xfrm>
            <a:off x="5889929" y="4772326"/>
            <a:ext cx="927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a: Activated output passed to next layer</a:t>
            </a:r>
            <a:endParaRPr lang="en-IN" b="1" dirty="0">
              <a:latin typeface="DM 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2D99B-6C51-22EA-540C-73830A7D4B3D}"/>
              </a:ext>
            </a:extLst>
          </p:cNvPr>
          <p:cNvSpPr txBox="1"/>
          <p:nvPr/>
        </p:nvSpPr>
        <p:spPr>
          <a:xfrm>
            <a:off x="5889929" y="3779874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DM Sans" pitchFamily="2" charset="0"/>
              </a:rPr>
              <a:t>z: Weighted sum of inputs + bias (linear combination)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9894" y="509468"/>
            <a:ext cx="5127784" cy="59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Process in FNN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059894" y="1394103"/>
            <a:ext cx="12510611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Objective: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Minimize prediction error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through four sequential steps.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36" y="1818084"/>
            <a:ext cx="12074128" cy="5901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9573" y="3205230"/>
            <a:ext cx="437868" cy="4378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21796" y="3839943"/>
            <a:ext cx="2955610" cy="36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Forward </a:t>
            </a:r>
            <a:r>
              <a:rPr lang="en-US" sz="23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Propogation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6193" y="4080966"/>
            <a:ext cx="437868" cy="4378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64376" y="2488807"/>
            <a:ext cx="2955610" cy="36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Loss Calculation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0303" y="5920013"/>
            <a:ext cx="437868" cy="4378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552849" y="5266142"/>
            <a:ext cx="2955610" cy="36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Backpropogation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3879" y="5094318"/>
            <a:ext cx="437868" cy="43786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497953" y="6642300"/>
            <a:ext cx="2955610" cy="36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 Update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48" y="1010914"/>
            <a:ext cx="83772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Tools for Deep Learning: </a:t>
            </a:r>
            <a:r>
              <a:rPr lang="en-US" sz="36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</a:t>
            </a: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and TensorFlow</a:t>
            </a:r>
            <a:endParaRPr lang="en-US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6E634F-D156-3881-8ADD-2A75E0E3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578143"/>
              </p:ext>
            </p:extLst>
          </p:nvPr>
        </p:nvGraphicFramePr>
        <p:xfrm>
          <a:off x="857250" y="2464227"/>
          <a:ext cx="9464169" cy="33011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54723">
                  <a:extLst>
                    <a:ext uri="{9D8B030D-6E8A-4147-A177-3AD203B41FA5}">
                      <a16:colId xmlns:a16="http://schemas.microsoft.com/office/drawing/2014/main" val="3062006361"/>
                    </a:ext>
                  </a:extLst>
                </a:gridCol>
                <a:gridCol w="3154723">
                  <a:extLst>
                    <a:ext uri="{9D8B030D-6E8A-4147-A177-3AD203B41FA5}">
                      <a16:colId xmlns:a16="http://schemas.microsoft.com/office/drawing/2014/main" val="78633608"/>
                    </a:ext>
                  </a:extLst>
                </a:gridCol>
                <a:gridCol w="3154723">
                  <a:extLst>
                    <a:ext uri="{9D8B030D-6E8A-4147-A177-3AD203B41FA5}">
                      <a16:colId xmlns:a16="http://schemas.microsoft.com/office/drawing/2014/main" val="1259988377"/>
                    </a:ext>
                  </a:extLst>
                </a:gridCol>
              </a:tblGrid>
              <a:tr h="550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Feature</a:t>
                      </a:r>
                      <a:endParaRPr lang="en-IN" sz="2000" b="1" dirty="0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PyTorch</a:t>
                      </a:r>
                      <a:endParaRPr lang="en-IN" sz="2000" b="1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TensorFlow</a:t>
                      </a:r>
                      <a:endParaRPr lang="en-IN" sz="2000" b="1" dirty="0"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560349"/>
                  </a:ext>
                </a:extLst>
              </a:tr>
              <a:tr h="550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Developed By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Meta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Google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904494"/>
                  </a:ext>
                </a:extLst>
              </a:tr>
              <a:tr h="550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Computation Graph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Dynamic (eager execution)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Static + Dynamic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026157"/>
                  </a:ext>
                </a:extLst>
              </a:tr>
              <a:tr h="550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Ease of Use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Easier debugging, flexible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Slightly complex but powerful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433821"/>
                  </a:ext>
                </a:extLst>
              </a:tr>
              <a:tr h="550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Usage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Research &amp; experimentation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Production &amp; deployment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010866"/>
                  </a:ext>
                </a:extLst>
              </a:tr>
              <a:tr h="550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High-Level API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Native Pythonic style</a:t>
                      </a:r>
                      <a:endParaRPr lang="en-IN"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Keras</a:t>
                      </a:r>
                      <a:endParaRPr lang="en-IN" dirty="0"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39986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75E5CDE-7A5B-892A-4784-B2CF50A23393}"/>
              </a:ext>
            </a:extLst>
          </p:cNvPr>
          <p:cNvSpPr txBox="1"/>
          <p:nvPr/>
        </p:nvSpPr>
        <p:spPr>
          <a:xfrm>
            <a:off x="857250" y="6439220"/>
            <a:ext cx="10242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Both frameworks are widely used for building and deploying deep learning models.</a:t>
            </a:r>
            <a:endParaRPr lang="en-IN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500" y="600670"/>
            <a:ext cx="5734050" cy="7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the Model Works</a:t>
            </a:r>
            <a:endParaRPr lang="en-US" sz="4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288" y="1738074"/>
            <a:ext cx="12681704" cy="475869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04540" y="2950198"/>
            <a:ext cx="655052" cy="6550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20929" y="5138892"/>
            <a:ext cx="1912753" cy="77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Adam Optimizer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6434" y="2951426"/>
            <a:ext cx="655052" cy="65505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77799" y="5138892"/>
            <a:ext cx="2767374" cy="77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BCEWithLogitsLoss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8943" y="2951426"/>
            <a:ext cx="655052" cy="6550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2845" y="5332337"/>
            <a:ext cx="1912753" cy="38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Logit</a:t>
            </a:r>
            <a:endParaRPr lang="en-US" sz="2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1452" y="2951426"/>
            <a:ext cx="655052" cy="65505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15354" y="5332337"/>
            <a:ext cx="1912753" cy="38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Layer</a:t>
            </a:r>
            <a:endParaRPr lang="en-US" sz="2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0859" y="2951426"/>
            <a:ext cx="655053" cy="65505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65458" y="5138892"/>
            <a:ext cx="1912753" cy="77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Features</a:t>
            </a:r>
            <a:endParaRPr lang="en-US" sz="2400" dirty="0"/>
          </a:p>
        </p:txBody>
      </p:sp>
      <p:sp>
        <p:nvSpPr>
          <p:cNvPr id="14" name="Shape 6"/>
          <p:cNvSpPr/>
          <p:nvPr/>
        </p:nvSpPr>
        <p:spPr>
          <a:xfrm>
            <a:off x="764500" y="6733342"/>
            <a:ext cx="13101399" cy="906304"/>
          </a:xfrm>
          <a:prstGeom prst="roundRect">
            <a:avLst>
              <a:gd name="adj" fmla="val 3615"/>
            </a:avLst>
          </a:prstGeom>
          <a:solidFill>
            <a:srgbClr val="FFCDB3"/>
          </a:solidFill>
          <a:ln/>
        </p:spPr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861" y="7058978"/>
            <a:ext cx="273010" cy="21836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74232" y="6998137"/>
            <a:ext cx="12173307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Intuition: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model learns by adjusting weights to minimize prediction error.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147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Installing PyTorch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886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installation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06735"/>
            <a:ext cx="13042821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406735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65967" y="3633549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torch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4784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libraries: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93790" y="5096469"/>
            <a:ext cx="13042821" cy="2083559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65967" y="5323284"/>
            <a:ext cx="1249846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torch.optim as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optim</a:t>
            </a:r>
            <a:endParaRPr lang="en-US" sz="2000" dirty="0">
              <a:solidFill>
                <a:schemeClr val="accent5">
                  <a:lumMod val="75000"/>
                </a:schemeClr>
              </a:solidFill>
              <a:highlight>
                <a:srgbClr val="F2F2F2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from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skorch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 import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NeuralNetClassifier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828556"/>
            <a:ext cx="6690717" cy="71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 FNN using skorch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530962" y="1645651"/>
            <a:ext cx="13131879" cy="5688702"/>
          </a:xfrm>
          <a:prstGeom prst="roundRect">
            <a:avLst>
              <a:gd name="adj" fmla="val 72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20723" y="1750157"/>
            <a:ext cx="12588954" cy="408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model =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NeuralNetClassifier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module=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nn.Sequential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nn.Linear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input_dim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, 32),   # Hidden Layer 1 (input → 32 neurons)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nn.ReLU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(),                  # Activation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       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nn.Linear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(32, 16),       </a:t>
            </a:r>
            <a:r>
              <a:rPr lang="en-IN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# Hidden Layer 1 → Hidden Layer 2 (16 neurons)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#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 Number of neurons is a hyperparameter—chosen through experimentation, not fixed rules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       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nn.ReLU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(),                  # Activation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nn.Linear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(16, 1)          # Output Layer (for binary classification)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),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max_epochs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=300,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optimizer=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optim.Adam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criterion=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nn.BCEWithLogitsLoss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batch_size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=32,</a:t>
            </a:r>
          </a:p>
          <a:p>
            <a:pPr>
              <a:lnSpc>
                <a:spcPts val="2650"/>
              </a:lnSpc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verbose=0 )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095" y="7438859"/>
            <a:ext cx="325755" cy="3257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4533" y="7385685"/>
            <a:ext cx="3490912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→ Hidden layer (32 neurons) → ReLU → Output logits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5284" y="7358743"/>
            <a:ext cx="325755" cy="3257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05296" y="7358743"/>
            <a:ext cx="349103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BCEWithLogitsLoss</a:t>
            </a:r>
            <a:r>
              <a:rPr lang="en-US" sz="1600" dirty="0">
                <a:solidFill>
                  <a:srgbClr val="383838"/>
                </a:solidFill>
                <a:latin typeface="DM Sans" pitchFamily="2" charset="0"/>
                <a:ea typeface="DM Sans" pitchFamily="34" charset="-122"/>
                <a:cs typeface="DM Sans" pitchFamily="34" charset="-120"/>
              </a:rPr>
              <a:t> applies sigmoid internally</a:t>
            </a:r>
            <a:endParaRPr lang="en-US" sz="1600" dirty="0">
              <a:latin typeface="DM Sans" pitchFamily="2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0424" y="7319857"/>
            <a:ext cx="325755" cy="3257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11779" y="7305570"/>
            <a:ext cx="3711581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skorch provides sklearn-like simplicity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245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the Model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30341"/>
            <a:ext cx="13042821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2730341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65967" y="2957155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model.fit(X_train_t, y_train_t)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020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handles the full training loop: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3790" y="4420076"/>
            <a:ext cx="13042821" cy="1651397"/>
          </a:xfrm>
          <a:prstGeom prst="roundRect">
            <a:avLst>
              <a:gd name="adj" fmla="val 2060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420076"/>
            <a:ext cx="6521410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1020604" y="46468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Forward Pass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315200" y="4420076"/>
            <a:ext cx="6521410" cy="82569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4420076"/>
            <a:ext cx="30480" cy="825698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7542014" y="46468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Loss Computation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93790" y="5245775"/>
            <a:ext cx="6521410" cy="82569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93790" y="5245775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20604" y="54725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Backpropagation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315200" y="5245775"/>
            <a:ext cx="6521410" cy="82569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5245775"/>
            <a:ext cx="30480" cy="825698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5245775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7542014" y="54725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 Updates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93790" y="6326624"/>
            <a:ext cx="130428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manual training loop required — works like </a:t>
            </a:r>
            <a:r>
              <a:rPr lang="en-US" sz="20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sklearn.fit()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216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Making Predictions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300055"/>
            <a:ext cx="1304282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3300055"/>
            <a:ext cx="13065443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65967" y="3526869"/>
            <a:ext cx="1249846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y_pred_prob = model.predict_proba(X_test_t)[:, 1]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predicted_class = (y_pred_prob &gt; 0.5).astype(int)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961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predict_proba()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55603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 probability — likelihood of belonging to class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99521" y="4961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Threshold (0.5)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99521" y="55603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Converts probabilities to final class predictions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9966"/>
            <a:ext cx="5558790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TensorFlow Works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17238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conceptual overview of the core TensorFlow workflow — from model definition to evaluation — optimized across CPU, GPU, and TPU backends.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939" y="2544485"/>
            <a:ext cx="9128403" cy="417778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3513" y="3587565"/>
            <a:ext cx="586916" cy="5869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40607" y="5721923"/>
            <a:ext cx="1713795" cy="34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Evaluate</a:t>
            </a:r>
            <a:endParaRPr lang="en-US" sz="2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4849" y="3588666"/>
            <a:ext cx="586916" cy="5869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80755" y="5721923"/>
            <a:ext cx="1713795" cy="34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(.fit)</a:t>
            </a:r>
            <a:endParaRPr lang="en-US" sz="2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6736" y="3588666"/>
            <a:ext cx="586916" cy="58691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32642" y="5548599"/>
            <a:ext cx="1713795" cy="69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Compile Model</a:t>
            </a:r>
            <a:endParaRPr lang="en-US" sz="2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884" y="3588666"/>
            <a:ext cx="586917" cy="58691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237575" y="5721923"/>
            <a:ext cx="1713795" cy="34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Define Model</a:t>
            </a:r>
            <a:endParaRPr lang="en-US" sz="2150" dirty="0"/>
          </a:p>
        </p:txBody>
      </p:sp>
      <p:sp>
        <p:nvSpPr>
          <p:cNvPr id="13" name="Text 6"/>
          <p:cNvSpPr/>
          <p:nvPr/>
        </p:nvSpPr>
        <p:spPr>
          <a:xfrm>
            <a:off x="793790" y="6928961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 the hood, TensorFlow executes optimized tensor operations that scale seamlessly across hardware accelerators — making the same code run efficiently on a laptop CPU or a cloud TPU cluster.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673775"/>
            <a:ext cx="6243757" cy="680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TensorFlow FNN Example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4143" y="1733669"/>
            <a:ext cx="1310211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minimal feedforward neural network (FNN) using the Keras Sequential API — ideal for binary classification tasks.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4143" y="2454235"/>
            <a:ext cx="272236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Define the Model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4143" y="3007876"/>
            <a:ext cx="6298049" cy="2955131"/>
          </a:xfrm>
          <a:prstGeom prst="roundRect">
            <a:avLst>
              <a:gd name="adj" fmla="val 105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53785" y="2794516"/>
            <a:ext cx="6699728" cy="5266035"/>
          </a:xfrm>
          <a:prstGeom prst="roundRect">
            <a:avLst>
              <a:gd name="adj" fmla="val 105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00244" y="2844641"/>
            <a:ext cx="63187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650"/>
              </a:lnSpc>
              <a:buNone/>
            </a:pPr>
            <a:r>
              <a:rPr lang="en-US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from tensorflow.keras.models import Sequential</a:t>
            </a:r>
          </a:p>
          <a:p>
            <a:pPr indent="0">
              <a:lnSpc>
                <a:spcPts val="2650"/>
              </a:lnSpc>
              <a:buNone/>
            </a:pPr>
            <a:r>
              <a:rPr lang="en-US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from tensorflow.keras.layers import Dense</a:t>
            </a:r>
          </a:p>
          <a:p>
            <a:pPr indent="0">
              <a:lnSpc>
                <a:spcPts val="2650"/>
              </a:lnSpc>
              <a:buNone/>
            </a:pP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model = Sequential([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 # First layer (Hidden Layer)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 Dense(16,                    # Number of neurons in this layer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     activation='</a:t>
            </a:r>
            <a:r>
              <a:rPr lang="en-IN" sz="15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relu</a:t>
            </a: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',     # Activation function (introduces non Linearity)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     </a:t>
            </a:r>
            <a:r>
              <a:rPr lang="en-IN" sz="15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input_shape</a:t>
            </a: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=(10,)      # Input layer expects 10 features 				(independent variables)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 ),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 # Output Layer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 Dense(1,      # Single neuron → because it's binary classification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     activation='sigmoid'   # Sigmoid outputs probability between 0                and 1</a:t>
            </a:r>
            <a:b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</a:br>
            <a:r>
              <a:rPr lang="en-IN" sz="15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    )</a:t>
            </a:r>
            <a:r>
              <a:rPr lang="en-IN" sz="1500" dirty="0">
                <a:solidFill>
                  <a:schemeClr val="accent5">
                    <a:lumMod val="75000"/>
                  </a:schemeClr>
                </a:solidFill>
              </a:rPr>
              <a:t>])</a:t>
            </a:r>
            <a:endParaRPr lang="en-US" sz="1500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75828" y="2454235"/>
            <a:ext cx="272236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Compile and Train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75828" y="3007876"/>
            <a:ext cx="6298049" cy="2320052"/>
          </a:xfrm>
          <a:prstGeom prst="roundRect">
            <a:avLst>
              <a:gd name="adj" fmla="val 1341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565469" y="3007876"/>
            <a:ext cx="6318766" cy="2320052"/>
          </a:xfrm>
          <a:prstGeom prst="roundRect">
            <a:avLst>
              <a:gd name="adj" fmla="val 134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824668" y="3215283"/>
            <a:ext cx="5800368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model.compile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(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    optimizer='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adam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',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    loss='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binary_crossentropy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'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)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  <a:latin typeface="DM Sans" pitchFamily="2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DM Sans" pitchFamily="2" charset="0"/>
              </a:rPr>
              <a:t>model.fit(X, y, epochs=100)</a:t>
            </a:r>
          </a:p>
        </p:txBody>
      </p:sp>
      <p:sp>
        <p:nvSpPr>
          <p:cNvPr id="12" name="Shape 10"/>
          <p:cNvSpPr/>
          <p:nvPr/>
        </p:nvSpPr>
        <p:spPr>
          <a:xfrm>
            <a:off x="7575828" y="5541288"/>
            <a:ext cx="6298049" cy="1801177"/>
          </a:xfrm>
          <a:prstGeom prst="roundRect">
            <a:avLst>
              <a:gd name="adj" fmla="val 1727"/>
            </a:avLst>
          </a:prstGeom>
          <a:solidFill>
            <a:srgbClr val="FFCDB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235" y="5847517"/>
            <a:ext cx="259199" cy="20740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49841" y="5782747"/>
            <a:ext cx="5416629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2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adam</a:t>
            </a:r>
            <a:r>
              <a:rPr lang="en-US" sz="1600" dirty="0">
                <a:solidFill>
                  <a:srgbClr val="000000"/>
                </a:solidFill>
                <a:latin typeface="DM Sans" pitchFamily="2" charset="0"/>
                <a:ea typeface="DM Sans" pitchFamily="34" charset="-122"/>
                <a:cs typeface="DM Sans" pitchFamily="34" charset="-120"/>
              </a:rPr>
              <a:t> optimizer and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binary_crossentropy</a:t>
            </a:r>
            <a:r>
              <a:rPr lang="en-US" sz="1600" dirty="0">
                <a:solidFill>
                  <a:srgbClr val="000000"/>
                </a:solidFill>
                <a:latin typeface="DM Sans" pitchFamily="2" charset="0"/>
                <a:ea typeface="DM Sans" pitchFamily="34" charset="-122"/>
                <a:cs typeface="DM Sans" pitchFamily="34" charset="-120"/>
              </a:rPr>
              <a:t> loss are standard defaults for binary classification. Adjust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epochs</a:t>
            </a:r>
            <a:r>
              <a:rPr lang="en-US" sz="1600" dirty="0">
                <a:solidFill>
                  <a:srgbClr val="000000"/>
                </a:solidFill>
                <a:latin typeface="DM Sans" pitchFamily="2" charset="0"/>
                <a:ea typeface="DM Sans" pitchFamily="34" charset="-122"/>
                <a:cs typeface="DM Sans" pitchFamily="34" charset="-120"/>
              </a:rPr>
              <a:t> based on dataset size and convergence behavior.</a:t>
            </a:r>
            <a:endParaRPr lang="en-US" sz="1600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7218"/>
            <a:ext cx="607814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 vs TensorFlow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55106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6272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90643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906435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99997" y="2906435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41304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55675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Ease of Learning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55675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Easy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99997" y="355675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0633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20707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Debugging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420707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99997" y="420707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Slightly Complex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71368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85739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485739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99997" y="485739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Strong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36400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50771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Usage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550771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Popular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499997" y="550771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Popular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60143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343" y="615803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Computation Graph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40379" y="615803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499997" y="615803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+ Dynamic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205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359944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359944"/>
            <a:ext cx="121920" cy="124039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61723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FNN is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deep learning models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16962" y="3359944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6482" y="3359944"/>
            <a:ext cx="121920" cy="124039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5565696" y="361723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flows only in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forward direction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640133" y="3359944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9653" y="3359944"/>
            <a:ext cx="121920" cy="124039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9988868" y="361723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uses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backpropagation + gradient descent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93790" y="4827151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4827151"/>
            <a:ext cx="121920" cy="124039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08444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preferred for research &amp; experimentation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16962" y="4827151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6482" y="4827151"/>
            <a:ext cx="121920" cy="124039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5565696" y="508444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widely used for large-scale deployment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1066</Words>
  <Application>Microsoft Office PowerPoint</Application>
  <PresentationFormat>Custom</PresentationFormat>
  <Paragraphs>196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PT Serif</vt:lpstr>
      <vt:lpstr>Arial</vt:lpstr>
      <vt:lpstr>Consolas</vt:lpstr>
      <vt:lpstr>PT Serif Light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Fimran Sanghvi</cp:lastModifiedBy>
  <cp:revision>43</cp:revision>
  <dcterms:created xsi:type="dcterms:W3CDTF">2026-03-23T07:10:07Z</dcterms:created>
  <dcterms:modified xsi:type="dcterms:W3CDTF">2026-04-06T06:48:28Z</dcterms:modified>
</cp:coreProperties>
</file>