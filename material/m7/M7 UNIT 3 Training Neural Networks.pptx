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1"/>
  </p:notesMasterIdLst>
  <p:sldIdLst>
    <p:sldId id="256" r:id="rId2"/>
    <p:sldId id="276" r:id="rId3"/>
    <p:sldId id="257" r:id="rId4"/>
    <p:sldId id="258" r:id="rId5"/>
    <p:sldId id="259" r:id="rId6"/>
    <p:sldId id="260" r:id="rId7"/>
    <p:sldId id="261" r:id="rId8"/>
    <p:sldId id="262" r:id="rId9"/>
    <p:sldId id="263" r:id="rId10"/>
    <p:sldId id="264" r:id="rId11"/>
    <p:sldId id="265" r:id="rId12"/>
    <p:sldId id="266" r:id="rId13"/>
    <p:sldId id="267" r:id="rId14"/>
    <p:sldId id="277" r:id="rId15"/>
    <p:sldId id="268" r:id="rId16"/>
    <p:sldId id="269" r:id="rId17"/>
    <p:sldId id="270" r:id="rId18"/>
    <p:sldId id="271" r:id="rId19"/>
    <p:sldId id="272" r:id="rId20"/>
  </p:sldIdLst>
  <p:sldSz cx="14630400" cy="8229600"/>
  <p:notesSz cx="8229600" cy="14630400"/>
  <p:embeddedFontLst>
    <p:embeddedFont>
      <p:font typeface="DM Sans" pitchFamily="2" charset="0"/>
      <p:regular r:id="rId22"/>
      <p:bold r:id="rId23"/>
      <p:italic r:id="rId24"/>
      <p:boldItalic r:id="rId25"/>
    </p:embeddedFont>
    <p:embeddedFont>
      <p:font typeface="PT Serif" panose="020A0603040505020204" pitchFamily="18" charset="0"/>
      <p:regular r:id="rId26"/>
      <p:bold r:id="rId27"/>
      <p: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610"/>
  </p:normalViewPr>
  <p:slideViewPr>
    <p:cSldViewPr snapToGrid="0" snapToObjects="1">
      <p:cViewPr varScale="1">
        <p:scale>
          <a:sx n="62" d="100"/>
          <a:sy n="62" d="100"/>
        </p:scale>
        <p:origin x="327"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0598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841774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1819519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3209687"/>
            <a:ext cx="6838355"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Training Neural Networks</a:t>
            </a:r>
            <a:endParaRPr lang="en-US" sz="4650" dirty="0"/>
          </a:p>
        </p:txBody>
      </p:sp>
      <p:sp>
        <p:nvSpPr>
          <p:cNvPr id="4" name="Text 1"/>
          <p:cNvSpPr/>
          <p:nvPr/>
        </p:nvSpPr>
        <p:spPr>
          <a:xfrm>
            <a:off x="6280190" y="4294108"/>
            <a:ext cx="7556421" cy="725805"/>
          </a:xfrm>
          <a:prstGeom prst="rect">
            <a:avLst/>
          </a:prstGeom>
          <a:noFill/>
          <a:ln/>
        </p:spPr>
        <p:txBody>
          <a:bodyPr wrap="squar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A deep dive into how neural networks learn — from architecture and loss functions to backpropagation and optimization.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001435"/>
            <a:ext cx="5954197"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Contents</a:t>
            </a:r>
            <a:endParaRPr lang="en-US" sz="4650" dirty="0"/>
          </a:p>
        </p:txBody>
      </p:sp>
      <p:sp>
        <p:nvSpPr>
          <p:cNvPr id="3" name="Text 1"/>
          <p:cNvSpPr/>
          <p:nvPr/>
        </p:nvSpPr>
        <p:spPr>
          <a:xfrm>
            <a:off x="793790" y="219932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01</a:t>
            </a:r>
            <a:endParaRPr lang="en-US" sz="1750" dirty="0"/>
          </a:p>
        </p:txBody>
      </p:sp>
      <p:sp>
        <p:nvSpPr>
          <p:cNvPr id="4" name="Shape 2"/>
          <p:cNvSpPr/>
          <p:nvPr/>
        </p:nvSpPr>
        <p:spPr>
          <a:xfrm>
            <a:off x="793790" y="2554367"/>
            <a:ext cx="6407944" cy="30480"/>
          </a:xfrm>
          <a:prstGeom prst="rect">
            <a:avLst/>
          </a:prstGeom>
          <a:solidFill>
            <a:srgbClr val="E04F00"/>
          </a:solidFill>
          <a:ln/>
        </p:spPr>
      </p:sp>
      <p:sp>
        <p:nvSpPr>
          <p:cNvPr id="5" name="Text 3"/>
          <p:cNvSpPr/>
          <p:nvPr/>
        </p:nvSpPr>
        <p:spPr>
          <a:xfrm>
            <a:off x="793790" y="2728674"/>
            <a:ext cx="2977039" cy="372070"/>
          </a:xfrm>
          <a:prstGeom prst="rect">
            <a:avLst/>
          </a:prstGeom>
          <a:noFill/>
          <a:ln/>
        </p:spPr>
        <p:txBody>
          <a:bodyPr wrap="none" lIns="0" tIns="0" rIns="0" bIns="0" rtlCol="0" anchor="t"/>
          <a:lstStyle/>
          <a:p>
            <a:pPr>
              <a:lnSpc>
                <a:spcPts val="2900"/>
              </a:lnSpc>
            </a:pPr>
            <a:r>
              <a:rPr lang="en-US" sz="2300" dirty="0">
                <a:solidFill>
                  <a:srgbClr val="383838"/>
                </a:solidFill>
                <a:latin typeface="PT Serif" pitchFamily="34" charset="0"/>
                <a:ea typeface="PT Serif" pitchFamily="34" charset="-122"/>
                <a:cs typeface="PT Serif" pitchFamily="34" charset="-120"/>
              </a:rPr>
              <a:t>Neural Networks-Recap</a:t>
            </a:r>
            <a:endParaRPr lang="en-US" sz="2300" dirty="0"/>
          </a:p>
        </p:txBody>
      </p:sp>
      <p:sp>
        <p:nvSpPr>
          <p:cNvPr id="6" name="Text 4"/>
          <p:cNvSpPr/>
          <p:nvPr/>
        </p:nvSpPr>
        <p:spPr>
          <a:xfrm>
            <a:off x="7428548" y="219932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02</a:t>
            </a:r>
            <a:endParaRPr lang="en-US" sz="1750" dirty="0"/>
          </a:p>
        </p:txBody>
      </p:sp>
      <p:sp>
        <p:nvSpPr>
          <p:cNvPr id="7" name="Shape 5"/>
          <p:cNvSpPr/>
          <p:nvPr/>
        </p:nvSpPr>
        <p:spPr>
          <a:xfrm>
            <a:off x="7428548" y="2554367"/>
            <a:ext cx="6408063" cy="30480"/>
          </a:xfrm>
          <a:prstGeom prst="rect">
            <a:avLst/>
          </a:prstGeom>
          <a:solidFill>
            <a:srgbClr val="E04F00"/>
          </a:solidFill>
          <a:ln/>
        </p:spPr>
      </p:sp>
      <p:sp>
        <p:nvSpPr>
          <p:cNvPr id="10" name="Text 8"/>
          <p:cNvSpPr/>
          <p:nvPr/>
        </p:nvSpPr>
        <p:spPr>
          <a:xfrm>
            <a:off x="793790" y="399657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03</a:t>
            </a:r>
            <a:endParaRPr lang="en-US" sz="1750" dirty="0"/>
          </a:p>
        </p:txBody>
      </p:sp>
      <p:sp>
        <p:nvSpPr>
          <p:cNvPr id="11" name="Shape 9"/>
          <p:cNvSpPr/>
          <p:nvPr/>
        </p:nvSpPr>
        <p:spPr>
          <a:xfrm>
            <a:off x="793790" y="4351615"/>
            <a:ext cx="6407944" cy="30480"/>
          </a:xfrm>
          <a:prstGeom prst="rect">
            <a:avLst/>
          </a:prstGeom>
          <a:solidFill>
            <a:srgbClr val="E04F00"/>
          </a:solidFill>
          <a:ln/>
        </p:spPr>
      </p:sp>
      <p:sp>
        <p:nvSpPr>
          <p:cNvPr id="12" name="Text 10"/>
          <p:cNvSpPr/>
          <p:nvPr/>
        </p:nvSpPr>
        <p:spPr>
          <a:xfrm>
            <a:off x="793790" y="4525923"/>
            <a:ext cx="4571405"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 Input, Hidden, Output Layers</a:t>
            </a:r>
            <a:endParaRPr lang="en-US" sz="2300" dirty="0"/>
          </a:p>
        </p:txBody>
      </p:sp>
      <p:sp>
        <p:nvSpPr>
          <p:cNvPr id="13" name="Text 11"/>
          <p:cNvSpPr/>
          <p:nvPr/>
        </p:nvSpPr>
        <p:spPr>
          <a:xfrm>
            <a:off x="7428548" y="399657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04</a:t>
            </a:r>
            <a:endParaRPr lang="en-US" sz="1750" dirty="0"/>
          </a:p>
        </p:txBody>
      </p:sp>
      <p:sp>
        <p:nvSpPr>
          <p:cNvPr id="14" name="Shape 12"/>
          <p:cNvSpPr/>
          <p:nvPr/>
        </p:nvSpPr>
        <p:spPr>
          <a:xfrm>
            <a:off x="7428548" y="4351615"/>
            <a:ext cx="6408063" cy="30480"/>
          </a:xfrm>
          <a:prstGeom prst="rect">
            <a:avLst/>
          </a:prstGeom>
          <a:solidFill>
            <a:srgbClr val="E04F00"/>
          </a:solidFill>
          <a:ln/>
        </p:spPr>
      </p:sp>
      <p:sp>
        <p:nvSpPr>
          <p:cNvPr id="15" name="Text 13"/>
          <p:cNvSpPr/>
          <p:nvPr/>
        </p:nvSpPr>
        <p:spPr>
          <a:xfrm>
            <a:off x="7428548" y="4525923"/>
            <a:ext cx="5699998"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Loss Function</a:t>
            </a:r>
            <a:endParaRPr lang="en-US" sz="2300" dirty="0"/>
          </a:p>
        </p:txBody>
      </p:sp>
      <p:sp>
        <p:nvSpPr>
          <p:cNvPr id="16" name="Text 14"/>
          <p:cNvSpPr/>
          <p:nvPr/>
        </p:nvSpPr>
        <p:spPr>
          <a:xfrm>
            <a:off x="793790" y="529482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05</a:t>
            </a:r>
            <a:endParaRPr lang="en-US" sz="1750" dirty="0"/>
          </a:p>
        </p:txBody>
      </p:sp>
      <p:sp>
        <p:nvSpPr>
          <p:cNvPr id="17" name="Shape 15"/>
          <p:cNvSpPr/>
          <p:nvPr/>
        </p:nvSpPr>
        <p:spPr>
          <a:xfrm>
            <a:off x="793790" y="5649873"/>
            <a:ext cx="6407944" cy="30480"/>
          </a:xfrm>
          <a:prstGeom prst="rect">
            <a:avLst/>
          </a:prstGeom>
          <a:solidFill>
            <a:srgbClr val="E04F00"/>
          </a:solidFill>
          <a:ln/>
        </p:spPr>
      </p:sp>
      <p:sp>
        <p:nvSpPr>
          <p:cNvPr id="18" name="Text 16"/>
          <p:cNvSpPr/>
          <p:nvPr/>
        </p:nvSpPr>
        <p:spPr>
          <a:xfrm>
            <a:off x="793790" y="5824180"/>
            <a:ext cx="5879663"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Backpropagation Method</a:t>
            </a:r>
            <a:endParaRPr lang="en-US" sz="2300" dirty="0"/>
          </a:p>
        </p:txBody>
      </p:sp>
      <p:sp>
        <p:nvSpPr>
          <p:cNvPr id="19" name="Text 17"/>
          <p:cNvSpPr/>
          <p:nvPr/>
        </p:nvSpPr>
        <p:spPr>
          <a:xfrm>
            <a:off x="7428548" y="529482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06</a:t>
            </a:r>
            <a:endParaRPr lang="en-US" sz="1750" dirty="0"/>
          </a:p>
        </p:txBody>
      </p:sp>
      <p:sp>
        <p:nvSpPr>
          <p:cNvPr id="20" name="Shape 18"/>
          <p:cNvSpPr/>
          <p:nvPr/>
        </p:nvSpPr>
        <p:spPr>
          <a:xfrm>
            <a:off x="7428548" y="5649873"/>
            <a:ext cx="6408063" cy="30480"/>
          </a:xfrm>
          <a:prstGeom prst="rect">
            <a:avLst/>
          </a:prstGeom>
          <a:solidFill>
            <a:srgbClr val="E04F00"/>
          </a:solidFill>
          <a:ln/>
        </p:spPr>
      </p:sp>
      <p:sp>
        <p:nvSpPr>
          <p:cNvPr id="21" name="Text 19"/>
          <p:cNvSpPr/>
          <p:nvPr/>
        </p:nvSpPr>
        <p:spPr>
          <a:xfrm>
            <a:off x="7428548" y="5824180"/>
            <a:ext cx="4252198"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FNN , CNN and RNN</a:t>
            </a:r>
            <a:endParaRPr lang="en-US" sz="2300" dirty="0"/>
          </a:p>
        </p:txBody>
      </p:sp>
      <p:sp>
        <p:nvSpPr>
          <p:cNvPr id="24" name="Text 3">
            <a:extLst>
              <a:ext uri="{FF2B5EF4-FFF2-40B4-BE49-F238E27FC236}">
                <a16:creationId xmlns:a16="http://schemas.microsoft.com/office/drawing/2014/main" id="{F9B1597F-6088-ED47-BCF3-2426CD5CD6E2}"/>
              </a:ext>
            </a:extLst>
          </p:cNvPr>
          <p:cNvSpPr/>
          <p:nvPr/>
        </p:nvSpPr>
        <p:spPr>
          <a:xfrm>
            <a:off x="7428548" y="2793206"/>
            <a:ext cx="2977039" cy="372070"/>
          </a:xfrm>
          <a:prstGeom prst="rect">
            <a:avLst/>
          </a:prstGeom>
          <a:noFill/>
          <a:ln/>
        </p:spPr>
        <p:txBody>
          <a:bodyPr wrap="none" lIns="0" tIns="0" rIns="0" bIns="0" rtlCol="0" anchor="t"/>
          <a:lstStyle/>
          <a:p>
            <a:pPr>
              <a:lnSpc>
                <a:spcPts val="2900"/>
              </a:lnSpc>
            </a:pPr>
            <a:r>
              <a:rPr lang="en-US" sz="2300" dirty="0">
                <a:solidFill>
                  <a:srgbClr val="383838"/>
                </a:solidFill>
                <a:latin typeface="PT Serif" pitchFamily="34" charset="0"/>
                <a:ea typeface="PT Serif" pitchFamily="34" charset="-122"/>
                <a:cs typeface="PT Serif" pitchFamily="34" charset="-120"/>
              </a:rPr>
              <a:t>Training Neural Networks-Components</a:t>
            </a:r>
            <a:endParaRPr lang="en-US" sz="2300" dirty="0"/>
          </a:p>
        </p:txBody>
      </p:sp>
    </p:spTree>
    <p:extLst>
      <p:ext uri="{BB962C8B-B14F-4D97-AF65-F5344CB8AC3E}">
        <p14:creationId xmlns:p14="http://schemas.microsoft.com/office/powerpoint/2010/main" val="2987786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39045" y="790309"/>
            <a:ext cx="10569773"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Introduction to Neural Networks: Recap</a:t>
            </a:r>
            <a:endParaRPr lang="en-US" sz="4650" dirty="0"/>
          </a:p>
        </p:txBody>
      </p:sp>
      <p:sp>
        <p:nvSpPr>
          <p:cNvPr id="3" name="Text 1"/>
          <p:cNvSpPr/>
          <p:nvPr/>
        </p:nvSpPr>
        <p:spPr>
          <a:xfrm>
            <a:off x="639045" y="2130966"/>
            <a:ext cx="13042821" cy="725805"/>
          </a:xfrm>
          <a:prstGeom prst="rect">
            <a:avLst/>
          </a:prstGeom>
          <a:noFill/>
          <a:ln/>
        </p:spPr>
        <p:txBody>
          <a:bodyPr wrap="squar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A Neural Network (NN) is a computational model inspired by the biological brain. It consists of interconnected processing units called </a:t>
            </a:r>
            <a:r>
              <a:rPr lang="en-US" sz="2000" b="1" dirty="0">
                <a:solidFill>
                  <a:srgbClr val="383838"/>
                </a:solidFill>
                <a:latin typeface="DM Sans" pitchFamily="34" charset="0"/>
                <a:ea typeface="DM Sans" pitchFamily="34" charset="-122"/>
                <a:cs typeface="DM Sans" pitchFamily="34" charset="-120"/>
              </a:rPr>
              <a:t>neurons</a:t>
            </a:r>
            <a:r>
              <a:rPr lang="en-US" sz="2000" dirty="0">
                <a:solidFill>
                  <a:srgbClr val="383838"/>
                </a:solidFill>
                <a:latin typeface="DM Sans" pitchFamily="34" charset="0"/>
                <a:ea typeface="DM Sans" pitchFamily="34" charset="-122"/>
                <a:cs typeface="DM Sans" pitchFamily="34" charset="-120"/>
              </a:rPr>
              <a:t> arranged in layers.</a:t>
            </a:r>
            <a:endParaRPr lang="en-US" sz="2000" dirty="0"/>
          </a:p>
        </p:txBody>
      </p:sp>
      <p:sp>
        <p:nvSpPr>
          <p:cNvPr id="4" name="Shape 2"/>
          <p:cNvSpPr/>
          <p:nvPr/>
        </p:nvSpPr>
        <p:spPr>
          <a:xfrm>
            <a:off x="793790" y="4178975"/>
            <a:ext cx="4196358" cy="2050494"/>
          </a:xfrm>
          <a:prstGeom prst="roundRect">
            <a:avLst>
              <a:gd name="adj" fmla="val 1659"/>
            </a:avLst>
          </a:prstGeom>
          <a:solidFill>
            <a:srgbClr val="F2EEEE"/>
          </a:solidFill>
          <a:ln/>
        </p:spPr>
      </p:sp>
      <p:sp>
        <p:nvSpPr>
          <p:cNvPr id="5" name="Text 3"/>
          <p:cNvSpPr/>
          <p:nvPr/>
        </p:nvSpPr>
        <p:spPr>
          <a:xfrm>
            <a:off x="1020604" y="4405789"/>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Neuron Operation</a:t>
            </a:r>
            <a:endParaRPr lang="en-US" sz="2300" dirty="0"/>
          </a:p>
        </p:txBody>
      </p:sp>
      <p:sp>
        <p:nvSpPr>
          <p:cNvPr id="6" name="Text 4"/>
          <p:cNvSpPr/>
          <p:nvPr/>
        </p:nvSpPr>
        <p:spPr>
          <a:xfrm>
            <a:off x="1020604" y="4913948"/>
            <a:ext cx="3742730" cy="1088708"/>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Receives inputs, applies weights and bias, passes result through an activation function.</a:t>
            </a:r>
            <a:endParaRPr lang="en-US" dirty="0"/>
          </a:p>
        </p:txBody>
      </p:sp>
      <p:sp>
        <p:nvSpPr>
          <p:cNvPr id="7" name="Shape 5"/>
          <p:cNvSpPr/>
          <p:nvPr/>
        </p:nvSpPr>
        <p:spPr>
          <a:xfrm>
            <a:off x="5216962" y="4178975"/>
            <a:ext cx="4196358" cy="2050494"/>
          </a:xfrm>
          <a:prstGeom prst="roundRect">
            <a:avLst>
              <a:gd name="adj" fmla="val 1659"/>
            </a:avLst>
          </a:prstGeom>
          <a:solidFill>
            <a:srgbClr val="F2EEEE"/>
          </a:solidFill>
          <a:ln/>
        </p:spPr>
      </p:sp>
      <p:sp>
        <p:nvSpPr>
          <p:cNvPr id="8" name="Text 6"/>
          <p:cNvSpPr/>
          <p:nvPr/>
        </p:nvSpPr>
        <p:spPr>
          <a:xfrm>
            <a:off x="5443776" y="4405789"/>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Nonlinear Mapping</a:t>
            </a:r>
            <a:endParaRPr lang="en-US" sz="2300" dirty="0"/>
          </a:p>
        </p:txBody>
      </p:sp>
      <p:sp>
        <p:nvSpPr>
          <p:cNvPr id="9" name="Text 7"/>
          <p:cNvSpPr/>
          <p:nvPr/>
        </p:nvSpPr>
        <p:spPr>
          <a:xfrm>
            <a:off x="5443776" y="4913948"/>
            <a:ext cx="3742730" cy="1088708"/>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Stacking neurons and layers enables learning of complex nonlinear relationships.</a:t>
            </a:r>
            <a:endParaRPr lang="en-US" dirty="0"/>
          </a:p>
        </p:txBody>
      </p:sp>
      <p:sp>
        <p:nvSpPr>
          <p:cNvPr id="10" name="Shape 8"/>
          <p:cNvSpPr/>
          <p:nvPr/>
        </p:nvSpPr>
        <p:spPr>
          <a:xfrm>
            <a:off x="9640133" y="4178975"/>
            <a:ext cx="4196358" cy="2050494"/>
          </a:xfrm>
          <a:prstGeom prst="roundRect">
            <a:avLst>
              <a:gd name="adj" fmla="val 1659"/>
            </a:avLst>
          </a:prstGeom>
          <a:solidFill>
            <a:srgbClr val="F2EEEE"/>
          </a:solidFill>
          <a:ln/>
        </p:spPr>
      </p:sp>
      <p:sp>
        <p:nvSpPr>
          <p:cNvPr id="11" name="Text 9"/>
          <p:cNvSpPr/>
          <p:nvPr/>
        </p:nvSpPr>
        <p:spPr>
          <a:xfrm>
            <a:off x="9866948" y="4405789"/>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Applications</a:t>
            </a:r>
            <a:endParaRPr lang="en-US" sz="2300" dirty="0"/>
          </a:p>
        </p:txBody>
      </p:sp>
      <p:sp>
        <p:nvSpPr>
          <p:cNvPr id="12" name="Text 10"/>
          <p:cNvSpPr/>
          <p:nvPr/>
        </p:nvSpPr>
        <p:spPr>
          <a:xfrm>
            <a:off x="9866948" y="4913948"/>
            <a:ext cx="3742730" cy="1088708"/>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Image recognition, speech processing, finance, healthcare analytics, and marketing modelling.</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3113" y="835402"/>
            <a:ext cx="11631216"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Training Neural Networks: Key Components</a:t>
            </a:r>
            <a:endParaRPr lang="en-US" sz="4650" dirty="0"/>
          </a:p>
        </p:txBody>
      </p:sp>
      <p:sp>
        <p:nvSpPr>
          <p:cNvPr id="3" name="Text 1"/>
          <p:cNvSpPr/>
          <p:nvPr/>
        </p:nvSpPr>
        <p:spPr>
          <a:xfrm>
            <a:off x="793790" y="2879765"/>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01</a:t>
            </a:r>
            <a:endParaRPr lang="en-US" sz="1750" dirty="0"/>
          </a:p>
        </p:txBody>
      </p:sp>
      <p:sp>
        <p:nvSpPr>
          <p:cNvPr id="4" name="Shape 2"/>
          <p:cNvSpPr/>
          <p:nvPr/>
        </p:nvSpPr>
        <p:spPr>
          <a:xfrm>
            <a:off x="793790" y="3234809"/>
            <a:ext cx="4196358" cy="30480"/>
          </a:xfrm>
          <a:prstGeom prst="rect">
            <a:avLst/>
          </a:prstGeom>
          <a:solidFill>
            <a:srgbClr val="E04F00"/>
          </a:solidFill>
          <a:ln/>
        </p:spPr>
      </p:sp>
      <p:sp>
        <p:nvSpPr>
          <p:cNvPr id="5" name="Text 3"/>
          <p:cNvSpPr/>
          <p:nvPr/>
        </p:nvSpPr>
        <p:spPr>
          <a:xfrm>
            <a:off x="793790" y="3409117"/>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Input Layer</a:t>
            </a:r>
            <a:endParaRPr lang="en-US" sz="2300" dirty="0"/>
          </a:p>
        </p:txBody>
      </p:sp>
      <p:sp>
        <p:nvSpPr>
          <p:cNvPr id="6" name="Text 4"/>
          <p:cNvSpPr/>
          <p:nvPr/>
        </p:nvSpPr>
        <p:spPr>
          <a:xfrm>
            <a:off x="5216962" y="2879765"/>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02</a:t>
            </a:r>
            <a:endParaRPr lang="en-US" sz="1750" dirty="0"/>
          </a:p>
        </p:txBody>
      </p:sp>
      <p:sp>
        <p:nvSpPr>
          <p:cNvPr id="7" name="Shape 5"/>
          <p:cNvSpPr/>
          <p:nvPr/>
        </p:nvSpPr>
        <p:spPr>
          <a:xfrm>
            <a:off x="5216962" y="3234809"/>
            <a:ext cx="4196358" cy="30480"/>
          </a:xfrm>
          <a:prstGeom prst="rect">
            <a:avLst/>
          </a:prstGeom>
          <a:solidFill>
            <a:srgbClr val="E04F00"/>
          </a:solidFill>
          <a:ln/>
        </p:spPr>
      </p:sp>
      <p:sp>
        <p:nvSpPr>
          <p:cNvPr id="8" name="Text 6"/>
          <p:cNvSpPr/>
          <p:nvPr/>
        </p:nvSpPr>
        <p:spPr>
          <a:xfrm>
            <a:off x="5216962" y="3409117"/>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Hidden Layer</a:t>
            </a:r>
            <a:endParaRPr lang="en-US" sz="2300" dirty="0"/>
          </a:p>
        </p:txBody>
      </p:sp>
      <p:sp>
        <p:nvSpPr>
          <p:cNvPr id="9" name="Text 7"/>
          <p:cNvSpPr/>
          <p:nvPr/>
        </p:nvSpPr>
        <p:spPr>
          <a:xfrm>
            <a:off x="9640133" y="2879765"/>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03</a:t>
            </a:r>
            <a:endParaRPr lang="en-US" sz="1750" dirty="0"/>
          </a:p>
        </p:txBody>
      </p:sp>
      <p:sp>
        <p:nvSpPr>
          <p:cNvPr id="10" name="Shape 8"/>
          <p:cNvSpPr/>
          <p:nvPr/>
        </p:nvSpPr>
        <p:spPr>
          <a:xfrm>
            <a:off x="9640133" y="3234809"/>
            <a:ext cx="4196358" cy="30480"/>
          </a:xfrm>
          <a:prstGeom prst="rect">
            <a:avLst/>
          </a:prstGeom>
          <a:solidFill>
            <a:srgbClr val="E04F00"/>
          </a:solidFill>
          <a:ln/>
        </p:spPr>
      </p:sp>
      <p:sp>
        <p:nvSpPr>
          <p:cNvPr id="11" name="Text 9"/>
          <p:cNvSpPr/>
          <p:nvPr/>
        </p:nvSpPr>
        <p:spPr>
          <a:xfrm>
            <a:off x="9640133" y="3409117"/>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Output Layer</a:t>
            </a:r>
            <a:endParaRPr lang="en-US" sz="2300" dirty="0"/>
          </a:p>
        </p:txBody>
      </p:sp>
      <p:sp>
        <p:nvSpPr>
          <p:cNvPr id="12" name="Text 10"/>
          <p:cNvSpPr/>
          <p:nvPr/>
        </p:nvSpPr>
        <p:spPr>
          <a:xfrm>
            <a:off x="793790" y="417802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04</a:t>
            </a:r>
            <a:endParaRPr lang="en-US" sz="1750" dirty="0"/>
          </a:p>
        </p:txBody>
      </p:sp>
      <p:sp>
        <p:nvSpPr>
          <p:cNvPr id="13" name="Shape 11"/>
          <p:cNvSpPr/>
          <p:nvPr/>
        </p:nvSpPr>
        <p:spPr>
          <a:xfrm>
            <a:off x="793790" y="4533067"/>
            <a:ext cx="4196358" cy="30480"/>
          </a:xfrm>
          <a:prstGeom prst="rect">
            <a:avLst/>
          </a:prstGeom>
          <a:solidFill>
            <a:srgbClr val="E04F00"/>
          </a:solidFill>
          <a:ln/>
        </p:spPr>
      </p:sp>
      <p:sp>
        <p:nvSpPr>
          <p:cNvPr id="14" name="Text 12"/>
          <p:cNvSpPr/>
          <p:nvPr/>
        </p:nvSpPr>
        <p:spPr>
          <a:xfrm>
            <a:off x="793790" y="4707374"/>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Loss Function</a:t>
            </a:r>
            <a:endParaRPr lang="en-US" sz="2300" dirty="0"/>
          </a:p>
        </p:txBody>
      </p:sp>
      <p:sp>
        <p:nvSpPr>
          <p:cNvPr id="15" name="Text 13"/>
          <p:cNvSpPr/>
          <p:nvPr/>
        </p:nvSpPr>
        <p:spPr>
          <a:xfrm>
            <a:off x="5216962" y="417802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05</a:t>
            </a:r>
            <a:endParaRPr lang="en-US" sz="1750" dirty="0"/>
          </a:p>
        </p:txBody>
      </p:sp>
      <p:sp>
        <p:nvSpPr>
          <p:cNvPr id="16" name="Shape 14"/>
          <p:cNvSpPr/>
          <p:nvPr/>
        </p:nvSpPr>
        <p:spPr>
          <a:xfrm>
            <a:off x="5216962" y="4533067"/>
            <a:ext cx="4196358" cy="30480"/>
          </a:xfrm>
          <a:prstGeom prst="rect">
            <a:avLst/>
          </a:prstGeom>
          <a:solidFill>
            <a:srgbClr val="E04F00"/>
          </a:solidFill>
          <a:ln/>
        </p:spPr>
      </p:sp>
      <p:sp>
        <p:nvSpPr>
          <p:cNvPr id="17" name="Text 15"/>
          <p:cNvSpPr/>
          <p:nvPr/>
        </p:nvSpPr>
        <p:spPr>
          <a:xfrm>
            <a:off x="5216962" y="4707374"/>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Gradient Descent Method</a:t>
            </a:r>
          </a:p>
          <a:p>
            <a:pPr marL="0" indent="0" algn="l">
              <a:lnSpc>
                <a:spcPts val="2900"/>
              </a:lnSpc>
              <a:buNone/>
            </a:pPr>
            <a:r>
              <a:rPr lang="en-US" sz="2300" dirty="0">
                <a:solidFill>
                  <a:srgbClr val="383838"/>
                </a:solidFill>
                <a:latin typeface="PT Serif" pitchFamily="34" charset="0"/>
              </a:rPr>
              <a:t>Backpropagation (Optimization</a:t>
            </a:r>
          </a:p>
          <a:p>
            <a:pPr marL="0" indent="0" algn="l">
              <a:lnSpc>
                <a:spcPts val="2900"/>
              </a:lnSpc>
              <a:buNone/>
            </a:pPr>
            <a:r>
              <a:rPr lang="en-US" sz="2300" dirty="0">
                <a:solidFill>
                  <a:srgbClr val="383838"/>
                </a:solidFill>
                <a:latin typeface="PT Serif" pitchFamily="34" charset="0"/>
              </a:rPr>
              <a:t>And Learning Methods)</a:t>
            </a:r>
            <a:endParaRPr lang="en-US" sz="2300" dirty="0"/>
          </a:p>
        </p:txBody>
      </p:sp>
      <p:sp>
        <p:nvSpPr>
          <p:cNvPr id="18" name="Text 16"/>
          <p:cNvSpPr/>
          <p:nvPr/>
        </p:nvSpPr>
        <p:spPr>
          <a:xfrm>
            <a:off x="9640133" y="417802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06</a:t>
            </a:r>
            <a:endParaRPr lang="en-US" sz="1750" dirty="0"/>
          </a:p>
        </p:txBody>
      </p:sp>
      <p:sp>
        <p:nvSpPr>
          <p:cNvPr id="19" name="Shape 17"/>
          <p:cNvSpPr/>
          <p:nvPr/>
        </p:nvSpPr>
        <p:spPr>
          <a:xfrm>
            <a:off x="9640133" y="4533067"/>
            <a:ext cx="4196358" cy="30480"/>
          </a:xfrm>
          <a:prstGeom prst="rect">
            <a:avLst/>
          </a:prstGeom>
          <a:solidFill>
            <a:srgbClr val="E04F00"/>
          </a:solidFill>
          <a:ln/>
        </p:spPr>
      </p:sp>
      <p:sp>
        <p:nvSpPr>
          <p:cNvPr id="20" name="Text 18"/>
          <p:cNvSpPr/>
          <p:nvPr/>
        </p:nvSpPr>
        <p:spPr>
          <a:xfrm>
            <a:off x="9640133" y="4707374"/>
            <a:ext cx="2977039" cy="372070"/>
          </a:xfrm>
          <a:prstGeom prst="rect">
            <a:avLst/>
          </a:prstGeom>
          <a:noFill/>
          <a:ln/>
        </p:spPr>
        <p:txBody>
          <a:bodyPr wrap="none" lIns="0" tIns="0" rIns="0" bIns="0" rtlCol="0" anchor="t"/>
          <a:lstStyle/>
          <a:p>
            <a:pPr>
              <a:lnSpc>
                <a:spcPts val="2900"/>
              </a:lnSpc>
            </a:pPr>
            <a:r>
              <a:rPr lang="en-US" sz="2300" dirty="0">
                <a:solidFill>
                  <a:srgbClr val="383838"/>
                </a:solidFill>
                <a:latin typeface="PT Serif" pitchFamily="34" charset="0"/>
                <a:ea typeface="PT Serif" pitchFamily="34" charset="-122"/>
                <a:cs typeface="PT Serif" pitchFamily="34" charset="-120"/>
              </a:rPr>
              <a:t>Activation Function</a:t>
            </a:r>
            <a:endParaRPr lang="en-US" sz="2300" dirty="0"/>
          </a:p>
        </p:txBody>
      </p:sp>
      <p:sp>
        <p:nvSpPr>
          <p:cNvPr id="23" name="Text 21"/>
          <p:cNvSpPr/>
          <p:nvPr/>
        </p:nvSpPr>
        <p:spPr>
          <a:xfrm>
            <a:off x="793790" y="6005632"/>
            <a:ext cx="2977039" cy="372070"/>
          </a:xfrm>
          <a:prstGeom prst="rect">
            <a:avLst/>
          </a:prstGeom>
          <a:noFill/>
          <a:ln/>
        </p:spPr>
        <p:txBody>
          <a:bodyPr wrap="none" lIns="0" tIns="0" rIns="0" bIns="0" rtlCol="0" anchor="t"/>
          <a:lstStyle/>
          <a:p>
            <a:pPr marL="0" indent="0" algn="l">
              <a:lnSpc>
                <a:spcPts val="2900"/>
              </a:lnSpc>
              <a:buNone/>
            </a:pPr>
            <a:endParaRPr lang="en-US" sz="2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1878" y="579166"/>
            <a:ext cx="5954197"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Network Architecture</a:t>
            </a:r>
            <a:endParaRPr lang="en-US" sz="4650" dirty="0"/>
          </a:p>
        </p:txBody>
      </p:sp>
      <p:sp>
        <p:nvSpPr>
          <p:cNvPr id="3" name="Shape 1"/>
          <p:cNvSpPr/>
          <p:nvPr/>
        </p:nvSpPr>
        <p:spPr>
          <a:xfrm>
            <a:off x="691878" y="1751662"/>
            <a:ext cx="4196358" cy="3200162"/>
          </a:xfrm>
          <a:prstGeom prst="roundRect">
            <a:avLst>
              <a:gd name="adj" fmla="val 1063"/>
            </a:avLst>
          </a:prstGeom>
          <a:solidFill>
            <a:srgbClr val="FFFFFF"/>
          </a:solidFill>
          <a:ln w="30480">
            <a:solidFill>
              <a:srgbClr val="D8D4D4"/>
            </a:solidFill>
            <a:prstDash val="solid"/>
          </a:ln>
        </p:spPr>
      </p:sp>
      <p:sp>
        <p:nvSpPr>
          <p:cNvPr id="4" name="Text 2"/>
          <p:cNvSpPr/>
          <p:nvPr/>
        </p:nvSpPr>
        <p:spPr>
          <a:xfrm>
            <a:off x="952610" y="1957726"/>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Input Layer</a:t>
            </a:r>
            <a:endParaRPr lang="en-US" sz="2300" dirty="0"/>
          </a:p>
        </p:txBody>
      </p:sp>
      <p:sp>
        <p:nvSpPr>
          <p:cNvPr id="5" name="Text 3"/>
          <p:cNvSpPr/>
          <p:nvPr/>
        </p:nvSpPr>
        <p:spPr>
          <a:xfrm>
            <a:off x="949172" y="2650977"/>
            <a:ext cx="3681770" cy="1814513"/>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Receives raw input features. Number of neurons equals the number of predictor variables. A 28×28 grayscale image → 784 neurons.</a:t>
            </a:r>
            <a:endParaRPr lang="en-US" dirty="0"/>
          </a:p>
        </p:txBody>
      </p:sp>
      <p:sp>
        <p:nvSpPr>
          <p:cNvPr id="6" name="Shape 4"/>
          <p:cNvSpPr/>
          <p:nvPr/>
        </p:nvSpPr>
        <p:spPr>
          <a:xfrm>
            <a:off x="5201722" y="1770816"/>
            <a:ext cx="4196358" cy="3200162"/>
          </a:xfrm>
          <a:prstGeom prst="roundRect">
            <a:avLst>
              <a:gd name="adj" fmla="val 1063"/>
            </a:avLst>
          </a:prstGeom>
          <a:solidFill>
            <a:srgbClr val="FFFFFF"/>
          </a:solidFill>
          <a:ln w="30480">
            <a:solidFill>
              <a:srgbClr val="D8D4D4"/>
            </a:solidFill>
            <a:prstDash val="solid"/>
          </a:ln>
        </p:spPr>
      </p:sp>
      <p:sp>
        <p:nvSpPr>
          <p:cNvPr id="7" name="Text 5"/>
          <p:cNvSpPr/>
          <p:nvPr/>
        </p:nvSpPr>
        <p:spPr>
          <a:xfrm>
            <a:off x="5319511" y="1975426"/>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Hidden Layers</a:t>
            </a:r>
            <a:endParaRPr lang="en-US" sz="2300" dirty="0"/>
          </a:p>
        </p:txBody>
      </p:sp>
      <p:sp>
        <p:nvSpPr>
          <p:cNvPr id="8" name="Text 6"/>
          <p:cNvSpPr/>
          <p:nvPr/>
        </p:nvSpPr>
        <p:spPr>
          <a:xfrm>
            <a:off x="5423299" y="2570529"/>
            <a:ext cx="3681770" cy="2177415"/>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Perform core computation — extract patterns, detect relationships, transform data. Deep networks learn hierarchical representations: edges, shapes, objects.</a:t>
            </a:r>
            <a:endParaRPr lang="en-US" dirty="0"/>
          </a:p>
        </p:txBody>
      </p:sp>
      <p:sp>
        <p:nvSpPr>
          <p:cNvPr id="9" name="Shape 7"/>
          <p:cNvSpPr/>
          <p:nvPr/>
        </p:nvSpPr>
        <p:spPr>
          <a:xfrm>
            <a:off x="9640133" y="1770816"/>
            <a:ext cx="4196358" cy="3200162"/>
          </a:xfrm>
          <a:prstGeom prst="roundRect">
            <a:avLst>
              <a:gd name="adj" fmla="val 1063"/>
            </a:avLst>
          </a:prstGeom>
          <a:solidFill>
            <a:srgbClr val="FFFFFF"/>
          </a:solidFill>
          <a:ln w="30480">
            <a:solidFill>
              <a:srgbClr val="D8D4D4"/>
            </a:solidFill>
            <a:prstDash val="solid"/>
          </a:ln>
        </p:spPr>
      </p:sp>
      <p:sp>
        <p:nvSpPr>
          <p:cNvPr id="10" name="Text 8"/>
          <p:cNvSpPr/>
          <p:nvPr/>
        </p:nvSpPr>
        <p:spPr>
          <a:xfrm>
            <a:off x="9711566" y="1957726"/>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Output Layer</a:t>
            </a:r>
            <a:endParaRPr lang="en-US" sz="2300" dirty="0"/>
          </a:p>
        </p:txBody>
      </p:sp>
      <p:sp>
        <p:nvSpPr>
          <p:cNvPr id="11" name="Text 9"/>
          <p:cNvSpPr/>
          <p:nvPr/>
        </p:nvSpPr>
        <p:spPr>
          <a:xfrm>
            <a:off x="9711566" y="2570529"/>
            <a:ext cx="3681770" cy="1451610"/>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Produces the final prediction. Structure depends on problem type: regression, binary, or multi-class classification.</a:t>
            </a:r>
            <a:endParaRPr lang="en-US" dirty="0"/>
          </a:p>
        </p:txBody>
      </p:sp>
      <p:pic>
        <p:nvPicPr>
          <p:cNvPr id="12" name="Image 0" descr="preencoded.png">
            <a:extLst>
              <a:ext uri="{FF2B5EF4-FFF2-40B4-BE49-F238E27FC236}">
                <a16:creationId xmlns:a16="http://schemas.microsoft.com/office/drawing/2014/main" id="{0D8E1C6A-4317-5F44-8905-DF7DAC73FB3A}"/>
              </a:ext>
            </a:extLst>
          </p:cNvPr>
          <p:cNvPicPr>
            <a:picLocks noChangeAspect="1"/>
          </p:cNvPicPr>
          <p:nvPr/>
        </p:nvPicPr>
        <p:blipFill>
          <a:blip r:embed="rId3"/>
          <a:stretch>
            <a:fillRect/>
          </a:stretch>
        </p:blipFill>
        <p:spPr>
          <a:xfrm>
            <a:off x="4808593" y="5194011"/>
            <a:ext cx="4388433" cy="285270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386012"/>
            <a:ext cx="6115050"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Output Layer Structure</a:t>
            </a:r>
            <a:endParaRPr lang="en-US" sz="4650" dirty="0"/>
          </a:p>
        </p:txBody>
      </p:sp>
      <p:sp>
        <p:nvSpPr>
          <p:cNvPr id="3" name="Shape 1"/>
          <p:cNvSpPr/>
          <p:nvPr/>
        </p:nvSpPr>
        <p:spPr>
          <a:xfrm>
            <a:off x="793790" y="3869888"/>
            <a:ext cx="13042821" cy="1687592"/>
          </a:xfrm>
          <a:prstGeom prst="roundRect">
            <a:avLst>
              <a:gd name="adj" fmla="val 2016"/>
            </a:avLst>
          </a:prstGeom>
          <a:solidFill>
            <a:srgbClr val="F2EEEE"/>
          </a:solidFill>
          <a:ln/>
        </p:spPr>
      </p:sp>
      <p:sp>
        <p:nvSpPr>
          <p:cNvPr id="4" name="Shape 2"/>
          <p:cNvSpPr/>
          <p:nvPr/>
        </p:nvSpPr>
        <p:spPr>
          <a:xfrm>
            <a:off x="793790" y="3869888"/>
            <a:ext cx="4347567" cy="1687592"/>
          </a:xfrm>
          <a:prstGeom prst="roundRect">
            <a:avLst>
              <a:gd name="adj" fmla="val 2016"/>
            </a:avLst>
          </a:prstGeom>
          <a:solidFill>
            <a:srgbClr val="F2EEEE"/>
          </a:solidFill>
          <a:ln/>
        </p:spPr>
      </p:sp>
      <p:sp>
        <p:nvSpPr>
          <p:cNvPr id="5" name="Text 3"/>
          <p:cNvSpPr/>
          <p:nvPr/>
        </p:nvSpPr>
        <p:spPr>
          <a:xfrm>
            <a:off x="1020604" y="4096703"/>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Regression</a:t>
            </a:r>
            <a:endParaRPr lang="en-US" sz="2300" dirty="0"/>
          </a:p>
        </p:txBody>
      </p:sp>
      <p:sp>
        <p:nvSpPr>
          <p:cNvPr id="6" name="Text 4"/>
          <p:cNvSpPr/>
          <p:nvPr/>
        </p:nvSpPr>
        <p:spPr>
          <a:xfrm>
            <a:off x="1020604" y="4604861"/>
            <a:ext cx="3893939" cy="362903"/>
          </a:xfrm>
          <a:prstGeom prst="rect">
            <a:avLst/>
          </a:prstGeom>
          <a:noFill/>
          <a:ln/>
        </p:spPr>
        <p:txBody>
          <a:bodyPr wrap="non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One neuron — continuous output</a:t>
            </a:r>
            <a:endParaRPr lang="en-US" sz="2000" dirty="0"/>
          </a:p>
        </p:txBody>
      </p:sp>
      <p:sp>
        <p:nvSpPr>
          <p:cNvPr id="7" name="Shape 5"/>
          <p:cNvSpPr/>
          <p:nvPr/>
        </p:nvSpPr>
        <p:spPr>
          <a:xfrm>
            <a:off x="5141357" y="3869888"/>
            <a:ext cx="4347567" cy="1687592"/>
          </a:xfrm>
          <a:prstGeom prst="rect">
            <a:avLst/>
          </a:prstGeom>
          <a:solidFill>
            <a:srgbClr val="F2EEEE"/>
          </a:solidFill>
          <a:ln/>
        </p:spPr>
      </p:sp>
      <p:sp>
        <p:nvSpPr>
          <p:cNvPr id="8" name="Shape 6"/>
          <p:cNvSpPr/>
          <p:nvPr/>
        </p:nvSpPr>
        <p:spPr>
          <a:xfrm>
            <a:off x="5141357" y="3869888"/>
            <a:ext cx="30480" cy="1687592"/>
          </a:xfrm>
          <a:prstGeom prst="roundRect">
            <a:avLst>
              <a:gd name="adj" fmla="val 111628"/>
            </a:avLst>
          </a:prstGeom>
          <a:solidFill>
            <a:srgbClr val="D8D4D4"/>
          </a:solidFill>
          <a:ln/>
        </p:spPr>
      </p:sp>
      <p:sp>
        <p:nvSpPr>
          <p:cNvPr id="9" name="Text 7"/>
          <p:cNvSpPr/>
          <p:nvPr/>
        </p:nvSpPr>
        <p:spPr>
          <a:xfrm>
            <a:off x="5337691" y="4074021"/>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Binary Classification</a:t>
            </a:r>
            <a:endParaRPr lang="en-US" sz="2300" dirty="0"/>
          </a:p>
        </p:txBody>
      </p:sp>
      <p:sp>
        <p:nvSpPr>
          <p:cNvPr id="10" name="Text 8"/>
          <p:cNvSpPr/>
          <p:nvPr/>
        </p:nvSpPr>
        <p:spPr>
          <a:xfrm>
            <a:off x="5171837" y="4650223"/>
            <a:ext cx="3893939" cy="362903"/>
          </a:xfrm>
          <a:prstGeom prst="rect">
            <a:avLst/>
          </a:prstGeom>
          <a:noFill/>
          <a:ln/>
        </p:spPr>
        <p:txBody>
          <a:bodyPr wrap="non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 One neuron with </a:t>
            </a:r>
            <a:r>
              <a:rPr lang="en-US" sz="2000" b="1" dirty="0">
                <a:solidFill>
                  <a:srgbClr val="383838"/>
                </a:solidFill>
                <a:latin typeface="DM Sans" pitchFamily="34" charset="0"/>
                <a:ea typeface="DM Sans" pitchFamily="34" charset="-122"/>
                <a:cs typeface="DM Sans" pitchFamily="34" charset="-120"/>
              </a:rPr>
              <a:t>sigmoid</a:t>
            </a:r>
            <a:r>
              <a:rPr lang="en-US" sz="2000" dirty="0">
                <a:solidFill>
                  <a:srgbClr val="383838"/>
                </a:solidFill>
                <a:latin typeface="DM Sans" pitchFamily="34" charset="0"/>
                <a:ea typeface="DM Sans" pitchFamily="34" charset="-122"/>
                <a:cs typeface="DM Sans" pitchFamily="34" charset="-120"/>
              </a:rPr>
              <a:t> activation</a:t>
            </a:r>
            <a:endParaRPr lang="en-US" sz="2000" dirty="0"/>
          </a:p>
        </p:txBody>
      </p:sp>
      <p:sp>
        <p:nvSpPr>
          <p:cNvPr id="11" name="Shape 9"/>
          <p:cNvSpPr/>
          <p:nvPr/>
        </p:nvSpPr>
        <p:spPr>
          <a:xfrm>
            <a:off x="9488924" y="3869888"/>
            <a:ext cx="4347567" cy="1687592"/>
          </a:xfrm>
          <a:prstGeom prst="rect">
            <a:avLst/>
          </a:prstGeom>
          <a:solidFill>
            <a:srgbClr val="F2EEEE"/>
          </a:solidFill>
          <a:ln/>
        </p:spPr>
      </p:sp>
      <p:sp>
        <p:nvSpPr>
          <p:cNvPr id="12" name="Shape 10"/>
          <p:cNvSpPr/>
          <p:nvPr/>
        </p:nvSpPr>
        <p:spPr>
          <a:xfrm>
            <a:off x="9488924" y="3869888"/>
            <a:ext cx="30480" cy="1687592"/>
          </a:xfrm>
          <a:prstGeom prst="roundRect">
            <a:avLst>
              <a:gd name="adj" fmla="val 111628"/>
            </a:avLst>
          </a:prstGeom>
          <a:solidFill>
            <a:srgbClr val="D8D4D4"/>
          </a:solidFill>
          <a:ln/>
        </p:spPr>
      </p:sp>
      <p:sp>
        <p:nvSpPr>
          <p:cNvPr id="13" name="Text 11"/>
          <p:cNvSpPr/>
          <p:nvPr/>
        </p:nvSpPr>
        <p:spPr>
          <a:xfrm>
            <a:off x="9715738" y="4096703"/>
            <a:ext cx="3353276"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Multi-class Classification</a:t>
            </a:r>
            <a:endParaRPr lang="en-US" sz="2300" dirty="0"/>
          </a:p>
        </p:txBody>
      </p:sp>
      <p:sp>
        <p:nvSpPr>
          <p:cNvPr id="14" name="Text 12"/>
          <p:cNvSpPr/>
          <p:nvPr/>
        </p:nvSpPr>
        <p:spPr>
          <a:xfrm>
            <a:off x="9715738" y="4604861"/>
            <a:ext cx="4090273" cy="725805"/>
          </a:xfrm>
          <a:prstGeom prst="rect">
            <a:avLst/>
          </a:prstGeom>
          <a:noFill/>
          <a:ln/>
        </p:spPr>
        <p:txBody>
          <a:bodyPr wrap="squar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One neuron per class with </a:t>
            </a:r>
            <a:r>
              <a:rPr lang="en-US" sz="2000" b="1" dirty="0">
                <a:solidFill>
                  <a:srgbClr val="383838"/>
                </a:solidFill>
                <a:latin typeface="DM Sans" pitchFamily="34" charset="0"/>
                <a:ea typeface="DM Sans" pitchFamily="34" charset="-122"/>
                <a:cs typeface="DM Sans" pitchFamily="34" charset="-120"/>
              </a:rPr>
              <a:t>softmax</a:t>
            </a:r>
            <a:r>
              <a:rPr lang="en-US" sz="2000" dirty="0">
                <a:solidFill>
                  <a:srgbClr val="383838"/>
                </a:solidFill>
                <a:latin typeface="DM Sans" pitchFamily="34" charset="0"/>
                <a:ea typeface="DM Sans" pitchFamily="34" charset="-122"/>
                <a:cs typeface="DM Sans" pitchFamily="34" charset="-120"/>
              </a:rPr>
              <a:t> activation</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24950"/>
            <a:ext cx="9933980"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Choosing Hidden Layers and Neurons</a:t>
            </a:r>
            <a:endParaRPr lang="en-US" sz="4650" dirty="0"/>
          </a:p>
        </p:txBody>
      </p:sp>
      <p:sp>
        <p:nvSpPr>
          <p:cNvPr id="3" name="Text 1"/>
          <p:cNvSpPr/>
          <p:nvPr/>
        </p:nvSpPr>
        <p:spPr>
          <a:xfrm>
            <a:off x="801409" y="2116817"/>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T</a:t>
            </a:r>
            <a:r>
              <a:rPr lang="en-US" sz="2000" dirty="0">
                <a:solidFill>
                  <a:srgbClr val="383838"/>
                </a:solidFill>
                <a:latin typeface="DM Sans" pitchFamily="34" charset="0"/>
                <a:ea typeface="DM Sans" pitchFamily="34" charset="-122"/>
                <a:cs typeface="DM Sans" pitchFamily="34" charset="-120"/>
              </a:rPr>
              <a:t>here is no universal rule. Design depends on complexity of relationship, amount of data, noise, and computational constraints.</a:t>
            </a:r>
            <a:endParaRPr lang="en-US" sz="2000" dirty="0"/>
          </a:p>
        </p:txBody>
      </p:sp>
      <p:sp>
        <p:nvSpPr>
          <p:cNvPr id="4" name="Text 2"/>
          <p:cNvSpPr/>
          <p:nvPr/>
        </p:nvSpPr>
        <p:spPr>
          <a:xfrm>
            <a:off x="793790" y="3685699"/>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General Guidelines</a:t>
            </a:r>
            <a:endParaRPr lang="en-US" sz="2300" dirty="0"/>
          </a:p>
        </p:txBody>
      </p:sp>
      <p:sp>
        <p:nvSpPr>
          <p:cNvPr id="5" name="Text 3"/>
          <p:cNvSpPr/>
          <p:nvPr/>
        </p:nvSpPr>
        <p:spPr>
          <a:xfrm>
            <a:off x="793790" y="4284583"/>
            <a:ext cx="6244709" cy="1610201"/>
          </a:xfrm>
          <a:prstGeom prst="rect">
            <a:avLst/>
          </a:prstGeom>
          <a:noFill/>
          <a:ln/>
        </p:spPr>
        <p:txBody>
          <a:bodyPr wrap="square" lIns="0" tIns="0" rIns="0" bIns="0" rtlCol="0" anchor="t"/>
          <a:lstStyle/>
          <a:p>
            <a:pPr marL="342900" indent="-342900" algn="l">
              <a:lnSpc>
                <a:spcPts val="2850"/>
              </a:lnSpc>
              <a:buSzPct val="100000"/>
              <a:buChar char="•"/>
            </a:pPr>
            <a:r>
              <a:rPr lang="en-US" sz="2000" dirty="0">
                <a:solidFill>
                  <a:srgbClr val="383838"/>
                </a:solidFill>
                <a:latin typeface="DM Sans" pitchFamily="34" charset="0"/>
                <a:ea typeface="DM Sans" pitchFamily="34" charset="-122"/>
                <a:cs typeface="DM Sans" pitchFamily="34" charset="-120"/>
              </a:rPr>
              <a:t>Start with 1–2 hidden layers</a:t>
            </a:r>
            <a:endParaRPr lang="en-US" sz="2000" dirty="0"/>
          </a:p>
          <a:p>
            <a:pPr marL="342900" indent="-342900" algn="l">
              <a:lnSpc>
                <a:spcPts val="2850"/>
              </a:lnSpc>
              <a:buSzPct val="100000"/>
              <a:buChar char="•"/>
            </a:pPr>
            <a:r>
              <a:rPr lang="en-US" sz="2000" dirty="0">
                <a:solidFill>
                  <a:srgbClr val="383838"/>
                </a:solidFill>
                <a:latin typeface="DM Sans" pitchFamily="34" charset="0"/>
                <a:ea typeface="DM Sans" pitchFamily="34" charset="-122"/>
                <a:cs typeface="DM Sans" pitchFamily="34" charset="-120"/>
              </a:rPr>
              <a:t>Increase neurons gradually if underfitting occurs</a:t>
            </a:r>
            <a:endParaRPr lang="en-US" sz="2000" dirty="0"/>
          </a:p>
          <a:p>
            <a:pPr marL="342900" indent="-342900" algn="l">
              <a:lnSpc>
                <a:spcPts val="2850"/>
              </a:lnSpc>
              <a:buSzPct val="100000"/>
              <a:buChar char="•"/>
            </a:pPr>
            <a:r>
              <a:rPr lang="en-US" sz="2000" dirty="0">
                <a:solidFill>
                  <a:srgbClr val="383838"/>
                </a:solidFill>
                <a:latin typeface="DM Sans" pitchFamily="34" charset="0"/>
                <a:ea typeface="DM Sans" pitchFamily="34" charset="-122"/>
                <a:cs typeface="DM Sans" pitchFamily="34" charset="-120"/>
              </a:rPr>
              <a:t>Apply regularization or reduce neurons if overfitting occurs</a:t>
            </a:r>
            <a:endParaRPr lang="en-US" sz="2000" dirty="0"/>
          </a:p>
        </p:txBody>
      </p:sp>
      <p:sp>
        <p:nvSpPr>
          <p:cNvPr id="6" name="Text 4"/>
          <p:cNvSpPr/>
          <p:nvPr/>
        </p:nvSpPr>
        <p:spPr>
          <a:xfrm>
            <a:off x="7599521" y="3685699"/>
            <a:ext cx="3707368" cy="372070"/>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The Bias-Variance Trade-off</a:t>
            </a:r>
            <a:endParaRPr lang="en-US" sz="2300" dirty="0"/>
          </a:p>
        </p:txBody>
      </p:sp>
      <p:sp>
        <p:nvSpPr>
          <p:cNvPr id="7" name="Text 5"/>
          <p:cNvSpPr/>
          <p:nvPr/>
        </p:nvSpPr>
        <p:spPr>
          <a:xfrm>
            <a:off x="7599521" y="4284583"/>
            <a:ext cx="6244709" cy="1530906"/>
          </a:xfrm>
          <a:prstGeom prst="rect">
            <a:avLst/>
          </a:prstGeom>
          <a:noFill/>
          <a:ln/>
        </p:spPr>
        <p:txBody>
          <a:bodyPr wrap="square" lIns="0" tIns="0" rIns="0" bIns="0" rtlCol="0" anchor="t"/>
          <a:lstStyle/>
          <a:p>
            <a:pPr marL="342900" indent="-342900" algn="l">
              <a:lnSpc>
                <a:spcPts val="2850"/>
              </a:lnSpc>
              <a:buSzPct val="100000"/>
              <a:buChar char="•"/>
            </a:pPr>
            <a:r>
              <a:rPr lang="en-US" sz="2000" b="1" dirty="0">
                <a:solidFill>
                  <a:srgbClr val="383838"/>
                </a:solidFill>
                <a:latin typeface="DM Sans" pitchFamily="34" charset="0"/>
                <a:ea typeface="DM Sans" pitchFamily="34" charset="-122"/>
                <a:cs typeface="DM Sans" pitchFamily="34" charset="-120"/>
              </a:rPr>
              <a:t>Too many neurons</a:t>
            </a:r>
            <a:r>
              <a:rPr lang="en-US" sz="2000" dirty="0">
                <a:solidFill>
                  <a:srgbClr val="383838"/>
                </a:solidFill>
                <a:latin typeface="DM Sans" pitchFamily="34" charset="0"/>
                <a:ea typeface="DM Sans" pitchFamily="34" charset="-122"/>
                <a:cs typeface="DM Sans" pitchFamily="34" charset="-120"/>
              </a:rPr>
              <a:t> → increased variance, risk of memorization</a:t>
            </a:r>
            <a:endParaRPr lang="en-US" sz="2000" dirty="0"/>
          </a:p>
          <a:p>
            <a:pPr marL="342900" indent="-342900" algn="l">
              <a:lnSpc>
                <a:spcPts val="2850"/>
              </a:lnSpc>
              <a:buSzPct val="100000"/>
              <a:buChar char="•"/>
            </a:pPr>
            <a:r>
              <a:rPr lang="en-US" sz="2000" b="1" dirty="0">
                <a:solidFill>
                  <a:srgbClr val="383838"/>
                </a:solidFill>
                <a:latin typeface="DM Sans" pitchFamily="34" charset="0"/>
                <a:ea typeface="DM Sans" pitchFamily="34" charset="-122"/>
                <a:cs typeface="DM Sans" pitchFamily="34" charset="-120"/>
              </a:rPr>
              <a:t>Too few neurons</a:t>
            </a:r>
            <a:r>
              <a:rPr lang="en-US" sz="2000" dirty="0">
                <a:solidFill>
                  <a:srgbClr val="383838"/>
                </a:solidFill>
                <a:latin typeface="DM Sans" pitchFamily="34" charset="0"/>
                <a:ea typeface="DM Sans" pitchFamily="34" charset="-122"/>
                <a:cs typeface="DM Sans" pitchFamily="34" charset="-120"/>
              </a:rPr>
              <a:t> → increased bias, reduced learning capacity</a:t>
            </a:r>
            <a:endParaRPr lang="en-US" sz="2000" dirty="0"/>
          </a:p>
        </p:txBody>
      </p:sp>
      <p:sp>
        <p:nvSpPr>
          <p:cNvPr id="8" name="Text 6"/>
          <p:cNvSpPr/>
          <p:nvPr/>
        </p:nvSpPr>
        <p:spPr>
          <a:xfrm>
            <a:off x="1070491" y="6469728"/>
            <a:ext cx="11421620" cy="725805"/>
          </a:xfrm>
          <a:prstGeom prst="rect">
            <a:avLst/>
          </a:prstGeom>
          <a:noFill/>
          <a:ln/>
        </p:spPr>
        <p:txBody>
          <a:bodyPr wrap="square" lIns="0" tIns="0" rIns="0" bIns="0" rtlCol="0" anchor="t"/>
          <a:lstStyle/>
          <a:p>
            <a:pPr marL="0" indent="0" algn="l">
              <a:lnSpc>
                <a:spcPts val="2850"/>
              </a:lnSpc>
              <a:buNone/>
            </a:pPr>
            <a:r>
              <a:rPr lang="en-US" sz="2000" b="1" dirty="0">
                <a:solidFill>
                  <a:srgbClr val="383838"/>
                </a:solidFill>
                <a:latin typeface="DM Sans" pitchFamily="34" charset="0"/>
                <a:ea typeface="DM Sans" pitchFamily="34" charset="-122"/>
                <a:cs typeface="DM Sans" pitchFamily="34" charset="-120"/>
              </a:rPr>
              <a:t>Architecture selection is empirical and based on validation performance.</a:t>
            </a:r>
            <a:endParaRPr lang="en-US" sz="20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133576"/>
            <a:ext cx="9875639"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Training Objective and Loss Function</a:t>
            </a:r>
            <a:endParaRPr lang="en-US" sz="4650" dirty="0"/>
          </a:p>
        </p:txBody>
      </p:sp>
      <p:sp>
        <p:nvSpPr>
          <p:cNvPr id="3" name="Text 1"/>
          <p:cNvSpPr/>
          <p:nvPr/>
        </p:nvSpPr>
        <p:spPr>
          <a:xfrm>
            <a:off x="885230" y="2280386"/>
            <a:ext cx="13042821" cy="725805"/>
          </a:xfrm>
          <a:prstGeom prst="rect">
            <a:avLst/>
          </a:prstGeom>
          <a:noFill/>
          <a:ln/>
        </p:spPr>
        <p:txBody>
          <a:bodyPr wrap="squar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Training involves estimating parameters (weights) such that prediction error is minimized. Error is measured using a </a:t>
            </a:r>
            <a:r>
              <a:rPr lang="en-US" sz="2000" b="1" dirty="0">
                <a:solidFill>
                  <a:srgbClr val="383838"/>
                </a:solidFill>
                <a:latin typeface="DM Sans" pitchFamily="34" charset="0"/>
                <a:ea typeface="DM Sans" pitchFamily="34" charset="-122"/>
                <a:cs typeface="DM Sans" pitchFamily="34" charset="-120"/>
              </a:rPr>
              <a:t>loss function J(θ)</a:t>
            </a:r>
            <a:r>
              <a:rPr lang="en-US" sz="2000" dirty="0">
                <a:solidFill>
                  <a:srgbClr val="383838"/>
                </a:solidFill>
                <a:latin typeface="DM Sans" pitchFamily="34" charset="0"/>
                <a:ea typeface="DM Sans" pitchFamily="34" charset="-122"/>
                <a:cs typeface="DM Sans" pitchFamily="34" charset="-120"/>
              </a:rPr>
              <a:t>, which quantifies the difference between predicted and actual output.</a:t>
            </a:r>
            <a:endParaRPr lang="en-US" sz="2000" dirty="0"/>
          </a:p>
        </p:txBody>
      </p:sp>
      <p:sp>
        <p:nvSpPr>
          <p:cNvPr id="4" name="Shape 2"/>
          <p:cNvSpPr/>
          <p:nvPr/>
        </p:nvSpPr>
        <p:spPr>
          <a:xfrm>
            <a:off x="793790" y="4058007"/>
            <a:ext cx="4196358" cy="2292429"/>
          </a:xfrm>
          <a:prstGeom prst="roundRect">
            <a:avLst>
              <a:gd name="adj" fmla="val 6382"/>
            </a:avLst>
          </a:prstGeom>
          <a:solidFill>
            <a:srgbClr val="FFFFFF"/>
          </a:solidFill>
          <a:ln w="30480">
            <a:solidFill>
              <a:srgbClr val="D8D4D4"/>
            </a:solidFill>
            <a:prstDash val="solid"/>
          </a:ln>
        </p:spPr>
      </p:sp>
      <p:sp>
        <p:nvSpPr>
          <p:cNvPr id="5" name="Shape 3"/>
          <p:cNvSpPr/>
          <p:nvPr/>
        </p:nvSpPr>
        <p:spPr>
          <a:xfrm>
            <a:off x="763310" y="4058007"/>
            <a:ext cx="121920" cy="2292429"/>
          </a:xfrm>
          <a:prstGeom prst="roundRect">
            <a:avLst>
              <a:gd name="adj" fmla="val 27907"/>
            </a:avLst>
          </a:prstGeom>
          <a:solidFill>
            <a:srgbClr val="E04F00"/>
          </a:solidFill>
          <a:ln/>
        </p:spPr>
      </p:sp>
      <p:sp>
        <p:nvSpPr>
          <p:cNvPr id="6" name="Text 4"/>
          <p:cNvSpPr/>
          <p:nvPr/>
        </p:nvSpPr>
        <p:spPr>
          <a:xfrm>
            <a:off x="1142524" y="4315301"/>
            <a:ext cx="3499366"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Mean Squared Error (MSE)</a:t>
            </a:r>
            <a:endParaRPr lang="en-US" sz="2300" dirty="0"/>
          </a:p>
        </p:txBody>
      </p:sp>
      <p:sp>
        <p:nvSpPr>
          <p:cNvPr id="7" name="Text 5"/>
          <p:cNvSpPr/>
          <p:nvPr/>
        </p:nvSpPr>
        <p:spPr>
          <a:xfrm>
            <a:off x="1142524" y="4823460"/>
            <a:ext cx="3590330" cy="362903"/>
          </a:xfrm>
          <a:prstGeom prst="rect">
            <a:avLst/>
          </a:prstGeom>
          <a:noFill/>
          <a:ln/>
        </p:spPr>
        <p:txBody>
          <a:bodyPr wrap="non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Used in regression problems.</a:t>
            </a:r>
            <a:endParaRPr lang="en-US" dirty="0"/>
          </a:p>
        </p:txBody>
      </p:sp>
      <p:sp>
        <p:nvSpPr>
          <p:cNvPr id="8" name="Text 6"/>
          <p:cNvSpPr/>
          <p:nvPr/>
        </p:nvSpPr>
        <p:spPr>
          <a:xfrm>
            <a:off x="1142524" y="5473422"/>
            <a:ext cx="3590330" cy="619720"/>
          </a:xfrm>
          <a:prstGeom prst="rect">
            <a:avLst/>
          </a:prstGeom>
          <a:noFill/>
          <a:ln/>
        </p:spPr>
        <p:txBody>
          <a:bodyPr wrap="square" lIns="0" tIns="0" rIns="0" bIns="0" rtlCol="0" anchor="t"/>
          <a:lstStyle/>
          <a:p>
            <a:pPr marL="0" indent="0" algn="l">
              <a:lnSpc>
                <a:spcPts val="3200"/>
              </a:lnSpc>
              <a:buNone/>
            </a:pPr>
            <a:endParaRPr lang="en-US" sz="2000" dirty="0"/>
          </a:p>
        </p:txBody>
      </p:sp>
      <p:pic>
        <p:nvPicPr>
          <p:cNvPr id="9" name="Image 0" descr="preencoded.png"/>
          <p:cNvPicPr>
            <a:picLocks noChangeAspect="1"/>
          </p:cNvPicPr>
          <p:nvPr/>
        </p:nvPicPr>
        <p:blipFill>
          <a:blip r:embed="rId3"/>
          <a:stretch>
            <a:fillRect/>
          </a:stretch>
        </p:blipFill>
        <p:spPr>
          <a:xfrm>
            <a:off x="1142524" y="5473422"/>
            <a:ext cx="3590330" cy="619720"/>
          </a:xfrm>
          <a:prstGeom prst="rect">
            <a:avLst/>
          </a:prstGeom>
        </p:spPr>
      </p:pic>
      <p:sp>
        <p:nvSpPr>
          <p:cNvPr id="10" name="Shape 7"/>
          <p:cNvSpPr/>
          <p:nvPr/>
        </p:nvSpPr>
        <p:spPr>
          <a:xfrm>
            <a:off x="5216962" y="4058007"/>
            <a:ext cx="4196358" cy="2292429"/>
          </a:xfrm>
          <a:prstGeom prst="roundRect">
            <a:avLst>
              <a:gd name="adj" fmla="val 6382"/>
            </a:avLst>
          </a:prstGeom>
          <a:solidFill>
            <a:srgbClr val="FFFFFF"/>
          </a:solidFill>
          <a:ln w="30480">
            <a:solidFill>
              <a:srgbClr val="D8D4D4"/>
            </a:solidFill>
            <a:prstDash val="solid"/>
          </a:ln>
        </p:spPr>
      </p:sp>
      <p:sp>
        <p:nvSpPr>
          <p:cNvPr id="11" name="Shape 8"/>
          <p:cNvSpPr/>
          <p:nvPr/>
        </p:nvSpPr>
        <p:spPr>
          <a:xfrm>
            <a:off x="5186482" y="4058007"/>
            <a:ext cx="121920" cy="2292429"/>
          </a:xfrm>
          <a:prstGeom prst="roundRect">
            <a:avLst>
              <a:gd name="adj" fmla="val 27907"/>
            </a:avLst>
          </a:prstGeom>
          <a:solidFill>
            <a:srgbClr val="E04F00"/>
          </a:solidFill>
          <a:ln/>
        </p:spPr>
      </p:sp>
      <p:sp>
        <p:nvSpPr>
          <p:cNvPr id="12" name="Text 9"/>
          <p:cNvSpPr/>
          <p:nvPr/>
        </p:nvSpPr>
        <p:spPr>
          <a:xfrm>
            <a:off x="5565696" y="4315301"/>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Binary Cross Entropy</a:t>
            </a:r>
            <a:endParaRPr lang="en-US" sz="2300" dirty="0"/>
          </a:p>
        </p:txBody>
      </p:sp>
      <p:sp>
        <p:nvSpPr>
          <p:cNvPr id="13" name="Text 10"/>
          <p:cNvSpPr/>
          <p:nvPr/>
        </p:nvSpPr>
        <p:spPr>
          <a:xfrm>
            <a:off x="5565696" y="4823460"/>
            <a:ext cx="3590330" cy="725805"/>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Used when predicting probability of binary class membership.</a:t>
            </a:r>
            <a:endParaRPr lang="en-US" dirty="0"/>
          </a:p>
        </p:txBody>
      </p:sp>
      <p:sp>
        <p:nvSpPr>
          <p:cNvPr id="14" name="Shape 11"/>
          <p:cNvSpPr/>
          <p:nvPr/>
        </p:nvSpPr>
        <p:spPr>
          <a:xfrm>
            <a:off x="9640133" y="4058007"/>
            <a:ext cx="4196358" cy="2292429"/>
          </a:xfrm>
          <a:prstGeom prst="roundRect">
            <a:avLst>
              <a:gd name="adj" fmla="val 6382"/>
            </a:avLst>
          </a:prstGeom>
          <a:solidFill>
            <a:srgbClr val="FFFFFF"/>
          </a:solidFill>
          <a:ln w="30480">
            <a:solidFill>
              <a:srgbClr val="D8D4D4"/>
            </a:solidFill>
            <a:prstDash val="solid"/>
          </a:ln>
        </p:spPr>
      </p:sp>
      <p:sp>
        <p:nvSpPr>
          <p:cNvPr id="15" name="Shape 12"/>
          <p:cNvSpPr/>
          <p:nvPr/>
        </p:nvSpPr>
        <p:spPr>
          <a:xfrm>
            <a:off x="9609653" y="4058007"/>
            <a:ext cx="121920" cy="2292429"/>
          </a:xfrm>
          <a:prstGeom prst="roundRect">
            <a:avLst>
              <a:gd name="adj" fmla="val 27907"/>
            </a:avLst>
          </a:prstGeom>
          <a:solidFill>
            <a:srgbClr val="E04F00"/>
          </a:solidFill>
          <a:ln/>
        </p:spPr>
      </p:sp>
      <p:sp>
        <p:nvSpPr>
          <p:cNvPr id="16" name="Text 13"/>
          <p:cNvSpPr/>
          <p:nvPr/>
        </p:nvSpPr>
        <p:spPr>
          <a:xfrm>
            <a:off x="9988868" y="4315301"/>
            <a:ext cx="3430310"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Categorical Cross Entropy</a:t>
            </a:r>
            <a:endParaRPr lang="en-US" sz="2300" dirty="0"/>
          </a:p>
        </p:txBody>
      </p:sp>
      <p:sp>
        <p:nvSpPr>
          <p:cNvPr id="17" name="Text 14"/>
          <p:cNvSpPr/>
          <p:nvPr/>
        </p:nvSpPr>
        <p:spPr>
          <a:xfrm>
            <a:off x="9988868" y="4823460"/>
            <a:ext cx="3590330" cy="1088708"/>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Used in multi-class classification where the model outputs a probability distribution.</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974884"/>
            <a:ext cx="5954197"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Learning Mechanism</a:t>
            </a:r>
            <a:endParaRPr lang="en-US" sz="4650" dirty="0"/>
          </a:p>
        </p:txBody>
      </p:sp>
      <p:sp>
        <p:nvSpPr>
          <p:cNvPr id="3" name="Text 1"/>
          <p:cNvSpPr/>
          <p:nvPr/>
        </p:nvSpPr>
        <p:spPr>
          <a:xfrm>
            <a:off x="793790" y="2172772"/>
            <a:ext cx="13042821" cy="362903"/>
          </a:xfrm>
          <a:prstGeom prst="rect">
            <a:avLst/>
          </a:prstGeom>
          <a:noFill/>
          <a:ln/>
        </p:spPr>
        <p:txBody>
          <a:bodyPr wrap="non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Training proceeds iteratively using four steps:</a:t>
            </a:r>
            <a:endParaRPr lang="en-US" sz="2000" dirty="0"/>
          </a:p>
        </p:txBody>
      </p:sp>
      <p:pic>
        <p:nvPicPr>
          <p:cNvPr id="4" name="Image 0" descr="preencoded.png"/>
          <p:cNvPicPr>
            <a:picLocks noChangeAspect="1"/>
          </p:cNvPicPr>
          <p:nvPr/>
        </p:nvPicPr>
        <p:blipFill>
          <a:blip r:embed="rId3"/>
          <a:stretch>
            <a:fillRect/>
          </a:stretch>
        </p:blipFill>
        <p:spPr>
          <a:xfrm>
            <a:off x="793790" y="2790825"/>
            <a:ext cx="6521410" cy="907256"/>
          </a:xfrm>
          <a:prstGeom prst="rect">
            <a:avLst/>
          </a:prstGeom>
        </p:spPr>
      </p:pic>
      <p:sp>
        <p:nvSpPr>
          <p:cNvPr id="5" name="Text 2"/>
          <p:cNvSpPr/>
          <p:nvPr/>
        </p:nvSpPr>
        <p:spPr>
          <a:xfrm>
            <a:off x="1020604" y="3924895"/>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Forward Pass</a:t>
            </a:r>
            <a:endParaRPr lang="en-US" sz="2300" dirty="0"/>
          </a:p>
        </p:txBody>
      </p:sp>
      <p:sp>
        <p:nvSpPr>
          <p:cNvPr id="6" name="Text 3"/>
          <p:cNvSpPr/>
          <p:nvPr/>
        </p:nvSpPr>
        <p:spPr>
          <a:xfrm>
            <a:off x="1020604" y="4433054"/>
            <a:ext cx="6067782" cy="362903"/>
          </a:xfrm>
          <a:prstGeom prst="rect">
            <a:avLst/>
          </a:prstGeom>
          <a:noFill/>
          <a:ln/>
        </p:spPr>
        <p:txBody>
          <a:bodyPr wrap="non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Input propagates through the network layer by layer.</a:t>
            </a:r>
            <a:endParaRPr lang="en-US" sz="2000" dirty="0"/>
          </a:p>
        </p:txBody>
      </p:sp>
      <p:pic>
        <p:nvPicPr>
          <p:cNvPr id="7" name="Image 1" descr="preencoded.png"/>
          <p:cNvPicPr>
            <a:picLocks noChangeAspect="1"/>
          </p:cNvPicPr>
          <p:nvPr/>
        </p:nvPicPr>
        <p:blipFill>
          <a:blip r:embed="rId4"/>
          <a:stretch>
            <a:fillRect/>
          </a:stretch>
        </p:blipFill>
        <p:spPr>
          <a:xfrm>
            <a:off x="7315200" y="2790825"/>
            <a:ext cx="6521410" cy="907256"/>
          </a:xfrm>
          <a:prstGeom prst="rect">
            <a:avLst/>
          </a:prstGeom>
        </p:spPr>
      </p:pic>
      <p:sp>
        <p:nvSpPr>
          <p:cNvPr id="8" name="Text 4"/>
          <p:cNvSpPr/>
          <p:nvPr/>
        </p:nvSpPr>
        <p:spPr>
          <a:xfrm>
            <a:off x="7542014" y="3924895"/>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Loss Computation</a:t>
            </a:r>
            <a:endParaRPr lang="en-US" sz="2300" dirty="0"/>
          </a:p>
        </p:txBody>
      </p:sp>
      <p:sp>
        <p:nvSpPr>
          <p:cNvPr id="9" name="Text 5"/>
          <p:cNvSpPr/>
          <p:nvPr/>
        </p:nvSpPr>
        <p:spPr>
          <a:xfrm>
            <a:off x="7542014" y="4433054"/>
            <a:ext cx="6067782" cy="362903"/>
          </a:xfrm>
          <a:prstGeom prst="rect">
            <a:avLst/>
          </a:prstGeom>
          <a:noFill/>
          <a:ln/>
        </p:spPr>
        <p:txBody>
          <a:bodyPr wrap="non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Final output is produced and loss is evaluated.</a:t>
            </a:r>
            <a:endParaRPr lang="en-US" sz="2000" dirty="0"/>
          </a:p>
        </p:txBody>
      </p:sp>
      <p:pic>
        <p:nvPicPr>
          <p:cNvPr id="10" name="Image 2" descr="preencoded.png"/>
          <p:cNvPicPr>
            <a:picLocks noChangeAspect="1"/>
          </p:cNvPicPr>
          <p:nvPr/>
        </p:nvPicPr>
        <p:blipFill>
          <a:blip r:embed="rId5"/>
          <a:stretch>
            <a:fillRect/>
          </a:stretch>
        </p:blipFill>
        <p:spPr>
          <a:xfrm>
            <a:off x="793790" y="5022771"/>
            <a:ext cx="6521410" cy="907256"/>
          </a:xfrm>
          <a:prstGeom prst="rect">
            <a:avLst/>
          </a:prstGeom>
        </p:spPr>
      </p:pic>
      <p:sp>
        <p:nvSpPr>
          <p:cNvPr id="11" name="Text 6"/>
          <p:cNvSpPr/>
          <p:nvPr/>
        </p:nvSpPr>
        <p:spPr>
          <a:xfrm>
            <a:off x="1020604" y="6156841"/>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Backpropagation</a:t>
            </a:r>
            <a:endParaRPr lang="en-US" sz="2300" dirty="0"/>
          </a:p>
        </p:txBody>
      </p:sp>
      <p:sp>
        <p:nvSpPr>
          <p:cNvPr id="12" name="Text 7"/>
          <p:cNvSpPr/>
          <p:nvPr/>
        </p:nvSpPr>
        <p:spPr>
          <a:xfrm>
            <a:off x="1020604" y="6665000"/>
            <a:ext cx="6067782" cy="362903"/>
          </a:xfrm>
          <a:prstGeom prst="rect">
            <a:avLst/>
          </a:prstGeom>
          <a:noFill/>
          <a:ln/>
        </p:spPr>
        <p:txBody>
          <a:bodyPr wrap="non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Error is sent backward through the network.</a:t>
            </a:r>
            <a:endParaRPr lang="en-US" sz="2000" dirty="0"/>
          </a:p>
        </p:txBody>
      </p:sp>
      <p:pic>
        <p:nvPicPr>
          <p:cNvPr id="13" name="Image 3" descr="preencoded.png"/>
          <p:cNvPicPr>
            <a:picLocks noChangeAspect="1"/>
          </p:cNvPicPr>
          <p:nvPr/>
        </p:nvPicPr>
        <p:blipFill>
          <a:blip r:embed="rId6"/>
          <a:stretch>
            <a:fillRect/>
          </a:stretch>
        </p:blipFill>
        <p:spPr>
          <a:xfrm>
            <a:off x="7315200" y="5022771"/>
            <a:ext cx="6521410" cy="907256"/>
          </a:xfrm>
          <a:prstGeom prst="rect">
            <a:avLst/>
          </a:prstGeom>
        </p:spPr>
      </p:pic>
      <p:sp>
        <p:nvSpPr>
          <p:cNvPr id="14" name="Text 8"/>
          <p:cNvSpPr/>
          <p:nvPr/>
        </p:nvSpPr>
        <p:spPr>
          <a:xfrm>
            <a:off x="7542014" y="6156841"/>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Parameter Update</a:t>
            </a:r>
            <a:endParaRPr lang="en-US" sz="2300" dirty="0"/>
          </a:p>
        </p:txBody>
      </p:sp>
      <p:sp>
        <p:nvSpPr>
          <p:cNvPr id="15" name="Text 9"/>
          <p:cNvSpPr/>
          <p:nvPr/>
        </p:nvSpPr>
        <p:spPr>
          <a:xfrm>
            <a:off x="7542014" y="6665000"/>
            <a:ext cx="6067782" cy="362903"/>
          </a:xfrm>
          <a:prstGeom prst="rect">
            <a:avLst/>
          </a:prstGeom>
          <a:noFill/>
          <a:ln/>
        </p:spPr>
        <p:txBody>
          <a:bodyPr wrap="non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Weights are adjusted to reduce future error.</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37949" y="579834"/>
            <a:ext cx="5535335" cy="691872"/>
          </a:xfrm>
          <a:prstGeom prst="rect">
            <a:avLst/>
          </a:prstGeom>
          <a:noFill/>
          <a:ln/>
        </p:spPr>
        <p:txBody>
          <a:bodyPr wrap="none" lIns="0" tIns="0" rIns="0" bIns="0" rtlCol="0" anchor="t"/>
          <a:lstStyle/>
          <a:p>
            <a:pPr marL="0" indent="0" algn="l">
              <a:lnSpc>
                <a:spcPts val="5400"/>
              </a:lnSpc>
              <a:buNone/>
            </a:pPr>
            <a:r>
              <a:rPr lang="en-US" sz="4350" dirty="0">
                <a:solidFill>
                  <a:srgbClr val="020202"/>
                </a:solidFill>
                <a:latin typeface="PT Serif" pitchFamily="34" charset="0"/>
                <a:ea typeface="PT Serif" pitchFamily="34" charset="-122"/>
                <a:cs typeface="PT Serif" pitchFamily="34" charset="-120"/>
              </a:rPr>
              <a:t>Forward Pass</a:t>
            </a:r>
            <a:endParaRPr lang="en-US" sz="4350" dirty="0"/>
          </a:p>
        </p:txBody>
      </p:sp>
      <p:sp>
        <p:nvSpPr>
          <p:cNvPr id="3" name="Text 1"/>
          <p:cNvSpPr/>
          <p:nvPr/>
        </p:nvSpPr>
        <p:spPr>
          <a:xfrm>
            <a:off x="737949" y="1663779"/>
            <a:ext cx="13154501" cy="650796"/>
          </a:xfrm>
          <a:prstGeom prst="rect">
            <a:avLst/>
          </a:prstGeom>
          <a:noFill/>
          <a:ln/>
        </p:spPr>
        <p:txBody>
          <a:bodyPr wrap="square" lIns="0" tIns="0" rIns="0" bIns="0" rtlCol="0" anchor="t"/>
          <a:lstStyle/>
          <a:p>
            <a:pPr marL="0" indent="0" algn="l">
              <a:lnSpc>
                <a:spcPts val="2550"/>
              </a:lnSpc>
              <a:buNone/>
            </a:pPr>
            <a:r>
              <a:rPr lang="en-US" sz="2000" dirty="0">
                <a:solidFill>
                  <a:srgbClr val="383838"/>
                </a:solidFill>
                <a:latin typeface="DM Sans" pitchFamily="34" charset="0"/>
                <a:ea typeface="DM Sans" pitchFamily="34" charset="-122"/>
                <a:cs typeface="DM Sans" pitchFamily="34" charset="-120"/>
              </a:rPr>
              <a:t>Input data propagates through the network layer by layer. Each neuron computes a </a:t>
            </a:r>
            <a:r>
              <a:rPr lang="en-US" sz="2000" b="1" dirty="0">
                <a:solidFill>
                  <a:srgbClr val="383838"/>
                </a:solidFill>
                <a:latin typeface="DM Sans" pitchFamily="34" charset="0"/>
                <a:ea typeface="DM Sans" pitchFamily="34" charset="-122"/>
                <a:cs typeface="DM Sans" pitchFamily="34" charset="-120"/>
              </a:rPr>
              <a:t>weighted sum</a:t>
            </a:r>
            <a:r>
              <a:rPr lang="en-US" sz="2000" dirty="0">
                <a:solidFill>
                  <a:srgbClr val="383838"/>
                </a:solidFill>
                <a:latin typeface="DM Sans" pitchFamily="34" charset="0"/>
                <a:ea typeface="DM Sans" pitchFamily="34" charset="-122"/>
                <a:cs typeface="DM Sans" pitchFamily="34" charset="-120"/>
              </a:rPr>
              <a:t> followed by activation. The final output is produced and loss is evaluated.</a:t>
            </a:r>
            <a:endParaRPr lang="en-US" sz="2000" dirty="0"/>
          </a:p>
        </p:txBody>
      </p:sp>
      <p:pic>
        <p:nvPicPr>
          <p:cNvPr id="4" name="Image 0" descr="preencoded.png"/>
          <p:cNvPicPr>
            <a:picLocks noChangeAspect="1"/>
          </p:cNvPicPr>
          <p:nvPr/>
        </p:nvPicPr>
        <p:blipFill>
          <a:blip r:embed="rId3"/>
          <a:stretch>
            <a:fillRect/>
          </a:stretch>
        </p:blipFill>
        <p:spPr>
          <a:xfrm>
            <a:off x="3452217" y="2535079"/>
            <a:ext cx="7725966" cy="4585454"/>
          </a:xfrm>
          <a:prstGeom prst="rect">
            <a:avLst/>
          </a:prstGeom>
        </p:spPr>
      </p:pic>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15611" y="3655840"/>
            <a:ext cx="657714" cy="657715"/>
          </a:xfrm>
          <a:prstGeom prst="rect">
            <a:avLst/>
          </a:prstGeom>
        </p:spPr>
      </p:pic>
      <p:sp>
        <p:nvSpPr>
          <p:cNvPr id="6" name="Text 2"/>
          <p:cNvSpPr/>
          <p:nvPr/>
        </p:nvSpPr>
        <p:spPr>
          <a:xfrm>
            <a:off x="8829628" y="6047662"/>
            <a:ext cx="1920527" cy="388463"/>
          </a:xfrm>
          <a:prstGeom prst="rect">
            <a:avLst/>
          </a:prstGeom>
          <a:noFill/>
          <a:ln/>
        </p:spPr>
        <p:txBody>
          <a:bodyPr wrap="none" lIns="0" tIns="0" rIns="0" bIns="0" rtlCol="0" anchor="t"/>
          <a:lstStyle/>
          <a:p>
            <a:pPr marL="0" indent="0" algn="ctr">
              <a:lnSpc>
                <a:spcPts val="3050"/>
              </a:lnSpc>
              <a:buNone/>
            </a:pPr>
            <a:r>
              <a:rPr lang="en-US" sz="2400" dirty="0">
                <a:solidFill>
                  <a:srgbClr val="383838"/>
                </a:solidFill>
                <a:latin typeface="PT Serif" pitchFamily="34" charset="0"/>
                <a:ea typeface="PT Serif" pitchFamily="34" charset="-122"/>
                <a:cs typeface="PT Serif" pitchFamily="34" charset="-120"/>
              </a:rPr>
              <a:t>Output</a:t>
            </a:r>
            <a:endParaRPr lang="en-US" sz="24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07758" y="3657073"/>
            <a:ext cx="657715" cy="657715"/>
          </a:xfrm>
          <a:prstGeom prst="rect">
            <a:avLst/>
          </a:prstGeom>
        </p:spPr>
      </p:pic>
      <p:sp>
        <p:nvSpPr>
          <p:cNvPr id="8" name="Text 3"/>
          <p:cNvSpPr/>
          <p:nvPr/>
        </p:nvSpPr>
        <p:spPr>
          <a:xfrm>
            <a:off x="6409237" y="6047662"/>
            <a:ext cx="1920528" cy="388463"/>
          </a:xfrm>
          <a:prstGeom prst="rect">
            <a:avLst/>
          </a:prstGeom>
          <a:noFill/>
          <a:ln/>
        </p:spPr>
        <p:txBody>
          <a:bodyPr wrap="none" lIns="0" tIns="0" rIns="0" bIns="0" rtlCol="0" anchor="t"/>
          <a:lstStyle/>
          <a:p>
            <a:pPr marL="0" indent="0" algn="ctr">
              <a:lnSpc>
                <a:spcPts val="3050"/>
              </a:lnSpc>
              <a:buNone/>
            </a:pPr>
            <a:r>
              <a:rPr lang="en-US" sz="2400" dirty="0">
                <a:solidFill>
                  <a:srgbClr val="383838"/>
                </a:solidFill>
                <a:latin typeface="PT Serif" pitchFamily="34" charset="0"/>
                <a:ea typeface="PT Serif" pitchFamily="34" charset="-122"/>
                <a:cs typeface="PT Serif" pitchFamily="34" charset="-120"/>
              </a:rPr>
              <a:t>Compute</a:t>
            </a:r>
            <a:endParaRPr lang="en-US" sz="2400" dirty="0"/>
          </a:p>
        </p:txBody>
      </p:sp>
      <p:pic>
        <p:nvPicPr>
          <p:cNvPr id="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87367" y="3657073"/>
            <a:ext cx="657715" cy="657715"/>
          </a:xfrm>
          <a:prstGeom prst="rect">
            <a:avLst/>
          </a:prstGeom>
        </p:spPr>
      </p:pic>
      <p:sp>
        <p:nvSpPr>
          <p:cNvPr id="10" name="Text 4"/>
          <p:cNvSpPr/>
          <p:nvPr/>
        </p:nvSpPr>
        <p:spPr>
          <a:xfrm>
            <a:off x="3949383" y="6047662"/>
            <a:ext cx="1920527" cy="388463"/>
          </a:xfrm>
          <a:prstGeom prst="rect">
            <a:avLst/>
          </a:prstGeom>
          <a:noFill/>
          <a:ln/>
        </p:spPr>
        <p:txBody>
          <a:bodyPr wrap="none" lIns="0" tIns="0" rIns="0" bIns="0" rtlCol="0" anchor="t"/>
          <a:lstStyle/>
          <a:p>
            <a:pPr marL="0" indent="0" algn="ctr">
              <a:lnSpc>
                <a:spcPts val="3050"/>
              </a:lnSpc>
              <a:buNone/>
            </a:pPr>
            <a:r>
              <a:rPr lang="en-US" sz="2400" dirty="0">
                <a:solidFill>
                  <a:srgbClr val="383838"/>
                </a:solidFill>
                <a:latin typeface="PT Serif" pitchFamily="34" charset="0"/>
                <a:ea typeface="PT Serif" pitchFamily="34" charset="-122"/>
                <a:cs typeface="PT Serif" pitchFamily="34" charset="-120"/>
              </a:rPr>
              <a:t>Input</a:t>
            </a:r>
            <a:endParaRPr lang="en-US" sz="2400" dirty="0"/>
          </a:p>
        </p:txBody>
      </p:sp>
      <p:sp>
        <p:nvSpPr>
          <p:cNvPr id="11" name="Text 5"/>
          <p:cNvSpPr/>
          <p:nvPr/>
        </p:nvSpPr>
        <p:spPr>
          <a:xfrm>
            <a:off x="737949" y="7341037"/>
            <a:ext cx="13154501" cy="325398"/>
          </a:xfrm>
          <a:prstGeom prst="rect">
            <a:avLst/>
          </a:prstGeom>
          <a:noFill/>
          <a:ln/>
        </p:spPr>
        <p:txBody>
          <a:bodyPr wrap="none" lIns="0" tIns="0" rIns="0" bIns="0" rtlCol="0" anchor="t"/>
          <a:lstStyle/>
          <a:p>
            <a:pPr marL="0" indent="0" algn="l">
              <a:lnSpc>
                <a:spcPts val="2550"/>
              </a:lnSpc>
              <a:buNone/>
            </a:pPr>
            <a:r>
              <a:rPr lang="en-US" sz="2000" dirty="0">
                <a:solidFill>
                  <a:srgbClr val="383838"/>
                </a:solidFill>
                <a:latin typeface="DM Sans" pitchFamily="34" charset="0"/>
                <a:ea typeface="DM Sans" pitchFamily="34" charset="-122"/>
                <a:cs typeface="DM Sans" pitchFamily="34" charset="-120"/>
              </a:rPr>
              <a:t>The forward pass transforms raw inputs into a prediction — the starting point for measuring how wrong the </a:t>
            </a:r>
          </a:p>
          <a:p>
            <a:pPr marL="0" indent="0" algn="l">
              <a:lnSpc>
                <a:spcPts val="2550"/>
              </a:lnSpc>
              <a:buNone/>
            </a:pPr>
            <a:r>
              <a:rPr lang="en-US" sz="2000" dirty="0">
                <a:solidFill>
                  <a:srgbClr val="383838"/>
                </a:solidFill>
                <a:latin typeface="DM Sans" pitchFamily="34" charset="0"/>
                <a:ea typeface="DM Sans" pitchFamily="34" charset="-122"/>
                <a:cs typeface="DM Sans" pitchFamily="34" charset="-120"/>
              </a:rPr>
              <a:t>network is.</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935574"/>
            <a:ext cx="5954197"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Backpropagation</a:t>
            </a:r>
            <a:endParaRPr lang="en-US" sz="4650" dirty="0"/>
          </a:p>
        </p:txBody>
      </p:sp>
      <p:sp>
        <p:nvSpPr>
          <p:cNvPr id="3" name="Text 1"/>
          <p:cNvSpPr/>
          <p:nvPr/>
        </p:nvSpPr>
        <p:spPr>
          <a:xfrm>
            <a:off x="793789" y="2244378"/>
            <a:ext cx="13042821" cy="725805"/>
          </a:xfrm>
          <a:prstGeom prst="rect">
            <a:avLst/>
          </a:prstGeom>
          <a:noFill/>
          <a:ln/>
        </p:spPr>
        <p:txBody>
          <a:bodyPr wrap="square" lIns="0" tIns="0" rIns="0" bIns="0" rtlCol="0" anchor="t"/>
          <a:lstStyle/>
          <a:p>
            <a:pPr>
              <a:lnSpc>
                <a:spcPts val="2850"/>
              </a:lnSpc>
            </a:pPr>
            <a:r>
              <a:rPr lang="en-US" sz="2000" dirty="0">
                <a:solidFill>
                  <a:srgbClr val="383838"/>
                </a:solidFill>
                <a:latin typeface="DM Sans" pitchFamily="34" charset="0"/>
                <a:ea typeface="DM Sans" pitchFamily="34" charset="-122"/>
                <a:cs typeface="DM Sans" pitchFamily="34" charset="-120"/>
              </a:rPr>
              <a:t>After comparing the prediction with the true value, a loss (error) is obtained. </a:t>
            </a:r>
            <a:r>
              <a:rPr lang="en-IN" sz="2000" dirty="0"/>
              <a:t>Backpropagation propagates the </a:t>
            </a:r>
            <a:r>
              <a:rPr lang="en-IN" sz="2000" b="1" dirty="0"/>
              <a:t>gradients of the loss</a:t>
            </a:r>
            <a:r>
              <a:rPr lang="en-IN" sz="2000" dirty="0"/>
              <a:t> backward through the network to quantify how each neuron and weight contributed to the final prediction error.</a:t>
            </a:r>
            <a:endParaRPr lang="en-US" sz="2000" dirty="0"/>
          </a:p>
        </p:txBody>
      </p:sp>
      <p:sp>
        <p:nvSpPr>
          <p:cNvPr id="4" name="Shape 2"/>
          <p:cNvSpPr/>
          <p:nvPr/>
        </p:nvSpPr>
        <p:spPr>
          <a:xfrm>
            <a:off x="763310" y="4012406"/>
            <a:ext cx="60960" cy="2383631"/>
          </a:xfrm>
          <a:prstGeom prst="rect">
            <a:avLst/>
          </a:prstGeom>
          <a:solidFill>
            <a:srgbClr val="E04F00"/>
          </a:solidFill>
          <a:ln/>
        </p:spPr>
      </p:sp>
      <p:sp>
        <p:nvSpPr>
          <p:cNvPr id="5" name="Text 3"/>
          <p:cNvSpPr/>
          <p:nvPr/>
        </p:nvSpPr>
        <p:spPr>
          <a:xfrm>
            <a:off x="1081564" y="4042886"/>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Key Idea</a:t>
            </a:r>
            <a:endParaRPr lang="en-US" sz="2300" dirty="0"/>
          </a:p>
        </p:txBody>
      </p:sp>
      <p:sp>
        <p:nvSpPr>
          <p:cNvPr id="6" name="Text 4"/>
          <p:cNvSpPr/>
          <p:nvPr/>
        </p:nvSpPr>
        <p:spPr>
          <a:xfrm>
            <a:off x="1081564" y="4551045"/>
            <a:ext cx="3870841" cy="1451610"/>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If a neuron strongly influenced the wrong prediction, its weights change more. If it had little influence, its weights change less.</a:t>
            </a:r>
            <a:endParaRPr lang="en-US" dirty="0"/>
          </a:p>
        </p:txBody>
      </p:sp>
      <p:sp>
        <p:nvSpPr>
          <p:cNvPr id="7" name="Shape 5"/>
          <p:cNvSpPr/>
          <p:nvPr/>
        </p:nvSpPr>
        <p:spPr>
          <a:xfrm>
            <a:off x="5205413" y="4012406"/>
            <a:ext cx="60960" cy="2383631"/>
          </a:xfrm>
          <a:prstGeom prst="rect">
            <a:avLst/>
          </a:prstGeom>
          <a:solidFill>
            <a:srgbClr val="E04F00"/>
          </a:solidFill>
          <a:ln/>
        </p:spPr>
      </p:sp>
      <p:sp>
        <p:nvSpPr>
          <p:cNvPr id="8" name="Text 6"/>
          <p:cNvSpPr/>
          <p:nvPr/>
        </p:nvSpPr>
        <p:spPr>
          <a:xfrm>
            <a:off x="5523667" y="4042886"/>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Chain Rule</a:t>
            </a:r>
            <a:endParaRPr lang="en-US" sz="2300" dirty="0"/>
          </a:p>
        </p:txBody>
      </p:sp>
      <p:sp>
        <p:nvSpPr>
          <p:cNvPr id="9" name="Text 7"/>
          <p:cNvSpPr/>
          <p:nvPr/>
        </p:nvSpPr>
        <p:spPr>
          <a:xfrm>
            <a:off x="5523667" y="4551045"/>
            <a:ext cx="3870841" cy="1814513"/>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Using calculus, the algorithm computes how sensitive the loss is to each weight — these gradients are used by gradient descent to update parameters.</a:t>
            </a:r>
            <a:endParaRPr lang="en-US" dirty="0"/>
          </a:p>
        </p:txBody>
      </p:sp>
      <p:sp>
        <p:nvSpPr>
          <p:cNvPr id="10" name="Shape 8"/>
          <p:cNvSpPr/>
          <p:nvPr/>
        </p:nvSpPr>
        <p:spPr>
          <a:xfrm>
            <a:off x="9647515" y="4012406"/>
            <a:ext cx="60960" cy="2383631"/>
          </a:xfrm>
          <a:prstGeom prst="rect">
            <a:avLst/>
          </a:prstGeom>
          <a:solidFill>
            <a:srgbClr val="E04F00"/>
          </a:solidFill>
          <a:ln/>
        </p:spPr>
      </p:sp>
      <p:sp>
        <p:nvSpPr>
          <p:cNvPr id="11" name="Text 9"/>
          <p:cNvSpPr/>
          <p:nvPr/>
        </p:nvSpPr>
        <p:spPr>
          <a:xfrm>
            <a:off x="9965769" y="4042886"/>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In Simple Terms</a:t>
            </a:r>
            <a:endParaRPr lang="en-US" sz="2300" dirty="0"/>
          </a:p>
        </p:txBody>
      </p:sp>
      <p:sp>
        <p:nvSpPr>
          <p:cNvPr id="12" name="Text 10"/>
          <p:cNvSpPr/>
          <p:nvPr/>
        </p:nvSpPr>
        <p:spPr>
          <a:xfrm>
            <a:off x="9965769" y="4551045"/>
            <a:ext cx="3870841" cy="1088708"/>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a:t>
            </a:r>
            <a:r>
              <a:rPr lang="en-US" dirty="0">
                <a:solidFill>
                  <a:srgbClr val="383838"/>
                </a:solidFill>
                <a:latin typeface="DM Sans" pitchFamily="34" charset="0"/>
                <a:ea typeface="DM Sans" pitchFamily="34" charset="-122"/>
                <a:cs typeface="DM Sans" pitchFamily="34" charset="-120"/>
              </a:rPr>
              <a:t>How much did each weight contribute to the final prediction error?"</a:t>
            </a:r>
            <a:endParaRPr lang="en-US" dirty="0"/>
          </a:p>
        </p:txBody>
      </p:sp>
      <p:sp>
        <p:nvSpPr>
          <p:cNvPr id="13" name="TextBox 12">
            <a:extLst>
              <a:ext uri="{FF2B5EF4-FFF2-40B4-BE49-F238E27FC236}">
                <a16:creationId xmlns:a16="http://schemas.microsoft.com/office/drawing/2014/main" id="{4BFDC713-7698-7D41-826E-13A06E9FC793}"/>
              </a:ext>
            </a:extLst>
          </p:cNvPr>
          <p:cNvSpPr txBox="1"/>
          <p:nvPr/>
        </p:nvSpPr>
        <p:spPr>
          <a:xfrm>
            <a:off x="548640" y="7104185"/>
            <a:ext cx="14034611" cy="646331"/>
          </a:xfrm>
          <a:prstGeom prst="rect">
            <a:avLst/>
          </a:prstGeom>
          <a:noFill/>
        </p:spPr>
        <p:txBody>
          <a:bodyPr wrap="none" rtlCol="0">
            <a:spAutoFit/>
          </a:bodyPr>
          <a:lstStyle/>
          <a:p>
            <a:r>
              <a:rPr lang="en-US" dirty="0">
                <a:latin typeface="DM Sans" pitchFamily="2" charset="0"/>
              </a:rPr>
              <a:t>Note: </a:t>
            </a:r>
            <a:r>
              <a:rPr lang="en-IN" dirty="0">
                <a:latin typeface="DM Sans" pitchFamily="2" charset="0"/>
              </a:rPr>
              <a:t>Weight updates depend on the gradient of the loss with respect to each weight — larger gradients lead to larger parameter </a:t>
            </a:r>
          </a:p>
          <a:p>
            <a:r>
              <a:rPr lang="en-IN" dirty="0">
                <a:latin typeface="DM Sans" pitchFamily="2" charset="0"/>
              </a:rPr>
              <a:t>updates.</a:t>
            </a:r>
            <a:endParaRPr lang="en-US" dirty="0">
              <a:latin typeface="DM Sans" pitchFamily="2"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617345"/>
            <a:ext cx="9431536"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Backpropagation: Intuitive Analogy</a:t>
            </a:r>
            <a:endParaRPr lang="en-US" sz="4650" dirty="0"/>
          </a:p>
        </p:txBody>
      </p:sp>
      <p:sp>
        <p:nvSpPr>
          <p:cNvPr id="3" name="Text 1"/>
          <p:cNvSpPr/>
          <p:nvPr/>
        </p:nvSpPr>
        <p:spPr>
          <a:xfrm>
            <a:off x="1133951" y="3070384"/>
            <a:ext cx="12702659" cy="725805"/>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Think of a neural network as a </a:t>
            </a:r>
            <a:r>
              <a:rPr lang="en-US" b="1" dirty="0">
                <a:solidFill>
                  <a:srgbClr val="383838"/>
                </a:solidFill>
                <a:latin typeface="DM Sans" pitchFamily="34" charset="0"/>
                <a:ea typeface="DM Sans" pitchFamily="34" charset="-122"/>
                <a:cs typeface="DM Sans" pitchFamily="34" charset="-120"/>
              </a:rPr>
              <a:t>multi-stage factory</a:t>
            </a:r>
            <a:r>
              <a:rPr lang="en-US" dirty="0">
                <a:solidFill>
                  <a:srgbClr val="383838"/>
                </a:solidFill>
                <a:latin typeface="DM Sans" pitchFamily="34" charset="0"/>
                <a:ea typeface="DM Sans" pitchFamily="34" charset="-122"/>
                <a:cs typeface="DM Sans" pitchFamily="34" charset="-120"/>
              </a:rPr>
              <a:t> producing a final output. Raw material (input data) passes through several stages (layers). Finally, a finished product (prediction) is produced.</a:t>
            </a:r>
            <a:endParaRPr lang="en-US" dirty="0"/>
          </a:p>
        </p:txBody>
      </p:sp>
      <p:sp>
        <p:nvSpPr>
          <p:cNvPr id="4" name="Shape 2"/>
          <p:cNvSpPr/>
          <p:nvPr/>
        </p:nvSpPr>
        <p:spPr>
          <a:xfrm>
            <a:off x="793790" y="2815233"/>
            <a:ext cx="30480" cy="1236107"/>
          </a:xfrm>
          <a:prstGeom prst="rect">
            <a:avLst/>
          </a:prstGeom>
          <a:solidFill>
            <a:srgbClr val="E04F00"/>
          </a:solidFill>
          <a:ln/>
        </p:spPr>
      </p:sp>
      <p:sp>
        <p:nvSpPr>
          <p:cNvPr id="5" name="Text 3"/>
          <p:cNvSpPr/>
          <p:nvPr/>
        </p:nvSpPr>
        <p:spPr>
          <a:xfrm>
            <a:off x="793790" y="4306491"/>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I</a:t>
            </a:r>
            <a:r>
              <a:rPr lang="en-US" dirty="0">
                <a:solidFill>
                  <a:srgbClr val="383838"/>
                </a:solidFill>
                <a:latin typeface="DM Sans" pitchFamily="34" charset="0"/>
                <a:ea typeface="DM Sans" pitchFamily="34" charset="-122"/>
                <a:cs typeface="DM Sans" pitchFamily="34" charset="-120"/>
              </a:rPr>
              <a:t>f the final product is defective (prediction error), we must determine which stage contributed how much to the defect. Backpropagation sends the error signal backward, assigning responsibility based on each stage's influence.</a:t>
            </a:r>
            <a:endParaRPr lang="en-US" dirty="0"/>
          </a:p>
        </p:txBody>
      </p:sp>
      <p:sp>
        <p:nvSpPr>
          <p:cNvPr id="6" name="Shape 4"/>
          <p:cNvSpPr/>
          <p:nvPr/>
        </p:nvSpPr>
        <p:spPr>
          <a:xfrm>
            <a:off x="793790" y="5287447"/>
            <a:ext cx="13042821" cy="1324689"/>
          </a:xfrm>
          <a:prstGeom prst="roundRect">
            <a:avLst>
              <a:gd name="adj" fmla="val 2568"/>
            </a:avLst>
          </a:prstGeom>
          <a:solidFill>
            <a:srgbClr val="F2EEEE"/>
          </a:solidFill>
          <a:ln/>
        </p:spPr>
      </p:sp>
      <p:sp>
        <p:nvSpPr>
          <p:cNvPr id="7" name="Shape 5"/>
          <p:cNvSpPr/>
          <p:nvPr/>
        </p:nvSpPr>
        <p:spPr>
          <a:xfrm>
            <a:off x="793790" y="5287447"/>
            <a:ext cx="6521410" cy="1324689"/>
          </a:xfrm>
          <a:prstGeom prst="roundRect">
            <a:avLst>
              <a:gd name="adj" fmla="val 2568"/>
            </a:avLst>
          </a:prstGeom>
          <a:solidFill>
            <a:srgbClr val="F2EEEE"/>
          </a:solidFill>
          <a:ln/>
        </p:spPr>
      </p:sp>
      <p:sp>
        <p:nvSpPr>
          <p:cNvPr id="8" name="Text 6"/>
          <p:cNvSpPr/>
          <p:nvPr/>
        </p:nvSpPr>
        <p:spPr>
          <a:xfrm>
            <a:off x="1020604" y="5514261"/>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Forward Pass</a:t>
            </a:r>
            <a:endParaRPr lang="en-US" sz="2300" dirty="0"/>
          </a:p>
        </p:txBody>
      </p:sp>
      <p:sp>
        <p:nvSpPr>
          <p:cNvPr id="9" name="Text 7"/>
          <p:cNvSpPr/>
          <p:nvPr/>
        </p:nvSpPr>
        <p:spPr>
          <a:xfrm>
            <a:off x="1020604" y="6022419"/>
            <a:ext cx="5727621" cy="362903"/>
          </a:xfrm>
          <a:prstGeom prst="rect">
            <a:avLst/>
          </a:prstGeom>
          <a:noFill/>
          <a:ln/>
        </p:spPr>
        <p:txBody>
          <a:bodyPr wrap="non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Makes the prediction.</a:t>
            </a:r>
            <a:endParaRPr lang="en-US" sz="2000" dirty="0"/>
          </a:p>
        </p:txBody>
      </p:sp>
      <p:sp>
        <p:nvSpPr>
          <p:cNvPr id="10" name="Shape 8"/>
          <p:cNvSpPr/>
          <p:nvPr/>
        </p:nvSpPr>
        <p:spPr>
          <a:xfrm>
            <a:off x="7315200" y="5287447"/>
            <a:ext cx="6521410" cy="1324689"/>
          </a:xfrm>
          <a:prstGeom prst="rect">
            <a:avLst/>
          </a:prstGeom>
          <a:solidFill>
            <a:srgbClr val="F2EEEE"/>
          </a:solidFill>
          <a:ln/>
        </p:spPr>
      </p:sp>
      <p:sp>
        <p:nvSpPr>
          <p:cNvPr id="11" name="Shape 9"/>
          <p:cNvSpPr/>
          <p:nvPr/>
        </p:nvSpPr>
        <p:spPr>
          <a:xfrm>
            <a:off x="7315200" y="5287447"/>
            <a:ext cx="30480" cy="1324689"/>
          </a:xfrm>
          <a:prstGeom prst="roundRect">
            <a:avLst>
              <a:gd name="adj" fmla="val 111628"/>
            </a:avLst>
          </a:prstGeom>
          <a:solidFill>
            <a:srgbClr val="D8D4D4"/>
          </a:solidFill>
          <a:ln/>
        </p:spPr>
      </p:sp>
      <p:sp>
        <p:nvSpPr>
          <p:cNvPr id="12" name="Text 10"/>
          <p:cNvSpPr/>
          <p:nvPr/>
        </p:nvSpPr>
        <p:spPr>
          <a:xfrm>
            <a:off x="7882176" y="5514261"/>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Backward Pass</a:t>
            </a:r>
            <a:endParaRPr lang="en-US" sz="2300" dirty="0"/>
          </a:p>
        </p:txBody>
      </p:sp>
      <p:sp>
        <p:nvSpPr>
          <p:cNvPr id="13" name="Text 11"/>
          <p:cNvSpPr/>
          <p:nvPr/>
        </p:nvSpPr>
        <p:spPr>
          <a:xfrm>
            <a:off x="7882176" y="6022419"/>
            <a:ext cx="5727621" cy="362903"/>
          </a:xfrm>
          <a:prstGeom prst="rect">
            <a:avLst/>
          </a:prstGeom>
          <a:noFill/>
          <a:ln/>
        </p:spPr>
        <p:txBody>
          <a:bodyPr wrap="non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Explains the mistake.</a:t>
            </a:r>
            <a:endParaRPr lang="en-US" sz="2000" dirty="0"/>
          </a:p>
        </p:txBody>
      </p:sp>
      <p:sp>
        <p:nvSpPr>
          <p:cNvPr id="14" name="Shape 12"/>
          <p:cNvSpPr/>
          <p:nvPr/>
        </p:nvSpPr>
        <p:spPr>
          <a:xfrm>
            <a:off x="7031712" y="5666303"/>
            <a:ext cx="566976" cy="566976"/>
          </a:xfrm>
          <a:prstGeom prst="roundRect">
            <a:avLst>
              <a:gd name="adj" fmla="val 6001"/>
            </a:avLst>
          </a:prstGeom>
          <a:solidFill>
            <a:srgbClr val="FFFFFF"/>
          </a:solidFill>
          <a:ln w="30480">
            <a:solidFill>
              <a:srgbClr val="D8D4D4"/>
            </a:solidFill>
            <a:prstDash val="solid"/>
          </a:ln>
        </p:spPr>
      </p:sp>
      <p:pic>
        <p:nvPicPr>
          <p:cNvPr id="1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73397" y="5807988"/>
            <a:ext cx="283488" cy="2834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125379"/>
            <a:ext cx="8268891"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Gradient Descent Optimization</a:t>
            </a:r>
            <a:endParaRPr lang="en-US" sz="4650" dirty="0"/>
          </a:p>
        </p:txBody>
      </p:sp>
      <p:sp>
        <p:nvSpPr>
          <p:cNvPr id="3" name="Text 1"/>
          <p:cNvSpPr/>
          <p:nvPr/>
        </p:nvSpPr>
        <p:spPr>
          <a:xfrm>
            <a:off x="907137" y="2514302"/>
            <a:ext cx="13596654" cy="725805"/>
          </a:xfrm>
          <a:prstGeom prst="rect">
            <a:avLst/>
          </a:prstGeom>
          <a:noFill/>
          <a:ln/>
        </p:spPr>
        <p:txBody>
          <a:bodyPr wrap="squar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Gradient Descent finds parameter values (weights and biases) that minimize the loss function. The gradient indicates the direction in which loss increases most rapidly — so parameters are updated in the </a:t>
            </a:r>
            <a:r>
              <a:rPr lang="en-US" sz="2000" b="1" dirty="0">
                <a:solidFill>
                  <a:srgbClr val="383838"/>
                </a:solidFill>
                <a:latin typeface="DM Sans" pitchFamily="34" charset="0"/>
                <a:ea typeface="DM Sans" pitchFamily="34" charset="-122"/>
                <a:cs typeface="DM Sans" pitchFamily="34" charset="-120"/>
              </a:rPr>
              <a:t>opposite direction</a:t>
            </a:r>
            <a:r>
              <a:rPr lang="en-US" sz="2000" dirty="0">
                <a:solidFill>
                  <a:srgbClr val="383838"/>
                </a:solidFill>
                <a:latin typeface="DM Sans" pitchFamily="34" charset="0"/>
                <a:ea typeface="DM Sans" pitchFamily="34" charset="-122"/>
                <a:cs typeface="DM Sans" pitchFamily="34" charset="-120"/>
              </a:rPr>
              <a:t>.</a:t>
            </a:r>
            <a:endParaRPr lang="en-US" sz="2000" dirty="0"/>
          </a:p>
        </p:txBody>
      </p:sp>
      <p:sp>
        <p:nvSpPr>
          <p:cNvPr id="4" name="Text 2"/>
          <p:cNvSpPr/>
          <p:nvPr/>
        </p:nvSpPr>
        <p:spPr>
          <a:xfrm>
            <a:off x="793790" y="3884771"/>
            <a:ext cx="13042821" cy="635198"/>
          </a:xfrm>
          <a:prstGeom prst="rect">
            <a:avLst/>
          </a:prstGeom>
          <a:noFill/>
          <a:ln/>
        </p:spPr>
        <p:txBody>
          <a:bodyPr wrap="square" lIns="0" tIns="0" rIns="0" bIns="0" rtlCol="0" anchor="t"/>
          <a:lstStyle/>
          <a:p>
            <a:pPr marL="0" indent="0" algn="l">
              <a:lnSpc>
                <a:spcPts val="3200"/>
              </a:lnSpc>
              <a:buNone/>
            </a:pPr>
            <a:endParaRPr lang="en-US" sz="2000" dirty="0"/>
          </a:p>
        </p:txBody>
      </p:sp>
      <p:pic>
        <p:nvPicPr>
          <p:cNvPr id="5" name="Image 0" descr="preencoded.png"/>
          <p:cNvPicPr>
            <a:picLocks noChangeAspect="1"/>
          </p:cNvPicPr>
          <p:nvPr/>
        </p:nvPicPr>
        <p:blipFill>
          <a:blip r:embed="rId3"/>
          <a:stretch>
            <a:fillRect/>
          </a:stretch>
        </p:blipFill>
        <p:spPr>
          <a:xfrm>
            <a:off x="793790" y="3884771"/>
            <a:ext cx="13042821" cy="635198"/>
          </a:xfrm>
          <a:prstGeom prst="rect">
            <a:avLst/>
          </a:prstGeom>
        </p:spPr>
      </p:pic>
      <p:sp>
        <p:nvSpPr>
          <p:cNvPr id="6" name="Shape 3"/>
          <p:cNvSpPr/>
          <p:nvPr/>
        </p:nvSpPr>
        <p:spPr>
          <a:xfrm>
            <a:off x="793790" y="4807029"/>
            <a:ext cx="3090505" cy="1748552"/>
          </a:xfrm>
          <a:prstGeom prst="roundRect">
            <a:avLst>
              <a:gd name="adj" fmla="val 1946"/>
            </a:avLst>
          </a:prstGeom>
          <a:solidFill>
            <a:srgbClr val="FFFFFF"/>
          </a:solidFill>
          <a:ln w="30480">
            <a:solidFill>
              <a:srgbClr val="D8D4D4"/>
            </a:solidFill>
            <a:prstDash val="solid"/>
          </a:ln>
        </p:spPr>
      </p:sp>
      <p:sp>
        <p:nvSpPr>
          <p:cNvPr id="7" name="Text 4"/>
          <p:cNvSpPr/>
          <p:nvPr/>
        </p:nvSpPr>
        <p:spPr>
          <a:xfrm>
            <a:off x="1051084" y="5064323"/>
            <a:ext cx="2575917"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w</a:t>
            </a:r>
            <a:endParaRPr lang="en-US" sz="2300" dirty="0"/>
          </a:p>
        </p:txBody>
      </p:sp>
      <p:sp>
        <p:nvSpPr>
          <p:cNvPr id="8" name="Text 5"/>
          <p:cNvSpPr/>
          <p:nvPr/>
        </p:nvSpPr>
        <p:spPr>
          <a:xfrm>
            <a:off x="1051084" y="5572482"/>
            <a:ext cx="2575917" cy="362903"/>
          </a:xfrm>
          <a:prstGeom prst="rect">
            <a:avLst/>
          </a:prstGeom>
          <a:noFill/>
          <a:ln/>
        </p:spPr>
        <p:txBody>
          <a:bodyPr wrap="non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Model parameter</a:t>
            </a:r>
            <a:endParaRPr lang="en-US" sz="2000" dirty="0"/>
          </a:p>
        </p:txBody>
      </p:sp>
      <p:sp>
        <p:nvSpPr>
          <p:cNvPr id="9" name="Shape 6"/>
          <p:cNvSpPr/>
          <p:nvPr/>
        </p:nvSpPr>
        <p:spPr>
          <a:xfrm>
            <a:off x="4111109" y="4807029"/>
            <a:ext cx="3090624" cy="1748552"/>
          </a:xfrm>
          <a:prstGeom prst="roundRect">
            <a:avLst>
              <a:gd name="adj" fmla="val 1946"/>
            </a:avLst>
          </a:prstGeom>
          <a:solidFill>
            <a:srgbClr val="FFFFFF"/>
          </a:solidFill>
          <a:ln w="30480">
            <a:solidFill>
              <a:srgbClr val="D8D4D4"/>
            </a:solidFill>
            <a:prstDash val="solid"/>
          </a:ln>
        </p:spPr>
      </p:sp>
      <p:sp>
        <p:nvSpPr>
          <p:cNvPr id="10" name="Text 7"/>
          <p:cNvSpPr/>
          <p:nvPr/>
        </p:nvSpPr>
        <p:spPr>
          <a:xfrm>
            <a:off x="4368403" y="5064323"/>
            <a:ext cx="2576036"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J</a:t>
            </a:r>
            <a:endParaRPr lang="en-US" sz="2300" dirty="0"/>
          </a:p>
        </p:txBody>
      </p:sp>
      <p:sp>
        <p:nvSpPr>
          <p:cNvPr id="11" name="Text 8"/>
          <p:cNvSpPr/>
          <p:nvPr/>
        </p:nvSpPr>
        <p:spPr>
          <a:xfrm>
            <a:off x="4368403" y="5572482"/>
            <a:ext cx="2576036" cy="362903"/>
          </a:xfrm>
          <a:prstGeom prst="rect">
            <a:avLst/>
          </a:prstGeom>
          <a:noFill/>
          <a:ln/>
        </p:spPr>
        <p:txBody>
          <a:bodyPr wrap="non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Loss function</a:t>
            </a:r>
            <a:endParaRPr lang="en-US" sz="2000" dirty="0"/>
          </a:p>
        </p:txBody>
      </p:sp>
      <p:sp>
        <p:nvSpPr>
          <p:cNvPr id="12" name="Shape 9"/>
          <p:cNvSpPr/>
          <p:nvPr/>
        </p:nvSpPr>
        <p:spPr>
          <a:xfrm>
            <a:off x="7428548" y="4807029"/>
            <a:ext cx="3090624" cy="1748552"/>
          </a:xfrm>
          <a:prstGeom prst="roundRect">
            <a:avLst>
              <a:gd name="adj" fmla="val 1946"/>
            </a:avLst>
          </a:prstGeom>
          <a:solidFill>
            <a:srgbClr val="FFFFFF"/>
          </a:solidFill>
          <a:ln w="30480">
            <a:solidFill>
              <a:srgbClr val="D8D4D4"/>
            </a:solidFill>
            <a:prstDash val="solid"/>
          </a:ln>
        </p:spPr>
      </p:sp>
      <p:sp>
        <p:nvSpPr>
          <p:cNvPr id="13" name="Text 10"/>
          <p:cNvSpPr/>
          <p:nvPr/>
        </p:nvSpPr>
        <p:spPr>
          <a:xfrm>
            <a:off x="7685842" y="5064323"/>
            <a:ext cx="2576036"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∂J/∂w</a:t>
            </a:r>
            <a:endParaRPr lang="en-US" sz="2300" dirty="0"/>
          </a:p>
        </p:txBody>
      </p:sp>
      <p:sp>
        <p:nvSpPr>
          <p:cNvPr id="14" name="Text 11"/>
          <p:cNvSpPr/>
          <p:nvPr/>
        </p:nvSpPr>
        <p:spPr>
          <a:xfrm>
            <a:off x="7685842" y="5572482"/>
            <a:ext cx="2576036" cy="725805"/>
          </a:xfrm>
          <a:prstGeom prst="rect">
            <a:avLst/>
          </a:prstGeom>
          <a:noFill/>
          <a:ln/>
        </p:spPr>
        <p:txBody>
          <a:bodyPr wrap="squar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Gradient (sensitivity of loss to parameter)</a:t>
            </a:r>
            <a:endParaRPr lang="en-US" sz="2000" dirty="0"/>
          </a:p>
        </p:txBody>
      </p:sp>
      <p:sp>
        <p:nvSpPr>
          <p:cNvPr id="15" name="Shape 12"/>
          <p:cNvSpPr/>
          <p:nvPr/>
        </p:nvSpPr>
        <p:spPr>
          <a:xfrm>
            <a:off x="10745986" y="4807029"/>
            <a:ext cx="3090624" cy="1748552"/>
          </a:xfrm>
          <a:prstGeom prst="roundRect">
            <a:avLst>
              <a:gd name="adj" fmla="val 1946"/>
            </a:avLst>
          </a:prstGeom>
          <a:solidFill>
            <a:srgbClr val="FFFFFF"/>
          </a:solidFill>
          <a:ln w="30480">
            <a:solidFill>
              <a:srgbClr val="D8D4D4"/>
            </a:solidFill>
            <a:prstDash val="solid"/>
          </a:ln>
        </p:spPr>
      </p:sp>
      <p:sp>
        <p:nvSpPr>
          <p:cNvPr id="16" name="Text 13"/>
          <p:cNvSpPr/>
          <p:nvPr/>
        </p:nvSpPr>
        <p:spPr>
          <a:xfrm>
            <a:off x="11003280" y="5064323"/>
            <a:ext cx="2576036"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η</a:t>
            </a:r>
            <a:endParaRPr lang="en-US" sz="2300" dirty="0"/>
          </a:p>
        </p:txBody>
      </p:sp>
      <p:sp>
        <p:nvSpPr>
          <p:cNvPr id="17" name="Text 14"/>
          <p:cNvSpPr/>
          <p:nvPr/>
        </p:nvSpPr>
        <p:spPr>
          <a:xfrm>
            <a:off x="11003280" y="5572482"/>
            <a:ext cx="2576036" cy="362903"/>
          </a:xfrm>
          <a:prstGeom prst="rect">
            <a:avLst/>
          </a:prstGeom>
          <a:noFill/>
          <a:ln/>
        </p:spPr>
        <p:txBody>
          <a:bodyPr wrap="non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Learning rate (step size)</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90990"/>
            <a:ext cx="7407675" cy="744260"/>
          </a:xfrm>
          <a:prstGeom prst="rect">
            <a:avLst/>
          </a:prstGeom>
          <a:noFill/>
          <a:ln/>
        </p:spPr>
        <p:txBody>
          <a:bodyPr wrap="none" lIns="0" tIns="0" rIns="0" bIns="0" rtlCol="0" anchor="t"/>
          <a:lstStyle/>
          <a:p>
            <a:pPr>
              <a:lnSpc>
                <a:spcPts val="5850"/>
              </a:lnSpc>
            </a:pPr>
            <a:r>
              <a:rPr lang="en-IN" sz="4800" dirty="0"/>
              <a:t>Gradient Descent Intuition</a:t>
            </a:r>
            <a:endParaRPr lang="en-US" sz="4650" dirty="0"/>
          </a:p>
        </p:txBody>
      </p:sp>
      <p:sp>
        <p:nvSpPr>
          <p:cNvPr id="3" name="Text 1"/>
          <p:cNvSpPr/>
          <p:nvPr/>
        </p:nvSpPr>
        <p:spPr>
          <a:xfrm>
            <a:off x="793790" y="2350654"/>
            <a:ext cx="13042821" cy="4964546"/>
          </a:xfrm>
          <a:prstGeom prst="rect">
            <a:avLst/>
          </a:prstGeom>
          <a:noFill/>
          <a:ln/>
        </p:spPr>
        <p:txBody>
          <a:bodyPr wrap="none" lIns="0" tIns="0" rIns="0" bIns="0" rtlCol="0" anchor="t"/>
          <a:lstStyle/>
          <a:p>
            <a:r>
              <a:rPr lang="en-IN" sz="2200" b="1" dirty="0">
                <a:latin typeface="DM Sans" pitchFamily="2" charset="0"/>
              </a:rPr>
              <a:t>Goal: Minimize Loss Function</a:t>
            </a:r>
          </a:p>
          <a:p>
            <a:endParaRPr lang="en-IN" sz="2200" b="1" dirty="0">
              <a:latin typeface="DM Sans" pitchFamily="2" charset="0"/>
            </a:endParaRPr>
          </a:p>
          <a:p>
            <a:r>
              <a:rPr lang="en-IN" sz="2200" dirty="0">
                <a:latin typeface="DM Sans" pitchFamily="2" charset="0"/>
              </a:rPr>
              <a:t>• Move in direction opposite to gradient</a:t>
            </a:r>
          </a:p>
          <a:p>
            <a:endParaRPr lang="en-IN" sz="2200" dirty="0">
              <a:latin typeface="DM Sans" pitchFamily="2" charset="0"/>
            </a:endParaRPr>
          </a:p>
          <a:p>
            <a:r>
              <a:rPr lang="en-IN" sz="2200" dirty="0">
                <a:latin typeface="DM Sans" pitchFamily="2" charset="0"/>
              </a:rPr>
              <a:t>• Learning rate controls step size</a:t>
            </a:r>
          </a:p>
          <a:p>
            <a:endParaRPr lang="en-IN" sz="2200" dirty="0">
              <a:latin typeface="DM Sans" pitchFamily="2" charset="0"/>
            </a:endParaRPr>
          </a:p>
          <a:p>
            <a:r>
              <a:rPr lang="en-IN" sz="2200" dirty="0">
                <a:latin typeface="DM Sans" pitchFamily="2" charset="0"/>
              </a:rPr>
              <a:t>• Iteratively reach optimal weights</a:t>
            </a:r>
          </a:p>
          <a:p>
            <a:endParaRPr lang="en-IN" sz="2200" dirty="0">
              <a:latin typeface="DM Sans" pitchFamily="2" charset="0"/>
            </a:endParaRPr>
          </a:p>
          <a:p>
            <a:r>
              <a:rPr lang="en-IN" sz="2200" dirty="0">
                <a:latin typeface="DM Sans" pitchFamily="2" charset="0"/>
              </a:rPr>
              <a:t>Think: Rolling down a hill to lowest point</a:t>
            </a:r>
          </a:p>
        </p:txBody>
      </p:sp>
      <p:sp>
        <p:nvSpPr>
          <p:cNvPr id="4" name="Text 2"/>
          <p:cNvSpPr/>
          <p:nvPr/>
        </p:nvSpPr>
        <p:spPr>
          <a:xfrm>
            <a:off x="793790" y="3854768"/>
            <a:ext cx="13042821" cy="393263"/>
          </a:xfrm>
          <a:prstGeom prst="rect">
            <a:avLst/>
          </a:prstGeom>
          <a:noFill/>
          <a:ln/>
        </p:spPr>
        <p:txBody>
          <a:bodyPr wrap="none" lIns="0" tIns="0" rIns="0" bIns="0" rtlCol="0" anchor="t"/>
          <a:lstStyle/>
          <a:p>
            <a:pPr marL="0" indent="0" algn="l">
              <a:lnSpc>
                <a:spcPts val="3200"/>
              </a:lnSpc>
              <a:buNone/>
            </a:pPr>
            <a:endParaRPr lang="en-US" sz="2000" dirty="0"/>
          </a:p>
        </p:txBody>
      </p:sp>
      <p:pic>
        <p:nvPicPr>
          <p:cNvPr id="12" name="Picture 11">
            <a:extLst>
              <a:ext uri="{FF2B5EF4-FFF2-40B4-BE49-F238E27FC236}">
                <a16:creationId xmlns:a16="http://schemas.microsoft.com/office/drawing/2014/main" id="{89919A68-84C7-8048-BFE8-DE1860B30B5B}"/>
              </a:ext>
            </a:extLst>
          </p:cNvPr>
          <p:cNvPicPr>
            <a:picLocks noChangeAspect="1"/>
          </p:cNvPicPr>
          <p:nvPr/>
        </p:nvPicPr>
        <p:blipFill>
          <a:blip r:embed="rId3"/>
          <a:stretch>
            <a:fillRect/>
          </a:stretch>
        </p:blipFill>
        <p:spPr>
          <a:xfrm>
            <a:off x="7526214" y="2138288"/>
            <a:ext cx="6499275" cy="4948311"/>
          </a:xfrm>
          <a:prstGeom prst="rect">
            <a:avLst/>
          </a:prstGeom>
        </p:spPr>
      </p:pic>
    </p:spTree>
    <p:extLst>
      <p:ext uri="{BB962C8B-B14F-4D97-AF65-F5344CB8AC3E}">
        <p14:creationId xmlns:p14="http://schemas.microsoft.com/office/powerpoint/2010/main" val="39656232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190990"/>
            <a:ext cx="5954197"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Role of Bias</a:t>
            </a:r>
            <a:endParaRPr lang="en-US" sz="4650" dirty="0"/>
          </a:p>
        </p:txBody>
      </p:sp>
      <p:sp>
        <p:nvSpPr>
          <p:cNvPr id="3" name="Text 1"/>
          <p:cNvSpPr/>
          <p:nvPr/>
        </p:nvSpPr>
        <p:spPr>
          <a:xfrm>
            <a:off x="793790" y="2350654"/>
            <a:ext cx="13042821" cy="362903"/>
          </a:xfrm>
          <a:prstGeom prst="rect">
            <a:avLst/>
          </a:prstGeom>
          <a:noFill/>
          <a:ln/>
        </p:spPr>
        <p:txBody>
          <a:bodyPr wrap="non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Bias plays a role similar to the intercept in regression:</a:t>
            </a:r>
            <a:endParaRPr lang="en-US" sz="2000" dirty="0"/>
          </a:p>
        </p:txBody>
      </p:sp>
      <p:sp>
        <p:nvSpPr>
          <p:cNvPr id="4" name="Text 2"/>
          <p:cNvSpPr/>
          <p:nvPr/>
        </p:nvSpPr>
        <p:spPr>
          <a:xfrm>
            <a:off x="793790" y="3854768"/>
            <a:ext cx="13042821" cy="393263"/>
          </a:xfrm>
          <a:prstGeom prst="rect">
            <a:avLst/>
          </a:prstGeom>
          <a:noFill/>
          <a:ln/>
        </p:spPr>
        <p:txBody>
          <a:bodyPr wrap="none" lIns="0" tIns="0" rIns="0" bIns="0" rtlCol="0" anchor="t"/>
          <a:lstStyle/>
          <a:p>
            <a:pPr marL="0" indent="0" algn="l">
              <a:lnSpc>
                <a:spcPts val="3200"/>
              </a:lnSpc>
              <a:buNone/>
            </a:pPr>
            <a:endParaRPr lang="en-US" sz="2000" dirty="0"/>
          </a:p>
        </p:txBody>
      </p:sp>
      <p:pic>
        <p:nvPicPr>
          <p:cNvPr id="5" name="Image 0" descr="preencoded.png"/>
          <p:cNvPicPr>
            <a:picLocks noChangeAspect="1"/>
          </p:cNvPicPr>
          <p:nvPr/>
        </p:nvPicPr>
        <p:blipFill>
          <a:blip r:embed="rId3"/>
          <a:stretch>
            <a:fillRect/>
          </a:stretch>
        </p:blipFill>
        <p:spPr>
          <a:xfrm>
            <a:off x="-3258631" y="2932329"/>
            <a:ext cx="13042821" cy="393263"/>
          </a:xfrm>
          <a:prstGeom prst="rect">
            <a:avLst/>
          </a:prstGeom>
        </p:spPr>
      </p:pic>
      <p:sp>
        <p:nvSpPr>
          <p:cNvPr id="6" name="Shape 3"/>
          <p:cNvSpPr/>
          <p:nvPr/>
        </p:nvSpPr>
        <p:spPr>
          <a:xfrm>
            <a:off x="793790" y="4535091"/>
            <a:ext cx="6407944" cy="1687592"/>
          </a:xfrm>
          <a:prstGeom prst="roundRect">
            <a:avLst>
              <a:gd name="adj" fmla="val 2016"/>
            </a:avLst>
          </a:prstGeom>
          <a:solidFill>
            <a:srgbClr val="F2EEEE"/>
          </a:solidFill>
          <a:ln/>
        </p:spPr>
      </p:sp>
      <p:sp>
        <p:nvSpPr>
          <p:cNvPr id="7" name="Text 4"/>
          <p:cNvSpPr/>
          <p:nvPr/>
        </p:nvSpPr>
        <p:spPr>
          <a:xfrm>
            <a:off x="1020604" y="4761905"/>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Without Bias</a:t>
            </a:r>
            <a:endParaRPr lang="en-US" sz="2300" dirty="0"/>
          </a:p>
        </p:txBody>
      </p:sp>
      <p:sp>
        <p:nvSpPr>
          <p:cNvPr id="8" name="Text 5"/>
          <p:cNvSpPr/>
          <p:nvPr/>
        </p:nvSpPr>
        <p:spPr>
          <a:xfrm>
            <a:off x="1020604" y="5270063"/>
            <a:ext cx="5954316" cy="725805"/>
          </a:xfrm>
          <a:prstGeom prst="rect">
            <a:avLst/>
          </a:prstGeom>
          <a:noFill/>
          <a:ln/>
        </p:spPr>
        <p:txBody>
          <a:bodyPr wrap="squar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Activation boundaries are constrained to pass through the origin.</a:t>
            </a:r>
            <a:endParaRPr lang="en-US" sz="2000" dirty="0"/>
          </a:p>
        </p:txBody>
      </p:sp>
      <p:sp>
        <p:nvSpPr>
          <p:cNvPr id="9" name="Shape 6"/>
          <p:cNvSpPr/>
          <p:nvPr/>
        </p:nvSpPr>
        <p:spPr>
          <a:xfrm>
            <a:off x="7428548" y="4535091"/>
            <a:ext cx="6408063" cy="1687592"/>
          </a:xfrm>
          <a:prstGeom prst="roundRect">
            <a:avLst>
              <a:gd name="adj" fmla="val 2016"/>
            </a:avLst>
          </a:prstGeom>
          <a:solidFill>
            <a:srgbClr val="F2EEEE"/>
          </a:solidFill>
          <a:ln/>
        </p:spPr>
      </p:sp>
      <p:sp>
        <p:nvSpPr>
          <p:cNvPr id="10" name="Text 7"/>
          <p:cNvSpPr/>
          <p:nvPr/>
        </p:nvSpPr>
        <p:spPr>
          <a:xfrm>
            <a:off x="7655362" y="4761905"/>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With Bias</a:t>
            </a:r>
            <a:endParaRPr lang="en-US" sz="2300" dirty="0"/>
          </a:p>
        </p:txBody>
      </p:sp>
      <p:sp>
        <p:nvSpPr>
          <p:cNvPr id="11" name="Text 8"/>
          <p:cNvSpPr/>
          <p:nvPr/>
        </p:nvSpPr>
        <p:spPr>
          <a:xfrm>
            <a:off x="7655362" y="5270063"/>
            <a:ext cx="5954435" cy="725805"/>
          </a:xfrm>
          <a:prstGeom prst="rect">
            <a:avLst/>
          </a:prstGeom>
          <a:noFill/>
          <a:ln/>
        </p:spPr>
        <p:txBody>
          <a:bodyPr wrap="square" lIns="0" tIns="0" rIns="0" bIns="0" rtlCol="0" anchor="t"/>
          <a:lstStyle/>
          <a:p>
            <a:pPr marL="0" indent="0" algn="l">
              <a:lnSpc>
                <a:spcPts val="2850"/>
              </a:lnSpc>
              <a:buNone/>
            </a:pPr>
            <a:r>
              <a:rPr lang="en-US" sz="2000" dirty="0">
                <a:solidFill>
                  <a:srgbClr val="383838"/>
                </a:solidFill>
                <a:latin typeface="DM Sans" pitchFamily="34" charset="0"/>
                <a:ea typeface="DM Sans" pitchFamily="34" charset="-122"/>
                <a:cs typeface="DM Sans" pitchFamily="34" charset="-120"/>
              </a:rPr>
              <a:t>Improves flexibility and representational power of the model.</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961787"/>
            <a:ext cx="9373791"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Feedforward Neural Network (FNN)</a:t>
            </a:r>
            <a:endParaRPr lang="en-US" sz="4650" dirty="0"/>
          </a:p>
        </p:txBody>
      </p:sp>
      <p:pic>
        <p:nvPicPr>
          <p:cNvPr id="3" name="Image 0" descr="preencoded.png"/>
          <p:cNvPicPr>
            <a:picLocks noChangeAspect="1"/>
          </p:cNvPicPr>
          <p:nvPr/>
        </p:nvPicPr>
        <p:blipFill>
          <a:blip r:embed="rId3"/>
          <a:stretch>
            <a:fillRect/>
          </a:stretch>
        </p:blipFill>
        <p:spPr>
          <a:xfrm>
            <a:off x="793790" y="2309813"/>
            <a:ext cx="8284131" cy="4694277"/>
          </a:xfrm>
          <a:prstGeom prst="rect">
            <a:avLst/>
          </a:prstGeom>
        </p:spPr>
      </p:pic>
      <p:sp>
        <p:nvSpPr>
          <p:cNvPr id="4" name="Text 1"/>
          <p:cNvSpPr/>
          <p:nvPr/>
        </p:nvSpPr>
        <p:spPr>
          <a:xfrm>
            <a:off x="9638943" y="2273022"/>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How It Works</a:t>
            </a:r>
            <a:endParaRPr lang="en-US" sz="2300" dirty="0"/>
          </a:p>
        </p:txBody>
      </p:sp>
      <p:sp>
        <p:nvSpPr>
          <p:cNvPr id="5" name="Text 2"/>
          <p:cNvSpPr/>
          <p:nvPr/>
        </p:nvSpPr>
        <p:spPr>
          <a:xfrm>
            <a:off x="9638943" y="2871907"/>
            <a:ext cx="4205168" cy="1088708"/>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Information flows only in the </a:t>
            </a:r>
            <a:r>
              <a:rPr lang="en-US" b="1" dirty="0">
                <a:solidFill>
                  <a:srgbClr val="383838"/>
                </a:solidFill>
                <a:latin typeface="DM Sans" pitchFamily="34" charset="0"/>
                <a:ea typeface="DM Sans" pitchFamily="34" charset="-122"/>
                <a:cs typeface="DM Sans" pitchFamily="34" charset="-120"/>
              </a:rPr>
              <a:t>forward direction</a:t>
            </a:r>
            <a:r>
              <a:rPr lang="en-US" dirty="0">
                <a:solidFill>
                  <a:srgbClr val="383838"/>
                </a:solidFill>
                <a:latin typeface="DM Sans" pitchFamily="34" charset="0"/>
                <a:ea typeface="DM Sans" pitchFamily="34" charset="-122"/>
                <a:cs typeface="DM Sans" pitchFamily="34" charset="-120"/>
              </a:rPr>
              <a:t> — from input to output with no cycles.</a:t>
            </a:r>
            <a:endParaRPr lang="en-US" dirty="0"/>
          </a:p>
        </p:txBody>
      </p:sp>
      <p:sp>
        <p:nvSpPr>
          <p:cNvPr id="6" name="Text 3"/>
          <p:cNvSpPr/>
          <p:nvPr/>
        </p:nvSpPr>
        <p:spPr>
          <a:xfrm>
            <a:off x="9638943" y="4187428"/>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Use Cases</a:t>
            </a:r>
            <a:endParaRPr lang="en-US" sz="2300" dirty="0"/>
          </a:p>
        </p:txBody>
      </p:sp>
      <p:sp>
        <p:nvSpPr>
          <p:cNvPr id="7" name="Text 4"/>
          <p:cNvSpPr/>
          <p:nvPr/>
        </p:nvSpPr>
        <p:spPr>
          <a:xfrm>
            <a:off x="9638943" y="4786313"/>
            <a:ext cx="4205168" cy="725805"/>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Tabular data such as credit scoring and marketing analytics.</a:t>
            </a:r>
            <a:endParaRPr lang="en-US" dirty="0"/>
          </a:p>
        </p:txBody>
      </p:sp>
      <p:sp>
        <p:nvSpPr>
          <p:cNvPr id="8" name="Text 5"/>
          <p:cNvSpPr/>
          <p:nvPr/>
        </p:nvSpPr>
        <p:spPr>
          <a:xfrm>
            <a:off x="9638943" y="5738932"/>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Limitation</a:t>
            </a:r>
            <a:endParaRPr lang="en-US" sz="2300" dirty="0"/>
          </a:p>
        </p:txBody>
      </p:sp>
      <p:sp>
        <p:nvSpPr>
          <p:cNvPr id="9" name="Text 6"/>
          <p:cNvSpPr/>
          <p:nvPr/>
        </p:nvSpPr>
        <p:spPr>
          <a:xfrm>
            <a:off x="9638943" y="6337816"/>
            <a:ext cx="4205168" cy="725805"/>
          </a:xfrm>
          <a:prstGeom prst="rect">
            <a:avLst/>
          </a:prstGeom>
          <a:noFill/>
          <a:ln/>
        </p:spPr>
        <p:txBody>
          <a:bodyPr wrap="square" lIns="0" tIns="0" rIns="0" bIns="0" rtlCol="0" anchor="t"/>
          <a:lstStyle/>
          <a:p>
            <a:pPr>
              <a:lnSpc>
                <a:spcPts val="2850"/>
              </a:lnSpc>
            </a:pPr>
            <a:r>
              <a:rPr lang="en-IN" dirty="0">
                <a:latin typeface="DM Sans" pitchFamily="2" charset="0"/>
              </a:rPr>
              <a:t>Does not efficiently exploit spatial or temporal structure present in raw data.</a:t>
            </a:r>
            <a:endParaRPr lang="en-US" dirty="0">
              <a:latin typeface="DM Sans" pitchFamily="2"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970240"/>
            <a:ext cx="9885759"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Convolutional Neural Network (CNN)</a:t>
            </a:r>
            <a:endParaRPr lang="en-US" sz="4650" dirty="0"/>
          </a:p>
        </p:txBody>
      </p:sp>
      <p:pic>
        <p:nvPicPr>
          <p:cNvPr id="3" name="Image 0" descr="preencoded.png"/>
          <p:cNvPicPr>
            <a:picLocks noChangeAspect="1"/>
          </p:cNvPicPr>
          <p:nvPr/>
        </p:nvPicPr>
        <p:blipFill>
          <a:blip r:embed="rId3"/>
          <a:stretch>
            <a:fillRect/>
          </a:stretch>
        </p:blipFill>
        <p:spPr>
          <a:xfrm>
            <a:off x="793790" y="2309813"/>
            <a:ext cx="8284131" cy="4694277"/>
          </a:xfrm>
          <a:prstGeom prst="rect">
            <a:avLst/>
          </a:prstGeom>
        </p:spPr>
      </p:pic>
      <p:sp>
        <p:nvSpPr>
          <p:cNvPr id="4" name="Text 1"/>
          <p:cNvSpPr/>
          <p:nvPr/>
        </p:nvSpPr>
        <p:spPr>
          <a:xfrm>
            <a:off x="9638942" y="2268795"/>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How It Works</a:t>
            </a:r>
            <a:endParaRPr lang="en-US" sz="2300" dirty="0"/>
          </a:p>
        </p:txBody>
      </p:sp>
      <p:sp>
        <p:nvSpPr>
          <p:cNvPr id="5" name="Text 2"/>
          <p:cNvSpPr/>
          <p:nvPr/>
        </p:nvSpPr>
        <p:spPr>
          <a:xfrm>
            <a:off x="9638943" y="2729964"/>
            <a:ext cx="4205168" cy="725805"/>
          </a:xfrm>
          <a:prstGeom prst="rect">
            <a:avLst/>
          </a:prstGeom>
          <a:noFill/>
          <a:ln/>
        </p:spPr>
        <p:txBody>
          <a:bodyPr wrap="square" lIns="0" tIns="0" rIns="0" bIns="0" rtlCol="0" anchor="t"/>
          <a:lstStyle/>
          <a:p>
            <a:pPr>
              <a:lnSpc>
                <a:spcPts val="2850"/>
              </a:lnSpc>
            </a:pPr>
            <a:r>
              <a:rPr lang="en-IN" dirty="0">
                <a:latin typeface="DM Sans" pitchFamily="2" charset="0"/>
              </a:rPr>
              <a:t>Uses small moving filters to scan the input and detect meaningful local patterns like edges, textures, or shapes</a:t>
            </a:r>
            <a:endParaRPr lang="en-US" dirty="0">
              <a:latin typeface="DM Sans" pitchFamily="2" charset="0"/>
            </a:endParaRPr>
          </a:p>
        </p:txBody>
      </p:sp>
      <p:sp>
        <p:nvSpPr>
          <p:cNvPr id="6" name="Text 3"/>
          <p:cNvSpPr/>
          <p:nvPr/>
        </p:nvSpPr>
        <p:spPr>
          <a:xfrm>
            <a:off x="9638943" y="4147780"/>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Key Advantages</a:t>
            </a:r>
            <a:endParaRPr lang="en-US" sz="2300" dirty="0"/>
          </a:p>
        </p:txBody>
      </p:sp>
      <p:sp>
        <p:nvSpPr>
          <p:cNvPr id="7" name="Text 4"/>
          <p:cNvSpPr/>
          <p:nvPr/>
        </p:nvSpPr>
        <p:spPr>
          <a:xfrm>
            <a:off x="9638943" y="4746665"/>
            <a:ext cx="4205168" cy="805101"/>
          </a:xfrm>
          <a:prstGeom prst="rect">
            <a:avLst/>
          </a:prstGeom>
          <a:noFill/>
          <a:ln/>
        </p:spPr>
        <p:txBody>
          <a:bodyPr wrap="square" lIns="0" tIns="0" rIns="0" bIns="0" rtlCol="0" anchor="t"/>
          <a:lstStyle/>
          <a:p>
            <a:pPr marL="342900" indent="-342900" algn="l">
              <a:lnSpc>
                <a:spcPts val="2850"/>
              </a:lnSpc>
              <a:buSzPct val="100000"/>
              <a:buChar char="•"/>
            </a:pPr>
            <a:r>
              <a:rPr lang="en-US" dirty="0">
                <a:solidFill>
                  <a:srgbClr val="383838"/>
                </a:solidFill>
                <a:latin typeface="DM Sans" pitchFamily="34" charset="0"/>
                <a:ea typeface="DM Sans" pitchFamily="34" charset="-122"/>
                <a:cs typeface="DM Sans" pitchFamily="34" charset="-120"/>
              </a:rPr>
              <a:t>Parameter sharing</a:t>
            </a:r>
            <a:endParaRPr lang="en-US" dirty="0"/>
          </a:p>
          <a:p>
            <a:pPr marL="342900" indent="-342900" algn="l">
              <a:lnSpc>
                <a:spcPts val="2850"/>
              </a:lnSpc>
              <a:buSzPct val="100000"/>
              <a:buChar char="•"/>
            </a:pPr>
            <a:r>
              <a:rPr lang="en-US" dirty="0">
                <a:solidFill>
                  <a:srgbClr val="383838"/>
                </a:solidFill>
                <a:latin typeface="DM Sans" pitchFamily="34" charset="0"/>
                <a:ea typeface="DM Sans" pitchFamily="34" charset="-122"/>
                <a:cs typeface="DM Sans" pitchFamily="34" charset="-120"/>
              </a:rPr>
              <a:t>Translation invariance</a:t>
            </a:r>
            <a:endParaRPr lang="en-US" dirty="0"/>
          </a:p>
        </p:txBody>
      </p:sp>
      <p:sp>
        <p:nvSpPr>
          <p:cNvPr id="8" name="Text 5"/>
          <p:cNvSpPr/>
          <p:nvPr/>
        </p:nvSpPr>
        <p:spPr>
          <a:xfrm>
            <a:off x="9638943" y="5778579"/>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Use Cases</a:t>
            </a:r>
            <a:endParaRPr lang="en-US" sz="2300" dirty="0"/>
          </a:p>
        </p:txBody>
      </p:sp>
      <p:sp>
        <p:nvSpPr>
          <p:cNvPr id="9" name="Text 6"/>
          <p:cNvSpPr/>
          <p:nvPr/>
        </p:nvSpPr>
        <p:spPr>
          <a:xfrm>
            <a:off x="9638943" y="6377464"/>
            <a:ext cx="4205168" cy="362903"/>
          </a:xfrm>
          <a:prstGeom prst="rect">
            <a:avLst/>
          </a:prstGeom>
          <a:noFill/>
          <a:ln/>
        </p:spPr>
        <p:txBody>
          <a:bodyPr wrap="non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Computer vision and medical imaging.</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970240"/>
            <a:ext cx="8743355"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Recurrent Neural Network (RNN)</a:t>
            </a:r>
            <a:endParaRPr lang="en-US" sz="4650" dirty="0"/>
          </a:p>
        </p:txBody>
      </p:sp>
      <p:pic>
        <p:nvPicPr>
          <p:cNvPr id="3" name="Image 0" descr="preencoded.png"/>
          <p:cNvPicPr>
            <a:picLocks noChangeAspect="1"/>
          </p:cNvPicPr>
          <p:nvPr/>
        </p:nvPicPr>
        <p:blipFill>
          <a:blip r:embed="rId3"/>
          <a:stretch>
            <a:fillRect/>
          </a:stretch>
        </p:blipFill>
        <p:spPr>
          <a:xfrm>
            <a:off x="793790" y="2309813"/>
            <a:ext cx="8284131" cy="4694277"/>
          </a:xfrm>
          <a:prstGeom prst="rect">
            <a:avLst/>
          </a:prstGeom>
        </p:spPr>
      </p:pic>
      <p:sp>
        <p:nvSpPr>
          <p:cNvPr id="4" name="Text 1"/>
          <p:cNvSpPr/>
          <p:nvPr/>
        </p:nvSpPr>
        <p:spPr>
          <a:xfrm>
            <a:off x="9638943" y="3048714"/>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How It Works</a:t>
            </a:r>
            <a:endParaRPr lang="en-US" sz="2300" dirty="0"/>
          </a:p>
        </p:txBody>
      </p:sp>
      <p:sp>
        <p:nvSpPr>
          <p:cNvPr id="5" name="Text 2"/>
          <p:cNvSpPr/>
          <p:nvPr/>
        </p:nvSpPr>
        <p:spPr>
          <a:xfrm>
            <a:off x="9638943" y="3647599"/>
            <a:ext cx="4205168" cy="1088708"/>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Maintains a </a:t>
            </a:r>
            <a:r>
              <a:rPr lang="en-US" b="1" dirty="0">
                <a:solidFill>
                  <a:srgbClr val="383838"/>
                </a:solidFill>
                <a:latin typeface="DM Sans" pitchFamily="34" charset="0"/>
                <a:ea typeface="DM Sans" pitchFamily="34" charset="-122"/>
                <a:cs typeface="DM Sans" pitchFamily="34" charset="-120"/>
              </a:rPr>
              <a:t>hidden state</a:t>
            </a:r>
            <a:r>
              <a:rPr lang="en-US" dirty="0">
                <a:solidFill>
                  <a:srgbClr val="383838"/>
                </a:solidFill>
                <a:latin typeface="DM Sans" pitchFamily="34" charset="0"/>
                <a:ea typeface="DM Sans" pitchFamily="34" charset="-122"/>
                <a:cs typeface="DM Sans" pitchFamily="34" charset="-120"/>
              </a:rPr>
              <a:t> that captures information from past inputs in the sequence.</a:t>
            </a:r>
            <a:endParaRPr lang="en-US" dirty="0"/>
          </a:p>
        </p:txBody>
      </p:sp>
      <p:sp>
        <p:nvSpPr>
          <p:cNvPr id="6" name="Text 3"/>
          <p:cNvSpPr/>
          <p:nvPr/>
        </p:nvSpPr>
        <p:spPr>
          <a:xfrm>
            <a:off x="9638943" y="4963120"/>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Use Cases</a:t>
            </a:r>
            <a:endParaRPr lang="en-US" sz="2300" dirty="0"/>
          </a:p>
        </p:txBody>
      </p:sp>
      <p:sp>
        <p:nvSpPr>
          <p:cNvPr id="7" name="Text 4"/>
          <p:cNvSpPr/>
          <p:nvPr/>
        </p:nvSpPr>
        <p:spPr>
          <a:xfrm>
            <a:off x="9638943" y="5562005"/>
            <a:ext cx="4205168" cy="725805"/>
          </a:xfrm>
          <a:prstGeom prst="rect">
            <a:avLst/>
          </a:prstGeom>
          <a:noFill/>
          <a:ln/>
        </p:spPr>
        <p:txBody>
          <a:bodyPr wrap="square" lIns="0" tIns="0" rIns="0" bIns="0" rtlCol="0" anchor="t"/>
          <a:lstStyle/>
          <a:p>
            <a:pPr marL="0" indent="0" algn="l">
              <a:lnSpc>
                <a:spcPts val="2850"/>
              </a:lnSpc>
              <a:buNone/>
            </a:pPr>
            <a:r>
              <a:rPr lang="en-US" dirty="0">
                <a:solidFill>
                  <a:srgbClr val="383838"/>
                </a:solidFill>
                <a:latin typeface="DM Sans" pitchFamily="34" charset="0"/>
                <a:ea typeface="DM Sans" pitchFamily="34" charset="-122"/>
                <a:cs typeface="DM Sans" pitchFamily="34" charset="-120"/>
              </a:rPr>
              <a:t>Sequence modelling such as language processing and time-series forecasting.</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25329" y="722590"/>
            <a:ext cx="5440323" cy="679966"/>
          </a:xfrm>
          <a:prstGeom prst="rect">
            <a:avLst/>
          </a:prstGeom>
          <a:noFill/>
          <a:ln/>
        </p:spPr>
        <p:txBody>
          <a:bodyPr wrap="none" lIns="0" tIns="0" rIns="0" bIns="0" rtlCol="0" anchor="t"/>
          <a:lstStyle/>
          <a:p>
            <a:pPr marL="0" indent="0" algn="l">
              <a:lnSpc>
                <a:spcPts val="5350"/>
              </a:lnSpc>
              <a:buNone/>
            </a:pPr>
            <a:r>
              <a:rPr lang="en-US" sz="4250" dirty="0">
                <a:solidFill>
                  <a:srgbClr val="020202"/>
                </a:solidFill>
                <a:latin typeface="PT Serif" pitchFamily="34" charset="0"/>
                <a:ea typeface="PT Serif" pitchFamily="34" charset="-122"/>
                <a:cs typeface="PT Serif" pitchFamily="34" charset="-120"/>
              </a:rPr>
              <a:t>Key Takeaways</a:t>
            </a:r>
            <a:endParaRPr lang="en-US" sz="4250" dirty="0"/>
          </a:p>
        </p:txBody>
      </p:sp>
      <p:sp>
        <p:nvSpPr>
          <p:cNvPr id="3" name="Shape 1"/>
          <p:cNvSpPr/>
          <p:nvPr/>
        </p:nvSpPr>
        <p:spPr>
          <a:xfrm>
            <a:off x="725329" y="1781294"/>
            <a:ext cx="466249" cy="466249"/>
          </a:xfrm>
          <a:prstGeom prst="roundRect">
            <a:avLst>
              <a:gd name="adj" fmla="val 6668"/>
            </a:avLst>
          </a:prstGeom>
          <a:solidFill>
            <a:srgbClr val="F2EEEE"/>
          </a:solidFill>
          <a:ln/>
        </p:spPr>
      </p:sp>
      <p:sp>
        <p:nvSpPr>
          <p:cNvPr id="4" name="Text 2"/>
          <p:cNvSpPr/>
          <p:nvPr/>
        </p:nvSpPr>
        <p:spPr>
          <a:xfrm>
            <a:off x="1380887" y="1852493"/>
            <a:ext cx="3509724" cy="340043"/>
          </a:xfrm>
          <a:prstGeom prst="rect">
            <a:avLst/>
          </a:prstGeom>
          <a:noFill/>
          <a:ln/>
        </p:spPr>
        <p:txBody>
          <a:bodyPr wrap="none" lIns="0" tIns="0" rIns="0" bIns="0" rtlCol="0" anchor="t"/>
          <a:lstStyle/>
          <a:p>
            <a:pPr marL="0" indent="0" algn="l">
              <a:lnSpc>
                <a:spcPts val="2650"/>
              </a:lnSpc>
              <a:buNone/>
            </a:pPr>
            <a:r>
              <a:rPr lang="en-US" sz="2100" dirty="0">
                <a:solidFill>
                  <a:srgbClr val="383838"/>
                </a:solidFill>
                <a:latin typeface="PT Serif" pitchFamily="34" charset="0"/>
                <a:ea typeface="PT Serif" pitchFamily="34" charset="-122"/>
                <a:cs typeface="PT Serif" pitchFamily="34" charset="-120"/>
              </a:rPr>
              <a:t>Hierarchical Representations</a:t>
            </a:r>
            <a:endParaRPr lang="en-US" sz="2100" dirty="0"/>
          </a:p>
        </p:txBody>
      </p:sp>
      <p:sp>
        <p:nvSpPr>
          <p:cNvPr id="5" name="Text 3"/>
          <p:cNvSpPr/>
          <p:nvPr/>
        </p:nvSpPr>
        <p:spPr>
          <a:xfrm>
            <a:off x="1380887" y="2306122"/>
            <a:ext cx="12524184" cy="317302"/>
          </a:xfrm>
          <a:prstGeom prst="rect">
            <a:avLst/>
          </a:prstGeom>
          <a:noFill/>
          <a:ln/>
        </p:spPr>
        <p:txBody>
          <a:bodyPr wrap="none" lIns="0" tIns="0" rIns="0" bIns="0" rtlCol="0" anchor="t"/>
          <a:lstStyle/>
          <a:p>
            <a:pPr marL="0" indent="0" algn="l">
              <a:lnSpc>
                <a:spcPts val="2450"/>
              </a:lnSpc>
              <a:buNone/>
            </a:pPr>
            <a:r>
              <a:rPr lang="en-US" sz="1600" dirty="0">
                <a:solidFill>
                  <a:srgbClr val="383838"/>
                </a:solidFill>
                <a:latin typeface="DM Sans" pitchFamily="34" charset="0"/>
                <a:ea typeface="DM Sans" pitchFamily="34" charset="-122"/>
                <a:cs typeface="DM Sans" pitchFamily="34" charset="-120"/>
              </a:rPr>
              <a:t>Neural networks learn hierarchical nonlinear representations from data.</a:t>
            </a:r>
            <a:endParaRPr lang="en-US" sz="1600" dirty="0"/>
          </a:p>
        </p:txBody>
      </p:sp>
      <p:sp>
        <p:nvSpPr>
          <p:cNvPr id="6" name="Shape 4"/>
          <p:cNvSpPr/>
          <p:nvPr/>
        </p:nvSpPr>
        <p:spPr>
          <a:xfrm>
            <a:off x="725329" y="3002161"/>
            <a:ext cx="466249" cy="466249"/>
          </a:xfrm>
          <a:prstGeom prst="roundRect">
            <a:avLst>
              <a:gd name="adj" fmla="val 6668"/>
            </a:avLst>
          </a:prstGeom>
          <a:solidFill>
            <a:srgbClr val="F2EEEE"/>
          </a:solidFill>
          <a:ln/>
        </p:spPr>
      </p:sp>
      <p:sp>
        <p:nvSpPr>
          <p:cNvPr id="7" name="Text 5"/>
          <p:cNvSpPr/>
          <p:nvPr/>
        </p:nvSpPr>
        <p:spPr>
          <a:xfrm>
            <a:off x="1380887" y="3073360"/>
            <a:ext cx="2720102" cy="340043"/>
          </a:xfrm>
          <a:prstGeom prst="rect">
            <a:avLst/>
          </a:prstGeom>
          <a:noFill/>
          <a:ln/>
        </p:spPr>
        <p:txBody>
          <a:bodyPr wrap="none" lIns="0" tIns="0" rIns="0" bIns="0" rtlCol="0" anchor="t"/>
          <a:lstStyle/>
          <a:p>
            <a:pPr marL="0" indent="0" algn="l">
              <a:lnSpc>
                <a:spcPts val="2650"/>
              </a:lnSpc>
              <a:buNone/>
            </a:pPr>
            <a:r>
              <a:rPr lang="en-US" sz="2100" dirty="0">
                <a:solidFill>
                  <a:srgbClr val="383838"/>
                </a:solidFill>
                <a:latin typeface="PT Serif" pitchFamily="34" charset="0"/>
                <a:ea typeface="PT Serif" pitchFamily="34" charset="-122"/>
                <a:cs typeface="PT Serif" pitchFamily="34" charset="-120"/>
              </a:rPr>
              <a:t>Optimization Problem</a:t>
            </a:r>
            <a:endParaRPr lang="en-US" sz="2100" dirty="0"/>
          </a:p>
        </p:txBody>
      </p:sp>
      <p:sp>
        <p:nvSpPr>
          <p:cNvPr id="8" name="Text 6"/>
          <p:cNvSpPr/>
          <p:nvPr/>
        </p:nvSpPr>
        <p:spPr>
          <a:xfrm>
            <a:off x="1380887" y="3526988"/>
            <a:ext cx="12524184" cy="317302"/>
          </a:xfrm>
          <a:prstGeom prst="rect">
            <a:avLst/>
          </a:prstGeom>
          <a:noFill/>
          <a:ln/>
        </p:spPr>
        <p:txBody>
          <a:bodyPr wrap="none" lIns="0" tIns="0" rIns="0" bIns="0" rtlCol="0" anchor="t"/>
          <a:lstStyle/>
          <a:p>
            <a:pPr marL="0" indent="0" algn="l">
              <a:lnSpc>
                <a:spcPts val="2450"/>
              </a:lnSpc>
              <a:buNone/>
            </a:pPr>
            <a:r>
              <a:rPr lang="en-US" sz="1600" dirty="0">
                <a:solidFill>
                  <a:srgbClr val="383838"/>
                </a:solidFill>
                <a:latin typeface="DM Sans" pitchFamily="34" charset="0"/>
                <a:ea typeface="DM Sans" pitchFamily="34" charset="-122"/>
                <a:cs typeface="DM Sans" pitchFamily="34" charset="-120"/>
              </a:rPr>
              <a:t>Training is fundamentally an optimization problem — minimize the loss function.</a:t>
            </a:r>
            <a:endParaRPr lang="en-US" sz="1600" dirty="0"/>
          </a:p>
        </p:txBody>
      </p:sp>
      <p:sp>
        <p:nvSpPr>
          <p:cNvPr id="9" name="Shape 7"/>
          <p:cNvSpPr/>
          <p:nvPr/>
        </p:nvSpPr>
        <p:spPr>
          <a:xfrm>
            <a:off x="725329" y="4223028"/>
            <a:ext cx="466249" cy="466249"/>
          </a:xfrm>
          <a:prstGeom prst="roundRect">
            <a:avLst>
              <a:gd name="adj" fmla="val 6668"/>
            </a:avLst>
          </a:prstGeom>
          <a:solidFill>
            <a:srgbClr val="F2EEEE"/>
          </a:solidFill>
          <a:ln/>
        </p:spPr>
      </p:sp>
      <p:sp>
        <p:nvSpPr>
          <p:cNvPr id="10" name="Text 8"/>
          <p:cNvSpPr/>
          <p:nvPr/>
        </p:nvSpPr>
        <p:spPr>
          <a:xfrm>
            <a:off x="1380887" y="4294227"/>
            <a:ext cx="2720102" cy="340043"/>
          </a:xfrm>
          <a:prstGeom prst="rect">
            <a:avLst/>
          </a:prstGeom>
          <a:noFill/>
          <a:ln/>
        </p:spPr>
        <p:txBody>
          <a:bodyPr wrap="none" lIns="0" tIns="0" rIns="0" bIns="0" rtlCol="0" anchor="t"/>
          <a:lstStyle/>
          <a:p>
            <a:pPr marL="0" indent="0" algn="l">
              <a:lnSpc>
                <a:spcPts val="2650"/>
              </a:lnSpc>
              <a:buNone/>
            </a:pPr>
            <a:r>
              <a:rPr lang="en-US" sz="2100" dirty="0">
                <a:solidFill>
                  <a:srgbClr val="383838"/>
                </a:solidFill>
                <a:latin typeface="PT Serif" pitchFamily="34" charset="0"/>
                <a:ea typeface="PT Serif" pitchFamily="34" charset="-122"/>
                <a:cs typeface="PT Serif" pitchFamily="34" charset="-120"/>
              </a:rPr>
              <a:t>Backpropagation</a:t>
            </a:r>
            <a:endParaRPr lang="en-US" sz="2100" dirty="0"/>
          </a:p>
        </p:txBody>
      </p:sp>
      <p:sp>
        <p:nvSpPr>
          <p:cNvPr id="11" name="Text 9"/>
          <p:cNvSpPr/>
          <p:nvPr/>
        </p:nvSpPr>
        <p:spPr>
          <a:xfrm>
            <a:off x="1380887" y="4747855"/>
            <a:ext cx="12524184" cy="317302"/>
          </a:xfrm>
          <a:prstGeom prst="rect">
            <a:avLst/>
          </a:prstGeom>
          <a:noFill/>
          <a:ln/>
        </p:spPr>
        <p:txBody>
          <a:bodyPr wrap="none" lIns="0" tIns="0" rIns="0" bIns="0" rtlCol="0" anchor="t"/>
          <a:lstStyle/>
          <a:p>
            <a:pPr marL="0" indent="0" algn="l">
              <a:lnSpc>
                <a:spcPts val="2450"/>
              </a:lnSpc>
              <a:buNone/>
            </a:pPr>
            <a:r>
              <a:rPr lang="en-US" sz="1600" dirty="0">
                <a:solidFill>
                  <a:srgbClr val="383838"/>
                </a:solidFill>
                <a:latin typeface="DM Sans" pitchFamily="34" charset="0"/>
                <a:ea typeface="DM Sans" pitchFamily="34" charset="-122"/>
                <a:cs typeface="DM Sans" pitchFamily="34" charset="-120"/>
              </a:rPr>
              <a:t>Enables efficient gradient computation across all layers via the chain rule.</a:t>
            </a:r>
            <a:endParaRPr lang="en-US" sz="1600" dirty="0"/>
          </a:p>
        </p:txBody>
      </p:sp>
      <p:sp>
        <p:nvSpPr>
          <p:cNvPr id="12" name="Shape 10"/>
          <p:cNvSpPr/>
          <p:nvPr/>
        </p:nvSpPr>
        <p:spPr>
          <a:xfrm>
            <a:off x="725329" y="5443895"/>
            <a:ext cx="466249" cy="466249"/>
          </a:xfrm>
          <a:prstGeom prst="roundRect">
            <a:avLst>
              <a:gd name="adj" fmla="val 6668"/>
            </a:avLst>
          </a:prstGeom>
          <a:solidFill>
            <a:srgbClr val="F2EEEE"/>
          </a:solidFill>
          <a:ln/>
        </p:spPr>
      </p:sp>
      <p:sp>
        <p:nvSpPr>
          <p:cNvPr id="13" name="Text 11"/>
          <p:cNvSpPr/>
          <p:nvPr/>
        </p:nvSpPr>
        <p:spPr>
          <a:xfrm>
            <a:off x="1380887" y="5515094"/>
            <a:ext cx="2720102" cy="340043"/>
          </a:xfrm>
          <a:prstGeom prst="rect">
            <a:avLst/>
          </a:prstGeom>
          <a:noFill/>
          <a:ln/>
        </p:spPr>
        <p:txBody>
          <a:bodyPr wrap="none" lIns="0" tIns="0" rIns="0" bIns="0" rtlCol="0" anchor="t"/>
          <a:lstStyle/>
          <a:p>
            <a:pPr marL="0" indent="0" algn="l">
              <a:lnSpc>
                <a:spcPts val="2650"/>
              </a:lnSpc>
              <a:buNone/>
            </a:pPr>
            <a:r>
              <a:rPr lang="en-US" sz="2100" dirty="0">
                <a:solidFill>
                  <a:srgbClr val="383838"/>
                </a:solidFill>
                <a:latin typeface="PT Serif" pitchFamily="34" charset="0"/>
                <a:ea typeface="PT Serif" pitchFamily="34" charset="-122"/>
                <a:cs typeface="PT Serif" pitchFamily="34" charset="-120"/>
              </a:rPr>
              <a:t>Activation Functions</a:t>
            </a:r>
            <a:endParaRPr lang="en-US" sz="2100" dirty="0"/>
          </a:p>
        </p:txBody>
      </p:sp>
      <p:sp>
        <p:nvSpPr>
          <p:cNvPr id="14" name="Text 12"/>
          <p:cNvSpPr/>
          <p:nvPr/>
        </p:nvSpPr>
        <p:spPr>
          <a:xfrm>
            <a:off x="1380887" y="5968722"/>
            <a:ext cx="12524184" cy="317302"/>
          </a:xfrm>
          <a:prstGeom prst="rect">
            <a:avLst/>
          </a:prstGeom>
          <a:noFill/>
          <a:ln/>
        </p:spPr>
        <p:txBody>
          <a:bodyPr wrap="none" lIns="0" tIns="0" rIns="0" bIns="0" rtlCol="0" anchor="t"/>
          <a:lstStyle/>
          <a:p>
            <a:pPr marL="0" indent="0" algn="l">
              <a:lnSpc>
                <a:spcPts val="2450"/>
              </a:lnSpc>
              <a:buNone/>
            </a:pPr>
            <a:r>
              <a:rPr lang="en-US" sz="1600" dirty="0">
                <a:solidFill>
                  <a:srgbClr val="383838"/>
                </a:solidFill>
                <a:latin typeface="DM Sans" pitchFamily="34" charset="0"/>
                <a:ea typeface="DM Sans" pitchFamily="34" charset="-122"/>
                <a:cs typeface="DM Sans" pitchFamily="34" charset="-120"/>
              </a:rPr>
              <a:t>Enable expressive, nonlinear modelling across deep architectures.</a:t>
            </a:r>
            <a:endParaRPr lang="en-US" sz="1600" dirty="0"/>
          </a:p>
        </p:txBody>
      </p:sp>
      <p:sp>
        <p:nvSpPr>
          <p:cNvPr id="15" name="Shape 13"/>
          <p:cNvSpPr/>
          <p:nvPr/>
        </p:nvSpPr>
        <p:spPr>
          <a:xfrm>
            <a:off x="725329" y="6664762"/>
            <a:ext cx="466249" cy="466249"/>
          </a:xfrm>
          <a:prstGeom prst="roundRect">
            <a:avLst>
              <a:gd name="adj" fmla="val 6668"/>
            </a:avLst>
          </a:prstGeom>
          <a:solidFill>
            <a:srgbClr val="F2EEEE"/>
          </a:solidFill>
          <a:ln/>
        </p:spPr>
      </p:sp>
      <p:sp>
        <p:nvSpPr>
          <p:cNvPr id="16" name="Text 14"/>
          <p:cNvSpPr/>
          <p:nvPr/>
        </p:nvSpPr>
        <p:spPr>
          <a:xfrm>
            <a:off x="1380887" y="6735961"/>
            <a:ext cx="2720102" cy="340043"/>
          </a:xfrm>
          <a:prstGeom prst="rect">
            <a:avLst/>
          </a:prstGeom>
          <a:noFill/>
          <a:ln/>
        </p:spPr>
        <p:txBody>
          <a:bodyPr wrap="none" lIns="0" tIns="0" rIns="0" bIns="0" rtlCol="0" anchor="t"/>
          <a:lstStyle/>
          <a:p>
            <a:pPr marL="0" indent="0" algn="l">
              <a:lnSpc>
                <a:spcPts val="2650"/>
              </a:lnSpc>
              <a:buNone/>
            </a:pPr>
            <a:r>
              <a:rPr lang="en-US" sz="2100" dirty="0">
                <a:solidFill>
                  <a:srgbClr val="383838"/>
                </a:solidFill>
                <a:latin typeface="PT Serif" pitchFamily="34" charset="0"/>
                <a:ea typeface="PT Serif" pitchFamily="34" charset="-122"/>
                <a:cs typeface="PT Serif" pitchFamily="34" charset="-120"/>
              </a:rPr>
              <a:t>Architecture Design</a:t>
            </a:r>
            <a:endParaRPr lang="en-US" sz="2100" dirty="0"/>
          </a:p>
        </p:txBody>
      </p:sp>
      <p:sp>
        <p:nvSpPr>
          <p:cNvPr id="17" name="Text 15"/>
          <p:cNvSpPr/>
          <p:nvPr/>
        </p:nvSpPr>
        <p:spPr>
          <a:xfrm>
            <a:off x="1380887" y="7189589"/>
            <a:ext cx="12524184" cy="317302"/>
          </a:xfrm>
          <a:prstGeom prst="rect">
            <a:avLst/>
          </a:prstGeom>
          <a:noFill/>
          <a:ln/>
        </p:spPr>
        <p:txBody>
          <a:bodyPr wrap="none" lIns="0" tIns="0" rIns="0" bIns="0" rtlCol="0" anchor="t"/>
          <a:lstStyle/>
          <a:p>
            <a:pPr marL="0" indent="0" algn="l">
              <a:lnSpc>
                <a:spcPts val="2450"/>
              </a:lnSpc>
              <a:buNone/>
            </a:pPr>
            <a:r>
              <a:rPr lang="en-US" sz="1600" dirty="0">
                <a:solidFill>
                  <a:srgbClr val="383838"/>
                </a:solidFill>
                <a:latin typeface="DM Sans" pitchFamily="34" charset="0"/>
                <a:ea typeface="DM Sans" pitchFamily="34" charset="-122"/>
                <a:cs typeface="DM Sans" pitchFamily="34" charset="-120"/>
              </a:rPr>
              <a:t>Empirical and data-dependent — validated through experimentation.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1106</Words>
  <Application>Microsoft Office PowerPoint</Application>
  <PresentationFormat>Custom</PresentationFormat>
  <Paragraphs>180</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DM Sans</vt:lpstr>
      <vt:lpstr>PT Serif</vt:lpstr>
      <vt:lpstr>Arial</vt:lpstr>
      <vt:lpstr>PT Serif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Fimran Sanghvi</cp:lastModifiedBy>
  <cp:revision>18</cp:revision>
  <dcterms:created xsi:type="dcterms:W3CDTF">2026-03-17T05:56:10Z</dcterms:created>
  <dcterms:modified xsi:type="dcterms:W3CDTF">2026-04-06T06:05:16Z</dcterms:modified>
</cp:coreProperties>
</file>