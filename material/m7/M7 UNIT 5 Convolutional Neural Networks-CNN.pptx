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76" r:id="rId10"/>
    <p:sldId id="263" r:id="rId11"/>
    <p:sldId id="264" r:id="rId12"/>
    <p:sldId id="265" r:id="rId13"/>
    <p:sldId id="278" r:id="rId14"/>
    <p:sldId id="266" r:id="rId15"/>
    <p:sldId id="267" r:id="rId16"/>
    <p:sldId id="268" r:id="rId17"/>
    <p:sldId id="269" r:id="rId18"/>
    <p:sldId id="277" r:id="rId19"/>
    <p:sldId id="270" r:id="rId20"/>
    <p:sldId id="271" r:id="rId21"/>
    <p:sldId id="272" r:id="rId22"/>
    <p:sldId id="273" r:id="rId23"/>
    <p:sldId id="274" r:id="rId24"/>
    <p:sldId id="275" r:id="rId25"/>
  </p:sldIdLst>
  <p:sldSz cx="14630400" cy="8229600"/>
  <p:notesSz cx="8229600" cy="14630400"/>
  <p:embeddedFontLst>
    <p:embeddedFont>
      <p:font typeface="DM Sans" pitchFamily="2" charset="77"/>
      <p:regular r:id="rId27"/>
      <p:bold r:id="rId28"/>
      <p:italic r:id="rId29"/>
      <p:boldItalic r:id="rId30"/>
    </p:embeddedFont>
    <p:embeddedFont>
      <p:font typeface="PT Serif" panose="020A0603040505020204" pitchFamily="18" charset="77"/>
      <p:regular r:id="rId31"/>
      <p:bold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534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23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663C6-1046-39AB-7B69-3708CA57F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9A75D-FCD3-C0DD-62ED-1BDC8C70F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B8E57-7BAA-9885-4B0E-3C62E44A4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83054-AD28-CCC4-52D5-19833D3B8B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56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389E-3887-3E31-5AD8-A1FE9F5FA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9C2A9-E54D-AE38-0146-62CB4D58E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AC34E-BAD5-ACAF-1766-513EF2522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75289-6373-16BF-1C7C-C25F23285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273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8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40343"/>
            <a:ext cx="12249388" cy="89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50"/>
              </a:lnSpc>
              <a:buNone/>
            </a:pPr>
            <a:r>
              <a:rPr lang="en-US" sz="5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Convolutional Neural Networks (CNN)</a:t>
            </a:r>
            <a:endParaRPr lang="en-US" sz="5650" dirty="0"/>
          </a:p>
        </p:txBody>
      </p:sp>
      <p:sp>
        <p:nvSpPr>
          <p:cNvPr id="4" name="Text 2"/>
          <p:cNvSpPr/>
          <p:nvPr/>
        </p:nvSpPr>
        <p:spPr>
          <a:xfrm>
            <a:off x="906331" y="402540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Architecture, operations, and applications of CNNs — the backbone of modern computer vision.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143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5436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7286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Are Convolutional Neural Networks?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28548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54367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35161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4525923"/>
            <a:ext cx="45714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The CNN Pipeline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28548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8548" y="435161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28548" y="4525923"/>
            <a:ext cx="56999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Landmark CNN Architectures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3790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64987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824180"/>
            <a:ext cx="58796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Implementation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428548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649873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824180"/>
            <a:ext cx="42521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F9B1597F-6088-ED47-BCF3-2426CD5CD6E2}"/>
              </a:ext>
            </a:extLst>
          </p:cNvPr>
          <p:cNvSpPr/>
          <p:nvPr/>
        </p:nvSpPr>
        <p:spPr>
          <a:xfrm>
            <a:off x="7428548" y="2793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Where are CNNs Applied?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3981859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0930" y="1158909"/>
            <a:ext cx="9849683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Are Convolutional Neural Networks?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816650" y="2262581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Convolutional Neural Networks (CNNs) are a specialised class of deep learning models designed primarily to process and analyse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data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such as images and video. 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Unlike conventional neural networks, CNNs are built to understand spatial structure — they treat input as a grid of values rather than a flat vector.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4324707"/>
            <a:ext cx="4215289" cy="2157293"/>
          </a:xfrm>
          <a:prstGeom prst="roundRect">
            <a:avLst>
              <a:gd name="adj" fmla="val 508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4324707"/>
            <a:ext cx="91440" cy="2157293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1083588" y="4545925"/>
            <a:ext cx="325826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Automatic Feature Learning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083588" y="4990624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CNNs learn to detect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edges, textures, and complex shapes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directly from raw pixel data — no manual feature engineering required.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207437" y="4324707"/>
            <a:ext cx="4215408" cy="2157293"/>
          </a:xfrm>
          <a:prstGeom prst="roundRect">
            <a:avLst>
              <a:gd name="adj" fmla="val 508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4577" y="4324707"/>
            <a:ext cx="91440" cy="2157293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97235" y="4545925"/>
            <a:ext cx="3247906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Hierarchical Representation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5497235" y="4990624"/>
            <a:ext cx="3879890" cy="1179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 layers capture simple patterns; deeper layers combine these into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abstract, high-level representations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like faces or objects.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21203" y="4324707"/>
            <a:ext cx="4215289" cy="2157293"/>
          </a:xfrm>
          <a:prstGeom prst="roundRect">
            <a:avLst>
              <a:gd name="adj" fmla="val 508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98343" y="4324707"/>
            <a:ext cx="91440" cy="2157293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6" name="Text 14"/>
          <p:cNvSpPr/>
          <p:nvPr/>
        </p:nvSpPr>
        <p:spPr>
          <a:xfrm>
            <a:off x="9911001" y="454592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End-to-End Learning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9911001" y="4990624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raw pixels to final class label, the entire transformation is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learned from data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making CNNs both powerful and flexible.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385530"/>
            <a:ext cx="6074212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Where Are CNNs Applied?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93790" y="233445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CNNs have become the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 of modern computer vision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Their ability to generalise across diverse visual tasks has made them indispensable in both research and industry.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3192780"/>
            <a:ext cx="6422231" cy="1952625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992148" y="339113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9" y="3554730"/>
            <a:ext cx="267891" cy="2678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2148" y="4184809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Image Classification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992148" y="4629507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Assigning a label to an entire image — e.g., "cat" or "dog".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14379" y="3192780"/>
            <a:ext cx="6422231" cy="1952625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7612737" y="339113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6448" y="3554730"/>
            <a:ext cx="267891" cy="2678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12737" y="4184809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 Detection</a:t>
            </a:r>
            <a:endParaRPr lang="en-US" sz="2050" dirty="0"/>
          </a:p>
        </p:txBody>
      </p:sp>
      <p:sp>
        <p:nvSpPr>
          <p:cNvPr id="15" name="Text 11"/>
          <p:cNvSpPr/>
          <p:nvPr/>
        </p:nvSpPr>
        <p:spPr>
          <a:xfrm>
            <a:off x="7612737" y="4629507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Locating and identifying multiple objects within a single image.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93790" y="5343763"/>
            <a:ext cx="6422231" cy="1952625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992148" y="554212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5859" y="5705713"/>
            <a:ext cx="267891" cy="2678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92148" y="633579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Facial Recognition</a:t>
            </a:r>
            <a:endParaRPr lang="en-US" sz="2050" dirty="0"/>
          </a:p>
        </p:txBody>
      </p:sp>
      <p:sp>
        <p:nvSpPr>
          <p:cNvPr id="20" name="Text 15"/>
          <p:cNvSpPr/>
          <p:nvPr/>
        </p:nvSpPr>
        <p:spPr>
          <a:xfrm>
            <a:off x="992148" y="6780490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Identifying or verifying individuals based on facial features.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7414379" y="5343763"/>
            <a:ext cx="6422231" cy="1952625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</p:sp>
      <p:sp>
        <p:nvSpPr>
          <p:cNvPr id="22" name="Shape 17"/>
          <p:cNvSpPr/>
          <p:nvPr/>
        </p:nvSpPr>
        <p:spPr>
          <a:xfrm>
            <a:off x="7612737" y="554212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76448" y="5705713"/>
            <a:ext cx="267891" cy="2678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12737" y="633579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Medical Imaging</a:t>
            </a:r>
            <a:endParaRPr lang="en-US" sz="2050" dirty="0"/>
          </a:p>
        </p:txBody>
      </p:sp>
      <p:sp>
        <p:nvSpPr>
          <p:cNvPr id="25" name="Text 19"/>
          <p:cNvSpPr/>
          <p:nvPr/>
        </p:nvSpPr>
        <p:spPr>
          <a:xfrm>
            <a:off x="7612737" y="6780490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Detecting diseases and anomalies in X-rays, MRIs, and CT scans.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49273" y="1711615"/>
            <a:ext cx="5558552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Are CNNs Needed?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49273" y="3154323"/>
            <a:ext cx="3850481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20202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The Problem with Traditional ML</a:t>
            </a:r>
            <a:endParaRPr lang="en-US" sz="2050" b="1" dirty="0">
              <a:latin typeface="DM Sans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9273" y="3678317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256×256 RGB image contains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196,608 raw pixel values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Feeding this into a standard fully connected network results in an enormous number of parameters, causing: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9273" y="4809530"/>
            <a:ext cx="6168390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Severe computational overhead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Overfitting on small datasets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Loss of spatial relationships between pixels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 for tedious manual feature extraction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64874" y="315432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20202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How CNNs Solve This</a:t>
            </a:r>
            <a:endParaRPr lang="en-US" sz="2050" b="1" dirty="0">
              <a:latin typeface="DM Sans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64874" y="3678317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CNNs tackle high-dimensional image data by exploiting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connectivity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parameter sharing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64874" y="4491990"/>
            <a:ext cx="6279356" cy="211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Filters operate on small local regions, drastically reducing parameters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Spatial structure is preserved throughout processing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 are learned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automatically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from data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Hierarchical learning captures both fine details and global context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56047" y="1007507"/>
            <a:ext cx="744557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Spatial Structure: The Key Insight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56047" y="1897499"/>
            <a:ext cx="1311830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ML models flatten images into 1D vectors,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destroying spatial relationships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CNNs preserve the 2D (or 3D) structure of images, allowing them to recognise that neighbouring pixels carry meaningful contextual information.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690455"/>
            <a:ext cx="6559153" cy="7560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4999" y="36264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Raw Pixels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44999" y="4044553"/>
            <a:ext cx="61812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High-dimensional numerical grid preserving spatial layout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690455"/>
            <a:ext cx="6559153" cy="7560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04152" y="36264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Local Patterns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7504152" y="4044553"/>
            <a:ext cx="61812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Edges and gradients detected via localised filters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7" y="4528780"/>
            <a:ext cx="6559153" cy="7560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4999" y="54647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Spatial Features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944999" y="5882878"/>
            <a:ext cx="61812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Textures and shapes built from combined local patterns</a:t>
            </a:r>
            <a:endParaRPr lang="en-US" sz="17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528780"/>
            <a:ext cx="6559153" cy="7560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04152" y="54647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Semantic Output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7504152" y="5882878"/>
            <a:ext cx="61812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Abstract concepts like "eye" or "wheel" recognised automatically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756047" y="6569512"/>
            <a:ext cx="13118306" cy="1073944"/>
          </a:xfrm>
          <a:prstGeom prst="roundRect">
            <a:avLst>
              <a:gd name="adj" fmla="val 2640"/>
            </a:avLst>
          </a:prstGeom>
          <a:solidFill>
            <a:srgbClr val="FFCDB3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999" y="6845975"/>
            <a:ext cx="236220" cy="1889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0171" y="6796564"/>
            <a:ext cx="12315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Insight: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Spatial locality — the idea that nearby pixels are more related than distant ones — is the fundamental assumption that makes CNNs work.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681" y="947618"/>
            <a:ext cx="4500086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CNN Pipeline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85681" y="1732240"/>
            <a:ext cx="13259038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CNN transforms a raw image into a class prediction through a series of structured operations. Each stage progressively learns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complex and abstract features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69" y="2154436"/>
            <a:ext cx="12834342" cy="481595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58568" y="3381147"/>
            <a:ext cx="662935" cy="6629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67934" y="5596181"/>
            <a:ext cx="1935772" cy="783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Fully Connected</a:t>
            </a:r>
            <a:endParaRPr lang="en-US" sz="2450" dirty="0">
              <a:latin typeface="DM Sans" pitchFamily="2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1602" y="3382390"/>
            <a:ext cx="662936" cy="6629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28331" y="5791954"/>
            <a:ext cx="1935772" cy="391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Pooling</a:t>
            </a:r>
            <a:endParaRPr lang="en-US" sz="2450" dirty="0">
              <a:latin typeface="DM Sans" pitchFamily="2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05258" y="3382390"/>
            <a:ext cx="662935" cy="6629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1986" y="5791954"/>
            <a:ext cx="1935773" cy="391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ReLU</a:t>
            </a:r>
            <a:endParaRPr lang="en-US" sz="2450" dirty="0">
              <a:latin typeface="DM Sans" pitchFamily="2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8914" y="3382390"/>
            <a:ext cx="662935" cy="66293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75642" y="5791954"/>
            <a:ext cx="1935772" cy="391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Convolution</a:t>
            </a:r>
            <a:endParaRPr lang="en-US" sz="2450" dirty="0">
              <a:latin typeface="DM Sans" pitchFamily="2" charset="0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39310" y="3382390"/>
            <a:ext cx="662936" cy="66293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496263" y="5791954"/>
            <a:ext cx="1935772" cy="391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Input Image</a:t>
            </a:r>
            <a:endParaRPr lang="en-US" sz="2450" dirty="0">
              <a:latin typeface="DM Sans" pitchFamily="2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85681" y="6754701"/>
            <a:ext cx="13259038" cy="511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end-to-end pipeline enables the network to go from raw pixel values to confident class probabilities, with each intermediate stage building upon the representations learned by previous layers.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2711" y="793611"/>
            <a:ext cx="5874187" cy="601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Convolution Operation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32711" y="1650742"/>
            <a:ext cx="13164979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Convolution is the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mathematical core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every CNN layer. A small matrix called a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(or kernel) slides across the input image. At each position, it performs element-wise multiplication with the overlapping image region, then sums the results to produce a single scalar value in the output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map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2711" y="3029307"/>
            <a:ext cx="6497955" cy="1629608"/>
          </a:xfrm>
          <a:prstGeom prst="roundRect">
            <a:avLst>
              <a:gd name="adj" fmla="val 673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32711" y="3006447"/>
            <a:ext cx="6497955" cy="91440"/>
          </a:xfrm>
          <a:prstGeom prst="roundRect">
            <a:avLst>
              <a:gd name="adj" fmla="val 30054"/>
            </a:avLst>
          </a:prstGeom>
          <a:solidFill>
            <a:srgbClr val="E04F00"/>
          </a:solidFill>
          <a:ln/>
        </p:spPr>
      </p:sp>
      <p:sp>
        <p:nvSpPr>
          <p:cNvPr id="8" name="Shape 6"/>
          <p:cNvSpPr/>
          <p:nvPr/>
        </p:nvSpPr>
        <p:spPr>
          <a:xfrm>
            <a:off x="3706892" y="2754511"/>
            <a:ext cx="549593" cy="549593"/>
          </a:xfrm>
          <a:prstGeom prst="roundRect">
            <a:avLst>
              <a:gd name="adj" fmla="val 166378"/>
            </a:avLst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3871793" y="2891909"/>
            <a:ext cx="219789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8689" y="3487222"/>
            <a:ext cx="2404586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Position the Filter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38689" y="3889296"/>
            <a:ext cx="6085999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filter (e.g., 3×3) is placed over a local region of the input image or feature map.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99734" y="3029307"/>
            <a:ext cx="6497955" cy="1629608"/>
          </a:xfrm>
          <a:prstGeom prst="roundRect">
            <a:avLst>
              <a:gd name="adj" fmla="val 673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99734" y="3006447"/>
            <a:ext cx="6497955" cy="91440"/>
          </a:xfrm>
          <a:prstGeom prst="roundRect">
            <a:avLst>
              <a:gd name="adj" fmla="val 30054"/>
            </a:avLst>
          </a:prstGeom>
          <a:solidFill>
            <a:srgbClr val="E04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73916" y="2754511"/>
            <a:ext cx="549593" cy="549593"/>
          </a:xfrm>
          <a:prstGeom prst="roundRect">
            <a:avLst>
              <a:gd name="adj" fmla="val 166378"/>
            </a:avLst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38817" y="2891909"/>
            <a:ext cx="219789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05713" y="3487222"/>
            <a:ext cx="2426732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Element-wise Multiply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7605713" y="3889296"/>
            <a:ext cx="6085999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filter value is multiplied by the corresponding pixel value in the overlapping region.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2711" y="5102781"/>
            <a:ext cx="6497955" cy="1629608"/>
          </a:xfrm>
          <a:prstGeom prst="roundRect">
            <a:avLst>
              <a:gd name="adj" fmla="val 673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32711" y="5079921"/>
            <a:ext cx="6497955" cy="91440"/>
          </a:xfrm>
          <a:prstGeom prst="roundRect">
            <a:avLst>
              <a:gd name="adj" fmla="val 30054"/>
            </a:avLst>
          </a:prstGeom>
          <a:solidFill>
            <a:srgbClr val="E04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3706892" y="4827984"/>
            <a:ext cx="549593" cy="549593"/>
          </a:xfrm>
          <a:prstGeom prst="roundRect">
            <a:avLst>
              <a:gd name="adj" fmla="val 166378"/>
            </a:avLst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3871793" y="4965383"/>
            <a:ext cx="219789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38689" y="5560695"/>
            <a:ext cx="2404586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Sum and Record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938689" y="5962769"/>
            <a:ext cx="6085999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products are summed to produce one value, which is placed in the output feature map.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399734" y="5102781"/>
            <a:ext cx="6497955" cy="1629608"/>
          </a:xfrm>
          <a:prstGeom prst="roundRect">
            <a:avLst>
              <a:gd name="adj" fmla="val 6733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399734" y="5079921"/>
            <a:ext cx="6497955" cy="91440"/>
          </a:xfrm>
          <a:prstGeom prst="roundRect">
            <a:avLst>
              <a:gd name="adj" fmla="val 30054"/>
            </a:avLst>
          </a:prstGeom>
          <a:solidFill>
            <a:srgbClr val="E04F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73916" y="4827984"/>
            <a:ext cx="549593" cy="549593"/>
          </a:xfrm>
          <a:prstGeom prst="roundRect">
            <a:avLst>
              <a:gd name="adj" fmla="val 166378"/>
            </a:avLst>
          </a:prstGeom>
          <a:solidFill>
            <a:srgbClr val="E04F00"/>
          </a:solidFill>
          <a:ln/>
        </p:spPr>
      </p:sp>
      <p:sp>
        <p:nvSpPr>
          <p:cNvPr id="27" name="Text 25"/>
          <p:cNvSpPr/>
          <p:nvPr/>
        </p:nvSpPr>
        <p:spPr>
          <a:xfrm>
            <a:off x="10538817" y="4965383"/>
            <a:ext cx="219789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605713" y="5560695"/>
            <a:ext cx="2404586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Slide Across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7605713" y="5962769"/>
            <a:ext cx="6085999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filter slides across the entire input (determined by stride), repeating for every position.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32711" y="6922532"/>
            <a:ext cx="13164979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key advantage: the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filter weights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are applied across the entire image — a property called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parameter sharing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dramatically reducing the number of learnable parameters.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8FE564-CBD4-BD45-A859-9F8E17B6F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691" y="1871003"/>
            <a:ext cx="8398413" cy="5421157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4ABFCB0-C6DE-714D-8F67-388B6F29BCD9}"/>
              </a:ext>
            </a:extLst>
          </p:cNvPr>
          <p:cNvSpPr/>
          <p:nvPr/>
        </p:nvSpPr>
        <p:spPr>
          <a:xfrm>
            <a:off x="732711" y="793611"/>
            <a:ext cx="5874187" cy="601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Convolution Operation</a:t>
            </a:r>
            <a:endParaRPr lang="en-US" sz="3750" dirty="0"/>
          </a:p>
        </p:txBody>
      </p:sp>
    </p:spTree>
    <p:extLst>
      <p:ext uri="{BB962C8B-B14F-4D97-AF65-F5344CB8AC3E}">
        <p14:creationId xmlns:p14="http://schemas.microsoft.com/office/powerpoint/2010/main" val="3778162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917740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Filters and Kernels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49273" y="3065026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 Filter?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849273" y="3589020"/>
            <a:ext cx="549199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filter (kernel) is a small matrix of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learnable weights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typically 3×3 or 5×5. During training, the network adjusts these weights via backpropagation to detect features that minimise the loss.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9273" y="5037773"/>
            <a:ext cx="54919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CNN layer contains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filters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each learning to detect a different pattern simultaneously.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88480" y="3065026"/>
            <a:ext cx="3136702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Features Detected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88480" y="3589020"/>
            <a:ext cx="6955631" cy="218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Horizontal edge detectors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respond to horizontal intensity transitions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Vertical edge detectors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identify vertical boundaries in the image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Diagonal edges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capture angled contours and gradients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Texture filters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detect repeating local patterns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Blob detectors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highlight regions of uniform intensity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01021" y="6245927"/>
            <a:ext cx="69556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Deeper layers combine outputs of earlier filters to detect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eyes, wheels, or faces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7514" y="1070637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Stride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93790" y="204742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Stride defines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many pixels the filter moves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at each step during convolution. It directly controls the spatial resolution of the output feature map and the computational cost of the operation.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3496866"/>
            <a:ext cx="13042821" cy="2429113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3496866"/>
            <a:ext cx="4347567" cy="2429113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992148" y="369522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Stride = 1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992148" y="4139922"/>
            <a:ext cx="395085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Fine-grained extraction.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filter moves one pixel at a time, producing a large feature map with high spatial resolution. Captures maximum detail but increases computation.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141357" y="3496866"/>
            <a:ext cx="4347567" cy="242911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5141357" y="3496866"/>
            <a:ext cx="22860" cy="2429113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5339715" y="369522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Stride = 2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5339715" y="4139922"/>
            <a:ext cx="395085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Downsampled output.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filter skips every other pixel, halving the feature map dimensions. Reduces computation and memory while still capturing dominant patterns.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488924" y="3496866"/>
            <a:ext cx="4347567" cy="242911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5" name="Shape 13"/>
          <p:cNvSpPr/>
          <p:nvPr/>
        </p:nvSpPr>
        <p:spPr>
          <a:xfrm>
            <a:off x="9488924" y="3496866"/>
            <a:ext cx="22860" cy="2429113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9687282" y="369522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Stride &gt; 2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9687282" y="4139922"/>
            <a:ext cx="395085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Aggressive reduction.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Used for rapid spatial compression. Less common in practice, but useful in certain architectures to replace pooling layers.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93790" y="6149221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FFCDB3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6444496"/>
            <a:ext cx="248007" cy="19835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38513" y="6397109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 Size Formula: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Output = ⌊(Input − Filter + 2×Padding) / Stride⌋ + 1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5316" y="1021437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Padding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94610" y="227465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a filter slides over an image, pixels at the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border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the image are visited far fewer times than central pixels. Without padding, the spatial dimensions shrink after every convolution and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border information is lost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8A8568-64D9-2F22-AE0C-04E6940EA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595" y="3365607"/>
            <a:ext cx="7249107" cy="3842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58153-F2CC-683A-DB63-F04154DA4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A379B2F-3DEB-BC0F-777D-702D62CA0739}"/>
              </a:ext>
            </a:extLst>
          </p:cNvPr>
          <p:cNvSpPr/>
          <p:nvPr/>
        </p:nvSpPr>
        <p:spPr>
          <a:xfrm>
            <a:off x="695316" y="1021437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Padding</a:t>
            </a:r>
            <a:endParaRPr lang="en-US" sz="4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22CE489-BE45-D489-B29F-C1A33CB28F77}"/>
              </a:ext>
            </a:extLst>
          </p:cNvPr>
          <p:cNvSpPr/>
          <p:nvPr/>
        </p:nvSpPr>
        <p:spPr>
          <a:xfrm>
            <a:off x="793790" y="3518535"/>
            <a:ext cx="6422231" cy="2593896"/>
          </a:xfrm>
          <a:prstGeom prst="roundRect">
            <a:avLst>
              <a:gd name="adj" fmla="val 114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EA9D3A-AE57-23C4-2159-8F36540D5866}"/>
              </a:ext>
            </a:extLst>
          </p:cNvPr>
          <p:cNvSpPr/>
          <p:nvPr/>
        </p:nvSpPr>
        <p:spPr>
          <a:xfrm>
            <a:off x="1015008" y="373975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'Valid' Padding</a:t>
            </a:r>
            <a:endParaRPr lang="en-US" sz="2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C772A86-DBB3-3CF1-2C38-2456C50A6A5A}"/>
              </a:ext>
            </a:extLst>
          </p:cNvPr>
          <p:cNvSpPr/>
          <p:nvPr/>
        </p:nvSpPr>
        <p:spPr>
          <a:xfrm>
            <a:off x="1015008" y="4184452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padding applied.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filter only operates within the original image boundaries. The output is smaller than the input — specifically by (filter size − 1) pixels in each dimension.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2B45C79-CE86-5539-AF79-1ACF0C5F1DBE}"/>
              </a:ext>
            </a:extLst>
          </p:cNvPr>
          <p:cNvSpPr/>
          <p:nvPr/>
        </p:nvSpPr>
        <p:spPr>
          <a:xfrm>
            <a:off x="1015007" y="5477352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case: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When dimensionality reduction after each conv layer is acceptable.</a:t>
            </a:r>
            <a:endParaRPr lang="en-US" sz="17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33C300E-2958-428B-8BB6-9BBDCF31E593}"/>
              </a:ext>
            </a:extLst>
          </p:cNvPr>
          <p:cNvSpPr/>
          <p:nvPr/>
        </p:nvSpPr>
        <p:spPr>
          <a:xfrm>
            <a:off x="7414379" y="3518535"/>
            <a:ext cx="6422231" cy="2593896"/>
          </a:xfrm>
          <a:prstGeom prst="roundRect">
            <a:avLst>
              <a:gd name="adj" fmla="val 114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25B0BDF-CEF5-E65C-EB40-65F13DA6E85A}"/>
              </a:ext>
            </a:extLst>
          </p:cNvPr>
          <p:cNvSpPr/>
          <p:nvPr/>
        </p:nvSpPr>
        <p:spPr>
          <a:xfrm>
            <a:off x="7635597" y="373975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'Same' Padding</a:t>
            </a:r>
            <a:endParaRPr lang="en-US" sz="20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7DBEC45-383A-297E-E13A-7EA755156145}"/>
              </a:ext>
            </a:extLst>
          </p:cNvPr>
          <p:cNvSpPr/>
          <p:nvPr/>
        </p:nvSpPr>
        <p:spPr>
          <a:xfrm>
            <a:off x="7635597" y="4184452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Zeros added around the border.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Enough zero-pixels are added so that the output feature map has the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height and width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 the input (assuming stride = 1).</a:t>
            </a:r>
            <a:endParaRPr lang="en-US" sz="1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0C5E52-E0B6-343B-2A27-3B0B8A5E7A6E}"/>
              </a:ext>
            </a:extLst>
          </p:cNvPr>
          <p:cNvSpPr/>
          <p:nvPr/>
        </p:nvSpPr>
        <p:spPr>
          <a:xfrm>
            <a:off x="7635597" y="5256133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case: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When preserving spatial dimensions is critical, e.g., in deep architectures.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895F354-B4EE-E0E8-9BE9-AAAD2D28FDCE}"/>
              </a:ext>
            </a:extLst>
          </p:cNvPr>
          <p:cNvSpPr/>
          <p:nvPr/>
        </p:nvSpPr>
        <p:spPr>
          <a:xfrm>
            <a:off x="793789" y="233862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Padding ensures that all pixel positions — including those at the edges — contribute equally to feature learning, producing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complete and spatially balanced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feature maps.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274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513403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Maps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93790" y="288405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map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the output produced by applying a single filter across the entire input. Each feature map is a 2D matrix whose values indicate where and how strongly a particular pattern (e.g., a horizontal edge) is detected in the input.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91446" y="4536162"/>
            <a:ext cx="3917513" cy="198358"/>
          </a:xfrm>
          <a:prstGeom prst="roundRect">
            <a:avLst>
              <a:gd name="adj" fmla="val 15009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4337685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2EEE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2618" y="4486513"/>
            <a:ext cx="297656" cy="2976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2148" y="5131356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Layer 1 Feature Maps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992148" y="5576054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low-level features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edges, colour gradients, and simple corners. These are directly learned from the raw pixel input.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505093" y="4238506"/>
            <a:ext cx="3917633" cy="198358"/>
          </a:xfrm>
          <a:prstGeom prst="roundRect">
            <a:avLst>
              <a:gd name="adj" fmla="val 15009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5207437" y="4040029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2EEE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6265" y="4188857"/>
            <a:ext cx="297656" cy="2976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05795" y="4833699"/>
            <a:ext cx="276117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Layer 2–3 Feature Maps</a:t>
            </a:r>
            <a:endParaRPr lang="en-US" sz="2050" dirty="0"/>
          </a:p>
        </p:txBody>
      </p:sp>
      <p:sp>
        <p:nvSpPr>
          <p:cNvPr id="15" name="Text 11"/>
          <p:cNvSpPr/>
          <p:nvPr/>
        </p:nvSpPr>
        <p:spPr>
          <a:xfrm>
            <a:off x="5405795" y="5278398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 outputs of earlier maps to detect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mid-level features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textures, curves, and simple shapes like circles or lines.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9918859" y="3940850"/>
            <a:ext cx="3917513" cy="198358"/>
          </a:xfrm>
          <a:prstGeom prst="roundRect">
            <a:avLst>
              <a:gd name="adj" fmla="val 15009"/>
            </a:avLst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9621203" y="3742373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2EEE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0031" y="3891201"/>
            <a:ext cx="297656" cy="2976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19561" y="4536043"/>
            <a:ext cx="291429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Layer Feature Maps</a:t>
            </a:r>
            <a:endParaRPr lang="en-US" sz="2050" dirty="0"/>
          </a:p>
        </p:txBody>
      </p:sp>
      <p:sp>
        <p:nvSpPr>
          <p:cNvPr id="20" name="Text 15"/>
          <p:cNvSpPr/>
          <p:nvPr/>
        </p:nvSpPr>
        <p:spPr>
          <a:xfrm>
            <a:off x="9819561" y="4980742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Encode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high-level semantic concepts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object parts (eyes, wheels, ears) and eventually full objects recognisable by the classifier.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37277" y="595201"/>
            <a:ext cx="6007060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Activation Function: ReLU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37277" y="1534660"/>
            <a:ext cx="13074491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each convolution, an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activation function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applied element-wise to the feature map. Without activation functions, the entire network would behave as a single linear transformation, no matter how many layers are stacked — fundamentally limiting its expressive power.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954" y="2961918"/>
            <a:ext cx="318837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Rectified Linear Unit (ReLU)</a:t>
            </a:r>
            <a:endParaRPr lang="en-US" sz="2000" b="1" dirty="0"/>
          </a:p>
        </p:txBody>
      </p:sp>
      <p:sp>
        <p:nvSpPr>
          <p:cNvPr id="7" name="Text 5"/>
          <p:cNvSpPr/>
          <p:nvPr/>
        </p:nvSpPr>
        <p:spPr>
          <a:xfrm>
            <a:off x="777954" y="3471624"/>
            <a:ext cx="6977301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most widely used activation function in CNNs. Its definition is elegantly simple: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954" y="4329113"/>
            <a:ext cx="6977301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54" y="4329113"/>
            <a:ext cx="6977301" cy="33289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954" y="4903232"/>
            <a:ext cx="6977301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negative values are set to zero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positive values pass through unchanged. This introduces non-linearity while being computationally trivial to compute and differentiate.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954" y="6018252"/>
            <a:ext cx="2552938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Advantages of ReLU</a:t>
            </a:r>
            <a:endParaRPr lang="en-US" sz="2000" b="1" dirty="0"/>
          </a:p>
        </p:txBody>
      </p:sp>
      <p:sp>
        <p:nvSpPr>
          <p:cNvPr id="12" name="Text 9"/>
          <p:cNvSpPr/>
          <p:nvPr/>
        </p:nvSpPr>
        <p:spPr>
          <a:xfrm>
            <a:off x="777954" y="6527959"/>
            <a:ext cx="6977301" cy="1057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Computationally efficient — no exponentials required</a:t>
            </a:r>
            <a:endParaRPr lang="en-US" sz="17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Mitigates the vanishing gradient problem in deep networks</a:t>
            </a:r>
            <a:endParaRPr lang="en-US" sz="17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Promotes sparsity — many neurons output zero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91751" y="2961918"/>
            <a:ext cx="3087767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Other Activation Functions</a:t>
            </a:r>
            <a:endParaRPr lang="en-US" sz="2000" b="1" dirty="0"/>
          </a:p>
        </p:txBody>
      </p:sp>
      <p:sp>
        <p:nvSpPr>
          <p:cNvPr id="15" name="Text 12"/>
          <p:cNvSpPr/>
          <p:nvPr/>
        </p:nvSpPr>
        <p:spPr>
          <a:xfrm>
            <a:off x="8291751" y="3471624"/>
            <a:ext cx="5513903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Leaky ReLU:</a:t>
            </a: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Allows a small gradient for negative values, preventing "dying ReLU" neurons.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291751" y="4259342"/>
            <a:ext cx="5513903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Sigmoid:</a:t>
            </a: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Maps output to (0,1) — useful for binary output layers.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91751" y="5047059"/>
            <a:ext cx="5513903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Softmax:</a:t>
            </a: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Converts logits to a probability distribution across classes — used in the final layer of classifiers.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3113" y="1023984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Pooling Layer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595313" y="215439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Pooling layers reduce the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spatial dimensions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(height × width) of feature maps while retaining the most salient information. By summarising local regions, pooling achieves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translation invariance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model remains responsive to a feature even if it shifts slightly in position.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3801904"/>
            <a:ext cx="4215289" cy="2885480"/>
          </a:xfrm>
          <a:prstGeom prst="roundRect">
            <a:avLst>
              <a:gd name="adj" fmla="val 1032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992148" y="400026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Purpose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992148" y="4444960"/>
            <a:ext cx="3818573" cy="2044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 computational load for subsequent layers</a:t>
            </a:r>
            <a:endParaRPr lang="en-US" sz="17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overfitting through information compression</a:t>
            </a:r>
            <a:endParaRPr lang="en-US" sz="17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robustness to small spatial distortions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07437" y="3801904"/>
            <a:ext cx="4215408" cy="2885480"/>
          </a:xfrm>
          <a:prstGeom prst="roundRect">
            <a:avLst>
              <a:gd name="adj" fmla="val 1032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5405795" y="400026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It Works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5405795" y="4444960"/>
            <a:ext cx="381869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window (e.g., 2×2) slides over the feature map with a defined stride. Within each window, a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summary statistic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computed and recorded in the output. The result is a smaller, more compact feature map.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21203" y="3801904"/>
            <a:ext cx="4215289" cy="2885480"/>
          </a:xfrm>
          <a:prstGeom prst="roundRect">
            <a:avLst>
              <a:gd name="adj" fmla="val 1032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9819561" y="400026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Position in Pipeline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819561" y="4444960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Pooling is applied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activation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(Conv → ReLU → Pool). This sequence is the fundamental building block repeated throughout the CNN.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21437"/>
            <a:ext cx="2395418" cy="373142"/>
          </a:xfrm>
          <a:prstGeom prst="roundRect">
            <a:avLst>
              <a:gd name="adj" fmla="val 6383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080968"/>
            <a:ext cx="215729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DIMENSIONALITY REDUCTION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473875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Pooling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650915" y="2422803"/>
            <a:ext cx="6565106" cy="3401378"/>
          </a:xfrm>
          <a:prstGeom prst="roundRect">
            <a:avLst>
              <a:gd name="adj" fmla="val 875"/>
            </a:avLst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849273" y="2621161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Max Pooling</a:t>
            </a:r>
            <a:endParaRPr lang="en-US" sz="2050" b="1" dirty="0"/>
          </a:p>
        </p:txBody>
      </p:sp>
      <p:sp>
        <p:nvSpPr>
          <p:cNvPr id="7" name="Text 5"/>
          <p:cNvSpPr/>
          <p:nvPr/>
        </p:nvSpPr>
        <p:spPr>
          <a:xfrm>
            <a:off x="849273" y="3145155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Selects the </a:t>
            </a: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maximum value</a:t>
            </a: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from each pooling window. This retains the </a:t>
            </a: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strongest activation</a:t>
            </a: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most prominent evidence that a particular feature is present in that region.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9273" y="4276368"/>
            <a:ext cx="6168390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widely used pooling method</a:t>
            </a:r>
            <a:endParaRPr lang="en-US" sz="17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Effective for detecting whether a feature exists</a:t>
            </a:r>
            <a:endParaRPr lang="en-US" sz="17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Robust to small translations and distortions</a:t>
            </a:r>
            <a:endParaRPr lang="en-US" sz="17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Typical window: 2×2 with stride 2 (halves dimensions)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3789" y="6546533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480" y="6912015"/>
            <a:ext cx="248007" cy="19835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44491" y="6792834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Practical Note: Max pooling is the default choice in most architectures. Global Average Pooling (GAP) is increasingly used in modern networks to reduce parameters and prevent overfitting.</a:t>
            </a:r>
            <a:endParaRPr lang="en-US" sz="17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5AA04B-92A8-0C99-37D2-00726818B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280" y="2552049"/>
            <a:ext cx="5614206" cy="3103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46790-D87E-4F9E-D8B9-64CD9105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925332-3E7D-C269-60AB-7211495561FB}"/>
              </a:ext>
            </a:extLst>
          </p:cNvPr>
          <p:cNvSpPr/>
          <p:nvPr/>
        </p:nvSpPr>
        <p:spPr>
          <a:xfrm>
            <a:off x="793790" y="1021437"/>
            <a:ext cx="2395418" cy="373142"/>
          </a:xfrm>
          <a:prstGeom prst="roundRect">
            <a:avLst>
              <a:gd name="adj" fmla="val 6383"/>
            </a:avLst>
          </a:prstGeom>
          <a:solidFill>
            <a:srgbClr val="FFDEC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820D3B-A846-09C9-4E28-89CBCDCFAE17}"/>
              </a:ext>
            </a:extLst>
          </p:cNvPr>
          <p:cNvSpPr/>
          <p:nvPr/>
        </p:nvSpPr>
        <p:spPr>
          <a:xfrm>
            <a:off x="912852" y="1080968"/>
            <a:ext cx="215729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DIMENSIONALITY REDUCTION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1922B2-29AF-FB41-56BC-6D896A54EA4F}"/>
              </a:ext>
            </a:extLst>
          </p:cNvPr>
          <p:cNvSpPr/>
          <p:nvPr/>
        </p:nvSpPr>
        <p:spPr>
          <a:xfrm>
            <a:off x="793790" y="1473875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Pooling</a:t>
            </a:r>
            <a:endParaRPr lang="en-US" sz="4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FFE9C71-9611-7887-F68A-8855C5022344}"/>
              </a:ext>
            </a:extLst>
          </p:cNvPr>
          <p:cNvSpPr/>
          <p:nvPr/>
        </p:nvSpPr>
        <p:spPr>
          <a:xfrm>
            <a:off x="650915" y="2422803"/>
            <a:ext cx="6565106" cy="3401378"/>
          </a:xfrm>
          <a:prstGeom prst="roundRect">
            <a:avLst>
              <a:gd name="adj" fmla="val 875"/>
            </a:avLst>
          </a:prstGeom>
          <a:noFill/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75FBAE-F599-A998-9DF1-CBEF40F9C4A9}"/>
              </a:ext>
            </a:extLst>
          </p:cNvPr>
          <p:cNvSpPr/>
          <p:nvPr/>
        </p:nvSpPr>
        <p:spPr>
          <a:xfrm>
            <a:off x="7564874" y="2621161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Average Pooling</a:t>
            </a:r>
            <a:endParaRPr lang="en-US" sz="2050" b="1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54853C6-EA23-0DD6-0BDA-C0596C5D5251}"/>
              </a:ext>
            </a:extLst>
          </p:cNvPr>
          <p:cNvSpPr/>
          <p:nvPr/>
        </p:nvSpPr>
        <p:spPr>
          <a:xfrm>
            <a:off x="7564874" y="3145155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Computes the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 value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each pooling window. Produces a smoother, more distributed representation of the feature map by considering all activations equally.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6523873-D9B7-B0FC-1676-13F641F5B4A7}"/>
              </a:ext>
            </a:extLst>
          </p:cNvPr>
          <p:cNvSpPr/>
          <p:nvPr/>
        </p:nvSpPr>
        <p:spPr>
          <a:xfrm>
            <a:off x="7564874" y="4276368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Less aggressive than max pooling</a:t>
            </a:r>
            <a:endParaRPr lang="en-US" sz="17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Useful when global context matters more than peak activations</a:t>
            </a:r>
            <a:endParaRPr lang="en-US" sz="17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in final layers as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Average Pooling (GAP)</a:t>
            </a:r>
            <a:endParaRPr lang="en-US" sz="17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GAP replaces fully connected layers in modern architectures</a:t>
            </a:r>
            <a:endParaRPr lang="en-US" sz="17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F8EA314-208F-976F-C199-37321AC18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53371"/>
            <a:ext cx="5476915" cy="311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27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235484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Fully Connected Layer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93789" y="234010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a series of convolution, activation, and pooling operations, the spatial feature maps are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flattened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into a single 1D vector. This vector is then passed through one or more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fully connected (dense) layers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where every neuron connects to every neuron in the adjacent layer.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4" y="4075748"/>
            <a:ext cx="297656" cy="297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8632" y="406967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Flatten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1438632" y="4514374"/>
            <a:ext cx="3537347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final pooled feature maps (e.g., 4×4×64) are reshaped into a flat vector (e.g., 1024 values). This converts spatial representations into a format compatible with dense layers.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8400" y="4075748"/>
            <a:ext cx="297656" cy="2976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68829" y="4069675"/>
            <a:ext cx="2606516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Dense Hidden Layer(s)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5868829" y="4514374"/>
            <a:ext cx="353746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or more fully connected layers with ReLU activation learn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high-level combinations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the extracted features, capturing global relationships across the entire image.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8716" y="4075748"/>
            <a:ext cx="297656" cy="2976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99144" y="406967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 Layer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10299144" y="4514374"/>
            <a:ext cx="353746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final dense layer produces one value per class. A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Softmax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activation converts these into a probability distribution — the model's confidence for each possible class label.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750093"/>
            <a:ext cx="6808708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Landmark CNN Architectures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67119" y="177343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 the past decade, several milestone architectures have driven dramatic improvements in computer vision benchmarks. Each introduced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design principles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shaped subsequent research and deployment.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3790" y="5244584"/>
            <a:ext cx="13042821" cy="22860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3316486" y="4649272"/>
            <a:ext cx="22860" cy="595313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3104674" y="5021342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3171646" y="5049262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2025372" y="3053477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AlexNet (2012)</a:t>
            </a:r>
            <a:endParaRPr lang="en-US" sz="2050" b="1" dirty="0"/>
          </a:p>
        </p:txBody>
      </p:sp>
      <p:sp>
        <p:nvSpPr>
          <p:cNvPr id="11" name="Text 9"/>
          <p:cNvSpPr/>
          <p:nvPr/>
        </p:nvSpPr>
        <p:spPr>
          <a:xfrm>
            <a:off x="992148" y="3498175"/>
            <a:ext cx="467153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deep CNN to win ImageNet. Introduced ReLU, dropout regularisation, and GPU training. Sparked the deep learning revolution.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74556" y="5244584"/>
            <a:ext cx="22860" cy="595313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2744" y="5021342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5829717" y="5049262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450" dirty="0"/>
          </a:p>
        </p:txBody>
      </p:sp>
      <p:sp>
        <p:nvSpPr>
          <p:cNvPr id="15" name="Text 13"/>
          <p:cNvSpPr/>
          <p:nvPr/>
        </p:nvSpPr>
        <p:spPr>
          <a:xfrm>
            <a:off x="4683562" y="603837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VGGNet (2014)</a:t>
            </a:r>
            <a:endParaRPr lang="en-US" sz="2050" b="1" dirty="0"/>
          </a:p>
        </p:txBody>
      </p:sp>
      <p:sp>
        <p:nvSpPr>
          <p:cNvPr id="16" name="Text 14"/>
          <p:cNvSpPr/>
          <p:nvPr/>
        </p:nvSpPr>
        <p:spPr>
          <a:xfrm>
            <a:off x="3650218" y="6483072"/>
            <a:ext cx="467165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Demonstrated that depth matters. Used very small 3×3 filters stacked deeply. Achieved state-of-the-art with 16–19 layers.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632746" y="4649272"/>
            <a:ext cx="22860" cy="595313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8420933" y="5021342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8487906" y="5049262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450" dirty="0"/>
          </a:p>
        </p:txBody>
      </p:sp>
      <p:sp>
        <p:nvSpPr>
          <p:cNvPr id="20" name="Text 18"/>
          <p:cNvSpPr/>
          <p:nvPr/>
        </p:nvSpPr>
        <p:spPr>
          <a:xfrm>
            <a:off x="7341751" y="3053477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GoogLeNet (2014)</a:t>
            </a:r>
            <a:endParaRPr lang="en-US" sz="2050" b="1" dirty="0"/>
          </a:p>
        </p:txBody>
      </p:sp>
      <p:sp>
        <p:nvSpPr>
          <p:cNvPr id="21" name="Text 19"/>
          <p:cNvSpPr/>
          <p:nvPr/>
        </p:nvSpPr>
        <p:spPr>
          <a:xfrm>
            <a:off x="6308408" y="3498175"/>
            <a:ext cx="467165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Introduced Inception modules — parallel convolutions at multiple scales. Drastically reduced parameters while improving accuracy.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1290935" y="5244584"/>
            <a:ext cx="22860" cy="595313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79123" y="5021342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11146095" y="5049262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450" dirty="0"/>
          </a:p>
        </p:txBody>
      </p:sp>
      <p:sp>
        <p:nvSpPr>
          <p:cNvPr id="25" name="Text 23"/>
          <p:cNvSpPr/>
          <p:nvPr/>
        </p:nvSpPr>
        <p:spPr>
          <a:xfrm>
            <a:off x="9999940" y="603837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ResNet (2015)</a:t>
            </a:r>
            <a:endParaRPr lang="en-US" sz="2050" b="1" dirty="0"/>
          </a:p>
        </p:txBody>
      </p:sp>
      <p:sp>
        <p:nvSpPr>
          <p:cNvPr id="26" name="Text 24"/>
          <p:cNvSpPr/>
          <p:nvPr/>
        </p:nvSpPr>
        <p:spPr>
          <a:xfrm>
            <a:off x="8966597" y="6483072"/>
            <a:ext cx="467165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Introduced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skip connections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(residual blocks) to solve the vanishing gradient problem, enabling networks with 50–152+ layers.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913474"/>
            <a:ext cx="6922294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Architectural Innovations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816650" y="200002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landmark architecture introduced a principle that is now considered standard practice in deep learning design.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3387923"/>
            <a:ext cx="4215289" cy="3395782"/>
          </a:xfrm>
          <a:prstGeom prst="roundRect">
            <a:avLst>
              <a:gd name="adj" fmla="val 87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6650" y="3410783"/>
            <a:ext cx="4169569" cy="595313"/>
          </a:xfrm>
          <a:prstGeom prst="roundRect">
            <a:avLst>
              <a:gd name="adj" fmla="val 393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1015008" y="420445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Stacking (VGG)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015008" y="4649153"/>
            <a:ext cx="377285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Replacing large filters (e.g., 11×11) with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stacked 3×3 filters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achieves the same receptive field with fewer parameters and more non-linearities — improving both efficiency and accuracy.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207437" y="3387923"/>
            <a:ext cx="4215408" cy="3395782"/>
          </a:xfrm>
          <a:prstGeom prst="roundRect">
            <a:avLst>
              <a:gd name="adj" fmla="val 87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30297" y="3410783"/>
            <a:ext cx="4169688" cy="595313"/>
          </a:xfrm>
          <a:prstGeom prst="roundRect">
            <a:avLst>
              <a:gd name="adj" fmla="val 393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5428655" y="4204454"/>
            <a:ext cx="377297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Multi-Scale Processing (Inception)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5428655" y="4974788"/>
            <a:ext cx="377297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Applying filters of different sizes (1×1, 3×3, 5×5)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parallel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within the same layer allows the network to capture features at multiple scales simultaneously.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21203" y="3387923"/>
            <a:ext cx="4215289" cy="3395782"/>
          </a:xfrm>
          <a:prstGeom prst="roundRect">
            <a:avLst>
              <a:gd name="adj" fmla="val 87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44063" y="3410783"/>
            <a:ext cx="4169569" cy="595313"/>
          </a:xfrm>
          <a:prstGeom prst="roundRect">
            <a:avLst>
              <a:gd name="adj" fmla="val 393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9842421" y="4204454"/>
            <a:ext cx="3145036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Residual Learning (ResNet)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9842421" y="4649153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Skip connections allow the gradient to bypass layers directly: . The network only needs to learn the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residual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, making very deep networks trainable.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915160"/>
            <a:ext cx="10128409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Implementing a CNN: Conceptual Overview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93790" y="190323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practice, CNNs are implemented using high-level deep learning frameworks — primarily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TensorFlow/Keras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PyTorch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These libraries abstract low-level operations, allowing practitioners to define complex architectures in a few lines of code.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3510201"/>
            <a:ext cx="6422231" cy="147649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992148" y="3708559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Define Architecture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992148" y="4153257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Stack Conv2D, MaxPooling, Flatten, and Dense layers using the framework's Sequential or functional API.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14379" y="3510201"/>
            <a:ext cx="6422231" cy="147649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7612737" y="3708559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Compile Model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7612737" y="4153257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an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optimiser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(e.g., Adam), a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loss function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(e.g., categorical cross-entropy), and evaluation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metrics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(e.g., accuracy).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3790" y="5185053"/>
            <a:ext cx="6422231" cy="179403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992148" y="5383411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 on Data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92148" y="5828109"/>
            <a:ext cx="60255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Feed labelled training images in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mini-batches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model updates weights iteratively via backpropagation over multiple epochs.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14379" y="5185053"/>
            <a:ext cx="6422231" cy="179403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612737" y="5383411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Evaluate and Predict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7612737" y="5828109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performance on a held-out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set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then deploy the model to classify new, unseen images.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70301" y="801376"/>
            <a:ext cx="5639991" cy="449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Sample Python Code: CNN in Keras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29660" y="1436914"/>
            <a:ext cx="7914555" cy="63546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700" dirty="0">
              <a:solidFill>
                <a:schemeClr val="accent1"/>
              </a:solidFill>
              <a:latin typeface="DM Sans" pitchFamily="2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import tensorflow as tf</a:t>
            </a:r>
            <a:endParaRPr lang="en-US" sz="1700" dirty="0">
              <a:solidFill>
                <a:schemeClr val="accent1"/>
              </a:solidFill>
              <a:latin typeface="DM Sans" pitchFamily="2" charset="0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from tensorflow.keras import layers, models</a:t>
            </a:r>
            <a:endParaRPr lang="en-US" sz="1700" dirty="0">
              <a:solidFill>
                <a:schemeClr val="accent1"/>
              </a:solidFill>
              <a:latin typeface="DM Sans" pitchFamily="2" charset="0"/>
            </a:endParaRPr>
          </a:p>
          <a:p>
            <a:pPr marL="0" indent="0" algn="l">
              <a:lnSpc>
                <a:spcPts val="1450"/>
              </a:lnSpc>
              <a:buNone/>
            </a:pPr>
            <a:endParaRPr lang="en-US" sz="1700" dirty="0">
              <a:solidFill>
                <a:schemeClr val="accent1"/>
              </a:solidFill>
              <a:latin typeface="DM Sans" pitchFamily="2" charset="0"/>
            </a:endParaRPr>
          </a:p>
          <a:p>
            <a:pPr>
              <a:lnSpc>
                <a:spcPts val="1450"/>
              </a:lnSpc>
            </a:pPr>
            <a:endParaRPr lang="en-US" sz="1700" dirty="0">
              <a:solidFill>
                <a:schemeClr val="accent1"/>
              </a:solidFill>
              <a:latin typeface="DM Sans" pitchFamily="2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# Build the CNN model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model = </a:t>
            </a:r>
            <a:r>
              <a:rPr lang="en-US" sz="1700" dirty="0" err="1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models.Sequential</a:t>
            </a: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([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# Block 1: Convolution + Pooling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layers.Conv2D(32, (3, 3), activation='</a:t>
            </a:r>
            <a:r>
              <a:rPr lang="en-US" sz="1700" dirty="0" err="1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relu</a:t>
            </a: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',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700" dirty="0" err="1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input_shape</a:t>
            </a: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=(64, 64, 3)),   # 64x64 RGB image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layers.MaxPooling2D((2, 2)),             # Reduce spatial size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# Block 2: Convolution + Pooling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layers.Conv2D(64, (3, 3), activation='</a:t>
            </a:r>
            <a:r>
              <a:rPr lang="en-US" sz="1700" dirty="0" err="1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relu</a:t>
            </a: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'),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layers.MaxPooling2D((2, 2)),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# Classifier Head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 err="1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layers.Flatten</a:t>
            </a: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(),                        # Convert 2D → 1D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 err="1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layers.Dense</a:t>
            </a: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(64, activation='</a:t>
            </a:r>
            <a:r>
              <a:rPr lang="en-US" sz="1700" dirty="0" err="1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relu</a:t>
            </a: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'),    # Fully connected layer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 err="1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layers.Dense</a:t>
            </a: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(10, activation='</a:t>
            </a:r>
            <a:r>
              <a:rPr lang="en-US" sz="1700" dirty="0" err="1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softmax</a:t>
            </a: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')  # 10 classes (multiclass classification)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])</a:t>
            </a:r>
          </a:p>
          <a:p>
            <a:pPr>
              <a:lnSpc>
                <a:spcPts val="1450"/>
              </a:lnSpc>
            </a:pPr>
            <a:endParaRPr lang="en-US" sz="1700" dirty="0">
              <a:solidFill>
                <a:schemeClr val="accent1"/>
              </a:solidFill>
              <a:latin typeface="DM Sans" pitchFamily="2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# Compile the model</a:t>
            </a:r>
          </a:p>
          <a:p>
            <a:pPr>
              <a:lnSpc>
                <a:spcPts val="1450"/>
              </a:lnSpc>
            </a:pPr>
            <a:r>
              <a:rPr lang="en-US" sz="1700" dirty="0" err="1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model.compile</a:t>
            </a: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optimizer='</a:t>
            </a:r>
            <a:r>
              <a:rPr lang="en-US" sz="1700" dirty="0" err="1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adam</a:t>
            </a: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',                       # Adaptive optimizer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loss='</a:t>
            </a:r>
            <a:r>
              <a:rPr lang="en-US" sz="1700" dirty="0" err="1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categorical_crossentropy</a:t>
            </a: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',        # For one-hot encoded labels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metrics=['accuracy']                    # Evaluation metric</a:t>
            </a:r>
          </a:p>
          <a:p>
            <a:pPr>
              <a:lnSpc>
                <a:spcPts val="1450"/>
              </a:lnSpc>
            </a:pPr>
            <a:r>
              <a:rPr lang="en-US" sz="1700" dirty="0">
                <a:solidFill>
                  <a:schemeClr val="accent1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72F80-EC0C-B5E0-0B2A-6DAB21D4FA73}"/>
              </a:ext>
            </a:extLst>
          </p:cNvPr>
          <p:cNvSpPr txBox="1"/>
          <p:nvPr/>
        </p:nvSpPr>
        <p:spPr>
          <a:xfrm>
            <a:off x="9090210" y="2545743"/>
            <a:ext cx="54095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DM Sans" pitchFamily="2" charset="0"/>
              </a:rPr>
              <a:t>This TensorFlow / </a:t>
            </a:r>
            <a:r>
              <a:rPr lang="en-IN" dirty="0" err="1">
                <a:latin typeface="DM Sans" pitchFamily="2" charset="0"/>
              </a:rPr>
              <a:t>Keras</a:t>
            </a:r>
            <a:r>
              <a:rPr lang="en-IN" dirty="0">
                <a:latin typeface="DM Sans" pitchFamily="2" charset="0"/>
              </a:rPr>
              <a:t> model builds a simple CNN with two convolution + pooling blocks to extract features from 64×64 RGB images. </a:t>
            </a:r>
          </a:p>
          <a:p>
            <a:r>
              <a:rPr lang="en-IN" dirty="0">
                <a:latin typeface="DM Sans" pitchFamily="2" charset="0"/>
              </a:rPr>
              <a:t> 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DM Sans" pitchFamily="2" charset="0"/>
              </a:rPr>
              <a:t>The flattened features are passed through dense layers to learn patterns and classify into 10 categories using </a:t>
            </a:r>
            <a:r>
              <a:rPr lang="en-IN" dirty="0" err="1">
                <a:latin typeface="DM Sans" pitchFamily="2" charset="0"/>
              </a:rPr>
              <a:t>softmax</a:t>
            </a:r>
            <a:r>
              <a:rPr lang="en-IN" dirty="0">
                <a:latin typeface="DM Sans" pitchFamily="2" charset="0"/>
              </a:rPr>
              <a:t> output. </a:t>
            </a:r>
          </a:p>
          <a:p>
            <a:r>
              <a:rPr lang="en-IN" dirty="0">
                <a:latin typeface="DM Sans" pitchFamily="2" charset="0"/>
              </a:rPr>
              <a:t> 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DM Sans" pitchFamily="2" charset="0"/>
              </a:rPr>
              <a:t>It is compiled with Adam optimizer and categorical cross entropy loss to train efficiently and measure performance using accuracy.</a:t>
            </a:r>
          </a:p>
          <a:p>
            <a:endParaRPr lang="en-IN" dirty="0"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7633" y="878681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97633" y="194524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Convolutional Neural Networks represent one of the most significant advances in modern machine learning. Below are the essential concepts from this unit.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3421856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860762" y="3449776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1438632" y="3490079"/>
            <a:ext cx="3909536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CNNs Automate Feature Learning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438632" y="3934778"/>
            <a:ext cx="575250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Unlike traditional ML, CNNs learn edges, textures, and shapes directly from raw pixels — eliminating manual feature engineering entirely.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39144" y="3421856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506117" y="3449776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8083987" y="3490079"/>
            <a:ext cx="360830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Core Pipeline is Structured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8083987" y="3934778"/>
            <a:ext cx="575262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CNN follows the same fundamental sequence: Conv → ReLU → Pool → Flatten → Dense → Softmax. Each stage has a precise role in transforming raw data into predictions.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3790" y="5284232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860762" y="5312152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450" dirty="0"/>
          </a:p>
        </p:txBody>
      </p:sp>
      <p:sp>
        <p:nvSpPr>
          <p:cNvPr id="16" name="Text 14"/>
          <p:cNvSpPr/>
          <p:nvPr/>
        </p:nvSpPr>
        <p:spPr>
          <a:xfrm>
            <a:off x="1438632" y="5352455"/>
            <a:ext cx="466105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Hyperparameters Control the Trade-offs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438632" y="5797153"/>
            <a:ext cx="575250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Stride, padding, filter size, and pooling type are design decisions that balance spatial resolution, computational cost, and model capacity.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39144" y="5284232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7506117" y="5312152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450" dirty="0"/>
          </a:p>
        </p:txBody>
      </p:sp>
      <p:sp>
        <p:nvSpPr>
          <p:cNvPr id="20" name="Text 18"/>
          <p:cNvSpPr/>
          <p:nvPr/>
        </p:nvSpPr>
        <p:spPr>
          <a:xfrm>
            <a:off x="8083987" y="5352455"/>
            <a:ext cx="3263741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Architectures Keep Evolving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8083987" y="5797153"/>
            <a:ext cx="575262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AlexNet to ResNet, each generation introduced innovations — deeper networks, residual connections, multi-scale filters — that continue to inform state-of-the-art models today.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2781</Words>
  <Application>Microsoft Macintosh PowerPoint</Application>
  <PresentationFormat>Custom</PresentationFormat>
  <Paragraphs>274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PT Serif</vt:lpstr>
      <vt:lpstr>Calibri</vt:lpstr>
      <vt:lpstr>DM Sans</vt:lpstr>
      <vt:lpstr>Arial</vt:lpstr>
      <vt:lpstr>Wingdings</vt:lpstr>
      <vt:lpstr>Consolas</vt:lpstr>
      <vt:lpstr>PT Serif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20</cp:revision>
  <dcterms:created xsi:type="dcterms:W3CDTF">2026-04-05T15:26:18Z</dcterms:created>
  <dcterms:modified xsi:type="dcterms:W3CDTF">2026-04-10T06:25:13Z</dcterms:modified>
</cp:coreProperties>
</file>