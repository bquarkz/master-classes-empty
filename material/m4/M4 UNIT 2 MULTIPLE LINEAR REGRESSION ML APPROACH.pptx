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74" r:id="rId2"/>
    <p:sldId id="327" r:id="rId3"/>
    <p:sldId id="303" r:id="rId4"/>
    <p:sldId id="266" r:id="rId5"/>
    <p:sldId id="315" r:id="rId6"/>
    <p:sldId id="316" r:id="rId7"/>
    <p:sldId id="317" r:id="rId8"/>
    <p:sldId id="318" r:id="rId9"/>
    <p:sldId id="319" r:id="rId10"/>
    <p:sldId id="320" r:id="rId11"/>
    <p:sldId id="321" r:id="rId12"/>
    <p:sldId id="322" r:id="rId13"/>
    <p:sldId id="323" r:id="rId14"/>
    <p:sldId id="324" r:id="rId15"/>
    <p:sldId id="516" r:id="rId16"/>
    <p:sldId id="325" r:id="rId17"/>
    <p:sldId id="292" r:id="rId18"/>
    <p:sldId id="326" r:id="rId19"/>
    <p:sldId id="514" r:id="rId20"/>
    <p:sldId id="415" r:id="rId21"/>
    <p:sldId id="517" r:id="rId22"/>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p:cViewPr varScale="1">
        <p:scale>
          <a:sx n="86" d="100"/>
          <a:sy n="86" d="100"/>
        </p:scale>
        <p:origin x="936"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31B2F2-A61B-47D4-9D78-B45340D0FFFC}" type="doc">
      <dgm:prSet loTypeId="urn:microsoft.com/office/officeart/2005/8/layout/default" loCatId="list" qsTypeId="urn:microsoft.com/office/officeart/2005/8/quickstyle/simple1" qsCatId="simple" csTypeId="urn:microsoft.com/office/officeart/2005/8/colors/accent4_4" csCatId="accent4" phldr="1"/>
      <dgm:spPr/>
      <dgm:t>
        <a:bodyPr/>
        <a:lstStyle/>
        <a:p>
          <a:endParaRPr lang="en-IN"/>
        </a:p>
      </dgm:t>
    </dgm:pt>
    <dgm:pt modelId="{670F7C92-4369-4966-8B94-329DAE8B580A}">
      <dgm:prSet phldrT="[Text]" custT="1"/>
      <dgm:spPr>
        <a:solidFill>
          <a:schemeClr val="accent6">
            <a:lumMod val="20000"/>
            <a:lumOff val="80000"/>
          </a:schemeClr>
        </a:solidFill>
      </dgm:spPr>
      <dgm:t>
        <a:bodyPr/>
        <a:lstStyle/>
        <a:p>
          <a:r>
            <a:rPr lang="en-US" sz="2400" dirty="0">
              <a:solidFill>
                <a:schemeClr val="tx1">
                  <a:lumMod val="85000"/>
                  <a:lumOff val="15000"/>
                </a:schemeClr>
              </a:solidFill>
              <a:latin typeface="PT Serif" panose="020A0603040505020204" pitchFamily="18" charset="0"/>
            </a:rPr>
            <a:t>Hold-Out Validation</a:t>
          </a:r>
          <a:endParaRPr lang="en-IN" sz="2400" dirty="0">
            <a:solidFill>
              <a:schemeClr val="tx1">
                <a:lumMod val="85000"/>
                <a:lumOff val="15000"/>
              </a:schemeClr>
            </a:solidFill>
            <a:latin typeface="PT Serif" panose="020A0603040505020204" pitchFamily="18" charset="0"/>
          </a:endParaRPr>
        </a:p>
      </dgm:t>
    </dgm:pt>
    <dgm:pt modelId="{AA7C658F-FD45-4D99-A355-AB1C5F5CD326}" type="parTrans" cxnId="{A9C89C97-E6CB-48E9-BF00-2AF09864B0F9}">
      <dgm:prSet/>
      <dgm:spPr/>
      <dgm:t>
        <a:bodyPr/>
        <a:lstStyle/>
        <a:p>
          <a:endParaRPr lang="en-IN"/>
        </a:p>
      </dgm:t>
    </dgm:pt>
    <dgm:pt modelId="{5F36C9DD-5984-413F-8331-6BC96090DE85}" type="sibTrans" cxnId="{A9C89C97-E6CB-48E9-BF00-2AF09864B0F9}">
      <dgm:prSet/>
      <dgm:spPr/>
      <dgm:t>
        <a:bodyPr/>
        <a:lstStyle/>
        <a:p>
          <a:endParaRPr lang="en-IN"/>
        </a:p>
      </dgm:t>
    </dgm:pt>
    <dgm:pt modelId="{671D76FB-1B06-466E-9FFD-B0A0199D5D4E}">
      <dgm:prSet phldrT="[Text]" custT="1"/>
      <dgm:spPr>
        <a:solidFill>
          <a:schemeClr val="accent4">
            <a:lumMod val="60000"/>
            <a:lumOff val="40000"/>
          </a:schemeClr>
        </a:solidFill>
      </dgm:spPr>
      <dgm:t>
        <a:bodyPr/>
        <a:lstStyle/>
        <a:p>
          <a:r>
            <a:rPr lang="en-US" sz="2400" dirty="0">
              <a:solidFill>
                <a:schemeClr val="tx1">
                  <a:lumMod val="85000"/>
                  <a:lumOff val="15000"/>
                </a:schemeClr>
              </a:solidFill>
              <a:latin typeface="PT Serif" panose="020A0603040505020204" pitchFamily="18" charset="0"/>
            </a:rPr>
            <a:t>K-Fold Cross Validation</a:t>
          </a:r>
          <a:endParaRPr lang="en-IN" sz="2400" dirty="0">
            <a:solidFill>
              <a:schemeClr val="tx1">
                <a:lumMod val="85000"/>
                <a:lumOff val="15000"/>
              </a:schemeClr>
            </a:solidFill>
            <a:latin typeface="PT Serif" panose="020A0603040505020204" pitchFamily="18" charset="0"/>
          </a:endParaRPr>
        </a:p>
      </dgm:t>
    </dgm:pt>
    <dgm:pt modelId="{4710BB29-F6FA-4B30-918F-CB8822EC775A}" type="parTrans" cxnId="{21719F41-471B-4711-BC5C-EFBF3F56AD08}">
      <dgm:prSet/>
      <dgm:spPr/>
      <dgm:t>
        <a:bodyPr/>
        <a:lstStyle/>
        <a:p>
          <a:endParaRPr lang="en-IN"/>
        </a:p>
      </dgm:t>
    </dgm:pt>
    <dgm:pt modelId="{240AAD90-F326-4BC7-B492-C22E0EE71875}" type="sibTrans" cxnId="{21719F41-471B-4711-BC5C-EFBF3F56AD08}">
      <dgm:prSet/>
      <dgm:spPr/>
      <dgm:t>
        <a:bodyPr/>
        <a:lstStyle/>
        <a:p>
          <a:endParaRPr lang="en-IN"/>
        </a:p>
      </dgm:t>
    </dgm:pt>
    <dgm:pt modelId="{2128B9B9-D4D1-4EB7-AB0C-6627419C56DE}">
      <dgm:prSet phldrT="[Text]" custT="1"/>
      <dgm:spPr>
        <a:solidFill>
          <a:schemeClr val="accent5">
            <a:lumMod val="60000"/>
            <a:lumOff val="40000"/>
          </a:schemeClr>
        </a:solidFill>
      </dgm:spPr>
      <dgm:t>
        <a:bodyPr/>
        <a:lstStyle/>
        <a:p>
          <a:r>
            <a:rPr lang="en-US" sz="2400" dirty="0">
              <a:solidFill>
                <a:schemeClr val="tx1">
                  <a:lumMod val="85000"/>
                  <a:lumOff val="15000"/>
                </a:schemeClr>
              </a:solidFill>
              <a:latin typeface="PT Serif" panose="020A0603040505020204" pitchFamily="18" charset="0"/>
            </a:rPr>
            <a:t>Repeated K-Fold Cross Validation</a:t>
          </a:r>
          <a:endParaRPr lang="en-IN" sz="2400" dirty="0">
            <a:solidFill>
              <a:schemeClr val="tx1">
                <a:lumMod val="85000"/>
                <a:lumOff val="15000"/>
              </a:schemeClr>
            </a:solidFill>
            <a:latin typeface="PT Serif" panose="020A0603040505020204" pitchFamily="18" charset="0"/>
          </a:endParaRPr>
        </a:p>
      </dgm:t>
    </dgm:pt>
    <dgm:pt modelId="{490D5DC7-B081-4D56-8734-86C3BB4F2269}" type="parTrans" cxnId="{36771572-740B-4D1E-82A5-254DCBB30D76}">
      <dgm:prSet/>
      <dgm:spPr/>
      <dgm:t>
        <a:bodyPr/>
        <a:lstStyle/>
        <a:p>
          <a:endParaRPr lang="en-IN"/>
        </a:p>
      </dgm:t>
    </dgm:pt>
    <dgm:pt modelId="{5F5B98E6-2070-4221-BFEE-E283C02C8D96}" type="sibTrans" cxnId="{36771572-740B-4D1E-82A5-254DCBB30D76}">
      <dgm:prSet/>
      <dgm:spPr/>
      <dgm:t>
        <a:bodyPr/>
        <a:lstStyle/>
        <a:p>
          <a:endParaRPr lang="en-IN"/>
        </a:p>
      </dgm:t>
    </dgm:pt>
    <dgm:pt modelId="{73C0CACC-126B-411A-A68A-859A7600220E}">
      <dgm:prSet custT="1"/>
      <dgm:spPr>
        <a:solidFill>
          <a:schemeClr val="accent2">
            <a:lumMod val="20000"/>
            <a:lumOff val="80000"/>
          </a:schemeClr>
        </a:solidFill>
      </dgm:spPr>
      <dgm:t>
        <a:bodyPr/>
        <a:lstStyle/>
        <a:p>
          <a:r>
            <a:rPr lang="en-US" sz="2400" dirty="0">
              <a:solidFill>
                <a:schemeClr val="tx1">
                  <a:lumMod val="85000"/>
                  <a:lumOff val="15000"/>
                </a:schemeClr>
              </a:solidFill>
              <a:latin typeface="PT Serif" panose="020A0603040505020204" pitchFamily="18" charset="0"/>
            </a:rPr>
            <a:t>Leave-One-Out Cross Validation (LOOCV)</a:t>
          </a:r>
        </a:p>
      </dgm:t>
    </dgm:pt>
    <dgm:pt modelId="{3F457882-7387-44B8-BAD3-A408BD4042CE}" type="parTrans" cxnId="{0D623B65-ACD9-45C9-BBCE-0C29EF9D6F65}">
      <dgm:prSet/>
      <dgm:spPr/>
      <dgm:t>
        <a:bodyPr/>
        <a:lstStyle/>
        <a:p>
          <a:endParaRPr lang="en-IN"/>
        </a:p>
      </dgm:t>
    </dgm:pt>
    <dgm:pt modelId="{7487E48E-68BC-4487-9AFD-3D50D0282D5B}" type="sibTrans" cxnId="{0D623B65-ACD9-45C9-BBCE-0C29EF9D6F65}">
      <dgm:prSet/>
      <dgm:spPr/>
      <dgm:t>
        <a:bodyPr/>
        <a:lstStyle/>
        <a:p>
          <a:endParaRPr lang="en-IN"/>
        </a:p>
      </dgm:t>
    </dgm:pt>
    <dgm:pt modelId="{E90E1C2E-0AFF-443B-9AE4-3889D5D4C47E}" type="pres">
      <dgm:prSet presAssocID="{B631B2F2-A61B-47D4-9D78-B45340D0FFFC}" presName="diagram" presStyleCnt="0">
        <dgm:presLayoutVars>
          <dgm:dir/>
          <dgm:resizeHandles val="exact"/>
        </dgm:presLayoutVars>
      </dgm:prSet>
      <dgm:spPr/>
    </dgm:pt>
    <dgm:pt modelId="{F4639750-DA68-4625-B616-6FEF5C944E6F}" type="pres">
      <dgm:prSet presAssocID="{670F7C92-4369-4966-8B94-329DAE8B580A}" presName="node" presStyleLbl="node1" presStyleIdx="0" presStyleCnt="4">
        <dgm:presLayoutVars>
          <dgm:bulletEnabled val="1"/>
        </dgm:presLayoutVars>
      </dgm:prSet>
      <dgm:spPr/>
    </dgm:pt>
    <dgm:pt modelId="{DE7021E3-4F46-4E8F-95D2-951DDDB672C8}" type="pres">
      <dgm:prSet presAssocID="{5F36C9DD-5984-413F-8331-6BC96090DE85}" presName="sibTrans" presStyleCnt="0"/>
      <dgm:spPr/>
    </dgm:pt>
    <dgm:pt modelId="{1DE56063-26E8-4EFC-A842-18895E21C401}" type="pres">
      <dgm:prSet presAssocID="{671D76FB-1B06-466E-9FFD-B0A0199D5D4E}" presName="node" presStyleLbl="node1" presStyleIdx="1" presStyleCnt="4" custLinFactNeighborX="-388" custLinFactNeighborY="-1044">
        <dgm:presLayoutVars>
          <dgm:bulletEnabled val="1"/>
        </dgm:presLayoutVars>
      </dgm:prSet>
      <dgm:spPr/>
    </dgm:pt>
    <dgm:pt modelId="{259AF702-49CC-4DFD-B1A2-E593233AD209}" type="pres">
      <dgm:prSet presAssocID="{240AAD90-F326-4BC7-B492-C22E0EE71875}" presName="sibTrans" presStyleCnt="0"/>
      <dgm:spPr/>
    </dgm:pt>
    <dgm:pt modelId="{16AD9A27-F2CC-491D-9722-A837CCDAE67D}" type="pres">
      <dgm:prSet presAssocID="{2128B9B9-D4D1-4EB7-AB0C-6627419C56DE}" presName="node" presStyleLbl="node1" presStyleIdx="2" presStyleCnt="4">
        <dgm:presLayoutVars>
          <dgm:bulletEnabled val="1"/>
        </dgm:presLayoutVars>
      </dgm:prSet>
      <dgm:spPr/>
    </dgm:pt>
    <dgm:pt modelId="{08A8882C-4DD1-4B05-82DB-8795CF70B696}" type="pres">
      <dgm:prSet presAssocID="{5F5B98E6-2070-4221-BFEE-E283C02C8D96}" presName="sibTrans" presStyleCnt="0"/>
      <dgm:spPr/>
    </dgm:pt>
    <dgm:pt modelId="{91A8AFF7-D3FB-4A3F-AC47-4BCA36226069}" type="pres">
      <dgm:prSet presAssocID="{73C0CACC-126B-411A-A68A-859A7600220E}" presName="node" presStyleLbl="node1" presStyleIdx="3" presStyleCnt="4">
        <dgm:presLayoutVars>
          <dgm:bulletEnabled val="1"/>
        </dgm:presLayoutVars>
      </dgm:prSet>
      <dgm:spPr/>
    </dgm:pt>
  </dgm:ptLst>
  <dgm:cxnLst>
    <dgm:cxn modelId="{12AF870D-F606-494E-BF12-95622E2A538C}" type="presOf" srcId="{B631B2F2-A61B-47D4-9D78-B45340D0FFFC}" destId="{E90E1C2E-0AFF-443B-9AE4-3889D5D4C47E}" srcOrd="0" destOrd="0" presId="urn:microsoft.com/office/officeart/2005/8/layout/default"/>
    <dgm:cxn modelId="{47857041-00D8-461A-AFDD-B22EED06013F}" type="presOf" srcId="{2128B9B9-D4D1-4EB7-AB0C-6627419C56DE}" destId="{16AD9A27-F2CC-491D-9722-A837CCDAE67D}" srcOrd="0" destOrd="0" presId="urn:microsoft.com/office/officeart/2005/8/layout/default"/>
    <dgm:cxn modelId="{21719F41-471B-4711-BC5C-EFBF3F56AD08}" srcId="{B631B2F2-A61B-47D4-9D78-B45340D0FFFC}" destId="{671D76FB-1B06-466E-9FFD-B0A0199D5D4E}" srcOrd="1" destOrd="0" parTransId="{4710BB29-F6FA-4B30-918F-CB8822EC775A}" sibTransId="{240AAD90-F326-4BC7-B492-C22E0EE71875}"/>
    <dgm:cxn modelId="{0D623B65-ACD9-45C9-BBCE-0C29EF9D6F65}" srcId="{B631B2F2-A61B-47D4-9D78-B45340D0FFFC}" destId="{73C0CACC-126B-411A-A68A-859A7600220E}" srcOrd="3" destOrd="0" parTransId="{3F457882-7387-44B8-BAD3-A408BD4042CE}" sibTransId="{7487E48E-68BC-4487-9AFD-3D50D0282D5B}"/>
    <dgm:cxn modelId="{36771572-740B-4D1E-82A5-254DCBB30D76}" srcId="{B631B2F2-A61B-47D4-9D78-B45340D0FFFC}" destId="{2128B9B9-D4D1-4EB7-AB0C-6627419C56DE}" srcOrd="2" destOrd="0" parTransId="{490D5DC7-B081-4D56-8734-86C3BB4F2269}" sibTransId="{5F5B98E6-2070-4221-BFEE-E283C02C8D96}"/>
    <dgm:cxn modelId="{19A94F8A-ADA0-4DF0-9396-FB7DC5291369}" type="presOf" srcId="{73C0CACC-126B-411A-A68A-859A7600220E}" destId="{91A8AFF7-D3FB-4A3F-AC47-4BCA36226069}" srcOrd="0" destOrd="0" presId="urn:microsoft.com/office/officeart/2005/8/layout/default"/>
    <dgm:cxn modelId="{F38D0593-D066-424E-B49E-EC52E13EC9C8}" type="presOf" srcId="{670F7C92-4369-4966-8B94-329DAE8B580A}" destId="{F4639750-DA68-4625-B616-6FEF5C944E6F}" srcOrd="0" destOrd="0" presId="urn:microsoft.com/office/officeart/2005/8/layout/default"/>
    <dgm:cxn modelId="{A9C89C97-E6CB-48E9-BF00-2AF09864B0F9}" srcId="{B631B2F2-A61B-47D4-9D78-B45340D0FFFC}" destId="{670F7C92-4369-4966-8B94-329DAE8B580A}" srcOrd="0" destOrd="0" parTransId="{AA7C658F-FD45-4D99-A355-AB1C5F5CD326}" sibTransId="{5F36C9DD-5984-413F-8331-6BC96090DE85}"/>
    <dgm:cxn modelId="{8BABACB3-087B-4D14-BCDF-9EE841322B36}" type="presOf" srcId="{671D76FB-1B06-466E-9FFD-B0A0199D5D4E}" destId="{1DE56063-26E8-4EFC-A842-18895E21C401}" srcOrd="0" destOrd="0" presId="urn:microsoft.com/office/officeart/2005/8/layout/default"/>
    <dgm:cxn modelId="{B42EA0BB-7789-42DD-87E9-0A7C38F2F147}" type="presParOf" srcId="{E90E1C2E-0AFF-443B-9AE4-3889D5D4C47E}" destId="{F4639750-DA68-4625-B616-6FEF5C944E6F}" srcOrd="0" destOrd="0" presId="urn:microsoft.com/office/officeart/2005/8/layout/default"/>
    <dgm:cxn modelId="{151D03A2-CB1C-4524-8AEC-9C862D783216}" type="presParOf" srcId="{E90E1C2E-0AFF-443B-9AE4-3889D5D4C47E}" destId="{DE7021E3-4F46-4E8F-95D2-951DDDB672C8}" srcOrd="1" destOrd="0" presId="urn:microsoft.com/office/officeart/2005/8/layout/default"/>
    <dgm:cxn modelId="{DE523EA3-FCA3-4FC8-AABD-F9C6DA421D8B}" type="presParOf" srcId="{E90E1C2E-0AFF-443B-9AE4-3889D5D4C47E}" destId="{1DE56063-26E8-4EFC-A842-18895E21C401}" srcOrd="2" destOrd="0" presId="urn:microsoft.com/office/officeart/2005/8/layout/default"/>
    <dgm:cxn modelId="{B7B44F79-9575-48D0-933D-D9C1499831EE}" type="presParOf" srcId="{E90E1C2E-0AFF-443B-9AE4-3889D5D4C47E}" destId="{259AF702-49CC-4DFD-B1A2-E593233AD209}" srcOrd="3" destOrd="0" presId="urn:microsoft.com/office/officeart/2005/8/layout/default"/>
    <dgm:cxn modelId="{4DA14E24-31C8-4C59-AFCA-EA73CD016C24}" type="presParOf" srcId="{E90E1C2E-0AFF-443B-9AE4-3889D5D4C47E}" destId="{16AD9A27-F2CC-491D-9722-A837CCDAE67D}" srcOrd="4" destOrd="0" presId="urn:microsoft.com/office/officeart/2005/8/layout/default"/>
    <dgm:cxn modelId="{AA1895D0-E8AF-407F-B984-D1C78C98DC53}" type="presParOf" srcId="{E90E1C2E-0AFF-443B-9AE4-3889D5D4C47E}" destId="{08A8882C-4DD1-4B05-82DB-8795CF70B696}" srcOrd="5" destOrd="0" presId="urn:microsoft.com/office/officeart/2005/8/layout/default"/>
    <dgm:cxn modelId="{50A11785-92D3-4D45-AEA9-1FC88CAC40ED}" type="presParOf" srcId="{E90E1C2E-0AFF-443B-9AE4-3889D5D4C47E}" destId="{91A8AFF7-D3FB-4A3F-AC47-4BCA3622606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39750-DA68-4625-B616-6FEF5C944E6F}">
      <dsp:nvSpPr>
        <dsp:cNvPr id="0" name=""/>
        <dsp:cNvSpPr/>
      </dsp:nvSpPr>
      <dsp:spPr>
        <a:xfrm>
          <a:off x="840" y="65622"/>
          <a:ext cx="3276891" cy="1966134"/>
        </a:xfrm>
        <a:prstGeom prst="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lumMod val="85000"/>
                  <a:lumOff val="15000"/>
                </a:schemeClr>
              </a:solidFill>
              <a:latin typeface="PT Serif" panose="020A0603040505020204" pitchFamily="18" charset="0"/>
            </a:rPr>
            <a:t>Hold-Out Validation</a:t>
          </a:r>
          <a:endParaRPr lang="en-IN" sz="2400" kern="1200" dirty="0">
            <a:solidFill>
              <a:schemeClr val="tx1">
                <a:lumMod val="85000"/>
                <a:lumOff val="15000"/>
              </a:schemeClr>
            </a:solidFill>
            <a:latin typeface="PT Serif" panose="020A0603040505020204" pitchFamily="18" charset="0"/>
          </a:endParaRPr>
        </a:p>
      </dsp:txBody>
      <dsp:txXfrm>
        <a:off x="840" y="65622"/>
        <a:ext cx="3276891" cy="1966134"/>
      </dsp:txXfrm>
    </dsp:sp>
    <dsp:sp modelId="{1DE56063-26E8-4EFC-A842-18895E21C401}">
      <dsp:nvSpPr>
        <dsp:cNvPr id="0" name=""/>
        <dsp:cNvSpPr/>
      </dsp:nvSpPr>
      <dsp:spPr>
        <a:xfrm>
          <a:off x="3592706" y="45095"/>
          <a:ext cx="3276891" cy="1966134"/>
        </a:xfrm>
        <a:prstGeom prst="rect">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lumMod val="85000"/>
                  <a:lumOff val="15000"/>
                </a:schemeClr>
              </a:solidFill>
              <a:latin typeface="PT Serif" panose="020A0603040505020204" pitchFamily="18" charset="0"/>
            </a:rPr>
            <a:t>K-Fold Cross Validation</a:t>
          </a:r>
          <a:endParaRPr lang="en-IN" sz="2400" kern="1200" dirty="0">
            <a:solidFill>
              <a:schemeClr val="tx1">
                <a:lumMod val="85000"/>
                <a:lumOff val="15000"/>
              </a:schemeClr>
            </a:solidFill>
            <a:latin typeface="PT Serif" panose="020A0603040505020204" pitchFamily="18" charset="0"/>
          </a:endParaRPr>
        </a:p>
      </dsp:txBody>
      <dsp:txXfrm>
        <a:off x="3592706" y="45095"/>
        <a:ext cx="3276891" cy="1966134"/>
      </dsp:txXfrm>
    </dsp:sp>
    <dsp:sp modelId="{16AD9A27-F2CC-491D-9722-A837CCDAE67D}">
      <dsp:nvSpPr>
        <dsp:cNvPr id="0" name=""/>
        <dsp:cNvSpPr/>
      </dsp:nvSpPr>
      <dsp:spPr>
        <a:xfrm>
          <a:off x="840" y="2359446"/>
          <a:ext cx="3276891" cy="1966134"/>
        </a:xfrm>
        <a:prstGeom prst="rect">
          <a:avLst/>
        </a:prstGeom>
        <a:solidFill>
          <a:schemeClr val="accent5">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lumMod val="85000"/>
                  <a:lumOff val="15000"/>
                </a:schemeClr>
              </a:solidFill>
              <a:latin typeface="PT Serif" panose="020A0603040505020204" pitchFamily="18" charset="0"/>
            </a:rPr>
            <a:t>Repeated K-Fold Cross Validation</a:t>
          </a:r>
          <a:endParaRPr lang="en-IN" sz="2400" kern="1200" dirty="0">
            <a:solidFill>
              <a:schemeClr val="tx1">
                <a:lumMod val="85000"/>
                <a:lumOff val="15000"/>
              </a:schemeClr>
            </a:solidFill>
            <a:latin typeface="PT Serif" panose="020A0603040505020204" pitchFamily="18" charset="0"/>
          </a:endParaRPr>
        </a:p>
      </dsp:txBody>
      <dsp:txXfrm>
        <a:off x="840" y="2359446"/>
        <a:ext cx="3276891" cy="1966134"/>
      </dsp:txXfrm>
    </dsp:sp>
    <dsp:sp modelId="{91A8AFF7-D3FB-4A3F-AC47-4BCA36226069}">
      <dsp:nvSpPr>
        <dsp:cNvPr id="0" name=""/>
        <dsp:cNvSpPr/>
      </dsp:nvSpPr>
      <dsp:spPr>
        <a:xfrm>
          <a:off x="3605420" y="2359446"/>
          <a:ext cx="3276891" cy="1966134"/>
        </a:xfrm>
        <a:prstGeom prst="rect">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lumMod val="85000"/>
                  <a:lumOff val="15000"/>
                </a:schemeClr>
              </a:solidFill>
              <a:latin typeface="PT Serif" panose="020A0603040505020204" pitchFamily="18" charset="0"/>
            </a:rPr>
            <a:t>Leave-One-Out Cross Validation (LOOCV)</a:t>
          </a:r>
        </a:p>
      </dsp:txBody>
      <dsp:txXfrm>
        <a:off x="3605420" y="2359446"/>
        <a:ext cx="3276891" cy="196613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14/12/25</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6058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4</a:t>
            </a:fld>
            <a:endParaRPr lang="en-IN"/>
          </a:p>
        </p:txBody>
      </p:sp>
    </p:spTree>
    <p:extLst>
      <p:ext uri="{BB962C8B-B14F-4D97-AF65-F5344CB8AC3E}">
        <p14:creationId xmlns:p14="http://schemas.microsoft.com/office/powerpoint/2010/main" val="1812942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a:t>
            </a:r>
          </a:p>
        </p:txBody>
      </p:sp>
      <p:sp>
        <p:nvSpPr>
          <p:cNvPr id="4" name="Slide Number Placeholder 3"/>
          <p:cNvSpPr>
            <a:spLocks noGrp="1"/>
          </p:cNvSpPr>
          <p:nvPr>
            <p:ph type="sldNum" sz="quarter" idx="5"/>
          </p:nvPr>
        </p:nvSpPr>
        <p:spPr/>
        <p:txBody>
          <a:bodyPr/>
          <a:lstStyle/>
          <a:p>
            <a:fld id="{986E45C9-D4C9-4BB9-AC1A-6D12C2483BB1}" type="slidenum">
              <a:rPr lang="en-IN" smtClean="0"/>
              <a:t>14</a:t>
            </a:fld>
            <a:endParaRPr lang="en-IN"/>
          </a:p>
        </p:txBody>
      </p:sp>
    </p:spTree>
    <p:extLst>
      <p:ext uri="{BB962C8B-B14F-4D97-AF65-F5344CB8AC3E}">
        <p14:creationId xmlns:p14="http://schemas.microsoft.com/office/powerpoint/2010/main" val="2124307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2F7F15-B586-4F87-AAA9-F942988A28FD}" type="slidenum">
              <a:rPr lang="en-US" smtClean="0"/>
              <a:pPr/>
              <a:t>20</a:t>
            </a:fld>
            <a:endParaRPr lang="en-US" dirty="0"/>
          </a:p>
        </p:txBody>
      </p:sp>
    </p:spTree>
    <p:extLst>
      <p:ext uri="{BB962C8B-B14F-4D97-AF65-F5344CB8AC3E}">
        <p14:creationId xmlns:p14="http://schemas.microsoft.com/office/powerpoint/2010/main" val="790034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14/12/25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14/12/25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14/12/25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14/12/25</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65034" y="2201108"/>
            <a:ext cx="705873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Multiple Linear Regression</a:t>
            </a:r>
            <a:endParaRPr lang="en-US" sz="4100" dirty="0"/>
          </a:p>
        </p:txBody>
      </p:sp>
      <p:sp>
        <p:nvSpPr>
          <p:cNvPr id="22" name="Text 1">
            <a:extLst>
              <a:ext uri="{FF2B5EF4-FFF2-40B4-BE49-F238E27FC236}">
                <a16:creationId xmlns:a16="http://schemas.microsoft.com/office/drawing/2014/main" id="{34E7B785-51DF-6028-E343-20904A09A941}"/>
              </a:ext>
            </a:extLst>
          </p:cNvPr>
          <p:cNvSpPr/>
          <p:nvPr/>
        </p:nvSpPr>
        <p:spPr>
          <a:xfrm>
            <a:off x="757539" y="3048000"/>
            <a:ext cx="8074166" cy="651272"/>
          </a:xfrm>
          <a:prstGeom prst="rect">
            <a:avLst/>
          </a:prstGeom>
          <a:noFill/>
          <a:ln/>
        </p:spPr>
        <p:txBody>
          <a:bodyPr wrap="squar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A Machine Learning Approach</a:t>
            </a:r>
            <a:endParaRPr lang="en-US" sz="2400" dirty="0"/>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600" dirty="0">
                <a:solidFill>
                  <a:srgbClr val="020202"/>
                </a:solidFill>
                <a:latin typeface="PT Serif" pitchFamily="34" charset="0"/>
                <a:ea typeface="PT Serif" pitchFamily="34" charset="-122"/>
                <a:cs typeface="PT Serif" pitchFamily="34" charset="-120"/>
              </a:rPr>
              <a:t>Contents</a:t>
            </a:r>
            <a:endParaRPr lang="en-US" sz="3600" dirty="0"/>
          </a:p>
        </p:txBody>
      </p:sp>
      <p:sp>
        <p:nvSpPr>
          <p:cNvPr id="3" name="Text 1">
            <a:extLst>
              <a:ext uri="{FF2B5EF4-FFF2-40B4-BE49-F238E27FC236}">
                <a16:creationId xmlns:a16="http://schemas.microsoft.com/office/drawing/2014/main" id="{630CCEE3-6042-A6A9-3891-B76B33DC9098}"/>
              </a:ext>
            </a:extLst>
          </p:cNvPr>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a:extLst>
              <a:ext uri="{FF2B5EF4-FFF2-40B4-BE49-F238E27FC236}">
                <a16:creationId xmlns:a16="http://schemas.microsoft.com/office/drawing/2014/main" id="{109D6074-985D-ECFD-41A9-CC64CE8CCED8}"/>
              </a:ext>
            </a:extLst>
          </p:cNvPr>
          <p:cNvSpPr/>
          <p:nvPr/>
        </p:nvSpPr>
        <p:spPr>
          <a:xfrm>
            <a:off x="793790" y="2511266"/>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Multiple Linear Regression-Recap</a:t>
            </a:r>
          </a:p>
        </p:txBody>
      </p:sp>
      <p:sp>
        <p:nvSpPr>
          <p:cNvPr id="6" name="Text 4">
            <a:extLst>
              <a:ext uri="{FF2B5EF4-FFF2-40B4-BE49-F238E27FC236}">
                <a16:creationId xmlns:a16="http://schemas.microsoft.com/office/drawing/2014/main" id="{A95C41F2-E8AE-183D-B7D2-B584B66A5047}"/>
              </a:ext>
            </a:extLst>
          </p:cNvPr>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a:extLst>
              <a:ext uri="{FF2B5EF4-FFF2-40B4-BE49-F238E27FC236}">
                <a16:creationId xmlns:a16="http://schemas.microsoft.com/office/drawing/2014/main" id="{420FFCDF-EFCF-D95B-39BF-71DEE8C305CC}"/>
              </a:ext>
            </a:extLst>
          </p:cNvPr>
          <p:cNvSpPr/>
          <p:nvPr/>
        </p:nvSpPr>
        <p:spPr>
          <a:xfrm>
            <a:off x="7428548" y="2511266"/>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2685574"/>
            <a:ext cx="4915852" cy="506016"/>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Inferential vs ML Approach</a:t>
            </a:r>
          </a:p>
        </p:txBody>
      </p:sp>
      <p:sp>
        <p:nvSpPr>
          <p:cNvPr id="9" name="Text 7">
            <a:extLst>
              <a:ext uri="{FF2B5EF4-FFF2-40B4-BE49-F238E27FC236}">
                <a16:creationId xmlns:a16="http://schemas.microsoft.com/office/drawing/2014/main" id="{F49AA9FB-4CAF-BC7C-90F0-1D48BD93C205}"/>
              </a:ext>
            </a:extLst>
          </p:cNvPr>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a:extLst>
              <a:ext uri="{FF2B5EF4-FFF2-40B4-BE49-F238E27FC236}">
                <a16:creationId xmlns:a16="http://schemas.microsoft.com/office/drawing/2014/main" id="{F735EFEC-254C-A190-497E-54797BC377D7}"/>
              </a:ext>
            </a:extLst>
          </p:cNvPr>
          <p:cNvSpPr/>
          <p:nvPr/>
        </p:nvSpPr>
        <p:spPr>
          <a:xfrm>
            <a:off x="793790" y="3809524"/>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983831"/>
            <a:ext cx="5149810" cy="34159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Cross-Validation </a:t>
            </a:r>
          </a:p>
        </p:txBody>
      </p:sp>
      <p:sp>
        <p:nvSpPr>
          <p:cNvPr id="12" name="Text 10">
            <a:extLst>
              <a:ext uri="{FF2B5EF4-FFF2-40B4-BE49-F238E27FC236}">
                <a16:creationId xmlns:a16="http://schemas.microsoft.com/office/drawing/2014/main" id="{BB65B506-59D4-7376-A944-4C46A5D3D0DA}"/>
              </a:ext>
            </a:extLst>
          </p:cNvPr>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a:extLst>
              <a:ext uri="{FF2B5EF4-FFF2-40B4-BE49-F238E27FC236}">
                <a16:creationId xmlns:a16="http://schemas.microsoft.com/office/drawing/2014/main" id="{D64D1A4C-2B9B-4174-ACD2-FF1592E30587}"/>
              </a:ext>
            </a:extLst>
          </p:cNvPr>
          <p:cNvSpPr/>
          <p:nvPr/>
        </p:nvSpPr>
        <p:spPr>
          <a:xfrm>
            <a:off x="7428548" y="3809524"/>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Hold-Out Method of Cross-Validation</a:t>
            </a:r>
          </a:p>
        </p:txBody>
      </p:sp>
      <p:sp>
        <p:nvSpPr>
          <p:cNvPr id="15" name="Text 13">
            <a:extLst>
              <a:ext uri="{FF2B5EF4-FFF2-40B4-BE49-F238E27FC236}">
                <a16:creationId xmlns:a16="http://schemas.microsoft.com/office/drawing/2014/main" id="{D26178CF-9339-DE4A-28C3-77F3A415D7BD}"/>
              </a:ext>
            </a:extLst>
          </p:cNvPr>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a:extLst>
              <a:ext uri="{FF2B5EF4-FFF2-40B4-BE49-F238E27FC236}">
                <a16:creationId xmlns:a16="http://schemas.microsoft.com/office/drawing/2014/main" id="{91EAC6A6-8C3F-4954-512B-A2B54B6C5FB6}"/>
              </a:ext>
            </a:extLst>
          </p:cNvPr>
          <p:cNvSpPr/>
          <p:nvPr/>
        </p:nvSpPr>
        <p:spPr>
          <a:xfrm>
            <a:off x="793790" y="5107781"/>
            <a:ext cx="6407944" cy="30480"/>
          </a:xfrm>
          <a:prstGeom prst="rect">
            <a:avLst/>
          </a:prstGeom>
          <a:solidFill>
            <a:srgbClr val="E04F00"/>
          </a:solidFill>
          <a:ln/>
        </p:spPr>
      </p:sp>
      <p:sp>
        <p:nvSpPr>
          <p:cNvPr id="17" name="Text 15">
            <a:extLst>
              <a:ext uri="{FF2B5EF4-FFF2-40B4-BE49-F238E27FC236}">
                <a16:creationId xmlns:a16="http://schemas.microsoft.com/office/drawing/2014/main" id="{DB97DF43-3297-7260-5B91-2DAB55D3B09B}"/>
              </a:ext>
            </a:extLst>
          </p:cNvPr>
          <p:cNvSpPr/>
          <p:nvPr/>
        </p:nvSpPr>
        <p:spPr>
          <a:xfrm>
            <a:off x="793790" y="5282089"/>
            <a:ext cx="5378410" cy="506016"/>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K-Fold Cross Validation</a:t>
            </a:r>
          </a:p>
        </p:txBody>
      </p:sp>
      <p:sp>
        <p:nvSpPr>
          <p:cNvPr id="19" name="Text 16">
            <a:extLst>
              <a:ext uri="{FF2B5EF4-FFF2-40B4-BE49-F238E27FC236}">
                <a16:creationId xmlns:a16="http://schemas.microsoft.com/office/drawing/2014/main" id="{06D00744-2F50-730E-3155-04DCEA1259E3}"/>
              </a:ext>
            </a:extLst>
          </p:cNvPr>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20" name="Shape 17">
            <a:extLst>
              <a:ext uri="{FF2B5EF4-FFF2-40B4-BE49-F238E27FC236}">
                <a16:creationId xmlns:a16="http://schemas.microsoft.com/office/drawing/2014/main" id="{196482DE-D10C-A8D0-0FD3-6924BAC2A253}"/>
              </a:ext>
            </a:extLst>
          </p:cNvPr>
          <p:cNvSpPr/>
          <p:nvPr/>
        </p:nvSpPr>
        <p:spPr>
          <a:xfrm>
            <a:off x="7428548" y="5107781"/>
            <a:ext cx="6408063" cy="30480"/>
          </a:xfrm>
          <a:prstGeom prst="rect">
            <a:avLst/>
          </a:prstGeom>
          <a:solidFill>
            <a:srgbClr val="E04F00"/>
          </a:solidFill>
          <a:ln/>
        </p:spPr>
      </p:sp>
      <p:sp>
        <p:nvSpPr>
          <p:cNvPr id="21" name="Text 18">
            <a:extLst>
              <a:ext uri="{FF2B5EF4-FFF2-40B4-BE49-F238E27FC236}">
                <a16:creationId xmlns:a16="http://schemas.microsoft.com/office/drawing/2014/main" id="{58BAB5E4-F12A-C6DF-D1D8-73DFBDA3AD4F}"/>
              </a:ext>
            </a:extLst>
          </p:cNvPr>
          <p:cNvSpPr/>
          <p:nvPr/>
        </p:nvSpPr>
        <p:spPr>
          <a:xfrm>
            <a:off x="7428548" y="5277148"/>
            <a:ext cx="5525452" cy="515898"/>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Repeated K-Fold Cross Validation and LOOCV</a:t>
            </a:r>
          </a:p>
        </p:txBody>
      </p:sp>
    </p:spTree>
    <p:extLst>
      <p:ext uri="{BB962C8B-B14F-4D97-AF65-F5344CB8AC3E}">
        <p14:creationId xmlns:p14="http://schemas.microsoft.com/office/powerpoint/2010/main" val="265544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609600" y="591673"/>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Multiple Linear Regression-Recap</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609600" y="3581400"/>
            <a:ext cx="5867400" cy="2000548"/>
          </a:xfrm>
        </p:spPr>
        <p:txBody>
          <a:bodyPr/>
          <a:lstStyle/>
          <a:p>
            <a:pPr marL="0" indent="0" algn="l">
              <a:lnSpc>
                <a:spcPts val="2550"/>
              </a:lnSpc>
              <a:buNone/>
            </a:pPr>
            <a:r>
              <a:rPr lang="en-US" sz="2400" dirty="0">
                <a:solidFill>
                  <a:srgbClr val="020202"/>
                </a:solidFill>
                <a:ea typeface="PT Serif" pitchFamily="34" charset="-122"/>
                <a:cs typeface="PT Serif" pitchFamily="34" charset="-120"/>
              </a:rPr>
              <a:t>Dependent Variable</a:t>
            </a:r>
          </a:p>
          <a:p>
            <a:pPr marL="0" indent="0" algn="l">
              <a:lnSpc>
                <a:spcPts val="2550"/>
              </a:lnSpc>
              <a:buNone/>
            </a:pPr>
            <a:endParaRPr lang="en-US" sz="2400" dirty="0">
              <a:solidFill>
                <a:srgbClr val="020202"/>
              </a:solidFill>
            </a:endParaRPr>
          </a:p>
          <a:p>
            <a:pPr algn="l">
              <a:lnSpc>
                <a:spcPts val="2550"/>
              </a:lnSpc>
            </a:pPr>
            <a:r>
              <a:rPr lang="en-US" sz="1800" dirty="0">
                <a:solidFill>
                  <a:srgbClr val="383838"/>
                </a:solidFill>
                <a:ea typeface="DM Sans" pitchFamily="34" charset="-122"/>
                <a:cs typeface="DM Sans" pitchFamily="34" charset="-120"/>
              </a:rPr>
              <a:t>The variable we want to predict is called the dependent variable (or sometimes the response variable). This is the outcome we're trying to understand and predict.</a:t>
            </a:r>
            <a:endParaRPr lang="en-US" sz="1800" dirty="0"/>
          </a:p>
          <a:p>
            <a:pPr marL="0" indent="0" algn="l">
              <a:lnSpc>
                <a:spcPts val="2550"/>
              </a:lnSpc>
              <a:buNone/>
            </a:pPr>
            <a:endParaRPr lang="en-US" sz="24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978515" y="3581400"/>
            <a:ext cx="5867400" cy="2000548"/>
          </a:xfrm>
        </p:spPr>
        <p:txBody>
          <a:bodyPr/>
          <a:lstStyle/>
          <a:p>
            <a:pPr marL="0" indent="0" algn="l">
              <a:lnSpc>
                <a:spcPts val="2550"/>
              </a:lnSpc>
              <a:buNone/>
            </a:pPr>
            <a:r>
              <a:rPr lang="en-US" sz="2400" dirty="0">
                <a:solidFill>
                  <a:srgbClr val="020202"/>
                </a:solidFill>
                <a:ea typeface="PT Serif" pitchFamily="34" charset="-122"/>
                <a:cs typeface="PT Serif" pitchFamily="34" charset="-120"/>
              </a:rPr>
              <a:t>Independent Variables</a:t>
            </a:r>
          </a:p>
          <a:p>
            <a:pPr marL="0" indent="0" algn="l">
              <a:lnSpc>
                <a:spcPts val="2550"/>
              </a:lnSpc>
              <a:buNone/>
            </a:pPr>
            <a:endParaRPr lang="en-US" sz="2400" dirty="0">
              <a:solidFill>
                <a:srgbClr val="020202"/>
              </a:solidFill>
            </a:endParaRPr>
          </a:p>
          <a:p>
            <a:pPr algn="l">
              <a:lnSpc>
                <a:spcPts val="2550"/>
              </a:lnSpc>
            </a:pPr>
            <a:r>
              <a:rPr lang="en-US" sz="1800" dirty="0">
                <a:solidFill>
                  <a:srgbClr val="383838"/>
                </a:solidFill>
                <a:ea typeface="DM Sans" pitchFamily="34" charset="-122"/>
                <a:cs typeface="DM Sans" pitchFamily="34" charset="-120"/>
              </a:rPr>
              <a:t>The variables used to predict the value of the dependent variable are called independent variables (or sometimes, the predictor, explanatory, or regressor variables).</a:t>
            </a:r>
            <a:endParaRPr lang="en-US" sz="1800" dirty="0"/>
          </a:p>
          <a:p>
            <a:pPr marL="0" indent="0" algn="l">
              <a:lnSpc>
                <a:spcPts val="2550"/>
              </a:lnSpc>
              <a:buNone/>
            </a:pPr>
            <a:endParaRPr lang="en-US" sz="2400" dirty="0"/>
          </a:p>
        </p:txBody>
      </p:sp>
      <p:sp>
        <p:nvSpPr>
          <p:cNvPr id="6" name="TextBox 5">
            <a:extLst>
              <a:ext uri="{FF2B5EF4-FFF2-40B4-BE49-F238E27FC236}">
                <a16:creationId xmlns:a16="http://schemas.microsoft.com/office/drawing/2014/main" id="{5816D1E1-5851-6CC7-9908-96FF71E78BE0}"/>
              </a:ext>
            </a:extLst>
          </p:cNvPr>
          <p:cNvSpPr txBox="1"/>
          <p:nvPr/>
        </p:nvSpPr>
        <p:spPr>
          <a:xfrm>
            <a:off x="609600" y="1600200"/>
            <a:ext cx="13258800" cy="1036951"/>
          </a:xfrm>
          <a:prstGeom prst="rect">
            <a:avLst/>
          </a:prstGeom>
          <a:noFill/>
        </p:spPr>
        <p:txBody>
          <a:bodyPr wrap="square">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Multiple linear regression is an extension of simple linear regression, representing a more sophisticated approach to predictive modeling. It is used when we want to predict the value of a </a:t>
            </a:r>
            <a:r>
              <a:rPr lang="en-US" b="1" dirty="0">
                <a:solidFill>
                  <a:srgbClr val="383838"/>
                </a:solidFill>
                <a:latin typeface="PT Serif" panose="020A0603040505020204" pitchFamily="18" charset="0"/>
                <a:ea typeface="DM Sans" pitchFamily="34" charset="-122"/>
                <a:cs typeface="DM Sans" pitchFamily="34" charset="-120"/>
              </a:rPr>
              <a:t>continuous</a:t>
            </a:r>
            <a:r>
              <a:rPr lang="en-US" dirty="0">
                <a:solidFill>
                  <a:srgbClr val="383838"/>
                </a:solidFill>
                <a:latin typeface="PT Serif" panose="020A0603040505020204" pitchFamily="18" charset="0"/>
                <a:ea typeface="DM Sans" pitchFamily="34" charset="-122"/>
                <a:cs typeface="DM Sans" pitchFamily="34" charset="-120"/>
              </a:rPr>
              <a:t> variable based on the values of two or more other variables simultaneously.</a:t>
            </a:r>
            <a:endParaRPr lang="en-US" dirty="0">
              <a:latin typeface="PT Serif" panose="020A0603040505020204" pitchFamily="18" charset="0"/>
            </a:endParaRPr>
          </a:p>
        </p:txBody>
      </p:sp>
      <p:sp>
        <p:nvSpPr>
          <p:cNvPr id="7" name="TextBox 6">
            <a:extLst>
              <a:ext uri="{FF2B5EF4-FFF2-40B4-BE49-F238E27FC236}">
                <a16:creationId xmlns:a16="http://schemas.microsoft.com/office/drawing/2014/main" id="{C9CCDB91-023B-D64C-A7CA-0FD439EB6403}"/>
              </a:ext>
            </a:extLst>
          </p:cNvPr>
          <p:cNvSpPr txBox="1"/>
          <p:nvPr/>
        </p:nvSpPr>
        <p:spPr>
          <a:xfrm>
            <a:off x="3352800" y="5672886"/>
            <a:ext cx="7315200" cy="854593"/>
          </a:xfrm>
          <a:prstGeom prst="rect">
            <a:avLst/>
          </a:prstGeom>
          <a:noFill/>
          <a:ln>
            <a:noFill/>
          </a:ln>
        </p:spPr>
        <p:txBody>
          <a:bodyPr wrap="square">
            <a:spAutoFit/>
          </a:bodyPr>
          <a:lstStyle/>
          <a:p>
            <a:pPr marL="0" indent="0" algn="l">
              <a:lnSpc>
                <a:spcPts val="7050"/>
              </a:lnSpc>
              <a:buNone/>
            </a:pPr>
            <a:r>
              <a:rPr lang="en-US" sz="2400" dirty="0">
                <a:solidFill>
                  <a:srgbClr val="020202"/>
                </a:solidFill>
                <a:latin typeface="PT Serif" panose="020A0603040505020204" pitchFamily="18" charset="0"/>
                <a:ea typeface="PT Serif" pitchFamily="34" charset="-122"/>
                <a:cs typeface="PT Serif" pitchFamily="34" charset="-120"/>
              </a:rPr>
              <a:t>Model : Y = b₀ + </a:t>
            </a:r>
            <a:r>
              <a:rPr lang="en-US" sz="2400" dirty="0" err="1">
                <a:solidFill>
                  <a:srgbClr val="020202"/>
                </a:solidFill>
                <a:latin typeface="PT Serif" panose="020A0603040505020204" pitchFamily="18" charset="0"/>
                <a:ea typeface="PT Serif" pitchFamily="34" charset="-122"/>
                <a:cs typeface="PT Serif" pitchFamily="34" charset="-120"/>
              </a:rPr>
              <a:t>b₁x</a:t>
            </a:r>
            <a:r>
              <a:rPr lang="en-US" sz="2400" dirty="0">
                <a:solidFill>
                  <a:srgbClr val="020202"/>
                </a:solidFill>
                <a:latin typeface="PT Serif" panose="020A0603040505020204" pitchFamily="18" charset="0"/>
                <a:ea typeface="PT Serif" pitchFamily="34" charset="-122"/>
                <a:cs typeface="PT Serif" pitchFamily="34" charset="-120"/>
              </a:rPr>
              <a:t>₁ + </a:t>
            </a:r>
            <a:r>
              <a:rPr lang="en-US" sz="2400" dirty="0" err="1">
                <a:solidFill>
                  <a:srgbClr val="020202"/>
                </a:solidFill>
                <a:latin typeface="PT Serif" panose="020A0603040505020204" pitchFamily="18" charset="0"/>
                <a:ea typeface="PT Serif" pitchFamily="34" charset="-122"/>
                <a:cs typeface="PT Serif" pitchFamily="34" charset="-120"/>
              </a:rPr>
              <a:t>b₂x</a:t>
            </a:r>
            <a:r>
              <a:rPr lang="en-US" sz="2400" dirty="0">
                <a:solidFill>
                  <a:srgbClr val="020202"/>
                </a:solidFill>
                <a:latin typeface="PT Serif" panose="020A0603040505020204" pitchFamily="18" charset="0"/>
                <a:ea typeface="PT Serif" pitchFamily="34" charset="-122"/>
                <a:cs typeface="PT Serif" pitchFamily="34" charset="-120"/>
              </a:rPr>
              <a:t>₂ + ... + </a:t>
            </a:r>
            <a:r>
              <a:rPr lang="en-US" sz="2400" dirty="0" err="1">
                <a:solidFill>
                  <a:srgbClr val="020202"/>
                </a:solidFill>
                <a:latin typeface="PT Serif" panose="020A0603040505020204" pitchFamily="18" charset="0"/>
                <a:ea typeface="PT Serif" pitchFamily="34" charset="-122"/>
                <a:cs typeface="PT Serif" pitchFamily="34" charset="-120"/>
              </a:rPr>
              <a:t>bₚx</a:t>
            </a:r>
            <a:r>
              <a:rPr lang="en-US" sz="2400" dirty="0">
                <a:solidFill>
                  <a:srgbClr val="020202"/>
                </a:solidFill>
                <a:latin typeface="PT Serif" panose="020A0603040505020204" pitchFamily="18" charset="0"/>
                <a:ea typeface="PT Serif" pitchFamily="34" charset="-122"/>
                <a:cs typeface="PT Serif" pitchFamily="34" charset="-120"/>
              </a:rPr>
              <a:t>ₚ + e</a:t>
            </a:r>
          </a:p>
        </p:txBody>
      </p:sp>
      <p:sp>
        <p:nvSpPr>
          <p:cNvPr id="8" name="TextBox 7">
            <a:extLst>
              <a:ext uri="{FF2B5EF4-FFF2-40B4-BE49-F238E27FC236}">
                <a16:creationId xmlns:a16="http://schemas.microsoft.com/office/drawing/2014/main" id="{B95DF104-762C-B744-99FD-8C2B7070652C}"/>
              </a:ext>
            </a:extLst>
          </p:cNvPr>
          <p:cNvSpPr txBox="1"/>
          <p:nvPr/>
        </p:nvSpPr>
        <p:spPr>
          <a:xfrm>
            <a:off x="625839" y="7162800"/>
            <a:ext cx="12003025" cy="713209"/>
          </a:xfrm>
          <a:prstGeom prst="rect">
            <a:avLst/>
          </a:prstGeom>
          <a:noFill/>
        </p:spPr>
        <p:txBody>
          <a:bodyPr wrap="square">
            <a:spAutoFit/>
          </a:bodyPr>
          <a:lstStyle/>
          <a:p>
            <a:pPr marL="0" indent="0" algn="l">
              <a:lnSpc>
                <a:spcPts val="2500"/>
              </a:lnSpc>
              <a:buNone/>
            </a:pPr>
            <a:r>
              <a:rPr lang="en-US" sz="2000" b="1" dirty="0">
                <a:solidFill>
                  <a:srgbClr val="000000"/>
                </a:solidFill>
                <a:latin typeface="PT Serif" panose="020A0603040505020204" pitchFamily="18" charset="0"/>
                <a:ea typeface="DM Sans" pitchFamily="34" charset="-122"/>
                <a:cs typeface="DM Sans" pitchFamily="34" charset="-120"/>
              </a:rPr>
              <a:t>Estimation Method:</a:t>
            </a:r>
            <a:r>
              <a:rPr lang="en-US" sz="2000" dirty="0">
                <a:solidFill>
                  <a:srgbClr val="000000"/>
                </a:solidFill>
                <a:latin typeface="PT Serif" panose="020A0603040505020204" pitchFamily="18" charset="0"/>
                <a:ea typeface="DM Sans" pitchFamily="34" charset="-122"/>
                <a:cs typeface="DM Sans" pitchFamily="34" charset="-120"/>
              </a:rPr>
              <a:t> Parameters of the model are estimated using the Least Square Method, which minimizes the sum of squared differences between observed and predicted values.</a:t>
            </a:r>
          </a:p>
        </p:txBody>
      </p:sp>
    </p:spTree>
    <p:extLst>
      <p:ext uri="{BB962C8B-B14F-4D97-AF65-F5344CB8AC3E}">
        <p14:creationId xmlns:p14="http://schemas.microsoft.com/office/powerpoint/2010/main" val="1331003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376954" y="2971800"/>
            <a:ext cx="5530189" cy="3346966"/>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2974034"/>
            <a:ext cx="5530189" cy="3344732"/>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8" name="Text 3">
            <a:extLst>
              <a:ext uri="{FF2B5EF4-FFF2-40B4-BE49-F238E27FC236}">
                <a16:creationId xmlns:a16="http://schemas.microsoft.com/office/drawing/2014/main" id="{A0D38183-3593-0CD5-9F87-5CFCC2BA96CD}"/>
              </a:ext>
            </a:extLst>
          </p:cNvPr>
          <p:cNvSpPr/>
          <p:nvPr/>
        </p:nvSpPr>
        <p:spPr>
          <a:xfrm>
            <a:off x="1914891" y="3302699"/>
            <a:ext cx="4409709" cy="4698301"/>
          </a:xfrm>
          <a:prstGeom prst="rect">
            <a:avLst/>
          </a:prstGeom>
          <a:noFill/>
          <a:ln/>
        </p:spPr>
        <p:txBody>
          <a:bodyPr wrap="square" lIns="0" tIns="0" rIns="0" bIns="0" rtlCol="0" anchor="t"/>
          <a:lstStyle/>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1. Dependent Variable</a:t>
            </a:r>
            <a:endParaRPr lang="en-US" sz="2400" dirty="0">
              <a:latin typeface="PT Serif" panose="020A0603040505020204" pitchFamily="18" charset="0"/>
            </a:endParaRPr>
          </a:p>
          <a:p>
            <a:pPr marL="0" indent="0" algn="ctr">
              <a:lnSpc>
                <a:spcPts val="2050"/>
              </a:lnSpc>
              <a:buNone/>
            </a:pPr>
            <a:endParaRPr lang="en-US" sz="24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marL="0" indent="0" algn="l">
              <a:lnSpc>
                <a:spcPts val="2500"/>
              </a:lnSpc>
              <a:buNone/>
            </a:pPr>
            <a:r>
              <a:rPr lang="en-US" b="1" dirty="0">
                <a:solidFill>
                  <a:srgbClr val="383838"/>
                </a:solidFill>
                <a:latin typeface="PT Serif" panose="020A0603040505020204" pitchFamily="18" charset="0"/>
                <a:ea typeface="DM Sans" pitchFamily="34" charset="-122"/>
                <a:cs typeface="DM Sans" pitchFamily="34" charset="-120"/>
              </a:rPr>
              <a:t>Job Performance Index (JPI)</a:t>
            </a:r>
            <a:r>
              <a:rPr lang="en-US" dirty="0">
                <a:solidFill>
                  <a:srgbClr val="383838"/>
                </a:solidFill>
                <a:latin typeface="PT Serif" panose="020A0603040505020204" pitchFamily="18" charset="0"/>
                <a:ea typeface="DM Sans" pitchFamily="34" charset="-122"/>
                <a:cs typeface="DM Sans" pitchFamily="34" charset="-120"/>
              </a:rPr>
              <a:t> – The outcome measure representing employee performance after the probationary period. This is what we aim to predict.</a:t>
            </a:r>
            <a:endParaRPr lang="en-US"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8054860" y="3200400"/>
            <a:ext cx="4780222" cy="4698301"/>
          </a:xfrm>
          <a:prstGeom prst="rect">
            <a:avLst/>
          </a:prstGeom>
          <a:noFill/>
          <a:ln/>
        </p:spPr>
        <p:txBody>
          <a:bodyPr wrap="square" lIns="0" tIns="0" rIns="0" bIns="0" rtlCol="0" anchor="t"/>
          <a:lstStyle/>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2. Independent Variables</a:t>
            </a:r>
            <a:endParaRPr lang="en-US" sz="2400" dirty="0">
              <a:latin typeface="PT Serif" panose="020A0603040505020204" pitchFamily="18" charset="0"/>
            </a:endParaRPr>
          </a:p>
          <a:p>
            <a:pPr marL="0" indent="0" algn="ctr">
              <a:lnSpc>
                <a:spcPts val="2050"/>
              </a:lnSpc>
              <a:buNone/>
            </a:pP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342900" indent="-342900" algn="l">
              <a:lnSpc>
                <a:spcPts val="2500"/>
              </a:lnSpc>
              <a:buSzPct val="100000"/>
              <a:buChar char="•"/>
            </a:pPr>
            <a:r>
              <a:rPr lang="en-US" b="1" dirty="0">
                <a:solidFill>
                  <a:srgbClr val="383838"/>
                </a:solidFill>
                <a:latin typeface="PT Serif" panose="020A0603040505020204" pitchFamily="18" charset="0"/>
                <a:ea typeface="DM Sans" pitchFamily="34" charset="-122"/>
                <a:cs typeface="DM Sans" pitchFamily="34" charset="-120"/>
              </a:rPr>
              <a:t>Aptitude:</a:t>
            </a:r>
            <a:r>
              <a:rPr lang="en-US" dirty="0">
                <a:solidFill>
                  <a:srgbClr val="383838"/>
                </a:solidFill>
                <a:latin typeface="PT Serif" panose="020A0603040505020204" pitchFamily="18" charset="0"/>
                <a:ea typeface="DM Sans" pitchFamily="34" charset="-122"/>
                <a:cs typeface="DM Sans" pitchFamily="34" charset="-120"/>
              </a:rPr>
              <a:t> General aptitude test score</a:t>
            </a:r>
          </a:p>
          <a:p>
            <a:pPr marL="342900" indent="-342900" algn="l">
              <a:lnSpc>
                <a:spcPts val="2500"/>
              </a:lnSpc>
              <a:buSzPct val="100000"/>
              <a:buFontTx/>
              <a:buChar char="•"/>
            </a:pPr>
            <a:r>
              <a:rPr lang="en-US" b="1" dirty="0">
                <a:solidFill>
                  <a:srgbClr val="383838"/>
                </a:solidFill>
                <a:latin typeface="PT Serif" panose="020A0603040505020204" pitchFamily="18" charset="0"/>
                <a:ea typeface="DM Sans" pitchFamily="34" charset="-122"/>
                <a:cs typeface="DM Sans" pitchFamily="34" charset="-120"/>
              </a:rPr>
              <a:t>Test of Language (TOL):</a:t>
            </a:r>
            <a:r>
              <a:rPr lang="en-US" dirty="0">
                <a:solidFill>
                  <a:srgbClr val="383838"/>
                </a:solidFill>
                <a:latin typeface="PT Serif" panose="020A0603040505020204" pitchFamily="18" charset="0"/>
                <a:ea typeface="DM Sans" pitchFamily="34" charset="-122"/>
                <a:cs typeface="DM Sans" pitchFamily="34" charset="-120"/>
              </a:rPr>
              <a:t> Language proficiency score</a:t>
            </a:r>
          </a:p>
          <a:p>
            <a:pPr marL="342900" indent="-342900" algn="l">
              <a:lnSpc>
                <a:spcPts val="2500"/>
              </a:lnSpc>
              <a:buSzPct val="100000"/>
              <a:buFontTx/>
              <a:buChar char="•"/>
            </a:pPr>
            <a:r>
              <a:rPr lang="en-US" b="1" dirty="0">
                <a:solidFill>
                  <a:srgbClr val="383838"/>
                </a:solidFill>
                <a:latin typeface="PT Serif" panose="020A0603040505020204" pitchFamily="18" charset="0"/>
                <a:ea typeface="DM Sans" pitchFamily="34" charset="-122"/>
                <a:cs typeface="DM Sans" pitchFamily="34" charset="-120"/>
              </a:rPr>
              <a:t>Technical:</a:t>
            </a:r>
            <a:r>
              <a:rPr lang="en-US" dirty="0">
                <a:solidFill>
                  <a:srgbClr val="383838"/>
                </a:solidFill>
                <a:latin typeface="PT Serif" panose="020A0603040505020204" pitchFamily="18" charset="0"/>
                <a:ea typeface="DM Sans" pitchFamily="34" charset="-122"/>
                <a:cs typeface="DM Sans" pitchFamily="34" charset="-120"/>
              </a:rPr>
              <a:t> Technical knowledge assessment</a:t>
            </a:r>
            <a:endParaRPr lang="en-US" dirty="0">
              <a:latin typeface="PT Serif" panose="020A0603040505020204" pitchFamily="18" charset="0"/>
            </a:endParaRPr>
          </a:p>
          <a:p>
            <a:pPr marL="342900" indent="-342900" algn="l">
              <a:lnSpc>
                <a:spcPts val="2500"/>
              </a:lnSpc>
              <a:buSzPct val="100000"/>
              <a:buFontTx/>
              <a:buChar char="•"/>
            </a:pPr>
            <a:r>
              <a:rPr lang="en-US" b="1" dirty="0">
                <a:solidFill>
                  <a:srgbClr val="383838"/>
                </a:solidFill>
                <a:latin typeface="PT Serif" panose="020A0603040505020204" pitchFamily="18" charset="0"/>
                <a:ea typeface="DM Sans" pitchFamily="34" charset="-122"/>
                <a:cs typeface="DM Sans" pitchFamily="34" charset="-120"/>
              </a:rPr>
              <a:t>General:</a:t>
            </a:r>
            <a:r>
              <a:rPr lang="en-US" dirty="0">
                <a:solidFill>
                  <a:srgbClr val="383838"/>
                </a:solidFill>
                <a:latin typeface="PT Serif" panose="020A0603040505020204" pitchFamily="18" charset="0"/>
                <a:ea typeface="DM Sans" pitchFamily="34" charset="-122"/>
                <a:cs typeface="DM Sans" pitchFamily="34" charset="-120"/>
              </a:rPr>
              <a:t> General knowledge evaluation</a:t>
            </a:r>
            <a:endParaRPr lang="en-US" dirty="0">
              <a:latin typeface="PT Serif" panose="020A0603040505020204" pitchFamily="18" charset="0"/>
            </a:endParaRPr>
          </a:p>
          <a:p>
            <a:pPr marL="342900" indent="-342900" algn="l">
              <a:lnSpc>
                <a:spcPts val="2500"/>
              </a:lnSpc>
              <a:buSzPct val="100000"/>
              <a:buFontTx/>
              <a:buChar char="•"/>
            </a:pPr>
            <a:endParaRPr lang="en-US" dirty="0">
              <a:latin typeface="PT Serif" panose="020A0603040505020204" pitchFamily="18" charset="0"/>
            </a:endParaRPr>
          </a:p>
          <a:p>
            <a:pPr algn="l">
              <a:lnSpc>
                <a:spcPts val="2500"/>
              </a:lnSpc>
              <a:buSzPct val="100000"/>
            </a:pPr>
            <a:endParaRPr lang="en-US" dirty="0">
              <a:solidFill>
                <a:srgbClr val="383838"/>
              </a:solidFill>
              <a:latin typeface="PT Serif" panose="020A0603040505020204" pitchFamily="18" charset="0"/>
            </a:endParaRPr>
          </a:p>
          <a:p>
            <a:pPr algn="l">
              <a:lnSpc>
                <a:spcPts val="2500"/>
              </a:lnSpc>
              <a:buSzPct val="100000"/>
            </a:pPr>
            <a:endParaRPr lang="en-US" dirty="0">
              <a:solidFill>
                <a:srgbClr val="383838"/>
              </a:solidFill>
              <a:latin typeface="PT Serif" panose="020A0603040505020204" pitchFamily="18" charset="0"/>
            </a:endParaRPr>
          </a:p>
        </p:txBody>
      </p:sp>
      <p:sp>
        <p:nvSpPr>
          <p:cNvPr id="27" name="Text 1">
            <a:extLst>
              <a:ext uri="{FF2B5EF4-FFF2-40B4-BE49-F238E27FC236}">
                <a16:creationId xmlns:a16="http://schemas.microsoft.com/office/drawing/2014/main" id="{1ED68F88-349F-95E8-443F-4176204A7DC9}"/>
              </a:ext>
            </a:extLst>
          </p:cNvPr>
          <p:cNvSpPr/>
          <p:nvPr/>
        </p:nvSpPr>
        <p:spPr>
          <a:xfrm>
            <a:off x="939839" y="1593294"/>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The dataset includes employee performance as the dependent variable and four recruitment-stage assessment scores as independent variables. </a:t>
            </a:r>
            <a:endParaRPr lang="en-US" dirty="0">
              <a:latin typeface="PT Serif" panose="020A0603040505020204" pitchFamily="18" charset="0"/>
            </a:endParaRPr>
          </a:p>
        </p:txBody>
      </p:sp>
      <p:sp>
        <p:nvSpPr>
          <p:cNvPr id="12" name="Title 1">
            <a:extLst>
              <a:ext uri="{FF2B5EF4-FFF2-40B4-BE49-F238E27FC236}">
                <a16:creationId xmlns:a16="http://schemas.microsoft.com/office/drawing/2014/main" id="{4CB8D250-E077-B64F-BBBC-E99A22C4EBEB}"/>
              </a:ext>
            </a:extLst>
          </p:cNvPr>
          <p:cNvSpPr txBox="1">
            <a:spLocks/>
          </p:cNvSpPr>
          <p:nvPr/>
        </p:nvSpPr>
        <p:spPr>
          <a:xfrm>
            <a:off x="974345" y="280325"/>
            <a:ext cx="13656055" cy="610103"/>
          </a:xfrm>
          <a:prstGeom prst="rect">
            <a:avLst/>
          </a:prstGeom>
        </p:spPr>
        <p:txBody>
          <a:bodyPr wrap="square" lIns="0" tIns="0" rIns="0" bIns="0">
            <a:spAutoFit/>
          </a:bodyPr>
          <a:lstStyle>
            <a:lvl1pPr>
              <a:defRPr sz="3700" b="0" i="0">
                <a:solidFill>
                  <a:srgbClr val="272C45"/>
                </a:solidFill>
                <a:latin typeface="PT Serif" panose="020A0603040505020204" pitchFamily="18" charset="0"/>
                <a:ea typeface="+mj-ea"/>
                <a:cs typeface="Lucida Sans Unicode"/>
              </a:defRPr>
            </a:lvl1pPr>
          </a:lstStyle>
          <a:p>
            <a:pPr algn="l">
              <a:lnSpc>
                <a:spcPts val="5100"/>
              </a:lnSpc>
            </a:pPr>
            <a:r>
              <a:rPr lang="en-US" sz="3600" dirty="0">
                <a:solidFill>
                  <a:srgbClr val="020202"/>
                </a:solidFill>
              </a:rPr>
              <a:t>Data Background</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E6890-6444-1F51-1E97-E20E99962D50}"/>
              </a:ext>
            </a:extLst>
          </p:cNvPr>
          <p:cNvSpPr>
            <a:spLocks noGrp="1"/>
          </p:cNvSpPr>
          <p:nvPr>
            <p:ph type="title"/>
          </p:nvPr>
        </p:nvSpPr>
        <p:spPr>
          <a:xfrm>
            <a:off x="487171" y="160520"/>
            <a:ext cx="13656055" cy="1123384"/>
          </a:xfrm>
        </p:spPr>
        <p:txBody>
          <a:bodyPr/>
          <a:lstStyle/>
          <a:p>
            <a:r>
              <a:rPr lang="en-US" sz="3600" dirty="0">
                <a:solidFill>
                  <a:srgbClr val="020202"/>
                </a:solidFill>
                <a:latin typeface="PT Serif" pitchFamily="34" charset="0"/>
                <a:ea typeface="PT Serif" pitchFamily="34" charset="-122"/>
                <a:cs typeface="PT Serif" pitchFamily="34" charset="-120"/>
              </a:rPr>
              <a:t>Data Snapshot</a:t>
            </a:r>
            <a:br>
              <a:rPr lang="en-US" sz="3600" dirty="0"/>
            </a:br>
            <a:endParaRPr lang="en-IN" dirty="0"/>
          </a:p>
        </p:txBody>
      </p:sp>
      <p:graphicFrame>
        <p:nvGraphicFramePr>
          <p:cNvPr id="3" name="Table 3">
            <a:extLst>
              <a:ext uri="{FF2B5EF4-FFF2-40B4-BE49-F238E27FC236}">
                <a16:creationId xmlns:a16="http://schemas.microsoft.com/office/drawing/2014/main" id="{B9E09A3D-AA1A-C1EF-3F16-FF3822B6E68A}"/>
              </a:ext>
            </a:extLst>
          </p:cNvPr>
          <p:cNvGraphicFramePr>
            <a:graphicFrameLocks noGrp="1"/>
          </p:cNvGraphicFramePr>
          <p:nvPr>
            <p:extLst>
              <p:ext uri="{D42A27DB-BD31-4B8C-83A1-F6EECF244321}">
                <p14:modId xmlns:p14="http://schemas.microsoft.com/office/powerpoint/2010/main" val="1314013765"/>
              </p:ext>
            </p:extLst>
          </p:nvPr>
        </p:nvGraphicFramePr>
        <p:xfrm>
          <a:off x="2400299" y="997720"/>
          <a:ext cx="9829800" cy="7071360"/>
        </p:xfrm>
        <a:graphic>
          <a:graphicData uri="http://schemas.openxmlformats.org/drawingml/2006/table">
            <a:tbl>
              <a:tblPr firstRow="1" bandRow="1">
                <a:tableStyleId>{7DF18680-E054-41AD-8BC1-D1AEF772440D}</a:tableStyleId>
              </a:tblPr>
              <a:tblGrid>
                <a:gridCol w="1638300">
                  <a:extLst>
                    <a:ext uri="{9D8B030D-6E8A-4147-A177-3AD203B41FA5}">
                      <a16:colId xmlns:a16="http://schemas.microsoft.com/office/drawing/2014/main" val="3226557803"/>
                    </a:ext>
                  </a:extLst>
                </a:gridCol>
                <a:gridCol w="1638300">
                  <a:extLst>
                    <a:ext uri="{9D8B030D-6E8A-4147-A177-3AD203B41FA5}">
                      <a16:colId xmlns:a16="http://schemas.microsoft.com/office/drawing/2014/main" val="2038419386"/>
                    </a:ext>
                  </a:extLst>
                </a:gridCol>
                <a:gridCol w="1638300">
                  <a:extLst>
                    <a:ext uri="{9D8B030D-6E8A-4147-A177-3AD203B41FA5}">
                      <a16:colId xmlns:a16="http://schemas.microsoft.com/office/drawing/2014/main" val="3113411442"/>
                    </a:ext>
                  </a:extLst>
                </a:gridCol>
                <a:gridCol w="1638300">
                  <a:extLst>
                    <a:ext uri="{9D8B030D-6E8A-4147-A177-3AD203B41FA5}">
                      <a16:colId xmlns:a16="http://schemas.microsoft.com/office/drawing/2014/main" val="4018307213"/>
                    </a:ext>
                  </a:extLst>
                </a:gridCol>
                <a:gridCol w="1638300">
                  <a:extLst>
                    <a:ext uri="{9D8B030D-6E8A-4147-A177-3AD203B41FA5}">
                      <a16:colId xmlns:a16="http://schemas.microsoft.com/office/drawing/2014/main" val="3390812144"/>
                    </a:ext>
                  </a:extLst>
                </a:gridCol>
                <a:gridCol w="1638300">
                  <a:extLst>
                    <a:ext uri="{9D8B030D-6E8A-4147-A177-3AD203B41FA5}">
                      <a16:colId xmlns:a16="http://schemas.microsoft.com/office/drawing/2014/main" val="1495889841"/>
                    </a:ext>
                  </a:extLst>
                </a:gridCol>
              </a:tblGrid>
              <a:tr h="549936">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empid</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err="1">
                          <a:solidFill>
                            <a:srgbClr val="383838"/>
                          </a:solidFill>
                          <a:latin typeface="PT Serif" panose="020A0603040505020204" pitchFamily="18" charset="0"/>
                        </a:rPr>
                        <a:t>jpi</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aptitude</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err="1">
                          <a:solidFill>
                            <a:srgbClr val="383838"/>
                          </a:solidFill>
                          <a:latin typeface="PT Serif" panose="020A0603040505020204" pitchFamily="18" charset="0"/>
                        </a:rPr>
                        <a:t>tol</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technical</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general</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487738342"/>
                  </a:ext>
                </a:extLst>
              </a:tr>
              <a:tr h="576123">
                <a:tc>
                  <a:txBody>
                    <a:bodyPr/>
                    <a:lstStyle/>
                    <a:p>
                      <a:r>
                        <a:rPr lang="en-IN" sz="1800" dirty="0">
                          <a:latin typeface="PT Serif" panose="020A0603040505020204" pitchFamily="18"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45.52</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43.83</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55.92</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51.82</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indent="0" algn="l">
                        <a:lnSpc>
                          <a:spcPts val="2350"/>
                        </a:lnSpc>
                        <a:buNone/>
                      </a:pPr>
                      <a:r>
                        <a:rPr lang="en-US" sz="1800" dirty="0">
                          <a:solidFill>
                            <a:srgbClr val="383838"/>
                          </a:solidFill>
                          <a:latin typeface="PT Serif" panose="020A0603040505020204" pitchFamily="18" charset="0"/>
                        </a:rPr>
                        <a:t>43.58</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4051760492"/>
                  </a:ext>
                </a:extLst>
              </a:tr>
              <a:tr h="549936">
                <a:tc>
                  <a:txBody>
                    <a:bodyPr/>
                    <a:lstStyle/>
                    <a:p>
                      <a:r>
                        <a:rPr lang="en-IN" sz="1800" dirty="0">
                          <a:latin typeface="PT Serif" panose="020A0603040505020204" pitchFamily="18" charset="0"/>
                        </a:rPr>
                        <a:t>2</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40.10</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32.71</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32.56</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51.49</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51.03</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1839214679"/>
                  </a:ext>
                </a:extLst>
              </a:tr>
              <a:tr h="549936">
                <a:tc>
                  <a:txBody>
                    <a:bodyPr/>
                    <a:lstStyle/>
                    <a:p>
                      <a:r>
                        <a:rPr lang="en-IN" sz="1800" dirty="0">
                          <a:latin typeface="PT Serif" panose="020A0603040505020204" pitchFamily="18" charset="0"/>
                        </a:rPr>
                        <a:t>3</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50.61</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56.64</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54.84</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52.29</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52.47</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132121142"/>
                  </a:ext>
                </a:extLst>
              </a:tr>
              <a:tr h="549936">
                <a:tc>
                  <a:txBody>
                    <a:bodyPr/>
                    <a:lstStyle/>
                    <a:p>
                      <a:r>
                        <a:rPr lang="en-IN" sz="1800" dirty="0">
                          <a:latin typeface="PT Serif" panose="020A0603040505020204" pitchFamily="18" charset="0"/>
                        </a:rPr>
                        <a:t>4</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38.97</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51.53</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59.69</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47.48</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47.69</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1121161531"/>
                  </a:ext>
                </a:extLst>
              </a:tr>
              <a:tr h="549936">
                <a:tc>
                  <a:txBody>
                    <a:bodyPr/>
                    <a:lstStyle/>
                    <a:p>
                      <a:r>
                        <a:rPr lang="en-IN" sz="1800" dirty="0">
                          <a:latin typeface="PT Serif" panose="020A0603040505020204" pitchFamily="18" charset="0"/>
                        </a:rPr>
                        <a:t>5</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41.87</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51.35</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51.50</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47.59</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45.77</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1850297068"/>
                  </a:ext>
                </a:extLst>
              </a:tr>
              <a:tr h="549936">
                <a:tc>
                  <a:txBody>
                    <a:bodyPr/>
                    <a:lstStyle/>
                    <a:p>
                      <a:r>
                        <a:rPr lang="en-IN" sz="1800" dirty="0">
                          <a:latin typeface="PT Serif" panose="020A0603040505020204" pitchFamily="18" charset="0"/>
                        </a:rPr>
                        <a:t>6</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38.71</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39.60</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43.63</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48.34</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42.06</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3327350373"/>
                  </a:ext>
                </a:extLst>
              </a:tr>
              <a:tr h="549936">
                <a:tc>
                  <a:txBody>
                    <a:bodyPr/>
                    <a:lstStyle/>
                    <a:p>
                      <a:r>
                        <a:rPr lang="en-IN" sz="1800" dirty="0">
                          <a:latin typeface="PT Serif" panose="020A0603040505020204" pitchFamily="18" charset="0"/>
                        </a:rPr>
                        <a:t>7</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31.64</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61.08</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39.09</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41.25</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37.00</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2250418084"/>
                  </a:ext>
                </a:extLst>
              </a:tr>
              <a:tr h="549936">
                <a:tc>
                  <a:txBody>
                    <a:bodyPr/>
                    <a:lstStyle/>
                    <a:p>
                      <a:r>
                        <a:rPr lang="en-IN" sz="1800" dirty="0">
                          <a:latin typeface="PT Serif" panose="020A0603040505020204" pitchFamily="18" charset="0"/>
                        </a:rPr>
                        <a:t>8</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59.84</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53.38</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61.13</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58.08</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52.28</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559974672"/>
                  </a:ext>
                </a:extLst>
              </a:tr>
              <a:tr h="549936">
                <a:tc>
                  <a:txBody>
                    <a:bodyPr/>
                    <a:lstStyle/>
                    <a:p>
                      <a:r>
                        <a:rPr lang="en-IN" sz="1800" dirty="0">
                          <a:latin typeface="PT Serif" panose="020A0603040505020204" pitchFamily="18" charset="0"/>
                        </a:rPr>
                        <a:t>9</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53.92</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56.75</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60.62</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53.28</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54.01</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3463212302"/>
                  </a:ext>
                </a:extLst>
              </a:tr>
              <a:tr h="549936">
                <a:tc>
                  <a:txBody>
                    <a:bodyPr/>
                    <a:lstStyle/>
                    <a:p>
                      <a:r>
                        <a:rPr lang="en-IN" sz="1800" dirty="0">
                          <a:latin typeface="PT Serif" panose="020A0603040505020204" pitchFamily="18" charset="0"/>
                        </a:rPr>
                        <a:t>10</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50.01</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61.31</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44.69</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54.18</a:t>
                      </a:r>
                      <a:endParaRPr lang="en-US" sz="1800" dirty="0">
                        <a:latin typeface="PT Serif" panose="020A0603040505020204" pitchFamily="18" charset="0"/>
                      </a:endParaRPr>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49.14</a:t>
                      </a:r>
                      <a:endParaRPr lang="en-US" sz="1800" dirty="0">
                        <a:latin typeface="PT Serif" panose="020A0603040505020204" pitchFamily="18" charset="0"/>
                      </a:endParaRPr>
                    </a:p>
                    <a:p>
                      <a:endParaRPr lang="en-IN" sz="1800" dirty="0">
                        <a:latin typeface="PT Serif" panose="020A0603040505020204" pitchFamily="18" charset="0"/>
                      </a:endParaRPr>
                    </a:p>
                  </a:txBody>
                  <a:tcPr/>
                </a:tc>
                <a:extLst>
                  <a:ext uri="{0D108BD9-81ED-4DB2-BD59-A6C34878D82A}">
                    <a16:rowId xmlns:a16="http://schemas.microsoft.com/office/drawing/2014/main" val="1075767607"/>
                  </a:ext>
                </a:extLst>
              </a:tr>
            </a:tbl>
          </a:graphicData>
        </a:graphic>
      </p:graphicFrame>
    </p:spTree>
    <p:extLst>
      <p:ext uri="{BB962C8B-B14F-4D97-AF65-F5344CB8AC3E}">
        <p14:creationId xmlns:p14="http://schemas.microsoft.com/office/powerpoint/2010/main" val="1114494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598357" y="417108"/>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Regression Results: Inferential Approach</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609600" y="5925181"/>
            <a:ext cx="5867400" cy="2365584"/>
          </a:xfrm>
        </p:spPr>
        <p:txBody>
          <a:bodyPr/>
          <a:lstStyle/>
          <a:p>
            <a:pPr marL="0" indent="0" algn="l">
              <a:lnSpc>
                <a:spcPts val="3050"/>
              </a:lnSpc>
              <a:buNone/>
            </a:pPr>
            <a:r>
              <a:rPr lang="en-US" sz="2400" dirty="0">
                <a:solidFill>
                  <a:srgbClr val="020202"/>
                </a:solidFill>
                <a:ea typeface="PT Serif" pitchFamily="34" charset="-122"/>
                <a:cs typeface="PT Serif" pitchFamily="34" charset="-120"/>
              </a:rPr>
              <a:t>Significant Predictors</a:t>
            </a:r>
          </a:p>
          <a:p>
            <a:pPr marL="0" indent="0" algn="l">
              <a:buNone/>
            </a:pPr>
            <a:endParaRPr lang="en-US" sz="2400" dirty="0">
              <a:solidFill>
                <a:srgbClr val="020202"/>
              </a:solidFill>
            </a:endParaRPr>
          </a:p>
          <a:p>
            <a:pPr algn="l">
              <a:lnSpc>
                <a:spcPts val="3050"/>
              </a:lnSpc>
            </a:pPr>
            <a:r>
              <a:rPr lang="en-US" sz="1800" b="1" dirty="0">
                <a:solidFill>
                  <a:srgbClr val="383838"/>
                </a:solidFill>
                <a:ea typeface="DM Sans" pitchFamily="34" charset="-122"/>
                <a:cs typeface="DM Sans" pitchFamily="34" charset="-120"/>
              </a:rPr>
              <a:t>Aptitude, Technical, and General</a:t>
            </a:r>
            <a:r>
              <a:rPr lang="en-US" sz="1800" dirty="0">
                <a:solidFill>
                  <a:srgbClr val="383838"/>
                </a:solidFill>
                <a:ea typeface="DM Sans" pitchFamily="34" charset="-122"/>
                <a:cs typeface="DM Sans" pitchFamily="34" charset="-120"/>
              </a:rPr>
              <a:t> have P-values &lt; 0.05. These three variables have statistically significant effects on job performance.</a:t>
            </a:r>
            <a:endParaRPr lang="en-US" sz="1800" dirty="0"/>
          </a:p>
          <a:p>
            <a:pPr marL="0" indent="0" algn="l">
              <a:lnSpc>
                <a:spcPts val="3050"/>
              </a:lnSpc>
              <a:buNone/>
            </a:pPr>
            <a:endParaRPr lang="en-US" sz="24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8130396" y="5925181"/>
            <a:ext cx="5867400" cy="2365584"/>
          </a:xfrm>
        </p:spPr>
        <p:txBody>
          <a:bodyPr/>
          <a:lstStyle/>
          <a:p>
            <a:pPr marL="0" indent="0" algn="l">
              <a:lnSpc>
                <a:spcPts val="3050"/>
              </a:lnSpc>
              <a:buNone/>
            </a:pPr>
            <a:r>
              <a:rPr lang="en-US" sz="2400" dirty="0">
                <a:solidFill>
                  <a:srgbClr val="020202"/>
                </a:solidFill>
                <a:ea typeface="PT Serif" pitchFamily="34" charset="-122"/>
                <a:cs typeface="PT Serif" pitchFamily="34" charset="-120"/>
              </a:rPr>
              <a:t>R²-Measure of Goodness of Fit</a:t>
            </a:r>
          </a:p>
          <a:p>
            <a:pPr marL="0" indent="0" algn="l">
              <a:buNone/>
            </a:pPr>
            <a:endParaRPr lang="en-US" sz="2400" dirty="0">
              <a:solidFill>
                <a:srgbClr val="020202"/>
              </a:solidFill>
            </a:endParaRPr>
          </a:p>
          <a:p>
            <a:pPr algn="l">
              <a:lnSpc>
                <a:spcPts val="3050"/>
              </a:lnSpc>
            </a:pPr>
            <a:r>
              <a:rPr lang="en-US" sz="1800" dirty="0">
                <a:solidFill>
                  <a:srgbClr val="383838"/>
                </a:solidFill>
                <a:ea typeface="DM Sans" pitchFamily="34" charset="-122"/>
                <a:cs typeface="DM Sans" pitchFamily="34" charset="-120"/>
              </a:rPr>
              <a:t>R² value for the case study is </a:t>
            </a:r>
            <a:r>
              <a:rPr lang="en-US" sz="1800" b="1" dirty="0">
                <a:solidFill>
                  <a:srgbClr val="383838"/>
                </a:solidFill>
                <a:ea typeface="DM Sans" pitchFamily="34" charset="-122"/>
                <a:cs typeface="DM Sans" pitchFamily="34" charset="-120"/>
              </a:rPr>
              <a:t>0.88</a:t>
            </a:r>
            <a:r>
              <a:rPr lang="en-US" sz="1800" dirty="0">
                <a:solidFill>
                  <a:srgbClr val="383838"/>
                </a:solidFill>
                <a:ea typeface="DM Sans" pitchFamily="34" charset="-122"/>
                <a:cs typeface="DM Sans" pitchFamily="34" charset="-120"/>
              </a:rPr>
              <a:t>. Therefore, 88% of the variation in job performance index is explained by the model and 12% is unexplained variation.</a:t>
            </a:r>
            <a:endParaRPr lang="en-US" sz="1800" dirty="0"/>
          </a:p>
          <a:p>
            <a:pPr marL="0" indent="0" algn="l">
              <a:lnSpc>
                <a:spcPts val="3050"/>
              </a:lnSpc>
              <a:buNone/>
            </a:pPr>
            <a:endParaRPr lang="en-US" sz="2400" dirty="0"/>
          </a:p>
        </p:txBody>
      </p:sp>
      <p:graphicFrame>
        <p:nvGraphicFramePr>
          <p:cNvPr id="5" name="Table 6">
            <a:extLst>
              <a:ext uri="{FF2B5EF4-FFF2-40B4-BE49-F238E27FC236}">
                <a16:creationId xmlns:a16="http://schemas.microsoft.com/office/drawing/2014/main" id="{625CCAF8-6835-48A3-0376-EE861884EFB6}"/>
              </a:ext>
            </a:extLst>
          </p:cNvPr>
          <p:cNvGraphicFramePr>
            <a:graphicFrameLocks noGrp="1"/>
          </p:cNvGraphicFramePr>
          <p:nvPr>
            <p:extLst>
              <p:ext uri="{D42A27DB-BD31-4B8C-83A1-F6EECF244321}">
                <p14:modId xmlns:p14="http://schemas.microsoft.com/office/powerpoint/2010/main" val="94038350"/>
              </p:ext>
            </p:extLst>
          </p:nvPr>
        </p:nvGraphicFramePr>
        <p:xfrm>
          <a:off x="2057400" y="1544984"/>
          <a:ext cx="9753600" cy="3883660"/>
        </p:xfrm>
        <a:graphic>
          <a:graphicData uri="http://schemas.openxmlformats.org/drawingml/2006/table">
            <a:tbl>
              <a:tblPr firstRow="1" bandRow="1">
                <a:tableStyleId>{7DF18680-E054-41AD-8BC1-D1AEF772440D}</a:tableStyleId>
              </a:tblPr>
              <a:tblGrid>
                <a:gridCol w="1950720">
                  <a:extLst>
                    <a:ext uri="{9D8B030D-6E8A-4147-A177-3AD203B41FA5}">
                      <a16:colId xmlns:a16="http://schemas.microsoft.com/office/drawing/2014/main" val="4098459447"/>
                    </a:ext>
                  </a:extLst>
                </a:gridCol>
                <a:gridCol w="1950720">
                  <a:extLst>
                    <a:ext uri="{9D8B030D-6E8A-4147-A177-3AD203B41FA5}">
                      <a16:colId xmlns:a16="http://schemas.microsoft.com/office/drawing/2014/main" val="2075848055"/>
                    </a:ext>
                  </a:extLst>
                </a:gridCol>
                <a:gridCol w="1950720">
                  <a:extLst>
                    <a:ext uri="{9D8B030D-6E8A-4147-A177-3AD203B41FA5}">
                      <a16:colId xmlns:a16="http://schemas.microsoft.com/office/drawing/2014/main" val="4174772686"/>
                    </a:ext>
                  </a:extLst>
                </a:gridCol>
                <a:gridCol w="1950720">
                  <a:extLst>
                    <a:ext uri="{9D8B030D-6E8A-4147-A177-3AD203B41FA5}">
                      <a16:colId xmlns:a16="http://schemas.microsoft.com/office/drawing/2014/main" val="3892240462"/>
                    </a:ext>
                  </a:extLst>
                </a:gridCol>
                <a:gridCol w="1950720">
                  <a:extLst>
                    <a:ext uri="{9D8B030D-6E8A-4147-A177-3AD203B41FA5}">
                      <a16:colId xmlns:a16="http://schemas.microsoft.com/office/drawing/2014/main" val="2300549423"/>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Variable</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Coefficients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Standard Error</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t Stat</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P-value</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389370499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Intercept</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-54.2822</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7.3945</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-7.3409</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0.0000</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4088179364"/>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E04F00"/>
                          </a:solidFill>
                          <a:latin typeface="PT Serif" panose="020A0603040505020204" pitchFamily="18" charset="0"/>
                        </a:rPr>
                        <a:t>aptitude</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0.3236</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0.0678</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4.7737</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E04F00"/>
                          </a:solidFill>
                          <a:latin typeface="PT Serif" panose="020A0603040505020204" pitchFamily="18" charset="0"/>
                        </a:rPr>
                        <a:t>0.0001</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659774654"/>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err="1">
                          <a:solidFill>
                            <a:srgbClr val="383838"/>
                          </a:solidFill>
                          <a:latin typeface="PT Serif" panose="020A0603040505020204" pitchFamily="18" charset="0"/>
                        </a:rPr>
                        <a:t>tol</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0.0334</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0.0712</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0.4684</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0.6431</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3965539396"/>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E04F00"/>
                          </a:solidFill>
                          <a:latin typeface="PT Serif" panose="020A0603040505020204" pitchFamily="18" charset="0"/>
                        </a:rPr>
                        <a:t>technical</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indent="0" algn="l">
                        <a:lnSpc>
                          <a:spcPts val="2500"/>
                        </a:lnSpc>
                        <a:buNone/>
                      </a:pPr>
                      <a:r>
                        <a:rPr lang="en-US" sz="1800" dirty="0">
                          <a:solidFill>
                            <a:srgbClr val="383838"/>
                          </a:solidFill>
                          <a:latin typeface="PT Serif" panose="020A0603040505020204" pitchFamily="18" charset="0"/>
                        </a:rPr>
                        <a:t>1.0955</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0.1814</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6.0395</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E04F00"/>
                          </a:solidFill>
                          <a:latin typeface="PT Serif" panose="020A0603040505020204" pitchFamily="18" charset="0"/>
                        </a:rPr>
                        <a:t>0.0000</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237288027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E04F00"/>
                          </a:solidFill>
                          <a:latin typeface="PT Serif" panose="020A0603040505020204" pitchFamily="18" charset="0"/>
                        </a:rPr>
                        <a:t>general</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0.5368</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0.1584</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3.3890</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E04F00"/>
                          </a:solidFill>
                          <a:latin typeface="PT Serif" panose="020A0603040505020204" pitchFamily="18" charset="0"/>
                        </a:rPr>
                        <a:t>0.0021</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4285294639"/>
                  </a:ext>
                </a:extLst>
              </a:tr>
            </a:tbl>
          </a:graphicData>
        </a:graphic>
      </p:graphicFrame>
    </p:spTree>
    <p:extLst>
      <p:ext uri="{BB962C8B-B14F-4D97-AF65-F5344CB8AC3E}">
        <p14:creationId xmlns:p14="http://schemas.microsoft.com/office/powerpoint/2010/main" val="797579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784384" y="518756"/>
            <a:ext cx="13656055" cy="610103"/>
          </a:xfrm>
        </p:spPr>
        <p:txBody>
          <a:bodyPr/>
          <a:lstStyle/>
          <a:p>
            <a:pPr marL="0" indent="0" algn="l">
              <a:lnSpc>
                <a:spcPts val="5050"/>
              </a:lnSpc>
              <a:buNone/>
            </a:pPr>
            <a:r>
              <a:rPr lang="en-US" sz="3600" dirty="0">
                <a:solidFill>
                  <a:srgbClr val="020202"/>
                </a:solidFill>
                <a:ea typeface="PT Serif" pitchFamily="34" charset="-122"/>
                <a:cs typeface="PT Serif" pitchFamily="34" charset="-120"/>
              </a:rPr>
              <a:t>Residual Analysis-Necessary for Statistical Inference</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1447800" y="2288935"/>
            <a:ext cx="5867400" cy="368242"/>
          </a:xfrm>
        </p:spPr>
        <p:txBody>
          <a:bodyPr/>
          <a:lstStyle/>
          <a:p>
            <a:pPr marL="0" indent="0" algn="l">
              <a:lnSpc>
                <a:spcPts val="3000"/>
              </a:lnSpc>
              <a:buNone/>
            </a:pPr>
            <a:r>
              <a:rPr lang="en-US" sz="2400" dirty="0">
                <a:solidFill>
                  <a:srgbClr val="020202"/>
                </a:solidFill>
                <a:ea typeface="PT Serif" pitchFamily="34" charset="-122"/>
                <a:cs typeface="PT Serif" pitchFamily="34" charset="-120"/>
              </a:rPr>
              <a:t>Residual Plot</a:t>
            </a:r>
            <a:endParaRPr lang="en-US" sz="24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8522644" y="2325884"/>
            <a:ext cx="5867400" cy="368242"/>
          </a:xfrm>
        </p:spPr>
        <p:txBody>
          <a:bodyPr/>
          <a:lstStyle/>
          <a:p>
            <a:pPr marL="0" indent="0" algn="l">
              <a:lnSpc>
                <a:spcPts val="3000"/>
              </a:lnSpc>
              <a:buNone/>
            </a:pPr>
            <a:r>
              <a:rPr lang="en-US" sz="2400" dirty="0">
                <a:solidFill>
                  <a:srgbClr val="020202"/>
                </a:solidFill>
                <a:ea typeface="PT Serif" pitchFamily="34" charset="-122"/>
                <a:cs typeface="PT Serif" pitchFamily="34" charset="-120"/>
              </a:rPr>
              <a:t>Q-Q Plot</a:t>
            </a:r>
            <a:endParaRPr lang="en-US" sz="2400" dirty="0"/>
          </a:p>
        </p:txBody>
      </p:sp>
      <p:sp>
        <p:nvSpPr>
          <p:cNvPr id="7" name="TextBox 6">
            <a:extLst>
              <a:ext uri="{FF2B5EF4-FFF2-40B4-BE49-F238E27FC236}">
                <a16:creationId xmlns:a16="http://schemas.microsoft.com/office/drawing/2014/main" id="{761FFC86-1454-7042-06EA-D052B896B9BC}"/>
              </a:ext>
            </a:extLst>
          </p:cNvPr>
          <p:cNvSpPr txBox="1"/>
          <p:nvPr/>
        </p:nvSpPr>
        <p:spPr>
          <a:xfrm>
            <a:off x="733990" y="1461257"/>
            <a:ext cx="13656054" cy="716350"/>
          </a:xfrm>
          <a:prstGeom prst="rect">
            <a:avLst/>
          </a:prstGeom>
          <a:noFill/>
        </p:spPr>
        <p:txBody>
          <a:bodyPr wrap="square">
            <a:spAutoFit/>
          </a:bodyPr>
          <a:lstStyle/>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The residual plot displays residuals on the y-axis against predicted values on the x-axis. This diagnostic tool reveals violations of regression assumptions. The q-q plot is used to assess the normality of errors.</a:t>
            </a:r>
            <a:endParaRPr lang="en-US" sz="1800" dirty="0">
              <a:latin typeface="PT Serif" panose="020A0603040505020204" pitchFamily="18" charset="0"/>
            </a:endParaRPr>
          </a:p>
        </p:txBody>
      </p:sp>
      <p:pic>
        <p:nvPicPr>
          <p:cNvPr id="8" name="Image 0" descr="preencoded.png">
            <a:extLst>
              <a:ext uri="{FF2B5EF4-FFF2-40B4-BE49-F238E27FC236}">
                <a16:creationId xmlns:a16="http://schemas.microsoft.com/office/drawing/2014/main" id="{07727A17-B9BE-9A99-95A9-4921FD0D9E4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47003" y="2694126"/>
            <a:ext cx="4960754" cy="4946571"/>
          </a:xfrm>
          <a:prstGeom prst="rect">
            <a:avLst/>
          </a:prstGeom>
        </p:spPr>
      </p:pic>
      <p:pic>
        <p:nvPicPr>
          <p:cNvPr id="9" name="Image 1" descr="preencoded.png">
            <a:extLst>
              <a:ext uri="{FF2B5EF4-FFF2-40B4-BE49-F238E27FC236}">
                <a16:creationId xmlns:a16="http://schemas.microsoft.com/office/drawing/2014/main" id="{548C8530-B464-043B-1315-17438CE1039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8229600" y="2840544"/>
            <a:ext cx="4724400" cy="4717433"/>
          </a:xfrm>
          <a:prstGeom prst="rect">
            <a:avLst/>
          </a:prstGeom>
        </p:spPr>
      </p:pic>
      <p:sp>
        <p:nvSpPr>
          <p:cNvPr id="11" name="TextBox 10">
            <a:extLst>
              <a:ext uri="{FF2B5EF4-FFF2-40B4-BE49-F238E27FC236}">
                <a16:creationId xmlns:a16="http://schemas.microsoft.com/office/drawing/2014/main" id="{B777BB7E-E2EB-642B-9D05-3D35D9EF23D1}"/>
              </a:ext>
            </a:extLst>
          </p:cNvPr>
          <p:cNvSpPr txBox="1"/>
          <p:nvPr/>
        </p:nvSpPr>
        <p:spPr>
          <a:xfrm>
            <a:off x="687203" y="7591195"/>
            <a:ext cx="12474416" cy="712439"/>
          </a:xfrm>
          <a:prstGeom prst="rect">
            <a:avLst/>
          </a:prstGeom>
          <a:noFill/>
        </p:spPr>
        <p:txBody>
          <a:bodyPr wrap="square">
            <a:spAutoFit/>
          </a:bodyPr>
          <a:lstStyle/>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Random pattern of residuals and q-q plot indicate that assumptions of “Constant Error Variance” and “Normality” are not violated. </a:t>
            </a:r>
            <a:endParaRPr lang="en-US" sz="1800" dirty="0">
              <a:latin typeface="PT Serif" panose="020A0603040505020204" pitchFamily="18" charset="0"/>
            </a:endParaRPr>
          </a:p>
        </p:txBody>
      </p:sp>
    </p:spTree>
    <p:extLst>
      <p:ext uri="{BB962C8B-B14F-4D97-AF65-F5344CB8AC3E}">
        <p14:creationId xmlns:p14="http://schemas.microsoft.com/office/powerpoint/2010/main" val="1560610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744CC71D-44B1-21C2-7829-A1023B4325D7}"/>
              </a:ext>
            </a:extLst>
          </p:cNvPr>
          <p:cNvGrpSpPr/>
          <p:nvPr/>
        </p:nvGrpSpPr>
        <p:grpSpPr>
          <a:xfrm>
            <a:off x="7467600" y="2675274"/>
            <a:ext cx="6226016" cy="3954126"/>
            <a:chOff x="793788" y="4631308"/>
            <a:chExt cx="6437630" cy="2974340"/>
          </a:xfrm>
        </p:grpSpPr>
        <p:sp>
          <p:nvSpPr>
            <p:cNvPr id="15" name="object 15">
              <a:extLst>
                <a:ext uri="{FF2B5EF4-FFF2-40B4-BE49-F238E27FC236}">
                  <a16:creationId xmlns:a16="http://schemas.microsoft.com/office/drawing/2014/main" id="{ED0D2329-0C43-8165-70BF-4CFF2A2EB85C}"/>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6" name="object 14">
              <a:extLst>
                <a:ext uri="{FF2B5EF4-FFF2-40B4-BE49-F238E27FC236}">
                  <a16:creationId xmlns:a16="http://schemas.microsoft.com/office/drawing/2014/main" id="{DD39A8CE-3EDF-D67B-5789-868EBDAA3D1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10" name="object 13">
            <a:extLst>
              <a:ext uri="{FF2B5EF4-FFF2-40B4-BE49-F238E27FC236}">
                <a16:creationId xmlns:a16="http://schemas.microsoft.com/office/drawing/2014/main" id="{548B097B-E7C0-C8EC-D7B1-3805D4FEE784}"/>
              </a:ext>
            </a:extLst>
          </p:cNvPr>
          <p:cNvGrpSpPr/>
          <p:nvPr/>
        </p:nvGrpSpPr>
        <p:grpSpPr>
          <a:xfrm>
            <a:off x="762000" y="2653197"/>
            <a:ext cx="6226016" cy="3954126"/>
            <a:chOff x="793788" y="4631308"/>
            <a:chExt cx="6437630" cy="2974340"/>
          </a:xfrm>
        </p:grpSpPr>
        <p:sp>
          <p:nvSpPr>
            <p:cNvPr id="13" name="object 15">
              <a:extLst>
                <a:ext uri="{FF2B5EF4-FFF2-40B4-BE49-F238E27FC236}">
                  <a16:creationId xmlns:a16="http://schemas.microsoft.com/office/drawing/2014/main" id="{1A1DE235-BA2E-218A-DC61-34BE3C9EA9AB}"/>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2" name="object 14">
              <a:extLst>
                <a:ext uri="{FF2B5EF4-FFF2-40B4-BE49-F238E27FC236}">
                  <a16:creationId xmlns:a16="http://schemas.microsoft.com/office/drawing/2014/main" id="{BBFA9A5F-0820-F91E-F39D-692EB3F850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784384" y="518756"/>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Inferential vs Machine Learning Approach </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990600" y="2861090"/>
            <a:ext cx="5867400" cy="3538341"/>
          </a:xfrm>
        </p:spPr>
        <p:txBody>
          <a:bodyPr/>
          <a:lstStyle/>
          <a:p>
            <a:pPr marL="457200" indent="-457200" algn="ctr">
              <a:lnSpc>
                <a:spcPts val="3050"/>
              </a:lnSpc>
              <a:buAutoNum type="arabicPeriod"/>
            </a:pPr>
            <a:r>
              <a:rPr lang="en-US" sz="2400" dirty="0">
                <a:solidFill>
                  <a:srgbClr val="383838"/>
                </a:solidFill>
                <a:ea typeface="PT Serif" pitchFamily="34" charset="-122"/>
                <a:cs typeface="PT Serif" pitchFamily="34" charset="-120"/>
              </a:rPr>
              <a:t>Objective</a:t>
            </a:r>
          </a:p>
          <a:p>
            <a:pPr marL="457200" indent="-457200" algn="l">
              <a:lnSpc>
                <a:spcPts val="3050"/>
              </a:lnSpc>
              <a:buAutoNum type="arabicPeriod"/>
            </a:pPr>
            <a:endParaRPr lang="en-US" sz="1800" dirty="0">
              <a:solidFill>
                <a:srgbClr val="383838"/>
              </a:solidFill>
              <a:ea typeface="PT Serif" pitchFamily="34" charset="-122"/>
              <a:cs typeface="PT Serif" pitchFamily="34" charset="-120"/>
            </a:endParaRPr>
          </a:p>
          <a:p>
            <a:pPr algn="l">
              <a:lnSpc>
                <a:spcPts val="3050"/>
              </a:lnSpc>
            </a:pPr>
            <a:r>
              <a:rPr lang="en-US" sz="1800" dirty="0">
                <a:solidFill>
                  <a:srgbClr val="383838"/>
                </a:solidFill>
                <a:ea typeface="DM Sans" pitchFamily="34" charset="-122"/>
                <a:cs typeface="DM Sans" pitchFamily="34" charset="-120"/>
              </a:rPr>
              <a:t>The </a:t>
            </a:r>
            <a:r>
              <a:rPr lang="en-US" sz="1800" b="1" dirty="0">
                <a:solidFill>
                  <a:srgbClr val="383838"/>
                </a:solidFill>
                <a:ea typeface="DM Sans" pitchFamily="34" charset="-122"/>
                <a:cs typeface="DM Sans" pitchFamily="34" charset="-120"/>
              </a:rPr>
              <a:t>machine learning</a:t>
            </a:r>
            <a:r>
              <a:rPr lang="en-US" sz="1800" dirty="0">
                <a:solidFill>
                  <a:srgbClr val="383838"/>
                </a:solidFill>
                <a:ea typeface="DM Sans" pitchFamily="34" charset="-122"/>
                <a:cs typeface="DM Sans" pitchFamily="34" charset="-120"/>
              </a:rPr>
              <a:t> approach aims to </a:t>
            </a:r>
            <a:r>
              <a:rPr lang="en-US" sz="1800" b="1" dirty="0">
                <a:solidFill>
                  <a:srgbClr val="383838"/>
                </a:solidFill>
                <a:ea typeface="DM Sans" pitchFamily="34" charset="-122"/>
                <a:cs typeface="DM Sans" pitchFamily="34" charset="-120"/>
              </a:rPr>
              <a:t>make accurate predictions</a:t>
            </a:r>
            <a:r>
              <a:rPr lang="en-US" sz="1800" dirty="0">
                <a:solidFill>
                  <a:srgbClr val="383838"/>
                </a:solidFill>
                <a:ea typeface="DM Sans" pitchFamily="34" charset="-122"/>
                <a:cs typeface="DM Sans" pitchFamily="34" charset="-120"/>
              </a:rPr>
              <a:t> for new or unseen data.</a:t>
            </a:r>
            <a:endParaRPr lang="en-US" sz="1800" dirty="0"/>
          </a:p>
          <a:p>
            <a:pPr algn="l">
              <a:lnSpc>
                <a:spcPts val="3050"/>
              </a:lnSpc>
            </a:pPr>
            <a:r>
              <a:rPr lang="en-US" sz="1800" dirty="0">
                <a:solidFill>
                  <a:srgbClr val="383838"/>
                </a:solidFill>
                <a:ea typeface="DM Sans" pitchFamily="34" charset="-122"/>
                <a:cs typeface="DM Sans" pitchFamily="34" charset="-120"/>
              </a:rPr>
              <a:t>The </a:t>
            </a:r>
            <a:r>
              <a:rPr lang="en-US" sz="1800" b="1" dirty="0">
                <a:solidFill>
                  <a:srgbClr val="383838"/>
                </a:solidFill>
                <a:ea typeface="DM Sans" pitchFamily="34" charset="-122"/>
                <a:cs typeface="DM Sans" pitchFamily="34" charset="-120"/>
              </a:rPr>
              <a:t>inferential (statistical)</a:t>
            </a:r>
            <a:r>
              <a:rPr lang="en-US" sz="1800" dirty="0">
                <a:solidFill>
                  <a:srgbClr val="383838"/>
                </a:solidFill>
                <a:ea typeface="DM Sans" pitchFamily="34" charset="-122"/>
                <a:cs typeface="DM Sans" pitchFamily="34" charset="-120"/>
              </a:rPr>
              <a:t> approach aims to </a:t>
            </a:r>
            <a:r>
              <a:rPr lang="en-US" sz="1800" b="1" dirty="0">
                <a:solidFill>
                  <a:srgbClr val="383838"/>
                </a:solidFill>
                <a:ea typeface="DM Sans" pitchFamily="34" charset="-122"/>
                <a:cs typeface="DM Sans" pitchFamily="34" charset="-120"/>
              </a:rPr>
              <a:t>understand relationships</a:t>
            </a:r>
            <a:r>
              <a:rPr lang="en-US" sz="1800" dirty="0">
                <a:solidFill>
                  <a:srgbClr val="383838"/>
                </a:solidFill>
                <a:ea typeface="DM Sans" pitchFamily="34" charset="-122"/>
                <a:cs typeface="DM Sans" pitchFamily="34" charset="-120"/>
              </a:rPr>
              <a:t> between variables and determine whether independent variables have a statistically significant effect on the outcome.</a:t>
            </a:r>
            <a:endParaRPr lang="en-US" sz="1800" dirty="0"/>
          </a:p>
          <a:p>
            <a:pPr marL="457200" indent="-457200" algn="l">
              <a:lnSpc>
                <a:spcPts val="3050"/>
              </a:lnSpc>
              <a:buAutoNum type="arabicPeriod"/>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646908" y="2911005"/>
            <a:ext cx="5867400" cy="3160673"/>
          </a:xfrm>
        </p:spPr>
        <p:txBody>
          <a:bodyPr/>
          <a:lstStyle/>
          <a:p>
            <a:pPr marL="0" indent="0" algn="ctr">
              <a:lnSpc>
                <a:spcPts val="3050"/>
              </a:lnSpc>
              <a:buNone/>
            </a:pPr>
            <a:r>
              <a:rPr lang="en-US" sz="2400" dirty="0">
                <a:solidFill>
                  <a:srgbClr val="383838"/>
                </a:solidFill>
                <a:ea typeface="PT Serif" pitchFamily="34" charset="-122"/>
                <a:cs typeface="PT Serif" pitchFamily="34" charset="-120"/>
              </a:rPr>
              <a:t>2. Focus</a:t>
            </a:r>
          </a:p>
          <a:p>
            <a:pPr marL="0" indent="0" algn="l">
              <a:lnSpc>
                <a:spcPts val="3050"/>
              </a:lnSpc>
              <a:buNone/>
            </a:pPr>
            <a:endParaRPr lang="en-US" sz="2400" dirty="0">
              <a:solidFill>
                <a:srgbClr val="383838"/>
              </a:solidFill>
              <a:ea typeface="PT Serif" pitchFamily="34" charset="-122"/>
              <a:cs typeface="PT Serif" pitchFamily="34" charset="-120"/>
            </a:endParaRPr>
          </a:p>
          <a:p>
            <a:pPr algn="l">
              <a:lnSpc>
                <a:spcPts val="3050"/>
              </a:lnSpc>
            </a:pPr>
            <a:r>
              <a:rPr lang="en-US" sz="1800" dirty="0">
                <a:solidFill>
                  <a:srgbClr val="383838"/>
                </a:solidFill>
                <a:ea typeface="DM Sans" pitchFamily="34" charset="-122"/>
                <a:cs typeface="DM Sans" pitchFamily="34" charset="-120"/>
              </a:rPr>
              <a:t>Inferential regression focuses on </a:t>
            </a:r>
            <a:r>
              <a:rPr lang="en-US" sz="1800" b="1" dirty="0">
                <a:solidFill>
                  <a:srgbClr val="383838"/>
                </a:solidFill>
                <a:ea typeface="DM Sans" pitchFamily="34" charset="-122"/>
                <a:cs typeface="DM Sans" pitchFamily="34" charset="-120"/>
              </a:rPr>
              <a:t>explaining and interpreting</a:t>
            </a:r>
            <a:r>
              <a:rPr lang="en-US" sz="1800" dirty="0">
                <a:solidFill>
                  <a:srgbClr val="383838"/>
                </a:solidFill>
                <a:ea typeface="DM Sans" pitchFamily="34" charset="-122"/>
                <a:cs typeface="DM Sans" pitchFamily="34" charset="-120"/>
              </a:rPr>
              <a:t> the effects of independent variables.</a:t>
            </a:r>
            <a:endParaRPr lang="en-US" sz="1800" dirty="0"/>
          </a:p>
          <a:p>
            <a:pPr marL="0" indent="0" algn="l">
              <a:lnSpc>
                <a:spcPts val="3050"/>
              </a:lnSpc>
              <a:buNone/>
            </a:pPr>
            <a:endParaRPr lang="en-US" sz="1800" dirty="0">
              <a:solidFill>
                <a:srgbClr val="383838"/>
              </a:solidFill>
            </a:endParaRPr>
          </a:p>
          <a:p>
            <a:pPr algn="l">
              <a:lnSpc>
                <a:spcPts val="3050"/>
              </a:lnSpc>
            </a:pPr>
            <a:r>
              <a:rPr lang="en-US" sz="1800" dirty="0">
                <a:solidFill>
                  <a:srgbClr val="383838"/>
                </a:solidFill>
                <a:ea typeface="DM Sans" pitchFamily="34" charset="-122"/>
                <a:cs typeface="DM Sans" pitchFamily="34" charset="-120"/>
              </a:rPr>
              <a:t>ML regression focuses on </a:t>
            </a:r>
            <a:r>
              <a:rPr lang="en-US" sz="1800" b="1" dirty="0">
                <a:solidFill>
                  <a:srgbClr val="383838"/>
                </a:solidFill>
                <a:ea typeface="DM Sans" pitchFamily="34" charset="-122"/>
                <a:cs typeface="DM Sans" pitchFamily="34" charset="-120"/>
              </a:rPr>
              <a:t>model performance and generalization</a:t>
            </a:r>
            <a:r>
              <a:rPr lang="en-US" sz="1800" dirty="0">
                <a:solidFill>
                  <a:srgbClr val="383838"/>
                </a:solidFill>
                <a:ea typeface="DM Sans" pitchFamily="34" charset="-122"/>
                <a:cs typeface="DM Sans" pitchFamily="34" charset="-120"/>
              </a:rPr>
              <a:t>, not always interpretation.</a:t>
            </a:r>
            <a:endParaRPr lang="en-US" sz="1800" dirty="0"/>
          </a:p>
          <a:p>
            <a:pPr marL="0" indent="0" algn="l">
              <a:lnSpc>
                <a:spcPts val="3050"/>
              </a:lnSpc>
              <a:buNone/>
            </a:pPr>
            <a:endParaRPr lang="en-US" sz="2400" dirty="0"/>
          </a:p>
        </p:txBody>
      </p:sp>
      <p:sp>
        <p:nvSpPr>
          <p:cNvPr id="7" name="TextBox 6">
            <a:extLst>
              <a:ext uri="{FF2B5EF4-FFF2-40B4-BE49-F238E27FC236}">
                <a16:creationId xmlns:a16="http://schemas.microsoft.com/office/drawing/2014/main" id="{761FFC86-1454-7042-06EA-D052B896B9BC}"/>
              </a:ext>
            </a:extLst>
          </p:cNvPr>
          <p:cNvSpPr txBox="1"/>
          <p:nvPr/>
        </p:nvSpPr>
        <p:spPr>
          <a:xfrm>
            <a:off x="733990" y="1461257"/>
            <a:ext cx="13656054" cy="552331"/>
          </a:xfrm>
          <a:prstGeom prst="rect">
            <a:avLst/>
          </a:prstGeom>
          <a:noFill/>
        </p:spPr>
        <p:txBody>
          <a:bodyPr wrap="square">
            <a:spAutoFit/>
          </a:bodyPr>
          <a:lstStyle/>
          <a:p>
            <a:pPr marL="0" indent="0" algn="l">
              <a:lnSpc>
                <a:spcPts val="4100"/>
              </a:lnSpc>
              <a:buNone/>
            </a:pPr>
            <a:r>
              <a:rPr lang="en-US" sz="2000" dirty="0">
                <a:solidFill>
                  <a:srgbClr val="020202"/>
                </a:solidFill>
                <a:latin typeface="PT Serif" panose="020A0603040505020204" pitchFamily="18" charset="0"/>
                <a:ea typeface="PT Serif" pitchFamily="34" charset="-122"/>
                <a:cs typeface="PT Serif" pitchFamily="34" charset="-120"/>
              </a:rPr>
              <a:t>Key Differences in Approach and Purpose</a:t>
            </a:r>
            <a:endParaRPr lang="en-US" sz="2000" dirty="0">
              <a:latin typeface="PT Serif" panose="020A0603040505020204" pitchFamily="18" charset="0"/>
            </a:endParaRPr>
          </a:p>
        </p:txBody>
      </p:sp>
    </p:spTree>
    <p:extLst>
      <p:ext uri="{BB962C8B-B14F-4D97-AF65-F5344CB8AC3E}">
        <p14:creationId xmlns:p14="http://schemas.microsoft.com/office/powerpoint/2010/main" val="3413293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744CC71D-44B1-21C2-7829-A1023B4325D7}"/>
              </a:ext>
            </a:extLst>
          </p:cNvPr>
          <p:cNvGrpSpPr/>
          <p:nvPr/>
        </p:nvGrpSpPr>
        <p:grpSpPr>
          <a:xfrm>
            <a:off x="7467600" y="2675274"/>
            <a:ext cx="6226016" cy="3954126"/>
            <a:chOff x="793788" y="4631308"/>
            <a:chExt cx="6437630" cy="2974340"/>
          </a:xfrm>
        </p:grpSpPr>
        <p:sp>
          <p:nvSpPr>
            <p:cNvPr id="15" name="object 15">
              <a:extLst>
                <a:ext uri="{FF2B5EF4-FFF2-40B4-BE49-F238E27FC236}">
                  <a16:creationId xmlns:a16="http://schemas.microsoft.com/office/drawing/2014/main" id="{ED0D2329-0C43-8165-70BF-4CFF2A2EB85C}"/>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6" name="object 14">
              <a:extLst>
                <a:ext uri="{FF2B5EF4-FFF2-40B4-BE49-F238E27FC236}">
                  <a16:creationId xmlns:a16="http://schemas.microsoft.com/office/drawing/2014/main" id="{DD39A8CE-3EDF-D67B-5789-868EBDAA3D1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10" name="object 13">
            <a:extLst>
              <a:ext uri="{FF2B5EF4-FFF2-40B4-BE49-F238E27FC236}">
                <a16:creationId xmlns:a16="http://schemas.microsoft.com/office/drawing/2014/main" id="{548B097B-E7C0-C8EC-D7B1-3805D4FEE784}"/>
              </a:ext>
            </a:extLst>
          </p:cNvPr>
          <p:cNvGrpSpPr/>
          <p:nvPr/>
        </p:nvGrpSpPr>
        <p:grpSpPr>
          <a:xfrm>
            <a:off x="762000" y="2653196"/>
            <a:ext cx="6226016" cy="3976203"/>
            <a:chOff x="793788" y="4631308"/>
            <a:chExt cx="6437630" cy="2974340"/>
          </a:xfrm>
        </p:grpSpPr>
        <p:sp>
          <p:nvSpPr>
            <p:cNvPr id="13" name="object 15">
              <a:extLst>
                <a:ext uri="{FF2B5EF4-FFF2-40B4-BE49-F238E27FC236}">
                  <a16:creationId xmlns:a16="http://schemas.microsoft.com/office/drawing/2014/main" id="{1A1DE235-BA2E-218A-DC61-34BE3C9EA9AB}"/>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2" name="object 14">
              <a:extLst>
                <a:ext uri="{FF2B5EF4-FFF2-40B4-BE49-F238E27FC236}">
                  <a16:creationId xmlns:a16="http://schemas.microsoft.com/office/drawing/2014/main" id="{BBFA9A5F-0820-F91E-F39D-692EB3F850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784384" y="761497"/>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Inferential vs ML Approach: Evaluation and Assumptions</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990600" y="2861090"/>
            <a:ext cx="5867400" cy="3306739"/>
          </a:xfrm>
        </p:spPr>
        <p:txBody>
          <a:bodyPr/>
          <a:lstStyle/>
          <a:p>
            <a:pPr marL="0" indent="0" algn="ctr">
              <a:lnSpc>
                <a:spcPts val="3050"/>
              </a:lnSpc>
              <a:buNone/>
            </a:pPr>
            <a:r>
              <a:rPr lang="en-US" sz="2400" dirty="0">
                <a:solidFill>
                  <a:srgbClr val="383838"/>
                </a:solidFill>
                <a:ea typeface="PT Serif" pitchFamily="34" charset="-122"/>
                <a:cs typeface="PT Serif" pitchFamily="34" charset="-120"/>
              </a:rPr>
              <a:t>3. Evaluation Criteria</a:t>
            </a:r>
            <a:endParaRPr lang="en-US" sz="2400" dirty="0"/>
          </a:p>
          <a:p>
            <a:pPr marL="457200" indent="-457200" algn="l">
              <a:lnSpc>
                <a:spcPts val="3050"/>
              </a:lnSpc>
              <a:buAutoNum type="arabicPeriod"/>
            </a:pPr>
            <a:endParaRPr lang="en-US" sz="1800" dirty="0">
              <a:solidFill>
                <a:srgbClr val="383838"/>
              </a:solidFill>
              <a:ea typeface="PT Serif" pitchFamily="34" charset="-122"/>
              <a:cs typeface="PT Serif" pitchFamily="34" charset="-120"/>
            </a:endParaRPr>
          </a:p>
          <a:p>
            <a:pPr marL="457200" indent="-457200" algn="l">
              <a:lnSpc>
                <a:spcPts val="3050"/>
              </a:lnSpc>
              <a:buAutoNum type="arabicPeriod"/>
            </a:pPr>
            <a:endParaRPr lang="en-US" sz="1800" dirty="0">
              <a:solidFill>
                <a:srgbClr val="383838"/>
              </a:solidFill>
              <a:ea typeface="PT Serif" pitchFamily="34" charset="-122"/>
              <a:cs typeface="PT Serif" pitchFamily="34" charset="-120"/>
            </a:endParaRPr>
          </a:p>
          <a:p>
            <a:pPr marL="0" indent="0" algn="l">
              <a:lnSpc>
                <a:spcPts val="2500"/>
              </a:lnSpc>
              <a:buNone/>
            </a:pPr>
            <a:r>
              <a:rPr lang="en-US" sz="1800" dirty="0">
                <a:solidFill>
                  <a:srgbClr val="383838"/>
                </a:solidFill>
                <a:ea typeface="DM Sans" pitchFamily="34" charset="-122"/>
                <a:cs typeface="DM Sans" pitchFamily="34" charset="-120"/>
              </a:rPr>
              <a:t>Inferential approach uses statistical measures such as </a:t>
            </a:r>
            <a:r>
              <a:rPr lang="en-US" sz="1800" b="1" dirty="0">
                <a:solidFill>
                  <a:srgbClr val="383838"/>
                </a:solidFill>
                <a:ea typeface="DM Sans" pitchFamily="34" charset="-122"/>
                <a:cs typeface="DM Sans" pitchFamily="34" charset="-120"/>
              </a:rPr>
              <a:t>p-values, confidence intervals, R², F-test</a:t>
            </a:r>
            <a:r>
              <a:rPr lang="en-US" sz="1800" dirty="0">
                <a:solidFill>
                  <a:srgbClr val="383838"/>
                </a:solidFill>
                <a:ea typeface="DM Sans" pitchFamily="34" charset="-122"/>
                <a:cs typeface="DM Sans" pitchFamily="34" charset="-120"/>
              </a:rPr>
              <a:t> to assess model quality.</a:t>
            </a:r>
            <a:endParaRPr lang="en-US" sz="1800" dirty="0"/>
          </a:p>
          <a:p>
            <a:pPr algn="l">
              <a:lnSpc>
                <a:spcPts val="3050"/>
              </a:lnSpc>
            </a:pPr>
            <a:r>
              <a:rPr lang="en-US" sz="1800" dirty="0">
                <a:solidFill>
                  <a:srgbClr val="383838"/>
                </a:solidFill>
                <a:ea typeface="DM Sans" pitchFamily="34" charset="-122"/>
                <a:cs typeface="DM Sans" pitchFamily="34" charset="-120"/>
              </a:rPr>
              <a:t>ML uses </a:t>
            </a:r>
            <a:r>
              <a:rPr lang="en-US" sz="1800" b="1" dirty="0">
                <a:solidFill>
                  <a:srgbClr val="383838"/>
                </a:solidFill>
                <a:ea typeface="DM Sans" pitchFamily="34" charset="-122"/>
                <a:cs typeface="DM Sans" pitchFamily="34" charset="-120"/>
              </a:rPr>
              <a:t>RMSE, MAE, MSE, cross-validation using train-test split</a:t>
            </a:r>
            <a:r>
              <a:rPr lang="en-US" sz="1800" dirty="0">
                <a:solidFill>
                  <a:srgbClr val="383838"/>
                </a:solidFill>
                <a:ea typeface="DM Sans" pitchFamily="34" charset="-122"/>
                <a:cs typeface="DM Sans" pitchFamily="34" charset="-120"/>
              </a:rPr>
              <a:t> to measure prediction accuracy.</a:t>
            </a:r>
            <a:endParaRPr lang="en-US" sz="1800" dirty="0"/>
          </a:p>
          <a:p>
            <a:pPr algn="l">
              <a:lnSpc>
                <a:spcPts val="3050"/>
              </a:lnSpc>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646908" y="2911005"/>
            <a:ext cx="5867400" cy="3327386"/>
          </a:xfrm>
        </p:spPr>
        <p:txBody>
          <a:bodyPr/>
          <a:lstStyle/>
          <a:p>
            <a:pPr marL="0" indent="0" algn="ctr">
              <a:lnSpc>
                <a:spcPts val="3050"/>
              </a:lnSpc>
              <a:buNone/>
            </a:pPr>
            <a:r>
              <a:rPr lang="en-US" sz="2400" dirty="0">
                <a:solidFill>
                  <a:srgbClr val="383838"/>
                </a:solidFill>
                <a:ea typeface="PT Serif" pitchFamily="34" charset="-122"/>
                <a:cs typeface="PT Serif" pitchFamily="34" charset="-120"/>
              </a:rPr>
              <a:t>4. Assumptions</a:t>
            </a:r>
            <a:endParaRPr lang="en-US" sz="2400" dirty="0"/>
          </a:p>
          <a:p>
            <a:pPr marL="0" indent="0" algn="l">
              <a:lnSpc>
                <a:spcPts val="3050"/>
              </a:lnSpc>
              <a:buNone/>
            </a:pPr>
            <a:endParaRPr lang="en-US" sz="2400" dirty="0">
              <a:solidFill>
                <a:srgbClr val="383838"/>
              </a:solidFill>
              <a:ea typeface="PT Serif" pitchFamily="34" charset="-122"/>
              <a:cs typeface="PT Serif" pitchFamily="34" charset="-120"/>
            </a:endParaRPr>
          </a:p>
          <a:p>
            <a:pPr marL="0" indent="0" algn="l">
              <a:lnSpc>
                <a:spcPts val="3050"/>
              </a:lnSpc>
              <a:buNone/>
            </a:pPr>
            <a:endParaRPr lang="en-US" sz="2400" dirty="0">
              <a:solidFill>
                <a:srgbClr val="383838"/>
              </a:solidFill>
              <a:ea typeface="PT Serif" pitchFamily="34" charset="-122"/>
              <a:cs typeface="PT Serif" pitchFamily="34" charset="-120"/>
            </a:endParaRPr>
          </a:p>
          <a:p>
            <a:pPr marL="0" indent="0" algn="l">
              <a:lnSpc>
                <a:spcPts val="2500"/>
              </a:lnSpc>
              <a:buNone/>
            </a:pPr>
            <a:r>
              <a:rPr lang="en-US" sz="1800" dirty="0">
                <a:solidFill>
                  <a:srgbClr val="383838"/>
                </a:solidFill>
                <a:ea typeface="DM Sans" pitchFamily="34" charset="-122"/>
                <a:cs typeface="DM Sans" pitchFamily="34" charset="-120"/>
              </a:rPr>
              <a:t>Inferential requires strong assumptions: </a:t>
            </a:r>
            <a:r>
              <a:rPr lang="en-US" sz="1800" b="1" dirty="0">
                <a:solidFill>
                  <a:srgbClr val="383838"/>
                </a:solidFill>
                <a:ea typeface="DM Sans" pitchFamily="34" charset="-122"/>
                <a:cs typeface="DM Sans" pitchFamily="34" charset="-120"/>
              </a:rPr>
              <a:t>normality of errors, homoscedasticity, independence, no multicollinearity</a:t>
            </a:r>
            <a:r>
              <a:rPr lang="en-US" sz="1800" dirty="0">
                <a:solidFill>
                  <a:srgbClr val="383838"/>
                </a:solidFill>
                <a:ea typeface="DM Sans" pitchFamily="34" charset="-122"/>
                <a:cs typeface="DM Sans" pitchFamily="34" charset="-120"/>
              </a:rPr>
              <a:t>.</a:t>
            </a:r>
            <a:endParaRPr lang="en-US" sz="1800" dirty="0"/>
          </a:p>
          <a:p>
            <a:pPr algn="l">
              <a:lnSpc>
                <a:spcPts val="3050"/>
              </a:lnSpc>
            </a:pPr>
            <a:r>
              <a:rPr lang="en-US" sz="1800" dirty="0">
                <a:solidFill>
                  <a:srgbClr val="383838"/>
                </a:solidFill>
                <a:ea typeface="DM Sans" pitchFamily="34" charset="-122"/>
                <a:cs typeface="DM Sans" pitchFamily="34" charset="-120"/>
              </a:rPr>
              <a:t>ML is </a:t>
            </a:r>
            <a:r>
              <a:rPr lang="en-US" sz="1800" b="1" dirty="0">
                <a:solidFill>
                  <a:srgbClr val="383838"/>
                </a:solidFill>
                <a:ea typeface="DM Sans" pitchFamily="34" charset="-122"/>
                <a:cs typeface="DM Sans" pitchFamily="34" charset="-120"/>
              </a:rPr>
              <a:t>less strict</a:t>
            </a:r>
            <a:r>
              <a:rPr lang="en-US" sz="1800" dirty="0">
                <a:solidFill>
                  <a:srgbClr val="383838"/>
                </a:solidFill>
                <a:ea typeface="DM Sans" pitchFamily="34" charset="-122"/>
                <a:cs typeface="DM Sans" pitchFamily="34" charset="-120"/>
              </a:rPr>
              <a:t> about assumptions and is mainly concerned with prediction performance.</a:t>
            </a:r>
            <a:endParaRPr lang="en-US" sz="1800" dirty="0"/>
          </a:p>
          <a:p>
            <a:pPr marL="0" indent="0" algn="l">
              <a:lnSpc>
                <a:spcPts val="3050"/>
              </a:lnSpc>
              <a:buNone/>
            </a:pPr>
            <a:endParaRPr lang="en-US" sz="2400" dirty="0"/>
          </a:p>
        </p:txBody>
      </p:sp>
    </p:spTree>
    <p:extLst>
      <p:ext uri="{BB962C8B-B14F-4D97-AF65-F5344CB8AC3E}">
        <p14:creationId xmlns:p14="http://schemas.microsoft.com/office/powerpoint/2010/main" val="3119560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744CC71D-44B1-21C2-7829-A1023B4325D7}"/>
              </a:ext>
            </a:extLst>
          </p:cNvPr>
          <p:cNvGrpSpPr/>
          <p:nvPr/>
        </p:nvGrpSpPr>
        <p:grpSpPr>
          <a:xfrm>
            <a:off x="7467600" y="2675274"/>
            <a:ext cx="6226016" cy="3954126"/>
            <a:chOff x="793788" y="4631308"/>
            <a:chExt cx="6437630" cy="2974340"/>
          </a:xfrm>
        </p:grpSpPr>
        <p:sp>
          <p:nvSpPr>
            <p:cNvPr id="15" name="object 15">
              <a:extLst>
                <a:ext uri="{FF2B5EF4-FFF2-40B4-BE49-F238E27FC236}">
                  <a16:creationId xmlns:a16="http://schemas.microsoft.com/office/drawing/2014/main" id="{ED0D2329-0C43-8165-70BF-4CFF2A2EB85C}"/>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6" name="object 14">
              <a:extLst>
                <a:ext uri="{FF2B5EF4-FFF2-40B4-BE49-F238E27FC236}">
                  <a16:creationId xmlns:a16="http://schemas.microsoft.com/office/drawing/2014/main" id="{DD39A8CE-3EDF-D67B-5789-868EBDAA3D1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10" name="object 13">
            <a:extLst>
              <a:ext uri="{FF2B5EF4-FFF2-40B4-BE49-F238E27FC236}">
                <a16:creationId xmlns:a16="http://schemas.microsoft.com/office/drawing/2014/main" id="{548B097B-E7C0-C8EC-D7B1-3805D4FEE784}"/>
              </a:ext>
            </a:extLst>
          </p:cNvPr>
          <p:cNvGrpSpPr/>
          <p:nvPr/>
        </p:nvGrpSpPr>
        <p:grpSpPr>
          <a:xfrm>
            <a:off x="762000" y="2653196"/>
            <a:ext cx="6226016" cy="3976203"/>
            <a:chOff x="793788" y="4631308"/>
            <a:chExt cx="6437630" cy="2974340"/>
          </a:xfrm>
        </p:grpSpPr>
        <p:sp>
          <p:nvSpPr>
            <p:cNvPr id="13" name="object 15">
              <a:extLst>
                <a:ext uri="{FF2B5EF4-FFF2-40B4-BE49-F238E27FC236}">
                  <a16:creationId xmlns:a16="http://schemas.microsoft.com/office/drawing/2014/main" id="{1A1DE235-BA2E-218A-DC61-34BE3C9EA9AB}"/>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2" name="object 14">
              <a:extLst>
                <a:ext uri="{FF2B5EF4-FFF2-40B4-BE49-F238E27FC236}">
                  <a16:creationId xmlns:a16="http://schemas.microsoft.com/office/drawing/2014/main" id="{BBFA9A5F-0820-F91E-F39D-692EB3F850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784384" y="761497"/>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Inferential vs ML Approach: Variable Selection and Interpretability</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990600" y="2861090"/>
            <a:ext cx="5867400" cy="3384453"/>
          </a:xfrm>
        </p:spPr>
        <p:txBody>
          <a:bodyPr/>
          <a:lstStyle/>
          <a:p>
            <a:pPr marL="0" indent="0" algn="ctr">
              <a:lnSpc>
                <a:spcPts val="3050"/>
              </a:lnSpc>
              <a:buNone/>
            </a:pPr>
            <a:r>
              <a:rPr lang="en-US" sz="2400" dirty="0">
                <a:solidFill>
                  <a:srgbClr val="020202"/>
                </a:solidFill>
                <a:ea typeface="PT Serif" pitchFamily="34" charset="-122"/>
                <a:cs typeface="PT Serif" pitchFamily="34" charset="-120"/>
              </a:rPr>
              <a:t>5. Variable Selection</a:t>
            </a:r>
            <a:endParaRPr lang="en-US" sz="2400" dirty="0"/>
          </a:p>
          <a:p>
            <a:pPr marL="457200" indent="-457200" algn="ctr">
              <a:lnSpc>
                <a:spcPts val="3050"/>
              </a:lnSpc>
              <a:buAutoNum type="arabicPeriod"/>
            </a:pPr>
            <a:endParaRPr lang="en-US" sz="1800" dirty="0">
              <a:solidFill>
                <a:srgbClr val="383838"/>
              </a:solidFill>
              <a:ea typeface="PT Serif" pitchFamily="34" charset="-122"/>
              <a:cs typeface="PT Serif" pitchFamily="34" charset="-120"/>
            </a:endParaRPr>
          </a:p>
          <a:p>
            <a:pPr marL="457200" indent="-457200" algn="l">
              <a:lnSpc>
                <a:spcPts val="3050"/>
              </a:lnSpc>
              <a:buAutoNum type="arabicPeriod"/>
            </a:pPr>
            <a:endParaRPr lang="en-US" sz="1800" dirty="0">
              <a:solidFill>
                <a:srgbClr val="383838"/>
              </a:solidFill>
              <a:ea typeface="PT Serif" pitchFamily="34" charset="-122"/>
              <a:cs typeface="PT Serif" pitchFamily="34" charset="-120"/>
            </a:endParaRPr>
          </a:p>
          <a:p>
            <a:pPr marL="0" indent="0" algn="l">
              <a:lnSpc>
                <a:spcPts val="2500"/>
              </a:lnSpc>
              <a:buNone/>
            </a:pPr>
            <a:r>
              <a:rPr lang="en-US" sz="1800" dirty="0">
                <a:solidFill>
                  <a:srgbClr val="383838"/>
                </a:solidFill>
                <a:ea typeface="DM Sans" pitchFamily="34" charset="-122"/>
                <a:cs typeface="DM Sans" pitchFamily="34" charset="-120"/>
              </a:rPr>
              <a:t>In inferential approach, variables are chosen based on </a:t>
            </a:r>
            <a:r>
              <a:rPr lang="en-US" sz="1800" b="1" dirty="0">
                <a:solidFill>
                  <a:srgbClr val="383838"/>
                </a:solidFill>
                <a:ea typeface="DM Sans" pitchFamily="34" charset="-122"/>
                <a:cs typeface="DM Sans" pitchFamily="34" charset="-120"/>
              </a:rPr>
              <a:t>theory, significance, and p-values</a:t>
            </a:r>
            <a:r>
              <a:rPr lang="en-US" sz="1800" dirty="0">
                <a:solidFill>
                  <a:srgbClr val="383838"/>
                </a:solidFill>
                <a:ea typeface="DM Sans" pitchFamily="34" charset="-122"/>
                <a:cs typeface="DM Sans" pitchFamily="34" charset="-120"/>
              </a:rPr>
              <a:t>.</a:t>
            </a:r>
            <a:endParaRPr lang="en-US" sz="1800" dirty="0"/>
          </a:p>
          <a:p>
            <a:pPr algn="l">
              <a:lnSpc>
                <a:spcPts val="3050"/>
              </a:lnSpc>
            </a:pPr>
            <a:r>
              <a:rPr lang="en-US" sz="1800" dirty="0">
                <a:solidFill>
                  <a:srgbClr val="383838"/>
                </a:solidFill>
                <a:ea typeface="DM Sans" pitchFamily="34" charset="-122"/>
                <a:cs typeface="DM Sans" pitchFamily="34" charset="-120"/>
              </a:rPr>
              <a:t>In ML, variables are chosen based on </a:t>
            </a:r>
            <a:r>
              <a:rPr lang="en-US" sz="1800" b="1" dirty="0">
                <a:solidFill>
                  <a:srgbClr val="383838"/>
                </a:solidFill>
                <a:ea typeface="DM Sans" pitchFamily="34" charset="-122"/>
                <a:cs typeface="DM Sans" pitchFamily="34" charset="-120"/>
              </a:rPr>
              <a:t>predictive power</a:t>
            </a:r>
            <a:r>
              <a:rPr lang="en-US" sz="1800" dirty="0">
                <a:solidFill>
                  <a:srgbClr val="383838"/>
                </a:solidFill>
                <a:ea typeface="DM Sans" pitchFamily="34" charset="-122"/>
                <a:cs typeface="DM Sans" pitchFamily="34" charset="-120"/>
              </a:rPr>
              <a:t>, often using techniques like </a:t>
            </a:r>
            <a:r>
              <a:rPr lang="en-US" sz="1800" b="1" dirty="0">
                <a:solidFill>
                  <a:srgbClr val="383838"/>
                </a:solidFill>
                <a:ea typeface="DM Sans" pitchFamily="34" charset="-122"/>
                <a:cs typeface="DM Sans" pitchFamily="34" charset="-120"/>
              </a:rPr>
              <a:t>Lasso, Ridge, feature importance, and automated selection</a:t>
            </a:r>
            <a:r>
              <a:rPr lang="en-US" sz="1800" dirty="0">
                <a:solidFill>
                  <a:srgbClr val="383838"/>
                </a:solidFill>
                <a:ea typeface="DM Sans" pitchFamily="34" charset="-122"/>
                <a:cs typeface="DM Sans" pitchFamily="34" charset="-120"/>
              </a:rPr>
              <a:t>.</a:t>
            </a:r>
            <a:endParaRPr lang="en-US" sz="1800" dirty="0"/>
          </a:p>
          <a:p>
            <a:pPr algn="l">
              <a:lnSpc>
                <a:spcPts val="3050"/>
              </a:lnSpc>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646908" y="2911005"/>
            <a:ext cx="5867400" cy="3006785"/>
          </a:xfrm>
        </p:spPr>
        <p:txBody>
          <a:bodyPr/>
          <a:lstStyle/>
          <a:p>
            <a:pPr marL="0" indent="0" algn="ctr">
              <a:lnSpc>
                <a:spcPts val="3050"/>
              </a:lnSpc>
              <a:buNone/>
            </a:pPr>
            <a:r>
              <a:rPr lang="en-US" sz="2400" dirty="0">
                <a:solidFill>
                  <a:srgbClr val="020202"/>
                </a:solidFill>
                <a:ea typeface="PT Serif" pitchFamily="34" charset="-122"/>
                <a:cs typeface="PT Serif" pitchFamily="34" charset="-120"/>
              </a:rPr>
              <a:t>6. Interpretability</a:t>
            </a:r>
            <a:endParaRPr lang="en-US" sz="2400" dirty="0"/>
          </a:p>
          <a:p>
            <a:pPr marL="0" indent="0" algn="l">
              <a:lnSpc>
                <a:spcPts val="3050"/>
              </a:lnSpc>
              <a:buNone/>
            </a:pPr>
            <a:endParaRPr lang="en-US" sz="2400" dirty="0">
              <a:solidFill>
                <a:srgbClr val="383838"/>
              </a:solidFill>
              <a:ea typeface="PT Serif" pitchFamily="34" charset="-122"/>
              <a:cs typeface="PT Serif" pitchFamily="34" charset="-120"/>
            </a:endParaRPr>
          </a:p>
          <a:p>
            <a:pPr marL="0" indent="0" algn="l">
              <a:lnSpc>
                <a:spcPts val="3050"/>
              </a:lnSpc>
              <a:buNone/>
            </a:pPr>
            <a:endParaRPr lang="en-US" sz="2400" dirty="0">
              <a:solidFill>
                <a:srgbClr val="383838"/>
              </a:solidFill>
              <a:ea typeface="PT Serif" pitchFamily="34" charset="-122"/>
              <a:cs typeface="PT Serif" pitchFamily="34" charset="-120"/>
            </a:endParaRPr>
          </a:p>
          <a:p>
            <a:pPr marL="0" indent="0" algn="l">
              <a:lnSpc>
                <a:spcPts val="2500"/>
              </a:lnSpc>
              <a:buNone/>
            </a:pPr>
            <a:r>
              <a:rPr lang="en-US" sz="1800" dirty="0">
                <a:solidFill>
                  <a:srgbClr val="383838"/>
                </a:solidFill>
                <a:ea typeface="DM Sans" pitchFamily="34" charset="-122"/>
                <a:cs typeface="DM Sans" pitchFamily="34" charset="-120"/>
              </a:rPr>
              <a:t>Inferential models are </a:t>
            </a:r>
            <a:r>
              <a:rPr lang="en-US" sz="1800" b="1" dirty="0">
                <a:solidFill>
                  <a:srgbClr val="383838"/>
                </a:solidFill>
                <a:ea typeface="DM Sans" pitchFamily="34" charset="-122"/>
                <a:cs typeface="DM Sans" pitchFamily="34" charset="-120"/>
              </a:rPr>
              <a:t>highly interpretable</a:t>
            </a:r>
            <a:r>
              <a:rPr lang="en-US" sz="1800" dirty="0">
                <a:solidFill>
                  <a:srgbClr val="383838"/>
                </a:solidFill>
                <a:ea typeface="DM Sans" pitchFamily="34" charset="-122"/>
                <a:cs typeface="DM Sans" pitchFamily="34" charset="-120"/>
              </a:rPr>
              <a:t>, with clear meaning for coefficients.</a:t>
            </a:r>
            <a:endParaRPr lang="en-US" sz="1800" dirty="0"/>
          </a:p>
          <a:p>
            <a:pPr algn="l">
              <a:lnSpc>
                <a:spcPts val="3050"/>
              </a:lnSpc>
            </a:pPr>
            <a:r>
              <a:rPr lang="en-US" sz="1800" dirty="0">
                <a:solidFill>
                  <a:srgbClr val="383838"/>
                </a:solidFill>
                <a:ea typeface="DM Sans" pitchFamily="34" charset="-122"/>
                <a:cs typeface="DM Sans" pitchFamily="34" charset="-120"/>
              </a:rPr>
              <a:t>ML models are </a:t>
            </a:r>
            <a:r>
              <a:rPr lang="en-US" sz="1800" b="1" dirty="0">
                <a:solidFill>
                  <a:srgbClr val="383838"/>
                </a:solidFill>
                <a:ea typeface="DM Sans" pitchFamily="34" charset="-122"/>
                <a:cs typeface="DM Sans" pitchFamily="34" charset="-120"/>
              </a:rPr>
              <a:t>less interpretable</a:t>
            </a:r>
            <a:r>
              <a:rPr lang="en-US" sz="1800" dirty="0">
                <a:solidFill>
                  <a:srgbClr val="383838"/>
                </a:solidFill>
                <a:ea typeface="DM Sans" pitchFamily="34" charset="-122"/>
                <a:cs typeface="DM Sans" pitchFamily="34" charset="-120"/>
              </a:rPr>
              <a:t>, coefficients may not be meaningful; emphasis is on prediction quality.</a:t>
            </a:r>
            <a:endParaRPr lang="en-US" sz="1800" dirty="0"/>
          </a:p>
          <a:p>
            <a:pPr marL="0" indent="0" algn="l">
              <a:lnSpc>
                <a:spcPts val="3050"/>
              </a:lnSpc>
              <a:buNone/>
            </a:pPr>
            <a:endParaRPr lang="en-US" sz="2400" dirty="0"/>
          </a:p>
        </p:txBody>
      </p:sp>
    </p:spTree>
    <p:extLst>
      <p:ext uri="{BB962C8B-B14F-4D97-AF65-F5344CB8AC3E}">
        <p14:creationId xmlns:p14="http://schemas.microsoft.com/office/powerpoint/2010/main" val="2051033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744CC71D-44B1-21C2-7829-A1023B4325D7}"/>
              </a:ext>
            </a:extLst>
          </p:cNvPr>
          <p:cNvGrpSpPr/>
          <p:nvPr/>
        </p:nvGrpSpPr>
        <p:grpSpPr>
          <a:xfrm>
            <a:off x="7467600" y="2675274"/>
            <a:ext cx="6226016" cy="3954126"/>
            <a:chOff x="793788" y="4631308"/>
            <a:chExt cx="6437630" cy="2974340"/>
          </a:xfrm>
        </p:grpSpPr>
        <p:sp>
          <p:nvSpPr>
            <p:cNvPr id="15" name="object 15">
              <a:extLst>
                <a:ext uri="{FF2B5EF4-FFF2-40B4-BE49-F238E27FC236}">
                  <a16:creationId xmlns:a16="http://schemas.microsoft.com/office/drawing/2014/main" id="{ED0D2329-0C43-8165-70BF-4CFF2A2EB85C}"/>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6" name="object 14">
              <a:extLst>
                <a:ext uri="{FF2B5EF4-FFF2-40B4-BE49-F238E27FC236}">
                  <a16:creationId xmlns:a16="http://schemas.microsoft.com/office/drawing/2014/main" id="{DD39A8CE-3EDF-D67B-5789-868EBDAA3D1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10" name="object 13">
            <a:extLst>
              <a:ext uri="{FF2B5EF4-FFF2-40B4-BE49-F238E27FC236}">
                <a16:creationId xmlns:a16="http://schemas.microsoft.com/office/drawing/2014/main" id="{548B097B-E7C0-C8EC-D7B1-3805D4FEE784}"/>
              </a:ext>
            </a:extLst>
          </p:cNvPr>
          <p:cNvGrpSpPr/>
          <p:nvPr/>
        </p:nvGrpSpPr>
        <p:grpSpPr>
          <a:xfrm>
            <a:off x="762000" y="2653196"/>
            <a:ext cx="6226016" cy="3976203"/>
            <a:chOff x="793788" y="4631308"/>
            <a:chExt cx="6437630" cy="2974340"/>
          </a:xfrm>
        </p:grpSpPr>
        <p:sp>
          <p:nvSpPr>
            <p:cNvPr id="13" name="object 15">
              <a:extLst>
                <a:ext uri="{FF2B5EF4-FFF2-40B4-BE49-F238E27FC236}">
                  <a16:creationId xmlns:a16="http://schemas.microsoft.com/office/drawing/2014/main" id="{1A1DE235-BA2E-218A-DC61-34BE3C9EA9AB}"/>
                </a:ext>
              </a:extLst>
            </p:cNvPr>
            <p:cNvSpPr/>
            <p:nvPr/>
          </p:nvSpPr>
          <p:spPr>
            <a:xfrm>
              <a:off x="816648" y="4654168"/>
              <a:ext cx="6391910" cy="496907"/>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12" name="object 14">
              <a:extLst>
                <a:ext uri="{FF2B5EF4-FFF2-40B4-BE49-F238E27FC236}">
                  <a16:creationId xmlns:a16="http://schemas.microsoft.com/office/drawing/2014/main" id="{BBFA9A5F-0820-F91E-F39D-692EB3F850C6}"/>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784384" y="761497"/>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Inferential vs ML Approach: Overfitting and Data Requirements</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990600" y="2861090"/>
            <a:ext cx="5867400" cy="2986908"/>
          </a:xfrm>
        </p:spPr>
        <p:txBody>
          <a:bodyPr/>
          <a:lstStyle/>
          <a:p>
            <a:pPr marL="0" indent="0" algn="ctr">
              <a:lnSpc>
                <a:spcPts val="3050"/>
              </a:lnSpc>
              <a:buNone/>
            </a:pPr>
            <a:r>
              <a:rPr lang="en-US" sz="2400" dirty="0">
                <a:solidFill>
                  <a:srgbClr val="383838"/>
                </a:solidFill>
                <a:ea typeface="PT Serif" pitchFamily="34" charset="-122"/>
                <a:cs typeface="PT Serif" pitchFamily="34" charset="-120"/>
              </a:rPr>
              <a:t>7. Overfitting Control</a:t>
            </a:r>
            <a:endParaRPr lang="en-US" sz="2400" dirty="0"/>
          </a:p>
          <a:p>
            <a:pPr marL="457200" indent="-457200" algn="ctr">
              <a:lnSpc>
                <a:spcPts val="3050"/>
              </a:lnSpc>
              <a:buAutoNum type="arabicPeriod"/>
            </a:pPr>
            <a:endParaRPr lang="en-US" sz="1800" dirty="0">
              <a:solidFill>
                <a:srgbClr val="383838"/>
              </a:solidFill>
              <a:ea typeface="PT Serif" pitchFamily="34" charset="-122"/>
              <a:cs typeface="PT Serif" pitchFamily="34" charset="-120"/>
            </a:endParaRPr>
          </a:p>
          <a:p>
            <a:pPr marL="457200" indent="-457200" algn="l">
              <a:lnSpc>
                <a:spcPts val="3050"/>
              </a:lnSpc>
              <a:buAutoNum type="arabicPeriod"/>
            </a:pPr>
            <a:endParaRPr lang="en-US" sz="1800" dirty="0">
              <a:solidFill>
                <a:srgbClr val="383838"/>
              </a:solidFill>
              <a:ea typeface="PT Serif" pitchFamily="34" charset="-122"/>
              <a:cs typeface="PT Serif" pitchFamily="34" charset="-120"/>
            </a:endParaRPr>
          </a:p>
          <a:p>
            <a:pPr marL="0" indent="0" algn="l">
              <a:lnSpc>
                <a:spcPts val="2500"/>
              </a:lnSpc>
              <a:buNone/>
            </a:pPr>
            <a:r>
              <a:rPr lang="en-US" sz="1800" dirty="0">
                <a:solidFill>
                  <a:srgbClr val="383838"/>
                </a:solidFill>
                <a:ea typeface="DM Sans" pitchFamily="34" charset="-122"/>
                <a:cs typeface="DM Sans" pitchFamily="34" charset="-120"/>
              </a:rPr>
              <a:t>Inferential models control overfitting using </a:t>
            </a:r>
            <a:r>
              <a:rPr lang="en-US" sz="1800" b="1" dirty="0">
                <a:solidFill>
                  <a:srgbClr val="383838"/>
                </a:solidFill>
                <a:ea typeface="DM Sans" pitchFamily="34" charset="-122"/>
                <a:cs typeface="DM Sans" pitchFamily="34" charset="-120"/>
              </a:rPr>
              <a:t>model simplicity and parsimony</a:t>
            </a:r>
            <a:r>
              <a:rPr lang="en-US" sz="1800" dirty="0">
                <a:solidFill>
                  <a:srgbClr val="383838"/>
                </a:solidFill>
                <a:ea typeface="DM Sans" pitchFamily="34" charset="-122"/>
                <a:cs typeface="DM Sans" pitchFamily="34" charset="-120"/>
              </a:rPr>
              <a:t>.</a:t>
            </a:r>
            <a:endParaRPr lang="en-US" sz="1800" dirty="0"/>
          </a:p>
          <a:p>
            <a:pPr algn="l">
              <a:lnSpc>
                <a:spcPts val="3050"/>
              </a:lnSpc>
            </a:pPr>
            <a:r>
              <a:rPr lang="en-US" sz="1800" dirty="0">
                <a:solidFill>
                  <a:srgbClr val="383838"/>
                </a:solidFill>
                <a:ea typeface="DM Sans" pitchFamily="34" charset="-122"/>
                <a:cs typeface="DM Sans" pitchFamily="34" charset="-120"/>
              </a:rPr>
              <a:t>ML uses </a:t>
            </a:r>
            <a:r>
              <a:rPr lang="en-US" sz="1800" b="1" dirty="0">
                <a:solidFill>
                  <a:srgbClr val="383838"/>
                </a:solidFill>
                <a:ea typeface="DM Sans" pitchFamily="34" charset="-122"/>
                <a:cs typeface="DM Sans" pitchFamily="34" charset="-120"/>
              </a:rPr>
              <a:t>regularization, cross-validation, and early stopping</a:t>
            </a:r>
            <a:r>
              <a:rPr lang="en-US" sz="1800" dirty="0">
                <a:solidFill>
                  <a:srgbClr val="383838"/>
                </a:solidFill>
                <a:ea typeface="DM Sans" pitchFamily="34" charset="-122"/>
                <a:cs typeface="DM Sans" pitchFamily="34" charset="-120"/>
              </a:rPr>
              <a:t>.</a:t>
            </a:r>
            <a:endParaRPr lang="en-US" sz="1800" dirty="0"/>
          </a:p>
          <a:p>
            <a:pPr algn="l">
              <a:lnSpc>
                <a:spcPts val="3050"/>
              </a:lnSpc>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646908" y="2911005"/>
            <a:ext cx="5867400" cy="2609240"/>
          </a:xfrm>
        </p:spPr>
        <p:txBody>
          <a:bodyPr/>
          <a:lstStyle/>
          <a:p>
            <a:pPr marL="0" indent="0" algn="ctr">
              <a:lnSpc>
                <a:spcPts val="3050"/>
              </a:lnSpc>
              <a:buNone/>
            </a:pPr>
            <a:r>
              <a:rPr lang="en-US" sz="2400" dirty="0">
                <a:solidFill>
                  <a:srgbClr val="383838"/>
                </a:solidFill>
                <a:ea typeface="PT Serif" pitchFamily="34" charset="-122"/>
                <a:cs typeface="PT Serif" pitchFamily="34" charset="-120"/>
              </a:rPr>
              <a:t>8. Data Requirements</a:t>
            </a:r>
            <a:endParaRPr lang="en-US" sz="2400" dirty="0"/>
          </a:p>
          <a:p>
            <a:pPr marL="0" indent="0" algn="l">
              <a:lnSpc>
                <a:spcPts val="3050"/>
              </a:lnSpc>
              <a:buNone/>
            </a:pPr>
            <a:endParaRPr lang="en-US" sz="2400" dirty="0">
              <a:solidFill>
                <a:srgbClr val="383838"/>
              </a:solidFill>
              <a:ea typeface="PT Serif" pitchFamily="34" charset="-122"/>
              <a:cs typeface="PT Serif" pitchFamily="34" charset="-120"/>
            </a:endParaRPr>
          </a:p>
          <a:p>
            <a:pPr marL="0" indent="0" algn="l">
              <a:lnSpc>
                <a:spcPts val="3050"/>
              </a:lnSpc>
              <a:buNone/>
            </a:pPr>
            <a:endParaRPr lang="en-US" sz="2400" dirty="0">
              <a:solidFill>
                <a:srgbClr val="383838"/>
              </a:solidFill>
              <a:ea typeface="PT Serif" pitchFamily="34" charset="-122"/>
              <a:cs typeface="PT Serif" pitchFamily="34" charset="-120"/>
            </a:endParaRPr>
          </a:p>
          <a:p>
            <a:pPr marL="0" indent="0" algn="l">
              <a:lnSpc>
                <a:spcPts val="2500"/>
              </a:lnSpc>
              <a:buNone/>
            </a:pPr>
            <a:r>
              <a:rPr lang="en-US" sz="1800" dirty="0">
                <a:solidFill>
                  <a:srgbClr val="383838"/>
                </a:solidFill>
                <a:ea typeface="DM Sans" pitchFamily="34" charset="-122"/>
                <a:cs typeface="DM Sans" pitchFamily="34" charset="-120"/>
              </a:rPr>
              <a:t>Inferential works with </a:t>
            </a:r>
            <a:r>
              <a:rPr lang="en-US" sz="1800" b="1" dirty="0">
                <a:solidFill>
                  <a:srgbClr val="383838"/>
                </a:solidFill>
                <a:ea typeface="DM Sans" pitchFamily="34" charset="-122"/>
                <a:cs typeface="DM Sans" pitchFamily="34" charset="-120"/>
              </a:rPr>
              <a:t>smaller datasets</a:t>
            </a:r>
            <a:r>
              <a:rPr lang="en-US" sz="1800" dirty="0">
                <a:solidFill>
                  <a:srgbClr val="383838"/>
                </a:solidFill>
                <a:ea typeface="DM Sans" pitchFamily="34" charset="-122"/>
                <a:cs typeface="DM Sans" pitchFamily="34" charset="-120"/>
              </a:rPr>
              <a:t> where theoretical understanding matters.</a:t>
            </a:r>
            <a:endParaRPr lang="en-US" sz="1800" dirty="0"/>
          </a:p>
          <a:p>
            <a:pPr algn="l">
              <a:lnSpc>
                <a:spcPts val="3050"/>
              </a:lnSpc>
            </a:pPr>
            <a:r>
              <a:rPr lang="en-US" sz="1800" dirty="0">
                <a:solidFill>
                  <a:srgbClr val="383838"/>
                </a:solidFill>
                <a:ea typeface="DM Sans" pitchFamily="34" charset="-122"/>
                <a:cs typeface="DM Sans" pitchFamily="34" charset="-120"/>
              </a:rPr>
              <a:t>ML generally performs best with </a:t>
            </a:r>
            <a:r>
              <a:rPr lang="en-US" sz="1800" b="1" dirty="0">
                <a:solidFill>
                  <a:srgbClr val="383838"/>
                </a:solidFill>
                <a:ea typeface="DM Sans" pitchFamily="34" charset="-122"/>
                <a:cs typeface="DM Sans" pitchFamily="34" charset="-120"/>
              </a:rPr>
              <a:t>large datasets</a:t>
            </a:r>
            <a:r>
              <a:rPr lang="en-US" sz="1800" dirty="0">
                <a:solidFill>
                  <a:srgbClr val="383838"/>
                </a:solidFill>
                <a:ea typeface="DM Sans" pitchFamily="34" charset="-122"/>
                <a:cs typeface="DM Sans" pitchFamily="34" charset="-120"/>
              </a:rPr>
              <a:t>.</a:t>
            </a:r>
            <a:endParaRPr lang="en-US" sz="1800" dirty="0"/>
          </a:p>
          <a:p>
            <a:pPr marL="0" indent="0" algn="l">
              <a:lnSpc>
                <a:spcPts val="3050"/>
              </a:lnSpc>
              <a:buNone/>
            </a:pPr>
            <a:endParaRPr lang="en-US" sz="2400" dirty="0"/>
          </a:p>
        </p:txBody>
      </p:sp>
    </p:spTree>
    <p:extLst>
      <p:ext uri="{BB962C8B-B14F-4D97-AF65-F5344CB8AC3E}">
        <p14:creationId xmlns:p14="http://schemas.microsoft.com/office/powerpoint/2010/main" val="3872004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984AD-D0B8-56BB-6143-0F98B8BF9FDC}"/>
              </a:ext>
            </a:extLst>
          </p:cNvPr>
          <p:cNvSpPr>
            <a:spLocks noGrp="1"/>
          </p:cNvSpPr>
          <p:nvPr>
            <p:ph type="title"/>
          </p:nvPr>
        </p:nvSpPr>
        <p:spPr>
          <a:xfrm>
            <a:off x="685800" y="231215"/>
            <a:ext cx="13656055" cy="569387"/>
          </a:xfrm>
        </p:spPr>
        <p:txBody>
          <a:bodyPr/>
          <a:lstStyle/>
          <a:p>
            <a:r>
              <a:rPr lang="en-US" sz="3600" dirty="0">
                <a:solidFill>
                  <a:schemeClr val="tx1"/>
                </a:solidFill>
              </a:rPr>
              <a:t>Cross Validation in Multiple Linear Regression</a:t>
            </a:r>
            <a:endParaRPr lang="en-IN" dirty="0">
              <a:solidFill>
                <a:schemeClr val="tx1"/>
              </a:solidFill>
            </a:endParaRPr>
          </a:p>
        </p:txBody>
      </p:sp>
      <p:sp>
        <p:nvSpPr>
          <p:cNvPr id="6" name="Rectangle 5">
            <a:extLst>
              <a:ext uri="{FF2B5EF4-FFF2-40B4-BE49-F238E27FC236}">
                <a16:creationId xmlns:a16="http://schemas.microsoft.com/office/drawing/2014/main" id="{CB5287FF-3C39-4B9E-CA97-E6AAC388D9B4}"/>
              </a:ext>
            </a:extLst>
          </p:cNvPr>
          <p:cNvSpPr/>
          <p:nvPr/>
        </p:nvSpPr>
        <p:spPr>
          <a:xfrm>
            <a:off x="4343400" y="1295400"/>
            <a:ext cx="4800600" cy="1524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a:extLst>
              <a:ext uri="{FF2B5EF4-FFF2-40B4-BE49-F238E27FC236}">
                <a16:creationId xmlns:a16="http://schemas.microsoft.com/office/drawing/2014/main" id="{9586898F-12FC-A2A2-1DFC-CFD7342DD5D3}"/>
              </a:ext>
            </a:extLst>
          </p:cNvPr>
          <p:cNvSpPr>
            <a:spLocks noGrp="1"/>
          </p:cNvSpPr>
          <p:nvPr>
            <p:ph type="body" idx="1"/>
          </p:nvPr>
        </p:nvSpPr>
        <p:spPr>
          <a:xfrm>
            <a:off x="3124200" y="1296838"/>
            <a:ext cx="7381240" cy="1523494"/>
          </a:xfrm>
        </p:spPr>
        <p:txBody>
          <a:bodyPr/>
          <a:lstStyle/>
          <a:p>
            <a:pPr lvl="0" algn="ctr">
              <a:lnSpc>
                <a:spcPct val="150000"/>
              </a:lnSpc>
              <a:defRPr/>
            </a:pPr>
            <a:r>
              <a:rPr lang="en-US" sz="1800" dirty="0">
                <a:solidFill>
                  <a:schemeClr val="tx1">
                    <a:lumMod val="75000"/>
                    <a:lumOff val="25000"/>
                  </a:schemeClr>
                </a:solidFill>
              </a:rPr>
              <a:t>Cross Validation is a </a:t>
            </a:r>
          </a:p>
          <a:p>
            <a:pPr lvl="0" algn="ctr">
              <a:lnSpc>
                <a:spcPct val="150000"/>
              </a:lnSpc>
              <a:defRPr/>
            </a:pPr>
            <a:r>
              <a:rPr lang="en-US" sz="1800" b="1" dirty="0">
                <a:solidFill>
                  <a:schemeClr val="tx1">
                    <a:lumMod val="75000"/>
                    <a:lumOff val="25000"/>
                  </a:schemeClr>
                </a:solidFill>
              </a:rPr>
              <a:t>process of evaluating the model on </a:t>
            </a:r>
          </a:p>
          <a:p>
            <a:pPr lvl="0" algn="ctr">
              <a:lnSpc>
                <a:spcPct val="150000"/>
              </a:lnSpc>
              <a:defRPr/>
            </a:pPr>
            <a:r>
              <a:rPr lang="en-US" sz="1800" b="1" dirty="0">
                <a:solidFill>
                  <a:schemeClr val="tx1">
                    <a:lumMod val="75000"/>
                    <a:lumOff val="25000"/>
                  </a:schemeClr>
                </a:solidFill>
              </a:rPr>
              <a:t>‘Out of Sample’ data</a:t>
            </a:r>
          </a:p>
          <a:p>
            <a:endParaRPr lang="en-IN" sz="1800" dirty="0"/>
          </a:p>
        </p:txBody>
      </p:sp>
      <p:sp>
        <p:nvSpPr>
          <p:cNvPr id="5" name="TextBox 4">
            <a:extLst>
              <a:ext uri="{FF2B5EF4-FFF2-40B4-BE49-F238E27FC236}">
                <a16:creationId xmlns:a16="http://schemas.microsoft.com/office/drawing/2014/main" id="{C9A35C9B-DD3D-EBFC-9D6F-71756931686B}"/>
              </a:ext>
            </a:extLst>
          </p:cNvPr>
          <p:cNvSpPr txBox="1"/>
          <p:nvPr/>
        </p:nvSpPr>
        <p:spPr>
          <a:xfrm>
            <a:off x="974345" y="3307635"/>
            <a:ext cx="12513055" cy="3786999"/>
          </a:xfrm>
          <a:prstGeom prst="rect">
            <a:avLst/>
          </a:prstGeom>
          <a:noFill/>
        </p:spPr>
        <p:txBody>
          <a:bodyPr wrap="square">
            <a:spAutoFit/>
          </a:bodyPr>
          <a:lstStyle/>
          <a:p>
            <a:pPr marL="342900" indent="-342900">
              <a:lnSpc>
                <a:spcPct val="150000"/>
              </a:lnSpc>
              <a:buFont typeface="Arial" pitchFamily="34" charset="0"/>
              <a:buChar char="•"/>
              <a:defRPr/>
            </a:pPr>
            <a:r>
              <a:rPr lang="en-US" sz="1800" dirty="0">
                <a:solidFill>
                  <a:schemeClr val="tx1">
                    <a:lumMod val="75000"/>
                    <a:lumOff val="25000"/>
                  </a:schemeClr>
                </a:solidFill>
                <a:latin typeface="PT Serif" panose="020A0603040505020204" pitchFamily="18" charset="0"/>
              </a:rPr>
              <a:t>Model performance measures such as R-squared or Root Mean Squared Error (RMSE) tend to be optimistic on 'In Sample Data‘</a:t>
            </a:r>
          </a:p>
          <a:p>
            <a:pPr marL="342900" indent="-342900">
              <a:lnSpc>
                <a:spcPct val="150000"/>
              </a:lnSpc>
              <a:defRPr/>
            </a:pPr>
            <a:endParaRPr lang="en-US" sz="1800" dirty="0">
              <a:solidFill>
                <a:schemeClr val="tx1">
                  <a:lumMod val="75000"/>
                  <a:lumOff val="25000"/>
                </a:schemeClr>
              </a:solidFill>
              <a:latin typeface="PT Serif" panose="020A0603040505020204" pitchFamily="18" charset="0"/>
            </a:endParaRPr>
          </a:p>
          <a:p>
            <a:pPr marL="342900" indent="-342900">
              <a:lnSpc>
                <a:spcPct val="150000"/>
              </a:lnSpc>
              <a:buFont typeface="Arial" pitchFamily="34" charset="0"/>
              <a:buChar char="•"/>
              <a:defRPr/>
            </a:pPr>
            <a:r>
              <a:rPr lang="en-IN" sz="1800" dirty="0">
                <a:solidFill>
                  <a:schemeClr val="tx1">
                    <a:lumMod val="75000"/>
                    <a:lumOff val="25000"/>
                  </a:schemeClr>
                </a:solidFill>
                <a:latin typeface="PT Serif" panose="020A0603040505020204" pitchFamily="18" charset="0"/>
              </a:rPr>
              <a:t>Model performance on “Out of sample” data gives more realistic picture of model performance. </a:t>
            </a:r>
          </a:p>
          <a:p>
            <a:pPr marL="342900" indent="-342900">
              <a:lnSpc>
                <a:spcPct val="150000"/>
              </a:lnSpc>
              <a:buFont typeface="Arial" pitchFamily="34" charset="0"/>
              <a:buChar char="•"/>
              <a:defRPr/>
            </a:pPr>
            <a:endParaRPr lang="en-IN" dirty="0">
              <a:solidFill>
                <a:schemeClr val="tx1">
                  <a:lumMod val="75000"/>
                  <a:lumOff val="25000"/>
                </a:schemeClr>
              </a:solidFill>
              <a:latin typeface="PT Serif" panose="020A0603040505020204" pitchFamily="18" charset="0"/>
            </a:endParaRPr>
          </a:p>
          <a:p>
            <a:pPr>
              <a:lnSpc>
                <a:spcPct val="150000"/>
              </a:lnSpc>
              <a:defRPr/>
            </a:pPr>
            <a:endParaRPr lang="en-IN" dirty="0">
              <a:solidFill>
                <a:schemeClr val="tx1">
                  <a:lumMod val="75000"/>
                  <a:lumOff val="25000"/>
                </a:schemeClr>
              </a:solidFill>
              <a:latin typeface="PT Serif" panose="020A0603040505020204" pitchFamily="18" charset="0"/>
            </a:endParaRPr>
          </a:p>
          <a:p>
            <a:pPr algn="l">
              <a:lnSpc>
                <a:spcPct val="150000"/>
              </a:lnSpc>
              <a:defRPr/>
            </a:pPr>
            <a:r>
              <a:rPr lang="en-US" sz="1800" dirty="0">
                <a:solidFill>
                  <a:schemeClr val="tx1">
                    <a:lumMod val="75000"/>
                    <a:lumOff val="25000"/>
                  </a:schemeClr>
                </a:solidFill>
                <a:latin typeface="PT Serif" panose="020A0603040505020204" pitchFamily="18" charset="0"/>
              </a:rPr>
              <a:t>    Cross validation is important because although a model is built on historical data, ultimately it is to be used on future</a:t>
            </a:r>
          </a:p>
          <a:p>
            <a:pPr algn="l">
              <a:lnSpc>
                <a:spcPct val="150000"/>
              </a:lnSpc>
              <a:defRPr/>
            </a:pPr>
            <a:r>
              <a:rPr lang="en-US" dirty="0">
                <a:solidFill>
                  <a:schemeClr val="tx1">
                    <a:lumMod val="75000"/>
                    <a:lumOff val="25000"/>
                  </a:schemeClr>
                </a:solidFill>
                <a:latin typeface="PT Serif" panose="020A0603040505020204" pitchFamily="18" charset="0"/>
              </a:rPr>
              <a:t> </a:t>
            </a:r>
            <a:r>
              <a:rPr lang="en-US" sz="1800" dirty="0">
                <a:solidFill>
                  <a:schemeClr val="tx1">
                    <a:lumMod val="75000"/>
                    <a:lumOff val="25000"/>
                  </a:schemeClr>
                </a:solidFill>
                <a:latin typeface="PT Serif" panose="020A0603040505020204" pitchFamily="18" charset="0"/>
              </a:rPr>
              <a:t>   data. However good the model, if it fails on out of sample data then it defeats the purpose of predictive modeling.</a:t>
            </a:r>
          </a:p>
          <a:p>
            <a:pPr marL="342900" indent="-342900">
              <a:lnSpc>
                <a:spcPct val="150000"/>
              </a:lnSpc>
              <a:buFont typeface="Arial" pitchFamily="34" charset="0"/>
              <a:buChar char="•"/>
              <a:defRPr/>
            </a:pPr>
            <a:endParaRPr lang="en-IN" sz="1800" dirty="0">
              <a:solidFill>
                <a:schemeClr val="tx1">
                  <a:lumMod val="75000"/>
                  <a:lumOff val="25000"/>
                </a:schemeClr>
              </a:solidFill>
              <a:latin typeface="PT Serif" panose="020A0603040505020204" pitchFamily="18" charset="0"/>
            </a:endParaRPr>
          </a:p>
        </p:txBody>
      </p:sp>
    </p:spTree>
    <p:extLst>
      <p:ext uri="{BB962C8B-B14F-4D97-AF65-F5344CB8AC3E}">
        <p14:creationId xmlns:p14="http://schemas.microsoft.com/office/powerpoint/2010/main" val="1558353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9ED54-9873-EAA7-A9D4-13CEADE5DADD}"/>
              </a:ext>
            </a:extLst>
          </p:cNvPr>
          <p:cNvSpPr>
            <a:spLocks noGrp="1"/>
          </p:cNvSpPr>
          <p:nvPr>
            <p:ph type="title"/>
          </p:nvPr>
        </p:nvSpPr>
        <p:spPr>
          <a:xfrm>
            <a:off x="1219200" y="466008"/>
            <a:ext cx="13656055" cy="569387"/>
          </a:xfrm>
        </p:spPr>
        <p:txBody>
          <a:bodyPr/>
          <a:lstStyle/>
          <a:p>
            <a:r>
              <a:rPr lang="en-US" sz="3600" dirty="0">
                <a:solidFill>
                  <a:schemeClr val="tx1"/>
                </a:solidFill>
              </a:rPr>
              <a:t>Cross Validation Methods</a:t>
            </a:r>
            <a:endParaRPr lang="en-IN" dirty="0">
              <a:solidFill>
                <a:schemeClr val="tx1"/>
              </a:solidFill>
            </a:endParaRPr>
          </a:p>
        </p:txBody>
      </p:sp>
      <p:graphicFrame>
        <p:nvGraphicFramePr>
          <p:cNvPr id="9" name="Diagram 8">
            <a:extLst>
              <a:ext uri="{FF2B5EF4-FFF2-40B4-BE49-F238E27FC236}">
                <a16:creationId xmlns:a16="http://schemas.microsoft.com/office/drawing/2014/main" id="{0D5E14B5-8973-0F46-209E-40F0F6A98B5A}"/>
              </a:ext>
            </a:extLst>
          </p:cNvPr>
          <p:cNvGraphicFramePr/>
          <p:nvPr>
            <p:extLst>
              <p:ext uri="{D42A27DB-BD31-4B8C-83A1-F6EECF244321}">
                <p14:modId xmlns:p14="http://schemas.microsoft.com/office/powerpoint/2010/main" val="3102213725"/>
              </p:ext>
            </p:extLst>
          </p:nvPr>
        </p:nvGraphicFramePr>
        <p:xfrm>
          <a:off x="3873623" y="3087695"/>
          <a:ext cx="6883152" cy="4391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8E2A7973-DC2B-9BA9-E842-5A01F7E9C4A5}"/>
              </a:ext>
            </a:extLst>
          </p:cNvPr>
          <p:cNvSpPr/>
          <p:nvPr/>
        </p:nvSpPr>
        <p:spPr>
          <a:xfrm>
            <a:off x="2608247" y="1619954"/>
            <a:ext cx="9413904" cy="883181"/>
          </a:xfrm>
          <a:prstGeom prst="rect">
            <a:avLst/>
          </a:prstGeom>
          <a:solidFill>
            <a:srgbClr val="F7FBEF"/>
          </a:solidFill>
          <a:ln w="3175" cap="flat" cmpd="sng" algn="ctr">
            <a:solidFill>
              <a:schemeClr val="accent2"/>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50000"/>
              </a:lnSpc>
              <a:defRPr/>
            </a:pPr>
            <a:r>
              <a:rPr lang="en-US" dirty="0">
                <a:solidFill>
                  <a:schemeClr val="tx1">
                    <a:lumMod val="75000"/>
                    <a:lumOff val="25000"/>
                  </a:schemeClr>
                </a:solidFill>
                <a:latin typeface="PT Serif" panose="020A0603040505020204" pitchFamily="18" charset="0"/>
              </a:rPr>
              <a:t>There are different approaches to cross validation. Four most important of them are:</a:t>
            </a:r>
          </a:p>
        </p:txBody>
      </p:sp>
    </p:spTree>
    <p:extLst>
      <p:ext uri="{BB962C8B-B14F-4D97-AF65-F5344CB8AC3E}">
        <p14:creationId xmlns:p14="http://schemas.microsoft.com/office/powerpoint/2010/main" val="2447952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7737A-C538-F315-838A-7E207E1A5A33}"/>
              </a:ext>
            </a:extLst>
          </p:cNvPr>
          <p:cNvSpPr>
            <a:spLocks noGrp="1"/>
          </p:cNvSpPr>
          <p:nvPr>
            <p:ph type="title"/>
          </p:nvPr>
        </p:nvSpPr>
        <p:spPr/>
        <p:txBody>
          <a:bodyPr/>
          <a:lstStyle/>
          <a:p>
            <a:r>
              <a:rPr lang="en-IN" sz="3600" dirty="0">
                <a:solidFill>
                  <a:schemeClr val="tx1"/>
                </a:solidFill>
              </a:rPr>
              <a:t>Hold-Out Validation Method</a:t>
            </a:r>
            <a:endParaRPr lang="en-IN" dirty="0">
              <a:solidFill>
                <a:schemeClr val="tx1"/>
              </a:solidFill>
            </a:endParaRPr>
          </a:p>
        </p:txBody>
      </p:sp>
      <p:sp>
        <p:nvSpPr>
          <p:cNvPr id="4" name="TextBox 3">
            <a:extLst>
              <a:ext uri="{FF2B5EF4-FFF2-40B4-BE49-F238E27FC236}">
                <a16:creationId xmlns:a16="http://schemas.microsoft.com/office/drawing/2014/main" id="{87BAF3D3-D309-76F5-8FF4-C7964C932013}"/>
              </a:ext>
            </a:extLst>
          </p:cNvPr>
          <p:cNvSpPr txBox="1"/>
          <p:nvPr/>
        </p:nvSpPr>
        <p:spPr>
          <a:xfrm>
            <a:off x="6856782" y="1497381"/>
            <a:ext cx="5716218" cy="1294778"/>
          </a:xfrm>
          <a:prstGeom prst="rect">
            <a:avLst/>
          </a:prstGeom>
          <a:noFill/>
        </p:spPr>
        <p:txBody>
          <a:bodyPr wrap="square">
            <a:spAutoFit/>
          </a:bodyPr>
          <a:lstStyle/>
          <a:p>
            <a:pPr>
              <a:lnSpc>
                <a:spcPct val="150000"/>
              </a:lnSpc>
            </a:pPr>
            <a:r>
              <a:rPr lang="en-US" sz="1800" dirty="0">
                <a:solidFill>
                  <a:schemeClr val="tx1">
                    <a:lumMod val="75000"/>
                    <a:lumOff val="25000"/>
                  </a:schemeClr>
                </a:solidFill>
                <a:latin typeface="PT Serif" panose="020A0603040505020204" pitchFamily="18" charset="0"/>
              </a:rPr>
              <a:t>In Hold-Out validation method,  </a:t>
            </a:r>
            <a:r>
              <a:rPr lang="en-US" sz="1800" b="1" dirty="0">
                <a:solidFill>
                  <a:schemeClr val="tx1">
                    <a:lumMod val="75000"/>
                    <a:lumOff val="25000"/>
                  </a:schemeClr>
                </a:solidFill>
                <a:latin typeface="PT Serif" panose="020A0603040505020204" pitchFamily="18" charset="0"/>
              </a:rPr>
              <a:t>available data is split into two non-overlapped parts:  'Training Data' and 'Testing Data'</a:t>
            </a:r>
          </a:p>
        </p:txBody>
      </p:sp>
      <p:pic>
        <p:nvPicPr>
          <p:cNvPr id="5" name="Picture 2">
            <a:extLst>
              <a:ext uri="{FF2B5EF4-FFF2-40B4-BE49-F238E27FC236}">
                <a16:creationId xmlns:a16="http://schemas.microsoft.com/office/drawing/2014/main" id="{2169CB6F-AB25-5966-7469-B20B8BDFE4AB}"/>
              </a:ext>
            </a:extLst>
          </p:cNvPr>
          <p:cNvPicPr>
            <a:picLocks noChangeAspect="1" noChangeArrowheads="1"/>
          </p:cNvPicPr>
          <p:nvPr/>
        </p:nvPicPr>
        <p:blipFill>
          <a:blip r:embed="rId3" cstate="print">
            <a:lum bright="30000"/>
            <a:extLst>
              <a:ext uri="{28A0092B-C50C-407E-A947-70E740481C1C}">
                <a14:useLocalDpi xmlns:a14="http://schemas.microsoft.com/office/drawing/2010/main" val="0"/>
              </a:ext>
            </a:extLst>
          </a:blip>
          <a:srcRect/>
          <a:stretch>
            <a:fillRect/>
          </a:stretch>
        </p:blipFill>
        <p:spPr bwMode="auto">
          <a:xfrm>
            <a:off x="2057400" y="1684482"/>
            <a:ext cx="4480560" cy="136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8A1E6145-4142-7812-72E9-02BE9501A8C6}"/>
              </a:ext>
            </a:extLst>
          </p:cNvPr>
          <p:cNvSpPr txBox="1"/>
          <p:nvPr/>
        </p:nvSpPr>
        <p:spPr>
          <a:xfrm>
            <a:off x="1134372" y="3840660"/>
            <a:ext cx="12361653" cy="29567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solidFill>
                  <a:schemeClr val="tx1">
                    <a:lumMod val="75000"/>
                    <a:lumOff val="25000"/>
                  </a:schemeClr>
                </a:solidFill>
                <a:latin typeface="PT Serif" panose="020A0603040505020204" pitchFamily="18" charset="0"/>
              </a:rPr>
              <a:t>The model is, </a:t>
            </a:r>
          </a:p>
          <a:p>
            <a:pPr lvl="1">
              <a:lnSpc>
                <a:spcPct val="150000"/>
              </a:lnSpc>
            </a:pPr>
            <a:r>
              <a:rPr lang="en-US" dirty="0">
                <a:solidFill>
                  <a:schemeClr val="tx1">
                    <a:lumMod val="75000"/>
                    <a:lumOff val="25000"/>
                  </a:schemeClr>
                </a:solidFill>
                <a:latin typeface="PT Serif" panose="020A0603040505020204" pitchFamily="18" charset="0"/>
              </a:rPr>
              <a:t>               Developed using training data </a:t>
            </a:r>
          </a:p>
          <a:p>
            <a:pPr lvl="1">
              <a:lnSpc>
                <a:spcPct val="150000"/>
              </a:lnSpc>
            </a:pPr>
            <a:r>
              <a:rPr lang="en-US" dirty="0">
                <a:solidFill>
                  <a:schemeClr val="tx1">
                    <a:lumMod val="75000"/>
                    <a:lumOff val="25000"/>
                  </a:schemeClr>
                </a:solidFill>
                <a:latin typeface="PT Serif" panose="020A0603040505020204" pitchFamily="18" charset="0"/>
              </a:rPr>
              <a:t>               Evaluated using testing data</a:t>
            </a:r>
          </a:p>
          <a:p>
            <a:pPr>
              <a:lnSpc>
                <a:spcPct val="150000"/>
              </a:lnSpc>
            </a:pPr>
            <a:endParaRPr lang="en-US" dirty="0">
              <a:solidFill>
                <a:schemeClr val="tx1">
                  <a:lumMod val="75000"/>
                  <a:lumOff val="25000"/>
                </a:schemeClr>
              </a:solidFill>
              <a:latin typeface="PT Serif" panose="020A0603040505020204" pitchFamily="18" charset="0"/>
            </a:endParaRPr>
          </a:p>
          <a:p>
            <a:pPr marL="285750" indent="-285750">
              <a:lnSpc>
                <a:spcPct val="150000"/>
              </a:lnSpc>
              <a:buFont typeface="Arial" panose="020B0604020202020204" pitchFamily="34" charset="0"/>
              <a:buChar char="•"/>
            </a:pPr>
            <a:r>
              <a:rPr lang="en-US" dirty="0">
                <a:solidFill>
                  <a:schemeClr val="tx1">
                    <a:lumMod val="75000"/>
                    <a:lumOff val="25000"/>
                  </a:schemeClr>
                </a:solidFill>
                <a:latin typeface="PT Serif" panose="020A0603040505020204" pitchFamily="18" charset="0"/>
              </a:rPr>
              <a:t>Training data should have more sample size. </a:t>
            </a:r>
            <a:r>
              <a:rPr lang="en-US" b="1" dirty="0">
                <a:solidFill>
                  <a:schemeClr val="tx1">
                    <a:lumMod val="75000"/>
                    <a:lumOff val="25000"/>
                  </a:schemeClr>
                </a:solidFill>
                <a:latin typeface="PT Serif" panose="020A0603040505020204" pitchFamily="18" charset="0"/>
              </a:rPr>
              <a:t>Typically 70%-80%  data is used for model development.</a:t>
            </a:r>
          </a:p>
          <a:p>
            <a:pPr>
              <a:lnSpc>
                <a:spcPct val="150000"/>
              </a:lnSpc>
            </a:pPr>
            <a:r>
              <a:rPr lang="en-US" b="1" dirty="0">
                <a:solidFill>
                  <a:schemeClr val="tx1">
                    <a:lumMod val="75000"/>
                    <a:lumOff val="25000"/>
                  </a:schemeClr>
                </a:solidFill>
                <a:latin typeface="PT Serif" panose="020A0603040505020204" pitchFamily="18" charset="0"/>
              </a:rPr>
              <a:t> </a:t>
            </a:r>
          </a:p>
          <a:p>
            <a:pPr marL="285750" indent="-285750">
              <a:lnSpc>
                <a:spcPct val="150000"/>
              </a:lnSpc>
              <a:buFont typeface="Arial" panose="020B0604020202020204" pitchFamily="34" charset="0"/>
              <a:buChar char="•"/>
            </a:pPr>
            <a:r>
              <a:rPr lang="en-US" b="1" dirty="0">
                <a:solidFill>
                  <a:schemeClr val="tx1">
                    <a:lumMod val="75000"/>
                    <a:lumOff val="25000"/>
                  </a:schemeClr>
                </a:solidFill>
                <a:latin typeface="PT Serif" panose="020A0603040505020204" pitchFamily="18" charset="0"/>
              </a:rPr>
              <a:t>Root Mean Squared Error (RMSE) is used to validate the model performance on test data</a:t>
            </a:r>
          </a:p>
        </p:txBody>
      </p:sp>
    </p:spTree>
    <p:extLst>
      <p:ext uri="{BB962C8B-B14F-4D97-AF65-F5344CB8AC3E}">
        <p14:creationId xmlns:p14="http://schemas.microsoft.com/office/powerpoint/2010/main" val="234927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6">
            <a:extLst>
              <a:ext uri="{FF2B5EF4-FFF2-40B4-BE49-F238E27FC236}">
                <a16:creationId xmlns:a16="http://schemas.microsoft.com/office/drawing/2014/main" id="{FF0D3DD7-4E7C-D779-7A1E-8B54788B34D1}"/>
              </a:ext>
            </a:extLst>
          </p:cNvPr>
          <p:cNvSpPr/>
          <p:nvPr/>
        </p:nvSpPr>
        <p:spPr>
          <a:xfrm>
            <a:off x="9583632" y="6047792"/>
            <a:ext cx="4226719" cy="1762720"/>
          </a:xfrm>
          <a:prstGeom prst="roundRect">
            <a:avLst>
              <a:gd name="adj" fmla="val 1660"/>
            </a:avLst>
          </a:prstGeom>
          <a:solidFill>
            <a:srgbClr val="F2EEEE"/>
          </a:solidFill>
          <a:ln/>
        </p:spPr>
      </p:sp>
      <p:sp>
        <p:nvSpPr>
          <p:cNvPr id="13" name="Shape 13">
            <a:extLst>
              <a:ext uri="{FF2B5EF4-FFF2-40B4-BE49-F238E27FC236}">
                <a16:creationId xmlns:a16="http://schemas.microsoft.com/office/drawing/2014/main" id="{FB376945-0A0F-6F4C-18FE-6F5900847D88}"/>
              </a:ext>
            </a:extLst>
          </p:cNvPr>
          <p:cNvSpPr/>
          <p:nvPr/>
        </p:nvSpPr>
        <p:spPr>
          <a:xfrm>
            <a:off x="5161889" y="6047792"/>
            <a:ext cx="4226719" cy="1762720"/>
          </a:xfrm>
          <a:prstGeom prst="roundRect">
            <a:avLst>
              <a:gd name="adj" fmla="val 1660"/>
            </a:avLst>
          </a:prstGeom>
          <a:solidFill>
            <a:srgbClr val="F2EEEE"/>
          </a:solidFill>
          <a:ln/>
        </p:spPr>
      </p:sp>
      <p:sp>
        <p:nvSpPr>
          <p:cNvPr id="12" name="Shape 10">
            <a:extLst>
              <a:ext uri="{FF2B5EF4-FFF2-40B4-BE49-F238E27FC236}">
                <a16:creationId xmlns:a16="http://schemas.microsoft.com/office/drawing/2014/main" id="{7D7C837B-1735-4D89-792E-BEA369D568E8}"/>
              </a:ext>
            </a:extLst>
          </p:cNvPr>
          <p:cNvSpPr/>
          <p:nvPr/>
        </p:nvSpPr>
        <p:spPr>
          <a:xfrm>
            <a:off x="740146" y="6047792"/>
            <a:ext cx="4226719" cy="1762720"/>
          </a:xfrm>
          <a:prstGeom prst="roundRect">
            <a:avLst>
              <a:gd name="adj" fmla="val 1660"/>
            </a:avLst>
          </a:prstGeom>
          <a:solidFill>
            <a:srgbClr val="F2EEEE"/>
          </a:solidFill>
          <a:ln/>
        </p:spPr>
      </p:sp>
      <p:sp>
        <p:nvSpPr>
          <p:cNvPr id="2" name="Title 1">
            <a:extLst>
              <a:ext uri="{FF2B5EF4-FFF2-40B4-BE49-F238E27FC236}">
                <a16:creationId xmlns:a16="http://schemas.microsoft.com/office/drawing/2014/main" id="{1B722664-1E04-6244-5060-9C53B223830C}"/>
              </a:ext>
            </a:extLst>
          </p:cNvPr>
          <p:cNvSpPr>
            <a:spLocks noGrp="1"/>
          </p:cNvSpPr>
          <p:nvPr>
            <p:ph type="title"/>
          </p:nvPr>
        </p:nvSpPr>
        <p:spPr>
          <a:xfrm>
            <a:off x="487172" y="401522"/>
            <a:ext cx="13656055" cy="1107996"/>
          </a:xfrm>
        </p:spPr>
        <p:txBody>
          <a:bodyPr/>
          <a:lstStyle/>
          <a:p>
            <a:r>
              <a:rPr lang="en-US" sz="3600" dirty="0">
                <a:solidFill>
                  <a:srgbClr val="020202"/>
                </a:solidFill>
                <a:ea typeface="PT Serif" pitchFamily="34" charset="-122"/>
                <a:cs typeface="PT Serif" pitchFamily="34" charset="-120"/>
              </a:rPr>
              <a:t>Root Mean Squared Error (RMSE) in Linear Regression</a:t>
            </a:r>
            <a:br>
              <a:rPr lang="en-US" sz="3600" dirty="0"/>
            </a:br>
            <a:endParaRPr lang="en-IN" sz="3600" dirty="0"/>
          </a:p>
        </p:txBody>
      </p:sp>
      <p:sp>
        <p:nvSpPr>
          <p:cNvPr id="3" name="Content Placeholder 2">
            <a:extLst>
              <a:ext uri="{FF2B5EF4-FFF2-40B4-BE49-F238E27FC236}">
                <a16:creationId xmlns:a16="http://schemas.microsoft.com/office/drawing/2014/main" id="{8E1CC89D-20D2-C2B0-8FF8-7F5B9E3FBF2C}"/>
              </a:ext>
            </a:extLst>
          </p:cNvPr>
          <p:cNvSpPr>
            <a:spLocks noGrp="1"/>
          </p:cNvSpPr>
          <p:nvPr>
            <p:ph sz="half" idx="2"/>
          </p:nvPr>
        </p:nvSpPr>
        <p:spPr>
          <a:xfrm>
            <a:off x="903835" y="1331832"/>
            <a:ext cx="6364224" cy="4893647"/>
          </a:xfrm>
        </p:spPr>
        <p:txBody>
          <a:bodyPr/>
          <a:lstStyle/>
          <a:p>
            <a:pPr algn="l"/>
            <a:r>
              <a:rPr lang="en-US" sz="2400" dirty="0">
                <a:solidFill>
                  <a:srgbClr val="020202"/>
                </a:solidFill>
                <a:ea typeface="PT Serif" pitchFamily="34" charset="-122"/>
                <a:cs typeface="PT Serif" pitchFamily="34" charset="-120"/>
              </a:rPr>
              <a:t>What Is RMSE?</a:t>
            </a:r>
          </a:p>
          <a:p>
            <a:pPr algn="l"/>
            <a:endParaRPr lang="en-US" sz="2400" dirty="0">
              <a:solidFill>
                <a:srgbClr val="020202"/>
              </a:solidFill>
              <a:ea typeface="PT Serif" pitchFamily="34" charset="-122"/>
              <a:cs typeface="PT Serif" pitchFamily="34" charset="-120"/>
            </a:endParaRPr>
          </a:p>
          <a:p>
            <a:pPr algn="l"/>
            <a:r>
              <a:rPr lang="en-US" sz="1800" dirty="0">
                <a:solidFill>
                  <a:srgbClr val="383838"/>
                </a:solidFill>
                <a:ea typeface="DM Sans" pitchFamily="34" charset="-122"/>
                <a:cs typeface="DM Sans" pitchFamily="34" charset="-120"/>
              </a:rPr>
              <a:t>Root Mean Squared Error (RMSE) is a widely used metric for evaluating the accuracy of linear regression models. It measures the average magnitude of prediction errors, providing insight into how well your model fits the data. Lower RMSE values indicate better model performance, as they represent smaller differences between predicted and actual values.</a:t>
            </a:r>
          </a:p>
          <a:p>
            <a:pPr algn="l"/>
            <a:endParaRPr lang="en-US" sz="1800" dirty="0">
              <a:solidFill>
                <a:srgbClr val="383838"/>
              </a:solidFill>
              <a:ea typeface="DM Sans" pitchFamily="34" charset="-122"/>
              <a:cs typeface="DM Sans" pitchFamily="34" charset="-120"/>
            </a:endParaRPr>
          </a:p>
          <a:p>
            <a:pPr algn="l"/>
            <a:r>
              <a:rPr lang="en-US" sz="1800" dirty="0">
                <a:solidFill>
                  <a:srgbClr val="383838"/>
                </a:solidFill>
                <a:ea typeface="DM Sans" pitchFamily="34" charset="-122"/>
                <a:cs typeface="DM Sans" pitchFamily="34" charset="-120"/>
              </a:rPr>
              <a:t>RMSE is particularly useful because it </a:t>
            </a:r>
            <a:r>
              <a:rPr lang="en-US" sz="1800" dirty="0" err="1">
                <a:solidFill>
                  <a:srgbClr val="383838"/>
                </a:solidFill>
                <a:ea typeface="DM Sans" pitchFamily="34" charset="-122"/>
                <a:cs typeface="DM Sans" pitchFamily="34" charset="-120"/>
              </a:rPr>
              <a:t>penalises</a:t>
            </a:r>
            <a:r>
              <a:rPr lang="en-US" sz="1800" dirty="0">
                <a:solidFill>
                  <a:srgbClr val="383838"/>
                </a:solidFill>
                <a:ea typeface="DM Sans" pitchFamily="34" charset="-122"/>
                <a:cs typeface="DM Sans" pitchFamily="34" charset="-120"/>
              </a:rPr>
              <a:t> larger errors more heavily than smaller ones, making it sensitive to outliers. This characteristic helps identify models that may perform poorly on specific data points.</a:t>
            </a:r>
            <a:endParaRPr lang="en-US" sz="1800" dirty="0"/>
          </a:p>
          <a:p>
            <a:pPr algn="l"/>
            <a:endParaRPr lang="en-US" sz="1800" dirty="0"/>
          </a:p>
          <a:p>
            <a:pPr algn="l"/>
            <a:endParaRPr lang="en-US" sz="1800" dirty="0"/>
          </a:p>
          <a:p>
            <a:endParaRPr lang="en-IN" sz="1800" dirty="0"/>
          </a:p>
        </p:txBody>
      </p:sp>
      <p:sp>
        <p:nvSpPr>
          <p:cNvPr id="4" name="Content Placeholder 3">
            <a:extLst>
              <a:ext uri="{FF2B5EF4-FFF2-40B4-BE49-F238E27FC236}">
                <a16:creationId xmlns:a16="http://schemas.microsoft.com/office/drawing/2014/main" id="{1BDF8682-FB2B-343B-6809-331E83A76E50}"/>
              </a:ext>
            </a:extLst>
          </p:cNvPr>
          <p:cNvSpPr>
            <a:spLocks noGrp="1"/>
          </p:cNvSpPr>
          <p:nvPr>
            <p:ph sz="half" idx="3"/>
          </p:nvPr>
        </p:nvSpPr>
        <p:spPr>
          <a:xfrm>
            <a:off x="7684722" y="1331832"/>
            <a:ext cx="6364224" cy="5478423"/>
          </a:xfrm>
        </p:spPr>
        <p:txBody>
          <a:bodyPr/>
          <a:lstStyle/>
          <a:p>
            <a:pPr algn="l"/>
            <a:r>
              <a:rPr lang="en-US" sz="2400" dirty="0">
                <a:solidFill>
                  <a:srgbClr val="020202"/>
                </a:solidFill>
                <a:ea typeface="PT Serif" pitchFamily="34" charset="-122"/>
                <a:cs typeface="PT Serif" pitchFamily="34" charset="-120"/>
              </a:rPr>
              <a:t>The Formula</a:t>
            </a:r>
          </a:p>
          <a:p>
            <a:pPr algn="l"/>
            <a:endParaRPr lang="en-US" dirty="0">
              <a:solidFill>
                <a:srgbClr val="020202"/>
              </a:solidFill>
            </a:endParaRPr>
          </a:p>
          <a:p>
            <a:pPr algn="l"/>
            <a:endParaRPr lang="en-US" sz="2800" dirty="0">
              <a:solidFill>
                <a:srgbClr val="020202"/>
              </a:solidFill>
            </a:endParaRPr>
          </a:p>
          <a:p>
            <a:pPr algn="l"/>
            <a:endParaRPr lang="en-US" dirty="0">
              <a:solidFill>
                <a:srgbClr val="020202"/>
              </a:solidFill>
            </a:endParaRPr>
          </a:p>
          <a:p>
            <a:pPr algn="l">
              <a:lnSpc>
                <a:spcPct val="150000"/>
              </a:lnSpc>
            </a:pPr>
            <a:r>
              <a:rPr lang="en-US" sz="1800" dirty="0">
                <a:solidFill>
                  <a:srgbClr val="383838"/>
                </a:solidFill>
                <a:ea typeface="DM Sans" pitchFamily="34" charset="-122"/>
                <a:cs typeface="DM Sans" pitchFamily="34" charset="-120"/>
              </a:rPr>
              <a:t>Where:</a:t>
            </a:r>
          </a:p>
          <a:p>
            <a:pPr algn="l">
              <a:lnSpc>
                <a:spcPct val="150000"/>
              </a:lnSpc>
            </a:pPr>
            <a:r>
              <a:rPr lang="en-US" sz="1800" i="1" dirty="0">
                <a:solidFill>
                  <a:srgbClr val="383838"/>
                </a:solidFill>
                <a:ea typeface="DM Sans" pitchFamily="34" charset="-122"/>
                <a:cs typeface="DM Sans" pitchFamily="34" charset="-120"/>
              </a:rPr>
              <a:t>n</a:t>
            </a:r>
            <a:r>
              <a:rPr lang="en-US" sz="1800" dirty="0">
                <a:solidFill>
                  <a:srgbClr val="383838"/>
                </a:solidFill>
                <a:ea typeface="DM Sans" pitchFamily="34" charset="-122"/>
                <a:cs typeface="DM Sans" pitchFamily="34" charset="-120"/>
              </a:rPr>
              <a:t> = number of observations</a:t>
            </a:r>
          </a:p>
          <a:p>
            <a:pPr algn="l">
              <a:lnSpc>
                <a:spcPct val="150000"/>
              </a:lnSpc>
            </a:pPr>
            <a:r>
              <a:rPr lang="en-US" sz="1800" i="1" dirty="0">
                <a:solidFill>
                  <a:srgbClr val="FF0000"/>
                </a:solidFill>
                <a:ea typeface="DM Sans" pitchFamily="34" charset="-122"/>
                <a:cs typeface="DM Sans" pitchFamily="34" charset="-120"/>
              </a:rPr>
              <a:t>y</a:t>
            </a:r>
            <a:r>
              <a:rPr lang="en-US" sz="1800" i="1" baseline="-25000" dirty="0">
                <a:solidFill>
                  <a:srgbClr val="FF0000"/>
                </a:solidFill>
                <a:ea typeface="DM Sans" pitchFamily="34" charset="-122"/>
                <a:cs typeface="DM Sans" pitchFamily="34" charset="-120"/>
              </a:rPr>
              <a:t>i</a:t>
            </a:r>
            <a:r>
              <a:rPr lang="en-US" sz="1800" dirty="0">
                <a:solidFill>
                  <a:srgbClr val="FF0000"/>
                </a:solidFill>
                <a:ea typeface="DM Sans" pitchFamily="34" charset="-122"/>
                <a:cs typeface="DM Sans" pitchFamily="34" charset="-120"/>
              </a:rPr>
              <a:t> </a:t>
            </a:r>
            <a:r>
              <a:rPr lang="en-US" sz="1800" dirty="0">
                <a:solidFill>
                  <a:srgbClr val="383838"/>
                </a:solidFill>
                <a:ea typeface="DM Sans" pitchFamily="34" charset="-122"/>
                <a:cs typeface="DM Sans" pitchFamily="34" charset="-120"/>
              </a:rPr>
              <a:t>= actual value</a:t>
            </a:r>
          </a:p>
          <a:p>
            <a:pPr algn="l">
              <a:lnSpc>
                <a:spcPct val="150000"/>
              </a:lnSpc>
            </a:pPr>
            <a:r>
              <a:rPr lang="nn-NO" sz="1800" i="1" dirty="0">
                <a:solidFill>
                  <a:srgbClr val="FF0000"/>
                </a:solidFill>
              </a:rPr>
              <a:t>y^​</a:t>
            </a:r>
            <a:r>
              <a:rPr lang="nn-NO" sz="1800" i="1" baseline="-25000" dirty="0">
                <a:solidFill>
                  <a:srgbClr val="FF0000"/>
                </a:solidFill>
              </a:rPr>
              <a:t>i</a:t>
            </a:r>
            <a:r>
              <a:rPr lang="nn-NO" sz="1800" i="1" dirty="0">
                <a:solidFill>
                  <a:srgbClr val="FF0000"/>
                </a:solidFill>
              </a:rPr>
              <a:t>​ </a:t>
            </a:r>
            <a:r>
              <a:rPr lang="en-US" sz="1800" dirty="0">
                <a:solidFill>
                  <a:srgbClr val="383838"/>
                </a:solidFill>
              </a:rPr>
              <a:t>=</a:t>
            </a:r>
            <a:r>
              <a:rPr lang="en-US" sz="1800" i="1" dirty="0">
                <a:solidFill>
                  <a:srgbClr val="383838"/>
                </a:solidFill>
              </a:rPr>
              <a:t> </a:t>
            </a:r>
            <a:r>
              <a:rPr lang="en-US" sz="1800" dirty="0">
                <a:solidFill>
                  <a:srgbClr val="383838"/>
                </a:solidFill>
                <a:ea typeface="DM Sans" pitchFamily="34" charset="-122"/>
                <a:cs typeface="DM Sans" pitchFamily="34" charset="-120"/>
              </a:rPr>
              <a:t>predicted value</a:t>
            </a:r>
            <a:endParaRPr lang="en-US" sz="1800" dirty="0"/>
          </a:p>
          <a:p>
            <a:pPr algn="l"/>
            <a:r>
              <a:rPr lang="en-US" sz="2800" dirty="0"/>
              <a:t> </a:t>
            </a:r>
          </a:p>
          <a:p>
            <a:pPr algn="l"/>
            <a:endParaRPr lang="en-US" sz="2800" dirty="0"/>
          </a:p>
          <a:p>
            <a:pPr algn="l"/>
            <a:endParaRPr lang="en-US" sz="2800" dirty="0"/>
          </a:p>
          <a:p>
            <a:pPr algn="l"/>
            <a:endParaRPr lang="en-US" sz="2800" dirty="0"/>
          </a:p>
          <a:p>
            <a:endParaRPr lang="en-IN" dirty="0"/>
          </a:p>
        </p:txBody>
      </p:sp>
      <p:pic>
        <p:nvPicPr>
          <p:cNvPr id="5" name="Image 0" descr="preencoded.png">
            <a:extLst>
              <a:ext uri="{FF2B5EF4-FFF2-40B4-BE49-F238E27FC236}">
                <a16:creationId xmlns:a16="http://schemas.microsoft.com/office/drawing/2014/main" id="{C9C6E275-1C8E-C9C6-8AF6-F1912D31B593}"/>
              </a:ext>
            </a:extLst>
          </p:cNvPr>
          <p:cNvPicPr>
            <a:picLocks noChangeAspect="1"/>
          </p:cNvPicPr>
          <p:nvPr/>
        </p:nvPicPr>
        <p:blipFill>
          <a:blip r:embed="rId2"/>
          <a:stretch>
            <a:fillRect/>
          </a:stretch>
        </p:blipFill>
        <p:spPr>
          <a:xfrm>
            <a:off x="6934177" y="1901685"/>
            <a:ext cx="6297216" cy="838081"/>
          </a:xfrm>
          <a:prstGeom prst="rect">
            <a:avLst/>
          </a:prstGeom>
        </p:spPr>
      </p:pic>
      <p:sp>
        <p:nvSpPr>
          <p:cNvPr id="7" name="TextBox 6">
            <a:extLst>
              <a:ext uri="{FF2B5EF4-FFF2-40B4-BE49-F238E27FC236}">
                <a16:creationId xmlns:a16="http://schemas.microsoft.com/office/drawing/2014/main" id="{BDE44237-6AF7-E0D0-2A6B-16729AB4F21A}"/>
              </a:ext>
            </a:extLst>
          </p:cNvPr>
          <p:cNvSpPr txBox="1"/>
          <p:nvPr/>
        </p:nvSpPr>
        <p:spPr>
          <a:xfrm>
            <a:off x="830618" y="6067539"/>
            <a:ext cx="3914607" cy="1995611"/>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PT Serif" pitchFamily="34" charset="-122"/>
                <a:cs typeface="PT Serif" pitchFamily="34" charset="-120"/>
              </a:rPr>
              <a:t>Interpretation</a:t>
            </a:r>
          </a:p>
          <a:p>
            <a:pPr marL="0" indent="0" algn="l">
              <a:lnSpc>
                <a:spcPts val="2500"/>
              </a:lnSpc>
              <a:buNone/>
            </a:pPr>
            <a:endParaRPr lang="en-US" sz="1800" dirty="0">
              <a:solidFill>
                <a:srgbClr val="383838"/>
              </a:solidFill>
              <a:latin typeface="PT Serif" panose="020A0603040505020204" pitchFamily="18" charset="0"/>
              <a:ea typeface="PT Serif" pitchFamily="34" charset="-122"/>
              <a:cs typeface="PT Serif" pitchFamily="34" charset="-120"/>
            </a:endParaRPr>
          </a:p>
          <a:p>
            <a:pPr algn="l">
              <a:lnSpc>
                <a:spcPts val="2500"/>
              </a:lnSpc>
            </a:pPr>
            <a:r>
              <a:rPr lang="en-US" sz="1800" dirty="0">
                <a:solidFill>
                  <a:srgbClr val="383838"/>
                </a:solidFill>
                <a:latin typeface="PT Serif" panose="020A0603040505020204" pitchFamily="18" charset="0"/>
                <a:ea typeface="DM Sans" pitchFamily="34" charset="-122"/>
                <a:cs typeface="DM Sans" pitchFamily="34" charset="-120"/>
              </a:rPr>
              <a:t>RMSE is expressed in the same units as the target variable, making it intuitive to interpret</a:t>
            </a:r>
            <a:endParaRPr lang="en-US" sz="1800" dirty="0">
              <a:latin typeface="PT Serif" panose="020A0603040505020204" pitchFamily="18" charset="0"/>
            </a:endParaRPr>
          </a:p>
          <a:p>
            <a:pPr marL="0" indent="0" algn="l">
              <a:lnSpc>
                <a:spcPts val="2500"/>
              </a:lnSpc>
              <a:buNone/>
            </a:pPr>
            <a:endParaRPr lang="en-US" sz="1800" dirty="0">
              <a:latin typeface="PT Serif" panose="020A0603040505020204" pitchFamily="18" charset="0"/>
            </a:endParaRPr>
          </a:p>
        </p:txBody>
      </p:sp>
      <p:sp>
        <p:nvSpPr>
          <p:cNvPr id="9" name="TextBox 8">
            <a:extLst>
              <a:ext uri="{FF2B5EF4-FFF2-40B4-BE49-F238E27FC236}">
                <a16:creationId xmlns:a16="http://schemas.microsoft.com/office/drawing/2014/main" id="{0B0E5DE6-3D59-90A2-B0D5-91E3A46D8F05}"/>
              </a:ext>
            </a:extLst>
          </p:cNvPr>
          <p:cNvSpPr txBox="1"/>
          <p:nvPr/>
        </p:nvSpPr>
        <p:spPr>
          <a:xfrm>
            <a:off x="5201719" y="6079505"/>
            <a:ext cx="4094681" cy="1988365"/>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PT Serif" pitchFamily="34" charset="-122"/>
                <a:cs typeface="PT Serif" pitchFamily="34" charset="-120"/>
              </a:rPr>
              <a:t>Model Comparison</a:t>
            </a:r>
          </a:p>
          <a:p>
            <a:pPr marL="0" indent="0" algn="l">
              <a:lnSpc>
                <a:spcPts val="2500"/>
              </a:lnSpc>
              <a:buNone/>
            </a:pPr>
            <a:endParaRPr lang="en-US" dirty="0">
              <a:solidFill>
                <a:srgbClr val="383838"/>
              </a:solidFill>
              <a:latin typeface="PT Serif" panose="020A0603040505020204" pitchFamily="18" charset="0"/>
            </a:endParaRPr>
          </a:p>
          <a:p>
            <a:pPr algn="l">
              <a:lnSpc>
                <a:spcPts val="2500"/>
              </a:lnSpc>
            </a:pPr>
            <a:r>
              <a:rPr lang="en-US" sz="1800" dirty="0">
                <a:solidFill>
                  <a:srgbClr val="383838"/>
                </a:solidFill>
                <a:latin typeface="PT Serif" panose="020A0603040505020204" pitchFamily="18" charset="0"/>
                <a:ea typeface="DM Sans" pitchFamily="34" charset="-122"/>
                <a:cs typeface="DM Sans" pitchFamily="34" charset="-120"/>
              </a:rPr>
              <a:t>Compare RMSE values across different models to identify the best-performing approach</a:t>
            </a:r>
            <a:endParaRPr lang="en-US" sz="1800" dirty="0">
              <a:latin typeface="PT Serif" panose="020A0603040505020204" pitchFamily="18" charset="0"/>
            </a:endParaRPr>
          </a:p>
          <a:p>
            <a:pPr marL="0" indent="0" algn="l">
              <a:lnSpc>
                <a:spcPts val="2500"/>
              </a:lnSpc>
              <a:buNone/>
            </a:pPr>
            <a:endParaRPr lang="en-US" sz="1800" dirty="0">
              <a:latin typeface="PT Serif" panose="020A0603040505020204" pitchFamily="18" charset="0"/>
            </a:endParaRPr>
          </a:p>
        </p:txBody>
      </p:sp>
      <p:sp>
        <p:nvSpPr>
          <p:cNvPr id="11" name="TextBox 10">
            <a:extLst>
              <a:ext uri="{FF2B5EF4-FFF2-40B4-BE49-F238E27FC236}">
                <a16:creationId xmlns:a16="http://schemas.microsoft.com/office/drawing/2014/main" id="{5C5A1087-F8C2-D2EF-B5D6-0892BFED8CC6}"/>
              </a:ext>
            </a:extLst>
          </p:cNvPr>
          <p:cNvSpPr txBox="1"/>
          <p:nvPr/>
        </p:nvSpPr>
        <p:spPr>
          <a:xfrm>
            <a:off x="9641783" y="6096007"/>
            <a:ext cx="3994772" cy="1988365"/>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PT Serif" pitchFamily="34" charset="-122"/>
                <a:cs typeface="PT Serif" pitchFamily="34" charset="-120"/>
              </a:rPr>
              <a:t>Sensitivity</a:t>
            </a:r>
          </a:p>
          <a:p>
            <a:pPr marL="0" indent="0" algn="l">
              <a:lnSpc>
                <a:spcPts val="2500"/>
              </a:lnSpc>
              <a:buNone/>
            </a:pPr>
            <a:endParaRPr lang="en-US" dirty="0">
              <a:solidFill>
                <a:srgbClr val="383838"/>
              </a:solidFill>
              <a:latin typeface="PT Serif" panose="020A0603040505020204" pitchFamily="18" charset="0"/>
            </a:endParaRPr>
          </a:p>
          <a:p>
            <a:pPr algn="l">
              <a:lnSpc>
                <a:spcPts val="2500"/>
              </a:lnSpc>
            </a:pPr>
            <a:r>
              <a:rPr lang="en-US" sz="1800" dirty="0">
                <a:solidFill>
                  <a:srgbClr val="383838"/>
                </a:solidFill>
                <a:latin typeface="PT Serif" panose="020A0603040505020204" pitchFamily="18" charset="0"/>
                <a:ea typeface="DM Sans" pitchFamily="34" charset="-122"/>
                <a:cs typeface="DM Sans" pitchFamily="34" charset="-120"/>
              </a:rPr>
              <a:t>More sensitive to outliers than other metrics like Mean Absolute Error (MAE)</a:t>
            </a:r>
            <a:endParaRPr lang="en-US" sz="1800" dirty="0">
              <a:latin typeface="PT Serif" panose="020A0603040505020204" pitchFamily="18" charset="0"/>
            </a:endParaRPr>
          </a:p>
          <a:p>
            <a:pPr marL="0" indent="0" algn="l">
              <a:lnSpc>
                <a:spcPts val="2500"/>
              </a:lnSpc>
              <a:buNone/>
            </a:pPr>
            <a:endParaRPr lang="en-US" sz="1800" dirty="0">
              <a:latin typeface="PT Serif" panose="020A0603040505020204" pitchFamily="18" charset="0"/>
            </a:endParaRPr>
          </a:p>
        </p:txBody>
      </p:sp>
    </p:spTree>
    <p:extLst>
      <p:ext uri="{BB962C8B-B14F-4D97-AF65-F5344CB8AC3E}">
        <p14:creationId xmlns:p14="http://schemas.microsoft.com/office/powerpoint/2010/main" val="3035882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9CCCC-B13D-6A9B-A41A-21842D04B219}"/>
              </a:ext>
            </a:extLst>
          </p:cNvPr>
          <p:cNvSpPr>
            <a:spLocks noGrp="1"/>
          </p:cNvSpPr>
          <p:nvPr>
            <p:ph type="title"/>
          </p:nvPr>
        </p:nvSpPr>
        <p:spPr>
          <a:xfrm>
            <a:off x="960408" y="685800"/>
            <a:ext cx="8275828" cy="2215991"/>
          </a:xfrm>
        </p:spPr>
        <p:txBody>
          <a:bodyPr/>
          <a:lstStyle/>
          <a:p>
            <a:r>
              <a:rPr lang="en-US" sz="3600" dirty="0">
                <a:solidFill>
                  <a:schemeClr val="tx1"/>
                </a:solidFill>
              </a:rPr>
              <a:t>Cross Validation in Predictive Modeling</a:t>
            </a:r>
            <a:br>
              <a:rPr lang="en-US" sz="3600" dirty="0">
                <a:solidFill>
                  <a:schemeClr val="tx1"/>
                </a:solidFill>
              </a:rPr>
            </a:br>
            <a:r>
              <a:rPr lang="en-US" sz="3600" dirty="0">
                <a:solidFill>
                  <a:schemeClr val="tx1"/>
                </a:solidFill>
              </a:rPr>
              <a:t> K-Fold Cross-Validation</a:t>
            </a:r>
            <a:br>
              <a:rPr lang="en-US" sz="3600" dirty="0">
                <a:solidFill>
                  <a:schemeClr val="tx1"/>
                </a:solidFill>
              </a:rPr>
            </a:br>
            <a:r>
              <a:rPr lang="en-US" sz="3600" dirty="0">
                <a:solidFill>
                  <a:schemeClr val="tx1"/>
                </a:solidFill>
              </a:rPr>
              <a:t> </a:t>
            </a:r>
            <a:br>
              <a:rPr lang="en-US" sz="3600" dirty="0">
                <a:solidFill>
                  <a:schemeClr val="tx1"/>
                </a:solidFill>
              </a:rPr>
            </a:br>
            <a:r>
              <a:rPr lang="en-US" sz="3600" dirty="0">
                <a:solidFill>
                  <a:schemeClr val="tx1"/>
                </a:solidFill>
              </a:rPr>
              <a:t> </a:t>
            </a:r>
            <a:endParaRPr lang="en-IN" sz="3600" dirty="0">
              <a:solidFill>
                <a:schemeClr val="tx1"/>
              </a:solidFill>
            </a:endParaRPr>
          </a:p>
        </p:txBody>
      </p:sp>
      <p:sp>
        <p:nvSpPr>
          <p:cNvPr id="3" name="Text Placeholder 2">
            <a:extLst>
              <a:ext uri="{FF2B5EF4-FFF2-40B4-BE49-F238E27FC236}">
                <a16:creationId xmlns:a16="http://schemas.microsoft.com/office/drawing/2014/main" id="{5357C254-5580-D8A5-DBE5-3CC4292AA871}"/>
              </a:ext>
            </a:extLst>
          </p:cNvPr>
          <p:cNvSpPr>
            <a:spLocks noGrp="1"/>
          </p:cNvSpPr>
          <p:nvPr>
            <p:ph type="body" idx="1"/>
          </p:nvPr>
        </p:nvSpPr>
        <p:spPr>
          <a:xfrm>
            <a:off x="937404" y="2267082"/>
            <a:ext cx="12755592" cy="5356659"/>
          </a:xfrm>
        </p:spPr>
        <p:txBody>
          <a:bodyPr/>
          <a:lstStyle/>
          <a:p>
            <a:pPr marL="537210" indent="-548640">
              <a:lnSpc>
                <a:spcPct val="150000"/>
              </a:lnSpc>
              <a:defRPr/>
            </a:pPr>
            <a:endParaRPr lang="en-US" sz="1800" dirty="0">
              <a:solidFill>
                <a:srgbClr val="422C16"/>
              </a:solidFill>
            </a:endParaRPr>
          </a:p>
          <a:p>
            <a:pPr marL="285750" indent="-285750">
              <a:lnSpc>
                <a:spcPct val="150000"/>
              </a:lnSpc>
              <a:buFont typeface="Arial" panose="020B0604020202020204" pitchFamily="34" charset="0"/>
              <a:buChar char="•"/>
            </a:pPr>
            <a:r>
              <a:rPr lang="en-US" sz="1800" dirty="0">
                <a:solidFill>
                  <a:schemeClr val="tx1"/>
                </a:solidFill>
              </a:rPr>
              <a:t>In k-fold cross-validation the data is first partitioned into k equally (or nearly equally) sized segments or folds.</a:t>
            </a:r>
          </a:p>
          <a:p>
            <a:pPr>
              <a:lnSpc>
                <a:spcPct val="150000"/>
              </a:lnSpc>
            </a:pPr>
            <a:endParaRPr lang="en-US" sz="1800" dirty="0">
              <a:solidFill>
                <a:schemeClr val="tx1"/>
              </a:solidFill>
            </a:endParaRPr>
          </a:p>
          <a:p>
            <a:pPr marL="285750" indent="-285750">
              <a:lnSpc>
                <a:spcPct val="150000"/>
              </a:lnSpc>
              <a:buFont typeface="Arial" panose="020B0604020202020204" pitchFamily="34" charset="0"/>
              <a:buChar char="•"/>
            </a:pPr>
            <a:r>
              <a:rPr lang="en-US" sz="1800" dirty="0">
                <a:solidFill>
                  <a:schemeClr val="tx1"/>
                </a:solidFill>
              </a:rPr>
              <a:t>Here k iterations of training and testing are performed  such that each time one fold is kept aside for testing and model is developed using k-1 folds.</a:t>
            </a:r>
          </a:p>
          <a:p>
            <a:pPr>
              <a:lnSpc>
                <a:spcPct val="150000"/>
              </a:lnSpc>
            </a:pPr>
            <a:endParaRPr lang="en-US" sz="1800" dirty="0">
              <a:solidFill>
                <a:schemeClr val="tx1"/>
              </a:solidFill>
            </a:endParaRPr>
          </a:p>
          <a:p>
            <a:pPr marL="285750" indent="-285750">
              <a:lnSpc>
                <a:spcPct val="150000"/>
              </a:lnSpc>
              <a:buFont typeface="Arial" panose="020B0604020202020204" pitchFamily="34" charset="0"/>
              <a:buChar char="•"/>
            </a:pPr>
            <a:r>
              <a:rPr lang="en-US" sz="1800" dirty="0">
                <a:solidFill>
                  <a:schemeClr val="tx1"/>
                </a:solidFill>
              </a:rPr>
              <a:t> Model performance measure is aggregate measure based on above iterations.</a:t>
            </a:r>
          </a:p>
          <a:p>
            <a:pPr marL="285750" indent="-285750">
              <a:lnSpc>
                <a:spcPct val="150000"/>
              </a:lnSpc>
              <a:buFont typeface="Arial" panose="020B0604020202020204" pitchFamily="34" charset="0"/>
              <a:buChar char="•"/>
            </a:pPr>
            <a:endParaRPr lang="en-US" sz="1800" dirty="0">
              <a:solidFill>
                <a:schemeClr val="tx1"/>
              </a:solidFill>
            </a:endParaRPr>
          </a:p>
          <a:p>
            <a:pPr marL="285750" indent="-285750">
              <a:lnSpc>
                <a:spcPct val="150000"/>
              </a:lnSpc>
              <a:buFont typeface="Arial" panose="020B0604020202020204" pitchFamily="34" charset="0"/>
              <a:buChar char="•"/>
            </a:pPr>
            <a:r>
              <a:rPr lang="en-US" sz="1800" dirty="0">
                <a:solidFill>
                  <a:schemeClr val="tx1"/>
                </a:solidFill>
              </a:rPr>
              <a:t> For each iteration, RMSE value is computed and averaged to give single performance measure. </a:t>
            </a:r>
          </a:p>
          <a:p>
            <a:pPr marL="285750" indent="-285750">
              <a:lnSpc>
                <a:spcPct val="150000"/>
              </a:lnSpc>
              <a:buFont typeface="Arial" panose="020B0604020202020204" pitchFamily="34" charset="0"/>
              <a:buChar char="•"/>
            </a:pPr>
            <a:endParaRPr lang="en-US" sz="1800" dirty="0">
              <a:solidFill>
                <a:schemeClr val="tx1"/>
              </a:solidFill>
            </a:endParaRPr>
          </a:p>
          <a:p>
            <a:pPr marL="285750" indent="-285750">
              <a:lnSpc>
                <a:spcPct val="150000"/>
              </a:lnSpc>
              <a:buFont typeface="Arial" panose="020B0604020202020204" pitchFamily="34" charset="0"/>
              <a:buChar char="•"/>
            </a:pPr>
            <a:r>
              <a:rPr lang="en-US" sz="1800" dirty="0">
                <a:solidFill>
                  <a:schemeClr val="tx1"/>
                </a:solidFill>
              </a:rPr>
              <a:t> </a:t>
            </a:r>
            <a:r>
              <a:rPr lang="en-US" sz="1800" b="1" dirty="0">
                <a:solidFill>
                  <a:schemeClr val="tx1"/>
                </a:solidFill>
              </a:rPr>
              <a:t>Note that in each iteration, the RMSE is computed for test fold data and not train data folds.</a:t>
            </a:r>
          </a:p>
          <a:p>
            <a:pPr>
              <a:lnSpc>
                <a:spcPct val="150000"/>
              </a:lnSpc>
              <a:buNone/>
            </a:pPr>
            <a:endParaRPr lang="en-US" sz="1800" dirty="0">
              <a:solidFill>
                <a:srgbClr val="422C16"/>
              </a:solidFill>
            </a:endParaRPr>
          </a:p>
          <a:p>
            <a:pPr>
              <a:lnSpc>
                <a:spcPct val="150000"/>
              </a:lnSpc>
            </a:pPr>
            <a:endParaRPr lang="en-IN" sz="1800" dirty="0"/>
          </a:p>
        </p:txBody>
      </p:sp>
    </p:spTree>
    <p:extLst>
      <p:ext uri="{BB962C8B-B14F-4D97-AF65-F5344CB8AC3E}">
        <p14:creationId xmlns:p14="http://schemas.microsoft.com/office/powerpoint/2010/main" val="333077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838200" y="20128"/>
            <a:ext cx="13656055" cy="2769989"/>
          </a:xfrm>
        </p:spPr>
        <p:txBody>
          <a:bodyPr/>
          <a:lstStyle/>
          <a:p>
            <a:pPr marL="0" indent="0" algn="l">
              <a:buNone/>
            </a:pPr>
            <a:br>
              <a:rPr lang="en-US" sz="3600" dirty="0">
                <a:solidFill>
                  <a:schemeClr val="tx1"/>
                </a:solidFill>
              </a:rPr>
            </a:br>
            <a:r>
              <a:rPr lang="en-US" sz="3600" dirty="0">
                <a:solidFill>
                  <a:schemeClr val="tx1"/>
                </a:solidFill>
              </a:rPr>
              <a:t>Cross Validation in Predictive Modeling</a:t>
            </a:r>
            <a:br>
              <a:rPr lang="en-US" sz="3600" dirty="0">
                <a:solidFill>
                  <a:schemeClr val="tx1"/>
                </a:solidFill>
              </a:rPr>
            </a:br>
            <a:r>
              <a:rPr lang="en-US" sz="3600" dirty="0">
                <a:solidFill>
                  <a:schemeClr val="tx1"/>
                </a:solidFill>
              </a:rPr>
              <a:t>K-Fold Cross-Validation- Average RMSE</a:t>
            </a:r>
            <a:br>
              <a:rPr lang="en-US" sz="3600" dirty="0">
                <a:solidFill>
                  <a:schemeClr val="tx1"/>
                </a:solidFill>
              </a:rPr>
            </a:br>
            <a:r>
              <a:rPr lang="en-US" sz="3600" dirty="0">
                <a:solidFill>
                  <a:schemeClr val="tx1"/>
                </a:solidFill>
              </a:rPr>
              <a:t> </a:t>
            </a:r>
            <a:br>
              <a:rPr lang="en-US" sz="3600" dirty="0">
                <a:solidFill>
                  <a:schemeClr val="tx1"/>
                </a:solidFill>
              </a:rPr>
            </a:br>
            <a:r>
              <a:rPr lang="en-US" sz="3600" dirty="0">
                <a:solidFill>
                  <a:schemeClr val="tx1"/>
                </a:solidFill>
              </a:rPr>
              <a:t> </a:t>
            </a:r>
          </a:p>
        </p:txBody>
      </p:sp>
      <p:pic>
        <p:nvPicPr>
          <p:cNvPr id="4" name="Picture 4" descr="Image result for images k fold cross validation pic">
            <a:extLst>
              <a:ext uri="{FF2B5EF4-FFF2-40B4-BE49-F238E27FC236}">
                <a16:creationId xmlns:a16="http://schemas.microsoft.com/office/drawing/2014/main" id="{F23848F7-3440-BB62-3C58-00135AE999F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667000" y="1905000"/>
            <a:ext cx="8961120" cy="603504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9145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974345" y="312564"/>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Repeated K-Fold Cross-Validation</a:t>
            </a:r>
            <a:endParaRPr lang="en-US" sz="3600" dirty="0"/>
          </a:p>
        </p:txBody>
      </p:sp>
      <p:sp>
        <p:nvSpPr>
          <p:cNvPr id="5" name="TextBox 4">
            <a:extLst>
              <a:ext uri="{FF2B5EF4-FFF2-40B4-BE49-F238E27FC236}">
                <a16:creationId xmlns:a16="http://schemas.microsoft.com/office/drawing/2014/main" id="{849733B5-6293-226A-F4E1-E325F0FA3405}"/>
              </a:ext>
            </a:extLst>
          </p:cNvPr>
          <p:cNvSpPr txBox="1"/>
          <p:nvPr/>
        </p:nvSpPr>
        <p:spPr>
          <a:xfrm>
            <a:off x="974344" y="1752600"/>
            <a:ext cx="12970255" cy="1995611"/>
          </a:xfrm>
          <a:prstGeom prst="rect">
            <a:avLst/>
          </a:prstGeom>
          <a:noFill/>
        </p:spPr>
        <p:txBody>
          <a:bodyPr wrap="square">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K-fold cross-validation can be repeated 'm' times to arrive at more robust measure of model performance. Repeated k-fold CV does the same as above but more than once. For example, five repeats of 10-fold CV would give 50 total resamples that are averaged.</a:t>
            </a:r>
          </a:p>
          <a:p>
            <a:pPr marL="0" indent="0" algn="l">
              <a:lnSpc>
                <a:spcPts val="2500"/>
              </a:lnSpc>
              <a:buNone/>
            </a:pPr>
            <a:endParaRPr lang="en-US" dirty="0">
              <a:solidFill>
                <a:srgbClr val="383838"/>
              </a:solidFill>
              <a:latin typeface="PT Serif" panose="020A0603040505020204" pitchFamily="18" charset="0"/>
            </a:endParaRPr>
          </a:p>
          <a:p>
            <a:pPr algn="l">
              <a:lnSpc>
                <a:spcPts val="2500"/>
              </a:lnSpc>
            </a:pPr>
            <a:r>
              <a:rPr lang="en-US" b="1" dirty="0">
                <a:solidFill>
                  <a:srgbClr val="000000"/>
                </a:solidFill>
                <a:latin typeface="PT Serif" panose="020A0603040505020204" pitchFamily="18" charset="0"/>
                <a:ea typeface="DM Sans" pitchFamily="34" charset="-122"/>
                <a:cs typeface="DM Sans" pitchFamily="34" charset="-120"/>
              </a:rPr>
              <a:t>Important Note:</a:t>
            </a:r>
            <a:r>
              <a:rPr lang="en-US" dirty="0">
                <a:solidFill>
                  <a:srgbClr val="000000"/>
                </a:solidFill>
                <a:latin typeface="PT Serif" panose="020A0603040505020204" pitchFamily="18" charset="0"/>
                <a:ea typeface="DM Sans" pitchFamily="34" charset="-122"/>
                <a:cs typeface="DM Sans" pitchFamily="34" charset="-120"/>
              </a:rPr>
              <a:t> This is not the same as 50-fold CV. The process requires computer with good computing power.</a:t>
            </a:r>
            <a:endParaRPr lang="en-US" dirty="0">
              <a:latin typeface="PT Serif" panose="020A0603040505020204" pitchFamily="18" charset="0"/>
            </a:endParaRPr>
          </a:p>
          <a:p>
            <a:pPr marL="0" indent="0" algn="l">
              <a:lnSpc>
                <a:spcPts val="2500"/>
              </a:lnSpc>
              <a:buNone/>
            </a:pPr>
            <a:endParaRPr lang="en-US" dirty="0">
              <a:latin typeface="PT Serif" panose="020A0603040505020204" pitchFamily="18" charset="0"/>
            </a:endParaRPr>
          </a:p>
        </p:txBody>
      </p:sp>
      <p:sp>
        <p:nvSpPr>
          <p:cNvPr id="6" name="Shape 2">
            <a:extLst>
              <a:ext uri="{FF2B5EF4-FFF2-40B4-BE49-F238E27FC236}">
                <a16:creationId xmlns:a16="http://schemas.microsoft.com/office/drawing/2014/main" id="{2E417A8F-DE29-0EFD-4108-138C9591C3DA}"/>
              </a:ext>
            </a:extLst>
          </p:cNvPr>
          <p:cNvSpPr/>
          <p:nvPr/>
        </p:nvSpPr>
        <p:spPr>
          <a:xfrm>
            <a:off x="152400" y="4109049"/>
            <a:ext cx="4664456" cy="2590800"/>
          </a:xfrm>
          <a:prstGeom prst="roundRect">
            <a:avLst>
              <a:gd name="adj" fmla="val 1410"/>
            </a:avLst>
          </a:prstGeom>
          <a:solidFill>
            <a:srgbClr val="F2EEEE"/>
          </a:solidFill>
          <a:ln/>
        </p:spPr>
        <p:txBody>
          <a:bodyPr/>
          <a:lstStyle/>
          <a:p>
            <a:pPr marL="0" indent="0" algn="ctr">
              <a:lnSpc>
                <a:spcPct val="200000"/>
              </a:lnSpc>
              <a:buNone/>
            </a:pPr>
            <a:r>
              <a:rPr lang="en-US" sz="4000" dirty="0">
                <a:solidFill>
                  <a:srgbClr val="383838"/>
                </a:solidFill>
                <a:latin typeface="PT Serif" panose="020A0603040505020204" pitchFamily="18" charset="0"/>
                <a:ea typeface="PT Serif" pitchFamily="34" charset="-122"/>
                <a:cs typeface="PT Serif" pitchFamily="34" charset="-120"/>
              </a:rPr>
              <a:t>10</a:t>
            </a:r>
            <a:endParaRPr lang="en-US" dirty="0">
              <a:solidFill>
                <a:srgbClr val="383838"/>
              </a:solidFill>
              <a:latin typeface="PT Serif" panose="020A0603040505020204" pitchFamily="18" charset="0"/>
            </a:endParaRPr>
          </a:p>
          <a:p>
            <a:pPr algn="ctr">
              <a:lnSpc>
                <a:spcPct val="200000"/>
              </a:lnSpc>
            </a:pPr>
            <a:r>
              <a:rPr lang="en-US" dirty="0">
                <a:solidFill>
                  <a:srgbClr val="383838"/>
                </a:solidFill>
                <a:latin typeface="PT Serif" panose="020A0603040505020204" pitchFamily="18" charset="0"/>
                <a:ea typeface="PT Serif" pitchFamily="34" charset="-122"/>
                <a:cs typeface="PT Serif" pitchFamily="34" charset="-120"/>
              </a:rPr>
              <a:t>Typical Folds</a:t>
            </a:r>
            <a:endParaRPr lang="en-US" dirty="0">
              <a:latin typeface="PT Serif" panose="020A0603040505020204" pitchFamily="18" charset="0"/>
            </a:endParaRPr>
          </a:p>
          <a:p>
            <a:pPr algn="ctr">
              <a:lnSpc>
                <a:spcPct val="200000"/>
              </a:lnSpc>
            </a:pPr>
            <a:r>
              <a:rPr lang="en-US" dirty="0">
                <a:solidFill>
                  <a:srgbClr val="383838"/>
                </a:solidFill>
                <a:latin typeface="PT Serif" panose="020A0603040505020204" pitchFamily="18" charset="0"/>
                <a:ea typeface="DM Sans" pitchFamily="34" charset="-122"/>
                <a:cs typeface="DM Sans" pitchFamily="34" charset="-120"/>
              </a:rPr>
              <a:t>Standard number of folds used in practice</a:t>
            </a:r>
            <a:endParaRPr lang="en-US" dirty="0">
              <a:latin typeface="PT Serif" panose="020A0603040505020204" pitchFamily="18" charset="0"/>
            </a:endParaRPr>
          </a:p>
          <a:p>
            <a:pPr marL="0" indent="0" algn="ctr">
              <a:lnSpc>
                <a:spcPts val="5150"/>
              </a:lnSpc>
              <a:buNone/>
            </a:pPr>
            <a:endParaRPr lang="en-US" dirty="0">
              <a:latin typeface="PT Serif" panose="020A0603040505020204" pitchFamily="18" charset="0"/>
            </a:endParaRPr>
          </a:p>
        </p:txBody>
      </p:sp>
      <p:sp>
        <p:nvSpPr>
          <p:cNvPr id="7" name="Shape 2">
            <a:extLst>
              <a:ext uri="{FF2B5EF4-FFF2-40B4-BE49-F238E27FC236}">
                <a16:creationId xmlns:a16="http://schemas.microsoft.com/office/drawing/2014/main" id="{AC679014-6A4A-F2DD-2CC1-4CCA125D224F}"/>
              </a:ext>
            </a:extLst>
          </p:cNvPr>
          <p:cNvSpPr/>
          <p:nvPr/>
        </p:nvSpPr>
        <p:spPr>
          <a:xfrm>
            <a:off x="9814984" y="4109049"/>
            <a:ext cx="4664456" cy="2590800"/>
          </a:xfrm>
          <a:prstGeom prst="roundRect">
            <a:avLst>
              <a:gd name="adj" fmla="val 1410"/>
            </a:avLst>
          </a:prstGeom>
          <a:solidFill>
            <a:srgbClr val="F2EEEE"/>
          </a:solidFill>
          <a:ln/>
        </p:spPr>
        <p:txBody>
          <a:bodyPr/>
          <a:lstStyle/>
          <a:p>
            <a:pPr marL="0" indent="0" algn="ctr">
              <a:lnSpc>
                <a:spcPct val="200000"/>
              </a:lnSpc>
              <a:buNone/>
            </a:pPr>
            <a:r>
              <a:rPr lang="en-US" sz="4000" dirty="0">
                <a:solidFill>
                  <a:srgbClr val="383838"/>
                </a:solidFill>
                <a:latin typeface="PT Serif" panose="020A0603040505020204" pitchFamily="18" charset="0"/>
                <a:ea typeface="PT Serif" pitchFamily="34" charset="-122"/>
                <a:cs typeface="PT Serif" pitchFamily="34" charset="-120"/>
              </a:rPr>
              <a:t>50</a:t>
            </a:r>
            <a:endParaRPr lang="en-US" sz="40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PT Serif" pitchFamily="34" charset="-122"/>
                <a:cs typeface="PT Serif" pitchFamily="34" charset="-120"/>
              </a:rPr>
              <a:t>Total Resamples</a:t>
            </a:r>
            <a:endParaRPr lang="en-US" sz="18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Five repeats of 10-fold CV</a:t>
            </a:r>
            <a:endParaRPr lang="en-US" sz="1800" dirty="0">
              <a:latin typeface="PT Serif" panose="020A0603040505020204" pitchFamily="18" charset="0"/>
            </a:endParaRPr>
          </a:p>
          <a:p>
            <a:pPr marL="0" indent="0" algn="ctr">
              <a:lnSpc>
                <a:spcPct val="200000"/>
              </a:lnSpc>
              <a:buNone/>
            </a:pPr>
            <a:endParaRPr lang="en-US" dirty="0">
              <a:latin typeface="PT Serif" panose="020A0603040505020204" pitchFamily="18" charset="0"/>
            </a:endParaRPr>
          </a:p>
        </p:txBody>
      </p:sp>
      <p:sp>
        <p:nvSpPr>
          <p:cNvPr id="8" name="Shape 2">
            <a:extLst>
              <a:ext uri="{FF2B5EF4-FFF2-40B4-BE49-F238E27FC236}">
                <a16:creationId xmlns:a16="http://schemas.microsoft.com/office/drawing/2014/main" id="{AE60534B-BFEB-3D0E-CBBD-5517814799A5}"/>
              </a:ext>
            </a:extLst>
          </p:cNvPr>
          <p:cNvSpPr/>
          <p:nvPr/>
        </p:nvSpPr>
        <p:spPr>
          <a:xfrm>
            <a:off x="4953000" y="4109049"/>
            <a:ext cx="4664456" cy="2590800"/>
          </a:xfrm>
          <a:prstGeom prst="roundRect">
            <a:avLst>
              <a:gd name="adj" fmla="val 1410"/>
            </a:avLst>
          </a:prstGeom>
          <a:solidFill>
            <a:srgbClr val="F2EEEE"/>
          </a:solidFill>
          <a:ln/>
        </p:spPr>
        <p:txBody>
          <a:bodyPr/>
          <a:lstStyle/>
          <a:p>
            <a:pPr marL="0" indent="0" algn="ctr">
              <a:lnSpc>
                <a:spcPct val="200000"/>
              </a:lnSpc>
              <a:buNone/>
            </a:pPr>
            <a:r>
              <a:rPr lang="en-US" sz="4000" dirty="0">
                <a:solidFill>
                  <a:srgbClr val="383838"/>
                </a:solidFill>
                <a:latin typeface="PT Serif" panose="020A0603040505020204" pitchFamily="18" charset="0"/>
                <a:ea typeface="PT Serif" pitchFamily="34" charset="-122"/>
                <a:cs typeface="PT Serif" pitchFamily="34" charset="-120"/>
              </a:rPr>
              <a:t>5</a:t>
            </a:r>
            <a:endParaRPr lang="en-US" sz="40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PT Serif" pitchFamily="34" charset="-122"/>
                <a:cs typeface="PT Serif" pitchFamily="34" charset="-120"/>
              </a:rPr>
              <a:t>Common Repeats</a:t>
            </a:r>
            <a:endParaRPr lang="en-US" sz="18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Number of times to repeat the process</a:t>
            </a:r>
            <a:endParaRPr lang="en-US" sz="1800" dirty="0">
              <a:latin typeface="PT Serif" panose="020A0603040505020204" pitchFamily="18" charset="0"/>
            </a:endParaRPr>
          </a:p>
          <a:p>
            <a:pPr marL="0" indent="0" algn="ctr">
              <a:lnSpc>
                <a:spcPct val="20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1085307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51560" y="609600"/>
            <a:ext cx="10058400" cy="1107996"/>
          </a:xfrm>
        </p:spPr>
        <p:txBody>
          <a:bodyPr/>
          <a:lstStyle/>
          <a:p>
            <a:r>
              <a:rPr sz="3600" dirty="0">
                <a:solidFill>
                  <a:schemeClr val="tx1"/>
                </a:solidFill>
              </a:rPr>
              <a:t>Cross Validation in Predictive Modeling</a:t>
            </a:r>
            <a:br>
              <a:rPr sz="3600" dirty="0">
                <a:solidFill>
                  <a:schemeClr val="tx1"/>
                </a:solidFill>
              </a:rPr>
            </a:br>
            <a:r>
              <a:rPr sz="3600" dirty="0">
                <a:solidFill>
                  <a:schemeClr val="tx1"/>
                </a:solidFill>
              </a:rPr>
              <a:t>Leave-One-Out Cross-Validation(LOOCV)</a:t>
            </a:r>
            <a:r>
              <a:rPr sz="3600" dirty="0">
                <a:solidFill>
                  <a:srgbClr val="000099"/>
                </a:solidFill>
              </a:rPr>
              <a:t> </a:t>
            </a:r>
            <a:endParaRPr lang="en-US" sz="3600" dirty="0">
              <a:solidFill>
                <a:srgbClr val="000099"/>
              </a:solidFill>
            </a:endParaRPr>
          </a:p>
        </p:txBody>
      </p:sp>
      <p:sp>
        <p:nvSpPr>
          <p:cNvPr id="18435" name="Rectangle 3"/>
          <p:cNvSpPr>
            <a:spLocks noGrp="1" noChangeArrowheads="1"/>
          </p:cNvSpPr>
          <p:nvPr>
            <p:ph type="body" idx="1"/>
          </p:nvPr>
        </p:nvSpPr>
        <p:spPr>
          <a:xfrm>
            <a:off x="1051560" y="2233484"/>
            <a:ext cx="12588240" cy="5025030"/>
          </a:xfrm>
        </p:spPr>
        <p:txBody>
          <a:bodyPr/>
          <a:lstStyle/>
          <a:p>
            <a:pPr marL="537210" indent="-548640">
              <a:lnSpc>
                <a:spcPct val="150000"/>
              </a:lnSpc>
              <a:defRPr/>
            </a:pPr>
            <a:endParaRPr sz="2160" dirty="0">
              <a:solidFill>
                <a:srgbClr val="422C16"/>
              </a:solidFill>
            </a:endParaRPr>
          </a:p>
          <a:p>
            <a:pPr>
              <a:lnSpc>
                <a:spcPct val="150000"/>
              </a:lnSpc>
            </a:pPr>
            <a:r>
              <a:rPr sz="1800" dirty="0">
                <a:solidFill>
                  <a:schemeClr val="tx1"/>
                </a:solidFill>
              </a:rPr>
              <a:t>Leave-one-out cross-validation (LOOCV) is a special case of k-fold cross-validation where k equals the sample size (k=n)</a:t>
            </a:r>
          </a:p>
          <a:p>
            <a:pPr>
              <a:lnSpc>
                <a:spcPct val="150000"/>
              </a:lnSpc>
            </a:pPr>
            <a:endParaRPr sz="1800" dirty="0">
              <a:solidFill>
                <a:schemeClr val="tx1"/>
              </a:solidFill>
            </a:endParaRPr>
          </a:p>
          <a:p>
            <a:pPr>
              <a:lnSpc>
                <a:spcPct val="150000"/>
              </a:lnSpc>
            </a:pPr>
            <a:r>
              <a:rPr sz="1800" dirty="0">
                <a:solidFill>
                  <a:schemeClr val="tx1"/>
                </a:solidFill>
              </a:rPr>
              <a:t>Let observation number </a:t>
            </a:r>
            <a:r>
              <a:rPr sz="1800" dirty="0" err="1">
                <a:solidFill>
                  <a:schemeClr val="tx1"/>
                </a:solidFill>
              </a:rPr>
              <a:t>i</a:t>
            </a:r>
            <a:r>
              <a:rPr sz="1800" dirty="0">
                <a:solidFill>
                  <a:schemeClr val="tx1"/>
                </a:solidFill>
              </a:rPr>
              <a:t> is </a:t>
            </a:r>
            <a:r>
              <a:rPr lang="en-IN" sz="1800" dirty="0">
                <a:solidFill>
                  <a:schemeClr val="tx1"/>
                </a:solidFill>
              </a:rPr>
              <a:t>kept</a:t>
            </a:r>
            <a:r>
              <a:rPr sz="1800" dirty="0">
                <a:solidFill>
                  <a:schemeClr val="tx1"/>
                </a:solidFill>
              </a:rPr>
              <a:t> aside.</a:t>
            </a:r>
            <a:r>
              <a:rPr lang="en-IN" sz="1800" dirty="0">
                <a:solidFill>
                  <a:schemeClr val="tx1"/>
                </a:solidFill>
              </a:rPr>
              <a:t> </a:t>
            </a:r>
            <a:r>
              <a:rPr sz="1800" dirty="0">
                <a:solidFill>
                  <a:schemeClr val="tx1"/>
                </a:solidFill>
              </a:rPr>
              <a:t>The model is developed using the remaining data. Observation number </a:t>
            </a:r>
            <a:r>
              <a:rPr sz="1800" dirty="0" err="1">
                <a:solidFill>
                  <a:schemeClr val="tx1"/>
                </a:solidFill>
              </a:rPr>
              <a:t>i</a:t>
            </a:r>
            <a:r>
              <a:rPr sz="1800" dirty="0">
                <a:solidFill>
                  <a:schemeClr val="tx1"/>
                </a:solidFill>
              </a:rPr>
              <a:t> is predicted using the model and error is computed.  </a:t>
            </a:r>
          </a:p>
          <a:p>
            <a:pPr>
              <a:lnSpc>
                <a:spcPct val="150000"/>
              </a:lnSpc>
            </a:pPr>
            <a:endParaRPr sz="1800" dirty="0">
              <a:solidFill>
                <a:schemeClr val="tx1"/>
              </a:solidFill>
            </a:endParaRPr>
          </a:p>
          <a:p>
            <a:pPr>
              <a:lnSpc>
                <a:spcPct val="150000"/>
              </a:lnSpc>
            </a:pPr>
            <a:endParaRPr lang="en-IN" sz="1800" dirty="0">
              <a:solidFill>
                <a:schemeClr val="tx1"/>
              </a:solidFill>
            </a:endParaRPr>
          </a:p>
          <a:p>
            <a:pPr>
              <a:lnSpc>
                <a:spcPct val="150000"/>
              </a:lnSpc>
            </a:pPr>
            <a:endParaRPr lang="en-IN" sz="1800" dirty="0">
              <a:solidFill>
                <a:schemeClr val="tx1"/>
              </a:solidFill>
            </a:endParaRPr>
          </a:p>
          <a:p>
            <a:pPr>
              <a:lnSpc>
                <a:spcPct val="150000"/>
              </a:lnSpc>
            </a:pPr>
            <a:endParaRPr sz="1800" dirty="0">
              <a:solidFill>
                <a:schemeClr val="tx1"/>
              </a:solidFill>
            </a:endParaRPr>
          </a:p>
          <a:p>
            <a:pPr>
              <a:lnSpc>
                <a:spcPct val="150000"/>
              </a:lnSpc>
            </a:pPr>
            <a:r>
              <a:rPr sz="1800" dirty="0">
                <a:solidFill>
                  <a:schemeClr val="tx1"/>
                </a:solidFill>
              </a:rPr>
              <a:t> The process is repeated for all </a:t>
            </a:r>
            <a:r>
              <a:rPr sz="1800" dirty="0" err="1">
                <a:solidFill>
                  <a:schemeClr val="tx1"/>
                </a:solidFill>
              </a:rPr>
              <a:t>i</a:t>
            </a:r>
            <a:r>
              <a:rPr sz="1800" dirty="0">
                <a:solidFill>
                  <a:schemeClr val="tx1"/>
                </a:solidFill>
              </a:rPr>
              <a:t> ( repeated n times).</a:t>
            </a:r>
          </a:p>
          <a:p>
            <a:pPr>
              <a:lnSpc>
                <a:spcPct val="150000"/>
              </a:lnSpc>
            </a:pPr>
            <a:endParaRPr sz="1800" dirty="0">
              <a:solidFill>
                <a:schemeClr val="tx1"/>
              </a:solidFill>
            </a:endParaRPr>
          </a:p>
          <a:p>
            <a:pPr>
              <a:lnSpc>
                <a:spcPct val="150000"/>
              </a:lnSpc>
            </a:pPr>
            <a:r>
              <a:rPr sz="1800" dirty="0">
                <a:solidFill>
                  <a:schemeClr val="tx1"/>
                </a:solidFill>
              </a:rPr>
              <a:t> RMSE is computed based on these predicted residuals.</a:t>
            </a:r>
            <a:r>
              <a:rPr lang="en-US" sz="1800" dirty="0">
                <a:solidFill>
                  <a:schemeClr val="tx1"/>
                </a:solidFill>
              </a:rPr>
              <a:t> The method is computationally very intensive for large datasets.</a:t>
            </a:r>
            <a:endParaRPr lang="en-US" sz="2160" dirty="0">
              <a:solidFill>
                <a:srgbClr val="422C16"/>
              </a:solidFill>
            </a:endParaRPr>
          </a:p>
        </p:txBody>
      </p:sp>
      <p:pic>
        <p:nvPicPr>
          <p:cNvPr id="52226" name="Picture 2" descr="(e_{i}^*=y_{i}-\hat{y}_{i})"/>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4191000" y="4876800"/>
            <a:ext cx="2209800" cy="427703"/>
          </a:xfrm>
          <a:prstGeom prst="rect">
            <a:avLst/>
          </a:prstGeom>
          <a:noFill/>
        </p:spPr>
      </p:pic>
      <p:sp>
        <p:nvSpPr>
          <p:cNvPr id="5" name="Slide Number Placeholder 4"/>
          <p:cNvSpPr>
            <a:spLocks noGrp="1"/>
          </p:cNvSpPr>
          <p:nvPr>
            <p:ph type="sldNum" sz="quarter" idx="12"/>
          </p:nvPr>
        </p:nvSpPr>
        <p:spPr/>
        <p:txBody>
          <a:bodyPr/>
          <a:lstStyle/>
          <a:p>
            <a:r>
              <a:rPr lang="en-US" dirty="0"/>
              <a:t> </a:t>
            </a:r>
          </a:p>
        </p:txBody>
      </p:sp>
    </p:spTree>
    <p:extLst>
      <p:ext uri="{BB962C8B-B14F-4D97-AF65-F5344CB8AC3E}">
        <p14:creationId xmlns:p14="http://schemas.microsoft.com/office/powerpoint/2010/main" val="3153997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7406641" y="6173928"/>
            <a:ext cx="4277984" cy="384048"/>
            <a:chOff x="745163" y="3642360"/>
            <a:chExt cx="3564987" cy="320040"/>
          </a:xfrm>
        </p:grpSpPr>
        <p:sp>
          <p:nvSpPr>
            <p:cNvPr id="32" name="Rectangle 31"/>
            <p:cNvSpPr/>
            <p:nvPr/>
          </p:nvSpPr>
          <p:spPr>
            <a:xfrm>
              <a:off x="3945831"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9</a:t>
              </a:r>
            </a:p>
          </p:txBody>
        </p:sp>
        <p:sp>
          <p:nvSpPr>
            <p:cNvPr id="33" name="Rectangle 32"/>
            <p:cNvSpPr/>
            <p:nvPr/>
          </p:nvSpPr>
          <p:spPr>
            <a:xfrm>
              <a:off x="2150069"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4</a:t>
              </a:r>
            </a:p>
          </p:txBody>
        </p:sp>
        <p:sp>
          <p:nvSpPr>
            <p:cNvPr id="34" name="Rectangle 33"/>
            <p:cNvSpPr/>
            <p:nvPr/>
          </p:nvSpPr>
          <p:spPr>
            <a:xfrm>
              <a:off x="2607213"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5</a:t>
              </a:r>
            </a:p>
          </p:txBody>
        </p:sp>
        <p:sp>
          <p:nvSpPr>
            <p:cNvPr id="35" name="Rectangle 34"/>
            <p:cNvSpPr/>
            <p:nvPr/>
          </p:nvSpPr>
          <p:spPr>
            <a:xfrm>
              <a:off x="1218988"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2</a:t>
              </a:r>
            </a:p>
          </p:txBody>
        </p:sp>
        <p:sp>
          <p:nvSpPr>
            <p:cNvPr id="36" name="Rectangle 35"/>
            <p:cNvSpPr/>
            <p:nvPr/>
          </p:nvSpPr>
          <p:spPr>
            <a:xfrm>
              <a:off x="3048000"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6</a:t>
              </a:r>
            </a:p>
          </p:txBody>
        </p:sp>
        <p:sp>
          <p:nvSpPr>
            <p:cNvPr id="37" name="Rectangle 36"/>
            <p:cNvSpPr/>
            <p:nvPr/>
          </p:nvSpPr>
          <p:spPr>
            <a:xfrm>
              <a:off x="3498751"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8</a:t>
              </a:r>
            </a:p>
          </p:txBody>
        </p:sp>
        <p:sp>
          <p:nvSpPr>
            <p:cNvPr id="38" name="Rectangle 37"/>
            <p:cNvSpPr/>
            <p:nvPr/>
          </p:nvSpPr>
          <p:spPr>
            <a:xfrm>
              <a:off x="1676188"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3</a:t>
              </a:r>
            </a:p>
          </p:txBody>
        </p:sp>
        <p:sp>
          <p:nvSpPr>
            <p:cNvPr id="39" name="Rectangle 38"/>
            <p:cNvSpPr/>
            <p:nvPr/>
          </p:nvSpPr>
          <p:spPr>
            <a:xfrm>
              <a:off x="745163" y="3642360"/>
              <a:ext cx="364319" cy="32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1</a:t>
              </a:r>
            </a:p>
          </p:txBody>
        </p:sp>
      </p:grpSp>
      <p:sp>
        <p:nvSpPr>
          <p:cNvPr id="25" name="Rounded Rectangle 24"/>
          <p:cNvSpPr/>
          <p:nvPr/>
        </p:nvSpPr>
        <p:spPr>
          <a:xfrm>
            <a:off x="1803565" y="3430716"/>
            <a:ext cx="3790603" cy="4599169"/>
          </a:xfrm>
          <a:prstGeom prst="roundRect">
            <a:avLst>
              <a:gd name="adj" fmla="val 6311"/>
            </a:avLst>
          </a:prstGeom>
          <a:solidFill>
            <a:srgbClr val="E2F2F6"/>
          </a:solidFill>
          <a:ln w="3175">
            <a:noFill/>
          </a:ln>
        </p:spPr>
        <p:txBody>
          <a:bodyPr wrap="square" anchor="ctr">
            <a:spAutoFit/>
          </a:bodyPr>
          <a:lstStyle/>
          <a:p>
            <a:pPr marL="342900" indent="-342900">
              <a:lnSpc>
                <a:spcPct val="150000"/>
              </a:lnSpc>
              <a:buFont typeface="Arial" pitchFamily="34" charset="0"/>
              <a:buChar char="•"/>
            </a:pPr>
            <a:r>
              <a:rPr lang="en-US" sz="1920" dirty="0">
                <a:solidFill>
                  <a:schemeClr val="tx1">
                    <a:lumMod val="75000"/>
                    <a:lumOff val="25000"/>
                  </a:schemeClr>
                </a:solidFill>
              </a:rPr>
              <a:t>Sample size is 10 and one observations (say 7) is chosen to be kept aside</a:t>
            </a:r>
          </a:p>
          <a:p>
            <a:pPr marL="342900" indent="-342900">
              <a:lnSpc>
                <a:spcPct val="150000"/>
              </a:lnSpc>
              <a:buFont typeface="Arial" pitchFamily="34" charset="0"/>
              <a:buChar char="•"/>
            </a:pPr>
            <a:r>
              <a:rPr lang="en-US" sz="1920" dirty="0">
                <a:solidFill>
                  <a:schemeClr val="tx1">
                    <a:lumMod val="75000"/>
                    <a:lumOff val="25000"/>
                  </a:schemeClr>
                </a:solidFill>
              </a:rPr>
              <a:t>The model is developed on the new sample with n=9 and observation  7 is predicted. The process is repeated for each observation as “Test Observation”</a:t>
            </a:r>
          </a:p>
        </p:txBody>
      </p:sp>
      <p:sp>
        <p:nvSpPr>
          <p:cNvPr id="4" name="Rectangle 3"/>
          <p:cNvSpPr/>
          <p:nvPr/>
        </p:nvSpPr>
        <p:spPr>
          <a:xfrm>
            <a:off x="11907218"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10</a:t>
            </a:r>
          </a:p>
        </p:txBody>
      </p:sp>
      <p:sp>
        <p:nvSpPr>
          <p:cNvPr id="16" name="Rectangle 15"/>
          <p:cNvSpPr/>
          <p:nvPr/>
        </p:nvSpPr>
        <p:spPr>
          <a:xfrm>
            <a:off x="11338373"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9</a:t>
            </a:r>
          </a:p>
        </p:txBody>
      </p:sp>
      <p:sp>
        <p:nvSpPr>
          <p:cNvPr id="17" name="Rectangle 16"/>
          <p:cNvSpPr/>
          <p:nvPr/>
        </p:nvSpPr>
        <p:spPr>
          <a:xfrm>
            <a:off x="8615123"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4</a:t>
            </a:r>
          </a:p>
        </p:txBody>
      </p:sp>
      <p:sp>
        <p:nvSpPr>
          <p:cNvPr id="18" name="Rectangle 17"/>
          <p:cNvSpPr/>
          <p:nvPr/>
        </p:nvSpPr>
        <p:spPr>
          <a:xfrm>
            <a:off x="9163696"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5</a:t>
            </a:r>
          </a:p>
        </p:txBody>
      </p:sp>
      <p:sp>
        <p:nvSpPr>
          <p:cNvPr id="19" name="Rectangle 18"/>
          <p:cNvSpPr/>
          <p:nvPr/>
        </p:nvSpPr>
        <p:spPr>
          <a:xfrm>
            <a:off x="7497826"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2</a:t>
            </a:r>
          </a:p>
        </p:txBody>
      </p:sp>
      <p:sp>
        <p:nvSpPr>
          <p:cNvPr id="26" name="Rectangle 25"/>
          <p:cNvSpPr/>
          <p:nvPr/>
        </p:nvSpPr>
        <p:spPr>
          <a:xfrm>
            <a:off x="9712336"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6</a:t>
            </a:r>
          </a:p>
        </p:txBody>
      </p:sp>
      <p:sp>
        <p:nvSpPr>
          <p:cNvPr id="27" name="Rectangle 26"/>
          <p:cNvSpPr/>
          <p:nvPr/>
        </p:nvSpPr>
        <p:spPr>
          <a:xfrm>
            <a:off x="10260976"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7</a:t>
            </a:r>
          </a:p>
        </p:txBody>
      </p:sp>
      <p:sp>
        <p:nvSpPr>
          <p:cNvPr id="28" name="Rectangle 27"/>
          <p:cNvSpPr/>
          <p:nvPr/>
        </p:nvSpPr>
        <p:spPr>
          <a:xfrm>
            <a:off x="10801877"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8</a:t>
            </a:r>
          </a:p>
        </p:txBody>
      </p:sp>
      <p:sp>
        <p:nvSpPr>
          <p:cNvPr id="29" name="Rectangle 28"/>
          <p:cNvSpPr/>
          <p:nvPr/>
        </p:nvSpPr>
        <p:spPr>
          <a:xfrm>
            <a:off x="8046466"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3</a:t>
            </a:r>
          </a:p>
        </p:txBody>
      </p:sp>
      <p:sp>
        <p:nvSpPr>
          <p:cNvPr id="30" name="Rectangle 29"/>
          <p:cNvSpPr/>
          <p:nvPr/>
        </p:nvSpPr>
        <p:spPr>
          <a:xfrm>
            <a:off x="6929236" y="4912056"/>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1</a:t>
            </a:r>
          </a:p>
        </p:txBody>
      </p:sp>
      <p:sp>
        <p:nvSpPr>
          <p:cNvPr id="41" name="Rectangle 40"/>
          <p:cNvSpPr/>
          <p:nvPr/>
        </p:nvSpPr>
        <p:spPr>
          <a:xfrm>
            <a:off x="9621218" y="6814008"/>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7</a:t>
            </a:r>
          </a:p>
        </p:txBody>
      </p:sp>
      <p:sp>
        <p:nvSpPr>
          <p:cNvPr id="31" name="Rectangle 30"/>
          <p:cNvSpPr/>
          <p:nvPr/>
        </p:nvSpPr>
        <p:spPr>
          <a:xfrm>
            <a:off x="11808500" y="6188630"/>
            <a:ext cx="437183"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40" b="1" dirty="0"/>
              <a:t>10</a:t>
            </a:r>
          </a:p>
        </p:txBody>
      </p:sp>
      <p:sp>
        <p:nvSpPr>
          <p:cNvPr id="40" name="Rectangle 2">
            <a:extLst>
              <a:ext uri="{FF2B5EF4-FFF2-40B4-BE49-F238E27FC236}">
                <a16:creationId xmlns:a16="http://schemas.microsoft.com/office/drawing/2014/main" id="{FFA93493-7A71-C046-A745-E13FC413A33C}"/>
              </a:ext>
            </a:extLst>
          </p:cNvPr>
          <p:cNvSpPr>
            <a:spLocks noGrp="1" noChangeArrowheads="1"/>
          </p:cNvSpPr>
          <p:nvPr>
            <p:ph type="title"/>
          </p:nvPr>
        </p:nvSpPr>
        <p:spPr>
          <a:xfrm>
            <a:off x="613526" y="533400"/>
            <a:ext cx="10058400" cy="1107996"/>
          </a:xfrm>
        </p:spPr>
        <p:txBody>
          <a:bodyPr/>
          <a:lstStyle/>
          <a:p>
            <a:r>
              <a:rPr sz="3600" dirty="0">
                <a:solidFill>
                  <a:schemeClr val="tx1"/>
                </a:solidFill>
              </a:rPr>
              <a:t>Cross Validation in Predictive Modeling</a:t>
            </a:r>
            <a:br>
              <a:rPr sz="3600" dirty="0">
                <a:solidFill>
                  <a:schemeClr val="tx1"/>
                </a:solidFill>
              </a:rPr>
            </a:br>
            <a:r>
              <a:rPr sz="3600" dirty="0">
                <a:solidFill>
                  <a:schemeClr val="tx1"/>
                </a:solidFill>
              </a:rPr>
              <a:t>Leave-One-Out Cross-Validation(LOOCV)</a:t>
            </a:r>
            <a:r>
              <a:rPr sz="3600" dirty="0">
                <a:solidFill>
                  <a:srgbClr val="000099"/>
                </a:solidFill>
              </a:rPr>
              <a:t> </a:t>
            </a:r>
            <a:endParaRPr lang="en-US" sz="3600" dirty="0">
              <a:solidFill>
                <a:srgbClr val="000099"/>
              </a:solidFill>
            </a:endParaRPr>
          </a:p>
        </p:txBody>
      </p:sp>
    </p:spTree>
    <p:extLst>
      <p:ext uri="{BB962C8B-B14F-4D97-AF65-F5344CB8AC3E}">
        <p14:creationId xmlns:p14="http://schemas.microsoft.com/office/powerpoint/2010/main" val="1614145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
            <a:extLst>
              <a:ext uri="{FF2B5EF4-FFF2-40B4-BE49-F238E27FC236}">
                <a16:creationId xmlns:a16="http://schemas.microsoft.com/office/drawing/2014/main" id="{A9FC2367-E24D-0307-91F7-127E1D2B8BB3}"/>
              </a:ext>
            </a:extLst>
          </p:cNvPr>
          <p:cNvSpPr/>
          <p:nvPr/>
        </p:nvSpPr>
        <p:spPr>
          <a:xfrm>
            <a:off x="793790" y="1998940"/>
            <a:ext cx="6422231" cy="2111573"/>
          </a:xfrm>
          <a:prstGeom prst="roundRect">
            <a:avLst>
              <a:gd name="adj" fmla="val 1410"/>
            </a:avLst>
          </a:prstGeom>
          <a:solidFill>
            <a:srgbClr val="F2EEEE"/>
          </a:solidFill>
          <a:ln/>
        </p:spPr>
      </p:sp>
      <p:sp>
        <p:nvSpPr>
          <p:cNvPr id="6" name="Shape 4">
            <a:extLst>
              <a:ext uri="{FF2B5EF4-FFF2-40B4-BE49-F238E27FC236}">
                <a16:creationId xmlns:a16="http://schemas.microsoft.com/office/drawing/2014/main" id="{C016EE6B-DC41-51A8-1869-75D823C6C93A}"/>
              </a:ext>
            </a:extLst>
          </p:cNvPr>
          <p:cNvSpPr/>
          <p:nvPr/>
        </p:nvSpPr>
        <p:spPr>
          <a:xfrm>
            <a:off x="7414379" y="1998940"/>
            <a:ext cx="6422231" cy="2111573"/>
          </a:xfrm>
          <a:prstGeom prst="roundRect">
            <a:avLst>
              <a:gd name="adj" fmla="val 1410"/>
            </a:avLst>
          </a:prstGeom>
          <a:solidFill>
            <a:srgbClr val="F2EEEE"/>
          </a:solidFill>
          <a:ln/>
        </p:spPr>
      </p:sp>
      <p:sp>
        <p:nvSpPr>
          <p:cNvPr id="7" name="Shape 7">
            <a:extLst>
              <a:ext uri="{FF2B5EF4-FFF2-40B4-BE49-F238E27FC236}">
                <a16:creationId xmlns:a16="http://schemas.microsoft.com/office/drawing/2014/main" id="{F77C8267-B1D8-D6BB-B6AB-B77D8CF71E5C}"/>
              </a:ext>
            </a:extLst>
          </p:cNvPr>
          <p:cNvSpPr/>
          <p:nvPr/>
        </p:nvSpPr>
        <p:spPr>
          <a:xfrm>
            <a:off x="793790" y="4308872"/>
            <a:ext cx="6422231" cy="2396728"/>
          </a:xfrm>
          <a:prstGeom prst="roundRect">
            <a:avLst>
              <a:gd name="adj" fmla="val 1410"/>
            </a:avLst>
          </a:prstGeom>
          <a:solidFill>
            <a:srgbClr val="F2EEEE"/>
          </a:solidFill>
          <a:ln/>
        </p:spPr>
      </p:sp>
      <p:sp>
        <p:nvSpPr>
          <p:cNvPr id="8" name="Shape 10">
            <a:extLst>
              <a:ext uri="{FF2B5EF4-FFF2-40B4-BE49-F238E27FC236}">
                <a16:creationId xmlns:a16="http://schemas.microsoft.com/office/drawing/2014/main" id="{B16DCF59-2F39-2C46-4A13-577D8D2BD334}"/>
              </a:ext>
            </a:extLst>
          </p:cNvPr>
          <p:cNvSpPr/>
          <p:nvPr/>
        </p:nvSpPr>
        <p:spPr>
          <a:xfrm>
            <a:off x="7414379" y="4308872"/>
            <a:ext cx="6422231" cy="2396728"/>
          </a:xfrm>
          <a:prstGeom prst="roundRect">
            <a:avLst>
              <a:gd name="adj" fmla="val 1410"/>
            </a:avLst>
          </a:prstGeom>
          <a:solidFill>
            <a:srgbClr val="F2EEEE"/>
          </a:solidFill>
          <a:ln/>
        </p:spPr>
      </p:sp>
      <p:sp>
        <p:nvSpPr>
          <p:cNvPr id="2" name="Title 1">
            <a:extLst>
              <a:ext uri="{FF2B5EF4-FFF2-40B4-BE49-F238E27FC236}">
                <a16:creationId xmlns:a16="http://schemas.microsoft.com/office/drawing/2014/main" id="{EEB68B5C-71C5-AF2C-A0F0-DE2ECF4808E4}"/>
              </a:ext>
            </a:extLst>
          </p:cNvPr>
          <p:cNvSpPr>
            <a:spLocks noGrp="1"/>
          </p:cNvSpPr>
          <p:nvPr>
            <p:ph type="title"/>
          </p:nvPr>
        </p:nvSpPr>
        <p:spPr>
          <a:xfrm>
            <a:off x="487172" y="681083"/>
            <a:ext cx="13656055" cy="1107996"/>
          </a:xfrm>
        </p:spPr>
        <p:txBody>
          <a:bodyPr/>
          <a:lstStyle/>
          <a:p>
            <a:r>
              <a:rPr lang="en-US" sz="3600" dirty="0">
                <a:solidFill>
                  <a:srgbClr val="020202"/>
                </a:solidFill>
                <a:ea typeface="PT Serif" pitchFamily="34" charset="-122"/>
                <a:cs typeface="PT Serif" pitchFamily="34" charset="-120"/>
              </a:rPr>
              <a:t>Multiple Linear Regression: Key Takeaways</a:t>
            </a:r>
            <a:br>
              <a:rPr lang="en-US" sz="3600" dirty="0"/>
            </a:br>
            <a:endParaRPr lang="en-IN" sz="3600" dirty="0"/>
          </a:p>
        </p:txBody>
      </p:sp>
      <p:sp>
        <p:nvSpPr>
          <p:cNvPr id="3" name="Content Placeholder 2">
            <a:extLst>
              <a:ext uri="{FF2B5EF4-FFF2-40B4-BE49-F238E27FC236}">
                <a16:creationId xmlns:a16="http://schemas.microsoft.com/office/drawing/2014/main" id="{9F5D65C8-FE11-A9F2-4613-0C5B99BC781E}"/>
              </a:ext>
            </a:extLst>
          </p:cNvPr>
          <p:cNvSpPr>
            <a:spLocks noGrp="1"/>
          </p:cNvSpPr>
          <p:nvPr>
            <p:ph sz="half" idx="2"/>
          </p:nvPr>
        </p:nvSpPr>
        <p:spPr>
          <a:xfrm>
            <a:off x="950975" y="2169807"/>
            <a:ext cx="6144770" cy="5262979"/>
          </a:xfrm>
        </p:spPr>
        <p:txBody>
          <a:bodyPr/>
          <a:lstStyle/>
          <a:p>
            <a:pPr algn="l"/>
            <a:r>
              <a:rPr lang="en-US" sz="2400" dirty="0">
                <a:solidFill>
                  <a:srgbClr val="383838"/>
                </a:solidFill>
                <a:ea typeface="PT Serif" pitchFamily="34" charset="-122"/>
                <a:cs typeface="PT Serif" pitchFamily="34" charset="-120"/>
              </a:rPr>
              <a:t>Inferential vs. Machine Learning</a:t>
            </a:r>
          </a:p>
          <a:p>
            <a:pPr algn="l"/>
            <a:endParaRPr lang="en-US" sz="1800" dirty="0">
              <a:solidFill>
                <a:srgbClr val="383838"/>
              </a:solidFill>
            </a:endParaRPr>
          </a:p>
          <a:p>
            <a:pPr algn="l"/>
            <a:r>
              <a:rPr lang="en-US" sz="1800" dirty="0">
                <a:solidFill>
                  <a:srgbClr val="383838"/>
                </a:solidFill>
                <a:ea typeface="DM Sans" pitchFamily="34" charset="-122"/>
                <a:cs typeface="DM Sans" pitchFamily="34" charset="-120"/>
              </a:rPr>
              <a:t>Inferential approaches focus on understanding relationships and statistical significance (p-values, confidence intervals), while ML prioritizes predictive accuracy on unseen data using metrics like RMSE and cross-validation.</a:t>
            </a:r>
          </a:p>
          <a:p>
            <a:pPr algn="l"/>
            <a:endParaRPr lang="en-US" sz="1800" dirty="0">
              <a:solidFill>
                <a:srgbClr val="383838"/>
              </a:solidFill>
              <a:ea typeface="DM Sans" pitchFamily="34" charset="-122"/>
              <a:cs typeface="DM Sans" pitchFamily="34" charset="-120"/>
            </a:endParaRPr>
          </a:p>
          <a:p>
            <a:pPr algn="l"/>
            <a:endParaRPr lang="en-US" sz="1800" dirty="0">
              <a:solidFill>
                <a:srgbClr val="383838"/>
              </a:solidFill>
            </a:endParaRPr>
          </a:p>
          <a:p>
            <a:pPr algn="l"/>
            <a:r>
              <a:rPr lang="en-US" sz="2400" dirty="0">
                <a:solidFill>
                  <a:srgbClr val="383838"/>
                </a:solidFill>
                <a:ea typeface="PT Serif" pitchFamily="34" charset="-122"/>
                <a:cs typeface="PT Serif" pitchFamily="34" charset="-120"/>
              </a:rPr>
              <a:t>Model Evaluation</a:t>
            </a:r>
          </a:p>
          <a:p>
            <a:pPr algn="l"/>
            <a:endParaRPr lang="en-US" sz="2400" dirty="0">
              <a:solidFill>
                <a:srgbClr val="383838"/>
              </a:solidFill>
              <a:ea typeface="PT Serif" pitchFamily="34" charset="-122"/>
              <a:cs typeface="PT Serif" pitchFamily="34" charset="-120"/>
            </a:endParaRPr>
          </a:p>
          <a:p>
            <a:pPr algn="l"/>
            <a:r>
              <a:rPr lang="en-US" sz="1800" dirty="0">
                <a:solidFill>
                  <a:srgbClr val="383838"/>
                </a:solidFill>
                <a:ea typeface="DM Sans" pitchFamily="34" charset="-122"/>
                <a:cs typeface="DM Sans" pitchFamily="34" charset="-120"/>
              </a:rPr>
              <a:t>RMSE measures average prediction error magnitude and is sensitive to outliers. Out-of-sample validation provides realistic performance estimates, as in-sample metrics tend to be overly optimistic about model quality.</a:t>
            </a:r>
            <a:endParaRPr lang="en-US" sz="1800" dirty="0"/>
          </a:p>
          <a:p>
            <a:pPr algn="l"/>
            <a:endParaRPr lang="en-US" sz="1800" dirty="0"/>
          </a:p>
          <a:p>
            <a:pPr algn="l"/>
            <a:endParaRPr lang="en-US" sz="1800" dirty="0"/>
          </a:p>
          <a:p>
            <a:pPr algn="l"/>
            <a:endParaRPr lang="en-US" sz="1800" dirty="0"/>
          </a:p>
          <a:p>
            <a:endParaRPr lang="en-IN" sz="1800" dirty="0"/>
          </a:p>
        </p:txBody>
      </p:sp>
      <p:sp>
        <p:nvSpPr>
          <p:cNvPr id="4" name="Content Placeholder 3">
            <a:extLst>
              <a:ext uri="{FF2B5EF4-FFF2-40B4-BE49-F238E27FC236}">
                <a16:creationId xmlns:a16="http://schemas.microsoft.com/office/drawing/2014/main" id="{C5F1DDBA-B084-B381-4A98-DC725E89B028}"/>
              </a:ext>
            </a:extLst>
          </p:cNvPr>
          <p:cNvSpPr>
            <a:spLocks noGrp="1"/>
          </p:cNvSpPr>
          <p:nvPr>
            <p:ph sz="half" idx="3"/>
          </p:nvPr>
        </p:nvSpPr>
        <p:spPr>
          <a:xfrm>
            <a:off x="7560536" y="2169807"/>
            <a:ext cx="6144770" cy="5539978"/>
          </a:xfrm>
        </p:spPr>
        <p:txBody>
          <a:bodyPr/>
          <a:lstStyle/>
          <a:p>
            <a:pPr algn="l"/>
            <a:r>
              <a:rPr lang="en-US" sz="2400" dirty="0">
                <a:solidFill>
                  <a:srgbClr val="383838"/>
                </a:solidFill>
                <a:ea typeface="PT Serif" pitchFamily="34" charset="-122"/>
                <a:cs typeface="PT Serif" pitchFamily="34" charset="-120"/>
              </a:rPr>
              <a:t>Cross-Validation Methods</a:t>
            </a:r>
          </a:p>
          <a:p>
            <a:pPr algn="l"/>
            <a:endParaRPr lang="en-US" sz="1800" dirty="0">
              <a:solidFill>
                <a:srgbClr val="383838"/>
              </a:solidFill>
            </a:endParaRPr>
          </a:p>
          <a:p>
            <a:pPr algn="l"/>
            <a:r>
              <a:rPr lang="en-US" sz="1800" dirty="0">
                <a:solidFill>
                  <a:srgbClr val="383838"/>
                </a:solidFill>
                <a:ea typeface="DM Sans" pitchFamily="34" charset="-122"/>
                <a:cs typeface="DM Sans" pitchFamily="34" charset="-120"/>
              </a:rPr>
              <a:t>Four essential techniques exist: Hold-Out (70-80% train/test split), K-Fold (k iterations with rotating test folds), Repeated K-Fold (multiple iterations for robustness), and LOOCV (n iterations where k=n).</a:t>
            </a:r>
          </a:p>
          <a:p>
            <a:pPr algn="l"/>
            <a:endParaRPr lang="en-US" sz="1800" dirty="0">
              <a:solidFill>
                <a:srgbClr val="383838"/>
              </a:solidFill>
            </a:endParaRPr>
          </a:p>
          <a:p>
            <a:pPr algn="l"/>
            <a:endParaRPr lang="en-US" sz="1800" dirty="0">
              <a:solidFill>
                <a:srgbClr val="383838"/>
              </a:solidFill>
            </a:endParaRPr>
          </a:p>
          <a:p>
            <a:pPr algn="l"/>
            <a:r>
              <a:rPr lang="en-US" sz="2400" dirty="0">
                <a:solidFill>
                  <a:srgbClr val="383838"/>
                </a:solidFill>
                <a:ea typeface="PT Serif" pitchFamily="34" charset="-122"/>
                <a:cs typeface="PT Serif" pitchFamily="34" charset="-120"/>
              </a:rPr>
              <a:t>Practical Considerations</a:t>
            </a:r>
          </a:p>
          <a:p>
            <a:pPr algn="l"/>
            <a:endParaRPr lang="en-US" sz="2400" dirty="0">
              <a:solidFill>
                <a:srgbClr val="383838"/>
              </a:solidFill>
              <a:ea typeface="PT Serif" pitchFamily="34" charset="-122"/>
              <a:cs typeface="PT Serif" pitchFamily="34" charset="-120"/>
            </a:endParaRPr>
          </a:p>
          <a:p>
            <a:pPr algn="l"/>
            <a:r>
              <a:rPr lang="en-US" sz="1800" dirty="0">
                <a:solidFill>
                  <a:srgbClr val="383838"/>
                </a:solidFill>
                <a:ea typeface="DM Sans" pitchFamily="34" charset="-122"/>
                <a:cs typeface="DM Sans" pitchFamily="34" charset="-120"/>
              </a:rPr>
              <a:t>ML models require larger datasets and use regularization techniques for overfitting control. Variable selection is based on predictive value rather than statistical significance, though this may reduce interpretability compared to inferential models.</a:t>
            </a:r>
            <a:endParaRPr lang="en-US" sz="1800" dirty="0"/>
          </a:p>
          <a:p>
            <a:pPr algn="l"/>
            <a:endParaRPr lang="en-US" sz="1800" dirty="0"/>
          </a:p>
          <a:p>
            <a:pPr algn="l"/>
            <a:endParaRPr lang="en-US" sz="1800" dirty="0"/>
          </a:p>
          <a:p>
            <a:pPr algn="l"/>
            <a:endParaRPr lang="en-US" sz="1800" dirty="0"/>
          </a:p>
          <a:p>
            <a:endParaRPr lang="en-IN" sz="1800" dirty="0"/>
          </a:p>
        </p:txBody>
      </p:sp>
    </p:spTree>
    <p:extLst>
      <p:ext uri="{BB962C8B-B14F-4D97-AF65-F5344CB8AC3E}">
        <p14:creationId xmlns:p14="http://schemas.microsoft.com/office/powerpoint/2010/main" val="949371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672</TotalTime>
  <Words>1784</Words>
  <Application>Microsoft Macintosh PowerPoint</Application>
  <PresentationFormat>Custom</PresentationFormat>
  <Paragraphs>333</Paragraphs>
  <Slides>21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DM Sans</vt:lpstr>
      <vt:lpstr>Lucida Sans Unicode</vt:lpstr>
      <vt:lpstr>PT Serif</vt:lpstr>
      <vt:lpstr>PT Serif Light</vt:lpstr>
      <vt:lpstr>Office Theme</vt:lpstr>
      <vt:lpstr>PowerPoint Presentation</vt:lpstr>
      <vt:lpstr>PowerPoint Presentation</vt:lpstr>
      <vt:lpstr>Multiple Linear Regression-Recap</vt:lpstr>
      <vt:lpstr>PowerPoint Presentation</vt:lpstr>
      <vt:lpstr>Data Snapshot </vt:lpstr>
      <vt:lpstr>Regression Results: Inferential Approach</vt:lpstr>
      <vt:lpstr>Residual Analysis-Necessary for Statistical Inference</vt:lpstr>
      <vt:lpstr>Inferential vs Machine Learning Approach </vt:lpstr>
      <vt:lpstr>Inferential vs ML Approach: Evaluation and Assumptions</vt:lpstr>
      <vt:lpstr>Inferential vs ML Approach: Variable Selection and Interpretability</vt:lpstr>
      <vt:lpstr>Inferential vs ML Approach: Overfitting and Data Requirements</vt:lpstr>
      <vt:lpstr>Cross Validation in Multiple Linear Regression</vt:lpstr>
      <vt:lpstr>Cross Validation Methods</vt:lpstr>
      <vt:lpstr>Hold-Out Validation Method</vt:lpstr>
      <vt:lpstr>Root Mean Squared Error (RMSE) in Linear Regression </vt:lpstr>
      <vt:lpstr>Cross Validation in Predictive Modeling  K-Fold Cross-Validation    </vt:lpstr>
      <vt:lpstr> Cross Validation in Predictive Modeling K-Fold Cross-Validation- Average RMSE    </vt:lpstr>
      <vt:lpstr>Repeated K-Fold Cross-Validation</vt:lpstr>
      <vt:lpstr>Cross Validation in Predictive Modeling Leave-One-Out Cross-Validation(LOOCV) </vt:lpstr>
      <vt:lpstr>Cross Validation in Predictive Modeling Leave-One-Out Cross-Validation(LOOCV) </vt:lpstr>
      <vt:lpstr>Multiple Linear Regression: Key Takeaways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244</cp:revision>
  <dcterms:created xsi:type="dcterms:W3CDTF">2025-08-01T06:43:07Z</dcterms:created>
  <dcterms:modified xsi:type="dcterms:W3CDTF">2025-12-14T02:51:39Z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