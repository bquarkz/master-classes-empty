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4" r:id="rId2"/>
    <p:sldId id="315" r:id="rId3"/>
    <p:sldId id="300" r:id="rId4"/>
    <p:sldId id="333" r:id="rId5"/>
    <p:sldId id="334" r:id="rId6"/>
    <p:sldId id="335" r:id="rId7"/>
    <p:sldId id="304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36" r:id="rId16"/>
    <p:sldId id="344" r:id="rId17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897" autoAdjust="0"/>
  </p:normalViewPr>
  <p:slideViewPr>
    <p:cSldViewPr>
      <p:cViewPr varScale="1">
        <p:scale>
          <a:sx n="55" d="100"/>
          <a:sy n="55" d="100"/>
        </p:scale>
        <p:origin x="90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05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592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11-12-2025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11-12-2025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11-12-2025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11-12-2025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76536" y="2133600"/>
            <a:ext cx="7058739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Handling Imbalanced Class Problems in Classification</a:t>
            </a:r>
            <a:endParaRPr lang="en-US" sz="41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76536" y="3470717"/>
            <a:ext cx="1065346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 comprehensive guide to addressing class imbalance in machine learning models</a:t>
            </a:r>
            <a:endParaRPr lang="en-US" sz="20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722AC495-E35E-7ED2-E96E-FD48ADFD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45" y="324416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Contents</a:t>
            </a:r>
            <a:br>
              <a:rPr lang="en-US" sz="3600" dirty="0"/>
            </a:br>
            <a:endParaRPr lang="en-IN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9E915268-69CC-069E-BD94-968A96D74DA6}"/>
              </a:ext>
            </a:extLst>
          </p:cNvPr>
          <p:cNvSpPr/>
          <p:nvPr/>
        </p:nvSpPr>
        <p:spPr>
          <a:xfrm>
            <a:off x="793790" y="55324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sz="3750" dirty="0">
              <a:latin typeface="PT Serif" panose="020A0603040505020204" pitchFamily="18" charset="0"/>
            </a:endParaRP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016CBBA6-B9AB-B165-C2EF-2A9728A38D55}"/>
              </a:ext>
            </a:extLst>
          </p:cNvPr>
          <p:cNvSpPr/>
          <p:nvPr/>
        </p:nvSpPr>
        <p:spPr>
          <a:xfrm>
            <a:off x="793790" y="16023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7BC3F5DC-13B2-EF7D-1AFD-760FEE3BA591}"/>
              </a:ext>
            </a:extLst>
          </p:cNvPr>
          <p:cNvSpPr/>
          <p:nvPr/>
        </p:nvSpPr>
        <p:spPr>
          <a:xfrm>
            <a:off x="793790" y="19573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E7C55DC6-75BF-FC3A-76DA-C052810AC8D0}"/>
              </a:ext>
            </a:extLst>
          </p:cNvPr>
          <p:cNvSpPr/>
          <p:nvPr/>
        </p:nvSpPr>
        <p:spPr>
          <a:xfrm>
            <a:off x="793790" y="2131652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Imbalanced Class Problem</a:t>
            </a:r>
            <a:endParaRPr lang="en-US" sz="2300" dirty="0">
              <a:latin typeface="PT Serif" panose="020A0603040505020204" pitchFamily="18" charset="0"/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20361C90-C835-AC84-275D-CE4BB4276942}"/>
              </a:ext>
            </a:extLst>
          </p:cNvPr>
          <p:cNvSpPr/>
          <p:nvPr/>
        </p:nvSpPr>
        <p:spPr>
          <a:xfrm>
            <a:off x="7428548" y="16023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2E52F9A3-FE7C-0563-69FB-604CF6A26D07}"/>
              </a:ext>
            </a:extLst>
          </p:cNvPr>
          <p:cNvSpPr/>
          <p:nvPr/>
        </p:nvSpPr>
        <p:spPr>
          <a:xfrm>
            <a:off x="7428548" y="195734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3D69420D-7CDA-0513-91D0-B27945DDFD35}"/>
              </a:ext>
            </a:extLst>
          </p:cNvPr>
          <p:cNvSpPr/>
          <p:nvPr/>
        </p:nvSpPr>
        <p:spPr>
          <a:xfrm>
            <a:off x="7428548" y="2131652"/>
            <a:ext cx="38332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1: Oversampling</a:t>
            </a:r>
            <a:endParaRPr lang="en-US" sz="24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572B390E-AA64-55CE-4F93-867FA41B15A0}"/>
              </a:ext>
            </a:extLst>
          </p:cNvPr>
          <p:cNvSpPr/>
          <p:nvPr/>
        </p:nvSpPr>
        <p:spPr>
          <a:xfrm>
            <a:off x="793790" y="29005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A57B1BEA-51F4-B2F0-261D-EE1F5A835AEE}"/>
              </a:ext>
            </a:extLst>
          </p:cNvPr>
          <p:cNvSpPr/>
          <p:nvPr/>
        </p:nvSpPr>
        <p:spPr>
          <a:xfrm>
            <a:off x="793790" y="325560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D9492793-66A3-249D-AEBC-98E67CD9595D}"/>
              </a:ext>
            </a:extLst>
          </p:cNvPr>
          <p:cNvSpPr/>
          <p:nvPr/>
        </p:nvSpPr>
        <p:spPr>
          <a:xfrm>
            <a:off x="793790" y="3429909"/>
            <a:ext cx="39266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2: Undersampling</a:t>
            </a:r>
            <a:endParaRPr lang="en-US" sz="24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257D2B40-E3E1-20E4-2910-DF3A7602687A}"/>
              </a:ext>
            </a:extLst>
          </p:cNvPr>
          <p:cNvSpPr/>
          <p:nvPr/>
        </p:nvSpPr>
        <p:spPr>
          <a:xfrm>
            <a:off x="7428548" y="29005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D5F3BEB8-2258-6D61-E349-D27CB8337AA6}"/>
              </a:ext>
            </a:extLst>
          </p:cNvPr>
          <p:cNvSpPr/>
          <p:nvPr/>
        </p:nvSpPr>
        <p:spPr>
          <a:xfrm>
            <a:off x="7428548" y="325560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4F6C8DA7-AB62-C992-696F-8A1236E8EB39}"/>
              </a:ext>
            </a:extLst>
          </p:cNvPr>
          <p:cNvSpPr/>
          <p:nvPr/>
        </p:nvSpPr>
        <p:spPr>
          <a:xfrm>
            <a:off x="7428548" y="3429909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3: SMOTE</a:t>
            </a:r>
            <a:endParaRPr lang="en-US" sz="24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197A721-7FD3-3F63-F25B-C6958DC57722}"/>
              </a:ext>
            </a:extLst>
          </p:cNvPr>
          <p:cNvSpPr/>
          <p:nvPr/>
        </p:nvSpPr>
        <p:spPr>
          <a:xfrm>
            <a:off x="793790" y="419881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BD40A4AB-27E5-6A2C-4741-E0E4E6E3F084}"/>
              </a:ext>
            </a:extLst>
          </p:cNvPr>
          <p:cNvSpPr/>
          <p:nvPr/>
        </p:nvSpPr>
        <p:spPr>
          <a:xfrm>
            <a:off x="793790" y="455385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B9947E46-7BAA-FAAB-FAB3-7CF49BB05E15}"/>
              </a:ext>
            </a:extLst>
          </p:cNvPr>
          <p:cNvSpPr/>
          <p:nvPr/>
        </p:nvSpPr>
        <p:spPr>
          <a:xfrm>
            <a:off x="793790" y="47281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4: Class Weight Adjustment</a:t>
            </a:r>
            <a:endParaRPr lang="en-US" sz="24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DAA57C8E-9E59-C336-B74D-F543766EEB30}"/>
              </a:ext>
            </a:extLst>
          </p:cNvPr>
          <p:cNvSpPr/>
          <p:nvPr/>
        </p:nvSpPr>
        <p:spPr>
          <a:xfrm>
            <a:off x="7428548" y="419881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FF6D0CED-5474-980B-4F58-56AD6075DAC4}"/>
              </a:ext>
            </a:extLst>
          </p:cNvPr>
          <p:cNvSpPr/>
          <p:nvPr/>
        </p:nvSpPr>
        <p:spPr>
          <a:xfrm>
            <a:off x="7428548" y="4553859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243B9A85-0CD0-925E-FEC6-94C70484D8A3}"/>
              </a:ext>
            </a:extLst>
          </p:cNvPr>
          <p:cNvSpPr/>
          <p:nvPr/>
        </p:nvSpPr>
        <p:spPr>
          <a:xfrm>
            <a:off x="7428548" y="47281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Comparing Regular vs Balanced Models</a:t>
            </a:r>
            <a:endParaRPr lang="en-US" sz="24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66C6FCE0-4D0E-761F-957B-9324FE349109}"/>
              </a:ext>
            </a:extLst>
          </p:cNvPr>
          <p:cNvSpPr/>
          <p:nvPr/>
        </p:nvSpPr>
        <p:spPr>
          <a:xfrm>
            <a:off x="825579" y="54231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CFAE4B52-13B7-37E8-C5AE-E7169E0C73F5}"/>
              </a:ext>
            </a:extLst>
          </p:cNvPr>
          <p:cNvSpPr/>
          <p:nvPr/>
        </p:nvSpPr>
        <p:spPr>
          <a:xfrm>
            <a:off x="825579" y="577822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BC6BF33D-702F-C08D-8D6E-A7FE3BDEAF8D}"/>
              </a:ext>
            </a:extLst>
          </p:cNvPr>
          <p:cNvSpPr/>
          <p:nvPr/>
        </p:nvSpPr>
        <p:spPr>
          <a:xfrm>
            <a:off x="825579" y="595253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Class Weight Changes Algorithms	</a:t>
            </a:r>
            <a:endParaRPr lang="en-US" sz="24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5A929CFA-5AE0-48F3-EE8B-0A74E83C1704}"/>
              </a:ext>
            </a:extLst>
          </p:cNvPr>
          <p:cNvSpPr/>
          <p:nvPr/>
        </p:nvSpPr>
        <p:spPr>
          <a:xfrm>
            <a:off x="7460337" y="54231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620C14B5-E214-EEE8-D98C-2182FCF885E8}"/>
              </a:ext>
            </a:extLst>
          </p:cNvPr>
          <p:cNvSpPr/>
          <p:nvPr/>
        </p:nvSpPr>
        <p:spPr>
          <a:xfrm>
            <a:off x="7460337" y="577822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0286BCFF-5C16-D8BF-710C-290DD5A620E2}"/>
              </a:ext>
            </a:extLst>
          </p:cNvPr>
          <p:cNvSpPr/>
          <p:nvPr/>
        </p:nvSpPr>
        <p:spPr>
          <a:xfrm>
            <a:off x="7460337" y="595253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Practical Implementation Workflow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102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53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an Imbalanced Class Problem?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2561747"/>
            <a:ext cx="3818574" cy="361045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5" y="2818481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Consequences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Leads to low Recall/Sensitivity for minority class and poor model usefulness in real-world decision making.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2526102"/>
            <a:ext cx="4114305" cy="36460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27547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Definition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Occurs when one class (majority) has far more observations than the other class (minority). Example: 98% non-fraud vs. 2% fraud transactions.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2514600"/>
            <a:ext cx="4114305" cy="36576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27547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Model Bias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Machine learning models tend to bias toward majority class because accuracy appears high even with poor minority-class predictions.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53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Why is Imbalance a Problem?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2561747"/>
            <a:ext cx="3818574" cy="361045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5" y="2818481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Loss Function Issues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Loss functions do not penalize misclassification of minority class heavily enough.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2526102"/>
            <a:ext cx="4114305" cy="36460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27547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Algorithmic Assumptions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Standard algorithms assume equal class distribution, leading to biased predictions.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2514600"/>
            <a:ext cx="4114305" cy="36576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27547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Misleading Metrics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 accuracy but fails on important cases. Metrics like accuracy become misleading and require alternative evaluation approaches.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ECCF-503B-13BE-5208-0E240B43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0960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Real-World Example: Fraud Detection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06BB0-73BB-A4EF-12A8-CD00208FE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2286000"/>
            <a:ext cx="5669280" cy="355693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The Problem</a:t>
            </a:r>
          </a:p>
          <a:p>
            <a:pPr algn="l">
              <a:lnSpc>
                <a:spcPct val="150000"/>
              </a:lnSpc>
            </a:pP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Fraud transactions are rare, typically less than 1% of all transactions.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 model predicting all transactions as "Not Fraud" gives 99% accuracy but 0% recall for fraud cases.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F0058-1B20-2EAA-E6D5-7C77BC728A9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499487" y="2286000"/>
            <a:ext cx="5669280" cy="3141437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Business Impact</a:t>
            </a:r>
          </a:p>
          <a:p>
            <a:pPr algn="l">
              <a:lnSpc>
                <a:spcPct val="150000"/>
              </a:lnSpc>
            </a:pPr>
            <a:endParaRPr lang="en-US" sz="2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Financial loss from undetected fraud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Reputational damage to the organization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Non-actionable model that fails to serve its purpose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Regulatory compliance issues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1269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53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Real-World Example: Medical Diagnosis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2561747"/>
            <a:ext cx="3818574" cy="361045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4" y="2748655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Priority Focus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Models must prioritize Sensitivity/Recall to ensure patients with disease are correctly identified.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2526102"/>
            <a:ext cx="4114305" cy="36460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27547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Low Prevalence Diseases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Rare cancers and genetic disorders where positive cases may be only 3–5% of the population.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2514600"/>
            <a:ext cx="4114305" cy="36576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27547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Critical Detection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False negatives are dangerous. Early diagnosis saves lives, making minority class detection paramount.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66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1295400" y="1219199"/>
            <a:ext cx="5865583" cy="2590801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5D4C71A9-44DE-C30C-23FB-01ADE60A16CF}"/>
              </a:ext>
            </a:extLst>
          </p:cNvPr>
          <p:cNvGrpSpPr/>
          <p:nvPr/>
        </p:nvGrpSpPr>
        <p:grpSpPr>
          <a:xfrm>
            <a:off x="1295400" y="4267200"/>
            <a:ext cx="5885221" cy="2590801"/>
            <a:chOff x="793788" y="4631308"/>
            <a:chExt cx="6437630" cy="297434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AACB49F-E75F-EA46-C29E-950076399A3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6237666D-DF67-98DC-05C9-F9F742175B69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E03DB111-066A-1466-380E-B1A5D264D147}"/>
              </a:ext>
            </a:extLst>
          </p:cNvPr>
          <p:cNvGrpSpPr/>
          <p:nvPr/>
        </p:nvGrpSpPr>
        <p:grpSpPr>
          <a:xfrm>
            <a:off x="7602178" y="4286116"/>
            <a:ext cx="5885221" cy="2571884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92C152D-7A07-F647-B072-3F50C547CA6A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34CABA1-B7A9-4D1F-38E0-F9624839AD97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621816" y="1238116"/>
            <a:ext cx="5865583" cy="2571884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-20128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Four Methods to Handle Imbalance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728722" y="1266792"/>
            <a:ext cx="5188384" cy="863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Oversampling Methods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Duplicate or synthetically create minority class samples to increase their representation in the dataset.</a:t>
            </a:r>
            <a:endParaRPr lang="en-US" dirty="0"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Synthetic Sampling (SMOTE)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Creates artificial minority samples using interpolation between existing minority observations.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848600" y="1272353"/>
            <a:ext cx="5476301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Undersampling Methods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 majority class size to balance the dataset and improve minority class learning.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Class Weighting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Give higher weight to minority class during training to penalize misclassification more heavily.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21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53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Method 1: Oversampling	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3095147"/>
            <a:ext cx="3818574" cy="361045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4" y="3282055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Disadvantages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Risk of overfitting due to duplicate rows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Increased training time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 new information added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3059502"/>
            <a:ext cx="4114305" cy="36460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32881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Technique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Random Oversampling: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Duplicate minority samples randomly until balance is achieved. Quick and simple to implement.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3048000"/>
            <a:ext cx="4114305" cy="36576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32881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Advantages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Prevents loss of information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Works well for small datasets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Easy to implement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17214-6A0B-9176-5BCA-F94D23B8B471}"/>
              </a:ext>
            </a:extLst>
          </p:cNvPr>
          <p:cNvSpPr txBox="1"/>
          <p:nvPr/>
        </p:nvSpPr>
        <p:spPr>
          <a:xfrm>
            <a:off x="498231" y="1568416"/>
            <a:ext cx="14020800" cy="143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What is Oversampling?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Increasing the count of minority class observations to match the majority class, creating a more balanced dataset for training.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53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53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Method 2: Undersampling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3095147"/>
            <a:ext cx="3818574" cy="413235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4" y="3282055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Disadvantages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Risk of losing important information</a:t>
            </a:r>
            <a:endParaRPr lang="en-US" sz="18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Reduced model performance if too much data removed</a:t>
            </a:r>
            <a:endParaRPr lang="en-US" sz="18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May miss patterns in majority class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3059502"/>
            <a:ext cx="4114305" cy="41794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32881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Technique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Random Undersampling: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Remove random majority samples until balance is achieved with minority class.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3048000"/>
            <a:ext cx="4114305" cy="41794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32881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Advantages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Faster training time</a:t>
            </a:r>
            <a:endParaRPr lang="en-US" sz="18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Useful when majority class is very large</a:t>
            </a:r>
            <a:endParaRPr lang="en-US" sz="18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Reduces computational cost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17214-6A0B-9176-5BCA-F94D23B8B471}"/>
              </a:ext>
            </a:extLst>
          </p:cNvPr>
          <p:cNvSpPr txBox="1"/>
          <p:nvPr/>
        </p:nvSpPr>
        <p:spPr>
          <a:xfrm>
            <a:off x="498231" y="1568416"/>
            <a:ext cx="14020800" cy="143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What is Undersampling?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 the number of majority class samples to balance the dataset, creating equal representation between classes.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37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53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Method 3: SMOTE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3030449"/>
            <a:ext cx="3818574" cy="413235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4" y="3124200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Disadvantages</a:t>
            </a: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Can create noisy samples near class boundaries where overlap exists. May distort class distributions if hyperparameters are not properly tuned.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3059502"/>
            <a:ext cx="4114305" cy="41794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32881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What is SMOTE?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Creates synthetic minority class observations instead of duplicates. New samples are produced by interpolating between nearest-neighbor minority samples, generating realistic new data points.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3048000"/>
            <a:ext cx="4114305" cy="41794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32881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</a:t>
            </a: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Reduces overfitting by creating diverse samples rather than duplicates. Produces more realistic minority examples that capture the underlying distribution of the minority class.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17214-6A0B-9176-5BCA-F94D23B8B471}"/>
              </a:ext>
            </a:extLst>
          </p:cNvPr>
          <p:cNvSpPr txBox="1"/>
          <p:nvPr/>
        </p:nvSpPr>
        <p:spPr>
          <a:xfrm>
            <a:off x="481459" y="1567068"/>
            <a:ext cx="14020800" cy="98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Synthetic Minority Over-sampling Technique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6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53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Method 4: Class Weight Adjustment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3095147"/>
            <a:ext cx="3818574" cy="413235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4" y="3282055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Disadvantages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Not effective for extremely imbalanced cases with ratios exceeding 1:1000.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3059502"/>
            <a:ext cx="4114305" cy="41794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32881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Implementation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 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sklearn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use </a:t>
            </a:r>
            <a:r>
              <a:rPr lang="en-US" sz="1800" dirty="0" err="1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class_weight</a:t>
            </a: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= "balanced"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which automatically adjusts weights based on class frequencies.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3048000"/>
            <a:ext cx="4114305" cy="41794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32881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Advantages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 need to change training data</a:t>
            </a:r>
          </a:p>
          <a:p>
            <a:pPr marL="342900" indent="-342900" algn="l">
              <a:lnSpc>
                <a:spcPct val="150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Works with Logistic Regression, Random Forest, SVM</a:t>
            </a:r>
            <a:endParaRPr lang="en-US" sz="18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Simple to implement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  <a:buSzPct val="100000"/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17214-6A0B-9176-5BCA-F94D23B8B471}"/>
              </a:ext>
            </a:extLst>
          </p:cNvPr>
          <p:cNvSpPr txBox="1"/>
          <p:nvPr/>
        </p:nvSpPr>
        <p:spPr>
          <a:xfrm>
            <a:off x="533400" y="1414239"/>
            <a:ext cx="14020800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What is Class Weight?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Assign higher weight to minority class so the model penalizes misclassification more heavily during training. No need to modify the actual training data.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380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F867-227F-F651-FC34-3FCED6E4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480" y="445718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Comparing Regular vs Balanced Models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0B7AF-6243-4F73-91B6-937D22BBFB9C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43800" y="2438400"/>
            <a:ext cx="6364224" cy="4537974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Evaluation Approach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1. Train baseline model (no balancing)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2. Train balanced models       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(oversampled/</a:t>
            </a:r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undersampled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/SMOTE/class-weight)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3. Compare all models on same test set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4. Test AUC is the most stable measure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5. Compare Recall for minority class—often most critical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CB179-3D3A-6572-36CB-68A07DEA3B30}"/>
              </a:ext>
            </a:extLst>
          </p:cNvPr>
          <p:cNvSpPr txBox="1"/>
          <p:nvPr/>
        </p:nvSpPr>
        <p:spPr>
          <a:xfrm>
            <a:off x="516480" y="1569102"/>
            <a:ext cx="7315200" cy="47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Primary Evaluation Metrics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38A43E-AF4F-DC1A-62B4-EC99CCDD1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480" y="2438400"/>
            <a:ext cx="6364224" cy="4537974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Key Metrics</a:t>
            </a:r>
            <a:endParaRPr lang="en-US" sz="24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AUC (Area Under ROC Curve)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Precision, Recall, F1-Score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Confusion Matrix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Sensitivity/Specificity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PR Curve (for high imbalance)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1283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4153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Class Weight Changes Algorithms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2256948"/>
            <a:ext cx="3818574" cy="34290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4" y="2443855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Logistic Regression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Influences gradient updates and final coefficient values during optimization.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2221302"/>
            <a:ext cx="4114305" cy="34174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24499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Loss Function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Misclassification of minority class becomes more costly, shifting decision thresholds.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2209800"/>
            <a:ext cx="4114305" cy="34290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68181" y="2443855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Tree-Based Models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Affects splitting criteria and Gini impurity calculations during tree construction.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  <a:buSzPct val="100000"/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589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18442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Practical Implementation Workflow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152400" y="2221302"/>
            <a:ext cx="3428999" cy="38746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345761" y="2449920"/>
            <a:ext cx="285464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Data Preparation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Import libraries, load data, convert categorical variables to category type, create dummy variables.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09275543-7415-2416-320C-9A5D9AACD303}"/>
              </a:ext>
            </a:extLst>
          </p:cNvPr>
          <p:cNvSpPr/>
          <p:nvPr/>
        </p:nvSpPr>
        <p:spPr>
          <a:xfrm>
            <a:off x="3810000" y="2209800"/>
            <a:ext cx="3428999" cy="38746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E3A66AD-F735-4619-71C3-CA159C595608}"/>
              </a:ext>
            </a:extLst>
          </p:cNvPr>
          <p:cNvSpPr/>
          <p:nvPr/>
        </p:nvSpPr>
        <p:spPr>
          <a:xfrm>
            <a:off x="4003361" y="2438418"/>
            <a:ext cx="285464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Baseline Model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Perform train-test split, train baseline model (e.g., Random Forest), identify imbalance problem.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93C10745-E4FB-FC88-8085-641D0A42EC67}"/>
              </a:ext>
            </a:extLst>
          </p:cNvPr>
          <p:cNvSpPr/>
          <p:nvPr/>
        </p:nvSpPr>
        <p:spPr>
          <a:xfrm>
            <a:off x="7391400" y="2209800"/>
            <a:ext cx="3428999" cy="38862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91C159A9-E4A6-D51D-C18D-D15A929DA8AE}"/>
              </a:ext>
            </a:extLst>
          </p:cNvPr>
          <p:cNvSpPr/>
          <p:nvPr/>
        </p:nvSpPr>
        <p:spPr>
          <a:xfrm>
            <a:off x="7584761" y="2438418"/>
            <a:ext cx="285464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Apply Techniques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Implement Random Oversampling, Random Undersampling, SMOTE, and Class Weight adjustments.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681DC13-5450-8734-87E2-8BAFF1294269}"/>
              </a:ext>
            </a:extLst>
          </p:cNvPr>
          <p:cNvSpPr/>
          <p:nvPr/>
        </p:nvSpPr>
        <p:spPr>
          <a:xfrm>
            <a:off x="11049001" y="2209800"/>
            <a:ext cx="3428999" cy="38746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C657A81-D7BE-6AE6-92A5-A507B93135DA}"/>
              </a:ext>
            </a:extLst>
          </p:cNvPr>
          <p:cNvSpPr/>
          <p:nvPr/>
        </p:nvSpPr>
        <p:spPr>
          <a:xfrm>
            <a:off x="11242362" y="2438418"/>
            <a:ext cx="285464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Model Selection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Compare all models using appropriate metrics, select best method based on minority class performance.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A669713-3AF6-5651-BF8A-FE18A31CCF0E}"/>
              </a:ext>
            </a:extLst>
          </p:cNvPr>
          <p:cNvSpPr/>
          <p:nvPr/>
        </p:nvSpPr>
        <p:spPr>
          <a:xfrm>
            <a:off x="2514600" y="1676400"/>
            <a:ext cx="2362200" cy="3048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D1809D5-023F-2614-D683-55D3284C8F77}"/>
              </a:ext>
            </a:extLst>
          </p:cNvPr>
          <p:cNvSpPr/>
          <p:nvPr/>
        </p:nvSpPr>
        <p:spPr>
          <a:xfrm>
            <a:off x="6172200" y="1676400"/>
            <a:ext cx="2362200" cy="3048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88B9BBF-8D43-24E0-1ABE-D8DB0FCC29EC}"/>
              </a:ext>
            </a:extLst>
          </p:cNvPr>
          <p:cNvSpPr/>
          <p:nvPr/>
        </p:nvSpPr>
        <p:spPr>
          <a:xfrm>
            <a:off x="9753600" y="1676400"/>
            <a:ext cx="2362200" cy="3048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441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1295400" y="1219199"/>
            <a:ext cx="5865583" cy="2590801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5D4C71A9-44DE-C30C-23FB-01ADE60A16CF}"/>
              </a:ext>
            </a:extLst>
          </p:cNvPr>
          <p:cNvGrpSpPr/>
          <p:nvPr/>
        </p:nvGrpSpPr>
        <p:grpSpPr>
          <a:xfrm>
            <a:off x="1332680" y="4332744"/>
            <a:ext cx="5885221" cy="2590801"/>
            <a:chOff x="793788" y="4631308"/>
            <a:chExt cx="6437630" cy="297434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AACB49F-E75F-EA46-C29E-950076399A3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6237666D-DF67-98DC-05C9-F9F742175B69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E03DB111-066A-1466-380E-B1A5D264D147}"/>
              </a:ext>
            </a:extLst>
          </p:cNvPr>
          <p:cNvGrpSpPr/>
          <p:nvPr/>
        </p:nvGrpSpPr>
        <p:grpSpPr>
          <a:xfrm>
            <a:off x="7621816" y="4352655"/>
            <a:ext cx="5885221" cy="2570890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92C152D-7A07-F647-B072-3F50C547CA6A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34CABA1-B7A9-4D1F-38E0-F9624839AD97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621816" y="1238116"/>
            <a:ext cx="5865583" cy="2571884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-20128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728722" y="1266792"/>
            <a:ext cx="5188384" cy="863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Common Problem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Imbalanced data is common in fraud detection, medical diagnosis, and rare event prediction scenarios.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Technique Trade-offs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Oversampling/Undersampling are simple but have drawbacks. SMOTE is powerful but may introduce noise. Class Weight is simplest and avoids data alteration.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837870" y="1276166"/>
            <a:ext cx="5476301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Metric Selection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Accuracy is misleading—use AUC, Recall, Precision, F1-Score, and PR curves for proper evaluation.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Evaluation Focus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Always compare models on the same test set. Focus on minority-class performance, not overall accuracy.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33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B4A0-D185-5922-233F-BB1D7A1A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Summary: Choosing the Right Approach</a:t>
            </a:r>
            <a:br>
              <a:rPr lang="en-US" sz="3600" dirty="0"/>
            </a:br>
            <a:endParaRPr lang="en-IN" sz="36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2F2A6E2-2C60-CEE2-D834-E8FD124AA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907935"/>
              </p:ext>
            </p:extLst>
          </p:nvPr>
        </p:nvGraphicFramePr>
        <p:xfrm>
          <a:off x="1295399" y="1621536"/>
          <a:ext cx="12039600" cy="476529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09900">
                  <a:extLst>
                    <a:ext uri="{9D8B030D-6E8A-4147-A177-3AD203B41FA5}">
                      <a16:colId xmlns:a16="http://schemas.microsoft.com/office/drawing/2014/main" val="134747188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57585852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132584132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1599728573"/>
                    </a:ext>
                  </a:extLst>
                </a:gridCol>
              </a:tblGrid>
              <a:tr h="840232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Method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Best For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Pros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Cons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94734"/>
                  </a:ext>
                </a:extLst>
              </a:tr>
              <a:tr h="840232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Oversampling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Small datasets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Preserves all data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Overfitting risk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530713"/>
                  </a:ext>
                </a:extLst>
              </a:tr>
              <a:tr h="840232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Undersampling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Large majority class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Faster training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Information loss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62028"/>
                  </a:ext>
                </a:extLst>
              </a:tr>
              <a:tr h="927173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SMOTE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Moderate imbalance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Creates realistic samples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May add noise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310841"/>
                  </a:ext>
                </a:extLst>
              </a:tr>
              <a:tr h="1200331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Class Weight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Most scenarios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No data modification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Limited for extreme imbalance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1345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C0636C-2E9A-C6DF-148D-6FB6B5696AFA}"/>
              </a:ext>
            </a:extLst>
          </p:cNvPr>
          <p:cNvSpPr txBox="1"/>
          <p:nvPr/>
        </p:nvSpPr>
        <p:spPr>
          <a:xfrm>
            <a:off x="487172" y="6934200"/>
            <a:ext cx="13820843" cy="71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Remember: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The choice depends on your specific dataset, computational resources, and business requirements. Experiment with multiple approaches and select based on minority class performance metrics.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60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</TotalTime>
  <Words>1127</Words>
  <Application>Microsoft Office PowerPoint</Application>
  <PresentationFormat>Custom</PresentationFormat>
  <Paragraphs>221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Lucida Sans Unicode</vt:lpstr>
      <vt:lpstr>PT Serif</vt:lpstr>
      <vt:lpstr>Office Theme</vt:lpstr>
      <vt:lpstr>PowerPoint Presentation</vt:lpstr>
      <vt:lpstr>Contents </vt:lpstr>
      <vt:lpstr>What is an Imbalanced Class Problem?</vt:lpstr>
      <vt:lpstr>Why is Imbalance a Problem?</vt:lpstr>
      <vt:lpstr>Real-World Example: Fraud Detection </vt:lpstr>
      <vt:lpstr>Real-World Example: Medical Diagnosis</vt:lpstr>
      <vt:lpstr>Four Methods to Handle Imbalance</vt:lpstr>
      <vt:lpstr>Method 1: Oversampling </vt:lpstr>
      <vt:lpstr>Method 2: Undersampling</vt:lpstr>
      <vt:lpstr>Method 3: SMOTE</vt:lpstr>
      <vt:lpstr>Method 4: Class Weight Adjustment</vt:lpstr>
      <vt:lpstr>Comparing Regular vs Balanced Models </vt:lpstr>
      <vt:lpstr>How Class Weight Changes Algorithms</vt:lpstr>
      <vt:lpstr>Practical Implementation Workflow</vt:lpstr>
      <vt:lpstr>Key Takeaways</vt:lpstr>
      <vt:lpstr>Summary: Choosing the Right Approach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Sylvia Dodti</cp:lastModifiedBy>
  <cp:revision>241</cp:revision>
  <dcterms:created xsi:type="dcterms:W3CDTF">2025-08-01T06:43:07Z</dcterms:created>
  <dcterms:modified xsi:type="dcterms:W3CDTF">2025-12-11T06:02:55Z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