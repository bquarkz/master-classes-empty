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4" r:id="rId2"/>
    <p:sldId id="327" r:id="rId3"/>
    <p:sldId id="314" r:id="rId4"/>
    <p:sldId id="315" r:id="rId5"/>
    <p:sldId id="316" r:id="rId6"/>
    <p:sldId id="318" r:id="rId7"/>
    <p:sldId id="319" r:id="rId8"/>
    <p:sldId id="320" r:id="rId9"/>
    <p:sldId id="321" r:id="rId10"/>
    <p:sldId id="322" r:id="rId11"/>
    <p:sldId id="323" r:id="rId12"/>
    <p:sldId id="303" r:id="rId13"/>
    <p:sldId id="519" r:id="rId14"/>
    <p:sldId id="518" r:id="rId15"/>
    <p:sldId id="328" r:id="rId16"/>
    <p:sldId id="329" r:id="rId17"/>
    <p:sldId id="330" r:id="rId18"/>
    <p:sldId id="331" r:id="rId19"/>
    <p:sldId id="517" r:id="rId20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>
      <p:cViewPr varScale="1">
        <p:scale>
          <a:sx n="86" d="100"/>
          <a:sy n="86" d="100"/>
        </p:scale>
        <p:origin x="936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30/12/25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509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268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2400" b="1" i="1" spc="300" dirty="0">
              <a:solidFill>
                <a:prstClr val="black">
                  <a:lumMod val="65000"/>
                  <a:lumOff val="35000"/>
                </a:prstClr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946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692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30/12/25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30/12/25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30/12/25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30/12/25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65034" y="2743200"/>
            <a:ext cx="7058739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Naive Bayes Method</a:t>
            </a:r>
            <a:endParaRPr lang="en-US" sz="4100" dirty="0">
              <a:latin typeface="PT Serif" panose="020A060304050502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65034" y="3951982"/>
            <a:ext cx="10207766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Understanding and implementing probabilistic classification using Bayes Theorem</a:t>
            </a:r>
            <a:endParaRPr lang="en-US" sz="24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C78D-ABBD-6B34-DB06-FCBD332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13656055" cy="1177630"/>
          </a:xfrm>
        </p:spPr>
        <p:txBody>
          <a:bodyPr/>
          <a:lstStyle/>
          <a:p>
            <a:r>
              <a:rPr lang="en-US" sz="40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Contents</a:t>
            </a:r>
            <a:br>
              <a:rPr lang="en-US" sz="4000" dirty="0"/>
            </a:br>
            <a:endParaRPr lang="en-IN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ED44BC2-C3A4-4A12-E244-F49D41766C4F}"/>
              </a:ext>
            </a:extLst>
          </p:cNvPr>
          <p:cNvSpPr/>
          <p:nvPr/>
        </p:nvSpPr>
        <p:spPr>
          <a:xfrm>
            <a:off x="793790" y="15971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B5FE7EF-EB87-D84B-C099-F0FA02683299}"/>
              </a:ext>
            </a:extLst>
          </p:cNvPr>
          <p:cNvSpPr/>
          <p:nvPr/>
        </p:nvSpPr>
        <p:spPr>
          <a:xfrm>
            <a:off x="793790" y="1952181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1CCCD82-2B2C-EC4D-2700-595A21470089}"/>
              </a:ext>
            </a:extLst>
          </p:cNvPr>
          <p:cNvSpPr/>
          <p:nvPr/>
        </p:nvSpPr>
        <p:spPr>
          <a:xfrm>
            <a:off x="793790" y="2126489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About Naive Bayes Classifier</a:t>
            </a:r>
            <a:br>
              <a:rPr lang="en-US" sz="2300" dirty="0">
                <a:latin typeface="PT Serif" panose="020A0603040505020204" pitchFamily="18" charset="0"/>
              </a:rPr>
            </a:br>
            <a:endParaRPr lang="en-US" sz="2300" dirty="0">
              <a:solidFill>
                <a:srgbClr val="383838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6BAA278-EB7E-521A-01A6-1C9A36F98E19}"/>
              </a:ext>
            </a:extLst>
          </p:cNvPr>
          <p:cNvSpPr/>
          <p:nvPr/>
        </p:nvSpPr>
        <p:spPr>
          <a:xfrm>
            <a:off x="7428548" y="15971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2542219-5812-FD64-1D14-C2B0ACF6B3CA}"/>
              </a:ext>
            </a:extLst>
          </p:cNvPr>
          <p:cNvSpPr/>
          <p:nvPr/>
        </p:nvSpPr>
        <p:spPr>
          <a:xfrm>
            <a:off x="7428548" y="1952181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EF9B81F-2997-163C-9453-5B8E16273CE8}"/>
              </a:ext>
            </a:extLst>
          </p:cNvPr>
          <p:cNvSpPr/>
          <p:nvPr/>
        </p:nvSpPr>
        <p:spPr>
          <a:xfrm>
            <a:off x="7428548" y="2126489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Conditional Probability Fundamentals</a:t>
            </a:r>
            <a:endParaRPr lang="en-US" sz="2300" dirty="0">
              <a:latin typeface="PT Serif" panose="020A06030405050202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2DF257E-6F5F-DEF0-1117-5BAA0DD1B1CF}"/>
              </a:ext>
            </a:extLst>
          </p:cNvPr>
          <p:cNvSpPr/>
          <p:nvPr/>
        </p:nvSpPr>
        <p:spPr>
          <a:xfrm>
            <a:off x="793790" y="289539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A7F4B78-CCFF-6B98-711A-CBB680E40E14}"/>
              </a:ext>
            </a:extLst>
          </p:cNvPr>
          <p:cNvSpPr/>
          <p:nvPr/>
        </p:nvSpPr>
        <p:spPr>
          <a:xfrm>
            <a:off x="793790" y="3250439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71B09FA-EA36-7102-B91A-64686F9D6AC0}"/>
              </a:ext>
            </a:extLst>
          </p:cNvPr>
          <p:cNvSpPr/>
          <p:nvPr/>
        </p:nvSpPr>
        <p:spPr>
          <a:xfrm>
            <a:off x="793790" y="3424746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Bayes Theorem</a:t>
            </a:r>
            <a:endParaRPr lang="en-US" sz="2300" dirty="0">
              <a:latin typeface="PT Serif" panose="020A06030405050202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DC5B378-2FD9-43C1-BC14-D4A31FB99A53}"/>
              </a:ext>
            </a:extLst>
          </p:cNvPr>
          <p:cNvSpPr/>
          <p:nvPr/>
        </p:nvSpPr>
        <p:spPr>
          <a:xfrm>
            <a:off x="7428548" y="289539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1B671D3-5D2F-FCA3-7EF3-99C4AACAE0F4}"/>
              </a:ext>
            </a:extLst>
          </p:cNvPr>
          <p:cNvSpPr/>
          <p:nvPr/>
        </p:nvSpPr>
        <p:spPr>
          <a:xfrm>
            <a:off x="7428548" y="3250439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A3C7274-A217-73F5-44F5-409E5C534255}"/>
              </a:ext>
            </a:extLst>
          </p:cNvPr>
          <p:cNvSpPr/>
          <p:nvPr/>
        </p:nvSpPr>
        <p:spPr>
          <a:xfrm>
            <a:off x="7428548" y="3424746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Naive Bayes Framework</a:t>
            </a:r>
            <a:endParaRPr lang="en-US" sz="2300" dirty="0">
              <a:latin typeface="PT Serif" panose="020A0603040505020204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F0D9B80-E350-D89A-99AB-F907A82DCD48}"/>
              </a:ext>
            </a:extLst>
          </p:cNvPr>
          <p:cNvSpPr/>
          <p:nvPr/>
        </p:nvSpPr>
        <p:spPr>
          <a:xfrm>
            <a:off x="793790" y="41936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7CB1597-0F6A-57E7-B2EC-00C4FE038D43}"/>
              </a:ext>
            </a:extLst>
          </p:cNvPr>
          <p:cNvSpPr/>
          <p:nvPr/>
        </p:nvSpPr>
        <p:spPr>
          <a:xfrm>
            <a:off x="793790" y="454869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9885FE5-E31D-71C5-36BA-E16F085BE5CA}"/>
              </a:ext>
            </a:extLst>
          </p:cNvPr>
          <p:cNvSpPr/>
          <p:nvPr/>
        </p:nvSpPr>
        <p:spPr>
          <a:xfrm>
            <a:off x="793790" y="472300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Classification Rule</a:t>
            </a:r>
            <a:endParaRPr lang="en-US" sz="2300" dirty="0">
              <a:latin typeface="PT Serif" panose="020A0603040505020204" pitchFamily="18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E601885-793F-B753-7837-4263A5F6F762}"/>
              </a:ext>
            </a:extLst>
          </p:cNvPr>
          <p:cNvSpPr/>
          <p:nvPr/>
        </p:nvSpPr>
        <p:spPr>
          <a:xfrm>
            <a:off x="7428548" y="41936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E6201DD-78F7-83C8-69C1-1B4B7F678103}"/>
              </a:ext>
            </a:extLst>
          </p:cNvPr>
          <p:cNvSpPr/>
          <p:nvPr/>
        </p:nvSpPr>
        <p:spPr>
          <a:xfrm>
            <a:off x="7428548" y="454869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A0590DE-A62C-EA7D-6DC3-54C4A648FA29}"/>
              </a:ext>
            </a:extLst>
          </p:cNvPr>
          <p:cNvSpPr/>
          <p:nvPr/>
        </p:nvSpPr>
        <p:spPr>
          <a:xfrm>
            <a:off x="7428548" y="4718063"/>
            <a:ext cx="5525452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Advantages and Limitations of Naive Bayes Method</a:t>
            </a:r>
            <a:endParaRPr lang="en-US" sz="2300" dirty="0">
              <a:latin typeface="PT Serif" panose="020A0603040505020204" pitchFamily="18" charset="0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79723E0F-180E-73ED-3BD4-CF8BC439C382}"/>
              </a:ext>
            </a:extLst>
          </p:cNvPr>
          <p:cNvSpPr/>
          <p:nvPr/>
        </p:nvSpPr>
        <p:spPr>
          <a:xfrm>
            <a:off x="762000" y="538636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32CB61BC-CBCE-12D6-6771-96A529961C89}"/>
              </a:ext>
            </a:extLst>
          </p:cNvPr>
          <p:cNvSpPr/>
          <p:nvPr/>
        </p:nvSpPr>
        <p:spPr>
          <a:xfrm>
            <a:off x="762000" y="574140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76C4EBE3-E840-D58B-7069-70D29A8C613D}"/>
              </a:ext>
            </a:extLst>
          </p:cNvPr>
          <p:cNvSpPr/>
          <p:nvPr/>
        </p:nvSpPr>
        <p:spPr>
          <a:xfrm>
            <a:off x="762000" y="5915713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Handling Zero Probabilities</a:t>
            </a:r>
            <a:endParaRPr lang="en-US" sz="2300" dirty="0">
              <a:latin typeface="PT Serif" panose="020A0603040505020204" pitchFamily="18" charset="0"/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670F3BEE-4B2D-44EA-E530-DBC7B45D0C84}"/>
              </a:ext>
            </a:extLst>
          </p:cNvPr>
          <p:cNvSpPr/>
          <p:nvPr/>
        </p:nvSpPr>
        <p:spPr>
          <a:xfrm>
            <a:off x="7396758" y="538636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FFA7BF2D-01A3-5B1A-CF43-902BF3CC99E0}"/>
              </a:ext>
            </a:extLst>
          </p:cNvPr>
          <p:cNvSpPr/>
          <p:nvPr/>
        </p:nvSpPr>
        <p:spPr>
          <a:xfrm>
            <a:off x="7396758" y="574140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7A8F0514-53B3-CABE-2F55-2ABB53F3CE48}"/>
              </a:ext>
            </a:extLst>
          </p:cNvPr>
          <p:cNvSpPr/>
          <p:nvPr/>
        </p:nvSpPr>
        <p:spPr>
          <a:xfrm>
            <a:off x="7396758" y="5910772"/>
            <a:ext cx="5525452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Naive Bayes in Python and Laplace Smoothing </a:t>
            </a:r>
            <a:endParaRPr lang="en-US" sz="23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661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">
            <a:extLst>
              <a:ext uri="{FF2B5EF4-FFF2-40B4-BE49-F238E27FC236}">
                <a16:creationId xmlns:a16="http://schemas.microsoft.com/office/drawing/2014/main" id="{1E28579F-5B25-5996-AF7F-828315C146C7}"/>
              </a:ext>
            </a:extLst>
          </p:cNvPr>
          <p:cNvSpPr/>
          <p:nvPr/>
        </p:nvSpPr>
        <p:spPr>
          <a:xfrm>
            <a:off x="793790" y="1532030"/>
            <a:ext cx="6422231" cy="19706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9CD84C3-201A-071C-A94E-B65C0D695E15}"/>
              </a:ext>
            </a:extLst>
          </p:cNvPr>
          <p:cNvSpPr/>
          <p:nvPr/>
        </p:nvSpPr>
        <p:spPr>
          <a:xfrm>
            <a:off x="7375338" y="1535150"/>
            <a:ext cx="6422231" cy="196752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5D33690-5420-3D94-947A-30E9D1150555}"/>
              </a:ext>
            </a:extLst>
          </p:cNvPr>
          <p:cNvSpPr/>
          <p:nvPr/>
        </p:nvSpPr>
        <p:spPr>
          <a:xfrm>
            <a:off x="793790" y="3781306"/>
            <a:ext cx="6422231" cy="19706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BCB3464-974B-0BBF-F7D0-20118B55AA12}"/>
              </a:ext>
            </a:extLst>
          </p:cNvPr>
          <p:cNvSpPr/>
          <p:nvPr/>
        </p:nvSpPr>
        <p:spPr>
          <a:xfrm>
            <a:off x="7414379" y="3781306"/>
            <a:ext cx="6422231" cy="196752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9D534-8F2E-0E7D-6348-F22343FAB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211" y="508037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About Naive Bayes Classifier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711B4-6E29-719E-9364-2EB106914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1115" y="1589226"/>
            <a:ext cx="6364224" cy="2171941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Probabilistic Foundation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Simple probabilistic classifier based on Bayes Theorem, providing a mathematical framework for classification problems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BBC4-7E09-FBA6-A3D1-3593DBD105C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15965" y="1616033"/>
            <a:ext cx="6364224" cy="1756443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Alternative to Logistic Regression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Can be used as an effective alternative method to binary or multinomial logistic regression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154D7-BAC5-7F46-5A02-F270A01F43EA}"/>
              </a:ext>
            </a:extLst>
          </p:cNvPr>
          <p:cNvSpPr txBox="1"/>
          <p:nvPr/>
        </p:nvSpPr>
        <p:spPr>
          <a:xfrm>
            <a:off x="863664" y="3858235"/>
            <a:ext cx="6244098" cy="184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Independence Assumption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Assumes conditional independence among the predictors, simplifying probability calculations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A7C88-1EC3-6CE2-0999-B24B78AAD08C}"/>
              </a:ext>
            </a:extLst>
          </p:cNvPr>
          <p:cNvSpPr txBox="1"/>
          <p:nvPr/>
        </p:nvSpPr>
        <p:spPr>
          <a:xfrm>
            <a:off x="7492961" y="3802539"/>
            <a:ext cx="6146839" cy="184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High-Dimensional Data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Particularly suited when the dimensionality of the inputs is high, making it ideal for complex datasets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B3E854DA-4316-F9D6-3DF6-131F03CD090B}"/>
              </a:ext>
            </a:extLst>
          </p:cNvPr>
          <p:cNvSpPr/>
          <p:nvPr/>
        </p:nvSpPr>
        <p:spPr>
          <a:xfrm>
            <a:off x="751649" y="6274461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Despite its simplicity, Naive Bayes can often outperform more sophisticated classification methods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52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456B-49C2-8C51-CD56-83C28A30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38684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Conditional Probability Fundamentals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4F57-E200-BE28-0B89-E2CD70A8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929970"/>
            <a:ext cx="5440680" cy="4802661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Understanding Sample Space</a:t>
            </a:r>
          </a:p>
          <a:p>
            <a:pPr algn="l">
              <a:lnSpc>
                <a:spcPct val="150000"/>
              </a:lnSpc>
            </a:pP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Conditional probability measures the likelihood of an event occurring given that another event has already occurred. When event A has happened, the sample space becomes restricted to only those outcomes where A is true.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For example, if we have 5 points in our sample space and event A has occurred, we only consider set A when calculating probabilities of other events.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6448F-368C-FBBF-85BB-F5619534167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43800" y="1929970"/>
            <a:ext cx="5440680" cy="508043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Mathematical Definition</a:t>
            </a:r>
          </a:p>
          <a:p>
            <a:pPr algn="l">
              <a:lnSpc>
                <a:spcPct val="150000"/>
              </a:lnSpc>
            </a:pP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 probability of event B given event A is written as P(B|A) and calculated by dividing the probability of both events occurring by the probability of A: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P(B|A) = P(A ∩ B) / P(A)</a:t>
            </a:r>
          </a:p>
          <a:p>
            <a:pPr algn="l">
              <a:lnSpc>
                <a:spcPct val="150000"/>
              </a:lnSpc>
            </a:pP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This formula forms the foundation for understanding Bayes Theorem and its applications in classification.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8546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">
            <a:extLst>
              <a:ext uri="{FF2B5EF4-FFF2-40B4-BE49-F238E27FC236}">
                <a16:creationId xmlns:a16="http://schemas.microsoft.com/office/drawing/2014/main" id="{1E28579F-5B25-5996-AF7F-828315C146C7}"/>
              </a:ext>
            </a:extLst>
          </p:cNvPr>
          <p:cNvSpPr/>
          <p:nvPr/>
        </p:nvSpPr>
        <p:spPr>
          <a:xfrm>
            <a:off x="793790" y="2514600"/>
            <a:ext cx="6422231" cy="19706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9CD84C3-201A-071C-A94E-B65C0D695E15}"/>
              </a:ext>
            </a:extLst>
          </p:cNvPr>
          <p:cNvSpPr/>
          <p:nvPr/>
        </p:nvSpPr>
        <p:spPr>
          <a:xfrm>
            <a:off x="7375339" y="2517720"/>
            <a:ext cx="6422231" cy="196752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5D33690-5420-3D94-947A-30E9D1150555}"/>
              </a:ext>
            </a:extLst>
          </p:cNvPr>
          <p:cNvSpPr/>
          <p:nvPr/>
        </p:nvSpPr>
        <p:spPr>
          <a:xfrm>
            <a:off x="793790" y="4763876"/>
            <a:ext cx="6422231" cy="19706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BCB3464-974B-0BBF-F7D0-20118B55AA12}"/>
              </a:ext>
            </a:extLst>
          </p:cNvPr>
          <p:cNvSpPr/>
          <p:nvPr/>
        </p:nvSpPr>
        <p:spPr>
          <a:xfrm>
            <a:off x="7414379" y="4763876"/>
            <a:ext cx="6422231" cy="196752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9D534-8F2E-0E7D-6348-F22343FAB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64" y="397868"/>
            <a:ext cx="13656055" cy="590867"/>
          </a:xfrm>
        </p:spPr>
        <p:txBody>
          <a:bodyPr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Bayes Theorem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711B4-6E29-719E-9364-2EB106914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1115" y="2571796"/>
            <a:ext cx="5923085" cy="2171941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P(A|B)</a:t>
            </a: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Posterior Probability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 probability of A given that B has occurred - what we want to calculate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BBC4-7E09-FBA6-A3D1-3593DBD105C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15966" y="2598603"/>
            <a:ext cx="6364224" cy="1756443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P(B|A)</a:t>
            </a: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Likelihood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 conditional probability of B given A - our evidence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154D7-BAC5-7F46-5A02-F270A01F43EA}"/>
              </a:ext>
            </a:extLst>
          </p:cNvPr>
          <p:cNvSpPr txBox="1"/>
          <p:nvPr/>
        </p:nvSpPr>
        <p:spPr>
          <a:xfrm>
            <a:off x="863664" y="4840805"/>
            <a:ext cx="6244098" cy="184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P(A)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Prior Probability</a:t>
            </a: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marginal probability of A before considering B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A7C88-1EC3-6CE2-0999-B24B78AAD08C}"/>
              </a:ext>
            </a:extLst>
          </p:cNvPr>
          <p:cNvSpPr txBox="1"/>
          <p:nvPr/>
        </p:nvSpPr>
        <p:spPr>
          <a:xfrm>
            <a:off x="7492961" y="4785109"/>
            <a:ext cx="6146839" cy="226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P(B)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Marginal Probability</a:t>
            </a: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prior or marginal probability of B - our normalizing constant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257EBC-0310-503B-CBD2-86C5F5EB4EED}"/>
              </a:ext>
            </a:extLst>
          </p:cNvPr>
          <p:cNvSpPr txBox="1"/>
          <p:nvPr/>
        </p:nvSpPr>
        <p:spPr>
          <a:xfrm>
            <a:off x="793790" y="875306"/>
            <a:ext cx="7315200" cy="1141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97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P(A|B) = [P(B|A) × P(A)] / P(B)</a:t>
            </a:r>
            <a:endParaRPr lang="en-US" sz="36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20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456B-49C2-8C51-CD56-83C28A30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Naive Bayes Framework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4F57-E200-BE28-0B89-E2CD70A8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5212080" cy="3556936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Core Components</a:t>
            </a:r>
            <a:endParaRPr lang="en-US" sz="2400" dirty="0"/>
          </a:p>
          <a:p>
            <a:pPr algn="l">
              <a:lnSpc>
                <a:spcPct val="150000"/>
              </a:lnSpc>
            </a:pP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Y: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Categorical Dependent Variable - the class we want to predict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Xi: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Categorical or Continuous Independent Variables - the features used for prediction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6448F-368C-FBBF-85BB-F5619534167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77200" y="1892808"/>
            <a:ext cx="4876800" cy="3556936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Classification Formula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2400" dirty="0"/>
              <a:t>	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 Naive Bayes classifier applies Bayes Theorem with the "naive" assumption that all features are conditionally independent given the class label.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For a given set of features X₁, X₂, ..., Xₙ, we calculate: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P(Y|X₁, X₂, ..., Xₙ) ∝ P(Y) × ∏P(</a:t>
            </a:r>
            <a:r>
              <a:rPr lang="en-US" sz="1800" dirty="0" err="1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Xi|Y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)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5133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">
            <a:extLst>
              <a:ext uri="{FF2B5EF4-FFF2-40B4-BE49-F238E27FC236}">
                <a16:creationId xmlns:a16="http://schemas.microsoft.com/office/drawing/2014/main" id="{E1726EBC-8A69-4475-7055-C55499F9D9B8}"/>
              </a:ext>
            </a:extLst>
          </p:cNvPr>
          <p:cNvSpPr/>
          <p:nvPr/>
        </p:nvSpPr>
        <p:spPr>
          <a:xfrm>
            <a:off x="9829800" y="3743965"/>
            <a:ext cx="4495800" cy="19706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6D14873E-4A88-D6DA-D678-E10EA73A7E09}"/>
              </a:ext>
            </a:extLst>
          </p:cNvPr>
          <p:cNvSpPr/>
          <p:nvPr/>
        </p:nvSpPr>
        <p:spPr>
          <a:xfrm>
            <a:off x="5181600" y="3744356"/>
            <a:ext cx="4495800" cy="19706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523A4781-F01C-2FDB-466D-CD47446CBA2A}"/>
              </a:ext>
            </a:extLst>
          </p:cNvPr>
          <p:cNvSpPr/>
          <p:nvPr/>
        </p:nvSpPr>
        <p:spPr>
          <a:xfrm>
            <a:off x="533400" y="3744356"/>
            <a:ext cx="4495800" cy="19706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D3D50-BE0B-61EF-D041-411E31C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0019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Naive Bayes Framework - Example Setup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3DB37-A93A-8B4E-E28F-1F549884E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144387"/>
            <a:ext cx="12695428" cy="1202445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Consider a simple binary classification problem predicting whether someone will be a buyer or non-buyer based on demographic characteristics.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E2D86-42B2-E522-DDF5-4BC8D28E28DA}"/>
              </a:ext>
            </a:extLst>
          </p:cNvPr>
          <p:cNvSpPr txBox="1"/>
          <p:nvPr/>
        </p:nvSpPr>
        <p:spPr>
          <a:xfrm>
            <a:off x="533400" y="3804899"/>
            <a:ext cx="4724400" cy="184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Define the Response Variable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Y = 1 represents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"Buyer"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Y = 0 represents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"Non-Buyer"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1EA98-9AA1-441C-24BB-8C1941BA93DB}"/>
              </a:ext>
            </a:extLst>
          </p:cNvPr>
          <p:cNvSpPr txBox="1"/>
          <p:nvPr/>
        </p:nvSpPr>
        <p:spPr>
          <a:xfrm>
            <a:off x="9982200" y="3804899"/>
            <a:ext cx="4495800" cy="184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latin typeface="PT Serif" panose="020A0603040505020204" pitchFamily="18" charset="0"/>
              </a:rPr>
              <a:t>3.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Define Gender Variable (X₂)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X₂ = 0 if Gender = female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X₂ = 1 if Gender = male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A3B8B-ECD0-FEAA-62B7-E5D2BC09FD68}"/>
              </a:ext>
            </a:extLst>
          </p:cNvPr>
          <p:cNvSpPr txBox="1"/>
          <p:nvPr/>
        </p:nvSpPr>
        <p:spPr>
          <a:xfrm>
            <a:off x="5379593" y="3804899"/>
            <a:ext cx="3871214" cy="184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2.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Define Age Variable (X₁)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X₁ = 0 for age group 25-30 years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X₁ = 1 for age group 31-40 years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723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456B-49C2-8C51-CD56-83C28A30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6096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Classification Rule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4F57-E200-BE28-0B89-E2CD70A8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5212080" cy="5218929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Decision Criterion</a:t>
            </a:r>
            <a:endParaRPr lang="en-US" sz="2400" dirty="0"/>
          </a:p>
          <a:p>
            <a:pPr algn="l">
              <a:lnSpc>
                <a:spcPct val="150000"/>
              </a:lnSpc>
            </a:pP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To classify a new observation, we calculate the posterior probability for each class given the observed features.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 observation is assigned to the class with the highest posterior probability: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Classify as Y = 1 if P(Y=1|X₁,X₂) &gt; P(Y=0|X₁,X₂)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Classify as Y = 0 otherwise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6448F-368C-FBBF-85BB-F5619534167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77200" y="1892808"/>
            <a:ext cx="5715000" cy="4387932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Probability Calculation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2400" dirty="0"/>
              <a:t>	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Using Bayes Theorem and the independence assumption: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P(Y=1|X₁,X₂) = P(X₁|Y=1) × P(X₂|Y=1) × P(Y=1) / P(X₁,X₂)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We estimate these probabilities from the training data by calculating relative frequencies in each category.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72973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646B-7796-9C6A-8411-A3CED11E7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47" y="574057"/>
            <a:ext cx="13656055" cy="1184940"/>
          </a:xfrm>
        </p:spPr>
        <p:txBody>
          <a:bodyPr/>
          <a:lstStyle/>
          <a:p>
            <a:r>
              <a:rPr lang="en-US" sz="40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Expected Output</a:t>
            </a:r>
            <a:br>
              <a:rPr lang="en-US" sz="4000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9778D-B9D2-FC5E-30E2-C6BD7188A5A5}"/>
              </a:ext>
            </a:extLst>
          </p:cNvPr>
          <p:cNvSpPr txBox="1"/>
          <p:nvPr/>
        </p:nvSpPr>
        <p:spPr>
          <a:xfrm>
            <a:off x="623757" y="1515591"/>
            <a:ext cx="13687685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Once the classification rule is applied, the output displays predicted probabilities for each class and the final classification decision.</a:t>
            </a:r>
            <a:endParaRPr lang="en-US" sz="1800" dirty="0">
              <a:latin typeface="PT Serif" panose="020A06030405050202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EBD98C2-9504-C543-107E-41D8908FB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639507"/>
              </p:ext>
            </p:extLst>
          </p:nvPr>
        </p:nvGraphicFramePr>
        <p:xfrm>
          <a:off x="1600200" y="2512820"/>
          <a:ext cx="11430000" cy="335279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7261985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97294843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8097622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65840429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0842977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152568966"/>
                    </a:ext>
                  </a:extLst>
                </a:gridCol>
              </a:tblGrid>
              <a:tr h="127861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Case#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X₁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X₂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P(Y=1|X₁,X₂)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P(Y=0|X₁,X₂)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Y classified as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499201"/>
                  </a:ext>
                </a:extLst>
              </a:tr>
              <a:tr h="518547"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307438"/>
                  </a:ext>
                </a:extLst>
              </a:tr>
              <a:tr h="518547"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558654"/>
                  </a:ext>
                </a:extLst>
              </a:tr>
              <a:tr h="518547"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561467"/>
                  </a:ext>
                </a:extLst>
              </a:tr>
              <a:tr h="518547"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314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79E189-C275-F443-84CA-E33632DF5A1B}"/>
              </a:ext>
            </a:extLst>
          </p:cNvPr>
          <p:cNvSpPr txBox="1"/>
          <p:nvPr/>
        </p:nvSpPr>
        <p:spPr>
          <a:xfrm>
            <a:off x="668546" y="6714009"/>
            <a:ext cx="13504653" cy="71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table shows how each observation is assigned probabilities for both classes, with the final classification based on which probability is higher.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874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">
            <a:extLst>
              <a:ext uri="{FF2B5EF4-FFF2-40B4-BE49-F238E27FC236}">
                <a16:creationId xmlns:a16="http://schemas.microsoft.com/office/drawing/2014/main" id="{1E28579F-5B25-5996-AF7F-828315C146C7}"/>
              </a:ext>
            </a:extLst>
          </p:cNvPr>
          <p:cNvSpPr/>
          <p:nvPr/>
        </p:nvSpPr>
        <p:spPr>
          <a:xfrm>
            <a:off x="762000" y="1676400"/>
            <a:ext cx="6422231" cy="19706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9CD84C3-201A-071C-A94E-B65C0D695E15}"/>
              </a:ext>
            </a:extLst>
          </p:cNvPr>
          <p:cNvSpPr/>
          <p:nvPr/>
        </p:nvSpPr>
        <p:spPr>
          <a:xfrm>
            <a:off x="7343549" y="1679520"/>
            <a:ext cx="6422231" cy="196752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5D33690-5420-3D94-947A-30E9D1150555}"/>
              </a:ext>
            </a:extLst>
          </p:cNvPr>
          <p:cNvSpPr/>
          <p:nvPr/>
        </p:nvSpPr>
        <p:spPr>
          <a:xfrm>
            <a:off x="762000" y="3925676"/>
            <a:ext cx="6422231" cy="19706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BCB3464-974B-0BBF-F7D0-20118B55AA12}"/>
              </a:ext>
            </a:extLst>
          </p:cNvPr>
          <p:cNvSpPr/>
          <p:nvPr/>
        </p:nvSpPr>
        <p:spPr>
          <a:xfrm>
            <a:off x="7382589" y="3925676"/>
            <a:ext cx="6422231" cy="196752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9D534-8F2E-0E7D-6348-F22343FAB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64" y="397868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Advantages of Naive Bayes Method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711B4-6E29-719E-9364-2EB106914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9325" y="1733596"/>
            <a:ext cx="5923085" cy="2171941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1. Simple and Interpretable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Classification rule is straightforward to understand and explain, making it accessible for both technical and non-technical audiences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BBC4-7E09-FBA6-A3D1-3593DBD105C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484176" y="1760403"/>
            <a:ext cx="6364224" cy="2171941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2. Efficient Training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Requires a small amount of training data to estimate the parameters necessary for classification, making it suitable for limited datasets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154D7-BAC5-7F46-5A02-F270A01F43EA}"/>
              </a:ext>
            </a:extLst>
          </p:cNvPr>
          <p:cNvSpPr txBox="1"/>
          <p:nvPr/>
        </p:nvSpPr>
        <p:spPr>
          <a:xfrm>
            <a:off x="818818" y="3962733"/>
            <a:ext cx="6244098" cy="226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Fast Evaluation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evaluation of the classifier is quick and computationally efficient, enabling rapid predictions on large datasets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A7C88-1EC3-6CE2-0999-B24B78AAD08C}"/>
              </a:ext>
            </a:extLst>
          </p:cNvPr>
          <p:cNvSpPr txBox="1"/>
          <p:nvPr/>
        </p:nvSpPr>
        <p:spPr>
          <a:xfrm>
            <a:off x="7461171" y="3946909"/>
            <a:ext cx="6146839" cy="226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Effective Alternative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Can serve as a good alternative to logistic regression, often performing comparably or better with less computational overhead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382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">
            <a:extLst>
              <a:ext uri="{FF2B5EF4-FFF2-40B4-BE49-F238E27FC236}">
                <a16:creationId xmlns:a16="http://schemas.microsoft.com/office/drawing/2014/main" id="{E1726EBC-8A69-4475-7055-C55499F9D9B8}"/>
              </a:ext>
            </a:extLst>
          </p:cNvPr>
          <p:cNvSpPr/>
          <p:nvPr/>
        </p:nvSpPr>
        <p:spPr>
          <a:xfrm>
            <a:off x="9753600" y="1956397"/>
            <a:ext cx="4495800" cy="3647436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6D14873E-4A88-D6DA-D678-E10EA73A7E09}"/>
              </a:ext>
            </a:extLst>
          </p:cNvPr>
          <p:cNvSpPr/>
          <p:nvPr/>
        </p:nvSpPr>
        <p:spPr>
          <a:xfrm>
            <a:off x="5105400" y="1956789"/>
            <a:ext cx="4495800" cy="36470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523A4781-F01C-2FDB-466D-CD47446CBA2A}"/>
              </a:ext>
            </a:extLst>
          </p:cNvPr>
          <p:cNvSpPr/>
          <p:nvPr/>
        </p:nvSpPr>
        <p:spPr>
          <a:xfrm>
            <a:off x="457200" y="1956789"/>
            <a:ext cx="4495800" cy="364704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D3D50-BE0B-61EF-D041-411E31C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00192"/>
            <a:ext cx="13656055" cy="590867"/>
          </a:xfrm>
        </p:spPr>
        <p:txBody>
          <a:bodyPr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Limitations of Naive Bayes Method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E2D86-42B2-E522-DDF5-4BC8D28E28DA}"/>
              </a:ext>
            </a:extLst>
          </p:cNvPr>
          <p:cNvSpPr txBox="1"/>
          <p:nvPr/>
        </p:nvSpPr>
        <p:spPr>
          <a:xfrm>
            <a:off x="457200" y="2017332"/>
            <a:ext cx="4541393" cy="2679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Independence Assumption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assumption of conditional independence among independent variables is 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strict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in real-world scenarios where features often correlate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1EA98-9AA1-441C-24BB-8C1941BA93DB}"/>
              </a:ext>
            </a:extLst>
          </p:cNvPr>
          <p:cNvSpPr txBox="1"/>
          <p:nvPr/>
        </p:nvSpPr>
        <p:spPr>
          <a:xfrm>
            <a:off x="9906000" y="2017332"/>
            <a:ext cx="4343400" cy="392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Zero Probability Problem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For categorical variables, probabilities cannot be calculated if the count in any conditional category is zero. For example: if there are no respondents in age group 25-30 years,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then P(X₁=0|Y=1) = 0, making the entire probability expression zero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A3B8B-ECD0-FEAA-62B7-E5D2BC09FD68}"/>
              </a:ext>
            </a:extLst>
          </p:cNvPr>
          <p:cNvSpPr txBox="1"/>
          <p:nvPr/>
        </p:nvSpPr>
        <p:spPr>
          <a:xfrm>
            <a:off x="5303392" y="2017332"/>
            <a:ext cx="3993009" cy="3095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Distributional Assumptions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For continuous independent variables, the density function must be known or assumed (typically normal distribution), which may not reflect reality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864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3301-09DE-CFE4-26E9-8537CB76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5334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Handling Zero Probabilities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0F5C-E85B-4A6F-5252-25E34AFAD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658524"/>
            <a:ext cx="3688080" cy="2958695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?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The Problem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What happens when a category has zero entries in the training data?</a:t>
            </a:r>
            <a:endParaRPr lang="en-US" sz="1800" dirty="0"/>
          </a:p>
          <a:p>
            <a:pPr marL="0" indent="0" algn="l">
              <a:lnSpc>
                <a:spcPts val="7050"/>
              </a:lnSpc>
              <a:buNone/>
            </a:pP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DA7A0-7D3D-69BB-2473-8743F41E17E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629400" y="1658524"/>
            <a:ext cx="7500887" cy="3971665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The Solution: Smoothing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020202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IN" sz="1800" dirty="0"/>
              <a:t>To avoid zero probabilities, we add a constant to </a:t>
            </a:r>
            <a:r>
              <a:rPr lang="en-IN" sz="1800" b="1" dirty="0"/>
              <a:t>each category count</a:t>
            </a:r>
            <a:r>
              <a:rPr lang="en-IN" sz="1800" dirty="0"/>
              <a:t> before computing conditional probabilities.</a:t>
            </a: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  technique based on above concept, known as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Laplace smoothing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or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additive smoothing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, prevents the entire probability from collapsing to zero due to a single missing category.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1003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50B62B-12C1-F695-59F4-7DE7D21F68C2}"/>
              </a:ext>
            </a:extLst>
          </p:cNvPr>
          <p:cNvSpPr/>
          <p:nvPr/>
        </p:nvSpPr>
        <p:spPr>
          <a:xfrm>
            <a:off x="7315200" y="2425541"/>
            <a:ext cx="6583680" cy="12320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03301-09DE-CFE4-26E9-8537CB76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334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Laplace Smoothing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0F5C-E85B-4A6F-5252-25E34AFAD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658524"/>
            <a:ext cx="5288280" cy="3972434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What is Laplace Smoothing?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020202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Laplace smoothing, also called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additive smoothing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, addresses the zero-probability problem by adding a small constant to all category counts.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rgbClr val="020202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In scikit-</a:t>
            </a:r>
            <a:r>
              <a:rPr lang="en-US" sz="1800" dirty="0" err="1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learn's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MultinomialNB, this is controlled by the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alpha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parameter.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DA7A0-7D3D-69BB-2473-8743F41E17E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56673" y="1658524"/>
            <a:ext cx="6235528" cy="4730975"/>
          </a:xfrm>
        </p:spPr>
        <p:txBody>
          <a:bodyPr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Implementation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2400" dirty="0">
              <a:solidFill>
                <a:srgbClr val="020202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rgbClr val="383838"/>
                </a:solidFill>
              </a:rPr>
              <a:t># With Laplace smoothing</a:t>
            </a: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rgbClr val="383838"/>
                </a:solidFill>
              </a:rPr>
              <a:t>MNBmodel=MultinomialNB(alpha=1.0)</a:t>
            </a: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rgbClr val="383838"/>
                </a:solidFill>
              </a:rPr>
              <a:t>MNBmodel.fit(X_train, y_train)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rgbClr val="020202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alpha = 1.0: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Standard Laplace smoothing</a:t>
            </a:r>
            <a:endParaRPr lang="en-US" sz="1800" dirty="0"/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rgbClr val="020202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alpha = 0: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No smoothing</a:t>
            </a:r>
            <a:endParaRPr lang="en-US" sz="1800" dirty="0"/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rgbClr val="020202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alpha &gt; 1.0: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More aggressive smoothing</a:t>
            </a:r>
            <a:endParaRPr lang="en-US" sz="1800" dirty="0"/>
          </a:p>
          <a:p>
            <a:pPr marL="0" indent="0" algn="l">
              <a:lnSpc>
                <a:spcPts val="3050"/>
              </a:lnSpc>
              <a:buNone/>
            </a:pPr>
            <a:endParaRPr lang="en-US" sz="1800" dirty="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5AA7CC3A-DD2C-9AB3-A2C0-9FAE4C3B7761}"/>
              </a:ext>
            </a:extLst>
          </p:cNvPr>
          <p:cNvSpPr/>
          <p:nvPr/>
        </p:nvSpPr>
        <p:spPr>
          <a:xfrm>
            <a:off x="731520" y="6571076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Laplace smoothing ensures robust probability estimates even when certain feature-class combinations are absent from the training data, preventing model breakdown and improving generalization.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770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ubtitle 5"/>
              <p:cNvSpPr txBox="1">
                <a:spLocks/>
              </p:cNvSpPr>
              <p:nvPr/>
            </p:nvSpPr>
            <p:spPr>
              <a:xfrm>
                <a:off x="2377439" y="1600200"/>
                <a:ext cx="9875520" cy="5760720"/>
              </a:xfrm>
              <a:prstGeom prst="rect">
                <a:avLst/>
              </a:prstGeom>
            </p:spPr>
            <p:txBody>
              <a:bodyPr vert="horz" lIns="109728" tIns="54864" rIns="109728" bIns="54864" rtlCol="0">
                <a:normAutofit lnSpcReduction="10000"/>
              </a:bodyPr>
              <a:lstStyle>
                <a:lvl1pPr marL="342900" indent="-342900" algn="l" defTabSz="9144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 pitchFamily="34" charset="0"/>
                  <a:buChar char="–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 pitchFamily="34" charset="0"/>
                  <a:buChar char="–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 pitchFamily="34" charset="0"/>
                  <a:buChar char="»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1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21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1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0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1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en-US" sz="210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type m:val="li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100" dirty="0">
                  <a:latin typeface="PT Serif" panose="020A0603040505020204" pitchFamily="18" charset="77"/>
                </a:endParaRPr>
              </a:p>
              <a:p>
                <a:pPr marL="0" indent="0">
                  <a:buNone/>
                </a:pPr>
                <a:r>
                  <a:rPr lang="en-US" sz="2100" dirty="0">
                    <a:latin typeface="PT Serif" panose="020A0603040505020204" pitchFamily="18" charset="77"/>
                  </a:rPr>
                  <a:t>This prob will be 0 if numerator count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100" dirty="0">
                    <a:latin typeface="PT Serif" panose="020A0603040505020204" pitchFamily="18" charset="77"/>
                  </a:rPr>
                  <a:t>) is 0</a:t>
                </a:r>
              </a:p>
              <a:p>
                <a:pPr marL="0" indent="0">
                  <a:buNone/>
                </a:pPr>
                <a:r>
                  <a:rPr lang="en-US" sz="2100" dirty="0">
                    <a:latin typeface="PT Serif" panose="020A0603040505020204" pitchFamily="18" charset="77"/>
                  </a:rPr>
                  <a:t>Laplace smoothing will replace this probability with a value obtained by the formula:</a:t>
                </a:r>
              </a:p>
              <a:p>
                <a:pPr marL="0" indent="0">
                  <a:buNone/>
                </a:pPr>
                <a:endParaRPr lang="en-US" sz="2100" dirty="0">
                  <a:latin typeface="PT Serif" panose="020A0603040505020204" pitchFamily="18" charset="77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sz="2100" dirty="0">
                  <a:latin typeface="PT Serif" panose="020A0603040505020204" pitchFamily="18" charset="77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sz="2100" dirty="0">
                  <a:latin typeface="PT Serif" panose="020A0603040505020204" pitchFamily="18" charset="77"/>
                  <a:cs typeface="Times New Roman" pitchFamily="18" charset="0"/>
                </a:endParaRPr>
              </a:p>
              <a:p>
                <a:pPr marL="3223260" indent="0">
                  <a:buNone/>
                </a:pPr>
                <a:r>
                  <a:rPr lang="en-US" sz="2100" dirty="0">
                    <a:latin typeface="PT Serif" panose="020A0603040505020204" pitchFamily="18" charset="77"/>
                    <a:cs typeface="Times New Roman" pitchFamily="18" charset="0"/>
                  </a:rPr>
                  <a:t>where</a:t>
                </a:r>
              </a:p>
              <a:p>
                <a:pPr marL="322326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  <a:ea typeface="Cambria Math"/>
                        <a:cs typeface="Times New Roman" pitchFamily="18" charset="0"/>
                      </a:rPr>
                      <m:t>α</m:t>
                    </m:r>
                  </m:oMath>
                </a14:m>
                <a:r>
                  <a:rPr lang="en-US" sz="2100" dirty="0">
                    <a:latin typeface="PT Serif" panose="020A0603040505020204" pitchFamily="18" charset="77"/>
                    <a:cs typeface="Times New Roman" pitchFamily="18" charset="0"/>
                  </a:rPr>
                  <a:t>   :     Smoothing Parameter</a:t>
                </a:r>
              </a:p>
              <a:p>
                <a:pPr marL="322326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sz="2100" dirty="0">
                    <a:latin typeface="PT Serif" panose="020A0603040505020204" pitchFamily="18" charset="77"/>
                  </a:rPr>
                  <a:t>  :    Number of observations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1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endParaRPr lang="en-US" sz="2100" dirty="0">
                  <a:latin typeface="PT Serif" panose="020A0603040505020204" pitchFamily="18" charset="77"/>
                </a:endParaRPr>
              </a:p>
              <a:p>
                <a:pPr marL="3223260" indent="0">
                  <a:buNone/>
                </a:pPr>
                <a:r>
                  <a:rPr lang="en-US" sz="2100" dirty="0">
                    <a:latin typeface="PT Serif" panose="020A0603040505020204" pitchFamily="18" charset="77"/>
                  </a:rPr>
                  <a:t>d.  :    Number of classes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sz="2100" dirty="0">
                  <a:latin typeface="PT Serif" panose="020A0603040505020204" pitchFamily="18" charset="77"/>
                </a:endParaRPr>
              </a:p>
            </p:txBody>
          </p:sp>
        </mc:Choice>
        <mc:Fallback xmlns="">
          <p:sp>
            <p:nvSpPr>
              <p:cNvPr id="10" name="Subtitl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39" y="1600200"/>
                <a:ext cx="9875520" cy="5760720"/>
              </a:xfrm>
              <a:prstGeom prst="rect">
                <a:avLst/>
              </a:prstGeom>
              <a:blipFill>
                <a:blip r:embed="rId3"/>
                <a:stretch>
                  <a:fillRect l="-513" t="-6154" b="-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293876" y="3893364"/>
                <a:ext cx="1546413" cy="757512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b="0" i="0" baseline="-250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</a:rPr>
                        <m:t>i</m:t>
                      </m:r>
                      <m: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Nj</m:t>
                          </m:r>
                          <m: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αd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876" y="3893364"/>
                <a:ext cx="1546413" cy="75751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A564FB13-6CA7-4849-96A7-1B667D8129B5}"/>
              </a:ext>
            </a:extLst>
          </p:cNvPr>
          <p:cNvSpPr txBox="1">
            <a:spLocks/>
          </p:cNvSpPr>
          <p:nvPr/>
        </p:nvSpPr>
        <p:spPr>
          <a:xfrm>
            <a:off x="487172" y="533400"/>
            <a:ext cx="13656055" cy="6101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ea typeface="+mj-ea"/>
                <a:cs typeface="Lucida Sans Unicode"/>
              </a:defRPr>
            </a:lvl1pPr>
          </a:lstStyle>
          <a:p>
            <a:pPr algn="l">
              <a:lnSpc>
                <a:spcPts val="5100"/>
              </a:lnSpc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Laplace Smoothing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18938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EF21C7-7E2F-30C2-CB5D-5C85C05716DD}"/>
              </a:ext>
            </a:extLst>
          </p:cNvPr>
          <p:cNvSpPr/>
          <p:nvPr/>
        </p:nvSpPr>
        <p:spPr>
          <a:xfrm>
            <a:off x="761999" y="5615574"/>
            <a:ext cx="5257800" cy="12656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BCBC53-97FD-2861-28D4-CCFA8C55209C}"/>
              </a:ext>
            </a:extLst>
          </p:cNvPr>
          <p:cNvSpPr/>
          <p:nvPr/>
        </p:nvSpPr>
        <p:spPr>
          <a:xfrm>
            <a:off x="761999" y="1348374"/>
            <a:ext cx="5257800" cy="21568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032" y="219223"/>
            <a:ext cx="13656055" cy="542777"/>
          </a:xfrm>
        </p:spPr>
        <p:txBody>
          <a:bodyPr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Naive Bayes in Python: Continuous Predictors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932651" y="759125"/>
            <a:ext cx="13182600" cy="7804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Model Fitting with GaussianNB</a:t>
            </a: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# Import the model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from sklearn.naive_bayes import GaussianNB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# Initialize and fit the model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NBmodel = GaussianNB()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NBmodel.fit(X_train, y_train)</a:t>
            </a: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GaussianNB()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fits a Gaussian Naive Bayes algorithm for classification. This model is suitable for continuous predictors and assumes the likelihood of predictors follows a normal distribution.</a:t>
            </a: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Generating Predicted Probabilities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# Get predicted probabilities for test data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predprob_test = NBmodel.predict_proba(X_test)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predprob_test</a:t>
            </a: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predict_proba()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returns the predicted probabilities for each class in the test data, allowing you to see the model's confidence in its predictions.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EB7F2E-B2E9-9F4E-8B65-A67856A95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059" y="5458126"/>
            <a:ext cx="3937000" cy="158054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22370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B5669D-70F5-390C-1BDD-217ADE3DCFA8}"/>
              </a:ext>
            </a:extLst>
          </p:cNvPr>
          <p:cNvSpPr/>
          <p:nvPr/>
        </p:nvSpPr>
        <p:spPr>
          <a:xfrm>
            <a:off x="836762" y="2971800"/>
            <a:ext cx="5259238" cy="2514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Naive Bayes in Python: Categorical Predictors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914400" y="1905000"/>
            <a:ext cx="13182600" cy="6003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Model Fitting with MultinomialNB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# Import the model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from sklearn.naive_bayes import MultinomialNB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# Initialize and fit the model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MNBmodel = MultinomialNB(alpha=0)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MNBmodel.fit(X_emp, y_emp)</a:t>
            </a: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MultinomialNB()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fits a Multinomial Naive Bayes algorithm specifically designed for classification with categorical predictors.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parameter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alpha = 0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doesn't apply any smoothing on the data. When alpha &gt; 0, it applies Laplace smoothing to handle zero probabilities. The default value is alpha=1.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900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BAEBEA-8A9F-384D-FB34-92F43DBFEACD}"/>
              </a:ext>
            </a:extLst>
          </p:cNvPr>
          <p:cNvSpPr/>
          <p:nvPr/>
        </p:nvSpPr>
        <p:spPr>
          <a:xfrm>
            <a:off x="609600" y="2209800"/>
            <a:ext cx="5638800" cy="121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Generating Predictions for Categorical Data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838200" y="1380730"/>
            <a:ext cx="13182600" cy="7207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Predicted Probabilities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305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# Get predicted probabilities</a:t>
            </a:r>
          </a:p>
          <a:p>
            <a:pPr algn="l">
              <a:lnSpc>
                <a:spcPts val="305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predprob_MNB = MNBmodel.predict_proba(X_emp)</a:t>
            </a:r>
          </a:p>
          <a:p>
            <a:pPr algn="l">
              <a:lnSpc>
                <a:spcPts val="305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predprob_MNB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305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predict_proba()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method returns a matrix where each row corresponds to an observation and each column represents the probability of belonging to each class.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3050"/>
              </a:lnSpc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Understanding the Output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305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ts val="305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ts val="305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output is a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numpy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array with shape (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n_samples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n_classes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). Each row sums to 1.0, representing the complete probability distribution across all classes for that observation.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305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Higher probability values indicate greater confidence in the prediction for that particular class.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4A6042-ECBE-7C48-864E-4662FAC59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419600"/>
            <a:ext cx="4021975" cy="20758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67593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50B62B-12C1-F695-59F4-7DE7D21F68C2}"/>
              </a:ext>
            </a:extLst>
          </p:cNvPr>
          <p:cNvSpPr/>
          <p:nvPr/>
        </p:nvSpPr>
        <p:spPr>
          <a:xfrm>
            <a:off x="7315200" y="2425541"/>
            <a:ext cx="6583680" cy="12320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03301-09DE-CFE4-26E9-8537CB76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334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Laplace Smoothing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0F5C-E85B-4A6F-5252-25E34AFAD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658524"/>
            <a:ext cx="5288280" cy="3972434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What is Laplace Smoothing?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020202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Laplace smoothing, also called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additive smoothing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, addresses the zero-probability problem by adding a small constant to all probability counts.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rgbClr val="020202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In scikit-</a:t>
            </a:r>
            <a:r>
              <a:rPr lang="en-US" sz="1800" dirty="0" err="1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learn's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MultinomialNB, this is controlled by the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alpha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parameter.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DA7A0-7D3D-69BB-2473-8743F41E17E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56673" y="1658524"/>
            <a:ext cx="6235528" cy="4730975"/>
          </a:xfrm>
        </p:spPr>
        <p:txBody>
          <a:bodyPr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Implementation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2400" dirty="0">
              <a:solidFill>
                <a:srgbClr val="020202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rgbClr val="383838"/>
                </a:solidFill>
              </a:rPr>
              <a:t># With Laplace smoothing</a:t>
            </a: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rgbClr val="383838"/>
                </a:solidFill>
              </a:rPr>
              <a:t>MNBmodel=MultinomialNB(alpha=1.0)</a:t>
            </a: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rgbClr val="383838"/>
                </a:solidFill>
              </a:rPr>
              <a:t>MNBmodel.fit(X_train, y_train)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rgbClr val="020202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alpha = 1.0: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Standard Laplace smoothing</a:t>
            </a:r>
            <a:endParaRPr lang="en-US" sz="1800" dirty="0"/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rgbClr val="020202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alpha = 0: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No smoothing</a:t>
            </a:r>
            <a:endParaRPr lang="en-US" sz="1800" dirty="0"/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rgbClr val="020202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alpha &gt; 1.0: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More aggressive smoothing</a:t>
            </a:r>
            <a:endParaRPr lang="en-US" sz="1800" dirty="0"/>
          </a:p>
          <a:p>
            <a:pPr marL="0" indent="0" algn="l">
              <a:lnSpc>
                <a:spcPts val="3050"/>
              </a:lnSpc>
              <a:buNone/>
            </a:pPr>
            <a:endParaRPr lang="en-US" sz="1800" dirty="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5AA7CC3A-DD2C-9AB3-A2C0-9FAE4C3B7761}"/>
              </a:ext>
            </a:extLst>
          </p:cNvPr>
          <p:cNvSpPr/>
          <p:nvPr/>
        </p:nvSpPr>
        <p:spPr>
          <a:xfrm>
            <a:off x="731520" y="6571076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Laplace smoothing ensures robust probability estimates even when certain feature-class combinations are absent from the training data, preventing model breakdown and improving generalization.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326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A9FC2367-E24D-0307-91F7-127E1D2B8BB3}"/>
              </a:ext>
            </a:extLst>
          </p:cNvPr>
          <p:cNvSpPr/>
          <p:nvPr/>
        </p:nvSpPr>
        <p:spPr>
          <a:xfrm>
            <a:off x="793790" y="1998940"/>
            <a:ext cx="6422231" cy="211157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016EE6B-DC41-51A8-1869-75D823C6C93A}"/>
              </a:ext>
            </a:extLst>
          </p:cNvPr>
          <p:cNvSpPr/>
          <p:nvPr/>
        </p:nvSpPr>
        <p:spPr>
          <a:xfrm>
            <a:off x="7414379" y="1998940"/>
            <a:ext cx="6422231" cy="211157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77C8267-B1D8-D6BB-B6AB-B77D8CF71E5C}"/>
              </a:ext>
            </a:extLst>
          </p:cNvPr>
          <p:cNvSpPr/>
          <p:nvPr/>
        </p:nvSpPr>
        <p:spPr>
          <a:xfrm>
            <a:off x="793790" y="4308872"/>
            <a:ext cx="6422231" cy="239672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B16DCF59-2F39-2C46-4A13-577D8D2BD334}"/>
              </a:ext>
            </a:extLst>
          </p:cNvPr>
          <p:cNvSpPr/>
          <p:nvPr/>
        </p:nvSpPr>
        <p:spPr>
          <a:xfrm>
            <a:off x="7414379" y="4308872"/>
            <a:ext cx="6422231" cy="239672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B68B5C-71C5-AF2C-A0F0-DE2ECF48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681083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Naïve Bayes Method: Key Takeaways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D65C8-FE11-A9F2-4613-0C5B99BC7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0975" y="2169807"/>
            <a:ext cx="6144770" cy="4985980"/>
          </a:xfrm>
        </p:spPr>
        <p:txBody>
          <a:bodyPr/>
          <a:lstStyle/>
          <a:p>
            <a:pPr algn="l"/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What is Naïve Bayes Method?</a:t>
            </a:r>
          </a:p>
          <a:p>
            <a:pPr algn="l"/>
            <a:endParaRPr lang="en-US" sz="1800" dirty="0">
              <a:solidFill>
                <a:srgbClr val="383838"/>
              </a:solidFill>
            </a:endParaRPr>
          </a:p>
          <a:p>
            <a:pPr algn="l"/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 Naïve Bayes Method is used in classification problems.</a:t>
            </a:r>
          </a:p>
          <a:p>
            <a:pPr algn="l"/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 class probabilities ate computed using Bayes' theorem,.</a:t>
            </a:r>
          </a:p>
          <a:p>
            <a:pPr algn="l"/>
            <a:endParaRPr lang="en-US" sz="1800" dirty="0">
              <a:solidFill>
                <a:srgbClr val="383838"/>
              </a:solidFill>
              <a:ea typeface="DM Sans" pitchFamily="34" charset="-122"/>
              <a:cs typeface="DM Sans" pitchFamily="34" charset="-120"/>
            </a:endParaRPr>
          </a:p>
          <a:p>
            <a:pPr algn="l"/>
            <a:endParaRPr lang="en-US" sz="1800" dirty="0">
              <a:solidFill>
                <a:srgbClr val="383838"/>
              </a:solidFill>
              <a:ea typeface="DM Sans" pitchFamily="34" charset="-122"/>
              <a:cs typeface="DM Sans" pitchFamily="34" charset="-120"/>
            </a:endParaRPr>
          </a:p>
          <a:p>
            <a:pPr algn="l"/>
            <a:endParaRPr lang="en-US" sz="1800" dirty="0">
              <a:solidFill>
                <a:srgbClr val="383838"/>
              </a:solidFill>
              <a:ea typeface="DM Sans" pitchFamily="34" charset="-122"/>
              <a:cs typeface="DM Sans" pitchFamily="34" charset="-120"/>
            </a:endParaRPr>
          </a:p>
          <a:p>
            <a:pPr algn="l"/>
            <a:endParaRPr lang="en-US" sz="1800" dirty="0">
              <a:solidFill>
                <a:srgbClr val="383838"/>
              </a:solidFill>
            </a:endParaRPr>
          </a:p>
          <a:p>
            <a:pPr algn="l"/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Python Functions</a:t>
            </a:r>
          </a:p>
          <a:p>
            <a:pPr algn="l"/>
            <a:endParaRPr lang="en-US" sz="2400" dirty="0">
              <a:solidFill>
                <a:srgbClr val="383838"/>
              </a:solidFill>
              <a:ea typeface="PT Serif" pitchFamily="34" charset="-122"/>
              <a:cs typeface="PT Serif" pitchFamily="34" charset="-120"/>
            </a:endParaRPr>
          </a:p>
          <a:p>
            <a:pPr algn="l"/>
            <a:r>
              <a:rPr lang="en-US" sz="1800" dirty="0" err="1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GaussianNB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for continuous predictors and </a:t>
            </a:r>
            <a:r>
              <a:rPr lang="en-US" sz="1800" dirty="0" err="1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MultinomialNB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for categorical predictors.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1DDBA-B084-B381-4A98-DC725E89B028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60536" y="2169807"/>
            <a:ext cx="6144770" cy="4431983"/>
          </a:xfrm>
        </p:spPr>
        <p:txBody>
          <a:bodyPr/>
          <a:lstStyle/>
          <a:p>
            <a:pPr algn="l"/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Types of Variables</a:t>
            </a:r>
          </a:p>
          <a:p>
            <a:pPr algn="l"/>
            <a:endParaRPr lang="en-US" sz="1800" dirty="0">
              <a:solidFill>
                <a:srgbClr val="383838"/>
              </a:solidFill>
            </a:endParaRPr>
          </a:p>
          <a:p>
            <a:pPr algn="l"/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 dependent variable is a categorical variable ( Nominal Scale) whereas independent variables can be numeric or categorical.</a:t>
            </a:r>
          </a:p>
          <a:p>
            <a:pPr algn="l"/>
            <a:endParaRPr lang="en-US" sz="1800" dirty="0">
              <a:solidFill>
                <a:srgbClr val="383838"/>
              </a:solidFill>
              <a:ea typeface="DM Sans" pitchFamily="34" charset="-122"/>
              <a:cs typeface="DM Sans" pitchFamily="34" charset="-120"/>
            </a:endParaRPr>
          </a:p>
          <a:p>
            <a:pPr algn="l"/>
            <a:endParaRPr lang="en-US" sz="1800" dirty="0">
              <a:solidFill>
                <a:srgbClr val="383838"/>
              </a:solidFill>
            </a:endParaRPr>
          </a:p>
          <a:p>
            <a:pPr algn="l"/>
            <a:endParaRPr lang="en-US" sz="1800" dirty="0">
              <a:solidFill>
                <a:srgbClr val="383838"/>
              </a:solidFill>
            </a:endParaRPr>
          </a:p>
          <a:p>
            <a:pPr algn="l"/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Laplace Smoothing</a:t>
            </a:r>
          </a:p>
          <a:p>
            <a:pPr algn="l"/>
            <a:endParaRPr lang="en-US" sz="2400" dirty="0">
              <a:solidFill>
                <a:srgbClr val="383838"/>
              </a:solidFill>
              <a:ea typeface="PT Serif" pitchFamily="34" charset="-122"/>
              <a:cs typeface="PT Serif" pitchFamily="34" charset="-120"/>
            </a:endParaRPr>
          </a:p>
          <a:p>
            <a:pPr algn="l"/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Addresses the zero-probability problem by adding a small constant to all probability counts</a:t>
            </a:r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52448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555</TotalTime>
  <Words>1810</Words>
  <Application>Microsoft Macintosh PowerPoint</Application>
  <PresentationFormat>Custom</PresentationFormat>
  <Paragraphs>276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Cambria Math</vt:lpstr>
      <vt:lpstr>DM Sans</vt:lpstr>
      <vt:lpstr>Lucida Sans Unicode</vt:lpstr>
      <vt:lpstr>PT Serif</vt:lpstr>
      <vt:lpstr>PT Serif Light</vt:lpstr>
      <vt:lpstr>Times New Roman</vt:lpstr>
      <vt:lpstr>Office Theme</vt:lpstr>
      <vt:lpstr>PowerPoint Presentation</vt:lpstr>
      <vt:lpstr>Contents </vt:lpstr>
      <vt:lpstr>About Naive Bayes Classifier </vt:lpstr>
      <vt:lpstr>Conditional Probability Fundamentals </vt:lpstr>
      <vt:lpstr>Bayes Theorem</vt:lpstr>
      <vt:lpstr>Naive Bayes Framework</vt:lpstr>
      <vt:lpstr>Naive Bayes Framework - Example Setup </vt:lpstr>
      <vt:lpstr>Classification Rule</vt:lpstr>
      <vt:lpstr>Expected Output </vt:lpstr>
      <vt:lpstr>Advantages of Naive Bayes Method</vt:lpstr>
      <vt:lpstr>Limitations of Naive Bayes Method</vt:lpstr>
      <vt:lpstr>Handling Zero Probabilities</vt:lpstr>
      <vt:lpstr>Laplace Smoothing</vt:lpstr>
      <vt:lpstr>PowerPoint Presentation</vt:lpstr>
      <vt:lpstr>Naive Bayes in Python: Continuous Predictors</vt:lpstr>
      <vt:lpstr>Naive Bayes in Python: Categorical Predictors</vt:lpstr>
      <vt:lpstr>Generating Predictions for Categorical Data</vt:lpstr>
      <vt:lpstr>Laplace Smoothing</vt:lpstr>
      <vt:lpstr>Naïve Bayes Method: Key Takeaways 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207</cp:revision>
  <dcterms:created xsi:type="dcterms:W3CDTF">2025-08-01T06:43:07Z</dcterms:created>
  <dcterms:modified xsi:type="dcterms:W3CDTF">2025-12-30T10:30:42Z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