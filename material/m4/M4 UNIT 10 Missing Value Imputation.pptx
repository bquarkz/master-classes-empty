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74" r:id="rId2"/>
    <p:sldId id="315" r:id="rId3"/>
    <p:sldId id="347" r:id="rId4"/>
    <p:sldId id="300" r:id="rId5"/>
    <p:sldId id="304" r:id="rId6"/>
    <p:sldId id="333" r:id="rId7"/>
    <p:sldId id="346" r:id="rId8"/>
    <p:sldId id="335" r:id="rId9"/>
    <p:sldId id="334" r:id="rId10"/>
    <p:sldId id="337" r:id="rId11"/>
    <p:sldId id="338" r:id="rId12"/>
    <p:sldId id="348" r:id="rId13"/>
    <p:sldId id="339" r:id="rId14"/>
    <p:sldId id="345" r:id="rId15"/>
    <p:sldId id="336" r:id="rId16"/>
    <p:sldId id="340" r:id="rId17"/>
    <p:sldId id="341" r:id="rId18"/>
    <p:sldId id="342" r:id="rId19"/>
    <p:sldId id="349" r:id="rId20"/>
  </p:sldIdLst>
  <p:sldSz cx="14630400" cy="8229600"/>
  <p:notesSz cx="14630400" cy="8229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48891F-FB35-E1C6-2832-95F5AEC01C35}" v="1" dt="2025-11-06T07:40:41.12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2575" autoAdjust="0"/>
  </p:normalViewPr>
  <p:slideViewPr>
    <p:cSldViewPr>
      <p:cViewPr varScale="1">
        <p:scale>
          <a:sx n="84" d="100"/>
          <a:sy n="84" d="100"/>
        </p:scale>
        <p:origin x="1000" y="1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DD48891F-FB35-E1C6-2832-95F5AEC01C35}"/>
    <pc:docChg chg="modSld">
      <pc:chgData name="Guest User" userId="" providerId="Windows Live" clId="Web-{DD48891F-FB35-E1C6-2832-95F5AEC01C35}" dt="2025-11-06T07:40:41.129" v="0" actId="1076"/>
      <pc:docMkLst>
        <pc:docMk/>
      </pc:docMkLst>
      <pc:sldChg chg="modSp">
        <pc:chgData name="Guest User" userId="" providerId="Windows Live" clId="Web-{DD48891F-FB35-E1C6-2832-95F5AEC01C35}" dt="2025-11-06T07:40:41.129" v="0" actId="1076"/>
        <pc:sldMkLst>
          <pc:docMk/>
          <pc:sldMk cId="0" sldId="260"/>
        </pc:sldMkLst>
        <pc:spChg chg="mod">
          <ac:chgData name="Guest User" userId="" providerId="Windows Live" clId="Web-{DD48891F-FB35-E1C6-2832-95F5AEC01C35}" dt="2025-11-06T07:40:41.129" v="0" actId="1076"/>
          <ac:spMkLst>
            <pc:docMk/>
            <pc:sldMk cId="0" sldId="260"/>
            <ac:spMk id="11" creationId="{1729E060-4A6E-E272-7665-9392F1B6E4F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6340475" cy="41275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8286750" y="0"/>
            <a:ext cx="6340475" cy="412750"/>
          </a:xfrm>
          <a:prstGeom prst="rect">
            <a:avLst/>
          </a:prstGeom>
        </p:spPr>
        <p:txBody>
          <a:bodyPr vert="horz" lIns="91440" tIns="45720" rIns="91440" bIns="45720" rtlCol="0"/>
          <a:lstStyle>
            <a:lvl1pPr algn="r">
              <a:defRPr sz="1200"/>
            </a:lvl1pPr>
          </a:lstStyle>
          <a:p>
            <a:fld id="{04E097FF-D63A-4701-9D59-A7186DD4FFE5}" type="datetimeFigureOut">
              <a:rPr lang="en-IN" smtClean="0"/>
              <a:t>17/12/25</a:t>
            </a:fld>
            <a:endParaRPr lang="en-IN"/>
          </a:p>
        </p:txBody>
      </p:sp>
      <p:sp>
        <p:nvSpPr>
          <p:cNvPr id="4" name="Slide Image Placeholder 3"/>
          <p:cNvSpPr>
            <a:spLocks noGrp="1" noRot="1" noChangeAspect="1"/>
          </p:cNvSpPr>
          <p:nvPr>
            <p:ph type="sldImg" idx="2"/>
          </p:nvPr>
        </p:nvSpPr>
        <p:spPr>
          <a:xfrm>
            <a:off x="4845050" y="1028700"/>
            <a:ext cx="4940300" cy="27781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463675" y="3960813"/>
            <a:ext cx="11703050" cy="32400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816850"/>
            <a:ext cx="6340475" cy="4127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8286750" y="7816850"/>
            <a:ext cx="6340475" cy="412750"/>
          </a:xfrm>
          <a:prstGeom prst="rect">
            <a:avLst/>
          </a:prstGeom>
        </p:spPr>
        <p:txBody>
          <a:bodyPr vert="horz" lIns="91440" tIns="45720" rIns="91440" bIns="45720" rtlCol="0" anchor="b"/>
          <a:lstStyle>
            <a:lvl1pPr algn="r">
              <a:defRPr sz="1200"/>
            </a:lvl1pPr>
          </a:lstStyle>
          <a:p>
            <a:fld id="{986E45C9-D4C9-4BB9-AC1A-6D12C2483BB1}" type="slidenum">
              <a:rPr lang="en-IN" smtClean="0"/>
              <a:t>‹#›</a:t>
            </a:fld>
            <a:endParaRPr lang="en-IN"/>
          </a:p>
        </p:txBody>
      </p:sp>
    </p:spTree>
    <p:extLst>
      <p:ext uri="{BB962C8B-B14F-4D97-AF65-F5344CB8AC3E}">
        <p14:creationId xmlns:p14="http://schemas.microsoft.com/office/powerpoint/2010/main" val="1837676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FC471-F21A-8034-1182-7EC20A462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2DEB8-E147-4787-5FDF-AACC13D35E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F521C-0896-D5EA-62D4-7B080E31F4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F912D4-651F-022F-E212-0668CF912244}"/>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142438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5</a:t>
            </a:fld>
            <a:endParaRPr lang="en-IN"/>
          </a:p>
        </p:txBody>
      </p:sp>
    </p:spTree>
    <p:extLst>
      <p:ext uri="{BB962C8B-B14F-4D97-AF65-F5344CB8AC3E}">
        <p14:creationId xmlns:p14="http://schemas.microsoft.com/office/powerpoint/2010/main" val="3728505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14</a:t>
            </a:fld>
            <a:endParaRPr lang="en-IN"/>
          </a:p>
        </p:txBody>
      </p:sp>
    </p:spTree>
    <p:extLst>
      <p:ext uri="{BB962C8B-B14F-4D97-AF65-F5344CB8AC3E}">
        <p14:creationId xmlns:p14="http://schemas.microsoft.com/office/powerpoint/2010/main" val="20677882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15</a:t>
            </a:fld>
            <a:endParaRPr lang="en-IN"/>
          </a:p>
        </p:txBody>
      </p:sp>
    </p:spTree>
    <p:extLst>
      <p:ext uri="{BB962C8B-B14F-4D97-AF65-F5344CB8AC3E}">
        <p14:creationId xmlns:p14="http://schemas.microsoft.com/office/powerpoint/2010/main" val="11675926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19</a:t>
            </a:fld>
            <a:endParaRPr lang="en-IN"/>
          </a:p>
        </p:txBody>
      </p:sp>
    </p:spTree>
    <p:extLst>
      <p:ext uri="{BB962C8B-B14F-4D97-AF65-F5344CB8AC3E}">
        <p14:creationId xmlns:p14="http://schemas.microsoft.com/office/powerpoint/2010/main" val="155598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type="body" idx="1"/>
          </p:nvPr>
        </p:nvSpPr>
        <p:spPr/>
        <p:txBody>
          <a:bodyPr lIns="0" tIns="0" rIns="0" bIns="0"/>
          <a:lstStyle>
            <a:lvl1pPr>
              <a:defRPr sz="2800" b="0" i="0">
                <a:solidFill>
                  <a:srgbClr val="272C45"/>
                </a:solidFill>
                <a:latin typeface="PT Serif" panose="020A0603040505020204" pitchFamily="18" charset="0"/>
                <a:cs typeface="Lucida Sans Unicode"/>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206A85DC-158A-6A4D-AEC5-3C4D0AA39301}" type="datetime1">
              <a:rPr lang="en-IN" smtClean="0"/>
              <a:t>17/12/25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sz="half" idx="2"/>
          </p:nvPr>
        </p:nvSpPr>
        <p:spPr>
          <a:xfrm>
            <a:off x="731520" y="1892808"/>
            <a:ext cx="6364224" cy="430887"/>
          </a:xfrm>
          <a:prstGeom prst="rect">
            <a:avLst/>
          </a:prstGeom>
        </p:spPr>
        <p:txBody>
          <a:bodyPr wrap="square" lIns="0" tIns="0" rIns="0" bIns="0">
            <a:spAutoFit/>
          </a:bodyPr>
          <a:lstStyle>
            <a:lvl1pPr>
              <a:defRPr>
                <a:latin typeface="PT Serif" panose="020A0603040505020204" pitchFamily="18" charset="0"/>
              </a:defRPr>
            </a:lvl1pPr>
          </a:lstStyle>
          <a:p>
            <a:endParaRPr dirty="0"/>
          </a:p>
        </p:txBody>
      </p:sp>
      <p:sp>
        <p:nvSpPr>
          <p:cNvPr id="4" name="Holder 4"/>
          <p:cNvSpPr>
            <a:spLocks noGrp="1"/>
          </p:cNvSpPr>
          <p:nvPr>
            <p:ph sz="half" idx="3"/>
          </p:nvPr>
        </p:nvSpPr>
        <p:spPr>
          <a:xfrm>
            <a:off x="7534656" y="1892808"/>
            <a:ext cx="6364224" cy="430887"/>
          </a:xfrm>
          <a:prstGeom prst="rect">
            <a:avLst/>
          </a:prstGeom>
        </p:spPr>
        <p:txBody>
          <a:bodyPr wrap="square" lIns="0" tIns="0" rIns="0" bIns="0">
            <a:spAutoFit/>
          </a:bodyPr>
          <a:lstStyle>
            <a:lvl1pPr>
              <a:defRPr>
                <a:latin typeface="PT Serif" panose="020A0603040505020204" pitchFamily="18" charset="0"/>
              </a:defRPr>
            </a:lvl1pPr>
          </a:lstStyle>
          <a:p>
            <a:endParaRPr dirty="0"/>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3A60CBE1-E654-804F-8DD3-1999B1EAA43E}" type="datetime1">
              <a:rPr lang="en-IN" smtClean="0"/>
              <a:t>17/12/25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0C0E4A29-2FA4-5F43-8886-1C2CFE02D9AE}" type="datetime1">
              <a:rPr lang="en-IN" smtClean="0"/>
              <a:t>17/12/25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extLst>
      <p:ext uri="{BB962C8B-B14F-4D97-AF65-F5344CB8AC3E}">
        <p14:creationId xmlns:p14="http://schemas.microsoft.com/office/powerpoint/2010/main" val="4162544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87172" y="401522"/>
            <a:ext cx="13656055" cy="569387"/>
          </a:xfrm>
          <a:prstGeom prst="rect">
            <a:avLst/>
          </a:prstGeom>
        </p:spPr>
        <p:txBody>
          <a:bodyPr wrap="square" lIns="0" tIns="0" rIns="0" bIns="0">
            <a:spAutoFit/>
          </a:bodyPr>
          <a:lstStyle>
            <a:lvl1pPr>
              <a:defRPr sz="3700" b="0" i="0">
                <a:solidFill>
                  <a:srgbClr val="272C45"/>
                </a:solidFill>
                <a:latin typeface="Lucida Sans Unicode"/>
                <a:cs typeface="Lucida Sans Unicode"/>
              </a:defRPr>
            </a:lvl1pPr>
          </a:lstStyle>
          <a:p>
            <a:endParaRPr dirty="0"/>
          </a:p>
        </p:txBody>
      </p:sp>
      <p:sp>
        <p:nvSpPr>
          <p:cNvPr id="3" name="Holder 3"/>
          <p:cNvSpPr>
            <a:spLocks noGrp="1"/>
          </p:cNvSpPr>
          <p:nvPr>
            <p:ph type="body" idx="1"/>
          </p:nvPr>
        </p:nvSpPr>
        <p:spPr>
          <a:xfrm>
            <a:off x="5769609" y="3090163"/>
            <a:ext cx="7381240" cy="430887"/>
          </a:xfrm>
          <a:prstGeom prst="rect">
            <a:avLst/>
          </a:prstGeom>
        </p:spPr>
        <p:txBody>
          <a:bodyPr wrap="square" lIns="0" tIns="0" rIns="0" bIns="0">
            <a:spAutoFit/>
          </a:bodyPr>
          <a:lstStyle>
            <a:lvl1pPr>
              <a:defRPr sz="2800" b="0" i="0">
                <a:solidFill>
                  <a:srgbClr val="272C45"/>
                </a:solidFill>
                <a:latin typeface="Lucida Sans Unicode"/>
                <a:cs typeface="Lucida Sans Unicode"/>
              </a:defRPr>
            </a:lvl1pPr>
          </a:lstStyle>
          <a:p>
            <a:endParaRPr dirty="0"/>
          </a:p>
        </p:txBody>
      </p:sp>
      <p:sp>
        <p:nvSpPr>
          <p:cNvPr id="4" name="Holder 4"/>
          <p:cNvSpPr>
            <a:spLocks noGrp="1"/>
          </p:cNvSpPr>
          <p:nvPr>
            <p:ph type="ftr" sz="quarter" idx="5"/>
          </p:nvPr>
        </p:nvSpPr>
        <p:spPr>
          <a:xfrm>
            <a:off x="4974336" y="7653528"/>
            <a:ext cx="4681728" cy="4114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731520" y="7653528"/>
            <a:ext cx="3364992" cy="411480"/>
          </a:xfrm>
          <a:prstGeom prst="rect">
            <a:avLst/>
          </a:prstGeom>
        </p:spPr>
        <p:txBody>
          <a:bodyPr wrap="square" lIns="0" tIns="0" rIns="0" bIns="0">
            <a:spAutoFit/>
          </a:bodyPr>
          <a:lstStyle>
            <a:lvl1pPr algn="l">
              <a:defRPr>
                <a:solidFill>
                  <a:schemeClr val="tx1">
                    <a:tint val="75000"/>
                  </a:schemeClr>
                </a:solidFill>
              </a:defRPr>
            </a:lvl1pPr>
          </a:lstStyle>
          <a:p>
            <a:fld id="{9D47C385-8D9F-4541-81D3-BBF55B3B60AF}" type="datetime1">
              <a:rPr lang="en-IN" smtClean="0"/>
              <a:t>17/12/25</a:t>
            </a:fld>
            <a:endParaRPr lang="en-US"/>
          </a:p>
        </p:txBody>
      </p:sp>
      <p:sp>
        <p:nvSpPr>
          <p:cNvPr id="6" name="Holder 6"/>
          <p:cNvSpPr>
            <a:spLocks noGrp="1"/>
          </p:cNvSpPr>
          <p:nvPr>
            <p:ph type="sldNum" sz="quarter" idx="7"/>
          </p:nvPr>
        </p:nvSpPr>
        <p:spPr>
          <a:xfrm>
            <a:off x="10533888" y="7653528"/>
            <a:ext cx="3364992" cy="4114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Lst>
  <p:hf sldNum="0" hdr="0" ftr="0" dt="0"/>
  <p:txStyles>
    <p:titleStyle>
      <a:lvl1pPr>
        <a:defRPr>
          <a:latin typeface="PT Serif" panose="020A0603040505020204" pitchFamily="18" charset="0"/>
          <a:ea typeface="+mj-ea"/>
          <a:cs typeface="+mj-cs"/>
        </a:defRPr>
      </a:lvl1pPr>
    </p:titleStyle>
    <p:bodyStyle>
      <a:lvl1pPr marL="0">
        <a:defRPr>
          <a:latin typeface="PT Serif" panose="020A0603040505020204"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48BBC-7E6C-F114-F782-376A30F06152}"/>
            </a:ext>
          </a:extLst>
        </p:cNvPr>
        <p:cNvGrpSpPr/>
        <p:nvPr/>
      </p:nvGrpSpPr>
      <p:grpSpPr>
        <a:xfrm>
          <a:off x="0" y="0"/>
          <a:ext cx="0" cy="0"/>
          <a:chOff x="0" y="0"/>
          <a:chExt cx="0" cy="0"/>
        </a:xfrm>
      </p:grpSpPr>
      <p:sp>
        <p:nvSpPr>
          <p:cNvPr id="21" name="Text 0">
            <a:extLst>
              <a:ext uri="{FF2B5EF4-FFF2-40B4-BE49-F238E27FC236}">
                <a16:creationId xmlns:a16="http://schemas.microsoft.com/office/drawing/2014/main" id="{F82AA0A4-B4C8-BFF7-1622-4303CB7DF1F3}"/>
              </a:ext>
            </a:extLst>
          </p:cNvPr>
          <p:cNvSpPr/>
          <p:nvPr/>
        </p:nvSpPr>
        <p:spPr>
          <a:xfrm>
            <a:off x="776536" y="2133600"/>
            <a:ext cx="7058739"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Missing Value Imputation</a:t>
            </a:r>
            <a:endParaRPr lang="en-US" sz="4100" dirty="0"/>
          </a:p>
        </p:txBody>
      </p:sp>
      <p:sp>
        <p:nvSpPr>
          <p:cNvPr id="22" name="Text 1">
            <a:extLst>
              <a:ext uri="{FF2B5EF4-FFF2-40B4-BE49-F238E27FC236}">
                <a16:creationId xmlns:a16="http://schemas.microsoft.com/office/drawing/2014/main" id="{34E7B785-51DF-6028-E343-20904A09A941}"/>
              </a:ext>
            </a:extLst>
          </p:cNvPr>
          <p:cNvSpPr/>
          <p:nvPr/>
        </p:nvSpPr>
        <p:spPr>
          <a:xfrm>
            <a:off x="776536" y="3200400"/>
            <a:ext cx="10653464" cy="651272"/>
          </a:xfrm>
          <a:prstGeom prst="rect">
            <a:avLst/>
          </a:prstGeom>
          <a:noFill/>
          <a:ln/>
        </p:spPr>
        <p:txBody>
          <a:bodyPr wrap="square" lIns="0" tIns="0" rIns="0" bIns="0" rtlCol="0" anchor="t"/>
          <a:lstStyle/>
          <a:p>
            <a:pPr marL="0" indent="0" algn="l">
              <a:lnSpc>
                <a:spcPts val="2500"/>
              </a:lnSpc>
              <a:buNone/>
            </a:pPr>
            <a:r>
              <a:rPr lang="en-US" sz="2000" dirty="0">
                <a:solidFill>
                  <a:srgbClr val="383838"/>
                </a:solidFill>
                <a:latin typeface="PT Serif" panose="020A0603040505020204" pitchFamily="18" charset="0"/>
                <a:ea typeface="DM Sans" pitchFamily="34" charset="-122"/>
                <a:cs typeface="DM Sans" pitchFamily="34" charset="-120"/>
              </a:rPr>
              <a:t>Addressing missing data in machine learning workflows</a:t>
            </a:r>
            <a:endParaRPr lang="en-US" sz="2000" dirty="0">
              <a:latin typeface="PT Serif" panose="020A0603040505020204" pitchFamily="18" charset="0"/>
            </a:endParaRPr>
          </a:p>
        </p:txBody>
      </p:sp>
    </p:spTree>
    <p:extLst>
      <p:ext uri="{BB962C8B-B14F-4D97-AF65-F5344CB8AC3E}">
        <p14:creationId xmlns:p14="http://schemas.microsoft.com/office/powerpoint/2010/main" val="4248201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722AC495-E35E-7ED2-E96E-FD48ADFDBE77}"/>
              </a:ext>
            </a:extLst>
          </p:cNvPr>
          <p:cNvSpPr>
            <a:spLocks noGrp="1"/>
          </p:cNvSpPr>
          <p:nvPr>
            <p:ph type="title"/>
          </p:nvPr>
        </p:nvSpPr>
        <p:spPr>
          <a:xfrm>
            <a:off x="676719" y="54978"/>
            <a:ext cx="13656055" cy="1123384"/>
          </a:xfrm>
        </p:spPr>
        <p:txBody>
          <a:bodyPr/>
          <a:lstStyle/>
          <a:p>
            <a:r>
              <a:rPr lang="en-US" sz="3600" dirty="0">
                <a:solidFill>
                  <a:srgbClr val="020202"/>
                </a:solidFill>
                <a:ea typeface="PT Serif" pitchFamily="34" charset="-122"/>
                <a:cs typeface="PT Serif" pitchFamily="34" charset="-120"/>
              </a:rPr>
              <a:t>Contents</a:t>
            </a:r>
            <a:br>
              <a:rPr lang="en-US" sz="3600" dirty="0"/>
            </a:br>
            <a:endParaRPr lang="en-IN" dirty="0"/>
          </a:p>
        </p:txBody>
      </p:sp>
      <p:sp>
        <p:nvSpPr>
          <p:cNvPr id="36" name="Text 0">
            <a:extLst>
              <a:ext uri="{FF2B5EF4-FFF2-40B4-BE49-F238E27FC236}">
                <a16:creationId xmlns:a16="http://schemas.microsoft.com/office/drawing/2014/main" id="{9E915268-69CC-069E-BD94-968A96D74DA6}"/>
              </a:ext>
            </a:extLst>
          </p:cNvPr>
          <p:cNvSpPr/>
          <p:nvPr/>
        </p:nvSpPr>
        <p:spPr>
          <a:xfrm>
            <a:off x="793790" y="-457200"/>
            <a:ext cx="4763333" cy="595432"/>
          </a:xfrm>
          <a:prstGeom prst="rect">
            <a:avLst/>
          </a:prstGeom>
          <a:noFill/>
          <a:ln/>
        </p:spPr>
        <p:txBody>
          <a:bodyPr wrap="none" lIns="0" tIns="0" rIns="0" bIns="0" rtlCol="0" anchor="t"/>
          <a:lstStyle/>
          <a:p>
            <a:pPr marL="0" indent="0" algn="l">
              <a:lnSpc>
                <a:spcPts val="4650"/>
              </a:lnSpc>
              <a:buNone/>
            </a:pPr>
            <a:endParaRPr lang="en-US" sz="3750" dirty="0">
              <a:latin typeface="PT Serif" panose="020A0603040505020204" pitchFamily="18" charset="0"/>
            </a:endParaRPr>
          </a:p>
        </p:txBody>
      </p:sp>
      <p:sp>
        <p:nvSpPr>
          <p:cNvPr id="37" name="Text 1">
            <a:extLst>
              <a:ext uri="{FF2B5EF4-FFF2-40B4-BE49-F238E27FC236}">
                <a16:creationId xmlns:a16="http://schemas.microsoft.com/office/drawing/2014/main" id="{016CBBA6-B9AB-B165-C2EF-2A9728A38D55}"/>
              </a:ext>
            </a:extLst>
          </p:cNvPr>
          <p:cNvSpPr/>
          <p:nvPr/>
        </p:nvSpPr>
        <p:spPr>
          <a:xfrm>
            <a:off x="793790" y="591860"/>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01</a:t>
            </a:r>
            <a:endParaRPr lang="en-US" sz="1750" dirty="0">
              <a:latin typeface="PT Serif" panose="020A0603040505020204" pitchFamily="18" charset="0"/>
            </a:endParaRPr>
          </a:p>
        </p:txBody>
      </p:sp>
      <p:sp>
        <p:nvSpPr>
          <p:cNvPr id="38" name="Shape 2">
            <a:extLst>
              <a:ext uri="{FF2B5EF4-FFF2-40B4-BE49-F238E27FC236}">
                <a16:creationId xmlns:a16="http://schemas.microsoft.com/office/drawing/2014/main" id="{7BC3F5DC-13B2-EF7D-1AFD-760FEE3BA591}"/>
              </a:ext>
            </a:extLst>
          </p:cNvPr>
          <p:cNvSpPr/>
          <p:nvPr/>
        </p:nvSpPr>
        <p:spPr>
          <a:xfrm>
            <a:off x="793790" y="946904"/>
            <a:ext cx="6407944" cy="30480"/>
          </a:xfrm>
          <a:prstGeom prst="rect">
            <a:avLst/>
          </a:prstGeom>
          <a:solidFill>
            <a:srgbClr val="E04F00"/>
          </a:solidFill>
          <a:ln/>
        </p:spPr>
      </p:sp>
      <p:sp>
        <p:nvSpPr>
          <p:cNvPr id="39" name="Text 3">
            <a:extLst>
              <a:ext uri="{FF2B5EF4-FFF2-40B4-BE49-F238E27FC236}">
                <a16:creationId xmlns:a16="http://schemas.microsoft.com/office/drawing/2014/main" id="{E7C55DC6-75BF-FC3A-76DA-C052810AC8D0}"/>
              </a:ext>
            </a:extLst>
          </p:cNvPr>
          <p:cNvSpPr/>
          <p:nvPr/>
        </p:nvSpPr>
        <p:spPr>
          <a:xfrm>
            <a:off x="793790" y="1121212"/>
            <a:ext cx="4370308" cy="372070"/>
          </a:xfrm>
          <a:prstGeom prst="rect">
            <a:avLst/>
          </a:prstGeom>
          <a:noFill/>
          <a:ln/>
        </p:spPr>
        <p:txBody>
          <a:bodyPr wrap="none" lIns="0" tIns="0" rIns="0" bIns="0" rtlCol="0" anchor="t"/>
          <a:lstStyle/>
          <a:p>
            <a:pPr marL="0" indent="0" algn="l">
              <a:buNone/>
            </a:pPr>
            <a:r>
              <a:rPr lang="en-US" sz="2400" dirty="0">
                <a:solidFill>
                  <a:srgbClr val="020202"/>
                </a:solidFill>
                <a:latin typeface="PT Serif" pitchFamily="34" charset="0"/>
                <a:ea typeface="PT Serif" pitchFamily="34" charset="-122"/>
                <a:cs typeface="PT Serif" pitchFamily="34" charset="-120"/>
              </a:rPr>
              <a:t>What Are Missing Values?</a:t>
            </a:r>
            <a:endParaRPr lang="en-US" sz="2400" dirty="0"/>
          </a:p>
        </p:txBody>
      </p:sp>
      <p:sp>
        <p:nvSpPr>
          <p:cNvPr id="40" name="Text 4">
            <a:extLst>
              <a:ext uri="{FF2B5EF4-FFF2-40B4-BE49-F238E27FC236}">
                <a16:creationId xmlns:a16="http://schemas.microsoft.com/office/drawing/2014/main" id="{20361C90-C835-AC84-275D-CE4BB4276942}"/>
              </a:ext>
            </a:extLst>
          </p:cNvPr>
          <p:cNvSpPr/>
          <p:nvPr/>
        </p:nvSpPr>
        <p:spPr>
          <a:xfrm>
            <a:off x="7428548" y="591860"/>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02</a:t>
            </a:r>
            <a:endParaRPr lang="en-US" sz="1750" dirty="0">
              <a:latin typeface="PT Serif" panose="020A0603040505020204" pitchFamily="18" charset="0"/>
            </a:endParaRPr>
          </a:p>
        </p:txBody>
      </p:sp>
      <p:sp>
        <p:nvSpPr>
          <p:cNvPr id="41" name="Shape 5">
            <a:extLst>
              <a:ext uri="{FF2B5EF4-FFF2-40B4-BE49-F238E27FC236}">
                <a16:creationId xmlns:a16="http://schemas.microsoft.com/office/drawing/2014/main" id="{2E52F9A3-FE7C-0563-69FB-604CF6A26D07}"/>
              </a:ext>
            </a:extLst>
          </p:cNvPr>
          <p:cNvSpPr/>
          <p:nvPr/>
        </p:nvSpPr>
        <p:spPr>
          <a:xfrm>
            <a:off x="7428548" y="946904"/>
            <a:ext cx="6408063" cy="30480"/>
          </a:xfrm>
          <a:prstGeom prst="rect">
            <a:avLst/>
          </a:prstGeom>
          <a:solidFill>
            <a:srgbClr val="E04F00"/>
          </a:solidFill>
          <a:ln/>
        </p:spPr>
      </p:sp>
      <p:sp>
        <p:nvSpPr>
          <p:cNvPr id="42" name="Text 6">
            <a:extLst>
              <a:ext uri="{FF2B5EF4-FFF2-40B4-BE49-F238E27FC236}">
                <a16:creationId xmlns:a16="http://schemas.microsoft.com/office/drawing/2014/main" id="{3D69420D-7CDA-0513-91D0-B27945DDFD35}"/>
              </a:ext>
            </a:extLst>
          </p:cNvPr>
          <p:cNvSpPr/>
          <p:nvPr/>
        </p:nvSpPr>
        <p:spPr>
          <a:xfrm>
            <a:off x="7428548" y="1121212"/>
            <a:ext cx="3833217" cy="372070"/>
          </a:xfrm>
          <a:prstGeom prst="rect">
            <a:avLst/>
          </a:prstGeom>
          <a:noFill/>
          <a:ln/>
        </p:spPr>
        <p:txBody>
          <a:bodyPr wrap="none" lIns="0" tIns="0" rIns="0" bIns="0" rtlCol="0" anchor="t"/>
          <a:lstStyle/>
          <a:p>
            <a:pPr marL="0" indent="0" algn="l">
              <a:buNone/>
            </a:pPr>
            <a:r>
              <a:rPr lang="en-US" sz="2400" dirty="0">
                <a:solidFill>
                  <a:srgbClr val="020202"/>
                </a:solidFill>
                <a:latin typeface="PT Serif" pitchFamily="34" charset="0"/>
                <a:ea typeface="PT Serif" pitchFamily="34" charset="-122"/>
                <a:cs typeface="PT Serif" pitchFamily="34" charset="-120"/>
              </a:rPr>
              <a:t>Common Causes of Missing Data</a:t>
            </a:r>
            <a:endParaRPr lang="en-US" sz="2400" dirty="0"/>
          </a:p>
        </p:txBody>
      </p:sp>
      <p:sp>
        <p:nvSpPr>
          <p:cNvPr id="43" name="Text 7">
            <a:extLst>
              <a:ext uri="{FF2B5EF4-FFF2-40B4-BE49-F238E27FC236}">
                <a16:creationId xmlns:a16="http://schemas.microsoft.com/office/drawing/2014/main" id="{572B390E-AA64-55CE-4F93-867FA41B15A0}"/>
              </a:ext>
            </a:extLst>
          </p:cNvPr>
          <p:cNvSpPr/>
          <p:nvPr/>
        </p:nvSpPr>
        <p:spPr>
          <a:xfrm>
            <a:off x="793790" y="189011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03</a:t>
            </a:r>
            <a:endParaRPr lang="en-US" sz="1750" dirty="0">
              <a:latin typeface="PT Serif" panose="020A0603040505020204" pitchFamily="18" charset="0"/>
            </a:endParaRPr>
          </a:p>
        </p:txBody>
      </p:sp>
      <p:sp>
        <p:nvSpPr>
          <p:cNvPr id="44" name="Shape 8">
            <a:extLst>
              <a:ext uri="{FF2B5EF4-FFF2-40B4-BE49-F238E27FC236}">
                <a16:creationId xmlns:a16="http://schemas.microsoft.com/office/drawing/2014/main" id="{A57B1BEA-51F4-B2F0-261D-EE1F5A835AEE}"/>
              </a:ext>
            </a:extLst>
          </p:cNvPr>
          <p:cNvSpPr/>
          <p:nvPr/>
        </p:nvSpPr>
        <p:spPr>
          <a:xfrm>
            <a:off x="793790" y="2245162"/>
            <a:ext cx="6407944" cy="30480"/>
          </a:xfrm>
          <a:prstGeom prst="rect">
            <a:avLst/>
          </a:prstGeom>
          <a:solidFill>
            <a:srgbClr val="E04F00"/>
          </a:solidFill>
          <a:ln/>
        </p:spPr>
      </p:sp>
      <p:sp>
        <p:nvSpPr>
          <p:cNvPr id="45" name="Text 9">
            <a:extLst>
              <a:ext uri="{FF2B5EF4-FFF2-40B4-BE49-F238E27FC236}">
                <a16:creationId xmlns:a16="http://schemas.microsoft.com/office/drawing/2014/main" id="{D9492793-66A3-249D-AEBC-98E67CD9595D}"/>
              </a:ext>
            </a:extLst>
          </p:cNvPr>
          <p:cNvSpPr/>
          <p:nvPr/>
        </p:nvSpPr>
        <p:spPr>
          <a:xfrm>
            <a:off x="793790" y="2419469"/>
            <a:ext cx="3926681" cy="372070"/>
          </a:xfrm>
          <a:prstGeom prst="rect">
            <a:avLst/>
          </a:prstGeom>
          <a:noFill/>
          <a:ln/>
        </p:spPr>
        <p:txBody>
          <a:bodyPr wrap="none" lIns="0" tIns="0" rIns="0" bIns="0" rtlCol="0" anchor="t"/>
          <a:lstStyle/>
          <a:p>
            <a:pPr marL="0" indent="0" algn="l">
              <a:buNone/>
            </a:pPr>
            <a:r>
              <a:rPr lang="en-US" sz="2400" dirty="0">
                <a:solidFill>
                  <a:srgbClr val="020202"/>
                </a:solidFill>
                <a:latin typeface="PT Serif" pitchFamily="34" charset="0"/>
                <a:ea typeface="PT Serif" pitchFamily="34" charset="-122"/>
                <a:cs typeface="PT Serif" pitchFamily="34" charset="-120"/>
              </a:rPr>
              <a:t>Three Types of Missingness Mechanisms</a:t>
            </a:r>
            <a:endParaRPr lang="en-US" sz="2400" dirty="0"/>
          </a:p>
        </p:txBody>
      </p:sp>
      <p:sp>
        <p:nvSpPr>
          <p:cNvPr id="46" name="Text 10">
            <a:extLst>
              <a:ext uri="{FF2B5EF4-FFF2-40B4-BE49-F238E27FC236}">
                <a16:creationId xmlns:a16="http://schemas.microsoft.com/office/drawing/2014/main" id="{257D2B40-E3E1-20E4-2910-DF3A7602687A}"/>
              </a:ext>
            </a:extLst>
          </p:cNvPr>
          <p:cNvSpPr/>
          <p:nvPr/>
        </p:nvSpPr>
        <p:spPr>
          <a:xfrm>
            <a:off x="7428548" y="189011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04</a:t>
            </a:r>
            <a:endParaRPr lang="en-US" sz="1750" dirty="0">
              <a:latin typeface="PT Serif" panose="020A0603040505020204" pitchFamily="18" charset="0"/>
            </a:endParaRPr>
          </a:p>
        </p:txBody>
      </p:sp>
      <p:sp>
        <p:nvSpPr>
          <p:cNvPr id="47" name="Shape 11">
            <a:extLst>
              <a:ext uri="{FF2B5EF4-FFF2-40B4-BE49-F238E27FC236}">
                <a16:creationId xmlns:a16="http://schemas.microsoft.com/office/drawing/2014/main" id="{D5F3BEB8-2258-6D61-E349-D27CB8337AA6}"/>
              </a:ext>
            </a:extLst>
          </p:cNvPr>
          <p:cNvSpPr/>
          <p:nvPr/>
        </p:nvSpPr>
        <p:spPr>
          <a:xfrm>
            <a:off x="7428548" y="2245162"/>
            <a:ext cx="6408063" cy="30480"/>
          </a:xfrm>
          <a:prstGeom prst="rect">
            <a:avLst/>
          </a:prstGeom>
          <a:solidFill>
            <a:srgbClr val="E04F00"/>
          </a:solidFill>
          <a:ln/>
        </p:spPr>
      </p:sp>
      <p:sp>
        <p:nvSpPr>
          <p:cNvPr id="48" name="Text 12">
            <a:extLst>
              <a:ext uri="{FF2B5EF4-FFF2-40B4-BE49-F238E27FC236}">
                <a16:creationId xmlns:a16="http://schemas.microsoft.com/office/drawing/2014/main" id="{4F6C8DA7-AB62-C992-696F-8A1236E8EB39}"/>
              </a:ext>
            </a:extLst>
          </p:cNvPr>
          <p:cNvSpPr/>
          <p:nvPr/>
        </p:nvSpPr>
        <p:spPr>
          <a:xfrm>
            <a:off x="7428548" y="2419469"/>
            <a:ext cx="3837027" cy="372070"/>
          </a:xfrm>
          <a:prstGeom prst="rect">
            <a:avLst/>
          </a:prstGeom>
          <a:noFill/>
          <a:ln/>
        </p:spPr>
        <p:txBody>
          <a:bodyPr wrap="none" lIns="0" tIns="0" rIns="0" bIns="0" rtlCol="0" anchor="t"/>
          <a:lstStyle/>
          <a:p>
            <a:pPr marL="0" indent="0" algn="l">
              <a:buNone/>
            </a:pPr>
            <a:r>
              <a:rPr lang="en-US" sz="2400" dirty="0">
                <a:solidFill>
                  <a:srgbClr val="020202"/>
                </a:solidFill>
                <a:latin typeface="PT Serif" pitchFamily="34" charset="0"/>
                <a:ea typeface="PT Serif" pitchFamily="34" charset="-122"/>
                <a:cs typeface="PT Serif" pitchFamily="34" charset="-120"/>
              </a:rPr>
              <a:t>Simple Imputation Methods</a:t>
            </a:r>
            <a:endParaRPr lang="en-US" sz="2400" dirty="0"/>
          </a:p>
        </p:txBody>
      </p:sp>
      <p:sp>
        <p:nvSpPr>
          <p:cNvPr id="49" name="Text 13">
            <a:extLst>
              <a:ext uri="{FF2B5EF4-FFF2-40B4-BE49-F238E27FC236}">
                <a16:creationId xmlns:a16="http://schemas.microsoft.com/office/drawing/2014/main" id="{7197A721-7FD3-3F63-F25B-C6958DC57722}"/>
              </a:ext>
            </a:extLst>
          </p:cNvPr>
          <p:cNvSpPr/>
          <p:nvPr/>
        </p:nvSpPr>
        <p:spPr>
          <a:xfrm>
            <a:off x="793790" y="3188375"/>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05</a:t>
            </a:r>
            <a:endParaRPr lang="en-US" sz="1750" dirty="0">
              <a:latin typeface="PT Serif" panose="020A0603040505020204" pitchFamily="18" charset="0"/>
            </a:endParaRPr>
          </a:p>
        </p:txBody>
      </p:sp>
      <p:sp>
        <p:nvSpPr>
          <p:cNvPr id="50" name="Shape 14">
            <a:extLst>
              <a:ext uri="{FF2B5EF4-FFF2-40B4-BE49-F238E27FC236}">
                <a16:creationId xmlns:a16="http://schemas.microsoft.com/office/drawing/2014/main" id="{BD40A4AB-27E5-6A2C-4741-E0E4E6E3F084}"/>
              </a:ext>
            </a:extLst>
          </p:cNvPr>
          <p:cNvSpPr/>
          <p:nvPr/>
        </p:nvSpPr>
        <p:spPr>
          <a:xfrm>
            <a:off x="793790" y="3543419"/>
            <a:ext cx="6407944" cy="30480"/>
          </a:xfrm>
          <a:prstGeom prst="rect">
            <a:avLst/>
          </a:prstGeom>
          <a:solidFill>
            <a:srgbClr val="E04F00"/>
          </a:solidFill>
          <a:ln/>
        </p:spPr>
      </p:sp>
      <p:sp>
        <p:nvSpPr>
          <p:cNvPr id="51" name="Text 15">
            <a:extLst>
              <a:ext uri="{FF2B5EF4-FFF2-40B4-BE49-F238E27FC236}">
                <a16:creationId xmlns:a16="http://schemas.microsoft.com/office/drawing/2014/main" id="{B9947E46-7BAA-FAAB-FAB3-7CF49BB05E15}"/>
              </a:ext>
            </a:extLst>
          </p:cNvPr>
          <p:cNvSpPr/>
          <p:nvPr/>
        </p:nvSpPr>
        <p:spPr>
          <a:xfrm>
            <a:off x="793790" y="3717727"/>
            <a:ext cx="2977039" cy="372070"/>
          </a:xfrm>
          <a:prstGeom prst="rect">
            <a:avLst/>
          </a:prstGeom>
          <a:noFill/>
          <a:ln/>
        </p:spPr>
        <p:txBody>
          <a:bodyPr wrap="none" lIns="0" tIns="0" rIns="0" bIns="0" rtlCol="0" anchor="t"/>
          <a:lstStyle/>
          <a:p>
            <a:pPr marL="0" indent="0" algn="l">
              <a:buNone/>
            </a:pPr>
            <a:r>
              <a:rPr lang="en-US" sz="2400" dirty="0">
                <a:solidFill>
                  <a:srgbClr val="020202"/>
                </a:solidFill>
                <a:latin typeface="PT Serif" pitchFamily="34" charset="0"/>
                <a:ea typeface="PT Serif" pitchFamily="34" charset="-122"/>
                <a:cs typeface="PT Serif" pitchFamily="34" charset="-120"/>
              </a:rPr>
              <a:t>Grouped Mean/Median Imputation</a:t>
            </a:r>
            <a:endParaRPr lang="en-US" sz="2400" dirty="0"/>
          </a:p>
        </p:txBody>
      </p:sp>
      <p:sp>
        <p:nvSpPr>
          <p:cNvPr id="52" name="Text 16">
            <a:extLst>
              <a:ext uri="{FF2B5EF4-FFF2-40B4-BE49-F238E27FC236}">
                <a16:creationId xmlns:a16="http://schemas.microsoft.com/office/drawing/2014/main" id="{DAA57C8E-9E59-C336-B74D-F543766EEB30}"/>
              </a:ext>
            </a:extLst>
          </p:cNvPr>
          <p:cNvSpPr/>
          <p:nvPr/>
        </p:nvSpPr>
        <p:spPr>
          <a:xfrm>
            <a:off x="7428548" y="3188375"/>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06</a:t>
            </a:r>
            <a:endParaRPr lang="en-US" sz="1750" dirty="0">
              <a:latin typeface="PT Serif" panose="020A0603040505020204" pitchFamily="18" charset="0"/>
            </a:endParaRPr>
          </a:p>
        </p:txBody>
      </p:sp>
      <p:sp>
        <p:nvSpPr>
          <p:cNvPr id="53" name="Shape 17">
            <a:extLst>
              <a:ext uri="{FF2B5EF4-FFF2-40B4-BE49-F238E27FC236}">
                <a16:creationId xmlns:a16="http://schemas.microsoft.com/office/drawing/2014/main" id="{FF6D0CED-5474-980B-4F58-56AD6075DAC4}"/>
              </a:ext>
            </a:extLst>
          </p:cNvPr>
          <p:cNvSpPr/>
          <p:nvPr/>
        </p:nvSpPr>
        <p:spPr>
          <a:xfrm>
            <a:off x="7428548" y="3543419"/>
            <a:ext cx="6408063" cy="30480"/>
          </a:xfrm>
          <a:prstGeom prst="rect">
            <a:avLst/>
          </a:prstGeom>
          <a:solidFill>
            <a:srgbClr val="E04F00"/>
          </a:solidFill>
          <a:ln/>
        </p:spPr>
      </p:sp>
      <p:sp>
        <p:nvSpPr>
          <p:cNvPr id="54" name="Text 18">
            <a:extLst>
              <a:ext uri="{FF2B5EF4-FFF2-40B4-BE49-F238E27FC236}">
                <a16:creationId xmlns:a16="http://schemas.microsoft.com/office/drawing/2014/main" id="{243B9A85-0CD0-925E-FEC6-94C70484D8A3}"/>
              </a:ext>
            </a:extLst>
          </p:cNvPr>
          <p:cNvSpPr/>
          <p:nvPr/>
        </p:nvSpPr>
        <p:spPr>
          <a:xfrm>
            <a:off x="7428548" y="3717727"/>
            <a:ext cx="2977039" cy="372070"/>
          </a:xfrm>
          <a:prstGeom prst="rect">
            <a:avLst/>
          </a:prstGeom>
          <a:noFill/>
          <a:ln/>
        </p:spPr>
        <p:txBody>
          <a:bodyPr wrap="none" lIns="0" tIns="0" rIns="0" bIns="0" rtlCol="0" anchor="t"/>
          <a:lstStyle/>
          <a:p>
            <a:pPr marL="0" indent="0" algn="l">
              <a:buNone/>
            </a:pPr>
            <a:r>
              <a:rPr lang="en-US" sz="2400" dirty="0">
                <a:solidFill>
                  <a:srgbClr val="020202"/>
                </a:solidFill>
                <a:latin typeface="PT Serif" pitchFamily="34" charset="0"/>
                <a:ea typeface="PT Serif" pitchFamily="34" charset="-122"/>
                <a:cs typeface="PT Serif" pitchFamily="34" charset="-120"/>
              </a:rPr>
              <a:t>K-Nearest Neighbors (KNN) Imputation</a:t>
            </a:r>
            <a:endParaRPr lang="en-US" sz="2400" dirty="0"/>
          </a:p>
        </p:txBody>
      </p:sp>
      <p:sp>
        <p:nvSpPr>
          <p:cNvPr id="23" name="Text 13">
            <a:extLst>
              <a:ext uri="{FF2B5EF4-FFF2-40B4-BE49-F238E27FC236}">
                <a16:creationId xmlns:a16="http://schemas.microsoft.com/office/drawing/2014/main" id="{66C6FCE0-4D0E-761F-957B-9324FE349109}"/>
              </a:ext>
            </a:extLst>
          </p:cNvPr>
          <p:cNvSpPr/>
          <p:nvPr/>
        </p:nvSpPr>
        <p:spPr>
          <a:xfrm>
            <a:off x="825579" y="441273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07</a:t>
            </a:r>
            <a:endParaRPr lang="en-US" sz="1750" dirty="0">
              <a:latin typeface="PT Serif" panose="020A0603040505020204" pitchFamily="18" charset="0"/>
            </a:endParaRPr>
          </a:p>
        </p:txBody>
      </p:sp>
      <p:sp>
        <p:nvSpPr>
          <p:cNvPr id="24" name="Shape 14">
            <a:extLst>
              <a:ext uri="{FF2B5EF4-FFF2-40B4-BE49-F238E27FC236}">
                <a16:creationId xmlns:a16="http://schemas.microsoft.com/office/drawing/2014/main" id="{CFAE4B52-13B7-37E8-C5AE-E7169E0C73F5}"/>
              </a:ext>
            </a:extLst>
          </p:cNvPr>
          <p:cNvSpPr/>
          <p:nvPr/>
        </p:nvSpPr>
        <p:spPr>
          <a:xfrm>
            <a:off x="825579" y="4767782"/>
            <a:ext cx="6407944" cy="30480"/>
          </a:xfrm>
          <a:prstGeom prst="rect">
            <a:avLst/>
          </a:prstGeom>
          <a:solidFill>
            <a:srgbClr val="E04F00"/>
          </a:solidFill>
          <a:ln/>
        </p:spPr>
      </p:sp>
      <p:sp>
        <p:nvSpPr>
          <p:cNvPr id="25" name="Text 15">
            <a:extLst>
              <a:ext uri="{FF2B5EF4-FFF2-40B4-BE49-F238E27FC236}">
                <a16:creationId xmlns:a16="http://schemas.microsoft.com/office/drawing/2014/main" id="{BC6BF33D-702F-C08D-8D6E-A7FE3BDEAF8D}"/>
              </a:ext>
            </a:extLst>
          </p:cNvPr>
          <p:cNvSpPr/>
          <p:nvPr/>
        </p:nvSpPr>
        <p:spPr>
          <a:xfrm>
            <a:off x="825579" y="4942090"/>
            <a:ext cx="2977039" cy="372070"/>
          </a:xfrm>
          <a:prstGeom prst="rect">
            <a:avLst/>
          </a:prstGeom>
          <a:noFill/>
          <a:ln/>
        </p:spPr>
        <p:txBody>
          <a:bodyPr wrap="none" lIns="0" tIns="0" rIns="0" bIns="0" rtlCol="0" anchor="t"/>
          <a:lstStyle/>
          <a:p>
            <a:pPr marL="0" indent="0" algn="l">
              <a:buNone/>
            </a:pPr>
            <a:r>
              <a:rPr lang="en-US" sz="2400" dirty="0">
                <a:solidFill>
                  <a:srgbClr val="020202"/>
                </a:solidFill>
                <a:latin typeface="PT Serif" pitchFamily="34" charset="0"/>
                <a:ea typeface="PT Serif" pitchFamily="34" charset="-122"/>
                <a:cs typeface="PT Serif" pitchFamily="34" charset="-120"/>
              </a:rPr>
              <a:t>Model-Based Imputation Overview</a:t>
            </a:r>
            <a:endParaRPr lang="en-US" sz="2400" dirty="0"/>
          </a:p>
        </p:txBody>
      </p:sp>
      <p:sp>
        <p:nvSpPr>
          <p:cNvPr id="26" name="Text 16">
            <a:extLst>
              <a:ext uri="{FF2B5EF4-FFF2-40B4-BE49-F238E27FC236}">
                <a16:creationId xmlns:a16="http://schemas.microsoft.com/office/drawing/2014/main" id="{5A929CFA-5AE0-48F3-EE8B-0A74E83C1704}"/>
              </a:ext>
            </a:extLst>
          </p:cNvPr>
          <p:cNvSpPr/>
          <p:nvPr/>
        </p:nvSpPr>
        <p:spPr>
          <a:xfrm>
            <a:off x="7460337" y="441273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08</a:t>
            </a:r>
            <a:endParaRPr lang="en-US" sz="1750" dirty="0">
              <a:latin typeface="PT Serif" panose="020A0603040505020204" pitchFamily="18" charset="0"/>
            </a:endParaRPr>
          </a:p>
        </p:txBody>
      </p:sp>
      <p:sp>
        <p:nvSpPr>
          <p:cNvPr id="27" name="Shape 17">
            <a:extLst>
              <a:ext uri="{FF2B5EF4-FFF2-40B4-BE49-F238E27FC236}">
                <a16:creationId xmlns:a16="http://schemas.microsoft.com/office/drawing/2014/main" id="{620C14B5-E214-EEE8-D98C-2182FCF885E8}"/>
              </a:ext>
            </a:extLst>
          </p:cNvPr>
          <p:cNvSpPr/>
          <p:nvPr/>
        </p:nvSpPr>
        <p:spPr>
          <a:xfrm>
            <a:off x="7460337" y="4767782"/>
            <a:ext cx="6408063" cy="30480"/>
          </a:xfrm>
          <a:prstGeom prst="rect">
            <a:avLst/>
          </a:prstGeom>
          <a:solidFill>
            <a:srgbClr val="E04F00"/>
          </a:solidFill>
          <a:ln/>
        </p:spPr>
      </p:sp>
      <p:sp>
        <p:nvSpPr>
          <p:cNvPr id="28" name="Text 18">
            <a:extLst>
              <a:ext uri="{FF2B5EF4-FFF2-40B4-BE49-F238E27FC236}">
                <a16:creationId xmlns:a16="http://schemas.microsoft.com/office/drawing/2014/main" id="{0286BCFF-5C16-D8BF-710C-290DD5A620E2}"/>
              </a:ext>
            </a:extLst>
          </p:cNvPr>
          <p:cNvSpPr/>
          <p:nvPr/>
        </p:nvSpPr>
        <p:spPr>
          <a:xfrm>
            <a:off x="7460337" y="4942090"/>
            <a:ext cx="2977039" cy="372070"/>
          </a:xfrm>
          <a:prstGeom prst="rect">
            <a:avLst/>
          </a:prstGeom>
          <a:noFill/>
          <a:ln/>
        </p:spPr>
        <p:txBody>
          <a:bodyPr wrap="none" lIns="0" tIns="0" rIns="0" bIns="0" rtlCol="0" anchor="t"/>
          <a:lstStyle/>
          <a:p>
            <a:pPr marL="0" indent="0" algn="l">
              <a:buNone/>
            </a:pPr>
            <a:r>
              <a:rPr lang="en-US" sz="2400" dirty="0">
                <a:solidFill>
                  <a:srgbClr val="020202"/>
                </a:solidFill>
                <a:latin typeface="PT Serif" pitchFamily="34" charset="0"/>
                <a:ea typeface="PT Serif" pitchFamily="34" charset="-122"/>
                <a:cs typeface="PT Serif" pitchFamily="34" charset="-120"/>
              </a:rPr>
              <a:t>Iterative Imputation Deep Dive</a:t>
            </a:r>
            <a:endParaRPr lang="en-US" sz="2400" dirty="0"/>
          </a:p>
        </p:txBody>
      </p:sp>
      <p:sp>
        <p:nvSpPr>
          <p:cNvPr id="29" name="Text 13">
            <a:extLst>
              <a:ext uri="{FF2B5EF4-FFF2-40B4-BE49-F238E27FC236}">
                <a16:creationId xmlns:a16="http://schemas.microsoft.com/office/drawing/2014/main" id="{8CDB5BF6-748C-09FF-2898-A8273107BF60}"/>
              </a:ext>
            </a:extLst>
          </p:cNvPr>
          <p:cNvSpPr/>
          <p:nvPr/>
        </p:nvSpPr>
        <p:spPr>
          <a:xfrm>
            <a:off x="838200" y="5562600"/>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09</a:t>
            </a:r>
            <a:endParaRPr lang="en-US" sz="1750" dirty="0">
              <a:latin typeface="PT Serif" panose="020A0603040505020204" pitchFamily="18" charset="0"/>
            </a:endParaRPr>
          </a:p>
        </p:txBody>
      </p:sp>
      <p:sp>
        <p:nvSpPr>
          <p:cNvPr id="30" name="Shape 14">
            <a:extLst>
              <a:ext uri="{FF2B5EF4-FFF2-40B4-BE49-F238E27FC236}">
                <a16:creationId xmlns:a16="http://schemas.microsoft.com/office/drawing/2014/main" id="{2C047190-BA90-CB57-FA6C-1FC420E5E07C}"/>
              </a:ext>
            </a:extLst>
          </p:cNvPr>
          <p:cNvSpPr/>
          <p:nvPr/>
        </p:nvSpPr>
        <p:spPr>
          <a:xfrm>
            <a:off x="838200" y="5917644"/>
            <a:ext cx="6407944" cy="30480"/>
          </a:xfrm>
          <a:prstGeom prst="rect">
            <a:avLst/>
          </a:prstGeom>
          <a:solidFill>
            <a:srgbClr val="E04F00"/>
          </a:solidFill>
          <a:ln/>
        </p:spPr>
      </p:sp>
      <p:sp>
        <p:nvSpPr>
          <p:cNvPr id="31" name="Text 15">
            <a:extLst>
              <a:ext uri="{FF2B5EF4-FFF2-40B4-BE49-F238E27FC236}">
                <a16:creationId xmlns:a16="http://schemas.microsoft.com/office/drawing/2014/main" id="{218F1034-BE07-1AAE-6A1F-4C82FA51A405}"/>
              </a:ext>
            </a:extLst>
          </p:cNvPr>
          <p:cNvSpPr/>
          <p:nvPr/>
        </p:nvSpPr>
        <p:spPr>
          <a:xfrm>
            <a:off x="838200" y="6091952"/>
            <a:ext cx="2977039" cy="372070"/>
          </a:xfrm>
          <a:prstGeom prst="rect">
            <a:avLst/>
          </a:prstGeom>
          <a:noFill/>
          <a:ln/>
        </p:spPr>
        <p:txBody>
          <a:bodyPr wrap="none" lIns="0" tIns="0" rIns="0" bIns="0" rtlCol="0" anchor="t"/>
          <a:lstStyle/>
          <a:p>
            <a:pPr marL="0" indent="0" algn="l">
              <a:buNone/>
            </a:pPr>
            <a:r>
              <a:rPr lang="en-US" sz="2400" dirty="0">
                <a:solidFill>
                  <a:srgbClr val="020202"/>
                </a:solidFill>
                <a:latin typeface="PT Serif" pitchFamily="34" charset="0"/>
                <a:ea typeface="PT Serif" pitchFamily="34" charset="-122"/>
                <a:cs typeface="PT Serif" pitchFamily="34" charset="-120"/>
              </a:rPr>
              <a:t>Advanced Configuration Options</a:t>
            </a:r>
            <a:endParaRPr lang="en-US" sz="2400" dirty="0"/>
          </a:p>
        </p:txBody>
      </p:sp>
      <p:sp>
        <p:nvSpPr>
          <p:cNvPr id="32" name="Text 16">
            <a:extLst>
              <a:ext uri="{FF2B5EF4-FFF2-40B4-BE49-F238E27FC236}">
                <a16:creationId xmlns:a16="http://schemas.microsoft.com/office/drawing/2014/main" id="{1FEB7470-310A-9D94-BC4D-46671DD2AE10}"/>
              </a:ext>
            </a:extLst>
          </p:cNvPr>
          <p:cNvSpPr/>
          <p:nvPr/>
        </p:nvSpPr>
        <p:spPr>
          <a:xfrm>
            <a:off x="7621786" y="5562600"/>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cs typeface="PT Serif Light" pitchFamily="34" charset="-120"/>
              </a:rPr>
              <a:t>10</a:t>
            </a:r>
            <a:endParaRPr lang="en-US" sz="1750" dirty="0">
              <a:latin typeface="PT Serif" panose="020A0603040505020204" pitchFamily="18" charset="0"/>
            </a:endParaRPr>
          </a:p>
        </p:txBody>
      </p:sp>
      <p:sp>
        <p:nvSpPr>
          <p:cNvPr id="33" name="Shape 17">
            <a:extLst>
              <a:ext uri="{FF2B5EF4-FFF2-40B4-BE49-F238E27FC236}">
                <a16:creationId xmlns:a16="http://schemas.microsoft.com/office/drawing/2014/main" id="{B018CB02-01AB-2D3B-8E8E-6B272D6314B4}"/>
              </a:ext>
            </a:extLst>
          </p:cNvPr>
          <p:cNvSpPr/>
          <p:nvPr/>
        </p:nvSpPr>
        <p:spPr>
          <a:xfrm>
            <a:off x="7472958" y="5917644"/>
            <a:ext cx="6408063" cy="30480"/>
          </a:xfrm>
          <a:prstGeom prst="rect">
            <a:avLst/>
          </a:prstGeom>
          <a:solidFill>
            <a:srgbClr val="E04F00"/>
          </a:solidFill>
          <a:ln/>
        </p:spPr>
      </p:sp>
      <p:sp>
        <p:nvSpPr>
          <p:cNvPr id="34" name="Text 18">
            <a:extLst>
              <a:ext uri="{FF2B5EF4-FFF2-40B4-BE49-F238E27FC236}">
                <a16:creationId xmlns:a16="http://schemas.microsoft.com/office/drawing/2014/main" id="{44B972C4-103A-2933-140B-15706893E4AF}"/>
              </a:ext>
            </a:extLst>
          </p:cNvPr>
          <p:cNvSpPr/>
          <p:nvPr/>
        </p:nvSpPr>
        <p:spPr>
          <a:xfrm>
            <a:off x="7472958" y="6091952"/>
            <a:ext cx="2977039" cy="372070"/>
          </a:xfrm>
          <a:prstGeom prst="rect">
            <a:avLst/>
          </a:prstGeom>
          <a:noFill/>
          <a:ln/>
        </p:spPr>
        <p:txBody>
          <a:bodyPr wrap="none" lIns="0" tIns="0" rIns="0" bIns="0" rtlCol="0" anchor="t"/>
          <a:lstStyle/>
          <a:p>
            <a:pPr marL="0" indent="0" algn="l">
              <a:buNone/>
            </a:pPr>
            <a:r>
              <a:rPr lang="en-US" sz="2400" dirty="0">
                <a:solidFill>
                  <a:srgbClr val="020202"/>
                </a:solidFill>
                <a:latin typeface="PT Serif" pitchFamily="34" charset="0"/>
                <a:ea typeface="PT Serif" pitchFamily="34" charset="-122"/>
                <a:cs typeface="PT Serif" pitchFamily="34" charset="-120"/>
              </a:rPr>
              <a:t>Tree-Based Imputation Advantages</a:t>
            </a:r>
            <a:endParaRPr lang="en-US" sz="2400" dirty="0"/>
          </a:p>
        </p:txBody>
      </p:sp>
      <p:sp>
        <p:nvSpPr>
          <p:cNvPr id="35" name="Text 13">
            <a:extLst>
              <a:ext uri="{FF2B5EF4-FFF2-40B4-BE49-F238E27FC236}">
                <a16:creationId xmlns:a16="http://schemas.microsoft.com/office/drawing/2014/main" id="{EE764BE5-5B8C-DF30-EE08-F902C7877942}"/>
              </a:ext>
            </a:extLst>
          </p:cNvPr>
          <p:cNvSpPr/>
          <p:nvPr/>
        </p:nvSpPr>
        <p:spPr>
          <a:xfrm>
            <a:off x="869989" y="678696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rPr>
              <a:t>11</a:t>
            </a:r>
            <a:endParaRPr lang="en-US" sz="1750" dirty="0">
              <a:latin typeface="PT Serif" panose="020A0603040505020204" pitchFamily="18" charset="0"/>
            </a:endParaRPr>
          </a:p>
        </p:txBody>
      </p:sp>
      <p:sp>
        <p:nvSpPr>
          <p:cNvPr id="55" name="Shape 14">
            <a:extLst>
              <a:ext uri="{FF2B5EF4-FFF2-40B4-BE49-F238E27FC236}">
                <a16:creationId xmlns:a16="http://schemas.microsoft.com/office/drawing/2014/main" id="{CBD339C7-D3C9-1F37-6AD9-FDB69587B683}"/>
              </a:ext>
            </a:extLst>
          </p:cNvPr>
          <p:cNvSpPr/>
          <p:nvPr/>
        </p:nvSpPr>
        <p:spPr>
          <a:xfrm>
            <a:off x="869989" y="7142007"/>
            <a:ext cx="6407944" cy="30480"/>
          </a:xfrm>
          <a:prstGeom prst="rect">
            <a:avLst/>
          </a:prstGeom>
          <a:solidFill>
            <a:srgbClr val="E04F00"/>
          </a:solidFill>
          <a:ln/>
        </p:spPr>
      </p:sp>
      <p:sp>
        <p:nvSpPr>
          <p:cNvPr id="56" name="Text 15">
            <a:extLst>
              <a:ext uri="{FF2B5EF4-FFF2-40B4-BE49-F238E27FC236}">
                <a16:creationId xmlns:a16="http://schemas.microsoft.com/office/drawing/2014/main" id="{66A71AC4-E2A1-7AB2-B147-E6414A43C435}"/>
              </a:ext>
            </a:extLst>
          </p:cNvPr>
          <p:cNvSpPr/>
          <p:nvPr/>
        </p:nvSpPr>
        <p:spPr>
          <a:xfrm>
            <a:off x="869989" y="7316315"/>
            <a:ext cx="6255665" cy="372070"/>
          </a:xfrm>
          <a:prstGeom prst="rect">
            <a:avLst/>
          </a:prstGeom>
          <a:noFill/>
          <a:ln/>
        </p:spPr>
        <p:txBody>
          <a:bodyPr wrap="square" lIns="0" tIns="0" rIns="0" bIns="0" rtlCol="0" anchor="t"/>
          <a:lstStyle/>
          <a:p>
            <a:pPr marL="0" indent="0" algn="l">
              <a:buNone/>
            </a:pPr>
            <a:r>
              <a:rPr lang="en-US" sz="2400" dirty="0">
                <a:solidFill>
                  <a:srgbClr val="020202"/>
                </a:solidFill>
                <a:latin typeface="PT Serif" pitchFamily="34" charset="0"/>
                <a:ea typeface="PT Serif" pitchFamily="34" charset="-122"/>
                <a:cs typeface="PT Serif" pitchFamily="34" charset="-120"/>
              </a:rPr>
              <a:t>Model-Based Imputation: Practical Implementation</a:t>
            </a:r>
            <a:endParaRPr lang="en-US" sz="2400" dirty="0"/>
          </a:p>
        </p:txBody>
      </p:sp>
      <p:sp>
        <p:nvSpPr>
          <p:cNvPr id="57" name="Text 16">
            <a:extLst>
              <a:ext uri="{FF2B5EF4-FFF2-40B4-BE49-F238E27FC236}">
                <a16:creationId xmlns:a16="http://schemas.microsoft.com/office/drawing/2014/main" id="{CCAC11BB-F6D4-F0ED-70FC-87AE319586FD}"/>
              </a:ext>
            </a:extLst>
          </p:cNvPr>
          <p:cNvSpPr/>
          <p:nvPr/>
        </p:nvSpPr>
        <p:spPr>
          <a:xfrm>
            <a:off x="7504747" y="678696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A0603040505020204" pitchFamily="18" charset="0"/>
                <a:ea typeface="PT Serif Light" pitchFamily="34" charset="-122"/>
              </a:rPr>
              <a:t>12</a:t>
            </a:r>
            <a:endParaRPr lang="en-US" sz="1750" dirty="0">
              <a:latin typeface="PT Serif" panose="020A0603040505020204" pitchFamily="18" charset="0"/>
            </a:endParaRPr>
          </a:p>
        </p:txBody>
      </p:sp>
      <p:sp>
        <p:nvSpPr>
          <p:cNvPr id="58" name="Shape 17">
            <a:extLst>
              <a:ext uri="{FF2B5EF4-FFF2-40B4-BE49-F238E27FC236}">
                <a16:creationId xmlns:a16="http://schemas.microsoft.com/office/drawing/2014/main" id="{43202218-08CD-A207-E0CA-66DDA0E2B30F}"/>
              </a:ext>
            </a:extLst>
          </p:cNvPr>
          <p:cNvSpPr/>
          <p:nvPr/>
        </p:nvSpPr>
        <p:spPr>
          <a:xfrm>
            <a:off x="7504747" y="7142007"/>
            <a:ext cx="6408063" cy="30480"/>
          </a:xfrm>
          <a:prstGeom prst="rect">
            <a:avLst/>
          </a:prstGeom>
          <a:solidFill>
            <a:srgbClr val="E04F00"/>
          </a:solidFill>
          <a:ln/>
        </p:spPr>
      </p:sp>
      <p:sp>
        <p:nvSpPr>
          <p:cNvPr id="59" name="Text 18">
            <a:extLst>
              <a:ext uri="{FF2B5EF4-FFF2-40B4-BE49-F238E27FC236}">
                <a16:creationId xmlns:a16="http://schemas.microsoft.com/office/drawing/2014/main" id="{1164C553-EED3-6997-F036-905FE2884A22}"/>
              </a:ext>
            </a:extLst>
          </p:cNvPr>
          <p:cNvSpPr/>
          <p:nvPr/>
        </p:nvSpPr>
        <p:spPr>
          <a:xfrm>
            <a:off x="7504747" y="7316315"/>
            <a:ext cx="2977039" cy="372070"/>
          </a:xfrm>
          <a:prstGeom prst="rect">
            <a:avLst/>
          </a:prstGeom>
          <a:noFill/>
          <a:ln/>
        </p:spPr>
        <p:txBody>
          <a:bodyPr wrap="none" lIns="0" tIns="0" rIns="0" bIns="0" rtlCol="0" anchor="t"/>
          <a:lstStyle/>
          <a:p>
            <a:pPr marL="0" indent="0" algn="l">
              <a:buNone/>
            </a:pPr>
            <a:r>
              <a:rPr lang="en-US" sz="2400" dirty="0">
                <a:solidFill>
                  <a:srgbClr val="020202"/>
                </a:solidFill>
                <a:latin typeface="PT Serif" pitchFamily="34" charset="0"/>
                <a:ea typeface="PT Serif" pitchFamily="34" charset="-122"/>
                <a:cs typeface="PT Serif" pitchFamily="34" charset="-120"/>
              </a:rPr>
              <a:t>Native Handling in Tree-Based Models</a:t>
            </a:r>
            <a:endParaRPr lang="en-US" sz="2400" dirty="0"/>
          </a:p>
        </p:txBody>
      </p:sp>
    </p:spTree>
    <p:extLst>
      <p:ext uri="{BB962C8B-B14F-4D97-AF65-F5344CB8AC3E}">
        <p14:creationId xmlns:p14="http://schemas.microsoft.com/office/powerpoint/2010/main" val="881022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48C09-CE38-9CD5-DAA8-E72E04536C14}"/>
              </a:ext>
            </a:extLst>
          </p:cNvPr>
          <p:cNvSpPr>
            <a:spLocks noGrp="1"/>
          </p:cNvSpPr>
          <p:nvPr>
            <p:ph type="title"/>
          </p:nvPr>
        </p:nvSpPr>
        <p:spPr>
          <a:xfrm>
            <a:off x="627185" y="609600"/>
            <a:ext cx="13656055" cy="1107996"/>
          </a:xfrm>
        </p:spPr>
        <p:txBody>
          <a:bodyPr/>
          <a:lstStyle/>
          <a:p>
            <a:r>
              <a:rPr lang="en-US" sz="3600" dirty="0">
                <a:solidFill>
                  <a:srgbClr val="020202"/>
                </a:solidFill>
                <a:latin typeface="PT Serif" pitchFamily="34" charset="0"/>
                <a:ea typeface="PT Serif" pitchFamily="34" charset="-122"/>
                <a:cs typeface="PT Serif" pitchFamily="34" charset="-120"/>
              </a:rPr>
              <a:t>What Are Missing Values?</a:t>
            </a:r>
            <a:br>
              <a:rPr lang="en-US" sz="3600" dirty="0"/>
            </a:br>
            <a:endParaRPr lang="en-IN" sz="3600" dirty="0"/>
          </a:p>
        </p:txBody>
      </p:sp>
      <p:sp>
        <p:nvSpPr>
          <p:cNvPr id="3" name="Text Placeholder 2">
            <a:extLst>
              <a:ext uri="{FF2B5EF4-FFF2-40B4-BE49-F238E27FC236}">
                <a16:creationId xmlns:a16="http://schemas.microsoft.com/office/drawing/2014/main" id="{BBA12921-A7EA-F4FB-A06F-7D9BD9DB321E}"/>
              </a:ext>
            </a:extLst>
          </p:cNvPr>
          <p:cNvSpPr>
            <a:spLocks noGrp="1"/>
          </p:cNvSpPr>
          <p:nvPr>
            <p:ph type="body" idx="1"/>
          </p:nvPr>
        </p:nvSpPr>
        <p:spPr>
          <a:xfrm>
            <a:off x="609600" y="2059333"/>
            <a:ext cx="7381240" cy="4941161"/>
          </a:xfrm>
        </p:spPr>
        <p:txBody>
          <a:bodyPr/>
          <a:lstStyle/>
          <a:p>
            <a:pPr algn="l">
              <a:lnSpc>
                <a:spcPct val="150000"/>
              </a:lnSpc>
            </a:pPr>
            <a:r>
              <a:rPr lang="en-IN" sz="1800" b="1" dirty="0"/>
              <a:t>Missing values</a:t>
            </a:r>
            <a:r>
              <a:rPr lang="en-IN" sz="1800" dirty="0"/>
              <a:t> arise when an observation lacks a recorded value for a particular variable. In datasets, they are commonly represented as </a:t>
            </a:r>
            <a:r>
              <a:rPr lang="en-IN" sz="1800" i="1" dirty="0" err="1"/>
              <a:t>NaN</a:t>
            </a:r>
            <a:r>
              <a:rPr lang="en-IN" sz="1800" dirty="0"/>
              <a:t> (Not a Number), </a:t>
            </a:r>
            <a:r>
              <a:rPr lang="en-IN" sz="1800" i="1" dirty="0"/>
              <a:t>None</a:t>
            </a:r>
            <a:r>
              <a:rPr lang="en-IN" sz="1800" dirty="0"/>
              <a:t>, </a:t>
            </a:r>
            <a:r>
              <a:rPr lang="en-IN" sz="1800" i="1" dirty="0"/>
              <a:t>NA</a:t>
            </a:r>
            <a:r>
              <a:rPr lang="en-IN" sz="1800" dirty="0"/>
              <a:t>, or blank cells. These entries indicate the </a:t>
            </a:r>
            <a:r>
              <a:rPr lang="en-IN" sz="1800" b="1" dirty="0"/>
              <a:t>absence of information</a:t>
            </a:r>
            <a:r>
              <a:rPr lang="en-IN" sz="1800" dirty="0"/>
              <a:t>, and should not be interpreted as valid numerical values such as zero, nor as meaningful categorical entries.</a:t>
            </a:r>
          </a:p>
          <a:p>
            <a:pPr algn="l">
              <a:lnSpc>
                <a:spcPct val="150000"/>
              </a:lnSpc>
            </a:pPr>
            <a:endParaRPr lang="en-IN" sz="1800" dirty="0">
              <a:solidFill>
                <a:srgbClr val="383838"/>
              </a:solidFill>
              <a:ea typeface="DM Sans" pitchFamily="34" charset="-122"/>
              <a:cs typeface="DM Sans" pitchFamily="34" charset="-120"/>
            </a:endParaRPr>
          </a:p>
          <a:p>
            <a:pPr algn="l">
              <a:lnSpc>
                <a:spcPct val="150000"/>
              </a:lnSpc>
            </a:pPr>
            <a:r>
              <a:rPr lang="en-US" sz="1800" dirty="0">
                <a:solidFill>
                  <a:srgbClr val="383838"/>
                </a:solidFill>
                <a:ea typeface="DM Sans" pitchFamily="34" charset="-122"/>
                <a:cs typeface="DM Sans" pitchFamily="34" charset="-120"/>
              </a:rPr>
              <a:t>Understanding missing values is fundamental to data preprocessing because they directly impact the quality and reliability of machine learning models. The way we handle these gaps can make the difference between a robust, generalizable model and one that produces biased or inaccurate predictions.</a:t>
            </a:r>
            <a:endParaRPr lang="en-US" sz="1800" dirty="0"/>
          </a:p>
          <a:p>
            <a:pPr>
              <a:lnSpc>
                <a:spcPct val="150000"/>
              </a:lnSpc>
            </a:pPr>
            <a:endParaRPr lang="en-IN" sz="1800" dirty="0"/>
          </a:p>
        </p:txBody>
      </p:sp>
      <p:sp>
        <p:nvSpPr>
          <p:cNvPr id="5" name="TextBox 4">
            <a:extLst>
              <a:ext uri="{FF2B5EF4-FFF2-40B4-BE49-F238E27FC236}">
                <a16:creationId xmlns:a16="http://schemas.microsoft.com/office/drawing/2014/main" id="{2C44A4CD-48BF-DAE8-1E85-C70A249D3EB9}"/>
              </a:ext>
            </a:extLst>
          </p:cNvPr>
          <p:cNvSpPr txBox="1"/>
          <p:nvPr/>
        </p:nvSpPr>
        <p:spPr>
          <a:xfrm>
            <a:off x="9296400" y="1789867"/>
            <a:ext cx="7315200" cy="4017125"/>
          </a:xfrm>
          <a:prstGeom prst="rect">
            <a:avLst/>
          </a:prstGeom>
          <a:noFill/>
        </p:spPr>
        <p:txBody>
          <a:bodyPr wrap="square">
            <a:spAutoFit/>
          </a:bodyPr>
          <a:lstStyle/>
          <a:p>
            <a:pPr marL="0" indent="0" algn="l">
              <a:lnSpc>
                <a:spcPct val="200000"/>
              </a:lnSpc>
              <a:buNone/>
            </a:pPr>
            <a:r>
              <a:rPr lang="en-US" sz="2400" b="1" dirty="0">
                <a:solidFill>
                  <a:srgbClr val="000000"/>
                </a:solidFill>
                <a:latin typeface="PT Serif" panose="020A0603040505020204" pitchFamily="18" charset="0"/>
                <a:ea typeface="DM Sans" pitchFamily="34" charset="-122"/>
                <a:cs typeface="DM Sans" pitchFamily="34" charset="-120"/>
              </a:rPr>
              <a:t>Common representations:</a:t>
            </a:r>
          </a:p>
          <a:p>
            <a:pPr marL="285750" indent="-285750" algn="l">
              <a:lnSpc>
                <a:spcPct val="200000"/>
              </a:lnSpc>
              <a:buFont typeface="Arial" panose="020B0604020202020204" pitchFamily="34" charset="0"/>
              <a:buChar char="•"/>
            </a:pPr>
            <a:r>
              <a:rPr lang="en-US" sz="1800" dirty="0">
                <a:solidFill>
                  <a:srgbClr val="000000"/>
                </a:solidFill>
                <a:latin typeface="PT Serif" panose="020A0603040505020204" pitchFamily="18" charset="0"/>
                <a:ea typeface="DM Sans" pitchFamily="34" charset="-122"/>
                <a:cs typeface="DM Sans" pitchFamily="34" charset="-120"/>
              </a:rPr>
              <a:t>NaN in pandas/NumPy</a:t>
            </a:r>
            <a:endParaRPr lang="en-US" sz="1800" dirty="0">
              <a:latin typeface="PT Serif" panose="020A0603040505020204" pitchFamily="18" charset="0"/>
            </a:endParaRPr>
          </a:p>
          <a:p>
            <a:pPr marL="285750" indent="-285750" algn="l">
              <a:lnSpc>
                <a:spcPct val="200000"/>
              </a:lnSpc>
              <a:buFont typeface="Arial" panose="020B0604020202020204" pitchFamily="34" charset="0"/>
              <a:buChar char="•"/>
            </a:pPr>
            <a:r>
              <a:rPr lang="en-US" sz="1800" dirty="0">
                <a:solidFill>
                  <a:srgbClr val="000000"/>
                </a:solidFill>
                <a:latin typeface="PT Serif" panose="020A0603040505020204" pitchFamily="18" charset="0"/>
                <a:ea typeface="DM Sans" pitchFamily="34" charset="-122"/>
                <a:cs typeface="DM Sans" pitchFamily="34" charset="-120"/>
              </a:rPr>
              <a:t>None in Python</a:t>
            </a:r>
            <a:endParaRPr lang="en-US" sz="1800" dirty="0">
              <a:latin typeface="PT Serif" panose="020A0603040505020204" pitchFamily="18" charset="0"/>
            </a:endParaRPr>
          </a:p>
          <a:p>
            <a:pPr marL="285750" indent="-285750" algn="l">
              <a:lnSpc>
                <a:spcPct val="200000"/>
              </a:lnSpc>
              <a:buFont typeface="Arial" panose="020B0604020202020204" pitchFamily="34" charset="0"/>
              <a:buChar char="•"/>
            </a:pPr>
            <a:r>
              <a:rPr lang="en-US" sz="1800" dirty="0">
                <a:solidFill>
                  <a:srgbClr val="000000"/>
                </a:solidFill>
                <a:latin typeface="PT Serif" panose="020A0603040505020204" pitchFamily="18" charset="0"/>
                <a:ea typeface="DM Sans" pitchFamily="34" charset="-122"/>
                <a:cs typeface="DM Sans" pitchFamily="34" charset="-120"/>
              </a:rPr>
              <a:t>NA in R</a:t>
            </a:r>
            <a:endParaRPr lang="en-US" sz="1800" dirty="0">
              <a:latin typeface="PT Serif" panose="020A0603040505020204" pitchFamily="18" charset="0"/>
            </a:endParaRPr>
          </a:p>
          <a:p>
            <a:pPr marL="285750" indent="-285750" algn="l">
              <a:lnSpc>
                <a:spcPct val="200000"/>
              </a:lnSpc>
              <a:buFont typeface="Arial" panose="020B0604020202020204" pitchFamily="34" charset="0"/>
              <a:buChar char="•"/>
            </a:pPr>
            <a:r>
              <a:rPr lang="en-US" sz="1800" dirty="0">
                <a:solidFill>
                  <a:srgbClr val="000000"/>
                </a:solidFill>
                <a:latin typeface="PT Serif" panose="020A0603040505020204" pitchFamily="18" charset="0"/>
                <a:ea typeface="DM Sans" pitchFamily="34" charset="-122"/>
                <a:cs typeface="DM Sans" pitchFamily="34" charset="-120"/>
              </a:rPr>
              <a:t>Empty cells in CSV files</a:t>
            </a:r>
            <a:endParaRPr lang="en-US" sz="1800" dirty="0">
              <a:latin typeface="PT Serif" panose="020A0603040505020204" pitchFamily="18" charset="0"/>
            </a:endParaRPr>
          </a:p>
          <a:p>
            <a:pPr marL="285750" indent="-285750" algn="l">
              <a:lnSpc>
                <a:spcPct val="200000"/>
              </a:lnSpc>
              <a:buFont typeface="Arial" panose="020B0604020202020204" pitchFamily="34" charset="0"/>
              <a:buChar char="•"/>
            </a:pPr>
            <a:r>
              <a:rPr lang="en-US" sz="1800" dirty="0">
                <a:solidFill>
                  <a:srgbClr val="000000"/>
                </a:solidFill>
                <a:latin typeface="PT Serif" panose="020A0603040505020204" pitchFamily="18" charset="0"/>
                <a:ea typeface="DM Sans" pitchFamily="34" charset="-122"/>
                <a:cs typeface="DM Sans" pitchFamily="34" charset="-120"/>
              </a:rPr>
              <a:t>NULL in databases</a:t>
            </a:r>
            <a:endParaRPr lang="en-US" sz="1800" dirty="0">
              <a:latin typeface="PT Serif" panose="020A0603040505020204" pitchFamily="18" charset="0"/>
            </a:endParaRPr>
          </a:p>
          <a:p>
            <a:pPr marL="0" indent="0" algn="l">
              <a:lnSpc>
                <a:spcPts val="2500"/>
              </a:lnSpc>
              <a:buNone/>
            </a:pPr>
            <a:endParaRPr lang="en-US" sz="1800" dirty="0"/>
          </a:p>
        </p:txBody>
      </p:sp>
    </p:spTree>
    <p:extLst>
      <p:ext uri="{BB962C8B-B14F-4D97-AF65-F5344CB8AC3E}">
        <p14:creationId xmlns:p14="http://schemas.microsoft.com/office/powerpoint/2010/main" val="3699039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6924" y="685800"/>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Why Missing Values Matter</a:t>
            </a:r>
            <a:endParaRPr lang="en-US" sz="3600" dirty="0"/>
          </a:p>
        </p:txBody>
      </p:sp>
      <p:sp>
        <p:nvSpPr>
          <p:cNvPr id="15" name="Text 7">
            <a:extLst>
              <a:ext uri="{FF2B5EF4-FFF2-40B4-BE49-F238E27FC236}">
                <a16:creationId xmlns:a16="http://schemas.microsoft.com/office/drawing/2014/main" id="{36221D7B-8D1F-CF5A-6FD1-DA6DD3F7C3CC}"/>
              </a:ext>
            </a:extLst>
          </p:cNvPr>
          <p:cNvSpPr/>
          <p:nvPr/>
        </p:nvSpPr>
        <p:spPr>
          <a:xfrm>
            <a:off x="5643399" y="3648278"/>
            <a:ext cx="3818692" cy="127015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9893314" y="2531833"/>
            <a:ext cx="3818574" cy="3610453"/>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108925" y="2788567"/>
            <a:ext cx="3602964" cy="2313740"/>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Preprocessing Problem</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Handling missing values is fundamentally a data preprocessing challenge, not a modeling problem. Address it before training begins.</a:t>
            </a: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2560886"/>
            <a:ext cx="3818573" cy="95261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28" name="Shape 2">
            <a:extLst>
              <a:ext uri="{FF2B5EF4-FFF2-40B4-BE49-F238E27FC236}">
                <a16:creationId xmlns:a16="http://schemas.microsoft.com/office/drawing/2014/main" id="{E7F2EE5C-87C7-F16D-F9EF-EB811ED3C5B0}"/>
              </a:ext>
            </a:extLst>
          </p:cNvPr>
          <p:cNvSpPr/>
          <p:nvPr/>
        </p:nvSpPr>
        <p:spPr>
          <a:xfrm>
            <a:off x="533400" y="2496188"/>
            <a:ext cx="4114305" cy="3646098"/>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9" name="Text 3">
            <a:extLst>
              <a:ext uri="{FF2B5EF4-FFF2-40B4-BE49-F238E27FC236}">
                <a16:creationId xmlns:a16="http://schemas.microsoft.com/office/drawing/2014/main" id="{0DC3D8C5-049C-DD26-3357-58E00F542DB1}"/>
              </a:ext>
            </a:extLst>
          </p:cNvPr>
          <p:cNvSpPr/>
          <p:nvPr/>
        </p:nvSpPr>
        <p:spPr>
          <a:xfrm>
            <a:off x="726760" y="2724806"/>
            <a:ext cx="3713225" cy="2476441"/>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Impact on Models</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Most ML algorithms cannot work directly with missing values and will throw errors or silently drop incomplete rows, leading to loss of valuable training data.</a:t>
            </a: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30" name="Shape 5">
            <a:extLst>
              <a:ext uri="{FF2B5EF4-FFF2-40B4-BE49-F238E27FC236}">
                <a16:creationId xmlns:a16="http://schemas.microsoft.com/office/drawing/2014/main" id="{4C5EE8CA-E340-7264-83D8-CA41D716DE4C}"/>
              </a:ext>
            </a:extLst>
          </p:cNvPr>
          <p:cNvSpPr/>
          <p:nvPr/>
        </p:nvSpPr>
        <p:spPr>
          <a:xfrm>
            <a:off x="5257800" y="2484686"/>
            <a:ext cx="4114305" cy="3657600"/>
          </a:xfrm>
          <a:prstGeom prst="roundRect">
            <a:avLst>
              <a:gd name="adj" fmla="val 1410"/>
            </a:avLst>
          </a:prstGeom>
          <a:solidFill>
            <a:srgbClr val="F2EEEE"/>
          </a:solidFill>
          <a:ln/>
        </p:spPr>
      </p:sp>
      <p:sp>
        <p:nvSpPr>
          <p:cNvPr id="31" name="Text 6">
            <a:extLst>
              <a:ext uri="{FF2B5EF4-FFF2-40B4-BE49-F238E27FC236}">
                <a16:creationId xmlns:a16="http://schemas.microsoft.com/office/drawing/2014/main" id="{385EE126-84A2-761A-9E6E-6FA9D141EFBC}"/>
              </a:ext>
            </a:extLst>
          </p:cNvPr>
          <p:cNvSpPr/>
          <p:nvPr/>
        </p:nvSpPr>
        <p:spPr>
          <a:xfrm>
            <a:off x="5445044" y="2724806"/>
            <a:ext cx="3604657" cy="4865280"/>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Data Relationships</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Missing values can distort relationships between variables, introducing bias into statistical estimates and reducing overall predictive performance.</a:t>
            </a: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Tree>
    <p:extLst>
      <p:ext uri="{BB962C8B-B14F-4D97-AF65-F5344CB8AC3E}">
        <p14:creationId xmlns:p14="http://schemas.microsoft.com/office/powerpoint/2010/main" val="3546163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object 13">
            <a:extLst>
              <a:ext uri="{FF2B5EF4-FFF2-40B4-BE49-F238E27FC236}">
                <a16:creationId xmlns:a16="http://schemas.microsoft.com/office/drawing/2014/main" id="{9EDED71C-1B31-D97D-38B2-DAFD66018FF9}"/>
              </a:ext>
            </a:extLst>
          </p:cNvPr>
          <p:cNvGrpSpPr/>
          <p:nvPr/>
        </p:nvGrpSpPr>
        <p:grpSpPr>
          <a:xfrm>
            <a:off x="1295400" y="973009"/>
            <a:ext cx="5865583" cy="3141791"/>
            <a:chOff x="793788" y="4631308"/>
            <a:chExt cx="6437630" cy="2974340"/>
          </a:xfrm>
        </p:grpSpPr>
        <p:sp>
          <p:nvSpPr>
            <p:cNvPr id="25" name="object 14">
              <a:extLst>
                <a:ext uri="{FF2B5EF4-FFF2-40B4-BE49-F238E27FC236}">
                  <a16:creationId xmlns:a16="http://schemas.microsoft.com/office/drawing/2014/main" id="{35293503-1DBD-8E87-3BE0-DDA71A76F25C}"/>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6" name="object 15">
              <a:extLst>
                <a:ext uri="{FF2B5EF4-FFF2-40B4-BE49-F238E27FC236}">
                  <a16:creationId xmlns:a16="http://schemas.microsoft.com/office/drawing/2014/main" id="{222A1FF6-5464-B670-5D90-F39A5749423F}"/>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21" name="object 13">
            <a:extLst>
              <a:ext uri="{FF2B5EF4-FFF2-40B4-BE49-F238E27FC236}">
                <a16:creationId xmlns:a16="http://schemas.microsoft.com/office/drawing/2014/main" id="{5D4C71A9-44DE-C30C-23FB-01ADE60A16CF}"/>
              </a:ext>
            </a:extLst>
          </p:cNvPr>
          <p:cNvGrpSpPr/>
          <p:nvPr/>
        </p:nvGrpSpPr>
        <p:grpSpPr>
          <a:xfrm>
            <a:off x="1295400" y="4383094"/>
            <a:ext cx="5885221" cy="3141791"/>
            <a:chOff x="793788" y="4631308"/>
            <a:chExt cx="6437630" cy="2974340"/>
          </a:xfrm>
        </p:grpSpPr>
        <p:sp>
          <p:nvSpPr>
            <p:cNvPr id="22" name="object 14">
              <a:extLst>
                <a:ext uri="{FF2B5EF4-FFF2-40B4-BE49-F238E27FC236}">
                  <a16:creationId xmlns:a16="http://schemas.microsoft.com/office/drawing/2014/main" id="{3AACB49F-E75F-EA46-C29E-950076399A3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3" name="object 15">
              <a:extLst>
                <a:ext uri="{FF2B5EF4-FFF2-40B4-BE49-F238E27FC236}">
                  <a16:creationId xmlns:a16="http://schemas.microsoft.com/office/drawing/2014/main" id="{6237666D-DF67-98DC-05C9-F9F742175B69}"/>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15" name="object 13">
            <a:extLst>
              <a:ext uri="{FF2B5EF4-FFF2-40B4-BE49-F238E27FC236}">
                <a16:creationId xmlns:a16="http://schemas.microsoft.com/office/drawing/2014/main" id="{E03DB111-066A-1466-380E-B1A5D264D147}"/>
              </a:ext>
            </a:extLst>
          </p:cNvPr>
          <p:cNvGrpSpPr/>
          <p:nvPr/>
        </p:nvGrpSpPr>
        <p:grpSpPr>
          <a:xfrm>
            <a:off x="7602178" y="4402009"/>
            <a:ext cx="5885221" cy="3141791"/>
            <a:chOff x="793788" y="4631308"/>
            <a:chExt cx="6437630" cy="2974340"/>
          </a:xfrm>
        </p:grpSpPr>
        <p:sp>
          <p:nvSpPr>
            <p:cNvPr id="16" name="object 14">
              <a:extLst>
                <a:ext uri="{FF2B5EF4-FFF2-40B4-BE49-F238E27FC236}">
                  <a16:creationId xmlns:a16="http://schemas.microsoft.com/office/drawing/2014/main" id="{692C152D-7A07-F647-B072-3F50C547CA6A}"/>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17" name="object 15">
              <a:extLst>
                <a:ext uri="{FF2B5EF4-FFF2-40B4-BE49-F238E27FC236}">
                  <a16:creationId xmlns:a16="http://schemas.microsoft.com/office/drawing/2014/main" id="{834CABA1-B7A9-4D1F-38E0-F9624839AD97}"/>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18" name="object 13">
            <a:extLst>
              <a:ext uri="{FF2B5EF4-FFF2-40B4-BE49-F238E27FC236}">
                <a16:creationId xmlns:a16="http://schemas.microsoft.com/office/drawing/2014/main" id="{ECB50A61-AEB7-0B14-8AE8-E898A2B99D8F}"/>
              </a:ext>
            </a:extLst>
          </p:cNvPr>
          <p:cNvGrpSpPr/>
          <p:nvPr/>
        </p:nvGrpSpPr>
        <p:grpSpPr>
          <a:xfrm>
            <a:off x="7621816" y="991926"/>
            <a:ext cx="5865583" cy="3122874"/>
            <a:chOff x="793788" y="4631308"/>
            <a:chExt cx="6437630" cy="2974340"/>
          </a:xfrm>
        </p:grpSpPr>
        <p:sp>
          <p:nvSpPr>
            <p:cNvPr id="19" name="object 14">
              <a:extLst>
                <a:ext uri="{FF2B5EF4-FFF2-40B4-BE49-F238E27FC236}">
                  <a16:creationId xmlns:a16="http://schemas.microsoft.com/office/drawing/2014/main" id="{594874B8-2992-7984-EADD-99110A13FC67}"/>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0" name="object 15">
              <a:extLst>
                <a:ext uri="{FF2B5EF4-FFF2-40B4-BE49-F238E27FC236}">
                  <a16:creationId xmlns:a16="http://schemas.microsoft.com/office/drawing/2014/main" id="{AC59F4FA-A558-F930-8313-B0B11B9AD525}"/>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sp>
        <p:nvSpPr>
          <p:cNvPr id="2" name="object 2"/>
          <p:cNvSpPr txBox="1">
            <a:spLocks noGrp="1"/>
          </p:cNvSpPr>
          <p:nvPr>
            <p:ph type="title"/>
          </p:nvPr>
        </p:nvSpPr>
        <p:spPr>
          <a:xfrm>
            <a:off x="814617" y="-211477"/>
            <a:ext cx="13656055" cy="833113"/>
          </a:xfrm>
          <a:prstGeom prst="rect">
            <a:avLst/>
          </a:prstGeom>
          <a:noFill/>
        </p:spPr>
        <p:txBody>
          <a:bodyPr vert="horz" wrap="square" lIns="0" tIns="220853"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Common Causes of Missing Data</a:t>
            </a:r>
            <a:endParaRPr lang="en-US" sz="3600" dirty="0"/>
          </a:p>
        </p:txBody>
      </p:sp>
      <p:sp>
        <p:nvSpPr>
          <p:cNvPr id="8" name="Text 3">
            <a:extLst>
              <a:ext uri="{FF2B5EF4-FFF2-40B4-BE49-F238E27FC236}">
                <a16:creationId xmlns:a16="http://schemas.microsoft.com/office/drawing/2014/main" id="{A0D38183-3593-0CD5-9F87-5CFCC2BA96CD}"/>
              </a:ext>
            </a:extLst>
          </p:cNvPr>
          <p:cNvSpPr/>
          <p:nvPr/>
        </p:nvSpPr>
        <p:spPr>
          <a:xfrm>
            <a:off x="1728722" y="961992"/>
            <a:ext cx="5188384" cy="8639208"/>
          </a:xfrm>
          <a:prstGeom prst="rect">
            <a:avLst/>
          </a:prstGeom>
          <a:noFill/>
          <a:ln/>
        </p:spPr>
        <p:txBody>
          <a:bodyPr wrap="square" lIns="0" tIns="0" rIns="0" bIns="0" rtlCol="0" anchor="t"/>
          <a:lstStyle/>
          <a:p>
            <a:pPr marL="0" indent="0" algn="ctr">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Data Collection Errors</a:t>
            </a:r>
            <a:endParaRPr lang="en-US" sz="2400" dirty="0">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Technical failures, software bugs, or human mistakes during data gathering processes can result in incomplete records. Examples include form validation failures, database write errors, or interrupted data transfers.</a:t>
            </a:r>
            <a:endParaRPr lang="en-US" sz="1800" dirty="0">
              <a:latin typeface="PT Serif" panose="020A0603040505020204" pitchFamily="18" charset="0"/>
            </a:endParaRPr>
          </a:p>
          <a:p>
            <a:pPr marL="0" indent="0" algn="l">
              <a:lnSpc>
                <a:spcPct val="150000"/>
              </a:lnSpc>
              <a:buNone/>
            </a:pPr>
            <a:endParaRPr lang="en-US" dirty="0">
              <a:solidFill>
                <a:srgbClr val="383838"/>
              </a:solidFill>
              <a:latin typeface="PT Serif" panose="020A0603040505020204" pitchFamily="18" charset="0"/>
            </a:endParaRPr>
          </a:p>
          <a:p>
            <a:pPr marL="0" indent="0" algn="ctr">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Sensor Failure</a:t>
            </a:r>
            <a:endParaRPr lang="en-US" sz="2400" dirty="0">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Equipment malfunction in automated data collection systems, such as IoT devices, medical monitors, or environmental sensors, can create gaps in time-series data.</a:t>
            </a:r>
            <a:endParaRPr lang="en-US" sz="1800" dirty="0">
              <a:latin typeface="PT Serif" panose="020A0603040505020204" pitchFamily="18" charset="0"/>
            </a:endParaRPr>
          </a:p>
        </p:txBody>
      </p:sp>
      <p:sp>
        <p:nvSpPr>
          <p:cNvPr id="10" name="Text 6">
            <a:extLst>
              <a:ext uri="{FF2B5EF4-FFF2-40B4-BE49-F238E27FC236}">
                <a16:creationId xmlns:a16="http://schemas.microsoft.com/office/drawing/2014/main" id="{B7C25592-1A5D-94A2-1249-6AAE7946F079}"/>
              </a:ext>
            </a:extLst>
          </p:cNvPr>
          <p:cNvSpPr/>
          <p:nvPr/>
        </p:nvSpPr>
        <p:spPr>
          <a:xfrm>
            <a:off x="7848600" y="967553"/>
            <a:ext cx="5476301" cy="4698301"/>
          </a:xfrm>
          <a:prstGeom prst="rect">
            <a:avLst/>
          </a:prstGeom>
          <a:noFill/>
          <a:ln/>
        </p:spPr>
        <p:txBody>
          <a:bodyPr wrap="square" lIns="0" tIns="0" rIns="0" bIns="0" rtlCol="0" anchor="t"/>
          <a:lstStyle/>
          <a:p>
            <a:pPr marL="0" indent="0" algn="ctr">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Non-Response in Surveys</a:t>
            </a:r>
            <a:endParaRPr lang="en-US" sz="2400" dirty="0">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ndParaRPr>
          </a:p>
          <a:p>
            <a:pPr marL="0" indent="0" algn="l">
              <a:lnSpc>
                <a:spcPct val="150000"/>
              </a:lnSpc>
              <a:buNone/>
            </a:pPr>
            <a:r>
              <a:rPr lang="en-US" dirty="0">
                <a:solidFill>
                  <a:srgbClr val="383838"/>
                </a:solidFill>
                <a:latin typeface="PT Serif" panose="020A0603040505020204" pitchFamily="18" charset="0"/>
                <a:ea typeface="DM Sans" pitchFamily="34" charset="-122"/>
                <a:cs typeface="DM Sans" pitchFamily="34" charset="-120"/>
              </a:rPr>
              <a:t> </a:t>
            </a:r>
            <a:r>
              <a:rPr lang="en-US" sz="1800" dirty="0">
                <a:solidFill>
                  <a:srgbClr val="383838"/>
                </a:solidFill>
                <a:latin typeface="PT Serif" panose="020A0603040505020204" pitchFamily="18" charset="0"/>
                <a:ea typeface="DM Sans" pitchFamily="34" charset="-122"/>
                <a:cs typeface="DM Sans" pitchFamily="34" charset="-120"/>
              </a:rPr>
              <a:t>Participants may choose not to answer certain questions due to privacy concerns, sensitivity of the topic, or survey fatigue. This is particularly common with demographic or financial information.</a:t>
            </a:r>
            <a:endParaRPr lang="en-US" sz="1800" dirty="0">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ndParaRPr>
          </a:p>
          <a:p>
            <a:pPr marL="0" indent="0" algn="ctr">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Data Integration Issues</a:t>
            </a:r>
            <a:endParaRPr lang="en-US" sz="2400" dirty="0">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Inconsistencies when merging data from multiple sources with different schemas, time periods, or granularities often introduce missing values in the combined dataset.</a:t>
            </a:r>
            <a:endParaRPr lang="en-US" sz="1800" dirty="0">
              <a:latin typeface="PT Serif" panose="020A0603040505020204" pitchFamily="18" charset="0"/>
            </a:endParaRPr>
          </a:p>
          <a:p>
            <a:pPr algn="l">
              <a:lnSpc>
                <a:spcPct val="150000"/>
              </a:lnSpc>
            </a:pPr>
            <a:endParaRPr lang="en-US" dirty="0">
              <a:latin typeface="PT Serif" panose="020A0603040505020204" pitchFamily="18" charset="0"/>
            </a:endParaRPr>
          </a:p>
          <a:p>
            <a:pPr algn="l">
              <a:lnSpc>
                <a:spcPct val="150000"/>
              </a:lnSpc>
            </a:pPr>
            <a:endParaRPr lang="en-US" dirty="0">
              <a:latin typeface="PT Serif" panose="020A0603040505020204" pitchFamily="18" charset="0"/>
            </a:endParaRPr>
          </a:p>
          <a:p>
            <a:pPr algn="l">
              <a:lnSpc>
                <a:spcPct val="150000"/>
              </a:lnSpc>
            </a:pPr>
            <a:endParaRPr lang="en-US" dirty="0">
              <a:latin typeface="PT Serif" panose="020A0603040505020204" pitchFamily="18" charset="0"/>
            </a:endParaRPr>
          </a:p>
          <a:p>
            <a:pPr>
              <a:lnSpc>
                <a:spcPct val="150000"/>
              </a:lnSpc>
            </a:pPr>
            <a:endParaRPr lang="en-IN" dirty="0">
              <a:latin typeface="PT Serif" panose="020A0603040505020204" pitchFamily="18" charset="0"/>
            </a:endParaRPr>
          </a:p>
        </p:txBody>
      </p:sp>
    </p:spTree>
    <p:extLst>
      <p:ext uri="{BB962C8B-B14F-4D97-AF65-F5344CB8AC3E}">
        <p14:creationId xmlns:p14="http://schemas.microsoft.com/office/powerpoint/2010/main" val="2050921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6589" y="-75314"/>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Three Types of Missingness Mechanisms</a:t>
            </a:r>
            <a:endParaRPr lang="en-US" sz="3600" dirty="0"/>
          </a:p>
        </p:txBody>
      </p:sp>
      <p:sp>
        <p:nvSpPr>
          <p:cNvPr id="15" name="Text 7">
            <a:extLst>
              <a:ext uri="{FF2B5EF4-FFF2-40B4-BE49-F238E27FC236}">
                <a16:creationId xmlns:a16="http://schemas.microsoft.com/office/drawing/2014/main" id="{36221D7B-8D1F-CF5A-6FD1-DA6DD3F7C3CC}"/>
              </a:ext>
            </a:extLst>
          </p:cNvPr>
          <p:cNvSpPr/>
          <p:nvPr/>
        </p:nvSpPr>
        <p:spPr>
          <a:xfrm>
            <a:off x="5643399" y="3678192"/>
            <a:ext cx="3818692" cy="127015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9893314" y="2561747"/>
            <a:ext cx="3818574" cy="4067653"/>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108925" y="2818481"/>
            <a:ext cx="3602964" cy="2313740"/>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MNAR</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b="1" dirty="0">
                <a:solidFill>
                  <a:srgbClr val="383838"/>
                </a:solidFill>
                <a:latin typeface="PT Serif" panose="020A0603040505020204" pitchFamily="18" charset="0"/>
                <a:ea typeface="DM Sans" pitchFamily="34" charset="-122"/>
                <a:cs typeface="DM Sans" pitchFamily="34" charset="-120"/>
              </a:rPr>
              <a:t>Missing Not At Random:</a:t>
            </a:r>
            <a:r>
              <a:rPr lang="en-US" sz="1800" dirty="0">
                <a:solidFill>
                  <a:srgbClr val="383838"/>
                </a:solidFill>
                <a:latin typeface="PT Serif" panose="020A0603040505020204" pitchFamily="18" charset="0"/>
                <a:ea typeface="DM Sans" pitchFamily="34" charset="-122"/>
                <a:cs typeface="DM Sans" pitchFamily="34" charset="-120"/>
              </a:rPr>
              <a:t> Missingness depends on the missing value itself. Example: High-income individuals choosing not to report their earnings.</a:t>
            </a: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2590800"/>
            <a:ext cx="3818573" cy="95261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28" name="Shape 2">
            <a:extLst>
              <a:ext uri="{FF2B5EF4-FFF2-40B4-BE49-F238E27FC236}">
                <a16:creationId xmlns:a16="http://schemas.microsoft.com/office/drawing/2014/main" id="{E7F2EE5C-87C7-F16D-F9EF-EB811ED3C5B0}"/>
              </a:ext>
            </a:extLst>
          </p:cNvPr>
          <p:cNvSpPr/>
          <p:nvPr/>
        </p:nvSpPr>
        <p:spPr>
          <a:xfrm>
            <a:off x="533400" y="2526102"/>
            <a:ext cx="4114305" cy="4103298"/>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9" name="Text 3">
            <a:extLst>
              <a:ext uri="{FF2B5EF4-FFF2-40B4-BE49-F238E27FC236}">
                <a16:creationId xmlns:a16="http://schemas.microsoft.com/office/drawing/2014/main" id="{0DC3D8C5-049C-DD26-3357-58E00F542DB1}"/>
              </a:ext>
            </a:extLst>
          </p:cNvPr>
          <p:cNvSpPr/>
          <p:nvPr/>
        </p:nvSpPr>
        <p:spPr>
          <a:xfrm>
            <a:off x="726760" y="2754720"/>
            <a:ext cx="3713225" cy="2476441"/>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MCAR</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b="1" dirty="0">
                <a:solidFill>
                  <a:srgbClr val="383838"/>
                </a:solidFill>
                <a:latin typeface="PT Serif" panose="020A0603040505020204" pitchFamily="18" charset="0"/>
                <a:ea typeface="DM Sans" pitchFamily="34" charset="-122"/>
                <a:cs typeface="DM Sans" pitchFamily="34" charset="-120"/>
              </a:rPr>
              <a:t>Missing Completely At Random:</a:t>
            </a:r>
            <a:r>
              <a:rPr lang="en-US" sz="1800" dirty="0">
                <a:solidFill>
                  <a:srgbClr val="383838"/>
                </a:solidFill>
                <a:latin typeface="PT Serif" panose="020A0603040505020204" pitchFamily="18" charset="0"/>
                <a:ea typeface="DM Sans" pitchFamily="34" charset="-122"/>
                <a:cs typeface="DM Sans" pitchFamily="34" charset="-120"/>
              </a:rPr>
              <a:t> The probability of missingness is unrelated to any observed or unobserved data. Example: Random sensor dropout due to power fluctuations.</a:t>
            </a: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30" name="Shape 5">
            <a:extLst>
              <a:ext uri="{FF2B5EF4-FFF2-40B4-BE49-F238E27FC236}">
                <a16:creationId xmlns:a16="http://schemas.microsoft.com/office/drawing/2014/main" id="{4C5EE8CA-E340-7264-83D8-CA41D716DE4C}"/>
              </a:ext>
            </a:extLst>
          </p:cNvPr>
          <p:cNvSpPr/>
          <p:nvPr/>
        </p:nvSpPr>
        <p:spPr>
          <a:xfrm>
            <a:off x="5257800" y="2514600"/>
            <a:ext cx="4114305" cy="4103298"/>
          </a:xfrm>
          <a:prstGeom prst="roundRect">
            <a:avLst>
              <a:gd name="adj" fmla="val 1410"/>
            </a:avLst>
          </a:prstGeom>
          <a:solidFill>
            <a:srgbClr val="F2EEEE"/>
          </a:solidFill>
          <a:ln/>
        </p:spPr>
      </p:sp>
      <p:sp>
        <p:nvSpPr>
          <p:cNvPr id="31" name="Text 6">
            <a:extLst>
              <a:ext uri="{FF2B5EF4-FFF2-40B4-BE49-F238E27FC236}">
                <a16:creationId xmlns:a16="http://schemas.microsoft.com/office/drawing/2014/main" id="{385EE126-84A2-761A-9E6E-6FA9D141EFBC}"/>
              </a:ext>
            </a:extLst>
          </p:cNvPr>
          <p:cNvSpPr/>
          <p:nvPr/>
        </p:nvSpPr>
        <p:spPr>
          <a:xfrm>
            <a:off x="5445044" y="2754720"/>
            <a:ext cx="3604657" cy="4865280"/>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MAR</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b="1" dirty="0">
                <a:solidFill>
                  <a:srgbClr val="383838"/>
                </a:solidFill>
                <a:latin typeface="PT Serif" panose="020A0603040505020204" pitchFamily="18" charset="0"/>
                <a:ea typeface="DM Sans" pitchFamily="34" charset="-122"/>
                <a:cs typeface="DM Sans" pitchFamily="34" charset="-120"/>
              </a:rPr>
              <a:t>Missing At Random:</a:t>
            </a:r>
            <a:r>
              <a:rPr lang="en-US" sz="1800" dirty="0">
                <a:solidFill>
                  <a:srgbClr val="383838"/>
                </a:solidFill>
                <a:latin typeface="PT Serif" panose="020A0603040505020204" pitchFamily="18" charset="0"/>
                <a:ea typeface="DM Sans" pitchFamily="34" charset="-122"/>
                <a:cs typeface="DM Sans" pitchFamily="34" charset="-120"/>
              </a:rPr>
              <a:t> Missingness depends on observed variables but not the missing value itself. Example: Income missing more often for younger respondents.</a:t>
            </a: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12" name="TextBox 11">
            <a:extLst>
              <a:ext uri="{FF2B5EF4-FFF2-40B4-BE49-F238E27FC236}">
                <a16:creationId xmlns:a16="http://schemas.microsoft.com/office/drawing/2014/main" id="{7862C82E-A3A1-371A-DFC0-1C970F7016E9}"/>
              </a:ext>
            </a:extLst>
          </p:cNvPr>
          <p:cNvSpPr txBox="1"/>
          <p:nvPr/>
        </p:nvSpPr>
        <p:spPr>
          <a:xfrm>
            <a:off x="616589" y="1399019"/>
            <a:ext cx="12534539" cy="713209"/>
          </a:xfrm>
          <a:prstGeom prst="rect">
            <a:avLst/>
          </a:prstGeom>
          <a:noFill/>
        </p:spPr>
        <p:txBody>
          <a:bodyPr wrap="square">
            <a:spAutoFit/>
          </a:bodyPr>
          <a:lstStyle/>
          <a:p>
            <a:pPr marL="0" indent="0" algn="l">
              <a:lnSpc>
                <a:spcPts val="2500"/>
              </a:lnSpc>
              <a:buNone/>
            </a:pPr>
            <a:r>
              <a:rPr lang="en-US" sz="1800" dirty="0">
                <a:solidFill>
                  <a:srgbClr val="383838"/>
                </a:solidFill>
                <a:latin typeface="PT Serif" panose="020A0603040505020204" pitchFamily="18" charset="0"/>
                <a:ea typeface="DM Sans" pitchFamily="34" charset="-122"/>
                <a:cs typeface="DM Sans" pitchFamily="34" charset="-120"/>
              </a:rPr>
              <a:t>Understanding why data is missing helps in choosing the correct imputation method. There are three fundamental types of missingness mechanisms, each requiring different handling strategies.</a:t>
            </a:r>
            <a:endParaRPr lang="en-US" sz="1800" dirty="0">
              <a:latin typeface="PT Serif" panose="020A0603040505020204" pitchFamily="18" charset="0"/>
            </a:endParaRPr>
          </a:p>
        </p:txBody>
      </p:sp>
    </p:spTree>
    <p:extLst>
      <p:ext uri="{BB962C8B-B14F-4D97-AF65-F5344CB8AC3E}">
        <p14:creationId xmlns:p14="http://schemas.microsoft.com/office/powerpoint/2010/main" val="271913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DD332-B2B5-00D3-E643-B93C51C55EDB}"/>
              </a:ext>
            </a:extLst>
          </p:cNvPr>
          <p:cNvSpPr>
            <a:spLocks noGrp="1"/>
          </p:cNvSpPr>
          <p:nvPr>
            <p:ph type="title"/>
          </p:nvPr>
        </p:nvSpPr>
        <p:spPr>
          <a:xfrm>
            <a:off x="487172" y="381000"/>
            <a:ext cx="13656055" cy="623376"/>
          </a:xfrm>
        </p:spPr>
        <p:txBody>
          <a:bodyPr/>
          <a:lstStyle/>
          <a:p>
            <a:pPr marL="0" indent="0">
              <a:lnSpc>
                <a:spcPts val="5100"/>
              </a:lnSpc>
            </a:pPr>
            <a:r>
              <a:rPr lang="en-US" sz="4000">
                <a:solidFill>
                  <a:srgbClr val="020202"/>
                </a:solidFill>
                <a:latin typeface="PT Serif" pitchFamily="34" charset="0"/>
                <a:ea typeface="PT Serif" pitchFamily="34" charset="-122"/>
                <a:cs typeface="PT Serif" pitchFamily="34" charset="-120"/>
              </a:rPr>
              <a:t>Missingness Mechanisms: Technical Comparison</a:t>
            </a:r>
            <a:endParaRPr lang="en-US" sz="4000" dirty="0"/>
          </a:p>
        </p:txBody>
      </p:sp>
      <p:graphicFrame>
        <p:nvGraphicFramePr>
          <p:cNvPr id="3" name="Table 3">
            <a:extLst>
              <a:ext uri="{FF2B5EF4-FFF2-40B4-BE49-F238E27FC236}">
                <a16:creationId xmlns:a16="http://schemas.microsoft.com/office/drawing/2014/main" id="{B0EA9B4D-E477-46EB-A0F3-1239752B9E9E}"/>
              </a:ext>
            </a:extLst>
          </p:cNvPr>
          <p:cNvGraphicFramePr>
            <a:graphicFrameLocks noGrp="1"/>
          </p:cNvGraphicFramePr>
          <p:nvPr>
            <p:extLst>
              <p:ext uri="{D42A27DB-BD31-4B8C-83A1-F6EECF244321}">
                <p14:modId xmlns:p14="http://schemas.microsoft.com/office/powerpoint/2010/main" val="1299747944"/>
              </p:ext>
            </p:extLst>
          </p:nvPr>
        </p:nvGraphicFramePr>
        <p:xfrm>
          <a:off x="990600" y="1655878"/>
          <a:ext cx="12192000" cy="2804160"/>
        </p:xfrm>
        <a:graphic>
          <a:graphicData uri="http://schemas.openxmlformats.org/drawingml/2006/table">
            <a:tbl>
              <a:tblPr firstRow="1" bandRow="1">
                <a:tableStyleId>{7DF18680-E054-41AD-8BC1-D1AEF772440D}</a:tableStyleId>
              </a:tblPr>
              <a:tblGrid>
                <a:gridCol w="4064000">
                  <a:extLst>
                    <a:ext uri="{9D8B030D-6E8A-4147-A177-3AD203B41FA5}">
                      <a16:colId xmlns:a16="http://schemas.microsoft.com/office/drawing/2014/main" val="3880630066"/>
                    </a:ext>
                  </a:extLst>
                </a:gridCol>
                <a:gridCol w="4064000">
                  <a:extLst>
                    <a:ext uri="{9D8B030D-6E8A-4147-A177-3AD203B41FA5}">
                      <a16:colId xmlns:a16="http://schemas.microsoft.com/office/drawing/2014/main" val="2800512563"/>
                    </a:ext>
                  </a:extLst>
                </a:gridCol>
                <a:gridCol w="4064000">
                  <a:extLst>
                    <a:ext uri="{9D8B030D-6E8A-4147-A177-3AD203B41FA5}">
                      <a16:colId xmlns:a16="http://schemas.microsoft.com/office/drawing/2014/main" val="1055626429"/>
                    </a:ext>
                  </a:extLst>
                </a:gridCol>
              </a:tblGrid>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b="0" dirty="0">
                          <a:solidFill>
                            <a:srgbClr val="383838"/>
                          </a:solidFill>
                          <a:latin typeface="PT Serif" panose="020A0603040505020204" pitchFamily="18" charset="0"/>
                        </a:rPr>
                        <a:t>Type</a:t>
                      </a:r>
                      <a:endParaRPr lang="en-US" sz="2000" b="0" dirty="0">
                        <a:latin typeface="PT Serif" panose="020A0603040505020204" pitchFamily="18" charset="0"/>
                      </a:endParaRPr>
                    </a:p>
                    <a:p>
                      <a:endParaRPr lang="en-IN" sz="2000" b="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b="0" dirty="0">
                          <a:solidFill>
                            <a:srgbClr val="383838"/>
                          </a:solidFill>
                          <a:latin typeface="PT Serif" panose="020A0603040505020204" pitchFamily="18" charset="0"/>
                        </a:rPr>
                        <a:t>Depends on Observed Data?</a:t>
                      </a:r>
                      <a:endParaRPr lang="en-US" sz="2000" b="0" dirty="0">
                        <a:latin typeface="PT Serif" panose="020A0603040505020204" pitchFamily="18" charset="0"/>
                      </a:endParaRPr>
                    </a:p>
                    <a:p>
                      <a:endParaRPr lang="en-IN" sz="2000" b="0" dirty="0">
                        <a:latin typeface="PT Serif" panose="020A0603040505020204" pitchFamily="18" charset="0"/>
                      </a:endParaRPr>
                    </a:p>
                  </a:txBody>
                  <a:tcPr/>
                </a:tc>
                <a:tc>
                  <a:txBody>
                    <a:bodyPr/>
                    <a:lstStyle/>
                    <a:p>
                      <a:pPr marL="0" indent="0" algn="l">
                        <a:lnSpc>
                          <a:spcPts val="2500"/>
                        </a:lnSpc>
                        <a:buNone/>
                      </a:pPr>
                      <a:r>
                        <a:rPr lang="en-US" sz="2000" b="0" dirty="0">
                          <a:solidFill>
                            <a:srgbClr val="383838"/>
                          </a:solidFill>
                          <a:latin typeface="PT Serif" panose="020A0603040505020204" pitchFamily="18" charset="0"/>
                        </a:rPr>
                        <a:t>Depends on Missing Value?</a:t>
                      </a:r>
                      <a:endParaRPr lang="en-US" sz="2000" b="0" dirty="0">
                        <a:latin typeface="PT Serif" panose="020A0603040505020204" pitchFamily="18" charset="0"/>
                      </a:endParaRPr>
                    </a:p>
                  </a:txBody>
                  <a:tcPr/>
                </a:tc>
                <a:extLst>
                  <a:ext uri="{0D108BD9-81ED-4DB2-BD59-A6C34878D82A}">
                    <a16:rowId xmlns:a16="http://schemas.microsoft.com/office/drawing/2014/main" val="437896698"/>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b="0" dirty="0">
                          <a:solidFill>
                            <a:srgbClr val="383838"/>
                          </a:solidFill>
                          <a:latin typeface="PT Serif" panose="020A0603040505020204" pitchFamily="18" charset="0"/>
                        </a:rPr>
                        <a:t>MCAR</a:t>
                      </a:r>
                      <a:endParaRPr lang="en-US" sz="2000" b="0" dirty="0">
                        <a:latin typeface="PT Serif" panose="020A0603040505020204" pitchFamily="18" charset="0"/>
                      </a:endParaRPr>
                    </a:p>
                    <a:p>
                      <a:endParaRPr lang="en-IN" sz="2000" b="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PT Serif" panose="020A0603040505020204" pitchFamily="18" charset="0"/>
                        </a:rPr>
                        <a:t>❌</a:t>
                      </a:r>
                      <a:r>
                        <a:rPr lang="en-US" sz="2000" b="0" dirty="0">
                          <a:solidFill>
                            <a:srgbClr val="383838"/>
                          </a:solidFill>
                          <a:latin typeface="PT Serif" panose="020A0603040505020204" pitchFamily="18" charset="0"/>
                        </a:rPr>
                        <a:t> No</a:t>
                      </a:r>
                      <a:endParaRPr lang="en-US" sz="2000" b="0" dirty="0">
                        <a:latin typeface="PT Serif" panose="020A0603040505020204" pitchFamily="18" charset="0"/>
                      </a:endParaRPr>
                    </a:p>
                    <a:p>
                      <a:endParaRPr lang="en-IN" sz="2000" b="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PT Serif" panose="020A0603040505020204" pitchFamily="18" charset="0"/>
                        </a:rPr>
                        <a:t>❌</a:t>
                      </a:r>
                      <a:r>
                        <a:rPr lang="en-US" sz="2000" b="0" dirty="0">
                          <a:solidFill>
                            <a:srgbClr val="383838"/>
                          </a:solidFill>
                          <a:latin typeface="PT Serif" panose="020A0603040505020204" pitchFamily="18" charset="0"/>
                        </a:rPr>
                        <a:t> No</a:t>
                      </a:r>
                      <a:endParaRPr lang="en-US" sz="2000" b="0" dirty="0">
                        <a:latin typeface="PT Serif" panose="020A0603040505020204" pitchFamily="18" charset="0"/>
                      </a:endParaRPr>
                    </a:p>
                    <a:p>
                      <a:endParaRPr lang="en-IN" sz="2000" b="0" dirty="0">
                        <a:latin typeface="PT Serif" panose="020A0603040505020204" pitchFamily="18" charset="0"/>
                      </a:endParaRPr>
                    </a:p>
                  </a:txBody>
                  <a:tcPr/>
                </a:tc>
                <a:extLst>
                  <a:ext uri="{0D108BD9-81ED-4DB2-BD59-A6C34878D82A}">
                    <a16:rowId xmlns:a16="http://schemas.microsoft.com/office/drawing/2014/main" val="4066677526"/>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b="0" dirty="0">
                          <a:solidFill>
                            <a:srgbClr val="383838"/>
                          </a:solidFill>
                          <a:latin typeface="PT Serif" panose="020A0603040505020204" pitchFamily="18" charset="0"/>
                        </a:rPr>
                        <a:t>MAR</a:t>
                      </a:r>
                      <a:endParaRPr lang="en-US" sz="2000" b="0" dirty="0">
                        <a:latin typeface="PT Serif" panose="020A0603040505020204" pitchFamily="18" charset="0"/>
                      </a:endParaRPr>
                    </a:p>
                    <a:p>
                      <a:endParaRPr lang="en-IN" sz="2000" b="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PT Serif" panose="020A0603040505020204" pitchFamily="18" charset="0"/>
                        </a:rPr>
                        <a:t>✅</a:t>
                      </a:r>
                      <a:r>
                        <a:rPr lang="en-US" sz="2000" b="0" dirty="0">
                          <a:solidFill>
                            <a:srgbClr val="383838"/>
                          </a:solidFill>
                          <a:latin typeface="PT Serif" panose="020A0603040505020204" pitchFamily="18" charset="0"/>
                        </a:rPr>
                        <a:t> Yes</a:t>
                      </a:r>
                      <a:endParaRPr lang="en-US" sz="2000" b="0" dirty="0">
                        <a:latin typeface="PT Serif" panose="020A0603040505020204" pitchFamily="18" charset="0"/>
                      </a:endParaRPr>
                    </a:p>
                    <a:p>
                      <a:endParaRPr lang="en-IN" sz="2000" b="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PT Serif" panose="020A0603040505020204" pitchFamily="18" charset="0"/>
                        </a:rPr>
                        <a:t>❌</a:t>
                      </a:r>
                      <a:r>
                        <a:rPr lang="en-US" sz="2000" b="0" dirty="0">
                          <a:solidFill>
                            <a:srgbClr val="383838"/>
                          </a:solidFill>
                          <a:latin typeface="PT Serif" panose="020A0603040505020204" pitchFamily="18" charset="0"/>
                        </a:rPr>
                        <a:t> No</a:t>
                      </a:r>
                      <a:endParaRPr lang="en-US" sz="2000" b="0" dirty="0">
                        <a:latin typeface="PT Serif" panose="020A0603040505020204" pitchFamily="18" charset="0"/>
                      </a:endParaRPr>
                    </a:p>
                    <a:p>
                      <a:endParaRPr lang="en-IN" sz="2000" b="0" dirty="0">
                        <a:latin typeface="PT Serif" panose="020A0603040505020204" pitchFamily="18" charset="0"/>
                      </a:endParaRPr>
                    </a:p>
                  </a:txBody>
                  <a:tcPr/>
                </a:tc>
                <a:extLst>
                  <a:ext uri="{0D108BD9-81ED-4DB2-BD59-A6C34878D82A}">
                    <a16:rowId xmlns:a16="http://schemas.microsoft.com/office/drawing/2014/main" val="1358164091"/>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b="0" dirty="0">
                          <a:solidFill>
                            <a:srgbClr val="383838"/>
                          </a:solidFill>
                          <a:latin typeface="PT Serif" panose="020A0603040505020204" pitchFamily="18" charset="0"/>
                        </a:rPr>
                        <a:t>MNAR</a:t>
                      </a:r>
                      <a:endParaRPr lang="en-US" sz="2000" b="0" dirty="0">
                        <a:latin typeface="PT Serif" panose="020A0603040505020204" pitchFamily="18" charset="0"/>
                      </a:endParaRPr>
                    </a:p>
                    <a:p>
                      <a:endParaRPr lang="en-IN" sz="2000" b="0" dirty="0">
                        <a:latin typeface="PT Serif" panose="020A0603040505020204" pitchFamily="18" charset="0"/>
                      </a:endParaRPr>
                    </a:p>
                  </a:txBody>
                  <a:tcPr/>
                </a:tc>
                <a:tc>
                  <a:txBody>
                    <a:bodyPr/>
                    <a:lstStyle/>
                    <a:p>
                      <a:pPr marL="0" indent="0" algn="l">
                        <a:lnSpc>
                          <a:spcPts val="2500"/>
                        </a:lnSpc>
                        <a:buNone/>
                      </a:pPr>
                      <a:r>
                        <a:rPr lang="en-US" sz="2000" b="0" dirty="0">
                          <a:solidFill>
                            <a:srgbClr val="000000"/>
                          </a:solidFill>
                          <a:latin typeface="PT Serif" panose="020A0603040505020204" pitchFamily="18" charset="0"/>
                        </a:rPr>
                        <a:t>❌</a:t>
                      </a:r>
                      <a:r>
                        <a:rPr lang="en-US" sz="2000" b="0" dirty="0">
                          <a:solidFill>
                            <a:srgbClr val="383838"/>
                          </a:solidFill>
                          <a:latin typeface="PT Serif" panose="020A0603040505020204" pitchFamily="18" charset="0"/>
                        </a:rPr>
                        <a:t> No</a:t>
                      </a:r>
                      <a:endParaRPr lang="en-US" sz="2000" b="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PT Serif" panose="020A0603040505020204" pitchFamily="18" charset="0"/>
                        </a:rPr>
                        <a:t>✅</a:t>
                      </a:r>
                      <a:r>
                        <a:rPr lang="en-US" sz="2000" b="0" dirty="0">
                          <a:solidFill>
                            <a:srgbClr val="383838"/>
                          </a:solidFill>
                          <a:latin typeface="PT Serif" panose="020A0603040505020204" pitchFamily="18" charset="0"/>
                        </a:rPr>
                        <a:t> Yes</a:t>
                      </a:r>
                      <a:endParaRPr lang="en-US" sz="2000" b="0" dirty="0">
                        <a:latin typeface="PT Serif" panose="020A0603040505020204" pitchFamily="18" charset="0"/>
                      </a:endParaRPr>
                    </a:p>
                    <a:p>
                      <a:endParaRPr lang="en-IN" sz="2000" b="0" dirty="0">
                        <a:latin typeface="PT Serif" panose="020A0603040505020204" pitchFamily="18" charset="0"/>
                      </a:endParaRPr>
                    </a:p>
                  </a:txBody>
                  <a:tcPr/>
                </a:tc>
                <a:extLst>
                  <a:ext uri="{0D108BD9-81ED-4DB2-BD59-A6C34878D82A}">
                    <a16:rowId xmlns:a16="http://schemas.microsoft.com/office/drawing/2014/main" val="1872463170"/>
                  </a:ext>
                </a:extLst>
              </a:tr>
            </a:tbl>
          </a:graphicData>
        </a:graphic>
      </p:graphicFrame>
      <p:sp>
        <p:nvSpPr>
          <p:cNvPr id="5" name="TextBox 4">
            <a:extLst>
              <a:ext uri="{FF2B5EF4-FFF2-40B4-BE49-F238E27FC236}">
                <a16:creationId xmlns:a16="http://schemas.microsoft.com/office/drawing/2014/main" id="{9DA44F48-1711-9ADE-3990-534C3834F709}"/>
              </a:ext>
            </a:extLst>
          </p:cNvPr>
          <p:cNvSpPr txBox="1"/>
          <p:nvPr/>
        </p:nvSpPr>
        <p:spPr>
          <a:xfrm>
            <a:off x="487172" y="5313478"/>
            <a:ext cx="13152628" cy="716350"/>
          </a:xfrm>
          <a:prstGeom prst="rect">
            <a:avLst/>
          </a:prstGeom>
          <a:noFill/>
        </p:spPr>
        <p:txBody>
          <a:bodyPr wrap="square">
            <a:spAutoFit/>
          </a:bodyPr>
          <a:lstStyle/>
          <a:p>
            <a:pPr marL="0" indent="0" algn="l">
              <a:lnSpc>
                <a:spcPts val="2500"/>
              </a:lnSpc>
              <a:buNone/>
            </a:pPr>
            <a:r>
              <a:rPr lang="en-US" sz="1800" b="1" dirty="0">
                <a:solidFill>
                  <a:srgbClr val="000000"/>
                </a:solidFill>
                <a:latin typeface="PT Serif" panose="020A0603040505020204" pitchFamily="18" charset="0"/>
                <a:ea typeface="DM Sans" pitchFamily="34" charset="-122"/>
                <a:cs typeface="DM Sans" pitchFamily="34" charset="-120"/>
              </a:rPr>
              <a:t>Key Insight:</a:t>
            </a:r>
            <a:r>
              <a:rPr lang="en-US" sz="1800" dirty="0">
                <a:solidFill>
                  <a:srgbClr val="000000"/>
                </a:solidFill>
                <a:latin typeface="PT Serif" panose="020A0603040505020204" pitchFamily="18" charset="0"/>
                <a:ea typeface="DM Sans" pitchFamily="34" charset="-122"/>
                <a:cs typeface="DM Sans" pitchFamily="34" charset="-120"/>
              </a:rPr>
              <a:t> MNAR is the hardest case to handle and often requires domain expertise to address properly. It cannot be solved with standard imputation alone.</a:t>
            </a:r>
            <a:endParaRPr lang="en-US" sz="1800" dirty="0">
              <a:latin typeface="PT Serif" panose="020A0603040505020204" pitchFamily="18" charset="0"/>
            </a:endParaRPr>
          </a:p>
        </p:txBody>
      </p:sp>
    </p:spTree>
    <p:extLst>
      <p:ext uri="{BB962C8B-B14F-4D97-AF65-F5344CB8AC3E}">
        <p14:creationId xmlns:p14="http://schemas.microsoft.com/office/powerpoint/2010/main" val="2422002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241534"/>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Simple Imputation Methods</a:t>
            </a:r>
            <a:endParaRPr lang="en-US" sz="3600" dirty="0"/>
          </a:p>
        </p:txBody>
      </p:sp>
      <p:sp>
        <p:nvSpPr>
          <p:cNvPr id="15" name="Text 7">
            <a:extLst>
              <a:ext uri="{FF2B5EF4-FFF2-40B4-BE49-F238E27FC236}">
                <a16:creationId xmlns:a16="http://schemas.microsoft.com/office/drawing/2014/main" id="{36221D7B-8D1F-CF5A-6FD1-DA6DD3F7C3CC}"/>
              </a:ext>
            </a:extLst>
          </p:cNvPr>
          <p:cNvSpPr/>
          <p:nvPr/>
        </p:nvSpPr>
        <p:spPr>
          <a:xfrm>
            <a:off x="5643399" y="3678192"/>
            <a:ext cx="3818692" cy="127015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9893313" y="2561747"/>
            <a:ext cx="4114305" cy="3610453"/>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108924" y="2748655"/>
            <a:ext cx="3602964" cy="2313740"/>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Mode</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algn="l">
              <a:lnSpc>
                <a:spcPct val="150000"/>
              </a:lnSpc>
            </a:pPr>
            <a:r>
              <a:rPr lang="en-US" sz="1800" dirty="0">
                <a:solidFill>
                  <a:srgbClr val="383838"/>
                </a:solidFill>
                <a:latin typeface="PT Serif" panose="020A0603040505020204" pitchFamily="18" charset="0"/>
                <a:ea typeface="DM Sans" pitchFamily="34" charset="-122"/>
                <a:cs typeface="DM Sans" pitchFamily="34" charset="-120"/>
              </a:rPr>
              <a:t>For categorical variables. Uses the most frequently occurring category in the dataset.</a:t>
            </a: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2590800"/>
            <a:ext cx="3818573" cy="95261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28" name="Shape 2">
            <a:extLst>
              <a:ext uri="{FF2B5EF4-FFF2-40B4-BE49-F238E27FC236}">
                <a16:creationId xmlns:a16="http://schemas.microsoft.com/office/drawing/2014/main" id="{E7F2EE5C-87C7-F16D-F9EF-EB811ED3C5B0}"/>
              </a:ext>
            </a:extLst>
          </p:cNvPr>
          <p:cNvSpPr/>
          <p:nvPr/>
        </p:nvSpPr>
        <p:spPr>
          <a:xfrm>
            <a:off x="533400" y="2526102"/>
            <a:ext cx="4114305" cy="3646098"/>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9" name="Text 3">
            <a:extLst>
              <a:ext uri="{FF2B5EF4-FFF2-40B4-BE49-F238E27FC236}">
                <a16:creationId xmlns:a16="http://schemas.microsoft.com/office/drawing/2014/main" id="{0DC3D8C5-049C-DD26-3357-58E00F542DB1}"/>
              </a:ext>
            </a:extLst>
          </p:cNvPr>
          <p:cNvSpPr/>
          <p:nvPr/>
        </p:nvSpPr>
        <p:spPr>
          <a:xfrm>
            <a:off x="726760" y="2754720"/>
            <a:ext cx="3713225" cy="2476441"/>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Mean</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For numerical variables with symmetric distributions. Preserves the overall average but reduces variance.</a:t>
            </a: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30" name="Shape 5">
            <a:extLst>
              <a:ext uri="{FF2B5EF4-FFF2-40B4-BE49-F238E27FC236}">
                <a16:creationId xmlns:a16="http://schemas.microsoft.com/office/drawing/2014/main" id="{4C5EE8CA-E340-7264-83D8-CA41D716DE4C}"/>
              </a:ext>
            </a:extLst>
          </p:cNvPr>
          <p:cNvSpPr/>
          <p:nvPr/>
        </p:nvSpPr>
        <p:spPr>
          <a:xfrm>
            <a:off x="5257800" y="2514600"/>
            <a:ext cx="4114305" cy="3657600"/>
          </a:xfrm>
          <a:prstGeom prst="roundRect">
            <a:avLst>
              <a:gd name="adj" fmla="val 1410"/>
            </a:avLst>
          </a:prstGeom>
          <a:solidFill>
            <a:srgbClr val="F2EEEE"/>
          </a:solidFill>
          <a:ln/>
        </p:spPr>
      </p:sp>
      <p:sp>
        <p:nvSpPr>
          <p:cNvPr id="31" name="Text 6">
            <a:extLst>
              <a:ext uri="{FF2B5EF4-FFF2-40B4-BE49-F238E27FC236}">
                <a16:creationId xmlns:a16="http://schemas.microsoft.com/office/drawing/2014/main" id="{385EE126-84A2-761A-9E6E-6FA9D141EFBC}"/>
              </a:ext>
            </a:extLst>
          </p:cNvPr>
          <p:cNvSpPr/>
          <p:nvPr/>
        </p:nvSpPr>
        <p:spPr>
          <a:xfrm>
            <a:off x="5445044" y="2754720"/>
            <a:ext cx="3604657" cy="4865280"/>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Median</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For numerical variables with skewed distributions. Robust to outliers and extreme values.</a:t>
            </a: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12" name="TextBox 11">
            <a:extLst>
              <a:ext uri="{FF2B5EF4-FFF2-40B4-BE49-F238E27FC236}">
                <a16:creationId xmlns:a16="http://schemas.microsoft.com/office/drawing/2014/main" id="{262A6C95-3BCC-A2DB-9BA6-7EC86CDC6A14}"/>
              </a:ext>
            </a:extLst>
          </p:cNvPr>
          <p:cNvSpPr txBox="1"/>
          <p:nvPr/>
        </p:nvSpPr>
        <p:spPr>
          <a:xfrm>
            <a:off x="533400" y="1472220"/>
            <a:ext cx="11708553" cy="716350"/>
          </a:xfrm>
          <a:prstGeom prst="rect">
            <a:avLst/>
          </a:prstGeom>
          <a:noFill/>
        </p:spPr>
        <p:txBody>
          <a:bodyPr wrap="square">
            <a:spAutoFit/>
          </a:bodyPr>
          <a:lstStyle/>
          <a:p>
            <a:pPr marL="0" indent="0" algn="l">
              <a:lnSpc>
                <a:spcPts val="2500"/>
              </a:lnSpc>
              <a:buNone/>
            </a:pPr>
            <a:r>
              <a:rPr lang="en-US" sz="1800" dirty="0">
                <a:solidFill>
                  <a:srgbClr val="383838"/>
                </a:solidFill>
                <a:latin typeface="PT Serif" panose="020A0603040505020204" pitchFamily="18" charset="0"/>
                <a:ea typeface="DM Sans" pitchFamily="34" charset="-122"/>
                <a:cs typeface="DM Sans" pitchFamily="34" charset="-120"/>
              </a:rPr>
              <a:t>Replace missing values using a single summary statistic. This approach is fast, simple, and works well as a baseline for initial exploration and model prototyping.</a:t>
            </a:r>
            <a:endParaRPr lang="en-US" sz="1800" dirty="0">
              <a:latin typeface="PT Serif" panose="020A0603040505020204" pitchFamily="18" charset="0"/>
            </a:endParaRPr>
          </a:p>
        </p:txBody>
      </p:sp>
      <p:sp>
        <p:nvSpPr>
          <p:cNvPr id="13" name="Shape 9">
            <a:extLst>
              <a:ext uri="{FF2B5EF4-FFF2-40B4-BE49-F238E27FC236}">
                <a16:creationId xmlns:a16="http://schemas.microsoft.com/office/drawing/2014/main" id="{78625DE9-D779-BDAF-4A1A-FD85DD394532}"/>
              </a:ext>
            </a:extLst>
          </p:cNvPr>
          <p:cNvSpPr/>
          <p:nvPr/>
        </p:nvSpPr>
        <p:spPr>
          <a:xfrm>
            <a:off x="533400" y="6433185"/>
            <a:ext cx="13062585" cy="1567815"/>
          </a:xfrm>
          <a:prstGeom prst="roundRect">
            <a:avLst>
              <a:gd name="adj" fmla="val 1899"/>
            </a:avLst>
          </a:prstGeom>
          <a:solidFill>
            <a:srgbClr val="F2F2F2"/>
          </a:solidFill>
          <a:ln/>
        </p:spPr>
      </p:sp>
      <p:sp>
        <p:nvSpPr>
          <p:cNvPr id="14" name="Text 10">
            <a:extLst>
              <a:ext uri="{FF2B5EF4-FFF2-40B4-BE49-F238E27FC236}">
                <a16:creationId xmlns:a16="http://schemas.microsoft.com/office/drawing/2014/main" id="{3C0E5E34-2D1D-4755-FE37-189B4FE0459F}"/>
              </a:ext>
            </a:extLst>
          </p:cNvPr>
          <p:cNvSpPr/>
          <p:nvPr/>
        </p:nvSpPr>
        <p:spPr>
          <a:xfrm>
            <a:off x="731758" y="6582013"/>
            <a:ext cx="12665869" cy="1270159"/>
          </a:xfrm>
          <a:prstGeom prst="rect">
            <a:avLst/>
          </a:prstGeom>
          <a:noFill/>
          <a:ln/>
        </p:spPr>
        <p:txBody>
          <a:bodyPr wrap="square" lIns="0" tIns="0" rIns="0" bIns="0" rtlCol="0" anchor="t"/>
          <a:lstStyle/>
          <a:p>
            <a:pPr marL="0" indent="0" algn="l">
              <a:lnSpc>
                <a:spcPts val="2500"/>
              </a:lnSpc>
              <a:buNone/>
            </a:pPr>
            <a:r>
              <a:rPr lang="en-US" dirty="0">
                <a:solidFill>
                  <a:srgbClr val="383838"/>
                </a:solidFill>
                <a:highlight>
                  <a:srgbClr val="F2F2F2"/>
                </a:highlight>
                <a:latin typeface="PT Serif" panose="020A0603040505020204" pitchFamily="18" charset="0"/>
                <a:ea typeface="Consolas" pitchFamily="34" charset="-122"/>
                <a:cs typeface="Consolas" pitchFamily="34" charset="-120"/>
              </a:rPr>
              <a:t>from sklearn.impute import SimpleImputer</a:t>
            </a:r>
            <a:endParaRPr lang="en-US" dirty="0">
              <a:latin typeface="PT Serif" panose="020A0603040505020204" pitchFamily="18" charset="0"/>
            </a:endParaRPr>
          </a:p>
          <a:p>
            <a:pPr marL="0" indent="0" algn="l">
              <a:lnSpc>
                <a:spcPts val="2500"/>
              </a:lnSpc>
              <a:buNone/>
            </a:pPr>
            <a:endParaRPr lang="en-US" dirty="0">
              <a:latin typeface="PT Serif" panose="020A0603040505020204" pitchFamily="18" charset="0"/>
            </a:endParaRPr>
          </a:p>
          <a:p>
            <a:pPr marL="0" indent="0" algn="l">
              <a:lnSpc>
                <a:spcPts val="2500"/>
              </a:lnSpc>
              <a:buNone/>
            </a:pPr>
            <a:r>
              <a:rPr lang="en-US" dirty="0">
                <a:solidFill>
                  <a:srgbClr val="383838"/>
                </a:solidFill>
                <a:highlight>
                  <a:srgbClr val="F2F2F2"/>
                </a:highlight>
                <a:latin typeface="PT Serif" panose="020A0603040505020204" pitchFamily="18" charset="0"/>
                <a:ea typeface="Consolas" pitchFamily="34" charset="-122"/>
                <a:cs typeface="Consolas" pitchFamily="34" charset="-120"/>
              </a:rPr>
              <a:t>imputer = SimpleImputer(strategy="median")</a:t>
            </a:r>
            <a:endParaRPr lang="en-US" dirty="0">
              <a:latin typeface="PT Serif" panose="020A0603040505020204" pitchFamily="18" charset="0"/>
            </a:endParaRPr>
          </a:p>
          <a:p>
            <a:pPr marL="0" indent="0" algn="l">
              <a:lnSpc>
                <a:spcPts val="2500"/>
              </a:lnSpc>
              <a:buNone/>
            </a:pPr>
            <a:r>
              <a:rPr lang="en-US" dirty="0">
                <a:solidFill>
                  <a:srgbClr val="383838"/>
                </a:solidFill>
                <a:highlight>
                  <a:srgbClr val="F2F2F2"/>
                </a:highlight>
                <a:latin typeface="PT Serif" panose="020A0603040505020204" pitchFamily="18" charset="0"/>
                <a:ea typeface="Consolas" pitchFamily="34" charset="-122"/>
                <a:cs typeface="Consolas" pitchFamily="34" charset="-120"/>
              </a:rPr>
              <a:t>X_imputed = imputer.fit_transform(X)</a:t>
            </a:r>
            <a:endParaRPr lang="en-US" dirty="0">
              <a:latin typeface="PT Serif" panose="020A0603040505020204" pitchFamily="18" charset="0"/>
            </a:endParaRPr>
          </a:p>
        </p:txBody>
      </p:sp>
    </p:spTree>
    <p:extLst>
      <p:ext uri="{BB962C8B-B14F-4D97-AF65-F5344CB8AC3E}">
        <p14:creationId xmlns:p14="http://schemas.microsoft.com/office/powerpoint/2010/main" val="3997662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5ECCF-503B-13BE-5208-0E240B43D33A}"/>
              </a:ext>
            </a:extLst>
          </p:cNvPr>
          <p:cNvSpPr>
            <a:spLocks noGrp="1"/>
          </p:cNvSpPr>
          <p:nvPr>
            <p:ph type="title"/>
          </p:nvPr>
        </p:nvSpPr>
        <p:spPr>
          <a:xfrm>
            <a:off x="731520" y="851629"/>
            <a:ext cx="13656055" cy="610103"/>
          </a:xfrm>
        </p:spPr>
        <p:txBody>
          <a:bodyPr/>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Simple Imputation: Pros and Cons</a:t>
            </a:r>
            <a:endParaRPr lang="en-US" sz="3600" dirty="0"/>
          </a:p>
        </p:txBody>
      </p:sp>
      <p:sp>
        <p:nvSpPr>
          <p:cNvPr id="3" name="Content Placeholder 2">
            <a:extLst>
              <a:ext uri="{FF2B5EF4-FFF2-40B4-BE49-F238E27FC236}">
                <a16:creationId xmlns:a16="http://schemas.microsoft.com/office/drawing/2014/main" id="{E1F06BB0-73BB-A4EF-12A8-CD00208FE41C}"/>
              </a:ext>
            </a:extLst>
          </p:cNvPr>
          <p:cNvSpPr>
            <a:spLocks noGrp="1"/>
          </p:cNvSpPr>
          <p:nvPr>
            <p:ph sz="half" idx="2"/>
          </p:nvPr>
        </p:nvSpPr>
        <p:spPr>
          <a:xfrm>
            <a:off x="731520" y="2286000"/>
            <a:ext cx="5669280" cy="5435014"/>
          </a:xfrm>
        </p:spPr>
        <p:txBody>
          <a:bodyPr/>
          <a:lstStyle/>
          <a:p>
            <a:pPr marL="0" indent="0" algn="l">
              <a:lnSpc>
                <a:spcPct val="200000"/>
              </a:lnSpc>
              <a:buNone/>
            </a:pPr>
            <a:r>
              <a:rPr lang="en-US" sz="2400" dirty="0">
                <a:solidFill>
                  <a:srgbClr val="020202"/>
                </a:solidFill>
                <a:ea typeface="PT Serif" pitchFamily="34" charset="-122"/>
                <a:cs typeface="PT Serif" pitchFamily="34" charset="-120"/>
              </a:rPr>
              <a:t>Advantages</a:t>
            </a:r>
          </a:p>
          <a:p>
            <a:pPr marL="342900" indent="-342900" algn="l">
              <a:lnSpc>
                <a:spcPct val="200000"/>
              </a:lnSpc>
              <a:buFont typeface="Arial" panose="020B0604020202020204" pitchFamily="34" charset="0"/>
              <a:buChar char="•"/>
            </a:pPr>
            <a:r>
              <a:rPr lang="en-US" sz="1800" dirty="0">
                <a:solidFill>
                  <a:srgbClr val="383838"/>
                </a:solidFill>
                <a:ea typeface="DM Sans" pitchFamily="34" charset="-122"/>
                <a:cs typeface="DM Sans" pitchFamily="34" charset="-120"/>
              </a:rPr>
              <a:t>Simple and intuitive to implement</a:t>
            </a:r>
            <a:endParaRPr lang="en-US" sz="1800" dirty="0"/>
          </a:p>
          <a:p>
            <a:pPr marL="342900" indent="-342900" algn="l">
              <a:lnSpc>
                <a:spcPct val="200000"/>
              </a:lnSpc>
              <a:buSzPct val="100000"/>
              <a:buChar char="•"/>
            </a:pPr>
            <a:r>
              <a:rPr lang="en-US" sz="1800" dirty="0">
                <a:solidFill>
                  <a:srgbClr val="383838"/>
                </a:solidFill>
                <a:ea typeface="DM Sans" pitchFamily="34" charset="-122"/>
                <a:cs typeface="DM Sans" pitchFamily="34" charset="-120"/>
              </a:rPr>
              <a:t>Fast computation, even on large datasets</a:t>
            </a:r>
          </a:p>
          <a:p>
            <a:pPr marL="342900" indent="-342900" algn="l">
              <a:lnSpc>
                <a:spcPct val="200000"/>
              </a:lnSpc>
              <a:buSzPct val="100000"/>
              <a:buFontTx/>
              <a:buChar char="•"/>
            </a:pPr>
            <a:r>
              <a:rPr lang="en-US" sz="1800" dirty="0">
                <a:solidFill>
                  <a:srgbClr val="383838"/>
                </a:solidFill>
                <a:ea typeface="DM Sans" pitchFamily="34" charset="-122"/>
                <a:cs typeface="DM Sans" pitchFamily="34" charset="-120"/>
              </a:rPr>
              <a:t>Works well as baseline approach</a:t>
            </a:r>
            <a:endParaRPr lang="en-US" sz="1800" dirty="0">
              <a:solidFill>
                <a:srgbClr val="383838"/>
              </a:solidFill>
            </a:endParaRPr>
          </a:p>
          <a:p>
            <a:pPr marL="342900" indent="-342900" algn="l">
              <a:lnSpc>
                <a:spcPct val="200000"/>
              </a:lnSpc>
              <a:buSzPct val="100000"/>
              <a:buFontTx/>
              <a:buChar char="•"/>
            </a:pPr>
            <a:r>
              <a:rPr lang="en-US" sz="1800" dirty="0">
                <a:solidFill>
                  <a:srgbClr val="383838"/>
                </a:solidFill>
                <a:ea typeface="DM Sans" pitchFamily="34" charset="-122"/>
                <a:cs typeface="DM Sans" pitchFamily="34" charset="-120"/>
              </a:rPr>
              <a:t>No complex dependencies required</a:t>
            </a:r>
            <a:endParaRPr lang="en-US" sz="1800" dirty="0"/>
          </a:p>
          <a:p>
            <a:pPr marL="342900" indent="-342900" algn="l">
              <a:lnSpc>
                <a:spcPct val="200000"/>
              </a:lnSpc>
              <a:buSzPct val="100000"/>
              <a:buFontTx/>
              <a:buChar char="•"/>
            </a:pPr>
            <a:r>
              <a:rPr lang="en-US" sz="1800" dirty="0">
                <a:solidFill>
                  <a:srgbClr val="383838"/>
                </a:solidFill>
                <a:ea typeface="DM Sans" pitchFamily="34" charset="-122"/>
                <a:cs typeface="DM Sans" pitchFamily="34" charset="-120"/>
              </a:rPr>
              <a:t>Easy to explain to non-technical stakeholders</a:t>
            </a:r>
            <a:endParaRPr lang="en-US" sz="1800" dirty="0"/>
          </a:p>
          <a:p>
            <a:pPr marL="342900" indent="-342900" algn="l">
              <a:lnSpc>
                <a:spcPct val="200000"/>
              </a:lnSpc>
              <a:buSzPct val="100000"/>
              <a:buFontTx/>
              <a:buChar char="•"/>
            </a:pPr>
            <a:r>
              <a:rPr lang="en-US" sz="1800" dirty="0">
                <a:solidFill>
                  <a:srgbClr val="383838"/>
                </a:solidFill>
                <a:ea typeface="DM Sans" pitchFamily="34" charset="-122"/>
                <a:cs typeface="DM Sans" pitchFamily="34" charset="-120"/>
              </a:rPr>
              <a:t>Suitable for quick prototyping</a:t>
            </a:r>
            <a:endParaRPr lang="en-US" sz="1800" dirty="0"/>
          </a:p>
          <a:p>
            <a:pPr algn="l">
              <a:lnSpc>
                <a:spcPct val="200000"/>
              </a:lnSpc>
              <a:buSzPct val="100000"/>
            </a:pPr>
            <a:endParaRPr lang="en-US" sz="2400" dirty="0"/>
          </a:p>
          <a:p>
            <a:pPr marL="0" indent="0" algn="l">
              <a:lnSpc>
                <a:spcPct val="200000"/>
              </a:lnSpc>
              <a:buNone/>
            </a:pPr>
            <a:endParaRPr lang="en-US" sz="2400" dirty="0"/>
          </a:p>
        </p:txBody>
      </p:sp>
      <p:sp>
        <p:nvSpPr>
          <p:cNvPr id="4" name="Content Placeholder 3">
            <a:extLst>
              <a:ext uri="{FF2B5EF4-FFF2-40B4-BE49-F238E27FC236}">
                <a16:creationId xmlns:a16="http://schemas.microsoft.com/office/drawing/2014/main" id="{8CFF0058-1B20-2EAA-E6D5-7C77BC728A93}"/>
              </a:ext>
            </a:extLst>
          </p:cNvPr>
          <p:cNvSpPr>
            <a:spLocks noGrp="1"/>
          </p:cNvSpPr>
          <p:nvPr>
            <p:ph sz="half" idx="3"/>
          </p:nvPr>
        </p:nvSpPr>
        <p:spPr>
          <a:xfrm>
            <a:off x="8077200" y="2286000"/>
            <a:ext cx="5669280" cy="5091971"/>
          </a:xfrm>
        </p:spPr>
        <p:txBody>
          <a:bodyPr/>
          <a:lstStyle/>
          <a:p>
            <a:pPr marL="0" indent="0" algn="l">
              <a:lnSpc>
                <a:spcPct val="200000"/>
              </a:lnSpc>
              <a:buNone/>
            </a:pPr>
            <a:r>
              <a:rPr lang="en-US" sz="2400" dirty="0">
                <a:solidFill>
                  <a:srgbClr val="020202"/>
                </a:solidFill>
                <a:ea typeface="PT Serif" pitchFamily="34" charset="-122"/>
                <a:cs typeface="PT Serif" pitchFamily="34" charset="-120"/>
              </a:rPr>
              <a:t>Limitations</a:t>
            </a:r>
            <a:endParaRPr lang="en-US" sz="2400" dirty="0"/>
          </a:p>
          <a:p>
            <a:pPr marL="342900" indent="-342900" algn="l">
              <a:lnSpc>
                <a:spcPct val="200000"/>
              </a:lnSpc>
              <a:buSzPct val="100000"/>
              <a:buChar char="•"/>
            </a:pPr>
            <a:r>
              <a:rPr lang="en-US" sz="1800" dirty="0">
                <a:solidFill>
                  <a:srgbClr val="383838"/>
                </a:solidFill>
                <a:ea typeface="DM Sans" pitchFamily="34" charset="-122"/>
                <a:cs typeface="DM Sans" pitchFamily="34" charset="-120"/>
              </a:rPr>
              <a:t>Ignores relationships between variables</a:t>
            </a:r>
          </a:p>
          <a:p>
            <a:pPr marL="342900" indent="-342900" algn="l">
              <a:lnSpc>
                <a:spcPct val="200000"/>
              </a:lnSpc>
              <a:buSzPct val="100000"/>
              <a:buFontTx/>
              <a:buChar char="•"/>
            </a:pPr>
            <a:r>
              <a:rPr lang="en-US" sz="1800" dirty="0">
                <a:solidFill>
                  <a:srgbClr val="383838"/>
                </a:solidFill>
                <a:ea typeface="DM Sans" pitchFamily="34" charset="-122"/>
                <a:cs typeface="DM Sans" pitchFamily="34" charset="-120"/>
              </a:rPr>
              <a:t>Reduces variance in the data</a:t>
            </a:r>
            <a:endParaRPr lang="en-US" sz="1800" dirty="0"/>
          </a:p>
          <a:p>
            <a:pPr marL="342900" indent="-342900" algn="l">
              <a:lnSpc>
                <a:spcPct val="200000"/>
              </a:lnSpc>
              <a:buSzPct val="100000"/>
              <a:buFontTx/>
              <a:buChar char="•"/>
            </a:pPr>
            <a:r>
              <a:rPr lang="en-US" sz="1800" dirty="0">
                <a:solidFill>
                  <a:srgbClr val="383838"/>
                </a:solidFill>
                <a:ea typeface="DM Sans" pitchFamily="34" charset="-122"/>
                <a:cs typeface="DM Sans" pitchFamily="34" charset="-120"/>
              </a:rPr>
              <a:t>Can introduce bias in estimates</a:t>
            </a:r>
            <a:endParaRPr lang="en-US" sz="1800" dirty="0"/>
          </a:p>
          <a:p>
            <a:pPr marL="342900" indent="-342900" algn="l">
              <a:lnSpc>
                <a:spcPct val="200000"/>
              </a:lnSpc>
              <a:buSzPct val="100000"/>
              <a:buFontTx/>
              <a:buChar char="•"/>
            </a:pPr>
            <a:r>
              <a:rPr lang="en-US" sz="1800" dirty="0">
                <a:solidFill>
                  <a:srgbClr val="383838"/>
                </a:solidFill>
                <a:ea typeface="DM Sans" pitchFamily="34" charset="-122"/>
                <a:cs typeface="DM Sans" pitchFamily="34" charset="-120"/>
              </a:rPr>
              <a:t>Treats all observations equally</a:t>
            </a:r>
            <a:endParaRPr lang="en-US" sz="1800" dirty="0"/>
          </a:p>
          <a:p>
            <a:pPr marL="342900" indent="-342900" algn="l">
              <a:lnSpc>
                <a:spcPct val="200000"/>
              </a:lnSpc>
              <a:buSzPct val="100000"/>
              <a:buChar char="•"/>
            </a:pPr>
            <a:r>
              <a:rPr lang="en-US" sz="1800" dirty="0">
                <a:solidFill>
                  <a:srgbClr val="383838"/>
                </a:solidFill>
                <a:ea typeface="DM Sans" pitchFamily="34" charset="-122"/>
                <a:cs typeface="DM Sans" pitchFamily="34" charset="-120"/>
              </a:rPr>
              <a:t>Does not capture uncertainty</a:t>
            </a:r>
            <a:endParaRPr lang="en-US" sz="1800" dirty="0"/>
          </a:p>
          <a:p>
            <a:pPr marL="342900" indent="-342900" algn="l">
              <a:lnSpc>
                <a:spcPct val="200000"/>
              </a:lnSpc>
              <a:buSzPct val="100000"/>
              <a:buFontTx/>
              <a:buChar char="•"/>
            </a:pPr>
            <a:r>
              <a:rPr lang="en-US" sz="1800" dirty="0">
                <a:solidFill>
                  <a:srgbClr val="383838"/>
                </a:solidFill>
                <a:ea typeface="DM Sans" pitchFamily="34" charset="-122"/>
                <a:cs typeface="DM Sans" pitchFamily="34" charset="-120"/>
              </a:rPr>
              <a:t>May distort correlations</a:t>
            </a:r>
            <a:endParaRPr lang="en-US" sz="1800" dirty="0"/>
          </a:p>
          <a:p>
            <a:pPr marL="342900" indent="-342900" algn="l">
              <a:lnSpc>
                <a:spcPct val="200000"/>
              </a:lnSpc>
              <a:buSzPct val="100000"/>
              <a:buChar char="•"/>
            </a:pPr>
            <a:endParaRPr lang="en-US" sz="1800" dirty="0"/>
          </a:p>
          <a:p>
            <a:pPr>
              <a:lnSpc>
                <a:spcPct val="200000"/>
              </a:lnSpc>
            </a:pPr>
            <a:endParaRPr lang="en-IN" sz="1800" dirty="0"/>
          </a:p>
        </p:txBody>
      </p:sp>
    </p:spTree>
    <p:extLst>
      <p:ext uri="{BB962C8B-B14F-4D97-AF65-F5344CB8AC3E}">
        <p14:creationId xmlns:p14="http://schemas.microsoft.com/office/powerpoint/2010/main" val="812692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8569" y="-185541"/>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Grouped Mean/Median Imputation</a:t>
            </a:r>
            <a:endParaRPr lang="en-US" sz="3600" dirty="0"/>
          </a:p>
        </p:txBody>
      </p:sp>
      <p:sp>
        <p:nvSpPr>
          <p:cNvPr id="15" name="Text 7">
            <a:extLst>
              <a:ext uri="{FF2B5EF4-FFF2-40B4-BE49-F238E27FC236}">
                <a16:creationId xmlns:a16="http://schemas.microsoft.com/office/drawing/2014/main" id="{36221D7B-8D1F-CF5A-6FD1-DA6DD3F7C3CC}"/>
              </a:ext>
            </a:extLst>
          </p:cNvPr>
          <p:cNvSpPr/>
          <p:nvPr/>
        </p:nvSpPr>
        <p:spPr>
          <a:xfrm>
            <a:off x="5643399" y="3678192"/>
            <a:ext cx="3818692" cy="127015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9893314" y="2256947"/>
            <a:ext cx="3818574" cy="3294151"/>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108924" y="2443855"/>
            <a:ext cx="3602964" cy="2313740"/>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Apply Imputation</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Replace missing values with group-specific statistics rather than global averages</a:t>
            </a: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2590800"/>
            <a:ext cx="3818573" cy="95261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28" name="Shape 2">
            <a:extLst>
              <a:ext uri="{FF2B5EF4-FFF2-40B4-BE49-F238E27FC236}">
                <a16:creationId xmlns:a16="http://schemas.microsoft.com/office/drawing/2014/main" id="{E7F2EE5C-87C7-F16D-F9EF-EB811ED3C5B0}"/>
              </a:ext>
            </a:extLst>
          </p:cNvPr>
          <p:cNvSpPr/>
          <p:nvPr/>
        </p:nvSpPr>
        <p:spPr>
          <a:xfrm>
            <a:off x="533400" y="2221302"/>
            <a:ext cx="4114305" cy="3341298"/>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9" name="Text 3">
            <a:extLst>
              <a:ext uri="{FF2B5EF4-FFF2-40B4-BE49-F238E27FC236}">
                <a16:creationId xmlns:a16="http://schemas.microsoft.com/office/drawing/2014/main" id="{0DC3D8C5-049C-DD26-3357-58E00F542DB1}"/>
              </a:ext>
            </a:extLst>
          </p:cNvPr>
          <p:cNvSpPr/>
          <p:nvPr/>
        </p:nvSpPr>
        <p:spPr>
          <a:xfrm>
            <a:off x="726760" y="2449920"/>
            <a:ext cx="3713225" cy="2476441"/>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Identify Groups</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Determine relevant categorical variables for grouping (e.g., gender, region, product category, time period)</a:t>
            </a: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30" name="Shape 5">
            <a:extLst>
              <a:ext uri="{FF2B5EF4-FFF2-40B4-BE49-F238E27FC236}">
                <a16:creationId xmlns:a16="http://schemas.microsoft.com/office/drawing/2014/main" id="{4C5EE8CA-E340-7264-83D8-CA41D716DE4C}"/>
              </a:ext>
            </a:extLst>
          </p:cNvPr>
          <p:cNvSpPr/>
          <p:nvPr/>
        </p:nvSpPr>
        <p:spPr>
          <a:xfrm>
            <a:off x="5257800" y="2209800"/>
            <a:ext cx="4114305" cy="3341298"/>
          </a:xfrm>
          <a:prstGeom prst="roundRect">
            <a:avLst>
              <a:gd name="adj" fmla="val 1410"/>
            </a:avLst>
          </a:prstGeom>
          <a:solidFill>
            <a:srgbClr val="F2EEEE"/>
          </a:solidFill>
          <a:ln/>
        </p:spPr>
      </p:sp>
      <p:sp>
        <p:nvSpPr>
          <p:cNvPr id="31" name="Text 6">
            <a:extLst>
              <a:ext uri="{FF2B5EF4-FFF2-40B4-BE49-F238E27FC236}">
                <a16:creationId xmlns:a16="http://schemas.microsoft.com/office/drawing/2014/main" id="{385EE126-84A2-761A-9E6E-6FA9D141EFBC}"/>
              </a:ext>
            </a:extLst>
          </p:cNvPr>
          <p:cNvSpPr/>
          <p:nvPr/>
        </p:nvSpPr>
        <p:spPr>
          <a:xfrm>
            <a:off x="5445044" y="2449920"/>
            <a:ext cx="3604657" cy="4865280"/>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Calculate Statistics</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Compute mean or median within each group separately, ensuring sufficient sample size per group</a:t>
            </a: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12" name="TextBox 11">
            <a:extLst>
              <a:ext uri="{FF2B5EF4-FFF2-40B4-BE49-F238E27FC236}">
                <a16:creationId xmlns:a16="http://schemas.microsoft.com/office/drawing/2014/main" id="{A5517214-6A0B-9176-5BCA-F94D23B8B471}"/>
              </a:ext>
            </a:extLst>
          </p:cNvPr>
          <p:cNvSpPr txBox="1"/>
          <p:nvPr/>
        </p:nvSpPr>
        <p:spPr>
          <a:xfrm>
            <a:off x="533400" y="1146460"/>
            <a:ext cx="14020800" cy="713209"/>
          </a:xfrm>
          <a:prstGeom prst="rect">
            <a:avLst/>
          </a:prstGeom>
          <a:noFill/>
        </p:spPr>
        <p:txBody>
          <a:bodyPr wrap="square">
            <a:spAutoFit/>
          </a:bodyPr>
          <a:lstStyle/>
          <a:p>
            <a:pPr marL="0" indent="0" algn="l">
              <a:lnSpc>
                <a:spcPts val="2500"/>
              </a:lnSpc>
              <a:buNone/>
            </a:pPr>
            <a:r>
              <a:rPr lang="en-US" dirty="0">
                <a:solidFill>
                  <a:srgbClr val="383838"/>
                </a:solidFill>
                <a:latin typeface="PT Serif" panose="020A0603040505020204" pitchFamily="18" charset="0"/>
                <a:ea typeface="DM Sans" pitchFamily="34" charset="-122"/>
                <a:cs typeface="DM Sans" pitchFamily="34" charset="-120"/>
              </a:rPr>
              <a:t>Impute missing values within groups rather than globally. This method respects subgroup differences and partially captures data structure by acknowledging that different categories may have different typical values.</a:t>
            </a:r>
            <a:endParaRPr lang="en-US" dirty="0">
              <a:latin typeface="PT Serif" panose="020A0603040505020204" pitchFamily="18" charset="0"/>
            </a:endParaRPr>
          </a:p>
        </p:txBody>
      </p:sp>
      <p:sp>
        <p:nvSpPr>
          <p:cNvPr id="19" name="TextBox 18">
            <a:extLst>
              <a:ext uri="{FF2B5EF4-FFF2-40B4-BE49-F238E27FC236}">
                <a16:creationId xmlns:a16="http://schemas.microsoft.com/office/drawing/2014/main" id="{94D8844A-BA13-D4C0-C8A2-3AD4012ABDEF}"/>
              </a:ext>
            </a:extLst>
          </p:cNvPr>
          <p:cNvSpPr txBox="1"/>
          <p:nvPr/>
        </p:nvSpPr>
        <p:spPr>
          <a:xfrm>
            <a:off x="543593" y="7381123"/>
            <a:ext cx="13442239" cy="713209"/>
          </a:xfrm>
          <a:prstGeom prst="rect">
            <a:avLst/>
          </a:prstGeom>
          <a:noFill/>
        </p:spPr>
        <p:txBody>
          <a:bodyPr wrap="square">
            <a:spAutoFit/>
          </a:bodyPr>
          <a:lstStyle/>
          <a:p>
            <a:pPr marL="0" indent="0" algn="l">
              <a:lnSpc>
                <a:spcPts val="2500"/>
              </a:lnSpc>
              <a:buNone/>
            </a:pPr>
            <a:r>
              <a:rPr lang="en-US" sz="1800" b="1" dirty="0">
                <a:solidFill>
                  <a:srgbClr val="383838"/>
                </a:solidFill>
                <a:latin typeface="PT Serif" panose="020A0603040505020204" pitchFamily="18" charset="0"/>
                <a:ea typeface="DM Sans" pitchFamily="34" charset="-122"/>
                <a:cs typeface="DM Sans" pitchFamily="34" charset="-120"/>
              </a:rPr>
              <a:t>Example:</a:t>
            </a:r>
            <a:r>
              <a:rPr lang="en-US" sz="1800" dirty="0">
                <a:solidFill>
                  <a:srgbClr val="383838"/>
                </a:solidFill>
                <a:latin typeface="PT Serif" panose="020A0603040505020204" pitchFamily="18" charset="0"/>
                <a:ea typeface="DM Sans" pitchFamily="34" charset="-122"/>
                <a:cs typeface="DM Sans" pitchFamily="34" charset="-120"/>
              </a:rPr>
              <a:t> Age imputed separately for males and females. </a:t>
            </a:r>
            <a:r>
              <a:rPr lang="en-US" sz="1800" b="1" dirty="0">
                <a:solidFill>
                  <a:srgbClr val="383838"/>
                </a:solidFill>
                <a:latin typeface="PT Serif" panose="020A0603040505020204" pitchFamily="18" charset="0"/>
                <a:ea typeface="DM Sans" pitchFamily="34" charset="-122"/>
                <a:cs typeface="DM Sans" pitchFamily="34" charset="-120"/>
              </a:rPr>
              <a:t>Limitation:</a:t>
            </a:r>
            <a:r>
              <a:rPr lang="en-US" sz="1800" dirty="0">
                <a:solidFill>
                  <a:srgbClr val="383838"/>
                </a:solidFill>
                <a:latin typeface="PT Serif" panose="020A0603040505020204" pitchFamily="18" charset="0"/>
                <a:ea typeface="DM Sans" pitchFamily="34" charset="-122"/>
                <a:cs typeface="DM Sans" pitchFamily="34" charset="-120"/>
              </a:rPr>
              <a:t> Still deterministic and does not model uncertainty or feature interactions.</a:t>
            </a:r>
            <a:endParaRPr lang="en-US" sz="1800" dirty="0">
              <a:latin typeface="PT Serif" panose="020A0603040505020204" pitchFamily="18" charset="0"/>
            </a:endParaRPr>
          </a:p>
        </p:txBody>
      </p:sp>
      <p:sp>
        <p:nvSpPr>
          <p:cNvPr id="22" name="Shape 15">
            <a:extLst>
              <a:ext uri="{FF2B5EF4-FFF2-40B4-BE49-F238E27FC236}">
                <a16:creationId xmlns:a16="http://schemas.microsoft.com/office/drawing/2014/main" id="{2B239DAF-DB08-EE23-3B43-47B3C26391C7}"/>
              </a:ext>
            </a:extLst>
          </p:cNvPr>
          <p:cNvSpPr/>
          <p:nvPr/>
        </p:nvSpPr>
        <p:spPr>
          <a:xfrm>
            <a:off x="580464" y="5867400"/>
            <a:ext cx="13062585" cy="1250275"/>
          </a:xfrm>
          <a:prstGeom prst="roundRect">
            <a:avLst>
              <a:gd name="adj" fmla="val 2381"/>
            </a:avLst>
          </a:prstGeom>
          <a:solidFill>
            <a:srgbClr val="F2F2F2"/>
          </a:solidFill>
          <a:ln/>
        </p:spPr>
      </p:sp>
      <p:sp>
        <p:nvSpPr>
          <p:cNvPr id="23" name="TextBox 22">
            <a:extLst>
              <a:ext uri="{FF2B5EF4-FFF2-40B4-BE49-F238E27FC236}">
                <a16:creationId xmlns:a16="http://schemas.microsoft.com/office/drawing/2014/main" id="{ABC4FDB8-AA7F-62DB-6A67-B4F4C20D6863}"/>
              </a:ext>
            </a:extLst>
          </p:cNvPr>
          <p:cNvSpPr txBox="1"/>
          <p:nvPr/>
        </p:nvSpPr>
        <p:spPr>
          <a:xfrm>
            <a:off x="803232" y="6113592"/>
            <a:ext cx="7315200" cy="1036951"/>
          </a:xfrm>
          <a:prstGeom prst="rect">
            <a:avLst/>
          </a:prstGeom>
          <a:noFill/>
        </p:spPr>
        <p:txBody>
          <a:bodyPr wrap="square">
            <a:spAutoFit/>
          </a:bodyPr>
          <a:lstStyle/>
          <a:p>
            <a:pPr marL="0" indent="0" algn="l">
              <a:lnSpc>
                <a:spcPts val="2500"/>
              </a:lnSpc>
              <a:buNone/>
            </a:pPr>
            <a:r>
              <a:rPr lang="en-US" sz="1800" dirty="0" err="1">
                <a:solidFill>
                  <a:srgbClr val="383838"/>
                </a:solidFill>
                <a:highlight>
                  <a:srgbClr val="F2F2F2"/>
                </a:highlight>
                <a:latin typeface="PT Serif" panose="020A0603040505020204" pitchFamily="18" charset="0"/>
                <a:ea typeface="Consolas" pitchFamily="34" charset="-122"/>
                <a:cs typeface="Consolas" pitchFamily="34" charset="-120"/>
              </a:rPr>
              <a:t>df</a:t>
            </a:r>
            <a:r>
              <a:rPr lang="en-US" sz="1800" dirty="0">
                <a:solidFill>
                  <a:srgbClr val="383838"/>
                </a:solidFill>
                <a:highlight>
                  <a:srgbClr val="F2F2F2"/>
                </a:highlight>
                <a:latin typeface="PT Serif" panose="020A0603040505020204" pitchFamily="18" charset="0"/>
                <a:ea typeface="Consolas" pitchFamily="34" charset="-122"/>
                <a:cs typeface="Consolas" pitchFamily="34" charset="-120"/>
              </a:rPr>
              <a:t>["age"] = </a:t>
            </a:r>
            <a:r>
              <a:rPr lang="en-US" sz="1800" dirty="0" err="1">
                <a:solidFill>
                  <a:srgbClr val="383838"/>
                </a:solidFill>
                <a:highlight>
                  <a:srgbClr val="F2F2F2"/>
                </a:highlight>
                <a:latin typeface="PT Serif" panose="020A0603040505020204" pitchFamily="18" charset="0"/>
                <a:ea typeface="Consolas" pitchFamily="34" charset="-122"/>
                <a:cs typeface="Consolas" pitchFamily="34" charset="-120"/>
              </a:rPr>
              <a:t>df.groupby</a:t>
            </a:r>
            <a:r>
              <a:rPr lang="en-US" sz="1800" dirty="0">
                <a:solidFill>
                  <a:srgbClr val="383838"/>
                </a:solidFill>
                <a:highlight>
                  <a:srgbClr val="F2F2F2"/>
                </a:highlight>
                <a:latin typeface="PT Serif" panose="020A0603040505020204" pitchFamily="18" charset="0"/>
                <a:ea typeface="Consolas" pitchFamily="34" charset="-122"/>
                <a:cs typeface="Consolas" pitchFamily="34" charset="-120"/>
              </a:rPr>
              <a:t>("gender")["age"].transform(</a:t>
            </a:r>
            <a:endParaRPr lang="en-US" sz="1800" dirty="0">
              <a:latin typeface="PT Serif" panose="020A0603040505020204" pitchFamily="18" charset="0"/>
            </a:endParaRPr>
          </a:p>
          <a:p>
            <a:pPr marL="0" indent="0" algn="l">
              <a:lnSpc>
                <a:spcPts val="2500"/>
              </a:lnSpc>
              <a:buNone/>
            </a:pPr>
            <a:r>
              <a:rPr lang="en-US" sz="1800" dirty="0">
                <a:solidFill>
                  <a:srgbClr val="383838"/>
                </a:solidFill>
                <a:highlight>
                  <a:srgbClr val="F2F2F2"/>
                </a:highlight>
                <a:latin typeface="PT Serif" panose="020A0603040505020204" pitchFamily="18" charset="0"/>
                <a:ea typeface="Consolas" pitchFamily="34" charset="-122"/>
                <a:cs typeface="Consolas" pitchFamily="34" charset="-120"/>
              </a:rPr>
              <a:t>    lambda x: </a:t>
            </a:r>
            <a:r>
              <a:rPr lang="en-US" sz="1800" dirty="0" err="1">
                <a:solidFill>
                  <a:srgbClr val="383838"/>
                </a:solidFill>
                <a:highlight>
                  <a:srgbClr val="F2F2F2"/>
                </a:highlight>
                <a:latin typeface="PT Serif" panose="020A0603040505020204" pitchFamily="18" charset="0"/>
                <a:ea typeface="Consolas" pitchFamily="34" charset="-122"/>
                <a:cs typeface="Consolas" pitchFamily="34" charset="-120"/>
              </a:rPr>
              <a:t>x.fillna</a:t>
            </a:r>
            <a:r>
              <a:rPr lang="en-US" sz="1800" dirty="0">
                <a:solidFill>
                  <a:srgbClr val="383838"/>
                </a:solidFill>
                <a:highlight>
                  <a:srgbClr val="F2F2F2"/>
                </a:highlight>
                <a:latin typeface="PT Serif" panose="020A0603040505020204" pitchFamily="18" charset="0"/>
                <a:ea typeface="Consolas" pitchFamily="34" charset="-122"/>
                <a:cs typeface="Consolas" pitchFamily="34" charset="-120"/>
              </a:rPr>
              <a:t>(</a:t>
            </a:r>
            <a:r>
              <a:rPr lang="en-US" sz="1800" dirty="0" err="1">
                <a:solidFill>
                  <a:srgbClr val="383838"/>
                </a:solidFill>
                <a:highlight>
                  <a:srgbClr val="F2F2F2"/>
                </a:highlight>
                <a:latin typeface="PT Serif" panose="020A0603040505020204" pitchFamily="18" charset="0"/>
                <a:ea typeface="Consolas" pitchFamily="34" charset="-122"/>
                <a:cs typeface="Consolas" pitchFamily="34" charset="-120"/>
              </a:rPr>
              <a:t>x.median</a:t>
            </a:r>
            <a:r>
              <a:rPr lang="en-US" sz="1800" dirty="0">
                <a:solidFill>
                  <a:srgbClr val="383838"/>
                </a:solidFill>
                <a:highlight>
                  <a:srgbClr val="F2F2F2"/>
                </a:highlight>
                <a:latin typeface="PT Serif" panose="020A0603040505020204" pitchFamily="18" charset="0"/>
                <a:ea typeface="Consolas" pitchFamily="34" charset="-122"/>
                <a:cs typeface="Consolas" pitchFamily="34" charset="-120"/>
              </a:rPr>
              <a:t>())</a:t>
            </a:r>
            <a:endParaRPr lang="en-US" sz="1800" dirty="0">
              <a:latin typeface="PT Serif" panose="020A0603040505020204" pitchFamily="18" charset="0"/>
            </a:endParaRPr>
          </a:p>
          <a:p>
            <a:pPr marL="0" indent="0" algn="l">
              <a:lnSpc>
                <a:spcPts val="2500"/>
              </a:lnSpc>
              <a:buNone/>
            </a:pPr>
            <a:r>
              <a:rPr lang="en-US" sz="1800" dirty="0">
                <a:solidFill>
                  <a:srgbClr val="383838"/>
                </a:solidFill>
                <a:highlight>
                  <a:srgbClr val="F2F2F2"/>
                </a:highlight>
                <a:latin typeface="PT Serif" panose="020A0603040505020204" pitchFamily="18" charset="0"/>
                <a:ea typeface="Consolas" pitchFamily="34" charset="-122"/>
                <a:cs typeface="Consolas" pitchFamily="34" charset="-120"/>
              </a:rPr>
              <a:t>)</a:t>
            </a:r>
            <a:endParaRPr lang="en-US" sz="1800" dirty="0">
              <a:latin typeface="PT Serif" panose="020A0603040505020204" pitchFamily="18" charset="0"/>
            </a:endParaRPr>
          </a:p>
        </p:txBody>
      </p:sp>
    </p:spTree>
    <p:extLst>
      <p:ext uri="{BB962C8B-B14F-4D97-AF65-F5344CB8AC3E}">
        <p14:creationId xmlns:p14="http://schemas.microsoft.com/office/powerpoint/2010/main" val="1530536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136026"/>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K-Nearest Neighbors (KNN) Imputation</a:t>
            </a:r>
            <a:endParaRPr lang="en-US" sz="3600" dirty="0"/>
          </a:p>
        </p:txBody>
      </p:sp>
      <p:sp>
        <p:nvSpPr>
          <p:cNvPr id="15" name="Text 7">
            <a:extLst>
              <a:ext uri="{FF2B5EF4-FFF2-40B4-BE49-F238E27FC236}">
                <a16:creationId xmlns:a16="http://schemas.microsoft.com/office/drawing/2014/main" id="{36221D7B-8D1F-CF5A-6FD1-DA6DD3F7C3CC}"/>
              </a:ext>
            </a:extLst>
          </p:cNvPr>
          <p:cNvSpPr/>
          <p:nvPr/>
        </p:nvSpPr>
        <p:spPr>
          <a:xfrm>
            <a:off x="5643399" y="3678192"/>
            <a:ext cx="3818692" cy="127015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9893314" y="3095147"/>
            <a:ext cx="3818574" cy="4132351"/>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108924" y="3282055"/>
            <a:ext cx="3454676" cy="2313740"/>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Value Aggregation</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Missing values are filled using the mean (for continuous) or mode (for categorical) of the K neighbors' values. Weighted averages based on distance can improve accuracy.</a:t>
            </a: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2590800"/>
            <a:ext cx="3818573" cy="95261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28" name="Shape 2">
            <a:extLst>
              <a:ext uri="{FF2B5EF4-FFF2-40B4-BE49-F238E27FC236}">
                <a16:creationId xmlns:a16="http://schemas.microsoft.com/office/drawing/2014/main" id="{E7F2EE5C-87C7-F16D-F9EF-EB811ED3C5B0}"/>
              </a:ext>
            </a:extLst>
          </p:cNvPr>
          <p:cNvSpPr/>
          <p:nvPr/>
        </p:nvSpPr>
        <p:spPr>
          <a:xfrm>
            <a:off x="533400" y="3059502"/>
            <a:ext cx="4114305" cy="4179498"/>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9" name="Text 3">
            <a:extLst>
              <a:ext uri="{FF2B5EF4-FFF2-40B4-BE49-F238E27FC236}">
                <a16:creationId xmlns:a16="http://schemas.microsoft.com/office/drawing/2014/main" id="{0DC3D8C5-049C-DD26-3357-58E00F542DB1}"/>
              </a:ext>
            </a:extLst>
          </p:cNvPr>
          <p:cNvSpPr/>
          <p:nvPr/>
        </p:nvSpPr>
        <p:spPr>
          <a:xfrm>
            <a:off x="726760" y="3288120"/>
            <a:ext cx="3713225" cy="2476441"/>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Distance Calculation</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For each row with missing values, KNN calculates distance (typically Euclidean) to all complete rows using available features. Distance metrics can be customized based on data types.</a:t>
            </a: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30" name="Shape 5">
            <a:extLst>
              <a:ext uri="{FF2B5EF4-FFF2-40B4-BE49-F238E27FC236}">
                <a16:creationId xmlns:a16="http://schemas.microsoft.com/office/drawing/2014/main" id="{4C5EE8CA-E340-7264-83D8-CA41D716DE4C}"/>
              </a:ext>
            </a:extLst>
          </p:cNvPr>
          <p:cNvSpPr/>
          <p:nvPr/>
        </p:nvSpPr>
        <p:spPr>
          <a:xfrm>
            <a:off x="5257800" y="3048000"/>
            <a:ext cx="4114305" cy="4179498"/>
          </a:xfrm>
          <a:prstGeom prst="roundRect">
            <a:avLst>
              <a:gd name="adj" fmla="val 1410"/>
            </a:avLst>
          </a:prstGeom>
          <a:solidFill>
            <a:srgbClr val="F2EEEE"/>
          </a:solidFill>
          <a:ln/>
        </p:spPr>
      </p:sp>
      <p:sp>
        <p:nvSpPr>
          <p:cNvPr id="31" name="Text 6">
            <a:extLst>
              <a:ext uri="{FF2B5EF4-FFF2-40B4-BE49-F238E27FC236}">
                <a16:creationId xmlns:a16="http://schemas.microsoft.com/office/drawing/2014/main" id="{385EE126-84A2-761A-9E6E-6FA9D141EFBC}"/>
              </a:ext>
            </a:extLst>
          </p:cNvPr>
          <p:cNvSpPr/>
          <p:nvPr/>
        </p:nvSpPr>
        <p:spPr>
          <a:xfrm>
            <a:off x="5445044" y="3288120"/>
            <a:ext cx="3604657" cy="4865280"/>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Neighbor Selection</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The K nearest neighbors (rows with smallest distances) are identified. Common K values range from 3 to 10. Smaller K captures local patterns; larger K provides more stability.</a:t>
            </a: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12" name="TextBox 11">
            <a:extLst>
              <a:ext uri="{FF2B5EF4-FFF2-40B4-BE49-F238E27FC236}">
                <a16:creationId xmlns:a16="http://schemas.microsoft.com/office/drawing/2014/main" id="{A5517214-6A0B-9176-5BCA-F94D23B8B471}"/>
              </a:ext>
            </a:extLst>
          </p:cNvPr>
          <p:cNvSpPr txBox="1"/>
          <p:nvPr/>
        </p:nvSpPr>
        <p:spPr>
          <a:xfrm>
            <a:off x="498231" y="1326683"/>
            <a:ext cx="13412013" cy="1675010"/>
          </a:xfrm>
          <a:prstGeom prst="rect">
            <a:avLst/>
          </a:prstGeom>
          <a:noFill/>
        </p:spPr>
        <p:txBody>
          <a:bodyPr wrap="square">
            <a:spAutoFit/>
          </a:bodyPr>
          <a:lstStyle/>
          <a:p>
            <a:pPr marL="0" indent="0" algn="l">
              <a:lnSpc>
                <a:spcPts val="2500"/>
              </a:lnSpc>
              <a:buNone/>
            </a:pPr>
            <a:r>
              <a:rPr lang="en-US" dirty="0">
                <a:solidFill>
                  <a:srgbClr val="383838"/>
                </a:solidFill>
                <a:latin typeface="PT Serif" panose="020A0603040505020204" pitchFamily="18" charset="0"/>
                <a:ea typeface="DM Sans" pitchFamily="34" charset="-122"/>
                <a:cs typeface="DM Sans" pitchFamily="34" charset="-120"/>
              </a:rPr>
              <a:t>“Similar rows should have similar values.”</a:t>
            </a:r>
          </a:p>
          <a:p>
            <a:pPr marL="0" indent="0" algn="l">
              <a:lnSpc>
                <a:spcPts val="2500"/>
              </a:lnSpc>
              <a:buNone/>
            </a:pPr>
            <a:endParaRPr lang="en-US" dirty="0">
              <a:solidFill>
                <a:srgbClr val="383838"/>
              </a:solidFill>
              <a:latin typeface="PT Serif" panose="020A0603040505020204" pitchFamily="18" charset="0"/>
              <a:ea typeface="DM Sans" pitchFamily="34" charset="-122"/>
              <a:cs typeface="DM Sans" pitchFamily="34" charset="-120"/>
            </a:endParaRPr>
          </a:p>
          <a:p>
            <a:pPr algn="l">
              <a:lnSpc>
                <a:spcPts val="2500"/>
              </a:lnSpc>
            </a:pPr>
            <a:r>
              <a:rPr lang="en-US" dirty="0">
                <a:solidFill>
                  <a:srgbClr val="383838"/>
                </a:solidFill>
                <a:latin typeface="PT Serif" panose="020A0603040505020204" pitchFamily="18" charset="0"/>
                <a:ea typeface="DM Sans" pitchFamily="34" charset="-122"/>
                <a:cs typeface="DM Sans" pitchFamily="34" charset="-120"/>
              </a:rPr>
              <a:t>KNN imputation is a distance-based method that finds the K most similar observations and uses their values to impute missing data. This multivariate approach leverages information from multiple features simultaneously.</a:t>
            </a:r>
            <a:endParaRPr lang="en-US" dirty="0">
              <a:latin typeface="PT Serif" panose="020A0603040505020204" pitchFamily="18" charset="0"/>
            </a:endParaRPr>
          </a:p>
          <a:p>
            <a:pPr marL="0" indent="0" algn="l">
              <a:lnSpc>
                <a:spcPts val="2500"/>
              </a:lnSpc>
              <a:buNone/>
            </a:pPr>
            <a:endParaRPr lang="en-US" dirty="0">
              <a:latin typeface="PT Serif" panose="020A0603040505020204" pitchFamily="18" charset="0"/>
            </a:endParaRPr>
          </a:p>
        </p:txBody>
      </p:sp>
    </p:spTree>
    <p:extLst>
      <p:ext uri="{BB962C8B-B14F-4D97-AF65-F5344CB8AC3E}">
        <p14:creationId xmlns:p14="http://schemas.microsoft.com/office/powerpoint/2010/main" val="986375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5ECCF-503B-13BE-5208-0E240B43D33A}"/>
              </a:ext>
            </a:extLst>
          </p:cNvPr>
          <p:cNvSpPr>
            <a:spLocks noGrp="1"/>
          </p:cNvSpPr>
          <p:nvPr>
            <p:ph type="title"/>
          </p:nvPr>
        </p:nvSpPr>
        <p:spPr>
          <a:xfrm>
            <a:off x="731520" y="643934"/>
            <a:ext cx="13656055" cy="610103"/>
          </a:xfrm>
        </p:spPr>
        <p:txBody>
          <a:bodyPr/>
          <a:lstStyle/>
          <a:p>
            <a:pPr marL="0" indent="0" algn="l">
              <a:lnSpc>
                <a:spcPts val="5100"/>
              </a:lnSpc>
              <a:buNone/>
            </a:pPr>
            <a:r>
              <a:rPr lang="en-US" sz="3600" dirty="0">
                <a:solidFill>
                  <a:srgbClr val="020202"/>
                </a:solidFill>
                <a:ea typeface="PT Serif" pitchFamily="34" charset="-122"/>
                <a:cs typeface="PT Serif" pitchFamily="34" charset="-120"/>
              </a:rPr>
              <a:t>KNN Imputation: Technical Considerations</a:t>
            </a:r>
            <a:endParaRPr lang="en-US" sz="3600" dirty="0"/>
          </a:p>
        </p:txBody>
      </p:sp>
      <p:sp>
        <p:nvSpPr>
          <p:cNvPr id="3" name="Content Placeholder 2">
            <a:extLst>
              <a:ext uri="{FF2B5EF4-FFF2-40B4-BE49-F238E27FC236}">
                <a16:creationId xmlns:a16="http://schemas.microsoft.com/office/drawing/2014/main" id="{E1F06BB0-73BB-A4EF-12A8-CD00208FE41C}"/>
              </a:ext>
            </a:extLst>
          </p:cNvPr>
          <p:cNvSpPr>
            <a:spLocks noGrp="1"/>
          </p:cNvSpPr>
          <p:nvPr>
            <p:ph sz="half" idx="2"/>
          </p:nvPr>
        </p:nvSpPr>
        <p:spPr>
          <a:xfrm>
            <a:off x="731520" y="1811904"/>
            <a:ext cx="5669280" cy="4881016"/>
          </a:xfrm>
        </p:spPr>
        <p:txBody>
          <a:bodyPr/>
          <a:lstStyle/>
          <a:p>
            <a:pPr marL="0" indent="0" algn="l">
              <a:lnSpc>
                <a:spcPct val="200000"/>
              </a:lnSpc>
              <a:buNone/>
            </a:pPr>
            <a:r>
              <a:rPr lang="en-US" sz="2400" dirty="0">
                <a:solidFill>
                  <a:srgbClr val="020202"/>
                </a:solidFill>
                <a:ea typeface="PT Serif" pitchFamily="34" charset="-122"/>
                <a:cs typeface="PT Serif" pitchFamily="34" charset="-120"/>
              </a:rPr>
              <a:t>Advantages</a:t>
            </a:r>
          </a:p>
          <a:p>
            <a:pPr marL="342900" indent="-342900" algn="l">
              <a:lnSpc>
                <a:spcPct val="200000"/>
              </a:lnSpc>
              <a:buSzPct val="100000"/>
              <a:buChar char="•"/>
            </a:pPr>
            <a:r>
              <a:rPr lang="en-US" sz="1800" dirty="0">
                <a:solidFill>
                  <a:srgbClr val="383838"/>
                </a:solidFill>
                <a:ea typeface="DM Sans" pitchFamily="34" charset="-122"/>
                <a:cs typeface="DM Sans" pitchFamily="34" charset="-120"/>
              </a:rPr>
              <a:t>Captures local patterns in data</a:t>
            </a:r>
            <a:endParaRPr lang="en-US" sz="1800" dirty="0"/>
          </a:p>
          <a:p>
            <a:pPr marL="342900" indent="-342900" algn="l">
              <a:lnSpc>
                <a:spcPct val="200000"/>
              </a:lnSpc>
              <a:buSzPct val="100000"/>
              <a:buFont typeface="Arial" panose="020B0604020202020204" pitchFamily="34" charset="0"/>
              <a:buChar char="•"/>
            </a:pPr>
            <a:r>
              <a:rPr lang="en-US" sz="1800" dirty="0">
                <a:solidFill>
                  <a:srgbClr val="383838"/>
                </a:solidFill>
                <a:ea typeface="DM Sans" pitchFamily="34" charset="-122"/>
                <a:cs typeface="DM Sans" pitchFamily="34" charset="-120"/>
              </a:rPr>
              <a:t>No distributional assumptions needed</a:t>
            </a:r>
            <a:endParaRPr lang="en-US" sz="1800" dirty="0"/>
          </a:p>
          <a:p>
            <a:pPr marL="342900" indent="-342900" algn="l">
              <a:lnSpc>
                <a:spcPct val="200000"/>
              </a:lnSpc>
              <a:buSzPct val="100000"/>
              <a:buFont typeface="Arial" panose="020B0604020202020204" pitchFamily="34" charset="0"/>
              <a:buChar char="•"/>
            </a:pPr>
            <a:r>
              <a:rPr lang="en-US" sz="1800" dirty="0">
                <a:solidFill>
                  <a:srgbClr val="383838"/>
                </a:solidFill>
                <a:ea typeface="DM Sans" pitchFamily="34" charset="-122"/>
                <a:cs typeface="DM Sans" pitchFamily="34" charset="-120"/>
              </a:rPr>
              <a:t>Uses multivariate information effectively</a:t>
            </a:r>
          </a:p>
          <a:p>
            <a:pPr marL="342900" indent="-342900" algn="l">
              <a:lnSpc>
                <a:spcPct val="200000"/>
              </a:lnSpc>
              <a:buSzPct val="100000"/>
              <a:buFont typeface="Arial" panose="020B0604020202020204" pitchFamily="34" charset="0"/>
              <a:buChar char="•"/>
            </a:pPr>
            <a:r>
              <a:rPr lang="en-US" sz="1800" dirty="0">
                <a:solidFill>
                  <a:srgbClr val="383838"/>
                </a:solidFill>
                <a:ea typeface="DM Sans" pitchFamily="34" charset="-122"/>
                <a:cs typeface="DM Sans" pitchFamily="34" charset="-120"/>
              </a:rPr>
              <a:t>Works well with nonlinear relationships</a:t>
            </a:r>
          </a:p>
          <a:p>
            <a:pPr marL="342900" indent="-342900" algn="l">
              <a:lnSpc>
                <a:spcPct val="200000"/>
              </a:lnSpc>
              <a:buSzPct val="100000"/>
              <a:buFont typeface="Arial" panose="020B0604020202020204" pitchFamily="34" charset="0"/>
              <a:buChar char="•"/>
            </a:pPr>
            <a:r>
              <a:rPr lang="en-US" sz="1800" dirty="0">
                <a:solidFill>
                  <a:srgbClr val="383838"/>
                </a:solidFill>
                <a:ea typeface="DM Sans" pitchFamily="34" charset="-122"/>
                <a:cs typeface="DM Sans" pitchFamily="34" charset="-120"/>
              </a:rPr>
              <a:t>Can handle mixed data types</a:t>
            </a:r>
            <a:endParaRPr lang="en-US" sz="1800" dirty="0"/>
          </a:p>
          <a:p>
            <a:pPr algn="l">
              <a:lnSpc>
                <a:spcPct val="200000"/>
              </a:lnSpc>
              <a:buSzPct val="100000"/>
            </a:pPr>
            <a:endParaRPr lang="en-US" sz="2400" dirty="0"/>
          </a:p>
          <a:p>
            <a:pPr marL="0" indent="0" algn="l">
              <a:lnSpc>
                <a:spcPct val="200000"/>
              </a:lnSpc>
              <a:buNone/>
            </a:pPr>
            <a:endParaRPr lang="en-US" sz="2400" dirty="0"/>
          </a:p>
        </p:txBody>
      </p:sp>
      <p:sp>
        <p:nvSpPr>
          <p:cNvPr id="4" name="Content Placeholder 3">
            <a:extLst>
              <a:ext uri="{FF2B5EF4-FFF2-40B4-BE49-F238E27FC236}">
                <a16:creationId xmlns:a16="http://schemas.microsoft.com/office/drawing/2014/main" id="{8CFF0058-1B20-2EAA-E6D5-7C77BC728A93}"/>
              </a:ext>
            </a:extLst>
          </p:cNvPr>
          <p:cNvSpPr>
            <a:spLocks noGrp="1"/>
          </p:cNvSpPr>
          <p:nvPr>
            <p:ph sz="half" idx="3"/>
          </p:nvPr>
        </p:nvSpPr>
        <p:spPr>
          <a:xfrm>
            <a:off x="7427952" y="1616248"/>
            <a:ext cx="6553200" cy="6753965"/>
          </a:xfrm>
        </p:spPr>
        <p:txBody>
          <a:bodyPr/>
          <a:lstStyle/>
          <a:p>
            <a:pPr marL="0" indent="0" algn="l">
              <a:lnSpc>
                <a:spcPct val="200000"/>
              </a:lnSpc>
              <a:buNone/>
            </a:pPr>
            <a:r>
              <a:rPr lang="en-US" sz="2400" dirty="0">
                <a:solidFill>
                  <a:srgbClr val="020202"/>
                </a:solidFill>
                <a:ea typeface="PT Serif" pitchFamily="34" charset="-122"/>
                <a:cs typeface="PT Serif" pitchFamily="34" charset="-120"/>
              </a:rPr>
              <a:t>Challenges</a:t>
            </a:r>
            <a:endParaRPr lang="en-US" sz="2400" dirty="0"/>
          </a:p>
          <a:p>
            <a:pPr marL="342900" indent="-342900" algn="l">
              <a:lnSpc>
                <a:spcPct val="200000"/>
              </a:lnSpc>
              <a:buSzPct val="100000"/>
              <a:buChar char="•"/>
            </a:pPr>
            <a:r>
              <a:rPr lang="en-US" sz="1800" dirty="0">
                <a:solidFill>
                  <a:srgbClr val="383838"/>
                </a:solidFill>
                <a:ea typeface="DM Sans" pitchFamily="34" charset="-122"/>
                <a:cs typeface="DM Sans" pitchFamily="34" charset="-120"/>
              </a:rPr>
              <a:t>Computationally expensive for large datasets (O(n²) complexity)</a:t>
            </a:r>
            <a:endParaRPr lang="en-US" sz="1800" dirty="0"/>
          </a:p>
          <a:p>
            <a:pPr marL="342900" indent="-342900" algn="l">
              <a:lnSpc>
                <a:spcPct val="200000"/>
              </a:lnSpc>
              <a:buSzPct val="100000"/>
              <a:buFontTx/>
              <a:buChar char="•"/>
            </a:pPr>
            <a:r>
              <a:rPr lang="en-US" sz="1800" dirty="0">
                <a:solidFill>
                  <a:srgbClr val="383838"/>
                </a:solidFill>
                <a:ea typeface="DM Sans" pitchFamily="34" charset="-122"/>
                <a:cs typeface="DM Sans" pitchFamily="34" charset="-120"/>
              </a:rPr>
              <a:t>Sensitive to feature scaling—requires standardization</a:t>
            </a:r>
            <a:endParaRPr lang="en-US" sz="1800" dirty="0"/>
          </a:p>
          <a:p>
            <a:pPr marL="342900" indent="-342900" algn="l">
              <a:lnSpc>
                <a:spcPct val="200000"/>
              </a:lnSpc>
              <a:buSzPct val="100000"/>
              <a:buFontTx/>
              <a:buChar char="•"/>
            </a:pPr>
            <a:r>
              <a:rPr lang="en-US" sz="1800" dirty="0">
                <a:solidFill>
                  <a:srgbClr val="383838"/>
                </a:solidFill>
                <a:ea typeface="DM Sans" pitchFamily="34" charset="-122"/>
                <a:cs typeface="DM Sans" pitchFamily="34" charset="-120"/>
              </a:rPr>
              <a:t>Requires choosing K parameter (use cross-validation)</a:t>
            </a:r>
            <a:endParaRPr lang="en-US" sz="1800" dirty="0"/>
          </a:p>
          <a:p>
            <a:pPr marL="342900" indent="-342900" algn="l">
              <a:lnSpc>
                <a:spcPct val="200000"/>
              </a:lnSpc>
              <a:buSzPct val="100000"/>
              <a:buFontTx/>
              <a:buChar char="•"/>
            </a:pPr>
            <a:r>
              <a:rPr lang="en-US" sz="1800" dirty="0">
                <a:solidFill>
                  <a:srgbClr val="383838"/>
                </a:solidFill>
                <a:ea typeface="DM Sans" pitchFamily="34" charset="-122"/>
                <a:cs typeface="DM Sans" pitchFamily="34" charset="-120"/>
              </a:rPr>
              <a:t>Performance degrades with high dimensionality (curse of dimensionality)</a:t>
            </a:r>
            <a:endParaRPr lang="en-US" sz="1800" dirty="0"/>
          </a:p>
          <a:p>
            <a:pPr marL="342900" indent="-342900" algn="l">
              <a:lnSpc>
                <a:spcPct val="200000"/>
              </a:lnSpc>
              <a:buSzPct val="100000"/>
              <a:buFontTx/>
              <a:buChar char="•"/>
            </a:pPr>
            <a:r>
              <a:rPr lang="en-US" sz="1800" dirty="0">
                <a:solidFill>
                  <a:srgbClr val="383838"/>
                </a:solidFill>
                <a:ea typeface="DM Sans" pitchFamily="34" charset="-122"/>
                <a:cs typeface="DM Sans" pitchFamily="34" charset="-120"/>
              </a:rPr>
              <a:t>Memory-intensive for large feature spaces</a:t>
            </a:r>
            <a:endParaRPr lang="en-US" sz="1800" dirty="0"/>
          </a:p>
          <a:p>
            <a:pPr marL="342900" indent="-342900" algn="l">
              <a:lnSpc>
                <a:spcPct val="200000"/>
              </a:lnSpc>
              <a:buSzPct val="100000"/>
              <a:buChar char="•"/>
            </a:pPr>
            <a:endParaRPr lang="en-US" sz="1800" dirty="0"/>
          </a:p>
          <a:p>
            <a:pPr>
              <a:lnSpc>
                <a:spcPct val="200000"/>
              </a:lnSpc>
            </a:pPr>
            <a:endParaRPr lang="en-IN" sz="1800" dirty="0"/>
          </a:p>
        </p:txBody>
      </p:sp>
      <p:sp>
        <p:nvSpPr>
          <p:cNvPr id="5" name="Shape 8">
            <a:extLst>
              <a:ext uri="{FF2B5EF4-FFF2-40B4-BE49-F238E27FC236}">
                <a16:creationId xmlns:a16="http://schemas.microsoft.com/office/drawing/2014/main" id="{87ADA5BE-7509-7572-C4DA-7D18C6697875}"/>
              </a:ext>
            </a:extLst>
          </p:cNvPr>
          <p:cNvSpPr/>
          <p:nvPr/>
        </p:nvSpPr>
        <p:spPr>
          <a:xfrm>
            <a:off x="609600" y="6400800"/>
            <a:ext cx="6299121" cy="1567815"/>
          </a:xfrm>
          <a:prstGeom prst="roundRect">
            <a:avLst>
              <a:gd name="adj" fmla="val 1899"/>
            </a:avLst>
          </a:prstGeom>
          <a:solidFill>
            <a:srgbClr val="F2F2F2"/>
          </a:solidFill>
          <a:ln/>
        </p:spPr>
      </p:sp>
      <p:sp>
        <p:nvSpPr>
          <p:cNvPr id="6" name="Text 9">
            <a:extLst>
              <a:ext uri="{FF2B5EF4-FFF2-40B4-BE49-F238E27FC236}">
                <a16:creationId xmlns:a16="http://schemas.microsoft.com/office/drawing/2014/main" id="{1F658836-96EE-1675-4909-D7EA6B88895E}"/>
              </a:ext>
            </a:extLst>
          </p:cNvPr>
          <p:cNvSpPr/>
          <p:nvPr/>
        </p:nvSpPr>
        <p:spPr>
          <a:xfrm>
            <a:off x="807958" y="6549628"/>
            <a:ext cx="5902404" cy="1270159"/>
          </a:xfrm>
          <a:prstGeom prst="rect">
            <a:avLst/>
          </a:prstGeom>
          <a:noFill/>
          <a:ln/>
        </p:spPr>
        <p:txBody>
          <a:bodyPr wrap="square" lIns="0" tIns="0" rIns="0" bIns="0" rtlCol="0" anchor="t"/>
          <a:lstStyle/>
          <a:p>
            <a:pPr marL="0" indent="0" algn="l">
              <a:lnSpc>
                <a:spcPts val="2500"/>
              </a:lnSpc>
              <a:buNone/>
            </a:pPr>
            <a:r>
              <a:rPr lang="en-US" dirty="0">
                <a:solidFill>
                  <a:srgbClr val="383838"/>
                </a:solidFill>
                <a:highlight>
                  <a:srgbClr val="F2F2F2"/>
                </a:highlight>
                <a:latin typeface="PT Serif" panose="020A0603040505020204" pitchFamily="18" charset="0"/>
                <a:ea typeface="Consolas" pitchFamily="34" charset="-122"/>
                <a:cs typeface="Consolas" pitchFamily="34" charset="-120"/>
              </a:rPr>
              <a:t>from sklearn.impute import KNNImputer</a:t>
            </a:r>
            <a:endParaRPr lang="en-US" dirty="0">
              <a:latin typeface="PT Serif" panose="020A0603040505020204" pitchFamily="18" charset="0"/>
            </a:endParaRPr>
          </a:p>
          <a:p>
            <a:pPr marL="0" indent="0" algn="l">
              <a:lnSpc>
                <a:spcPts val="2500"/>
              </a:lnSpc>
              <a:buNone/>
            </a:pPr>
            <a:endParaRPr lang="en-US" dirty="0">
              <a:latin typeface="PT Serif" panose="020A0603040505020204" pitchFamily="18" charset="0"/>
            </a:endParaRPr>
          </a:p>
          <a:p>
            <a:pPr marL="0" indent="0" algn="l">
              <a:lnSpc>
                <a:spcPts val="2500"/>
              </a:lnSpc>
              <a:buNone/>
            </a:pPr>
            <a:r>
              <a:rPr lang="en-US" dirty="0">
                <a:solidFill>
                  <a:srgbClr val="383838"/>
                </a:solidFill>
                <a:highlight>
                  <a:srgbClr val="F2F2F2"/>
                </a:highlight>
                <a:latin typeface="PT Serif" panose="020A0603040505020204" pitchFamily="18" charset="0"/>
                <a:ea typeface="Consolas" pitchFamily="34" charset="-122"/>
                <a:cs typeface="Consolas" pitchFamily="34" charset="-120"/>
              </a:rPr>
              <a:t>imputer = KNNImputer(n_neighbors=5)</a:t>
            </a:r>
            <a:endParaRPr lang="en-US" dirty="0">
              <a:latin typeface="PT Serif" panose="020A0603040505020204" pitchFamily="18" charset="0"/>
            </a:endParaRPr>
          </a:p>
          <a:p>
            <a:pPr marL="0" indent="0" algn="l">
              <a:lnSpc>
                <a:spcPts val="2500"/>
              </a:lnSpc>
              <a:buNone/>
            </a:pPr>
            <a:r>
              <a:rPr lang="en-US" dirty="0">
                <a:solidFill>
                  <a:srgbClr val="383838"/>
                </a:solidFill>
                <a:highlight>
                  <a:srgbClr val="F2F2F2"/>
                </a:highlight>
                <a:latin typeface="PT Serif" panose="020A0603040505020204" pitchFamily="18" charset="0"/>
                <a:ea typeface="Consolas" pitchFamily="34" charset="-122"/>
                <a:cs typeface="Consolas" pitchFamily="34" charset="-120"/>
              </a:rPr>
              <a:t>X_imputed = imputer.fit_transform(X)</a:t>
            </a:r>
            <a:endParaRPr lang="en-US" dirty="0">
              <a:latin typeface="PT Serif" panose="020A0603040505020204" pitchFamily="18" charset="0"/>
            </a:endParaRPr>
          </a:p>
        </p:txBody>
      </p:sp>
      <p:sp>
        <p:nvSpPr>
          <p:cNvPr id="7" name="Shape 16">
            <a:extLst>
              <a:ext uri="{FF2B5EF4-FFF2-40B4-BE49-F238E27FC236}">
                <a16:creationId xmlns:a16="http://schemas.microsoft.com/office/drawing/2014/main" id="{33E9D1FA-2203-032C-F465-16B971E3C0AC}"/>
              </a:ext>
            </a:extLst>
          </p:cNvPr>
          <p:cNvSpPr/>
          <p:nvPr/>
        </p:nvSpPr>
        <p:spPr>
          <a:xfrm>
            <a:off x="7665244" y="6400800"/>
            <a:ext cx="6279356" cy="1160740"/>
          </a:xfrm>
          <a:prstGeom prst="roundRect">
            <a:avLst>
              <a:gd name="adj" fmla="val 2565"/>
            </a:avLst>
          </a:prstGeom>
          <a:solidFill>
            <a:srgbClr val="FFCDB3"/>
          </a:solidFill>
          <a:ln/>
        </p:spPr>
      </p:sp>
      <p:sp>
        <p:nvSpPr>
          <p:cNvPr id="8" name="Text 17">
            <a:extLst>
              <a:ext uri="{FF2B5EF4-FFF2-40B4-BE49-F238E27FC236}">
                <a16:creationId xmlns:a16="http://schemas.microsoft.com/office/drawing/2014/main" id="{7613AC23-2E2C-7ED6-6CD9-2A31876CCF27}"/>
              </a:ext>
            </a:extLst>
          </p:cNvPr>
          <p:cNvSpPr/>
          <p:nvPr/>
        </p:nvSpPr>
        <p:spPr>
          <a:xfrm>
            <a:off x="8309968" y="6648689"/>
            <a:ext cx="5436275" cy="635079"/>
          </a:xfrm>
          <a:prstGeom prst="rect">
            <a:avLst/>
          </a:prstGeom>
          <a:noFill/>
          <a:ln/>
        </p:spPr>
        <p:txBody>
          <a:bodyPr wrap="square" lIns="0" tIns="0" rIns="0" bIns="0" rtlCol="0" anchor="t"/>
          <a:lstStyle/>
          <a:p>
            <a:pPr marL="0" indent="0" algn="l">
              <a:lnSpc>
                <a:spcPts val="2500"/>
              </a:lnSpc>
              <a:buNone/>
            </a:pPr>
            <a:r>
              <a:rPr lang="en-US" b="1" dirty="0">
                <a:solidFill>
                  <a:srgbClr val="000000"/>
                </a:solidFill>
                <a:latin typeface="PT Serif" panose="020A0603040505020204" pitchFamily="18" charset="0"/>
                <a:ea typeface="DM Sans" pitchFamily="34" charset="-122"/>
                <a:cs typeface="DM Sans" pitchFamily="34" charset="-120"/>
              </a:rPr>
              <a:t>Best Practice:</a:t>
            </a:r>
            <a:r>
              <a:rPr lang="en-US" dirty="0">
                <a:solidFill>
                  <a:srgbClr val="000000"/>
                </a:solidFill>
                <a:latin typeface="PT Serif" panose="020A0603040505020204" pitchFamily="18" charset="0"/>
                <a:ea typeface="DM Sans" pitchFamily="34" charset="-122"/>
                <a:cs typeface="DM Sans" pitchFamily="34" charset="-120"/>
              </a:rPr>
              <a:t> Always standardize features before KNN imputation to ensure equal weighting.</a:t>
            </a:r>
            <a:endParaRPr lang="en-US" dirty="0">
              <a:latin typeface="PT Serif" panose="020A0603040505020204" pitchFamily="18" charset="0"/>
            </a:endParaRPr>
          </a:p>
        </p:txBody>
      </p:sp>
    </p:spTree>
    <p:extLst>
      <p:ext uri="{BB962C8B-B14F-4D97-AF65-F5344CB8AC3E}">
        <p14:creationId xmlns:p14="http://schemas.microsoft.com/office/powerpoint/2010/main" val="114026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6924" y="-131821"/>
            <a:ext cx="13656055" cy="997761"/>
          </a:xfrm>
          <a:prstGeom prst="rect">
            <a:avLst/>
          </a:prstGeom>
        </p:spPr>
        <p:txBody>
          <a:bodyPr vert="horz" wrap="square" lIns="0" tIns="439471" rIns="0" bIns="0" rtlCol="0">
            <a:spAutoFit/>
          </a:bodyPr>
          <a:lstStyle/>
          <a:p>
            <a:pPr marL="0" indent="0" algn="l">
              <a:buNone/>
            </a:pPr>
            <a:r>
              <a:rPr lang="en-US" sz="3600" dirty="0">
                <a:solidFill>
                  <a:srgbClr val="020202"/>
                </a:solidFill>
                <a:ea typeface="PT Serif" pitchFamily="34" charset="-122"/>
                <a:cs typeface="PT Serif" pitchFamily="34" charset="-120"/>
              </a:rPr>
              <a:t>Model-Based Imputation Overview</a:t>
            </a:r>
            <a:endParaRPr lang="en-US" sz="3600" dirty="0"/>
          </a:p>
        </p:txBody>
      </p:sp>
      <p:sp>
        <p:nvSpPr>
          <p:cNvPr id="15" name="Text 7">
            <a:extLst>
              <a:ext uri="{FF2B5EF4-FFF2-40B4-BE49-F238E27FC236}">
                <a16:creationId xmlns:a16="http://schemas.microsoft.com/office/drawing/2014/main" id="{36221D7B-8D1F-CF5A-6FD1-DA6DD3F7C3CC}"/>
              </a:ext>
            </a:extLst>
          </p:cNvPr>
          <p:cNvSpPr/>
          <p:nvPr/>
        </p:nvSpPr>
        <p:spPr>
          <a:xfrm>
            <a:off x="5643399" y="3678192"/>
            <a:ext cx="3818692" cy="127015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9893314" y="2192249"/>
            <a:ext cx="3818574" cy="5122951"/>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086842" y="2439984"/>
            <a:ext cx="3602964" cy="2313740"/>
          </a:xfrm>
          <a:prstGeom prst="rect">
            <a:avLst/>
          </a:prstGeom>
          <a:noFill/>
          <a:ln/>
        </p:spPr>
        <p:txBody>
          <a:bodyPr wrap="square" lIns="0" tIns="0" rIns="0" bIns="0" rtlCol="0" anchor="t"/>
          <a:lstStyle/>
          <a:p>
            <a:pPr algn="l">
              <a:lnSpc>
                <a:spcPct val="150000"/>
              </a:lnSpc>
            </a:pPr>
            <a:r>
              <a:rPr lang="en-US" sz="2400" dirty="0">
                <a:solidFill>
                  <a:srgbClr val="383838"/>
                </a:solidFill>
                <a:latin typeface="PT Serif" panose="020A0603040505020204" pitchFamily="18" charset="0"/>
                <a:ea typeface="PT Serif" pitchFamily="34" charset="-122"/>
                <a:cs typeface="PT Serif" pitchFamily="34" charset="-120"/>
              </a:rPr>
              <a:t>3. Tree-Based</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Random Forest or Decision Trees to capture nonlinear relationships, interactions, and complex patterns automatically. Robust to outliers and requires minimal feature engineering.</a:t>
            </a: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2590800"/>
            <a:ext cx="3818573" cy="95261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28" name="Shape 2">
            <a:extLst>
              <a:ext uri="{FF2B5EF4-FFF2-40B4-BE49-F238E27FC236}">
                <a16:creationId xmlns:a16="http://schemas.microsoft.com/office/drawing/2014/main" id="{E7F2EE5C-87C7-F16D-F9EF-EB811ED3C5B0}"/>
              </a:ext>
            </a:extLst>
          </p:cNvPr>
          <p:cNvSpPr/>
          <p:nvPr/>
        </p:nvSpPr>
        <p:spPr>
          <a:xfrm>
            <a:off x="533400" y="2221302"/>
            <a:ext cx="4114305" cy="5093898"/>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9" name="Text 3">
            <a:extLst>
              <a:ext uri="{FF2B5EF4-FFF2-40B4-BE49-F238E27FC236}">
                <a16:creationId xmlns:a16="http://schemas.microsoft.com/office/drawing/2014/main" id="{0DC3D8C5-049C-DD26-3357-58E00F542DB1}"/>
              </a:ext>
            </a:extLst>
          </p:cNvPr>
          <p:cNvSpPr/>
          <p:nvPr/>
        </p:nvSpPr>
        <p:spPr>
          <a:xfrm>
            <a:off x="726760" y="2449920"/>
            <a:ext cx="3713225" cy="2476441"/>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1. Regression-Based</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Linear regression for continuous variables, logistic regression for binary variables. Fast and interpretable, but assumes linear relationships. Works well when relationships are approximately linear.</a:t>
            </a: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30" name="Shape 5">
            <a:extLst>
              <a:ext uri="{FF2B5EF4-FFF2-40B4-BE49-F238E27FC236}">
                <a16:creationId xmlns:a16="http://schemas.microsoft.com/office/drawing/2014/main" id="{4C5EE8CA-E340-7264-83D8-CA41D716DE4C}"/>
              </a:ext>
            </a:extLst>
          </p:cNvPr>
          <p:cNvSpPr/>
          <p:nvPr/>
        </p:nvSpPr>
        <p:spPr>
          <a:xfrm>
            <a:off x="5257800" y="2209800"/>
            <a:ext cx="4114305" cy="5105400"/>
          </a:xfrm>
          <a:prstGeom prst="roundRect">
            <a:avLst>
              <a:gd name="adj" fmla="val 1410"/>
            </a:avLst>
          </a:prstGeom>
          <a:solidFill>
            <a:srgbClr val="F2EEEE"/>
          </a:solidFill>
          <a:ln/>
        </p:spPr>
      </p:sp>
      <p:sp>
        <p:nvSpPr>
          <p:cNvPr id="31" name="Text 6">
            <a:extLst>
              <a:ext uri="{FF2B5EF4-FFF2-40B4-BE49-F238E27FC236}">
                <a16:creationId xmlns:a16="http://schemas.microsoft.com/office/drawing/2014/main" id="{385EE126-84A2-761A-9E6E-6FA9D141EFBC}"/>
              </a:ext>
            </a:extLst>
          </p:cNvPr>
          <p:cNvSpPr/>
          <p:nvPr/>
        </p:nvSpPr>
        <p:spPr>
          <a:xfrm>
            <a:off x="5445044" y="2449920"/>
            <a:ext cx="3604657" cy="4865280"/>
          </a:xfrm>
          <a:prstGeom prst="rect">
            <a:avLst/>
          </a:prstGeom>
          <a:noFill/>
          <a:ln/>
        </p:spPr>
        <p:txBody>
          <a:bodyPr wrap="square" lIns="0" tIns="0" rIns="0" bIns="0" rtlCol="0" anchor="t"/>
          <a:lstStyle/>
          <a:p>
            <a:pPr algn="l">
              <a:lnSpc>
                <a:spcPct val="150000"/>
              </a:lnSpc>
            </a:pPr>
            <a:r>
              <a:rPr lang="en-US" sz="2400" dirty="0">
                <a:solidFill>
                  <a:srgbClr val="383838"/>
                </a:solidFill>
                <a:latin typeface="PT Serif" panose="020A0603040505020204" pitchFamily="18" charset="0"/>
                <a:ea typeface="PT Serif" pitchFamily="34" charset="-122"/>
                <a:cs typeface="PT Serif" pitchFamily="34" charset="-120"/>
              </a:rPr>
              <a:t>2. Iterative Method</a:t>
            </a:r>
            <a:endParaRPr lang="en-US" sz="2400" dirty="0">
              <a:latin typeface="PT Serif" panose="020A0603040505020204" pitchFamily="18" charset="0"/>
              <a:ea typeface="PT Serif" pitchFamily="34" charset="-122"/>
              <a:cs typeface="PT Serif" pitchFamily="34" charset="-120"/>
            </a:endParaRPr>
          </a:p>
          <a:p>
            <a:pPr algn="l">
              <a:lnSpc>
                <a:spcPct val="150000"/>
              </a:lnSpc>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Multiple Imputation by Chained Equations. Each variable is modeled iteratively, with predictions updated over multiple cycles. Handles complex dependencies and produces multiple imputed datasets for uncertainty quantification.</a:t>
            </a: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12" name="TextBox 11">
            <a:extLst>
              <a:ext uri="{FF2B5EF4-FFF2-40B4-BE49-F238E27FC236}">
                <a16:creationId xmlns:a16="http://schemas.microsoft.com/office/drawing/2014/main" id="{A5517214-6A0B-9176-5BCA-F94D23B8B471}"/>
              </a:ext>
            </a:extLst>
          </p:cNvPr>
          <p:cNvSpPr txBox="1"/>
          <p:nvPr/>
        </p:nvSpPr>
        <p:spPr>
          <a:xfrm>
            <a:off x="486924" y="1213655"/>
            <a:ext cx="14020800" cy="719812"/>
          </a:xfrm>
          <a:prstGeom prst="rect">
            <a:avLst/>
          </a:prstGeom>
          <a:noFill/>
        </p:spPr>
        <p:txBody>
          <a:bodyPr wrap="square">
            <a:spAutoFit/>
          </a:bodyPr>
          <a:lstStyle/>
          <a:p>
            <a:pPr marL="0" indent="0" algn="l">
              <a:lnSpc>
                <a:spcPts val="2500"/>
              </a:lnSpc>
              <a:buNone/>
            </a:pPr>
            <a:r>
              <a:rPr lang="en-US" dirty="0">
                <a:solidFill>
                  <a:srgbClr val="383838"/>
                </a:solidFill>
                <a:latin typeface="PT Serif" panose="020A0603040505020204" pitchFamily="18" charset="0"/>
                <a:ea typeface="DM Sans" pitchFamily="34" charset="-122"/>
                <a:cs typeface="DM Sans" pitchFamily="34" charset="-120"/>
              </a:rPr>
              <a:t>Model-based imputation treats the missing variable as a target and trains a predictive model using other features as predictors. This sophisticated approach captures complex relationships and interactions between variables.</a:t>
            </a:r>
            <a:endParaRPr lang="en-US" dirty="0">
              <a:latin typeface="PT Serif" panose="020A0603040505020204" pitchFamily="18" charset="0"/>
            </a:endParaRPr>
          </a:p>
        </p:txBody>
      </p:sp>
    </p:spTree>
    <p:extLst>
      <p:ext uri="{BB962C8B-B14F-4D97-AF65-F5344CB8AC3E}">
        <p14:creationId xmlns:p14="http://schemas.microsoft.com/office/powerpoint/2010/main" val="13135676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object 13">
            <a:extLst>
              <a:ext uri="{FF2B5EF4-FFF2-40B4-BE49-F238E27FC236}">
                <a16:creationId xmlns:a16="http://schemas.microsoft.com/office/drawing/2014/main" id="{9EDED71C-1B31-D97D-38B2-DAFD66018FF9}"/>
              </a:ext>
            </a:extLst>
          </p:cNvPr>
          <p:cNvGrpSpPr/>
          <p:nvPr/>
        </p:nvGrpSpPr>
        <p:grpSpPr>
          <a:xfrm>
            <a:off x="1295400" y="1817073"/>
            <a:ext cx="5865583" cy="1916727"/>
            <a:chOff x="793788" y="4631308"/>
            <a:chExt cx="6437630" cy="2974340"/>
          </a:xfrm>
        </p:grpSpPr>
        <p:sp>
          <p:nvSpPr>
            <p:cNvPr id="25" name="object 14">
              <a:extLst>
                <a:ext uri="{FF2B5EF4-FFF2-40B4-BE49-F238E27FC236}">
                  <a16:creationId xmlns:a16="http://schemas.microsoft.com/office/drawing/2014/main" id="{35293503-1DBD-8E87-3BE0-DDA71A76F25C}"/>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6" name="object 15">
              <a:extLst>
                <a:ext uri="{FF2B5EF4-FFF2-40B4-BE49-F238E27FC236}">
                  <a16:creationId xmlns:a16="http://schemas.microsoft.com/office/drawing/2014/main" id="{222A1FF6-5464-B670-5D90-F39A5749423F}"/>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21" name="object 13">
            <a:extLst>
              <a:ext uri="{FF2B5EF4-FFF2-40B4-BE49-F238E27FC236}">
                <a16:creationId xmlns:a16="http://schemas.microsoft.com/office/drawing/2014/main" id="{5D4C71A9-44DE-C30C-23FB-01ADE60A16CF}"/>
              </a:ext>
            </a:extLst>
          </p:cNvPr>
          <p:cNvGrpSpPr/>
          <p:nvPr/>
        </p:nvGrpSpPr>
        <p:grpSpPr>
          <a:xfrm>
            <a:off x="1275762" y="3859819"/>
            <a:ext cx="5885221" cy="1916728"/>
            <a:chOff x="793788" y="4631308"/>
            <a:chExt cx="6437630" cy="2974340"/>
          </a:xfrm>
        </p:grpSpPr>
        <p:sp>
          <p:nvSpPr>
            <p:cNvPr id="22" name="object 14">
              <a:extLst>
                <a:ext uri="{FF2B5EF4-FFF2-40B4-BE49-F238E27FC236}">
                  <a16:creationId xmlns:a16="http://schemas.microsoft.com/office/drawing/2014/main" id="{3AACB49F-E75F-EA46-C29E-950076399A3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3" name="object 15">
              <a:extLst>
                <a:ext uri="{FF2B5EF4-FFF2-40B4-BE49-F238E27FC236}">
                  <a16:creationId xmlns:a16="http://schemas.microsoft.com/office/drawing/2014/main" id="{6237666D-DF67-98DC-05C9-F9F742175B69}"/>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15" name="object 13">
            <a:extLst>
              <a:ext uri="{FF2B5EF4-FFF2-40B4-BE49-F238E27FC236}">
                <a16:creationId xmlns:a16="http://schemas.microsoft.com/office/drawing/2014/main" id="{E03DB111-066A-1466-380E-B1A5D264D147}"/>
              </a:ext>
            </a:extLst>
          </p:cNvPr>
          <p:cNvGrpSpPr/>
          <p:nvPr/>
        </p:nvGrpSpPr>
        <p:grpSpPr>
          <a:xfrm>
            <a:off x="7619566" y="3852527"/>
            <a:ext cx="5885221" cy="1924020"/>
            <a:chOff x="793788" y="4631308"/>
            <a:chExt cx="6437630" cy="2974340"/>
          </a:xfrm>
        </p:grpSpPr>
        <p:sp>
          <p:nvSpPr>
            <p:cNvPr id="16" name="object 14">
              <a:extLst>
                <a:ext uri="{FF2B5EF4-FFF2-40B4-BE49-F238E27FC236}">
                  <a16:creationId xmlns:a16="http://schemas.microsoft.com/office/drawing/2014/main" id="{692C152D-7A07-F647-B072-3F50C547CA6A}"/>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17" name="object 15">
              <a:extLst>
                <a:ext uri="{FF2B5EF4-FFF2-40B4-BE49-F238E27FC236}">
                  <a16:creationId xmlns:a16="http://schemas.microsoft.com/office/drawing/2014/main" id="{834CABA1-B7A9-4D1F-38E0-F9624839AD97}"/>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18" name="object 13">
            <a:extLst>
              <a:ext uri="{FF2B5EF4-FFF2-40B4-BE49-F238E27FC236}">
                <a16:creationId xmlns:a16="http://schemas.microsoft.com/office/drawing/2014/main" id="{ECB50A61-AEB7-0B14-8AE8-E898A2B99D8F}"/>
              </a:ext>
            </a:extLst>
          </p:cNvPr>
          <p:cNvGrpSpPr/>
          <p:nvPr/>
        </p:nvGrpSpPr>
        <p:grpSpPr>
          <a:xfrm>
            <a:off x="7621816" y="1820662"/>
            <a:ext cx="5865583" cy="1913138"/>
            <a:chOff x="793788" y="4631308"/>
            <a:chExt cx="6437630" cy="2974340"/>
          </a:xfrm>
        </p:grpSpPr>
        <p:sp>
          <p:nvSpPr>
            <p:cNvPr id="19" name="object 14">
              <a:extLst>
                <a:ext uri="{FF2B5EF4-FFF2-40B4-BE49-F238E27FC236}">
                  <a16:creationId xmlns:a16="http://schemas.microsoft.com/office/drawing/2014/main" id="{594874B8-2992-7984-EADD-99110A13FC67}"/>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0" name="object 15">
              <a:extLst>
                <a:ext uri="{FF2B5EF4-FFF2-40B4-BE49-F238E27FC236}">
                  <a16:creationId xmlns:a16="http://schemas.microsoft.com/office/drawing/2014/main" id="{AC59F4FA-A558-F930-8313-B0B11B9AD525}"/>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sp>
        <p:nvSpPr>
          <p:cNvPr id="2" name="object 2"/>
          <p:cNvSpPr txBox="1">
            <a:spLocks noGrp="1"/>
          </p:cNvSpPr>
          <p:nvPr>
            <p:ph type="title"/>
          </p:nvPr>
        </p:nvSpPr>
        <p:spPr>
          <a:xfrm>
            <a:off x="1143000" y="-20128"/>
            <a:ext cx="13656055" cy="765787"/>
          </a:xfrm>
          <a:prstGeom prst="rect">
            <a:avLst/>
          </a:prstGeom>
          <a:noFill/>
        </p:spPr>
        <p:txBody>
          <a:bodyPr vert="horz" wrap="square" lIns="0" tIns="220853" rIns="0" bIns="0" rtlCol="0">
            <a:spAutoFit/>
          </a:bodyPr>
          <a:lstStyle/>
          <a:p>
            <a:pPr marL="0" indent="0" algn="l">
              <a:lnSpc>
                <a:spcPts val="4350"/>
              </a:lnSpc>
              <a:buNone/>
            </a:pPr>
            <a:r>
              <a:rPr lang="en-US" sz="3600" dirty="0">
                <a:solidFill>
                  <a:srgbClr val="020202"/>
                </a:solidFill>
                <a:ea typeface="PT Serif" pitchFamily="34" charset="-122"/>
                <a:cs typeface="PT Serif" pitchFamily="34" charset="-120"/>
              </a:rPr>
              <a:t>Iterative Imputation Deep Dive</a:t>
            </a:r>
            <a:endParaRPr lang="en-US" sz="3600" dirty="0"/>
          </a:p>
        </p:txBody>
      </p:sp>
      <p:sp>
        <p:nvSpPr>
          <p:cNvPr id="8" name="Text 3">
            <a:extLst>
              <a:ext uri="{FF2B5EF4-FFF2-40B4-BE49-F238E27FC236}">
                <a16:creationId xmlns:a16="http://schemas.microsoft.com/office/drawing/2014/main" id="{A0D38183-3593-0CD5-9F87-5CFCC2BA96CD}"/>
              </a:ext>
            </a:extLst>
          </p:cNvPr>
          <p:cNvSpPr/>
          <p:nvPr/>
        </p:nvSpPr>
        <p:spPr>
          <a:xfrm>
            <a:off x="1728722" y="1952592"/>
            <a:ext cx="5188384" cy="8639208"/>
          </a:xfrm>
          <a:prstGeom prst="rect">
            <a:avLst/>
          </a:prstGeom>
          <a:noFill/>
          <a:ln/>
        </p:spPr>
        <p:txBody>
          <a:bodyPr wrap="square" lIns="0" tIns="0" rIns="0" bIns="0" rtlCol="0" anchor="t"/>
          <a:lstStyle/>
          <a:p>
            <a:pPr marL="0" indent="0" algn="ctr">
              <a:lnSpc>
                <a:spcPts val="2150"/>
              </a:lnSpc>
              <a:buNone/>
            </a:pPr>
            <a:r>
              <a:rPr lang="en-US" sz="2400" dirty="0">
                <a:solidFill>
                  <a:srgbClr val="383838"/>
                </a:solidFill>
                <a:latin typeface="PT Serif" panose="020A0603040505020204" pitchFamily="18" charset="0"/>
                <a:ea typeface="PT Serif" pitchFamily="34" charset="-122"/>
                <a:cs typeface="PT Serif" pitchFamily="34" charset="-120"/>
              </a:rPr>
              <a:t>Initialize</a:t>
            </a:r>
            <a:endParaRPr lang="en-US" sz="2400" dirty="0">
              <a:latin typeface="PT Serif" panose="020A0603040505020204" pitchFamily="18" charset="0"/>
            </a:endParaRPr>
          </a:p>
          <a:p>
            <a:pPr algn="ctr">
              <a:lnSpc>
                <a:spcPct val="150000"/>
              </a:lnSpc>
            </a:pPr>
            <a:endParaRPr lang="en-US" dirty="0">
              <a:solidFill>
                <a:srgbClr val="383838"/>
              </a:solidFill>
              <a:latin typeface="PT Serif" panose="020A0603040505020204" pitchFamily="18" charset="0"/>
            </a:endParaRPr>
          </a:p>
          <a:p>
            <a:pPr marL="0" indent="0" algn="ctr">
              <a:lnSpc>
                <a:spcPts val="2100"/>
              </a:lnSpc>
              <a:buNone/>
            </a:pPr>
            <a:r>
              <a:rPr lang="en-US" sz="1800" dirty="0">
                <a:solidFill>
                  <a:srgbClr val="383838"/>
                </a:solidFill>
                <a:latin typeface="PT Serif" panose="020A0603040505020204" pitchFamily="18" charset="0"/>
                <a:ea typeface="DM Sans" pitchFamily="34" charset="-122"/>
                <a:cs typeface="DM Sans" pitchFamily="34" charset="-120"/>
              </a:rPr>
              <a:t>Start with simple imputation (mean/median) for all missing values to create a complete dataset</a:t>
            </a:r>
            <a:endParaRPr lang="en-US" sz="1800" dirty="0">
              <a:latin typeface="PT Serif" panose="020A0603040505020204" pitchFamily="18" charset="0"/>
            </a:endParaRPr>
          </a:p>
          <a:p>
            <a:pPr marL="0" indent="0" algn="ctr">
              <a:lnSpc>
                <a:spcPct val="150000"/>
              </a:lnSpc>
              <a:buNone/>
            </a:pPr>
            <a:endParaRPr lang="en-US" dirty="0">
              <a:solidFill>
                <a:srgbClr val="383838"/>
              </a:solidFill>
              <a:latin typeface="PT Serif" panose="020A0603040505020204" pitchFamily="18" charset="0"/>
            </a:endParaRPr>
          </a:p>
          <a:p>
            <a:pPr marL="0" indent="0" algn="ctr">
              <a:lnSpc>
                <a:spcPct val="150000"/>
              </a:lnSpc>
              <a:buNone/>
            </a:pPr>
            <a:endParaRPr lang="en-US" dirty="0">
              <a:solidFill>
                <a:srgbClr val="383838"/>
              </a:solidFill>
              <a:latin typeface="PT Serif" panose="020A0603040505020204" pitchFamily="18" charset="0"/>
            </a:endParaRPr>
          </a:p>
          <a:p>
            <a:pPr marL="0" indent="0" algn="ctr">
              <a:lnSpc>
                <a:spcPts val="2150"/>
              </a:lnSpc>
              <a:buNone/>
            </a:pPr>
            <a:r>
              <a:rPr lang="en-US" sz="2400" dirty="0">
                <a:solidFill>
                  <a:srgbClr val="383838"/>
                </a:solidFill>
                <a:latin typeface="PT Serif" panose="020A0603040505020204" pitchFamily="18" charset="0"/>
                <a:ea typeface="PT Serif" pitchFamily="34" charset="-122"/>
                <a:cs typeface="PT Serif" pitchFamily="34" charset="-120"/>
              </a:rPr>
              <a:t>Iterate</a:t>
            </a:r>
            <a:endParaRPr lang="en-US" sz="2400" dirty="0">
              <a:latin typeface="PT Serif" panose="020A0603040505020204" pitchFamily="18" charset="0"/>
            </a:endParaRPr>
          </a:p>
          <a:p>
            <a:pPr algn="ctr">
              <a:lnSpc>
                <a:spcPct val="150000"/>
              </a:lnSpc>
            </a:pPr>
            <a:endParaRPr lang="en-US" dirty="0">
              <a:solidFill>
                <a:srgbClr val="383838"/>
              </a:solidFill>
              <a:latin typeface="PT Serif" panose="020A0603040505020204" pitchFamily="18" charset="0"/>
              <a:ea typeface="PT Serif" pitchFamily="34" charset="-122"/>
              <a:cs typeface="PT Serif" pitchFamily="34" charset="-120"/>
            </a:endParaRPr>
          </a:p>
          <a:p>
            <a:pPr marL="0" indent="0" algn="ctr">
              <a:lnSpc>
                <a:spcPts val="2100"/>
              </a:lnSpc>
              <a:buNone/>
            </a:pPr>
            <a:r>
              <a:rPr lang="en-US" sz="1800" dirty="0">
                <a:solidFill>
                  <a:srgbClr val="383838"/>
                </a:solidFill>
                <a:latin typeface="PT Serif" panose="020A0603040505020204" pitchFamily="18" charset="0"/>
                <a:ea typeface="DM Sans" pitchFamily="34" charset="-122"/>
                <a:cs typeface="DM Sans" pitchFamily="34" charset="-120"/>
              </a:rPr>
              <a:t>Repeat for each feature with missing values. Continue cycles until convergence (typically 5-10 rounds)</a:t>
            </a:r>
            <a:endParaRPr lang="en-US" sz="1800" dirty="0">
              <a:latin typeface="PT Serif" panose="020A0603040505020204" pitchFamily="18" charset="0"/>
            </a:endParaRPr>
          </a:p>
        </p:txBody>
      </p:sp>
      <p:sp>
        <p:nvSpPr>
          <p:cNvPr id="10" name="Text 6">
            <a:extLst>
              <a:ext uri="{FF2B5EF4-FFF2-40B4-BE49-F238E27FC236}">
                <a16:creationId xmlns:a16="http://schemas.microsoft.com/office/drawing/2014/main" id="{B7C25592-1A5D-94A2-1249-6AAE7946F079}"/>
              </a:ext>
            </a:extLst>
          </p:cNvPr>
          <p:cNvSpPr/>
          <p:nvPr/>
        </p:nvSpPr>
        <p:spPr>
          <a:xfrm>
            <a:off x="7848600" y="1931099"/>
            <a:ext cx="5476301" cy="4022331"/>
          </a:xfrm>
          <a:prstGeom prst="rect">
            <a:avLst/>
          </a:prstGeom>
          <a:noFill/>
          <a:ln/>
        </p:spPr>
        <p:txBody>
          <a:bodyPr wrap="square" lIns="0" tIns="0" rIns="0" bIns="0" rtlCol="0" anchor="t"/>
          <a:lstStyle/>
          <a:p>
            <a:pPr marL="0" indent="0" algn="ctr">
              <a:lnSpc>
                <a:spcPts val="2150"/>
              </a:lnSpc>
              <a:buNone/>
            </a:pPr>
            <a:r>
              <a:rPr lang="en-US" sz="2400" dirty="0">
                <a:solidFill>
                  <a:srgbClr val="383838"/>
                </a:solidFill>
                <a:latin typeface="PT Serif" panose="020A0603040505020204" pitchFamily="18" charset="0"/>
                <a:ea typeface="PT Serif" pitchFamily="34" charset="-122"/>
                <a:cs typeface="PT Serif" pitchFamily="34" charset="-120"/>
              </a:rPr>
              <a:t>Model Feature</a:t>
            </a:r>
            <a:endParaRPr lang="en-US" sz="2400" dirty="0">
              <a:latin typeface="PT Serif" panose="020A0603040505020204" pitchFamily="18" charset="0"/>
            </a:endParaRPr>
          </a:p>
          <a:p>
            <a:pPr algn="ctr">
              <a:lnSpc>
                <a:spcPct val="150000"/>
              </a:lnSpc>
            </a:pPr>
            <a:endParaRPr lang="en-US" dirty="0">
              <a:solidFill>
                <a:srgbClr val="383838"/>
              </a:solidFill>
              <a:latin typeface="PT Serif" panose="020A0603040505020204" pitchFamily="18" charset="0"/>
            </a:endParaRPr>
          </a:p>
          <a:p>
            <a:pPr marL="0" indent="0" algn="ctr">
              <a:lnSpc>
                <a:spcPts val="2100"/>
              </a:lnSpc>
              <a:buNone/>
            </a:pPr>
            <a:r>
              <a:rPr lang="en-US" sz="1800" dirty="0">
                <a:solidFill>
                  <a:srgbClr val="383838"/>
                </a:solidFill>
                <a:latin typeface="PT Serif" panose="020A0603040505020204" pitchFamily="18" charset="0"/>
                <a:ea typeface="DM Sans" pitchFamily="34" charset="-122"/>
                <a:cs typeface="DM Sans" pitchFamily="34" charset="-120"/>
              </a:rPr>
              <a:t>Select one feature with missing values. Train a model using other features as predictors on observed data</a:t>
            </a:r>
            <a:endParaRPr lang="en-US" dirty="0">
              <a:solidFill>
                <a:srgbClr val="383838"/>
              </a:solidFill>
              <a:latin typeface="PT Serif" panose="020A0603040505020204" pitchFamily="18" charset="0"/>
            </a:endParaRPr>
          </a:p>
          <a:p>
            <a:pPr algn="ctr">
              <a:lnSpc>
                <a:spcPct val="150000"/>
              </a:lnSpc>
            </a:pPr>
            <a:endParaRPr lang="en-US" dirty="0">
              <a:solidFill>
                <a:srgbClr val="383838"/>
              </a:solidFill>
              <a:latin typeface="PT Serif" panose="020A0603040505020204" pitchFamily="18" charset="0"/>
            </a:endParaRPr>
          </a:p>
          <a:p>
            <a:pPr algn="ctr">
              <a:lnSpc>
                <a:spcPct val="150000"/>
              </a:lnSpc>
            </a:pPr>
            <a:endParaRPr lang="en-US" dirty="0">
              <a:solidFill>
                <a:srgbClr val="383838"/>
              </a:solidFill>
              <a:latin typeface="PT Serif" panose="020A0603040505020204" pitchFamily="18" charset="0"/>
            </a:endParaRPr>
          </a:p>
          <a:p>
            <a:pPr marL="0" indent="0" algn="ctr">
              <a:lnSpc>
                <a:spcPts val="2150"/>
              </a:lnSpc>
              <a:buNone/>
            </a:pPr>
            <a:r>
              <a:rPr lang="en-US" sz="2400" dirty="0">
                <a:solidFill>
                  <a:srgbClr val="383838"/>
                </a:solidFill>
                <a:latin typeface="PT Serif" panose="020A0603040505020204" pitchFamily="18" charset="0"/>
                <a:ea typeface="PT Serif" pitchFamily="34" charset="-122"/>
                <a:cs typeface="PT Serif" pitchFamily="34" charset="-120"/>
              </a:rPr>
              <a:t>Predict &amp; Replace</a:t>
            </a:r>
            <a:endParaRPr lang="en-US" sz="2400" dirty="0">
              <a:latin typeface="PT Serif" panose="020A0603040505020204" pitchFamily="18" charset="0"/>
            </a:endParaRPr>
          </a:p>
          <a:p>
            <a:pPr algn="ctr">
              <a:lnSpc>
                <a:spcPct val="150000"/>
              </a:lnSpc>
            </a:pPr>
            <a:endParaRPr lang="en-US" dirty="0">
              <a:solidFill>
                <a:srgbClr val="383838"/>
              </a:solidFill>
              <a:latin typeface="PT Serif" panose="020A0603040505020204" pitchFamily="18" charset="0"/>
              <a:ea typeface="PT Serif" pitchFamily="34" charset="-122"/>
              <a:cs typeface="PT Serif" pitchFamily="34" charset="-120"/>
            </a:endParaRPr>
          </a:p>
          <a:p>
            <a:pPr marL="0" indent="0" algn="ctr">
              <a:lnSpc>
                <a:spcPts val="2100"/>
              </a:lnSpc>
              <a:buNone/>
            </a:pPr>
            <a:r>
              <a:rPr lang="en-US" sz="1800" dirty="0">
                <a:solidFill>
                  <a:srgbClr val="383838"/>
                </a:solidFill>
                <a:latin typeface="PT Serif" panose="020A0603040505020204" pitchFamily="18" charset="0"/>
                <a:ea typeface="DM Sans" pitchFamily="34" charset="-122"/>
                <a:cs typeface="DM Sans" pitchFamily="34" charset="-120"/>
              </a:rPr>
              <a:t>Use the trained model to predict missing values for that feature. Replace previous imputations with new predictions</a:t>
            </a:r>
            <a:endParaRPr lang="en-US" sz="1800" dirty="0">
              <a:latin typeface="PT Serif" panose="020A0603040505020204" pitchFamily="18" charset="0"/>
            </a:endParaRPr>
          </a:p>
          <a:p>
            <a:pPr algn="ctr">
              <a:lnSpc>
                <a:spcPct val="150000"/>
              </a:lnSpc>
            </a:pPr>
            <a:endParaRPr lang="en-US" dirty="0">
              <a:latin typeface="PT Serif" panose="020A0603040505020204" pitchFamily="18" charset="0"/>
            </a:endParaRPr>
          </a:p>
          <a:p>
            <a:pPr algn="ctr">
              <a:lnSpc>
                <a:spcPct val="150000"/>
              </a:lnSpc>
            </a:pPr>
            <a:endParaRPr lang="en-US" dirty="0">
              <a:latin typeface="PT Serif" panose="020A0603040505020204" pitchFamily="18" charset="0"/>
            </a:endParaRPr>
          </a:p>
          <a:p>
            <a:pPr algn="ctr">
              <a:lnSpc>
                <a:spcPct val="150000"/>
              </a:lnSpc>
            </a:pPr>
            <a:endParaRPr lang="en-US" dirty="0">
              <a:latin typeface="PT Serif" panose="020A0603040505020204" pitchFamily="18" charset="0"/>
            </a:endParaRPr>
          </a:p>
          <a:p>
            <a:pPr algn="ctr">
              <a:lnSpc>
                <a:spcPct val="150000"/>
              </a:lnSpc>
            </a:pPr>
            <a:endParaRPr lang="en-IN" dirty="0">
              <a:latin typeface="PT Serif" panose="020A0603040505020204" pitchFamily="18" charset="0"/>
            </a:endParaRPr>
          </a:p>
        </p:txBody>
      </p:sp>
      <p:sp>
        <p:nvSpPr>
          <p:cNvPr id="27" name="TextBox 26">
            <a:extLst>
              <a:ext uri="{FF2B5EF4-FFF2-40B4-BE49-F238E27FC236}">
                <a16:creationId xmlns:a16="http://schemas.microsoft.com/office/drawing/2014/main" id="{AED0B484-5014-E3EC-1BEF-E65F19CCDEC8}"/>
              </a:ext>
            </a:extLst>
          </p:cNvPr>
          <p:cNvSpPr txBox="1"/>
          <p:nvPr/>
        </p:nvSpPr>
        <p:spPr>
          <a:xfrm>
            <a:off x="1142999" y="950224"/>
            <a:ext cx="12344399" cy="630942"/>
          </a:xfrm>
          <a:prstGeom prst="rect">
            <a:avLst/>
          </a:prstGeom>
          <a:noFill/>
        </p:spPr>
        <p:txBody>
          <a:bodyPr wrap="square">
            <a:spAutoFit/>
          </a:bodyPr>
          <a:lstStyle/>
          <a:p>
            <a:pPr marL="0" indent="0" algn="l">
              <a:lnSpc>
                <a:spcPts val="2100"/>
              </a:lnSpc>
              <a:buNone/>
            </a:pPr>
            <a:r>
              <a:rPr lang="en-US" sz="1800" dirty="0">
                <a:solidFill>
                  <a:srgbClr val="383838"/>
                </a:solidFill>
                <a:latin typeface="PT Serif" panose="020A0603040505020204" pitchFamily="18" charset="0"/>
                <a:ea typeface="DM Sans" pitchFamily="34" charset="-122"/>
                <a:cs typeface="DM Sans" pitchFamily="34" charset="-120"/>
              </a:rPr>
              <a:t>Multiple Imputation by Chained Equations (MICE) is a powerful technique that iteratively models each feature with missing values as a function of other features in a round-robin fashion.</a:t>
            </a:r>
            <a:endParaRPr lang="en-US" sz="1800" dirty="0">
              <a:latin typeface="PT Serif" panose="020A0603040505020204" pitchFamily="18" charset="0"/>
            </a:endParaRPr>
          </a:p>
        </p:txBody>
      </p:sp>
      <p:sp>
        <p:nvSpPr>
          <p:cNvPr id="28" name="Shape 11">
            <a:extLst>
              <a:ext uri="{FF2B5EF4-FFF2-40B4-BE49-F238E27FC236}">
                <a16:creationId xmlns:a16="http://schemas.microsoft.com/office/drawing/2014/main" id="{5AE338F0-D59F-E023-DFF2-6EDD303CA77A}"/>
              </a:ext>
            </a:extLst>
          </p:cNvPr>
          <p:cNvSpPr/>
          <p:nvPr/>
        </p:nvSpPr>
        <p:spPr>
          <a:xfrm>
            <a:off x="1219200" y="6248400"/>
            <a:ext cx="12344399" cy="1332548"/>
          </a:xfrm>
          <a:prstGeom prst="roundRect">
            <a:avLst>
              <a:gd name="adj" fmla="val 1899"/>
            </a:avLst>
          </a:prstGeom>
          <a:solidFill>
            <a:srgbClr val="F2F2F2"/>
          </a:solidFill>
          <a:ln/>
        </p:spPr>
      </p:sp>
      <p:sp>
        <p:nvSpPr>
          <p:cNvPr id="29" name="Text 12">
            <a:extLst>
              <a:ext uri="{FF2B5EF4-FFF2-40B4-BE49-F238E27FC236}">
                <a16:creationId xmlns:a16="http://schemas.microsoft.com/office/drawing/2014/main" id="{37F2B2FF-BB7A-0A63-B20E-6A7377B87A67}"/>
              </a:ext>
            </a:extLst>
          </p:cNvPr>
          <p:cNvSpPr/>
          <p:nvPr/>
        </p:nvSpPr>
        <p:spPr>
          <a:xfrm>
            <a:off x="1387793" y="6374844"/>
            <a:ext cx="12722304" cy="1079659"/>
          </a:xfrm>
          <a:prstGeom prst="rect">
            <a:avLst/>
          </a:prstGeom>
          <a:noFill/>
          <a:ln/>
        </p:spPr>
        <p:txBody>
          <a:bodyPr wrap="square" lIns="0" tIns="0" rIns="0" bIns="0" rtlCol="0" anchor="t"/>
          <a:lstStyle/>
          <a:p>
            <a:pPr marL="0" indent="0" algn="l">
              <a:lnSpc>
                <a:spcPts val="2100"/>
              </a:lnSpc>
              <a:buNone/>
            </a:pPr>
            <a:r>
              <a:rPr lang="en-US" dirty="0">
                <a:solidFill>
                  <a:srgbClr val="383838"/>
                </a:solidFill>
                <a:highlight>
                  <a:srgbClr val="F2F2F2"/>
                </a:highlight>
                <a:latin typeface="PT Serif" panose="020A0603040505020204" pitchFamily="18" charset="0"/>
                <a:ea typeface="Consolas" pitchFamily="34" charset="-122"/>
                <a:cs typeface="Consolas" pitchFamily="34" charset="-120"/>
              </a:rPr>
              <a:t>from sklearn.impute import IterativeImputer</a:t>
            </a:r>
            <a:endParaRPr lang="en-US" dirty="0">
              <a:latin typeface="PT Serif" panose="020A0603040505020204" pitchFamily="18" charset="0"/>
            </a:endParaRPr>
          </a:p>
          <a:p>
            <a:pPr marL="0" indent="0" algn="l">
              <a:lnSpc>
                <a:spcPts val="2100"/>
              </a:lnSpc>
              <a:buNone/>
            </a:pPr>
            <a:endParaRPr lang="en-US" dirty="0">
              <a:latin typeface="PT Serif" panose="020A0603040505020204" pitchFamily="18" charset="0"/>
            </a:endParaRPr>
          </a:p>
          <a:p>
            <a:pPr marL="0" indent="0" algn="l">
              <a:lnSpc>
                <a:spcPts val="2100"/>
              </a:lnSpc>
              <a:buNone/>
            </a:pPr>
            <a:r>
              <a:rPr lang="en-US" dirty="0">
                <a:solidFill>
                  <a:srgbClr val="383838"/>
                </a:solidFill>
                <a:highlight>
                  <a:srgbClr val="F2F2F2"/>
                </a:highlight>
                <a:latin typeface="PT Serif" panose="020A0603040505020204" pitchFamily="18" charset="0"/>
                <a:ea typeface="Consolas" pitchFamily="34" charset="-122"/>
                <a:cs typeface="Consolas" pitchFamily="34" charset="-120"/>
              </a:rPr>
              <a:t>imputer = IterativeImputer(max_iter=10, random_state=42)</a:t>
            </a:r>
            <a:endParaRPr lang="en-US" dirty="0">
              <a:latin typeface="PT Serif" panose="020A0603040505020204" pitchFamily="18" charset="0"/>
            </a:endParaRPr>
          </a:p>
          <a:p>
            <a:pPr marL="0" indent="0" algn="l">
              <a:lnSpc>
                <a:spcPts val="2100"/>
              </a:lnSpc>
              <a:buNone/>
            </a:pPr>
            <a:r>
              <a:rPr lang="en-US" dirty="0">
                <a:solidFill>
                  <a:srgbClr val="383838"/>
                </a:solidFill>
                <a:highlight>
                  <a:srgbClr val="F2F2F2"/>
                </a:highlight>
                <a:latin typeface="PT Serif" panose="020A0603040505020204" pitchFamily="18" charset="0"/>
                <a:ea typeface="Consolas" pitchFamily="34" charset="-122"/>
                <a:cs typeface="Consolas" pitchFamily="34" charset="-120"/>
              </a:rPr>
              <a:t>X_imputed = imputer.fit_transform(X)</a:t>
            </a:r>
            <a:endParaRPr lang="en-US" dirty="0">
              <a:latin typeface="PT Serif" panose="020A0603040505020204" pitchFamily="18" charset="0"/>
            </a:endParaRPr>
          </a:p>
        </p:txBody>
      </p:sp>
    </p:spTree>
    <p:extLst>
      <p:ext uri="{BB962C8B-B14F-4D97-AF65-F5344CB8AC3E}">
        <p14:creationId xmlns:p14="http://schemas.microsoft.com/office/powerpoint/2010/main" val="2052919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object 13">
            <a:extLst>
              <a:ext uri="{FF2B5EF4-FFF2-40B4-BE49-F238E27FC236}">
                <a16:creationId xmlns:a16="http://schemas.microsoft.com/office/drawing/2014/main" id="{DBAE352C-0395-B1CB-0212-58064CF7E465}"/>
              </a:ext>
            </a:extLst>
          </p:cNvPr>
          <p:cNvGrpSpPr/>
          <p:nvPr/>
        </p:nvGrpSpPr>
        <p:grpSpPr>
          <a:xfrm>
            <a:off x="7621816" y="5277711"/>
            <a:ext cx="5885221" cy="2570890"/>
            <a:chOff x="793788" y="4631308"/>
            <a:chExt cx="6437630" cy="2974340"/>
          </a:xfrm>
        </p:grpSpPr>
        <p:sp>
          <p:nvSpPr>
            <p:cNvPr id="31" name="object 14">
              <a:extLst>
                <a:ext uri="{FF2B5EF4-FFF2-40B4-BE49-F238E27FC236}">
                  <a16:creationId xmlns:a16="http://schemas.microsoft.com/office/drawing/2014/main" id="{E30AAB97-6B43-14C7-9AF0-0ECAF17E5757}"/>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32" name="object 15">
              <a:extLst>
                <a:ext uri="{FF2B5EF4-FFF2-40B4-BE49-F238E27FC236}">
                  <a16:creationId xmlns:a16="http://schemas.microsoft.com/office/drawing/2014/main" id="{C81D3B91-B3FA-7989-D36E-30AC419956C9}"/>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27" name="object 13">
            <a:extLst>
              <a:ext uri="{FF2B5EF4-FFF2-40B4-BE49-F238E27FC236}">
                <a16:creationId xmlns:a16="http://schemas.microsoft.com/office/drawing/2014/main" id="{73D790DA-1C35-4AC4-6254-BAD80A5064E6}"/>
              </a:ext>
            </a:extLst>
          </p:cNvPr>
          <p:cNvGrpSpPr/>
          <p:nvPr/>
        </p:nvGrpSpPr>
        <p:grpSpPr>
          <a:xfrm>
            <a:off x="1332680" y="5257800"/>
            <a:ext cx="5885221" cy="2590801"/>
            <a:chOff x="793788" y="4631308"/>
            <a:chExt cx="6437630" cy="2974340"/>
          </a:xfrm>
        </p:grpSpPr>
        <p:sp>
          <p:nvSpPr>
            <p:cNvPr id="29" name="object 15">
              <a:extLst>
                <a:ext uri="{FF2B5EF4-FFF2-40B4-BE49-F238E27FC236}">
                  <a16:creationId xmlns:a16="http://schemas.microsoft.com/office/drawing/2014/main" id="{2FA9D2FD-4EEC-C3C0-5880-BBE537B1A9F9}"/>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sp>
          <p:nvSpPr>
            <p:cNvPr id="28" name="object 14">
              <a:extLst>
                <a:ext uri="{FF2B5EF4-FFF2-40B4-BE49-F238E27FC236}">
                  <a16:creationId xmlns:a16="http://schemas.microsoft.com/office/drawing/2014/main" id="{37C6AAFB-5105-E8C7-0F2A-CE02A7560C8E}"/>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grpSp>
      <p:grpSp>
        <p:nvGrpSpPr>
          <p:cNvPr id="24" name="object 13">
            <a:extLst>
              <a:ext uri="{FF2B5EF4-FFF2-40B4-BE49-F238E27FC236}">
                <a16:creationId xmlns:a16="http://schemas.microsoft.com/office/drawing/2014/main" id="{9EDED71C-1B31-D97D-38B2-DAFD66018FF9}"/>
              </a:ext>
            </a:extLst>
          </p:cNvPr>
          <p:cNvGrpSpPr/>
          <p:nvPr/>
        </p:nvGrpSpPr>
        <p:grpSpPr>
          <a:xfrm>
            <a:off x="1295400" y="1219199"/>
            <a:ext cx="5865583" cy="3733801"/>
            <a:chOff x="793788" y="4631308"/>
            <a:chExt cx="6437630" cy="2974340"/>
          </a:xfrm>
        </p:grpSpPr>
        <p:sp>
          <p:nvSpPr>
            <p:cNvPr id="25" name="object 14">
              <a:extLst>
                <a:ext uri="{FF2B5EF4-FFF2-40B4-BE49-F238E27FC236}">
                  <a16:creationId xmlns:a16="http://schemas.microsoft.com/office/drawing/2014/main" id="{35293503-1DBD-8E87-3BE0-DDA71A76F25C}"/>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6" name="object 15">
              <a:extLst>
                <a:ext uri="{FF2B5EF4-FFF2-40B4-BE49-F238E27FC236}">
                  <a16:creationId xmlns:a16="http://schemas.microsoft.com/office/drawing/2014/main" id="{222A1FF6-5464-B670-5D90-F39A5749423F}"/>
                </a:ext>
              </a:extLst>
            </p:cNvPr>
            <p:cNvSpPr/>
            <p:nvPr/>
          </p:nvSpPr>
          <p:spPr>
            <a:xfrm>
              <a:off x="816648" y="4654167"/>
              <a:ext cx="6391910" cy="584150"/>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18" name="object 13">
            <a:extLst>
              <a:ext uri="{FF2B5EF4-FFF2-40B4-BE49-F238E27FC236}">
                <a16:creationId xmlns:a16="http://schemas.microsoft.com/office/drawing/2014/main" id="{ECB50A61-AEB7-0B14-8AE8-E898A2B99D8F}"/>
              </a:ext>
            </a:extLst>
          </p:cNvPr>
          <p:cNvGrpSpPr/>
          <p:nvPr/>
        </p:nvGrpSpPr>
        <p:grpSpPr>
          <a:xfrm>
            <a:off x="7621816" y="1238115"/>
            <a:ext cx="5865583" cy="3714885"/>
            <a:chOff x="793788" y="4631308"/>
            <a:chExt cx="6437630" cy="2974340"/>
          </a:xfrm>
        </p:grpSpPr>
        <p:sp>
          <p:nvSpPr>
            <p:cNvPr id="19" name="object 14">
              <a:extLst>
                <a:ext uri="{FF2B5EF4-FFF2-40B4-BE49-F238E27FC236}">
                  <a16:creationId xmlns:a16="http://schemas.microsoft.com/office/drawing/2014/main" id="{594874B8-2992-7984-EADD-99110A13FC67}"/>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dirty="0">
                <a:latin typeface="PT Serif" panose="020A0603040505020204" pitchFamily="18" charset="0"/>
              </a:endParaRPr>
            </a:p>
          </p:txBody>
        </p:sp>
        <p:sp>
          <p:nvSpPr>
            <p:cNvPr id="20" name="object 15">
              <a:extLst>
                <a:ext uri="{FF2B5EF4-FFF2-40B4-BE49-F238E27FC236}">
                  <a16:creationId xmlns:a16="http://schemas.microsoft.com/office/drawing/2014/main" id="{AC59F4FA-A558-F930-8313-B0B11B9AD525}"/>
                </a:ext>
              </a:extLst>
            </p:cNvPr>
            <p:cNvSpPr/>
            <p:nvPr/>
          </p:nvSpPr>
          <p:spPr>
            <a:xfrm>
              <a:off x="816648" y="4654167"/>
              <a:ext cx="6391910" cy="572096"/>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sp>
        <p:nvSpPr>
          <p:cNvPr id="2" name="object 2"/>
          <p:cNvSpPr txBox="1">
            <a:spLocks noGrp="1"/>
          </p:cNvSpPr>
          <p:nvPr>
            <p:ph type="title"/>
          </p:nvPr>
        </p:nvSpPr>
        <p:spPr>
          <a:xfrm>
            <a:off x="1143000" y="-20128"/>
            <a:ext cx="13656055" cy="833113"/>
          </a:xfrm>
          <a:prstGeom prst="rect">
            <a:avLst/>
          </a:prstGeom>
          <a:noFill/>
        </p:spPr>
        <p:txBody>
          <a:bodyPr vert="horz" wrap="square" lIns="0" tIns="220853"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Advanced Configuration Options</a:t>
            </a:r>
            <a:endParaRPr lang="en-US" sz="3600" dirty="0"/>
          </a:p>
        </p:txBody>
      </p:sp>
      <p:sp>
        <p:nvSpPr>
          <p:cNvPr id="8" name="Text 3">
            <a:extLst>
              <a:ext uri="{FF2B5EF4-FFF2-40B4-BE49-F238E27FC236}">
                <a16:creationId xmlns:a16="http://schemas.microsoft.com/office/drawing/2014/main" id="{A0D38183-3593-0CD5-9F87-5CFCC2BA96CD}"/>
              </a:ext>
            </a:extLst>
          </p:cNvPr>
          <p:cNvSpPr/>
          <p:nvPr/>
        </p:nvSpPr>
        <p:spPr>
          <a:xfrm>
            <a:off x="1728722" y="1419192"/>
            <a:ext cx="5188384" cy="8639208"/>
          </a:xfrm>
          <a:prstGeom prst="rect">
            <a:avLst/>
          </a:prstGeom>
          <a:noFill/>
          <a:ln/>
        </p:spPr>
        <p:txBody>
          <a:bodyPr wrap="square" lIns="0" tIns="0" rIns="0" bIns="0" rtlCol="0" anchor="t"/>
          <a:lstStyle/>
          <a:p>
            <a:pPr marL="0" indent="0" algn="ctr">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Estimator Choice</a:t>
            </a:r>
            <a:endParaRPr lang="en-US" sz="2400" dirty="0">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Default is </a:t>
            </a:r>
            <a:r>
              <a:rPr lang="en-US" sz="1800" dirty="0" err="1">
                <a:solidFill>
                  <a:srgbClr val="383838"/>
                </a:solidFill>
                <a:latin typeface="PT Serif" panose="020A0603040505020204" pitchFamily="18" charset="0"/>
                <a:ea typeface="DM Sans" pitchFamily="34" charset="-122"/>
                <a:cs typeface="DM Sans" pitchFamily="34" charset="-120"/>
              </a:rPr>
              <a:t>BayesianRidge</a:t>
            </a:r>
            <a:r>
              <a:rPr lang="en-US" sz="1800" dirty="0">
                <a:solidFill>
                  <a:srgbClr val="383838"/>
                </a:solidFill>
                <a:latin typeface="PT Serif" panose="020A0603040505020204" pitchFamily="18" charset="0"/>
                <a:ea typeface="DM Sans" pitchFamily="34" charset="-122"/>
                <a:cs typeface="DM Sans" pitchFamily="34" charset="-120"/>
              </a:rPr>
              <a:t>, but you can specify any scikit-learn estimator. RandomForestRegressor often performs better for nonlinear data. Example: </a:t>
            </a:r>
            <a:r>
              <a:rPr lang="en-US" sz="1800" dirty="0">
                <a:solidFill>
                  <a:srgbClr val="383838"/>
                </a:solidFill>
                <a:highlight>
                  <a:srgbClr val="F2F2F2"/>
                </a:highlight>
                <a:latin typeface="PT Serif" panose="020A0603040505020204" pitchFamily="18" charset="0"/>
                <a:ea typeface="Consolas" pitchFamily="34" charset="-122"/>
                <a:cs typeface="Consolas" pitchFamily="34" charset="-120"/>
              </a:rPr>
              <a:t>IterativeImputer(estimator=RandomForestRegressor())</a:t>
            </a:r>
            <a:endParaRPr lang="en-US" sz="1800" dirty="0">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ndParaRPr>
          </a:p>
          <a:p>
            <a:pPr marL="0" indent="0" algn="ctr">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Imputation Order</a:t>
            </a:r>
            <a:endParaRPr lang="en-US" sz="2400" dirty="0">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Set </a:t>
            </a:r>
            <a:r>
              <a:rPr lang="en-US" sz="1800" dirty="0" err="1">
                <a:solidFill>
                  <a:srgbClr val="383838"/>
                </a:solidFill>
                <a:highlight>
                  <a:srgbClr val="F2F2F2"/>
                </a:highlight>
                <a:latin typeface="PT Serif" panose="020A0603040505020204" pitchFamily="18" charset="0"/>
                <a:ea typeface="Consolas" pitchFamily="34" charset="-122"/>
                <a:cs typeface="Consolas" pitchFamily="34" charset="-120"/>
              </a:rPr>
              <a:t>imputation_order</a:t>
            </a:r>
            <a:r>
              <a:rPr lang="en-US" sz="1800" dirty="0">
                <a:solidFill>
                  <a:srgbClr val="383838"/>
                </a:solidFill>
                <a:latin typeface="PT Serif" panose="020A0603040505020204" pitchFamily="18" charset="0"/>
                <a:ea typeface="DM Sans" pitchFamily="34" charset="-122"/>
                <a:cs typeface="DM Sans" pitchFamily="34" charset="-120"/>
              </a:rPr>
              <a:t> to 'ascending' (least to most missing), 'descending', 'roman' (left to right), or 'random'. Order can affect convergence speed.</a:t>
            </a:r>
            <a:endParaRPr lang="en-US" sz="1800" dirty="0">
              <a:latin typeface="PT Serif" panose="020A0603040505020204" pitchFamily="18" charset="0"/>
            </a:endParaRPr>
          </a:p>
        </p:txBody>
      </p:sp>
      <p:sp>
        <p:nvSpPr>
          <p:cNvPr id="10" name="Text 6">
            <a:extLst>
              <a:ext uri="{FF2B5EF4-FFF2-40B4-BE49-F238E27FC236}">
                <a16:creationId xmlns:a16="http://schemas.microsoft.com/office/drawing/2014/main" id="{B7C25592-1A5D-94A2-1249-6AAE7946F079}"/>
              </a:ext>
            </a:extLst>
          </p:cNvPr>
          <p:cNvSpPr/>
          <p:nvPr/>
        </p:nvSpPr>
        <p:spPr>
          <a:xfrm>
            <a:off x="7800521" y="1348727"/>
            <a:ext cx="5476301" cy="4698301"/>
          </a:xfrm>
          <a:prstGeom prst="rect">
            <a:avLst/>
          </a:prstGeom>
          <a:noFill/>
          <a:ln/>
        </p:spPr>
        <p:txBody>
          <a:bodyPr wrap="square" lIns="0" tIns="0" rIns="0" bIns="0" rtlCol="0" anchor="t"/>
          <a:lstStyle/>
          <a:p>
            <a:pPr marL="0" indent="0" algn="ctr">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Iteration Control</a:t>
            </a:r>
            <a:endParaRPr lang="en-US" sz="2400" dirty="0">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Control convergence with </a:t>
            </a:r>
            <a:r>
              <a:rPr lang="en-US" sz="1800" dirty="0" err="1">
                <a:solidFill>
                  <a:srgbClr val="383838"/>
                </a:solidFill>
                <a:highlight>
                  <a:srgbClr val="F2F2F2"/>
                </a:highlight>
                <a:latin typeface="PT Serif" panose="020A0603040505020204" pitchFamily="18" charset="0"/>
                <a:ea typeface="Consolas" pitchFamily="34" charset="-122"/>
                <a:cs typeface="Consolas" pitchFamily="34" charset="-120"/>
              </a:rPr>
              <a:t>max_iter</a:t>
            </a:r>
            <a:r>
              <a:rPr lang="en-US" sz="1800" dirty="0">
                <a:solidFill>
                  <a:srgbClr val="383838"/>
                </a:solidFill>
                <a:latin typeface="PT Serif" panose="020A0603040505020204" pitchFamily="18" charset="0"/>
                <a:ea typeface="DM Sans" pitchFamily="34" charset="-122"/>
                <a:cs typeface="DM Sans" pitchFamily="34" charset="-120"/>
              </a:rPr>
              <a:t> (number of rounds) and </a:t>
            </a:r>
            <a:r>
              <a:rPr lang="en-US" sz="1800" dirty="0" err="1">
                <a:solidFill>
                  <a:srgbClr val="383838"/>
                </a:solidFill>
                <a:highlight>
                  <a:srgbClr val="F2F2F2"/>
                </a:highlight>
                <a:latin typeface="PT Serif" panose="020A0603040505020204" pitchFamily="18" charset="0"/>
                <a:ea typeface="Consolas" pitchFamily="34" charset="-122"/>
                <a:cs typeface="Consolas" pitchFamily="34" charset="-120"/>
              </a:rPr>
              <a:t>tol</a:t>
            </a:r>
            <a:r>
              <a:rPr lang="en-US" sz="1800" dirty="0">
                <a:solidFill>
                  <a:srgbClr val="383838"/>
                </a:solidFill>
                <a:latin typeface="PT Serif" panose="020A0603040505020204" pitchFamily="18" charset="0"/>
                <a:ea typeface="DM Sans" pitchFamily="34" charset="-122"/>
                <a:cs typeface="DM Sans" pitchFamily="34" charset="-120"/>
              </a:rPr>
              <a:t> (convergence threshold). Monitor convergence by tracking imputation stability across iterations.</a:t>
            </a:r>
            <a:endParaRPr lang="en-US" sz="1800" dirty="0">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ndParaRPr>
          </a:p>
          <a:p>
            <a:pPr marL="0" indent="0" algn="ctr">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Missing Indicators</a:t>
            </a:r>
            <a:endParaRPr lang="en-US" sz="2400" dirty="0">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Use </a:t>
            </a:r>
            <a:r>
              <a:rPr lang="en-US" sz="1800" dirty="0" err="1">
                <a:solidFill>
                  <a:srgbClr val="383838"/>
                </a:solidFill>
                <a:highlight>
                  <a:srgbClr val="F2F2F2"/>
                </a:highlight>
                <a:latin typeface="PT Serif" panose="020A0603040505020204" pitchFamily="18" charset="0"/>
                <a:ea typeface="Consolas" pitchFamily="34" charset="-122"/>
                <a:cs typeface="Consolas" pitchFamily="34" charset="-120"/>
              </a:rPr>
              <a:t>add_indicator</a:t>
            </a:r>
            <a:r>
              <a:rPr lang="en-US" sz="1800" dirty="0">
                <a:solidFill>
                  <a:srgbClr val="383838"/>
                </a:solidFill>
                <a:highlight>
                  <a:srgbClr val="F2F2F2"/>
                </a:highlight>
                <a:latin typeface="PT Serif" panose="020A0603040505020204" pitchFamily="18" charset="0"/>
                <a:ea typeface="Consolas" pitchFamily="34" charset="-122"/>
                <a:cs typeface="Consolas" pitchFamily="34" charset="-120"/>
              </a:rPr>
              <a:t>=True</a:t>
            </a:r>
            <a:r>
              <a:rPr lang="en-US" sz="1800" dirty="0">
                <a:solidFill>
                  <a:srgbClr val="383838"/>
                </a:solidFill>
                <a:latin typeface="PT Serif" panose="020A0603040505020204" pitchFamily="18" charset="0"/>
                <a:ea typeface="DM Sans" pitchFamily="34" charset="-122"/>
                <a:cs typeface="DM Sans" pitchFamily="34" charset="-120"/>
              </a:rPr>
              <a:t> to append binary indicators showing which values were originally missing. Helps models learn from missingness patterns.</a:t>
            </a:r>
            <a:endParaRPr lang="en-US" sz="1800" dirty="0">
              <a:latin typeface="PT Serif" panose="020A0603040505020204" pitchFamily="18" charset="0"/>
            </a:endParaRPr>
          </a:p>
          <a:p>
            <a:pPr algn="l">
              <a:lnSpc>
                <a:spcPct val="150000"/>
              </a:lnSpc>
            </a:pPr>
            <a:endParaRPr lang="en-US" dirty="0">
              <a:latin typeface="PT Serif" panose="020A0603040505020204" pitchFamily="18" charset="0"/>
            </a:endParaRPr>
          </a:p>
          <a:p>
            <a:pPr algn="l">
              <a:lnSpc>
                <a:spcPct val="150000"/>
              </a:lnSpc>
            </a:pPr>
            <a:endParaRPr lang="en-US" dirty="0">
              <a:latin typeface="PT Serif" panose="020A0603040505020204" pitchFamily="18" charset="0"/>
            </a:endParaRPr>
          </a:p>
          <a:p>
            <a:pPr algn="l">
              <a:lnSpc>
                <a:spcPct val="150000"/>
              </a:lnSpc>
            </a:pPr>
            <a:endParaRPr lang="en-US" dirty="0">
              <a:latin typeface="PT Serif" panose="020A0603040505020204" pitchFamily="18" charset="0"/>
            </a:endParaRPr>
          </a:p>
          <a:p>
            <a:pPr>
              <a:lnSpc>
                <a:spcPct val="150000"/>
              </a:lnSpc>
            </a:pPr>
            <a:endParaRPr lang="en-IN" dirty="0">
              <a:latin typeface="PT Serif" panose="020A0603040505020204" pitchFamily="18" charset="0"/>
            </a:endParaRPr>
          </a:p>
        </p:txBody>
      </p:sp>
    </p:spTree>
    <p:extLst>
      <p:ext uri="{BB962C8B-B14F-4D97-AF65-F5344CB8AC3E}">
        <p14:creationId xmlns:p14="http://schemas.microsoft.com/office/powerpoint/2010/main" val="4167833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2708" y="-180316"/>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Tree-Based Imputation Advantages</a:t>
            </a:r>
            <a:endParaRPr lang="en-US" sz="3600" dirty="0"/>
          </a:p>
        </p:txBody>
      </p:sp>
      <p:sp>
        <p:nvSpPr>
          <p:cNvPr id="15" name="Text 7">
            <a:extLst>
              <a:ext uri="{FF2B5EF4-FFF2-40B4-BE49-F238E27FC236}">
                <a16:creationId xmlns:a16="http://schemas.microsoft.com/office/drawing/2014/main" id="{36221D7B-8D1F-CF5A-6FD1-DA6DD3F7C3CC}"/>
              </a:ext>
            </a:extLst>
          </p:cNvPr>
          <p:cNvSpPr/>
          <p:nvPr/>
        </p:nvSpPr>
        <p:spPr>
          <a:xfrm>
            <a:off x="5643399" y="3678192"/>
            <a:ext cx="3818692" cy="127015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9893314" y="2485547"/>
            <a:ext cx="3818574" cy="4648200"/>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108924" y="2672455"/>
            <a:ext cx="3602964" cy="2313740"/>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Robust to Outliers</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Less sensitive to extreme values compared to regression-based methods because splits are based on rank ordering rather than absolute distances. No need for extensive outlier treatment before imputation.</a:t>
            </a:r>
            <a:endParaRPr lang="en-US" sz="1800" dirty="0">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2590800"/>
            <a:ext cx="3818573" cy="95261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28" name="Shape 2">
            <a:extLst>
              <a:ext uri="{FF2B5EF4-FFF2-40B4-BE49-F238E27FC236}">
                <a16:creationId xmlns:a16="http://schemas.microsoft.com/office/drawing/2014/main" id="{E7F2EE5C-87C7-F16D-F9EF-EB811ED3C5B0}"/>
              </a:ext>
            </a:extLst>
          </p:cNvPr>
          <p:cNvSpPr/>
          <p:nvPr/>
        </p:nvSpPr>
        <p:spPr>
          <a:xfrm>
            <a:off x="533400" y="2449902"/>
            <a:ext cx="4114305" cy="4636698"/>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9" name="Text 3">
            <a:extLst>
              <a:ext uri="{FF2B5EF4-FFF2-40B4-BE49-F238E27FC236}">
                <a16:creationId xmlns:a16="http://schemas.microsoft.com/office/drawing/2014/main" id="{0DC3D8C5-049C-DD26-3357-58E00F542DB1}"/>
              </a:ext>
            </a:extLst>
          </p:cNvPr>
          <p:cNvSpPr/>
          <p:nvPr/>
        </p:nvSpPr>
        <p:spPr>
          <a:xfrm>
            <a:off x="726760" y="2678520"/>
            <a:ext cx="3713225" cy="2476441"/>
          </a:xfrm>
          <a:prstGeom prst="rect">
            <a:avLst/>
          </a:prstGeom>
          <a:noFill/>
          <a:ln/>
        </p:spPr>
        <p:txBody>
          <a:bodyPr wrap="square" lIns="0" tIns="0" rIns="0" bIns="0" rtlCol="0" anchor="t"/>
          <a:lstStyle/>
          <a:p>
            <a:pPr algn="l">
              <a:lnSpc>
                <a:spcPct val="150000"/>
              </a:lnSpc>
            </a:pPr>
            <a:r>
              <a:rPr lang="en-US" sz="2400" dirty="0">
                <a:solidFill>
                  <a:srgbClr val="383838"/>
                </a:solidFill>
                <a:latin typeface="PT Serif" panose="020A0603040505020204" pitchFamily="18" charset="0"/>
                <a:ea typeface="PT Serif" pitchFamily="34" charset="-122"/>
                <a:cs typeface="PT Serif" pitchFamily="34" charset="-120"/>
              </a:rPr>
              <a:t>Nonlinear Relationships</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Decision trees and Random Forests naturally capture complex, nonlinear patterns between variables that linear regression methods would miss entirely. No need to manually specify interaction terms or polynomial features.</a:t>
            </a: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30" name="Shape 5">
            <a:extLst>
              <a:ext uri="{FF2B5EF4-FFF2-40B4-BE49-F238E27FC236}">
                <a16:creationId xmlns:a16="http://schemas.microsoft.com/office/drawing/2014/main" id="{4C5EE8CA-E340-7264-83D8-CA41D716DE4C}"/>
              </a:ext>
            </a:extLst>
          </p:cNvPr>
          <p:cNvSpPr/>
          <p:nvPr/>
        </p:nvSpPr>
        <p:spPr>
          <a:xfrm>
            <a:off x="5257800" y="2438400"/>
            <a:ext cx="4114305" cy="4648200"/>
          </a:xfrm>
          <a:prstGeom prst="roundRect">
            <a:avLst>
              <a:gd name="adj" fmla="val 1410"/>
            </a:avLst>
          </a:prstGeom>
          <a:solidFill>
            <a:srgbClr val="F2EEEE"/>
          </a:solidFill>
          <a:ln/>
        </p:spPr>
      </p:sp>
      <p:sp>
        <p:nvSpPr>
          <p:cNvPr id="31" name="Text 6">
            <a:extLst>
              <a:ext uri="{FF2B5EF4-FFF2-40B4-BE49-F238E27FC236}">
                <a16:creationId xmlns:a16="http://schemas.microsoft.com/office/drawing/2014/main" id="{385EE126-84A2-761A-9E6E-6FA9D141EFBC}"/>
              </a:ext>
            </a:extLst>
          </p:cNvPr>
          <p:cNvSpPr/>
          <p:nvPr/>
        </p:nvSpPr>
        <p:spPr>
          <a:xfrm>
            <a:off x="5445044" y="2678520"/>
            <a:ext cx="3604657" cy="4865280"/>
          </a:xfrm>
          <a:prstGeom prst="rect">
            <a:avLst/>
          </a:prstGeom>
          <a:noFill/>
          <a:ln/>
        </p:spPr>
        <p:txBody>
          <a:bodyPr wrap="square" lIns="0" tIns="0" rIns="0" bIns="0" rtlCol="0" anchor="t"/>
          <a:lstStyle/>
          <a:p>
            <a:pPr marL="0" indent="0" algn="l">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Automatic Interactions</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Tree-based models handle feature interactions automatically through their hierarchical splitting structure. They discover relevant combinations of features without manual feature engineering or domain knowledge.</a:t>
            </a:r>
            <a:endParaRPr lang="en-US" sz="1800" dirty="0">
              <a:latin typeface="PT Serif" panose="020A0603040505020204" pitchFamily="18" charset="0"/>
            </a:endParaRPr>
          </a:p>
          <a:p>
            <a:pPr algn="l">
              <a:lnSpc>
                <a:spcPct val="150000"/>
              </a:lnSpc>
              <a:buSzPct val="100000"/>
            </a:pP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12" name="TextBox 11">
            <a:extLst>
              <a:ext uri="{FF2B5EF4-FFF2-40B4-BE49-F238E27FC236}">
                <a16:creationId xmlns:a16="http://schemas.microsoft.com/office/drawing/2014/main" id="{A5517214-6A0B-9176-5BCA-F94D23B8B471}"/>
              </a:ext>
            </a:extLst>
          </p:cNvPr>
          <p:cNvSpPr txBox="1"/>
          <p:nvPr/>
        </p:nvSpPr>
        <p:spPr>
          <a:xfrm>
            <a:off x="533400" y="850462"/>
            <a:ext cx="14020800" cy="1848776"/>
          </a:xfrm>
          <a:prstGeom prst="rect">
            <a:avLst/>
          </a:prstGeom>
          <a:noFill/>
        </p:spPr>
        <p:txBody>
          <a:bodyPr wrap="square">
            <a:spAutoFit/>
          </a:bodyPr>
          <a:lstStyle/>
          <a:p>
            <a:pPr marL="0" indent="0" algn="l">
              <a:lnSpc>
                <a:spcPct val="150000"/>
              </a:lnSpc>
              <a:buNone/>
            </a:pPr>
            <a:r>
              <a:rPr lang="en-US" sz="2400" dirty="0">
                <a:solidFill>
                  <a:srgbClr val="020202"/>
                </a:solidFill>
                <a:latin typeface="PT Serif" panose="020A0603040505020204" pitchFamily="18" charset="0"/>
                <a:ea typeface="PT Serif" pitchFamily="34" charset="-122"/>
                <a:cs typeface="PT Serif" pitchFamily="34" charset="-120"/>
              </a:rPr>
              <a:t>What is Class Weight?</a:t>
            </a:r>
            <a:endParaRPr lang="en-US" sz="2400" dirty="0">
              <a:latin typeface="PT Serif" panose="020A0603040505020204" pitchFamily="18" charset="0"/>
            </a:endParaRPr>
          </a:p>
          <a:p>
            <a:pPr algn="l">
              <a:lnSpc>
                <a:spcPct val="150000"/>
              </a:lnSpc>
            </a:pPr>
            <a:r>
              <a:rPr lang="en-US" sz="1800" dirty="0">
                <a:solidFill>
                  <a:srgbClr val="383838"/>
                </a:solidFill>
                <a:latin typeface="PT Serif" panose="020A0603040505020204" pitchFamily="18" charset="0"/>
                <a:ea typeface="DM Sans" pitchFamily="34" charset="-122"/>
                <a:cs typeface="DM Sans" pitchFamily="34" charset="-120"/>
              </a:rPr>
              <a:t>Assign higher weight to minority class so the model penalizes misclassification more heavily during training. No need to modify the actual training data.</a:t>
            </a:r>
            <a:endParaRPr lang="en-US" sz="1800" dirty="0">
              <a:latin typeface="PT Serif" panose="020A0603040505020204" pitchFamily="18" charset="0"/>
            </a:endParaRPr>
          </a:p>
          <a:p>
            <a:pPr marL="0" indent="0" algn="l">
              <a:lnSpc>
                <a:spcPct val="150000"/>
              </a:lnSpc>
              <a:buNone/>
            </a:pPr>
            <a:endParaRPr lang="en-US" sz="1800" dirty="0">
              <a:latin typeface="PT Serif" panose="020A0603040505020204" pitchFamily="18" charset="0"/>
            </a:endParaRPr>
          </a:p>
        </p:txBody>
      </p:sp>
      <p:sp>
        <p:nvSpPr>
          <p:cNvPr id="13" name="TextBox 12">
            <a:extLst>
              <a:ext uri="{FF2B5EF4-FFF2-40B4-BE49-F238E27FC236}">
                <a16:creationId xmlns:a16="http://schemas.microsoft.com/office/drawing/2014/main" id="{A49A1270-38AD-77B8-B62C-70BFBFEAB811}"/>
              </a:ext>
            </a:extLst>
          </p:cNvPr>
          <p:cNvSpPr txBox="1"/>
          <p:nvPr/>
        </p:nvSpPr>
        <p:spPr>
          <a:xfrm>
            <a:off x="533400" y="7396741"/>
            <a:ext cx="14020800" cy="713209"/>
          </a:xfrm>
          <a:prstGeom prst="rect">
            <a:avLst/>
          </a:prstGeom>
          <a:noFill/>
        </p:spPr>
        <p:txBody>
          <a:bodyPr wrap="square">
            <a:spAutoFit/>
          </a:bodyPr>
          <a:lstStyle/>
          <a:p>
            <a:pPr marL="0" indent="0" algn="l">
              <a:lnSpc>
                <a:spcPts val="2500"/>
              </a:lnSpc>
              <a:buNone/>
            </a:pPr>
            <a:r>
              <a:rPr lang="en-US" sz="1800" b="1" dirty="0">
                <a:solidFill>
                  <a:srgbClr val="383838"/>
                </a:solidFill>
                <a:latin typeface="PT Serif" panose="020A0603040505020204" pitchFamily="18" charset="0"/>
                <a:ea typeface="DM Sans" pitchFamily="34" charset="-122"/>
                <a:cs typeface="DM Sans" pitchFamily="34" charset="-120"/>
              </a:rPr>
              <a:t>Limitations:</a:t>
            </a:r>
            <a:r>
              <a:rPr lang="en-US" sz="1800" dirty="0">
                <a:solidFill>
                  <a:srgbClr val="383838"/>
                </a:solidFill>
                <a:latin typeface="PT Serif" panose="020A0603040505020204" pitchFamily="18" charset="0"/>
                <a:ea typeface="DM Sans" pitchFamily="34" charset="-122"/>
                <a:cs typeface="DM Sans" pitchFamily="34" charset="-120"/>
              </a:rPr>
              <a:t> Higher computational cost, risk of overfitting in small datasets, and difficulty tuning hyperparameters. Use cross-validation to optimize tree depth and ensemble size.</a:t>
            </a:r>
            <a:endParaRPr lang="en-US" sz="1800" dirty="0">
              <a:latin typeface="PT Serif" panose="020A0603040505020204" pitchFamily="18" charset="0"/>
            </a:endParaRPr>
          </a:p>
        </p:txBody>
      </p:sp>
    </p:spTree>
    <p:extLst>
      <p:ext uri="{BB962C8B-B14F-4D97-AF65-F5344CB8AC3E}">
        <p14:creationId xmlns:p14="http://schemas.microsoft.com/office/powerpoint/2010/main" val="3410380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3">
            <a:extLst>
              <a:ext uri="{FF2B5EF4-FFF2-40B4-BE49-F238E27FC236}">
                <a16:creationId xmlns:a16="http://schemas.microsoft.com/office/drawing/2014/main" id="{9369341D-5539-C049-A91E-2FC610E99243}"/>
              </a:ext>
            </a:extLst>
          </p:cNvPr>
          <p:cNvSpPr/>
          <p:nvPr/>
        </p:nvSpPr>
        <p:spPr>
          <a:xfrm>
            <a:off x="655313" y="1259999"/>
            <a:ext cx="6563215" cy="4059118"/>
          </a:xfrm>
          <a:prstGeom prst="roundRect">
            <a:avLst>
              <a:gd name="adj" fmla="val 944"/>
            </a:avLst>
          </a:prstGeom>
          <a:solidFill>
            <a:srgbClr val="F2F2F2"/>
          </a:solidFill>
          <a:ln/>
        </p:spPr>
      </p:sp>
      <p:sp>
        <p:nvSpPr>
          <p:cNvPr id="11" name="Shape 8">
            <a:extLst>
              <a:ext uri="{FF2B5EF4-FFF2-40B4-BE49-F238E27FC236}">
                <a16:creationId xmlns:a16="http://schemas.microsoft.com/office/drawing/2014/main" id="{0B4DD33D-029E-E19D-5E9E-D1FAFF508A73}"/>
              </a:ext>
            </a:extLst>
          </p:cNvPr>
          <p:cNvSpPr/>
          <p:nvPr/>
        </p:nvSpPr>
        <p:spPr>
          <a:xfrm>
            <a:off x="7541419" y="1278734"/>
            <a:ext cx="6631116" cy="4473031"/>
          </a:xfrm>
          <a:prstGeom prst="roundRect">
            <a:avLst>
              <a:gd name="adj" fmla="val 786"/>
            </a:avLst>
          </a:prstGeom>
          <a:solidFill>
            <a:srgbClr val="F2F2F2"/>
          </a:solidFill>
          <a:ln/>
        </p:spPr>
      </p:sp>
      <p:sp>
        <p:nvSpPr>
          <p:cNvPr id="2" name="Title 1">
            <a:extLst>
              <a:ext uri="{FF2B5EF4-FFF2-40B4-BE49-F238E27FC236}">
                <a16:creationId xmlns:a16="http://schemas.microsoft.com/office/drawing/2014/main" id="{1AF5F867-227F-F651-FC34-3FCED6E437F3}"/>
              </a:ext>
            </a:extLst>
          </p:cNvPr>
          <p:cNvSpPr>
            <a:spLocks noGrp="1"/>
          </p:cNvSpPr>
          <p:nvPr>
            <p:ph type="title"/>
          </p:nvPr>
        </p:nvSpPr>
        <p:spPr>
          <a:xfrm>
            <a:off x="516480" y="445718"/>
            <a:ext cx="13656055" cy="581249"/>
          </a:xfrm>
        </p:spPr>
        <p:txBody>
          <a:bodyPr/>
          <a:lstStyle/>
          <a:p>
            <a:pPr marL="0" indent="0" algn="l">
              <a:lnSpc>
                <a:spcPts val="4800"/>
              </a:lnSpc>
              <a:buNone/>
            </a:pPr>
            <a:r>
              <a:rPr lang="en-US" sz="3600" dirty="0">
                <a:solidFill>
                  <a:srgbClr val="020202"/>
                </a:solidFill>
                <a:ea typeface="PT Serif" pitchFamily="34" charset="-122"/>
                <a:cs typeface="PT Serif" pitchFamily="34" charset="-120"/>
              </a:rPr>
              <a:t>Model-Based Imputation: Practical Implementation</a:t>
            </a:r>
            <a:endParaRPr lang="en-US" sz="3600" dirty="0"/>
          </a:p>
        </p:txBody>
      </p:sp>
      <p:sp>
        <p:nvSpPr>
          <p:cNvPr id="9" name="Content Placeholder 8">
            <a:extLst>
              <a:ext uri="{FF2B5EF4-FFF2-40B4-BE49-F238E27FC236}">
                <a16:creationId xmlns:a16="http://schemas.microsoft.com/office/drawing/2014/main" id="{5B38A43E-AF4F-DC1A-62B4-EC99CCDD19FF}"/>
              </a:ext>
            </a:extLst>
          </p:cNvPr>
          <p:cNvSpPr>
            <a:spLocks noGrp="1"/>
          </p:cNvSpPr>
          <p:nvPr>
            <p:ph sz="half" idx="2"/>
          </p:nvPr>
        </p:nvSpPr>
        <p:spPr>
          <a:xfrm>
            <a:off x="882932" y="1447800"/>
            <a:ext cx="6364224" cy="7123297"/>
          </a:xfrm>
        </p:spPr>
        <p:txBody>
          <a:bodyPr/>
          <a:lstStyle/>
          <a:p>
            <a:pPr algn="l">
              <a:lnSpc>
                <a:spcPts val="2350"/>
              </a:lnSpc>
            </a:pPr>
            <a:r>
              <a:rPr lang="en-US" sz="2400" dirty="0">
                <a:solidFill>
                  <a:srgbClr val="020202"/>
                </a:solidFill>
                <a:latin typeface="PT Serif" panose="020A0603040505020204" pitchFamily="18" charset="0"/>
                <a:ea typeface="PT Serif" pitchFamily="34" charset="-122"/>
                <a:cs typeface="PT Serif" pitchFamily="34" charset="-120"/>
              </a:rPr>
              <a:t>Using Regression</a:t>
            </a:r>
            <a:endParaRPr lang="en-US" sz="2400" dirty="0">
              <a:latin typeface="PT Serif" panose="020A0603040505020204" pitchFamily="18" charset="0"/>
            </a:endParaRPr>
          </a:p>
          <a:p>
            <a:pPr marL="0" indent="0" algn="l">
              <a:lnSpc>
                <a:spcPts val="2350"/>
              </a:lnSpc>
              <a:buNone/>
            </a:pPr>
            <a:endParaRPr lang="en-US" sz="1800" dirty="0">
              <a:solidFill>
                <a:srgbClr val="383838"/>
              </a:solidFill>
              <a:highlight>
                <a:srgbClr val="F2F2F2"/>
              </a:highlight>
              <a:ea typeface="Consolas" pitchFamily="34" charset="-122"/>
              <a:cs typeface="Consolas" pitchFamily="34" charset="-120"/>
            </a:endParaRPr>
          </a:p>
          <a:p>
            <a:pPr marL="0" indent="0" algn="l">
              <a:lnSpc>
                <a:spcPts val="2350"/>
              </a:lnSpc>
              <a:buNone/>
            </a:pPr>
            <a:endParaRPr lang="en-US" sz="1800" dirty="0">
              <a:solidFill>
                <a:srgbClr val="383838"/>
              </a:solidFill>
              <a:highlight>
                <a:srgbClr val="F2F2F2"/>
              </a:highlight>
              <a:ea typeface="Consolas" pitchFamily="34" charset="-122"/>
              <a:cs typeface="Consolas" pitchFamily="34" charset="-120"/>
            </a:endParaRPr>
          </a:p>
          <a:p>
            <a:pPr marL="0" indent="0" algn="l">
              <a:lnSpc>
                <a:spcPts val="2350"/>
              </a:lnSpc>
              <a:buNone/>
            </a:pPr>
            <a:r>
              <a:rPr lang="en-US" sz="1800" dirty="0">
                <a:solidFill>
                  <a:srgbClr val="383838"/>
                </a:solidFill>
                <a:highlight>
                  <a:srgbClr val="F2F2F2"/>
                </a:highlight>
                <a:ea typeface="Consolas" pitchFamily="34" charset="-122"/>
                <a:cs typeface="Consolas" pitchFamily="34" charset="-120"/>
              </a:rPr>
              <a:t>from sklearn.linear_model import LinearRegression</a:t>
            </a:r>
            <a:endParaRPr lang="en-US" sz="1800" dirty="0"/>
          </a:p>
          <a:p>
            <a:pPr marL="0" indent="0" algn="l">
              <a:lnSpc>
                <a:spcPts val="2350"/>
              </a:lnSpc>
              <a:buNone/>
            </a:pPr>
            <a:r>
              <a:rPr lang="en-US" sz="1800" dirty="0">
                <a:solidFill>
                  <a:srgbClr val="383838"/>
                </a:solidFill>
                <a:highlight>
                  <a:srgbClr val="F2F2F2"/>
                </a:highlight>
                <a:ea typeface="Consolas" pitchFamily="34" charset="-122"/>
                <a:cs typeface="Consolas" pitchFamily="34" charset="-120"/>
              </a:rPr>
              <a:t>from sklearn.impute import IterativeImputer</a:t>
            </a:r>
            <a:endParaRPr lang="en-US" sz="1800" dirty="0"/>
          </a:p>
          <a:p>
            <a:pPr marL="0" indent="0" algn="l">
              <a:lnSpc>
                <a:spcPts val="2350"/>
              </a:lnSpc>
              <a:buNone/>
            </a:pPr>
            <a:endParaRPr lang="en-US" sz="1800" dirty="0"/>
          </a:p>
          <a:p>
            <a:pPr marL="0" indent="0" algn="l">
              <a:lnSpc>
                <a:spcPts val="2350"/>
              </a:lnSpc>
              <a:buNone/>
            </a:pPr>
            <a:r>
              <a:rPr lang="en-US" sz="1800" dirty="0">
                <a:solidFill>
                  <a:srgbClr val="383838"/>
                </a:solidFill>
                <a:highlight>
                  <a:srgbClr val="F2F2F2"/>
                </a:highlight>
                <a:ea typeface="Consolas" pitchFamily="34" charset="-122"/>
                <a:cs typeface="Consolas" pitchFamily="34" charset="-120"/>
              </a:rPr>
              <a:t>imputer = IterativeImputer(</a:t>
            </a:r>
            <a:endParaRPr lang="en-US" sz="1800" dirty="0"/>
          </a:p>
          <a:p>
            <a:pPr marL="0" indent="0" algn="l">
              <a:lnSpc>
                <a:spcPts val="2350"/>
              </a:lnSpc>
              <a:buNone/>
            </a:pPr>
            <a:r>
              <a:rPr lang="en-US" sz="1800" dirty="0">
                <a:solidFill>
                  <a:srgbClr val="383838"/>
                </a:solidFill>
                <a:highlight>
                  <a:srgbClr val="F2F2F2"/>
                </a:highlight>
                <a:ea typeface="Consolas" pitchFamily="34" charset="-122"/>
                <a:cs typeface="Consolas" pitchFamily="34" charset="-120"/>
              </a:rPr>
              <a:t>    estimator=LinearRegression(),</a:t>
            </a:r>
            <a:endParaRPr lang="en-US" sz="1800" dirty="0"/>
          </a:p>
          <a:p>
            <a:pPr marL="0" indent="0" algn="l">
              <a:lnSpc>
                <a:spcPts val="2350"/>
              </a:lnSpc>
              <a:buNone/>
            </a:pPr>
            <a:r>
              <a:rPr lang="en-US" sz="1800" dirty="0">
                <a:solidFill>
                  <a:srgbClr val="383838"/>
                </a:solidFill>
                <a:highlight>
                  <a:srgbClr val="F2F2F2"/>
                </a:highlight>
                <a:ea typeface="Consolas" pitchFamily="34" charset="-122"/>
                <a:cs typeface="Consolas" pitchFamily="34" charset="-120"/>
              </a:rPr>
              <a:t>    max_iter=10,</a:t>
            </a:r>
            <a:endParaRPr lang="en-US" sz="1800" dirty="0"/>
          </a:p>
          <a:p>
            <a:pPr marL="0" indent="0" algn="l">
              <a:lnSpc>
                <a:spcPts val="2350"/>
              </a:lnSpc>
              <a:buNone/>
            </a:pPr>
            <a:r>
              <a:rPr lang="en-US" sz="1800" dirty="0">
                <a:solidFill>
                  <a:srgbClr val="383838"/>
                </a:solidFill>
                <a:highlight>
                  <a:srgbClr val="F2F2F2"/>
                </a:highlight>
                <a:ea typeface="Consolas" pitchFamily="34" charset="-122"/>
                <a:cs typeface="Consolas" pitchFamily="34" charset="-120"/>
              </a:rPr>
              <a:t>    random_state=42</a:t>
            </a:r>
            <a:endParaRPr lang="en-US" sz="1800" dirty="0"/>
          </a:p>
          <a:p>
            <a:pPr marL="0" indent="0" algn="l">
              <a:lnSpc>
                <a:spcPts val="2350"/>
              </a:lnSpc>
              <a:buNone/>
            </a:pPr>
            <a:r>
              <a:rPr lang="en-US" sz="1800" dirty="0">
                <a:solidFill>
                  <a:srgbClr val="383838"/>
                </a:solidFill>
                <a:highlight>
                  <a:srgbClr val="F2F2F2"/>
                </a:highlight>
                <a:ea typeface="Consolas" pitchFamily="34" charset="-122"/>
                <a:cs typeface="Consolas" pitchFamily="34" charset="-120"/>
              </a:rPr>
              <a:t>)</a:t>
            </a:r>
            <a:endParaRPr lang="en-US" sz="1800" dirty="0"/>
          </a:p>
          <a:p>
            <a:pPr marL="0" indent="0" algn="l">
              <a:lnSpc>
                <a:spcPts val="2350"/>
              </a:lnSpc>
              <a:buNone/>
            </a:pPr>
            <a:r>
              <a:rPr lang="en-US" sz="1800" dirty="0">
                <a:solidFill>
                  <a:srgbClr val="383838"/>
                </a:solidFill>
                <a:highlight>
                  <a:srgbClr val="F2F2F2"/>
                </a:highlight>
                <a:ea typeface="Consolas" pitchFamily="34" charset="-122"/>
                <a:cs typeface="Consolas" pitchFamily="34" charset="-120"/>
              </a:rPr>
              <a:t>X_imputed = imputer.fit_transform(X)</a:t>
            </a:r>
          </a:p>
          <a:p>
            <a:pPr marL="0" indent="0" algn="l">
              <a:lnSpc>
                <a:spcPts val="2350"/>
              </a:lnSpc>
              <a:buNone/>
            </a:pPr>
            <a:endParaRPr lang="en-US" sz="1800" dirty="0">
              <a:solidFill>
                <a:srgbClr val="383838"/>
              </a:solidFill>
              <a:highlight>
                <a:srgbClr val="F2F2F2"/>
              </a:highlight>
            </a:endParaRPr>
          </a:p>
          <a:p>
            <a:pPr marL="0" indent="0" algn="l">
              <a:lnSpc>
                <a:spcPts val="2350"/>
              </a:lnSpc>
              <a:buNone/>
            </a:pPr>
            <a:endParaRPr lang="en-US" sz="1800" dirty="0">
              <a:solidFill>
                <a:srgbClr val="383838"/>
              </a:solidFill>
              <a:highlight>
                <a:srgbClr val="F2F2F2"/>
              </a:highlight>
            </a:endParaRPr>
          </a:p>
          <a:p>
            <a:pPr marL="0" indent="0" algn="l">
              <a:lnSpc>
                <a:spcPts val="2350"/>
              </a:lnSpc>
              <a:buNone/>
            </a:pPr>
            <a:endParaRPr lang="en-US" sz="1800" dirty="0">
              <a:solidFill>
                <a:srgbClr val="383838"/>
              </a:solidFill>
              <a:highlight>
                <a:srgbClr val="F2F2F2"/>
              </a:highlight>
            </a:endParaRPr>
          </a:p>
          <a:p>
            <a:pPr marL="0" indent="0" algn="l">
              <a:lnSpc>
                <a:spcPts val="2350"/>
              </a:lnSpc>
              <a:buNone/>
            </a:pPr>
            <a:endParaRPr lang="en-US" sz="1800" dirty="0">
              <a:solidFill>
                <a:srgbClr val="383838"/>
              </a:solidFill>
              <a:highlight>
                <a:srgbClr val="F2F2F2"/>
              </a:highlight>
            </a:endParaRPr>
          </a:p>
          <a:p>
            <a:pPr algn="l">
              <a:lnSpc>
                <a:spcPts val="2350"/>
              </a:lnSpc>
            </a:pPr>
            <a:r>
              <a:rPr lang="en-US" sz="1800" dirty="0">
                <a:solidFill>
                  <a:srgbClr val="383838"/>
                </a:solidFill>
                <a:latin typeface="PT Serif" panose="020A0603040505020204" pitchFamily="18" charset="0"/>
                <a:ea typeface="DM Sans" pitchFamily="34" charset="-122"/>
                <a:cs typeface="DM Sans" pitchFamily="34" charset="-120"/>
              </a:rPr>
              <a:t>Best for linear relationships and interpretability.</a:t>
            </a:r>
            <a:endParaRPr lang="en-US" sz="1800" dirty="0">
              <a:latin typeface="PT Serif" panose="020A0603040505020204" pitchFamily="18" charset="0"/>
            </a:endParaRPr>
          </a:p>
          <a:p>
            <a:pPr marL="0" indent="0" algn="l">
              <a:lnSpc>
                <a:spcPts val="2350"/>
              </a:lnSpc>
              <a:buNone/>
            </a:pPr>
            <a:endParaRPr lang="en-US" sz="1800" dirty="0"/>
          </a:p>
          <a:p>
            <a:pPr>
              <a:lnSpc>
                <a:spcPct val="200000"/>
              </a:lnSpc>
            </a:pPr>
            <a:endParaRPr lang="en-IN" sz="1800" dirty="0"/>
          </a:p>
          <a:p>
            <a:pPr>
              <a:lnSpc>
                <a:spcPct val="200000"/>
              </a:lnSpc>
            </a:pPr>
            <a:endParaRPr lang="en-IN" sz="1800" dirty="0"/>
          </a:p>
          <a:p>
            <a:pPr>
              <a:lnSpc>
                <a:spcPct val="200000"/>
              </a:lnSpc>
            </a:pPr>
            <a:endParaRPr lang="en-IN" sz="1800" dirty="0"/>
          </a:p>
        </p:txBody>
      </p:sp>
      <p:sp>
        <p:nvSpPr>
          <p:cNvPr id="5" name="Content Placeholder 4">
            <a:extLst>
              <a:ext uri="{FF2B5EF4-FFF2-40B4-BE49-F238E27FC236}">
                <a16:creationId xmlns:a16="http://schemas.microsoft.com/office/drawing/2014/main" id="{E7C36D2B-0EA4-42CA-0D17-397CF00A1212}"/>
              </a:ext>
            </a:extLst>
          </p:cNvPr>
          <p:cNvSpPr>
            <a:spLocks noGrp="1"/>
          </p:cNvSpPr>
          <p:nvPr>
            <p:ph sz="half" idx="3"/>
          </p:nvPr>
        </p:nvSpPr>
        <p:spPr>
          <a:xfrm>
            <a:off x="7729223" y="1443072"/>
            <a:ext cx="6364224" cy="5816977"/>
          </a:xfrm>
        </p:spPr>
        <p:txBody>
          <a:bodyPr/>
          <a:lstStyle/>
          <a:p>
            <a:pPr algn="l">
              <a:lnSpc>
                <a:spcPts val="2350"/>
              </a:lnSpc>
            </a:pPr>
            <a:r>
              <a:rPr lang="en-US" sz="2400" dirty="0">
                <a:solidFill>
                  <a:srgbClr val="020202"/>
                </a:solidFill>
                <a:latin typeface="PT Serif" pitchFamily="34" charset="0"/>
                <a:ea typeface="PT Serif" pitchFamily="34" charset="-122"/>
                <a:cs typeface="PT Serif" pitchFamily="34" charset="-120"/>
              </a:rPr>
              <a:t>Using Random Forest</a:t>
            </a:r>
            <a:endParaRPr lang="en-US" sz="2400" dirty="0"/>
          </a:p>
          <a:p>
            <a:pPr marL="0" indent="0" algn="l">
              <a:lnSpc>
                <a:spcPts val="2350"/>
              </a:lnSpc>
              <a:buNone/>
            </a:pPr>
            <a:endParaRPr lang="en-US" sz="1800" dirty="0">
              <a:solidFill>
                <a:srgbClr val="383838"/>
              </a:solidFill>
              <a:highlight>
                <a:srgbClr val="F2F2F2"/>
              </a:highlight>
              <a:ea typeface="Consolas" pitchFamily="34" charset="-122"/>
              <a:cs typeface="Consolas" pitchFamily="34" charset="-120"/>
            </a:endParaRPr>
          </a:p>
          <a:p>
            <a:pPr marL="0" indent="0" algn="l">
              <a:lnSpc>
                <a:spcPts val="2350"/>
              </a:lnSpc>
              <a:buNone/>
            </a:pPr>
            <a:endParaRPr lang="en-US" sz="1800" dirty="0">
              <a:solidFill>
                <a:srgbClr val="383838"/>
              </a:solidFill>
              <a:highlight>
                <a:srgbClr val="F2F2F2"/>
              </a:highlight>
              <a:ea typeface="Consolas" pitchFamily="34" charset="-122"/>
              <a:cs typeface="Consolas" pitchFamily="34" charset="-120"/>
            </a:endParaRPr>
          </a:p>
          <a:p>
            <a:pPr marL="0" indent="0" algn="l">
              <a:lnSpc>
                <a:spcPts val="2350"/>
              </a:lnSpc>
              <a:buNone/>
            </a:pPr>
            <a:r>
              <a:rPr lang="en-US" sz="1800" dirty="0">
                <a:solidFill>
                  <a:srgbClr val="383838"/>
                </a:solidFill>
                <a:highlight>
                  <a:srgbClr val="F2F2F2"/>
                </a:highlight>
                <a:ea typeface="Consolas" pitchFamily="34" charset="-122"/>
                <a:cs typeface="Consolas" pitchFamily="34" charset="-120"/>
              </a:rPr>
              <a:t>from sklearn.ensemble import RandomForestRegressor</a:t>
            </a:r>
            <a:endParaRPr lang="en-US" sz="1800" dirty="0"/>
          </a:p>
          <a:p>
            <a:pPr marL="0" indent="0" algn="l">
              <a:lnSpc>
                <a:spcPts val="2350"/>
              </a:lnSpc>
              <a:buNone/>
            </a:pPr>
            <a:r>
              <a:rPr lang="en-US" sz="1800" dirty="0">
                <a:solidFill>
                  <a:srgbClr val="383838"/>
                </a:solidFill>
                <a:highlight>
                  <a:srgbClr val="F2F2F2"/>
                </a:highlight>
                <a:ea typeface="Consolas" pitchFamily="34" charset="-122"/>
                <a:cs typeface="Consolas" pitchFamily="34" charset="-120"/>
              </a:rPr>
              <a:t>from sklearn.impute import IterativeImputer</a:t>
            </a:r>
            <a:endParaRPr lang="en-US" sz="1800" dirty="0"/>
          </a:p>
          <a:p>
            <a:pPr marL="0" indent="0" algn="l">
              <a:lnSpc>
                <a:spcPts val="2350"/>
              </a:lnSpc>
              <a:buNone/>
            </a:pPr>
            <a:endParaRPr lang="en-US" sz="1800" dirty="0"/>
          </a:p>
          <a:p>
            <a:pPr marL="0" indent="0" algn="l">
              <a:lnSpc>
                <a:spcPts val="2350"/>
              </a:lnSpc>
              <a:buNone/>
            </a:pPr>
            <a:r>
              <a:rPr lang="en-US" sz="1800" dirty="0">
                <a:solidFill>
                  <a:srgbClr val="383838"/>
                </a:solidFill>
                <a:highlight>
                  <a:srgbClr val="F2F2F2"/>
                </a:highlight>
                <a:ea typeface="Consolas" pitchFamily="34" charset="-122"/>
                <a:cs typeface="Consolas" pitchFamily="34" charset="-120"/>
              </a:rPr>
              <a:t>imputer = IterativeImputer(</a:t>
            </a:r>
            <a:endParaRPr lang="en-US" sz="1800" dirty="0"/>
          </a:p>
          <a:p>
            <a:pPr marL="0" indent="0" algn="l">
              <a:lnSpc>
                <a:spcPts val="2350"/>
              </a:lnSpc>
              <a:buNone/>
            </a:pPr>
            <a:r>
              <a:rPr lang="en-US" sz="1800" dirty="0">
                <a:solidFill>
                  <a:srgbClr val="383838"/>
                </a:solidFill>
                <a:highlight>
                  <a:srgbClr val="F2F2F2"/>
                </a:highlight>
                <a:ea typeface="Consolas" pitchFamily="34" charset="-122"/>
                <a:cs typeface="Consolas" pitchFamily="34" charset="-120"/>
              </a:rPr>
              <a:t>    estimator=RandomForestRegressor(</a:t>
            </a:r>
            <a:endParaRPr lang="en-US" sz="1800" dirty="0"/>
          </a:p>
          <a:p>
            <a:pPr marL="0" indent="0" algn="l">
              <a:lnSpc>
                <a:spcPts val="2350"/>
              </a:lnSpc>
              <a:buNone/>
            </a:pPr>
            <a:r>
              <a:rPr lang="en-US" sz="1800" dirty="0">
                <a:solidFill>
                  <a:srgbClr val="383838"/>
                </a:solidFill>
                <a:highlight>
                  <a:srgbClr val="F2F2F2"/>
                </a:highlight>
                <a:ea typeface="Consolas" pitchFamily="34" charset="-122"/>
                <a:cs typeface="Consolas" pitchFamily="34" charset="-120"/>
              </a:rPr>
              <a:t>        n_estimators=10,</a:t>
            </a:r>
            <a:endParaRPr lang="en-US" sz="1800" dirty="0"/>
          </a:p>
          <a:p>
            <a:pPr marL="0" indent="0" algn="l">
              <a:lnSpc>
                <a:spcPts val="2350"/>
              </a:lnSpc>
              <a:buNone/>
            </a:pPr>
            <a:r>
              <a:rPr lang="en-US" sz="1800" dirty="0">
                <a:solidFill>
                  <a:srgbClr val="383838"/>
                </a:solidFill>
                <a:highlight>
                  <a:srgbClr val="F2F2F2"/>
                </a:highlight>
                <a:ea typeface="Consolas" pitchFamily="34" charset="-122"/>
                <a:cs typeface="Consolas" pitchFamily="34" charset="-120"/>
              </a:rPr>
              <a:t>        max_depth=5</a:t>
            </a:r>
            <a:endParaRPr lang="en-US" sz="1800" dirty="0"/>
          </a:p>
          <a:p>
            <a:pPr marL="0" indent="0" algn="l">
              <a:lnSpc>
                <a:spcPts val="2350"/>
              </a:lnSpc>
              <a:buNone/>
            </a:pPr>
            <a:r>
              <a:rPr lang="en-US" sz="1800" dirty="0">
                <a:solidFill>
                  <a:srgbClr val="383838"/>
                </a:solidFill>
                <a:highlight>
                  <a:srgbClr val="F2F2F2"/>
                </a:highlight>
                <a:ea typeface="Consolas" pitchFamily="34" charset="-122"/>
                <a:cs typeface="Consolas" pitchFamily="34" charset="-120"/>
              </a:rPr>
              <a:t>    ),</a:t>
            </a:r>
            <a:endParaRPr lang="en-US" sz="1800" dirty="0"/>
          </a:p>
          <a:p>
            <a:pPr marL="0" indent="0" algn="l">
              <a:lnSpc>
                <a:spcPts val="2350"/>
              </a:lnSpc>
              <a:buNone/>
            </a:pPr>
            <a:r>
              <a:rPr lang="en-US" sz="1800" dirty="0">
                <a:solidFill>
                  <a:srgbClr val="383838"/>
                </a:solidFill>
                <a:highlight>
                  <a:srgbClr val="F2F2F2"/>
                </a:highlight>
                <a:ea typeface="Consolas" pitchFamily="34" charset="-122"/>
                <a:cs typeface="Consolas" pitchFamily="34" charset="-120"/>
              </a:rPr>
              <a:t>    max_iter=5</a:t>
            </a:r>
            <a:endParaRPr lang="en-US" sz="1800" dirty="0"/>
          </a:p>
          <a:p>
            <a:pPr marL="0" indent="0" algn="l">
              <a:lnSpc>
                <a:spcPts val="2350"/>
              </a:lnSpc>
              <a:buNone/>
            </a:pPr>
            <a:r>
              <a:rPr lang="en-US" sz="1800" dirty="0">
                <a:solidFill>
                  <a:srgbClr val="383838"/>
                </a:solidFill>
                <a:highlight>
                  <a:srgbClr val="F2F2F2"/>
                </a:highlight>
                <a:ea typeface="Consolas" pitchFamily="34" charset="-122"/>
                <a:cs typeface="Consolas" pitchFamily="34" charset="-120"/>
              </a:rPr>
              <a:t>)</a:t>
            </a:r>
            <a:endParaRPr lang="en-US" sz="1800" dirty="0"/>
          </a:p>
          <a:p>
            <a:pPr marL="0" indent="0" algn="l">
              <a:lnSpc>
                <a:spcPts val="2350"/>
              </a:lnSpc>
              <a:buNone/>
            </a:pPr>
            <a:r>
              <a:rPr lang="en-US" sz="1800" dirty="0">
                <a:solidFill>
                  <a:srgbClr val="383838"/>
                </a:solidFill>
                <a:highlight>
                  <a:srgbClr val="F2F2F2"/>
                </a:highlight>
                <a:ea typeface="Consolas" pitchFamily="34" charset="-122"/>
                <a:cs typeface="Consolas" pitchFamily="34" charset="-120"/>
              </a:rPr>
              <a:t>X_imputed = imputer.fit_transform(X)</a:t>
            </a:r>
          </a:p>
          <a:p>
            <a:pPr marL="0" indent="0" algn="l">
              <a:lnSpc>
                <a:spcPts val="2350"/>
              </a:lnSpc>
              <a:buNone/>
            </a:pPr>
            <a:endParaRPr lang="en-US" sz="1800" dirty="0">
              <a:solidFill>
                <a:srgbClr val="383838"/>
              </a:solidFill>
              <a:highlight>
                <a:srgbClr val="F2F2F2"/>
              </a:highlight>
            </a:endParaRPr>
          </a:p>
          <a:p>
            <a:pPr marL="0" indent="0" algn="l">
              <a:lnSpc>
                <a:spcPts val="2350"/>
              </a:lnSpc>
              <a:buNone/>
            </a:pPr>
            <a:endParaRPr lang="en-US" sz="1800" dirty="0">
              <a:solidFill>
                <a:srgbClr val="383838"/>
              </a:solidFill>
              <a:highlight>
                <a:srgbClr val="F2F2F2"/>
              </a:highlight>
            </a:endParaRPr>
          </a:p>
          <a:p>
            <a:pPr algn="l">
              <a:lnSpc>
                <a:spcPts val="2350"/>
              </a:lnSpc>
            </a:pPr>
            <a:r>
              <a:rPr lang="en-US" sz="1800" dirty="0">
                <a:solidFill>
                  <a:srgbClr val="383838"/>
                </a:solidFill>
                <a:latin typeface="PT Serif" panose="020A0603040505020204" pitchFamily="18" charset="0"/>
                <a:ea typeface="DM Sans" pitchFamily="34" charset="-122"/>
                <a:cs typeface="DM Sans" pitchFamily="34" charset="-120"/>
              </a:rPr>
              <a:t>Best for nonlinear patterns and feature interactions.</a:t>
            </a:r>
            <a:endParaRPr lang="en-US" sz="1800" dirty="0">
              <a:latin typeface="PT Serif" panose="020A0603040505020204" pitchFamily="18" charset="0"/>
            </a:endParaRPr>
          </a:p>
          <a:p>
            <a:pPr marL="0" indent="0" algn="l">
              <a:lnSpc>
                <a:spcPts val="2350"/>
              </a:lnSpc>
              <a:buNone/>
            </a:pPr>
            <a:endParaRPr lang="en-US" sz="1800" dirty="0"/>
          </a:p>
          <a:p>
            <a:endParaRPr lang="en-IN" sz="1800" dirty="0"/>
          </a:p>
        </p:txBody>
      </p:sp>
      <p:sp>
        <p:nvSpPr>
          <p:cNvPr id="10" name="Text 5">
            <a:extLst>
              <a:ext uri="{FF2B5EF4-FFF2-40B4-BE49-F238E27FC236}">
                <a16:creationId xmlns:a16="http://schemas.microsoft.com/office/drawing/2014/main" id="{3FEB98C2-A6F1-34EF-39A4-7E9775AE6B89}"/>
              </a:ext>
            </a:extLst>
          </p:cNvPr>
          <p:cNvSpPr/>
          <p:nvPr/>
        </p:nvSpPr>
        <p:spPr>
          <a:xfrm>
            <a:off x="786527" y="5319117"/>
            <a:ext cx="6300788" cy="298847"/>
          </a:xfrm>
          <a:prstGeom prst="rect">
            <a:avLst/>
          </a:prstGeom>
          <a:noFill/>
          <a:ln/>
        </p:spPr>
        <p:txBody>
          <a:bodyPr wrap="none" lIns="0" tIns="0" rIns="0" bIns="0" rtlCol="0" anchor="t"/>
          <a:lstStyle/>
          <a:p>
            <a:pPr marL="0" indent="0" algn="l">
              <a:lnSpc>
                <a:spcPts val="2350"/>
              </a:lnSpc>
              <a:buNone/>
            </a:pPr>
            <a:endParaRPr lang="en-US" sz="1450" dirty="0">
              <a:latin typeface="PT Serif" panose="020A0603040505020204" pitchFamily="18" charset="0"/>
            </a:endParaRPr>
          </a:p>
        </p:txBody>
      </p:sp>
      <p:sp>
        <p:nvSpPr>
          <p:cNvPr id="12" name="Text 9">
            <a:extLst>
              <a:ext uri="{FF2B5EF4-FFF2-40B4-BE49-F238E27FC236}">
                <a16:creationId xmlns:a16="http://schemas.microsoft.com/office/drawing/2014/main" id="{8897038B-3A93-638F-054B-FD06EC627E1A}"/>
              </a:ext>
            </a:extLst>
          </p:cNvPr>
          <p:cNvSpPr/>
          <p:nvPr/>
        </p:nvSpPr>
        <p:spPr>
          <a:xfrm>
            <a:off x="7915037" y="718765"/>
            <a:ext cx="5945743" cy="3287316"/>
          </a:xfrm>
          <a:prstGeom prst="rect">
            <a:avLst/>
          </a:prstGeom>
          <a:noFill/>
          <a:ln/>
        </p:spPr>
        <p:txBody>
          <a:bodyPr wrap="square" lIns="0" tIns="0" rIns="0" bIns="0" rtlCol="0" anchor="t"/>
          <a:lstStyle/>
          <a:p>
            <a:pPr marL="0" indent="0" algn="l">
              <a:lnSpc>
                <a:spcPts val="2350"/>
              </a:lnSpc>
              <a:buNone/>
            </a:pPr>
            <a:endParaRPr lang="en-US" sz="1450" dirty="0">
              <a:latin typeface="PT Serif" panose="020A0603040505020204" pitchFamily="18" charset="0"/>
            </a:endParaRPr>
          </a:p>
        </p:txBody>
      </p:sp>
      <p:sp>
        <p:nvSpPr>
          <p:cNvPr id="13" name="Text 10">
            <a:extLst>
              <a:ext uri="{FF2B5EF4-FFF2-40B4-BE49-F238E27FC236}">
                <a16:creationId xmlns:a16="http://schemas.microsoft.com/office/drawing/2014/main" id="{E4D7E80F-C7C2-9CEA-853A-CA1C67F8DDFA}"/>
              </a:ext>
            </a:extLst>
          </p:cNvPr>
          <p:cNvSpPr/>
          <p:nvPr/>
        </p:nvSpPr>
        <p:spPr>
          <a:xfrm>
            <a:off x="7550706" y="5916811"/>
            <a:ext cx="6300788" cy="298847"/>
          </a:xfrm>
          <a:prstGeom prst="rect">
            <a:avLst/>
          </a:prstGeom>
          <a:noFill/>
          <a:ln/>
        </p:spPr>
        <p:txBody>
          <a:bodyPr wrap="none" lIns="0" tIns="0" rIns="0" bIns="0" rtlCol="0" anchor="t"/>
          <a:lstStyle/>
          <a:p>
            <a:pPr marL="0" indent="0" algn="l">
              <a:lnSpc>
                <a:spcPts val="2350"/>
              </a:lnSpc>
              <a:buNone/>
            </a:pPr>
            <a:endParaRPr lang="en-US" sz="1450" dirty="0">
              <a:latin typeface="PT Serif" panose="020A0603040505020204" pitchFamily="18" charset="0"/>
            </a:endParaRPr>
          </a:p>
        </p:txBody>
      </p:sp>
      <p:sp>
        <p:nvSpPr>
          <p:cNvPr id="14" name="Shape 11">
            <a:extLst>
              <a:ext uri="{FF2B5EF4-FFF2-40B4-BE49-F238E27FC236}">
                <a16:creationId xmlns:a16="http://schemas.microsoft.com/office/drawing/2014/main" id="{8581556D-138F-2C9D-0C65-A2F4F73832E6}"/>
              </a:ext>
            </a:extLst>
          </p:cNvPr>
          <p:cNvSpPr/>
          <p:nvPr/>
        </p:nvSpPr>
        <p:spPr>
          <a:xfrm>
            <a:off x="786527" y="6908363"/>
            <a:ext cx="13057346" cy="1092637"/>
          </a:xfrm>
          <a:prstGeom prst="roundRect">
            <a:avLst>
              <a:gd name="adj" fmla="val 2565"/>
            </a:avLst>
          </a:prstGeom>
          <a:solidFill>
            <a:srgbClr val="FFCDB3"/>
          </a:solidFill>
          <a:ln/>
        </p:spPr>
      </p:sp>
      <p:sp>
        <p:nvSpPr>
          <p:cNvPr id="15" name="Text 12">
            <a:extLst>
              <a:ext uri="{FF2B5EF4-FFF2-40B4-BE49-F238E27FC236}">
                <a16:creationId xmlns:a16="http://schemas.microsoft.com/office/drawing/2014/main" id="{2FB6D19F-35FC-3F1C-5B3A-D7FDE0035ED6}"/>
              </a:ext>
            </a:extLst>
          </p:cNvPr>
          <p:cNvSpPr/>
          <p:nvPr/>
        </p:nvSpPr>
        <p:spPr>
          <a:xfrm>
            <a:off x="1393627" y="7141845"/>
            <a:ext cx="12263437" cy="597694"/>
          </a:xfrm>
          <a:prstGeom prst="rect">
            <a:avLst/>
          </a:prstGeom>
          <a:noFill/>
          <a:ln/>
        </p:spPr>
        <p:txBody>
          <a:bodyPr wrap="square" lIns="0" tIns="0" rIns="0" bIns="0" rtlCol="0" anchor="t"/>
          <a:lstStyle/>
          <a:p>
            <a:pPr marL="0" indent="0" algn="l">
              <a:lnSpc>
                <a:spcPts val="2350"/>
              </a:lnSpc>
              <a:buNone/>
            </a:pPr>
            <a:r>
              <a:rPr lang="en-US" b="1" dirty="0">
                <a:solidFill>
                  <a:srgbClr val="000000"/>
                </a:solidFill>
                <a:latin typeface="PT Serif" panose="020A0603040505020204" pitchFamily="18" charset="0"/>
                <a:ea typeface="DM Sans" pitchFamily="34" charset="-122"/>
                <a:cs typeface="DM Sans" pitchFamily="34" charset="-120"/>
              </a:rPr>
              <a:t>Performance Tip:</a:t>
            </a:r>
            <a:r>
              <a:rPr lang="en-US" dirty="0">
                <a:solidFill>
                  <a:srgbClr val="000000"/>
                </a:solidFill>
                <a:latin typeface="PT Serif" panose="020A0603040505020204" pitchFamily="18" charset="0"/>
                <a:ea typeface="DM Sans" pitchFamily="34" charset="-122"/>
                <a:cs typeface="DM Sans" pitchFamily="34" charset="-120"/>
              </a:rPr>
              <a:t> Use simpler models (fewer trees, limited depth) within iterative imputation to balance accuracy and speed. The iteration itself handles complexity.</a:t>
            </a:r>
            <a:endParaRPr lang="en-US" dirty="0">
              <a:latin typeface="PT Serif" panose="020A0603040505020204" pitchFamily="18" charset="0"/>
            </a:endParaRPr>
          </a:p>
        </p:txBody>
      </p:sp>
    </p:spTree>
    <p:extLst>
      <p:ext uri="{BB962C8B-B14F-4D97-AF65-F5344CB8AC3E}">
        <p14:creationId xmlns:p14="http://schemas.microsoft.com/office/powerpoint/2010/main" val="14128308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6924" y="-221417"/>
            <a:ext cx="13656055" cy="1053866"/>
          </a:xfrm>
          <a:prstGeom prst="rect">
            <a:avLst/>
          </a:prstGeom>
        </p:spPr>
        <p:txBody>
          <a:bodyPr vert="horz" wrap="square" lIns="0" tIns="439471" rIns="0" bIns="0" rtlCol="0">
            <a:spAutoFit/>
          </a:bodyPr>
          <a:lstStyle/>
          <a:p>
            <a:pPr marL="0" indent="0" algn="l">
              <a:lnSpc>
                <a:spcPts val="5000"/>
              </a:lnSpc>
              <a:buNone/>
            </a:pPr>
            <a:r>
              <a:rPr lang="en-US" sz="3600" dirty="0">
                <a:solidFill>
                  <a:srgbClr val="020202"/>
                </a:solidFill>
                <a:ea typeface="PT Serif" pitchFamily="34" charset="-122"/>
                <a:cs typeface="PT Serif" pitchFamily="34" charset="-120"/>
              </a:rPr>
              <a:t>Native Handling in Tree-Based Models</a:t>
            </a:r>
            <a:endParaRPr lang="en-US" sz="3600" dirty="0"/>
          </a:p>
        </p:txBody>
      </p:sp>
      <p:sp>
        <p:nvSpPr>
          <p:cNvPr id="15" name="Text 7">
            <a:extLst>
              <a:ext uri="{FF2B5EF4-FFF2-40B4-BE49-F238E27FC236}">
                <a16:creationId xmlns:a16="http://schemas.microsoft.com/office/drawing/2014/main" id="{36221D7B-8D1F-CF5A-6FD1-DA6DD3F7C3CC}"/>
              </a:ext>
            </a:extLst>
          </p:cNvPr>
          <p:cNvSpPr/>
          <p:nvPr/>
        </p:nvSpPr>
        <p:spPr>
          <a:xfrm>
            <a:off x="5643399" y="3678192"/>
            <a:ext cx="3818692" cy="127015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9893314" y="1805812"/>
            <a:ext cx="3818574" cy="5052187"/>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108924" y="1992720"/>
            <a:ext cx="3602964" cy="2313740"/>
          </a:xfrm>
          <a:prstGeom prst="rect">
            <a:avLst/>
          </a:prstGeom>
          <a:noFill/>
          <a:ln/>
        </p:spPr>
        <p:txBody>
          <a:bodyPr wrap="square" lIns="0" tIns="0" rIns="0" bIns="0" rtlCol="0" anchor="t"/>
          <a:lstStyle/>
          <a:p>
            <a:pPr marL="0" indent="0" algn="l">
              <a:lnSpc>
                <a:spcPts val="2500"/>
              </a:lnSpc>
              <a:buNone/>
            </a:pPr>
            <a:r>
              <a:rPr lang="en-US" sz="2400" dirty="0">
                <a:solidFill>
                  <a:srgbClr val="383838"/>
                </a:solidFill>
                <a:latin typeface="PT Serif" panose="020A0603040505020204" pitchFamily="18" charset="0"/>
                <a:ea typeface="PT Serif" pitchFamily="34" charset="-122"/>
                <a:cs typeface="PT Serif" pitchFamily="34" charset="-120"/>
              </a:rPr>
              <a:t>CatBoost</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ts val="2450"/>
              </a:lnSpc>
              <a:buNone/>
            </a:pPr>
            <a:r>
              <a:rPr lang="en-US" sz="1800" dirty="0">
                <a:solidFill>
                  <a:srgbClr val="383838"/>
                </a:solidFill>
                <a:latin typeface="PT Serif" panose="020A0603040505020204" pitchFamily="18" charset="0"/>
                <a:ea typeface="DM Sans" pitchFamily="34" charset="-122"/>
                <a:cs typeface="DM Sans" pitchFamily="34" charset="-120"/>
              </a:rPr>
              <a:t>Handles missing data and categorical features automatically without preprocessing. Treats missing values as a separate category and processes them efficiently during training.</a:t>
            </a:r>
          </a:p>
          <a:p>
            <a:pPr marL="0" indent="0" algn="l">
              <a:lnSpc>
                <a:spcPts val="2450"/>
              </a:lnSpc>
              <a:buNone/>
            </a:pPr>
            <a:endParaRPr lang="en-US" dirty="0">
              <a:solidFill>
                <a:srgbClr val="383838"/>
              </a:solidFill>
              <a:latin typeface="PT Serif" panose="020A0603040505020204" pitchFamily="18" charset="0"/>
            </a:endParaRPr>
          </a:p>
          <a:p>
            <a:pPr marL="0" indent="0" algn="l">
              <a:lnSpc>
                <a:spcPts val="2450"/>
              </a:lnSpc>
              <a:buNone/>
            </a:pPr>
            <a:r>
              <a:rPr lang="en-US" sz="1800" dirty="0">
                <a:solidFill>
                  <a:srgbClr val="383838"/>
                </a:solidFill>
                <a:highlight>
                  <a:srgbClr val="F2F2F2"/>
                </a:highlight>
                <a:latin typeface="PT Serif" panose="020A0603040505020204" pitchFamily="18" charset="0"/>
                <a:ea typeface="Consolas" pitchFamily="34" charset="-122"/>
                <a:cs typeface="Consolas" pitchFamily="34" charset="-120"/>
              </a:rPr>
              <a:t>from catboost import CatBoostRegressor</a:t>
            </a:r>
            <a:endParaRPr lang="en-US" sz="1800" dirty="0">
              <a:latin typeface="PT Serif" panose="020A0603040505020204" pitchFamily="18" charset="0"/>
            </a:endParaRPr>
          </a:p>
          <a:p>
            <a:pPr marL="0" indent="0" algn="l">
              <a:lnSpc>
                <a:spcPts val="2450"/>
              </a:lnSpc>
              <a:buNone/>
            </a:pPr>
            <a:endParaRPr lang="en-US" sz="1800" dirty="0">
              <a:latin typeface="PT Serif" panose="020A0603040505020204" pitchFamily="18" charset="0"/>
            </a:endParaRPr>
          </a:p>
          <a:p>
            <a:pPr marL="0" indent="0" algn="l">
              <a:lnSpc>
                <a:spcPts val="2450"/>
              </a:lnSpc>
              <a:buNone/>
            </a:pPr>
            <a:r>
              <a:rPr lang="en-US" sz="1800" dirty="0">
                <a:solidFill>
                  <a:srgbClr val="383838"/>
                </a:solidFill>
                <a:highlight>
                  <a:srgbClr val="F2F2F2"/>
                </a:highlight>
                <a:latin typeface="PT Serif" panose="020A0603040505020204" pitchFamily="18" charset="0"/>
                <a:ea typeface="Consolas" pitchFamily="34" charset="-122"/>
                <a:cs typeface="Consolas" pitchFamily="34" charset="-120"/>
              </a:rPr>
              <a:t>model = CatBoostRegressor()</a:t>
            </a:r>
            <a:endParaRPr lang="en-US" sz="1800" dirty="0">
              <a:latin typeface="PT Serif" panose="020A0603040505020204" pitchFamily="18" charset="0"/>
            </a:endParaRPr>
          </a:p>
          <a:p>
            <a:pPr marL="0" indent="0" algn="l">
              <a:lnSpc>
                <a:spcPts val="2450"/>
              </a:lnSpc>
              <a:buNone/>
            </a:pPr>
            <a:r>
              <a:rPr lang="en-US" sz="1800" dirty="0">
                <a:solidFill>
                  <a:srgbClr val="383838"/>
                </a:solidFill>
                <a:highlight>
                  <a:srgbClr val="F2F2F2"/>
                </a:highlight>
                <a:latin typeface="PT Serif" panose="020A0603040505020204" pitchFamily="18" charset="0"/>
                <a:ea typeface="Consolas" pitchFamily="34" charset="-122"/>
                <a:cs typeface="Consolas" pitchFamily="34" charset="-120"/>
              </a:rPr>
              <a:t>model.fit(X_train, y_train)</a:t>
            </a:r>
            <a:endParaRPr lang="en-US" sz="1800" dirty="0">
              <a:latin typeface="PT Serif" panose="020A0603040505020204" pitchFamily="18" charset="0"/>
            </a:endParaRPr>
          </a:p>
          <a:p>
            <a:pPr marL="0" indent="0" algn="l">
              <a:lnSpc>
                <a:spcPts val="2450"/>
              </a:lnSpc>
              <a:buNone/>
            </a:pPr>
            <a:endParaRPr lang="en-US" sz="1800" dirty="0">
              <a:latin typeface="PT Serif" panose="020A0603040505020204" pitchFamily="18" charset="0"/>
            </a:endParaRPr>
          </a:p>
        </p:txBody>
      </p:sp>
      <p:sp>
        <p:nvSpPr>
          <p:cNvPr id="28" name="Shape 2">
            <a:extLst>
              <a:ext uri="{FF2B5EF4-FFF2-40B4-BE49-F238E27FC236}">
                <a16:creationId xmlns:a16="http://schemas.microsoft.com/office/drawing/2014/main" id="{E7F2EE5C-87C7-F16D-F9EF-EB811ED3C5B0}"/>
              </a:ext>
            </a:extLst>
          </p:cNvPr>
          <p:cNvSpPr/>
          <p:nvPr/>
        </p:nvSpPr>
        <p:spPr>
          <a:xfrm>
            <a:off x="533400" y="2221301"/>
            <a:ext cx="4114305" cy="4636698"/>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30" name="Shape 5">
            <a:extLst>
              <a:ext uri="{FF2B5EF4-FFF2-40B4-BE49-F238E27FC236}">
                <a16:creationId xmlns:a16="http://schemas.microsoft.com/office/drawing/2014/main" id="{4C5EE8CA-E340-7264-83D8-CA41D716DE4C}"/>
              </a:ext>
            </a:extLst>
          </p:cNvPr>
          <p:cNvSpPr/>
          <p:nvPr/>
        </p:nvSpPr>
        <p:spPr>
          <a:xfrm>
            <a:off x="5257800" y="1758664"/>
            <a:ext cx="4114305" cy="5099335"/>
          </a:xfrm>
          <a:prstGeom prst="roundRect">
            <a:avLst>
              <a:gd name="adj" fmla="val 1410"/>
            </a:avLst>
          </a:prstGeom>
          <a:solidFill>
            <a:srgbClr val="F2EEEE"/>
          </a:solidFill>
          <a:ln/>
        </p:spPr>
      </p:sp>
      <p:sp>
        <p:nvSpPr>
          <p:cNvPr id="31" name="Text 6">
            <a:extLst>
              <a:ext uri="{FF2B5EF4-FFF2-40B4-BE49-F238E27FC236}">
                <a16:creationId xmlns:a16="http://schemas.microsoft.com/office/drawing/2014/main" id="{385EE126-84A2-761A-9E6E-6FA9D141EFBC}"/>
              </a:ext>
            </a:extLst>
          </p:cNvPr>
          <p:cNvSpPr/>
          <p:nvPr/>
        </p:nvSpPr>
        <p:spPr>
          <a:xfrm>
            <a:off x="5468181" y="1992720"/>
            <a:ext cx="3604657" cy="4865280"/>
          </a:xfrm>
          <a:prstGeom prst="rect">
            <a:avLst/>
          </a:prstGeom>
          <a:noFill/>
          <a:ln/>
        </p:spPr>
        <p:txBody>
          <a:bodyPr wrap="square" lIns="0" tIns="0" rIns="0" bIns="0" rtlCol="0" anchor="t"/>
          <a:lstStyle/>
          <a:p>
            <a:pPr marL="0" indent="0" algn="l">
              <a:lnSpc>
                <a:spcPts val="2500"/>
              </a:lnSpc>
              <a:buNone/>
            </a:pPr>
            <a:r>
              <a:rPr lang="en-US" sz="2400" dirty="0">
                <a:solidFill>
                  <a:srgbClr val="383838"/>
                </a:solidFill>
                <a:latin typeface="PT Serif" panose="020A0603040505020204" pitchFamily="18" charset="0"/>
                <a:ea typeface="PT Serif" pitchFamily="34" charset="-122"/>
                <a:cs typeface="PT Serif" pitchFamily="34" charset="-120"/>
              </a:rPr>
              <a:t>LightGBM</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ts val="2450"/>
              </a:lnSpc>
              <a:buNone/>
            </a:pPr>
            <a:r>
              <a:rPr lang="en-US" sz="1800" dirty="0">
                <a:solidFill>
                  <a:srgbClr val="383838"/>
                </a:solidFill>
                <a:latin typeface="PT Serif" panose="020A0603040505020204" pitchFamily="18" charset="0"/>
                <a:ea typeface="DM Sans" pitchFamily="34" charset="-122"/>
                <a:cs typeface="DM Sans" pitchFamily="34" charset="-120"/>
              </a:rPr>
              <a:t>Fast gradient boosting that natively supports missing values through default bin assignment. Particularly efficient for large datasets with sparse features.</a:t>
            </a:r>
            <a:endParaRPr lang="en-US" sz="1800" dirty="0">
              <a:latin typeface="PT Serif" panose="020A0603040505020204" pitchFamily="18" charset="0"/>
            </a:endParaRPr>
          </a:p>
          <a:p>
            <a:pPr algn="l">
              <a:lnSpc>
                <a:spcPct val="150000"/>
              </a:lnSpc>
              <a:buSzPct val="100000"/>
            </a:pPr>
            <a:endParaRPr lang="en-US" sz="1800" dirty="0">
              <a:latin typeface="PT Serif" panose="020A0603040505020204" pitchFamily="18" charset="0"/>
            </a:endParaRPr>
          </a:p>
          <a:p>
            <a:pPr marL="0" indent="0" algn="l">
              <a:lnSpc>
                <a:spcPts val="2450"/>
              </a:lnSpc>
              <a:buNone/>
            </a:pPr>
            <a:r>
              <a:rPr lang="en-US" sz="1800" dirty="0">
                <a:solidFill>
                  <a:srgbClr val="383838"/>
                </a:solidFill>
                <a:highlight>
                  <a:srgbClr val="F2F2F2"/>
                </a:highlight>
                <a:latin typeface="PT Serif" panose="020A0603040505020204" pitchFamily="18" charset="0"/>
                <a:ea typeface="Consolas" pitchFamily="34" charset="-122"/>
                <a:cs typeface="Consolas" pitchFamily="34" charset="-120"/>
              </a:rPr>
              <a:t>import lightgbm as lgb</a:t>
            </a:r>
            <a:endParaRPr lang="en-US" sz="1800" dirty="0">
              <a:latin typeface="PT Serif" panose="020A0603040505020204" pitchFamily="18" charset="0"/>
            </a:endParaRPr>
          </a:p>
          <a:p>
            <a:pPr marL="0" indent="0" algn="l">
              <a:lnSpc>
                <a:spcPts val="2450"/>
              </a:lnSpc>
              <a:buNone/>
            </a:pPr>
            <a:endParaRPr lang="en-US" sz="1800" dirty="0">
              <a:latin typeface="PT Serif" panose="020A0603040505020204" pitchFamily="18" charset="0"/>
            </a:endParaRPr>
          </a:p>
          <a:p>
            <a:pPr marL="0" indent="0" algn="l">
              <a:lnSpc>
                <a:spcPts val="2450"/>
              </a:lnSpc>
              <a:buNone/>
            </a:pPr>
            <a:r>
              <a:rPr lang="en-US" sz="1800" dirty="0">
                <a:solidFill>
                  <a:srgbClr val="383838"/>
                </a:solidFill>
                <a:highlight>
                  <a:srgbClr val="F2F2F2"/>
                </a:highlight>
                <a:latin typeface="PT Serif" panose="020A0603040505020204" pitchFamily="18" charset="0"/>
                <a:ea typeface="Consolas" pitchFamily="34" charset="-122"/>
                <a:cs typeface="Consolas" pitchFamily="34" charset="-120"/>
              </a:rPr>
              <a:t>model = lgb.LGBMRegressor()</a:t>
            </a:r>
            <a:endParaRPr lang="en-US" sz="1800" dirty="0">
              <a:latin typeface="PT Serif" panose="020A0603040505020204" pitchFamily="18" charset="0"/>
            </a:endParaRPr>
          </a:p>
          <a:p>
            <a:pPr marL="0" indent="0" algn="l">
              <a:lnSpc>
                <a:spcPts val="2450"/>
              </a:lnSpc>
              <a:buNone/>
            </a:pPr>
            <a:r>
              <a:rPr lang="en-US" sz="1800" dirty="0">
                <a:solidFill>
                  <a:srgbClr val="383838"/>
                </a:solidFill>
                <a:highlight>
                  <a:srgbClr val="F2F2F2"/>
                </a:highlight>
                <a:latin typeface="PT Serif" panose="020A0603040505020204" pitchFamily="18" charset="0"/>
                <a:ea typeface="Consolas" pitchFamily="34" charset="-122"/>
                <a:cs typeface="Consolas" pitchFamily="34" charset="-120"/>
              </a:rPr>
              <a:t>model.fit(X_train, y_train)</a:t>
            </a:r>
            <a:endParaRPr lang="en-US" sz="1800" dirty="0">
              <a:latin typeface="PT Serif" panose="020A0603040505020204" pitchFamily="18" charset="0"/>
            </a:endParaRPr>
          </a:p>
          <a:p>
            <a:pPr algn="l">
              <a:lnSpc>
                <a:spcPct val="150000"/>
              </a:lnSpc>
              <a:buSzPct val="100000"/>
            </a:pP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
        <p:nvSpPr>
          <p:cNvPr id="11" name="TextBox 10">
            <a:extLst>
              <a:ext uri="{FF2B5EF4-FFF2-40B4-BE49-F238E27FC236}">
                <a16:creationId xmlns:a16="http://schemas.microsoft.com/office/drawing/2014/main" id="{0211B547-2BB1-2668-B3C8-CB67A51E01C4}"/>
              </a:ext>
            </a:extLst>
          </p:cNvPr>
          <p:cNvSpPr txBox="1"/>
          <p:nvPr/>
        </p:nvSpPr>
        <p:spPr>
          <a:xfrm>
            <a:off x="486924" y="914316"/>
            <a:ext cx="13610076" cy="713209"/>
          </a:xfrm>
          <a:prstGeom prst="rect">
            <a:avLst/>
          </a:prstGeom>
          <a:noFill/>
        </p:spPr>
        <p:txBody>
          <a:bodyPr wrap="square">
            <a:spAutoFit/>
          </a:bodyPr>
          <a:lstStyle/>
          <a:p>
            <a:pPr marL="0" indent="0" algn="l">
              <a:lnSpc>
                <a:spcPts val="2450"/>
              </a:lnSpc>
              <a:buNone/>
            </a:pPr>
            <a:r>
              <a:rPr lang="en-US" sz="1800" dirty="0">
                <a:solidFill>
                  <a:srgbClr val="383838"/>
                </a:solidFill>
                <a:latin typeface="PT Serif" panose="020A0603040505020204" pitchFamily="18" charset="0"/>
                <a:ea typeface="DM Sans" pitchFamily="34" charset="-122"/>
                <a:cs typeface="DM Sans" pitchFamily="34" charset="-120"/>
              </a:rPr>
              <a:t>Some ML models do not require explicit imputation. They treat missing values as a separate category and learn optimal split directions, potentially treating missingness as informative signal rather than noise.</a:t>
            </a:r>
            <a:endParaRPr lang="en-US" sz="1800" dirty="0">
              <a:latin typeface="PT Serif" panose="020A0603040505020204" pitchFamily="18" charset="0"/>
            </a:endParaRPr>
          </a:p>
        </p:txBody>
      </p:sp>
      <p:sp>
        <p:nvSpPr>
          <p:cNvPr id="13" name="TextBox 12">
            <a:extLst>
              <a:ext uri="{FF2B5EF4-FFF2-40B4-BE49-F238E27FC236}">
                <a16:creationId xmlns:a16="http://schemas.microsoft.com/office/drawing/2014/main" id="{E63AE537-BE64-FA87-CA65-35F598833964}"/>
              </a:ext>
            </a:extLst>
          </p:cNvPr>
          <p:cNvSpPr txBox="1"/>
          <p:nvPr/>
        </p:nvSpPr>
        <p:spPr>
          <a:xfrm>
            <a:off x="548323" y="7044216"/>
            <a:ext cx="13656055" cy="713209"/>
          </a:xfrm>
          <a:prstGeom prst="rect">
            <a:avLst/>
          </a:prstGeom>
          <a:noFill/>
        </p:spPr>
        <p:txBody>
          <a:bodyPr wrap="square">
            <a:spAutoFit/>
          </a:bodyPr>
          <a:lstStyle/>
          <a:p>
            <a:pPr marL="0" indent="0" algn="l">
              <a:lnSpc>
                <a:spcPts val="2450"/>
              </a:lnSpc>
              <a:buNone/>
            </a:pPr>
            <a:r>
              <a:rPr lang="en-US" sz="1800" dirty="0">
                <a:solidFill>
                  <a:srgbClr val="383838"/>
                </a:solidFill>
                <a:latin typeface="PT Serif" panose="020A0603040505020204" pitchFamily="18" charset="0"/>
                <a:ea typeface="DM Sans" pitchFamily="34" charset="-122"/>
                <a:cs typeface="DM Sans" pitchFamily="34" charset="-120"/>
              </a:rPr>
              <a:t>In many production ML systems, missing values are handled natively by tree-based models rather than explicitly imputed, simplifying pipelines and preserving missingness signal.</a:t>
            </a:r>
            <a:endParaRPr lang="en-US" sz="1800" dirty="0">
              <a:latin typeface="PT Serif" panose="020A0603040505020204" pitchFamily="18" charset="0"/>
            </a:endParaRPr>
          </a:p>
        </p:txBody>
      </p:sp>
      <p:sp>
        <p:nvSpPr>
          <p:cNvPr id="14" name="Shape 2">
            <a:extLst>
              <a:ext uri="{FF2B5EF4-FFF2-40B4-BE49-F238E27FC236}">
                <a16:creationId xmlns:a16="http://schemas.microsoft.com/office/drawing/2014/main" id="{CFFB3535-9687-759B-B6AA-FA04F94B6F84}"/>
              </a:ext>
            </a:extLst>
          </p:cNvPr>
          <p:cNvSpPr/>
          <p:nvPr/>
        </p:nvSpPr>
        <p:spPr>
          <a:xfrm>
            <a:off x="530739" y="1764102"/>
            <a:ext cx="4114305" cy="3417498"/>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18" name="Text 3">
            <a:extLst>
              <a:ext uri="{FF2B5EF4-FFF2-40B4-BE49-F238E27FC236}">
                <a16:creationId xmlns:a16="http://schemas.microsoft.com/office/drawing/2014/main" id="{FDD26202-BBBF-2654-08C1-D42BEDD341A6}"/>
              </a:ext>
            </a:extLst>
          </p:cNvPr>
          <p:cNvSpPr/>
          <p:nvPr/>
        </p:nvSpPr>
        <p:spPr>
          <a:xfrm>
            <a:off x="731278" y="1950319"/>
            <a:ext cx="3713225" cy="2476441"/>
          </a:xfrm>
          <a:prstGeom prst="rect">
            <a:avLst/>
          </a:prstGeom>
          <a:noFill/>
          <a:ln/>
        </p:spPr>
        <p:txBody>
          <a:bodyPr wrap="square" lIns="0" tIns="0" rIns="0" bIns="0" rtlCol="0" anchor="t"/>
          <a:lstStyle/>
          <a:p>
            <a:pPr marL="0" indent="0" algn="l">
              <a:lnSpc>
                <a:spcPts val="2500"/>
              </a:lnSpc>
              <a:buNone/>
            </a:pPr>
            <a:r>
              <a:rPr lang="en-US" sz="2400" dirty="0">
                <a:solidFill>
                  <a:srgbClr val="383838"/>
                </a:solidFill>
                <a:latin typeface="PT Serif" panose="020A0603040505020204" pitchFamily="18" charset="0"/>
                <a:ea typeface="PT Serif" pitchFamily="34" charset="-122"/>
                <a:cs typeface="PT Serif" pitchFamily="34" charset="-120"/>
              </a:rPr>
              <a:t>XGBoost</a:t>
            </a:r>
            <a:endParaRPr lang="en-US" sz="2400" dirty="0">
              <a:latin typeface="PT Serif" panose="020A0603040505020204" pitchFamily="18" charset="0"/>
            </a:endParaRPr>
          </a:p>
          <a:p>
            <a:pPr marL="0" indent="0" algn="l">
              <a:lnSpc>
                <a:spcPct val="15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ts val="2450"/>
              </a:lnSpc>
              <a:buNone/>
            </a:pPr>
            <a:r>
              <a:rPr lang="en-US" sz="1800" dirty="0">
                <a:solidFill>
                  <a:srgbClr val="383838"/>
                </a:solidFill>
                <a:latin typeface="PT Serif" panose="020A0603040505020204" pitchFamily="18" charset="0"/>
                <a:ea typeface="DM Sans" pitchFamily="34" charset="-122"/>
                <a:cs typeface="DM Sans" pitchFamily="34" charset="-120"/>
              </a:rPr>
              <a:t>Gradient boosting framework with built-in missing value handling. During training, XGBoost learns the optimal direction (left or right child) for missing values at each split by trying both options.</a:t>
            </a: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a:p>
            <a:pPr marL="0" indent="0" algn="l">
              <a:lnSpc>
                <a:spcPts val="2450"/>
              </a:lnSpc>
              <a:buNone/>
            </a:pPr>
            <a:r>
              <a:rPr lang="en-US" sz="1800" dirty="0">
                <a:solidFill>
                  <a:srgbClr val="383838"/>
                </a:solidFill>
                <a:highlight>
                  <a:srgbClr val="F2F2F2"/>
                </a:highlight>
                <a:latin typeface="PT Serif" panose="020A0603040505020204" pitchFamily="18" charset="0"/>
                <a:ea typeface="Consolas" pitchFamily="34" charset="-122"/>
                <a:cs typeface="Consolas" pitchFamily="34" charset="-120"/>
              </a:rPr>
              <a:t>import xgboost as xgb</a:t>
            </a:r>
            <a:endParaRPr lang="en-US" sz="1800" dirty="0">
              <a:latin typeface="PT Serif" panose="020A0603040505020204" pitchFamily="18" charset="0"/>
            </a:endParaRPr>
          </a:p>
          <a:p>
            <a:pPr marL="0" indent="0" algn="l">
              <a:lnSpc>
                <a:spcPts val="2450"/>
              </a:lnSpc>
              <a:buNone/>
            </a:pPr>
            <a:endParaRPr lang="en-US" sz="1800" dirty="0">
              <a:latin typeface="PT Serif" panose="020A0603040505020204" pitchFamily="18" charset="0"/>
            </a:endParaRPr>
          </a:p>
          <a:p>
            <a:pPr marL="0" indent="0" algn="l">
              <a:lnSpc>
                <a:spcPts val="2450"/>
              </a:lnSpc>
              <a:buNone/>
            </a:pPr>
            <a:r>
              <a:rPr lang="en-US" sz="1800" dirty="0">
                <a:solidFill>
                  <a:srgbClr val="383838"/>
                </a:solidFill>
                <a:highlight>
                  <a:srgbClr val="F2F2F2"/>
                </a:highlight>
                <a:latin typeface="PT Serif" panose="020A0603040505020204" pitchFamily="18" charset="0"/>
                <a:ea typeface="Consolas" pitchFamily="34" charset="-122"/>
                <a:cs typeface="Consolas" pitchFamily="34" charset="-120"/>
              </a:rPr>
              <a:t>model = xgb.XGBRegressor()</a:t>
            </a:r>
            <a:endParaRPr lang="en-US" sz="1800" dirty="0">
              <a:latin typeface="PT Serif" panose="020A0603040505020204" pitchFamily="18" charset="0"/>
            </a:endParaRPr>
          </a:p>
          <a:p>
            <a:pPr marL="0" indent="0" algn="l">
              <a:lnSpc>
                <a:spcPts val="2450"/>
              </a:lnSpc>
              <a:buNone/>
            </a:pPr>
            <a:r>
              <a:rPr lang="en-US" sz="1800" dirty="0">
                <a:solidFill>
                  <a:srgbClr val="383838"/>
                </a:solidFill>
                <a:highlight>
                  <a:srgbClr val="F2F2F2"/>
                </a:highlight>
                <a:latin typeface="PT Serif" panose="020A0603040505020204" pitchFamily="18" charset="0"/>
                <a:ea typeface="Consolas" pitchFamily="34" charset="-122"/>
                <a:cs typeface="Consolas" pitchFamily="34" charset="-120"/>
              </a:rPr>
              <a:t>model.fit(X_train, y_train)</a:t>
            </a:r>
            <a:endParaRPr lang="en-US" sz="1800" dirty="0">
              <a:latin typeface="PT Serif" panose="020A0603040505020204" pitchFamily="18" charset="0"/>
            </a:endParaRPr>
          </a:p>
          <a:p>
            <a:pPr marL="0" indent="0" algn="l">
              <a:lnSpc>
                <a:spcPct val="150000"/>
              </a:lnSpc>
              <a:buNone/>
            </a:pPr>
            <a:endParaRPr lang="en-US" dirty="0">
              <a:latin typeface="PT Serif" panose="020A0603040505020204" pitchFamily="18" charset="0"/>
            </a:endParaRPr>
          </a:p>
        </p:txBody>
      </p:sp>
    </p:spTree>
    <p:extLst>
      <p:ext uri="{BB962C8B-B14F-4D97-AF65-F5344CB8AC3E}">
        <p14:creationId xmlns:p14="http://schemas.microsoft.com/office/powerpoint/2010/main" val="42265896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object 13">
            <a:extLst>
              <a:ext uri="{FF2B5EF4-FFF2-40B4-BE49-F238E27FC236}">
                <a16:creationId xmlns:a16="http://schemas.microsoft.com/office/drawing/2014/main" id="{9C0F2DF8-5880-1488-8B30-FC6F1E9FA2E3}"/>
              </a:ext>
            </a:extLst>
          </p:cNvPr>
          <p:cNvGrpSpPr/>
          <p:nvPr/>
        </p:nvGrpSpPr>
        <p:grpSpPr>
          <a:xfrm>
            <a:off x="3061686" y="6470574"/>
            <a:ext cx="9367344" cy="1641700"/>
            <a:chOff x="793788" y="4631308"/>
            <a:chExt cx="6437630" cy="2974340"/>
          </a:xfrm>
        </p:grpSpPr>
        <p:sp>
          <p:nvSpPr>
            <p:cNvPr id="37" name="object 14">
              <a:extLst>
                <a:ext uri="{FF2B5EF4-FFF2-40B4-BE49-F238E27FC236}">
                  <a16:creationId xmlns:a16="http://schemas.microsoft.com/office/drawing/2014/main" id="{1B29320E-922A-DE5C-86F6-BC033630739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38" name="object 15">
              <a:extLst>
                <a:ext uri="{FF2B5EF4-FFF2-40B4-BE49-F238E27FC236}">
                  <a16:creationId xmlns:a16="http://schemas.microsoft.com/office/drawing/2014/main" id="{3A5A690E-8D0F-C121-E105-77FFA7E97AD9}"/>
                </a:ext>
              </a:extLst>
            </p:cNvPr>
            <p:cNvSpPr/>
            <p:nvPr/>
          </p:nvSpPr>
          <p:spPr>
            <a:xfrm>
              <a:off x="816648" y="4654169"/>
              <a:ext cx="6391910" cy="1287463"/>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33" name="object 13">
            <a:extLst>
              <a:ext uri="{FF2B5EF4-FFF2-40B4-BE49-F238E27FC236}">
                <a16:creationId xmlns:a16="http://schemas.microsoft.com/office/drawing/2014/main" id="{24108A23-227D-7FD6-961E-B01A770A8D52}"/>
              </a:ext>
            </a:extLst>
          </p:cNvPr>
          <p:cNvGrpSpPr/>
          <p:nvPr/>
        </p:nvGrpSpPr>
        <p:grpSpPr>
          <a:xfrm>
            <a:off x="7620000" y="3699575"/>
            <a:ext cx="6767326" cy="2472625"/>
            <a:chOff x="793788" y="4631308"/>
            <a:chExt cx="6437630" cy="2974340"/>
          </a:xfrm>
        </p:grpSpPr>
        <p:sp>
          <p:nvSpPr>
            <p:cNvPr id="34" name="object 14">
              <a:extLst>
                <a:ext uri="{FF2B5EF4-FFF2-40B4-BE49-F238E27FC236}">
                  <a16:creationId xmlns:a16="http://schemas.microsoft.com/office/drawing/2014/main" id="{9909567F-D335-F383-D112-D4B296B0BD9A}"/>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35" name="object 15">
              <a:extLst>
                <a:ext uri="{FF2B5EF4-FFF2-40B4-BE49-F238E27FC236}">
                  <a16:creationId xmlns:a16="http://schemas.microsoft.com/office/drawing/2014/main" id="{2515E9D8-4007-0D0B-33AD-53588C0CB59D}"/>
                </a:ext>
              </a:extLst>
            </p:cNvPr>
            <p:cNvSpPr/>
            <p:nvPr/>
          </p:nvSpPr>
          <p:spPr>
            <a:xfrm>
              <a:off x="816648" y="4654168"/>
              <a:ext cx="6391910" cy="1638491"/>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30" name="object 13">
            <a:extLst>
              <a:ext uri="{FF2B5EF4-FFF2-40B4-BE49-F238E27FC236}">
                <a16:creationId xmlns:a16="http://schemas.microsoft.com/office/drawing/2014/main" id="{EF3236C2-EE89-B237-CBA2-B506A4F9B4DC}"/>
              </a:ext>
            </a:extLst>
          </p:cNvPr>
          <p:cNvGrpSpPr/>
          <p:nvPr/>
        </p:nvGrpSpPr>
        <p:grpSpPr>
          <a:xfrm>
            <a:off x="267519" y="3673476"/>
            <a:ext cx="7200350" cy="2498724"/>
            <a:chOff x="793788" y="4631308"/>
            <a:chExt cx="6437630" cy="2974340"/>
          </a:xfrm>
        </p:grpSpPr>
        <p:sp>
          <p:nvSpPr>
            <p:cNvPr id="31" name="object 14">
              <a:extLst>
                <a:ext uri="{FF2B5EF4-FFF2-40B4-BE49-F238E27FC236}">
                  <a16:creationId xmlns:a16="http://schemas.microsoft.com/office/drawing/2014/main" id="{0A9A3E94-94E0-7722-8A1E-DBAEF9CC8A77}"/>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32" name="object 15">
              <a:extLst>
                <a:ext uri="{FF2B5EF4-FFF2-40B4-BE49-F238E27FC236}">
                  <a16:creationId xmlns:a16="http://schemas.microsoft.com/office/drawing/2014/main" id="{40533959-2F8B-4AA1-5E07-4A2AA6F6004D}"/>
                </a:ext>
              </a:extLst>
            </p:cNvPr>
            <p:cNvSpPr/>
            <p:nvPr/>
          </p:nvSpPr>
          <p:spPr>
            <a:xfrm>
              <a:off x="816648" y="4654168"/>
              <a:ext cx="6391910" cy="1030291"/>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27" name="object 13">
            <a:extLst>
              <a:ext uri="{FF2B5EF4-FFF2-40B4-BE49-F238E27FC236}">
                <a16:creationId xmlns:a16="http://schemas.microsoft.com/office/drawing/2014/main" id="{C6913D6E-141E-A3AE-9C23-96D0C8264C77}"/>
              </a:ext>
            </a:extLst>
          </p:cNvPr>
          <p:cNvGrpSpPr/>
          <p:nvPr/>
        </p:nvGrpSpPr>
        <p:grpSpPr>
          <a:xfrm>
            <a:off x="7582450" y="1219200"/>
            <a:ext cx="6804876" cy="2286000"/>
            <a:chOff x="793788" y="4631308"/>
            <a:chExt cx="6437630" cy="2974340"/>
          </a:xfrm>
        </p:grpSpPr>
        <p:sp>
          <p:nvSpPr>
            <p:cNvPr id="28" name="object 14">
              <a:extLst>
                <a:ext uri="{FF2B5EF4-FFF2-40B4-BE49-F238E27FC236}">
                  <a16:creationId xmlns:a16="http://schemas.microsoft.com/office/drawing/2014/main" id="{A41BBC08-7F58-A7D6-5F2E-A7016963117F}"/>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9" name="object 15">
              <a:extLst>
                <a:ext uri="{FF2B5EF4-FFF2-40B4-BE49-F238E27FC236}">
                  <a16:creationId xmlns:a16="http://schemas.microsoft.com/office/drawing/2014/main" id="{DC8C8B81-0292-B9C9-E75F-E77725E6C355}"/>
                </a:ext>
              </a:extLst>
            </p:cNvPr>
            <p:cNvSpPr/>
            <p:nvPr/>
          </p:nvSpPr>
          <p:spPr>
            <a:xfrm>
              <a:off x="816648" y="4654168"/>
              <a:ext cx="6391910" cy="1030291"/>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24" name="object 13">
            <a:extLst>
              <a:ext uri="{FF2B5EF4-FFF2-40B4-BE49-F238E27FC236}">
                <a16:creationId xmlns:a16="http://schemas.microsoft.com/office/drawing/2014/main" id="{9EDED71C-1B31-D97D-38B2-DAFD66018FF9}"/>
              </a:ext>
            </a:extLst>
          </p:cNvPr>
          <p:cNvGrpSpPr/>
          <p:nvPr/>
        </p:nvGrpSpPr>
        <p:grpSpPr>
          <a:xfrm>
            <a:off x="267520" y="1219200"/>
            <a:ext cx="7200350" cy="2244025"/>
            <a:chOff x="793788" y="4631308"/>
            <a:chExt cx="6437630" cy="2974340"/>
          </a:xfrm>
        </p:grpSpPr>
        <p:sp>
          <p:nvSpPr>
            <p:cNvPr id="25" name="object 14">
              <a:extLst>
                <a:ext uri="{FF2B5EF4-FFF2-40B4-BE49-F238E27FC236}">
                  <a16:creationId xmlns:a16="http://schemas.microsoft.com/office/drawing/2014/main" id="{35293503-1DBD-8E87-3BE0-DDA71A76F25C}"/>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6" name="object 15">
              <a:extLst>
                <a:ext uri="{FF2B5EF4-FFF2-40B4-BE49-F238E27FC236}">
                  <a16:creationId xmlns:a16="http://schemas.microsoft.com/office/drawing/2014/main" id="{222A1FF6-5464-B670-5D90-F39A5749423F}"/>
                </a:ext>
              </a:extLst>
            </p:cNvPr>
            <p:cNvSpPr/>
            <p:nvPr/>
          </p:nvSpPr>
          <p:spPr>
            <a:xfrm>
              <a:off x="816648" y="4654168"/>
              <a:ext cx="6391910" cy="1030291"/>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sp>
        <p:nvSpPr>
          <p:cNvPr id="2" name="object 2"/>
          <p:cNvSpPr txBox="1">
            <a:spLocks noGrp="1"/>
          </p:cNvSpPr>
          <p:nvPr>
            <p:ph type="title"/>
          </p:nvPr>
        </p:nvSpPr>
        <p:spPr>
          <a:xfrm>
            <a:off x="1143000" y="-20128"/>
            <a:ext cx="13656055" cy="833113"/>
          </a:xfrm>
          <a:prstGeom prst="rect">
            <a:avLst/>
          </a:prstGeom>
          <a:noFill/>
        </p:spPr>
        <p:txBody>
          <a:bodyPr vert="horz" wrap="square" lIns="0" tIns="220853"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Key Takeaways</a:t>
            </a:r>
            <a:endParaRPr lang="en-US" sz="3600" dirty="0"/>
          </a:p>
        </p:txBody>
      </p:sp>
      <p:sp>
        <p:nvSpPr>
          <p:cNvPr id="8" name="Text 3">
            <a:extLst>
              <a:ext uri="{FF2B5EF4-FFF2-40B4-BE49-F238E27FC236}">
                <a16:creationId xmlns:a16="http://schemas.microsoft.com/office/drawing/2014/main" id="{A0D38183-3593-0CD5-9F87-5CFCC2BA96CD}"/>
              </a:ext>
            </a:extLst>
          </p:cNvPr>
          <p:cNvSpPr/>
          <p:nvPr/>
        </p:nvSpPr>
        <p:spPr>
          <a:xfrm>
            <a:off x="354607" y="1219200"/>
            <a:ext cx="7001730" cy="8639208"/>
          </a:xfrm>
          <a:prstGeom prst="rect">
            <a:avLst/>
          </a:prstGeom>
          <a:noFill/>
          <a:ln/>
        </p:spPr>
        <p:txBody>
          <a:bodyPr wrap="square" lIns="0" tIns="0" rIns="0" bIns="0" rtlCol="0" anchor="t"/>
          <a:lstStyle/>
          <a:p>
            <a:pPr marL="0" indent="0" algn="ctr">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Missing values are unavoidable in real-world ML</a:t>
            </a:r>
            <a:endParaRPr lang="en-US" sz="2400" dirty="0">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Every practical machine learning project will encounter missing data. It's not a matter of if, but when and how much.</a:t>
            </a:r>
            <a:endParaRPr lang="en-US" sz="1800" dirty="0">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ndParaRPr>
          </a:p>
          <a:p>
            <a:pPr marL="0" indent="0" algn="ctr">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Simple methods work surprisingly well as baselines</a:t>
            </a:r>
            <a:endParaRPr lang="en-US" sz="2400" dirty="0">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Mean/median imputation provides a solid starting point. Don't overcomplicate unnecessarily—validate that complexity adds value.</a:t>
            </a:r>
            <a:endParaRPr lang="en-US" sz="1800" dirty="0">
              <a:latin typeface="PT Serif" panose="020A0603040505020204" pitchFamily="18" charset="0"/>
            </a:endParaRPr>
          </a:p>
        </p:txBody>
      </p:sp>
      <p:sp>
        <p:nvSpPr>
          <p:cNvPr id="10" name="Text 6">
            <a:extLst>
              <a:ext uri="{FF2B5EF4-FFF2-40B4-BE49-F238E27FC236}">
                <a16:creationId xmlns:a16="http://schemas.microsoft.com/office/drawing/2014/main" id="{B7C25592-1A5D-94A2-1249-6AAE7946F079}"/>
              </a:ext>
            </a:extLst>
          </p:cNvPr>
          <p:cNvSpPr/>
          <p:nvPr/>
        </p:nvSpPr>
        <p:spPr>
          <a:xfrm>
            <a:off x="7745358" y="1219200"/>
            <a:ext cx="6479060" cy="4698301"/>
          </a:xfrm>
          <a:prstGeom prst="rect">
            <a:avLst/>
          </a:prstGeom>
          <a:noFill/>
          <a:ln/>
        </p:spPr>
        <p:txBody>
          <a:bodyPr wrap="square" lIns="0" tIns="0" rIns="0" bIns="0" rtlCol="0" anchor="t"/>
          <a:lstStyle/>
          <a:p>
            <a:pPr marL="0" indent="0" algn="ctr">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Understanding missingness structure is critical</a:t>
            </a:r>
            <a:endParaRPr lang="en-US" sz="2400" dirty="0">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MCAR, MAR, and MNAR require different handling strategies. Diagnostic analysis before imputation can save significant downstream effort.</a:t>
            </a:r>
            <a:endParaRPr lang="en-US" sz="1800" dirty="0">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ndParaRPr>
          </a:p>
          <a:p>
            <a:pPr marL="0" indent="0" algn="ctr">
              <a:lnSpc>
                <a:spcPct val="150000"/>
              </a:lnSpc>
              <a:buNone/>
            </a:pPr>
            <a:r>
              <a:rPr lang="en-US" sz="2400" dirty="0">
                <a:solidFill>
                  <a:srgbClr val="383838"/>
                </a:solidFill>
                <a:latin typeface="PT Serif" panose="020A0603040505020204" pitchFamily="18" charset="0"/>
                <a:ea typeface="PT Serif" pitchFamily="34" charset="-122"/>
                <a:cs typeface="PT Serif" pitchFamily="34" charset="-120"/>
              </a:rPr>
              <a:t>Model-based methods improve performance when variables are correlated</a:t>
            </a:r>
            <a:endParaRPr lang="en-US" sz="2400" dirty="0">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a typeface="PT Serif" pitchFamily="34" charset="-122"/>
              <a:cs typeface="PT Serif" pitchFamily="34" charset="-12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Sophisticated imputation using KNN, MICE, or tree-based methods pays off when features have strong relationships.</a:t>
            </a:r>
            <a:endParaRPr lang="en-US" sz="1800" dirty="0">
              <a:latin typeface="PT Serif" panose="020A0603040505020204" pitchFamily="18" charset="0"/>
            </a:endParaRPr>
          </a:p>
          <a:p>
            <a:pPr algn="l">
              <a:lnSpc>
                <a:spcPct val="150000"/>
              </a:lnSpc>
            </a:pPr>
            <a:endParaRPr lang="en-US" dirty="0">
              <a:latin typeface="PT Serif" panose="020A0603040505020204" pitchFamily="18" charset="0"/>
            </a:endParaRPr>
          </a:p>
          <a:p>
            <a:pPr algn="l">
              <a:lnSpc>
                <a:spcPct val="150000"/>
              </a:lnSpc>
            </a:pPr>
            <a:endParaRPr lang="en-US" dirty="0">
              <a:latin typeface="PT Serif" panose="020A0603040505020204" pitchFamily="18" charset="0"/>
            </a:endParaRPr>
          </a:p>
          <a:p>
            <a:pPr algn="l">
              <a:lnSpc>
                <a:spcPct val="150000"/>
              </a:lnSpc>
            </a:pPr>
            <a:endParaRPr lang="en-US" dirty="0">
              <a:latin typeface="PT Serif" panose="020A0603040505020204" pitchFamily="18" charset="0"/>
            </a:endParaRPr>
          </a:p>
          <a:p>
            <a:pPr>
              <a:lnSpc>
                <a:spcPct val="150000"/>
              </a:lnSpc>
            </a:pPr>
            <a:endParaRPr lang="en-IN" dirty="0">
              <a:latin typeface="PT Serif" panose="020A0603040505020204" pitchFamily="18" charset="0"/>
            </a:endParaRPr>
          </a:p>
        </p:txBody>
      </p:sp>
      <p:sp>
        <p:nvSpPr>
          <p:cNvPr id="3" name="TextBox 2">
            <a:extLst>
              <a:ext uri="{FF2B5EF4-FFF2-40B4-BE49-F238E27FC236}">
                <a16:creationId xmlns:a16="http://schemas.microsoft.com/office/drawing/2014/main" id="{67FF1DA4-5583-4C30-BB88-FAF0166009E2}"/>
              </a:ext>
            </a:extLst>
          </p:cNvPr>
          <p:cNvSpPr txBox="1"/>
          <p:nvPr/>
        </p:nvSpPr>
        <p:spPr>
          <a:xfrm>
            <a:off x="3107649" y="6531232"/>
            <a:ext cx="9288117" cy="1848776"/>
          </a:xfrm>
          <a:prstGeom prst="rect">
            <a:avLst/>
          </a:prstGeom>
          <a:noFill/>
        </p:spPr>
        <p:txBody>
          <a:bodyPr wrap="square" rtlCol="0">
            <a:spAutoFit/>
          </a:bodyPr>
          <a:lstStyle/>
          <a:p>
            <a:pPr algn="ctr">
              <a:lnSpc>
                <a:spcPct val="150000"/>
              </a:lnSpc>
            </a:pPr>
            <a:r>
              <a:rPr lang="en-US" sz="2400" dirty="0">
                <a:solidFill>
                  <a:srgbClr val="383838"/>
                </a:solidFill>
                <a:latin typeface="PT Serif" panose="020A0603040505020204" pitchFamily="18" charset="0"/>
                <a:ea typeface="PT Serif" pitchFamily="34" charset="-122"/>
                <a:cs typeface="PT Serif" pitchFamily="34" charset="-120"/>
              </a:rPr>
              <a:t>Tree-based models often eliminate explicit imputation needs</a:t>
            </a:r>
            <a:endParaRPr lang="en-US" sz="2400" dirty="0">
              <a:latin typeface="PT Serif" panose="020A0603040505020204" pitchFamily="18" charset="0"/>
            </a:endParaRPr>
          </a:p>
          <a:p>
            <a:pPr algn="l">
              <a:lnSpc>
                <a:spcPct val="150000"/>
              </a:lnSpc>
            </a:pPr>
            <a:r>
              <a:rPr lang="en-US" sz="1800" dirty="0">
                <a:solidFill>
                  <a:srgbClr val="383838"/>
                </a:solidFill>
                <a:latin typeface="PT Serif" panose="020A0603040505020204" pitchFamily="18" charset="0"/>
                <a:ea typeface="DM Sans" pitchFamily="34" charset="-122"/>
                <a:cs typeface="DM Sans" pitchFamily="34" charset="-120"/>
              </a:rPr>
              <a:t>Native handling in XGBoost, LightGBM, and CatBoost simplifies workflows and preserves missingness signal.</a:t>
            </a:r>
            <a:endParaRPr lang="en-US" sz="1800" dirty="0">
              <a:latin typeface="PT Serif" panose="020A0603040505020204" pitchFamily="18" charset="0"/>
            </a:endParaRPr>
          </a:p>
          <a:p>
            <a:pPr>
              <a:lnSpc>
                <a:spcPct val="150000"/>
              </a:lnSpc>
            </a:pPr>
            <a:endParaRPr lang="en-IN" dirty="0">
              <a:latin typeface="PT Serif" panose="020A0603040505020204" pitchFamily="18" charset="0"/>
            </a:endParaRPr>
          </a:p>
        </p:txBody>
      </p:sp>
    </p:spTree>
    <p:extLst>
      <p:ext uri="{BB962C8B-B14F-4D97-AF65-F5344CB8AC3E}">
        <p14:creationId xmlns:p14="http://schemas.microsoft.com/office/powerpoint/2010/main" val="37675407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764</TotalTime>
  <Words>2231</Words>
  <Application>Microsoft Macintosh PowerPoint</Application>
  <PresentationFormat>Custom</PresentationFormat>
  <Paragraphs>324</Paragraphs>
  <Slides>19</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Consolas</vt:lpstr>
      <vt:lpstr>DM Sans</vt:lpstr>
      <vt:lpstr>Lucida Sans Unicode</vt:lpstr>
      <vt:lpstr>PT Serif</vt:lpstr>
      <vt:lpstr>PT Serif Light</vt:lpstr>
      <vt:lpstr>Office Theme</vt:lpstr>
      <vt:lpstr>PowerPoint Presentation</vt:lpstr>
      <vt:lpstr>Contents </vt:lpstr>
      <vt:lpstr>What Are Missing Values? </vt:lpstr>
      <vt:lpstr>Why Missing Values Matter</vt:lpstr>
      <vt:lpstr>Common Causes of Missing Data</vt:lpstr>
      <vt:lpstr>Three Types of Missingness Mechanisms</vt:lpstr>
      <vt:lpstr>Missingness Mechanisms: Technical Comparison</vt:lpstr>
      <vt:lpstr>Simple Imputation Methods</vt:lpstr>
      <vt:lpstr>Simple Imputation: Pros and Cons</vt:lpstr>
      <vt:lpstr>Grouped Mean/Median Imputation</vt:lpstr>
      <vt:lpstr>K-Nearest Neighbors (KNN) Imputation</vt:lpstr>
      <vt:lpstr>KNN Imputation: Technical Considerations</vt:lpstr>
      <vt:lpstr>Model-Based Imputation Overview</vt:lpstr>
      <vt:lpstr>Iterative Imputation Deep Dive</vt:lpstr>
      <vt:lpstr>Advanced Configuration Options</vt:lpstr>
      <vt:lpstr>Tree-Based Imputation Advantages</vt:lpstr>
      <vt:lpstr>Model-Based Imputation: Practical Implementation</vt:lpstr>
      <vt:lpstr>Native Handling in Tree-Based Models</vt:lpstr>
      <vt:lpstr>Key Takeaways</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Vinayak Deshpande</cp:lastModifiedBy>
  <cp:revision>272</cp:revision>
  <dcterms:created xsi:type="dcterms:W3CDTF">2025-08-01T06:43:07Z</dcterms:created>
  <dcterms:modified xsi:type="dcterms:W3CDTF">2025-12-17T03:01:24Z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2025-08-01T00:00:00Z</vt:filetime>
  </property>
  <property fmtid="{D5CDD505-2E9C-101B-9397-08002B2CF9AE}" pid="3" name="Creator">
    <vt:lpwstr>Microsoft® PowerPoint® 2021</vt:lpwstr>
  </property>
  <property fmtid="{D5CDD505-2E9C-101B-9397-08002B2CF9AE}" pid="4" name="LastSaved">
    <vt:filetime>2025-08-01T00:00:00Z</vt:filetime>
  </property>
  <property fmtid="{D5CDD505-2E9C-101B-9397-08002B2CF9AE}" pid="5" name="Producer">
    <vt:lpwstr>Microsoft® PowerPoint® 2021</vt:lpwstr>
  </property>
</Properties>
</file>