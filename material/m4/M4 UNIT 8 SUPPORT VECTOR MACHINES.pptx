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4" r:id="rId2"/>
    <p:sldId id="315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 varScale="1">
        <p:scale>
          <a:sx n="86" d="100"/>
          <a:sy n="86" d="100"/>
        </p:scale>
        <p:origin x="93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3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microsoft.com/office/2007/relationships/hdphoto" Target="../media/hdphoto12.wdp"/><Relationship Id="rId5" Type="http://schemas.microsoft.com/office/2007/relationships/hdphoto" Target="../media/hdphoto9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1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4.wdp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7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8.wdp"/><Relationship Id="rId7" Type="http://schemas.microsoft.com/office/2007/relationships/hdphoto" Target="../media/hdphoto20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microsoft.com/office/2007/relationships/hdphoto" Target="../media/hdphoto19.wdp"/><Relationship Id="rId4" Type="http://schemas.openxmlformats.org/officeDocument/2006/relationships/image" Target="../media/image21.png"/><Relationship Id="rId9" Type="http://schemas.microsoft.com/office/2007/relationships/hdphoto" Target="../media/hdphoto2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76536" y="2133600"/>
            <a:ext cx="1012006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lvl="0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Open Sans Light"/>
              <a:buNone/>
            </a:pPr>
            <a:r>
              <a:rPr lang="en-US" sz="4100" dirty="0">
                <a:solidFill>
                  <a:schemeClr val="tx1"/>
                </a:solidFill>
                <a:latin typeface="PT Serif" panose="020A0603040505020204" pitchFamily="18" charset="0"/>
              </a:rPr>
              <a:t>Support Vector Machines in Python</a:t>
            </a: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76536" y="3200400"/>
            <a:ext cx="1012006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IN" sz="2000" dirty="0">
                <a:latin typeface="PT Serif" panose="020A0603040505020204" pitchFamily="18" charset="77"/>
              </a:rPr>
              <a:t>Identifies the optimal line or hyperplane that best separates classes.</a:t>
            </a:r>
            <a:endParaRPr lang="en-US" sz="2000" dirty="0">
              <a:solidFill>
                <a:srgbClr val="FF0000"/>
              </a:solidFill>
              <a:latin typeface="PT Serif" panose="020A06030405050202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5143492-6174-36E0-18E9-2FBBD755D6BB}"/>
              </a:ext>
            </a:extLst>
          </p:cNvPr>
          <p:cNvSpPr/>
          <p:nvPr/>
        </p:nvSpPr>
        <p:spPr>
          <a:xfrm>
            <a:off x="793790" y="343316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02694D-B466-CB52-F026-1DD37D9F698A}"/>
              </a:ext>
            </a:extLst>
          </p:cNvPr>
          <p:cNvSpPr/>
          <p:nvPr/>
        </p:nvSpPr>
        <p:spPr>
          <a:xfrm>
            <a:off x="793790" y="13923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88AB240-6167-82F2-FA94-63561C77DE0F}"/>
              </a:ext>
            </a:extLst>
          </p:cNvPr>
          <p:cNvSpPr/>
          <p:nvPr/>
        </p:nvSpPr>
        <p:spPr>
          <a:xfrm>
            <a:off x="793790" y="174742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47D2BD-5CB7-44FE-F117-50B7D5ECB0FD}"/>
              </a:ext>
            </a:extLst>
          </p:cNvPr>
          <p:cNvSpPr/>
          <p:nvPr/>
        </p:nvSpPr>
        <p:spPr>
          <a:xfrm>
            <a:off x="793790" y="1921728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Introduction to Support Vector Machines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8907FC8-FE83-1F57-EF45-DE3990BD36EF}"/>
              </a:ext>
            </a:extLst>
          </p:cNvPr>
          <p:cNvSpPr/>
          <p:nvPr/>
        </p:nvSpPr>
        <p:spPr>
          <a:xfrm>
            <a:off x="7428548" y="139237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5DF9D55-4CF6-279E-67F3-7A9327F74C86}"/>
              </a:ext>
            </a:extLst>
          </p:cNvPr>
          <p:cNvSpPr/>
          <p:nvPr/>
        </p:nvSpPr>
        <p:spPr>
          <a:xfrm>
            <a:off x="7428548" y="1747420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23EE2F6-2903-5323-369D-43F2EC693158}"/>
              </a:ext>
            </a:extLst>
          </p:cNvPr>
          <p:cNvSpPr/>
          <p:nvPr/>
        </p:nvSpPr>
        <p:spPr>
          <a:xfrm>
            <a:off x="7428548" y="1921728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algn="l" rtl="0">
              <a:spcBef>
                <a:spcPts val="1200"/>
              </a:spcBef>
              <a:spcAft>
                <a:spcPts val="0"/>
              </a:spcAft>
              <a:buSzPct val="100000"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Concept of Hyper Planes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15DC7FF-35A5-09A2-A7CA-2BFBEA5BBC9A}"/>
              </a:ext>
            </a:extLst>
          </p:cNvPr>
          <p:cNvSpPr/>
          <p:nvPr/>
        </p:nvSpPr>
        <p:spPr>
          <a:xfrm>
            <a:off x="793790" y="26906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7CBFAAF-3BC9-FDF2-B38D-B0ADE87930EB}"/>
              </a:ext>
            </a:extLst>
          </p:cNvPr>
          <p:cNvSpPr/>
          <p:nvPr/>
        </p:nvSpPr>
        <p:spPr>
          <a:xfrm>
            <a:off x="793790" y="304567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33EF32-FAA8-FB01-4406-5BE8D46EFAEB}"/>
              </a:ext>
            </a:extLst>
          </p:cNvPr>
          <p:cNvSpPr/>
          <p:nvPr/>
        </p:nvSpPr>
        <p:spPr>
          <a:xfrm>
            <a:off x="793790" y="3219985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Linear Separators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C96BB93-355D-E26B-1140-CEC1B92A537B}"/>
              </a:ext>
            </a:extLst>
          </p:cNvPr>
          <p:cNvSpPr/>
          <p:nvPr/>
        </p:nvSpPr>
        <p:spPr>
          <a:xfrm>
            <a:off x="7428548" y="269063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F82991F-325D-ADFB-D9D5-AC7B66495818}"/>
              </a:ext>
            </a:extLst>
          </p:cNvPr>
          <p:cNvSpPr/>
          <p:nvPr/>
        </p:nvSpPr>
        <p:spPr>
          <a:xfrm>
            <a:off x="7428548" y="304567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45F64FD-AFDF-A78E-E789-4D11DE242238}"/>
              </a:ext>
            </a:extLst>
          </p:cNvPr>
          <p:cNvSpPr/>
          <p:nvPr/>
        </p:nvSpPr>
        <p:spPr>
          <a:xfrm>
            <a:off x="7428548" y="3219985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Mathematical Approach to Linear SVM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FE094F3-732C-5F57-AFDC-CE863162C74B}"/>
              </a:ext>
            </a:extLst>
          </p:cNvPr>
          <p:cNvSpPr/>
          <p:nvPr/>
        </p:nvSpPr>
        <p:spPr>
          <a:xfrm>
            <a:off x="793790" y="3988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F3FAA8B-9BD3-5B9E-FDD6-24EB5FC3E4D5}"/>
              </a:ext>
            </a:extLst>
          </p:cNvPr>
          <p:cNvSpPr/>
          <p:nvPr/>
        </p:nvSpPr>
        <p:spPr>
          <a:xfrm>
            <a:off x="793790" y="434393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F2A74C8-BF90-FF05-83B7-CB9D6070B653}"/>
              </a:ext>
            </a:extLst>
          </p:cNvPr>
          <p:cNvSpPr/>
          <p:nvPr/>
        </p:nvSpPr>
        <p:spPr>
          <a:xfrm>
            <a:off x="793790" y="4518243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Kernel Function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C4BACC-CF9D-37A2-37A3-99FCEB85B60D}"/>
              </a:ext>
            </a:extLst>
          </p:cNvPr>
          <p:cNvSpPr/>
          <p:nvPr/>
        </p:nvSpPr>
        <p:spPr>
          <a:xfrm>
            <a:off x="7428548" y="39888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4C9F6E6-0A68-1135-3B56-16D471B6A305}"/>
              </a:ext>
            </a:extLst>
          </p:cNvPr>
          <p:cNvSpPr/>
          <p:nvPr/>
        </p:nvSpPr>
        <p:spPr>
          <a:xfrm>
            <a:off x="7428548" y="434393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59F670C-EC07-FB3D-9D8C-701102A10CB7}"/>
              </a:ext>
            </a:extLst>
          </p:cNvPr>
          <p:cNvSpPr/>
          <p:nvPr/>
        </p:nvSpPr>
        <p:spPr>
          <a:xfrm>
            <a:off x="7428548" y="4513302"/>
            <a:ext cx="5525452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</a:rPr>
              <a:t>SVM in Python</a:t>
            </a:r>
            <a:endParaRPr lang="en-US"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C31067F-3379-E2C1-6ADF-8A82CC0B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520" y="277483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Contents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02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48838-E3EE-EB7C-F56C-3C8AB6F24BBD}"/>
              </a:ext>
            </a:extLst>
          </p:cNvPr>
          <p:cNvSpPr/>
          <p:nvPr/>
        </p:nvSpPr>
        <p:spPr>
          <a:xfrm>
            <a:off x="2590800" y="4114800"/>
            <a:ext cx="9525000" cy="21865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B47173-E48F-3A74-D920-228E4FD0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400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Introduction to Support Vector Machines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F0B4D-E303-EA16-C013-F3CDD912CF94}"/>
              </a:ext>
            </a:extLst>
          </p:cNvPr>
          <p:cNvSpPr txBox="1"/>
          <p:nvPr/>
        </p:nvSpPr>
        <p:spPr>
          <a:xfrm>
            <a:off x="838200" y="1928258"/>
            <a:ext cx="12725400" cy="1710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Support Vector Machines (SVM’s)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is</a:t>
            </a: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a relatively new learning method  generally used for classification problem.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Although the first paper dates way back to early 1960’s </a:t>
            </a:r>
            <a:r>
              <a:rPr lang="en-US" b="1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it is only in 1992-1995 that this powerful method was universally adopted as a mainstream machine  learning paradigm</a:t>
            </a:r>
            <a:endParaRPr lang="en-US" b="0" i="0" u="none" strike="noStrike" cap="none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B7390-9DA4-01EC-DBCD-245E942E4273}"/>
              </a:ext>
            </a:extLst>
          </p:cNvPr>
          <p:cNvSpPr txBox="1"/>
          <p:nvPr/>
        </p:nvSpPr>
        <p:spPr>
          <a:xfrm>
            <a:off x="2724150" y="4343400"/>
            <a:ext cx="9182100" cy="1710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basic idea is to find a hyper plane which separates the d-dimensional data perfectly into its classes. However, since training  data is often not linearly separable, SVM's introduce the notion of a “Kernel-induced Feature Space" which casts the data into a higher dimensional space where the data is separable. 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30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F6B8-57D6-2681-46C3-C510B6BC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36" y="551181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What is a Hyper Plane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F5360-E883-CC4D-FE4B-17F94D205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2200" y="1654447"/>
            <a:ext cx="7381240" cy="5262979"/>
          </a:xfrm>
        </p:spPr>
        <p:txBody>
          <a:bodyPr/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In two dimensions, a hyper plane is defined by the equation:</a:t>
            </a:r>
            <a:endParaRPr lang="en-US" sz="18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This is nothing but </a:t>
            </a:r>
            <a:r>
              <a:rPr lang="en-US" sz="1800" b="1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equation of line.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 </a:t>
            </a:r>
            <a:endParaRPr lang="en-US" sz="18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The above equation can be easily extended to the p-dimensional setting:</a:t>
            </a:r>
            <a:endParaRPr lang="en-US" sz="18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In short, </a:t>
            </a:r>
            <a:endParaRPr lang="en-US" sz="18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chemeClr val="tx1"/>
              </a:solidFill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In p &gt; 3 dimensions, it can be hard to visualize a hyper planes.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Google Shape;1151;p113">
            <a:extLst>
              <a:ext uri="{FF2B5EF4-FFF2-40B4-BE49-F238E27FC236}">
                <a16:creationId xmlns:a16="http://schemas.microsoft.com/office/drawing/2014/main" id="{5E4FF0D0-989A-0C54-C99A-C6C5DD84CFCD}"/>
              </a:ext>
            </a:extLst>
          </p:cNvPr>
          <p:cNvSpPr/>
          <p:nvPr/>
        </p:nvSpPr>
        <p:spPr>
          <a:xfrm>
            <a:off x="5083398" y="2238473"/>
            <a:ext cx="3206325" cy="510778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5" name="Google Shape;1152;p113">
            <a:extLst>
              <a:ext uri="{FF2B5EF4-FFF2-40B4-BE49-F238E27FC236}">
                <a16:creationId xmlns:a16="http://schemas.microsoft.com/office/drawing/2014/main" id="{F6976A9E-8EE8-3D34-C3FC-F2E707473F26}"/>
              </a:ext>
            </a:extLst>
          </p:cNvPr>
          <p:cNvSpPr/>
          <p:nvPr/>
        </p:nvSpPr>
        <p:spPr>
          <a:xfrm>
            <a:off x="4211251" y="4285937"/>
            <a:ext cx="4950621" cy="547172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b="-2272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 dirty="0">
              <a:latin typeface="PT Serif" panose="020A0603040505020204" pitchFamily="18" charset="0"/>
            </a:endParaRPr>
          </a:p>
        </p:txBody>
      </p:sp>
      <p:sp>
        <p:nvSpPr>
          <p:cNvPr id="6" name="Google Shape;1153;p113">
            <a:extLst>
              <a:ext uri="{FF2B5EF4-FFF2-40B4-BE49-F238E27FC236}">
                <a16:creationId xmlns:a16="http://schemas.microsoft.com/office/drawing/2014/main" id="{87CF13BB-F6F6-0808-7555-5CF8C27FC451}"/>
              </a:ext>
            </a:extLst>
          </p:cNvPr>
          <p:cNvSpPr/>
          <p:nvPr/>
        </p:nvSpPr>
        <p:spPr>
          <a:xfrm>
            <a:off x="5199273" y="5302041"/>
            <a:ext cx="2104080" cy="518014"/>
          </a:xfrm>
          <a:prstGeom prst="roundRect">
            <a:avLst>
              <a:gd name="adj" fmla="val 16667"/>
            </a:avLst>
          </a:prstGeom>
          <a:blipFill rotWithShape="1"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65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63B7-25B1-6C32-3D2F-640F1A8F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407" y="60974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Separating a Hyper Plane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7F3FE-70B4-4599-36CB-C0B0554B5DE2}"/>
              </a:ext>
            </a:extLst>
          </p:cNvPr>
          <p:cNvSpPr txBox="1"/>
          <p:nvPr/>
        </p:nvSpPr>
        <p:spPr>
          <a:xfrm>
            <a:off x="1146175" y="1592624"/>
            <a:ext cx="9753600" cy="46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Binary classification can be viewed as the task of separating classes in feature space: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5" name="Google Shape;1161;p114">
            <a:extLst>
              <a:ext uri="{FF2B5EF4-FFF2-40B4-BE49-F238E27FC236}">
                <a16:creationId xmlns:a16="http://schemas.microsoft.com/office/drawing/2014/main" id="{B507C558-AE23-9C9A-BCC4-5DDF908DE6CB}"/>
              </a:ext>
            </a:extLst>
          </p:cNvPr>
          <p:cNvGrpSpPr/>
          <p:nvPr/>
        </p:nvGrpSpPr>
        <p:grpSpPr>
          <a:xfrm>
            <a:off x="3733800" y="2601112"/>
            <a:ext cx="5296904" cy="4367213"/>
            <a:chOff x="762000" y="1728787"/>
            <a:chExt cx="5296904" cy="4367213"/>
          </a:xfrm>
        </p:grpSpPr>
        <p:cxnSp>
          <p:nvCxnSpPr>
            <p:cNvPr id="6" name="Google Shape;1162;p114">
              <a:extLst>
                <a:ext uri="{FF2B5EF4-FFF2-40B4-BE49-F238E27FC236}">
                  <a16:creationId xmlns:a16="http://schemas.microsoft.com/office/drawing/2014/main" id="{53035B6D-3D83-E1C0-C867-9DFF3714B0B3}"/>
                </a:ext>
              </a:extLst>
            </p:cNvPr>
            <p:cNvCxnSpPr/>
            <p:nvPr/>
          </p:nvCxnSpPr>
          <p:spPr>
            <a:xfrm rot="10800000">
              <a:off x="896938" y="3054350"/>
              <a:ext cx="0" cy="304165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" name="Google Shape;1163;p114">
              <a:extLst>
                <a:ext uri="{FF2B5EF4-FFF2-40B4-BE49-F238E27FC236}">
                  <a16:creationId xmlns:a16="http://schemas.microsoft.com/office/drawing/2014/main" id="{919E4F42-2D08-DE8C-F4D6-4F34F55F0446}"/>
                </a:ext>
              </a:extLst>
            </p:cNvPr>
            <p:cNvCxnSpPr/>
            <p:nvPr/>
          </p:nvCxnSpPr>
          <p:spPr>
            <a:xfrm>
              <a:off x="762000" y="5980113"/>
              <a:ext cx="4081463" cy="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" name="Google Shape;1164;p114">
              <a:extLst>
                <a:ext uri="{FF2B5EF4-FFF2-40B4-BE49-F238E27FC236}">
                  <a16:creationId xmlns:a16="http://schemas.microsoft.com/office/drawing/2014/main" id="{B5EB9F5F-C1E0-4B64-7960-6C5EAD68D9CF}"/>
                </a:ext>
              </a:extLst>
            </p:cNvPr>
            <p:cNvSpPr/>
            <p:nvPr/>
          </p:nvSpPr>
          <p:spPr>
            <a:xfrm>
              <a:off x="193675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9" name="Google Shape;1165;p114">
              <a:extLst>
                <a:ext uri="{FF2B5EF4-FFF2-40B4-BE49-F238E27FC236}">
                  <a16:creationId xmlns:a16="http://schemas.microsoft.com/office/drawing/2014/main" id="{6FF0570F-521B-5B3A-DBC5-B203E70FFE11}"/>
                </a:ext>
              </a:extLst>
            </p:cNvPr>
            <p:cNvSpPr/>
            <p:nvPr/>
          </p:nvSpPr>
          <p:spPr>
            <a:xfrm>
              <a:off x="1362075" y="4167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0" name="Google Shape;1166;p114">
              <a:extLst>
                <a:ext uri="{FF2B5EF4-FFF2-40B4-BE49-F238E27FC236}">
                  <a16:creationId xmlns:a16="http://schemas.microsoft.com/office/drawing/2014/main" id="{5C93BD2B-9699-5903-1528-FAC910BF3A9C}"/>
                </a:ext>
              </a:extLst>
            </p:cNvPr>
            <p:cNvSpPr/>
            <p:nvPr/>
          </p:nvSpPr>
          <p:spPr>
            <a:xfrm>
              <a:off x="1514475" y="4713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1" name="Google Shape;1167;p114">
              <a:extLst>
                <a:ext uri="{FF2B5EF4-FFF2-40B4-BE49-F238E27FC236}">
                  <a16:creationId xmlns:a16="http://schemas.microsoft.com/office/drawing/2014/main" id="{AF271CC4-C765-89A9-3790-06D1D032CCAB}"/>
                </a:ext>
              </a:extLst>
            </p:cNvPr>
            <p:cNvSpPr/>
            <p:nvPr/>
          </p:nvSpPr>
          <p:spPr>
            <a:xfrm>
              <a:off x="11334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" name="Google Shape;1168;p114">
              <a:extLst>
                <a:ext uri="{FF2B5EF4-FFF2-40B4-BE49-F238E27FC236}">
                  <a16:creationId xmlns:a16="http://schemas.microsoft.com/office/drawing/2014/main" id="{71F7D442-E601-B4A9-85AB-6DF46CA90862}"/>
                </a:ext>
              </a:extLst>
            </p:cNvPr>
            <p:cNvSpPr/>
            <p:nvPr/>
          </p:nvSpPr>
          <p:spPr>
            <a:xfrm>
              <a:off x="1666875" y="3570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3" name="Google Shape;1169;p114">
              <a:extLst>
                <a:ext uri="{FF2B5EF4-FFF2-40B4-BE49-F238E27FC236}">
                  <a16:creationId xmlns:a16="http://schemas.microsoft.com/office/drawing/2014/main" id="{58F3296B-D2F9-7E11-12E2-E8D63285ADFC}"/>
                </a:ext>
              </a:extLst>
            </p:cNvPr>
            <p:cNvSpPr/>
            <p:nvPr/>
          </p:nvSpPr>
          <p:spPr>
            <a:xfrm>
              <a:off x="11334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170;p114">
              <a:extLst>
                <a:ext uri="{FF2B5EF4-FFF2-40B4-BE49-F238E27FC236}">
                  <a16:creationId xmlns:a16="http://schemas.microsoft.com/office/drawing/2014/main" id="{7400F990-40A6-E5C6-7639-4AAEF1D241DE}"/>
                </a:ext>
              </a:extLst>
            </p:cNvPr>
            <p:cNvSpPr/>
            <p:nvPr/>
          </p:nvSpPr>
          <p:spPr>
            <a:xfrm>
              <a:off x="1285875" y="4637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171;p114">
              <a:extLst>
                <a:ext uri="{FF2B5EF4-FFF2-40B4-BE49-F238E27FC236}">
                  <a16:creationId xmlns:a16="http://schemas.microsoft.com/office/drawing/2014/main" id="{304A6A46-AD0C-2773-A98A-26947649D362}"/>
                </a:ext>
              </a:extLst>
            </p:cNvPr>
            <p:cNvSpPr/>
            <p:nvPr/>
          </p:nvSpPr>
          <p:spPr>
            <a:xfrm>
              <a:off x="2047875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172;p114">
              <a:extLst>
                <a:ext uri="{FF2B5EF4-FFF2-40B4-BE49-F238E27FC236}">
                  <a16:creationId xmlns:a16="http://schemas.microsoft.com/office/drawing/2014/main" id="{7EFD43C8-5793-88C3-E15F-614B9C14448C}"/>
                </a:ext>
              </a:extLst>
            </p:cNvPr>
            <p:cNvSpPr/>
            <p:nvPr/>
          </p:nvSpPr>
          <p:spPr>
            <a:xfrm>
              <a:off x="2949575" y="4243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173;p114">
              <a:extLst>
                <a:ext uri="{FF2B5EF4-FFF2-40B4-BE49-F238E27FC236}">
                  <a16:creationId xmlns:a16="http://schemas.microsoft.com/office/drawing/2014/main" id="{8C23FBBC-BDFE-3B17-E8D9-6C5F043D17FB}"/>
                </a:ext>
              </a:extLst>
            </p:cNvPr>
            <p:cNvSpPr/>
            <p:nvPr/>
          </p:nvSpPr>
          <p:spPr>
            <a:xfrm>
              <a:off x="25812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8" name="Google Shape;1174;p114">
              <a:extLst>
                <a:ext uri="{FF2B5EF4-FFF2-40B4-BE49-F238E27FC236}">
                  <a16:creationId xmlns:a16="http://schemas.microsoft.com/office/drawing/2014/main" id="{BD4D6144-5D19-F219-803D-8DA12966BC33}"/>
                </a:ext>
              </a:extLst>
            </p:cNvPr>
            <p:cNvSpPr/>
            <p:nvPr/>
          </p:nvSpPr>
          <p:spPr>
            <a:xfrm>
              <a:off x="35718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9" name="Google Shape;1175;p114">
              <a:extLst>
                <a:ext uri="{FF2B5EF4-FFF2-40B4-BE49-F238E27FC236}">
                  <a16:creationId xmlns:a16="http://schemas.microsoft.com/office/drawing/2014/main" id="{B8B90990-556F-C20B-3F5D-E3B46BBF0497}"/>
                </a:ext>
              </a:extLst>
            </p:cNvPr>
            <p:cNvSpPr/>
            <p:nvPr/>
          </p:nvSpPr>
          <p:spPr>
            <a:xfrm>
              <a:off x="2263775" y="5691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0" name="Google Shape;1176;p114">
              <a:extLst>
                <a:ext uri="{FF2B5EF4-FFF2-40B4-BE49-F238E27FC236}">
                  <a16:creationId xmlns:a16="http://schemas.microsoft.com/office/drawing/2014/main" id="{8F4AA0F1-4030-70D8-C564-3A23EDA51BB1}"/>
                </a:ext>
              </a:extLst>
            </p:cNvPr>
            <p:cNvSpPr/>
            <p:nvPr/>
          </p:nvSpPr>
          <p:spPr>
            <a:xfrm>
              <a:off x="2886075" y="4560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1" name="Google Shape;1177;p114">
              <a:extLst>
                <a:ext uri="{FF2B5EF4-FFF2-40B4-BE49-F238E27FC236}">
                  <a16:creationId xmlns:a16="http://schemas.microsoft.com/office/drawing/2014/main" id="{50FA3587-4070-1840-0CEB-C16AA7476A54}"/>
                </a:ext>
              </a:extLst>
            </p:cNvPr>
            <p:cNvSpPr/>
            <p:nvPr/>
          </p:nvSpPr>
          <p:spPr>
            <a:xfrm>
              <a:off x="2263775" y="5005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2" name="Google Shape;1178;p114">
              <a:extLst>
                <a:ext uri="{FF2B5EF4-FFF2-40B4-BE49-F238E27FC236}">
                  <a16:creationId xmlns:a16="http://schemas.microsoft.com/office/drawing/2014/main" id="{AD19AD52-FF60-6DEF-C03D-80CA16CCE728}"/>
                </a:ext>
              </a:extLst>
            </p:cNvPr>
            <p:cNvSpPr/>
            <p:nvPr/>
          </p:nvSpPr>
          <p:spPr>
            <a:xfrm>
              <a:off x="2962275" y="5399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3" name="Google Shape;1179;p114">
              <a:extLst>
                <a:ext uri="{FF2B5EF4-FFF2-40B4-BE49-F238E27FC236}">
                  <a16:creationId xmlns:a16="http://schemas.microsoft.com/office/drawing/2014/main" id="{9E964285-B7E6-7573-E781-5DC426E13A84}"/>
                </a:ext>
              </a:extLst>
            </p:cNvPr>
            <p:cNvSpPr/>
            <p:nvPr/>
          </p:nvSpPr>
          <p:spPr>
            <a:xfrm>
              <a:off x="36480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cxnSp>
          <p:nvCxnSpPr>
            <p:cNvPr id="24" name="Google Shape;1180;p114">
              <a:extLst>
                <a:ext uri="{FF2B5EF4-FFF2-40B4-BE49-F238E27FC236}">
                  <a16:creationId xmlns:a16="http://schemas.microsoft.com/office/drawing/2014/main" id="{F3E73E98-CB7B-0246-DA0A-34C1EE11AB2C}"/>
                </a:ext>
              </a:extLst>
            </p:cNvPr>
            <p:cNvCxnSpPr/>
            <p:nvPr/>
          </p:nvCxnSpPr>
          <p:spPr>
            <a:xfrm rot="10800000" flipH="1">
              <a:off x="1209675" y="3036888"/>
              <a:ext cx="2438400" cy="2667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181;p114">
              <a:extLst>
                <a:ext uri="{FF2B5EF4-FFF2-40B4-BE49-F238E27FC236}">
                  <a16:creationId xmlns:a16="http://schemas.microsoft.com/office/drawing/2014/main" id="{D0FEF9C9-11A4-DC7B-454E-7A7122B0700C}"/>
                </a:ext>
              </a:extLst>
            </p:cNvPr>
            <p:cNvSpPr/>
            <p:nvPr/>
          </p:nvSpPr>
          <p:spPr>
            <a:xfrm>
              <a:off x="2133600" y="2971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6" name="Google Shape;1182;p114">
              <a:extLst>
                <a:ext uri="{FF2B5EF4-FFF2-40B4-BE49-F238E27FC236}">
                  <a16:creationId xmlns:a16="http://schemas.microsoft.com/office/drawing/2014/main" id="{DFEB6BAA-ED3F-8CAD-4ACD-668572D5C24F}"/>
                </a:ext>
              </a:extLst>
            </p:cNvPr>
            <p:cNvSpPr/>
            <p:nvPr/>
          </p:nvSpPr>
          <p:spPr>
            <a:xfrm>
              <a:off x="2743200" y="3048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7" name="Google Shape;1183;p114">
              <a:extLst>
                <a:ext uri="{FF2B5EF4-FFF2-40B4-BE49-F238E27FC236}">
                  <a16:creationId xmlns:a16="http://schemas.microsoft.com/office/drawing/2014/main" id="{DEB3D6CD-8EDB-46FC-8F96-B2990B9AE56C}"/>
                </a:ext>
              </a:extLst>
            </p:cNvPr>
            <p:cNvSpPr/>
            <p:nvPr/>
          </p:nvSpPr>
          <p:spPr>
            <a:xfrm>
              <a:off x="381000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8" name="Google Shape;1184;p114">
              <a:extLst>
                <a:ext uri="{FF2B5EF4-FFF2-40B4-BE49-F238E27FC236}">
                  <a16:creationId xmlns:a16="http://schemas.microsoft.com/office/drawing/2014/main" id="{ADE7578F-CE50-5C76-7EDF-980CBE99D8C8}"/>
                </a:ext>
              </a:extLst>
            </p:cNvPr>
            <p:cNvSpPr/>
            <p:nvPr/>
          </p:nvSpPr>
          <p:spPr>
            <a:xfrm>
              <a:off x="3447806" y="2581950"/>
              <a:ext cx="2038720" cy="518014"/>
            </a:xfrm>
            <a:prstGeom prst="roundRect">
              <a:avLst>
                <a:gd name="adj" fmla="val 16667"/>
              </a:avLst>
            </a:prstGeom>
            <a:blipFill rotWithShape="1">
              <a:blip r:embed="rId2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9" name="Google Shape;1185;p114">
              <a:extLst>
                <a:ext uri="{FF2B5EF4-FFF2-40B4-BE49-F238E27FC236}">
                  <a16:creationId xmlns:a16="http://schemas.microsoft.com/office/drawing/2014/main" id="{54548C08-413E-7F84-D5BD-D6F4AD2DF0E5}"/>
                </a:ext>
              </a:extLst>
            </p:cNvPr>
            <p:cNvSpPr/>
            <p:nvPr/>
          </p:nvSpPr>
          <p:spPr>
            <a:xfrm>
              <a:off x="4018549" y="3988475"/>
              <a:ext cx="2040355" cy="518014"/>
            </a:xfrm>
            <a:prstGeom prst="roundRect">
              <a:avLst>
                <a:gd name="adj" fmla="val 16667"/>
              </a:avLst>
            </a:prstGeom>
            <a:blipFill rotWithShape="1">
              <a:blip r:embed="rId4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0" name="Google Shape;1186;p114">
              <a:extLst>
                <a:ext uri="{FF2B5EF4-FFF2-40B4-BE49-F238E27FC236}">
                  <a16:creationId xmlns:a16="http://schemas.microsoft.com/office/drawing/2014/main" id="{51663023-E906-47C5-549B-8CE4C1DFCA48}"/>
                </a:ext>
              </a:extLst>
            </p:cNvPr>
            <p:cNvSpPr/>
            <p:nvPr/>
          </p:nvSpPr>
          <p:spPr>
            <a:xfrm>
              <a:off x="1049658" y="2429550"/>
              <a:ext cx="2040355" cy="518014"/>
            </a:xfrm>
            <a:prstGeom prst="roundRect">
              <a:avLst>
                <a:gd name="adj" fmla="val 16667"/>
              </a:avLst>
            </a:prstGeom>
            <a:blipFill rotWithShape="1">
              <a:blip r:embed="rId6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1" name="Google Shape;1187;p114">
              <a:extLst>
                <a:ext uri="{FF2B5EF4-FFF2-40B4-BE49-F238E27FC236}">
                  <a16:creationId xmlns:a16="http://schemas.microsoft.com/office/drawing/2014/main" id="{1D3AF7A8-921C-055E-9134-F194A8AA3736}"/>
                </a:ext>
              </a:extLst>
            </p:cNvPr>
            <p:cNvSpPr/>
            <p:nvPr/>
          </p:nvSpPr>
          <p:spPr>
            <a:xfrm>
              <a:off x="2047875" y="1728787"/>
              <a:ext cx="2676525" cy="650749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Fig. 01: Binary Classification</a:t>
              </a:r>
              <a:endParaRPr sz="2000"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2" name="Google Shape;1188;p114">
            <a:extLst>
              <a:ext uri="{FF2B5EF4-FFF2-40B4-BE49-F238E27FC236}">
                <a16:creationId xmlns:a16="http://schemas.microsoft.com/office/drawing/2014/main" id="{064C5AB6-9401-F5EB-A900-A2ADE27935B5}"/>
              </a:ext>
            </a:extLst>
          </p:cNvPr>
          <p:cNvGrpSpPr/>
          <p:nvPr/>
        </p:nvGrpSpPr>
        <p:grpSpPr>
          <a:xfrm>
            <a:off x="6419606" y="3819889"/>
            <a:ext cx="4578103" cy="830997"/>
            <a:chOff x="4987927" y="2889678"/>
            <a:chExt cx="3949757" cy="830997"/>
          </a:xfrm>
        </p:grpSpPr>
        <p:sp>
          <p:nvSpPr>
            <p:cNvPr id="33" name="Google Shape;1189;p114">
              <a:extLst>
                <a:ext uri="{FF2B5EF4-FFF2-40B4-BE49-F238E27FC236}">
                  <a16:creationId xmlns:a16="http://schemas.microsoft.com/office/drawing/2014/main" id="{43F86BCA-983C-BEC0-8F5B-083B3232C279}"/>
                </a:ext>
              </a:extLst>
            </p:cNvPr>
            <p:cNvSpPr/>
            <p:nvPr/>
          </p:nvSpPr>
          <p:spPr>
            <a:xfrm>
              <a:off x="7031180" y="2889678"/>
              <a:ext cx="1906504" cy="830997"/>
            </a:xfrm>
            <a:prstGeom prst="rect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Here line separates data into two parts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cxnSp>
          <p:nvCxnSpPr>
            <p:cNvPr id="34" name="Google Shape;1190;p114">
              <a:extLst>
                <a:ext uri="{FF2B5EF4-FFF2-40B4-BE49-F238E27FC236}">
                  <a16:creationId xmlns:a16="http://schemas.microsoft.com/office/drawing/2014/main" id="{3B29A09C-7D1F-573F-580A-3747FD60C4CA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>
              <a:off x="4987927" y="3305177"/>
              <a:ext cx="2043253" cy="13125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5609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52BC-086B-A633-5E12-AF48B3C8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09" y="90124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Linear Separators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A90B0-3922-6657-B175-58C0934F2D8B}"/>
              </a:ext>
            </a:extLst>
          </p:cNvPr>
          <p:cNvSpPr txBox="1"/>
          <p:nvPr/>
        </p:nvSpPr>
        <p:spPr>
          <a:xfrm>
            <a:off x="838009" y="1614792"/>
            <a:ext cx="7315200" cy="46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objective in SVM is to find optimum separator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29" name="Google Shape;1198;p115">
            <a:extLst>
              <a:ext uri="{FF2B5EF4-FFF2-40B4-BE49-F238E27FC236}">
                <a16:creationId xmlns:a16="http://schemas.microsoft.com/office/drawing/2014/main" id="{55E6201A-1E39-9289-C7F5-8F39D4C4FFCB}"/>
              </a:ext>
            </a:extLst>
          </p:cNvPr>
          <p:cNvGrpSpPr/>
          <p:nvPr/>
        </p:nvGrpSpPr>
        <p:grpSpPr>
          <a:xfrm>
            <a:off x="4495800" y="2386796"/>
            <a:ext cx="4081463" cy="4265613"/>
            <a:chOff x="762000" y="1830387"/>
            <a:chExt cx="4081463" cy="4265613"/>
          </a:xfrm>
        </p:grpSpPr>
        <p:cxnSp>
          <p:nvCxnSpPr>
            <p:cNvPr id="30" name="Google Shape;1199;p115">
              <a:extLst>
                <a:ext uri="{FF2B5EF4-FFF2-40B4-BE49-F238E27FC236}">
                  <a16:creationId xmlns:a16="http://schemas.microsoft.com/office/drawing/2014/main" id="{85BC8C7D-3B57-C696-0472-9A8486A561BA}"/>
                </a:ext>
              </a:extLst>
            </p:cNvPr>
            <p:cNvCxnSpPr/>
            <p:nvPr/>
          </p:nvCxnSpPr>
          <p:spPr>
            <a:xfrm rot="10800000">
              <a:off x="896938" y="3054350"/>
              <a:ext cx="0" cy="304165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Google Shape;1200;p115">
              <a:extLst>
                <a:ext uri="{FF2B5EF4-FFF2-40B4-BE49-F238E27FC236}">
                  <a16:creationId xmlns:a16="http://schemas.microsoft.com/office/drawing/2014/main" id="{1B911214-79EF-DBA8-442F-67F9CB903FB8}"/>
                </a:ext>
              </a:extLst>
            </p:cNvPr>
            <p:cNvCxnSpPr/>
            <p:nvPr/>
          </p:nvCxnSpPr>
          <p:spPr>
            <a:xfrm>
              <a:off x="762000" y="5980113"/>
              <a:ext cx="4081463" cy="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" name="Google Shape;1201;p115">
              <a:extLst>
                <a:ext uri="{FF2B5EF4-FFF2-40B4-BE49-F238E27FC236}">
                  <a16:creationId xmlns:a16="http://schemas.microsoft.com/office/drawing/2014/main" id="{3999A19D-E02A-4C7B-7AD5-DBFCC77349CD}"/>
                </a:ext>
              </a:extLst>
            </p:cNvPr>
            <p:cNvSpPr/>
            <p:nvPr/>
          </p:nvSpPr>
          <p:spPr>
            <a:xfrm>
              <a:off x="193675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3" name="Google Shape;1202;p115">
              <a:extLst>
                <a:ext uri="{FF2B5EF4-FFF2-40B4-BE49-F238E27FC236}">
                  <a16:creationId xmlns:a16="http://schemas.microsoft.com/office/drawing/2014/main" id="{8BF42B6F-22DC-7180-D93B-6D5A137B5C0A}"/>
                </a:ext>
              </a:extLst>
            </p:cNvPr>
            <p:cNvSpPr/>
            <p:nvPr/>
          </p:nvSpPr>
          <p:spPr>
            <a:xfrm>
              <a:off x="1362075" y="4167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4" name="Google Shape;1203;p115">
              <a:extLst>
                <a:ext uri="{FF2B5EF4-FFF2-40B4-BE49-F238E27FC236}">
                  <a16:creationId xmlns:a16="http://schemas.microsoft.com/office/drawing/2014/main" id="{BC3DD07B-2F5E-D562-801B-4A23861620CC}"/>
                </a:ext>
              </a:extLst>
            </p:cNvPr>
            <p:cNvSpPr/>
            <p:nvPr/>
          </p:nvSpPr>
          <p:spPr>
            <a:xfrm>
              <a:off x="1514475" y="4713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5" name="Google Shape;1204;p115">
              <a:extLst>
                <a:ext uri="{FF2B5EF4-FFF2-40B4-BE49-F238E27FC236}">
                  <a16:creationId xmlns:a16="http://schemas.microsoft.com/office/drawing/2014/main" id="{F0EF489A-9171-5F1A-A8E4-9E35258E7222}"/>
                </a:ext>
              </a:extLst>
            </p:cNvPr>
            <p:cNvSpPr/>
            <p:nvPr/>
          </p:nvSpPr>
          <p:spPr>
            <a:xfrm>
              <a:off x="11334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6" name="Google Shape;1205;p115">
              <a:extLst>
                <a:ext uri="{FF2B5EF4-FFF2-40B4-BE49-F238E27FC236}">
                  <a16:creationId xmlns:a16="http://schemas.microsoft.com/office/drawing/2014/main" id="{051FF256-3C1E-9DA1-B556-98D831528F63}"/>
                </a:ext>
              </a:extLst>
            </p:cNvPr>
            <p:cNvSpPr/>
            <p:nvPr/>
          </p:nvSpPr>
          <p:spPr>
            <a:xfrm>
              <a:off x="1666875" y="3570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7" name="Google Shape;1206;p115">
              <a:extLst>
                <a:ext uri="{FF2B5EF4-FFF2-40B4-BE49-F238E27FC236}">
                  <a16:creationId xmlns:a16="http://schemas.microsoft.com/office/drawing/2014/main" id="{726FC8C8-95E3-2211-9B75-14EC79E0AA30}"/>
                </a:ext>
              </a:extLst>
            </p:cNvPr>
            <p:cNvSpPr/>
            <p:nvPr/>
          </p:nvSpPr>
          <p:spPr>
            <a:xfrm>
              <a:off x="11334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8" name="Google Shape;1207;p115">
              <a:extLst>
                <a:ext uri="{FF2B5EF4-FFF2-40B4-BE49-F238E27FC236}">
                  <a16:creationId xmlns:a16="http://schemas.microsoft.com/office/drawing/2014/main" id="{7C218F2A-08BF-14ED-F76B-CA1ABCE05299}"/>
                </a:ext>
              </a:extLst>
            </p:cNvPr>
            <p:cNvSpPr/>
            <p:nvPr/>
          </p:nvSpPr>
          <p:spPr>
            <a:xfrm>
              <a:off x="1285875" y="4637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9" name="Google Shape;1208;p115">
              <a:extLst>
                <a:ext uri="{FF2B5EF4-FFF2-40B4-BE49-F238E27FC236}">
                  <a16:creationId xmlns:a16="http://schemas.microsoft.com/office/drawing/2014/main" id="{E690BCD9-D179-4781-9657-2F6ADCA44360}"/>
                </a:ext>
              </a:extLst>
            </p:cNvPr>
            <p:cNvSpPr/>
            <p:nvPr/>
          </p:nvSpPr>
          <p:spPr>
            <a:xfrm>
              <a:off x="2047875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0" name="Google Shape;1209;p115">
              <a:extLst>
                <a:ext uri="{FF2B5EF4-FFF2-40B4-BE49-F238E27FC236}">
                  <a16:creationId xmlns:a16="http://schemas.microsoft.com/office/drawing/2014/main" id="{5430EB12-E0E9-B0CD-9684-AA02147E5212}"/>
                </a:ext>
              </a:extLst>
            </p:cNvPr>
            <p:cNvSpPr/>
            <p:nvPr/>
          </p:nvSpPr>
          <p:spPr>
            <a:xfrm>
              <a:off x="2949575" y="4243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1" name="Google Shape;1210;p115">
              <a:extLst>
                <a:ext uri="{FF2B5EF4-FFF2-40B4-BE49-F238E27FC236}">
                  <a16:creationId xmlns:a16="http://schemas.microsoft.com/office/drawing/2014/main" id="{68B72EF8-5757-C88C-38EE-B780CE5F7F41}"/>
                </a:ext>
              </a:extLst>
            </p:cNvPr>
            <p:cNvSpPr/>
            <p:nvPr/>
          </p:nvSpPr>
          <p:spPr>
            <a:xfrm>
              <a:off x="25812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2" name="Google Shape;1211;p115">
              <a:extLst>
                <a:ext uri="{FF2B5EF4-FFF2-40B4-BE49-F238E27FC236}">
                  <a16:creationId xmlns:a16="http://schemas.microsoft.com/office/drawing/2014/main" id="{E5471F1F-61B0-8D2B-17D1-C991445C8842}"/>
                </a:ext>
              </a:extLst>
            </p:cNvPr>
            <p:cNvSpPr/>
            <p:nvPr/>
          </p:nvSpPr>
          <p:spPr>
            <a:xfrm>
              <a:off x="35718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3" name="Google Shape;1212;p115">
              <a:extLst>
                <a:ext uri="{FF2B5EF4-FFF2-40B4-BE49-F238E27FC236}">
                  <a16:creationId xmlns:a16="http://schemas.microsoft.com/office/drawing/2014/main" id="{036E868C-962E-0EAE-3387-4D2825CA31AB}"/>
                </a:ext>
              </a:extLst>
            </p:cNvPr>
            <p:cNvSpPr/>
            <p:nvPr/>
          </p:nvSpPr>
          <p:spPr>
            <a:xfrm>
              <a:off x="2263775" y="5691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4" name="Google Shape;1213;p115">
              <a:extLst>
                <a:ext uri="{FF2B5EF4-FFF2-40B4-BE49-F238E27FC236}">
                  <a16:creationId xmlns:a16="http://schemas.microsoft.com/office/drawing/2014/main" id="{2AA553AF-58A2-4030-C828-EFE5BD7A5A47}"/>
                </a:ext>
              </a:extLst>
            </p:cNvPr>
            <p:cNvSpPr/>
            <p:nvPr/>
          </p:nvSpPr>
          <p:spPr>
            <a:xfrm>
              <a:off x="2886075" y="4560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5" name="Google Shape;1214;p115">
              <a:extLst>
                <a:ext uri="{FF2B5EF4-FFF2-40B4-BE49-F238E27FC236}">
                  <a16:creationId xmlns:a16="http://schemas.microsoft.com/office/drawing/2014/main" id="{17E604FA-9809-DE96-52DA-040E03D8E2D2}"/>
                </a:ext>
              </a:extLst>
            </p:cNvPr>
            <p:cNvSpPr/>
            <p:nvPr/>
          </p:nvSpPr>
          <p:spPr>
            <a:xfrm>
              <a:off x="2263775" y="5005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6" name="Google Shape;1215;p115">
              <a:extLst>
                <a:ext uri="{FF2B5EF4-FFF2-40B4-BE49-F238E27FC236}">
                  <a16:creationId xmlns:a16="http://schemas.microsoft.com/office/drawing/2014/main" id="{E379DA9C-C826-186E-570B-AC55FE02B8DA}"/>
                </a:ext>
              </a:extLst>
            </p:cNvPr>
            <p:cNvSpPr/>
            <p:nvPr/>
          </p:nvSpPr>
          <p:spPr>
            <a:xfrm>
              <a:off x="2962275" y="5399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7" name="Google Shape;1216;p115">
              <a:extLst>
                <a:ext uri="{FF2B5EF4-FFF2-40B4-BE49-F238E27FC236}">
                  <a16:creationId xmlns:a16="http://schemas.microsoft.com/office/drawing/2014/main" id="{05CEA5DC-07CA-2301-0129-A7DD0EDDA1AE}"/>
                </a:ext>
              </a:extLst>
            </p:cNvPr>
            <p:cNvSpPr/>
            <p:nvPr/>
          </p:nvSpPr>
          <p:spPr>
            <a:xfrm>
              <a:off x="36480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8" name="Google Shape;1217;p115">
              <a:extLst>
                <a:ext uri="{FF2B5EF4-FFF2-40B4-BE49-F238E27FC236}">
                  <a16:creationId xmlns:a16="http://schemas.microsoft.com/office/drawing/2014/main" id="{B9AB5603-72D0-CF09-3CA2-760C439A8C33}"/>
                </a:ext>
              </a:extLst>
            </p:cNvPr>
            <p:cNvSpPr/>
            <p:nvPr/>
          </p:nvSpPr>
          <p:spPr>
            <a:xfrm>
              <a:off x="2133600" y="2971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9" name="Google Shape;1218;p115">
              <a:extLst>
                <a:ext uri="{FF2B5EF4-FFF2-40B4-BE49-F238E27FC236}">
                  <a16:creationId xmlns:a16="http://schemas.microsoft.com/office/drawing/2014/main" id="{6CB0A4D2-D9F5-2B1F-7F4B-C7D0E7033293}"/>
                </a:ext>
              </a:extLst>
            </p:cNvPr>
            <p:cNvSpPr/>
            <p:nvPr/>
          </p:nvSpPr>
          <p:spPr>
            <a:xfrm>
              <a:off x="2743200" y="3048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0" name="Google Shape;1219;p115">
              <a:extLst>
                <a:ext uri="{FF2B5EF4-FFF2-40B4-BE49-F238E27FC236}">
                  <a16:creationId xmlns:a16="http://schemas.microsoft.com/office/drawing/2014/main" id="{8E85FC01-794D-4DCF-E0DA-8E41CD8BB4C6}"/>
                </a:ext>
              </a:extLst>
            </p:cNvPr>
            <p:cNvSpPr/>
            <p:nvPr/>
          </p:nvSpPr>
          <p:spPr>
            <a:xfrm>
              <a:off x="381000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1" name="Google Shape;1220;p115">
              <a:extLst>
                <a:ext uri="{FF2B5EF4-FFF2-40B4-BE49-F238E27FC236}">
                  <a16:creationId xmlns:a16="http://schemas.microsoft.com/office/drawing/2014/main" id="{F98F8498-AC2F-DB37-0EB3-88354DEFD095}"/>
                </a:ext>
              </a:extLst>
            </p:cNvPr>
            <p:cNvSpPr/>
            <p:nvPr/>
          </p:nvSpPr>
          <p:spPr>
            <a:xfrm>
              <a:off x="2025650" y="1830387"/>
              <a:ext cx="2393759" cy="597704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Fig. 02: Linear Separators</a:t>
              </a:r>
              <a:endParaRPr sz="2000"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cxnSp>
        <p:nvCxnSpPr>
          <p:cNvPr id="52" name="Google Shape;1225;p115">
            <a:extLst>
              <a:ext uri="{FF2B5EF4-FFF2-40B4-BE49-F238E27FC236}">
                <a16:creationId xmlns:a16="http://schemas.microsoft.com/office/drawing/2014/main" id="{CBC48236-04BC-4C0E-C0A1-5A42598732C1}"/>
              </a:ext>
            </a:extLst>
          </p:cNvPr>
          <p:cNvCxnSpPr>
            <a:cxnSpLocks/>
          </p:cNvCxnSpPr>
          <p:nvPr/>
        </p:nvCxnSpPr>
        <p:spPr>
          <a:xfrm rot="10800000" flipH="1">
            <a:off x="5272676" y="3505200"/>
            <a:ext cx="2143125" cy="28844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1226;p115">
            <a:extLst>
              <a:ext uri="{FF2B5EF4-FFF2-40B4-BE49-F238E27FC236}">
                <a16:creationId xmlns:a16="http://schemas.microsoft.com/office/drawing/2014/main" id="{9B7A2E3B-FEF6-C72D-0021-678264FD505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901200" y="3810000"/>
            <a:ext cx="2971800" cy="2286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Google Shape;1227;p115">
            <a:extLst>
              <a:ext uri="{FF2B5EF4-FFF2-40B4-BE49-F238E27FC236}">
                <a16:creationId xmlns:a16="http://schemas.microsoft.com/office/drawing/2014/main" id="{250C9E83-FD66-7595-8679-814EE785DA8B}"/>
              </a:ext>
            </a:extLst>
          </p:cNvPr>
          <p:cNvCxnSpPr>
            <a:cxnSpLocks/>
          </p:cNvCxnSpPr>
          <p:nvPr/>
        </p:nvCxnSpPr>
        <p:spPr>
          <a:xfrm rot="10800000" flipH="1">
            <a:off x="5434600" y="3581400"/>
            <a:ext cx="1828800" cy="289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1228;p115">
            <a:extLst>
              <a:ext uri="{FF2B5EF4-FFF2-40B4-BE49-F238E27FC236}">
                <a16:creationId xmlns:a16="http://schemas.microsoft.com/office/drawing/2014/main" id="{59D28FE5-6F92-B5F3-CBF8-E9E3A6E44D0E}"/>
              </a:ext>
            </a:extLst>
          </p:cNvPr>
          <p:cNvCxnSpPr>
            <a:cxnSpLocks/>
          </p:cNvCxnSpPr>
          <p:nvPr/>
        </p:nvCxnSpPr>
        <p:spPr>
          <a:xfrm rot="10800000" flipH="1">
            <a:off x="5205999" y="3505200"/>
            <a:ext cx="1828800" cy="2895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1229;p115">
            <a:extLst>
              <a:ext uri="{FF2B5EF4-FFF2-40B4-BE49-F238E27FC236}">
                <a16:creationId xmlns:a16="http://schemas.microsoft.com/office/drawing/2014/main" id="{AD68B50F-FC2C-E54D-8A27-ED8843E61CA8}"/>
              </a:ext>
            </a:extLst>
          </p:cNvPr>
          <p:cNvCxnSpPr>
            <a:cxnSpLocks/>
          </p:cNvCxnSpPr>
          <p:nvPr/>
        </p:nvCxnSpPr>
        <p:spPr>
          <a:xfrm rot="10800000" flipH="1">
            <a:off x="5053600" y="3657600"/>
            <a:ext cx="2667000" cy="2590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" name="Google Shape;1221;p115">
            <a:extLst>
              <a:ext uri="{FF2B5EF4-FFF2-40B4-BE49-F238E27FC236}">
                <a16:creationId xmlns:a16="http://schemas.microsoft.com/office/drawing/2014/main" id="{DCBD4823-CA63-2ADE-65B6-3DBE67B5CF16}"/>
              </a:ext>
            </a:extLst>
          </p:cNvPr>
          <p:cNvGrpSpPr/>
          <p:nvPr/>
        </p:nvGrpSpPr>
        <p:grpSpPr>
          <a:xfrm>
            <a:off x="7467602" y="3588603"/>
            <a:ext cx="3733798" cy="830997"/>
            <a:chOff x="4987927" y="2902803"/>
            <a:chExt cx="3733798" cy="830997"/>
          </a:xfrm>
        </p:grpSpPr>
        <p:sp>
          <p:nvSpPr>
            <p:cNvPr id="68" name="Google Shape;1222;p115">
              <a:extLst>
                <a:ext uri="{FF2B5EF4-FFF2-40B4-BE49-F238E27FC236}">
                  <a16:creationId xmlns:a16="http://schemas.microsoft.com/office/drawing/2014/main" id="{232F4720-B419-034B-B829-807B2A9C1B06}"/>
                </a:ext>
              </a:extLst>
            </p:cNvPr>
            <p:cNvSpPr/>
            <p:nvPr/>
          </p:nvSpPr>
          <p:spPr>
            <a:xfrm>
              <a:off x="6283327" y="2902803"/>
              <a:ext cx="2438398" cy="830997"/>
            </a:xfrm>
            <a:prstGeom prst="rect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Which of the linear separators is optimal?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cxnSp>
          <p:nvCxnSpPr>
            <p:cNvPr id="69" name="Google Shape;1223;p115">
              <a:extLst>
                <a:ext uri="{FF2B5EF4-FFF2-40B4-BE49-F238E27FC236}">
                  <a16:creationId xmlns:a16="http://schemas.microsoft.com/office/drawing/2014/main" id="{D7128415-97B3-5676-39D9-EAD59C1C7815}"/>
                </a:ext>
              </a:extLst>
            </p:cNvPr>
            <p:cNvCxnSpPr>
              <a:stCxn id="68" idx="1"/>
            </p:cNvCxnSpPr>
            <p:nvPr/>
          </p:nvCxnSpPr>
          <p:spPr>
            <a:xfrm rot="10800000">
              <a:off x="4987927" y="3318302"/>
              <a:ext cx="1295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3191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0E1C7-7E59-159C-7CF3-5BBEE15E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745484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Classification Margin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Google Shape;1264;p116">
            <a:extLst>
              <a:ext uri="{FF2B5EF4-FFF2-40B4-BE49-F238E27FC236}">
                <a16:creationId xmlns:a16="http://schemas.microsoft.com/office/drawing/2014/main" id="{14857152-3556-3D30-819E-9F8C5E3478D2}"/>
              </a:ext>
            </a:extLst>
          </p:cNvPr>
          <p:cNvSpPr txBox="1"/>
          <p:nvPr/>
        </p:nvSpPr>
        <p:spPr>
          <a:xfrm>
            <a:off x="9162768" y="2514600"/>
            <a:ext cx="1773678" cy="799728"/>
          </a:xfrm>
          <a:prstGeom prst="rect">
            <a:avLst/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b="-57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grpSp>
        <p:nvGrpSpPr>
          <p:cNvPr id="6" name="Google Shape;1236;p116">
            <a:extLst>
              <a:ext uri="{FF2B5EF4-FFF2-40B4-BE49-F238E27FC236}">
                <a16:creationId xmlns:a16="http://schemas.microsoft.com/office/drawing/2014/main" id="{022962ED-49C4-ACC3-F0F6-7156449F9358}"/>
              </a:ext>
            </a:extLst>
          </p:cNvPr>
          <p:cNvGrpSpPr/>
          <p:nvPr/>
        </p:nvGrpSpPr>
        <p:grpSpPr>
          <a:xfrm>
            <a:off x="2057401" y="2274867"/>
            <a:ext cx="4081463" cy="3124200"/>
            <a:chOff x="762000" y="2971800"/>
            <a:chExt cx="4081463" cy="3124200"/>
          </a:xfrm>
        </p:grpSpPr>
        <p:cxnSp>
          <p:nvCxnSpPr>
            <p:cNvPr id="7" name="Google Shape;1237;p116">
              <a:extLst>
                <a:ext uri="{FF2B5EF4-FFF2-40B4-BE49-F238E27FC236}">
                  <a16:creationId xmlns:a16="http://schemas.microsoft.com/office/drawing/2014/main" id="{8D909013-C026-288E-F84E-6D24D4C6FA0B}"/>
                </a:ext>
              </a:extLst>
            </p:cNvPr>
            <p:cNvCxnSpPr/>
            <p:nvPr/>
          </p:nvCxnSpPr>
          <p:spPr>
            <a:xfrm rot="10800000">
              <a:off x="896938" y="3054350"/>
              <a:ext cx="0" cy="304165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" name="Google Shape;1238;p116">
              <a:extLst>
                <a:ext uri="{FF2B5EF4-FFF2-40B4-BE49-F238E27FC236}">
                  <a16:creationId xmlns:a16="http://schemas.microsoft.com/office/drawing/2014/main" id="{F9443D37-1FFA-1106-4093-9F8E8653B372}"/>
                </a:ext>
              </a:extLst>
            </p:cNvPr>
            <p:cNvCxnSpPr/>
            <p:nvPr/>
          </p:nvCxnSpPr>
          <p:spPr>
            <a:xfrm>
              <a:off x="762000" y="5980113"/>
              <a:ext cx="4081463" cy="0"/>
            </a:xfrm>
            <a:prstGeom prst="straightConnector1">
              <a:avLst/>
            </a:prstGeom>
            <a:noFill/>
            <a:ln w="25400" cap="flat" cmpd="sng">
              <a:solidFill>
                <a:srgbClr val="A9A9A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" name="Google Shape;1239;p116">
              <a:extLst>
                <a:ext uri="{FF2B5EF4-FFF2-40B4-BE49-F238E27FC236}">
                  <a16:creationId xmlns:a16="http://schemas.microsoft.com/office/drawing/2014/main" id="{EA922950-30A0-A483-8FA3-F5634849B8DB}"/>
                </a:ext>
              </a:extLst>
            </p:cNvPr>
            <p:cNvSpPr/>
            <p:nvPr/>
          </p:nvSpPr>
          <p:spPr>
            <a:xfrm>
              <a:off x="193675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0" name="Google Shape;1240;p116">
              <a:extLst>
                <a:ext uri="{FF2B5EF4-FFF2-40B4-BE49-F238E27FC236}">
                  <a16:creationId xmlns:a16="http://schemas.microsoft.com/office/drawing/2014/main" id="{E17E41CA-9D79-B9D2-7A6C-C78B42CB1575}"/>
                </a:ext>
              </a:extLst>
            </p:cNvPr>
            <p:cNvSpPr/>
            <p:nvPr/>
          </p:nvSpPr>
          <p:spPr>
            <a:xfrm>
              <a:off x="1362075" y="4167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1" name="Google Shape;1241;p116">
              <a:extLst>
                <a:ext uri="{FF2B5EF4-FFF2-40B4-BE49-F238E27FC236}">
                  <a16:creationId xmlns:a16="http://schemas.microsoft.com/office/drawing/2014/main" id="{6F2E31BA-54A3-0691-D1DC-30D97D8D740E}"/>
                </a:ext>
              </a:extLst>
            </p:cNvPr>
            <p:cNvSpPr/>
            <p:nvPr/>
          </p:nvSpPr>
          <p:spPr>
            <a:xfrm>
              <a:off x="1514475" y="4713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" name="Google Shape;1242;p116">
              <a:extLst>
                <a:ext uri="{FF2B5EF4-FFF2-40B4-BE49-F238E27FC236}">
                  <a16:creationId xmlns:a16="http://schemas.microsoft.com/office/drawing/2014/main" id="{72D38944-46DE-4373-14A4-565FB6DD0664}"/>
                </a:ext>
              </a:extLst>
            </p:cNvPr>
            <p:cNvSpPr/>
            <p:nvPr/>
          </p:nvSpPr>
          <p:spPr>
            <a:xfrm>
              <a:off x="11334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3" name="Google Shape;1243;p116">
              <a:extLst>
                <a:ext uri="{FF2B5EF4-FFF2-40B4-BE49-F238E27FC236}">
                  <a16:creationId xmlns:a16="http://schemas.microsoft.com/office/drawing/2014/main" id="{1B630920-FF93-68CF-65ED-06B57DEBAA6E}"/>
                </a:ext>
              </a:extLst>
            </p:cNvPr>
            <p:cNvSpPr/>
            <p:nvPr/>
          </p:nvSpPr>
          <p:spPr>
            <a:xfrm>
              <a:off x="1666875" y="3570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244;p116">
              <a:extLst>
                <a:ext uri="{FF2B5EF4-FFF2-40B4-BE49-F238E27FC236}">
                  <a16:creationId xmlns:a16="http://schemas.microsoft.com/office/drawing/2014/main" id="{C4F23464-FF0F-7F87-D1EE-4E4E21D46B67}"/>
                </a:ext>
              </a:extLst>
            </p:cNvPr>
            <p:cNvSpPr/>
            <p:nvPr/>
          </p:nvSpPr>
          <p:spPr>
            <a:xfrm>
              <a:off x="11334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245;p116">
              <a:extLst>
                <a:ext uri="{FF2B5EF4-FFF2-40B4-BE49-F238E27FC236}">
                  <a16:creationId xmlns:a16="http://schemas.microsoft.com/office/drawing/2014/main" id="{D1924D1A-DE39-4F36-5DF2-811312C2FCBD}"/>
                </a:ext>
              </a:extLst>
            </p:cNvPr>
            <p:cNvSpPr/>
            <p:nvPr/>
          </p:nvSpPr>
          <p:spPr>
            <a:xfrm>
              <a:off x="1285875" y="4637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246;p116">
              <a:extLst>
                <a:ext uri="{FF2B5EF4-FFF2-40B4-BE49-F238E27FC236}">
                  <a16:creationId xmlns:a16="http://schemas.microsoft.com/office/drawing/2014/main" id="{BA8DC240-B1A1-416C-33A7-F7C8FBFA3483}"/>
                </a:ext>
              </a:extLst>
            </p:cNvPr>
            <p:cNvSpPr/>
            <p:nvPr/>
          </p:nvSpPr>
          <p:spPr>
            <a:xfrm>
              <a:off x="2047875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247;p116">
              <a:extLst>
                <a:ext uri="{FF2B5EF4-FFF2-40B4-BE49-F238E27FC236}">
                  <a16:creationId xmlns:a16="http://schemas.microsoft.com/office/drawing/2014/main" id="{26244EB3-CC27-5DB0-BFD3-D32023ABFE74}"/>
                </a:ext>
              </a:extLst>
            </p:cNvPr>
            <p:cNvSpPr/>
            <p:nvPr/>
          </p:nvSpPr>
          <p:spPr>
            <a:xfrm>
              <a:off x="2949575" y="4243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8" name="Google Shape;1248;p116">
              <a:extLst>
                <a:ext uri="{FF2B5EF4-FFF2-40B4-BE49-F238E27FC236}">
                  <a16:creationId xmlns:a16="http://schemas.microsoft.com/office/drawing/2014/main" id="{F2441385-2096-DE6E-40B6-A845560433B5}"/>
                </a:ext>
              </a:extLst>
            </p:cNvPr>
            <p:cNvSpPr/>
            <p:nvPr/>
          </p:nvSpPr>
          <p:spPr>
            <a:xfrm>
              <a:off x="25812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9" name="Google Shape;1249;p116">
              <a:extLst>
                <a:ext uri="{FF2B5EF4-FFF2-40B4-BE49-F238E27FC236}">
                  <a16:creationId xmlns:a16="http://schemas.microsoft.com/office/drawing/2014/main" id="{0F2AB1E0-7F0C-3524-B3AD-46FA81005198}"/>
                </a:ext>
              </a:extLst>
            </p:cNvPr>
            <p:cNvSpPr/>
            <p:nvPr/>
          </p:nvSpPr>
          <p:spPr>
            <a:xfrm>
              <a:off x="3571875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0" name="Google Shape;1250;p116">
              <a:extLst>
                <a:ext uri="{FF2B5EF4-FFF2-40B4-BE49-F238E27FC236}">
                  <a16:creationId xmlns:a16="http://schemas.microsoft.com/office/drawing/2014/main" id="{77A77E21-6BB1-DA14-9D43-C381D4B970B5}"/>
                </a:ext>
              </a:extLst>
            </p:cNvPr>
            <p:cNvSpPr/>
            <p:nvPr/>
          </p:nvSpPr>
          <p:spPr>
            <a:xfrm>
              <a:off x="2263775" y="5691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1" name="Google Shape;1251;p116">
              <a:extLst>
                <a:ext uri="{FF2B5EF4-FFF2-40B4-BE49-F238E27FC236}">
                  <a16:creationId xmlns:a16="http://schemas.microsoft.com/office/drawing/2014/main" id="{7AEEC1D9-1B7E-3936-7C42-715584E6F46D}"/>
                </a:ext>
              </a:extLst>
            </p:cNvPr>
            <p:cNvSpPr/>
            <p:nvPr/>
          </p:nvSpPr>
          <p:spPr>
            <a:xfrm>
              <a:off x="2886075" y="4560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2" name="Google Shape;1252;p116">
              <a:extLst>
                <a:ext uri="{FF2B5EF4-FFF2-40B4-BE49-F238E27FC236}">
                  <a16:creationId xmlns:a16="http://schemas.microsoft.com/office/drawing/2014/main" id="{9EA9EB4F-02E6-0BB6-5CC4-C38218CE7363}"/>
                </a:ext>
              </a:extLst>
            </p:cNvPr>
            <p:cNvSpPr/>
            <p:nvPr/>
          </p:nvSpPr>
          <p:spPr>
            <a:xfrm>
              <a:off x="2263775" y="5005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3" name="Google Shape;1253;p116">
              <a:extLst>
                <a:ext uri="{FF2B5EF4-FFF2-40B4-BE49-F238E27FC236}">
                  <a16:creationId xmlns:a16="http://schemas.microsoft.com/office/drawing/2014/main" id="{0C642C77-876E-3774-FD4D-39E2EBCD32D1}"/>
                </a:ext>
              </a:extLst>
            </p:cNvPr>
            <p:cNvSpPr/>
            <p:nvPr/>
          </p:nvSpPr>
          <p:spPr>
            <a:xfrm>
              <a:off x="2962275" y="5399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4" name="Google Shape;1254;p116">
              <a:extLst>
                <a:ext uri="{FF2B5EF4-FFF2-40B4-BE49-F238E27FC236}">
                  <a16:creationId xmlns:a16="http://schemas.microsoft.com/office/drawing/2014/main" id="{EA6A15BB-807F-4EBF-3B6E-A9D301A01AA4}"/>
                </a:ext>
              </a:extLst>
            </p:cNvPr>
            <p:cNvSpPr/>
            <p:nvPr/>
          </p:nvSpPr>
          <p:spPr>
            <a:xfrm>
              <a:off x="3648075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5" name="Google Shape;1255;p116">
              <a:extLst>
                <a:ext uri="{FF2B5EF4-FFF2-40B4-BE49-F238E27FC236}">
                  <a16:creationId xmlns:a16="http://schemas.microsoft.com/office/drawing/2014/main" id="{66FE58CE-5465-732E-BD35-56845C9FD04D}"/>
                </a:ext>
              </a:extLst>
            </p:cNvPr>
            <p:cNvSpPr/>
            <p:nvPr/>
          </p:nvSpPr>
          <p:spPr>
            <a:xfrm>
              <a:off x="2133600" y="2971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6" name="Google Shape;1256;p116">
              <a:extLst>
                <a:ext uri="{FF2B5EF4-FFF2-40B4-BE49-F238E27FC236}">
                  <a16:creationId xmlns:a16="http://schemas.microsoft.com/office/drawing/2014/main" id="{6FA0B8C1-FE08-CAFF-4200-3060E8527888}"/>
                </a:ext>
              </a:extLst>
            </p:cNvPr>
            <p:cNvSpPr/>
            <p:nvPr/>
          </p:nvSpPr>
          <p:spPr>
            <a:xfrm>
              <a:off x="2743200" y="3048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7" name="Google Shape;1257;p116">
              <a:extLst>
                <a:ext uri="{FF2B5EF4-FFF2-40B4-BE49-F238E27FC236}">
                  <a16:creationId xmlns:a16="http://schemas.microsoft.com/office/drawing/2014/main" id="{D619FC08-4443-AB00-48D2-06B43807B7EE}"/>
                </a:ext>
              </a:extLst>
            </p:cNvPr>
            <p:cNvSpPr/>
            <p:nvPr/>
          </p:nvSpPr>
          <p:spPr>
            <a:xfrm>
              <a:off x="3810000" y="38100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1772A2"/>
            </a:solidFill>
            <a:ln w="9525" cap="flat" cmpd="sng">
              <a:solidFill>
                <a:srgbClr val="1772A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endParaRPr>
            </a:p>
          </p:txBody>
        </p:sp>
      </p:grpSp>
      <p:cxnSp>
        <p:nvCxnSpPr>
          <p:cNvPr id="28" name="Google Shape;1258;p116">
            <a:extLst>
              <a:ext uri="{FF2B5EF4-FFF2-40B4-BE49-F238E27FC236}">
                <a16:creationId xmlns:a16="http://schemas.microsoft.com/office/drawing/2014/main" id="{17569C3B-F561-CF60-E0B8-C6048A762481}"/>
              </a:ext>
            </a:extLst>
          </p:cNvPr>
          <p:cNvCxnSpPr>
            <a:cxnSpLocks/>
          </p:cNvCxnSpPr>
          <p:nvPr/>
        </p:nvCxnSpPr>
        <p:spPr>
          <a:xfrm rot="-10500251" flipH="1">
            <a:off x="2668828" y="2298951"/>
            <a:ext cx="2143125" cy="28844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1259;p116">
            <a:extLst>
              <a:ext uri="{FF2B5EF4-FFF2-40B4-BE49-F238E27FC236}">
                <a16:creationId xmlns:a16="http://schemas.microsoft.com/office/drawing/2014/main" id="{1FB00AF6-0695-778C-963A-37D62D3E59F3}"/>
              </a:ext>
            </a:extLst>
          </p:cNvPr>
          <p:cNvCxnSpPr>
            <a:cxnSpLocks/>
          </p:cNvCxnSpPr>
          <p:nvPr/>
        </p:nvCxnSpPr>
        <p:spPr>
          <a:xfrm rot="-10500251" flipH="1">
            <a:off x="3060001" y="2511949"/>
            <a:ext cx="2009775" cy="2693988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0" name="Google Shape;1260;p116">
            <a:extLst>
              <a:ext uri="{FF2B5EF4-FFF2-40B4-BE49-F238E27FC236}">
                <a16:creationId xmlns:a16="http://schemas.microsoft.com/office/drawing/2014/main" id="{6DF5BE31-72DF-CBC9-87EC-3587E91F03D6}"/>
              </a:ext>
            </a:extLst>
          </p:cNvPr>
          <p:cNvCxnSpPr>
            <a:cxnSpLocks/>
          </p:cNvCxnSpPr>
          <p:nvPr/>
        </p:nvCxnSpPr>
        <p:spPr>
          <a:xfrm rot="-10500251" flipH="1">
            <a:off x="2500004" y="2097314"/>
            <a:ext cx="2066925" cy="2770188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2" name="Google Shape;1262;p116">
            <a:extLst>
              <a:ext uri="{FF2B5EF4-FFF2-40B4-BE49-F238E27FC236}">
                <a16:creationId xmlns:a16="http://schemas.microsoft.com/office/drawing/2014/main" id="{A6E9CD66-243D-7E86-F1B6-8DC8229781A5}"/>
              </a:ext>
            </a:extLst>
          </p:cNvPr>
          <p:cNvCxnSpPr>
            <a:cxnSpLocks/>
          </p:cNvCxnSpPr>
          <p:nvPr/>
        </p:nvCxnSpPr>
        <p:spPr>
          <a:xfrm>
            <a:off x="3524250" y="2355478"/>
            <a:ext cx="777876" cy="7385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Google Shape;1263;p116">
            <a:extLst>
              <a:ext uri="{FF2B5EF4-FFF2-40B4-BE49-F238E27FC236}">
                <a16:creationId xmlns:a16="http://schemas.microsoft.com/office/drawing/2014/main" id="{1BC5A25B-7C54-C010-FA77-2EA99506A94E}"/>
              </a:ext>
            </a:extLst>
          </p:cNvPr>
          <p:cNvSpPr txBox="1"/>
          <p:nvPr/>
        </p:nvSpPr>
        <p:spPr>
          <a:xfrm>
            <a:off x="3605054" y="2585280"/>
            <a:ext cx="3382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r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35" name="Google Shape;1265;p116">
            <a:extLst>
              <a:ext uri="{FF2B5EF4-FFF2-40B4-BE49-F238E27FC236}">
                <a16:creationId xmlns:a16="http://schemas.microsoft.com/office/drawing/2014/main" id="{98C56CCD-BC52-C8D6-B383-2A3EC93169D4}"/>
              </a:ext>
            </a:extLst>
          </p:cNvPr>
          <p:cNvSpPr/>
          <p:nvPr/>
        </p:nvSpPr>
        <p:spPr>
          <a:xfrm>
            <a:off x="3505200" y="4241429"/>
            <a:ext cx="228600" cy="219075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" name="Google Shape;1266;p116">
            <a:extLst>
              <a:ext uri="{FF2B5EF4-FFF2-40B4-BE49-F238E27FC236}">
                <a16:creationId xmlns:a16="http://schemas.microsoft.com/office/drawing/2014/main" id="{0B1CD59E-263A-F2B5-F9E3-7223B412BA6B}"/>
              </a:ext>
            </a:extLst>
          </p:cNvPr>
          <p:cNvSpPr/>
          <p:nvPr/>
        </p:nvSpPr>
        <p:spPr>
          <a:xfrm>
            <a:off x="4191000" y="3479429"/>
            <a:ext cx="228600" cy="219075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7" name="Google Shape;1267;p116">
            <a:extLst>
              <a:ext uri="{FF2B5EF4-FFF2-40B4-BE49-F238E27FC236}">
                <a16:creationId xmlns:a16="http://schemas.microsoft.com/office/drawing/2014/main" id="{407D086C-8B0E-E7DE-4D94-6010724BB5AF}"/>
              </a:ext>
            </a:extLst>
          </p:cNvPr>
          <p:cNvSpPr/>
          <p:nvPr/>
        </p:nvSpPr>
        <p:spPr>
          <a:xfrm>
            <a:off x="3276600" y="3498479"/>
            <a:ext cx="228600" cy="219075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38" name="Google Shape;1268;p116">
            <a:extLst>
              <a:ext uri="{FF2B5EF4-FFF2-40B4-BE49-F238E27FC236}">
                <a16:creationId xmlns:a16="http://schemas.microsoft.com/office/drawing/2014/main" id="{DAFFB3E9-02C2-FFE7-056D-ADF025EF8D98}"/>
              </a:ext>
            </a:extLst>
          </p:cNvPr>
          <p:cNvCxnSpPr>
            <a:cxnSpLocks/>
          </p:cNvCxnSpPr>
          <p:nvPr/>
        </p:nvCxnSpPr>
        <p:spPr>
          <a:xfrm>
            <a:off x="3409951" y="3612779"/>
            <a:ext cx="225323" cy="194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" name="Google Shape;1269;p116">
            <a:extLst>
              <a:ext uri="{FF2B5EF4-FFF2-40B4-BE49-F238E27FC236}">
                <a16:creationId xmlns:a16="http://schemas.microsoft.com/office/drawing/2014/main" id="{4FFBF746-74A7-8617-358F-840DEA6628D5}"/>
              </a:ext>
            </a:extLst>
          </p:cNvPr>
          <p:cNvCxnSpPr>
            <a:cxnSpLocks/>
          </p:cNvCxnSpPr>
          <p:nvPr/>
        </p:nvCxnSpPr>
        <p:spPr>
          <a:xfrm>
            <a:off x="3390901" y="4161248"/>
            <a:ext cx="225323" cy="194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" name="Google Shape;1270;p116">
            <a:extLst>
              <a:ext uri="{FF2B5EF4-FFF2-40B4-BE49-F238E27FC236}">
                <a16:creationId xmlns:a16="http://schemas.microsoft.com/office/drawing/2014/main" id="{A6D69948-D2AC-BC67-C1DE-29F034E61276}"/>
              </a:ext>
            </a:extLst>
          </p:cNvPr>
          <p:cNvCxnSpPr>
            <a:cxnSpLocks/>
          </p:cNvCxnSpPr>
          <p:nvPr/>
        </p:nvCxnSpPr>
        <p:spPr>
          <a:xfrm>
            <a:off x="4079978" y="3403229"/>
            <a:ext cx="225323" cy="1944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1" name="Google Shape;1271;p116">
            <a:extLst>
              <a:ext uri="{FF2B5EF4-FFF2-40B4-BE49-F238E27FC236}">
                <a16:creationId xmlns:a16="http://schemas.microsoft.com/office/drawing/2014/main" id="{FE23277F-5B89-815B-9E28-31F8696DB059}"/>
              </a:ext>
            </a:extLst>
          </p:cNvPr>
          <p:cNvCxnSpPr>
            <a:cxnSpLocks/>
          </p:cNvCxnSpPr>
          <p:nvPr/>
        </p:nvCxnSpPr>
        <p:spPr>
          <a:xfrm>
            <a:off x="4508101" y="2393579"/>
            <a:ext cx="460775" cy="3751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" name="Google Shape;1272;p116">
            <a:extLst>
              <a:ext uri="{FF2B5EF4-FFF2-40B4-BE49-F238E27FC236}">
                <a16:creationId xmlns:a16="http://schemas.microsoft.com/office/drawing/2014/main" id="{96259FCC-60CB-2FBF-CD64-342E1C003E4E}"/>
              </a:ext>
            </a:extLst>
          </p:cNvPr>
          <p:cNvSpPr txBox="1"/>
          <p:nvPr/>
        </p:nvSpPr>
        <p:spPr>
          <a:xfrm>
            <a:off x="4648200" y="2131224"/>
            <a:ext cx="338296" cy="3385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0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8F016D-FFA3-FB2F-EFC6-B6A389D7876E}"/>
              </a:ext>
            </a:extLst>
          </p:cNvPr>
          <p:cNvSpPr txBox="1"/>
          <p:nvPr/>
        </p:nvSpPr>
        <p:spPr>
          <a:xfrm>
            <a:off x="8077200" y="1758669"/>
            <a:ext cx="6248400" cy="492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dirty="0">
                <a:latin typeface="PT Serif" panose="020A0603040505020204" pitchFamily="18" charset="0"/>
              </a:rPr>
              <a:t>Distance from case x</a:t>
            </a:r>
            <a:r>
              <a:rPr lang="en-IN" sz="2000" baseline="-25000" dirty="0">
                <a:latin typeface="PT Serif" panose="020A0603040505020204" pitchFamily="18" charset="0"/>
              </a:rPr>
              <a:t>i</a:t>
            </a:r>
            <a:r>
              <a:rPr lang="en-IN" sz="2000" dirty="0">
                <a:latin typeface="PT Serif" panose="020A0603040505020204" pitchFamily="18" charset="0"/>
              </a:rPr>
              <a:t> to the separator is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PT Serif" panose="020A06030405050202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000" dirty="0">
                <a:latin typeface="PT Serif" panose="020A0603040505020204" pitchFamily="18" charset="0"/>
              </a:rPr>
              <a:t>Here || w || is length of a vector given by sqrt(sum(W^2))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PT Serif" panose="020A0603040505020204" pitchFamily="18" charset="0"/>
              </a:rPr>
              <a:t>Cases closest to the hyper plane are Support Vectors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PT Serif" panose="020A0603040505020204" pitchFamily="18" charset="0"/>
              </a:rPr>
              <a:t>Margin </a:t>
            </a:r>
            <a:r>
              <a:rPr lang="el-GR" sz="2000" dirty="0">
                <a:latin typeface="PT Serif" panose="020A0603040505020204" pitchFamily="18" charset="0"/>
              </a:rPr>
              <a:t>ρ</a:t>
            </a:r>
            <a:r>
              <a:rPr lang="en-IN" sz="2000" dirty="0">
                <a:latin typeface="PT Serif" panose="020A0603040505020204" pitchFamily="18" charset="0"/>
              </a:rPr>
              <a:t> of the separator is the distance between support vectors  </a:t>
            </a:r>
          </a:p>
        </p:txBody>
      </p:sp>
    </p:spTree>
    <p:extLst>
      <p:ext uri="{BB962C8B-B14F-4D97-AF65-F5344CB8AC3E}">
        <p14:creationId xmlns:p14="http://schemas.microsoft.com/office/powerpoint/2010/main" val="69133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FE59-C222-1CAF-99E0-FD0DF1AA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84045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Maximum Margin Classification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Google Shape;1279;p117">
            <a:extLst>
              <a:ext uri="{FF2B5EF4-FFF2-40B4-BE49-F238E27FC236}">
                <a16:creationId xmlns:a16="http://schemas.microsoft.com/office/drawing/2014/main" id="{CFAA1D08-27D0-5305-F4A8-1774094B8AFE}"/>
              </a:ext>
            </a:extLst>
          </p:cNvPr>
          <p:cNvSpPr/>
          <p:nvPr/>
        </p:nvSpPr>
        <p:spPr>
          <a:xfrm>
            <a:off x="7543800" y="2529584"/>
            <a:ext cx="5967413" cy="4480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objective is now to maximize the margin </a:t>
            </a: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ρ</a:t>
            </a:r>
            <a:r>
              <a:rPr lang="en-US" sz="2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of the separator </a:t>
            </a:r>
            <a:endParaRPr sz="20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US" sz="2000" b="1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focus is on ‘Support Vectors’</a:t>
            </a:r>
            <a:endParaRPr sz="2000" b="1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</a:pPr>
            <a:r>
              <a:rPr lang="en-IN" sz="2000" dirty="0"/>
              <a:t>Support vectors determine the position of the hyperplane; non-support vectors do not affect the final solution once the optimum is reached.</a:t>
            </a:r>
            <a:endParaRPr sz="20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5" name="Google Shape;1280;p117">
            <a:extLst>
              <a:ext uri="{FF2B5EF4-FFF2-40B4-BE49-F238E27FC236}">
                <a16:creationId xmlns:a16="http://schemas.microsoft.com/office/drawing/2014/main" id="{63B267E2-7DCB-D73B-6D36-3C4FF2750BF0}"/>
              </a:ext>
            </a:extLst>
          </p:cNvPr>
          <p:cNvGrpSpPr/>
          <p:nvPr/>
        </p:nvGrpSpPr>
        <p:grpSpPr>
          <a:xfrm>
            <a:off x="2057401" y="2252312"/>
            <a:ext cx="4081463" cy="3386488"/>
            <a:chOff x="533400" y="2012579"/>
            <a:chExt cx="4081463" cy="3386488"/>
          </a:xfrm>
        </p:grpSpPr>
        <p:grpSp>
          <p:nvGrpSpPr>
            <p:cNvPr id="6" name="Google Shape;1281;p117">
              <a:extLst>
                <a:ext uri="{FF2B5EF4-FFF2-40B4-BE49-F238E27FC236}">
                  <a16:creationId xmlns:a16="http://schemas.microsoft.com/office/drawing/2014/main" id="{38FAE769-A22E-40F8-ECC8-449F66F7A757}"/>
                </a:ext>
              </a:extLst>
            </p:cNvPr>
            <p:cNvGrpSpPr/>
            <p:nvPr/>
          </p:nvGrpSpPr>
          <p:grpSpPr>
            <a:xfrm>
              <a:off x="533400" y="2274867"/>
              <a:ext cx="4081463" cy="3124200"/>
              <a:chOff x="762000" y="2971800"/>
              <a:chExt cx="4081463" cy="3124200"/>
            </a:xfrm>
          </p:grpSpPr>
          <p:cxnSp>
            <p:nvCxnSpPr>
              <p:cNvPr id="16" name="Google Shape;1282;p117">
                <a:extLst>
                  <a:ext uri="{FF2B5EF4-FFF2-40B4-BE49-F238E27FC236}">
                    <a16:creationId xmlns:a16="http://schemas.microsoft.com/office/drawing/2014/main" id="{C9F79FD4-A34F-21C4-E40D-66F4B159D1DF}"/>
                  </a:ext>
                </a:extLst>
              </p:cNvPr>
              <p:cNvCxnSpPr/>
              <p:nvPr/>
            </p:nvCxnSpPr>
            <p:spPr>
              <a:xfrm rot="10800000">
                <a:off x="896938" y="3054350"/>
                <a:ext cx="0" cy="304165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A9A9A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" name="Google Shape;1283;p117">
                <a:extLst>
                  <a:ext uri="{FF2B5EF4-FFF2-40B4-BE49-F238E27FC236}">
                    <a16:creationId xmlns:a16="http://schemas.microsoft.com/office/drawing/2014/main" id="{99C7DD08-8F3C-EC4C-138E-EDBCA13D021E}"/>
                  </a:ext>
                </a:extLst>
              </p:cNvPr>
              <p:cNvCxnSpPr/>
              <p:nvPr/>
            </p:nvCxnSpPr>
            <p:spPr>
              <a:xfrm>
                <a:off x="762000" y="5980113"/>
                <a:ext cx="4081463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A9A9A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" name="Google Shape;1284;p117">
                <a:extLst>
                  <a:ext uri="{FF2B5EF4-FFF2-40B4-BE49-F238E27FC236}">
                    <a16:creationId xmlns:a16="http://schemas.microsoft.com/office/drawing/2014/main" id="{00C3FB94-B72C-B478-B545-E4CD42084A6A}"/>
                  </a:ext>
                </a:extLst>
              </p:cNvPr>
              <p:cNvSpPr/>
              <p:nvPr/>
            </p:nvSpPr>
            <p:spPr>
              <a:xfrm>
                <a:off x="1936750" y="381000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19" name="Google Shape;1285;p117">
                <a:extLst>
                  <a:ext uri="{FF2B5EF4-FFF2-40B4-BE49-F238E27FC236}">
                    <a16:creationId xmlns:a16="http://schemas.microsoft.com/office/drawing/2014/main" id="{C35BA6CB-F715-C69B-6250-45B727D3E0DE}"/>
                  </a:ext>
                </a:extLst>
              </p:cNvPr>
              <p:cNvSpPr/>
              <p:nvPr/>
            </p:nvSpPr>
            <p:spPr>
              <a:xfrm>
                <a:off x="1362075" y="41671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0" name="Google Shape;1286;p117">
                <a:extLst>
                  <a:ext uri="{FF2B5EF4-FFF2-40B4-BE49-F238E27FC236}">
                    <a16:creationId xmlns:a16="http://schemas.microsoft.com/office/drawing/2014/main" id="{1951C532-5D5E-5B79-42BE-35974E618349}"/>
                  </a:ext>
                </a:extLst>
              </p:cNvPr>
              <p:cNvSpPr/>
              <p:nvPr/>
            </p:nvSpPr>
            <p:spPr>
              <a:xfrm>
                <a:off x="1514475" y="47132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1" name="Google Shape;1287;p117">
                <a:extLst>
                  <a:ext uri="{FF2B5EF4-FFF2-40B4-BE49-F238E27FC236}">
                    <a16:creationId xmlns:a16="http://schemas.microsoft.com/office/drawing/2014/main" id="{E1970337-4325-39DF-2B5D-3E5428BCDDBD}"/>
                  </a:ext>
                </a:extLst>
              </p:cNvPr>
              <p:cNvSpPr/>
              <p:nvPr/>
            </p:nvSpPr>
            <p:spPr>
              <a:xfrm>
                <a:off x="1133475" y="51704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2" name="Google Shape;1288;p117">
                <a:extLst>
                  <a:ext uri="{FF2B5EF4-FFF2-40B4-BE49-F238E27FC236}">
                    <a16:creationId xmlns:a16="http://schemas.microsoft.com/office/drawing/2014/main" id="{8791D4D2-D150-F96F-9F29-29163EE48E3A}"/>
                  </a:ext>
                </a:extLst>
              </p:cNvPr>
              <p:cNvSpPr/>
              <p:nvPr/>
            </p:nvSpPr>
            <p:spPr>
              <a:xfrm>
                <a:off x="1666875" y="35702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3" name="Google Shape;1289;p117">
                <a:extLst>
                  <a:ext uri="{FF2B5EF4-FFF2-40B4-BE49-F238E27FC236}">
                    <a16:creationId xmlns:a16="http://schemas.microsoft.com/office/drawing/2014/main" id="{CFF59FEF-F7BE-F278-69D6-E52CDCD994F7}"/>
                  </a:ext>
                </a:extLst>
              </p:cNvPr>
              <p:cNvSpPr/>
              <p:nvPr/>
            </p:nvSpPr>
            <p:spPr>
              <a:xfrm>
                <a:off x="1133475" y="44846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4" name="Google Shape;1290;p117">
                <a:extLst>
                  <a:ext uri="{FF2B5EF4-FFF2-40B4-BE49-F238E27FC236}">
                    <a16:creationId xmlns:a16="http://schemas.microsoft.com/office/drawing/2014/main" id="{38F45888-38C7-DB50-065D-20A3DF9612A9}"/>
                  </a:ext>
                </a:extLst>
              </p:cNvPr>
              <p:cNvSpPr/>
              <p:nvPr/>
            </p:nvSpPr>
            <p:spPr>
              <a:xfrm>
                <a:off x="1285875" y="46370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5" name="Google Shape;1291;p117">
                <a:extLst>
                  <a:ext uri="{FF2B5EF4-FFF2-40B4-BE49-F238E27FC236}">
                    <a16:creationId xmlns:a16="http://schemas.microsoft.com/office/drawing/2014/main" id="{80ED8F6C-1DEA-F7AF-E60D-28A465EDB5B9}"/>
                  </a:ext>
                </a:extLst>
              </p:cNvPr>
              <p:cNvSpPr/>
              <p:nvPr/>
            </p:nvSpPr>
            <p:spPr>
              <a:xfrm>
                <a:off x="2047875" y="42560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6" name="Google Shape;1292;p117">
                <a:extLst>
                  <a:ext uri="{FF2B5EF4-FFF2-40B4-BE49-F238E27FC236}">
                    <a16:creationId xmlns:a16="http://schemas.microsoft.com/office/drawing/2014/main" id="{324E434F-D1E8-B6A9-3CB3-B74091BC42EF}"/>
                  </a:ext>
                </a:extLst>
              </p:cNvPr>
              <p:cNvSpPr/>
              <p:nvPr/>
            </p:nvSpPr>
            <p:spPr>
              <a:xfrm>
                <a:off x="2949575" y="42433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7" name="Google Shape;1293;p117">
                <a:extLst>
                  <a:ext uri="{FF2B5EF4-FFF2-40B4-BE49-F238E27FC236}">
                    <a16:creationId xmlns:a16="http://schemas.microsoft.com/office/drawing/2014/main" id="{DB6BEFC5-F788-A1A0-374C-D418D2481B3C}"/>
                  </a:ext>
                </a:extLst>
              </p:cNvPr>
              <p:cNvSpPr/>
              <p:nvPr/>
            </p:nvSpPr>
            <p:spPr>
              <a:xfrm>
                <a:off x="2581275" y="51704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8" name="Google Shape;1294;p117">
                <a:extLst>
                  <a:ext uri="{FF2B5EF4-FFF2-40B4-BE49-F238E27FC236}">
                    <a16:creationId xmlns:a16="http://schemas.microsoft.com/office/drawing/2014/main" id="{6C776F14-D548-122D-8428-126FFCC81B9D}"/>
                  </a:ext>
                </a:extLst>
              </p:cNvPr>
              <p:cNvSpPr/>
              <p:nvPr/>
            </p:nvSpPr>
            <p:spPr>
              <a:xfrm>
                <a:off x="3571875" y="51704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9" name="Google Shape;1295;p117">
                <a:extLst>
                  <a:ext uri="{FF2B5EF4-FFF2-40B4-BE49-F238E27FC236}">
                    <a16:creationId xmlns:a16="http://schemas.microsoft.com/office/drawing/2014/main" id="{F383188D-C934-0B8D-CCDE-E99F4161A4A8}"/>
                  </a:ext>
                </a:extLst>
              </p:cNvPr>
              <p:cNvSpPr/>
              <p:nvPr/>
            </p:nvSpPr>
            <p:spPr>
              <a:xfrm>
                <a:off x="2263775" y="56911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0" name="Google Shape;1296;p117">
                <a:extLst>
                  <a:ext uri="{FF2B5EF4-FFF2-40B4-BE49-F238E27FC236}">
                    <a16:creationId xmlns:a16="http://schemas.microsoft.com/office/drawing/2014/main" id="{2E229BBE-6EB9-1445-35D7-2426AB381302}"/>
                  </a:ext>
                </a:extLst>
              </p:cNvPr>
              <p:cNvSpPr/>
              <p:nvPr/>
            </p:nvSpPr>
            <p:spPr>
              <a:xfrm>
                <a:off x="2886075" y="45608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1" name="Google Shape;1297;p117">
                <a:extLst>
                  <a:ext uri="{FF2B5EF4-FFF2-40B4-BE49-F238E27FC236}">
                    <a16:creationId xmlns:a16="http://schemas.microsoft.com/office/drawing/2014/main" id="{379F7618-5AAD-3F87-0F05-F4D8F5F2C32A}"/>
                  </a:ext>
                </a:extLst>
              </p:cNvPr>
              <p:cNvSpPr/>
              <p:nvPr/>
            </p:nvSpPr>
            <p:spPr>
              <a:xfrm>
                <a:off x="2263775" y="50053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2" name="Google Shape;1298;p117">
                <a:extLst>
                  <a:ext uri="{FF2B5EF4-FFF2-40B4-BE49-F238E27FC236}">
                    <a16:creationId xmlns:a16="http://schemas.microsoft.com/office/drawing/2014/main" id="{BE1B3C26-A7EB-1D81-91BA-62B156C8D386}"/>
                  </a:ext>
                </a:extLst>
              </p:cNvPr>
              <p:cNvSpPr/>
              <p:nvPr/>
            </p:nvSpPr>
            <p:spPr>
              <a:xfrm>
                <a:off x="2962275" y="53990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3" name="Google Shape;1299;p117">
                <a:extLst>
                  <a:ext uri="{FF2B5EF4-FFF2-40B4-BE49-F238E27FC236}">
                    <a16:creationId xmlns:a16="http://schemas.microsoft.com/office/drawing/2014/main" id="{FA80FC74-0BCF-4A3F-6DDE-1ADE33E838AD}"/>
                  </a:ext>
                </a:extLst>
              </p:cNvPr>
              <p:cNvSpPr/>
              <p:nvPr/>
            </p:nvSpPr>
            <p:spPr>
              <a:xfrm>
                <a:off x="3648075" y="4484688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4" name="Google Shape;1300;p117">
                <a:extLst>
                  <a:ext uri="{FF2B5EF4-FFF2-40B4-BE49-F238E27FC236}">
                    <a16:creationId xmlns:a16="http://schemas.microsoft.com/office/drawing/2014/main" id="{88E387E9-2820-9993-3F9E-7C36CD5BA262}"/>
                  </a:ext>
                </a:extLst>
              </p:cNvPr>
              <p:cNvSpPr/>
              <p:nvPr/>
            </p:nvSpPr>
            <p:spPr>
              <a:xfrm>
                <a:off x="2133600" y="297180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5" name="Google Shape;1301;p117">
                <a:extLst>
                  <a:ext uri="{FF2B5EF4-FFF2-40B4-BE49-F238E27FC236}">
                    <a16:creationId xmlns:a16="http://schemas.microsoft.com/office/drawing/2014/main" id="{6D992B54-ACCC-AEAA-8627-65EE513BA430}"/>
                  </a:ext>
                </a:extLst>
              </p:cNvPr>
              <p:cNvSpPr/>
              <p:nvPr/>
            </p:nvSpPr>
            <p:spPr>
              <a:xfrm>
                <a:off x="2743200" y="304800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9BD7AC"/>
              </a:solidFill>
              <a:ln w="9525" cap="flat" cmpd="sng">
                <a:solidFill>
                  <a:srgbClr val="9BD7AC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36" name="Google Shape;1302;p117">
                <a:extLst>
                  <a:ext uri="{FF2B5EF4-FFF2-40B4-BE49-F238E27FC236}">
                    <a16:creationId xmlns:a16="http://schemas.microsoft.com/office/drawing/2014/main" id="{DDE0B1E6-C3F0-A1D4-F378-B70E1C1F0AF2}"/>
                  </a:ext>
                </a:extLst>
              </p:cNvPr>
              <p:cNvSpPr/>
              <p:nvPr/>
            </p:nvSpPr>
            <p:spPr>
              <a:xfrm>
                <a:off x="3810000" y="3810000"/>
                <a:ext cx="88900" cy="88900"/>
              </a:xfrm>
              <a:prstGeom prst="octagon">
                <a:avLst>
                  <a:gd name="adj" fmla="val 29287"/>
                </a:avLst>
              </a:prstGeom>
              <a:solidFill>
                <a:srgbClr val="1772A2"/>
              </a:solidFill>
              <a:ln w="9525" cap="flat" cmpd="sng">
                <a:solidFill>
                  <a:srgbClr val="1772A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</p:grpSp>
        <p:cxnSp>
          <p:nvCxnSpPr>
            <p:cNvPr id="7" name="Google Shape;1303;p117">
              <a:extLst>
                <a:ext uri="{FF2B5EF4-FFF2-40B4-BE49-F238E27FC236}">
                  <a16:creationId xmlns:a16="http://schemas.microsoft.com/office/drawing/2014/main" id="{8C316455-59D1-6FFC-E8D2-B0162F0C6DD5}"/>
                </a:ext>
              </a:extLst>
            </p:cNvPr>
            <p:cNvCxnSpPr/>
            <p:nvPr/>
          </p:nvCxnSpPr>
          <p:spPr>
            <a:xfrm rot="-10500251" flipH="1">
              <a:off x="1144827" y="2298951"/>
              <a:ext cx="2143125" cy="288448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304;p117">
              <a:extLst>
                <a:ext uri="{FF2B5EF4-FFF2-40B4-BE49-F238E27FC236}">
                  <a16:creationId xmlns:a16="http://schemas.microsoft.com/office/drawing/2014/main" id="{D08675AB-BFB3-7A80-4558-11EB3DDFC162}"/>
                </a:ext>
              </a:extLst>
            </p:cNvPr>
            <p:cNvCxnSpPr/>
            <p:nvPr/>
          </p:nvCxnSpPr>
          <p:spPr>
            <a:xfrm rot="-10500251" flipH="1">
              <a:off x="1536000" y="2511949"/>
              <a:ext cx="2009775" cy="2693988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305;p117">
              <a:extLst>
                <a:ext uri="{FF2B5EF4-FFF2-40B4-BE49-F238E27FC236}">
                  <a16:creationId xmlns:a16="http://schemas.microsoft.com/office/drawing/2014/main" id="{613D8E00-78B0-9159-3DA0-B1F9C2BF79C8}"/>
                </a:ext>
              </a:extLst>
            </p:cNvPr>
            <p:cNvCxnSpPr/>
            <p:nvPr/>
          </p:nvCxnSpPr>
          <p:spPr>
            <a:xfrm rot="-10500251" flipH="1">
              <a:off x="976003" y="2097314"/>
              <a:ext cx="2066925" cy="2770188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1306;p117">
              <a:extLst>
                <a:ext uri="{FF2B5EF4-FFF2-40B4-BE49-F238E27FC236}">
                  <a16:creationId xmlns:a16="http://schemas.microsoft.com/office/drawing/2014/main" id="{E6B8F278-6DB4-3E34-4C81-1C09E7315A97}"/>
                </a:ext>
              </a:extLst>
            </p:cNvPr>
            <p:cNvSpPr/>
            <p:nvPr/>
          </p:nvSpPr>
          <p:spPr>
            <a:xfrm>
              <a:off x="1981200" y="4241428"/>
              <a:ext cx="228600" cy="21907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1" name="Google Shape;1307;p117">
              <a:extLst>
                <a:ext uri="{FF2B5EF4-FFF2-40B4-BE49-F238E27FC236}">
                  <a16:creationId xmlns:a16="http://schemas.microsoft.com/office/drawing/2014/main" id="{D0C4296D-AB49-C77B-FCB3-EEE348F79DC9}"/>
                </a:ext>
              </a:extLst>
            </p:cNvPr>
            <p:cNvSpPr/>
            <p:nvPr/>
          </p:nvSpPr>
          <p:spPr>
            <a:xfrm>
              <a:off x="2667000" y="3479428"/>
              <a:ext cx="228600" cy="21907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" name="Google Shape;1308;p117">
              <a:extLst>
                <a:ext uri="{FF2B5EF4-FFF2-40B4-BE49-F238E27FC236}">
                  <a16:creationId xmlns:a16="http://schemas.microsoft.com/office/drawing/2014/main" id="{133F2D22-1955-8F59-AB2D-B990DA5F6984}"/>
                </a:ext>
              </a:extLst>
            </p:cNvPr>
            <p:cNvSpPr/>
            <p:nvPr/>
          </p:nvSpPr>
          <p:spPr>
            <a:xfrm>
              <a:off x="1752600" y="3498478"/>
              <a:ext cx="228600" cy="21907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cxnSp>
          <p:nvCxnSpPr>
            <p:cNvPr id="13" name="Google Shape;1309;p117">
              <a:extLst>
                <a:ext uri="{FF2B5EF4-FFF2-40B4-BE49-F238E27FC236}">
                  <a16:creationId xmlns:a16="http://schemas.microsoft.com/office/drawing/2014/main" id="{67D4DEA3-8BE6-4E30-7D22-B5440305C5EC}"/>
                </a:ext>
              </a:extLst>
            </p:cNvPr>
            <p:cNvCxnSpPr/>
            <p:nvPr/>
          </p:nvCxnSpPr>
          <p:spPr>
            <a:xfrm>
              <a:off x="1885950" y="3612778"/>
              <a:ext cx="225323" cy="1944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310;p117">
              <a:extLst>
                <a:ext uri="{FF2B5EF4-FFF2-40B4-BE49-F238E27FC236}">
                  <a16:creationId xmlns:a16="http://schemas.microsoft.com/office/drawing/2014/main" id="{75A91D7E-34B2-D1DD-6389-828DCCFE4A40}"/>
                </a:ext>
              </a:extLst>
            </p:cNvPr>
            <p:cNvCxnSpPr/>
            <p:nvPr/>
          </p:nvCxnSpPr>
          <p:spPr>
            <a:xfrm>
              <a:off x="1866900" y="4161247"/>
              <a:ext cx="225323" cy="1944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311;p117">
              <a:extLst>
                <a:ext uri="{FF2B5EF4-FFF2-40B4-BE49-F238E27FC236}">
                  <a16:creationId xmlns:a16="http://schemas.microsoft.com/office/drawing/2014/main" id="{65302129-4A93-20C3-87C0-319E9E405CD7}"/>
                </a:ext>
              </a:extLst>
            </p:cNvPr>
            <p:cNvCxnSpPr/>
            <p:nvPr/>
          </p:nvCxnSpPr>
          <p:spPr>
            <a:xfrm>
              <a:off x="2555977" y="3403228"/>
              <a:ext cx="225323" cy="1944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3529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8FCB-7BC3-D103-8B15-99282778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27" y="649813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Mathematical Approach to Linear SVM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" name="Google Shape;1319;p118">
            <a:extLst>
              <a:ext uri="{FF2B5EF4-FFF2-40B4-BE49-F238E27FC236}">
                <a16:creationId xmlns:a16="http://schemas.microsoft.com/office/drawing/2014/main" id="{8DE6C261-A3C8-B34C-EC05-51C46946EB1D}"/>
              </a:ext>
            </a:extLst>
          </p:cNvPr>
          <p:cNvSpPr/>
          <p:nvPr/>
        </p:nvSpPr>
        <p:spPr>
          <a:xfrm>
            <a:off x="2438586" y="2384915"/>
            <a:ext cx="4351808" cy="1349731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t="-28969" b="-570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6" name="Google Shape;1320;p118">
            <a:extLst>
              <a:ext uri="{FF2B5EF4-FFF2-40B4-BE49-F238E27FC236}">
                <a16:creationId xmlns:a16="http://schemas.microsoft.com/office/drawing/2014/main" id="{11D0C5C5-18E6-E425-DC52-784F916CD606}"/>
              </a:ext>
            </a:extLst>
          </p:cNvPr>
          <p:cNvSpPr/>
          <p:nvPr/>
        </p:nvSpPr>
        <p:spPr>
          <a:xfrm>
            <a:off x="6701605" y="2692046"/>
            <a:ext cx="2894810" cy="725944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t="-57616" r="-872" b="-106765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7" name="Google Shape;1321;p118">
            <a:extLst>
              <a:ext uri="{FF2B5EF4-FFF2-40B4-BE49-F238E27FC236}">
                <a16:creationId xmlns:a16="http://schemas.microsoft.com/office/drawing/2014/main" id="{00336A0D-930D-98FF-8A20-D5D2A324DCE3}"/>
              </a:ext>
            </a:extLst>
          </p:cNvPr>
          <p:cNvSpPr/>
          <p:nvPr/>
        </p:nvSpPr>
        <p:spPr>
          <a:xfrm>
            <a:off x="6266544" y="2838324"/>
            <a:ext cx="553357" cy="461665"/>
          </a:xfrm>
          <a:prstGeom prst="rect">
            <a:avLst/>
          </a:prstGeom>
          <a:blipFill rotWithShape="1">
            <a:blip r:embed="rId6">
              <a:alphaModFix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8" name="Google Shape;1322;p118">
            <a:extLst>
              <a:ext uri="{FF2B5EF4-FFF2-40B4-BE49-F238E27FC236}">
                <a16:creationId xmlns:a16="http://schemas.microsoft.com/office/drawing/2014/main" id="{B61D1D0B-BF1D-7D41-93D1-0DBD9B83667A}"/>
              </a:ext>
            </a:extLst>
          </p:cNvPr>
          <p:cNvSpPr txBox="1"/>
          <p:nvPr/>
        </p:nvSpPr>
        <p:spPr>
          <a:xfrm>
            <a:off x="4696963" y="4657405"/>
            <a:ext cx="3607654" cy="868764"/>
          </a:xfrm>
          <a:prstGeom prst="rect">
            <a:avLst/>
          </a:prstGeom>
          <a:blipFill rotWithShape="1">
            <a:blip r:embed="rId8">
              <a:alphaModFix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b="-72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9" name="Google Shape;1323;p118">
            <a:extLst>
              <a:ext uri="{FF2B5EF4-FFF2-40B4-BE49-F238E27FC236}">
                <a16:creationId xmlns:a16="http://schemas.microsoft.com/office/drawing/2014/main" id="{2935FEC5-FD3D-0132-619E-AD851590F1A8}"/>
              </a:ext>
            </a:extLst>
          </p:cNvPr>
          <p:cNvSpPr/>
          <p:nvPr/>
        </p:nvSpPr>
        <p:spPr>
          <a:xfrm>
            <a:off x="5235830" y="6262340"/>
            <a:ext cx="2292925" cy="900460"/>
          </a:xfrm>
          <a:prstGeom prst="roundRect">
            <a:avLst>
              <a:gd name="adj" fmla="val 16667"/>
            </a:avLst>
          </a:prstGeom>
          <a:blipFill rotWithShape="1">
            <a:blip r:embed="rId10">
              <a:alphaModFix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tretch>
              <a:fillRect b="-2775"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008BC-3E72-2BC1-AB26-1530A3CBD5BB}"/>
              </a:ext>
            </a:extLst>
          </p:cNvPr>
          <p:cNvSpPr txBox="1"/>
          <p:nvPr/>
        </p:nvSpPr>
        <p:spPr>
          <a:xfrm>
            <a:off x="827715" y="1981200"/>
            <a:ext cx="11299888" cy="42032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PT Serif" panose="020A0603040505020204" pitchFamily="18" charset="0"/>
              </a:rPr>
              <a:t>Let training set be separated by a hyper plane with margin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ρ. Then for each training observation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For every support vector x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</a:t>
            </a:r>
            <a:r>
              <a:rPr lang="en-IN" dirty="0">
                <a:latin typeface="PT Serif" panose="020A0603040505020204" pitchFamily="18" charset="0"/>
              </a:rPr>
              <a:t> the above inequality is an equality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PT Serif" panose="020A0603040505020204" pitchFamily="18" charset="0"/>
              </a:rPr>
              <a:t>After rescaling w and b by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ρ/2 in the equality, we obtain that distance between each x</a:t>
            </a:r>
            <a:r>
              <a:rPr lang="en-US" baseline="-250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and the hyperplane is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Margin can be expressed through(rescaled w and b as:) </a:t>
            </a:r>
            <a:endParaRPr lang="en-IN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9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216B-82F7-FF90-8BA4-F8578A2C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Mathematical Approach to Linear SVM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476E9-F297-9409-7E7D-CD342F1EE8DD}"/>
              </a:ext>
            </a:extLst>
          </p:cNvPr>
          <p:cNvSpPr txBox="1"/>
          <p:nvPr/>
        </p:nvSpPr>
        <p:spPr>
          <a:xfrm>
            <a:off x="1371600" y="1524000"/>
            <a:ext cx="7315200" cy="3787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Quadratic Optimization problem is: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which can be reformulated as: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5" name="Google Shape;1331;p119">
            <a:extLst>
              <a:ext uri="{FF2B5EF4-FFF2-40B4-BE49-F238E27FC236}">
                <a16:creationId xmlns:a16="http://schemas.microsoft.com/office/drawing/2014/main" id="{CA150F53-297C-0727-3B66-60BB32D830B8}"/>
              </a:ext>
            </a:extLst>
          </p:cNvPr>
          <p:cNvSpPr/>
          <p:nvPr/>
        </p:nvSpPr>
        <p:spPr>
          <a:xfrm>
            <a:off x="4164103" y="2088255"/>
            <a:ext cx="4800600" cy="2659257"/>
          </a:xfrm>
          <a:prstGeom prst="roundRect">
            <a:avLst>
              <a:gd name="adj" fmla="val 16667"/>
            </a:avLst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6" name="Google Shape;1332;p119">
            <a:extLst>
              <a:ext uri="{FF2B5EF4-FFF2-40B4-BE49-F238E27FC236}">
                <a16:creationId xmlns:a16="http://schemas.microsoft.com/office/drawing/2014/main" id="{98C029FF-E549-6798-0E6B-716A0E35A882}"/>
              </a:ext>
            </a:extLst>
          </p:cNvPr>
          <p:cNvSpPr/>
          <p:nvPr/>
        </p:nvSpPr>
        <p:spPr>
          <a:xfrm>
            <a:off x="4132727" y="5522465"/>
            <a:ext cx="5029201" cy="2419486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7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A608-7C15-AC6C-E917-46E6DAED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Non-Linear SVMs – Feature Spaces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9100A-CB94-DE72-2339-EBCC6217A5C0}"/>
              </a:ext>
            </a:extLst>
          </p:cNvPr>
          <p:cNvSpPr txBox="1"/>
          <p:nvPr/>
        </p:nvSpPr>
        <p:spPr>
          <a:xfrm>
            <a:off x="1178625" y="1430247"/>
            <a:ext cx="12390628" cy="877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General idea: The original feature space can always be mapped to some higher-dimensional feature space where the training set is separable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Google Shape;1340;p120">
            <a:extLst>
              <a:ext uri="{FF2B5EF4-FFF2-40B4-BE49-F238E27FC236}">
                <a16:creationId xmlns:a16="http://schemas.microsoft.com/office/drawing/2014/main" id="{A198217E-4D81-F5B2-A95F-7F7B31D554AD}"/>
              </a:ext>
            </a:extLst>
          </p:cNvPr>
          <p:cNvSpPr/>
          <p:nvPr/>
        </p:nvSpPr>
        <p:spPr>
          <a:xfrm>
            <a:off x="3629025" y="4352925"/>
            <a:ext cx="1885950" cy="1905000"/>
          </a:xfrm>
          <a:prstGeom prst="ellipse">
            <a:avLst/>
          </a:prstGeom>
          <a:noFill/>
          <a:ln w="158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8" name="Google Shape;1341;p120">
            <a:extLst>
              <a:ext uri="{FF2B5EF4-FFF2-40B4-BE49-F238E27FC236}">
                <a16:creationId xmlns:a16="http://schemas.microsoft.com/office/drawing/2014/main" id="{D75F98D6-8C8F-AF83-D789-395E1AB8B33F}"/>
              </a:ext>
            </a:extLst>
          </p:cNvPr>
          <p:cNvGrpSpPr/>
          <p:nvPr/>
        </p:nvGrpSpPr>
        <p:grpSpPr>
          <a:xfrm>
            <a:off x="2962276" y="3702050"/>
            <a:ext cx="3319463" cy="3041650"/>
            <a:chOff x="447675" y="2914650"/>
            <a:chExt cx="3319463" cy="3041650"/>
          </a:xfrm>
        </p:grpSpPr>
        <p:cxnSp>
          <p:nvCxnSpPr>
            <p:cNvPr id="9" name="Google Shape;1342;p120">
              <a:extLst>
                <a:ext uri="{FF2B5EF4-FFF2-40B4-BE49-F238E27FC236}">
                  <a16:creationId xmlns:a16="http://schemas.microsoft.com/office/drawing/2014/main" id="{8FB00A75-9A66-7830-DFB9-618A601FCA74}"/>
                </a:ext>
              </a:extLst>
            </p:cNvPr>
            <p:cNvCxnSpPr/>
            <p:nvPr/>
          </p:nvCxnSpPr>
          <p:spPr>
            <a:xfrm rot="10800000">
              <a:off x="2068513" y="2914650"/>
              <a:ext cx="0" cy="30416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1343;p120">
              <a:extLst>
                <a:ext uri="{FF2B5EF4-FFF2-40B4-BE49-F238E27FC236}">
                  <a16:creationId xmlns:a16="http://schemas.microsoft.com/office/drawing/2014/main" id="{1F3E0D5D-2DBD-8C94-ADB8-37E0F43702E6}"/>
                </a:ext>
              </a:extLst>
            </p:cNvPr>
            <p:cNvCxnSpPr/>
            <p:nvPr/>
          </p:nvCxnSpPr>
          <p:spPr>
            <a:xfrm>
              <a:off x="447675" y="4525963"/>
              <a:ext cx="331946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" name="Google Shape;1344;p120">
              <a:extLst>
                <a:ext uri="{FF2B5EF4-FFF2-40B4-BE49-F238E27FC236}">
                  <a16:creationId xmlns:a16="http://schemas.microsoft.com/office/drawing/2014/main" id="{F5700E6B-DD1D-6E6E-3414-3547A643AF7C}"/>
                </a:ext>
              </a:extLst>
            </p:cNvPr>
            <p:cNvSpPr/>
            <p:nvPr/>
          </p:nvSpPr>
          <p:spPr>
            <a:xfrm>
              <a:off x="2098675" y="37465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" name="Google Shape;1345;p120">
              <a:extLst>
                <a:ext uri="{FF2B5EF4-FFF2-40B4-BE49-F238E27FC236}">
                  <a16:creationId xmlns:a16="http://schemas.microsoft.com/office/drawing/2014/main" id="{BBEEF4D4-82BB-642B-FB5E-A044E06C50B3}"/>
                </a:ext>
              </a:extLst>
            </p:cNvPr>
            <p:cNvSpPr/>
            <p:nvPr/>
          </p:nvSpPr>
          <p:spPr>
            <a:xfrm>
              <a:off x="1524000" y="4103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3" name="Google Shape;1346;p120">
              <a:extLst>
                <a:ext uri="{FF2B5EF4-FFF2-40B4-BE49-F238E27FC236}">
                  <a16:creationId xmlns:a16="http://schemas.microsoft.com/office/drawing/2014/main" id="{FB5CFEA3-562C-6854-5204-2DDB2F242219}"/>
                </a:ext>
              </a:extLst>
            </p:cNvPr>
            <p:cNvSpPr/>
            <p:nvPr/>
          </p:nvSpPr>
          <p:spPr>
            <a:xfrm>
              <a:off x="1676400" y="4649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347;p120">
              <a:extLst>
                <a:ext uri="{FF2B5EF4-FFF2-40B4-BE49-F238E27FC236}">
                  <a16:creationId xmlns:a16="http://schemas.microsoft.com/office/drawing/2014/main" id="{BAE1EFA3-0F80-5751-A90D-A9C217DDBC45}"/>
                </a:ext>
              </a:extLst>
            </p:cNvPr>
            <p:cNvSpPr/>
            <p:nvPr/>
          </p:nvSpPr>
          <p:spPr>
            <a:xfrm>
              <a:off x="2209800" y="5126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348;p120">
              <a:extLst>
                <a:ext uri="{FF2B5EF4-FFF2-40B4-BE49-F238E27FC236}">
                  <a16:creationId xmlns:a16="http://schemas.microsoft.com/office/drawing/2014/main" id="{D4B9A8CF-68BC-463C-C0AC-717BB44DCAB4}"/>
                </a:ext>
              </a:extLst>
            </p:cNvPr>
            <p:cNvSpPr/>
            <p:nvPr/>
          </p:nvSpPr>
          <p:spPr>
            <a:xfrm>
              <a:off x="1790700" y="37925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349;p120">
              <a:extLst>
                <a:ext uri="{FF2B5EF4-FFF2-40B4-BE49-F238E27FC236}">
                  <a16:creationId xmlns:a16="http://schemas.microsoft.com/office/drawing/2014/main" id="{EA7D5176-9903-F187-59B0-631EBEBCF28E}"/>
                </a:ext>
              </a:extLst>
            </p:cNvPr>
            <p:cNvSpPr/>
            <p:nvPr/>
          </p:nvSpPr>
          <p:spPr>
            <a:xfrm>
              <a:off x="1295400" y="4421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350;p120">
              <a:extLst>
                <a:ext uri="{FF2B5EF4-FFF2-40B4-BE49-F238E27FC236}">
                  <a16:creationId xmlns:a16="http://schemas.microsoft.com/office/drawing/2014/main" id="{49F2239E-4AF7-86FF-E1A0-7028ECE51AF1}"/>
                </a:ext>
              </a:extLst>
            </p:cNvPr>
            <p:cNvSpPr/>
            <p:nvPr/>
          </p:nvSpPr>
          <p:spPr>
            <a:xfrm>
              <a:off x="1714500" y="51641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8" name="Google Shape;1351;p120">
              <a:extLst>
                <a:ext uri="{FF2B5EF4-FFF2-40B4-BE49-F238E27FC236}">
                  <a16:creationId xmlns:a16="http://schemas.microsoft.com/office/drawing/2014/main" id="{636952F7-5FF4-6833-7CC6-FC05E2E828A1}"/>
                </a:ext>
              </a:extLst>
            </p:cNvPr>
            <p:cNvSpPr/>
            <p:nvPr/>
          </p:nvSpPr>
          <p:spPr>
            <a:xfrm>
              <a:off x="2209800" y="4192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9" name="Google Shape;1352;p120">
              <a:extLst>
                <a:ext uri="{FF2B5EF4-FFF2-40B4-BE49-F238E27FC236}">
                  <a16:creationId xmlns:a16="http://schemas.microsoft.com/office/drawing/2014/main" id="{ECA89AE5-50B2-E0DA-BB67-CF32663F64B1}"/>
                </a:ext>
              </a:extLst>
            </p:cNvPr>
            <p:cNvSpPr/>
            <p:nvPr/>
          </p:nvSpPr>
          <p:spPr>
            <a:xfrm>
              <a:off x="3111500" y="4179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0" name="Google Shape;1353;p120">
              <a:extLst>
                <a:ext uri="{FF2B5EF4-FFF2-40B4-BE49-F238E27FC236}">
                  <a16:creationId xmlns:a16="http://schemas.microsoft.com/office/drawing/2014/main" id="{30C2969E-96E3-36BE-348E-A4CA2BA45776}"/>
                </a:ext>
              </a:extLst>
            </p:cNvPr>
            <p:cNvSpPr/>
            <p:nvPr/>
          </p:nvSpPr>
          <p:spPr>
            <a:xfrm>
              <a:off x="2971800" y="53927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1" name="Google Shape;1354;p120">
              <a:extLst>
                <a:ext uri="{FF2B5EF4-FFF2-40B4-BE49-F238E27FC236}">
                  <a16:creationId xmlns:a16="http://schemas.microsoft.com/office/drawing/2014/main" id="{A8D9D0C5-5BA9-A45F-EFBC-57E153C2F9CA}"/>
                </a:ext>
              </a:extLst>
            </p:cNvPr>
            <p:cNvSpPr/>
            <p:nvPr/>
          </p:nvSpPr>
          <p:spPr>
            <a:xfrm>
              <a:off x="723900" y="4306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2" name="Google Shape;1355;p120">
              <a:extLst>
                <a:ext uri="{FF2B5EF4-FFF2-40B4-BE49-F238E27FC236}">
                  <a16:creationId xmlns:a16="http://schemas.microsoft.com/office/drawing/2014/main" id="{3106ADCC-04A2-552B-E8EE-48B9EEE60C9A}"/>
                </a:ext>
              </a:extLst>
            </p:cNvPr>
            <p:cNvSpPr/>
            <p:nvPr/>
          </p:nvSpPr>
          <p:spPr>
            <a:xfrm>
              <a:off x="2235200" y="5761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3" name="Google Shape;1356;p120">
              <a:extLst>
                <a:ext uri="{FF2B5EF4-FFF2-40B4-BE49-F238E27FC236}">
                  <a16:creationId xmlns:a16="http://schemas.microsoft.com/office/drawing/2014/main" id="{73BBB96F-4297-D905-A5CE-4F7D8DD869B9}"/>
                </a:ext>
              </a:extLst>
            </p:cNvPr>
            <p:cNvSpPr/>
            <p:nvPr/>
          </p:nvSpPr>
          <p:spPr>
            <a:xfrm>
              <a:off x="3200400" y="4916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4" name="Google Shape;1357;p120">
              <a:extLst>
                <a:ext uri="{FF2B5EF4-FFF2-40B4-BE49-F238E27FC236}">
                  <a16:creationId xmlns:a16="http://schemas.microsoft.com/office/drawing/2014/main" id="{27182820-FE0A-76CE-1FDE-82BC297220BE}"/>
                </a:ext>
              </a:extLst>
            </p:cNvPr>
            <p:cNvSpPr/>
            <p:nvPr/>
          </p:nvSpPr>
          <p:spPr>
            <a:xfrm>
              <a:off x="1263650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5" name="Google Shape;1358;p120">
              <a:extLst>
                <a:ext uri="{FF2B5EF4-FFF2-40B4-BE49-F238E27FC236}">
                  <a16:creationId xmlns:a16="http://schemas.microsoft.com/office/drawing/2014/main" id="{2D92400A-C24E-F7DB-4F7E-6FC381B5EE81}"/>
                </a:ext>
              </a:extLst>
            </p:cNvPr>
            <p:cNvSpPr/>
            <p:nvPr/>
          </p:nvSpPr>
          <p:spPr>
            <a:xfrm>
              <a:off x="952500" y="4973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6" name="Google Shape;1359;p120">
              <a:extLst>
                <a:ext uri="{FF2B5EF4-FFF2-40B4-BE49-F238E27FC236}">
                  <a16:creationId xmlns:a16="http://schemas.microsoft.com/office/drawing/2014/main" id="{22559BFF-E3F7-71EA-B298-1095FFBFC257}"/>
                </a:ext>
              </a:extLst>
            </p:cNvPr>
            <p:cNvSpPr/>
            <p:nvPr/>
          </p:nvSpPr>
          <p:spPr>
            <a:xfrm>
              <a:off x="1009650" y="3449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7" name="Google Shape;1360;p120">
              <a:extLst>
                <a:ext uri="{FF2B5EF4-FFF2-40B4-BE49-F238E27FC236}">
                  <a16:creationId xmlns:a16="http://schemas.microsoft.com/office/drawing/2014/main" id="{AF14AB35-5967-FC02-DCB7-F8EE21468E85}"/>
                </a:ext>
              </a:extLst>
            </p:cNvPr>
            <p:cNvSpPr/>
            <p:nvPr/>
          </p:nvSpPr>
          <p:spPr>
            <a:xfrm>
              <a:off x="2505075" y="45847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8" name="Google Shape;1361;p120">
              <a:extLst>
                <a:ext uri="{FF2B5EF4-FFF2-40B4-BE49-F238E27FC236}">
                  <a16:creationId xmlns:a16="http://schemas.microsoft.com/office/drawing/2014/main" id="{4A80220F-C8BA-A989-D0C5-48B131AA4CC3}"/>
                </a:ext>
              </a:extLst>
            </p:cNvPr>
            <p:cNvSpPr/>
            <p:nvPr/>
          </p:nvSpPr>
          <p:spPr>
            <a:xfrm>
              <a:off x="2124075" y="47180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29" name="Google Shape;1362;p120">
              <a:extLst>
                <a:ext uri="{FF2B5EF4-FFF2-40B4-BE49-F238E27FC236}">
                  <a16:creationId xmlns:a16="http://schemas.microsoft.com/office/drawing/2014/main" id="{F3D5831A-203B-FB28-00B0-67F6B2D802CC}"/>
                </a:ext>
              </a:extLst>
            </p:cNvPr>
            <p:cNvSpPr/>
            <p:nvPr/>
          </p:nvSpPr>
          <p:spPr>
            <a:xfrm>
              <a:off x="2409825" y="3479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0" name="Google Shape;1363;p120">
              <a:extLst>
                <a:ext uri="{FF2B5EF4-FFF2-40B4-BE49-F238E27FC236}">
                  <a16:creationId xmlns:a16="http://schemas.microsoft.com/office/drawing/2014/main" id="{B53596A1-CAA6-38CD-895A-72BB230D5C26}"/>
                </a:ext>
              </a:extLst>
            </p:cNvPr>
            <p:cNvSpPr/>
            <p:nvPr/>
          </p:nvSpPr>
          <p:spPr>
            <a:xfrm>
              <a:off x="1162050" y="3602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31" name="Google Shape;1364;p120">
              <a:extLst>
                <a:ext uri="{FF2B5EF4-FFF2-40B4-BE49-F238E27FC236}">
                  <a16:creationId xmlns:a16="http://schemas.microsoft.com/office/drawing/2014/main" id="{09B23BFD-62DF-27E3-CEC5-CF82AB516076}"/>
                </a:ext>
              </a:extLst>
            </p:cNvPr>
            <p:cNvSpPr/>
            <p:nvPr/>
          </p:nvSpPr>
          <p:spPr>
            <a:xfrm>
              <a:off x="3086100" y="3582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grpSp>
        <p:nvGrpSpPr>
          <p:cNvPr id="32" name="Google Shape;1365;p120">
            <a:extLst>
              <a:ext uri="{FF2B5EF4-FFF2-40B4-BE49-F238E27FC236}">
                <a16:creationId xmlns:a16="http://schemas.microsoft.com/office/drawing/2014/main" id="{52D2805F-BB7F-654D-9150-8DC15892F949}"/>
              </a:ext>
            </a:extLst>
          </p:cNvPr>
          <p:cNvGrpSpPr/>
          <p:nvPr/>
        </p:nvGrpSpPr>
        <p:grpSpPr>
          <a:xfrm>
            <a:off x="7124701" y="4189413"/>
            <a:ext cx="2933700" cy="2590800"/>
            <a:chOff x="4610100" y="3403600"/>
            <a:chExt cx="2933700" cy="2590800"/>
          </a:xfrm>
        </p:grpSpPr>
        <p:cxnSp>
          <p:nvCxnSpPr>
            <p:cNvPr id="33" name="Google Shape;1366;p120">
              <a:extLst>
                <a:ext uri="{FF2B5EF4-FFF2-40B4-BE49-F238E27FC236}">
                  <a16:creationId xmlns:a16="http://schemas.microsoft.com/office/drawing/2014/main" id="{15BFF825-8F4B-0228-928F-ACC4833DD6F1}"/>
                </a:ext>
              </a:extLst>
            </p:cNvPr>
            <p:cNvCxnSpPr/>
            <p:nvPr/>
          </p:nvCxnSpPr>
          <p:spPr>
            <a:xfrm>
              <a:off x="6096000" y="3403600"/>
              <a:ext cx="1447800" cy="1333500"/>
            </a:xfrm>
            <a:prstGeom prst="straightConnector1">
              <a:avLst/>
            </a:prstGeom>
            <a:noFill/>
            <a:ln w="158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1367;p120">
              <a:extLst>
                <a:ext uri="{FF2B5EF4-FFF2-40B4-BE49-F238E27FC236}">
                  <a16:creationId xmlns:a16="http://schemas.microsoft.com/office/drawing/2014/main" id="{0793BEAF-52A3-2708-0305-5678AB8A7932}"/>
                </a:ext>
              </a:extLst>
            </p:cNvPr>
            <p:cNvCxnSpPr/>
            <p:nvPr/>
          </p:nvCxnSpPr>
          <p:spPr>
            <a:xfrm rot="10800000" flipH="1">
              <a:off x="6324600" y="4775200"/>
              <a:ext cx="1219200" cy="1219200"/>
            </a:xfrm>
            <a:prstGeom prst="straightConnector1">
              <a:avLst/>
            </a:prstGeom>
            <a:noFill/>
            <a:ln w="158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1368;p120">
              <a:extLst>
                <a:ext uri="{FF2B5EF4-FFF2-40B4-BE49-F238E27FC236}">
                  <a16:creationId xmlns:a16="http://schemas.microsoft.com/office/drawing/2014/main" id="{CB790616-78BA-732F-3B01-2758BAA3C196}"/>
                </a:ext>
              </a:extLst>
            </p:cNvPr>
            <p:cNvCxnSpPr/>
            <p:nvPr/>
          </p:nvCxnSpPr>
          <p:spPr>
            <a:xfrm rot="10800000" flipH="1">
              <a:off x="4629150" y="3441700"/>
              <a:ext cx="1466850" cy="838200"/>
            </a:xfrm>
            <a:prstGeom prst="straightConnector1">
              <a:avLst/>
            </a:prstGeom>
            <a:noFill/>
            <a:ln w="158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1369;p120">
              <a:extLst>
                <a:ext uri="{FF2B5EF4-FFF2-40B4-BE49-F238E27FC236}">
                  <a16:creationId xmlns:a16="http://schemas.microsoft.com/office/drawing/2014/main" id="{80959D36-F338-39EC-21DF-BF57D34FEA55}"/>
                </a:ext>
              </a:extLst>
            </p:cNvPr>
            <p:cNvCxnSpPr/>
            <p:nvPr/>
          </p:nvCxnSpPr>
          <p:spPr>
            <a:xfrm>
              <a:off x="4610100" y="4279900"/>
              <a:ext cx="1714500" cy="1695450"/>
            </a:xfrm>
            <a:prstGeom prst="straightConnector1">
              <a:avLst/>
            </a:prstGeom>
            <a:noFill/>
            <a:ln w="158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7" name="Google Shape;1370;p120">
            <a:extLst>
              <a:ext uri="{FF2B5EF4-FFF2-40B4-BE49-F238E27FC236}">
                <a16:creationId xmlns:a16="http://schemas.microsoft.com/office/drawing/2014/main" id="{4E021821-10C7-7DFE-887F-0B9F81E805E8}"/>
              </a:ext>
            </a:extLst>
          </p:cNvPr>
          <p:cNvGrpSpPr/>
          <p:nvPr/>
        </p:nvGrpSpPr>
        <p:grpSpPr>
          <a:xfrm>
            <a:off x="7373939" y="3454400"/>
            <a:ext cx="3565525" cy="3086100"/>
            <a:chOff x="4859338" y="2667000"/>
            <a:chExt cx="3565525" cy="3086100"/>
          </a:xfrm>
        </p:grpSpPr>
        <p:cxnSp>
          <p:nvCxnSpPr>
            <p:cNvPr id="38" name="Google Shape;1371;p120">
              <a:extLst>
                <a:ext uri="{FF2B5EF4-FFF2-40B4-BE49-F238E27FC236}">
                  <a16:creationId xmlns:a16="http://schemas.microsoft.com/office/drawing/2014/main" id="{B1491328-A028-02EA-6E1F-82F5F34E6D8A}"/>
                </a:ext>
              </a:extLst>
            </p:cNvPr>
            <p:cNvCxnSpPr/>
            <p:nvPr/>
          </p:nvCxnSpPr>
          <p:spPr>
            <a:xfrm rot="10800000">
              <a:off x="6107113" y="2667000"/>
              <a:ext cx="0" cy="20701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" name="Google Shape;1372;p120">
              <a:extLst>
                <a:ext uri="{FF2B5EF4-FFF2-40B4-BE49-F238E27FC236}">
                  <a16:creationId xmlns:a16="http://schemas.microsoft.com/office/drawing/2014/main" id="{1F327DCC-B06F-EE06-BB33-374F1C85B948}"/>
                </a:ext>
              </a:extLst>
            </p:cNvPr>
            <p:cNvCxnSpPr/>
            <p:nvPr/>
          </p:nvCxnSpPr>
          <p:spPr>
            <a:xfrm>
              <a:off x="6076950" y="4754563"/>
              <a:ext cx="2347913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" name="Google Shape;1373;p120">
              <a:extLst>
                <a:ext uri="{FF2B5EF4-FFF2-40B4-BE49-F238E27FC236}">
                  <a16:creationId xmlns:a16="http://schemas.microsoft.com/office/drawing/2014/main" id="{AFDC0736-C51B-E7CF-A3C5-9AB2A03BCB6E}"/>
                </a:ext>
              </a:extLst>
            </p:cNvPr>
            <p:cNvSpPr/>
            <p:nvPr/>
          </p:nvSpPr>
          <p:spPr>
            <a:xfrm>
              <a:off x="6375400" y="411797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1" name="Google Shape;1374;p120">
              <a:extLst>
                <a:ext uri="{FF2B5EF4-FFF2-40B4-BE49-F238E27FC236}">
                  <a16:creationId xmlns:a16="http://schemas.microsoft.com/office/drawing/2014/main" id="{0C075035-2B74-762B-ADB1-70D760AB67A5}"/>
                </a:ext>
              </a:extLst>
            </p:cNvPr>
            <p:cNvSpPr/>
            <p:nvPr/>
          </p:nvSpPr>
          <p:spPr>
            <a:xfrm>
              <a:off x="5800725" y="44751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2" name="Google Shape;1375;p120">
              <a:extLst>
                <a:ext uri="{FF2B5EF4-FFF2-40B4-BE49-F238E27FC236}">
                  <a16:creationId xmlns:a16="http://schemas.microsoft.com/office/drawing/2014/main" id="{11D49FBC-BA2E-D9EF-6A57-E22E957E7740}"/>
                </a:ext>
              </a:extLst>
            </p:cNvPr>
            <p:cNvSpPr/>
            <p:nvPr/>
          </p:nvSpPr>
          <p:spPr>
            <a:xfrm>
              <a:off x="6181725" y="5030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3" name="Google Shape;1376;p120">
              <a:extLst>
                <a:ext uri="{FF2B5EF4-FFF2-40B4-BE49-F238E27FC236}">
                  <a16:creationId xmlns:a16="http://schemas.microsoft.com/office/drawing/2014/main" id="{17422EB6-3ED8-CF5E-376B-BA8780321C73}"/>
                </a:ext>
              </a:extLst>
            </p:cNvPr>
            <p:cNvSpPr/>
            <p:nvPr/>
          </p:nvSpPr>
          <p:spPr>
            <a:xfrm>
              <a:off x="7000875" y="5030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4" name="Google Shape;1377;p120">
              <a:extLst>
                <a:ext uri="{FF2B5EF4-FFF2-40B4-BE49-F238E27FC236}">
                  <a16:creationId xmlns:a16="http://schemas.microsoft.com/office/drawing/2014/main" id="{E331E796-5901-F877-EFFB-6BDF1366A48F}"/>
                </a:ext>
              </a:extLst>
            </p:cNvPr>
            <p:cNvSpPr/>
            <p:nvPr/>
          </p:nvSpPr>
          <p:spPr>
            <a:xfrm>
              <a:off x="6067425" y="416401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5" name="Google Shape;1378;p120">
              <a:extLst>
                <a:ext uri="{FF2B5EF4-FFF2-40B4-BE49-F238E27FC236}">
                  <a16:creationId xmlns:a16="http://schemas.microsoft.com/office/drawing/2014/main" id="{EED29993-5D8E-E68B-2CB6-AA820CFA9549}"/>
                </a:ext>
              </a:extLst>
            </p:cNvPr>
            <p:cNvSpPr/>
            <p:nvPr/>
          </p:nvSpPr>
          <p:spPr>
            <a:xfrm>
              <a:off x="6276975" y="4440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6" name="Google Shape;1379;p120">
              <a:extLst>
                <a:ext uri="{FF2B5EF4-FFF2-40B4-BE49-F238E27FC236}">
                  <a16:creationId xmlns:a16="http://schemas.microsoft.com/office/drawing/2014/main" id="{2EF28D44-8D1D-A7BD-9235-CC344892DF1B}"/>
                </a:ext>
              </a:extLst>
            </p:cNvPr>
            <p:cNvSpPr/>
            <p:nvPr/>
          </p:nvSpPr>
          <p:spPr>
            <a:xfrm>
              <a:off x="6505575" y="5068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7" name="Google Shape;1380;p120">
              <a:extLst>
                <a:ext uri="{FF2B5EF4-FFF2-40B4-BE49-F238E27FC236}">
                  <a16:creationId xmlns:a16="http://schemas.microsoft.com/office/drawing/2014/main" id="{2357B2EC-E233-0E92-8588-6FDD8B3822BA}"/>
                </a:ext>
              </a:extLst>
            </p:cNvPr>
            <p:cNvSpPr/>
            <p:nvPr/>
          </p:nvSpPr>
          <p:spPr>
            <a:xfrm>
              <a:off x="6486525" y="4564063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8" name="Google Shape;1381;p120">
              <a:extLst>
                <a:ext uri="{FF2B5EF4-FFF2-40B4-BE49-F238E27FC236}">
                  <a16:creationId xmlns:a16="http://schemas.microsoft.com/office/drawing/2014/main" id="{D1476B96-9603-3E46-5C08-D65488802A2B}"/>
                </a:ext>
              </a:extLst>
            </p:cNvPr>
            <p:cNvSpPr/>
            <p:nvPr/>
          </p:nvSpPr>
          <p:spPr>
            <a:xfrm>
              <a:off x="8093075" y="4198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49" name="Google Shape;1382;p120">
              <a:extLst>
                <a:ext uri="{FF2B5EF4-FFF2-40B4-BE49-F238E27FC236}">
                  <a16:creationId xmlns:a16="http://schemas.microsoft.com/office/drawing/2014/main" id="{4778893A-7400-7F3F-4665-B852B7A6ABA7}"/>
                </a:ext>
              </a:extLst>
            </p:cNvPr>
            <p:cNvSpPr/>
            <p:nvPr/>
          </p:nvSpPr>
          <p:spPr>
            <a:xfrm>
              <a:off x="7953375" y="5411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0" name="Google Shape;1383;p120">
              <a:extLst>
                <a:ext uri="{FF2B5EF4-FFF2-40B4-BE49-F238E27FC236}">
                  <a16:creationId xmlns:a16="http://schemas.microsoft.com/office/drawing/2014/main" id="{AF39F908-1786-86C1-CB4F-2EB43A1E550F}"/>
                </a:ext>
              </a:extLst>
            </p:cNvPr>
            <p:cNvSpPr/>
            <p:nvPr/>
          </p:nvSpPr>
          <p:spPr>
            <a:xfrm>
              <a:off x="7477125" y="3163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1" name="Google Shape;1384;p120">
              <a:extLst>
                <a:ext uri="{FF2B5EF4-FFF2-40B4-BE49-F238E27FC236}">
                  <a16:creationId xmlns:a16="http://schemas.microsoft.com/office/drawing/2014/main" id="{63F55E4A-1577-2A72-B33C-19031573F192}"/>
                </a:ext>
              </a:extLst>
            </p:cNvPr>
            <p:cNvSpPr/>
            <p:nvPr/>
          </p:nvSpPr>
          <p:spPr>
            <a:xfrm>
              <a:off x="7483475" y="44275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2" name="Google Shape;1385;p120">
              <a:extLst>
                <a:ext uri="{FF2B5EF4-FFF2-40B4-BE49-F238E27FC236}">
                  <a16:creationId xmlns:a16="http://schemas.microsoft.com/office/drawing/2014/main" id="{E3FF27AE-77DE-6D9A-5DF7-A0244E53E125}"/>
                </a:ext>
              </a:extLst>
            </p:cNvPr>
            <p:cNvSpPr/>
            <p:nvPr/>
          </p:nvSpPr>
          <p:spPr>
            <a:xfrm>
              <a:off x="8181975" y="49355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3" name="Google Shape;1386;p120">
              <a:extLst>
                <a:ext uri="{FF2B5EF4-FFF2-40B4-BE49-F238E27FC236}">
                  <a16:creationId xmlns:a16="http://schemas.microsoft.com/office/drawing/2014/main" id="{3EB0464F-6E3B-9791-73D3-FDD612EC844F}"/>
                </a:ext>
              </a:extLst>
            </p:cNvPr>
            <p:cNvSpPr/>
            <p:nvPr/>
          </p:nvSpPr>
          <p:spPr>
            <a:xfrm>
              <a:off x="7007225" y="3875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4" name="Google Shape;1387;p120">
              <a:extLst>
                <a:ext uri="{FF2B5EF4-FFF2-40B4-BE49-F238E27FC236}">
                  <a16:creationId xmlns:a16="http://schemas.microsoft.com/office/drawing/2014/main" id="{F20FDB95-2307-32A5-A272-633EE445D0F7}"/>
                </a:ext>
              </a:extLst>
            </p:cNvPr>
            <p:cNvSpPr/>
            <p:nvPr/>
          </p:nvSpPr>
          <p:spPr>
            <a:xfrm>
              <a:off x="7610475" y="5106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5" name="Google Shape;1388;p120">
              <a:extLst>
                <a:ext uri="{FF2B5EF4-FFF2-40B4-BE49-F238E27FC236}">
                  <a16:creationId xmlns:a16="http://schemas.microsoft.com/office/drawing/2014/main" id="{800E0B9C-FD7D-6941-0B6C-1CFE8499FE12}"/>
                </a:ext>
              </a:extLst>
            </p:cNvPr>
            <p:cNvSpPr/>
            <p:nvPr/>
          </p:nvSpPr>
          <p:spPr>
            <a:xfrm>
              <a:off x="7400925" y="3373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6" name="Google Shape;1389;p120">
              <a:extLst>
                <a:ext uri="{FF2B5EF4-FFF2-40B4-BE49-F238E27FC236}">
                  <a16:creationId xmlns:a16="http://schemas.microsoft.com/office/drawing/2014/main" id="{5D008649-3442-EC9A-AB27-6C6D4D284D01}"/>
                </a:ext>
              </a:extLst>
            </p:cNvPr>
            <p:cNvSpPr/>
            <p:nvPr/>
          </p:nvSpPr>
          <p:spPr>
            <a:xfrm>
              <a:off x="6010275" y="487997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7" name="Google Shape;1390;p120">
              <a:extLst>
                <a:ext uri="{FF2B5EF4-FFF2-40B4-BE49-F238E27FC236}">
                  <a16:creationId xmlns:a16="http://schemas.microsoft.com/office/drawing/2014/main" id="{FE3030FD-DEEB-DF52-707C-1C233F609F63}"/>
                </a:ext>
              </a:extLst>
            </p:cNvPr>
            <p:cNvSpPr/>
            <p:nvPr/>
          </p:nvSpPr>
          <p:spPr>
            <a:xfrm>
              <a:off x="5629275" y="5013325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9BD7AC"/>
            </a:solidFill>
            <a:ln w="9525" cap="flat" cmpd="sng">
              <a:solidFill>
                <a:srgbClr val="9BD7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8" name="Google Shape;1391;p120">
              <a:extLst>
                <a:ext uri="{FF2B5EF4-FFF2-40B4-BE49-F238E27FC236}">
                  <a16:creationId xmlns:a16="http://schemas.microsoft.com/office/drawing/2014/main" id="{3B14C4D2-CD74-771A-CAE0-2EF7E4A52354}"/>
                </a:ext>
              </a:extLst>
            </p:cNvPr>
            <p:cNvSpPr/>
            <p:nvPr/>
          </p:nvSpPr>
          <p:spPr>
            <a:xfrm>
              <a:off x="7391400" y="34988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59" name="Google Shape;1392;p120">
              <a:extLst>
                <a:ext uri="{FF2B5EF4-FFF2-40B4-BE49-F238E27FC236}">
                  <a16:creationId xmlns:a16="http://schemas.microsoft.com/office/drawing/2014/main" id="{8EFDEC08-3F0B-647F-F3FA-C37C910188C7}"/>
                </a:ext>
              </a:extLst>
            </p:cNvPr>
            <p:cNvSpPr/>
            <p:nvPr/>
          </p:nvSpPr>
          <p:spPr>
            <a:xfrm>
              <a:off x="6943725" y="30305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60" name="Google Shape;1393;p120">
              <a:extLst>
                <a:ext uri="{FF2B5EF4-FFF2-40B4-BE49-F238E27FC236}">
                  <a16:creationId xmlns:a16="http://schemas.microsoft.com/office/drawing/2014/main" id="{279D6A82-D574-0C3D-B39E-67D8FAEA22D4}"/>
                </a:ext>
              </a:extLst>
            </p:cNvPr>
            <p:cNvSpPr/>
            <p:nvPr/>
          </p:nvSpPr>
          <p:spPr>
            <a:xfrm>
              <a:off x="8067675" y="3602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cxnSp>
          <p:nvCxnSpPr>
            <p:cNvPr id="61" name="Google Shape;1394;p120">
              <a:extLst>
                <a:ext uri="{FF2B5EF4-FFF2-40B4-BE49-F238E27FC236}">
                  <a16:creationId xmlns:a16="http://schemas.microsoft.com/office/drawing/2014/main" id="{35206AD9-7E97-8D7B-8D12-6118A03E672A}"/>
                </a:ext>
              </a:extLst>
            </p:cNvPr>
            <p:cNvCxnSpPr/>
            <p:nvPr/>
          </p:nvCxnSpPr>
          <p:spPr>
            <a:xfrm flipH="1">
              <a:off x="4859338" y="4756150"/>
              <a:ext cx="1238250" cy="99695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2" name="Google Shape;1395;p120">
            <a:extLst>
              <a:ext uri="{FF2B5EF4-FFF2-40B4-BE49-F238E27FC236}">
                <a16:creationId xmlns:a16="http://schemas.microsoft.com/office/drawing/2014/main" id="{14FD5ABA-33B4-3A54-AE12-5F634E330D05}"/>
              </a:ext>
            </a:extLst>
          </p:cNvPr>
          <p:cNvSpPr txBox="1"/>
          <p:nvPr/>
        </p:nvSpPr>
        <p:spPr>
          <a:xfrm>
            <a:off x="6328220" y="3200400"/>
            <a:ext cx="1953805" cy="646331"/>
          </a:xfrm>
          <a:prstGeom prst="rect">
            <a:avLst/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 b="-38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pen Sans Light"/>
                <a:ea typeface="Open Sans Light"/>
                <a:cs typeface="Open Sans Light"/>
                <a:sym typeface="Open Sans Light"/>
              </a:rPr>
              <a:t> </a:t>
            </a:r>
            <a:endParaRPr/>
          </a:p>
        </p:txBody>
      </p:sp>
      <p:sp>
        <p:nvSpPr>
          <p:cNvPr id="63" name="Google Shape;1396;p120">
            <a:extLst>
              <a:ext uri="{FF2B5EF4-FFF2-40B4-BE49-F238E27FC236}">
                <a16:creationId xmlns:a16="http://schemas.microsoft.com/office/drawing/2014/main" id="{67E7CE2A-A168-D279-FA09-28C70C91220B}"/>
              </a:ext>
            </a:extLst>
          </p:cNvPr>
          <p:cNvSpPr/>
          <p:nvPr/>
        </p:nvSpPr>
        <p:spPr>
          <a:xfrm rot="8100000">
            <a:off x="6384959" y="2658520"/>
            <a:ext cx="1338773" cy="1338773"/>
          </a:xfrm>
          <a:prstGeom prst="arc">
            <a:avLst>
              <a:gd name="adj1" fmla="val 16200000"/>
              <a:gd name="adj2" fmla="val 0"/>
            </a:avLst>
          </a:prstGeom>
          <a:noFill/>
          <a:ln w="9525" cap="flat" cmpd="sng">
            <a:solidFill>
              <a:srgbClr val="1A96D7"/>
            </a:solidFill>
            <a:prstDash val="solid"/>
            <a:round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3454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6BC6-0A97-55DA-7701-6496A3DA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60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The "Kernel Trick"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B80F9-DC4C-870A-8B31-B7027DDF3571}"/>
              </a:ext>
            </a:extLst>
          </p:cNvPr>
          <p:cNvSpPr txBox="1"/>
          <p:nvPr/>
        </p:nvSpPr>
        <p:spPr>
          <a:xfrm>
            <a:off x="1161142" y="1990589"/>
            <a:ext cx="1011645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The linear classifier relies on inner product between vector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If every data point is mapped into high-dimensional space via some transformation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then the inner product becomes: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PT Serif" panose="020A0603040505020204" pitchFamily="18" charset="0"/>
              </a:rPr>
              <a:t>A kernel function is a function that is equivalent to an inner product in some feature space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r>
              <a:rPr lang="en-IN" b="1" dirty="0">
                <a:latin typeface="PT Serif" panose="020A0603040505020204" pitchFamily="18" charset="77"/>
              </a:rPr>
              <a:t>One-line definition of Kernel:</a:t>
            </a:r>
          </a:p>
          <a:p>
            <a:endParaRPr lang="en-IN" b="1" dirty="0">
              <a:latin typeface="PT Serif" panose="020A0603040505020204" pitchFamily="18" charset="77"/>
            </a:endParaRPr>
          </a:p>
          <a:p>
            <a:r>
              <a:rPr lang="en-IN" b="1" dirty="0">
                <a:latin typeface="PT Serif" panose="020A0603040505020204" pitchFamily="18" charset="77"/>
              </a:rPr>
              <a:t>A kernel function computes similarity between data points in an implicit higher-dimensional feature space, avoiding the need to transform the data explicitly.</a:t>
            </a:r>
            <a:endParaRPr lang="en-IN" dirty="0">
              <a:latin typeface="PT Serif" panose="020A0603040505020204" pitchFamily="18" charset="77"/>
            </a:endParaRPr>
          </a:p>
        </p:txBody>
      </p:sp>
      <p:sp>
        <p:nvSpPr>
          <p:cNvPr id="5" name="Google Shape;1403;p121">
            <a:extLst>
              <a:ext uri="{FF2B5EF4-FFF2-40B4-BE49-F238E27FC236}">
                <a16:creationId xmlns:a16="http://schemas.microsoft.com/office/drawing/2014/main" id="{18C3FA2E-B765-83C3-072E-B047EDE87B17}"/>
              </a:ext>
            </a:extLst>
          </p:cNvPr>
          <p:cNvSpPr/>
          <p:nvPr/>
        </p:nvSpPr>
        <p:spPr>
          <a:xfrm>
            <a:off x="4876800" y="2590800"/>
            <a:ext cx="1981200" cy="585291"/>
          </a:xfrm>
          <a:prstGeom prst="rect">
            <a:avLst/>
          </a:prstGeom>
          <a:blipFill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l="-212000" t="-113189" r="-209311" b="-73062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6" name="Google Shape;1403;p121">
            <a:extLst>
              <a:ext uri="{FF2B5EF4-FFF2-40B4-BE49-F238E27FC236}">
                <a16:creationId xmlns:a16="http://schemas.microsoft.com/office/drawing/2014/main" id="{A330FC3B-6C4F-7261-AC3B-8CFFEF05A2F9}"/>
              </a:ext>
            </a:extLst>
          </p:cNvPr>
          <p:cNvSpPr/>
          <p:nvPr/>
        </p:nvSpPr>
        <p:spPr>
          <a:xfrm>
            <a:off x="9925958" y="3276600"/>
            <a:ext cx="1295400" cy="457200"/>
          </a:xfrm>
          <a:prstGeom prst="rect">
            <a:avLst/>
          </a:prstGeom>
          <a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l="-127198" t="-499085" r="-466622" b="-60188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  <p:sp>
        <p:nvSpPr>
          <p:cNvPr id="7" name="Google Shape;1403;p121">
            <a:extLst>
              <a:ext uri="{FF2B5EF4-FFF2-40B4-BE49-F238E27FC236}">
                <a16:creationId xmlns:a16="http://schemas.microsoft.com/office/drawing/2014/main" id="{FC7337FB-A658-B9E5-8B85-6799BB5FC749}"/>
              </a:ext>
            </a:extLst>
          </p:cNvPr>
          <p:cNvSpPr/>
          <p:nvPr/>
        </p:nvSpPr>
        <p:spPr>
          <a:xfrm>
            <a:off x="3962400" y="4575196"/>
            <a:ext cx="3201307" cy="457200"/>
          </a:xfrm>
          <a:prstGeom prst="rect">
            <a:avLst/>
          </a:prstGeom>
          <a:blipFill rotWithShape="1">
            <a:blip r:embed="rId4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 l="-151368" t="-716123" r="-146790" b="-3276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 </a:t>
            </a:r>
            <a:endParaRPr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5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42D-03EE-4102-110F-F0EA2298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47" y="555290"/>
            <a:ext cx="13656055" cy="569387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The "Kernel Trick"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73FB9A3-198F-864C-47A4-3EB1AC6B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047" y="1371600"/>
            <a:ext cx="7670690" cy="6696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2-dimensional vector x = [ x₁ x₂ ] 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Let   K(xᵢ, xⱼ) = (1 + xᵢᵀ xⱼ)²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Need to show that   K(xᵢ, xⱼ) = φ(xᵢ)ᵀ φ(xⱼ)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Thus, a kernel function implicitly maps data to a high-dimensional space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T Serif" panose="020A0603040505020204" pitchFamily="18" charset="0"/>
              </a:rPr>
              <a:t>(without the need to compute each φ(x) explicitly).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T Serif" panose="020A0603040505020204" pitchFamily="18" charset="0"/>
            </a:endParaRPr>
          </a:p>
        </p:txBody>
      </p:sp>
      <p:sp>
        <p:nvSpPr>
          <p:cNvPr id="10" name="Google Shape;1411;p122">
            <a:extLst>
              <a:ext uri="{FF2B5EF4-FFF2-40B4-BE49-F238E27FC236}">
                <a16:creationId xmlns:a16="http://schemas.microsoft.com/office/drawing/2014/main" id="{C57D2FC1-E32E-22BD-93A0-92F6C263A5D8}"/>
              </a:ext>
            </a:extLst>
          </p:cNvPr>
          <p:cNvSpPr/>
          <p:nvPr/>
        </p:nvSpPr>
        <p:spPr>
          <a:xfrm>
            <a:off x="1981200" y="3581400"/>
            <a:ext cx="6169026" cy="2743200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Open Sans Light"/>
                <a:ea typeface="Open Sans Light"/>
                <a:cs typeface="Open Sans Light"/>
                <a:sym typeface="Open Sans Light"/>
              </a:rPr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85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DE875-78F1-1B91-E8CF-B40C1574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07996"/>
          </a:xfrm>
        </p:spPr>
        <p:txBody>
          <a:bodyPr/>
          <a:lstStyle/>
          <a:p>
            <a:pPr rtl="0"/>
            <a:r>
              <a:rPr lang="en-US" sz="3600" dirty="0">
                <a:solidFill>
                  <a:schemeClr val="tx1"/>
                </a:solidFill>
              </a:rPr>
              <a:t>Examples of Kernel Functions</a:t>
            </a:r>
            <a:br>
              <a:rPr lang="en-US" sz="3600" b="1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Google Shape;1417;p123">
            <a:extLst>
              <a:ext uri="{FF2B5EF4-FFF2-40B4-BE49-F238E27FC236}">
                <a16:creationId xmlns:a16="http://schemas.microsoft.com/office/drawing/2014/main" id="{67992735-E500-0C7D-745D-383CB9B187D8}"/>
              </a:ext>
            </a:extLst>
          </p:cNvPr>
          <p:cNvSpPr txBox="1">
            <a:spLocks/>
          </p:cNvSpPr>
          <p:nvPr/>
        </p:nvSpPr>
        <p:spPr>
          <a:xfrm>
            <a:off x="3429000" y="432287"/>
            <a:ext cx="8229600" cy="81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ea typeface="+mj-ea"/>
                <a:cs typeface="Lucida Sans Unicode"/>
              </a:defRPr>
            </a:lvl1pPr>
          </a:lstStyle>
          <a:p>
            <a:pPr algn="ctr" rtl="0">
              <a:lnSpc>
                <a:spcPct val="86000"/>
              </a:lnSpc>
              <a:buClr>
                <a:schemeClr val="accent1"/>
              </a:buClr>
              <a:buSzPts val="3200"/>
              <a:buFont typeface="Open Sans Light"/>
              <a:buNone/>
            </a:pPr>
            <a:endParaRPr lang="en-US" sz="1800" b="1" dirty="0">
              <a:solidFill>
                <a:schemeClr val="tx1"/>
              </a:solidFill>
            </a:endParaRPr>
          </a:p>
        </p:txBody>
      </p:sp>
      <p:grpSp>
        <p:nvGrpSpPr>
          <p:cNvPr id="4" name="Google Shape;1418;p123">
            <a:extLst>
              <a:ext uri="{FF2B5EF4-FFF2-40B4-BE49-F238E27FC236}">
                <a16:creationId xmlns:a16="http://schemas.microsoft.com/office/drawing/2014/main" id="{6AAAB8C2-DDAB-B39A-C22B-52F1A3E7FBB8}"/>
              </a:ext>
            </a:extLst>
          </p:cNvPr>
          <p:cNvGrpSpPr/>
          <p:nvPr/>
        </p:nvGrpSpPr>
        <p:grpSpPr>
          <a:xfrm>
            <a:off x="4495800" y="1273857"/>
            <a:ext cx="6096000" cy="5042923"/>
            <a:chOff x="1524000" y="1352038"/>
            <a:chExt cx="6096000" cy="5042923"/>
          </a:xfrm>
        </p:grpSpPr>
        <p:sp>
          <p:nvSpPr>
            <p:cNvPr id="5" name="Google Shape;1419;p123">
              <a:extLst>
                <a:ext uri="{FF2B5EF4-FFF2-40B4-BE49-F238E27FC236}">
                  <a16:creationId xmlns:a16="http://schemas.microsoft.com/office/drawing/2014/main" id="{16C70DF9-855D-BA05-E402-7FCEF26B2748}"/>
                </a:ext>
              </a:extLst>
            </p:cNvPr>
            <p:cNvSpPr/>
            <p:nvPr/>
          </p:nvSpPr>
          <p:spPr>
            <a:xfrm>
              <a:off x="1524000" y="1451994"/>
              <a:ext cx="6096000" cy="1014300"/>
            </a:xfrm>
            <a:custGeom>
              <a:avLst/>
              <a:gdLst/>
              <a:ahLst/>
              <a:cxnLst/>
              <a:rect l="l" t="t" r="r" b="b"/>
              <a:pathLst>
                <a:path w="6096000" h="10143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1014300"/>
                  </a:lnTo>
                  <a:lnTo>
                    <a:pt x="0" y="10143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5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9525" cap="flat" cmpd="sng">
              <a:solidFill>
                <a:srgbClr val="E8F5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6" name="Google Shape;1420;p123">
              <a:extLst>
                <a:ext uri="{FF2B5EF4-FFF2-40B4-BE49-F238E27FC236}">
                  <a16:creationId xmlns:a16="http://schemas.microsoft.com/office/drawing/2014/main" id="{003078D7-BE5B-1D78-601C-E66F4F87147B}"/>
                </a:ext>
              </a:extLst>
            </p:cNvPr>
            <p:cNvSpPr/>
            <p:nvPr/>
          </p:nvSpPr>
          <p:spPr>
            <a:xfrm>
              <a:off x="1828800" y="1352038"/>
              <a:ext cx="4267200" cy="513235"/>
            </a:xfrm>
            <a:custGeom>
              <a:avLst/>
              <a:gdLst/>
              <a:ahLst/>
              <a:cxnLst/>
              <a:rect l="l" t="t" r="r" b="b"/>
              <a:pathLst>
                <a:path w="4267200" h="513235" extrusionOk="0">
                  <a:moveTo>
                    <a:pt x="0" y="85541"/>
                  </a:moveTo>
                  <a:cubicBezTo>
                    <a:pt x="0" y="38298"/>
                    <a:pt x="38298" y="0"/>
                    <a:pt x="85541" y="0"/>
                  </a:cubicBezTo>
                  <a:lnTo>
                    <a:pt x="4181659" y="0"/>
                  </a:lnTo>
                  <a:cubicBezTo>
                    <a:pt x="4228902" y="0"/>
                    <a:pt x="4267200" y="38298"/>
                    <a:pt x="4267200" y="85541"/>
                  </a:cubicBezTo>
                  <a:lnTo>
                    <a:pt x="4267200" y="427694"/>
                  </a:lnTo>
                  <a:cubicBezTo>
                    <a:pt x="4267200" y="474937"/>
                    <a:pt x="4228902" y="513235"/>
                    <a:pt x="4181659" y="513235"/>
                  </a:cubicBezTo>
                  <a:lnTo>
                    <a:pt x="85541" y="513235"/>
                  </a:lnTo>
                  <a:cubicBezTo>
                    <a:pt x="38298" y="513235"/>
                    <a:pt x="0" y="474937"/>
                    <a:pt x="0" y="427694"/>
                  </a:cubicBezTo>
                  <a:lnTo>
                    <a:pt x="0" y="85541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6325" tIns="25050" rIns="186325" bIns="250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Linear</a:t>
              </a: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 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Google Shape;1421;p123">
              <a:extLst>
                <a:ext uri="{FF2B5EF4-FFF2-40B4-BE49-F238E27FC236}">
                  <a16:creationId xmlns:a16="http://schemas.microsoft.com/office/drawing/2014/main" id="{D4E499C7-D2C5-5ED1-A1DD-C62FA40516BA}"/>
                </a:ext>
              </a:extLst>
            </p:cNvPr>
            <p:cNvSpPr/>
            <p:nvPr/>
          </p:nvSpPr>
          <p:spPr>
            <a:xfrm>
              <a:off x="1524000" y="2717449"/>
              <a:ext cx="6096000" cy="992250"/>
            </a:xfrm>
            <a:custGeom>
              <a:avLst/>
              <a:gdLst/>
              <a:ahLst/>
              <a:cxnLst/>
              <a:rect l="l" t="t" r="r" b="b"/>
              <a:pathLst>
                <a:path w="6096000" h="99225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992250"/>
                  </a:lnTo>
                  <a:lnTo>
                    <a:pt x="0" y="9922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5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9525" cap="flat" cmpd="sng">
              <a:solidFill>
                <a:srgbClr val="E8F5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8" name="Google Shape;1422;p123">
              <a:extLst>
                <a:ext uri="{FF2B5EF4-FFF2-40B4-BE49-F238E27FC236}">
                  <a16:creationId xmlns:a16="http://schemas.microsoft.com/office/drawing/2014/main" id="{F25FF8D4-9199-DA54-005D-01D539E47571}"/>
                </a:ext>
              </a:extLst>
            </p:cNvPr>
            <p:cNvSpPr/>
            <p:nvPr/>
          </p:nvSpPr>
          <p:spPr>
            <a:xfrm>
              <a:off x="1828800" y="2617494"/>
              <a:ext cx="4267200" cy="513235"/>
            </a:xfrm>
            <a:custGeom>
              <a:avLst/>
              <a:gdLst/>
              <a:ahLst/>
              <a:cxnLst/>
              <a:rect l="l" t="t" r="r" b="b"/>
              <a:pathLst>
                <a:path w="4267200" h="513235" extrusionOk="0">
                  <a:moveTo>
                    <a:pt x="0" y="85541"/>
                  </a:moveTo>
                  <a:cubicBezTo>
                    <a:pt x="0" y="38298"/>
                    <a:pt x="38298" y="0"/>
                    <a:pt x="85541" y="0"/>
                  </a:cubicBezTo>
                  <a:lnTo>
                    <a:pt x="4181659" y="0"/>
                  </a:lnTo>
                  <a:cubicBezTo>
                    <a:pt x="4228902" y="0"/>
                    <a:pt x="4267200" y="38298"/>
                    <a:pt x="4267200" y="85541"/>
                  </a:cubicBezTo>
                  <a:lnTo>
                    <a:pt x="4267200" y="427694"/>
                  </a:lnTo>
                  <a:cubicBezTo>
                    <a:pt x="4267200" y="474937"/>
                    <a:pt x="4228902" y="513235"/>
                    <a:pt x="4181659" y="513235"/>
                  </a:cubicBezTo>
                  <a:lnTo>
                    <a:pt x="85541" y="513235"/>
                  </a:lnTo>
                  <a:cubicBezTo>
                    <a:pt x="38298" y="513235"/>
                    <a:pt x="0" y="474937"/>
                    <a:pt x="0" y="427694"/>
                  </a:cubicBezTo>
                  <a:lnTo>
                    <a:pt x="0" y="85541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Mapping</a:t>
              </a:r>
              <a:r>
                <a:rPr kumimoji="0" lang="en-US" altLang="en-US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T Serif" panose="020A0603040505020204" pitchFamily="18" charset="0"/>
                </a:rPr>
                <a:t> φ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9" name="Google Shape;1423;p123">
              <a:extLst>
                <a:ext uri="{FF2B5EF4-FFF2-40B4-BE49-F238E27FC236}">
                  <a16:creationId xmlns:a16="http://schemas.microsoft.com/office/drawing/2014/main" id="{B34D3A99-9AA8-0C37-B54C-DE393EA600BE}"/>
                </a:ext>
              </a:extLst>
            </p:cNvPr>
            <p:cNvSpPr/>
            <p:nvPr/>
          </p:nvSpPr>
          <p:spPr>
            <a:xfrm>
              <a:off x="1524000" y="3960855"/>
              <a:ext cx="6096000" cy="1014300"/>
            </a:xfrm>
            <a:custGeom>
              <a:avLst/>
              <a:gdLst/>
              <a:ahLst/>
              <a:cxnLst/>
              <a:rect l="l" t="t" r="r" b="b"/>
              <a:pathLst>
                <a:path w="6096000" h="10143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1014300"/>
                  </a:lnTo>
                  <a:lnTo>
                    <a:pt x="0" y="10143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harpenSoften amount="5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9525" cap="flat" cmpd="sng">
              <a:solidFill>
                <a:srgbClr val="E8F5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Google Shape;1424;p123">
              <a:extLst>
                <a:ext uri="{FF2B5EF4-FFF2-40B4-BE49-F238E27FC236}">
                  <a16:creationId xmlns:a16="http://schemas.microsoft.com/office/drawing/2014/main" id="{2B544EA8-D96F-636A-F06F-9D851089A39F}"/>
                </a:ext>
              </a:extLst>
            </p:cNvPr>
            <p:cNvSpPr/>
            <p:nvPr/>
          </p:nvSpPr>
          <p:spPr>
            <a:xfrm>
              <a:off x="1828800" y="3860900"/>
              <a:ext cx="4267200" cy="513235"/>
            </a:xfrm>
            <a:custGeom>
              <a:avLst/>
              <a:gdLst/>
              <a:ahLst/>
              <a:cxnLst/>
              <a:rect l="l" t="t" r="r" b="b"/>
              <a:pathLst>
                <a:path w="4267200" h="513235" extrusionOk="0">
                  <a:moveTo>
                    <a:pt x="0" y="85541"/>
                  </a:moveTo>
                  <a:cubicBezTo>
                    <a:pt x="0" y="38298"/>
                    <a:pt x="38298" y="0"/>
                    <a:pt x="85541" y="0"/>
                  </a:cubicBezTo>
                  <a:lnTo>
                    <a:pt x="4181659" y="0"/>
                  </a:lnTo>
                  <a:cubicBezTo>
                    <a:pt x="4228902" y="0"/>
                    <a:pt x="4267200" y="38298"/>
                    <a:pt x="4267200" y="85541"/>
                  </a:cubicBezTo>
                  <a:lnTo>
                    <a:pt x="4267200" y="427694"/>
                  </a:lnTo>
                  <a:cubicBezTo>
                    <a:pt x="4267200" y="474937"/>
                    <a:pt x="4228902" y="513235"/>
                    <a:pt x="4181659" y="513235"/>
                  </a:cubicBezTo>
                  <a:lnTo>
                    <a:pt x="85541" y="513235"/>
                  </a:lnTo>
                  <a:cubicBezTo>
                    <a:pt x="38298" y="513235"/>
                    <a:pt x="0" y="474937"/>
                    <a:pt x="0" y="427694"/>
                  </a:cubicBezTo>
                  <a:lnTo>
                    <a:pt x="0" y="85541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Polynomial of power </a:t>
              </a: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ρ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1" name="Google Shape;1425;p123">
              <a:extLst>
                <a:ext uri="{FF2B5EF4-FFF2-40B4-BE49-F238E27FC236}">
                  <a16:creationId xmlns:a16="http://schemas.microsoft.com/office/drawing/2014/main" id="{BCAA38B2-0A84-8113-C2D2-3678CE99EBDA}"/>
                </a:ext>
              </a:extLst>
            </p:cNvPr>
            <p:cNvSpPr/>
            <p:nvPr/>
          </p:nvSpPr>
          <p:spPr>
            <a:xfrm>
              <a:off x="1524000" y="5226311"/>
              <a:ext cx="6096000" cy="1168650"/>
            </a:xfrm>
            <a:custGeom>
              <a:avLst/>
              <a:gdLst/>
              <a:ahLst/>
              <a:cxnLst/>
              <a:rect l="l" t="t" r="r" b="b"/>
              <a:pathLst>
                <a:path w="6096000" h="116865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1168650"/>
                  </a:lnTo>
                  <a:lnTo>
                    <a:pt x="0" y="11686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5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a:blipFill>
            <a:ln w="9525" cap="flat" cmpd="sng">
              <a:solidFill>
                <a:srgbClr val="E8F5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 </a:t>
              </a:r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2" name="Google Shape;1426;p123">
              <a:extLst>
                <a:ext uri="{FF2B5EF4-FFF2-40B4-BE49-F238E27FC236}">
                  <a16:creationId xmlns:a16="http://schemas.microsoft.com/office/drawing/2014/main" id="{BADA2D2A-D484-D63A-3975-952F12C5350A}"/>
                </a:ext>
              </a:extLst>
            </p:cNvPr>
            <p:cNvSpPr/>
            <p:nvPr/>
          </p:nvSpPr>
          <p:spPr>
            <a:xfrm>
              <a:off x="1828800" y="5126355"/>
              <a:ext cx="4267200" cy="513235"/>
            </a:xfrm>
            <a:custGeom>
              <a:avLst/>
              <a:gdLst/>
              <a:ahLst/>
              <a:cxnLst/>
              <a:rect l="l" t="t" r="r" b="b"/>
              <a:pathLst>
                <a:path w="4267200" h="513235" extrusionOk="0">
                  <a:moveTo>
                    <a:pt x="0" y="85541"/>
                  </a:moveTo>
                  <a:cubicBezTo>
                    <a:pt x="0" y="38298"/>
                    <a:pt x="38298" y="0"/>
                    <a:pt x="85541" y="0"/>
                  </a:cubicBezTo>
                  <a:lnTo>
                    <a:pt x="4181659" y="0"/>
                  </a:lnTo>
                  <a:cubicBezTo>
                    <a:pt x="4228902" y="0"/>
                    <a:pt x="4267200" y="38298"/>
                    <a:pt x="4267200" y="85541"/>
                  </a:cubicBezTo>
                  <a:lnTo>
                    <a:pt x="4267200" y="427694"/>
                  </a:lnTo>
                  <a:cubicBezTo>
                    <a:pt x="4267200" y="474937"/>
                    <a:pt x="4228902" y="513235"/>
                    <a:pt x="4181659" y="513235"/>
                  </a:cubicBezTo>
                  <a:lnTo>
                    <a:pt x="85541" y="513235"/>
                  </a:lnTo>
                  <a:cubicBezTo>
                    <a:pt x="38298" y="513235"/>
                    <a:pt x="0" y="474937"/>
                    <a:pt x="0" y="427694"/>
                  </a:cubicBezTo>
                  <a:lnTo>
                    <a:pt x="0" y="85541"/>
                  </a:lnTo>
                  <a:close/>
                </a:path>
              </a:pathLst>
            </a:custGeom>
            <a:solidFill>
              <a:schemeClr val="lt1"/>
            </a:solidFill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6325" tIns="25050" rIns="186325" bIns="250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Open Sans Light"/>
                  <a:cs typeface="Open Sans Light"/>
                  <a:sym typeface="Open Sans Light"/>
                </a:rPr>
                <a:t>Gaussian (Radial basis function)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1376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0729EB-4F55-B999-FCE0-19F94055BDA0}"/>
              </a:ext>
            </a:extLst>
          </p:cNvPr>
          <p:cNvSpPr/>
          <p:nvPr/>
        </p:nvSpPr>
        <p:spPr>
          <a:xfrm>
            <a:off x="1600200" y="5715001"/>
            <a:ext cx="5512216" cy="4571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A47268-64C9-CF28-1BD3-C42554ACCDC3}"/>
              </a:ext>
            </a:extLst>
          </p:cNvPr>
          <p:cNvSpPr/>
          <p:nvPr/>
        </p:nvSpPr>
        <p:spPr>
          <a:xfrm>
            <a:off x="1527378" y="2154729"/>
            <a:ext cx="5867200" cy="7831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DD59B-0902-91F2-78B3-5A2BECD6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277116"/>
            <a:ext cx="13656055" cy="553998"/>
          </a:xfrm>
        </p:spPr>
        <p:txBody>
          <a:bodyPr/>
          <a:lstStyle/>
          <a:p>
            <a:pPr rtl="0"/>
            <a:r>
              <a:rPr lang="en-US" sz="3600" dirty="0"/>
              <a:t>SVM in Python</a:t>
            </a:r>
            <a:endParaRPr lang="en-IN" sz="3600" dirty="0"/>
          </a:p>
        </p:txBody>
      </p:sp>
      <p:sp>
        <p:nvSpPr>
          <p:cNvPr id="5" name="Google Shape;1488;p128">
            <a:extLst>
              <a:ext uri="{FF2B5EF4-FFF2-40B4-BE49-F238E27FC236}">
                <a16:creationId xmlns:a16="http://schemas.microsoft.com/office/drawing/2014/main" id="{1597C199-C29E-7C48-C475-CE93F9307BCB}"/>
              </a:ext>
            </a:extLst>
          </p:cNvPr>
          <p:cNvSpPr/>
          <p:nvPr/>
        </p:nvSpPr>
        <p:spPr>
          <a:xfrm>
            <a:off x="1735010" y="1108113"/>
            <a:ext cx="10033633" cy="641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Model fitting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svclassifier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 = 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SVC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kernel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='linear',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probability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=True)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svclassifier.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fit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(X_train, </a:t>
            </a:r>
            <a:r>
              <a:rPr lang="en-US" b="0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y_train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0" dirty="0">
              <a:solidFill>
                <a:schemeClr val="tx1"/>
              </a:solidFill>
              <a:latin typeface="PT Serif" panose="020A0603040505020204" pitchFamily="18" charset="0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algn="l" rtl="0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sym typeface="Consolas"/>
            </a:endParaRPr>
          </a:p>
          <a:p>
            <a:pPr algn="l" rtl="0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# Predicted Probabilities</a:t>
            </a:r>
          </a:p>
          <a:p>
            <a:pPr algn="l" rtl="0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  <a:ea typeface="Consolas"/>
              <a:cs typeface="Consolas"/>
              <a:sym typeface="Consolas"/>
            </a:endParaRPr>
          </a:p>
          <a:p>
            <a:pPr algn="l" rtl="0">
              <a:lnSpc>
                <a:spcPct val="150000"/>
              </a:lnSpc>
            </a:pP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predprob_test = svclassifier.</a:t>
            </a:r>
            <a:r>
              <a:rPr lang="en-US" b="1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predict_proba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(</a:t>
            </a:r>
            <a:r>
              <a:rPr lang="en-US" b="0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X_test</a:t>
            </a:r>
            <a:r>
              <a:rPr lang="en-US" b="0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id="6" name="Google Shape;1489;p128">
            <a:extLst>
              <a:ext uri="{FF2B5EF4-FFF2-40B4-BE49-F238E27FC236}">
                <a16:creationId xmlns:a16="http://schemas.microsoft.com/office/drawing/2014/main" id="{C017B305-7F9D-D60E-A8C5-06C86443F4E0}"/>
              </a:ext>
            </a:extLst>
          </p:cNvPr>
          <p:cNvGrpSpPr/>
          <p:nvPr/>
        </p:nvGrpSpPr>
        <p:grpSpPr>
          <a:xfrm>
            <a:off x="3000995" y="3041593"/>
            <a:ext cx="6846774" cy="1274272"/>
            <a:chOff x="2710581" y="2345906"/>
            <a:chExt cx="6563434" cy="1096200"/>
          </a:xfrm>
        </p:grpSpPr>
        <p:sp>
          <p:nvSpPr>
            <p:cNvPr id="7" name="Google Shape;1490;p128">
              <a:extLst>
                <a:ext uri="{FF2B5EF4-FFF2-40B4-BE49-F238E27FC236}">
                  <a16:creationId xmlns:a16="http://schemas.microsoft.com/office/drawing/2014/main" id="{71921C2C-33CB-BCEC-6113-E358D0BB10D8}"/>
                </a:ext>
              </a:extLst>
            </p:cNvPr>
            <p:cNvSpPr/>
            <p:nvPr/>
          </p:nvSpPr>
          <p:spPr>
            <a:xfrm>
              <a:off x="3649615" y="2345906"/>
              <a:ext cx="5624400" cy="109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807E84"/>
                </a:buClr>
                <a:buSzPts val="1600"/>
                <a:buFont typeface="Wingdings" panose="05000000000000000000" pitchFamily="2" charset="2"/>
                <a:buChar char="q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svc()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 trains a support vector machine. 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rgbClr val="807E84"/>
                </a:buClr>
                <a:buSzPts val="1600"/>
                <a:buFont typeface="Wingdings" panose="05000000000000000000" pitchFamily="2" charset="2"/>
                <a:buChar char="q"/>
              </a:pPr>
              <a:r>
                <a:rPr lang="en-US" b="1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kernel= 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specifies the kernel type to be used in the algorithm‘(linear’, ‘poly’, ‘</a:t>
              </a:r>
              <a:r>
                <a:rPr lang="en-US" dirty="0" err="1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rbf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’, ‘sigmoid’, ‘precomputed’). </a:t>
              </a:r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cxnSp>
          <p:nvCxnSpPr>
            <p:cNvPr id="8" name="Google Shape;1491;p128">
              <a:extLst>
                <a:ext uri="{FF2B5EF4-FFF2-40B4-BE49-F238E27FC236}">
                  <a16:creationId xmlns:a16="http://schemas.microsoft.com/office/drawing/2014/main" id="{61385744-CCD5-D6B2-8C58-51EEA2727F3E}"/>
                </a:ext>
              </a:extLst>
            </p:cNvPr>
            <p:cNvCxnSpPr/>
            <p:nvPr/>
          </p:nvCxnSpPr>
          <p:spPr>
            <a:xfrm rot="10800000">
              <a:off x="2710581" y="2387771"/>
              <a:ext cx="0" cy="41652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" name="Google Shape;1492;p128">
              <a:extLst>
                <a:ext uri="{FF2B5EF4-FFF2-40B4-BE49-F238E27FC236}">
                  <a16:creationId xmlns:a16="http://schemas.microsoft.com/office/drawing/2014/main" id="{D6481385-A2A2-A58B-C5D4-90398FA1FE7E}"/>
                </a:ext>
              </a:extLst>
            </p:cNvPr>
            <p:cNvCxnSpPr/>
            <p:nvPr/>
          </p:nvCxnSpPr>
          <p:spPr>
            <a:xfrm rot="10800000">
              <a:off x="2710582" y="2804292"/>
              <a:ext cx="939033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3" name="Google Shape;1489;p128">
            <a:extLst>
              <a:ext uri="{FF2B5EF4-FFF2-40B4-BE49-F238E27FC236}">
                <a16:creationId xmlns:a16="http://schemas.microsoft.com/office/drawing/2014/main" id="{75803611-3580-D590-5043-F644E57B16A5}"/>
              </a:ext>
            </a:extLst>
          </p:cNvPr>
          <p:cNvGrpSpPr/>
          <p:nvPr/>
        </p:nvGrpSpPr>
        <p:grpSpPr>
          <a:xfrm>
            <a:off x="5591795" y="6096000"/>
            <a:ext cx="6846774" cy="1536968"/>
            <a:chOff x="2710581" y="2387771"/>
            <a:chExt cx="6563434" cy="1322186"/>
          </a:xfrm>
        </p:grpSpPr>
        <p:sp>
          <p:nvSpPr>
            <p:cNvPr id="14" name="Google Shape;1490;p128">
              <a:extLst>
                <a:ext uri="{FF2B5EF4-FFF2-40B4-BE49-F238E27FC236}">
                  <a16:creationId xmlns:a16="http://schemas.microsoft.com/office/drawing/2014/main" id="{67198637-4F2E-C3F3-3AE8-80624CEAA9E5}"/>
                </a:ext>
              </a:extLst>
            </p:cNvPr>
            <p:cNvSpPr/>
            <p:nvPr/>
          </p:nvSpPr>
          <p:spPr>
            <a:xfrm>
              <a:off x="3649615" y="2613757"/>
              <a:ext cx="5624400" cy="109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285750" indent="-285750" algn="l" rtl="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dirty="0" err="1">
                  <a:solidFill>
                    <a:schemeClr val="tx1"/>
                  </a:solidFill>
                  <a:latin typeface="PT Serif" panose="020A0603040505020204" pitchFamily="18" charset="0"/>
                  <a:sym typeface="Arial"/>
                </a:rPr>
                <a:t>predict_proba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sym typeface="Arial"/>
                </a:rPr>
                <a:t>() returns predicted probabilities for </a:t>
              </a:r>
              <a:r>
                <a:rPr lang="en-US" dirty="0">
                  <a:solidFill>
                    <a:schemeClr val="tx1"/>
                  </a:solidFill>
                  <a:latin typeface="PT Serif" panose="020A0603040505020204" pitchFamily="18" charset="0"/>
                  <a:ea typeface="Arial"/>
                  <a:cs typeface="Arial"/>
                  <a:sym typeface="Arial"/>
                </a:rPr>
                <a:t>the test data.</a:t>
              </a:r>
              <a:endParaRPr lang="en-US"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cxnSp>
          <p:nvCxnSpPr>
            <p:cNvPr id="17" name="Google Shape;1491;p128">
              <a:extLst>
                <a:ext uri="{FF2B5EF4-FFF2-40B4-BE49-F238E27FC236}">
                  <a16:creationId xmlns:a16="http://schemas.microsoft.com/office/drawing/2014/main" id="{FE7F00F0-027C-B351-CFAA-98F5AE418654}"/>
                </a:ext>
              </a:extLst>
            </p:cNvPr>
            <p:cNvCxnSpPr/>
            <p:nvPr/>
          </p:nvCxnSpPr>
          <p:spPr>
            <a:xfrm rot="10800000">
              <a:off x="2710581" y="2387771"/>
              <a:ext cx="0" cy="41652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" name="Google Shape;1492;p128">
              <a:extLst>
                <a:ext uri="{FF2B5EF4-FFF2-40B4-BE49-F238E27FC236}">
                  <a16:creationId xmlns:a16="http://schemas.microsoft.com/office/drawing/2014/main" id="{17F33BFC-1FC6-7B9B-1C97-9CEA6714C3F7}"/>
                </a:ext>
              </a:extLst>
            </p:cNvPr>
            <p:cNvCxnSpPr/>
            <p:nvPr/>
          </p:nvCxnSpPr>
          <p:spPr>
            <a:xfrm rot="10800000">
              <a:off x="2710582" y="2804292"/>
              <a:ext cx="939033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05637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3">
            <a:extLst>
              <a:ext uri="{FF2B5EF4-FFF2-40B4-BE49-F238E27FC236}">
                <a16:creationId xmlns:a16="http://schemas.microsoft.com/office/drawing/2014/main" id="{F54C17EE-DE21-D739-B860-B2F00BA672A1}"/>
              </a:ext>
            </a:extLst>
          </p:cNvPr>
          <p:cNvGrpSpPr/>
          <p:nvPr/>
        </p:nvGrpSpPr>
        <p:grpSpPr>
          <a:xfrm>
            <a:off x="7467600" y="2438400"/>
            <a:ext cx="6937973" cy="3820166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1DBFFC93-42CE-11AF-F5C2-4BACAE2D535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C2A3D7F9-9346-B423-36AA-D53E940DF747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F722783C-820C-74E7-BE68-58961DD56834}"/>
              </a:ext>
            </a:extLst>
          </p:cNvPr>
          <p:cNvGrpSpPr/>
          <p:nvPr/>
        </p:nvGrpSpPr>
        <p:grpSpPr>
          <a:xfrm>
            <a:off x="304800" y="2447314"/>
            <a:ext cx="6937973" cy="3820166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D987EEE9-9350-CECC-DD11-FE2B7E8147F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E9220D09-8F37-2BAD-EE16-FB21D36A4979}"/>
                </a:ext>
              </a:extLst>
            </p:cNvPr>
            <p:cNvSpPr/>
            <p:nvPr/>
          </p:nvSpPr>
          <p:spPr>
            <a:xfrm>
              <a:off x="816648" y="4654167"/>
              <a:ext cx="6391910" cy="68531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FEC513-DACE-F61F-B540-504BE936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80" y="609600"/>
            <a:ext cx="13656055" cy="1107996"/>
          </a:xfrm>
        </p:spPr>
        <p:txBody>
          <a:bodyPr/>
          <a:lstStyle/>
          <a:p>
            <a:pPr rtl="0"/>
            <a:r>
              <a:rPr lang="en-US" sz="3600" dirty="0">
                <a:solidFill>
                  <a:schemeClr val="tx1"/>
                </a:solidFill>
                <a:ea typeface="Open Sans Light"/>
                <a:cs typeface="Open Sans Light"/>
                <a:sym typeface="Open Sans Light"/>
              </a:rPr>
              <a:t>KEY TAKEWAYS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BFA00-0165-54B7-0E61-8ACDF142E429}"/>
              </a:ext>
            </a:extLst>
          </p:cNvPr>
          <p:cNvSpPr txBox="1"/>
          <p:nvPr/>
        </p:nvSpPr>
        <p:spPr>
          <a:xfrm>
            <a:off x="543183" y="2447314"/>
            <a:ext cx="6470466" cy="480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Support Vector Machines</a:t>
            </a:r>
          </a:p>
          <a:p>
            <a:pPr algn="ctr" rtl="0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  <a:p>
            <a:pPr marL="2857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SVMs find a hyper plane which separates the d-dimensional data perfectly into its classes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1" indent="-28575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i="0" u="none" strike="noStrike" cap="none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Since training data is often not linearly separable, SVM's introduce the notion of a “Kernel-induced Feature Space" which casts the data into a higher dimensional space where the data is separable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Open Sans Light"/>
              <a:buChar char="•"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 rtl="0"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D301C-BA95-9EF1-F097-395FFA92103B}"/>
              </a:ext>
            </a:extLst>
          </p:cNvPr>
          <p:cNvSpPr txBox="1"/>
          <p:nvPr/>
        </p:nvSpPr>
        <p:spPr>
          <a:xfrm>
            <a:off x="7782707" y="2447314"/>
            <a:ext cx="6470466" cy="364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SVM in Python</a:t>
            </a:r>
          </a:p>
          <a:p>
            <a:pPr algn="ctr" rtl="0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Library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“</a:t>
            </a:r>
            <a:r>
              <a:rPr lang="en-US" dirty="0" err="1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sklearn.svm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"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has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SVC()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that trains a support vector machine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07E84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The function takes arguments to specify whether 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Consolas"/>
                <a:cs typeface="Consolas"/>
                <a:sym typeface="Consolas"/>
              </a:rPr>
              <a:t>SVC()</a:t>
            </a: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 is to be used for classification or regression; if probabilities are to be returned and which kernel to use for training and predicting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D664F-390B-E48B-4477-00DE2D45B8AC}"/>
              </a:ext>
            </a:extLst>
          </p:cNvPr>
          <p:cNvSpPr txBox="1"/>
          <p:nvPr/>
        </p:nvSpPr>
        <p:spPr>
          <a:xfrm>
            <a:off x="941740" y="1579548"/>
            <a:ext cx="7315200" cy="46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PT Serif" panose="020A0603040505020204" pitchFamily="18" charset="0"/>
                <a:ea typeface="Open Sans Light"/>
                <a:cs typeface="Open Sans Light"/>
                <a:sym typeface="Open Sans Light"/>
              </a:rPr>
              <a:t>In this session, we learnt about Support Vector Machines:</a:t>
            </a:r>
          </a:p>
        </p:txBody>
      </p:sp>
    </p:spTree>
    <p:extLst>
      <p:ext uri="{BB962C8B-B14F-4D97-AF65-F5344CB8AC3E}">
        <p14:creationId xmlns:p14="http://schemas.microsoft.com/office/powerpoint/2010/main" val="229267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</TotalTime>
  <Words>897</Words>
  <Application>Microsoft Macintosh PowerPoint</Application>
  <PresentationFormat>Custom</PresentationFormat>
  <Paragraphs>162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Consolas</vt:lpstr>
      <vt:lpstr>Lucida Sans Unicode</vt:lpstr>
      <vt:lpstr>Open Sans Light</vt:lpstr>
      <vt:lpstr>PT Serif</vt:lpstr>
      <vt:lpstr>PT Serif Light</vt:lpstr>
      <vt:lpstr>Wingdings</vt:lpstr>
      <vt:lpstr>Office Theme</vt:lpstr>
      <vt:lpstr>PowerPoint Presentation</vt:lpstr>
      <vt:lpstr>Contents </vt:lpstr>
      <vt:lpstr>Introduction to Support Vector Machines</vt:lpstr>
      <vt:lpstr>What is a Hyper Plane</vt:lpstr>
      <vt:lpstr>Separating a Hyper Plane</vt:lpstr>
      <vt:lpstr>Linear Separators</vt:lpstr>
      <vt:lpstr>Classification Margin</vt:lpstr>
      <vt:lpstr>Maximum Margin Classification</vt:lpstr>
      <vt:lpstr>Mathematical Approach to Linear SVM</vt:lpstr>
      <vt:lpstr>Mathematical Approach to Linear SVM</vt:lpstr>
      <vt:lpstr>Non-Linear SVMs – Feature Spaces</vt:lpstr>
      <vt:lpstr>The "Kernel Trick"</vt:lpstr>
      <vt:lpstr>The "Kernel Trick"</vt:lpstr>
      <vt:lpstr>Examples of Kernel Functions </vt:lpstr>
      <vt:lpstr>SVM in Python</vt:lpstr>
      <vt:lpstr>KEY TAKEWAYS 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283</cp:revision>
  <dcterms:created xsi:type="dcterms:W3CDTF">2025-08-01T06:43:07Z</dcterms:created>
  <dcterms:modified xsi:type="dcterms:W3CDTF">2025-12-30T10:38:40Z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