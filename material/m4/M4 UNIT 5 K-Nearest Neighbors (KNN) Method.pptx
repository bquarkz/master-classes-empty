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74" r:id="rId2"/>
    <p:sldId id="315" r:id="rId3"/>
    <p:sldId id="300" r:id="rId4"/>
    <p:sldId id="303" r:id="rId5"/>
    <p:sldId id="316" r:id="rId6"/>
    <p:sldId id="292" r:id="rId7"/>
    <p:sldId id="317" r:id="rId8"/>
    <p:sldId id="318" r:id="rId9"/>
    <p:sldId id="319" r:id="rId10"/>
    <p:sldId id="306" r:id="rId11"/>
    <p:sldId id="320" r:id="rId12"/>
    <p:sldId id="323" r:id="rId13"/>
    <p:sldId id="321" r:id="rId14"/>
    <p:sldId id="322" r:id="rId15"/>
    <p:sldId id="307" r:id="rId16"/>
    <p:sldId id="324" r:id="rId17"/>
    <p:sldId id="325" r:id="rId18"/>
    <p:sldId id="304" r:id="rId19"/>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9"/>
  </p:normalViewPr>
  <p:slideViewPr>
    <p:cSldViewPr>
      <p:cViewPr varScale="1">
        <p:scale>
          <a:sx n="86" d="100"/>
          <a:sy n="86" d="100"/>
        </p:scale>
        <p:origin x="936"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14/12/25</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12</a:t>
            </a:fld>
            <a:endParaRPr lang="en-IN"/>
          </a:p>
        </p:txBody>
      </p:sp>
    </p:spTree>
    <p:extLst>
      <p:ext uri="{BB962C8B-B14F-4D97-AF65-F5344CB8AC3E}">
        <p14:creationId xmlns:p14="http://schemas.microsoft.com/office/powerpoint/2010/main" val="1279100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17</a:t>
            </a:fld>
            <a:endParaRPr lang="en-IN"/>
          </a:p>
        </p:txBody>
      </p:sp>
    </p:spTree>
    <p:extLst>
      <p:ext uri="{BB962C8B-B14F-4D97-AF65-F5344CB8AC3E}">
        <p14:creationId xmlns:p14="http://schemas.microsoft.com/office/powerpoint/2010/main" val="4236546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18</a:t>
            </a:fld>
            <a:endParaRPr lang="en-IN"/>
          </a:p>
        </p:txBody>
      </p:sp>
    </p:spTree>
    <p:extLst>
      <p:ext uri="{BB962C8B-B14F-4D97-AF65-F5344CB8AC3E}">
        <p14:creationId xmlns:p14="http://schemas.microsoft.com/office/powerpoint/2010/main" val="3728505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14/12/25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14/12/25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14/12/25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14/12/25</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3.xml"/><Relationship Id="rId5" Type="http://schemas.microsoft.com/office/2007/relationships/hdphoto" Target="../media/hdphoto3.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76536" y="2133600"/>
            <a:ext cx="705873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K-Nearest Neighbors Classifier</a:t>
            </a:r>
            <a:endParaRPr lang="en-US" sz="4100" dirty="0"/>
          </a:p>
        </p:txBody>
      </p:sp>
      <p:sp>
        <p:nvSpPr>
          <p:cNvPr id="22" name="Text 1">
            <a:extLst>
              <a:ext uri="{FF2B5EF4-FFF2-40B4-BE49-F238E27FC236}">
                <a16:creationId xmlns:a16="http://schemas.microsoft.com/office/drawing/2014/main" id="{34E7B785-51DF-6028-E343-20904A09A941}"/>
              </a:ext>
            </a:extLst>
          </p:cNvPr>
          <p:cNvSpPr/>
          <p:nvPr/>
        </p:nvSpPr>
        <p:spPr>
          <a:xfrm>
            <a:off x="776536" y="2590800"/>
            <a:ext cx="8074166" cy="651272"/>
          </a:xfrm>
          <a:prstGeom prst="rect">
            <a:avLst/>
          </a:prstGeom>
          <a:noFill/>
          <a:ln/>
        </p:spPr>
        <p:txBody>
          <a:bodyPr wrap="square" lIns="0" tIns="0" rIns="0" bIns="0" rtlCol="0" anchor="t"/>
          <a:lstStyle/>
          <a:p>
            <a:pPr marL="0" indent="0" algn="l">
              <a:lnSpc>
                <a:spcPts val="7050"/>
              </a:lnSpc>
              <a:buNone/>
            </a:pPr>
            <a:r>
              <a:rPr lang="en-US" sz="2000" dirty="0">
                <a:solidFill>
                  <a:srgbClr val="020202"/>
                </a:solidFill>
                <a:latin typeface="PT Serif" pitchFamily="34" charset="0"/>
                <a:ea typeface="PT Serif" pitchFamily="34" charset="-122"/>
                <a:cs typeface="PT Serif" pitchFamily="34" charset="-120"/>
              </a:rPr>
              <a:t>How a Simple Lazy Learning Algorithm Works</a:t>
            </a:r>
            <a:endParaRPr lang="en-US" sz="2000" dirty="0"/>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5143492-6174-36E0-18E9-2FBBD755D6BB}"/>
              </a:ext>
            </a:extLst>
          </p:cNvPr>
          <p:cNvSpPr/>
          <p:nvPr/>
        </p:nvSpPr>
        <p:spPr>
          <a:xfrm>
            <a:off x="793790" y="343316"/>
            <a:ext cx="4763333" cy="595432"/>
          </a:xfrm>
          <a:prstGeom prst="rect">
            <a:avLst/>
          </a:prstGeom>
          <a:noFill/>
          <a:ln/>
        </p:spPr>
        <p:txBody>
          <a:bodyPr wrap="none" lIns="0" tIns="0" rIns="0" bIns="0" rtlCol="0" anchor="t"/>
          <a:lstStyle/>
          <a:p>
            <a:pPr marL="0" indent="0" algn="l">
              <a:lnSpc>
                <a:spcPts val="4650"/>
              </a:lnSpc>
              <a:buNone/>
            </a:pPr>
            <a:endParaRPr lang="en-US" sz="3600" dirty="0">
              <a:latin typeface="PT Serif" panose="020A0603040505020204" pitchFamily="18" charset="0"/>
            </a:endParaRPr>
          </a:p>
        </p:txBody>
      </p:sp>
      <p:sp>
        <p:nvSpPr>
          <p:cNvPr id="4" name="Text 1">
            <a:extLst>
              <a:ext uri="{FF2B5EF4-FFF2-40B4-BE49-F238E27FC236}">
                <a16:creationId xmlns:a16="http://schemas.microsoft.com/office/drawing/2014/main" id="{7002694D-B466-CB52-F026-1DD37D9F698A}"/>
              </a:ext>
            </a:extLst>
          </p:cNvPr>
          <p:cNvSpPr/>
          <p:nvPr/>
        </p:nvSpPr>
        <p:spPr>
          <a:xfrm>
            <a:off x="793790" y="139237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01</a:t>
            </a:r>
            <a:endParaRPr lang="en-US" sz="1750" dirty="0">
              <a:latin typeface="PT Serif" panose="020A0603040505020204" pitchFamily="18" charset="0"/>
            </a:endParaRPr>
          </a:p>
        </p:txBody>
      </p:sp>
      <p:sp>
        <p:nvSpPr>
          <p:cNvPr id="5" name="Shape 2">
            <a:extLst>
              <a:ext uri="{FF2B5EF4-FFF2-40B4-BE49-F238E27FC236}">
                <a16:creationId xmlns:a16="http://schemas.microsoft.com/office/drawing/2014/main" id="{188AB240-6167-82F2-FA94-63561C77DE0F}"/>
              </a:ext>
            </a:extLst>
          </p:cNvPr>
          <p:cNvSpPr/>
          <p:nvPr/>
        </p:nvSpPr>
        <p:spPr>
          <a:xfrm>
            <a:off x="793790" y="1747420"/>
            <a:ext cx="6407944" cy="30480"/>
          </a:xfrm>
          <a:prstGeom prst="rect">
            <a:avLst/>
          </a:prstGeom>
          <a:solidFill>
            <a:srgbClr val="E04F00"/>
          </a:solidFill>
          <a:ln/>
        </p:spPr>
      </p:sp>
      <p:sp>
        <p:nvSpPr>
          <p:cNvPr id="6" name="Text 3">
            <a:extLst>
              <a:ext uri="{FF2B5EF4-FFF2-40B4-BE49-F238E27FC236}">
                <a16:creationId xmlns:a16="http://schemas.microsoft.com/office/drawing/2014/main" id="{0C47D2BD-5CB7-44FE-F117-50B7D5ECB0FD}"/>
              </a:ext>
            </a:extLst>
          </p:cNvPr>
          <p:cNvSpPr/>
          <p:nvPr/>
        </p:nvSpPr>
        <p:spPr>
          <a:xfrm>
            <a:off x="793790" y="1921728"/>
            <a:ext cx="4370308"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Introduction to K-Nearest Neighbors</a:t>
            </a:r>
            <a:endParaRPr lang="en-US" sz="2400" dirty="0">
              <a:latin typeface="PT Serif" panose="020A0603040505020204" pitchFamily="18" charset="0"/>
            </a:endParaRPr>
          </a:p>
        </p:txBody>
      </p:sp>
      <p:sp>
        <p:nvSpPr>
          <p:cNvPr id="7" name="Text 4">
            <a:extLst>
              <a:ext uri="{FF2B5EF4-FFF2-40B4-BE49-F238E27FC236}">
                <a16:creationId xmlns:a16="http://schemas.microsoft.com/office/drawing/2014/main" id="{28907FC8-FE83-1F57-EF45-DE3990BD36EF}"/>
              </a:ext>
            </a:extLst>
          </p:cNvPr>
          <p:cNvSpPr/>
          <p:nvPr/>
        </p:nvSpPr>
        <p:spPr>
          <a:xfrm>
            <a:off x="7428548" y="139237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02</a:t>
            </a:r>
            <a:endParaRPr lang="en-US" sz="1750" dirty="0">
              <a:latin typeface="PT Serif" panose="020A0603040505020204" pitchFamily="18" charset="0"/>
            </a:endParaRPr>
          </a:p>
        </p:txBody>
      </p:sp>
      <p:sp>
        <p:nvSpPr>
          <p:cNvPr id="8" name="Shape 5">
            <a:extLst>
              <a:ext uri="{FF2B5EF4-FFF2-40B4-BE49-F238E27FC236}">
                <a16:creationId xmlns:a16="http://schemas.microsoft.com/office/drawing/2014/main" id="{65DF9D55-4CF6-279E-67F3-7A9327F74C86}"/>
              </a:ext>
            </a:extLst>
          </p:cNvPr>
          <p:cNvSpPr/>
          <p:nvPr/>
        </p:nvSpPr>
        <p:spPr>
          <a:xfrm>
            <a:off x="7428548" y="1747420"/>
            <a:ext cx="6408063" cy="30480"/>
          </a:xfrm>
          <a:prstGeom prst="rect">
            <a:avLst/>
          </a:prstGeom>
          <a:solidFill>
            <a:srgbClr val="E04F00"/>
          </a:solidFill>
          <a:ln/>
        </p:spPr>
      </p:sp>
      <p:sp>
        <p:nvSpPr>
          <p:cNvPr id="9" name="Text 6">
            <a:extLst>
              <a:ext uri="{FF2B5EF4-FFF2-40B4-BE49-F238E27FC236}">
                <a16:creationId xmlns:a16="http://schemas.microsoft.com/office/drawing/2014/main" id="{C23EE2F6-2903-5323-369D-43F2EC693158}"/>
              </a:ext>
            </a:extLst>
          </p:cNvPr>
          <p:cNvSpPr/>
          <p:nvPr/>
        </p:nvSpPr>
        <p:spPr>
          <a:xfrm>
            <a:off x="7428548" y="1921728"/>
            <a:ext cx="4915852" cy="506016"/>
          </a:xfrm>
          <a:prstGeom prst="rect">
            <a:avLst/>
          </a:prstGeom>
          <a:noFill/>
          <a:ln/>
        </p:spPr>
        <p:txBody>
          <a:bodyPr wrap="non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How KNN Classification Works</a:t>
            </a:r>
            <a:endParaRPr lang="en-US" sz="2400" dirty="0">
              <a:latin typeface="PT Serif" panose="020A0603040505020204" pitchFamily="18" charset="0"/>
            </a:endParaRPr>
          </a:p>
        </p:txBody>
      </p:sp>
      <p:sp>
        <p:nvSpPr>
          <p:cNvPr id="10" name="Text 7">
            <a:extLst>
              <a:ext uri="{FF2B5EF4-FFF2-40B4-BE49-F238E27FC236}">
                <a16:creationId xmlns:a16="http://schemas.microsoft.com/office/drawing/2014/main" id="{515DC7FF-35A5-09A2-A7CA-2BFBEA5BBC9A}"/>
              </a:ext>
            </a:extLst>
          </p:cNvPr>
          <p:cNvSpPr/>
          <p:nvPr/>
        </p:nvSpPr>
        <p:spPr>
          <a:xfrm>
            <a:off x="793790" y="269063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03</a:t>
            </a:r>
            <a:endParaRPr lang="en-US" sz="1750" dirty="0">
              <a:latin typeface="PT Serif" panose="020A0603040505020204" pitchFamily="18" charset="0"/>
            </a:endParaRPr>
          </a:p>
        </p:txBody>
      </p:sp>
      <p:sp>
        <p:nvSpPr>
          <p:cNvPr id="11" name="Shape 8">
            <a:extLst>
              <a:ext uri="{FF2B5EF4-FFF2-40B4-BE49-F238E27FC236}">
                <a16:creationId xmlns:a16="http://schemas.microsoft.com/office/drawing/2014/main" id="{A7CBFAAF-3BC9-FDF2-B38D-B0ADE87930EB}"/>
              </a:ext>
            </a:extLst>
          </p:cNvPr>
          <p:cNvSpPr/>
          <p:nvPr/>
        </p:nvSpPr>
        <p:spPr>
          <a:xfrm>
            <a:off x="793790" y="3045678"/>
            <a:ext cx="6407944" cy="30480"/>
          </a:xfrm>
          <a:prstGeom prst="rect">
            <a:avLst/>
          </a:prstGeom>
          <a:solidFill>
            <a:srgbClr val="E04F00"/>
          </a:solidFill>
          <a:ln/>
        </p:spPr>
      </p:sp>
      <p:sp>
        <p:nvSpPr>
          <p:cNvPr id="12" name="Text 9">
            <a:extLst>
              <a:ext uri="{FF2B5EF4-FFF2-40B4-BE49-F238E27FC236}">
                <a16:creationId xmlns:a16="http://schemas.microsoft.com/office/drawing/2014/main" id="{BC33EF32-FAA8-FB01-4406-5BE8D46EFAEB}"/>
              </a:ext>
            </a:extLst>
          </p:cNvPr>
          <p:cNvSpPr/>
          <p:nvPr/>
        </p:nvSpPr>
        <p:spPr>
          <a:xfrm>
            <a:off x="793790" y="3219985"/>
            <a:ext cx="5149810" cy="341590"/>
          </a:xfrm>
          <a:prstGeom prst="rect">
            <a:avLst/>
          </a:prstGeom>
          <a:noFill/>
          <a:ln/>
        </p:spPr>
        <p:txBody>
          <a:bodyPr wrap="non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Three Critical Components of KNN</a:t>
            </a:r>
            <a:endParaRPr lang="en-US" sz="2400" dirty="0">
              <a:latin typeface="PT Serif" panose="020A0603040505020204" pitchFamily="18" charset="0"/>
            </a:endParaRPr>
          </a:p>
        </p:txBody>
      </p:sp>
      <p:sp>
        <p:nvSpPr>
          <p:cNvPr id="13" name="Text 10">
            <a:extLst>
              <a:ext uri="{FF2B5EF4-FFF2-40B4-BE49-F238E27FC236}">
                <a16:creationId xmlns:a16="http://schemas.microsoft.com/office/drawing/2014/main" id="{5C96BB93-355D-E26B-1140-CEC1B92A537B}"/>
              </a:ext>
            </a:extLst>
          </p:cNvPr>
          <p:cNvSpPr/>
          <p:nvPr/>
        </p:nvSpPr>
        <p:spPr>
          <a:xfrm>
            <a:off x="7428548" y="269063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04</a:t>
            </a:r>
            <a:endParaRPr lang="en-US" sz="1750" dirty="0">
              <a:latin typeface="PT Serif" panose="020A0603040505020204" pitchFamily="18" charset="0"/>
            </a:endParaRPr>
          </a:p>
        </p:txBody>
      </p:sp>
      <p:sp>
        <p:nvSpPr>
          <p:cNvPr id="14" name="Shape 11">
            <a:extLst>
              <a:ext uri="{FF2B5EF4-FFF2-40B4-BE49-F238E27FC236}">
                <a16:creationId xmlns:a16="http://schemas.microsoft.com/office/drawing/2014/main" id="{1F82991F-325D-ADFB-D9D5-AC7B66495818}"/>
              </a:ext>
            </a:extLst>
          </p:cNvPr>
          <p:cNvSpPr/>
          <p:nvPr/>
        </p:nvSpPr>
        <p:spPr>
          <a:xfrm>
            <a:off x="7428548" y="3045678"/>
            <a:ext cx="6408063" cy="30480"/>
          </a:xfrm>
          <a:prstGeom prst="rect">
            <a:avLst/>
          </a:prstGeom>
          <a:solidFill>
            <a:srgbClr val="E04F00"/>
          </a:solidFill>
          <a:ln/>
        </p:spPr>
      </p:sp>
      <p:sp>
        <p:nvSpPr>
          <p:cNvPr id="15" name="Text 12">
            <a:extLst>
              <a:ext uri="{FF2B5EF4-FFF2-40B4-BE49-F238E27FC236}">
                <a16:creationId xmlns:a16="http://schemas.microsoft.com/office/drawing/2014/main" id="{745F64FD-AFDF-A78E-E789-4D11DE242238}"/>
              </a:ext>
            </a:extLst>
          </p:cNvPr>
          <p:cNvSpPr/>
          <p:nvPr/>
        </p:nvSpPr>
        <p:spPr>
          <a:xfrm>
            <a:off x="7428548" y="3219985"/>
            <a:ext cx="3837027"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The Importance of Scaling</a:t>
            </a:r>
            <a:endParaRPr lang="en-US" sz="2400" dirty="0">
              <a:latin typeface="PT Serif" panose="020A0603040505020204" pitchFamily="18" charset="0"/>
            </a:endParaRPr>
          </a:p>
        </p:txBody>
      </p:sp>
      <p:sp>
        <p:nvSpPr>
          <p:cNvPr id="16" name="Text 13">
            <a:extLst>
              <a:ext uri="{FF2B5EF4-FFF2-40B4-BE49-F238E27FC236}">
                <a16:creationId xmlns:a16="http://schemas.microsoft.com/office/drawing/2014/main" id="{CFE094F3-732C-5F57-AFDC-CE863162C74B}"/>
              </a:ext>
            </a:extLst>
          </p:cNvPr>
          <p:cNvSpPr/>
          <p:nvPr/>
        </p:nvSpPr>
        <p:spPr>
          <a:xfrm>
            <a:off x="793790" y="398889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05</a:t>
            </a:r>
            <a:endParaRPr lang="en-US" sz="1750" dirty="0">
              <a:latin typeface="PT Serif" panose="020A0603040505020204" pitchFamily="18" charset="0"/>
            </a:endParaRPr>
          </a:p>
        </p:txBody>
      </p:sp>
      <p:sp>
        <p:nvSpPr>
          <p:cNvPr id="17" name="Shape 14">
            <a:extLst>
              <a:ext uri="{FF2B5EF4-FFF2-40B4-BE49-F238E27FC236}">
                <a16:creationId xmlns:a16="http://schemas.microsoft.com/office/drawing/2014/main" id="{0F3FAA8B-9BD3-5B9E-FDD6-24EB5FC3E4D5}"/>
              </a:ext>
            </a:extLst>
          </p:cNvPr>
          <p:cNvSpPr/>
          <p:nvPr/>
        </p:nvSpPr>
        <p:spPr>
          <a:xfrm>
            <a:off x="793790" y="4343935"/>
            <a:ext cx="6407944" cy="30480"/>
          </a:xfrm>
          <a:prstGeom prst="rect">
            <a:avLst/>
          </a:prstGeom>
          <a:solidFill>
            <a:srgbClr val="E04F00"/>
          </a:solidFill>
          <a:ln/>
        </p:spPr>
      </p:sp>
      <p:sp>
        <p:nvSpPr>
          <p:cNvPr id="18" name="Text 15">
            <a:extLst>
              <a:ext uri="{FF2B5EF4-FFF2-40B4-BE49-F238E27FC236}">
                <a16:creationId xmlns:a16="http://schemas.microsoft.com/office/drawing/2014/main" id="{3F2A74C8-BF90-FF05-83B7-CB9D6070B653}"/>
              </a:ext>
            </a:extLst>
          </p:cNvPr>
          <p:cNvSpPr/>
          <p:nvPr/>
        </p:nvSpPr>
        <p:spPr>
          <a:xfrm>
            <a:off x="793790" y="4518243"/>
            <a:ext cx="5378410" cy="506016"/>
          </a:xfrm>
          <a:prstGeom prst="rect">
            <a:avLst/>
          </a:prstGeom>
          <a:noFill/>
          <a:ln/>
        </p:spPr>
        <p:txBody>
          <a:bodyPr wrap="non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Choosing the Right Value of K</a:t>
            </a:r>
            <a:endParaRPr lang="en-US" sz="2400" dirty="0">
              <a:latin typeface="PT Serif" panose="020A0603040505020204" pitchFamily="18" charset="0"/>
            </a:endParaRPr>
          </a:p>
        </p:txBody>
      </p:sp>
      <p:sp>
        <p:nvSpPr>
          <p:cNvPr id="19" name="Text 16">
            <a:extLst>
              <a:ext uri="{FF2B5EF4-FFF2-40B4-BE49-F238E27FC236}">
                <a16:creationId xmlns:a16="http://schemas.microsoft.com/office/drawing/2014/main" id="{34C4BACC-CF9D-37A2-37A3-99FCEB85B60D}"/>
              </a:ext>
            </a:extLst>
          </p:cNvPr>
          <p:cNvSpPr/>
          <p:nvPr/>
        </p:nvSpPr>
        <p:spPr>
          <a:xfrm>
            <a:off x="7428548" y="398889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06</a:t>
            </a:r>
            <a:endParaRPr lang="en-US" sz="1750" dirty="0">
              <a:latin typeface="PT Serif" panose="020A0603040505020204" pitchFamily="18" charset="0"/>
            </a:endParaRPr>
          </a:p>
        </p:txBody>
      </p:sp>
      <p:sp>
        <p:nvSpPr>
          <p:cNvPr id="20" name="Shape 17">
            <a:extLst>
              <a:ext uri="{FF2B5EF4-FFF2-40B4-BE49-F238E27FC236}">
                <a16:creationId xmlns:a16="http://schemas.microsoft.com/office/drawing/2014/main" id="{74C9F6E6-0A68-1135-3B56-16D471B6A305}"/>
              </a:ext>
            </a:extLst>
          </p:cNvPr>
          <p:cNvSpPr/>
          <p:nvPr/>
        </p:nvSpPr>
        <p:spPr>
          <a:xfrm>
            <a:off x="7428548" y="4343935"/>
            <a:ext cx="6408063" cy="30480"/>
          </a:xfrm>
          <a:prstGeom prst="rect">
            <a:avLst/>
          </a:prstGeom>
          <a:solidFill>
            <a:srgbClr val="E04F00"/>
          </a:solidFill>
          <a:ln/>
        </p:spPr>
      </p:sp>
      <p:sp>
        <p:nvSpPr>
          <p:cNvPr id="21" name="Text 18">
            <a:extLst>
              <a:ext uri="{FF2B5EF4-FFF2-40B4-BE49-F238E27FC236}">
                <a16:creationId xmlns:a16="http://schemas.microsoft.com/office/drawing/2014/main" id="{F59F670C-EC07-FB3D-9D8C-701102A10CB7}"/>
              </a:ext>
            </a:extLst>
          </p:cNvPr>
          <p:cNvSpPr/>
          <p:nvPr/>
        </p:nvSpPr>
        <p:spPr>
          <a:xfrm>
            <a:off x="7428548" y="4513302"/>
            <a:ext cx="5525452" cy="515898"/>
          </a:xfrm>
          <a:prstGeom prst="rect">
            <a:avLst/>
          </a:prstGeom>
          <a:noFill/>
          <a:ln/>
        </p:spPr>
        <p:txBody>
          <a:bodyPr wrap="non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Voting Criteria and Its Limitations</a:t>
            </a:r>
            <a:endParaRPr lang="en-US" sz="2400" dirty="0">
              <a:latin typeface="PT Serif" panose="020A0603040505020204" pitchFamily="18" charset="0"/>
            </a:endParaRPr>
          </a:p>
        </p:txBody>
      </p:sp>
      <p:sp>
        <p:nvSpPr>
          <p:cNvPr id="23" name="Title 22">
            <a:extLst>
              <a:ext uri="{FF2B5EF4-FFF2-40B4-BE49-F238E27FC236}">
                <a16:creationId xmlns:a16="http://schemas.microsoft.com/office/drawing/2014/main" id="{6C31067F-3379-E2C1-6ADF-8A82CC0B9D62}"/>
              </a:ext>
            </a:extLst>
          </p:cNvPr>
          <p:cNvSpPr>
            <a:spLocks noGrp="1"/>
          </p:cNvSpPr>
          <p:nvPr>
            <p:ph type="title"/>
          </p:nvPr>
        </p:nvSpPr>
        <p:spPr>
          <a:xfrm>
            <a:off x="600520" y="381000"/>
            <a:ext cx="13656055" cy="1177630"/>
          </a:xfrm>
        </p:spPr>
        <p:txBody>
          <a:bodyPr/>
          <a:lstStyle/>
          <a:p>
            <a:r>
              <a:rPr lang="en-US" sz="4000" dirty="0">
                <a:solidFill>
                  <a:srgbClr val="020202"/>
                </a:solidFill>
                <a:ea typeface="PT Serif" pitchFamily="34" charset="-122"/>
                <a:cs typeface="PT Serif" pitchFamily="34" charset="-120"/>
              </a:rPr>
              <a:t>Contents</a:t>
            </a:r>
            <a:br>
              <a:rPr lang="en-US" sz="4000" dirty="0"/>
            </a:br>
            <a:endParaRPr lang="en-IN" dirty="0"/>
          </a:p>
        </p:txBody>
      </p:sp>
      <p:sp>
        <p:nvSpPr>
          <p:cNvPr id="24" name="Text 13">
            <a:extLst>
              <a:ext uri="{FF2B5EF4-FFF2-40B4-BE49-F238E27FC236}">
                <a16:creationId xmlns:a16="http://schemas.microsoft.com/office/drawing/2014/main" id="{A0563F04-1D90-2DDB-F9CF-EA4F47B242FE}"/>
              </a:ext>
            </a:extLst>
          </p:cNvPr>
          <p:cNvSpPr/>
          <p:nvPr/>
        </p:nvSpPr>
        <p:spPr>
          <a:xfrm>
            <a:off x="825579" y="627489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09</a:t>
            </a:r>
            <a:endParaRPr lang="en-US" sz="1750" dirty="0">
              <a:latin typeface="PT Serif" panose="020A0603040505020204" pitchFamily="18" charset="0"/>
            </a:endParaRPr>
          </a:p>
        </p:txBody>
      </p:sp>
      <p:sp>
        <p:nvSpPr>
          <p:cNvPr id="25" name="Shape 14">
            <a:extLst>
              <a:ext uri="{FF2B5EF4-FFF2-40B4-BE49-F238E27FC236}">
                <a16:creationId xmlns:a16="http://schemas.microsoft.com/office/drawing/2014/main" id="{5C8B4D32-45C3-E072-27D1-AC6379BD0BCA}"/>
              </a:ext>
            </a:extLst>
          </p:cNvPr>
          <p:cNvSpPr/>
          <p:nvPr/>
        </p:nvSpPr>
        <p:spPr>
          <a:xfrm>
            <a:off x="825579" y="6629935"/>
            <a:ext cx="6407944" cy="30480"/>
          </a:xfrm>
          <a:prstGeom prst="rect">
            <a:avLst/>
          </a:prstGeom>
          <a:solidFill>
            <a:srgbClr val="E04F00"/>
          </a:solidFill>
          <a:ln/>
        </p:spPr>
      </p:sp>
      <p:sp>
        <p:nvSpPr>
          <p:cNvPr id="26" name="Text 15">
            <a:extLst>
              <a:ext uri="{FF2B5EF4-FFF2-40B4-BE49-F238E27FC236}">
                <a16:creationId xmlns:a16="http://schemas.microsoft.com/office/drawing/2014/main" id="{BB991F29-DDAA-A5E9-50A5-F1CDB3EBAE5B}"/>
              </a:ext>
            </a:extLst>
          </p:cNvPr>
          <p:cNvSpPr/>
          <p:nvPr/>
        </p:nvSpPr>
        <p:spPr>
          <a:xfrm>
            <a:off x="825579" y="6804243"/>
            <a:ext cx="5378410" cy="506016"/>
          </a:xfrm>
          <a:prstGeom prst="rect">
            <a:avLst/>
          </a:prstGeom>
          <a:noFill/>
          <a:ln/>
        </p:spPr>
        <p:txBody>
          <a:bodyPr wrap="squar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Handling Categorical Variables</a:t>
            </a:r>
            <a:endParaRPr lang="en-US" sz="2400" dirty="0">
              <a:latin typeface="PT Serif" panose="020A0603040505020204" pitchFamily="18" charset="0"/>
            </a:endParaRPr>
          </a:p>
        </p:txBody>
      </p:sp>
      <p:sp>
        <p:nvSpPr>
          <p:cNvPr id="27" name="Text 16">
            <a:extLst>
              <a:ext uri="{FF2B5EF4-FFF2-40B4-BE49-F238E27FC236}">
                <a16:creationId xmlns:a16="http://schemas.microsoft.com/office/drawing/2014/main" id="{7B57B6BE-10B2-ECB5-C38C-C56ECBC7B22F}"/>
              </a:ext>
            </a:extLst>
          </p:cNvPr>
          <p:cNvSpPr/>
          <p:nvPr/>
        </p:nvSpPr>
        <p:spPr>
          <a:xfrm>
            <a:off x="7460337" y="627489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rPr>
              <a:t>10</a:t>
            </a:r>
            <a:endParaRPr lang="en-US" sz="1750" dirty="0">
              <a:latin typeface="PT Serif" panose="020A0603040505020204" pitchFamily="18" charset="0"/>
            </a:endParaRPr>
          </a:p>
        </p:txBody>
      </p:sp>
      <p:sp>
        <p:nvSpPr>
          <p:cNvPr id="28" name="Shape 17">
            <a:extLst>
              <a:ext uri="{FF2B5EF4-FFF2-40B4-BE49-F238E27FC236}">
                <a16:creationId xmlns:a16="http://schemas.microsoft.com/office/drawing/2014/main" id="{F523E63C-1047-342A-D658-FBE42B5BD92E}"/>
              </a:ext>
            </a:extLst>
          </p:cNvPr>
          <p:cNvSpPr/>
          <p:nvPr/>
        </p:nvSpPr>
        <p:spPr>
          <a:xfrm>
            <a:off x="7460337" y="6629935"/>
            <a:ext cx="6408063" cy="30480"/>
          </a:xfrm>
          <a:prstGeom prst="rect">
            <a:avLst/>
          </a:prstGeom>
          <a:solidFill>
            <a:srgbClr val="E04F00"/>
          </a:solidFill>
          <a:ln/>
        </p:spPr>
      </p:sp>
      <p:sp>
        <p:nvSpPr>
          <p:cNvPr id="29" name="Text 18">
            <a:extLst>
              <a:ext uri="{FF2B5EF4-FFF2-40B4-BE49-F238E27FC236}">
                <a16:creationId xmlns:a16="http://schemas.microsoft.com/office/drawing/2014/main" id="{B1D5FE87-99C8-028A-FE45-A8C366ECDB61}"/>
              </a:ext>
            </a:extLst>
          </p:cNvPr>
          <p:cNvSpPr/>
          <p:nvPr/>
        </p:nvSpPr>
        <p:spPr>
          <a:xfrm>
            <a:off x="7460337" y="6799302"/>
            <a:ext cx="5525452" cy="515898"/>
          </a:xfrm>
          <a:prstGeom prst="rect">
            <a:avLst/>
          </a:prstGeom>
          <a:noFill/>
          <a:ln/>
        </p:spPr>
        <p:txBody>
          <a:bodyPr wrap="non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Advantages and Limitations of KNN</a:t>
            </a:r>
            <a:endParaRPr lang="en-US" sz="2400" dirty="0">
              <a:latin typeface="PT Serif" panose="020A0603040505020204" pitchFamily="18" charset="0"/>
            </a:endParaRPr>
          </a:p>
        </p:txBody>
      </p:sp>
      <p:sp>
        <p:nvSpPr>
          <p:cNvPr id="30" name="Text 13">
            <a:extLst>
              <a:ext uri="{FF2B5EF4-FFF2-40B4-BE49-F238E27FC236}">
                <a16:creationId xmlns:a16="http://schemas.microsoft.com/office/drawing/2014/main" id="{353E8647-B100-2B02-B05E-7528A05C6189}"/>
              </a:ext>
            </a:extLst>
          </p:cNvPr>
          <p:cNvSpPr/>
          <p:nvPr/>
        </p:nvSpPr>
        <p:spPr>
          <a:xfrm>
            <a:off x="838200" y="513189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07</a:t>
            </a:r>
            <a:endParaRPr lang="en-US" sz="1750" dirty="0">
              <a:latin typeface="PT Serif" panose="020A0603040505020204" pitchFamily="18" charset="0"/>
            </a:endParaRPr>
          </a:p>
        </p:txBody>
      </p:sp>
      <p:sp>
        <p:nvSpPr>
          <p:cNvPr id="31" name="Shape 14">
            <a:extLst>
              <a:ext uri="{FF2B5EF4-FFF2-40B4-BE49-F238E27FC236}">
                <a16:creationId xmlns:a16="http://schemas.microsoft.com/office/drawing/2014/main" id="{11A37E0F-D61F-7707-FF82-59A3408CDA54}"/>
              </a:ext>
            </a:extLst>
          </p:cNvPr>
          <p:cNvSpPr/>
          <p:nvPr/>
        </p:nvSpPr>
        <p:spPr>
          <a:xfrm>
            <a:off x="838200" y="5486935"/>
            <a:ext cx="6407944" cy="30480"/>
          </a:xfrm>
          <a:prstGeom prst="rect">
            <a:avLst/>
          </a:prstGeom>
          <a:solidFill>
            <a:srgbClr val="E04F00"/>
          </a:solidFill>
          <a:ln/>
        </p:spPr>
      </p:sp>
      <p:sp>
        <p:nvSpPr>
          <p:cNvPr id="32" name="Text 15">
            <a:extLst>
              <a:ext uri="{FF2B5EF4-FFF2-40B4-BE49-F238E27FC236}">
                <a16:creationId xmlns:a16="http://schemas.microsoft.com/office/drawing/2014/main" id="{CC1294EB-A511-E3D1-579E-1D0DB12D17BF}"/>
              </a:ext>
            </a:extLst>
          </p:cNvPr>
          <p:cNvSpPr/>
          <p:nvPr/>
        </p:nvSpPr>
        <p:spPr>
          <a:xfrm>
            <a:off x="838200" y="5661243"/>
            <a:ext cx="5378410" cy="506016"/>
          </a:xfrm>
          <a:prstGeom prst="rect">
            <a:avLst/>
          </a:prstGeom>
          <a:noFill/>
          <a:ln/>
        </p:spPr>
        <p:txBody>
          <a:bodyPr wrap="none" lIns="0" tIns="0" rIns="0" bIns="0" rtlCol="0" anchor="t"/>
          <a:lstStyle/>
          <a:p>
            <a:pPr marL="0" indent="0" algn="l">
              <a:lnSpc>
                <a:spcPts val="3300"/>
              </a:lnSpc>
              <a:buNone/>
            </a:pPr>
            <a:r>
              <a:rPr lang="en-US" sz="2400" dirty="0">
                <a:solidFill>
                  <a:srgbClr val="020202"/>
                </a:solidFill>
                <a:latin typeface="PT Serif" panose="020A0603040505020204" pitchFamily="18" charset="0"/>
                <a:ea typeface="PT Serif" pitchFamily="34" charset="-122"/>
                <a:cs typeface="PT Serif" pitchFamily="34" charset="-120"/>
              </a:rPr>
              <a:t>Implementing KNN Classification in Python</a:t>
            </a:r>
            <a:endParaRPr lang="en-US" sz="2400" dirty="0">
              <a:latin typeface="PT Serif" panose="020A0603040505020204" pitchFamily="18" charset="0"/>
            </a:endParaRPr>
          </a:p>
        </p:txBody>
      </p:sp>
      <p:sp>
        <p:nvSpPr>
          <p:cNvPr id="33" name="Text 16">
            <a:extLst>
              <a:ext uri="{FF2B5EF4-FFF2-40B4-BE49-F238E27FC236}">
                <a16:creationId xmlns:a16="http://schemas.microsoft.com/office/drawing/2014/main" id="{D06643FF-11B7-5518-9724-0AFC5F8C7D44}"/>
              </a:ext>
            </a:extLst>
          </p:cNvPr>
          <p:cNvSpPr/>
          <p:nvPr/>
        </p:nvSpPr>
        <p:spPr>
          <a:xfrm>
            <a:off x="7472958" y="513189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08</a:t>
            </a:r>
            <a:endParaRPr lang="en-US" sz="1750" dirty="0">
              <a:latin typeface="PT Serif" panose="020A0603040505020204" pitchFamily="18" charset="0"/>
            </a:endParaRPr>
          </a:p>
        </p:txBody>
      </p:sp>
      <p:sp>
        <p:nvSpPr>
          <p:cNvPr id="34" name="Shape 17">
            <a:extLst>
              <a:ext uri="{FF2B5EF4-FFF2-40B4-BE49-F238E27FC236}">
                <a16:creationId xmlns:a16="http://schemas.microsoft.com/office/drawing/2014/main" id="{3D85372A-5129-7961-CA24-8B1E4A21B3C7}"/>
              </a:ext>
            </a:extLst>
          </p:cNvPr>
          <p:cNvSpPr/>
          <p:nvPr/>
        </p:nvSpPr>
        <p:spPr>
          <a:xfrm>
            <a:off x="7472958" y="5486935"/>
            <a:ext cx="6408063" cy="30480"/>
          </a:xfrm>
          <a:prstGeom prst="rect">
            <a:avLst/>
          </a:prstGeom>
          <a:solidFill>
            <a:srgbClr val="E04F00"/>
          </a:solidFill>
          <a:ln/>
        </p:spPr>
      </p:sp>
      <p:sp>
        <p:nvSpPr>
          <p:cNvPr id="35" name="Text 18">
            <a:extLst>
              <a:ext uri="{FF2B5EF4-FFF2-40B4-BE49-F238E27FC236}">
                <a16:creationId xmlns:a16="http://schemas.microsoft.com/office/drawing/2014/main" id="{D8807895-6E20-2C25-5F59-B18E5332F3C3}"/>
              </a:ext>
            </a:extLst>
          </p:cNvPr>
          <p:cNvSpPr/>
          <p:nvPr/>
        </p:nvSpPr>
        <p:spPr>
          <a:xfrm>
            <a:off x="7472958" y="5656302"/>
            <a:ext cx="5525452" cy="515898"/>
          </a:xfrm>
          <a:prstGeom prst="rect">
            <a:avLst/>
          </a:prstGeom>
          <a:noFill/>
          <a:ln/>
        </p:spPr>
        <p:txBody>
          <a:bodyPr wrap="none" lIns="0" tIns="0" rIns="0" bIns="0" rtlCol="0" anchor="t"/>
          <a:lstStyle/>
          <a:p>
            <a:pPr marL="0" indent="0" algn="l">
              <a:buNone/>
            </a:pPr>
            <a:r>
              <a:rPr lang="en-US" sz="2400" dirty="0">
                <a:solidFill>
                  <a:srgbClr val="020202"/>
                </a:solidFill>
                <a:latin typeface="PT Serif" panose="020A0603040505020204" pitchFamily="18" charset="0"/>
                <a:ea typeface="PT Serif" pitchFamily="34" charset="-122"/>
                <a:cs typeface="PT Serif" pitchFamily="34" charset="-120"/>
              </a:rPr>
              <a:t>Extending KNN to Regression Problems</a:t>
            </a:r>
            <a:endParaRPr lang="en-US" sz="2400" dirty="0">
              <a:latin typeface="PT Serif" panose="020A0603040505020204" pitchFamily="18" charset="0"/>
            </a:endParaRPr>
          </a:p>
        </p:txBody>
      </p:sp>
    </p:spTree>
    <p:extLst>
      <p:ext uri="{BB962C8B-B14F-4D97-AF65-F5344CB8AC3E}">
        <p14:creationId xmlns:p14="http://schemas.microsoft.com/office/powerpoint/2010/main" val="88102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9393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Introduction to K-Nearest Neighbors</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147389"/>
            <a:ext cx="3818574" cy="3218849"/>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4" y="2185284"/>
            <a:ext cx="3818573"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When to use?</a:t>
            </a: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Works for both classification and regression problems.  </a:t>
            </a:r>
            <a:endParaRPr lang="en-US"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6" name="Text 31">
            <a:extLst>
              <a:ext uri="{FF2B5EF4-FFF2-40B4-BE49-F238E27FC236}">
                <a16:creationId xmlns:a16="http://schemas.microsoft.com/office/drawing/2014/main" id="{E07AB141-1DF5-6B6F-2B0A-DC69FE07DBED}"/>
              </a:ext>
            </a:extLst>
          </p:cNvPr>
          <p:cNvSpPr/>
          <p:nvPr/>
        </p:nvSpPr>
        <p:spPr>
          <a:xfrm>
            <a:off x="596979" y="5867400"/>
            <a:ext cx="13042821" cy="1740732"/>
          </a:xfrm>
          <a:prstGeom prst="rect">
            <a:avLst/>
          </a:prstGeom>
          <a:noFill/>
          <a:ln/>
        </p:spPr>
        <p:txBody>
          <a:bodyPr wrap="square" lIns="0" tIns="0" rIns="0" bIns="0" rtlCol="0" anchor="t"/>
          <a:lstStyle/>
          <a:p>
            <a:pPr marL="0" indent="0" algn="l">
              <a:lnSpc>
                <a:spcPts val="2500"/>
              </a:lnSpc>
              <a:buNone/>
            </a:pPr>
            <a:endParaRPr lang="en-US" dirty="0">
              <a:solidFill>
                <a:srgbClr val="383838"/>
              </a:solidFill>
              <a:latin typeface="PT Serif" panose="020A0603040505020204" pitchFamily="18" charset="0"/>
              <a:ea typeface="DM Sans" pitchFamily="34" charset="-122"/>
              <a:cs typeface="DM Sans" pitchFamily="34" charset="-120"/>
            </a:endParaRPr>
          </a:p>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K-Nearest Neighbors (KNN) works on a simple idea: Similar things are usually found close to each other. So, when we want to predict the result for a new data point, KNN looks for the most similar examples (the nearest neighbors) in the existing data and uses their outcomes to make the prediction.</a:t>
            </a:r>
          </a:p>
          <a:p>
            <a:pPr marL="0" indent="0" algn="l">
              <a:lnSpc>
                <a:spcPts val="2500"/>
              </a:lnSpc>
              <a:buNone/>
            </a:pPr>
            <a:endParaRPr lang="en-US" dirty="0">
              <a:solidFill>
                <a:srgbClr val="383838"/>
              </a:solidFill>
              <a:latin typeface="PT Serif" panose="020A0603040505020204" pitchFamily="18" charset="0"/>
              <a:ea typeface="DM Sans" pitchFamily="34" charset="-122"/>
              <a:cs typeface="DM Sans" pitchFamily="34" charset="-120"/>
            </a:endParaRPr>
          </a:p>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 </a:t>
            </a: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111744"/>
            <a:ext cx="4114305" cy="326599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194499"/>
            <a:ext cx="3713225"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Simple Concept</a:t>
            </a: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KNN classifies data based on </a:t>
            </a:r>
            <a:r>
              <a:rPr lang="en-US" b="1" dirty="0">
                <a:solidFill>
                  <a:srgbClr val="383838"/>
                </a:solidFill>
                <a:latin typeface="PT Serif" panose="020A0603040505020204" pitchFamily="18" charset="0"/>
                <a:ea typeface="DM Sans" pitchFamily="34" charset="-122"/>
                <a:cs typeface="DM Sans" pitchFamily="34" charset="-120"/>
              </a:rPr>
              <a:t>similarity to neighboring observations.</a:t>
            </a:r>
            <a:endParaRPr lang="en-US" b="1"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100242"/>
            <a:ext cx="4114305" cy="3265996"/>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194499"/>
            <a:ext cx="3604657"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No Training Phase</a:t>
            </a: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Algorithm stores all training data and makes decisions at prediction time. No mathematical model like Logistic Regression.</a:t>
            </a:r>
            <a:endParaRPr lang="en-US"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3546163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533400"/>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How KNN Classification Works</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731520" y="1658524"/>
            <a:ext cx="5745480" cy="4970876"/>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The Basic Process</a:t>
            </a:r>
          </a:p>
          <a:p>
            <a:pPr marL="0" indent="0" algn="l">
              <a:lnSpc>
                <a:spcPct val="150000"/>
              </a:lnSpc>
              <a:buNone/>
            </a:pPr>
            <a:endParaRPr lang="en-US" sz="2400" dirty="0">
              <a:solidFill>
                <a:srgbClr val="020202"/>
              </a:solidFill>
              <a:ea typeface="PT Serif" pitchFamily="34" charset="-122"/>
              <a:cs typeface="PT Serif" pitchFamily="34" charset="-120"/>
            </a:endParaRPr>
          </a:p>
          <a:p>
            <a:pPr algn="l">
              <a:lnSpc>
                <a:spcPct val="150000"/>
              </a:lnSpc>
            </a:pPr>
            <a:r>
              <a:rPr lang="en-US" sz="1800" dirty="0">
                <a:solidFill>
                  <a:srgbClr val="383838"/>
                </a:solidFill>
                <a:ea typeface="DM Sans" pitchFamily="34" charset="-122"/>
                <a:cs typeface="DM Sans" pitchFamily="34" charset="-120"/>
              </a:rPr>
              <a:t>Imagine you have a training dataset with 100 observations belonging to two categories: </a:t>
            </a:r>
            <a:r>
              <a:rPr lang="en-US" sz="1800" b="1" dirty="0">
                <a:solidFill>
                  <a:srgbClr val="383838"/>
                </a:solidFill>
                <a:ea typeface="DM Sans" pitchFamily="34" charset="-122"/>
                <a:cs typeface="DM Sans" pitchFamily="34" charset="-120"/>
              </a:rPr>
              <a:t>Buyer and Non-buyer</a:t>
            </a:r>
            <a:r>
              <a:rPr lang="en-US" sz="1800" dirty="0">
                <a:solidFill>
                  <a:srgbClr val="383838"/>
                </a:solidFill>
                <a:ea typeface="DM Sans" pitchFamily="34" charset="-122"/>
                <a:cs typeface="DM Sans" pitchFamily="34" charset="-120"/>
              </a:rPr>
              <a:t>. When a new observation arrives with an unknown class, KNN steps in to classify it.</a:t>
            </a:r>
            <a:endParaRPr lang="en-US" sz="1800" dirty="0"/>
          </a:p>
          <a:p>
            <a:pPr algn="l">
              <a:lnSpc>
                <a:spcPct val="150000"/>
              </a:lnSpc>
            </a:pPr>
            <a:r>
              <a:rPr lang="en-US" sz="1800" dirty="0">
                <a:solidFill>
                  <a:srgbClr val="383838"/>
                </a:solidFill>
                <a:ea typeface="DM Sans" pitchFamily="34" charset="-122"/>
                <a:cs typeface="DM Sans" pitchFamily="34" charset="-120"/>
              </a:rPr>
              <a:t>The algorithm examines the training observations closest to this new point and assigns it to the category of its nearest neighbor(s). The number of neighbors considered depends on the value of K you choose.</a:t>
            </a:r>
            <a:endParaRPr lang="en-US" sz="1800" dirty="0"/>
          </a:p>
          <a:p>
            <a:pPr marL="0" indent="0" algn="l">
              <a:lnSpc>
                <a:spcPct val="150000"/>
              </a:lnSpc>
              <a:buNone/>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766063" y="1658524"/>
            <a:ext cx="5745480" cy="4970876"/>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Impact of K Value</a:t>
            </a:r>
          </a:p>
          <a:p>
            <a:pPr marL="0" indent="0" algn="l">
              <a:lnSpc>
                <a:spcPct val="150000"/>
              </a:lnSpc>
              <a:buNone/>
            </a:pPr>
            <a:endParaRPr lang="en-US" sz="2400" dirty="0">
              <a:solidFill>
                <a:srgbClr val="020202"/>
              </a:solidFill>
              <a:ea typeface="PT Serif" pitchFamily="34" charset="-122"/>
              <a:cs typeface="PT Serif" pitchFamily="34" charset="-120"/>
            </a:endParaRPr>
          </a:p>
          <a:p>
            <a:pPr algn="l">
              <a:lnSpc>
                <a:spcPct val="150000"/>
              </a:lnSpc>
            </a:pPr>
            <a:r>
              <a:rPr lang="en-US" sz="1800" b="1" dirty="0">
                <a:solidFill>
                  <a:srgbClr val="383838"/>
                </a:solidFill>
                <a:ea typeface="DM Sans" pitchFamily="34" charset="-122"/>
                <a:cs typeface="DM Sans" pitchFamily="34" charset="-120"/>
              </a:rPr>
              <a:t>When K=1:</a:t>
            </a:r>
            <a:r>
              <a:rPr lang="en-US" sz="1800" dirty="0">
                <a:solidFill>
                  <a:srgbClr val="383838"/>
                </a:solidFill>
                <a:ea typeface="DM Sans" pitchFamily="34" charset="-122"/>
                <a:cs typeface="DM Sans" pitchFamily="34" charset="-120"/>
              </a:rPr>
              <a:t> Only the single closest case is considered</a:t>
            </a:r>
          </a:p>
          <a:p>
            <a:pPr algn="l">
              <a:lnSpc>
                <a:spcPct val="150000"/>
              </a:lnSpc>
            </a:pPr>
            <a:endParaRPr lang="en-US" sz="1800" dirty="0"/>
          </a:p>
          <a:p>
            <a:pPr algn="l">
              <a:lnSpc>
                <a:spcPct val="150000"/>
              </a:lnSpc>
            </a:pPr>
            <a:r>
              <a:rPr lang="en-US" sz="1800" b="1" dirty="0">
                <a:solidFill>
                  <a:srgbClr val="383838"/>
                </a:solidFill>
                <a:ea typeface="DM Sans" pitchFamily="34" charset="-122"/>
                <a:cs typeface="DM Sans" pitchFamily="34" charset="-120"/>
              </a:rPr>
              <a:t>When K=3:</a:t>
            </a:r>
            <a:r>
              <a:rPr lang="en-US" sz="1800" dirty="0">
                <a:solidFill>
                  <a:srgbClr val="383838"/>
                </a:solidFill>
                <a:ea typeface="DM Sans" pitchFamily="34" charset="-122"/>
                <a:cs typeface="DM Sans" pitchFamily="34" charset="-120"/>
              </a:rPr>
              <a:t> The three nearest cases vote on the classification</a:t>
            </a:r>
          </a:p>
          <a:p>
            <a:pPr algn="l">
              <a:lnSpc>
                <a:spcPct val="150000"/>
              </a:lnSpc>
            </a:pPr>
            <a:endParaRPr lang="en-US" sz="1800" dirty="0"/>
          </a:p>
          <a:p>
            <a:pPr algn="l">
              <a:lnSpc>
                <a:spcPct val="150000"/>
              </a:lnSpc>
            </a:pPr>
            <a:r>
              <a:rPr lang="en-US" sz="1800" b="1" dirty="0">
                <a:solidFill>
                  <a:srgbClr val="383838"/>
                </a:solidFill>
                <a:ea typeface="DM Sans" pitchFamily="34" charset="-122"/>
                <a:cs typeface="DM Sans" pitchFamily="34" charset="-120"/>
              </a:rPr>
              <a:t>When K=5:</a:t>
            </a:r>
            <a:r>
              <a:rPr lang="en-US" sz="1800" dirty="0">
                <a:solidFill>
                  <a:srgbClr val="383838"/>
                </a:solidFill>
                <a:ea typeface="DM Sans" pitchFamily="34" charset="-122"/>
                <a:cs typeface="DM Sans" pitchFamily="34" charset="-120"/>
              </a:rPr>
              <a:t> Five neighbors participate in the decision</a:t>
            </a:r>
          </a:p>
          <a:p>
            <a:pPr algn="l">
              <a:lnSpc>
                <a:spcPct val="150000"/>
              </a:lnSpc>
            </a:pPr>
            <a:endParaRPr lang="en-US" sz="1800" dirty="0"/>
          </a:p>
          <a:p>
            <a:pPr algn="l">
              <a:lnSpc>
                <a:spcPct val="150000"/>
              </a:lnSpc>
            </a:pPr>
            <a:r>
              <a:rPr lang="en-US" sz="1800" dirty="0">
                <a:solidFill>
                  <a:srgbClr val="383838"/>
                </a:solidFill>
                <a:ea typeface="DM Sans" pitchFamily="34" charset="-122"/>
                <a:cs typeface="DM Sans" pitchFamily="34" charset="-120"/>
              </a:rPr>
              <a:t>As you increase K, the classification boundary becomes smoother, but too large a K can lead to misclassification.</a:t>
            </a:r>
            <a:endParaRPr lang="en-US" sz="1800" dirty="0"/>
          </a:p>
          <a:p>
            <a:pPr marL="0" indent="0" algn="l">
              <a:lnSpc>
                <a:spcPct val="150000"/>
              </a:lnSpc>
              <a:buNone/>
            </a:pPr>
            <a:endParaRPr lang="en-US" sz="1800" dirty="0"/>
          </a:p>
        </p:txBody>
      </p:sp>
    </p:spTree>
    <p:extLst>
      <p:ext uri="{BB962C8B-B14F-4D97-AF65-F5344CB8AC3E}">
        <p14:creationId xmlns:p14="http://schemas.microsoft.com/office/powerpoint/2010/main" val="1331003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9393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Three Critical Components of KNN</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147389"/>
            <a:ext cx="3818574" cy="5080107"/>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5" y="2185284"/>
            <a:ext cx="3454676" cy="4520316"/>
          </a:xfrm>
          <a:prstGeom prst="rect">
            <a:avLst/>
          </a:prstGeom>
          <a:noFill/>
          <a:ln/>
        </p:spPr>
        <p:txBody>
          <a:bodyPr wrap="square" lIns="0" tIns="0" rIns="0" bIns="0" rtlCol="0" anchor="t"/>
          <a:lstStyle/>
          <a:p>
            <a:pPr algn="l">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3. Voting Criteria</a:t>
            </a:r>
            <a:endParaRPr lang="en-US" sz="2400" dirty="0">
              <a:latin typeface="PT Serif" panose="020A0603040505020204" pitchFamily="18" charset="0"/>
            </a:endParaRPr>
          </a:p>
          <a:p>
            <a:pPr marL="0" indent="0" algn="l">
              <a:lnSpc>
                <a:spcPct val="150000"/>
              </a:lnSpc>
              <a:buNone/>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dirty="0">
                <a:solidFill>
                  <a:srgbClr val="383838"/>
                </a:solidFill>
                <a:latin typeface="PT Serif" panose="020A0603040505020204" pitchFamily="18" charset="0"/>
                <a:ea typeface="DM Sans" pitchFamily="34" charset="-122"/>
                <a:cs typeface="DM Sans" pitchFamily="34" charset="-120"/>
              </a:rPr>
              <a:t>How do neighbors decide the final class? Typically, we use </a:t>
            </a:r>
            <a:r>
              <a:rPr lang="en-US" b="1" dirty="0">
                <a:solidFill>
                  <a:srgbClr val="383838"/>
                </a:solidFill>
                <a:latin typeface="PT Serif" panose="020A0603040505020204" pitchFamily="18" charset="0"/>
                <a:ea typeface="DM Sans" pitchFamily="34" charset="-122"/>
                <a:cs typeface="DM Sans" pitchFamily="34" charset="-120"/>
              </a:rPr>
              <a:t>majority voting</a:t>
            </a:r>
            <a:r>
              <a:rPr lang="en-US" dirty="0">
                <a:solidFill>
                  <a:srgbClr val="383838"/>
                </a:solidFill>
                <a:latin typeface="PT Serif" panose="020A0603040505020204" pitchFamily="18" charset="0"/>
                <a:ea typeface="DM Sans" pitchFamily="34" charset="-122"/>
                <a:cs typeface="DM Sans" pitchFamily="34" charset="-120"/>
              </a:rPr>
              <a:t> where the most common class among the K neighbors wins. However, this approach has limitations when dealing with imbalanced datasets.</a:t>
            </a:r>
            <a:endParaRPr lang="en-US"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111744"/>
            <a:ext cx="4114305" cy="512725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194499"/>
            <a:ext cx="3713225" cy="4865280"/>
          </a:xfrm>
          <a:prstGeom prst="rect">
            <a:avLst/>
          </a:prstGeom>
          <a:noFill/>
          <a:ln/>
        </p:spPr>
        <p:txBody>
          <a:bodyPr wrap="square" lIns="0" tIns="0" rIns="0" bIns="0" rtlCol="0" anchor="t"/>
          <a:lstStyle/>
          <a:p>
            <a:pPr marL="457200" indent="-457200" algn="l">
              <a:lnSpc>
                <a:spcPct val="150000"/>
              </a:lnSpc>
              <a:buAutoNum type="arabicPeriod"/>
            </a:pPr>
            <a:r>
              <a:rPr lang="en-US" sz="2400" dirty="0">
                <a:solidFill>
                  <a:srgbClr val="383838"/>
                </a:solidFill>
                <a:latin typeface="PT Serif" panose="020A0603040505020204" pitchFamily="18" charset="0"/>
                <a:ea typeface="PT Serif" pitchFamily="34" charset="-122"/>
                <a:cs typeface="PT Serif" pitchFamily="34" charset="-120"/>
              </a:rPr>
              <a:t>Distance Metric</a:t>
            </a:r>
          </a:p>
          <a:p>
            <a:pPr marL="457200" indent="-457200" algn="l">
              <a:lnSpc>
                <a:spcPct val="150000"/>
              </a:lnSpc>
              <a:buAutoNum type="arabicPeriod"/>
            </a:pPr>
            <a:endParaRPr lang="en-US" sz="2400" dirty="0">
              <a:latin typeface="PT Serif" panose="020A0603040505020204" pitchFamily="18" charset="0"/>
            </a:endParaRPr>
          </a:p>
          <a:p>
            <a:pPr marL="0" indent="0" algn="l">
              <a:lnSpc>
                <a:spcPct val="150000"/>
              </a:lnSpc>
              <a:buNone/>
            </a:pPr>
            <a:r>
              <a:rPr lang="en-US" dirty="0">
                <a:solidFill>
                  <a:srgbClr val="383838"/>
                </a:solidFill>
                <a:latin typeface="PT Serif" panose="020A0603040505020204" pitchFamily="18" charset="0"/>
                <a:ea typeface="DM Sans" pitchFamily="34" charset="-122"/>
                <a:cs typeface="DM Sans" pitchFamily="34" charset="-120"/>
              </a:rPr>
              <a:t>How do we measure similarity between cases? The most common approach is </a:t>
            </a:r>
            <a:r>
              <a:rPr lang="en-US" b="1" dirty="0">
                <a:solidFill>
                  <a:srgbClr val="383838"/>
                </a:solidFill>
                <a:latin typeface="PT Serif" panose="020A0603040505020204" pitchFamily="18" charset="0"/>
                <a:ea typeface="DM Sans" pitchFamily="34" charset="-122"/>
                <a:cs typeface="DM Sans" pitchFamily="34" charset="-120"/>
              </a:rPr>
              <a:t>Euclidean distance</a:t>
            </a:r>
            <a:r>
              <a:rPr lang="en-US" dirty="0">
                <a:solidFill>
                  <a:srgbClr val="383838"/>
                </a:solidFill>
                <a:latin typeface="PT Serif" panose="020A0603040505020204" pitchFamily="18" charset="0"/>
                <a:ea typeface="DM Sans" pitchFamily="34" charset="-122"/>
                <a:cs typeface="DM Sans" pitchFamily="34" charset="-120"/>
              </a:rPr>
              <a:t>, which calculates the straight-line distance between points in multidimensional space. The formula considers all features simultaneously to determine which observations are truly "nearest."</a:t>
            </a:r>
            <a:endParaRPr lang="en-US"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100241"/>
            <a:ext cx="4114305" cy="5127255"/>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194499"/>
            <a:ext cx="3604657" cy="4865280"/>
          </a:xfrm>
          <a:prstGeom prst="rect">
            <a:avLst/>
          </a:prstGeom>
          <a:noFill/>
          <a:ln/>
        </p:spPr>
        <p:txBody>
          <a:bodyPr wrap="square" lIns="0" tIns="0" rIns="0" bIns="0" rtlCol="0" anchor="t"/>
          <a:lstStyle/>
          <a:p>
            <a:pPr algn="l">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2. Value of K</a:t>
            </a:r>
            <a:endParaRPr lang="en-US" sz="2400" dirty="0">
              <a:latin typeface="PT Serif" panose="020A0603040505020204" pitchFamily="18" charset="0"/>
            </a:endParaRPr>
          </a:p>
          <a:p>
            <a:pPr marL="0" indent="0" algn="l">
              <a:lnSpc>
                <a:spcPct val="150000"/>
              </a:lnSpc>
              <a:buNone/>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dirty="0">
                <a:solidFill>
                  <a:srgbClr val="383838"/>
                </a:solidFill>
                <a:latin typeface="PT Serif" panose="020A0603040505020204" pitchFamily="18" charset="0"/>
                <a:ea typeface="DM Sans" pitchFamily="34" charset="-122"/>
                <a:cs typeface="DM Sans" pitchFamily="34" charset="-120"/>
              </a:rPr>
              <a:t>How many neighbors should vote? This crucial parameter determines how many nearby observations influence the classification. A small K makes the model sensitive to noise, while a large K can blur important distinctions between classes.</a:t>
            </a:r>
            <a:endParaRPr lang="en-US"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2551170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835325" y="762000"/>
            <a:ext cx="13656055" cy="590867"/>
          </a:xfrm>
        </p:spPr>
        <p:txBody>
          <a:bodyPr/>
          <a:lstStyle/>
          <a:p>
            <a:pPr marL="0" indent="0" algn="l">
              <a:lnSpc>
                <a:spcPts val="4850"/>
              </a:lnSpc>
              <a:buNone/>
            </a:pPr>
            <a:r>
              <a:rPr lang="en-US" sz="3600" dirty="0">
                <a:solidFill>
                  <a:srgbClr val="020202"/>
                </a:solidFill>
                <a:latin typeface="PT Serif" pitchFamily="34" charset="0"/>
                <a:ea typeface="PT Serif" pitchFamily="34" charset="-122"/>
                <a:cs typeface="PT Serif" pitchFamily="34" charset="-120"/>
              </a:rPr>
              <a:t>Understanding Through Example: Loan Default Prediction</a:t>
            </a:r>
            <a:endParaRPr lang="en-US" sz="3600" dirty="0"/>
          </a:p>
        </p:txBody>
      </p:sp>
      <p:sp>
        <p:nvSpPr>
          <p:cNvPr id="3" name="TextBox 2">
            <a:extLst>
              <a:ext uri="{FF2B5EF4-FFF2-40B4-BE49-F238E27FC236}">
                <a16:creationId xmlns:a16="http://schemas.microsoft.com/office/drawing/2014/main" id="{1081FFF0-4CA2-49EC-F5F6-355FBF7303C5}"/>
              </a:ext>
            </a:extLst>
          </p:cNvPr>
          <p:cNvSpPr txBox="1"/>
          <p:nvPr/>
        </p:nvSpPr>
        <p:spPr>
          <a:xfrm>
            <a:off x="838200" y="2040128"/>
            <a:ext cx="12954000" cy="693908"/>
          </a:xfrm>
          <a:prstGeom prst="rect">
            <a:avLst/>
          </a:prstGeom>
          <a:noFill/>
        </p:spPr>
        <p:txBody>
          <a:bodyPr wrap="square" rtlCol="0">
            <a:spAutoFit/>
          </a:bodyPr>
          <a:lstStyle/>
          <a:p>
            <a:pPr marL="0" indent="0" algn="l">
              <a:lnSpc>
                <a:spcPts val="2350"/>
              </a:lnSpc>
              <a:buNone/>
            </a:pPr>
            <a:r>
              <a:rPr lang="en-US" sz="1800" dirty="0">
                <a:solidFill>
                  <a:srgbClr val="383838"/>
                </a:solidFill>
                <a:latin typeface="PT Serif" panose="020A0603040505020204" pitchFamily="18" charset="0"/>
                <a:ea typeface="DM Sans" pitchFamily="34" charset="-122"/>
                <a:cs typeface="DM Sans" pitchFamily="34" charset="-120"/>
              </a:rPr>
              <a:t>Let's work through a practical example to </a:t>
            </a:r>
            <a:r>
              <a:rPr lang="en-US" dirty="0">
                <a:solidFill>
                  <a:srgbClr val="383838"/>
                </a:solidFill>
                <a:latin typeface="PT Serif" panose="020A0603040505020204" pitchFamily="18" charset="0"/>
                <a:ea typeface="DM Sans" pitchFamily="34" charset="-122"/>
                <a:cs typeface="DM Sans" pitchFamily="34" charset="-120"/>
              </a:rPr>
              <a:t>understand</a:t>
            </a:r>
            <a:r>
              <a:rPr lang="en-US" sz="1800" dirty="0">
                <a:solidFill>
                  <a:srgbClr val="383838"/>
                </a:solidFill>
                <a:latin typeface="PT Serif" panose="020A0603040505020204" pitchFamily="18" charset="0"/>
                <a:ea typeface="DM Sans" pitchFamily="34" charset="-122"/>
                <a:cs typeface="DM Sans" pitchFamily="34" charset="-120"/>
              </a:rPr>
              <a:t> these concepts. Imagine a bank trying to predict whether a new loan applicant will default based on two variables: </a:t>
            </a:r>
            <a:r>
              <a:rPr lang="en-US" sz="1800" b="1" dirty="0">
                <a:solidFill>
                  <a:srgbClr val="383838"/>
                </a:solidFill>
                <a:latin typeface="PT Serif" panose="020A0603040505020204" pitchFamily="18" charset="0"/>
                <a:ea typeface="DM Sans" pitchFamily="34" charset="-122"/>
                <a:cs typeface="DM Sans" pitchFamily="34" charset="-120"/>
              </a:rPr>
              <a:t>Age</a:t>
            </a:r>
            <a:r>
              <a:rPr lang="en-US" sz="1800" dirty="0">
                <a:solidFill>
                  <a:srgbClr val="383838"/>
                </a:solidFill>
                <a:latin typeface="PT Serif" panose="020A0603040505020204" pitchFamily="18" charset="0"/>
                <a:ea typeface="DM Sans" pitchFamily="34" charset="-122"/>
                <a:cs typeface="DM Sans" pitchFamily="34" charset="-120"/>
              </a:rPr>
              <a:t> and </a:t>
            </a:r>
            <a:r>
              <a:rPr lang="en-US" sz="1800" b="1" dirty="0">
                <a:solidFill>
                  <a:srgbClr val="383838"/>
                </a:solidFill>
                <a:latin typeface="PT Serif" panose="020A0603040505020204" pitchFamily="18" charset="0"/>
                <a:ea typeface="DM Sans" pitchFamily="34" charset="-122"/>
                <a:cs typeface="DM Sans" pitchFamily="34" charset="-120"/>
              </a:rPr>
              <a:t>Current Debt</a:t>
            </a:r>
            <a:r>
              <a:rPr lang="en-US" sz="1800" dirty="0">
                <a:solidFill>
                  <a:srgbClr val="383838"/>
                </a:solidFill>
                <a:latin typeface="PT Serif" panose="020A0603040505020204" pitchFamily="18" charset="0"/>
                <a:ea typeface="DM Sans" pitchFamily="34" charset="-122"/>
                <a:cs typeface="DM Sans" pitchFamily="34" charset="-120"/>
              </a:rPr>
              <a:t>.</a:t>
            </a:r>
            <a:endParaRPr lang="en-US" sz="1800" dirty="0">
              <a:latin typeface="PT Serif" panose="020A0603040505020204" pitchFamily="18" charset="0"/>
            </a:endParaRPr>
          </a:p>
        </p:txBody>
      </p:sp>
      <p:sp>
        <p:nvSpPr>
          <p:cNvPr id="6" name="TextBox 5">
            <a:extLst>
              <a:ext uri="{FF2B5EF4-FFF2-40B4-BE49-F238E27FC236}">
                <a16:creationId xmlns:a16="http://schemas.microsoft.com/office/drawing/2014/main" id="{6DE27E1E-BB22-7A01-7D5C-9CF2BD08848D}"/>
              </a:ext>
            </a:extLst>
          </p:cNvPr>
          <p:cNvSpPr txBox="1"/>
          <p:nvPr/>
        </p:nvSpPr>
        <p:spPr>
          <a:xfrm>
            <a:off x="835325" y="6787049"/>
            <a:ext cx="12728275" cy="693908"/>
          </a:xfrm>
          <a:prstGeom prst="rect">
            <a:avLst/>
          </a:prstGeom>
          <a:noFill/>
        </p:spPr>
        <p:txBody>
          <a:bodyPr wrap="square">
            <a:spAutoFit/>
          </a:bodyPr>
          <a:lstStyle/>
          <a:p>
            <a:pPr marL="0" indent="0" algn="l">
              <a:lnSpc>
                <a:spcPts val="2350"/>
              </a:lnSpc>
              <a:buNone/>
            </a:pPr>
            <a:r>
              <a:rPr lang="en-US" sz="1800" dirty="0">
                <a:solidFill>
                  <a:srgbClr val="383838"/>
                </a:solidFill>
                <a:latin typeface="PT Serif" panose="020A0603040505020204" pitchFamily="18" charset="0"/>
                <a:ea typeface="DM Sans" pitchFamily="34" charset="-122"/>
                <a:cs typeface="DM Sans" pitchFamily="34" charset="-120"/>
              </a:rPr>
              <a:t>Our goal: Classify the new 48-year-old applicant with $142,000 current debt as either a defaulter (Y) or non-defaulter (N) using the KNN method.</a:t>
            </a:r>
            <a:endParaRPr lang="en-US" sz="1800" dirty="0">
              <a:latin typeface="PT Serif" panose="020A0603040505020204" pitchFamily="18" charset="0"/>
            </a:endParaRPr>
          </a:p>
        </p:txBody>
      </p:sp>
      <p:graphicFrame>
        <p:nvGraphicFramePr>
          <p:cNvPr id="8" name="Google Shape;1165;p113">
            <a:extLst>
              <a:ext uri="{FF2B5EF4-FFF2-40B4-BE49-F238E27FC236}">
                <a16:creationId xmlns:a16="http://schemas.microsoft.com/office/drawing/2014/main" id="{F2AF42C5-594B-CD47-8AE5-44625ACDE41A}"/>
              </a:ext>
            </a:extLst>
          </p:cNvPr>
          <p:cNvGraphicFramePr/>
          <p:nvPr>
            <p:extLst>
              <p:ext uri="{D42A27DB-BD31-4B8C-83A1-F6EECF244321}">
                <p14:modId xmlns:p14="http://schemas.microsoft.com/office/powerpoint/2010/main" val="2936925165"/>
              </p:ext>
            </p:extLst>
          </p:nvPr>
        </p:nvGraphicFramePr>
        <p:xfrm>
          <a:off x="3200400" y="3048000"/>
          <a:ext cx="5486397" cy="3505194"/>
        </p:xfrm>
        <a:graphic>
          <a:graphicData uri="http://schemas.openxmlformats.org/drawingml/2006/table">
            <a:tbl>
              <a:tblPr>
                <a:noFill/>
              </a:tblPr>
              <a:tblGrid>
                <a:gridCol w="1828799">
                  <a:extLst>
                    <a:ext uri="{9D8B030D-6E8A-4147-A177-3AD203B41FA5}">
                      <a16:colId xmlns:a16="http://schemas.microsoft.com/office/drawing/2014/main" val="20000"/>
                    </a:ext>
                  </a:extLst>
                </a:gridCol>
                <a:gridCol w="1828799">
                  <a:extLst>
                    <a:ext uri="{9D8B030D-6E8A-4147-A177-3AD203B41FA5}">
                      <a16:colId xmlns:a16="http://schemas.microsoft.com/office/drawing/2014/main" val="20001"/>
                    </a:ext>
                  </a:extLst>
                </a:gridCol>
                <a:gridCol w="1828799">
                  <a:extLst>
                    <a:ext uri="{9D8B030D-6E8A-4147-A177-3AD203B41FA5}">
                      <a16:colId xmlns:a16="http://schemas.microsoft.com/office/drawing/2014/main" val="20002"/>
                    </a:ext>
                  </a:extLst>
                </a:gridCol>
              </a:tblGrid>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Age</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Current Debt</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Default</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0"/>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25</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40,000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N</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1"/>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35</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60,000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N</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2"/>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45</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80,000</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N</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3"/>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20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20,000</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N</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4"/>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35</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120,000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N</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5"/>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52</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18,000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N</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6"/>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23</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95,000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Y</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7"/>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40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62,000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Y</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8"/>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60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100,000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Y</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9"/>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48</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220,000</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Y</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0"/>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33</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150,000</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Y</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1"/>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2"/>
                  </a:ext>
                </a:extLst>
              </a:tr>
              <a:tr h="250371">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807E84"/>
                          </a:solidFill>
                        </a:rPr>
                        <a:t>48</a:t>
                      </a:r>
                      <a:endParaRPr sz="1200" b="1" i="0" u="none" strike="noStrike" cap="none">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solidFill>
                      <a:srgbClr val="CFECF7"/>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142,000</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solidFill>
                      <a:srgbClr val="CFECF7"/>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rgbClr val="807E84"/>
                          </a:solidFill>
                        </a:rPr>
                        <a:t>?</a:t>
                      </a:r>
                      <a:endParaRPr sz="1200" b="1" i="0" u="none" strike="noStrike" cap="none" dirty="0">
                        <a:solidFill>
                          <a:srgbClr val="807E84"/>
                        </a:solidFill>
                        <a:latin typeface="Calibri"/>
                        <a:ea typeface="Calibri"/>
                        <a:cs typeface="Calibri"/>
                        <a:sym typeface="Calibri"/>
                      </a:endParaRPr>
                    </a:p>
                  </a:txBody>
                  <a:tcPr marL="7150" marR="7150" marT="715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solidFill>
                      <a:srgbClr val="CFECF7"/>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269145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944153" y="683405"/>
            <a:ext cx="13656055" cy="610103"/>
          </a:xfrm>
        </p:spPr>
        <p:txBody>
          <a:bodyPr/>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The Importance of Scaling</a:t>
            </a:r>
            <a:endParaRPr lang="en-US" sz="3600" dirty="0"/>
          </a:p>
        </p:txBody>
      </p:sp>
      <p:sp>
        <p:nvSpPr>
          <p:cNvPr id="3" name="TextBox 2">
            <a:extLst>
              <a:ext uri="{FF2B5EF4-FFF2-40B4-BE49-F238E27FC236}">
                <a16:creationId xmlns:a16="http://schemas.microsoft.com/office/drawing/2014/main" id="{1081FFF0-4CA2-49EC-F5F6-355FBF7303C5}"/>
              </a:ext>
            </a:extLst>
          </p:cNvPr>
          <p:cNvSpPr txBox="1"/>
          <p:nvPr/>
        </p:nvSpPr>
        <p:spPr>
          <a:xfrm>
            <a:off x="838200" y="2040128"/>
            <a:ext cx="12954000" cy="4232569"/>
          </a:xfrm>
          <a:prstGeom prst="rect">
            <a:avLst/>
          </a:prstGeom>
          <a:noFill/>
        </p:spPr>
        <p:txBody>
          <a:bodyPr wrap="square" rtlCol="0">
            <a:spAutoFit/>
          </a:bodyPr>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Before calculating distances, we must </a:t>
            </a:r>
            <a:r>
              <a:rPr lang="en-US" b="1" dirty="0">
                <a:solidFill>
                  <a:srgbClr val="383838"/>
                </a:solidFill>
                <a:latin typeface="PT Serif" panose="020A0603040505020204" pitchFamily="18" charset="0"/>
                <a:ea typeface="DM Sans" pitchFamily="34" charset="-122"/>
                <a:cs typeface="DM Sans" pitchFamily="34" charset="-120"/>
              </a:rPr>
              <a:t>standardize</a:t>
            </a:r>
            <a:r>
              <a:rPr lang="en-US" dirty="0">
                <a:solidFill>
                  <a:srgbClr val="383838"/>
                </a:solidFill>
                <a:latin typeface="PT Serif" panose="020A0603040505020204" pitchFamily="18" charset="0"/>
                <a:ea typeface="DM Sans" pitchFamily="34" charset="-122"/>
                <a:cs typeface="DM Sans" pitchFamily="34" charset="-120"/>
              </a:rPr>
              <a:t> our variables. Why? </a:t>
            </a:r>
          </a:p>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Because Age ranges from 20-48 while Current Debt ranges from $20,000-$220,000. Without scaling, the debt variable would dominate the distance calculation simply due to its larger numeric scale.</a:t>
            </a:r>
          </a:p>
          <a:p>
            <a:pPr marL="0" indent="0" algn="l">
              <a:lnSpc>
                <a:spcPts val="2500"/>
              </a:lnSpc>
              <a:buNone/>
            </a:pPr>
            <a:endParaRPr lang="en-US" dirty="0">
              <a:solidFill>
                <a:srgbClr val="383838"/>
              </a:solidFill>
              <a:latin typeface="PT Serif" panose="020A0603040505020204" pitchFamily="18" charset="0"/>
            </a:endParaRPr>
          </a:p>
          <a:p>
            <a:pPr algn="l">
              <a:lnSpc>
                <a:spcPts val="2500"/>
              </a:lnSpc>
            </a:pPr>
            <a:r>
              <a:rPr lang="en-US" dirty="0">
                <a:solidFill>
                  <a:srgbClr val="383838"/>
                </a:solidFill>
                <a:latin typeface="PT Serif" panose="020A0603040505020204" pitchFamily="18" charset="0"/>
                <a:ea typeface="DM Sans" pitchFamily="34" charset="-122"/>
                <a:cs typeface="DM Sans" pitchFamily="34" charset="-120"/>
              </a:rPr>
              <a:t>The standardization formula transforms each variable to a 0-1 scale:</a:t>
            </a:r>
            <a:endParaRPr lang="en-US" dirty="0">
              <a:latin typeface="PT Serif" panose="020A0603040505020204" pitchFamily="18" charset="0"/>
            </a:endParaRPr>
          </a:p>
          <a:p>
            <a:pPr marL="0" indent="0" algn="l">
              <a:lnSpc>
                <a:spcPts val="2500"/>
              </a:lnSpc>
              <a:buNone/>
            </a:pPr>
            <a:endParaRPr lang="en-US" dirty="0">
              <a:solidFill>
                <a:srgbClr val="383838"/>
              </a:solidFill>
              <a:latin typeface="PT Serif" panose="020A0603040505020204" pitchFamily="18" charset="0"/>
            </a:endParaRPr>
          </a:p>
          <a:p>
            <a:pPr marL="0" indent="0" algn="l">
              <a:lnSpc>
                <a:spcPts val="2500"/>
              </a:lnSpc>
              <a:buNone/>
            </a:pPr>
            <a:endParaRPr lang="en-US" dirty="0">
              <a:solidFill>
                <a:srgbClr val="383838"/>
              </a:solidFill>
              <a:latin typeface="PT Serif" panose="020A0603040505020204" pitchFamily="18" charset="0"/>
            </a:endParaRPr>
          </a:p>
          <a:p>
            <a:pPr marL="0" indent="0" algn="l">
              <a:lnSpc>
                <a:spcPts val="2500"/>
              </a:lnSpc>
              <a:buNone/>
            </a:pPr>
            <a:endParaRPr lang="en-US" dirty="0">
              <a:solidFill>
                <a:srgbClr val="383838"/>
              </a:solidFill>
              <a:latin typeface="PT Serif" panose="020A0603040505020204" pitchFamily="18" charset="0"/>
            </a:endParaRPr>
          </a:p>
          <a:p>
            <a:pPr marL="0" indent="0" algn="l">
              <a:lnSpc>
                <a:spcPts val="2500"/>
              </a:lnSpc>
              <a:buNone/>
            </a:pPr>
            <a:endParaRPr lang="en-US" dirty="0">
              <a:solidFill>
                <a:srgbClr val="383838"/>
              </a:solidFill>
              <a:latin typeface="PT Serif" panose="020A0603040505020204" pitchFamily="18" charset="0"/>
            </a:endParaRPr>
          </a:p>
          <a:p>
            <a:pPr marL="0" indent="0" algn="l">
              <a:lnSpc>
                <a:spcPts val="2500"/>
              </a:lnSpc>
              <a:buNone/>
            </a:pPr>
            <a:endParaRPr lang="en-US" dirty="0">
              <a:solidFill>
                <a:srgbClr val="383838"/>
              </a:solidFill>
              <a:latin typeface="PT Serif" panose="020A0603040505020204" pitchFamily="18" charset="0"/>
            </a:endParaRPr>
          </a:p>
          <a:p>
            <a:pPr algn="l">
              <a:lnSpc>
                <a:spcPts val="2500"/>
              </a:lnSpc>
            </a:pPr>
            <a:r>
              <a:rPr lang="en-US" dirty="0">
                <a:solidFill>
                  <a:srgbClr val="383838"/>
                </a:solidFill>
                <a:latin typeface="PT Serif" panose="020A0603040505020204" pitchFamily="18" charset="0"/>
                <a:ea typeface="DM Sans" pitchFamily="34" charset="-122"/>
                <a:cs typeface="DM Sans" pitchFamily="34" charset="-120"/>
              </a:rPr>
              <a:t>After standardization, both variables contribute equally to the distance calculation, ensuring that our similarity measure reflects true relationships in the data rather than arbitrary measurement scales.</a:t>
            </a:r>
            <a:endParaRPr lang="en-US" dirty="0">
              <a:latin typeface="PT Serif" panose="020A0603040505020204" pitchFamily="18" charset="0"/>
            </a:endParaRPr>
          </a:p>
          <a:p>
            <a:pPr marL="0" indent="0" algn="l">
              <a:lnSpc>
                <a:spcPts val="2500"/>
              </a:lnSpc>
              <a:buNone/>
            </a:pPr>
            <a:endParaRPr lang="en-US" dirty="0">
              <a:latin typeface="PT Serif" panose="020A0603040505020204" pitchFamily="18" charset="0"/>
            </a:endParaRPr>
          </a:p>
        </p:txBody>
      </p:sp>
      <p:pic>
        <p:nvPicPr>
          <p:cNvPr id="7" name="Image 0" descr="preencoded.png">
            <a:extLst>
              <a:ext uri="{FF2B5EF4-FFF2-40B4-BE49-F238E27FC236}">
                <a16:creationId xmlns:a16="http://schemas.microsoft.com/office/drawing/2014/main" id="{3C1BBEDE-9CAC-C0E9-2614-1A85347E412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8600" y="4113438"/>
            <a:ext cx="13042821" cy="578287"/>
          </a:xfrm>
          <a:prstGeom prst="rect">
            <a:avLst/>
          </a:prstGeom>
        </p:spPr>
      </p:pic>
    </p:spTree>
    <p:extLst>
      <p:ext uri="{BB962C8B-B14F-4D97-AF65-F5344CB8AC3E}">
        <p14:creationId xmlns:p14="http://schemas.microsoft.com/office/powerpoint/2010/main" val="326528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E3DA4-F07A-35DA-CF72-52EFCD8327FD}"/>
              </a:ext>
            </a:extLst>
          </p:cNvPr>
          <p:cNvSpPr>
            <a:spLocks noGrp="1"/>
          </p:cNvSpPr>
          <p:nvPr>
            <p:ph type="title"/>
          </p:nvPr>
        </p:nvSpPr>
        <p:spPr>
          <a:xfrm>
            <a:off x="996694" y="482399"/>
            <a:ext cx="13656055" cy="569387"/>
          </a:xfrm>
        </p:spPr>
        <p:txBody>
          <a:bodyPr/>
          <a:lstStyle/>
          <a:p>
            <a:r>
              <a:rPr lang="en-US" sz="3600" dirty="0">
                <a:solidFill>
                  <a:schemeClr val="tx1"/>
                </a:solidFill>
              </a:rPr>
              <a:t>Distance Based on Standardized Variables</a:t>
            </a:r>
            <a:endParaRPr lang="en-IN" sz="3600" dirty="0">
              <a:solidFill>
                <a:schemeClr val="tx1"/>
              </a:solidFill>
            </a:endParaRPr>
          </a:p>
        </p:txBody>
      </p:sp>
      <p:graphicFrame>
        <p:nvGraphicFramePr>
          <p:cNvPr id="3" name="Google Shape;1174;p114">
            <a:extLst>
              <a:ext uri="{FF2B5EF4-FFF2-40B4-BE49-F238E27FC236}">
                <a16:creationId xmlns:a16="http://schemas.microsoft.com/office/drawing/2014/main" id="{5667AC1F-A3F7-4CBA-837C-DDAAE14A727D}"/>
              </a:ext>
            </a:extLst>
          </p:cNvPr>
          <p:cNvGraphicFramePr/>
          <p:nvPr>
            <p:extLst>
              <p:ext uri="{D42A27DB-BD31-4B8C-83A1-F6EECF244321}">
                <p14:modId xmlns:p14="http://schemas.microsoft.com/office/powerpoint/2010/main" val="1364835061"/>
              </p:ext>
            </p:extLst>
          </p:nvPr>
        </p:nvGraphicFramePr>
        <p:xfrm>
          <a:off x="2926082" y="3108952"/>
          <a:ext cx="4898640" cy="4470728"/>
        </p:xfrm>
        <a:graphic>
          <a:graphicData uri="http://schemas.openxmlformats.org/drawingml/2006/table">
            <a:tbl>
              <a:tblPr>
                <a:noFill/>
              </a:tblPr>
              <a:tblGrid>
                <a:gridCol w="1632880">
                  <a:extLst>
                    <a:ext uri="{9D8B030D-6E8A-4147-A177-3AD203B41FA5}">
                      <a16:colId xmlns:a16="http://schemas.microsoft.com/office/drawing/2014/main" val="20000"/>
                    </a:ext>
                  </a:extLst>
                </a:gridCol>
                <a:gridCol w="1632880">
                  <a:extLst>
                    <a:ext uri="{9D8B030D-6E8A-4147-A177-3AD203B41FA5}">
                      <a16:colId xmlns:a16="http://schemas.microsoft.com/office/drawing/2014/main" val="20001"/>
                    </a:ext>
                  </a:extLst>
                </a:gridCol>
                <a:gridCol w="1632880">
                  <a:extLst>
                    <a:ext uri="{9D8B030D-6E8A-4147-A177-3AD203B41FA5}">
                      <a16:colId xmlns:a16="http://schemas.microsoft.com/office/drawing/2014/main" val="20002"/>
                    </a:ext>
                  </a:extLst>
                </a:gridCol>
              </a:tblGrid>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1" u="none" strike="noStrike" cap="none" dirty="0">
                          <a:solidFill>
                            <a:schemeClr val="tx1"/>
                          </a:solidFill>
                          <a:latin typeface="PT Serif" panose="020A0603040505020204" pitchFamily="18" charset="0"/>
                        </a:rPr>
                        <a:t>Age</a:t>
                      </a:r>
                      <a:endParaRPr sz="1800" b="1"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b="1" u="none" strike="noStrike" cap="none">
                          <a:solidFill>
                            <a:schemeClr val="tx1"/>
                          </a:solidFill>
                          <a:latin typeface="PT Serif" panose="020A0603040505020204" pitchFamily="18" charset="0"/>
                        </a:rPr>
                        <a:t>Current Debt</a:t>
                      </a:r>
                      <a:endParaRPr sz="1800" b="1"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b="1" u="none" strike="noStrike" cap="none">
                          <a:solidFill>
                            <a:schemeClr val="tx1"/>
                          </a:solidFill>
                          <a:latin typeface="PT Serif" panose="020A0603040505020204" pitchFamily="18" charset="0"/>
                        </a:rPr>
                        <a:t>Default</a:t>
                      </a:r>
                      <a:endParaRPr sz="1800" b="1"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0"/>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0.125</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0.11</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N</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1"/>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0.375</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0.21</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dirty="0">
                          <a:solidFill>
                            <a:schemeClr val="tx1"/>
                          </a:solidFill>
                          <a:latin typeface="PT Serif" panose="020A0603040505020204" pitchFamily="18" charset="0"/>
                        </a:rPr>
                        <a:t>N</a:t>
                      </a:r>
                      <a:endParaRPr sz="1800" b="0"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2"/>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0.625</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0.31</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N</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3"/>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0.01</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N</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4"/>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dirty="0">
                          <a:solidFill>
                            <a:schemeClr val="tx1"/>
                          </a:solidFill>
                          <a:latin typeface="PT Serif" panose="020A0603040505020204" pitchFamily="18" charset="0"/>
                        </a:rPr>
                        <a:t>0.375</a:t>
                      </a:r>
                      <a:endParaRPr sz="1800" b="0"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dirty="0">
                          <a:solidFill>
                            <a:schemeClr val="tx1"/>
                          </a:solidFill>
                          <a:latin typeface="PT Serif" panose="020A0603040505020204" pitchFamily="18" charset="0"/>
                        </a:rPr>
                        <a:t>0.50</a:t>
                      </a:r>
                      <a:endParaRPr sz="1800" b="0"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dirty="0">
                          <a:solidFill>
                            <a:schemeClr val="tx1"/>
                          </a:solidFill>
                          <a:latin typeface="PT Serif" panose="020A0603040505020204" pitchFamily="18" charset="0"/>
                        </a:rPr>
                        <a:t>N</a:t>
                      </a:r>
                      <a:endParaRPr sz="1800" b="0"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5"/>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0.8</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0.00</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N</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6"/>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0.075</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dirty="0">
                          <a:solidFill>
                            <a:schemeClr val="tx1"/>
                          </a:solidFill>
                          <a:latin typeface="PT Serif" panose="020A0603040505020204" pitchFamily="18" charset="0"/>
                        </a:rPr>
                        <a:t>0.38</a:t>
                      </a:r>
                      <a:endParaRPr lang="en-US" sz="1800" b="0"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Y</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7"/>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0.5</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0.22</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Y</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8"/>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1</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0.41</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Y</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9"/>
                  </a:ext>
                </a:extLst>
              </a:tr>
              <a:tr h="352848">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0.7</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1.00</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Y</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0"/>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0.325</a:t>
                      </a: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0.65</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Y</a:t>
                      </a:r>
                      <a:endParaRPr lang="en-US"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1"/>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endParaRPr sz="1800" b="0"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endParaRPr lang="en-IN" sz="1800" b="0"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endParaRPr lang="en-IN" sz="1800" b="0"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2"/>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0.7</a:t>
                      </a:r>
                      <a:endParaRPr sz="1800" b="1"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solidFill>
                      <a:srgbClr val="CFECF7"/>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chemeClr val="tx1"/>
                          </a:solidFill>
                          <a:latin typeface="PT Serif" panose="020A0603040505020204" pitchFamily="18" charset="0"/>
                        </a:rPr>
                        <a:t>0.61</a:t>
                      </a:r>
                      <a:endParaRPr sz="1800" b="1" i="0" u="none" strike="noStrike" cap="none">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solidFill>
                      <a:srgbClr val="CFECF7"/>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b="1" u="none" strike="noStrike" cap="none" dirty="0">
                          <a:solidFill>
                            <a:schemeClr val="tx1"/>
                          </a:solidFill>
                          <a:latin typeface="PT Serif" panose="020A0603040505020204" pitchFamily="18" charset="0"/>
                        </a:rPr>
                        <a:t>?</a:t>
                      </a:r>
                      <a:endParaRPr sz="1800" b="1" i="0" u="none" strike="noStrike" cap="none" dirty="0">
                        <a:solidFill>
                          <a:schemeClr val="tx1"/>
                        </a:solidFill>
                        <a:latin typeface="PT Serif" panose="020A0603040505020204" pitchFamily="18" charset="0"/>
                        <a:ea typeface="Calibri"/>
                        <a:cs typeface="Calibri"/>
                        <a:sym typeface="Calibri"/>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solidFill>
                      <a:srgbClr val="CFECF7"/>
                    </a:solidFill>
                  </a:tcPr>
                </a:tc>
                <a:extLst>
                  <a:ext uri="{0D108BD9-81ED-4DB2-BD59-A6C34878D82A}">
                    <a16:rowId xmlns:a16="http://schemas.microsoft.com/office/drawing/2014/main" val="10013"/>
                  </a:ext>
                </a:extLst>
              </a:tr>
            </a:tbl>
          </a:graphicData>
        </a:graphic>
      </p:graphicFrame>
      <p:graphicFrame>
        <p:nvGraphicFramePr>
          <p:cNvPr id="4" name="Google Shape;1175;p114">
            <a:extLst>
              <a:ext uri="{FF2B5EF4-FFF2-40B4-BE49-F238E27FC236}">
                <a16:creationId xmlns:a16="http://schemas.microsoft.com/office/drawing/2014/main" id="{0959A2B0-2CDE-B599-D1A6-61E37919012D}"/>
              </a:ext>
            </a:extLst>
          </p:cNvPr>
          <p:cNvGraphicFramePr/>
          <p:nvPr>
            <p:extLst>
              <p:ext uri="{D42A27DB-BD31-4B8C-83A1-F6EECF244321}">
                <p14:modId xmlns:p14="http://schemas.microsoft.com/office/powerpoint/2010/main" val="1100143486"/>
              </p:ext>
            </p:extLst>
          </p:nvPr>
        </p:nvGraphicFramePr>
        <p:xfrm>
          <a:off x="8235342" y="3108952"/>
          <a:ext cx="1640200" cy="4406488"/>
        </p:xfrm>
        <a:graphic>
          <a:graphicData uri="http://schemas.openxmlformats.org/drawingml/2006/table">
            <a:tbl>
              <a:tblPr>
                <a:noFill/>
              </a:tblPr>
              <a:tblGrid>
                <a:gridCol w="1640200">
                  <a:extLst>
                    <a:ext uri="{9D8B030D-6E8A-4147-A177-3AD203B41FA5}">
                      <a16:colId xmlns:a16="http://schemas.microsoft.com/office/drawing/2014/main" val="20000"/>
                    </a:ext>
                  </a:extLst>
                </a:gridCol>
              </a:tblGrid>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1" u="none" strike="noStrike" cap="none">
                          <a:solidFill>
                            <a:schemeClr val="tx1"/>
                          </a:solidFill>
                          <a:latin typeface="PT Serif" panose="020A0603040505020204" pitchFamily="18" charset="0"/>
                          <a:ea typeface="Open Sans Light"/>
                          <a:cs typeface="Open Sans Light"/>
                          <a:sym typeface="Open Sans Light"/>
                        </a:rPr>
                        <a:t>Distance</a:t>
                      </a:r>
                      <a:endParaRPr sz="1800" u="none" strike="noStrike" cap="none">
                        <a:solidFill>
                          <a:schemeClr val="tx1"/>
                        </a:solidFill>
                        <a:latin typeface="PT Serif" panose="020A0603040505020204" pitchFamily="18" charset="0"/>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0"/>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a:solidFill>
                            <a:schemeClr val="tx1"/>
                          </a:solidFill>
                          <a:latin typeface="PT Serif" panose="020A0603040505020204" pitchFamily="18" charset="0"/>
                          <a:ea typeface="Open Sans Light"/>
                          <a:cs typeface="Open Sans Light"/>
                          <a:sym typeface="Open Sans Light"/>
                        </a:rPr>
                        <a:t>0.7652</a:t>
                      </a:r>
                      <a:endParaRPr sz="1800" u="none" strike="noStrike" cap="none">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1"/>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a:solidFill>
                            <a:schemeClr val="tx1"/>
                          </a:solidFill>
                          <a:latin typeface="PT Serif" panose="020A0603040505020204" pitchFamily="18" charset="0"/>
                          <a:ea typeface="Open Sans Light"/>
                          <a:cs typeface="Open Sans Light"/>
                          <a:sym typeface="Open Sans Light"/>
                        </a:rPr>
                        <a:t>0.5200</a:t>
                      </a:r>
                      <a:endParaRPr sz="1800" u="none" strike="noStrike" cap="none">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2"/>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a:solidFill>
                            <a:schemeClr val="tx1"/>
                          </a:solidFill>
                          <a:latin typeface="PT Serif" panose="020A0603040505020204" pitchFamily="18" charset="0"/>
                          <a:ea typeface="Open Sans Light"/>
                          <a:cs typeface="Open Sans Light"/>
                          <a:sym typeface="Open Sans Light"/>
                        </a:rPr>
                        <a:t>0.3160</a:t>
                      </a:r>
                      <a:endParaRPr sz="1800" u="none" strike="noStrike" cap="none">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3"/>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dirty="0">
                          <a:solidFill>
                            <a:schemeClr val="tx1"/>
                          </a:solidFill>
                          <a:latin typeface="PT Serif" panose="020A0603040505020204" pitchFamily="18" charset="0"/>
                          <a:ea typeface="Open Sans Light"/>
                          <a:cs typeface="Open Sans Light"/>
                          <a:sym typeface="Open Sans Light"/>
                        </a:rPr>
                        <a:t>0.9245</a:t>
                      </a:r>
                      <a:endParaRPr lang="en-US" sz="1800" u="none" strike="noStrike" cap="none" dirty="0">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4"/>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a:solidFill>
                            <a:schemeClr val="tx1"/>
                          </a:solidFill>
                          <a:latin typeface="PT Serif" panose="020A0603040505020204" pitchFamily="18" charset="0"/>
                          <a:ea typeface="Open Sans Light"/>
                          <a:cs typeface="Open Sans Light"/>
                          <a:sym typeface="Open Sans Light"/>
                        </a:rPr>
                        <a:t>0.3428</a:t>
                      </a:r>
                      <a:endParaRPr lang="en-US" sz="1800" u="none" strike="noStrike" cap="none" dirty="0">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5"/>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a:solidFill>
                            <a:schemeClr val="tx1"/>
                          </a:solidFill>
                          <a:latin typeface="PT Serif" panose="020A0603040505020204" pitchFamily="18" charset="0"/>
                          <a:ea typeface="Open Sans Light"/>
                          <a:cs typeface="Open Sans Light"/>
                          <a:sym typeface="Open Sans Light"/>
                        </a:rPr>
                        <a:t>0.6220</a:t>
                      </a:r>
                      <a:endParaRPr lang="en-US" sz="1800" u="none" strike="noStrike" cap="none">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6"/>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a:solidFill>
                            <a:schemeClr val="tx1"/>
                          </a:solidFill>
                          <a:latin typeface="PT Serif" panose="020A0603040505020204" pitchFamily="18" charset="0"/>
                          <a:ea typeface="Open Sans Light"/>
                          <a:cs typeface="Open Sans Light"/>
                          <a:sym typeface="Open Sans Light"/>
                        </a:rPr>
                        <a:t>0.6669</a:t>
                      </a:r>
                      <a:endParaRPr lang="en-US" sz="1800" u="none" strike="noStrike" cap="none" dirty="0">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7"/>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a:solidFill>
                            <a:schemeClr val="tx1"/>
                          </a:solidFill>
                          <a:latin typeface="PT Serif" panose="020A0603040505020204" pitchFamily="18" charset="0"/>
                          <a:ea typeface="Open Sans Light"/>
                          <a:cs typeface="Open Sans Light"/>
                          <a:sym typeface="Open Sans Light"/>
                        </a:rPr>
                        <a:t>0.4437</a:t>
                      </a:r>
                      <a:endParaRPr lang="en-US" sz="1800" u="none" strike="noStrike" cap="none">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8"/>
                  </a:ext>
                </a:extLst>
              </a:tr>
              <a:tr h="288608">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dirty="0">
                          <a:solidFill>
                            <a:schemeClr val="tx1"/>
                          </a:solidFill>
                          <a:latin typeface="PT Serif" panose="020A0603040505020204" pitchFamily="18" charset="0"/>
                          <a:ea typeface="Open Sans Light"/>
                          <a:cs typeface="Open Sans Light"/>
                          <a:sym typeface="Open Sans Light"/>
                        </a:rPr>
                        <a:t>0.3650</a:t>
                      </a:r>
                      <a:endParaRPr lang="en-US" sz="1800" u="none" strike="noStrike" cap="none" dirty="0">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09"/>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dirty="0">
                          <a:solidFill>
                            <a:schemeClr val="tx1"/>
                          </a:solidFill>
                          <a:latin typeface="PT Serif" panose="020A0603040505020204" pitchFamily="18" charset="0"/>
                          <a:ea typeface="Open Sans Light"/>
                          <a:cs typeface="Open Sans Light"/>
                          <a:sym typeface="Open Sans Light"/>
                        </a:rPr>
                        <a:t>0.3861</a:t>
                      </a:r>
                      <a:endParaRPr sz="1800" u="none" strike="noStrike" cap="none" dirty="0">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0"/>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r>
                        <a:rPr lang="en-US" sz="1800" b="0" u="none" strike="noStrike" cap="none" dirty="0">
                          <a:solidFill>
                            <a:schemeClr val="tx1"/>
                          </a:solidFill>
                          <a:latin typeface="PT Serif" panose="020A0603040505020204" pitchFamily="18" charset="0"/>
                          <a:ea typeface="Open Sans Light"/>
                          <a:cs typeface="Open Sans Light"/>
                          <a:sym typeface="Open Sans Light"/>
                        </a:rPr>
                        <a:t>0.3771</a:t>
                      </a:r>
                      <a:endParaRPr sz="1800" u="none" strike="noStrike" cap="none" dirty="0">
                        <a:solidFill>
                          <a:schemeClr val="tx1"/>
                        </a:solidFill>
                        <a:latin typeface="PT Serif" panose="020A0603040505020204" pitchFamily="18" charset="0"/>
                      </a:endParaRPr>
                    </a:p>
                  </a:txBody>
                  <a:tcPr marL="11440" marR="11440" marT="11440" marB="0" anchor="b">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1"/>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endParaRPr sz="1800" b="0" u="none" strike="noStrike" cap="none">
                        <a:solidFill>
                          <a:schemeClr val="tx1"/>
                        </a:solidFill>
                        <a:latin typeface="PT Serif" panose="020A0603040505020204" pitchFamily="18" charset="0"/>
                        <a:ea typeface="Open Sans Light"/>
                        <a:cs typeface="Open Sans Light"/>
                        <a:sym typeface="Open Sans Light"/>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2"/>
                  </a:ext>
                </a:extLst>
              </a:tr>
              <a:tr h="316760">
                <a:tc>
                  <a:txBody>
                    <a:bodyPr/>
                    <a:lstStyle/>
                    <a:p>
                      <a:pPr marL="0" marR="0" lvl="0" indent="0" algn="ctr" rtl="0">
                        <a:lnSpc>
                          <a:spcPct val="100000"/>
                        </a:lnSpc>
                        <a:spcBef>
                          <a:spcPts val="0"/>
                        </a:spcBef>
                        <a:spcAft>
                          <a:spcPts val="0"/>
                        </a:spcAft>
                        <a:buClr>
                          <a:srgbClr val="000000"/>
                        </a:buClr>
                        <a:buSzPts val="1200"/>
                        <a:buFont typeface="Arial"/>
                        <a:buNone/>
                      </a:pPr>
                      <a:endParaRPr sz="1800" b="0" u="none" strike="noStrike" cap="none" dirty="0">
                        <a:solidFill>
                          <a:schemeClr val="tx1"/>
                        </a:solidFill>
                        <a:latin typeface="PT Serif" panose="020A0603040505020204" pitchFamily="18" charset="0"/>
                        <a:ea typeface="Open Sans Light"/>
                        <a:cs typeface="Open Sans Light"/>
                        <a:sym typeface="Open Sans Light"/>
                      </a:endParaRPr>
                    </a:p>
                  </a:txBody>
                  <a:tcPr marL="11440" marR="11440" marT="11440" marB="0" anchor="ctr">
                    <a:lnL w="9525" cap="flat" cmpd="sng">
                      <a:solidFill>
                        <a:srgbClr val="A9A9AD"/>
                      </a:solidFill>
                      <a:prstDash val="solid"/>
                      <a:round/>
                      <a:headEnd type="none" w="sm" len="sm"/>
                      <a:tailEnd type="none" w="sm" len="sm"/>
                    </a:lnL>
                    <a:lnR w="9525" cap="flat" cmpd="sng">
                      <a:solidFill>
                        <a:srgbClr val="A9A9AD"/>
                      </a:solidFill>
                      <a:prstDash val="solid"/>
                      <a:round/>
                      <a:headEnd type="none" w="sm" len="sm"/>
                      <a:tailEnd type="none" w="sm" len="sm"/>
                    </a:lnR>
                    <a:lnT w="9525" cap="flat" cmpd="sng">
                      <a:solidFill>
                        <a:srgbClr val="A9A9AD"/>
                      </a:solidFill>
                      <a:prstDash val="solid"/>
                      <a:round/>
                      <a:headEnd type="none" w="sm" len="sm"/>
                      <a:tailEnd type="none" w="sm" len="sm"/>
                    </a:lnT>
                    <a:lnB w="9525" cap="flat" cmpd="sng">
                      <a:solidFill>
                        <a:srgbClr val="A9A9AD"/>
                      </a:solidFill>
                      <a:prstDash val="solid"/>
                      <a:round/>
                      <a:headEnd type="none" w="sm" len="sm"/>
                      <a:tailEnd type="none" w="sm" len="sm"/>
                    </a:lnB>
                  </a:tcPr>
                </a:tc>
                <a:extLst>
                  <a:ext uri="{0D108BD9-81ED-4DB2-BD59-A6C34878D82A}">
                    <a16:rowId xmlns:a16="http://schemas.microsoft.com/office/drawing/2014/main" val="10013"/>
                  </a:ext>
                </a:extLst>
              </a:tr>
            </a:tbl>
          </a:graphicData>
        </a:graphic>
      </p:graphicFrame>
      <p:sp>
        <p:nvSpPr>
          <p:cNvPr id="6" name="Google Shape;1177;p114">
            <a:extLst>
              <a:ext uri="{FF2B5EF4-FFF2-40B4-BE49-F238E27FC236}">
                <a16:creationId xmlns:a16="http://schemas.microsoft.com/office/drawing/2014/main" id="{9FECAFF9-AD9F-5F2F-51CB-4B4EA5AFA4BF}"/>
              </a:ext>
            </a:extLst>
          </p:cNvPr>
          <p:cNvSpPr/>
          <p:nvPr/>
        </p:nvSpPr>
        <p:spPr>
          <a:xfrm>
            <a:off x="2911705" y="1487555"/>
            <a:ext cx="2422295" cy="722245"/>
          </a:xfrm>
          <a:prstGeom prst="roundRect">
            <a:avLst>
              <a:gd name="adj" fmla="val 16667"/>
            </a:avLst>
          </a:prstGeom>
          <a:blipFill rotWithShape="1">
            <a:blip r:embed="rId2">
              <a:alphaModFix/>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a:blipFill>
          <a:ln w="9525" cap="flat" cmpd="sng">
            <a:solidFill>
              <a:schemeClr val="accent1"/>
            </a:solidFill>
            <a:prstDash val="solid"/>
            <a:round/>
            <a:headEnd type="none" w="sm" len="sm"/>
            <a:tailEnd type="none" w="sm" len="sm"/>
          </a:ln>
        </p:spPr>
        <p:txBody>
          <a:bodyPr spcFirstLastPara="1" wrap="square" lIns="109720" tIns="54840" rIns="109720" bIns="54840" anchor="t" anchorCtr="0">
            <a:noAutofit/>
          </a:bodyPr>
          <a:lstStyle/>
          <a:p>
            <a:pPr>
              <a:buClr>
                <a:srgbClr val="000000"/>
              </a:buClr>
              <a:buSzPts val="1800"/>
            </a:pPr>
            <a:r>
              <a:rPr lang="en-US" sz="2880">
                <a:solidFill>
                  <a:schemeClr val="tx1"/>
                </a:solidFill>
                <a:latin typeface="PT Serif" panose="020A0603040505020204" pitchFamily="18" charset="0"/>
                <a:ea typeface="Open Sans Light"/>
                <a:cs typeface="Open Sans Light"/>
                <a:sym typeface="Open Sans Light"/>
              </a:rPr>
              <a:t> </a:t>
            </a:r>
            <a:endParaRPr sz="1760">
              <a:solidFill>
                <a:schemeClr val="tx1"/>
              </a:solidFill>
              <a:latin typeface="PT Serif" panose="020A0603040505020204" pitchFamily="18" charset="0"/>
              <a:ea typeface="Arial"/>
              <a:cs typeface="Arial"/>
              <a:sym typeface="Arial"/>
            </a:endParaRPr>
          </a:p>
        </p:txBody>
      </p:sp>
      <p:sp>
        <p:nvSpPr>
          <p:cNvPr id="7" name="Google Shape;1178;p114">
            <a:extLst>
              <a:ext uri="{FF2B5EF4-FFF2-40B4-BE49-F238E27FC236}">
                <a16:creationId xmlns:a16="http://schemas.microsoft.com/office/drawing/2014/main" id="{79C4A08F-C6CB-85EF-A5BF-4A7BD4EC95BF}"/>
              </a:ext>
            </a:extLst>
          </p:cNvPr>
          <p:cNvSpPr txBox="1"/>
          <p:nvPr/>
        </p:nvSpPr>
        <p:spPr>
          <a:xfrm>
            <a:off x="6887457" y="1158237"/>
            <a:ext cx="4313943" cy="1545600"/>
          </a:xfrm>
          <a:prstGeom prst="rect">
            <a:avLst/>
          </a:prstGeom>
          <a:blipFill rotWithShape="1">
            <a:blip r:embed="rId4">
              <a:alphaModFix/>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l="-751" b="-2367"/>
            </a:stretch>
          </a:blipFill>
          <a:ln>
            <a:noFill/>
          </a:ln>
        </p:spPr>
        <p:txBody>
          <a:bodyPr spcFirstLastPara="1" wrap="square" lIns="109720" tIns="54840" rIns="109720" bIns="54840" anchor="t" anchorCtr="0">
            <a:noAutofit/>
          </a:bodyPr>
          <a:lstStyle/>
          <a:p>
            <a:pPr>
              <a:buClr>
                <a:srgbClr val="000000"/>
              </a:buClr>
              <a:buSzPts val="1800"/>
            </a:pPr>
            <a:r>
              <a:rPr lang="en-US" sz="2880">
                <a:solidFill>
                  <a:schemeClr val="tx1"/>
                </a:solidFill>
                <a:latin typeface="PT Serif" panose="020A0603040505020204" pitchFamily="18" charset="0"/>
                <a:ea typeface="Open Sans Light"/>
                <a:cs typeface="Open Sans Light"/>
                <a:sym typeface="Open Sans Light"/>
              </a:rPr>
              <a:t> </a:t>
            </a:r>
            <a:endParaRPr sz="1760">
              <a:solidFill>
                <a:schemeClr val="tx1"/>
              </a:solidFill>
              <a:latin typeface="PT Serif" panose="020A0603040505020204" pitchFamily="18" charset="0"/>
              <a:ea typeface="Arial"/>
              <a:cs typeface="Arial"/>
              <a:sym typeface="Arial"/>
            </a:endParaRPr>
          </a:p>
        </p:txBody>
      </p:sp>
      <p:sp>
        <p:nvSpPr>
          <p:cNvPr id="8" name="Google Shape;1179;p114">
            <a:extLst>
              <a:ext uri="{FF2B5EF4-FFF2-40B4-BE49-F238E27FC236}">
                <a16:creationId xmlns:a16="http://schemas.microsoft.com/office/drawing/2014/main" id="{27285583-3A0E-79FC-47E1-E50D91F08CA0}"/>
              </a:ext>
            </a:extLst>
          </p:cNvPr>
          <p:cNvSpPr/>
          <p:nvPr/>
        </p:nvSpPr>
        <p:spPr>
          <a:xfrm>
            <a:off x="2934446" y="4069080"/>
            <a:ext cx="6912960" cy="296160"/>
          </a:xfrm>
          <a:prstGeom prst="rect">
            <a:avLst/>
          </a:prstGeom>
          <a:solidFill>
            <a:srgbClr val="1B8980">
              <a:alpha val="49411"/>
            </a:srgbClr>
          </a:solidFill>
          <a:ln w="25400" cap="flat" cmpd="sng">
            <a:solidFill>
              <a:srgbClr val="1B8980"/>
            </a:solidFill>
            <a:prstDash val="solid"/>
            <a:round/>
            <a:headEnd type="none" w="sm" len="sm"/>
            <a:tailEnd type="none" w="sm" len="sm"/>
          </a:ln>
        </p:spPr>
        <p:txBody>
          <a:bodyPr spcFirstLastPara="1" wrap="square" lIns="109720" tIns="54840" rIns="109720" bIns="54840" anchor="ctr" anchorCtr="0">
            <a:noAutofit/>
          </a:bodyPr>
          <a:lstStyle/>
          <a:p>
            <a:pPr algn="ctr">
              <a:buClr>
                <a:srgbClr val="000000"/>
              </a:buClr>
              <a:buSzPts val="1800"/>
            </a:pPr>
            <a:endParaRPr sz="2880">
              <a:solidFill>
                <a:schemeClr val="tx1"/>
              </a:solidFill>
              <a:latin typeface="PT Serif" panose="020A0603040505020204" pitchFamily="18" charset="0"/>
              <a:ea typeface="Open Sans Light"/>
              <a:cs typeface="Open Sans Light"/>
              <a:sym typeface="Open Sans Light"/>
            </a:endParaRPr>
          </a:p>
        </p:txBody>
      </p:sp>
      <p:sp>
        <p:nvSpPr>
          <p:cNvPr id="9" name="Google Shape;1180;p114">
            <a:extLst>
              <a:ext uri="{FF2B5EF4-FFF2-40B4-BE49-F238E27FC236}">
                <a16:creationId xmlns:a16="http://schemas.microsoft.com/office/drawing/2014/main" id="{85C5F2A4-E285-4651-2179-6296B4182343}"/>
              </a:ext>
            </a:extLst>
          </p:cNvPr>
          <p:cNvSpPr txBox="1"/>
          <p:nvPr/>
        </p:nvSpPr>
        <p:spPr>
          <a:xfrm>
            <a:off x="10049190" y="3931921"/>
            <a:ext cx="3895410" cy="941748"/>
          </a:xfrm>
          <a:prstGeom prst="rect">
            <a:avLst/>
          </a:prstGeom>
          <a:noFill/>
          <a:ln>
            <a:noFill/>
          </a:ln>
        </p:spPr>
        <p:txBody>
          <a:bodyPr spcFirstLastPara="1" wrap="square" lIns="109720" tIns="54840" rIns="109720" bIns="54840" anchor="t" anchorCtr="0">
            <a:spAutoFit/>
          </a:bodyPr>
          <a:lstStyle/>
          <a:p>
            <a:pPr>
              <a:lnSpc>
                <a:spcPct val="150000"/>
              </a:lnSpc>
              <a:buClr>
                <a:srgbClr val="000000"/>
              </a:buClr>
              <a:buSzPts val="1200"/>
            </a:pPr>
            <a:r>
              <a:rPr lang="en-US" dirty="0">
                <a:solidFill>
                  <a:schemeClr val="tx1"/>
                </a:solidFill>
                <a:latin typeface="PT Serif" panose="020A0603040505020204" pitchFamily="18" charset="0"/>
                <a:ea typeface="Open Sans Light"/>
                <a:cs typeface="Open Sans Light"/>
                <a:sym typeface="Open Sans Light"/>
              </a:rPr>
              <a:t>New observation will be   </a:t>
            </a:r>
            <a:r>
              <a:rPr lang="en-US" b="1" dirty="0">
                <a:solidFill>
                  <a:schemeClr val="tx1"/>
                </a:solidFill>
                <a:latin typeface="PT Serif" panose="020A0603040505020204" pitchFamily="18" charset="0"/>
                <a:ea typeface="Open Sans Light"/>
                <a:cs typeface="Open Sans Light"/>
                <a:sym typeface="Open Sans Light"/>
              </a:rPr>
              <a:t>classified as “N” assuming K=1</a:t>
            </a:r>
            <a:endParaRPr dirty="0">
              <a:solidFill>
                <a:schemeClr val="tx1"/>
              </a:solidFill>
              <a:latin typeface="PT Serif" panose="020A0603040505020204" pitchFamily="18" charset="0"/>
              <a:ea typeface="Arial"/>
              <a:cs typeface="Arial"/>
              <a:sym typeface="Arial"/>
            </a:endParaRPr>
          </a:p>
        </p:txBody>
      </p:sp>
    </p:spTree>
    <p:extLst>
      <p:ext uri="{BB962C8B-B14F-4D97-AF65-F5344CB8AC3E}">
        <p14:creationId xmlns:p14="http://schemas.microsoft.com/office/powerpoint/2010/main" val="3553963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9393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Classification using K=3</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942748"/>
            <a:ext cx="3818574" cy="3179903"/>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5" y="2980643"/>
            <a:ext cx="3454676" cy="4520316"/>
          </a:xfrm>
          <a:prstGeom prst="rect">
            <a:avLst/>
          </a:prstGeom>
          <a:noFill/>
          <a:ln/>
        </p:spPr>
        <p:txBody>
          <a:bodyPr wrap="square" lIns="0" tIns="0" rIns="0" bIns="0" rtlCol="0" anchor="t"/>
          <a:lstStyle/>
          <a:p>
            <a:pPr marL="0" indent="0" algn="ctr">
              <a:lnSpc>
                <a:spcPts val="5150"/>
              </a:lnSpc>
              <a:buNone/>
            </a:pPr>
            <a:r>
              <a:rPr lang="en-US" sz="3600" dirty="0">
                <a:solidFill>
                  <a:srgbClr val="383838"/>
                </a:solidFill>
                <a:latin typeface="PT Serif" panose="020A0603040505020204" pitchFamily="18" charset="0"/>
                <a:ea typeface="PT Serif" pitchFamily="34" charset="-122"/>
                <a:cs typeface="PT Serif" pitchFamily="34" charset="-120"/>
              </a:rPr>
              <a:t>0.365</a:t>
            </a:r>
          </a:p>
          <a:p>
            <a:pPr algn="ctr">
              <a:lnSpc>
                <a:spcPts val="5150"/>
              </a:lnSpc>
            </a:pPr>
            <a:r>
              <a:rPr lang="en-US" sz="2400" dirty="0">
                <a:solidFill>
                  <a:srgbClr val="383838"/>
                </a:solidFill>
                <a:latin typeface="PT Serif" panose="020A0603040505020204" pitchFamily="18" charset="0"/>
                <a:ea typeface="PT Serif" pitchFamily="34" charset="-122"/>
                <a:cs typeface="PT Serif" pitchFamily="34" charset="-120"/>
              </a:rPr>
              <a:t>Third Shortest</a:t>
            </a:r>
            <a:endParaRPr lang="en-US" sz="2400" dirty="0">
              <a:latin typeface="PT Serif" panose="020A0603040505020204" pitchFamily="18" charset="0"/>
            </a:endParaRPr>
          </a:p>
          <a:p>
            <a:pPr algn="ctr">
              <a:lnSpc>
                <a:spcPts val="5150"/>
              </a:lnSpc>
            </a:pPr>
            <a:r>
              <a:rPr lang="en-US" dirty="0">
                <a:solidFill>
                  <a:srgbClr val="383838"/>
                </a:solidFill>
                <a:latin typeface="PT Serif" panose="020A0603040505020204" pitchFamily="18" charset="0"/>
                <a:ea typeface="DM Sans" pitchFamily="34" charset="-122"/>
                <a:cs typeface="DM Sans" pitchFamily="34" charset="-120"/>
              </a:rPr>
              <a:t>Ninth training observation</a:t>
            </a:r>
          </a:p>
          <a:p>
            <a:pPr algn="ctr">
              <a:lnSpc>
                <a:spcPts val="5150"/>
              </a:lnSpc>
            </a:pPr>
            <a:r>
              <a:rPr lang="en-US" dirty="0">
                <a:solidFill>
                  <a:srgbClr val="383838"/>
                </a:solidFill>
                <a:latin typeface="PT Serif" panose="020A0603040505020204" pitchFamily="18" charset="0"/>
                <a:ea typeface="DM Sans" pitchFamily="34" charset="-122"/>
                <a:cs typeface="DM Sans" pitchFamily="34" charset="-120"/>
              </a:rPr>
              <a:t> (Age 60, Debt $100,000)</a:t>
            </a:r>
            <a:endParaRPr lang="en-US" dirty="0">
              <a:latin typeface="PT Serif" panose="020A0603040505020204" pitchFamily="18" charset="0"/>
            </a:endParaRPr>
          </a:p>
          <a:p>
            <a:pPr marL="0" indent="0" algn="ctr">
              <a:lnSpc>
                <a:spcPts val="5150"/>
              </a:lnSpc>
              <a:buNone/>
            </a:pPr>
            <a:endParaRPr lang="en-US" sz="2400"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907103"/>
            <a:ext cx="4114305" cy="3172680"/>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989858"/>
            <a:ext cx="3713225" cy="4865280"/>
          </a:xfrm>
          <a:prstGeom prst="rect">
            <a:avLst/>
          </a:prstGeom>
          <a:noFill/>
          <a:ln/>
        </p:spPr>
        <p:txBody>
          <a:bodyPr wrap="square" lIns="0" tIns="0" rIns="0" bIns="0" rtlCol="0" anchor="t"/>
          <a:lstStyle/>
          <a:p>
            <a:pPr marL="0" indent="0" algn="ctr">
              <a:lnSpc>
                <a:spcPts val="5150"/>
              </a:lnSpc>
              <a:buNone/>
            </a:pPr>
            <a:r>
              <a:rPr lang="en-US" sz="3600" dirty="0">
                <a:solidFill>
                  <a:srgbClr val="383838"/>
                </a:solidFill>
                <a:latin typeface="PT Serif" panose="020A0603040505020204" pitchFamily="18" charset="0"/>
                <a:ea typeface="PT Serif" pitchFamily="34" charset="-122"/>
                <a:cs typeface="PT Serif" pitchFamily="34" charset="-120"/>
              </a:rPr>
              <a:t>0.316</a:t>
            </a:r>
          </a:p>
          <a:p>
            <a:pPr algn="ctr">
              <a:lnSpc>
                <a:spcPts val="5150"/>
              </a:lnSpc>
            </a:pPr>
            <a:r>
              <a:rPr lang="en-US" sz="2400" dirty="0">
                <a:solidFill>
                  <a:srgbClr val="383838"/>
                </a:solidFill>
                <a:latin typeface="PT Serif" panose="020A0603040505020204" pitchFamily="18" charset="0"/>
                <a:ea typeface="PT Serif" pitchFamily="34" charset="-122"/>
                <a:cs typeface="PT Serif" pitchFamily="34" charset="-120"/>
              </a:rPr>
              <a:t>Shortest Distance</a:t>
            </a:r>
            <a:endParaRPr lang="en-US" sz="2400" dirty="0">
              <a:latin typeface="PT Serif" panose="020A0603040505020204" pitchFamily="18" charset="0"/>
            </a:endParaRPr>
          </a:p>
          <a:p>
            <a:pPr algn="ctr">
              <a:lnSpc>
                <a:spcPts val="5150"/>
              </a:lnSpc>
            </a:pPr>
            <a:r>
              <a:rPr lang="en-US" dirty="0">
                <a:solidFill>
                  <a:srgbClr val="383838"/>
                </a:solidFill>
                <a:latin typeface="PT Serif" panose="020A0603040505020204" pitchFamily="18" charset="0"/>
                <a:ea typeface="DM Sans" pitchFamily="34" charset="-122"/>
                <a:cs typeface="DM Sans" pitchFamily="34" charset="-120"/>
              </a:rPr>
              <a:t>Third training observation </a:t>
            </a:r>
          </a:p>
          <a:p>
            <a:pPr algn="ctr">
              <a:lnSpc>
                <a:spcPts val="5150"/>
              </a:lnSpc>
            </a:pPr>
            <a:r>
              <a:rPr lang="en-US" dirty="0">
                <a:solidFill>
                  <a:srgbClr val="383838"/>
                </a:solidFill>
                <a:latin typeface="PT Serif" panose="020A0603040505020204" pitchFamily="18" charset="0"/>
                <a:ea typeface="DM Sans" pitchFamily="34" charset="-122"/>
                <a:cs typeface="DM Sans" pitchFamily="34" charset="-120"/>
              </a:rPr>
              <a:t>(Age 45, Debt $80,000)</a:t>
            </a:r>
            <a:endParaRPr lang="en-US" dirty="0">
              <a:latin typeface="PT Serif" panose="020A0603040505020204" pitchFamily="18" charset="0"/>
            </a:endParaRPr>
          </a:p>
          <a:p>
            <a:pPr marL="0" indent="0" algn="ctr">
              <a:lnSpc>
                <a:spcPts val="5150"/>
              </a:lnSpc>
              <a:buNone/>
            </a:pPr>
            <a:endParaRPr lang="en-US" sz="2400"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895600"/>
            <a:ext cx="4114305" cy="3184183"/>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989858"/>
            <a:ext cx="3604657" cy="4865280"/>
          </a:xfrm>
          <a:prstGeom prst="rect">
            <a:avLst/>
          </a:prstGeom>
          <a:noFill/>
          <a:ln/>
        </p:spPr>
        <p:txBody>
          <a:bodyPr wrap="square" lIns="0" tIns="0" rIns="0" bIns="0" rtlCol="0" anchor="t"/>
          <a:lstStyle/>
          <a:p>
            <a:pPr marL="0" indent="0" algn="ctr">
              <a:lnSpc>
                <a:spcPts val="5150"/>
              </a:lnSpc>
              <a:buNone/>
            </a:pPr>
            <a:r>
              <a:rPr lang="en-US" sz="3600" dirty="0">
                <a:solidFill>
                  <a:srgbClr val="383838"/>
                </a:solidFill>
                <a:latin typeface="PT Serif" panose="020A0603040505020204" pitchFamily="18" charset="0"/>
                <a:ea typeface="PT Serif" pitchFamily="34" charset="-122"/>
                <a:cs typeface="PT Serif" pitchFamily="34" charset="-120"/>
              </a:rPr>
              <a:t>0.343</a:t>
            </a:r>
          </a:p>
          <a:p>
            <a:pPr algn="ctr">
              <a:lnSpc>
                <a:spcPts val="5150"/>
              </a:lnSpc>
            </a:pPr>
            <a:r>
              <a:rPr lang="en-US" sz="2400" dirty="0">
                <a:solidFill>
                  <a:srgbClr val="383838"/>
                </a:solidFill>
                <a:latin typeface="PT Serif" panose="020A0603040505020204" pitchFamily="18" charset="0"/>
                <a:ea typeface="PT Serif" pitchFamily="34" charset="-122"/>
                <a:cs typeface="PT Serif" pitchFamily="34" charset="-120"/>
              </a:rPr>
              <a:t>Second Shortest</a:t>
            </a:r>
            <a:endParaRPr lang="en-US" sz="2400" dirty="0">
              <a:latin typeface="PT Serif" panose="020A0603040505020204" pitchFamily="18" charset="0"/>
            </a:endParaRPr>
          </a:p>
          <a:p>
            <a:pPr algn="ctr">
              <a:lnSpc>
                <a:spcPts val="5150"/>
              </a:lnSpc>
            </a:pPr>
            <a:r>
              <a:rPr lang="en-US" dirty="0">
                <a:solidFill>
                  <a:srgbClr val="383838"/>
                </a:solidFill>
                <a:latin typeface="PT Serif" panose="020A0603040505020204" pitchFamily="18" charset="0"/>
                <a:ea typeface="DM Sans" pitchFamily="34" charset="-122"/>
                <a:cs typeface="DM Sans" pitchFamily="34" charset="-120"/>
              </a:rPr>
              <a:t>Fifth training observation </a:t>
            </a:r>
          </a:p>
          <a:p>
            <a:pPr algn="ctr">
              <a:lnSpc>
                <a:spcPts val="5150"/>
              </a:lnSpc>
            </a:pPr>
            <a:r>
              <a:rPr lang="en-US" dirty="0">
                <a:solidFill>
                  <a:srgbClr val="383838"/>
                </a:solidFill>
                <a:latin typeface="PT Serif" panose="020A0603040505020204" pitchFamily="18" charset="0"/>
                <a:ea typeface="DM Sans" pitchFamily="34" charset="-122"/>
                <a:cs typeface="DM Sans" pitchFamily="34" charset="-120"/>
              </a:rPr>
              <a:t>(Age 35, Debt $120,000)</a:t>
            </a:r>
            <a:endParaRPr lang="en-US" dirty="0">
              <a:latin typeface="PT Serif" panose="020A0603040505020204" pitchFamily="18" charset="0"/>
            </a:endParaRPr>
          </a:p>
          <a:p>
            <a:pPr marL="0" indent="0" algn="ctr">
              <a:lnSpc>
                <a:spcPts val="5150"/>
              </a:lnSpc>
              <a:buNone/>
            </a:pPr>
            <a:endParaRPr lang="en-US" sz="2400" dirty="0">
              <a:latin typeface="PT Serif" panose="020A0603040505020204" pitchFamily="18" charset="0"/>
            </a:endParaRPr>
          </a:p>
        </p:txBody>
      </p:sp>
      <p:sp>
        <p:nvSpPr>
          <p:cNvPr id="12" name="TextBox 11">
            <a:extLst>
              <a:ext uri="{FF2B5EF4-FFF2-40B4-BE49-F238E27FC236}">
                <a16:creationId xmlns:a16="http://schemas.microsoft.com/office/drawing/2014/main" id="{925EC22F-D090-C146-5728-1EE282EE430D}"/>
              </a:ext>
            </a:extLst>
          </p:cNvPr>
          <p:cNvSpPr txBox="1"/>
          <p:nvPr/>
        </p:nvSpPr>
        <p:spPr>
          <a:xfrm>
            <a:off x="533400" y="1789951"/>
            <a:ext cx="13030201" cy="716350"/>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Once variables are standardized, we calculate the Euclidean distance from our new observation (Age: 0.7, Debt: 0.61) to each training case.</a:t>
            </a:r>
            <a:endParaRPr lang="en-US" sz="1800" dirty="0">
              <a:latin typeface="PT Serif" panose="020A0603040505020204" pitchFamily="18" charset="0"/>
            </a:endParaRPr>
          </a:p>
        </p:txBody>
      </p:sp>
      <p:sp>
        <p:nvSpPr>
          <p:cNvPr id="14" name="TextBox 13">
            <a:extLst>
              <a:ext uri="{FF2B5EF4-FFF2-40B4-BE49-F238E27FC236}">
                <a16:creationId xmlns:a16="http://schemas.microsoft.com/office/drawing/2014/main" id="{66A3DC7A-D9BB-3011-62E5-B990BD80411E}"/>
              </a:ext>
            </a:extLst>
          </p:cNvPr>
          <p:cNvSpPr txBox="1"/>
          <p:nvPr/>
        </p:nvSpPr>
        <p:spPr>
          <a:xfrm>
            <a:off x="533400" y="6535324"/>
            <a:ext cx="13178488" cy="716350"/>
          </a:xfrm>
          <a:prstGeom prst="rect">
            <a:avLst/>
          </a:prstGeom>
          <a:noFill/>
        </p:spPr>
        <p:txBody>
          <a:bodyPr wrap="square">
            <a:spAutoFit/>
          </a:bodyPr>
          <a:lstStyle/>
          <a:p>
            <a:pPr marL="0" indent="0" algn="l">
              <a:lnSpc>
                <a:spcPts val="2500"/>
              </a:lnSpc>
              <a:buNone/>
            </a:pPr>
            <a:r>
              <a:rPr lang="en-US" sz="1800" b="1" dirty="0">
                <a:solidFill>
                  <a:srgbClr val="383838"/>
                </a:solidFill>
                <a:latin typeface="PT Serif" panose="020A0603040505020204" pitchFamily="18" charset="0"/>
                <a:ea typeface="DM Sans" pitchFamily="34" charset="-122"/>
                <a:cs typeface="DM Sans" pitchFamily="34" charset="-120"/>
              </a:rPr>
              <a:t>Classification Result:</a:t>
            </a:r>
            <a:r>
              <a:rPr lang="en-US" sz="1800" dirty="0">
                <a:solidFill>
                  <a:srgbClr val="383838"/>
                </a:solidFill>
                <a:latin typeface="PT Serif" panose="020A0603040505020204" pitchFamily="18" charset="0"/>
                <a:ea typeface="DM Sans" pitchFamily="34" charset="-122"/>
                <a:cs typeface="DM Sans" pitchFamily="34" charset="-120"/>
              </a:rPr>
              <a:t> If K=3, we examine these three nearest neighbors. Two are non-defaulters (N) and one is a defaulter (Y). By majority vote, the new applicant is classified as a </a:t>
            </a:r>
            <a:r>
              <a:rPr lang="en-US" sz="1800" b="1" dirty="0">
                <a:solidFill>
                  <a:srgbClr val="383838"/>
                </a:solidFill>
                <a:latin typeface="PT Serif" panose="020A0603040505020204" pitchFamily="18" charset="0"/>
                <a:ea typeface="DM Sans" pitchFamily="34" charset="-122"/>
                <a:cs typeface="DM Sans" pitchFamily="34" charset="-120"/>
              </a:rPr>
              <a:t>non-defaulter (N)</a:t>
            </a:r>
            <a:r>
              <a:rPr lang="en-US" sz="1800" dirty="0">
                <a:solidFill>
                  <a:srgbClr val="383838"/>
                </a:solidFill>
                <a:latin typeface="PT Serif" panose="020A0603040505020204" pitchFamily="18" charset="0"/>
                <a:ea typeface="DM Sans" pitchFamily="34" charset="-122"/>
                <a:cs typeface="DM Sans" pitchFamily="34" charset="-120"/>
              </a:rPr>
              <a:t>.</a:t>
            </a:r>
            <a:endParaRPr lang="en-US" sz="1800" dirty="0">
              <a:latin typeface="PT Serif" panose="020A0603040505020204" pitchFamily="18" charset="0"/>
            </a:endParaRPr>
          </a:p>
        </p:txBody>
      </p:sp>
    </p:spTree>
    <p:extLst>
      <p:ext uri="{BB962C8B-B14F-4D97-AF65-F5344CB8AC3E}">
        <p14:creationId xmlns:p14="http://schemas.microsoft.com/office/powerpoint/2010/main" val="161291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228600"/>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Choosing the Right Value of K</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609600" y="1524000"/>
            <a:ext cx="6364224" cy="6312177"/>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Key Considerations</a:t>
            </a:r>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Odd numbers preferred:</a:t>
            </a:r>
            <a:r>
              <a:rPr lang="en-US" sz="1800" dirty="0">
                <a:solidFill>
                  <a:srgbClr val="383838"/>
                </a:solidFill>
                <a:ea typeface="DM Sans" pitchFamily="34" charset="-122"/>
                <a:cs typeface="DM Sans" pitchFamily="34" charset="-120"/>
              </a:rPr>
              <a:t> Using K=3, 5, or 7 helps avoid ties in binary classification</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Avoid extremes:</a:t>
            </a:r>
            <a:r>
              <a:rPr lang="en-US" sz="1800" dirty="0">
                <a:solidFill>
                  <a:srgbClr val="383838"/>
                </a:solidFill>
                <a:ea typeface="DM Sans" pitchFamily="34" charset="-122"/>
                <a:cs typeface="DM Sans" pitchFamily="34" charset="-120"/>
              </a:rPr>
              <a:t> K=1 is too sensitive to outliers; very large K includes distant points</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Consider class balance:</a:t>
            </a:r>
            <a:r>
              <a:rPr lang="en-US" sz="1800" dirty="0">
                <a:solidFill>
                  <a:srgbClr val="383838"/>
                </a:solidFill>
                <a:ea typeface="DM Sans" pitchFamily="34" charset="-122"/>
                <a:cs typeface="DM Sans" pitchFamily="34" charset="-120"/>
              </a:rPr>
              <a:t> When one class dominates, larger K may always predict the majority class</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Computational cost:</a:t>
            </a:r>
            <a:r>
              <a:rPr lang="en-US" sz="1800" dirty="0">
                <a:solidFill>
                  <a:srgbClr val="383838"/>
                </a:solidFill>
                <a:ea typeface="DM Sans" pitchFamily="34" charset="-122"/>
                <a:cs typeface="DM Sans" pitchFamily="34" charset="-120"/>
              </a:rPr>
              <a:t> Larger K requires more distance calculations</a:t>
            </a:r>
            <a:endParaRPr lang="en-US" sz="1800" dirty="0"/>
          </a:p>
          <a:p>
            <a:pPr algn="l">
              <a:lnSpc>
                <a:spcPct val="150000"/>
              </a:lnSpc>
            </a:pPr>
            <a:r>
              <a:rPr lang="en-US" sz="2400" dirty="0">
                <a:solidFill>
                  <a:srgbClr val="020202"/>
                </a:solidFill>
                <a:ea typeface="PT Serif" pitchFamily="34" charset="-122"/>
                <a:cs typeface="PT Serif" pitchFamily="34" charset="-120"/>
              </a:rPr>
              <a:t>The Thumb Rule</a:t>
            </a:r>
          </a:p>
          <a:p>
            <a:pPr algn="l">
              <a:lnSpc>
                <a:spcPct val="150000"/>
              </a:lnSpc>
            </a:pPr>
            <a:r>
              <a:rPr lang="en-US" sz="1800" dirty="0">
                <a:solidFill>
                  <a:srgbClr val="383838"/>
                </a:solidFill>
                <a:ea typeface="DM Sans" pitchFamily="34" charset="-122"/>
                <a:cs typeface="DM Sans" pitchFamily="34" charset="-120"/>
              </a:rPr>
              <a:t>where </a:t>
            </a:r>
            <a:r>
              <a:rPr lang="en-US" sz="1800" i="1" dirty="0">
                <a:solidFill>
                  <a:srgbClr val="383838"/>
                </a:solidFill>
                <a:ea typeface="DM Sans" pitchFamily="34" charset="-122"/>
                <a:cs typeface="DM Sans" pitchFamily="34" charset="-120"/>
              </a:rPr>
              <a:t>n</a:t>
            </a:r>
            <a:r>
              <a:rPr lang="en-US" sz="1800" dirty="0">
                <a:solidFill>
                  <a:srgbClr val="383838"/>
                </a:solidFill>
                <a:ea typeface="DM Sans" pitchFamily="34" charset="-122"/>
                <a:cs typeface="DM Sans" pitchFamily="34" charset="-120"/>
              </a:rPr>
              <a:t> is the number of observations in your training data. This provides a reasonable starting point for experimentation.</a:t>
            </a:r>
            <a:endParaRPr lang="en-US" sz="1800" dirty="0"/>
          </a:p>
          <a:p>
            <a:pPr algn="l">
              <a:lnSpc>
                <a:spcPct val="150000"/>
              </a:lnSpc>
            </a:pPr>
            <a:endParaRPr lang="en-US" sz="2400" dirty="0"/>
          </a:p>
          <a:p>
            <a:pPr marL="0" indent="0" algn="l">
              <a:lnSpc>
                <a:spcPct val="150000"/>
              </a:lnSpc>
              <a:buNone/>
            </a:pPr>
            <a:endParaRPr lang="en-US" sz="24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8297174" y="1524000"/>
            <a:ext cx="5715000" cy="3125727"/>
          </a:xfrm>
        </p:spPr>
        <p:txBody>
          <a:bodyPr/>
          <a:lstStyle/>
          <a:p>
            <a:pPr marL="0" indent="0" algn="l">
              <a:lnSpc>
                <a:spcPct val="150000"/>
              </a:lnSpc>
              <a:buNone/>
            </a:pPr>
            <a:r>
              <a:rPr lang="en-US" sz="2400" dirty="0">
                <a:solidFill>
                  <a:srgbClr val="000000"/>
                </a:solidFill>
                <a:ea typeface="PT Serif" pitchFamily="34" charset="-122"/>
                <a:cs typeface="PT Serif" pitchFamily="34" charset="-120"/>
              </a:rPr>
              <a:t>Example Calculations</a:t>
            </a:r>
          </a:p>
          <a:p>
            <a:pPr algn="l">
              <a:lnSpc>
                <a:spcPct val="150000"/>
              </a:lnSpc>
            </a:pPr>
            <a:r>
              <a:rPr lang="en-US" sz="1800" b="1" dirty="0">
                <a:solidFill>
                  <a:srgbClr val="000000"/>
                </a:solidFill>
                <a:ea typeface="DM Sans" pitchFamily="34" charset="-122"/>
                <a:cs typeface="DM Sans" pitchFamily="34" charset="-120"/>
              </a:rPr>
              <a:t>n = 100:</a:t>
            </a:r>
            <a:r>
              <a:rPr lang="en-US" sz="1800" dirty="0">
                <a:solidFill>
                  <a:srgbClr val="000000"/>
                </a:solidFill>
                <a:ea typeface="DM Sans" pitchFamily="34" charset="-122"/>
                <a:cs typeface="DM Sans" pitchFamily="34" charset="-120"/>
              </a:rPr>
              <a:t> K ≈ 10</a:t>
            </a:r>
            <a:endParaRPr lang="en-US" sz="1800" dirty="0"/>
          </a:p>
          <a:p>
            <a:pPr algn="l">
              <a:lnSpc>
                <a:spcPct val="150000"/>
              </a:lnSpc>
            </a:pPr>
            <a:r>
              <a:rPr lang="en-US" sz="1800" b="1" dirty="0">
                <a:solidFill>
                  <a:srgbClr val="000000"/>
                </a:solidFill>
                <a:ea typeface="DM Sans" pitchFamily="34" charset="-122"/>
                <a:cs typeface="DM Sans" pitchFamily="34" charset="-120"/>
              </a:rPr>
              <a:t>n = 400:</a:t>
            </a:r>
            <a:r>
              <a:rPr lang="en-US" sz="1800" dirty="0">
                <a:solidFill>
                  <a:srgbClr val="000000"/>
                </a:solidFill>
                <a:ea typeface="DM Sans" pitchFamily="34" charset="-122"/>
                <a:cs typeface="DM Sans" pitchFamily="34" charset="-120"/>
              </a:rPr>
              <a:t> K ≈ 20</a:t>
            </a:r>
            <a:endParaRPr lang="en-US" sz="1800" dirty="0"/>
          </a:p>
          <a:p>
            <a:pPr algn="l">
              <a:lnSpc>
                <a:spcPct val="150000"/>
              </a:lnSpc>
            </a:pPr>
            <a:r>
              <a:rPr lang="en-US" sz="1800" b="1" dirty="0">
                <a:solidFill>
                  <a:srgbClr val="000000"/>
                </a:solidFill>
                <a:ea typeface="DM Sans" pitchFamily="34" charset="-122"/>
                <a:cs typeface="DM Sans" pitchFamily="34" charset="-120"/>
              </a:rPr>
              <a:t>n = 1000:</a:t>
            </a:r>
            <a:r>
              <a:rPr lang="en-US" sz="1800" dirty="0">
                <a:solidFill>
                  <a:srgbClr val="000000"/>
                </a:solidFill>
                <a:ea typeface="DM Sans" pitchFamily="34" charset="-122"/>
                <a:cs typeface="DM Sans" pitchFamily="34" charset="-120"/>
              </a:rPr>
              <a:t> K ≈ 32</a:t>
            </a:r>
            <a:endParaRPr lang="en-US" sz="1800" dirty="0"/>
          </a:p>
          <a:p>
            <a:pPr algn="l">
              <a:lnSpc>
                <a:spcPct val="150000"/>
              </a:lnSpc>
            </a:pPr>
            <a:r>
              <a:rPr lang="en-US" sz="1800" dirty="0">
                <a:solidFill>
                  <a:srgbClr val="000000"/>
                </a:solidFill>
                <a:ea typeface="DM Sans" pitchFamily="34" charset="-122"/>
                <a:cs typeface="DM Sans" pitchFamily="34" charset="-120"/>
              </a:rPr>
              <a:t>Always test multiple K values and use cross-validation to find the optimal choice for your specific dataset.</a:t>
            </a:r>
            <a:endParaRPr lang="en-US" sz="1800" dirty="0"/>
          </a:p>
          <a:p>
            <a:pPr marL="0" indent="0" algn="l">
              <a:lnSpc>
                <a:spcPct val="150000"/>
              </a:lnSpc>
              <a:buNone/>
            </a:pPr>
            <a:endParaRPr lang="en-US" sz="2400" dirty="0"/>
          </a:p>
        </p:txBody>
      </p:sp>
      <p:pic>
        <p:nvPicPr>
          <p:cNvPr id="7" name="Image 0" descr="preencoded.png">
            <a:extLst>
              <a:ext uri="{FF2B5EF4-FFF2-40B4-BE49-F238E27FC236}">
                <a16:creationId xmlns:a16="http://schemas.microsoft.com/office/drawing/2014/main" id="{18F6A5CE-D0E9-857B-7BF2-591348E5A29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4553" y="5486400"/>
            <a:ext cx="7632025" cy="346948"/>
          </a:xfrm>
          <a:prstGeom prst="rect">
            <a:avLst/>
          </a:prstGeom>
        </p:spPr>
      </p:pic>
    </p:spTree>
    <p:extLst>
      <p:ext uri="{BB962C8B-B14F-4D97-AF65-F5344CB8AC3E}">
        <p14:creationId xmlns:p14="http://schemas.microsoft.com/office/powerpoint/2010/main" val="954656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1962" y="-36598"/>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Voting Criteria and Its Limitations</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485548"/>
            <a:ext cx="3818574" cy="3569816"/>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5" y="2523443"/>
            <a:ext cx="3454676" cy="4520316"/>
          </a:xfrm>
          <a:prstGeom prst="rect">
            <a:avLst/>
          </a:prstGeom>
          <a:noFill/>
          <a:ln/>
        </p:spPr>
        <p:txBody>
          <a:bodyPr wrap="square" lIns="0" tIns="0" rIns="0" bIns="0" rtlCol="0" anchor="t"/>
          <a:lstStyle/>
          <a:p>
            <a:pPr algn="l">
              <a:lnSpc>
                <a:spcPts val="5150"/>
              </a:lnSpc>
            </a:pPr>
            <a:r>
              <a:rPr lang="en-US" sz="2400" dirty="0">
                <a:solidFill>
                  <a:srgbClr val="383838"/>
                </a:solidFill>
                <a:latin typeface="PT Serif" panose="020A0603040505020204" pitchFamily="18" charset="0"/>
                <a:ea typeface="PT Serif" pitchFamily="34" charset="-122"/>
                <a:cs typeface="PT Serif" pitchFamily="34" charset="-120"/>
              </a:rPr>
              <a:t>3. The Solution</a:t>
            </a:r>
            <a:endParaRPr lang="en-US" sz="2400" dirty="0">
              <a:latin typeface="PT Serif" panose="020A0603040505020204" pitchFamily="18" charset="0"/>
            </a:endParaRPr>
          </a:p>
          <a:p>
            <a:pPr algn="l">
              <a:lnSpc>
                <a:spcPts val="5150"/>
              </a:lnSpc>
            </a:pPr>
            <a:r>
              <a:rPr lang="en-US" dirty="0">
                <a:solidFill>
                  <a:srgbClr val="383838"/>
                </a:solidFill>
                <a:latin typeface="PT Serif" panose="020A0603040505020204" pitchFamily="18" charset="0"/>
                <a:ea typeface="DM Sans" pitchFamily="34" charset="-122"/>
                <a:cs typeface="DM Sans" pitchFamily="34" charset="-120"/>
              </a:rPr>
              <a:t>Use weighted voting, balance classes in training data, or adjust decision thresholds</a:t>
            </a:r>
            <a:endParaRPr lang="en-US" dirty="0">
              <a:latin typeface="PT Serif" panose="020A0603040505020204" pitchFamily="18" charset="0"/>
            </a:endParaRPr>
          </a:p>
          <a:p>
            <a:pPr marL="0" indent="0" algn="l">
              <a:lnSpc>
                <a:spcPts val="515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438400"/>
            <a:ext cx="4114305" cy="3616964"/>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09124" y="2488423"/>
            <a:ext cx="3713225" cy="4865280"/>
          </a:xfrm>
          <a:prstGeom prst="rect">
            <a:avLst/>
          </a:prstGeom>
          <a:noFill/>
          <a:ln/>
        </p:spPr>
        <p:txBody>
          <a:bodyPr wrap="square" lIns="0" tIns="0" rIns="0" bIns="0" rtlCol="0" anchor="t"/>
          <a:lstStyle/>
          <a:p>
            <a:pPr algn="l">
              <a:lnSpc>
                <a:spcPts val="5150"/>
              </a:lnSpc>
            </a:pPr>
            <a:r>
              <a:rPr lang="en-US" sz="2400" dirty="0">
                <a:solidFill>
                  <a:srgbClr val="383838"/>
                </a:solidFill>
                <a:latin typeface="PT Serif" panose="020A0603040505020204" pitchFamily="18" charset="0"/>
                <a:ea typeface="PT Serif" pitchFamily="34" charset="-122"/>
                <a:cs typeface="PT Serif" pitchFamily="34" charset="-120"/>
              </a:rPr>
              <a:t>1. Majority Voting</a:t>
            </a:r>
            <a:endParaRPr lang="en-US" sz="2400" dirty="0">
              <a:latin typeface="PT Serif" panose="020A0603040505020204" pitchFamily="18" charset="0"/>
            </a:endParaRPr>
          </a:p>
          <a:p>
            <a:pPr algn="l">
              <a:lnSpc>
                <a:spcPts val="5150"/>
              </a:lnSpc>
            </a:pPr>
            <a:r>
              <a:rPr lang="en-US" dirty="0">
                <a:solidFill>
                  <a:srgbClr val="383838"/>
                </a:solidFill>
                <a:latin typeface="PT Serif" panose="020A0603040505020204" pitchFamily="18" charset="0"/>
                <a:ea typeface="DM Sans" pitchFamily="34" charset="-122"/>
                <a:cs typeface="DM Sans" pitchFamily="34" charset="-120"/>
              </a:rPr>
              <a:t>The most common approach: count the frequency of each class among K neighbors and assign the most frequent class</a:t>
            </a:r>
            <a:endParaRPr lang="en-US" dirty="0">
              <a:latin typeface="PT Serif" panose="020A0603040505020204" pitchFamily="18" charset="0"/>
            </a:endParaRPr>
          </a:p>
          <a:p>
            <a:pPr marL="0" indent="0" algn="l">
              <a:lnSpc>
                <a:spcPts val="515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438400"/>
            <a:ext cx="4114305" cy="3616964"/>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532658"/>
            <a:ext cx="3604657" cy="4865280"/>
          </a:xfrm>
          <a:prstGeom prst="rect">
            <a:avLst/>
          </a:prstGeom>
          <a:noFill/>
          <a:ln/>
        </p:spPr>
        <p:txBody>
          <a:bodyPr wrap="square" lIns="0" tIns="0" rIns="0" bIns="0" rtlCol="0" anchor="t"/>
          <a:lstStyle/>
          <a:p>
            <a:pPr algn="l">
              <a:lnSpc>
                <a:spcPts val="5150"/>
              </a:lnSpc>
            </a:pPr>
            <a:r>
              <a:rPr lang="en-US" sz="2400" dirty="0">
                <a:solidFill>
                  <a:srgbClr val="383838"/>
                </a:solidFill>
                <a:latin typeface="PT Serif" panose="020A0603040505020204" pitchFamily="18" charset="0"/>
              </a:rPr>
              <a:t>2. </a:t>
            </a:r>
            <a:r>
              <a:rPr lang="en-US" sz="2400" dirty="0">
                <a:solidFill>
                  <a:srgbClr val="383838"/>
                </a:solidFill>
                <a:latin typeface="PT Serif" panose="020A0603040505020204" pitchFamily="18" charset="0"/>
                <a:ea typeface="PT Serif" pitchFamily="34" charset="-122"/>
                <a:cs typeface="PT Serif" pitchFamily="34" charset="-120"/>
              </a:rPr>
              <a:t>The Problem</a:t>
            </a:r>
            <a:endParaRPr lang="en-US" sz="2400" dirty="0">
              <a:latin typeface="PT Serif" panose="020A0603040505020204" pitchFamily="18" charset="0"/>
            </a:endParaRPr>
          </a:p>
          <a:p>
            <a:pPr algn="l">
              <a:lnSpc>
                <a:spcPts val="5150"/>
              </a:lnSpc>
            </a:pPr>
            <a:r>
              <a:rPr lang="en-US" dirty="0">
                <a:solidFill>
                  <a:srgbClr val="383838"/>
                </a:solidFill>
                <a:latin typeface="PT Serif" panose="020A0603040505020204" pitchFamily="18" charset="0"/>
                <a:ea typeface="DM Sans" pitchFamily="34" charset="-122"/>
                <a:cs typeface="DM Sans" pitchFamily="34" charset="-120"/>
              </a:rPr>
              <a:t>When class distribution is skewed (e.g., 90% non-defaulters, 10% defaulters), majority voting becomes biased</a:t>
            </a:r>
            <a:endParaRPr lang="en-US" dirty="0">
              <a:latin typeface="PT Serif" panose="020A0603040505020204" pitchFamily="18" charset="0"/>
            </a:endParaRPr>
          </a:p>
          <a:p>
            <a:pPr marL="0" indent="0" algn="l">
              <a:lnSpc>
                <a:spcPts val="5150"/>
              </a:lnSpc>
              <a:buNone/>
            </a:pPr>
            <a:endParaRPr lang="en-US" dirty="0">
              <a:latin typeface="PT Serif" panose="020A0603040505020204" pitchFamily="18" charset="0"/>
            </a:endParaRPr>
          </a:p>
        </p:txBody>
      </p:sp>
      <p:sp>
        <p:nvSpPr>
          <p:cNvPr id="14" name="TextBox 13">
            <a:extLst>
              <a:ext uri="{FF2B5EF4-FFF2-40B4-BE49-F238E27FC236}">
                <a16:creationId xmlns:a16="http://schemas.microsoft.com/office/drawing/2014/main" id="{66A3DC7A-D9BB-3011-62E5-B990BD80411E}"/>
              </a:ext>
            </a:extLst>
          </p:cNvPr>
          <p:cNvSpPr txBox="1"/>
          <p:nvPr/>
        </p:nvSpPr>
        <p:spPr>
          <a:xfrm>
            <a:off x="530524" y="6393792"/>
            <a:ext cx="13178488" cy="1995611"/>
          </a:xfrm>
          <a:prstGeom prst="rect">
            <a:avLst/>
          </a:prstGeom>
          <a:noFill/>
        </p:spPr>
        <p:txBody>
          <a:bodyPr wrap="square">
            <a:spAutoFit/>
          </a:bodyPr>
          <a:lstStyle/>
          <a:p>
            <a:pPr marL="0" indent="0" algn="l">
              <a:lnSpc>
                <a:spcPts val="2500"/>
              </a:lnSpc>
              <a:buNone/>
            </a:pPr>
            <a:r>
              <a:rPr lang="en-US" sz="1800" b="1" dirty="0">
                <a:solidFill>
                  <a:srgbClr val="383838"/>
                </a:solidFill>
                <a:latin typeface="PT Serif" panose="020A0603040505020204" pitchFamily="18" charset="0"/>
                <a:ea typeface="DM Sans" pitchFamily="34" charset="-122"/>
                <a:cs typeface="DM Sans" pitchFamily="34" charset="-120"/>
              </a:rPr>
              <a:t>Example of the Issue:</a:t>
            </a:r>
            <a:r>
              <a:rPr lang="en-US" sz="1800" dirty="0">
                <a:solidFill>
                  <a:srgbClr val="383838"/>
                </a:solidFill>
                <a:latin typeface="PT Serif" panose="020A0603040505020204" pitchFamily="18" charset="0"/>
                <a:ea typeface="DM Sans" pitchFamily="34" charset="-122"/>
                <a:cs typeface="DM Sans" pitchFamily="34" charset="-120"/>
              </a:rPr>
              <a:t> If your training data has 900 non-defaulters and 100 defaulters, the K nearest neighbors will likely include more non-defaulters simply because they're more common, not because they're truly more similar to the new case.</a:t>
            </a:r>
          </a:p>
          <a:p>
            <a:pPr marL="0" indent="0" algn="l">
              <a:lnSpc>
                <a:spcPts val="2500"/>
              </a:lnSpc>
              <a:buNone/>
            </a:pPr>
            <a:endParaRPr lang="en-US" sz="1800" dirty="0">
              <a:solidFill>
                <a:srgbClr val="383838"/>
              </a:solidFill>
              <a:latin typeface="PT Serif" panose="020A0603040505020204" pitchFamily="18" charset="0"/>
              <a:ea typeface="DM Sans" pitchFamily="34" charset="-122"/>
              <a:cs typeface="DM Sans" pitchFamily="34" charset="-120"/>
            </a:endParaRPr>
          </a:p>
          <a:p>
            <a:pPr algn="l">
              <a:lnSpc>
                <a:spcPts val="2500"/>
              </a:lnSpc>
            </a:pPr>
            <a:r>
              <a:rPr lang="en-US" sz="1800" b="1" dirty="0">
                <a:solidFill>
                  <a:srgbClr val="383838"/>
                </a:solidFill>
                <a:latin typeface="PT Serif" panose="020A0603040505020204" pitchFamily="18" charset="0"/>
                <a:ea typeface="DM Sans" pitchFamily="34" charset="-122"/>
                <a:cs typeface="DM Sans" pitchFamily="34" charset="-120"/>
              </a:rPr>
              <a:t>Potential Fix:</a:t>
            </a:r>
            <a:r>
              <a:rPr lang="en-US" sz="1800" dirty="0">
                <a:solidFill>
                  <a:srgbClr val="383838"/>
                </a:solidFill>
                <a:latin typeface="PT Serif" panose="020A0603040505020204" pitchFamily="18" charset="0"/>
                <a:ea typeface="DM Sans" pitchFamily="34" charset="-122"/>
                <a:cs typeface="DM Sans" pitchFamily="34" charset="-120"/>
              </a:rPr>
              <a:t> Create a balanced training dataset by oversampling the minority class or under sampling the majority class, though this requires sufficient data volume.</a:t>
            </a:r>
            <a:endParaRPr lang="en-US" sz="1800" dirty="0">
              <a:latin typeface="PT Serif" panose="020A0603040505020204" pitchFamily="18" charset="0"/>
            </a:endParaRPr>
          </a:p>
          <a:p>
            <a:pPr marL="0" indent="0" algn="l">
              <a:lnSpc>
                <a:spcPts val="2500"/>
              </a:lnSpc>
              <a:buNone/>
            </a:pPr>
            <a:endParaRPr lang="en-US" sz="1800" dirty="0">
              <a:latin typeface="PT Serif" panose="020A0603040505020204" pitchFamily="18" charset="0"/>
            </a:endParaRPr>
          </a:p>
        </p:txBody>
      </p:sp>
      <p:sp>
        <p:nvSpPr>
          <p:cNvPr id="13" name="Text 3">
            <a:extLst>
              <a:ext uri="{FF2B5EF4-FFF2-40B4-BE49-F238E27FC236}">
                <a16:creationId xmlns:a16="http://schemas.microsoft.com/office/drawing/2014/main" id="{141F5AF3-5370-4295-8030-C54FD03A2287}"/>
              </a:ext>
            </a:extLst>
          </p:cNvPr>
          <p:cNvSpPr/>
          <p:nvPr/>
        </p:nvSpPr>
        <p:spPr>
          <a:xfrm>
            <a:off x="725093" y="2532658"/>
            <a:ext cx="3713225" cy="4865280"/>
          </a:xfrm>
          <a:prstGeom prst="rect">
            <a:avLst/>
          </a:prstGeom>
          <a:noFill/>
          <a:ln/>
        </p:spPr>
        <p:txBody>
          <a:bodyPr wrap="square" lIns="0" tIns="0" rIns="0" bIns="0" rtlCol="0" anchor="t"/>
          <a:lstStyle/>
          <a:p>
            <a:pPr algn="l">
              <a:lnSpc>
                <a:spcPts val="5150"/>
              </a:lnSpc>
            </a:pPr>
            <a:endParaRPr lang="en-US" dirty="0">
              <a:latin typeface="PT Serif" panose="020A0603040505020204" pitchFamily="18" charset="0"/>
            </a:endParaRPr>
          </a:p>
        </p:txBody>
      </p:sp>
    </p:spTree>
    <p:extLst>
      <p:ext uri="{BB962C8B-B14F-4D97-AF65-F5344CB8AC3E}">
        <p14:creationId xmlns:p14="http://schemas.microsoft.com/office/powerpoint/2010/main" val="1315427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376954" y="930916"/>
            <a:ext cx="5530189" cy="2461309"/>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376954" y="3717360"/>
            <a:ext cx="5530189" cy="2461309"/>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41454" y="3715446"/>
            <a:ext cx="5530189" cy="2461309"/>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949832"/>
            <a:ext cx="5530189" cy="2461309"/>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974345" y="-152400"/>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Revisiting Bank Loan Default Prediction</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914891" y="1085104"/>
            <a:ext cx="4409709" cy="4698301"/>
          </a:xfrm>
          <a:prstGeom prst="rect">
            <a:avLst/>
          </a:prstGeom>
          <a:noFill/>
          <a:ln/>
        </p:spPr>
        <p:txBody>
          <a:bodyPr wrap="square" lIns="0" tIns="0" rIns="0" bIns="0" rtlCol="0" anchor="t"/>
          <a:lstStyle/>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1. Business Context</a:t>
            </a:r>
            <a:endParaRPr lang="en-US" sz="2400" dirty="0">
              <a:latin typeface="PT Serif" panose="020A0603040505020204" pitchFamily="18" charset="0"/>
            </a:endParaRPr>
          </a:p>
          <a:p>
            <a:pPr marL="0" indent="0" algn="ctr">
              <a:lnSpc>
                <a:spcPts val="2050"/>
              </a:lnSpc>
              <a:buNone/>
            </a:pPr>
            <a:endParaRPr lang="en-US" sz="2400" dirty="0">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A bank holds demographic and transactional data for 389 loan customers. Better default prediction enables optimal resource allocation and risk management.</a:t>
            </a:r>
            <a:endParaRPr lang="en-US" sz="1800" dirty="0">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3. Available Features</a:t>
            </a:r>
            <a:endParaRPr lang="en-US" sz="2400" dirty="0">
              <a:latin typeface="PT Serif" panose="020A0603040505020204" pitchFamily="18" charset="0"/>
            </a:endParaRPr>
          </a:p>
          <a:p>
            <a:pPr marL="0" indent="0" algn="ctr">
              <a:lnSpc>
                <a:spcPts val="2050"/>
              </a:lnSpc>
              <a:buNone/>
            </a:pPr>
            <a:endParaRPr lang="en-US" sz="2400" dirty="0">
              <a:latin typeface="PT Serif" panose="020A0603040505020204" pitchFamily="18" charset="0"/>
            </a:endParaRPr>
          </a:p>
          <a:p>
            <a:pPr algn="l">
              <a:lnSpc>
                <a:spcPts val="2550"/>
              </a:lnSpc>
            </a:pPr>
            <a:endParaRPr lang="en-US" dirty="0">
              <a:solidFill>
                <a:srgbClr val="383838"/>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Age group, years at current address, years at current employer, debt-to-income ratio, credit card debts, and other debts.</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8054860" y="1085104"/>
            <a:ext cx="4780222" cy="4698301"/>
          </a:xfrm>
          <a:prstGeom prst="rect">
            <a:avLst/>
          </a:prstGeom>
          <a:noFill/>
          <a:ln/>
        </p:spPr>
        <p:txBody>
          <a:bodyPr wrap="square" lIns="0" tIns="0" rIns="0" bIns="0" rtlCol="0" anchor="t"/>
          <a:lstStyle/>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2. Objective</a:t>
            </a:r>
            <a:endParaRPr lang="en-US" sz="2400" dirty="0">
              <a:latin typeface="PT Serif" panose="020A0603040505020204" pitchFamily="18" charset="0"/>
            </a:endParaRPr>
          </a:p>
          <a:p>
            <a:pPr marL="0" indent="0" algn="ctr">
              <a:lnSpc>
                <a:spcPts val="2050"/>
              </a:lnSpc>
              <a:buNone/>
            </a:pPr>
            <a:endParaRPr lang="en-US" sz="24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Build a model to predict whether new loan applicants will default on their loans based on historical patterns.</a:t>
            </a:r>
            <a:endParaRPr lang="en-US" sz="18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4. Target Variable</a:t>
            </a:r>
            <a:endParaRPr lang="en-US" sz="2400" dirty="0">
              <a:latin typeface="PT Serif" panose="020A0603040505020204" pitchFamily="18" charset="0"/>
            </a:endParaRPr>
          </a:p>
          <a:p>
            <a:pPr marL="0" indent="0" algn="ctr">
              <a:lnSpc>
                <a:spcPts val="2050"/>
              </a:lnSpc>
              <a:buNone/>
            </a:pPr>
            <a:endParaRPr lang="en-US" sz="24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Defaulter status: 1 if the customer defaulted, 0 otherwise (binary classification problem).</a:t>
            </a:r>
            <a:endParaRPr lang="en-US" sz="1800" dirty="0">
              <a:latin typeface="PT Serif" panose="020A0603040505020204" pitchFamily="18" charset="0"/>
            </a:endParaRPr>
          </a:p>
        </p:txBody>
      </p:sp>
      <p:sp>
        <p:nvSpPr>
          <p:cNvPr id="28" name="TextBox 27">
            <a:extLst>
              <a:ext uri="{FF2B5EF4-FFF2-40B4-BE49-F238E27FC236}">
                <a16:creationId xmlns:a16="http://schemas.microsoft.com/office/drawing/2014/main" id="{E743F1EE-D911-93FE-0ECE-2F302D7CE145}"/>
              </a:ext>
            </a:extLst>
          </p:cNvPr>
          <p:cNvSpPr txBox="1"/>
          <p:nvPr/>
        </p:nvSpPr>
        <p:spPr>
          <a:xfrm>
            <a:off x="1376954" y="6740040"/>
            <a:ext cx="11958046" cy="716350"/>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This dataset is well-suited for KNN because all predictors except one are numeric, making Euclidean distance a meaningful similarity measure.</a:t>
            </a:r>
            <a:endParaRPr lang="en-US" sz="1800" dirty="0">
              <a:latin typeface="PT Serif" panose="020A0603040505020204" pitchFamily="18" charset="0"/>
            </a:endParaRPr>
          </a:p>
        </p:txBody>
      </p:sp>
    </p:spTree>
    <p:extLst>
      <p:ext uri="{BB962C8B-B14F-4D97-AF65-F5344CB8AC3E}">
        <p14:creationId xmlns:p14="http://schemas.microsoft.com/office/powerpoint/2010/main" val="798510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D3DF-D5BC-109B-74DF-C45AE1BF13A5}"/>
              </a:ext>
            </a:extLst>
          </p:cNvPr>
          <p:cNvSpPr>
            <a:spLocks noGrp="1"/>
          </p:cNvSpPr>
          <p:nvPr>
            <p:ph type="title"/>
          </p:nvPr>
        </p:nvSpPr>
        <p:spPr>
          <a:xfrm>
            <a:off x="892222" y="566381"/>
            <a:ext cx="13656055" cy="569387"/>
          </a:xfrm>
        </p:spPr>
        <p:txBody>
          <a:bodyPr/>
          <a:lstStyle/>
          <a:p>
            <a:r>
              <a:rPr lang="en-US" sz="3600" dirty="0"/>
              <a:t>Data Snapshot</a:t>
            </a:r>
            <a:endParaRPr lang="en-IN" sz="3600" dirty="0"/>
          </a:p>
        </p:txBody>
      </p:sp>
      <p:sp>
        <p:nvSpPr>
          <p:cNvPr id="4" name="TextBox 3">
            <a:extLst>
              <a:ext uri="{FF2B5EF4-FFF2-40B4-BE49-F238E27FC236}">
                <a16:creationId xmlns:a16="http://schemas.microsoft.com/office/drawing/2014/main" id="{727DB51F-E73A-3FB1-919D-2AAAA8B65653}"/>
              </a:ext>
            </a:extLst>
          </p:cNvPr>
          <p:cNvSpPr txBox="1"/>
          <p:nvPr/>
        </p:nvSpPr>
        <p:spPr>
          <a:xfrm>
            <a:off x="3429000" y="1239827"/>
            <a:ext cx="7315200" cy="400110"/>
          </a:xfrm>
          <a:prstGeom prst="rect">
            <a:avLst/>
          </a:prstGeom>
          <a:noFill/>
        </p:spPr>
        <p:txBody>
          <a:bodyPr wrap="square">
            <a:spAutoFit/>
          </a:bodyPr>
          <a:lstStyle/>
          <a:p>
            <a:pPr algn="ctr">
              <a:buClr>
                <a:srgbClr val="000000"/>
              </a:buClr>
              <a:buSzPts val="1200"/>
            </a:pPr>
            <a:r>
              <a:rPr lang="en-US" sz="2000" dirty="0">
                <a:solidFill>
                  <a:schemeClr val="tx1"/>
                </a:solidFill>
                <a:latin typeface="PT Serif" panose="020A0603040505020204" pitchFamily="18" charset="0"/>
                <a:ea typeface="Open Sans Light"/>
                <a:cs typeface="Open Sans Light"/>
                <a:sym typeface="Open Sans Light"/>
              </a:rPr>
              <a:t>BANK LOAN KNN</a:t>
            </a:r>
            <a:endParaRPr lang="en-US" dirty="0">
              <a:solidFill>
                <a:schemeClr val="tx1"/>
              </a:solidFill>
              <a:latin typeface="PT Serif" panose="020A0603040505020204" pitchFamily="18" charset="0"/>
              <a:ea typeface="Arial"/>
              <a:cs typeface="Arial"/>
              <a:sym typeface="Arial"/>
            </a:endParaRPr>
          </a:p>
        </p:txBody>
      </p:sp>
      <p:graphicFrame>
        <p:nvGraphicFramePr>
          <p:cNvPr id="5" name="Table 5">
            <a:extLst>
              <a:ext uri="{FF2B5EF4-FFF2-40B4-BE49-F238E27FC236}">
                <a16:creationId xmlns:a16="http://schemas.microsoft.com/office/drawing/2014/main" id="{77DA14A9-A4C3-790F-3BC7-CBE262F7FEC1}"/>
              </a:ext>
            </a:extLst>
          </p:cNvPr>
          <p:cNvGraphicFramePr>
            <a:graphicFrameLocks noGrp="1"/>
          </p:cNvGraphicFramePr>
          <p:nvPr>
            <p:extLst>
              <p:ext uri="{D42A27DB-BD31-4B8C-83A1-F6EECF244321}">
                <p14:modId xmlns:p14="http://schemas.microsoft.com/office/powerpoint/2010/main" val="1223230704"/>
              </p:ext>
            </p:extLst>
          </p:nvPr>
        </p:nvGraphicFramePr>
        <p:xfrm>
          <a:off x="1413599" y="1845085"/>
          <a:ext cx="11857224" cy="4079240"/>
        </p:xfrm>
        <a:graphic>
          <a:graphicData uri="http://schemas.openxmlformats.org/drawingml/2006/table">
            <a:tbl>
              <a:tblPr firstRow="1" bandRow="1">
                <a:tableStyleId>{7DF18680-E054-41AD-8BC1-D1AEF772440D}</a:tableStyleId>
              </a:tblPr>
              <a:tblGrid>
                <a:gridCol w="1482153">
                  <a:extLst>
                    <a:ext uri="{9D8B030D-6E8A-4147-A177-3AD203B41FA5}">
                      <a16:colId xmlns:a16="http://schemas.microsoft.com/office/drawing/2014/main" val="1593247130"/>
                    </a:ext>
                  </a:extLst>
                </a:gridCol>
                <a:gridCol w="1482153">
                  <a:extLst>
                    <a:ext uri="{9D8B030D-6E8A-4147-A177-3AD203B41FA5}">
                      <a16:colId xmlns:a16="http://schemas.microsoft.com/office/drawing/2014/main" val="2305088278"/>
                    </a:ext>
                  </a:extLst>
                </a:gridCol>
                <a:gridCol w="1482153">
                  <a:extLst>
                    <a:ext uri="{9D8B030D-6E8A-4147-A177-3AD203B41FA5}">
                      <a16:colId xmlns:a16="http://schemas.microsoft.com/office/drawing/2014/main" val="4273382878"/>
                    </a:ext>
                  </a:extLst>
                </a:gridCol>
                <a:gridCol w="1482153">
                  <a:extLst>
                    <a:ext uri="{9D8B030D-6E8A-4147-A177-3AD203B41FA5}">
                      <a16:colId xmlns:a16="http://schemas.microsoft.com/office/drawing/2014/main" val="4011837528"/>
                    </a:ext>
                  </a:extLst>
                </a:gridCol>
                <a:gridCol w="1482153">
                  <a:extLst>
                    <a:ext uri="{9D8B030D-6E8A-4147-A177-3AD203B41FA5}">
                      <a16:colId xmlns:a16="http://schemas.microsoft.com/office/drawing/2014/main" val="2079213373"/>
                    </a:ext>
                  </a:extLst>
                </a:gridCol>
                <a:gridCol w="1482153">
                  <a:extLst>
                    <a:ext uri="{9D8B030D-6E8A-4147-A177-3AD203B41FA5}">
                      <a16:colId xmlns:a16="http://schemas.microsoft.com/office/drawing/2014/main" val="727695644"/>
                    </a:ext>
                  </a:extLst>
                </a:gridCol>
                <a:gridCol w="1482153">
                  <a:extLst>
                    <a:ext uri="{9D8B030D-6E8A-4147-A177-3AD203B41FA5}">
                      <a16:colId xmlns:a16="http://schemas.microsoft.com/office/drawing/2014/main" val="1258083338"/>
                    </a:ext>
                  </a:extLst>
                </a:gridCol>
                <a:gridCol w="1482153">
                  <a:extLst>
                    <a:ext uri="{9D8B030D-6E8A-4147-A177-3AD203B41FA5}">
                      <a16:colId xmlns:a16="http://schemas.microsoft.com/office/drawing/2014/main" val="657421674"/>
                    </a:ext>
                  </a:extLst>
                </a:gridCol>
              </a:tblGrid>
              <a:tr h="370840">
                <a:tc>
                  <a:txBody>
                    <a:bodyPr/>
                    <a:lstStyle/>
                    <a:p>
                      <a:pPr algn="ctr" fontAlgn="b"/>
                      <a:r>
                        <a:rPr lang="en-IN" sz="2000" b="0" u="none" strike="noStrike" dirty="0">
                          <a:solidFill>
                            <a:srgbClr val="000000"/>
                          </a:solidFill>
                          <a:effectLst/>
                        </a:rPr>
                        <a:t>SN</a:t>
                      </a:r>
                      <a:endParaRPr lang="en-IN" sz="20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r>
                        <a:rPr lang="en-IN" sz="2000" b="0" u="none" strike="noStrike" dirty="0">
                          <a:solidFill>
                            <a:srgbClr val="000000"/>
                          </a:solidFill>
                          <a:effectLst/>
                        </a:rPr>
                        <a:t>AGE</a:t>
                      </a:r>
                      <a:endParaRPr lang="en-IN" sz="20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r>
                        <a:rPr lang="en-IN" sz="2000" b="0" u="none" strike="noStrike">
                          <a:solidFill>
                            <a:srgbClr val="000000"/>
                          </a:solidFill>
                          <a:effectLst/>
                        </a:rPr>
                        <a:t>EMPLOY</a:t>
                      </a:r>
                      <a:endParaRPr lang="en-IN" sz="20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2000" b="0" u="none" strike="noStrike" dirty="0">
                          <a:solidFill>
                            <a:srgbClr val="000000"/>
                          </a:solidFill>
                          <a:effectLst/>
                        </a:rPr>
                        <a:t>ADDRESS</a:t>
                      </a:r>
                      <a:endParaRPr lang="en-IN" sz="20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r>
                        <a:rPr lang="en-IN" sz="2000" b="0" u="none" strike="noStrike">
                          <a:solidFill>
                            <a:srgbClr val="000000"/>
                          </a:solidFill>
                          <a:effectLst/>
                        </a:rPr>
                        <a:t>DEBTINC</a:t>
                      </a:r>
                      <a:endParaRPr lang="en-IN" sz="20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2000" b="0" u="none" strike="noStrike" dirty="0">
                          <a:solidFill>
                            <a:srgbClr val="000000"/>
                          </a:solidFill>
                          <a:effectLst/>
                        </a:rPr>
                        <a:t>CREDDEBT</a:t>
                      </a:r>
                      <a:endParaRPr lang="en-IN" sz="20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r>
                        <a:rPr lang="en-IN" sz="2000" b="0" u="none" strike="noStrike" dirty="0">
                          <a:solidFill>
                            <a:srgbClr val="000000"/>
                          </a:solidFill>
                          <a:effectLst/>
                        </a:rPr>
                        <a:t>OTHDEBT</a:t>
                      </a:r>
                      <a:endParaRPr lang="en-IN" sz="20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r>
                        <a:rPr lang="en-IN" sz="2000" b="0" u="none" strike="noStrike" dirty="0">
                          <a:solidFill>
                            <a:srgbClr val="000000"/>
                          </a:solidFill>
                          <a:effectLst/>
                        </a:rPr>
                        <a:t>DEFAULTER</a:t>
                      </a:r>
                      <a:endParaRPr lang="en-IN" sz="2000" b="0" i="0" u="none" strike="noStrike" dirty="0">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323853673"/>
                  </a:ext>
                </a:extLst>
              </a:tr>
              <a:tr h="370840">
                <a:tc>
                  <a:txBody>
                    <a:bodyPr/>
                    <a:lstStyle/>
                    <a:p>
                      <a:pPr algn="ctr" fontAlgn="b"/>
                      <a:r>
                        <a:rPr lang="en-IN" sz="1800" b="0" u="none" strike="noStrike" dirty="0">
                          <a:solidFill>
                            <a:srgbClr val="000000"/>
                          </a:solidFill>
                          <a:effectLst/>
                        </a:rPr>
                        <a:t>1</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17</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9.3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11.36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5.01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2919445663"/>
                  </a:ext>
                </a:extLst>
              </a:tr>
              <a:tr h="370840">
                <a:tc>
                  <a:txBody>
                    <a:bodyPr/>
                    <a:lstStyle/>
                    <a:p>
                      <a:pPr algn="ctr" fontAlgn="b"/>
                      <a:r>
                        <a:rPr lang="en-IN" sz="1800" b="0" u="none" strike="noStrike">
                          <a:solidFill>
                            <a:srgbClr val="000000"/>
                          </a:solidFill>
                          <a:effectLst/>
                        </a:rPr>
                        <a:t>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17.3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1.79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3.06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3711474041"/>
                  </a:ext>
                </a:extLst>
              </a:tr>
              <a:tr h="370840">
                <a:tc>
                  <a:txBody>
                    <a:bodyPr/>
                    <a:lstStyle/>
                    <a:p>
                      <a:pPr algn="ctr" fontAlgn="b"/>
                      <a:r>
                        <a:rPr lang="en-IN" sz="1800" b="0" u="none" strike="noStrike">
                          <a:solidFill>
                            <a:srgbClr val="000000"/>
                          </a:solidFill>
                          <a:effectLst/>
                        </a:rPr>
                        <a:t>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0.13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1.24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010138088"/>
                  </a:ext>
                </a:extLst>
              </a:tr>
              <a:tr h="370840">
                <a:tc>
                  <a:txBody>
                    <a:bodyPr/>
                    <a:lstStyle/>
                    <a:p>
                      <a:pPr algn="ctr" fontAlgn="b"/>
                      <a:r>
                        <a:rPr lang="en-IN" sz="1800" b="0" u="none" strike="noStrike">
                          <a:solidFill>
                            <a:srgbClr val="000000"/>
                          </a:solidFill>
                          <a:effectLst/>
                        </a:rPr>
                        <a:t>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24.4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1.36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3.28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143509188"/>
                  </a:ext>
                </a:extLst>
              </a:tr>
              <a:tr h="370840">
                <a:tc>
                  <a:txBody>
                    <a:bodyPr/>
                    <a:lstStyle/>
                    <a:p>
                      <a:pPr algn="ctr" fontAlgn="b"/>
                      <a:r>
                        <a:rPr lang="en-IN" sz="1800" b="0" u="none" strike="noStrike">
                          <a:solidFill>
                            <a:srgbClr val="000000"/>
                          </a:solidFill>
                          <a:effectLst/>
                        </a:rPr>
                        <a:t>13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10</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3.93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2.47</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3865815491"/>
                  </a:ext>
                </a:extLst>
              </a:tr>
              <a:tr h="370840">
                <a:tc>
                  <a:txBody>
                    <a:bodyPr/>
                    <a:lstStyle/>
                    <a:p>
                      <a:pPr algn="ctr" fontAlgn="b"/>
                      <a:r>
                        <a:rPr lang="en-IN" sz="1800" b="0" u="none" strike="noStrike">
                          <a:solidFill>
                            <a:srgbClr val="000000"/>
                          </a:solidFill>
                          <a:effectLst/>
                        </a:rPr>
                        <a:t>14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16.3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1.72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3.01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3556476041"/>
                  </a:ext>
                </a:extLst>
              </a:tr>
              <a:tr h="370840">
                <a:tc>
                  <a:txBody>
                    <a:bodyPr/>
                    <a:lstStyle/>
                    <a:p>
                      <a:pPr algn="ctr" fontAlgn="b"/>
                      <a:r>
                        <a:rPr lang="en-IN" sz="1800" b="0" u="none" strike="noStrike">
                          <a:solidFill>
                            <a:srgbClr val="000000"/>
                          </a:solidFill>
                          <a:effectLst/>
                        </a:rPr>
                        <a:t>15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9.1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3.7</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5.4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240598990"/>
                  </a:ext>
                </a:extLst>
              </a:tr>
              <a:tr h="370840">
                <a:tc>
                  <a:txBody>
                    <a:bodyPr/>
                    <a:lstStyle/>
                    <a:p>
                      <a:pPr algn="ctr" fontAlgn="b"/>
                      <a:r>
                        <a:rPr lang="en-IN" sz="1800" b="0" u="none" strike="noStrike">
                          <a:solidFill>
                            <a:srgbClr val="000000"/>
                          </a:solidFill>
                          <a:effectLst/>
                        </a:rPr>
                        <a:t>16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8.6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0.82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3406255695"/>
                  </a:ext>
                </a:extLst>
              </a:tr>
              <a:tr h="370840">
                <a:tc>
                  <a:txBody>
                    <a:bodyPr/>
                    <a:lstStyle/>
                    <a:p>
                      <a:pPr algn="ctr" fontAlgn="b"/>
                      <a:r>
                        <a:rPr lang="en-IN" sz="1800" b="0" u="none" strike="noStrike">
                          <a:solidFill>
                            <a:srgbClr val="000000"/>
                          </a:solidFill>
                          <a:effectLst/>
                        </a:rPr>
                        <a:t>17</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16.4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2.92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3.81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2727557484"/>
                  </a:ext>
                </a:extLst>
              </a:tr>
              <a:tr h="370840">
                <a:tc>
                  <a:txBody>
                    <a:bodyPr/>
                    <a:lstStyle/>
                    <a:p>
                      <a:pPr algn="ctr" fontAlgn="b"/>
                      <a:r>
                        <a:rPr lang="en-IN" sz="1800" b="0" u="none" strike="noStrike">
                          <a:solidFill>
                            <a:srgbClr val="000000"/>
                          </a:solidFill>
                          <a:effectLst/>
                        </a:rPr>
                        <a:t>20</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dirty="0">
                          <a:solidFill>
                            <a:srgbClr val="000000"/>
                          </a:solidFill>
                          <a:effectLst/>
                        </a:rPr>
                        <a:t>3</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21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1.7</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a:solidFill>
                            <a:srgbClr val="000000"/>
                          </a:solidFill>
                          <a:effectLst/>
                        </a:rPr>
                        <a:t>0.34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r>
                        <a:rPr lang="en-IN" sz="1800" b="0" u="none" strike="noStrike" dirty="0">
                          <a:solidFill>
                            <a:srgbClr val="000000"/>
                          </a:solidFill>
                          <a:effectLst/>
                        </a:rPr>
                        <a:t>0</a:t>
                      </a:r>
                      <a:endParaRPr lang="en-IN" sz="1800" b="0" i="0" u="none" strike="noStrike" dirty="0">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48033246"/>
                  </a:ext>
                </a:extLst>
              </a:tr>
            </a:tbl>
          </a:graphicData>
        </a:graphic>
      </p:graphicFrame>
      <p:sp>
        <p:nvSpPr>
          <p:cNvPr id="7" name="TextBox 6">
            <a:extLst>
              <a:ext uri="{FF2B5EF4-FFF2-40B4-BE49-F238E27FC236}">
                <a16:creationId xmlns:a16="http://schemas.microsoft.com/office/drawing/2014/main" id="{873F6F22-5F5A-678B-6FB9-B7733CE5E16A}"/>
              </a:ext>
            </a:extLst>
          </p:cNvPr>
          <p:cNvSpPr txBox="1"/>
          <p:nvPr/>
        </p:nvSpPr>
        <p:spPr>
          <a:xfrm>
            <a:off x="892222" y="6342993"/>
            <a:ext cx="12899978" cy="462114"/>
          </a:xfrm>
          <a:prstGeom prst="rect">
            <a:avLst/>
          </a:prstGeom>
          <a:noFill/>
        </p:spPr>
        <p:txBody>
          <a:bodyPr wrap="square">
            <a:spAutoFit/>
          </a:bodyPr>
          <a:lstStyle/>
          <a:p>
            <a:pPr>
              <a:lnSpc>
                <a:spcPct val="150000"/>
              </a:lnSpc>
              <a:buClr>
                <a:srgbClr val="000000"/>
              </a:buClr>
              <a:buSzPts val="1200"/>
            </a:pPr>
            <a:r>
              <a:rPr lang="en-US" sz="1800" dirty="0">
                <a:solidFill>
                  <a:schemeClr val="tx1"/>
                </a:solidFill>
                <a:latin typeface="PT Serif" panose="020A0603040505020204" pitchFamily="18" charset="0"/>
                <a:ea typeface="Open Sans Light"/>
                <a:cs typeface="Open Sans Light"/>
                <a:sym typeface="Open Sans Light"/>
              </a:rPr>
              <a:t>The data is suitable for KNN as except one all predictors are numeric. Euclidean distance is meaningful.</a:t>
            </a:r>
            <a:endParaRPr lang="en-US" sz="1600" dirty="0">
              <a:solidFill>
                <a:schemeClr val="tx1"/>
              </a:solidFill>
              <a:latin typeface="PT Serif" panose="020A0603040505020204" pitchFamily="18" charset="0"/>
              <a:ea typeface="Arial"/>
              <a:cs typeface="Arial"/>
              <a:sym typeface="Arial"/>
            </a:endParaRPr>
          </a:p>
        </p:txBody>
      </p:sp>
    </p:spTree>
    <p:extLst>
      <p:ext uri="{BB962C8B-B14F-4D97-AF65-F5344CB8AC3E}">
        <p14:creationId xmlns:p14="http://schemas.microsoft.com/office/powerpoint/2010/main" val="638070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4FB331B-C2FC-DA2F-5135-F65F92A3FA1E}"/>
              </a:ext>
            </a:extLst>
          </p:cNvPr>
          <p:cNvSpPr/>
          <p:nvPr/>
        </p:nvSpPr>
        <p:spPr>
          <a:xfrm>
            <a:off x="685799" y="4617350"/>
            <a:ext cx="6324601" cy="345985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152400" y="1714384"/>
            <a:ext cx="3428999" cy="2743200"/>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7" name="Shape 2">
            <a:extLst>
              <a:ext uri="{FF2B5EF4-FFF2-40B4-BE49-F238E27FC236}">
                <a16:creationId xmlns:a16="http://schemas.microsoft.com/office/drawing/2014/main" id="{12979E27-E650-97EE-69D8-5017F832E7C0}"/>
              </a:ext>
            </a:extLst>
          </p:cNvPr>
          <p:cNvSpPr/>
          <p:nvPr/>
        </p:nvSpPr>
        <p:spPr>
          <a:xfrm>
            <a:off x="10896600" y="1681820"/>
            <a:ext cx="3428999" cy="2737780"/>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8" name="Shape 2">
            <a:extLst>
              <a:ext uri="{FF2B5EF4-FFF2-40B4-BE49-F238E27FC236}">
                <a16:creationId xmlns:a16="http://schemas.microsoft.com/office/drawing/2014/main" id="{6CBAEE8D-4257-D551-98ED-3B4B5CCDC9DE}"/>
              </a:ext>
            </a:extLst>
          </p:cNvPr>
          <p:cNvSpPr/>
          <p:nvPr/>
        </p:nvSpPr>
        <p:spPr>
          <a:xfrm>
            <a:off x="7315200" y="1676400"/>
            <a:ext cx="3428999" cy="2743200"/>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Shape 2">
            <a:extLst>
              <a:ext uri="{FF2B5EF4-FFF2-40B4-BE49-F238E27FC236}">
                <a16:creationId xmlns:a16="http://schemas.microsoft.com/office/drawing/2014/main" id="{9FE5DE61-8997-71B4-B12B-464496024C98}"/>
              </a:ext>
            </a:extLst>
          </p:cNvPr>
          <p:cNvSpPr/>
          <p:nvPr/>
        </p:nvSpPr>
        <p:spPr>
          <a:xfrm>
            <a:off x="3733800" y="1714447"/>
            <a:ext cx="3428999" cy="2705153"/>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 name="object 2"/>
          <p:cNvSpPr txBox="1">
            <a:spLocks noGrp="1"/>
          </p:cNvSpPr>
          <p:nvPr>
            <p:ph type="title"/>
          </p:nvPr>
        </p:nvSpPr>
        <p:spPr>
          <a:xfrm>
            <a:off x="609600" y="-228600"/>
            <a:ext cx="13656055" cy="880742"/>
          </a:xfrm>
          <a:prstGeom prst="rect">
            <a:avLst/>
          </a:prstGeom>
        </p:spPr>
        <p:txBody>
          <a:bodyPr vert="horz" wrap="square" lIns="0" tIns="439471" rIns="0" bIns="0" rtlCol="0">
            <a:spAutoFit/>
          </a:bodyPr>
          <a:lstStyle/>
          <a:p>
            <a:pPr marL="0" indent="0" algn="l">
              <a:lnSpc>
                <a:spcPts val="3300"/>
              </a:lnSpc>
              <a:buNone/>
            </a:pPr>
            <a:r>
              <a:rPr lang="en-US" sz="3600" dirty="0">
                <a:solidFill>
                  <a:srgbClr val="020202"/>
                </a:solidFill>
                <a:ea typeface="PT Serif" pitchFamily="34" charset="-122"/>
                <a:cs typeface="PT Serif" pitchFamily="34" charset="-120"/>
              </a:rPr>
              <a:t>Implementing KNN Classification in Python</a:t>
            </a:r>
            <a:endParaRPr lang="en-US" sz="3600" dirty="0"/>
          </a:p>
        </p:txBody>
      </p:sp>
      <p:sp>
        <p:nvSpPr>
          <p:cNvPr id="14" name="Text 6">
            <a:extLst>
              <a:ext uri="{FF2B5EF4-FFF2-40B4-BE49-F238E27FC236}">
                <a16:creationId xmlns:a16="http://schemas.microsoft.com/office/drawing/2014/main" id="{BEBCEDAE-A091-212D-F1FD-EBC293DAA8C5}"/>
              </a:ext>
            </a:extLst>
          </p:cNvPr>
          <p:cNvSpPr/>
          <p:nvPr/>
        </p:nvSpPr>
        <p:spPr>
          <a:xfrm>
            <a:off x="3881769" y="1764120"/>
            <a:ext cx="3018076"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Calculate Distances</a:t>
            </a:r>
          </a:p>
          <a:p>
            <a:pPr marL="0" indent="0" algn="l">
              <a:buNone/>
            </a:pPr>
            <a:endParaRPr lang="en-US" sz="2400"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Measure similarity between the new observation and all training cases using Euclidean distance</a:t>
            </a:r>
            <a:endParaRPr lang="en-US"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7" name="Text 9">
            <a:extLst>
              <a:ext uri="{FF2B5EF4-FFF2-40B4-BE49-F238E27FC236}">
                <a16:creationId xmlns:a16="http://schemas.microsoft.com/office/drawing/2014/main" id="{A0DABD8D-9C74-8096-EA52-80379EDA21AF}"/>
              </a:ext>
            </a:extLst>
          </p:cNvPr>
          <p:cNvSpPr/>
          <p:nvPr/>
        </p:nvSpPr>
        <p:spPr>
          <a:xfrm>
            <a:off x="7471795" y="1795729"/>
            <a:ext cx="3161851"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Choose K Value</a:t>
            </a:r>
          </a:p>
          <a:p>
            <a:pPr marL="0" indent="0" algn="l">
              <a:buNone/>
            </a:pPr>
            <a:endParaRPr lang="en-US" sz="2400"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Select the number of neighbors to consider, often using the square root of sample size as a starting point</a:t>
            </a:r>
            <a:endParaRPr lang="en-US"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402726" y="1764120"/>
            <a:ext cx="3057258"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Standardize Variables</a:t>
            </a:r>
          </a:p>
          <a:p>
            <a:pPr marL="0" indent="0" algn="l">
              <a:buNone/>
            </a:pPr>
            <a:endParaRPr lang="en-US" sz="2400"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Scale all features to comparable ranges using </a:t>
            </a:r>
            <a:r>
              <a:rPr lang="en-US" dirty="0" err="1">
                <a:solidFill>
                  <a:srgbClr val="383838"/>
                </a:solidFill>
                <a:latin typeface="PT Serif" panose="020A0603040505020204" pitchFamily="18" charset="0"/>
                <a:ea typeface="DM Sans" pitchFamily="34" charset="-122"/>
                <a:cs typeface="DM Sans" pitchFamily="34" charset="-120"/>
              </a:rPr>
              <a:t>StandardScaler</a:t>
            </a:r>
            <a:r>
              <a:rPr lang="en-US" dirty="0">
                <a:solidFill>
                  <a:srgbClr val="383838"/>
                </a:solidFill>
                <a:latin typeface="PT Serif" panose="020A0603040505020204" pitchFamily="18" charset="0"/>
                <a:ea typeface="DM Sans" pitchFamily="34" charset="-122"/>
                <a:cs typeface="DM Sans" pitchFamily="34" charset="-120"/>
              </a:rPr>
              <a:t> or normalization techniques</a:t>
            </a:r>
            <a:endParaRPr lang="en-US"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p:txBody>
      </p:sp>
      <p:sp>
        <p:nvSpPr>
          <p:cNvPr id="26" name="Text 31">
            <a:extLst>
              <a:ext uri="{FF2B5EF4-FFF2-40B4-BE49-F238E27FC236}">
                <a16:creationId xmlns:a16="http://schemas.microsoft.com/office/drawing/2014/main" id="{E07AB141-1DF5-6B6F-2B0A-DC69FE07DBED}"/>
              </a:ext>
            </a:extLst>
          </p:cNvPr>
          <p:cNvSpPr/>
          <p:nvPr/>
        </p:nvSpPr>
        <p:spPr>
          <a:xfrm>
            <a:off x="793789" y="4697835"/>
            <a:ext cx="13042821" cy="3074565"/>
          </a:xfrm>
          <a:prstGeom prst="rect">
            <a:avLst/>
          </a:prstGeom>
          <a:noFill/>
          <a:ln/>
        </p:spPr>
        <p:txBody>
          <a:bodyPr wrap="square" lIns="0" tIns="0" rIns="0" bIns="0" rtlCol="0" anchor="t"/>
          <a:lstStyle/>
          <a:p>
            <a:pPr marL="0" indent="0" algn="l">
              <a:buNone/>
            </a:pPr>
            <a:r>
              <a:rPr lang="en-US" dirty="0">
                <a:solidFill>
                  <a:srgbClr val="383838"/>
                </a:solidFill>
                <a:latin typeface="PT Serif" panose="020A0603040505020204" pitchFamily="18" charset="0"/>
              </a:rPr>
              <a:t>from sklearn.neighbors import KNeighborsClassifier</a:t>
            </a:r>
          </a:p>
          <a:p>
            <a:pPr marL="0" indent="0" algn="l">
              <a:buNone/>
            </a:pPr>
            <a:endParaRPr lang="en-US" dirty="0">
              <a:solidFill>
                <a:srgbClr val="383838"/>
              </a:solidFill>
              <a:latin typeface="PT Serif" panose="020A0603040505020204" pitchFamily="18" charset="0"/>
            </a:endParaRPr>
          </a:p>
          <a:p>
            <a:pPr marL="0" indent="0" algn="l">
              <a:buNone/>
            </a:pPr>
            <a:r>
              <a:rPr lang="en-US" dirty="0">
                <a:solidFill>
                  <a:srgbClr val="383838"/>
                </a:solidFill>
                <a:latin typeface="PT Serif" panose="020A0603040505020204" pitchFamily="18" charset="0"/>
              </a:rPr>
              <a:t># Using thumb rule: k ≈ sqrt(n)</a:t>
            </a:r>
          </a:p>
          <a:p>
            <a:pPr marL="0" indent="0" algn="l">
              <a:buNone/>
            </a:pPr>
            <a:r>
              <a:rPr lang="en-US" dirty="0">
                <a:solidFill>
                  <a:srgbClr val="383838"/>
                </a:solidFill>
                <a:latin typeface="PT Serif" panose="020A0603040505020204" pitchFamily="18" charset="0"/>
              </a:rPr>
              <a:t>k_value = int(np.sqrt(len(X)).round())</a:t>
            </a:r>
          </a:p>
          <a:p>
            <a:pPr marL="0" indent="0" algn="l">
              <a:buNone/>
            </a:pPr>
            <a:endParaRPr lang="en-US" dirty="0">
              <a:solidFill>
                <a:srgbClr val="383838"/>
              </a:solidFill>
              <a:latin typeface="PT Serif" panose="020A0603040505020204" pitchFamily="18" charset="0"/>
            </a:endParaRPr>
          </a:p>
          <a:p>
            <a:pPr marL="0" indent="0" algn="l">
              <a:buNone/>
            </a:pPr>
            <a:r>
              <a:rPr lang="en-US" dirty="0">
                <a:solidFill>
                  <a:srgbClr val="383838"/>
                </a:solidFill>
                <a:latin typeface="PT Serif" panose="020A0603040505020204" pitchFamily="18" charset="0"/>
              </a:rPr>
              <a:t># Initialize and train classifier</a:t>
            </a:r>
          </a:p>
          <a:p>
            <a:pPr marL="0" indent="0" algn="l">
              <a:buNone/>
            </a:pPr>
            <a:r>
              <a:rPr lang="en-US" dirty="0">
                <a:solidFill>
                  <a:srgbClr val="383838"/>
                </a:solidFill>
                <a:latin typeface="PT Serif" panose="020A0603040505020204" pitchFamily="18" charset="0"/>
              </a:rPr>
              <a:t>KNNclassifier = KNeighborsClassifier(n_neighbors=k_value)</a:t>
            </a:r>
          </a:p>
          <a:p>
            <a:pPr marL="0" indent="0" algn="l">
              <a:buNone/>
            </a:pPr>
            <a:r>
              <a:rPr lang="en-US" dirty="0">
                <a:solidFill>
                  <a:srgbClr val="383838"/>
                </a:solidFill>
                <a:latin typeface="PT Serif" panose="020A0603040505020204" pitchFamily="18" charset="0"/>
              </a:rPr>
              <a:t>KNNclassifier.fit(X_train, y_train)</a:t>
            </a:r>
          </a:p>
          <a:p>
            <a:pPr marL="0" indent="0" algn="l">
              <a:buNone/>
            </a:pPr>
            <a:endParaRPr lang="en-US" dirty="0">
              <a:solidFill>
                <a:srgbClr val="383838"/>
              </a:solidFill>
              <a:latin typeface="PT Serif" panose="020A0603040505020204" pitchFamily="18" charset="0"/>
            </a:endParaRPr>
          </a:p>
          <a:p>
            <a:pPr marL="0" indent="0" algn="l">
              <a:buNone/>
            </a:pPr>
            <a:r>
              <a:rPr lang="en-US" dirty="0">
                <a:solidFill>
                  <a:srgbClr val="383838"/>
                </a:solidFill>
                <a:latin typeface="PT Serif" panose="020A0603040505020204" pitchFamily="18" charset="0"/>
              </a:rPr>
              <a:t># Make predictions</a:t>
            </a:r>
          </a:p>
          <a:p>
            <a:pPr marL="0" indent="0" algn="l">
              <a:buNone/>
            </a:pPr>
            <a:r>
              <a:rPr lang="en-US" dirty="0">
                <a:solidFill>
                  <a:srgbClr val="383838"/>
                </a:solidFill>
                <a:latin typeface="PT Serif" panose="020A0603040505020204" pitchFamily="18" charset="0"/>
              </a:rPr>
              <a:t>y_pred = KNNclassifier.predict(X_test)</a:t>
            </a:r>
          </a:p>
        </p:txBody>
      </p:sp>
      <p:sp>
        <p:nvSpPr>
          <p:cNvPr id="19" name="TextBox 18">
            <a:extLst>
              <a:ext uri="{FF2B5EF4-FFF2-40B4-BE49-F238E27FC236}">
                <a16:creationId xmlns:a16="http://schemas.microsoft.com/office/drawing/2014/main" id="{85EAB82C-FA9C-5B4E-6104-32A2FAAE2166}"/>
              </a:ext>
            </a:extLst>
          </p:cNvPr>
          <p:cNvSpPr txBox="1"/>
          <p:nvPr/>
        </p:nvSpPr>
        <p:spPr>
          <a:xfrm>
            <a:off x="533400" y="838200"/>
            <a:ext cx="13878918" cy="306046"/>
          </a:xfrm>
          <a:prstGeom prst="rect">
            <a:avLst/>
          </a:prstGeom>
          <a:noFill/>
        </p:spPr>
        <p:txBody>
          <a:bodyPr wrap="square">
            <a:spAutoFit/>
          </a:bodyPr>
          <a:lstStyle/>
          <a:p>
            <a:pPr marL="0" indent="0" algn="l">
              <a:lnSpc>
                <a:spcPts val="1600"/>
              </a:lnSpc>
              <a:buNone/>
            </a:pPr>
            <a:r>
              <a:rPr lang="en-US" sz="1800" dirty="0">
                <a:solidFill>
                  <a:srgbClr val="383838"/>
                </a:solidFill>
                <a:latin typeface="PT Serif" panose="020A0603040505020204" pitchFamily="18" charset="0"/>
                <a:ea typeface="DM Sans" pitchFamily="34" charset="-122"/>
                <a:cs typeface="DM Sans" pitchFamily="34" charset="-120"/>
              </a:rPr>
              <a:t>The complete workflow for applying KNN to a classification problem follows these systematic steps:</a:t>
            </a:r>
            <a:endParaRPr lang="en-US" sz="1800" dirty="0">
              <a:latin typeface="PT Serif" panose="020A0603040505020204" pitchFamily="18" charset="0"/>
            </a:endParaRPr>
          </a:p>
        </p:txBody>
      </p:sp>
      <p:sp>
        <p:nvSpPr>
          <p:cNvPr id="30" name="TextBox 29">
            <a:extLst>
              <a:ext uri="{FF2B5EF4-FFF2-40B4-BE49-F238E27FC236}">
                <a16:creationId xmlns:a16="http://schemas.microsoft.com/office/drawing/2014/main" id="{B3270F14-9A54-C9D2-FE42-9BD62928CBFB}"/>
              </a:ext>
            </a:extLst>
          </p:cNvPr>
          <p:cNvSpPr txBox="1"/>
          <p:nvPr/>
        </p:nvSpPr>
        <p:spPr>
          <a:xfrm>
            <a:off x="11201400" y="1638666"/>
            <a:ext cx="3013646" cy="3172856"/>
          </a:xfrm>
          <a:prstGeom prst="rect">
            <a:avLst/>
          </a:prstGeom>
          <a:noFill/>
        </p:spPr>
        <p:txBody>
          <a:bodyPr wrap="square">
            <a:spAutoFit/>
          </a:bodyPr>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Apply Voting</a:t>
            </a:r>
          </a:p>
          <a:p>
            <a:pPr marL="0" indent="0" algn="l">
              <a:buNone/>
            </a:pPr>
            <a:endParaRPr lang="en-US" sz="2400"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Count class frequencies among K neighbors and assign the majority class to the new observation</a:t>
            </a:r>
            <a:endParaRPr lang="en-US"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p:txBody>
      </p:sp>
      <p:sp>
        <p:nvSpPr>
          <p:cNvPr id="5" name="Arrow: Right 4">
            <a:extLst>
              <a:ext uri="{FF2B5EF4-FFF2-40B4-BE49-F238E27FC236}">
                <a16:creationId xmlns:a16="http://schemas.microsoft.com/office/drawing/2014/main" id="{80498B59-744B-0C82-4303-96882EC7CCCE}"/>
              </a:ext>
            </a:extLst>
          </p:cNvPr>
          <p:cNvSpPr/>
          <p:nvPr/>
        </p:nvSpPr>
        <p:spPr>
          <a:xfrm>
            <a:off x="2667000" y="1262341"/>
            <a:ext cx="2362200" cy="306046"/>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32" name="Arrow: Right 31">
            <a:extLst>
              <a:ext uri="{FF2B5EF4-FFF2-40B4-BE49-F238E27FC236}">
                <a16:creationId xmlns:a16="http://schemas.microsoft.com/office/drawing/2014/main" id="{9E5FB934-DCBB-284B-A7EC-39FD376E992E}"/>
              </a:ext>
            </a:extLst>
          </p:cNvPr>
          <p:cNvSpPr/>
          <p:nvPr/>
        </p:nvSpPr>
        <p:spPr>
          <a:xfrm>
            <a:off x="9525000" y="1257109"/>
            <a:ext cx="2362200" cy="306046"/>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33" name="Arrow: Right 32">
            <a:extLst>
              <a:ext uri="{FF2B5EF4-FFF2-40B4-BE49-F238E27FC236}">
                <a16:creationId xmlns:a16="http://schemas.microsoft.com/office/drawing/2014/main" id="{1516B1B3-83AC-059A-61B5-8081DEF760C1}"/>
              </a:ext>
            </a:extLst>
          </p:cNvPr>
          <p:cNvSpPr/>
          <p:nvPr/>
        </p:nvSpPr>
        <p:spPr>
          <a:xfrm>
            <a:off x="6019800" y="1257109"/>
            <a:ext cx="2362200" cy="306046"/>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Tree>
    <p:extLst>
      <p:ext uri="{BB962C8B-B14F-4D97-AF65-F5344CB8AC3E}">
        <p14:creationId xmlns:p14="http://schemas.microsoft.com/office/powerpoint/2010/main" val="1251962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504DB91-23D8-4134-764C-1F4FBCD13BEC}"/>
              </a:ext>
            </a:extLst>
          </p:cNvPr>
          <p:cNvSpPr/>
          <p:nvPr/>
        </p:nvSpPr>
        <p:spPr>
          <a:xfrm>
            <a:off x="7620000" y="2057400"/>
            <a:ext cx="6629400" cy="3352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533400"/>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Extending KNN to Regression Problems</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487172" y="1586299"/>
            <a:ext cx="5837428" cy="5357429"/>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Key Difference</a:t>
            </a:r>
          </a:p>
          <a:p>
            <a:pPr algn="l">
              <a:lnSpc>
                <a:spcPct val="150000"/>
              </a:lnSpc>
            </a:pPr>
            <a:r>
              <a:rPr lang="en-US" sz="1800" dirty="0">
                <a:solidFill>
                  <a:srgbClr val="383838"/>
                </a:solidFill>
                <a:ea typeface="DM Sans" pitchFamily="34" charset="-122"/>
                <a:cs typeface="DM Sans" pitchFamily="34" charset="-120"/>
              </a:rPr>
              <a:t>KNN isn't limited to classification. When your target variable is </a:t>
            </a:r>
            <a:r>
              <a:rPr lang="en-US" sz="1800" b="1" dirty="0">
                <a:solidFill>
                  <a:srgbClr val="383838"/>
                </a:solidFill>
                <a:ea typeface="DM Sans" pitchFamily="34" charset="-122"/>
                <a:cs typeface="DM Sans" pitchFamily="34" charset="-120"/>
              </a:rPr>
              <a:t>continuous</a:t>
            </a:r>
            <a:r>
              <a:rPr lang="en-US" sz="1800" dirty="0">
                <a:solidFill>
                  <a:srgbClr val="383838"/>
                </a:solidFill>
                <a:ea typeface="DM Sans" pitchFamily="34" charset="-122"/>
                <a:cs typeface="DM Sans" pitchFamily="34" charset="-120"/>
              </a:rPr>
              <a:t> (like predicting house prices or sales volume), KNN can perform regression by averaging the outcomes of nearest neighbors.</a:t>
            </a:r>
          </a:p>
          <a:p>
            <a:pPr algn="l">
              <a:lnSpc>
                <a:spcPct val="150000"/>
              </a:lnSpc>
            </a:pPr>
            <a:endParaRPr lang="en-US" sz="1800" dirty="0"/>
          </a:p>
          <a:p>
            <a:pPr algn="l">
              <a:lnSpc>
                <a:spcPct val="150000"/>
              </a:lnSpc>
            </a:pPr>
            <a:r>
              <a:rPr lang="en-US" sz="2400" dirty="0">
                <a:solidFill>
                  <a:srgbClr val="020202"/>
                </a:solidFill>
                <a:ea typeface="PT Serif" pitchFamily="34" charset="-122"/>
                <a:cs typeface="PT Serif" pitchFamily="34" charset="-120"/>
              </a:rPr>
              <a:t>Modified Last Step</a:t>
            </a:r>
            <a:endParaRPr lang="en-US" sz="2400" dirty="0"/>
          </a:p>
          <a:p>
            <a:pPr algn="l">
              <a:lnSpc>
                <a:spcPct val="150000"/>
              </a:lnSpc>
            </a:pPr>
            <a:r>
              <a:rPr lang="en-US" sz="1800" dirty="0">
                <a:solidFill>
                  <a:srgbClr val="383838"/>
                </a:solidFill>
                <a:ea typeface="DM Sans" pitchFamily="34" charset="-122"/>
                <a:cs typeface="DM Sans" pitchFamily="34" charset="-120"/>
              </a:rPr>
              <a:t>Instead of voting on a class, KNN regression calculates the </a:t>
            </a:r>
            <a:r>
              <a:rPr lang="en-US" sz="1800" b="1" dirty="0">
                <a:solidFill>
                  <a:srgbClr val="383838"/>
                </a:solidFill>
                <a:ea typeface="DM Sans" pitchFamily="34" charset="-122"/>
                <a:cs typeface="DM Sans" pitchFamily="34" charset="-120"/>
              </a:rPr>
              <a:t>mean value</a:t>
            </a:r>
            <a:r>
              <a:rPr lang="en-US" sz="1800" dirty="0">
                <a:solidFill>
                  <a:srgbClr val="383838"/>
                </a:solidFill>
                <a:ea typeface="DM Sans" pitchFamily="34" charset="-122"/>
                <a:cs typeface="DM Sans" pitchFamily="34" charset="-120"/>
              </a:rPr>
              <a:t> of the response variable for the K nearest neighbors and assigns this average to the new case.</a:t>
            </a:r>
            <a:endParaRPr lang="en-US" sz="1800" dirty="0"/>
          </a:p>
          <a:p>
            <a:pPr marL="0" indent="0" algn="l">
              <a:lnSpc>
                <a:spcPct val="150000"/>
              </a:lnSpc>
              <a:buNone/>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776126" y="1447800"/>
            <a:ext cx="6364224" cy="5495928"/>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Python Implementation</a:t>
            </a:r>
          </a:p>
          <a:p>
            <a:pPr algn="l">
              <a:lnSpc>
                <a:spcPct val="150000"/>
              </a:lnSpc>
            </a:pPr>
            <a:r>
              <a:rPr lang="en-US" sz="1800" dirty="0">
                <a:solidFill>
                  <a:srgbClr val="383838"/>
                </a:solidFill>
              </a:rPr>
              <a:t>from sklearn.neighbors import KNeighborsRegressor</a:t>
            </a:r>
          </a:p>
          <a:p>
            <a:pPr algn="l">
              <a:lnSpc>
                <a:spcPct val="150000"/>
              </a:lnSpc>
            </a:pPr>
            <a:endParaRPr lang="en-US" sz="1800" dirty="0">
              <a:solidFill>
                <a:srgbClr val="383838"/>
              </a:solidFill>
            </a:endParaRPr>
          </a:p>
          <a:p>
            <a:pPr algn="l">
              <a:lnSpc>
                <a:spcPct val="150000"/>
              </a:lnSpc>
            </a:pPr>
            <a:r>
              <a:rPr lang="en-US" sz="1800" dirty="0">
                <a:solidFill>
                  <a:srgbClr val="383838"/>
                </a:solidFill>
              </a:rPr>
              <a:t># Initialize regressor</a:t>
            </a:r>
          </a:p>
          <a:p>
            <a:pPr algn="l">
              <a:lnSpc>
                <a:spcPct val="150000"/>
              </a:lnSpc>
            </a:pPr>
            <a:r>
              <a:rPr lang="en-US" sz="1800" dirty="0">
                <a:solidFill>
                  <a:srgbClr val="383838"/>
                </a:solidFill>
              </a:rPr>
              <a:t>KNNregressor = KNeighborsRegressor(    n_neighbors=k_value)</a:t>
            </a:r>
          </a:p>
          <a:p>
            <a:pPr algn="l">
              <a:lnSpc>
                <a:spcPct val="150000"/>
              </a:lnSpc>
            </a:pPr>
            <a:endParaRPr lang="en-US" sz="1800" dirty="0">
              <a:solidFill>
                <a:srgbClr val="383838"/>
              </a:solidFill>
            </a:endParaRPr>
          </a:p>
          <a:p>
            <a:pPr algn="l">
              <a:lnSpc>
                <a:spcPct val="150000"/>
              </a:lnSpc>
            </a:pPr>
            <a:r>
              <a:rPr lang="en-US" sz="1800" dirty="0">
                <a:solidFill>
                  <a:srgbClr val="383838"/>
                </a:solidFill>
              </a:rPr>
              <a:t># Fit and predict</a:t>
            </a:r>
          </a:p>
          <a:p>
            <a:pPr algn="l">
              <a:lnSpc>
                <a:spcPct val="150000"/>
              </a:lnSpc>
            </a:pPr>
            <a:r>
              <a:rPr lang="en-US" sz="1800" dirty="0">
                <a:solidFill>
                  <a:srgbClr val="383838"/>
                </a:solidFill>
              </a:rPr>
              <a:t>KNNregressor.fit(X_train, y_train)</a:t>
            </a:r>
          </a:p>
          <a:p>
            <a:pPr algn="l">
              <a:lnSpc>
                <a:spcPct val="150000"/>
              </a:lnSpc>
            </a:pPr>
            <a:r>
              <a:rPr lang="en-US" sz="1800" dirty="0">
                <a:solidFill>
                  <a:srgbClr val="383838"/>
                </a:solidFill>
              </a:rPr>
              <a:t>y_pred = KNNregressor.predict(X_test)</a:t>
            </a:r>
          </a:p>
          <a:p>
            <a:pPr marL="0" indent="0" algn="l">
              <a:lnSpc>
                <a:spcPct val="150000"/>
              </a:lnSpc>
              <a:buNone/>
            </a:pPr>
            <a:endParaRPr lang="en-US" sz="1800" dirty="0">
              <a:solidFill>
                <a:srgbClr val="020202"/>
              </a:solidFill>
            </a:endParaRPr>
          </a:p>
          <a:p>
            <a:pPr algn="l">
              <a:lnSpc>
                <a:spcPct val="150000"/>
              </a:lnSpc>
            </a:pPr>
            <a:r>
              <a:rPr lang="en-US" sz="1800" dirty="0">
                <a:solidFill>
                  <a:srgbClr val="383838"/>
                </a:solidFill>
                <a:ea typeface="DM Sans" pitchFamily="34" charset="-122"/>
                <a:cs typeface="DM Sans" pitchFamily="34" charset="-120"/>
              </a:rPr>
              <a:t>The workflow remains identical through the first three steps: standardize, calculate distances, and choose K.</a:t>
            </a:r>
            <a:endParaRPr lang="en-US" sz="1800" dirty="0"/>
          </a:p>
          <a:p>
            <a:pPr marL="0" indent="0" algn="l">
              <a:lnSpc>
                <a:spcPct val="150000"/>
              </a:lnSpc>
              <a:buNone/>
            </a:pPr>
            <a:endParaRPr lang="en-US" sz="1800" dirty="0"/>
          </a:p>
        </p:txBody>
      </p:sp>
    </p:spTree>
    <p:extLst>
      <p:ext uri="{BB962C8B-B14F-4D97-AF65-F5344CB8AC3E}">
        <p14:creationId xmlns:p14="http://schemas.microsoft.com/office/powerpoint/2010/main" val="3604263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1962" y="-36598"/>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Handling Categorical Variables</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485548"/>
            <a:ext cx="3818574" cy="3569816"/>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5" y="2523443"/>
            <a:ext cx="3454676" cy="4520316"/>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Mixed Data Types</a:t>
            </a:r>
          </a:p>
          <a:p>
            <a:pPr marL="0" indent="0" algn="l">
              <a:lnSpc>
                <a:spcPct val="150000"/>
              </a:lnSpc>
              <a:buNone/>
            </a:pPr>
            <a:endParaRPr lang="en-US" sz="2400"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When combining numeric and categorical features, carefully consider how to weight different variable types in your distance calculation.</a:t>
            </a:r>
            <a:endParaRPr lang="en-US"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438400"/>
            <a:ext cx="4114305" cy="3616964"/>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09124" y="2488423"/>
            <a:ext cx="3713225"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Create Dummy Variables</a:t>
            </a:r>
          </a:p>
          <a:p>
            <a:pPr marL="0" indent="0" algn="l">
              <a:lnSpc>
                <a:spcPct val="150000"/>
              </a:lnSpc>
              <a:buNone/>
            </a:pPr>
            <a:endParaRPr lang="en-US" sz="2400"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Convert categorical variables into numeric format using one-hot encoding. Each category becomes a binary (0/1) column.</a:t>
            </a:r>
            <a:endParaRPr lang="en-US"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8047" y="2438400"/>
            <a:ext cx="4114305" cy="3616964"/>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532658"/>
            <a:ext cx="3604657"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Distance Metric Challenge</a:t>
            </a:r>
          </a:p>
          <a:p>
            <a:pPr marL="0" indent="0" algn="l">
              <a:lnSpc>
                <a:spcPct val="150000"/>
              </a:lnSpc>
              <a:buNone/>
            </a:pPr>
            <a:endParaRPr lang="en-US" sz="2400"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Euclidean distance isn't ideal for binary dummy variables. Consider using Hamming distance or Gower distance instead.</a:t>
            </a:r>
            <a:endParaRPr lang="en-US"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p:txBody>
      </p:sp>
      <p:sp>
        <p:nvSpPr>
          <p:cNvPr id="12" name="TextBox 11">
            <a:extLst>
              <a:ext uri="{FF2B5EF4-FFF2-40B4-BE49-F238E27FC236}">
                <a16:creationId xmlns:a16="http://schemas.microsoft.com/office/drawing/2014/main" id="{925EC22F-D090-C146-5728-1EE282EE430D}"/>
              </a:ext>
            </a:extLst>
          </p:cNvPr>
          <p:cNvSpPr txBox="1"/>
          <p:nvPr/>
        </p:nvSpPr>
        <p:spPr>
          <a:xfrm>
            <a:off x="531962" y="1405993"/>
            <a:ext cx="13030201" cy="716350"/>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While KNN works beautifully with numeric data, real-world datasets often include categorical variables like gender, education level, or employment sector. Can we still use KNN?</a:t>
            </a:r>
            <a:endParaRPr lang="en-US" sz="1800" dirty="0">
              <a:latin typeface="PT Serif" panose="020A0603040505020204" pitchFamily="18" charset="0"/>
            </a:endParaRPr>
          </a:p>
        </p:txBody>
      </p:sp>
      <p:sp>
        <p:nvSpPr>
          <p:cNvPr id="14" name="TextBox 13">
            <a:extLst>
              <a:ext uri="{FF2B5EF4-FFF2-40B4-BE49-F238E27FC236}">
                <a16:creationId xmlns:a16="http://schemas.microsoft.com/office/drawing/2014/main" id="{66A3DC7A-D9BB-3011-62E5-B990BD80411E}"/>
              </a:ext>
            </a:extLst>
          </p:cNvPr>
          <p:cNvSpPr txBox="1"/>
          <p:nvPr/>
        </p:nvSpPr>
        <p:spPr>
          <a:xfrm>
            <a:off x="531962" y="6394766"/>
            <a:ext cx="13178488" cy="716350"/>
          </a:xfrm>
          <a:prstGeom prst="rect">
            <a:avLst/>
          </a:prstGeom>
          <a:noFill/>
        </p:spPr>
        <p:txBody>
          <a:bodyPr wrap="square">
            <a:spAutoFit/>
          </a:bodyPr>
          <a:lstStyle/>
          <a:p>
            <a:pPr marL="0" indent="0" algn="l">
              <a:lnSpc>
                <a:spcPts val="2500"/>
              </a:lnSpc>
              <a:buNone/>
            </a:pPr>
            <a:r>
              <a:rPr lang="en-US" sz="1800" b="1" dirty="0">
                <a:solidFill>
                  <a:srgbClr val="383838"/>
                </a:solidFill>
                <a:latin typeface="PT Serif" panose="020A0603040505020204" pitchFamily="18" charset="0"/>
                <a:ea typeface="DM Sans" pitchFamily="34" charset="-122"/>
                <a:cs typeface="DM Sans" pitchFamily="34" charset="-120"/>
              </a:rPr>
              <a:t>Best Practice:</a:t>
            </a:r>
            <a:r>
              <a:rPr lang="en-US" sz="1800" dirty="0">
                <a:solidFill>
                  <a:srgbClr val="383838"/>
                </a:solidFill>
                <a:latin typeface="PT Serif" panose="020A0603040505020204" pitchFamily="18" charset="0"/>
                <a:ea typeface="DM Sans" pitchFamily="34" charset="-122"/>
                <a:cs typeface="DM Sans" pitchFamily="34" charset="-120"/>
              </a:rPr>
              <a:t> When working with predominantly categorical data, consider alternative algorithms like Decision Trees or Naive Bayes that handle categorical variables more naturally.</a:t>
            </a:r>
            <a:endParaRPr lang="en-US" sz="1800" dirty="0">
              <a:latin typeface="PT Serif" panose="020A0603040505020204" pitchFamily="18" charset="0"/>
            </a:endParaRPr>
          </a:p>
        </p:txBody>
      </p:sp>
      <p:sp>
        <p:nvSpPr>
          <p:cNvPr id="13" name="Text 3">
            <a:extLst>
              <a:ext uri="{FF2B5EF4-FFF2-40B4-BE49-F238E27FC236}">
                <a16:creationId xmlns:a16="http://schemas.microsoft.com/office/drawing/2014/main" id="{141F5AF3-5370-4295-8030-C54FD03A2287}"/>
              </a:ext>
            </a:extLst>
          </p:cNvPr>
          <p:cNvSpPr/>
          <p:nvPr/>
        </p:nvSpPr>
        <p:spPr>
          <a:xfrm>
            <a:off x="725093" y="2532658"/>
            <a:ext cx="3713225" cy="4865280"/>
          </a:xfrm>
          <a:prstGeom prst="rect">
            <a:avLst/>
          </a:prstGeom>
          <a:noFill/>
          <a:ln/>
        </p:spPr>
        <p:txBody>
          <a:bodyPr wrap="square" lIns="0" tIns="0" rIns="0" bIns="0" rtlCol="0" anchor="t"/>
          <a:lstStyle/>
          <a:p>
            <a:pPr algn="l">
              <a:lnSpc>
                <a:spcPts val="5150"/>
              </a:lnSpc>
            </a:pPr>
            <a:endParaRPr lang="en-US" dirty="0">
              <a:latin typeface="PT Serif" panose="020A0603040505020204" pitchFamily="18" charset="0"/>
            </a:endParaRPr>
          </a:p>
        </p:txBody>
      </p:sp>
    </p:spTree>
    <p:extLst>
      <p:ext uri="{BB962C8B-B14F-4D97-AF65-F5344CB8AC3E}">
        <p14:creationId xmlns:p14="http://schemas.microsoft.com/office/powerpoint/2010/main" val="2678608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533400"/>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Advantages and Limitations of KNN</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502987" y="1710051"/>
            <a:ext cx="5837428" cy="5634428"/>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Strengths</a:t>
            </a:r>
          </a:p>
          <a:p>
            <a:pPr marL="0" indent="0" algn="l">
              <a:lnSpc>
                <a:spcPct val="150000"/>
              </a:lnSpc>
              <a:buNone/>
            </a:pPr>
            <a:endParaRPr lang="en-US" sz="2400" dirty="0"/>
          </a:p>
          <a:p>
            <a:pPr marL="342900" indent="-342900" algn="l">
              <a:lnSpc>
                <a:spcPct val="150000"/>
              </a:lnSpc>
              <a:buSzPct val="100000"/>
              <a:buChar char="•"/>
            </a:pPr>
            <a:r>
              <a:rPr lang="en-US" sz="1800" b="1" dirty="0">
                <a:solidFill>
                  <a:srgbClr val="383838"/>
                </a:solidFill>
                <a:ea typeface="DM Sans" pitchFamily="34" charset="-122"/>
                <a:cs typeface="DM Sans" pitchFamily="34" charset="-120"/>
              </a:rPr>
              <a:t>Simple and intuitive:</a:t>
            </a:r>
            <a:r>
              <a:rPr lang="en-US" sz="1800" dirty="0">
                <a:solidFill>
                  <a:srgbClr val="383838"/>
                </a:solidFill>
                <a:ea typeface="DM Sans" pitchFamily="34" charset="-122"/>
                <a:cs typeface="DM Sans" pitchFamily="34" charset="-120"/>
              </a:rPr>
              <a:t> Easy to understand and explain to stakeholders</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No training time:</a:t>
            </a:r>
            <a:r>
              <a:rPr lang="en-US" sz="1800" dirty="0">
                <a:solidFill>
                  <a:srgbClr val="383838"/>
                </a:solidFill>
                <a:ea typeface="DM Sans" pitchFamily="34" charset="-122"/>
                <a:cs typeface="DM Sans" pitchFamily="34" charset="-120"/>
              </a:rPr>
              <a:t> Immediate model availability since there's no training phase</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Versatile:</a:t>
            </a:r>
            <a:r>
              <a:rPr lang="en-US" sz="1800" dirty="0">
                <a:solidFill>
                  <a:srgbClr val="383838"/>
                </a:solidFill>
                <a:ea typeface="DM Sans" pitchFamily="34" charset="-122"/>
                <a:cs typeface="DM Sans" pitchFamily="34" charset="-120"/>
              </a:rPr>
              <a:t> Works for both classification and regression</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No assumptions:</a:t>
            </a:r>
            <a:r>
              <a:rPr lang="en-US" sz="1800" dirty="0">
                <a:solidFill>
                  <a:srgbClr val="383838"/>
                </a:solidFill>
                <a:ea typeface="DM Sans" pitchFamily="34" charset="-122"/>
                <a:cs typeface="DM Sans" pitchFamily="34" charset="-120"/>
              </a:rPr>
              <a:t> Doesn't assume linear relationships or normal distributions</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Adapts to new data:</a:t>
            </a:r>
            <a:r>
              <a:rPr lang="en-US" sz="1800" dirty="0">
                <a:solidFill>
                  <a:srgbClr val="383838"/>
                </a:solidFill>
                <a:ea typeface="DM Sans" pitchFamily="34" charset="-122"/>
                <a:cs typeface="DM Sans" pitchFamily="34" charset="-120"/>
              </a:rPr>
              <a:t> Simply add new observations to the training set</a:t>
            </a:r>
            <a:endParaRPr lang="en-US" sz="1800" dirty="0"/>
          </a:p>
          <a:p>
            <a:pPr marL="0" indent="0" algn="l">
              <a:lnSpc>
                <a:spcPct val="150000"/>
              </a:lnSpc>
              <a:buNone/>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779003" y="1710051"/>
            <a:ext cx="5837428" cy="5896679"/>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Limitations</a:t>
            </a:r>
          </a:p>
          <a:p>
            <a:pPr marL="0" indent="0" algn="l">
              <a:lnSpc>
                <a:spcPct val="150000"/>
              </a:lnSpc>
              <a:buNone/>
            </a:pPr>
            <a:endParaRPr lang="en-US" sz="2400" dirty="0">
              <a:solidFill>
                <a:srgbClr val="020202"/>
              </a:solidFill>
              <a:ea typeface="PT Serif" pitchFamily="34" charset="-122"/>
              <a:cs typeface="PT Serif" pitchFamily="34" charset="-120"/>
            </a:endParaRPr>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Slow predictions:</a:t>
            </a:r>
            <a:r>
              <a:rPr lang="en-US" sz="1800" dirty="0">
                <a:solidFill>
                  <a:srgbClr val="383838"/>
                </a:solidFill>
                <a:ea typeface="DM Sans" pitchFamily="34" charset="-122"/>
                <a:cs typeface="DM Sans" pitchFamily="34" charset="-120"/>
              </a:rPr>
              <a:t> Must calculate distances to all training points for each prediction</a:t>
            </a:r>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Memory intensive:</a:t>
            </a:r>
            <a:r>
              <a:rPr lang="en-US" sz="1800" dirty="0">
                <a:solidFill>
                  <a:srgbClr val="383838"/>
                </a:solidFill>
                <a:ea typeface="DM Sans" pitchFamily="34" charset="-122"/>
                <a:cs typeface="DM Sans" pitchFamily="34" charset="-120"/>
              </a:rPr>
              <a:t> Stores entire training dataset</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Sensitive to scale:</a:t>
            </a:r>
            <a:r>
              <a:rPr lang="en-US" sz="1800" dirty="0">
                <a:solidFill>
                  <a:srgbClr val="383838"/>
                </a:solidFill>
                <a:ea typeface="DM Sans" pitchFamily="34" charset="-122"/>
                <a:cs typeface="DM Sans" pitchFamily="34" charset="-120"/>
              </a:rPr>
              <a:t> Requires careful feature standardization</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Curse of dimensionality:</a:t>
            </a:r>
            <a:r>
              <a:rPr lang="en-US" sz="1800" dirty="0">
                <a:solidFill>
                  <a:srgbClr val="383838"/>
                </a:solidFill>
                <a:ea typeface="DM Sans" pitchFamily="34" charset="-122"/>
                <a:cs typeface="DM Sans" pitchFamily="34" charset="-120"/>
              </a:rPr>
              <a:t> Performance degrades with many features</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Imbalanced data issues:</a:t>
            </a:r>
            <a:r>
              <a:rPr lang="en-US" sz="1800" dirty="0">
                <a:solidFill>
                  <a:srgbClr val="383838"/>
                </a:solidFill>
                <a:ea typeface="DM Sans" pitchFamily="34" charset="-122"/>
                <a:cs typeface="DM Sans" pitchFamily="34" charset="-120"/>
              </a:rPr>
              <a:t> Majority class can dominate predictions</a:t>
            </a:r>
            <a:endParaRPr lang="en-US" sz="1800" dirty="0"/>
          </a:p>
          <a:p>
            <a:pPr algn="l">
              <a:lnSpc>
                <a:spcPct val="150000"/>
              </a:lnSpc>
            </a:pPr>
            <a:endParaRPr lang="en-US" sz="2400" dirty="0"/>
          </a:p>
          <a:p>
            <a:pPr marL="0" indent="0" algn="l">
              <a:lnSpc>
                <a:spcPct val="150000"/>
              </a:lnSpc>
              <a:buNone/>
            </a:pPr>
            <a:endParaRPr lang="en-US" sz="2400" dirty="0"/>
          </a:p>
        </p:txBody>
      </p:sp>
    </p:spTree>
    <p:extLst>
      <p:ext uri="{BB962C8B-B14F-4D97-AF65-F5344CB8AC3E}">
        <p14:creationId xmlns:p14="http://schemas.microsoft.com/office/powerpoint/2010/main" val="685926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376954" y="1219199"/>
            <a:ext cx="5530189" cy="3200401"/>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376954" y="4613657"/>
            <a:ext cx="5530189" cy="3200400"/>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02179" y="4632573"/>
            <a:ext cx="5530189" cy="3181484"/>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1238116"/>
            <a:ext cx="5530189" cy="3181484"/>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1143000" y="-20128"/>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Key Takeaways</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544378" y="1371600"/>
            <a:ext cx="5161221" cy="4698301"/>
          </a:xfrm>
          <a:prstGeom prst="rect">
            <a:avLst/>
          </a:prstGeom>
          <a:noFill/>
          <a:ln/>
        </p:spPr>
        <p:txBody>
          <a:bodyPr wrap="square" lIns="0" tIns="0" rIns="0" bIns="0" rtlCol="0" anchor="t"/>
          <a:lstStyle/>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1. KNN Classification Fundamentals</a:t>
            </a:r>
            <a:endParaRPr lang="en-US" sz="2400" dirty="0">
              <a:latin typeface="PT Serif" panose="020A0603040505020204" pitchFamily="18" charset="0"/>
            </a:endParaRPr>
          </a:p>
          <a:p>
            <a:pPr algn="l"/>
            <a:endParaRPr lang="en-US" dirty="0">
              <a:solidFill>
                <a:srgbClr val="000000"/>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Three components drive KNN: </a:t>
            </a:r>
            <a:r>
              <a:rPr lang="en-US" sz="1800" b="1" dirty="0">
                <a:solidFill>
                  <a:srgbClr val="383838"/>
                </a:solidFill>
                <a:latin typeface="PT Serif" panose="020A0603040505020204" pitchFamily="18" charset="0"/>
                <a:ea typeface="DM Sans" pitchFamily="34" charset="-122"/>
                <a:cs typeface="DM Sans" pitchFamily="34" charset="-120"/>
              </a:rPr>
              <a:t>distance metrics</a:t>
            </a:r>
            <a:r>
              <a:rPr lang="en-US" sz="1800" dirty="0">
                <a:solidFill>
                  <a:srgbClr val="383838"/>
                </a:solidFill>
                <a:latin typeface="PT Serif" panose="020A0603040505020204" pitchFamily="18" charset="0"/>
                <a:ea typeface="DM Sans" pitchFamily="34" charset="-122"/>
                <a:cs typeface="DM Sans" pitchFamily="34" charset="-120"/>
              </a:rPr>
              <a:t> measure similarity, </a:t>
            </a:r>
            <a:r>
              <a:rPr lang="en-US" sz="1800" b="1" dirty="0">
                <a:solidFill>
                  <a:srgbClr val="383838"/>
                </a:solidFill>
                <a:latin typeface="PT Serif" panose="020A0603040505020204" pitchFamily="18" charset="0"/>
                <a:ea typeface="DM Sans" pitchFamily="34" charset="-122"/>
                <a:cs typeface="DM Sans" pitchFamily="34" charset="-120"/>
              </a:rPr>
              <a:t>K value</a:t>
            </a:r>
            <a:r>
              <a:rPr lang="en-US" sz="1800" dirty="0">
                <a:solidFill>
                  <a:srgbClr val="383838"/>
                </a:solidFill>
                <a:latin typeface="PT Serif" panose="020A0603040505020204" pitchFamily="18" charset="0"/>
                <a:ea typeface="DM Sans" pitchFamily="34" charset="-122"/>
                <a:cs typeface="DM Sans" pitchFamily="34" charset="-120"/>
              </a:rPr>
              <a:t> determines neighbor count, and </a:t>
            </a:r>
            <a:r>
              <a:rPr lang="en-US" sz="1800" b="1" dirty="0">
                <a:solidFill>
                  <a:srgbClr val="383838"/>
                </a:solidFill>
                <a:latin typeface="PT Serif" panose="020A0603040505020204" pitchFamily="18" charset="0"/>
                <a:ea typeface="DM Sans" pitchFamily="34" charset="-122"/>
                <a:cs typeface="DM Sans" pitchFamily="34" charset="-120"/>
              </a:rPr>
              <a:t>voting criteria</a:t>
            </a:r>
            <a:r>
              <a:rPr lang="en-US" sz="1800" dirty="0">
                <a:solidFill>
                  <a:srgbClr val="383838"/>
                </a:solidFill>
                <a:latin typeface="PT Serif" panose="020A0603040505020204" pitchFamily="18" charset="0"/>
                <a:ea typeface="DM Sans" pitchFamily="34" charset="-122"/>
                <a:cs typeface="DM Sans" pitchFamily="34" charset="-120"/>
              </a:rPr>
              <a:t> make final predictions. Remember to standardize variables before calculating distances.</a:t>
            </a:r>
            <a:endParaRPr lang="en-US" dirty="0">
              <a:solidFill>
                <a:srgbClr val="000000"/>
              </a:solidFill>
              <a:latin typeface="PT Serif" panose="020A0603040505020204" pitchFamily="18" charset="0"/>
            </a:endParaRPr>
          </a:p>
          <a:p>
            <a:pPr algn="l">
              <a:lnSpc>
                <a:spcPct val="150000"/>
              </a:lnSpc>
            </a:pPr>
            <a:endParaRPr lang="en-US" dirty="0">
              <a:solidFill>
                <a:srgbClr val="000000"/>
              </a:solidFill>
              <a:latin typeface="PT Serif" panose="020A0603040505020204" pitchFamily="18" charset="0"/>
            </a:endParaRPr>
          </a:p>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3. KNN for Regression</a:t>
            </a:r>
            <a:endParaRPr lang="en-US" sz="2400" dirty="0">
              <a:latin typeface="PT Serif" panose="020A0603040505020204" pitchFamily="18" charset="0"/>
              <a:ea typeface="PT Serif" pitchFamily="34" charset="-122"/>
              <a:cs typeface="PT Serif" pitchFamily="34" charset="-120"/>
            </a:endParaRPr>
          </a:p>
          <a:p>
            <a:pPr algn="ct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The algorithm extends naturally to continuous outcomes by averaging neighbor values instead of voting. Implement using </a:t>
            </a:r>
            <a:r>
              <a:rPr lang="en-US" sz="1800" b="1" dirty="0">
                <a:solidFill>
                  <a:srgbClr val="383838"/>
                </a:solidFill>
                <a:latin typeface="PT Serif" panose="020A0603040505020204" pitchFamily="18" charset="0"/>
                <a:ea typeface="DM Sans" pitchFamily="34" charset="-122"/>
                <a:cs typeface="DM Sans" pitchFamily="34" charset="-120"/>
              </a:rPr>
              <a:t>KNeighborsRegressor()</a:t>
            </a:r>
            <a:r>
              <a:rPr lang="en-US" sz="1800" dirty="0">
                <a:solidFill>
                  <a:srgbClr val="383838"/>
                </a:solidFill>
                <a:latin typeface="PT Serif" panose="020A0603040505020204" pitchFamily="18" charset="0"/>
                <a:ea typeface="DM Sans" pitchFamily="34" charset="-122"/>
                <a:cs typeface="DM Sans" pitchFamily="34" charset="-120"/>
              </a:rPr>
              <a:t> from sklearn.neighbors.</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848600" y="1318805"/>
            <a:ext cx="5161219" cy="4698301"/>
          </a:xfrm>
          <a:prstGeom prst="rect">
            <a:avLst/>
          </a:prstGeom>
          <a:noFill/>
          <a:ln/>
        </p:spPr>
        <p:txBody>
          <a:bodyPr wrap="square" lIns="0" tIns="0" rIns="0" bIns="0" rtlCol="0" anchor="t"/>
          <a:lstStyle/>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2. Python Implementation</a:t>
            </a:r>
            <a:endParaRPr lang="en-US" sz="2400" dirty="0">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Use </a:t>
            </a:r>
            <a:r>
              <a:rPr lang="en-US" sz="1800" b="1" dirty="0">
                <a:solidFill>
                  <a:srgbClr val="383838"/>
                </a:solidFill>
                <a:latin typeface="PT Serif" panose="020A0603040505020204" pitchFamily="18" charset="0"/>
                <a:ea typeface="DM Sans" pitchFamily="34" charset="-122"/>
                <a:cs typeface="DM Sans" pitchFamily="34" charset="-120"/>
              </a:rPr>
              <a:t>KNeighborsClassifier()</a:t>
            </a:r>
            <a:r>
              <a:rPr lang="en-US" sz="1800" dirty="0">
                <a:solidFill>
                  <a:srgbClr val="383838"/>
                </a:solidFill>
                <a:latin typeface="PT Serif" panose="020A0603040505020204" pitchFamily="18" charset="0"/>
                <a:ea typeface="DM Sans" pitchFamily="34" charset="-122"/>
                <a:cs typeface="DM Sans" pitchFamily="34" charset="-120"/>
              </a:rPr>
              <a:t> from sklearn.neighbors for classification tasks. Start with K = sqrt(n) as your initial value and tune through cross-validation.</a:t>
            </a:r>
            <a:endParaRPr lang="en-US" sz="1800" dirty="0">
              <a:latin typeface="PT Serif" panose="020A0603040505020204" pitchFamily="18" charset="0"/>
            </a:endParaRPr>
          </a:p>
          <a:p>
            <a:pPr marL="0" indent="0" algn="l">
              <a:lnSpc>
                <a:spcPct val="150000"/>
              </a:lnSpc>
              <a:buNone/>
            </a:pPr>
            <a:endParaRPr lang="en-US" dirty="0">
              <a:solidFill>
                <a:srgbClr val="000000"/>
              </a:solidFill>
              <a:latin typeface="PT Serif" panose="020A0603040505020204" pitchFamily="18" charset="0"/>
            </a:endParaRPr>
          </a:p>
          <a:p>
            <a:pPr marL="0" indent="0" algn="l">
              <a:lnSpc>
                <a:spcPct val="150000"/>
              </a:lnSpc>
              <a:buNone/>
            </a:pPr>
            <a:endParaRPr lang="en-US" dirty="0">
              <a:solidFill>
                <a:srgbClr val="000000"/>
              </a:solidFill>
              <a:latin typeface="PT Serif" panose="020A0603040505020204" pitchFamily="18" charset="0"/>
            </a:endParaRPr>
          </a:p>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4. Practical Considerations</a:t>
            </a:r>
          </a:p>
          <a:p>
            <a:pPr algn="ctr"/>
            <a:endParaRPr lang="en-US" sz="2400" dirty="0">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Convert categorical variables to dummy variables when necessary, but recognize that Euclidean distance may not be optimal for binary features. Balance model simplicity against computational efficiency for large datasets.</a:t>
            </a:r>
            <a:endParaRPr lang="en-US" sz="1800" dirty="0">
              <a:latin typeface="PT Serif" panose="020A0603040505020204" pitchFamily="18" charset="0"/>
            </a:endParaRPr>
          </a:p>
        </p:txBody>
      </p:sp>
    </p:spTree>
    <p:extLst>
      <p:ext uri="{BB962C8B-B14F-4D97-AF65-F5344CB8AC3E}">
        <p14:creationId xmlns:p14="http://schemas.microsoft.com/office/powerpoint/2010/main" val="2050921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599</TotalTime>
  <Words>2043</Words>
  <Application>Microsoft Macintosh PowerPoint</Application>
  <PresentationFormat>Custom</PresentationFormat>
  <Paragraphs>410</Paragraphs>
  <Slides>18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DM Sans</vt:lpstr>
      <vt:lpstr>Lucida Sans Unicode</vt:lpstr>
      <vt:lpstr>Open Sans Light</vt:lpstr>
      <vt:lpstr>PT Serif</vt:lpstr>
      <vt:lpstr>PT Serif Light</vt:lpstr>
      <vt:lpstr>Office Theme</vt:lpstr>
      <vt:lpstr>PowerPoint Presentation</vt:lpstr>
      <vt:lpstr>Contents </vt:lpstr>
      <vt:lpstr>Introduction to K-Nearest Neighbors</vt:lpstr>
      <vt:lpstr>How KNN Classification Works</vt:lpstr>
      <vt:lpstr>Three Critical Components of KNN</vt:lpstr>
      <vt:lpstr>Understanding Through Example: Loan Default Prediction</vt:lpstr>
      <vt:lpstr>The Importance of Scaling</vt:lpstr>
      <vt:lpstr>Distance Based on Standardized Variables</vt:lpstr>
      <vt:lpstr>Classification using K=3</vt:lpstr>
      <vt:lpstr>Choosing the Right Value of K</vt:lpstr>
      <vt:lpstr>Voting Criteria and Its Limitations</vt:lpstr>
      <vt:lpstr>Revisiting Bank Loan Default Prediction</vt:lpstr>
      <vt:lpstr>Data Snapshot</vt:lpstr>
      <vt:lpstr>Implementing KNN Classification in Python</vt:lpstr>
      <vt:lpstr>Extending KNN to Regression Problems</vt:lpstr>
      <vt:lpstr>Handling Categorical Variables</vt:lpstr>
      <vt:lpstr>Advantages and Limitations of KNN</vt:lpstr>
      <vt:lpstr>Key Takeaways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Vinayak Deshpande</cp:lastModifiedBy>
  <cp:revision>213</cp:revision>
  <dcterms:created xsi:type="dcterms:W3CDTF">2025-08-01T06:43:07Z</dcterms:created>
  <dcterms:modified xsi:type="dcterms:W3CDTF">2025-12-14T07:22:30Z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