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74" r:id="rId2"/>
    <p:sldId id="275" r:id="rId3"/>
    <p:sldId id="292" r:id="rId4"/>
    <p:sldId id="266" r:id="rId5"/>
    <p:sldId id="303" r:id="rId6"/>
    <p:sldId id="304" r:id="rId7"/>
    <p:sldId id="305" r:id="rId8"/>
    <p:sldId id="306" r:id="rId9"/>
    <p:sldId id="307" r:id="rId10"/>
    <p:sldId id="308" r:id="rId11"/>
    <p:sldId id="309" r:id="rId12"/>
    <p:sldId id="310" r:id="rId13"/>
    <p:sldId id="311" r:id="rId14"/>
    <p:sldId id="312" r:id="rId15"/>
    <p:sldId id="313" r:id="rId16"/>
    <p:sldId id="300" r:id="rId17"/>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48891F-FB35-E1C6-2832-95F5AEC01C35}" v="1" dt="2025-11-06T07:40:41.12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9"/>
  </p:normalViewPr>
  <p:slideViewPr>
    <p:cSldViewPr>
      <p:cViewPr varScale="1">
        <p:scale>
          <a:sx n="86" d="100"/>
          <a:sy n="86" d="100"/>
        </p:scale>
        <p:origin x="936" y="20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D48891F-FB35-E1C6-2832-95F5AEC01C35}"/>
    <pc:docChg chg="modSld">
      <pc:chgData name="Guest User" userId="" providerId="Windows Live" clId="Web-{DD48891F-FB35-E1C6-2832-95F5AEC01C35}" dt="2025-11-06T07:40:41.129" v="0" actId="1076"/>
      <pc:docMkLst>
        <pc:docMk/>
      </pc:docMkLst>
      <pc:sldChg chg="modSp">
        <pc:chgData name="Guest User" userId="" providerId="Windows Live" clId="Web-{DD48891F-FB35-E1C6-2832-95F5AEC01C35}" dt="2025-11-06T07:40:41.129" v="0" actId="1076"/>
        <pc:sldMkLst>
          <pc:docMk/>
          <pc:sldMk cId="0" sldId="260"/>
        </pc:sldMkLst>
        <pc:spChg chg="mod">
          <ac:chgData name="Guest User" userId="" providerId="Windows Live" clId="Web-{DD48891F-FB35-E1C6-2832-95F5AEC01C35}" dt="2025-11-06T07:40:41.129" v="0" actId="1076"/>
          <ac:spMkLst>
            <pc:docMk/>
            <pc:sldMk cId="0" sldId="260"/>
            <ac:spMk id="11" creationId="{1729E060-4A6E-E272-7665-9392F1B6E4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04E097FF-D63A-4701-9D59-A7186DD4FFE5}" type="datetimeFigureOut">
              <a:rPr lang="en-IN" smtClean="0"/>
              <a:t>13/12/25</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986E45C9-D4C9-4BB9-AC1A-6D12C2483BB1}" type="slidenum">
              <a:rPr lang="en-IN" smtClean="0"/>
              <a:t>‹#›</a:t>
            </a:fld>
            <a:endParaRPr lang="en-IN"/>
          </a:p>
        </p:txBody>
      </p:sp>
    </p:spTree>
    <p:extLst>
      <p:ext uri="{BB962C8B-B14F-4D97-AF65-F5344CB8AC3E}">
        <p14:creationId xmlns:p14="http://schemas.microsoft.com/office/powerpoint/2010/main" val="183767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C471-F21A-8034-1182-7EC20A462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DEB8-E147-4787-5FDF-AACC13D3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F521C-0896-D5EA-62D4-7B080E31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912D4-651F-022F-E212-0668CF91224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4243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B5D64-14C4-F16C-5619-287C7EA27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13F94-501F-3960-9E11-DE7F03BD9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30D1C-21CC-DCF2-1302-0D6A57E7F9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8C2F6F-17C8-6775-A32C-6E7DBAEA8A4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34623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4</a:t>
            </a:fld>
            <a:endParaRPr lang="en-IN"/>
          </a:p>
        </p:txBody>
      </p:sp>
    </p:spTree>
    <p:extLst>
      <p:ext uri="{BB962C8B-B14F-4D97-AF65-F5344CB8AC3E}">
        <p14:creationId xmlns:p14="http://schemas.microsoft.com/office/powerpoint/2010/main" val="1812942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6</a:t>
            </a:fld>
            <a:endParaRPr lang="en-IN"/>
          </a:p>
        </p:txBody>
      </p:sp>
    </p:spTree>
    <p:extLst>
      <p:ext uri="{BB962C8B-B14F-4D97-AF65-F5344CB8AC3E}">
        <p14:creationId xmlns:p14="http://schemas.microsoft.com/office/powerpoint/2010/main" val="37285056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10</a:t>
            </a:fld>
            <a:endParaRPr lang="en-IN"/>
          </a:p>
        </p:txBody>
      </p:sp>
    </p:spTree>
    <p:extLst>
      <p:ext uri="{BB962C8B-B14F-4D97-AF65-F5344CB8AC3E}">
        <p14:creationId xmlns:p14="http://schemas.microsoft.com/office/powerpoint/2010/main" val="2663117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body" idx="1"/>
          </p:nvPr>
        </p:nvSpPr>
        <p:spPr/>
        <p:txBody>
          <a:bodyPr lIns="0" tIns="0" rIns="0" bIns="0"/>
          <a:lstStyle>
            <a:lvl1pPr>
              <a:defRPr sz="2800" b="0" i="0">
                <a:solidFill>
                  <a:srgbClr val="272C45"/>
                </a:solidFill>
                <a:latin typeface="PT Serif" panose="020A0603040505020204" pitchFamily="18" charset="0"/>
                <a:cs typeface="Lucida Sans Unicode"/>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6A85DC-158A-6A4D-AEC5-3C4D0AA39301}" type="datetime1">
              <a:rPr lang="en-IN" smtClean="0"/>
              <a:t>13/12/25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13/12/25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C0E4A29-2FA4-5F43-8886-1C2CFE02D9AE}" type="datetime1">
              <a:rPr lang="en-IN" smtClean="0"/>
              <a:t>13/12/25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41625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7172" y="401522"/>
            <a:ext cx="13656055" cy="569387"/>
          </a:xfrm>
          <a:prstGeom prst="rect">
            <a:avLst/>
          </a:prstGeom>
        </p:spPr>
        <p:txBody>
          <a:bodyPr wrap="square" lIns="0" tIns="0" rIns="0" bIns="0">
            <a:spAutoFit/>
          </a:bodyPr>
          <a:lstStyle>
            <a:lvl1pPr>
              <a:defRPr sz="3700" b="0" i="0">
                <a:solidFill>
                  <a:srgbClr val="272C45"/>
                </a:solidFill>
                <a:latin typeface="Lucida Sans Unicode"/>
                <a:cs typeface="Lucida Sans Unicode"/>
              </a:defRPr>
            </a:lvl1pPr>
          </a:lstStyle>
          <a:p>
            <a:endParaRPr dirty="0"/>
          </a:p>
        </p:txBody>
      </p:sp>
      <p:sp>
        <p:nvSpPr>
          <p:cNvPr id="3" name="Holder 3"/>
          <p:cNvSpPr>
            <a:spLocks noGrp="1"/>
          </p:cNvSpPr>
          <p:nvPr>
            <p:ph type="body" idx="1"/>
          </p:nvPr>
        </p:nvSpPr>
        <p:spPr>
          <a:xfrm>
            <a:off x="5769609" y="3090163"/>
            <a:ext cx="7381240" cy="430887"/>
          </a:xfrm>
          <a:prstGeom prst="rect">
            <a:avLst/>
          </a:prstGeom>
        </p:spPr>
        <p:txBody>
          <a:bodyPr wrap="square" lIns="0" tIns="0" rIns="0" bIns="0">
            <a:spAutoFit/>
          </a:bodyPr>
          <a:lstStyle>
            <a:lvl1pPr>
              <a:defRPr sz="2800" b="0" i="0">
                <a:solidFill>
                  <a:srgbClr val="272C45"/>
                </a:solidFill>
                <a:latin typeface="Lucida Sans Unicode"/>
                <a:cs typeface="Lucida Sans Unicode"/>
              </a:defRPr>
            </a:lvl1pPr>
          </a:lstStyle>
          <a:p>
            <a:endParaRPr dirty="0"/>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9D47C385-8D9F-4541-81D3-BBF55B3B60AF}" type="datetime1">
              <a:rPr lang="en-IN" smtClean="0"/>
              <a:t>13/12/25</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lvl1pPr>
        <a:defRPr>
          <a:latin typeface="PT Serif" panose="020A0603040505020204" pitchFamily="18" charset="0"/>
          <a:ea typeface="+mj-ea"/>
          <a:cs typeface="+mj-cs"/>
        </a:defRPr>
      </a:lvl1pPr>
    </p:titleStyle>
    <p:body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8BBC-7E6C-F114-F782-376A30F06152}"/>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F82AA0A4-B4C8-BFF7-1622-4303CB7DF1F3}"/>
              </a:ext>
            </a:extLst>
          </p:cNvPr>
          <p:cNvSpPr/>
          <p:nvPr/>
        </p:nvSpPr>
        <p:spPr>
          <a:xfrm>
            <a:off x="765034" y="2201108"/>
            <a:ext cx="7058739"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Introduction to Machine Learning</a:t>
            </a:r>
            <a:endParaRPr lang="en-US" sz="4100" dirty="0"/>
          </a:p>
        </p:txBody>
      </p:sp>
      <p:sp>
        <p:nvSpPr>
          <p:cNvPr id="22" name="Text 1">
            <a:extLst>
              <a:ext uri="{FF2B5EF4-FFF2-40B4-BE49-F238E27FC236}">
                <a16:creationId xmlns:a16="http://schemas.microsoft.com/office/drawing/2014/main" id="{34E7B785-51DF-6028-E343-20904A09A941}"/>
              </a:ext>
            </a:extLst>
          </p:cNvPr>
          <p:cNvSpPr/>
          <p:nvPr/>
        </p:nvSpPr>
        <p:spPr>
          <a:xfrm>
            <a:off x="765034" y="2873959"/>
            <a:ext cx="8074166" cy="651272"/>
          </a:xfrm>
          <a:prstGeom prst="rect">
            <a:avLst/>
          </a:prstGeom>
          <a:noFill/>
          <a:ln/>
        </p:spPr>
        <p:txBody>
          <a:bodyPr wrap="square" lIns="0" tIns="0" rIns="0" bIns="0" rtlCol="0" anchor="t"/>
          <a:lstStyle/>
          <a:p>
            <a:pPr marL="0" indent="0" algn="l">
              <a:lnSpc>
                <a:spcPts val="3100"/>
              </a:lnSpc>
              <a:buNone/>
            </a:pPr>
            <a:r>
              <a:rPr lang="en-US" sz="1800" dirty="0">
                <a:solidFill>
                  <a:srgbClr val="383838"/>
                </a:solidFill>
                <a:latin typeface="PT Serif" panose="020A0603040505020204" pitchFamily="18" charset="0"/>
                <a:ea typeface="DM Sans" pitchFamily="34" charset="-122"/>
                <a:cs typeface="DM Sans" pitchFamily="34" charset="-120"/>
              </a:rPr>
              <a:t>Understanding ML Fundamentals, Methods, and Applications in Modern Systems</a:t>
            </a:r>
            <a:endParaRPr lang="en-US" sz="1800" dirty="0">
              <a:latin typeface="PT Serif" panose="020A0603040505020204" pitchFamily="18" charset="0"/>
            </a:endParaRPr>
          </a:p>
        </p:txBody>
      </p:sp>
      <p:pic>
        <p:nvPicPr>
          <p:cNvPr id="4" name="Image 0" descr="preencoded.png">
            <a:extLst>
              <a:ext uri="{FF2B5EF4-FFF2-40B4-BE49-F238E27FC236}">
                <a16:creationId xmlns:a16="http://schemas.microsoft.com/office/drawing/2014/main" id="{64BA9199-DC1B-0729-9EA3-1F802553C9D0}"/>
              </a:ext>
            </a:extLst>
          </p:cNvPr>
          <p:cNvPicPr>
            <a:picLocks noChangeAspect="1"/>
          </p:cNvPicPr>
          <p:nvPr/>
        </p:nvPicPr>
        <p:blipFill>
          <a:blip r:embed="rId3"/>
          <a:stretch>
            <a:fillRect/>
          </a:stretch>
        </p:blipFill>
        <p:spPr>
          <a:xfrm>
            <a:off x="9144000" y="-2875"/>
            <a:ext cx="5486400" cy="8229600"/>
          </a:xfrm>
          <a:prstGeom prst="rect">
            <a:avLst/>
          </a:prstGeom>
        </p:spPr>
      </p:pic>
    </p:spTree>
    <p:extLst>
      <p:ext uri="{BB962C8B-B14F-4D97-AF65-F5344CB8AC3E}">
        <p14:creationId xmlns:p14="http://schemas.microsoft.com/office/powerpoint/2010/main" val="424820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79A3-6285-EA7B-A2B4-F0C9DCE16B7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EF8EC6-F255-C70E-3023-DC7EAEC5B16D}"/>
              </a:ext>
            </a:extLst>
          </p:cNvPr>
          <p:cNvSpPr/>
          <p:nvPr/>
        </p:nvSpPr>
        <p:spPr>
          <a:xfrm>
            <a:off x="793790" y="1107162"/>
            <a:ext cx="4763333" cy="595432"/>
          </a:xfrm>
          <a:prstGeom prst="rect">
            <a:avLst/>
          </a:prstGeom>
          <a:noFill/>
          <a:ln/>
        </p:spPr>
        <p:txBody>
          <a:bodyPr wrap="none" lIns="0" tIns="0" rIns="0" bIns="0" rtlCol="0" anchor="t"/>
          <a:lstStyle/>
          <a:p>
            <a:pPr marL="0" indent="0" algn="l">
              <a:lnSpc>
                <a:spcPts val="4650"/>
              </a:lnSpc>
              <a:buNone/>
            </a:pPr>
            <a:r>
              <a:rPr lang="en-US" sz="3600" dirty="0">
                <a:solidFill>
                  <a:srgbClr val="020202"/>
                </a:solidFill>
                <a:latin typeface="PT Serif" pitchFamily="34" charset="0"/>
                <a:ea typeface="PT Serif" pitchFamily="34" charset="-122"/>
                <a:cs typeface="PT Serif" pitchFamily="34" charset="-120"/>
              </a:rPr>
              <a:t>Contents</a:t>
            </a:r>
            <a:endParaRPr lang="en-US" sz="3600" dirty="0"/>
          </a:p>
        </p:txBody>
      </p:sp>
      <p:sp>
        <p:nvSpPr>
          <p:cNvPr id="3" name="Text 1">
            <a:extLst>
              <a:ext uri="{FF2B5EF4-FFF2-40B4-BE49-F238E27FC236}">
                <a16:creationId xmlns:a16="http://schemas.microsoft.com/office/drawing/2014/main" id="{630CCEE3-6042-A6A9-3891-B76B33DC9098}"/>
              </a:ext>
            </a:extLst>
          </p:cNvPr>
          <p:cNvSpPr/>
          <p:nvPr/>
        </p:nvSpPr>
        <p:spPr>
          <a:xfrm>
            <a:off x="793790"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4" name="Shape 2">
            <a:extLst>
              <a:ext uri="{FF2B5EF4-FFF2-40B4-BE49-F238E27FC236}">
                <a16:creationId xmlns:a16="http://schemas.microsoft.com/office/drawing/2014/main" id="{109D6074-985D-ECFD-41A9-CC64CE8CCED8}"/>
              </a:ext>
            </a:extLst>
          </p:cNvPr>
          <p:cNvSpPr/>
          <p:nvPr/>
        </p:nvSpPr>
        <p:spPr>
          <a:xfrm>
            <a:off x="793790" y="2511266"/>
            <a:ext cx="6407944" cy="30480"/>
          </a:xfrm>
          <a:prstGeom prst="rect">
            <a:avLst/>
          </a:prstGeom>
          <a:solidFill>
            <a:srgbClr val="E04F00"/>
          </a:solidFill>
          <a:ln/>
        </p:spPr>
      </p:sp>
      <p:sp>
        <p:nvSpPr>
          <p:cNvPr id="5" name="Text 3">
            <a:extLst>
              <a:ext uri="{FF2B5EF4-FFF2-40B4-BE49-F238E27FC236}">
                <a16:creationId xmlns:a16="http://schemas.microsoft.com/office/drawing/2014/main" id="{18BB4AFD-62D3-1AAB-C8B6-84BCFD0B3499}"/>
              </a:ext>
            </a:extLst>
          </p:cNvPr>
          <p:cNvSpPr/>
          <p:nvPr/>
        </p:nvSpPr>
        <p:spPr>
          <a:xfrm>
            <a:off x="793790" y="2685574"/>
            <a:ext cx="437030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What is Machine Learning</a:t>
            </a:r>
          </a:p>
        </p:txBody>
      </p:sp>
      <p:sp>
        <p:nvSpPr>
          <p:cNvPr id="6" name="Text 4">
            <a:extLst>
              <a:ext uri="{FF2B5EF4-FFF2-40B4-BE49-F238E27FC236}">
                <a16:creationId xmlns:a16="http://schemas.microsoft.com/office/drawing/2014/main" id="{A95C41F2-E8AE-183D-B7D2-B584B66A5047}"/>
              </a:ext>
            </a:extLst>
          </p:cNvPr>
          <p:cNvSpPr/>
          <p:nvPr/>
        </p:nvSpPr>
        <p:spPr>
          <a:xfrm>
            <a:off x="7428548" y="2156222"/>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7" name="Shape 5">
            <a:extLst>
              <a:ext uri="{FF2B5EF4-FFF2-40B4-BE49-F238E27FC236}">
                <a16:creationId xmlns:a16="http://schemas.microsoft.com/office/drawing/2014/main" id="{420FFCDF-EFCF-D95B-39BF-71DEE8C305CC}"/>
              </a:ext>
            </a:extLst>
          </p:cNvPr>
          <p:cNvSpPr/>
          <p:nvPr/>
        </p:nvSpPr>
        <p:spPr>
          <a:xfrm>
            <a:off x="7428548" y="2511266"/>
            <a:ext cx="6408063" cy="30480"/>
          </a:xfrm>
          <a:prstGeom prst="rect">
            <a:avLst/>
          </a:prstGeom>
          <a:solidFill>
            <a:srgbClr val="E04F00"/>
          </a:solidFill>
          <a:ln/>
        </p:spPr>
      </p:sp>
      <p:sp>
        <p:nvSpPr>
          <p:cNvPr id="8" name="Text 6">
            <a:extLst>
              <a:ext uri="{FF2B5EF4-FFF2-40B4-BE49-F238E27FC236}">
                <a16:creationId xmlns:a16="http://schemas.microsoft.com/office/drawing/2014/main" id="{C5C44485-ABDB-D8CB-78F7-9276AAADB0B2}"/>
              </a:ext>
            </a:extLst>
          </p:cNvPr>
          <p:cNvSpPr/>
          <p:nvPr/>
        </p:nvSpPr>
        <p:spPr>
          <a:xfrm>
            <a:off x="7428548" y="2685574"/>
            <a:ext cx="4915852" cy="506016"/>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Core Components Of ML</a:t>
            </a:r>
          </a:p>
        </p:txBody>
      </p:sp>
      <p:sp>
        <p:nvSpPr>
          <p:cNvPr id="9" name="Text 7">
            <a:extLst>
              <a:ext uri="{FF2B5EF4-FFF2-40B4-BE49-F238E27FC236}">
                <a16:creationId xmlns:a16="http://schemas.microsoft.com/office/drawing/2014/main" id="{F49AA9FB-4CAF-BC7C-90F0-1D48BD93C205}"/>
              </a:ext>
            </a:extLst>
          </p:cNvPr>
          <p:cNvSpPr/>
          <p:nvPr/>
        </p:nvSpPr>
        <p:spPr>
          <a:xfrm>
            <a:off x="793790"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0" name="Shape 8">
            <a:extLst>
              <a:ext uri="{FF2B5EF4-FFF2-40B4-BE49-F238E27FC236}">
                <a16:creationId xmlns:a16="http://schemas.microsoft.com/office/drawing/2014/main" id="{F735EFEC-254C-A190-497E-54797BC377D7}"/>
              </a:ext>
            </a:extLst>
          </p:cNvPr>
          <p:cNvSpPr/>
          <p:nvPr/>
        </p:nvSpPr>
        <p:spPr>
          <a:xfrm>
            <a:off x="793790" y="3809524"/>
            <a:ext cx="6407944" cy="30480"/>
          </a:xfrm>
          <a:prstGeom prst="rect">
            <a:avLst/>
          </a:prstGeom>
          <a:solidFill>
            <a:srgbClr val="E04F00"/>
          </a:solidFill>
          <a:ln/>
        </p:spPr>
      </p:sp>
      <p:sp>
        <p:nvSpPr>
          <p:cNvPr id="11" name="Text 9">
            <a:extLst>
              <a:ext uri="{FF2B5EF4-FFF2-40B4-BE49-F238E27FC236}">
                <a16:creationId xmlns:a16="http://schemas.microsoft.com/office/drawing/2014/main" id="{1AC6FBEA-485A-7F7D-47FB-5FEB6466C2AF}"/>
              </a:ext>
            </a:extLst>
          </p:cNvPr>
          <p:cNvSpPr/>
          <p:nvPr/>
        </p:nvSpPr>
        <p:spPr>
          <a:xfrm>
            <a:off x="793790" y="3983831"/>
            <a:ext cx="5149810" cy="34159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Rule-based Vs. ML Systems</a:t>
            </a:r>
          </a:p>
        </p:txBody>
      </p:sp>
      <p:sp>
        <p:nvSpPr>
          <p:cNvPr id="12" name="Text 10">
            <a:extLst>
              <a:ext uri="{FF2B5EF4-FFF2-40B4-BE49-F238E27FC236}">
                <a16:creationId xmlns:a16="http://schemas.microsoft.com/office/drawing/2014/main" id="{BB65B506-59D4-7376-A944-4C46A5D3D0DA}"/>
              </a:ext>
            </a:extLst>
          </p:cNvPr>
          <p:cNvSpPr/>
          <p:nvPr/>
        </p:nvSpPr>
        <p:spPr>
          <a:xfrm>
            <a:off x="7428548" y="345447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04</a:t>
            </a:r>
            <a:endParaRPr lang="en-US" sz="1750" dirty="0"/>
          </a:p>
        </p:txBody>
      </p:sp>
      <p:sp>
        <p:nvSpPr>
          <p:cNvPr id="13" name="Shape 11">
            <a:extLst>
              <a:ext uri="{FF2B5EF4-FFF2-40B4-BE49-F238E27FC236}">
                <a16:creationId xmlns:a16="http://schemas.microsoft.com/office/drawing/2014/main" id="{D64D1A4C-2B9B-4174-ACD2-FF1592E30587}"/>
              </a:ext>
            </a:extLst>
          </p:cNvPr>
          <p:cNvSpPr/>
          <p:nvPr/>
        </p:nvSpPr>
        <p:spPr>
          <a:xfrm>
            <a:off x="7428548" y="3809524"/>
            <a:ext cx="6408063" cy="30480"/>
          </a:xfrm>
          <a:prstGeom prst="rect">
            <a:avLst/>
          </a:prstGeom>
          <a:solidFill>
            <a:srgbClr val="E04F00"/>
          </a:solidFill>
          <a:ln/>
        </p:spPr>
      </p:sp>
      <p:sp>
        <p:nvSpPr>
          <p:cNvPr id="14" name="Text 12">
            <a:extLst>
              <a:ext uri="{FF2B5EF4-FFF2-40B4-BE49-F238E27FC236}">
                <a16:creationId xmlns:a16="http://schemas.microsoft.com/office/drawing/2014/main" id="{5B2CEF56-AF19-B00B-757E-9F9AA779999A}"/>
              </a:ext>
            </a:extLst>
          </p:cNvPr>
          <p:cNvSpPr/>
          <p:nvPr/>
        </p:nvSpPr>
        <p:spPr>
          <a:xfrm>
            <a:off x="7428548" y="3983831"/>
            <a:ext cx="3837027"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Supervised Learning</a:t>
            </a:r>
          </a:p>
        </p:txBody>
      </p:sp>
      <p:sp>
        <p:nvSpPr>
          <p:cNvPr id="15" name="Text 13">
            <a:extLst>
              <a:ext uri="{FF2B5EF4-FFF2-40B4-BE49-F238E27FC236}">
                <a16:creationId xmlns:a16="http://schemas.microsoft.com/office/drawing/2014/main" id="{D26178CF-9339-DE4A-28C3-77F3A415D7BD}"/>
              </a:ext>
            </a:extLst>
          </p:cNvPr>
          <p:cNvSpPr/>
          <p:nvPr/>
        </p:nvSpPr>
        <p:spPr>
          <a:xfrm>
            <a:off x="793790"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6" name="Shape 14">
            <a:extLst>
              <a:ext uri="{FF2B5EF4-FFF2-40B4-BE49-F238E27FC236}">
                <a16:creationId xmlns:a16="http://schemas.microsoft.com/office/drawing/2014/main" id="{91EAC6A6-8C3F-4954-512B-A2B54B6C5FB6}"/>
              </a:ext>
            </a:extLst>
          </p:cNvPr>
          <p:cNvSpPr/>
          <p:nvPr/>
        </p:nvSpPr>
        <p:spPr>
          <a:xfrm>
            <a:off x="793790" y="5107781"/>
            <a:ext cx="6407944" cy="30480"/>
          </a:xfrm>
          <a:prstGeom prst="rect">
            <a:avLst/>
          </a:prstGeom>
          <a:solidFill>
            <a:srgbClr val="E04F00"/>
          </a:solidFill>
          <a:ln/>
        </p:spPr>
      </p:sp>
      <p:sp>
        <p:nvSpPr>
          <p:cNvPr id="17" name="Text 15">
            <a:extLst>
              <a:ext uri="{FF2B5EF4-FFF2-40B4-BE49-F238E27FC236}">
                <a16:creationId xmlns:a16="http://schemas.microsoft.com/office/drawing/2014/main" id="{DB97DF43-3297-7260-5B91-2DAB55D3B09B}"/>
              </a:ext>
            </a:extLst>
          </p:cNvPr>
          <p:cNvSpPr/>
          <p:nvPr/>
        </p:nvSpPr>
        <p:spPr>
          <a:xfrm>
            <a:off x="793790" y="5282089"/>
            <a:ext cx="5378410" cy="506016"/>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Unsupervised/Semi-supervised Learning</a:t>
            </a:r>
          </a:p>
        </p:txBody>
      </p:sp>
      <p:sp>
        <p:nvSpPr>
          <p:cNvPr id="19" name="Text 16">
            <a:extLst>
              <a:ext uri="{FF2B5EF4-FFF2-40B4-BE49-F238E27FC236}">
                <a16:creationId xmlns:a16="http://schemas.microsoft.com/office/drawing/2014/main" id="{06D00744-2F50-730E-3155-04DCEA1259E3}"/>
              </a:ext>
            </a:extLst>
          </p:cNvPr>
          <p:cNvSpPr/>
          <p:nvPr/>
        </p:nvSpPr>
        <p:spPr>
          <a:xfrm>
            <a:off x="7428548" y="475273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06</a:t>
            </a:r>
            <a:endParaRPr lang="en-US" sz="1750" dirty="0"/>
          </a:p>
        </p:txBody>
      </p:sp>
      <p:sp>
        <p:nvSpPr>
          <p:cNvPr id="20" name="Shape 17">
            <a:extLst>
              <a:ext uri="{FF2B5EF4-FFF2-40B4-BE49-F238E27FC236}">
                <a16:creationId xmlns:a16="http://schemas.microsoft.com/office/drawing/2014/main" id="{196482DE-D10C-A8D0-0FD3-6924BAC2A253}"/>
              </a:ext>
            </a:extLst>
          </p:cNvPr>
          <p:cNvSpPr/>
          <p:nvPr/>
        </p:nvSpPr>
        <p:spPr>
          <a:xfrm>
            <a:off x="7428548" y="5107781"/>
            <a:ext cx="6408063" cy="30480"/>
          </a:xfrm>
          <a:prstGeom prst="rect">
            <a:avLst/>
          </a:prstGeom>
          <a:solidFill>
            <a:srgbClr val="E04F00"/>
          </a:solidFill>
          <a:ln/>
        </p:spPr>
      </p:sp>
      <p:sp>
        <p:nvSpPr>
          <p:cNvPr id="21" name="Text 18">
            <a:extLst>
              <a:ext uri="{FF2B5EF4-FFF2-40B4-BE49-F238E27FC236}">
                <a16:creationId xmlns:a16="http://schemas.microsoft.com/office/drawing/2014/main" id="{58BAB5E4-F12A-C6DF-D1D8-73DFBDA3AD4F}"/>
              </a:ext>
            </a:extLst>
          </p:cNvPr>
          <p:cNvSpPr/>
          <p:nvPr/>
        </p:nvSpPr>
        <p:spPr>
          <a:xfrm>
            <a:off x="7428548" y="5277148"/>
            <a:ext cx="5525452" cy="515898"/>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Reinforcement Learning</a:t>
            </a:r>
          </a:p>
        </p:txBody>
      </p:sp>
      <p:sp>
        <p:nvSpPr>
          <p:cNvPr id="18" name="Text 13">
            <a:extLst>
              <a:ext uri="{FF2B5EF4-FFF2-40B4-BE49-F238E27FC236}">
                <a16:creationId xmlns:a16="http://schemas.microsoft.com/office/drawing/2014/main" id="{A6196160-4608-DC90-6768-5F3353175BC5}"/>
              </a:ext>
            </a:extLst>
          </p:cNvPr>
          <p:cNvSpPr/>
          <p:nvPr/>
        </p:nvSpPr>
        <p:spPr>
          <a:xfrm>
            <a:off x="801577" y="596853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07</a:t>
            </a:r>
            <a:endParaRPr lang="en-US" sz="1750" dirty="0"/>
          </a:p>
        </p:txBody>
      </p:sp>
      <p:sp>
        <p:nvSpPr>
          <p:cNvPr id="22" name="Shape 14">
            <a:extLst>
              <a:ext uri="{FF2B5EF4-FFF2-40B4-BE49-F238E27FC236}">
                <a16:creationId xmlns:a16="http://schemas.microsoft.com/office/drawing/2014/main" id="{53C4BB2D-2BF7-60DD-9D72-C1EFC191C95E}"/>
              </a:ext>
            </a:extLst>
          </p:cNvPr>
          <p:cNvSpPr/>
          <p:nvPr/>
        </p:nvSpPr>
        <p:spPr>
          <a:xfrm>
            <a:off x="793790" y="6408110"/>
            <a:ext cx="6407944" cy="30480"/>
          </a:xfrm>
          <a:prstGeom prst="rect">
            <a:avLst/>
          </a:prstGeom>
          <a:solidFill>
            <a:srgbClr val="E04F00"/>
          </a:solidFill>
          <a:ln/>
        </p:spPr>
      </p:sp>
      <p:sp>
        <p:nvSpPr>
          <p:cNvPr id="23" name="Text 13">
            <a:extLst>
              <a:ext uri="{FF2B5EF4-FFF2-40B4-BE49-F238E27FC236}">
                <a16:creationId xmlns:a16="http://schemas.microsoft.com/office/drawing/2014/main" id="{691FD199-2F2B-8E73-2A24-23BE982A9425}"/>
              </a:ext>
            </a:extLst>
          </p:cNvPr>
          <p:cNvSpPr/>
          <p:nvPr/>
        </p:nvSpPr>
        <p:spPr>
          <a:xfrm>
            <a:off x="7428548" y="592671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08</a:t>
            </a:r>
            <a:endParaRPr lang="en-US" sz="1750" dirty="0"/>
          </a:p>
        </p:txBody>
      </p:sp>
      <p:sp>
        <p:nvSpPr>
          <p:cNvPr id="24" name="Shape 14">
            <a:extLst>
              <a:ext uri="{FF2B5EF4-FFF2-40B4-BE49-F238E27FC236}">
                <a16:creationId xmlns:a16="http://schemas.microsoft.com/office/drawing/2014/main" id="{BC452533-4B2C-60F4-FED9-FB31FA237195}"/>
              </a:ext>
            </a:extLst>
          </p:cNvPr>
          <p:cNvSpPr/>
          <p:nvPr/>
        </p:nvSpPr>
        <p:spPr>
          <a:xfrm>
            <a:off x="7428667" y="6390798"/>
            <a:ext cx="6407944" cy="30480"/>
          </a:xfrm>
          <a:prstGeom prst="rect">
            <a:avLst/>
          </a:prstGeom>
          <a:solidFill>
            <a:srgbClr val="E04F00"/>
          </a:solidFill>
          <a:ln/>
        </p:spPr>
      </p:sp>
      <p:sp>
        <p:nvSpPr>
          <p:cNvPr id="25" name="Text 15">
            <a:extLst>
              <a:ext uri="{FF2B5EF4-FFF2-40B4-BE49-F238E27FC236}">
                <a16:creationId xmlns:a16="http://schemas.microsoft.com/office/drawing/2014/main" id="{80F1D68E-81B3-B824-BBB8-7CD4F0733356}"/>
              </a:ext>
            </a:extLst>
          </p:cNvPr>
          <p:cNvSpPr/>
          <p:nvPr/>
        </p:nvSpPr>
        <p:spPr>
          <a:xfrm>
            <a:off x="793790" y="6616973"/>
            <a:ext cx="5378410" cy="506016"/>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Classical Statistics vs. ML</a:t>
            </a:r>
          </a:p>
        </p:txBody>
      </p:sp>
      <p:sp>
        <p:nvSpPr>
          <p:cNvPr id="26" name="Text 18">
            <a:extLst>
              <a:ext uri="{FF2B5EF4-FFF2-40B4-BE49-F238E27FC236}">
                <a16:creationId xmlns:a16="http://schemas.microsoft.com/office/drawing/2014/main" id="{589CEC1D-E21F-AB93-DE21-D87693FF4ADB}"/>
              </a:ext>
            </a:extLst>
          </p:cNvPr>
          <p:cNvSpPr/>
          <p:nvPr/>
        </p:nvSpPr>
        <p:spPr>
          <a:xfrm>
            <a:off x="7428548" y="6532315"/>
            <a:ext cx="5525452" cy="515898"/>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rPr>
              <a:t>Machine Learning vs Deep Learning</a:t>
            </a:r>
          </a:p>
        </p:txBody>
      </p:sp>
    </p:spTree>
    <p:extLst>
      <p:ext uri="{BB962C8B-B14F-4D97-AF65-F5344CB8AC3E}">
        <p14:creationId xmlns:p14="http://schemas.microsoft.com/office/powerpoint/2010/main" val="2416296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34AB-82AD-5A1C-DAC9-54A9A9B430D2}"/>
              </a:ext>
            </a:extLst>
          </p:cNvPr>
          <p:cNvSpPr>
            <a:spLocks noGrp="1"/>
          </p:cNvSpPr>
          <p:nvPr>
            <p:ph type="title"/>
          </p:nvPr>
        </p:nvSpPr>
        <p:spPr>
          <a:xfrm>
            <a:off x="835325" y="762000"/>
            <a:ext cx="13656055" cy="369653"/>
          </a:xfrm>
        </p:spPr>
        <p:txBody>
          <a:bodyPr/>
          <a:lstStyle/>
          <a:p>
            <a:pPr marL="0" indent="0" algn="l">
              <a:lnSpc>
                <a:spcPts val="2550"/>
              </a:lnSpc>
              <a:buNone/>
            </a:pPr>
            <a:r>
              <a:rPr lang="en-US" sz="3600" dirty="0">
                <a:solidFill>
                  <a:srgbClr val="020202"/>
                </a:solidFill>
                <a:latin typeface="PT Serif" pitchFamily="34" charset="0"/>
                <a:ea typeface="PT Serif" pitchFamily="34" charset="-122"/>
                <a:cs typeface="PT Serif" pitchFamily="34" charset="-120"/>
              </a:rPr>
              <a:t>What is Machine Learning?</a:t>
            </a:r>
            <a:endParaRPr lang="en-US" sz="3600" dirty="0"/>
          </a:p>
        </p:txBody>
      </p:sp>
      <p:sp>
        <p:nvSpPr>
          <p:cNvPr id="3" name="TextBox 2">
            <a:extLst>
              <a:ext uri="{FF2B5EF4-FFF2-40B4-BE49-F238E27FC236}">
                <a16:creationId xmlns:a16="http://schemas.microsoft.com/office/drawing/2014/main" id="{1081FFF0-4CA2-49EC-F5F6-355FBF7303C5}"/>
              </a:ext>
            </a:extLst>
          </p:cNvPr>
          <p:cNvSpPr txBox="1"/>
          <p:nvPr/>
        </p:nvSpPr>
        <p:spPr>
          <a:xfrm>
            <a:off x="838200" y="1905541"/>
            <a:ext cx="12954000" cy="5220853"/>
          </a:xfrm>
          <a:prstGeom prst="rect">
            <a:avLst/>
          </a:prstGeom>
          <a:noFill/>
        </p:spPr>
        <p:txBody>
          <a:bodyPr wrap="square" rtlCol="0">
            <a:spAutoFit/>
          </a:bodyPr>
          <a:lstStyle/>
          <a:p>
            <a:pPr marL="0" indent="0" algn="l">
              <a:lnSpc>
                <a:spcPts val="3100"/>
              </a:lnSpc>
              <a:buNone/>
            </a:pPr>
            <a:r>
              <a:rPr lang="en-US" sz="1800" dirty="0">
                <a:solidFill>
                  <a:srgbClr val="383838"/>
                </a:solidFill>
                <a:latin typeface="PT Serif" panose="020A0603040505020204" pitchFamily="18" charset="0"/>
                <a:ea typeface="DM Sans" pitchFamily="34" charset="-122"/>
                <a:cs typeface="DM Sans" pitchFamily="34" charset="-120"/>
              </a:rPr>
              <a:t>Machine Learning (ML) is a branch of Artificial Intelligence that enables computers to learn patterns from data and continuously improve their performance on specific tasks without being explicitly programmed for every possible rule or scenario.</a:t>
            </a:r>
          </a:p>
          <a:p>
            <a:pPr marL="0" indent="0" algn="l">
              <a:lnSpc>
                <a:spcPts val="3100"/>
              </a:lnSpc>
              <a:buNone/>
            </a:pPr>
            <a:endParaRPr lang="en-US" dirty="0">
              <a:solidFill>
                <a:srgbClr val="383838"/>
              </a:solidFill>
              <a:latin typeface="PT Serif" panose="020A0603040505020204" pitchFamily="18" charset="0"/>
            </a:endParaRPr>
          </a:p>
          <a:p>
            <a:pPr algn="l">
              <a:lnSpc>
                <a:spcPts val="3100"/>
              </a:lnSpc>
            </a:pPr>
            <a:r>
              <a:rPr lang="en-US" sz="1800" b="1" dirty="0">
                <a:solidFill>
                  <a:srgbClr val="383838"/>
                </a:solidFill>
                <a:latin typeface="PT Serif" panose="020A0603040505020204" pitchFamily="18" charset="0"/>
                <a:ea typeface="DM Sans" pitchFamily="34" charset="-122"/>
                <a:cs typeface="DM Sans" pitchFamily="34" charset="-120"/>
              </a:rPr>
              <a:t>Formal Definition:</a:t>
            </a:r>
            <a:r>
              <a:rPr lang="en-US" sz="1800" dirty="0">
                <a:solidFill>
                  <a:srgbClr val="383838"/>
                </a:solidFill>
                <a:latin typeface="PT Serif" panose="020A0603040505020204" pitchFamily="18" charset="0"/>
                <a:ea typeface="DM Sans" pitchFamily="34" charset="-122"/>
                <a:cs typeface="DM Sans" pitchFamily="34" charset="-120"/>
              </a:rPr>
              <a:t> Machine Learning gives computers the ability to learn from experience (E) to perform a task (T) and improve performance (P) over time through pattern recognition and statistical inference.</a:t>
            </a:r>
            <a:endParaRPr lang="en-US" sz="1800" dirty="0">
              <a:latin typeface="PT Serif" panose="020A0603040505020204" pitchFamily="18" charset="0"/>
            </a:endParaRPr>
          </a:p>
          <a:p>
            <a:pPr marL="0" indent="0" algn="l">
              <a:lnSpc>
                <a:spcPts val="3100"/>
              </a:lnSpc>
              <a:buNone/>
            </a:pPr>
            <a:endParaRPr lang="en-US" sz="1800" dirty="0">
              <a:solidFill>
                <a:srgbClr val="383838"/>
              </a:solidFill>
              <a:latin typeface="PT Serif" panose="020A0603040505020204" pitchFamily="18" charset="0"/>
            </a:endParaRPr>
          </a:p>
          <a:p>
            <a:pPr algn="l">
              <a:lnSpc>
                <a:spcPts val="3100"/>
              </a:lnSpc>
            </a:pPr>
            <a:r>
              <a:rPr lang="en-US" sz="1800" dirty="0">
                <a:solidFill>
                  <a:srgbClr val="383838"/>
                </a:solidFill>
                <a:latin typeface="PT Serif" panose="020A0603040505020204" pitchFamily="18" charset="0"/>
                <a:ea typeface="DM Sans" pitchFamily="34" charset="-122"/>
                <a:cs typeface="DM Sans" pitchFamily="34" charset="-120"/>
              </a:rPr>
              <a:t>This paradigm shift moves us from static, rule-based programming to dynamic, adaptive systems that evolve with exposure to new data.</a:t>
            </a:r>
          </a:p>
          <a:p>
            <a:pPr algn="l">
              <a:lnSpc>
                <a:spcPts val="3100"/>
              </a:lnSpc>
            </a:pPr>
            <a:endParaRPr lang="en-US" dirty="0">
              <a:solidFill>
                <a:srgbClr val="383838"/>
              </a:solidFill>
              <a:latin typeface="PT Serif" panose="020A0603040505020204" pitchFamily="18" charset="0"/>
              <a:ea typeface="DM Sans" pitchFamily="34" charset="-122"/>
              <a:cs typeface="DM Sans" pitchFamily="34" charset="-120"/>
            </a:endParaRPr>
          </a:p>
          <a:p>
            <a:pPr algn="l">
              <a:lnSpc>
                <a:spcPts val="3100"/>
              </a:lnSpc>
            </a:pPr>
            <a:r>
              <a:rPr lang="en-US" sz="1800" dirty="0">
                <a:solidFill>
                  <a:srgbClr val="383838"/>
                </a:solidFill>
                <a:latin typeface="PT Serif" panose="020A0603040505020204" pitchFamily="18" charset="0"/>
                <a:ea typeface="DM Sans" pitchFamily="34" charset="-122"/>
                <a:cs typeface="DM Sans" pitchFamily="34" charset="-120"/>
              </a:rPr>
              <a:t> ML systems can identify complex patterns that would be nearly impossible for humans to code manually, making them invaluable for modern business and technical applications.</a:t>
            </a:r>
            <a:endParaRPr lang="en-US" sz="1800" dirty="0">
              <a:latin typeface="PT Serif" panose="020A0603040505020204" pitchFamily="18" charset="0"/>
            </a:endParaRPr>
          </a:p>
          <a:p>
            <a:pPr marL="0" indent="0" algn="l">
              <a:lnSpc>
                <a:spcPts val="3100"/>
              </a:lnSpc>
              <a:buNone/>
            </a:pPr>
            <a:endParaRPr lang="en-US" sz="1800" dirty="0">
              <a:latin typeface="PT Serif" panose="020A0603040505020204" pitchFamily="18" charset="0"/>
            </a:endParaRPr>
          </a:p>
        </p:txBody>
      </p:sp>
    </p:spTree>
    <p:extLst>
      <p:ext uri="{BB962C8B-B14F-4D97-AF65-F5344CB8AC3E}">
        <p14:creationId xmlns:p14="http://schemas.microsoft.com/office/powerpoint/2010/main" val="22691457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1376954" y="949270"/>
            <a:ext cx="5530189" cy="2461309"/>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1376954" y="3774245"/>
            <a:ext cx="5530189" cy="2461309"/>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41454" y="3772331"/>
            <a:ext cx="5530189" cy="2461309"/>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968186"/>
            <a:ext cx="5530189" cy="2461309"/>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943115" y="-90966"/>
            <a:ext cx="13656055" cy="748795"/>
          </a:xfrm>
          <a:prstGeom prst="rect">
            <a:avLst/>
          </a:prstGeom>
          <a:noFill/>
        </p:spPr>
        <p:txBody>
          <a:bodyPr vert="horz" wrap="square" lIns="0" tIns="220853" rIns="0" bIns="0" rtlCol="0">
            <a:spAutoFit/>
          </a:bodyPr>
          <a:lstStyle/>
          <a:p>
            <a:pPr marL="0" indent="0" algn="l">
              <a:lnSpc>
                <a:spcPts val="4100"/>
              </a:lnSpc>
              <a:buNone/>
            </a:pPr>
            <a:r>
              <a:rPr lang="en-US" sz="3600" dirty="0">
                <a:solidFill>
                  <a:srgbClr val="020202"/>
                </a:solidFill>
                <a:ea typeface="PT Serif" pitchFamily="34" charset="-122"/>
                <a:cs typeface="PT Serif" pitchFamily="34" charset="-120"/>
              </a:rPr>
              <a:t>Core Components of Machine Learning Systems</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914891" y="1103458"/>
            <a:ext cx="4409709" cy="4698301"/>
          </a:xfrm>
          <a:prstGeom prst="rect">
            <a:avLst/>
          </a:prstGeom>
          <a:noFill/>
          <a:ln/>
        </p:spPr>
        <p:txBody>
          <a:bodyPr wrap="square" lIns="0" tIns="0" rIns="0" bIns="0" rtlCol="0" anchor="t"/>
          <a:lstStyle/>
          <a:p>
            <a:pPr marL="0" indent="0" algn="ctr">
              <a:lnSpc>
                <a:spcPts val="2050"/>
              </a:lnSpc>
              <a:buNone/>
            </a:pPr>
            <a:r>
              <a:rPr lang="en-US" sz="2400" dirty="0">
                <a:solidFill>
                  <a:srgbClr val="383838"/>
                </a:solidFill>
                <a:latin typeface="PT Serif" panose="020A0603040505020204" pitchFamily="18" charset="0"/>
                <a:ea typeface="PT Serif" pitchFamily="34" charset="-122"/>
                <a:cs typeface="PT Serif" pitchFamily="34" charset="-120"/>
              </a:rPr>
              <a:t>Data</a:t>
            </a:r>
            <a:endParaRPr lang="en-US" sz="2400" dirty="0">
              <a:latin typeface="PT Serif" panose="020A0603040505020204" pitchFamily="18" charset="0"/>
            </a:endParaRPr>
          </a:p>
          <a:p>
            <a:pPr algn="l">
              <a:lnSpc>
                <a:spcPts val="2550"/>
              </a:lnSpc>
            </a:pPr>
            <a:endParaRPr lang="en-US" dirty="0">
              <a:solidFill>
                <a:srgbClr val="000000"/>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Historical examples and observations that serve as the foundation for learning. Quality and quantity of data directly impact model performance.</a:t>
            </a:r>
            <a:endParaRPr lang="en-US" sz="1800" dirty="0">
              <a:latin typeface="PT Serif" panose="020A0603040505020204" pitchFamily="18" charset="0"/>
            </a:endParaRPr>
          </a:p>
          <a:p>
            <a:pPr algn="l">
              <a:lnSpc>
                <a:spcPts val="2550"/>
              </a:lnSpc>
            </a:pPr>
            <a:endParaRPr lang="en-US" dirty="0">
              <a:solidFill>
                <a:srgbClr val="000000"/>
              </a:solidFill>
              <a:latin typeface="PT Serif" panose="020A0603040505020204" pitchFamily="18" charset="0"/>
            </a:endParaRPr>
          </a:p>
          <a:p>
            <a:pPr algn="l">
              <a:lnSpc>
                <a:spcPts val="2550"/>
              </a:lnSpc>
            </a:pPr>
            <a:endParaRPr lang="en-US" dirty="0">
              <a:solidFill>
                <a:srgbClr val="000000"/>
              </a:solidFill>
              <a:latin typeface="PT Serif" panose="020A0603040505020204" pitchFamily="18" charset="0"/>
            </a:endParaRPr>
          </a:p>
          <a:p>
            <a:pPr algn="l">
              <a:lnSpc>
                <a:spcPts val="2550"/>
              </a:lnSpc>
            </a:pPr>
            <a:endParaRPr lang="en-US" dirty="0">
              <a:solidFill>
                <a:srgbClr val="000000"/>
              </a:solidFill>
              <a:latin typeface="PT Serif" panose="020A0603040505020204" pitchFamily="18" charset="0"/>
            </a:endParaRPr>
          </a:p>
          <a:p>
            <a:pPr marL="0" indent="0" algn="ctr">
              <a:lnSpc>
                <a:spcPts val="2050"/>
              </a:lnSpc>
              <a:buNone/>
            </a:pPr>
            <a:r>
              <a:rPr lang="en-US" sz="2400" dirty="0">
                <a:solidFill>
                  <a:srgbClr val="383838"/>
                </a:solidFill>
                <a:latin typeface="PT Serif" panose="020A0603040505020204" pitchFamily="18" charset="0"/>
                <a:ea typeface="PT Serif" pitchFamily="34" charset="-122"/>
                <a:cs typeface="PT Serif" pitchFamily="34" charset="-120"/>
              </a:rPr>
              <a:t>Optimization</a:t>
            </a:r>
            <a:endParaRPr lang="en-US" sz="2400" dirty="0">
              <a:latin typeface="PT Serif" panose="020A0603040505020204" pitchFamily="18" charset="0"/>
            </a:endParaRPr>
          </a:p>
          <a:p>
            <a:pPr algn="l">
              <a:lnSpc>
                <a:spcPts val="2550"/>
              </a:lnSpc>
            </a:pPr>
            <a:endParaRPr lang="en-US" dirty="0">
              <a:solidFill>
                <a:srgbClr val="383838"/>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Optimization techniques like Gradient Descent that iteratively improve the model's accuracy through systematic parameter adjustments.</a:t>
            </a:r>
            <a:endParaRPr lang="en-US" sz="1800"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8054860" y="1103458"/>
            <a:ext cx="4780222" cy="4698301"/>
          </a:xfrm>
          <a:prstGeom prst="rect">
            <a:avLst/>
          </a:prstGeom>
          <a:noFill/>
          <a:ln/>
        </p:spPr>
        <p:txBody>
          <a:bodyPr wrap="square" lIns="0" tIns="0" rIns="0" bIns="0" rtlCol="0" anchor="t"/>
          <a:lstStyle/>
          <a:p>
            <a:pPr marL="0" indent="0" algn="ctr">
              <a:lnSpc>
                <a:spcPts val="2050"/>
              </a:lnSpc>
              <a:buNone/>
            </a:pPr>
            <a:r>
              <a:rPr lang="en-US" sz="2400" dirty="0">
                <a:solidFill>
                  <a:srgbClr val="383838"/>
                </a:solidFill>
                <a:latin typeface="PT Serif" panose="020A0603040505020204" pitchFamily="18" charset="0"/>
                <a:ea typeface="PT Serif" pitchFamily="34" charset="-122"/>
                <a:cs typeface="PT Serif" pitchFamily="34" charset="-120"/>
              </a:rPr>
              <a:t>Model</a:t>
            </a:r>
            <a:endParaRPr lang="en-US" sz="2400" dirty="0">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Mathematical structure designed to learn and represent patterns. Acts as the pattern-recognition engine of the system.</a:t>
            </a:r>
            <a:endParaRPr lang="en-US" sz="1800" dirty="0">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ctr">
              <a:lnSpc>
                <a:spcPts val="2050"/>
              </a:lnSpc>
              <a:buNone/>
            </a:pPr>
            <a:r>
              <a:rPr lang="en-US" sz="2400" dirty="0">
                <a:solidFill>
                  <a:srgbClr val="383838"/>
                </a:solidFill>
                <a:latin typeface="PT Serif" panose="020A0603040505020204" pitchFamily="18" charset="0"/>
                <a:ea typeface="PT Serif" pitchFamily="34" charset="-122"/>
                <a:cs typeface="PT Serif" pitchFamily="34" charset="-120"/>
              </a:rPr>
              <a:t>Evaluation Metrics</a:t>
            </a:r>
            <a:endParaRPr lang="en-US" sz="2400" dirty="0">
              <a:latin typeface="PT Serif" panose="020A0603040505020204" pitchFamily="18" charset="0"/>
            </a:endParaRPr>
          </a:p>
          <a:p>
            <a:pPr marL="0" indent="0" algn="l">
              <a:lnSpc>
                <a:spcPts val="2550"/>
              </a:lnSpc>
              <a:buNone/>
            </a:pPr>
            <a:endParaRPr lang="en-US" dirty="0">
              <a:solidFill>
                <a:srgbClr val="000000"/>
              </a:solidFill>
              <a:latin typeface="PT Serif" panose="020A0603040505020204" pitchFamily="18" charset="0"/>
            </a:endParaRPr>
          </a:p>
          <a:p>
            <a:pPr marL="0" indent="0" algn="l">
              <a:lnSpc>
                <a:spcPts val="2500"/>
              </a:lnSpc>
              <a:buNone/>
            </a:pPr>
            <a:r>
              <a:rPr lang="en-US" sz="1800" dirty="0">
                <a:solidFill>
                  <a:srgbClr val="383838"/>
                </a:solidFill>
                <a:latin typeface="PT Serif" panose="020A0603040505020204" pitchFamily="18" charset="0"/>
                <a:ea typeface="DM Sans" pitchFamily="34" charset="-122"/>
                <a:cs typeface="DM Sans" pitchFamily="34" charset="-120"/>
              </a:rPr>
              <a:t>Performance measures including accuracy, Mean Squared Error (MSE), and Area Under Curve (AUC) that quantify model effectiveness.</a:t>
            </a:r>
            <a:endParaRPr lang="en-US" sz="1800" dirty="0">
              <a:latin typeface="PT Serif" panose="020A0603040505020204" pitchFamily="18" charset="0"/>
            </a:endParaRPr>
          </a:p>
        </p:txBody>
      </p:sp>
      <p:sp>
        <p:nvSpPr>
          <p:cNvPr id="28" name="TextBox 27">
            <a:extLst>
              <a:ext uri="{FF2B5EF4-FFF2-40B4-BE49-F238E27FC236}">
                <a16:creationId xmlns:a16="http://schemas.microsoft.com/office/drawing/2014/main" id="{E743F1EE-D911-93FE-0ECE-2F302D7CE145}"/>
              </a:ext>
            </a:extLst>
          </p:cNvPr>
          <p:cNvSpPr txBox="1"/>
          <p:nvPr/>
        </p:nvSpPr>
        <p:spPr>
          <a:xfrm>
            <a:off x="1376954" y="6758394"/>
            <a:ext cx="11958046" cy="1036951"/>
          </a:xfrm>
          <a:prstGeom prst="rect">
            <a:avLst/>
          </a:prstGeom>
          <a:noFill/>
        </p:spPr>
        <p:txBody>
          <a:bodyPr wrap="square">
            <a:spAutoFit/>
          </a:bodyPr>
          <a:lstStyle/>
          <a:p>
            <a:pPr marL="0" indent="0" algn="l">
              <a:lnSpc>
                <a:spcPts val="2500"/>
              </a:lnSpc>
              <a:buNone/>
            </a:pPr>
            <a:r>
              <a:rPr lang="en-US" sz="1800" b="1" dirty="0">
                <a:solidFill>
                  <a:srgbClr val="383838"/>
                </a:solidFill>
                <a:latin typeface="PT Serif" panose="020A0603040505020204" pitchFamily="18" charset="0"/>
                <a:ea typeface="DM Sans" pitchFamily="34" charset="-122"/>
                <a:cs typeface="DM Sans" pitchFamily="34" charset="-120"/>
              </a:rPr>
              <a:t>Practical Example:</a:t>
            </a:r>
            <a:r>
              <a:rPr lang="en-US" sz="1800" dirty="0">
                <a:solidFill>
                  <a:srgbClr val="383838"/>
                </a:solidFill>
                <a:latin typeface="PT Serif" panose="020A0603040505020204" pitchFamily="18" charset="0"/>
                <a:ea typeface="DM Sans" pitchFamily="34" charset="-122"/>
                <a:cs typeface="DM Sans" pitchFamily="34" charset="-120"/>
              </a:rPr>
              <a:t> A spam filter learns from thousands of labeled emails (spam/not spam) to identify patterns in word usage, sender behavior, and message structure, continuously improving its detection accuracy with each new example.</a:t>
            </a:r>
            <a:endParaRPr lang="en-US" sz="1800" dirty="0">
              <a:latin typeface="PT Serif" panose="020A060304050502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487172" y="533400"/>
            <a:ext cx="13656055" cy="1107996"/>
          </a:xfrm>
        </p:spPr>
        <p:txBody>
          <a:bodyPr/>
          <a:lstStyle/>
          <a:p>
            <a:r>
              <a:rPr lang="en-US" sz="3600" dirty="0">
                <a:solidFill>
                  <a:srgbClr val="020202"/>
                </a:solidFill>
                <a:ea typeface="PT Serif" pitchFamily="34" charset="-122"/>
                <a:cs typeface="PT Serif" pitchFamily="34" charset="-120"/>
              </a:rPr>
              <a:t>Rule-Based Systems: The Traditional Approach</a:t>
            </a:r>
            <a:br>
              <a:rPr lang="en-US" sz="3600" dirty="0"/>
            </a:br>
            <a:endParaRPr lang="en-IN"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731520" y="1658524"/>
            <a:ext cx="6364224" cy="6049926"/>
          </a:xfrm>
        </p:spPr>
        <p:txBody>
          <a:bodyPr/>
          <a:lstStyle/>
          <a:p>
            <a:pPr algn="l">
              <a:lnSpc>
                <a:spcPct val="150000"/>
              </a:lnSpc>
            </a:pPr>
            <a:r>
              <a:rPr lang="en-US" sz="2400" dirty="0">
                <a:solidFill>
                  <a:srgbClr val="020202"/>
                </a:solidFill>
                <a:ea typeface="PT Serif" pitchFamily="34" charset="-122"/>
                <a:cs typeface="PT Serif" pitchFamily="34" charset="-120"/>
              </a:rPr>
              <a:t>How They Work</a:t>
            </a:r>
          </a:p>
          <a:p>
            <a:pPr algn="l">
              <a:lnSpc>
                <a:spcPct val="150000"/>
              </a:lnSpc>
            </a:pPr>
            <a:endParaRPr lang="en-US" sz="1800" dirty="0">
              <a:solidFill>
                <a:srgbClr val="020202"/>
              </a:solidFill>
            </a:endParaRPr>
          </a:p>
          <a:p>
            <a:pPr algn="l">
              <a:lnSpc>
                <a:spcPct val="150000"/>
              </a:lnSpc>
            </a:pPr>
            <a:r>
              <a:rPr lang="en-US" sz="1800" dirty="0">
                <a:solidFill>
                  <a:srgbClr val="383838"/>
                </a:solidFill>
                <a:ea typeface="DM Sans" pitchFamily="34" charset="-122"/>
                <a:cs typeface="DM Sans" pitchFamily="34" charset="-120"/>
              </a:rPr>
              <a:t>Rule-based systems rely on fixed rules written by domain experts who manually encode business logic and decision criteria. These systems follow predetermined conditional statements to make decisions.</a:t>
            </a:r>
            <a:endParaRPr lang="en-US" sz="1800" dirty="0"/>
          </a:p>
          <a:p>
            <a:pPr algn="l">
              <a:lnSpc>
                <a:spcPct val="150000"/>
              </a:lnSpc>
            </a:pPr>
            <a:endParaRPr lang="en-US" sz="1800" dirty="0">
              <a:solidFill>
                <a:srgbClr val="020202"/>
              </a:solidFill>
            </a:endParaRPr>
          </a:p>
          <a:p>
            <a:pPr algn="l">
              <a:lnSpc>
                <a:spcPct val="150000"/>
              </a:lnSpc>
            </a:pPr>
            <a:r>
              <a:rPr lang="en-US" sz="2400" dirty="0">
                <a:solidFill>
                  <a:srgbClr val="020202"/>
                </a:solidFill>
                <a:ea typeface="PT Serif" pitchFamily="34" charset="-122"/>
                <a:cs typeface="PT Serif" pitchFamily="34" charset="-120"/>
              </a:rPr>
              <a:t>Credit Card Fraud Example</a:t>
            </a:r>
            <a:endParaRPr lang="en-US" sz="2400" dirty="0"/>
          </a:p>
          <a:p>
            <a:pPr marL="285750" indent="-285750" algn="l">
              <a:lnSpc>
                <a:spcPct val="150000"/>
              </a:lnSpc>
              <a:buFont typeface="Arial" panose="020B0604020202020204" pitchFamily="34" charset="0"/>
              <a:buChar char="•"/>
            </a:pPr>
            <a:r>
              <a:rPr lang="en-US" sz="1800" dirty="0">
                <a:solidFill>
                  <a:srgbClr val="383838"/>
                </a:solidFill>
                <a:ea typeface="DM Sans" pitchFamily="34" charset="-122"/>
                <a:cs typeface="DM Sans" pitchFamily="34" charset="-120"/>
              </a:rPr>
              <a:t>If foreign transaction AND amount &gt;  Euro 50,000 → block transaction</a:t>
            </a:r>
          </a:p>
          <a:p>
            <a:pPr marL="285750" indent="-285750" algn="l">
              <a:lnSpc>
                <a:spcPct val="150000"/>
              </a:lnSpc>
              <a:buFont typeface="Arial" panose="020B0604020202020204" pitchFamily="34" charset="0"/>
              <a:buChar char="•"/>
            </a:pPr>
            <a:r>
              <a:rPr lang="en-US" sz="1800" dirty="0">
                <a:solidFill>
                  <a:srgbClr val="383838"/>
                </a:solidFill>
                <a:ea typeface="DM Sans" pitchFamily="34" charset="-122"/>
                <a:cs typeface="DM Sans" pitchFamily="34" charset="-120"/>
              </a:rPr>
              <a:t>If more than 3 failed PIN attempts → decline card</a:t>
            </a:r>
            <a:endParaRPr lang="en-US" sz="1800" dirty="0"/>
          </a:p>
          <a:p>
            <a:pPr marL="285750" indent="-285750" algn="l">
              <a:lnSpc>
                <a:spcPct val="150000"/>
              </a:lnSpc>
              <a:buFont typeface="Arial" panose="020B0604020202020204" pitchFamily="34" charset="0"/>
              <a:buChar char="•"/>
            </a:pPr>
            <a:r>
              <a:rPr lang="en-US" sz="1800" dirty="0">
                <a:solidFill>
                  <a:srgbClr val="383838"/>
                </a:solidFill>
                <a:ea typeface="DM Sans" pitchFamily="34" charset="-122"/>
                <a:cs typeface="DM Sans" pitchFamily="34" charset="-120"/>
              </a:rPr>
              <a:t>If unusual merchant category → flag for review</a:t>
            </a:r>
            <a:endParaRPr lang="en-US" sz="1800" dirty="0"/>
          </a:p>
          <a:p>
            <a:pPr algn="l">
              <a:lnSpc>
                <a:spcPct val="150000"/>
              </a:lnSpc>
            </a:pPr>
            <a:endParaRPr lang="en-US" sz="1800" dirty="0"/>
          </a:p>
          <a:p>
            <a:pPr>
              <a:lnSpc>
                <a:spcPct val="150000"/>
              </a:lnSpc>
            </a:pPr>
            <a:endParaRPr lang="en-IN"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779003" y="1641053"/>
            <a:ext cx="6364224" cy="6049926"/>
          </a:xfrm>
        </p:spPr>
        <p:txBody>
          <a:bodyPr/>
          <a:lstStyle/>
          <a:p>
            <a:pPr algn="l">
              <a:lnSpc>
                <a:spcPct val="150000"/>
              </a:lnSpc>
            </a:pPr>
            <a:r>
              <a:rPr lang="en-US" sz="2400" dirty="0">
                <a:solidFill>
                  <a:srgbClr val="020202"/>
                </a:solidFill>
                <a:ea typeface="PT Serif" pitchFamily="34" charset="-122"/>
                <a:cs typeface="PT Serif" pitchFamily="34" charset="-120"/>
              </a:rPr>
              <a:t>Limitations</a:t>
            </a:r>
          </a:p>
          <a:p>
            <a:pPr algn="l">
              <a:lnSpc>
                <a:spcPct val="150000"/>
              </a:lnSpc>
            </a:pPr>
            <a:endParaRPr lang="en-US" sz="2400" dirty="0">
              <a:solidFill>
                <a:srgbClr val="020202"/>
              </a:solidFill>
              <a:ea typeface="PT Serif" pitchFamily="34" charset="-122"/>
              <a:cs typeface="PT Serif" pitchFamily="34" charset="-120"/>
            </a:endParaRPr>
          </a:p>
          <a:p>
            <a:pPr algn="l">
              <a:lnSpc>
                <a:spcPct val="150000"/>
              </a:lnSpc>
            </a:pPr>
            <a:r>
              <a:rPr lang="en-US" sz="1800" dirty="0">
                <a:solidFill>
                  <a:srgbClr val="383838"/>
                </a:solidFill>
                <a:ea typeface="DM Sans" pitchFamily="34" charset="-122"/>
                <a:cs typeface="DM Sans" pitchFamily="34" charset="-120"/>
              </a:rPr>
              <a:t>1.</a:t>
            </a:r>
            <a:r>
              <a:rPr lang="en-US" sz="1800" b="1" dirty="0">
                <a:solidFill>
                  <a:srgbClr val="383838"/>
                </a:solidFill>
                <a:ea typeface="DM Sans" pitchFamily="34" charset="-122"/>
                <a:cs typeface="DM Sans" pitchFamily="34" charset="-120"/>
              </a:rPr>
              <a:t> Inability to Adapt:</a:t>
            </a:r>
            <a:r>
              <a:rPr lang="en-US" sz="1800" dirty="0">
                <a:solidFill>
                  <a:srgbClr val="383838"/>
                </a:solidFill>
                <a:ea typeface="DM Sans" pitchFamily="34" charset="-122"/>
                <a:cs typeface="DM Sans" pitchFamily="34" charset="-120"/>
              </a:rPr>
              <a:t> Cannot learn from new fraud techniques or evolving patterns without manual rule updates.</a:t>
            </a:r>
            <a:endParaRPr lang="en-US" sz="1800" dirty="0"/>
          </a:p>
          <a:p>
            <a:pPr algn="l">
              <a:lnSpc>
                <a:spcPct val="150000"/>
              </a:lnSpc>
            </a:pPr>
            <a:r>
              <a:rPr lang="en-US" sz="1800" dirty="0">
                <a:solidFill>
                  <a:srgbClr val="020202"/>
                </a:solidFill>
              </a:rPr>
              <a:t>2. </a:t>
            </a:r>
            <a:r>
              <a:rPr lang="en-US" sz="1800" b="1" dirty="0">
                <a:solidFill>
                  <a:srgbClr val="383838"/>
                </a:solidFill>
                <a:ea typeface="DM Sans" pitchFamily="34" charset="-122"/>
                <a:cs typeface="DM Sans" pitchFamily="34" charset="-120"/>
              </a:rPr>
              <a:t>False Positives:</a:t>
            </a:r>
            <a:r>
              <a:rPr lang="en-US" sz="1800" dirty="0">
                <a:solidFill>
                  <a:srgbClr val="383838"/>
                </a:solidFill>
                <a:ea typeface="DM Sans" pitchFamily="34" charset="-122"/>
                <a:cs typeface="DM Sans" pitchFamily="34" charset="-120"/>
              </a:rPr>
              <a:t> Rigid rules generate high false alerts, blocking legitimate customers and damaging user experience.</a:t>
            </a:r>
            <a:endParaRPr lang="en-US" sz="1800" dirty="0"/>
          </a:p>
          <a:p>
            <a:pPr algn="l">
              <a:lnSpc>
                <a:spcPct val="150000"/>
              </a:lnSpc>
            </a:pPr>
            <a:r>
              <a:rPr lang="en-US" sz="1800" dirty="0">
                <a:solidFill>
                  <a:srgbClr val="020202"/>
                </a:solidFill>
              </a:rPr>
              <a:t>3. </a:t>
            </a:r>
            <a:r>
              <a:rPr lang="en-US" sz="1800" b="1" dirty="0">
                <a:solidFill>
                  <a:srgbClr val="383838"/>
                </a:solidFill>
                <a:ea typeface="DM Sans" pitchFamily="34" charset="-122"/>
                <a:cs typeface="DM Sans" pitchFamily="34" charset="-120"/>
              </a:rPr>
              <a:t>Maintenance Burden:</a:t>
            </a:r>
            <a:r>
              <a:rPr lang="en-US" sz="1800" dirty="0">
                <a:solidFill>
                  <a:srgbClr val="383838"/>
                </a:solidFill>
                <a:ea typeface="DM Sans" pitchFamily="34" charset="-122"/>
                <a:cs typeface="DM Sans" pitchFamily="34" charset="-120"/>
              </a:rPr>
              <a:t> Managing thousands of interconnected rules becomes exponentially complex and error-prone as systems scale.</a:t>
            </a:r>
            <a:endParaRPr lang="en-US" sz="1800" dirty="0"/>
          </a:p>
          <a:p>
            <a:pPr algn="l">
              <a:lnSpc>
                <a:spcPct val="150000"/>
              </a:lnSpc>
            </a:pPr>
            <a:r>
              <a:rPr lang="en-US" sz="1800" dirty="0">
                <a:solidFill>
                  <a:srgbClr val="020202"/>
                </a:solidFill>
              </a:rPr>
              <a:t>4. </a:t>
            </a:r>
            <a:r>
              <a:rPr lang="en-US" sz="1800" b="1" dirty="0">
                <a:solidFill>
                  <a:srgbClr val="383838"/>
                </a:solidFill>
                <a:ea typeface="DM Sans" pitchFamily="34" charset="-122"/>
                <a:cs typeface="DM Sans" pitchFamily="34" charset="-120"/>
              </a:rPr>
              <a:t>Limited Pattern Detection:</a:t>
            </a:r>
            <a:r>
              <a:rPr lang="en-US" sz="1800" dirty="0">
                <a:solidFill>
                  <a:srgbClr val="383838"/>
                </a:solidFill>
                <a:ea typeface="DM Sans" pitchFamily="34" charset="-122"/>
                <a:cs typeface="DM Sans" pitchFamily="34" charset="-120"/>
              </a:rPr>
              <a:t> Can only capture simple, explicitly programmed logic—missing subtle or complex fraud indicators.</a:t>
            </a:r>
            <a:endParaRPr lang="en-US" sz="1800" dirty="0"/>
          </a:p>
          <a:p>
            <a:pPr algn="l">
              <a:lnSpc>
                <a:spcPct val="150000"/>
              </a:lnSpc>
            </a:pPr>
            <a:endParaRPr lang="en-US" sz="1800" dirty="0"/>
          </a:p>
          <a:p>
            <a:pPr>
              <a:lnSpc>
                <a:spcPct val="150000"/>
              </a:lnSpc>
            </a:pPr>
            <a:endParaRPr lang="en-IN" sz="1800" dirty="0"/>
          </a:p>
        </p:txBody>
      </p:sp>
    </p:spTree>
    <p:extLst>
      <p:ext uri="{BB962C8B-B14F-4D97-AF65-F5344CB8AC3E}">
        <p14:creationId xmlns:p14="http://schemas.microsoft.com/office/powerpoint/2010/main" val="1331003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object 13">
            <a:extLst>
              <a:ext uri="{FF2B5EF4-FFF2-40B4-BE49-F238E27FC236}">
                <a16:creationId xmlns:a16="http://schemas.microsoft.com/office/drawing/2014/main" id="{9EDED71C-1B31-D97D-38B2-DAFD66018FF9}"/>
              </a:ext>
            </a:extLst>
          </p:cNvPr>
          <p:cNvGrpSpPr/>
          <p:nvPr/>
        </p:nvGrpSpPr>
        <p:grpSpPr>
          <a:xfrm>
            <a:off x="1376954" y="2286000"/>
            <a:ext cx="5530189" cy="2819400"/>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1" name="object 13">
            <a:extLst>
              <a:ext uri="{FF2B5EF4-FFF2-40B4-BE49-F238E27FC236}">
                <a16:creationId xmlns:a16="http://schemas.microsoft.com/office/drawing/2014/main" id="{5D4C71A9-44DE-C30C-23FB-01ADE60A16CF}"/>
              </a:ext>
            </a:extLst>
          </p:cNvPr>
          <p:cNvGrpSpPr/>
          <p:nvPr/>
        </p:nvGrpSpPr>
        <p:grpSpPr>
          <a:xfrm>
            <a:off x="1376954" y="5311091"/>
            <a:ext cx="5530189" cy="2461309"/>
            <a:chOff x="793788" y="4631308"/>
            <a:chExt cx="6437630" cy="2974340"/>
          </a:xfrm>
        </p:grpSpPr>
        <p:sp>
          <p:nvSpPr>
            <p:cNvPr id="22" name="object 14">
              <a:extLst>
                <a:ext uri="{FF2B5EF4-FFF2-40B4-BE49-F238E27FC236}">
                  <a16:creationId xmlns:a16="http://schemas.microsoft.com/office/drawing/2014/main" id="{3AACB49F-E75F-EA46-C29E-950076399A38}"/>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3" name="object 15">
              <a:extLst>
                <a:ext uri="{FF2B5EF4-FFF2-40B4-BE49-F238E27FC236}">
                  <a16:creationId xmlns:a16="http://schemas.microsoft.com/office/drawing/2014/main" id="{6237666D-DF67-98DC-05C9-F9F742175B69}"/>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5" name="object 13">
            <a:extLst>
              <a:ext uri="{FF2B5EF4-FFF2-40B4-BE49-F238E27FC236}">
                <a16:creationId xmlns:a16="http://schemas.microsoft.com/office/drawing/2014/main" id="{E03DB111-066A-1466-380E-B1A5D264D147}"/>
              </a:ext>
            </a:extLst>
          </p:cNvPr>
          <p:cNvGrpSpPr/>
          <p:nvPr/>
        </p:nvGrpSpPr>
        <p:grpSpPr>
          <a:xfrm>
            <a:off x="7641454" y="5309177"/>
            <a:ext cx="5530189" cy="2461309"/>
            <a:chOff x="793788" y="4631308"/>
            <a:chExt cx="6437630" cy="2974340"/>
          </a:xfrm>
        </p:grpSpPr>
        <p:sp>
          <p:nvSpPr>
            <p:cNvPr id="16" name="object 14">
              <a:extLst>
                <a:ext uri="{FF2B5EF4-FFF2-40B4-BE49-F238E27FC236}">
                  <a16:creationId xmlns:a16="http://schemas.microsoft.com/office/drawing/2014/main" id="{692C152D-7A07-F647-B072-3F50C547CA6A}"/>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17" name="object 15">
              <a:extLst>
                <a:ext uri="{FF2B5EF4-FFF2-40B4-BE49-F238E27FC236}">
                  <a16:creationId xmlns:a16="http://schemas.microsoft.com/office/drawing/2014/main" id="{834CABA1-B7A9-4D1F-38E0-F9624839AD97}"/>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18" name="object 13">
            <a:extLst>
              <a:ext uri="{FF2B5EF4-FFF2-40B4-BE49-F238E27FC236}">
                <a16:creationId xmlns:a16="http://schemas.microsoft.com/office/drawing/2014/main" id="{ECB50A61-AEB7-0B14-8AE8-E898A2B99D8F}"/>
              </a:ext>
            </a:extLst>
          </p:cNvPr>
          <p:cNvGrpSpPr/>
          <p:nvPr/>
        </p:nvGrpSpPr>
        <p:grpSpPr>
          <a:xfrm>
            <a:off x="7621816" y="2304916"/>
            <a:ext cx="5530189" cy="2800484"/>
            <a:chOff x="793788" y="4631308"/>
            <a:chExt cx="6437630" cy="2974340"/>
          </a:xfrm>
        </p:grpSpPr>
        <p:sp>
          <p:nvSpPr>
            <p:cNvPr id="19" name="object 14">
              <a:extLst>
                <a:ext uri="{FF2B5EF4-FFF2-40B4-BE49-F238E27FC236}">
                  <a16:creationId xmlns:a16="http://schemas.microsoft.com/office/drawing/2014/main" id="{594874B8-2992-7984-EADD-99110A13FC67}"/>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0" name="object 15">
              <a:extLst>
                <a:ext uri="{FF2B5EF4-FFF2-40B4-BE49-F238E27FC236}">
                  <a16:creationId xmlns:a16="http://schemas.microsoft.com/office/drawing/2014/main" id="{AC59F4FA-A558-F930-8313-B0B11B9AD525}"/>
                </a:ext>
              </a:extLst>
            </p:cNvPr>
            <p:cNvSpPr/>
            <p:nvPr/>
          </p:nvSpPr>
          <p:spPr>
            <a:xfrm>
              <a:off x="816648" y="4654167"/>
              <a:ext cx="6391910" cy="685318"/>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974345" y="-134046"/>
            <a:ext cx="13656055" cy="833113"/>
          </a:xfrm>
          <a:prstGeom prst="rect">
            <a:avLst/>
          </a:prstGeom>
          <a:noFill/>
        </p:spPr>
        <p:txBody>
          <a:bodyPr vert="horz" wrap="square" lIns="0" tIns="220853" rIns="0" bIns="0" rtlCol="0">
            <a:spAutoFit/>
          </a:bodyPr>
          <a:lstStyle/>
          <a:p>
            <a:pPr marL="0" indent="0" algn="l">
              <a:lnSpc>
                <a:spcPts val="5050"/>
              </a:lnSpc>
              <a:buNone/>
            </a:pPr>
            <a:r>
              <a:rPr lang="en-US" sz="3600" dirty="0">
                <a:solidFill>
                  <a:srgbClr val="020202"/>
                </a:solidFill>
                <a:ea typeface="PT Serif" pitchFamily="34" charset="-122"/>
                <a:cs typeface="PT Serif" pitchFamily="34" charset="-120"/>
              </a:rPr>
              <a:t>Machine Learning Systems: The Modern Solution</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544378" y="2438400"/>
            <a:ext cx="5161221" cy="4698301"/>
          </a:xfrm>
          <a:prstGeom prst="rect">
            <a:avLst/>
          </a:prstGeom>
          <a:noFill/>
          <a:ln/>
        </p:spPr>
        <p:txBody>
          <a:bodyPr wrap="square" lIns="0" tIns="0" rIns="0" bIns="0" rtlCol="0" anchor="t"/>
          <a:lstStyle/>
          <a:p>
            <a:pPr marL="0" indent="0" algn="ctr">
              <a:buNone/>
            </a:pPr>
            <a:r>
              <a:rPr lang="en-US" sz="2400" dirty="0">
                <a:solidFill>
                  <a:srgbClr val="383838"/>
                </a:solidFill>
                <a:latin typeface="PT Serif" panose="020A0603040505020204" pitchFamily="18" charset="0"/>
                <a:ea typeface="PT Serif" pitchFamily="34" charset="-122"/>
                <a:cs typeface="PT Serif" pitchFamily="34" charset="-120"/>
              </a:rPr>
              <a:t>Pattern Learning</a:t>
            </a:r>
            <a:endParaRPr lang="en-US" sz="2400" dirty="0">
              <a:latin typeface="PT Serif" panose="020A0603040505020204" pitchFamily="18" charset="0"/>
            </a:endParaRPr>
          </a:p>
          <a:p>
            <a:pPr algn="l"/>
            <a:endParaRPr lang="en-US" dirty="0">
              <a:solidFill>
                <a:srgbClr val="000000"/>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Automatically identifies unusual behaviors including sudden spending pattern changes, transactions from risky merchant categories, and device/IP mismatches without manual programming.</a:t>
            </a:r>
            <a:endParaRPr lang="en-US" dirty="0">
              <a:solidFill>
                <a:srgbClr val="000000"/>
              </a:solidFill>
              <a:latin typeface="PT Serif" panose="020A0603040505020204" pitchFamily="18" charset="0"/>
            </a:endParaRPr>
          </a:p>
          <a:p>
            <a:pPr algn="l"/>
            <a:endParaRPr lang="en-US" dirty="0">
              <a:solidFill>
                <a:srgbClr val="000000"/>
              </a:solidFill>
              <a:latin typeface="PT Serif" panose="020A0603040505020204" pitchFamily="18" charset="0"/>
            </a:endParaRPr>
          </a:p>
          <a:p>
            <a:pPr marL="0" indent="0" algn="ctr">
              <a:buNone/>
            </a:pPr>
            <a:r>
              <a:rPr lang="en-US" sz="2400" dirty="0">
                <a:solidFill>
                  <a:srgbClr val="383838"/>
                </a:solidFill>
                <a:latin typeface="PT Serif" panose="020A0603040505020204" pitchFamily="18" charset="0"/>
                <a:ea typeface="PT Serif" pitchFamily="34" charset="-122"/>
                <a:cs typeface="PT Serif" pitchFamily="34" charset="-120"/>
              </a:rPr>
              <a:t>Subtle Detection</a:t>
            </a:r>
            <a:endParaRPr lang="en-US" sz="2400" dirty="0">
              <a:latin typeface="PT Serif" panose="020A0603040505020204" pitchFamily="18" charset="0"/>
            </a:endParaRPr>
          </a:p>
          <a:p>
            <a:pPr algn="l">
              <a:lnSpc>
                <a:spcPct val="150000"/>
              </a:lnSpc>
            </a:pPr>
            <a:endParaRPr lang="en-US" dirty="0">
              <a:solidFill>
                <a:srgbClr val="383838"/>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Captures complex, non-linear relationships and emerging fraud techniques that would be invisible to rule-based systems.</a:t>
            </a:r>
            <a:endParaRPr lang="en-US" sz="1800"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924803" y="2385605"/>
            <a:ext cx="4910279" cy="4698301"/>
          </a:xfrm>
          <a:prstGeom prst="rect">
            <a:avLst/>
          </a:prstGeom>
          <a:noFill/>
          <a:ln/>
        </p:spPr>
        <p:txBody>
          <a:bodyPr wrap="square" lIns="0" tIns="0" rIns="0" bIns="0" rtlCol="0" anchor="t"/>
          <a:lstStyle/>
          <a:p>
            <a:pPr marL="0" indent="0" algn="ctr">
              <a:buNone/>
            </a:pPr>
            <a:r>
              <a:rPr lang="en-US" sz="2400" dirty="0">
                <a:solidFill>
                  <a:srgbClr val="383838"/>
                </a:solidFill>
                <a:latin typeface="PT Serif" panose="020A0603040505020204" pitchFamily="18" charset="0"/>
                <a:ea typeface="PT Serif" pitchFamily="34" charset="-122"/>
                <a:cs typeface="PT Serif" pitchFamily="34" charset="-120"/>
              </a:rPr>
              <a:t>Continuous Improvement</a:t>
            </a:r>
            <a:endParaRPr lang="en-US" sz="2400" dirty="0">
              <a:latin typeface="PT Serif" panose="020A0603040505020204" pitchFamily="18" charset="0"/>
            </a:endParaRPr>
          </a:p>
          <a:p>
            <a:pPr marL="0" indent="0" algn="l">
              <a:buNone/>
            </a:pPr>
            <a:endParaRPr lang="en-US" dirty="0">
              <a:solidFill>
                <a:srgbClr val="000000"/>
              </a:solidFill>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Models evolve with each new transaction, learning from both successful detections and false positives to refine accuracy over time.</a:t>
            </a:r>
            <a:endParaRPr lang="en-US" sz="1800" dirty="0">
              <a:latin typeface="PT Serif" panose="020A0603040505020204" pitchFamily="18" charset="0"/>
            </a:endParaRPr>
          </a:p>
          <a:p>
            <a:pPr marL="0" indent="0" algn="l">
              <a:buNone/>
            </a:pPr>
            <a:endParaRPr lang="en-US" dirty="0">
              <a:solidFill>
                <a:srgbClr val="000000"/>
              </a:solidFill>
              <a:latin typeface="PT Serif" panose="020A0603040505020204" pitchFamily="18" charset="0"/>
            </a:endParaRPr>
          </a:p>
          <a:p>
            <a:pPr marL="0" indent="0" algn="l">
              <a:buNone/>
            </a:pPr>
            <a:endParaRPr lang="en-US" dirty="0">
              <a:solidFill>
                <a:srgbClr val="000000"/>
              </a:solidFill>
              <a:latin typeface="PT Serif" panose="020A0603040505020204" pitchFamily="18" charset="0"/>
            </a:endParaRPr>
          </a:p>
          <a:p>
            <a:pPr marL="0" indent="0" algn="l">
              <a:buNone/>
            </a:pPr>
            <a:endParaRPr lang="en-US" dirty="0">
              <a:solidFill>
                <a:srgbClr val="000000"/>
              </a:solidFill>
              <a:latin typeface="PT Serif" panose="020A0603040505020204" pitchFamily="18" charset="0"/>
            </a:endParaRPr>
          </a:p>
          <a:p>
            <a:pPr marL="0" indent="0" algn="l">
              <a:buNone/>
            </a:pPr>
            <a:endParaRPr lang="en-US" dirty="0">
              <a:solidFill>
                <a:srgbClr val="000000"/>
              </a:solidFill>
              <a:latin typeface="PT Serif" panose="020A0603040505020204" pitchFamily="18" charset="0"/>
            </a:endParaRPr>
          </a:p>
          <a:p>
            <a:pPr marL="0" indent="0" algn="ctr">
              <a:buNone/>
            </a:pPr>
            <a:r>
              <a:rPr lang="en-US" sz="2400" dirty="0">
                <a:solidFill>
                  <a:srgbClr val="383838"/>
                </a:solidFill>
                <a:latin typeface="PT Serif" panose="020A0603040505020204" pitchFamily="18" charset="0"/>
                <a:ea typeface="PT Serif" pitchFamily="34" charset="-122"/>
                <a:cs typeface="PT Serif" pitchFamily="34" charset="-120"/>
              </a:rPr>
              <a:t>Enhanced Experience</a:t>
            </a:r>
          </a:p>
          <a:p>
            <a:pPr marL="0" indent="0" algn="ctr">
              <a:lnSpc>
                <a:spcPct val="150000"/>
              </a:lnSpc>
              <a:buNone/>
            </a:pPr>
            <a:endParaRPr lang="en-US" sz="2400" dirty="0">
              <a:latin typeface="PT Serif" panose="020A0603040505020204" pitchFamily="18" charset="0"/>
            </a:endParaRPr>
          </a:p>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Dramatically reduces false positives, allowing legitimate transactions to proceed smoothly while catching genuine fraud more effectively.</a:t>
            </a:r>
            <a:endParaRPr lang="en-US" sz="1800" dirty="0">
              <a:latin typeface="PT Serif" panose="020A0603040505020204" pitchFamily="18" charset="0"/>
            </a:endParaRPr>
          </a:p>
        </p:txBody>
      </p:sp>
      <p:sp>
        <p:nvSpPr>
          <p:cNvPr id="28" name="TextBox 27">
            <a:extLst>
              <a:ext uri="{FF2B5EF4-FFF2-40B4-BE49-F238E27FC236}">
                <a16:creationId xmlns:a16="http://schemas.microsoft.com/office/drawing/2014/main" id="{E743F1EE-D911-93FE-0ECE-2F302D7CE145}"/>
              </a:ext>
            </a:extLst>
          </p:cNvPr>
          <p:cNvSpPr txBox="1"/>
          <p:nvPr/>
        </p:nvSpPr>
        <p:spPr>
          <a:xfrm>
            <a:off x="877036" y="829799"/>
            <a:ext cx="11958046" cy="1248547"/>
          </a:xfrm>
          <a:prstGeom prst="rect">
            <a:avLst/>
          </a:prstGeom>
          <a:noFill/>
        </p:spPr>
        <p:txBody>
          <a:bodyPr wrap="square">
            <a:spAutoFit/>
          </a:bodyPr>
          <a:lstStyle/>
          <a:p>
            <a:pPr marL="0" indent="0" algn="l">
              <a:lnSpc>
                <a:spcPts val="3050"/>
              </a:lnSpc>
              <a:buNone/>
            </a:pPr>
            <a:r>
              <a:rPr lang="en-US" sz="1800" dirty="0">
                <a:solidFill>
                  <a:srgbClr val="383838"/>
                </a:solidFill>
                <a:latin typeface="PT Serif" panose="020A0603040505020204" pitchFamily="18" charset="0"/>
                <a:ea typeface="DM Sans" pitchFamily="34" charset="-122"/>
                <a:cs typeface="DM Sans" pitchFamily="34" charset="-120"/>
              </a:rPr>
              <a:t>Machine Learning systems represent a fundamental shift in how we build intelligent applications. Rather than encoding explicit rules, these systems learn fraud patterns directly from historical transaction data, enabling sophisticated detection capabilities.</a:t>
            </a:r>
            <a:endParaRPr lang="en-US" sz="1800" dirty="0">
              <a:latin typeface="PT Serif" panose="020A0603040505020204" pitchFamily="18" charset="0"/>
            </a:endParaRPr>
          </a:p>
        </p:txBody>
      </p:sp>
    </p:spTree>
    <p:extLst>
      <p:ext uri="{BB962C8B-B14F-4D97-AF65-F5344CB8AC3E}">
        <p14:creationId xmlns:p14="http://schemas.microsoft.com/office/powerpoint/2010/main" val="2050921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53A50-7A71-1E5A-6CE2-1A108C414408}"/>
              </a:ext>
            </a:extLst>
          </p:cNvPr>
          <p:cNvSpPr>
            <a:spLocks noGrp="1"/>
          </p:cNvSpPr>
          <p:nvPr>
            <p:ph type="title"/>
          </p:nvPr>
        </p:nvSpPr>
        <p:spPr>
          <a:xfrm>
            <a:off x="487172" y="401522"/>
            <a:ext cx="13656055" cy="1107996"/>
          </a:xfrm>
        </p:spPr>
        <p:txBody>
          <a:bodyPr/>
          <a:lstStyle/>
          <a:p>
            <a:r>
              <a:rPr lang="en-US" sz="3600" dirty="0">
                <a:solidFill>
                  <a:srgbClr val="020202"/>
                </a:solidFill>
                <a:latin typeface="PT Serif" pitchFamily="34" charset="0"/>
                <a:ea typeface="PT Serif" pitchFamily="34" charset="-122"/>
                <a:cs typeface="PT Serif" pitchFamily="34" charset="-120"/>
              </a:rPr>
              <a:t>Comparative Analysis: Rules vs Machine Learning</a:t>
            </a:r>
            <a:br>
              <a:rPr lang="en-US" sz="3600" dirty="0"/>
            </a:br>
            <a:endParaRPr lang="en-IN" sz="3600" dirty="0"/>
          </a:p>
        </p:txBody>
      </p:sp>
      <p:sp>
        <p:nvSpPr>
          <p:cNvPr id="3" name="Text Placeholder 2">
            <a:extLst>
              <a:ext uri="{FF2B5EF4-FFF2-40B4-BE49-F238E27FC236}">
                <a16:creationId xmlns:a16="http://schemas.microsoft.com/office/drawing/2014/main" id="{5EEB25C3-4171-616C-6636-24FE271BCF65}"/>
              </a:ext>
            </a:extLst>
          </p:cNvPr>
          <p:cNvSpPr>
            <a:spLocks noGrp="1"/>
          </p:cNvSpPr>
          <p:nvPr>
            <p:ph type="body" idx="1"/>
          </p:nvPr>
        </p:nvSpPr>
        <p:spPr>
          <a:xfrm>
            <a:off x="762000" y="6680519"/>
            <a:ext cx="12663677" cy="830997"/>
          </a:xfrm>
        </p:spPr>
        <p:txBody>
          <a:bodyPr/>
          <a:lstStyle/>
          <a:p>
            <a:pPr algn="l"/>
            <a:r>
              <a:rPr lang="en-US" sz="1800" dirty="0">
                <a:solidFill>
                  <a:srgbClr val="383838"/>
                </a:solidFill>
                <a:ea typeface="DM Sans" pitchFamily="34" charset="-122"/>
                <a:cs typeface="DM Sans" pitchFamily="34" charset="-120"/>
              </a:rPr>
              <a:t>The transition from rule-based to ML systems represents not just a technical upgrade but a strategic business advantage, enabling organizations to respond dynamically to evolving challenges and opportunities.</a:t>
            </a:r>
            <a:endParaRPr lang="en-US" sz="1800" dirty="0"/>
          </a:p>
          <a:p>
            <a:endParaRPr lang="en-IN" sz="1800" dirty="0"/>
          </a:p>
        </p:txBody>
      </p:sp>
      <p:graphicFrame>
        <p:nvGraphicFramePr>
          <p:cNvPr id="4" name="Table 4">
            <a:extLst>
              <a:ext uri="{FF2B5EF4-FFF2-40B4-BE49-F238E27FC236}">
                <a16:creationId xmlns:a16="http://schemas.microsoft.com/office/drawing/2014/main" id="{141169BE-0164-032B-5AE2-2AAFD331A143}"/>
              </a:ext>
            </a:extLst>
          </p:cNvPr>
          <p:cNvGraphicFramePr>
            <a:graphicFrameLocks noGrp="1"/>
          </p:cNvGraphicFramePr>
          <p:nvPr>
            <p:extLst>
              <p:ext uri="{D42A27DB-BD31-4B8C-83A1-F6EECF244321}">
                <p14:modId xmlns:p14="http://schemas.microsoft.com/office/powerpoint/2010/main" val="2336908207"/>
              </p:ext>
            </p:extLst>
          </p:nvPr>
        </p:nvGraphicFramePr>
        <p:xfrm>
          <a:off x="1523999" y="1586462"/>
          <a:ext cx="11582400" cy="4663440"/>
        </p:xfrm>
        <a:graphic>
          <a:graphicData uri="http://schemas.openxmlformats.org/drawingml/2006/table">
            <a:tbl>
              <a:tblPr firstRow="1" bandRow="1">
                <a:tableStyleId>{7DF18680-E054-41AD-8BC1-D1AEF772440D}</a:tableStyleId>
              </a:tblPr>
              <a:tblGrid>
                <a:gridCol w="2895600">
                  <a:extLst>
                    <a:ext uri="{9D8B030D-6E8A-4147-A177-3AD203B41FA5}">
                      <a16:colId xmlns:a16="http://schemas.microsoft.com/office/drawing/2014/main" val="1117686863"/>
                    </a:ext>
                  </a:extLst>
                </a:gridCol>
                <a:gridCol w="4267200">
                  <a:extLst>
                    <a:ext uri="{9D8B030D-6E8A-4147-A177-3AD203B41FA5}">
                      <a16:colId xmlns:a16="http://schemas.microsoft.com/office/drawing/2014/main" val="2192451534"/>
                    </a:ext>
                  </a:extLst>
                </a:gridCol>
                <a:gridCol w="4419600">
                  <a:extLst>
                    <a:ext uri="{9D8B030D-6E8A-4147-A177-3AD203B41FA5}">
                      <a16:colId xmlns:a16="http://schemas.microsoft.com/office/drawing/2014/main" val="2438422627"/>
                    </a:ext>
                  </a:extLst>
                </a:gridCol>
              </a:tblGrid>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400" b="0" dirty="0">
                          <a:solidFill>
                            <a:srgbClr val="383838"/>
                          </a:solidFill>
                        </a:rPr>
                        <a:t>Feature</a:t>
                      </a:r>
                      <a:endParaRPr lang="en-US" sz="2400" b="0" dirty="0"/>
                    </a:p>
                    <a:p>
                      <a:endParaRPr lang="en-IN" sz="24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400" b="0" dirty="0">
                          <a:solidFill>
                            <a:srgbClr val="383838"/>
                          </a:solidFill>
                        </a:rPr>
                        <a:t>Rule-Based Systems</a:t>
                      </a:r>
                      <a:endParaRPr lang="en-US" sz="2400" b="0" dirty="0"/>
                    </a:p>
                    <a:p>
                      <a:endParaRPr lang="en-IN" sz="24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400" b="0" dirty="0">
                          <a:solidFill>
                            <a:srgbClr val="383838"/>
                          </a:solidFill>
                        </a:rPr>
                        <a:t>Machine Learning Systems</a:t>
                      </a:r>
                      <a:endParaRPr lang="en-US" sz="2400" b="0" dirty="0"/>
                    </a:p>
                    <a:p>
                      <a:endParaRPr lang="en-IN" sz="2400" b="0" dirty="0">
                        <a:latin typeface="PT Serif" panose="020A0603040505020204" pitchFamily="18" charset="0"/>
                      </a:endParaRPr>
                    </a:p>
                  </a:txBody>
                  <a:tcPr/>
                </a:tc>
                <a:extLst>
                  <a:ext uri="{0D108BD9-81ED-4DB2-BD59-A6C34878D82A}">
                    <a16:rowId xmlns:a16="http://schemas.microsoft.com/office/drawing/2014/main" val="52875875"/>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Knowledge Source</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Human-written rules and expert logic</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t>Data-driven pattern discovery</a:t>
                      </a:r>
                    </a:p>
                    <a:p>
                      <a:endParaRPr lang="en-IN" sz="1800" dirty="0">
                        <a:latin typeface="PT Serif" panose="020A0603040505020204" pitchFamily="18" charset="0"/>
                      </a:endParaRPr>
                    </a:p>
                  </a:txBody>
                  <a:tcPr/>
                </a:tc>
                <a:extLst>
                  <a:ext uri="{0D108BD9-81ED-4DB2-BD59-A6C34878D82A}">
                    <a16:rowId xmlns:a16="http://schemas.microsoft.com/office/drawing/2014/main" val="126290885"/>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Adaptability</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Very low—requires manual updates</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High—learns continuously from new data</a:t>
                      </a:r>
                      <a:endParaRPr lang="en-US" sz="1800" dirty="0"/>
                    </a:p>
                    <a:p>
                      <a:endParaRPr lang="en-IN" sz="1800" dirty="0">
                        <a:latin typeface="PT Serif" panose="020A0603040505020204" pitchFamily="18" charset="0"/>
                      </a:endParaRPr>
                    </a:p>
                  </a:txBody>
                  <a:tcPr/>
                </a:tc>
                <a:extLst>
                  <a:ext uri="{0D108BD9-81ED-4DB2-BD59-A6C34878D82A}">
                    <a16:rowId xmlns:a16="http://schemas.microsoft.com/office/drawing/2014/main" val="1355454986"/>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Pattern Detection</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Simple conditional logic only</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Complex non-linear relationships</a:t>
                      </a:r>
                      <a:endParaRPr lang="en-US" sz="1800" dirty="0"/>
                    </a:p>
                    <a:p>
                      <a:endParaRPr lang="en-IN" sz="1800" dirty="0">
                        <a:latin typeface="PT Serif" panose="020A0603040505020204" pitchFamily="18" charset="0"/>
                      </a:endParaRPr>
                    </a:p>
                  </a:txBody>
                  <a:tcPr/>
                </a:tc>
                <a:extLst>
                  <a:ext uri="{0D108BD9-81ED-4DB2-BD59-A6C34878D82A}">
                    <a16:rowId xmlns:a16="http://schemas.microsoft.com/office/drawing/2014/main" val="2862309437"/>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Maintenance Cost</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High and increasing with complexity</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Scalable with automated retraining</a:t>
                      </a:r>
                      <a:endParaRPr lang="en-US" sz="1800" dirty="0"/>
                    </a:p>
                    <a:p>
                      <a:endParaRPr lang="en-IN" sz="1800" dirty="0">
                        <a:latin typeface="PT Serif" panose="020A0603040505020204" pitchFamily="18" charset="0"/>
                      </a:endParaRPr>
                    </a:p>
                  </a:txBody>
                  <a:tcPr/>
                </a:tc>
                <a:extLst>
                  <a:ext uri="{0D108BD9-81ED-4DB2-BD59-A6C34878D82A}">
                    <a16:rowId xmlns:a16="http://schemas.microsoft.com/office/drawing/2014/main" val="474229282"/>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Business Value</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Limited to known scenarios</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Strong ROI through continuous optimization</a:t>
                      </a:r>
                      <a:endParaRPr lang="en-US" sz="1800" dirty="0"/>
                    </a:p>
                    <a:p>
                      <a:endParaRPr lang="en-IN" sz="1800" dirty="0">
                        <a:latin typeface="PT Serif" panose="020A0603040505020204" pitchFamily="18" charset="0"/>
                      </a:endParaRPr>
                    </a:p>
                  </a:txBody>
                  <a:tcPr/>
                </a:tc>
                <a:extLst>
                  <a:ext uri="{0D108BD9-81ED-4DB2-BD59-A6C34878D82A}">
                    <a16:rowId xmlns:a16="http://schemas.microsoft.com/office/drawing/2014/main" val="1544179137"/>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Response to Change</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Slow—weeks or months for updates</a:t>
                      </a:r>
                      <a:endParaRPr lang="en-US" sz="1800" dirty="0"/>
                    </a:p>
                    <a:p>
                      <a:endParaRPr lang="en-IN" sz="18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rPr>
                        <a:t>Fast—adapts with new training cycles</a:t>
                      </a:r>
                      <a:endParaRPr lang="en-US" sz="1800" dirty="0"/>
                    </a:p>
                    <a:p>
                      <a:endParaRPr lang="en-IN" sz="1800" dirty="0">
                        <a:latin typeface="PT Serif" panose="020A0603040505020204" pitchFamily="18" charset="0"/>
                      </a:endParaRPr>
                    </a:p>
                  </a:txBody>
                  <a:tcPr/>
                </a:tc>
                <a:extLst>
                  <a:ext uri="{0D108BD9-81ED-4DB2-BD59-A6C34878D82A}">
                    <a16:rowId xmlns:a16="http://schemas.microsoft.com/office/drawing/2014/main" val="2977386543"/>
                  </a:ext>
                </a:extLst>
              </a:tr>
            </a:tbl>
          </a:graphicData>
        </a:graphic>
      </p:graphicFrame>
    </p:spTree>
    <p:extLst>
      <p:ext uri="{BB962C8B-B14F-4D97-AF65-F5344CB8AC3E}">
        <p14:creationId xmlns:p14="http://schemas.microsoft.com/office/powerpoint/2010/main" val="3245240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487172" y="533400"/>
            <a:ext cx="13656055" cy="590867"/>
          </a:xfrm>
        </p:spPr>
        <p:txBody>
          <a:bodyPr/>
          <a:lstStyle/>
          <a:p>
            <a:pPr marL="0" indent="0" algn="l">
              <a:lnSpc>
                <a:spcPts val="4850"/>
              </a:lnSpc>
              <a:buNone/>
            </a:pPr>
            <a:r>
              <a:rPr lang="en-US" sz="3600" dirty="0">
                <a:solidFill>
                  <a:srgbClr val="020202"/>
                </a:solidFill>
                <a:ea typeface="PT Serif" pitchFamily="34" charset="-122"/>
                <a:cs typeface="PT Serif" pitchFamily="34" charset="-120"/>
              </a:rPr>
              <a:t>Supervised Learning: Learning from Labeled Examples</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490050" y="2524708"/>
            <a:ext cx="6364224" cy="3787768"/>
          </a:xfrm>
        </p:spPr>
        <p:txBody>
          <a:bodyPr/>
          <a:lstStyle/>
          <a:p>
            <a:pPr marL="0" indent="0" algn="l">
              <a:buNone/>
            </a:pPr>
            <a:r>
              <a:rPr lang="en-US" sz="2400" dirty="0">
                <a:solidFill>
                  <a:srgbClr val="020202"/>
                </a:solidFill>
                <a:ea typeface="PT Serif" pitchFamily="34" charset="-122"/>
                <a:cs typeface="PT Serif" pitchFamily="34" charset="-120"/>
              </a:rPr>
              <a:t>Classification Tasks</a:t>
            </a:r>
          </a:p>
          <a:p>
            <a:pPr marL="0" indent="0" algn="l">
              <a:buNone/>
            </a:pPr>
            <a:endParaRPr lang="en-US" sz="1800" dirty="0">
              <a:solidFill>
                <a:srgbClr val="020202"/>
              </a:solidFill>
              <a:ea typeface="PT Serif" pitchFamily="34" charset="-122"/>
              <a:cs typeface="PT Serif" pitchFamily="34" charset="-120"/>
            </a:endParaRPr>
          </a:p>
          <a:p>
            <a:pPr algn="l"/>
            <a:r>
              <a:rPr lang="en-US" sz="1800" dirty="0">
                <a:solidFill>
                  <a:srgbClr val="383838"/>
                </a:solidFill>
                <a:ea typeface="DM Sans" pitchFamily="34" charset="-122"/>
                <a:cs typeface="DM Sans" pitchFamily="34" charset="-120"/>
              </a:rPr>
              <a:t>Predicting discrete categories or classes from input features.</a:t>
            </a:r>
          </a:p>
          <a:p>
            <a:pPr algn="l">
              <a:lnSpc>
                <a:spcPct val="150000"/>
              </a:lnSpc>
            </a:pPr>
            <a:endParaRPr lang="en-US" sz="1800" dirty="0">
              <a:solidFill>
                <a:srgbClr val="383838"/>
              </a:solidFill>
              <a:ea typeface="DM Sans" pitchFamily="34" charset="-122"/>
              <a:cs typeface="DM Sans" pitchFamily="34" charset="-120"/>
            </a:endParaRPr>
          </a:p>
          <a:p>
            <a:pPr marL="285750" indent="-285750" algn="l">
              <a:lnSpc>
                <a:spcPct val="150000"/>
              </a:lnSpc>
              <a:buFont typeface="Arial" panose="020B0604020202020204" pitchFamily="34" charset="0"/>
              <a:buChar char="•"/>
            </a:pPr>
            <a:r>
              <a:rPr lang="en-US" sz="1800" dirty="0">
                <a:solidFill>
                  <a:srgbClr val="383838"/>
                </a:solidFill>
                <a:ea typeface="DM Sans" pitchFamily="34" charset="-122"/>
                <a:cs typeface="DM Sans" pitchFamily="34" charset="-120"/>
              </a:rPr>
              <a:t>Email spam detection (spam/not spam)</a:t>
            </a:r>
            <a:endParaRPr lang="en-US" sz="1800" dirty="0"/>
          </a:p>
          <a:p>
            <a:pPr marL="285750" indent="-285750" algn="l">
              <a:lnSpc>
                <a:spcPct val="150000"/>
              </a:lnSpc>
              <a:buFont typeface="Arial" panose="020B0604020202020204" pitchFamily="34" charset="0"/>
              <a:buChar char="•"/>
            </a:pPr>
            <a:r>
              <a:rPr lang="en-US" sz="1800" dirty="0">
                <a:solidFill>
                  <a:srgbClr val="383838"/>
                </a:solidFill>
              </a:rPr>
              <a:t>Medical diagnosis (disease present/absent)</a:t>
            </a:r>
          </a:p>
          <a:p>
            <a:pPr marL="285750" indent="-285750" algn="l">
              <a:lnSpc>
                <a:spcPct val="150000"/>
              </a:lnSpc>
              <a:buFont typeface="Arial" panose="020B0604020202020204" pitchFamily="34" charset="0"/>
              <a:buChar char="•"/>
            </a:pPr>
            <a:r>
              <a:rPr lang="en-US" sz="1800" dirty="0">
                <a:solidFill>
                  <a:srgbClr val="383838"/>
                </a:solidFill>
              </a:rPr>
              <a:t>Customer churn prediction (will leave/will stay)</a:t>
            </a:r>
          </a:p>
          <a:p>
            <a:pPr marL="285750" indent="-285750" algn="l">
              <a:lnSpc>
                <a:spcPct val="150000"/>
              </a:lnSpc>
              <a:buFont typeface="Arial" panose="020B0604020202020204" pitchFamily="34" charset="0"/>
              <a:buChar char="•"/>
            </a:pPr>
            <a:r>
              <a:rPr lang="en-US" sz="1800" dirty="0">
                <a:solidFill>
                  <a:srgbClr val="383838"/>
                </a:solidFill>
              </a:rPr>
              <a:t>Image recognition (cat/dog/bird)</a:t>
            </a:r>
          </a:p>
          <a:p>
            <a:pPr algn="l">
              <a:lnSpc>
                <a:spcPct val="150000"/>
              </a:lnSpc>
            </a:pPr>
            <a:endParaRPr lang="en-US" sz="1800" dirty="0"/>
          </a:p>
          <a:p>
            <a:pPr marL="0" indent="0" algn="l">
              <a:lnSpc>
                <a:spcPct val="150000"/>
              </a:lnSpc>
              <a:buNone/>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776126" y="2524708"/>
            <a:ext cx="6364224" cy="3464603"/>
          </a:xfrm>
        </p:spPr>
        <p:txBody>
          <a:bodyPr/>
          <a:lstStyle/>
          <a:p>
            <a:pPr marL="0" indent="0" algn="l">
              <a:buNone/>
            </a:pPr>
            <a:r>
              <a:rPr lang="en-US" sz="2400" dirty="0">
                <a:solidFill>
                  <a:srgbClr val="020202"/>
                </a:solidFill>
                <a:ea typeface="PT Serif" pitchFamily="34" charset="-122"/>
                <a:cs typeface="PT Serif" pitchFamily="34" charset="-120"/>
              </a:rPr>
              <a:t>Regression Tasks</a:t>
            </a:r>
          </a:p>
          <a:p>
            <a:pPr marL="0" indent="0" algn="l">
              <a:buNone/>
            </a:pPr>
            <a:endParaRPr lang="en-US" sz="2400" dirty="0">
              <a:solidFill>
                <a:srgbClr val="020202"/>
              </a:solidFill>
              <a:ea typeface="PT Serif" pitchFamily="34" charset="-122"/>
              <a:cs typeface="PT Serif" pitchFamily="34" charset="-120"/>
            </a:endParaRPr>
          </a:p>
          <a:p>
            <a:pPr algn="l"/>
            <a:r>
              <a:rPr lang="en-US" sz="1800" dirty="0">
                <a:solidFill>
                  <a:srgbClr val="383838"/>
                </a:solidFill>
                <a:ea typeface="DM Sans" pitchFamily="34" charset="-122"/>
                <a:cs typeface="DM Sans" pitchFamily="34" charset="-120"/>
              </a:rPr>
              <a:t>Predicting continuous numerical values from input features.</a:t>
            </a:r>
            <a:endParaRPr lang="en-US" sz="1800" dirty="0"/>
          </a:p>
          <a:p>
            <a:pPr marL="0" indent="0" algn="l">
              <a:lnSpc>
                <a:spcPct val="150000"/>
              </a:lnSpc>
              <a:buNone/>
            </a:pPr>
            <a:endParaRPr lang="en-US" sz="1800" dirty="0">
              <a:solidFill>
                <a:srgbClr val="020202"/>
              </a:solidFill>
            </a:endParaRPr>
          </a:p>
          <a:p>
            <a:pPr marL="285750" indent="-285750" algn="l">
              <a:lnSpc>
                <a:spcPct val="150000"/>
              </a:lnSpc>
              <a:buFont typeface="Arial" panose="020B0604020202020204" pitchFamily="34" charset="0"/>
              <a:buChar char="•"/>
            </a:pPr>
            <a:r>
              <a:rPr lang="en-US" sz="1800" dirty="0">
                <a:solidFill>
                  <a:srgbClr val="383838"/>
                </a:solidFill>
                <a:ea typeface="DM Sans" pitchFamily="34" charset="-122"/>
                <a:cs typeface="DM Sans" pitchFamily="34" charset="-120"/>
              </a:rPr>
              <a:t>House price prediction</a:t>
            </a:r>
            <a:endParaRPr lang="en-US" sz="1800" dirty="0">
              <a:solidFill>
                <a:srgbClr val="020202"/>
              </a:solidFill>
            </a:endParaRPr>
          </a:p>
          <a:p>
            <a:pPr marL="285750" indent="-285750" algn="l">
              <a:lnSpc>
                <a:spcPct val="150000"/>
              </a:lnSpc>
              <a:buFont typeface="Arial" panose="020B0604020202020204" pitchFamily="34" charset="0"/>
              <a:buChar char="•"/>
            </a:pPr>
            <a:r>
              <a:rPr lang="en-US" sz="1800" dirty="0">
                <a:solidFill>
                  <a:srgbClr val="383838"/>
                </a:solidFill>
                <a:ea typeface="DM Sans" pitchFamily="34" charset="-122"/>
                <a:cs typeface="DM Sans" pitchFamily="34" charset="-120"/>
              </a:rPr>
              <a:t>Stock market forecasting</a:t>
            </a:r>
            <a:endParaRPr lang="en-US" sz="1800" dirty="0">
              <a:solidFill>
                <a:srgbClr val="020202"/>
              </a:solidFill>
            </a:endParaRPr>
          </a:p>
          <a:p>
            <a:pPr marL="285750" indent="-285750" algn="l">
              <a:lnSpc>
                <a:spcPct val="150000"/>
              </a:lnSpc>
              <a:buFont typeface="Arial" panose="020B0604020202020204" pitchFamily="34" charset="0"/>
              <a:buChar char="•"/>
            </a:pPr>
            <a:r>
              <a:rPr lang="en-US" sz="1800" dirty="0">
                <a:solidFill>
                  <a:srgbClr val="383838"/>
                </a:solidFill>
                <a:ea typeface="DM Sans" pitchFamily="34" charset="-122"/>
                <a:cs typeface="DM Sans" pitchFamily="34" charset="-120"/>
              </a:rPr>
              <a:t>Temperature estimation</a:t>
            </a:r>
            <a:endParaRPr lang="en-US" sz="1800" dirty="0">
              <a:solidFill>
                <a:srgbClr val="020202"/>
              </a:solidFill>
            </a:endParaRPr>
          </a:p>
          <a:p>
            <a:pPr marL="285750" indent="-285750" algn="l">
              <a:lnSpc>
                <a:spcPct val="150000"/>
              </a:lnSpc>
              <a:buFont typeface="Arial" panose="020B0604020202020204" pitchFamily="34" charset="0"/>
              <a:buChar char="•"/>
            </a:pPr>
            <a:r>
              <a:rPr lang="en-US" sz="1800" dirty="0">
                <a:solidFill>
                  <a:srgbClr val="383838"/>
                </a:solidFill>
                <a:ea typeface="DM Sans" pitchFamily="34" charset="-122"/>
                <a:cs typeface="DM Sans" pitchFamily="34" charset="-120"/>
              </a:rPr>
              <a:t>Sales revenue projection</a:t>
            </a:r>
            <a:endParaRPr lang="en-US" sz="1800" dirty="0"/>
          </a:p>
          <a:p>
            <a:pPr marL="0" indent="0" algn="l">
              <a:lnSpc>
                <a:spcPct val="150000"/>
              </a:lnSpc>
              <a:buNone/>
            </a:pPr>
            <a:endParaRPr lang="en-US" sz="1800" dirty="0"/>
          </a:p>
        </p:txBody>
      </p:sp>
      <p:sp>
        <p:nvSpPr>
          <p:cNvPr id="6" name="TextBox 5">
            <a:extLst>
              <a:ext uri="{FF2B5EF4-FFF2-40B4-BE49-F238E27FC236}">
                <a16:creationId xmlns:a16="http://schemas.microsoft.com/office/drawing/2014/main" id="{B6C97496-9DA8-D244-9A6A-468C073F9FFE}"/>
              </a:ext>
            </a:extLst>
          </p:cNvPr>
          <p:cNvSpPr txBox="1"/>
          <p:nvPr/>
        </p:nvSpPr>
        <p:spPr>
          <a:xfrm>
            <a:off x="450862" y="1371600"/>
            <a:ext cx="13874737" cy="828560"/>
          </a:xfrm>
          <a:prstGeom prst="rect">
            <a:avLst/>
          </a:prstGeom>
          <a:noFill/>
        </p:spPr>
        <p:txBody>
          <a:bodyPr wrap="square">
            <a:spAutoFit/>
          </a:bodyPr>
          <a:lstStyle/>
          <a:p>
            <a:pPr marL="0" indent="0" algn="l">
              <a:lnSpc>
                <a:spcPts val="2950"/>
              </a:lnSpc>
              <a:buNone/>
            </a:pPr>
            <a:r>
              <a:rPr lang="en-US" dirty="0">
                <a:solidFill>
                  <a:srgbClr val="383838"/>
                </a:solidFill>
                <a:latin typeface="PT Serif" panose="020A0603040505020204" pitchFamily="18" charset="0"/>
                <a:ea typeface="DM Sans" pitchFamily="34" charset="-122"/>
                <a:cs typeface="DM Sans" pitchFamily="34" charset="-120"/>
              </a:rPr>
              <a:t>Supervised Learning is the most widely used ML paradigm, where models learn from data that has been labeled with correct answers. The algorithm learns to map inputs to outputs by studying these labeled examples.</a:t>
            </a:r>
            <a:endParaRPr lang="en-US" dirty="0">
              <a:latin typeface="PT Serif" panose="020A0603040505020204" pitchFamily="18" charset="0"/>
            </a:endParaRPr>
          </a:p>
        </p:txBody>
      </p:sp>
      <p:sp>
        <p:nvSpPr>
          <p:cNvPr id="8" name="TextBox 7">
            <a:extLst>
              <a:ext uri="{FF2B5EF4-FFF2-40B4-BE49-F238E27FC236}">
                <a16:creationId xmlns:a16="http://schemas.microsoft.com/office/drawing/2014/main" id="{64137ECB-4EA1-8B65-9BDB-08F8AE30BD5E}"/>
              </a:ext>
            </a:extLst>
          </p:cNvPr>
          <p:cNvSpPr txBox="1"/>
          <p:nvPr/>
        </p:nvSpPr>
        <p:spPr>
          <a:xfrm>
            <a:off x="487172" y="6029441"/>
            <a:ext cx="12877800" cy="1918667"/>
          </a:xfrm>
          <a:prstGeom prst="rect">
            <a:avLst/>
          </a:prstGeom>
          <a:noFill/>
        </p:spPr>
        <p:txBody>
          <a:bodyPr wrap="square">
            <a:spAutoFit/>
          </a:bodyPr>
          <a:lstStyle/>
          <a:p>
            <a:pPr marL="0" indent="0" algn="l">
              <a:lnSpc>
                <a:spcPts val="2900"/>
              </a:lnSpc>
              <a:buNone/>
            </a:pPr>
            <a:r>
              <a:rPr lang="en-US" sz="2400" dirty="0">
                <a:solidFill>
                  <a:srgbClr val="020202"/>
                </a:solidFill>
                <a:latin typeface="PT Serif" panose="020A0603040505020204" pitchFamily="18" charset="0"/>
                <a:ea typeface="PT Serif" pitchFamily="34" charset="-122"/>
                <a:cs typeface="PT Serif" pitchFamily="34" charset="-120"/>
              </a:rPr>
              <a:t>Common Algorithms</a:t>
            </a:r>
          </a:p>
          <a:p>
            <a:pPr marL="0" indent="0" algn="l">
              <a:lnSpc>
                <a:spcPts val="2900"/>
              </a:lnSpc>
              <a:buNone/>
            </a:pPr>
            <a:endParaRPr lang="en-US" sz="2400" dirty="0">
              <a:solidFill>
                <a:srgbClr val="020202"/>
              </a:solidFill>
              <a:latin typeface="PT Serif" panose="020A0603040505020204" pitchFamily="18" charset="0"/>
              <a:ea typeface="PT Serif" pitchFamily="34" charset="-122"/>
              <a:cs typeface="PT Serif" pitchFamily="34" charset="-120"/>
            </a:endParaRPr>
          </a:p>
          <a:p>
            <a:pPr algn="l">
              <a:lnSpc>
                <a:spcPts val="2900"/>
              </a:lnSpc>
            </a:pPr>
            <a:r>
              <a:rPr lang="en-US" b="1" dirty="0">
                <a:solidFill>
                  <a:srgbClr val="383838"/>
                </a:solidFill>
                <a:latin typeface="PT Serif" panose="020A0603040505020204" pitchFamily="18" charset="0"/>
                <a:ea typeface="DM Sans" pitchFamily="34" charset="-122"/>
                <a:cs typeface="DM Sans" pitchFamily="34" charset="-120"/>
              </a:rPr>
              <a:t>Linear Regression</a:t>
            </a:r>
            <a:r>
              <a:rPr lang="en-US" dirty="0">
                <a:solidFill>
                  <a:srgbClr val="383838"/>
                </a:solidFill>
                <a:latin typeface="PT Serif" panose="020A0603040505020204" pitchFamily="18" charset="0"/>
                <a:ea typeface="DM Sans" pitchFamily="34" charset="-122"/>
                <a:cs typeface="DM Sans" pitchFamily="34" charset="-120"/>
              </a:rPr>
              <a:t> • </a:t>
            </a:r>
            <a:r>
              <a:rPr lang="en-US" b="1" dirty="0">
                <a:solidFill>
                  <a:srgbClr val="383838"/>
                </a:solidFill>
                <a:latin typeface="PT Serif" panose="020A0603040505020204" pitchFamily="18" charset="0"/>
                <a:ea typeface="DM Sans" pitchFamily="34" charset="-122"/>
                <a:cs typeface="DM Sans" pitchFamily="34" charset="-120"/>
              </a:rPr>
              <a:t>Logistic Regression</a:t>
            </a:r>
            <a:r>
              <a:rPr lang="en-US" dirty="0">
                <a:solidFill>
                  <a:srgbClr val="383838"/>
                </a:solidFill>
                <a:latin typeface="PT Serif" panose="020A0603040505020204" pitchFamily="18" charset="0"/>
                <a:ea typeface="DM Sans" pitchFamily="34" charset="-122"/>
                <a:cs typeface="DM Sans" pitchFamily="34" charset="-120"/>
              </a:rPr>
              <a:t> • </a:t>
            </a:r>
            <a:r>
              <a:rPr lang="en-US" b="1" dirty="0">
                <a:solidFill>
                  <a:srgbClr val="383838"/>
                </a:solidFill>
                <a:latin typeface="PT Serif" panose="020A0603040505020204" pitchFamily="18" charset="0"/>
                <a:ea typeface="DM Sans" pitchFamily="34" charset="-122"/>
                <a:cs typeface="DM Sans" pitchFamily="34" charset="-120"/>
              </a:rPr>
              <a:t>K-Nearest Neighbors (KNN)</a:t>
            </a:r>
            <a:r>
              <a:rPr lang="en-US" dirty="0">
                <a:solidFill>
                  <a:srgbClr val="383838"/>
                </a:solidFill>
                <a:latin typeface="PT Serif" panose="020A0603040505020204" pitchFamily="18" charset="0"/>
                <a:ea typeface="DM Sans" pitchFamily="34" charset="-122"/>
                <a:cs typeface="DM Sans" pitchFamily="34" charset="-120"/>
              </a:rPr>
              <a:t> • </a:t>
            </a:r>
            <a:r>
              <a:rPr lang="en-US" b="1" dirty="0">
                <a:solidFill>
                  <a:srgbClr val="383838"/>
                </a:solidFill>
                <a:latin typeface="PT Serif" panose="020A0603040505020204" pitchFamily="18" charset="0"/>
                <a:ea typeface="DM Sans" pitchFamily="34" charset="-122"/>
                <a:cs typeface="DM Sans" pitchFamily="34" charset="-120"/>
              </a:rPr>
              <a:t>Support Vector Machines (SVM)</a:t>
            </a:r>
            <a:r>
              <a:rPr lang="en-US" dirty="0">
                <a:solidFill>
                  <a:srgbClr val="383838"/>
                </a:solidFill>
                <a:latin typeface="PT Serif" panose="020A0603040505020204" pitchFamily="18" charset="0"/>
                <a:ea typeface="DM Sans" pitchFamily="34" charset="-122"/>
                <a:cs typeface="DM Sans" pitchFamily="34" charset="-120"/>
              </a:rPr>
              <a:t> • </a:t>
            </a:r>
            <a:r>
              <a:rPr lang="en-US" b="1" dirty="0">
                <a:solidFill>
                  <a:srgbClr val="383838"/>
                </a:solidFill>
                <a:latin typeface="PT Serif" panose="020A0603040505020204" pitchFamily="18" charset="0"/>
                <a:ea typeface="DM Sans" pitchFamily="34" charset="-122"/>
                <a:cs typeface="DM Sans" pitchFamily="34" charset="-120"/>
              </a:rPr>
              <a:t>Decision Trees</a:t>
            </a:r>
            <a:r>
              <a:rPr lang="en-US" dirty="0">
                <a:solidFill>
                  <a:srgbClr val="383838"/>
                </a:solidFill>
                <a:latin typeface="PT Serif" panose="020A0603040505020204" pitchFamily="18" charset="0"/>
                <a:ea typeface="DM Sans" pitchFamily="34" charset="-122"/>
                <a:cs typeface="DM Sans" pitchFamily="34" charset="-120"/>
              </a:rPr>
              <a:t> • </a:t>
            </a:r>
            <a:r>
              <a:rPr lang="en-US" b="1" dirty="0">
                <a:solidFill>
                  <a:srgbClr val="383838"/>
                </a:solidFill>
                <a:latin typeface="PT Serif" panose="020A0603040505020204" pitchFamily="18" charset="0"/>
                <a:ea typeface="DM Sans" pitchFamily="34" charset="-122"/>
                <a:cs typeface="DM Sans" pitchFamily="34" charset="-120"/>
              </a:rPr>
              <a:t>Random Forest</a:t>
            </a:r>
            <a:r>
              <a:rPr lang="en-US" dirty="0">
                <a:solidFill>
                  <a:srgbClr val="383838"/>
                </a:solidFill>
                <a:latin typeface="PT Serif" panose="020A0603040505020204" pitchFamily="18" charset="0"/>
                <a:ea typeface="DM Sans" pitchFamily="34" charset="-122"/>
                <a:cs typeface="DM Sans" pitchFamily="34" charset="-120"/>
              </a:rPr>
              <a:t> • </a:t>
            </a:r>
            <a:r>
              <a:rPr lang="en-US" b="1" dirty="0">
                <a:solidFill>
                  <a:srgbClr val="383838"/>
                </a:solidFill>
                <a:latin typeface="PT Serif" panose="020A0603040505020204" pitchFamily="18" charset="0"/>
                <a:ea typeface="DM Sans" pitchFamily="34" charset="-122"/>
                <a:cs typeface="DM Sans" pitchFamily="34" charset="-120"/>
              </a:rPr>
              <a:t>Neural Networks</a:t>
            </a:r>
            <a:endParaRPr lang="en-US" b="1" dirty="0">
              <a:latin typeface="PT Serif" panose="020A0603040505020204" pitchFamily="18" charset="0"/>
            </a:endParaRPr>
          </a:p>
          <a:p>
            <a:pPr marL="0" indent="0" algn="l">
              <a:lnSpc>
                <a:spcPts val="2900"/>
              </a:lnSpc>
              <a:buNone/>
            </a:pPr>
            <a:endParaRPr lang="en-US" dirty="0">
              <a:latin typeface="PT Serif" panose="020A0603040505020204" pitchFamily="18" charset="0"/>
            </a:endParaRPr>
          </a:p>
        </p:txBody>
      </p:sp>
    </p:spTree>
    <p:extLst>
      <p:ext uri="{BB962C8B-B14F-4D97-AF65-F5344CB8AC3E}">
        <p14:creationId xmlns:p14="http://schemas.microsoft.com/office/powerpoint/2010/main" val="954656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487172" y="533400"/>
            <a:ext cx="13656055" cy="562013"/>
          </a:xfrm>
        </p:spPr>
        <p:txBody>
          <a:bodyPr/>
          <a:lstStyle/>
          <a:p>
            <a:pPr marL="0" indent="0" algn="l">
              <a:lnSpc>
                <a:spcPts val="4600"/>
              </a:lnSpc>
              <a:buNone/>
            </a:pPr>
            <a:r>
              <a:rPr lang="en-US" sz="3600" dirty="0">
                <a:solidFill>
                  <a:srgbClr val="020202"/>
                </a:solidFill>
                <a:ea typeface="PT Serif" pitchFamily="34" charset="-122"/>
                <a:cs typeface="PT Serif" pitchFamily="34" charset="-120"/>
              </a:rPr>
              <a:t>Unsupervised and Semi-Supervised Learning</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490050" y="1447800"/>
            <a:ext cx="6596549" cy="7573420"/>
          </a:xfrm>
        </p:spPr>
        <p:txBody>
          <a:bodyPr/>
          <a:lstStyle/>
          <a:p>
            <a:pPr marL="0" indent="0" algn="l">
              <a:lnSpc>
                <a:spcPct val="150000"/>
              </a:lnSpc>
              <a:buNone/>
            </a:pPr>
            <a:r>
              <a:rPr lang="en-US" sz="2400" dirty="0">
                <a:solidFill>
                  <a:srgbClr val="020202"/>
                </a:solidFill>
                <a:ea typeface="PT Serif" pitchFamily="34" charset="-122"/>
                <a:cs typeface="PT Serif" pitchFamily="34" charset="-120"/>
              </a:rPr>
              <a:t>Unsupervised Learning</a:t>
            </a:r>
            <a:endParaRPr lang="en-US" sz="2400" dirty="0"/>
          </a:p>
          <a:p>
            <a:pPr marL="0" indent="0" algn="l">
              <a:lnSpc>
                <a:spcPct val="150000"/>
              </a:lnSpc>
              <a:buNone/>
            </a:pPr>
            <a:endParaRPr lang="en-US" sz="1800" dirty="0">
              <a:solidFill>
                <a:srgbClr val="020202"/>
              </a:solidFill>
              <a:ea typeface="PT Serif" pitchFamily="34" charset="-122"/>
              <a:cs typeface="PT Serif" pitchFamily="34" charset="-120"/>
            </a:endParaRPr>
          </a:p>
          <a:p>
            <a:pPr marL="0" indent="0" algn="l">
              <a:lnSpc>
                <a:spcPct val="150000"/>
              </a:lnSpc>
              <a:buNone/>
            </a:pPr>
            <a:r>
              <a:rPr lang="en-US" sz="1800" dirty="0">
                <a:solidFill>
                  <a:srgbClr val="383838"/>
                </a:solidFill>
                <a:ea typeface="DM Sans" pitchFamily="34" charset="-122"/>
                <a:cs typeface="DM Sans" pitchFamily="34" charset="-120"/>
              </a:rPr>
              <a:t>Discovers hidden patterns and structures in unlabeled data without predefined categories or outcomes. The algorithm identifies natural groupings and relationships autonomously.</a:t>
            </a:r>
          </a:p>
          <a:p>
            <a:pPr marL="0" indent="0" algn="l">
              <a:lnSpc>
                <a:spcPct val="150000"/>
              </a:lnSpc>
              <a:buNone/>
            </a:pPr>
            <a:endParaRPr lang="en-US" sz="1800" dirty="0"/>
          </a:p>
          <a:p>
            <a:pPr algn="l">
              <a:lnSpc>
                <a:spcPct val="150000"/>
              </a:lnSpc>
            </a:pPr>
            <a:r>
              <a:rPr lang="en-US" sz="1800" dirty="0">
                <a:solidFill>
                  <a:srgbClr val="020202"/>
                </a:solidFill>
                <a:ea typeface="PT Serif" pitchFamily="34" charset="-122"/>
                <a:cs typeface="PT Serif" pitchFamily="34" charset="-120"/>
              </a:rPr>
              <a:t>Key Tasks:</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Clustering:</a:t>
            </a:r>
            <a:r>
              <a:rPr lang="en-US" sz="1800" dirty="0">
                <a:solidFill>
                  <a:srgbClr val="383838"/>
                </a:solidFill>
                <a:ea typeface="DM Sans" pitchFamily="34" charset="-122"/>
                <a:cs typeface="DM Sans" pitchFamily="34" charset="-120"/>
              </a:rPr>
              <a:t> Customer segmentation, market basket analysis, document grouping</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Dimensionality Reduction:</a:t>
            </a:r>
            <a:r>
              <a:rPr lang="en-US" sz="1800" dirty="0">
                <a:solidFill>
                  <a:srgbClr val="383838"/>
                </a:solidFill>
                <a:ea typeface="DM Sans" pitchFamily="34" charset="-122"/>
                <a:cs typeface="DM Sans" pitchFamily="34" charset="-120"/>
              </a:rPr>
              <a:t> Data compression, feature extraction (PCA, t-SNE)</a:t>
            </a:r>
            <a:endParaRPr lang="en-US" sz="1800" dirty="0"/>
          </a:p>
          <a:p>
            <a:pPr marL="285750" indent="-285750" algn="l">
              <a:lnSpc>
                <a:spcPct val="150000"/>
              </a:lnSpc>
              <a:buFont typeface="Arial" panose="020B0604020202020204" pitchFamily="34" charset="0"/>
              <a:buChar char="•"/>
            </a:pPr>
            <a:r>
              <a:rPr lang="en-US" sz="1800" b="1" dirty="0">
                <a:solidFill>
                  <a:srgbClr val="383838"/>
                </a:solidFill>
                <a:ea typeface="DM Sans" pitchFamily="34" charset="-122"/>
                <a:cs typeface="DM Sans" pitchFamily="34" charset="-120"/>
              </a:rPr>
              <a:t>Anomaly Detection:</a:t>
            </a:r>
            <a:r>
              <a:rPr lang="en-US" sz="1800" dirty="0">
                <a:solidFill>
                  <a:srgbClr val="383838"/>
                </a:solidFill>
                <a:ea typeface="DM Sans" pitchFamily="34" charset="-122"/>
                <a:cs typeface="DM Sans" pitchFamily="34" charset="-120"/>
              </a:rPr>
              <a:t> Identifying unusual patterns or outliers</a:t>
            </a:r>
          </a:p>
          <a:p>
            <a:pPr algn="l">
              <a:lnSpc>
                <a:spcPct val="150000"/>
              </a:lnSpc>
            </a:pPr>
            <a:endParaRPr lang="en-US" sz="1800" dirty="0"/>
          </a:p>
          <a:p>
            <a:pPr algn="l">
              <a:lnSpc>
                <a:spcPct val="150000"/>
              </a:lnSpc>
            </a:pPr>
            <a:r>
              <a:rPr lang="en-US" sz="1800" b="1" dirty="0">
                <a:solidFill>
                  <a:srgbClr val="383838"/>
                </a:solidFill>
                <a:ea typeface="DM Sans" pitchFamily="34" charset="-122"/>
                <a:cs typeface="DM Sans" pitchFamily="34" charset="-120"/>
              </a:rPr>
              <a:t>Algorithms:</a:t>
            </a:r>
            <a:r>
              <a:rPr lang="en-US" sz="1800" dirty="0">
                <a:solidFill>
                  <a:srgbClr val="383838"/>
                </a:solidFill>
                <a:ea typeface="DM Sans" pitchFamily="34" charset="-122"/>
                <a:cs typeface="DM Sans" pitchFamily="34" charset="-120"/>
              </a:rPr>
              <a:t> K-Means, Hierarchical Clustering, DBSCAN, Principal Component Analysis</a:t>
            </a:r>
            <a:endParaRPr lang="en-US" sz="1800" dirty="0"/>
          </a:p>
          <a:p>
            <a:pPr algn="l">
              <a:lnSpc>
                <a:spcPct val="150000"/>
              </a:lnSpc>
            </a:pPr>
            <a:endParaRPr lang="en-US" sz="1800" dirty="0"/>
          </a:p>
          <a:p>
            <a:pPr marL="0" indent="0" algn="l">
              <a:lnSpc>
                <a:spcPct val="150000"/>
              </a:lnSpc>
              <a:buNone/>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776126" y="1447800"/>
            <a:ext cx="6364224" cy="6465424"/>
          </a:xfrm>
        </p:spPr>
        <p:txBody>
          <a:bodyPr/>
          <a:lstStyle/>
          <a:p>
            <a:pPr marL="0" indent="0" algn="l">
              <a:lnSpc>
                <a:spcPct val="150000"/>
              </a:lnSpc>
              <a:buNone/>
            </a:pPr>
            <a:r>
              <a:rPr lang="en-US" sz="2400" dirty="0">
                <a:solidFill>
                  <a:srgbClr val="020202"/>
                </a:solidFill>
                <a:ea typeface="PT Serif" pitchFamily="34" charset="-122"/>
                <a:cs typeface="PT Serif" pitchFamily="34" charset="-120"/>
              </a:rPr>
              <a:t>Semi-Supervised Learning</a:t>
            </a:r>
          </a:p>
          <a:p>
            <a:pPr marL="0" indent="0" algn="l">
              <a:lnSpc>
                <a:spcPct val="150000"/>
              </a:lnSpc>
              <a:buNone/>
            </a:pPr>
            <a:endParaRPr lang="en-US" sz="2400" dirty="0">
              <a:solidFill>
                <a:srgbClr val="020202"/>
              </a:solidFill>
              <a:ea typeface="PT Serif" pitchFamily="34" charset="-122"/>
              <a:cs typeface="PT Serif" pitchFamily="34" charset="-120"/>
            </a:endParaRPr>
          </a:p>
          <a:p>
            <a:pPr algn="l">
              <a:lnSpc>
                <a:spcPct val="150000"/>
              </a:lnSpc>
            </a:pPr>
            <a:r>
              <a:rPr lang="en-US" sz="1800" dirty="0">
                <a:solidFill>
                  <a:srgbClr val="383838"/>
                </a:solidFill>
                <a:ea typeface="DM Sans" pitchFamily="34" charset="-122"/>
                <a:cs typeface="DM Sans" pitchFamily="34" charset="-120"/>
              </a:rPr>
              <a:t>Combines a small amount of labeled data with a large volume of unlabeled data, leveraging the structure in unlabeled data to improve learning efficiency when labeling is expensive or time-consuming.</a:t>
            </a:r>
          </a:p>
          <a:p>
            <a:pPr algn="l">
              <a:lnSpc>
                <a:spcPct val="150000"/>
              </a:lnSpc>
            </a:pPr>
            <a:endParaRPr lang="en-US" sz="1800" dirty="0"/>
          </a:p>
          <a:p>
            <a:pPr algn="l">
              <a:lnSpc>
                <a:spcPct val="150000"/>
              </a:lnSpc>
            </a:pPr>
            <a:r>
              <a:rPr lang="en-US" sz="1800" dirty="0">
                <a:solidFill>
                  <a:srgbClr val="020202"/>
                </a:solidFill>
                <a:ea typeface="PT Serif" pitchFamily="34" charset="-122"/>
                <a:cs typeface="PT Serif" pitchFamily="34" charset="-120"/>
              </a:rPr>
              <a:t>Ideal Applications:</a:t>
            </a:r>
            <a:endParaRPr lang="en-US" sz="1800" dirty="0"/>
          </a:p>
          <a:p>
            <a:pPr marL="285750" indent="-285750" algn="l">
              <a:lnSpc>
                <a:spcPct val="150000"/>
              </a:lnSpc>
              <a:buFont typeface="Arial" panose="020B0604020202020204" pitchFamily="34" charset="0"/>
              <a:buChar char="•"/>
            </a:pPr>
            <a:r>
              <a:rPr lang="en-US" sz="1800" dirty="0">
                <a:solidFill>
                  <a:srgbClr val="383838"/>
                </a:solidFill>
                <a:ea typeface="DM Sans" pitchFamily="34" charset="-122"/>
                <a:cs typeface="DM Sans" pitchFamily="34" charset="-120"/>
              </a:rPr>
              <a:t>Medical image analysis (few expert-labeled scans)</a:t>
            </a:r>
            <a:endParaRPr lang="en-US" sz="1800" dirty="0"/>
          </a:p>
          <a:p>
            <a:pPr marL="285750" indent="-285750" algn="l">
              <a:lnSpc>
                <a:spcPct val="150000"/>
              </a:lnSpc>
              <a:buFont typeface="Arial" panose="020B0604020202020204" pitchFamily="34" charset="0"/>
              <a:buChar char="•"/>
            </a:pPr>
            <a:r>
              <a:rPr lang="en-US" sz="1800" dirty="0">
                <a:solidFill>
                  <a:srgbClr val="383838"/>
                </a:solidFill>
                <a:ea typeface="DM Sans" pitchFamily="34" charset="-122"/>
                <a:cs typeface="DM Sans" pitchFamily="34" charset="-120"/>
              </a:rPr>
              <a:t>Web content classification (limited manual categorization)</a:t>
            </a:r>
            <a:endParaRPr lang="en-US" sz="1800" dirty="0"/>
          </a:p>
          <a:p>
            <a:pPr marL="285750" indent="-285750" algn="l">
              <a:lnSpc>
                <a:spcPct val="150000"/>
              </a:lnSpc>
              <a:buFont typeface="Arial" panose="020B0604020202020204" pitchFamily="34" charset="0"/>
              <a:buChar char="•"/>
            </a:pPr>
            <a:r>
              <a:rPr lang="en-US" sz="1800" dirty="0">
                <a:solidFill>
                  <a:srgbClr val="383838"/>
                </a:solidFill>
                <a:ea typeface="DM Sans" pitchFamily="34" charset="-122"/>
                <a:cs typeface="DM Sans" pitchFamily="34" charset="-120"/>
              </a:rPr>
              <a:t>Speech recognition (expensive transcription process)</a:t>
            </a:r>
          </a:p>
          <a:p>
            <a:pPr algn="l">
              <a:lnSpc>
                <a:spcPct val="150000"/>
              </a:lnSpc>
            </a:pPr>
            <a:endParaRPr lang="en-US" sz="1800" dirty="0"/>
          </a:p>
          <a:p>
            <a:pPr algn="l">
              <a:lnSpc>
                <a:spcPct val="150000"/>
              </a:lnSpc>
            </a:pPr>
            <a:r>
              <a:rPr lang="en-US" sz="1800" dirty="0">
                <a:solidFill>
                  <a:srgbClr val="383838"/>
                </a:solidFill>
                <a:ea typeface="DM Sans" pitchFamily="34" charset="-122"/>
                <a:cs typeface="DM Sans" pitchFamily="34" charset="-120"/>
              </a:rPr>
              <a:t>This approach significantly reduces labeling costs while achieving performance close to fully supervised methods.</a:t>
            </a:r>
            <a:endParaRPr lang="en-US" sz="1800" dirty="0"/>
          </a:p>
          <a:p>
            <a:pPr marL="0" indent="0" algn="l">
              <a:lnSpc>
                <a:spcPct val="150000"/>
              </a:lnSpc>
              <a:buNone/>
            </a:pPr>
            <a:endParaRPr lang="en-US" sz="1800" dirty="0"/>
          </a:p>
        </p:txBody>
      </p:sp>
    </p:spTree>
    <p:extLst>
      <p:ext uri="{BB962C8B-B14F-4D97-AF65-F5344CB8AC3E}">
        <p14:creationId xmlns:p14="http://schemas.microsoft.com/office/powerpoint/2010/main" val="3604263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object 13">
            <a:extLst>
              <a:ext uri="{FF2B5EF4-FFF2-40B4-BE49-F238E27FC236}">
                <a16:creationId xmlns:a16="http://schemas.microsoft.com/office/drawing/2014/main" id="{3BFA5764-2014-D24C-E85A-5D16C3810773}"/>
              </a:ext>
            </a:extLst>
          </p:cNvPr>
          <p:cNvGrpSpPr/>
          <p:nvPr/>
        </p:nvGrpSpPr>
        <p:grpSpPr>
          <a:xfrm>
            <a:off x="1447947" y="2288245"/>
            <a:ext cx="5530189" cy="1447800"/>
            <a:chOff x="793788" y="4631308"/>
            <a:chExt cx="6437630" cy="2974340"/>
          </a:xfrm>
        </p:grpSpPr>
        <p:sp>
          <p:nvSpPr>
            <p:cNvPr id="29" name="object 14">
              <a:extLst>
                <a:ext uri="{FF2B5EF4-FFF2-40B4-BE49-F238E27FC236}">
                  <a16:creationId xmlns:a16="http://schemas.microsoft.com/office/drawing/2014/main" id="{C7FB98C3-1600-BF1B-4597-4A639D8C3D54}"/>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30" name="object 15">
              <a:extLst>
                <a:ext uri="{FF2B5EF4-FFF2-40B4-BE49-F238E27FC236}">
                  <a16:creationId xmlns:a16="http://schemas.microsoft.com/office/drawing/2014/main" id="{CAC3C633-7BFC-A867-7FC6-8390BA3D242E}"/>
                </a:ext>
              </a:extLst>
            </p:cNvPr>
            <p:cNvSpPr/>
            <p:nvPr/>
          </p:nvSpPr>
          <p:spPr>
            <a:xfrm>
              <a:off x="816648" y="4654165"/>
              <a:ext cx="6391910" cy="916406"/>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24" name="object 13">
            <a:extLst>
              <a:ext uri="{FF2B5EF4-FFF2-40B4-BE49-F238E27FC236}">
                <a16:creationId xmlns:a16="http://schemas.microsoft.com/office/drawing/2014/main" id="{9EDED71C-1B31-D97D-38B2-DAFD66018FF9}"/>
              </a:ext>
            </a:extLst>
          </p:cNvPr>
          <p:cNvGrpSpPr/>
          <p:nvPr/>
        </p:nvGrpSpPr>
        <p:grpSpPr>
          <a:xfrm>
            <a:off x="1467585" y="4062455"/>
            <a:ext cx="5530189" cy="1447800"/>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5"/>
              <a:ext cx="6391910" cy="916406"/>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grpSp>
        <p:nvGrpSpPr>
          <p:cNvPr id="31" name="object 13">
            <a:extLst>
              <a:ext uri="{FF2B5EF4-FFF2-40B4-BE49-F238E27FC236}">
                <a16:creationId xmlns:a16="http://schemas.microsoft.com/office/drawing/2014/main" id="{B9317075-BAD5-1679-5A9D-6A8F66172845}"/>
              </a:ext>
            </a:extLst>
          </p:cNvPr>
          <p:cNvGrpSpPr/>
          <p:nvPr/>
        </p:nvGrpSpPr>
        <p:grpSpPr>
          <a:xfrm>
            <a:off x="7577856" y="4084232"/>
            <a:ext cx="5530189" cy="1447800"/>
            <a:chOff x="793788" y="4631308"/>
            <a:chExt cx="6437630" cy="2974340"/>
          </a:xfrm>
        </p:grpSpPr>
        <p:sp>
          <p:nvSpPr>
            <p:cNvPr id="33" name="object 15">
              <a:extLst>
                <a:ext uri="{FF2B5EF4-FFF2-40B4-BE49-F238E27FC236}">
                  <a16:creationId xmlns:a16="http://schemas.microsoft.com/office/drawing/2014/main" id="{A19E66FB-2BE1-2E6A-D790-7B39CB284695}"/>
                </a:ext>
              </a:extLst>
            </p:cNvPr>
            <p:cNvSpPr/>
            <p:nvPr/>
          </p:nvSpPr>
          <p:spPr>
            <a:xfrm>
              <a:off x="816648" y="4654165"/>
              <a:ext cx="6391910" cy="916406"/>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sp>
          <p:nvSpPr>
            <p:cNvPr id="32" name="object 14">
              <a:extLst>
                <a:ext uri="{FF2B5EF4-FFF2-40B4-BE49-F238E27FC236}">
                  <a16:creationId xmlns:a16="http://schemas.microsoft.com/office/drawing/2014/main" id="{D0AEAC22-3D31-DF95-B9EA-03DE983B5C7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grpSp>
      <p:grpSp>
        <p:nvGrpSpPr>
          <p:cNvPr id="34" name="object 13">
            <a:extLst>
              <a:ext uri="{FF2B5EF4-FFF2-40B4-BE49-F238E27FC236}">
                <a16:creationId xmlns:a16="http://schemas.microsoft.com/office/drawing/2014/main" id="{B27D6D1E-9982-B6D1-C5A4-D162603B015C}"/>
              </a:ext>
            </a:extLst>
          </p:cNvPr>
          <p:cNvGrpSpPr/>
          <p:nvPr/>
        </p:nvGrpSpPr>
        <p:grpSpPr>
          <a:xfrm>
            <a:off x="7555833" y="2299371"/>
            <a:ext cx="5530189" cy="1447800"/>
            <a:chOff x="793788" y="4631308"/>
            <a:chExt cx="6437630" cy="2974340"/>
          </a:xfrm>
        </p:grpSpPr>
        <p:sp>
          <p:nvSpPr>
            <p:cNvPr id="35" name="object 14">
              <a:extLst>
                <a:ext uri="{FF2B5EF4-FFF2-40B4-BE49-F238E27FC236}">
                  <a16:creationId xmlns:a16="http://schemas.microsoft.com/office/drawing/2014/main" id="{69DD399D-C10B-3B91-1EF9-BA2B0958FF35}"/>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latin typeface="PT Serif" panose="020A0603040505020204" pitchFamily="18" charset="0"/>
              </a:endParaRPr>
            </a:p>
          </p:txBody>
        </p:sp>
        <p:sp>
          <p:nvSpPr>
            <p:cNvPr id="36" name="object 15">
              <a:extLst>
                <a:ext uri="{FF2B5EF4-FFF2-40B4-BE49-F238E27FC236}">
                  <a16:creationId xmlns:a16="http://schemas.microsoft.com/office/drawing/2014/main" id="{E43241CB-C4B7-20F4-E91E-217E1D374EA3}"/>
                </a:ext>
              </a:extLst>
            </p:cNvPr>
            <p:cNvSpPr/>
            <p:nvPr/>
          </p:nvSpPr>
          <p:spPr>
            <a:xfrm>
              <a:off x="816648" y="4654165"/>
              <a:ext cx="6391910" cy="916406"/>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latin typeface="PT Serif" panose="020A0603040505020204" pitchFamily="18" charset="0"/>
              </a:endParaRPr>
            </a:p>
          </p:txBody>
        </p:sp>
      </p:grpSp>
      <p:sp>
        <p:nvSpPr>
          <p:cNvPr id="2" name="object 2"/>
          <p:cNvSpPr txBox="1">
            <a:spLocks noGrp="1"/>
          </p:cNvSpPr>
          <p:nvPr>
            <p:ph type="title"/>
          </p:nvPr>
        </p:nvSpPr>
        <p:spPr>
          <a:xfrm>
            <a:off x="974345" y="-134046"/>
            <a:ext cx="13656055" cy="710323"/>
          </a:xfrm>
          <a:prstGeom prst="rect">
            <a:avLst/>
          </a:prstGeom>
          <a:noFill/>
        </p:spPr>
        <p:txBody>
          <a:bodyPr vert="horz" wrap="square" lIns="0" tIns="220853" rIns="0" bIns="0" rtlCol="0">
            <a:spAutoFit/>
          </a:bodyPr>
          <a:lstStyle/>
          <a:p>
            <a:pPr marL="0" indent="0" algn="l">
              <a:lnSpc>
                <a:spcPts val="3800"/>
              </a:lnSpc>
              <a:buNone/>
            </a:pPr>
            <a:r>
              <a:rPr lang="en-US" sz="3600" dirty="0">
                <a:solidFill>
                  <a:srgbClr val="020202"/>
                </a:solidFill>
                <a:latin typeface="PT Serif" pitchFamily="34" charset="0"/>
                <a:ea typeface="PT Serif" pitchFamily="34" charset="-122"/>
                <a:cs typeface="PT Serif" pitchFamily="34" charset="-120"/>
              </a:rPr>
              <a:t>Reinforcement Learning: Learning Through Experience</a:t>
            </a:r>
            <a:endParaRPr lang="en-US" sz="3600" dirty="0"/>
          </a:p>
        </p:txBody>
      </p:sp>
      <p:sp>
        <p:nvSpPr>
          <p:cNvPr id="8" name="Text 3">
            <a:extLst>
              <a:ext uri="{FF2B5EF4-FFF2-40B4-BE49-F238E27FC236}">
                <a16:creationId xmlns:a16="http://schemas.microsoft.com/office/drawing/2014/main" id="{A0D38183-3593-0CD5-9F87-5CFCC2BA96CD}"/>
              </a:ext>
            </a:extLst>
          </p:cNvPr>
          <p:cNvSpPr/>
          <p:nvPr/>
        </p:nvSpPr>
        <p:spPr>
          <a:xfrm>
            <a:off x="1697713" y="2365427"/>
            <a:ext cx="5161221" cy="4698301"/>
          </a:xfrm>
          <a:prstGeom prst="rect">
            <a:avLst/>
          </a:prstGeom>
          <a:noFill/>
          <a:ln/>
        </p:spPr>
        <p:txBody>
          <a:bodyPr wrap="square" lIns="0" tIns="0" rIns="0" bIns="0" rtlCol="0" anchor="t"/>
          <a:lstStyle/>
          <a:p>
            <a:pPr marL="0" indent="0" algn="ctr">
              <a:buNone/>
            </a:pPr>
            <a:r>
              <a:rPr lang="en-US" sz="2400" dirty="0">
                <a:solidFill>
                  <a:srgbClr val="383838"/>
                </a:solidFill>
                <a:latin typeface="PT Serif" panose="020A0603040505020204" pitchFamily="18" charset="0"/>
                <a:ea typeface="PT Serif" pitchFamily="34" charset="-122"/>
                <a:cs typeface="PT Serif" pitchFamily="34" charset="-120"/>
              </a:rPr>
              <a:t>State</a:t>
            </a:r>
            <a:endParaRPr lang="en-US" sz="2400" dirty="0">
              <a:latin typeface="PT Serif" panose="020A0603040505020204" pitchFamily="18" charset="0"/>
            </a:endParaRPr>
          </a:p>
          <a:p>
            <a:pPr algn="l"/>
            <a:endParaRPr lang="en-US" dirty="0">
              <a:solidFill>
                <a:srgbClr val="000000"/>
              </a:solidFill>
              <a:latin typeface="PT Serif" panose="020A0603040505020204" pitchFamily="18" charset="0"/>
            </a:endParaRPr>
          </a:p>
          <a:p>
            <a:pPr marL="0" indent="0" algn="l">
              <a:buNone/>
            </a:pPr>
            <a:r>
              <a:rPr lang="en-US" sz="1800" dirty="0">
                <a:solidFill>
                  <a:srgbClr val="383838"/>
                </a:solidFill>
                <a:latin typeface="PT Serif" panose="020A0603040505020204" pitchFamily="18" charset="0"/>
                <a:ea typeface="DM Sans" pitchFamily="34" charset="-122"/>
                <a:cs typeface="DM Sans" pitchFamily="34" charset="-120"/>
              </a:rPr>
              <a:t>Current situation or environment the agent observes</a:t>
            </a:r>
            <a:endParaRPr lang="en-US" sz="1800" dirty="0">
              <a:latin typeface="PT Serif" panose="020A0603040505020204" pitchFamily="18" charset="0"/>
            </a:endParaRPr>
          </a:p>
          <a:p>
            <a:pPr algn="l"/>
            <a:endParaRPr lang="en-US" dirty="0">
              <a:solidFill>
                <a:srgbClr val="000000"/>
              </a:solidFill>
              <a:latin typeface="PT Serif" panose="020A0603040505020204" pitchFamily="18" charset="0"/>
            </a:endParaRPr>
          </a:p>
          <a:p>
            <a:pPr algn="l"/>
            <a:endParaRPr lang="en-US" dirty="0">
              <a:solidFill>
                <a:srgbClr val="000000"/>
              </a:solidFill>
              <a:latin typeface="PT Serif" panose="020A0603040505020204" pitchFamily="18" charset="0"/>
            </a:endParaRPr>
          </a:p>
          <a:p>
            <a:pPr marL="0" indent="0" algn="ctr">
              <a:buNone/>
            </a:pPr>
            <a:r>
              <a:rPr lang="en-US" sz="2400" dirty="0">
                <a:solidFill>
                  <a:srgbClr val="383838"/>
                </a:solidFill>
                <a:latin typeface="PT Serif" panose="020A0603040505020204" pitchFamily="18" charset="0"/>
                <a:ea typeface="PT Serif" pitchFamily="34" charset="-122"/>
                <a:cs typeface="PT Serif" pitchFamily="34" charset="-120"/>
              </a:rPr>
              <a:t>Reward</a:t>
            </a:r>
            <a:endParaRPr lang="en-US" sz="2400" dirty="0">
              <a:latin typeface="PT Serif" panose="020A0603040505020204" pitchFamily="18" charset="0"/>
            </a:endParaRPr>
          </a:p>
          <a:p>
            <a:pPr algn="l"/>
            <a:endParaRPr lang="en-US" dirty="0">
              <a:solidFill>
                <a:srgbClr val="383838"/>
              </a:solidFill>
              <a:latin typeface="PT Serif" panose="020A0603040505020204" pitchFamily="18" charset="0"/>
            </a:endParaRPr>
          </a:p>
          <a:p>
            <a:pPr marL="0" indent="0" algn="l">
              <a:buNone/>
            </a:pPr>
            <a:r>
              <a:rPr lang="en-US" sz="1800" dirty="0">
                <a:solidFill>
                  <a:srgbClr val="383838"/>
                </a:solidFill>
                <a:latin typeface="PT Serif" panose="020A0603040505020204" pitchFamily="18" charset="0"/>
                <a:ea typeface="DM Sans" pitchFamily="34" charset="-122"/>
                <a:cs typeface="DM Sans" pitchFamily="34" charset="-120"/>
              </a:rPr>
              <a:t>Feedback signal indicating action quality</a:t>
            </a:r>
            <a:endParaRPr lang="en-US" sz="1800" dirty="0">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895102" y="2366809"/>
            <a:ext cx="4910279" cy="4698301"/>
          </a:xfrm>
          <a:prstGeom prst="rect">
            <a:avLst/>
          </a:prstGeom>
          <a:noFill/>
          <a:ln/>
        </p:spPr>
        <p:txBody>
          <a:bodyPr wrap="square" lIns="0" tIns="0" rIns="0" bIns="0" rtlCol="0" anchor="t"/>
          <a:lstStyle/>
          <a:p>
            <a:pPr marL="0" indent="0" algn="ctr">
              <a:buNone/>
            </a:pPr>
            <a:r>
              <a:rPr lang="en-US" sz="2400" dirty="0">
                <a:solidFill>
                  <a:srgbClr val="383838"/>
                </a:solidFill>
                <a:latin typeface="PT Serif" panose="020A0603040505020204" pitchFamily="18" charset="0"/>
                <a:ea typeface="PT Serif" pitchFamily="34" charset="-122"/>
                <a:cs typeface="PT Serif" pitchFamily="34" charset="-120"/>
              </a:rPr>
              <a:t>Action</a:t>
            </a:r>
            <a:endParaRPr lang="en-US" sz="2400" dirty="0">
              <a:latin typeface="PT Serif" panose="020A0603040505020204" pitchFamily="18" charset="0"/>
            </a:endParaRPr>
          </a:p>
          <a:p>
            <a:pPr marL="0" indent="0" algn="l">
              <a:buNone/>
            </a:pPr>
            <a:endParaRPr lang="en-US" dirty="0">
              <a:solidFill>
                <a:srgbClr val="000000"/>
              </a:solidFill>
              <a:latin typeface="PT Serif" panose="020A0603040505020204" pitchFamily="18" charset="0"/>
            </a:endParaRPr>
          </a:p>
          <a:p>
            <a:pPr marL="0" indent="0" algn="l">
              <a:buNone/>
            </a:pPr>
            <a:r>
              <a:rPr lang="en-US" sz="1800" dirty="0">
                <a:solidFill>
                  <a:srgbClr val="383838"/>
                </a:solidFill>
                <a:latin typeface="PT Serif" panose="020A0603040505020204" pitchFamily="18" charset="0"/>
                <a:ea typeface="DM Sans" pitchFamily="34" charset="-122"/>
                <a:cs typeface="DM Sans" pitchFamily="34" charset="-120"/>
              </a:rPr>
              <a:t>Decision or move the agent makes in response</a:t>
            </a:r>
            <a:endParaRPr lang="en-US" sz="1800" dirty="0">
              <a:latin typeface="PT Serif" panose="020A0603040505020204" pitchFamily="18" charset="0"/>
            </a:endParaRPr>
          </a:p>
          <a:p>
            <a:pPr marL="0" indent="0" algn="l">
              <a:buNone/>
            </a:pPr>
            <a:endParaRPr lang="en-US" dirty="0">
              <a:solidFill>
                <a:srgbClr val="000000"/>
              </a:solidFill>
              <a:latin typeface="PT Serif" panose="020A0603040505020204" pitchFamily="18" charset="0"/>
            </a:endParaRPr>
          </a:p>
          <a:p>
            <a:pPr marL="0" indent="0" algn="l">
              <a:buNone/>
            </a:pPr>
            <a:endParaRPr lang="en-US" dirty="0">
              <a:solidFill>
                <a:srgbClr val="000000"/>
              </a:solidFill>
              <a:latin typeface="PT Serif" panose="020A0603040505020204" pitchFamily="18" charset="0"/>
            </a:endParaRPr>
          </a:p>
          <a:p>
            <a:pPr marL="0" indent="0" algn="l">
              <a:buNone/>
            </a:pPr>
            <a:endParaRPr lang="en-US" dirty="0">
              <a:solidFill>
                <a:srgbClr val="000000"/>
              </a:solidFill>
              <a:latin typeface="PT Serif" panose="020A0603040505020204" pitchFamily="18" charset="0"/>
            </a:endParaRPr>
          </a:p>
          <a:p>
            <a:pPr marL="0" indent="0" algn="ctr">
              <a:buNone/>
            </a:pPr>
            <a:r>
              <a:rPr lang="en-US" sz="2400" dirty="0">
                <a:solidFill>
                  <a:srgbClr val="383838"/>
                </a:solidFill>
                <a:latin typeface="PT Serif" panose="020A0603040505020204" pitchFamily="18" charset="0"/>
                <a:ea typeface="PT Serif" pitchFamily="34" charset="-122"/>
                <a:cs typeface="PT Serif" pitchFamily="34" charset="-120"/>
              </a:rPr>
              <a:t>Learning</a:t>
            </a:r>
            <a:endParaRPr lang="en-US" sz="2400" dirty="0">
              <a:latin typeface="PT Serif" panose="020A0603040505020204" pitchFamily="18" charset="0"/>
            </a:endParaRPr>
          </a:p>
          <a:p>
            <a:pPr marL="0" indent="0" algn="ctr">
              <a:buNone/>
            </a:pPr>
            <a:endParaRPr lang="en-US" sz="2400" dirty="0">
              <a:latin typeface="PT Serif" panose="020A0603040505020204" pitchFamily="18" charset="0"/>
            </a:endParaRPr>
          </a:p>
          <a:p>
            <a:pPr algn="l"/>
            <a:r>
              <a:rPr lang="en-US" sz="1800" dirty="0">
                <a:solidFill>
                  <a:srgbClr val="383838"/>
                </a:solidFill>
                <a:latin typeface="PT Serif" panose="020A0603040505020204" pitchFamily="18" charset="0"/>
                <a:ea typeface="DM Sans" pitchFamily="34" charset="-122"/>
                <a:cs typeface="DM Sans" pitchFamily="34" charset="-120"/>
              </a:rPr>
              <a:t>Agent adjusts strategy to maximize cumulative rewards</a:t>
            </a:r>
            <a:endParaRPr lang="en-US" sz="1800" dirty="0">
              <a:latin typeface="PT Serif" panose="020A0603040505020204" pitchFamily="18" charset="0"/>
            </a:endParaRPr>
          </a:p>
        </p:txBody>
      </p:sp>
      <p:sp>
        <p:nvSpPr>
          <p:cNvPr id="28" name="TextBox 27">
            <a:extLst>
              <a:ext uri="{FF2B5EF4-FFF2-40B4-BE49-F238E27FC236}">
                <a16:creationId xmlns:a16="http://schemas.microsoft.com/office/drawing/2014/main" id="{E743F1EE-D911-93FE-0ECE-2F302D7CE145}"/>
              </a:ext>
            </a:extLst>
          </p:cNvPr>
          <p:cNvSpPr txBox="1"/>
          <p:nvPr/>
        </p:nvSpPr>
        <p:spPr>
          <a:xfrm>
            <a:off x="877036" y="829799"/>
            <a:ext cx="11958046" cy="966418"/>
          </a:xfrm>
          <a:prstGeom prst="rect">
            <a:avLst/>
          </a:prstGeom>
          <a:noFill/>
        </p:spPr>
        <p:txBody>
          <a:bodyPr wrap="square">
            <a:spAutoFit/>
          </a:bodyPr>
          <a:lstStyle/>
          <a:p>
            <a:pPr marL="0" indent="0" algn="l">
              <a:lnSpc>
                <a:spcPts val="2300"/>
              </a:lnSpc>
              <a:buNone/>
            </a:pPr>
            <a:r>
              <a:rPr lang="en-US" sz="1800" dirty="0">
                <a:solidFill>
                  <a:srgbClr val="383838"/>
                </a:solidFill>
                <a:latin typeface="DM Sans" pitchFamily="34" charset="0"/>
                <a:ea typeface="DM Sans" pitchFamily="34" charset="-122"/>
                <a:cs typeface="DM Sans" pitchFamily="34" charset="-120"/>
              </a:rPr>
              <a:t>Reinforcement Learning (RL) represents a fundamentally different learning paradigm where an agent learns optimal behavior through trial and error, receiving rewards or penalties based on its actions. Unlike supervised learning, there are no labeled examples—the agent must discover which actions yield the highest rewards.</a:t>
            </a:r>
            <a:endParaRPr lang="en-US" sz="1800" dirty="0"/>
          </a:p>
        </p:txBody>
      </p:sp>
      <p:sp>
        <p:nvSpPr>
          <p:cNvPr id="37" name="TextBox 36">
            <a:extLst>
              <a:ext uri="{FF2B5EF4-FFF2-40B4-BE49-F238E27FC236}">
                <a16:creationId xmlns:a16="http://schemas.microsoft.com/office/drawing/2014/main" id="{94FC7CE7-1D24-67F6-AC5D-EC22C4523CB2}"/>
              </a:ext>
            </a:extLst>
          </p:cNvPr>
          <p:cNvSpPr txBox="1"/>
          <p:nvPr/>
        </p:nvSpPr>
        <p:spPr>
          <a:xfrm>
            <a:off x="1407832" y="5723841"/>
            <a:ext cx="10896453" cy="2679773"/>
          </a:xfrm>
          <a:prstGeom prst="rect">
            <a:avLst/>
          </a:prstGeom>
          <a:noFill/>
        </p:spPr>
        <p:txBody>
          <a:bodyPr wrap="square">
            <a:spAutoFit/>
          </a:bodyPr>
          <a:lstStyle/>
          <a:p>
            <a:pPr marL="0" indent="0" algn="l">
              <a:lnSpc>
                <a:spcPct val="150000"/>
              </a:lnSpc>
              <a:buNone/>
            </a:pPr>
            <a:r>
              <a:rPr lang="en-US" sz="2400" dirty="0">
                <a:solidFill>
                  <a:srgbClr val="020202"/>
                </a:solidFill>
                <a:latin typeface="PT Serif" panose="020A0603040505020204" pitchFamily="18" charset="0"/>
                <a:ea typeface="PT Serif" pitchFamily="34" charset="-122"/>
                <a:cs typeface="PT Serif" pitchFamily="34" charset="-120"/>
              </a:rPr>
              <a:t>Real-World Applications</a:t>
            </a:r>
          </a:p>
          <a:p>
            <a:pPr marL="285750" indent="-285750" algn="l">
              <a:lnSpc>
                <a:spcPct val="150000"/>
              </a:lnSpc>
              <a:buFont typeface="Arial" panose="020B0604020202020204" pitchFamily="34" charset="0"/>
              <a:buChar char="•"/>
            </a:pPr>
            <a:r>
              <a:rPr lang="en-US" sz="1800" b="1" dirty="0">
                <a:solidFill>
                  <a:srgbClr val="383838"/>
                </a:solidFill>
                <a:latin typeface="PT Serif" panose="020A0603040505020204" pitchFamily="18" charset="0"/>
                <a:ea typeface="DM Sans" pitchFamily="34" charset="-122"/>
                <a:cs typeface="DM Sans" pitchFamily="34" charset="-120"/>
              </a:rPr>
              <a:t>Robotics:</a:t>
            </a:r>
            <a:r>
              <a:rPr lang="en-US" sz="1800" dirty="0">
                <a:solidFill>
                  <a:srgbClr val="383838"/>
                </a:solidFill>
                <a:latin typeface="PT Serif" panose="020A0603040505020204" pitchFamily="18" charset="0"/>
                <a:ea typeface="DM Sans" pitchFamily="34" charset="-122"/>
                <a:cs typeface="DM Sans" pitchFamily="34" charset="-120"/>
              </a:rPr>
              <a:t> Teaching robots to navigate, manipulate objects, and perform complex tasks</a:t>
            </a:r>
            <a:endParaRPr lang="en-US" sz="1800" dirty="0">
              <a:latin typeface="PT Serif" panose="020A0603040505020204" pitchFamily="18" charset="0"/>
            </a:endParaRPr>
          </a:p>
          <a:p>
            <a:pPr marL="285750" indent="-285750" algn="l">
              <a:lnSpc>
                <a:spcPct val="150000"/>
              </a:lnSpc>
              <a:buFont typeface="Arial" panose="020B0604020202020204" pitchFamily="34" charset="0"/>
              <a:buChar char="•"/>
            </a:pPr>
            <a:r>
              <a:rPr lang="en-US" sz="1800" b="1" dirty="0">
                <a:solidFill>
                  <a:srgbClr val="383838"/>
                </a:solidFill>
                <a:latin typeface="PT Serif" panose="020A0603040505020204" pitchFamily="18" charset="0"/>
                <a:ea typeface="DM Sans" pitchFamily="34" charset="-122"/>
                <a:cs typeface="DM Sans" pitchFamily="34" charset="-120"/>
              </a:rPr>
              <a:t>Autonomous Vehicles:</a:t>
            </a:r>
            <a:r>
              <a:rPr lang="en-US" sz="1800" dirty="0">
                <a:solidFill>
                  <a:srgbClr val="383838"/>
                </a:solidFill>
                <a:latin typeface="PT Serif" panose="020A0603040505020204" pitchFamily="18" charset="0"/>
                <a:ea typeface="DM Sans" pitchFamily="34" charset="-122"/>
                <a:cs typeface="DM Sans" pitchFamily="34" charset="-120"/>
              </a:rPr>
              <a:t> Self-driving cars learning optimal driving strategies</a:t>
            </a:r>
            <a:endParaRPr lang="en-US" sz="1800" dirty="0">
              <a:latin typeface="PT Serif" panose="020A0603040505020204" pitchFamily="18" charset="0"/>
            </a:endParaRPr>
          </a:p>
          <a:p>
            <a:pPr marL="285750" indent="-285750" algn="l">
              <a:lnSpc>
                <a:spcPct val="150000"/>
              </a:lnSpc>
              <a:buFont typeface="Arial" panose="020B0604020202020204" pitchFamily="34" charset="0"/>
              <a:buChar char="•"/>
            </a:pPr>
            <a:r>
              <a:rPr lang="en-US" sz="1800" b="1" dirty="0">
                <a:solidFill>
                  <a:srgbClr val="383838"/>
                </a:solidFill>
                <a:latin typeface="PT Serif" panose="020A0603040505020204" pitchFamily="18" charset="0"/>
                <a:ea typeface="DM Sans" pitchFamily="34" charset="-122"/>
                <a:cs typeface="DM Sans" pitchFamily="34" charset="-120"/>
              </a:rPr>
              <a:t>Game Playing:</a:t>
            </a:r>
            <a:r>
              <a:rPr lang="en-US" sz="1800" dirty="0">
                <a:solidFill>
                  <a:srgbClr val="383838"/>
                </a:solidFill>
                <a:latin typeface="PT Serif" panose="020A0603040505020204" pitchFamily="18" charset="0"/>
                <a:ea typeface="DM Sans" pitchFamily="34" charset="-122"/>
                <a:cs typeface="DM Sans" pitchFamily="34" charset="-120"/>
              </a:rPr>
              <a:t> AlphaGo defeating world champions through self-play</a:t>
            </a:r>
            <a:endParaRPr lang="en-US" sz="1800" dirty="0">
              <a:latin typeface="PT Serif" panose="020A0603040505020204" pitchFamily="18" charset="0"/>
            </a:endParaRPr>
          </a:p>
          <a:p>
            <a:pPr marL="285750" indent="-285750" algn="l">
              <a:lnSpc>
                <a:spcPct val="150000"/>
              </a:lnSpc>
              <a:buFont typeface="Arial" panose="020B0604020202020204" pitchFamily="34" charset="0"/>
              <a:buChar char="•"/>
            </a:pPr>
            <a:r>
              <a:rPr lang="en-US" sz="1800" b="1" dirty="0">
                <a:solidFill>
                  <a:srgbClr val="383838"/>
                </a:solidFill>
                <a:latin typeface="PT Serif" panose="020A0603040505020204" pitchFamily="18" charset="0"/>
                <a:ea typeface="DM Sans" pitchFamily="34" charset="-122"/>
                <a:cs typeface="DM Sans" pitchFamily="34" charset="-120"/>
              </a:rPr>
              <a:t>Resource Management:</a:t>
            </a:r>
            <a:r>
              <a:rPr lang="en-US" sz="1800" dirty="0">
                <a:solidFill>
                  <a:srgbClr val="383838"/>
                </a:solidFill>
                <a:latin typeface="PT Serif" panose="020A0603040505020204" pitchFamily="18" charset="0"/>
                <a:ea typeface="DM Sans" pitchFamily="34" charset="-122"/>
                <a:cs typeface="DM Sans" pitchFamily="34" charset="-120"/>
              </a:rPr>
              <a:t> Optimizing energy consumption, network routing, and inventory control</a:t>
            </a:r>
            <a:endParaRPr lang="en-US" sz="1800" dirty="0">
              <a:latin typeface="PT Serif" panose="020A0603040505020204" pitchFamily="18" charset="0"/>
            </a:endParaRPr>
          </a:p>
          <a:p>
            <a:pPr marL="0" indent="0" algn="l">
              <a:lnSpc>
                <a:spcPct val="150000"/>
              </a:lnSpc>
              <a:buNone/>
            </a:pPr>
            <a:endParaRPr lang="en-US" sz="1800" dirty="0">
              <a:latin typeface="PT Serif" panose="020A0603040505020204" pitchFamily="18" charset="0"/>
            </a:endParaRPr>
          </a:p>
        </p:txBody>
      </p:sp>
    </p:spTree>
    <p:extLst>
      <p:ext uri="{BB962C8B-B14F-4D97-AF65-F5344CB8AC3E}">
        <p14:creationId xmlns:p14="http://schemas.microsoft.com/office/powerpoint/2010/main" val="781260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53A50-7A71-1E5A-6CE2-1A108C414408}"/>
              </a:ext>
            </a:extLst>
          </p:cNvPr>
          <p:cNvSpPr>
            <a:spLocks noGrp="1"/>
          </p:cNvSpPr>
          <p:nvPr>
            <p:ph type="title"/>
          </p:nvPr>
        </p:nvSpPr>
        <p:spPr>
          <a:xfrm>
            <a:off x="900810" y="366915"/>
            <a:ext cx="13656055" cy="590867"/>
          </a:xfrm>
        </p:spPr>
        <p:txBody>
          <a:bodyPr/>
          <a:lstStyle/>
          <a:p>
            <a:pPr marL="0" indent="0" algn="l">
              <a:lnSpc>
                <a:spcPts val="4850"/>
              </a:lnSpc>
              <a:buNone/>
            </a:pPr>
            <a:r>
              <a:rPr lang="en-US" sz="3600" dirty="0">
                <a:solidFill>
                  <a:srgbClr val="020202"/>
                </a:solidFill>
                <a:latin typeface="PT Serif" pitchFamily="34" charset="0"/>
                <a:ea typeface="PT Serif" pitchFamily="34" charset="-122"/>
                <a:cs typeface="PT Serif" pitchFamily="34" charset="-120"/>
              </a:rPr>
              <a:t>ML Method Categories and Common Algorithms</a:t>
            </a:r>
            <a:endParaRPr lang="en-US" sz="3600" dirty="0"/>
          </a:p>
        </p:txBody>
      </p:sp>
      <p:sp>
        <p:nvSpPr>
          <p:cNvPr id="3" name="Text Placeholder 2">
            <a:extLst>
              <a:ext uri="{FF2B5EF4-FFF2-40B4-BE49-F238E27FC236}">
                <a16:creationId xmlns:a16="http://schemas.microsoft.com/office/drawing/2014/main" id="{5EEB25C3-4171-616C-6636-24FE271BCF65}"/>
              </a:ext>
            </a:extLst>
          </p:cNvPr>
          <p:cNvSpPr>
            <a:spLocks noGrp="1"/>
          </p:cNvSpPr>
          <p:nvPr>
            <p:ph type="body" idx="1"/>
          </p:nvPr>
        </p:nvSpPr>
        <p:spPr>
          <a:xfrm>
            <a:off x="938910" y="7086600"/>
            <a:ext cx="12663677" cy="737831"/>
          </a:xfrm>
        </p:spPr>
        <p:txBody>
          <a:bodyPr/>
          <a:lstStyle/>
          <a:p>
            <a:pPr marL="0" indent="0" algn="l">
              <a:lnSpc>
                <a:spcPts val="2950"/>
              </a:lnSpc>
              <a:buNone/>
            </a:pPr>
            <a:r>
              <a:rPr lang="en-US" sz="1800" dirty="0">
                <a:solidFill>
                  <a:srgbClr val="383838"/>
                </a:solidFill>
                <a:ea typeface="DM Sans" pitchFamily="34" charset="-122"/>
                <a:cs typeface="DM Sans" pitchFamily="34" charset="-120"/>
              </a:rPr>
              <a:t>Algorithm selection depends on problem type, data characteristics, interpretability requirements, and computational resources available. Often, practitioners experiment with multiple approaches to identify the best-performing solution.</a:t>
            </a:r>
            <a:endParaRPr lang="en-US" sz="1800" dirty="0"/>
          </a:p>
        </p:txBody>
      </p:sp>
      <p:graphicFrame>
        <p:nvGraphicFramePr>
          <p:cNvPr id="5" name="Table 5">
            <a:extLst>
              <a:ext uri="{FF2B5EF4-FFF2-40B4-BE49-F238E27FC236}">
                <a16:creationId xmlns:a16="http://schemas.microsoft.com/office/drawing/2014/main" id="{FE9A3823-5511-E90E-1560-24A98C132F45}"/>
              </a:ext>
            </a:extLst>
          </p:cNvPr>
          <p:cNvGraphicFramePr>
            <a:graphicFrameLocks noGrp="1"/>
          </p:cNvGraphicFramePr>
          <p:nvPr>
            <p:extLst>
              <p:ext uri="{D42A27DB-BD31-4B8C-83A1-F6EECF244321}">
                <p14:modId xmlns:p14="http://schemas.microsoft.com/office/powerpoint/2010/main" val="1368783081"/>
              </p:ext>
            </p:extLst>
          </p:nvPr>
        </p:nvGraphicFramePr>
        <p:xfrm>
          <a:off x="983360" y="1417320"/>
          <a:ext cx="12619227" cy="5151120"/>
        </p:xfrm>
        <a:graphic>
          <a:graphicData uri="http://schemas.openxmlformats.org/drawingml/2006/table">
            <a:tbl>
              <a:tblPr firstRow="1" bandRow="1">
                <a:tableStyleId>{7DF18680-E054-41AD-8BC1-D1AEF772440D}</a:tableStyleId>
              </a:tblPr>
              <a:tblGrid>
                <a:gridCol w="2750440">
                  <a:extLst>
                    <a:ext uri="{9D8B030D-6E8A-4147-A177-3AD203B41FA5}">
                      <a16:colId xmlns:a16="http://schemas.microsoft.com/office/drawing/2014/main" val="3472067982"/>
                    </a:ext>
                  </a:extLst>
                </a:gridCol>
                <a:gridCol w="5662378">
                  <a:extLst>
                    <a:ext uri="{9D8B030D-6E8A-4147-A177-3AD203B41FA5}">
                      <a16:colId xmlns:a16="http://schemas.microsoft.com/office/drawing/2014/main" val="1518835907"/>
                    </a:ext>
                  </a:extLst>
                </a:gridCol>
                <a:gridCol w="4206409">
                  <a:extLst>
                    <a:ext uri="{9D8B030D-6E8A-4147-A177-3AD203B41FA5}">
                      <a16:colId xmlns:a16="http://schemas.microsoft.com/office/drawing/2014/main" val="1586060006"/>
                    </a:ext>
                  </a:extLst>
                </a:gridCol>
              </a:tblGrid>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400" b="0" dirty="0">
                          <a:solidFill>
                            <a:srgbClr val="383838"/>
                          </a:solidFill>
                          <a:latin typeface="PT Serif" panose="020A0603040505020204" pitchFamily="18" charset="0"/>
                        </a:rPr>
                        <a:t>Category</a:t>
                      </a:r>
                      <a:endParaRPr lang="en-US" sz="2400" b="0" dirty="0">
                        <a:latin typeface="PT Serif" panose="020A0603040505020204" pitchFamily="18" charset="0"/>
                      </a:endParaRPr>
                    </a:p>
                    <a:p>
                      <a:endParaRPr lang="en-IN" sz="24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400" b="0" dirty="0">
                          <a:solidFill>
                            <a:srgbClr val="383838"/>
                          </a:solidFill>
                          <a:latin typeface="PT Serif" panose="020A0603040505020204" pitchFamily="18" charset="0"/>
                        </a:rPr>
                        <a:t>Representative Algorithms</a:t>
                      </a:r>
                      <a:endParaRPr lang="en-US" sz="2400" b="0" dirty="0">
                        <a:latin typeface="PT Serif" panose="020A0603040505020204" pitchFamily="18" charset="0"/>
                      </a:endParaRPr>
                    </a:p>
                    <a:p>
                      <a:endParaRPr lang="en-IN" sz="24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400" b="0" dirty="0">
                          <a:solidFill>
                            <a:srgbClr val="383838"/>
                          </a:solidFill>
                          <a:latin typeface="PT Serif" panose="020A0603040505020204" pitchFamily="18" charset="0"/>
                        </a:rPr>
                        <a:t>Primary Use Cases</a:t>
                      </a:r>
                      <a:endParaRPr lang="en-US" sz="2400" b="0" dirty="0">
                        <a:latin typeface="PT Serif" panose="020A0603040505020204" pitchFamily="18" charset="0"/>
                      </a:endParaRPr>
                    </a:p>
                    <a:p>
                      <a:endParaRPr lang="en-IN" sz="2400" b="0" dirty="0">
                        <a:latin typeface="PT Serif" panose="020A0603040505020204" pitchFamily="18" charset="0"/>
                      </a:endParaRPr>
                    </a:p>
                  </a:txBody>
                  <a:tcPr/>
                </a:tc>
                <a:extLst>
                  <a:ext uri="{0D108BD9-81ED-4DB2-BD59-A6C34878D82A}">
                    <a16:rowId xmlns:a16="http://schemas.microsoft.com/office/drawing/2014/main" val="3525559028"/>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dirty="0">
                          <a:solidFill>
                            <a:srgbClr val="383838"/>
                          </a:solidFill>
                          <a:latin typeface="PT Serif" panose="020A0603040505020204" pitchFamily="18" charset="0"/>
                        </a:rPr>
                        <a:t>Supervised Learning</a:t>
                      </a:r>
                      <a:endParaRPr lang="en-US" sz="2000" dirty="0">
                        <a:latin typeface="PT Serif" panose="020A0603040505020204" pitchFamily="18" charset="0"/>
                      </a:endParaRPr>
                    </a:p>
                    <a:p>
                      <a:endParaRPr lang="en-IN" sz="20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dirty="0">
                          <a:solidFill>
                            <a:srgbClr val="383838"/>
                          </a:solidFill>
                          <a:latin typeface="PT Serif" panose="020A0603040505020204" pitchFamily="18" charset="0"/>
                        </a:rPr>
                        <a:t>Linear Regression, Logistic Regression, SVM, KNN, Decision Trees, Random Forest, Gradient Boosting, Neural Networks</a:t>
                      </a:r>
                      <a:endParaRPr lang="en-US" sz="2000" dirty="0">
                        <a:latin typeface="PT Serif" panose="020A0603040505020204" pitchFamily="18" charset="0"/>
                      </a:endParaRPr>
                    </a:p>
                    <a:p>
                      <a:endParaRPr lang="en-IN" sz="2000" dirty="0">
                        <a:latin typeface="PT Serif" panose="020A0603040505020204" pitchFamily="18" charset="0"/>
                      </a:endParaRPr>
                    </a:p>
                  </a:txBody>
                  <a:tcPr/>
                </a:tc>
                <a:tc>
                  <a:txBody>
                    <a:bodyPr/>
                    <a:lstStyle/>
                    <a:p>
                      <a:pPr marL="0" indent="0" algn="l">
                        <a:lnSpc>
                          <a:spcPts val="2350"/>
                        </a:lnSpc>
                        <a:buNone/>
                      </a:pPr>
                      <a:r>
                        <a:rPr lang="en-US" sz="2000" dirty="0">
                          <a:solidFill>
                            <a:srgbClr val="383838"/>
                          </a:solidFill>
                          <a:latin typeface="PT Serif" panose="020A0603040505020204" pitchFamily="18" charset="0"/>
                        </a:rPr>
                        <a:t>Prediction and classification with labeled data</a:t>
                      </a:r>
                      <a:endParaRPr lang="en-US" sz="2000" dirty="0">
                        <a:latin typeface="PT Serif" panose="020A0603040505020204" pitchFamily="18" charset="0"/>
                      </a:endParaRPr>
                    </a:p>
                    <a:p>
                      <a:endParaRPr lang="en-IN" sz="2000" dirty="0">
                        <a:latin typeface="PT Serif" panose="020A0603040505020204" pitchFamily="18" charset="0"/>
                      </a:endParaRPr>
                    </a:p>
                  </a:txBody>
                  <a:tcPr/>
                </a:tc>
                <a:extLst>
                  <a:ext uri="{0D108BD9-81ED-4DB2-BD59-A6C34878D82A}">
                    <a16:rowId xmlns:a16="http://schemas.microsoft.com/office/drawing/2014/main" val="2890591714"/>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dirty="0">
                          <a:solidFill>
                            <a:srgbClr val="383838"/>
                          </a:solidFill>
                          <a:latin typeface="PT Serif" panose="020A0603040505020204" pitchFamily="18" charset="0"/>
                        </a:rPr>
                        <a:t>Unsupervised Learning</a:t>
                      </a:r>
                      <a:endParaRPr lang="en-US" sz="2000" dirty="0">
                        <a:latin typeface="PT Serif" panose="020A0603040505020204" pitchFamily="18" charset="0"/>
                      </a:endParaRPr>
                    </a:p>
                    <a:p>
                      <a:endParaRPr lang="en-IN" sz="20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dirty="0">
                          <a:solidFill>
                            <a:srgbClr val="383838"/>
                          </a:solidFill>
                          <a:latin typeface="PT Serif" panose="020A0603040505020204" pitchFamily="18" charset="0"/>
                        </a:rPr>
                        <a:t>K-Means Clustering, Hierarchical Clustering, PCA, t-SNE, DBSCAN, Autoencoders</a:t>
                      </a:r>
                      <a:endParaRPr lang="en-US" sz="2000" dirty="0">
                        <a:latin typeface="PT Serif" panose="020A0603040505020204" pitchFamily="18" charset="0"/>
                      </a:endParaRPr>
                    </a:p>
                    <a:p>
                      <a:endParaRPr lang="en-IN" sz="20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dirty="0">
                          <a:solidFill>
                            <a:srgbClr val="383838"/>
                          </a:solidFill>
                          <a:latin typeface="PT Serif" panose="020A0603040505020204" pitchFamily="18" charset="0"/>
                        </a:rPr>
                        <a:t>Pattern discovery and data exploration</a:t>
                      </a:r>
                      <a:endParaRPr lang="en-US" sz="2000" dirty="0">
                        <a:latin typeface="PT Serif" panose="020A0603040505020204" pitchFamily="18" charset="0"/>
                      </a:endParaRPr>
                    </a:p>
                    <a:p>
                      <a:endParaRPr lang="en-IN" sz="2000" dirty="0">
                        <a:latin typeface="PT Serif" panose="020A0603040505020204" pitchFamily="18" charset="0"/>
                      </a:endParaRPr>
                    </a:p>
                  </a:txBody>
                  <a:tcPr/>
                </a:tc>
                <a:extLst>
                  <a:ext uri="{0D108BD9-81ED-4DB2-BD59-A6C34878D82A}">
                    <a16:rowId xmlns:a16="http://schemas.microsoft.com/office/drawing/2014/main" val="1213847769"/>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dirty="0">
                          <a:solidFill>
                            <a:srgbClr val="383838"/>
                          </a:solidFill>
                          <a:latin typeface="PT Serif" panose="020A0603040505020204" pitchFamily="18" charset="0"/>
                        </a:rPr>
                        <a:t>Semi-Supervised</a:t>
                      </a:r>
                      <a:endParaRPr lang="en-US" sz="2000" dirty="0">
                        <a:latin typeface="PT Serif" panose="020A0603040505020204" pitchFamily="18" charset="0"/>
                      </a:endParaRPr>
                    </a:p>
                    <a:p>
                      <a:endParaRPr lang="en-IN" sz="20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dirty="0">
                          <a:solidFill>
                            <a:srgbClr val="383838"/>
                          </a:solidFill>
                          <a:latin typeface="PT Serif" panose="020A0603040505020204" pitchFamily="18" charset="0"/>
                        </a:rPr>
                        <a:t>Self-Training, Co-Training, Label Propagation, Generative Models</a:t>
                      </a:r>
                      <a:endParaRPr lang="en-US" sz="2000" dirty="0">
                        <a:latin typeface="PT Serif" panose="020A0603040505020204" pitchFamily="18" charset="0"/>
                      </a:endParaRPr>
                    </a:p>
                    <a:p>
                      <a:endParaRPr lang="en-IN" sz="20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dirty="0">
                          <a:solidFill>
                            <a:srgbClr val="383838"/>
                          </a:solidFill>
                          <a:latin typeface="PT Serif" panose="020A0603040505020204" pitchFamily="18" charset="0"/>
                        </a:rPr>
                        <a:t>Learning with limited labeled data</a:t>
                      </a:r>
                      <a:endParaRPr lang="en-US" sz="2000" dirty="0">
                        <a:latin typeface="PT Serif" panose="020A0603040505020204" pitchFamily="18" charset="0"/>
                      </a:endParaRPr>
                    </a:p>
                    <a:p>
                      <a:endParaRPr lang="en-IN" sz="2000" dirty="0">
                        <a:latin typeface="PT Serif" panose="020A0603040505020204" pitchFamily="18" charset="0"/>
                      </a:endParaRPr>
                    </a:p>
                  </a:txBody>
                  <a:tcPr/>
                </a:tc>
                <a:extLst>
                  <a:ext uri="{0D108BD9-81ED-4DB2-BD59-A6C34878D82A}">
                    <a16:rowId xmlns:a16="http://schemas.microsoft.com/office/drawing/2014/main" val="526368683"/>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dirty="0">
                          <a:solidFill>
                            <a:srgbClr val="383838"/>
                          </a:solidFill>
                          <a:latin typeface="PT Serif" panose="020A0603040505020204" pitchFamily="18" charset="0"/>
                        </a:rPr>
                        <a:t>Reinforcement Learning</a:t>
                      </a:r>
                      <a:endParaRPr lang="en-US" sz="2000" dirty="0">
                        <a:latin typeface="PT Serif" panose="020A0603040505020204" pitchFamily="18" charset="0"/>
                      </a:endParaRPr>
                    </a:p>
                    <a:p>
                      <a:endParaRPr lang="en-IN" sz="20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dirty="0">
                          <a:solidFill>
                            <a:srgbClr val="383838"/>
                          </a:solidFill>
                          <a:latin typeface="PT Serif" panose="020A0603040505020204" pitchFamily="18" charset="0"/>
                        </a:rPr>
                        <a:t>Q-Learning, Deep Q Networks (DQN), Policy Gradients, Actor-Critic, Monte Carlo Methods</a:t>
                      </a:r>
                      <a:endParaRPr lang="en-US" sz="2000" dirty="0">
                        <a:latin typeface="PT Serif" panose="020A0603040505020204" pitchFamily="18" charset="0"/>
                      </a:endParaRPr>
                    </a:p>
                    <a:p>
                      <a:endParaRPr lang="en-IN" sz="20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dirty="0">
                          <a:solidFill>
                            <a:srgbClr val="383838"/>
                          </a:solidFill>
                          <a:latin typeface="PT Serif" panose="020A0603040505020204" pitchFamily="18" charset="0"/>
                        </a:rPr>
                        <a:t>Sequential decision-making and optimization</a:t>
                      </a:r>
                      <a:endParaRPr lang="en-US" sz="2000" dirty="0">
                        <a:latin typeface="PT Serif" panose="020A0603040505020204" pitchFamily="18" charset="0"/>
                      </a:endParaRPr>
                    </a:p>
                    <a:p>
                      <a:endParaRPr lang="en-IN" sz="2000" dirty="0">
                        <a:latin typeface="PT Serif" panose="020A0603040505020204" pitchFamily="18" charset="0"/>
                      </a:endParaRPr>
                    </a:p>
                  </a:txBody>
                  <a:tcPr/>
                </a:tc>
                <a:extLst>
                  <a:ext uri="{0D108BD9-81ED-4DB2-BD59-A6C34878D82A}">
                    <a16:rowId xmlns:a16="http://schemas.microsoft.com/office/drawing/2014/main" val="3866259851"/>
                  </a:ext>
                </a:extLst>
              </a:tr>
            </a:tbl>
          </a:graphicData>
        </a:graphic>
      </p:graphicFrame>
    </p:spTree>
    <p:extLst>
      <p:ext uri="{BB962C8B-B14F-4D97-AF65-F5344CB8AC3E}">
        <p14:creationId xmlns:p14="http://schemas.microsoft.com/office/powerpoint/2010/main" val="2699326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53A50-7A71-1E5A-6CE2-1A108C414408}"/>
              </a:ext>
            </a:extLst>
          </p:cNvPr>
          <p:cNvSpPr>
            <a:spLocks noGrp="1"/>
          </p:cNvSpPr>
          <p:nvPr>
            <p:ph type="title"/>
          </p:nvPr>
        </p:nvSpPr>
        <p:spPr>
          <a:xfrm>
            <a:off x="900810" y="366915"/>
            <a:ext cx="13656055" cy="562013"/>
          </a:xfrm>
        </p:spPr>
        <p:txBody>
          <a:bodyPr/>
          <a:lstStyle/>
          <a:p>
            <a:pPr marL="0" indent="0" algn="l">
              <a:lnSpc>
                <a:spcPts val="4600"/>
              </a:lnSpc>
              <a:buNone/>
            </a:pPr>
            <a:r>
              <a:rPr lang="en-US" sz="3600" dirty="0">
                <a:solidFill>
                  <a:srgbClr val="020202"/>
                </a:solidFill>
                <a:ea typeface="PT Serif" pitchFamily="34" charset="-122"/>
                <a:cs typeface="PT Serif" pitchFamily="34" charset="-120"/>
              </a:rPr>
              <a:t>Classical Statistics vs Machine Learning</a:t>
            </a:r>
            <a:endParaRPr lang="en-US" sz="3600" dirty="0"/>
          </a:p>
        </p:txBody>
      </p:sp>
      <p:sp>
        <p:nvSpPr>
          <p:cNvPr id="3" name="Text Placeholder 2">
            <a:extLst>
              <a:ext uri="{FF2B5EF4-FFF2-40B4-BE49-F238E27FC236}">
                <a16:creationId xmlns:a16="http://schemas.microsoft.com/office/drawing/2014/main" id="{5EEB25C3-4171-616C-6636-24FE271BCF65}"/>
              </a:ext>
            </a:extLst>
          </p:cNvPr>
          <p:cNvSpPr>
            <a:spLocks noGrp="1"/>
          </p:cNvSpPr>
          <p:nvPr>
            <p:ph type="body" idx="1"/>
          </p:nvPr>
        </p:nvSpPr>
        <p:spPr>
          <a:xfrm>
            <a:off x="938910" y="7323369"/>
            <a:ext cx="12663677" cy="692947"/>
          </a:xfrm>
        </p:spPr>
        <p:txBody>
          <a:bodyPr/>
          <a:lstStyle/>
          <a:p>
            <a:pPr marL="0" indent="0" algn="l">
              <a:lnSpc>
                <a:spcPts val="2800"/>
              </a:lnSpc>
              <a:buNone/>
            </a:pPr>
            <a:r>
              <a:rPr lang="en-US" sz="1800" b="1" dirty="0">
                <a:solidFill>
                  <a:srgbClr val="383838"/>
                </a:solidFill>
                <a:ea typeface="DM Sans" pitchFamily="34" charset="-122"/>
                <a:cs typeface="DM Sans" pitchFamily="34" charset="-120"/>
              </a:rPr>
              <a:t>Key Insight:</a:t>
            </a:r>
            <a:r>
              <a:rPr lang="en-US" sz="1800" dirty="0">
                <a:solidFill>
                  <a:srgbClr val="383838"/>
                </a:solidFill>
                <a:ea typeface="DM Sans" pitchFamily="34" charset="-122"/>
                <a:cs typeface="DM Sans" pitchFamily="34" charset="-120"/>
              </a:rPr>
              <a:t> Statistics answers "Why?" while Machine Learning answers "What will happen?" Both approaches are valuable and often complementary in business analytics.</a:t>
            </a:r>
            <a:endParaRPr lang="en-US" sz="1800" dirty="0"/>
          </a:p>
        </p:txBody>
      </p:sp>
      <p:graphicFrame>
        <p:nvGraphicFramePr>
          <p:cNvPr id="4" name="Table 5">
            <a:extLst>
              <a:ext uri="{FF2B5EF4-FFF2-40B4-BE49-F238E27FC236}">
                <a16:creationId xmlns:a16="http://schemas.microsoft.com/office/drawing/2014/main" id="{91B1231D-EA05-6C0C-EEED-5915C38ABB5E}"/>
              </a:ext>
            </a:extLst>
          </p:cNvPr>
          <p:cNvGraphicFramePr>
            <a:graphicFrameLocks noGrp="1"/>
          </p:cNvGraphicFramePr>
          <p:nvPr>
            <p:extLst>
              <p:ext uri="{D42A27DB-BD31-4B8C-83A1-F6EECF244321}">
                <p14:modId xmlns:p14="http://schemas.microsoft.com/office/powerpoint/2010/main" val="3368692312"/>
              </p:ext>
            </p:extLst>
          </p:nvPr>
        </p:nvGraphicFramePr>
        <p:xfrm>
          <a:off x="983362" y="1138396"/>
          <a:ext cx="12663675" cy="6035040"/>
        </p:xfrm>
        <a:graphic>
          <a:graphicData uri="http://schemas.openxmlformats.org/drawingml/2006/table">
            <a:tbl>
              <a:tblPr firstRow="1" bandRow="1">
                <a:tableStyleId>{7DF18680-E054-41AD-8BC1-D1AEF772440D}</a:tableStyleId>
              </a:tblPr>
              <a:tblGrid>
                <a:gridCol w="4221225">
                  <a:extLst>
                    <a:ext uri="{9D8B030D-6E8A-4147-A177-3AD203B41FA5}">
                      <a16:colId xmlns:a16="http://schemas.microsoft.com/office/drawing/2014/main" val="2130217139"/>
                    </a:ext>
                  </a:extLst>
                </a:gridCol>
                <a:gridCol w="4221225">
                  <a:extLst>
                    <a:ext uri="{9D8B030D-6E8A-4147-A177-3AD203B41FA5}">
                      <a16:colId xmlns:a16="http://schemas.microsoft.com/office/drawing/2014/main" val="2888210823"/>
                    </a:ext>
                  </a:extLst>
                </a:gridCol>
                <a:gridCol w="4221225">
                  <a:extLst>
                    <a:ext uri="{9D8B030D-6E8A-4147-A177-3AD203B41FA5}">
                      <a16:colId xmlns:a16="http://schemas.microsoft.com/office/drawing/2014/main" val="3312997549"/>
                    </a:ext>
                  </a:extLst>
                </a:gridCol>
              </a:tblGrid>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400" b="0" dirty="0">
                          <a:solidFill>
                            <a:srgbClr val="383838"/>
                          </a:solidFill>
                          <a:latin typeface="PT Serif" panose="020A0603040505020204" pitchFamily="18" charset="0"/>
                        </a:rPr>
                        <a:t>Aspect</a:t>
                      </a:r>
                      <a:endParaRPr lang="en-US" sz="2400" b="0" dirty="0">
                        <a:latin typeface="PT Serif" panose="020A0603040505020204" pitchFamily="18" charset="0"/>
                      </a:endParaRPr>
                    </a:p>
                    <a:p>
                      <a:endParaRPr lang="en-IN" sz="24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400" b="0" dirty="0">
                          <a:solidFill>
                            <a:srgbClr val="383838"/>
                          </a:solidFill>
                          <a:latin typeface="PT Serif" panose="020A0603040505020204" pitchFamily="18" charset="0"/>
                        </a:rPr>
                        <a:t>Classical Statistics</a:t>
                      </a:r>
                      <a:endParaRPr lang="en-US" sz="2400" b="0" dirty="0">
                        <a:latin typeface="PT Serif" panose="020A0603040505020204" pitchFamily="18" charset="0"/>
                      </a:endParaRPr>
                    </a:p>
                    <a:p>
                      <a:endParaRPr lang="en-IN" sz="2400" b="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400" b="0" dirty="0">
                          <a:solidFill>
                            <a:srgbClr val="383838"/>
                          </a:solidFill>
                          <a:latin typeface="PT Serif" panose="020A0603040505020204" pitchFamily="18" charset="0"/>
                        </a:rPr>
                        <a:t>Machine Learning</a:t>
                      </a:r>
                      <a:endParaRPr lang="en-US" sz="2400" b="0" dirty="0">
                        <a:latin typeface="PT Serif" panose="020A0603040505020204" pitchFamily="18" charset="0"/>
                      </a:endParaRPr>
                    </a:p>
                    <a:p>
                      <a:endParaRPr lang="en-IN" sz="2400" b="0" dirty="0">
                        <a:latin typeface="PT Serif" panose="020A0603040505020204" pitchFamily="18" charset="0"/>
                      </a:endParaRPr>
                    </a:p>
                  </a:txBody>
                  <a:tcPr/>
                </a:tc>
                <a:extLst>
                  <a:ext uri="{0D108BD9-81ED-4DB2-BD59-A6C34878D82A}">
                    <a16:rowId xmlns:a16="http://schemas.microsoft.com/office/drawing/2014/main" val="3468232828"/>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Primary Goal</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Explanation, inference, and understanding relationships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Accurate prediction on unseen data</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2030134871"/>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Data Requirements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Works with small to medium datasets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Thrives on large datasets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2797937437"/>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Underlying Assumptions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Strong assumptions about data distribution and relationships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Minimal assumptions—let data reveal patterns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2651500511"/>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Interpretability</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High—clear understanding of variable relationships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Often low—"black box" models</a:t>
                      </a:r>
                      <a:endParaRPr lang="en-US" sz="1800" dirty="0">
                        <a:latin typeface="PT Serif" panose="020A0603040505020204" pitchFamily="18" charset="0"/>
                      </a:endParaRPr>
                    </a:p>
                    <a:p>
                      <a:r>
                        <a:rPr lang="en-IN" dirty="0">
                          <a:latin typeface="PT Serif" panose="020A0603040505020204" pitchFamily="18" charset="0"/>
                        </a:rPr>
                        <a:t> </a:t>
                      </a:r>
                    </a:p>
                  </a:txBody>
                  <a:tcPr/>
                </a:tc>
                <a:extLst>
                  <a:ext uri="{0D108BD9-81ED-4DB2-BD59-A6C34878D82A}">
                    <a16:rowId xmlns:a16="http://schemas.microsoft.com/office/drawing/2014/main" val="858713740"/>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Core Focus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Understanding why relationships exist</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Optimizing performance on future predictions</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3510488218"/>
                  </a:ext>
                </a:extLst>
              </a:tr>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Typical Questions</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"Why does X affect Y?" "Is this relationship significant?"</a:t>
                      </a:r>
                      <a:endParaRPr lang="en-US" sz="1800" dirty="0">
                        <a:latin typeface="PT Serif" panose="020A0603040505020204" pitchFamily="18" charset="0"/>
                      </a:endParaRPr>
                    </a:p>
                    <a:p>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383838"/>
                          </a:solidFill>
                          <a:latin typeface="PT Serif" panose="020A0603040505020204" pitchFamily="18" charset="0"/>
                        </a:rPr>
                        <a:t>"What will happen next?" "How accurate can we predict?"</a:t>
                      </a:r>
                      <a:endParaRPr lang="en-US" sz="1800" dirty="0">
                        <a:latin typeface="PT Serif" panose="020A0603040505020204" pitchFamily="18" charset="0"/>
                      </a:endParaRPr>
                    </a:p>
                    <a:p>
                      <a:endParaRPr lang="en-IN" dirty="0">
                        <a:latin typeface="PT Serif" panose="020A0603040505020204" pitchFamily="18" charset="0"/>
                      </a:endParaRPr>
                    </a:p>
                  </a:txBody>
                  <a:tcPr/>
                </a:tc>
                <a:extLst>
                  <a:ext uri="{0D108BD9-81ED-4DB2-BD59-A6C34878D82A}">
                    <a16:rowId xmlns:a16="http://schemas.microsoft.com/office/drawing/2014/main" val="1817195226"/>
                  </a:ext>
                </a:extLst>
              </a:tr>
            </a:tbl>
          </a:graphicData>
        </a:graphic>
      </p:graphicFrame>
    </p:spTree>
    <p:extLst>
      <p:ext uri="{BB962C8B-B14F-4D97-AF65-F5344CB8AC3E}">
        <p14:creationId xmlns:p14="http://schemas.microsoft.com/office/powerpoint/2010/main" val="3453346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487172" y="533400"/>
            <a:ext cx="13656055" cy="542777"/>
          </a:xfrm>
        </p:spPr>
        <p:txBody>
          <a:bodyPr/>
          <a:lstStyle/>
          <a:p>
            <a:pPr marL="0" indent="0" algn="l">
              <a:lnSpc>
                <a:spcPts val="4350"/>
              </a:lnSpc>
              <a:buNone/>
            </a:pPr>
            <a:r>
              <a:rPr lang="en-US" sz="3600" dirty="0">
                <a:solidFill>
                  <a:srgbClr val="020202"/>
                </a:solidFill>
                <a:ea typeface="PT Serif" pitchFamily="34" charset="-122"/>
                <a:cs typeface="PT Serif" pitchFamily="34" charset="-120"/>
              </a:rPr>
              <a:t>Real-World Case Studies</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490050" y="1447800"/>
            <a:ext cx="6596549" cy="6465424"/>
          </a:xfrm>
        </p:spPr>
        <p:txBody>
          <a:bodyPr/>
          <a:lstStyle/>
          <a:p>
            <a:pPr marL="0" indent="0" algn="l">
              <a:lnSpc>
                <a:spcPct val="150000"/>
              </a:lnSpc>
              <a:buNone/>
            </a:pPr>
            <a:r>
              <a:rPr lang="en-US" sz="2400" dirty="0">
                <a:solidFill>
                  <a:srgbClr val="020202"/>
                </a:solidFill>
                <a:ea typeface="PT Serif" pitchFamily="34" charset="-122"/>
                <a:cs typeface="PT Serif" pitchFamily="34" charset="-120"/>
              </a:rPr>
              <a:t>Case Study 1: Diabetes Prediction</a:t>
            </a:r>
          </a:p>
          <a:p>
            <a:pPr marL="0" indent="0" algn="l">
              <a:lnSpc>
                <a:spcPct val="150000"/>
              </a:lnSpc>
              <a:buNone/>
            </a:pPr>
            <a:endParaRPr lang="en-US" sz="2400" dirty="0">
              <a:solidFill>
                <a:srgbClr val="020202"/>
              </a:solidFill>
              <a:ea typeface="PT Serif" pitchFamily="34" charset="-122"/>
              <a:cs typeface="PT Serif" pitchFamily="34" charset="-120"/>
            </a:endParaRPr>
          </a:p>
          <a:p>
            <a:pPr algn="l">
              <a:lnSpc>
                <a:spcPct val="150000"/>
              </a:lnSpc>
            </a:pPr>
            <a:r>
              <a:rPr lang="en-US" sz="1800" b="1" dirty="0">
                <a:solidFill>
                  <a:srgbClr val="383838"/>
                </a:solidFill>
                <a:ea typeface="DM Sans" pitchFamily="34" charset="-122"/>
                <a:cs typeface="DM Sans" pitchFamily="34" charset="-120"/>
              </a:rPr>
              <a:t>Problem:</a:t>
            </a:r>
            <a:r>
              <a:rPr lang="en-US" sz="1800" dirty="0">
                <a:solidFill>
                  <a:srgbClr val="383838"/>
                </a:solidFill>
                <a:ea typeface="DM Sans" pitchFamily="34" charset="-122"/>
                <a:cs typeface="DM Sans" pitchFamily="34" charset="-120"/>
              </a:rPr>
              <a:t> Early identification of individuals at high risk for diabetes to enable preventive interventions.</a:t>
            </a:r>
            <a:endParaRPr lang="en-US" sz="1800" dirty="0"/>
          </a:p>
          <a:p>
            <a:pPr algn="l">
              <a:lnSpc>
                <a:spcPct val="150000"/>
              </a:lnSpc>
            </a:pPr>
            <a:r>
              <a:rPr lang="en-US" sz="1800" b="1" dirty="0">
                <a:solidFill>
                  <a:srgbClr val="383838"/>
                </a:solidFill>
                <a:ea typeface="DM Sans" pitchFamily="34" charset="-122"/>
                <a:cs typeface="DM Sans" pitchFamily="34" charset="-120"/>
              </a:rPr>
              <a:t>Input Features:</a:t>
            </a:r>
            <a:r>
              <a:rPr lang="en-US" sz="1800" dirty="0">
                <a:solidFill>
                  <a:srgbClr val="383838"/>
                </a:solidFill>
                <a:ea typeface="DM Sans" pitchFamily="34" charset="-122"/>
                <a:cs typeface="DM Sans" pitchFamily="34" charset="-120"/>
              </a:rPr>
              <a:t> Patient age, fasting glucose levels, BMI, blood pressure, family history, physical activity levels, and dietary habits.</a:t>
            </a:r>
            <a:endParaRPr lang="en-US" sz="1800" dirty="0"/>
          </a:p>
          <a:p>
            <a:pPr algn="l">
              <a:lnSpc>
                <a:spcPct val="150000"/>
              </a:lnSpc>
            </a:pPr>
            <a:r>
              <a:rPr lang="en-US" sz="1800" b="1" dirty="0">
                <a:solidFill>
                  <a:srgbClr val="383838"/>
                </a:solidFill>
                <a:ea typeface="DM Sans" pitchFamily="34" charset="-122"/>
                <a:cs typeface="DM Sans" pitchFamily="34" charset="-120"/>
              </a:rPr>
              <a:t>ML Approach:</a:t>
            </a:r>
            <a:r>
              <a:rPr lang="en-US" sz="1800" dirty="0">
                <a:solidFill>
                  <a:srgbClr val="383838"/>
                </a:solidFill>
                <a:ea typeface="DM Sans" pitchFamily="34" charset="-122"/>
                <a:cs typeface="DM Sans" pitchFamily="34" charset="-120"/>
              </a:rPr>
              <a:t> Logistic Regression and Random Forest models trained on historical patient data with known diabetes outcomes.</a:t>
            </a:r>
            <a:endParaRPr lang="en-US" sz="1800" dirty="0"/>
          </a:p>
          <a:p>
            <a:pPr algn="l">
              <a:lnSpc>
                <a:spcPct val="150000"/>
              </a:lnSpc>
            </a:pPr>
            <a:r>
              <a:rPr lang="en-US" sz="1800" b="1" dirty="0">
                <a:solidFill>
                  <a:srgbClr val="383838"/>
                </a:solidFill>
                <a:ea typeface="DM Sans" pitchFamily="34" charset="-122"/>
                <a:cs typeface="DM Sans" pitchFamily="34" charset="-120"/>
              </a:rPr>
              <a:t>Business Impact:</a:t>
            </a:r>
            <a:r>
              <a:rPr lang="en-US" sz="1800" dirty="0">
                <a:solidFill>
                  <a:srgbClr val="383838"/>
                </a:solidFill>
                <a:ea typeface="DM Sans" pitchFamily="34" charset="-122"/>
                <a:cs typeface="DM Sans" pitchFamily="34" charset="-120"/>
              </a:rPr>
              <a:t> Healthcare providers can conduct targeted early screenings, recommend lifestyle modifications, and allocate preventive care resources more effectively, reducing long-term treatment costs and improving patient outcomes.</a:t>
            </a:r>
            <a:endParaRPr lang="en-US" sz="1800" dirty="0"/>
          </a:p>
          <a:p>
            <a:pPr marL="0" indent="0" algn="l">
              <a:lnSpc>
                <a:spcPct val="150000"/>
              </a:lnSpc>
              <a:buNone/>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776126" y="1447800"/>
            <a:ext cx="6364224" cy="6880923"/>
          </a:xfrm>
        </p:spPr>
        <p:txBody>
          <a:bodyPr/>
          <a:lstStyle/>
          <a:p>
            <a:pPr marL="0" indent="0" algn="l">
              <a:lnSpc>
                <a:spcPct val="150000"/>
              </a:lnSpc>
              <a:buNone/>
            </a:pPr>
            <a:r>
              <a:rPr lang="en-US" sz="2400" dirty="0">
                <a:solidFill>
                  <a:srgbClr val="020202"/>
                </a:solidFill>
                <a:ea typeface="PT Serif" pitchFamily="34" charset="-122"/>
                <a:cs typeface="PT Serif" pitchFamily="34" charset="-120"/>
              </a:rPr>
              <a:t>Case Study 2: Telecom Churn Prediction</a:t>
            </a:r>
          </a:p>
          <a:p>
            <a:pPr marL="0" indent="0" algn="l">
              <a:lnSpc>
                <a:spcPct val="150000"/>
              </a:lnSpc>
              <a:buNone/>
            </a:pPr>
            <a:endParaRPr lang="en-US" sz="2400" dirty="0">
              <a:solidFill>
                <a:srgbClr val="020202"/>
              </a:solidFill>
              <a:ea typeface="PT Serif" pitchFamily="34" charset="-122"/>
              <a:cs typeface="PT Serif" pitchFamily="34" charset="-120"/>
            </a:endParaRPr>
          </a:p>
          <a:p>
            <a:pPr marL="0" indent="0" algn="l">
              <a:lnSpc>
                <a:spcPct val="150000"/>
              </a:lnSpc>
              <a:buNone/>
            </a:pPr>
            <a:r>
              <a:rPr lang="en-US" sz="1800" b="1" dirty="0">
                <a:solidFill>
                  <a:srgbClr val="383838"/>
                </a:solidFill>
                <a:ea typeface="DM Sans" pitchFamily="34" charset="-122"/>
                <a:cs typeface="DM Sans" pitchFamily="34" charset="-120"/>
              </a:rPr>
              <a:t>Problem:</a:t>
            </a:r>
            <a:r>
              <a:rPr lang="en-US" sz="1800" dirty="0">
                <a:solidFill>
                  <a:srgbClr val="383838"/>
                </a:solidFill>
                <a:ea typeface="DM Sans" pitchFamily="34" charset="-122"/>
                <a:cs typeface="DM Sans" pitchFamily="34" charset="-120"/>
              </a:rPr>
              <a:t> Identifying customers likely to cancel their service subscriptions before they leave.</a:t>
            </a:r>
            <a:endParaRPr lang="en-US" sz="1800" dirty="0"/>
          </a:p>
          <a:p>
            <a:pPr algn="l">
              <a:lnSpc>
                <a:spcPct val="150000"/>
              </a:lnSpc>
            </a:pPr>
            <a:r>
              <a:rPr lang="en-US" sz="1800" b="1" dirty="0">
                <a:solidFill>
                  <a:srgbClr val="383838"/>
                </a:solidFill>
                <a:ea typeface="DM Sans" pitchFamily="34" charset="-122"/>
                <a:cs typeface="DM Sans" pitchFamily="34" charset="-120"/>
              </a:rPr>
              <a:t>Input Features:</a:t>
            </a:r>
            <a:r>
              <a:rPr lang="en-US" sz="1800" dirty="0">
                <a:solidFill>
                  <a:srgbClr val="383838"/>
                </a:solidFill>
                <a:ea typeface="DM Sans" pitchFamily="34" charset="-122"/>
                <a:cs typeface="DM Sans" pitchFamily="34" charset="-120"/>
              </a:rPr>
              <a:t> Call patterns, data usage, customer service interactions, contract details, payment history, and demographic information.</a:t>
            </a:r>
            <a:endParaRPr lang="en-US" sz="1800" dirty="0"/>
          </a:p>
          <a:p>
            <a:pPr algn="l">
              <a:lnSpc>
                <a:spcPct val="150000"/>
              </a:lnSpc>
            </a:pPr>
            <a:r>
              <a:rPr lang="en-US" sz="1800" b="1" dirty="0">
                <a:solidFill>
                  <a:srgbClr val="383838"/>
                </a:solidFill>
                <a:ea typeface="DM Sans" pitchFamily="34" charset="-122"/>
                <a:cs typeface="DM Sans" pitchFamily="34" charset="-120"/>
              </a:rPr>
              <a:t>ML Approach:</a:t>
            </a:r>
            <a:r>
              <a:rPr lang="en-US" sz="1800" dirty="0">
                <a:solidFill>
                  <a:srgbClr val="383838"/>
                </a:solidFill>
                <a:ea typeface="DM Sans" pitchFamily="34" charset="-122"/>
                <a:cs typeface="DM Sans" pitchFamily="34" charset="-120"/>
              </a:rPr>
              <a:t> Classification models including Gradient Boosting and Neural Networks to predict churn probability for each customer.</a:t>
            </a:r>
            <a:endParaRPr lang="en-US" sz="1800" dirty="0"/>
          </a:p>
          <a:p>
            <a:pPr algn="l">
              <a:lnSpc>
                <a:spcPct val="150000"/>
              </a:lnSpc>
            </a:pPr>
            <a:r>
              <a:rPr lang="en-US" sz="1800" b="1" dirty="0">
                <a:solidFill>
                  <a:srgbClr val="383838"/>
                </a:solidFill>
                <a:ea typeface="DM Sans" pitchFamily="34" charset="-122"/>
                <a:cs typeface="DM Sans" pitchFamily="34" charset="-120"/>
              </a:rPr>
              <a:t>Business Impact:</a:t>
            </a:r>
            <a:r>
              <a:rPr lang="en-US" sz="1800" dirty="0">
                <a:solidFill>
                  <a:srgbClr val="383838"/>
                </a:solidFill>
                <a:ea typeface="DM Sans" pitchFamily="34" charset="-122"/>
                <a:cs typeface="DM Sans" pitchFamily="34" charset="-120"/>
              </a:rPr>
              <a:t> Telecommunications companies can design targeted retention strategies, offer personalized incentives to at-risk customers, and reduce customer acquisition costs by preventing churn—significantly improving customer lifetime value and revenue stability.</a:t>
            </a:r>
            <a:endParaRPr lang="en-US" sz="1800" dirty="0"/>
          </a:p>
          <a:p>
            <a:pPr marL="0" indent="0" algn="l">
              <a:lnSpc>
                <a:spcPct val="150000"/>
              </a:lnSpc>
              <a:buNone/>
            </a:pPr>
            <a:endParaRPr lang="en-US" sz="1800" dirty="0"/>
          </a:p>
        </p:txBody>
      </p:sp>
    </p:spTree>
    <p:extLst>
      <p:ext uri="{BB962C8B-B14F-4D97-AF65-F5344CB8AC3E}">
        <p14:creationId xmlns:p14="http://schemas.microsoft.com/office/powerpoint/2010/main" val="1910099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487172" y="221958"/>
            <a:ext cx="13656055" cy="465833"/>
          </a:xfrm>
        </p:spPr>
        <p:txBody>
          <a:bodyPr/>
          <a:lstStyle/>
          <a:p>
            <a:pPr marL="0" indent="0" algn="l">
              <a:lnSpc>
                <a:spcPts val="3550"/>
              </a:lnSpc>
              <a:buNone/>
            </a:pPr>
            <a:r>
              <a:rPr lang="en-US" sz="3600" dirty="0">
                <a:solidFill>
                  <a:srgbClr val="020202"/>
                </a:solidFill>
                <a:ea typeface="PT Serif" pitchFamily="34" charset="-122"/>
                <a:cs typeface="PT Serif" pitchFamily="34" charset="-120"/>
              </a:rPr>
              <a:t>The Machine Learning Workflow Pipeline</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536576" y="750801"/>
            <a:ext cx="6596549" cy="6326925"/>
          </a:xfrm>
        </p:spPr>
        <p:txBody>
          <a:bodyPr/>
          <a:lstStyle/>
          <a:p>
            <a:pPr algn="l">
              <a:lnSpc>
                <a:spcPct val="150000"/>
              </a:lnSpc>
            </a:pPr>
            <a:r>
              <a:rPr lang="en-US" sz="2400" dirty="0">
                <a:solidFill>
                  <a:srgbClr val="020202"/>
                </a:solidFill>
                <a:ea typeface="PT Serif" pitchFamily="34" charset="-122"/>
                <a:cs typeface="PT Serif" pitchFamily="34" charset="-120"/>
              </a:rPr>
              <a:t>1. </a:t>
            </a:r>
            <a:r>
              <a:rPr lang="en-US" sz="2400" dirty="0">
                <a:solidFill>
                  <a:srgbClr val="383838"/>
                </a:solidFill>
                <a:ea typeface="PT Serif" pitchFamily="34" charset="-122"/>
                <a:cs typeface="PT Serif" pitchFamily="34" charset="-120"/>
              </a:rPr>
              <a:t>Problem Definition</a:t>
            </a:r>
            <a:endParaRPr lang="en-US" sz="2400" dirty="0"/>
          </a:p>
          <a:p>
            <a:pPr algn="l">
              <a:lnSpc>
                <a:spcPct val="150000"/>
              </a:lnSpc>
            </a:pPr>
            <a:r>
              <a:rPr lang="en-US" sz="1800" dirty="0">
                <a:solidFill>
                  <a:srgbClr val="383838"/>
                </a:solidFill>
                <a:ea typeface="DM Sans" pitchFamily="34" charset="-122"/>
                <a:cs typeface="DM Sans" pitchFamily="34" charset="-120"/>
              </a:rPr>
              <a:t>Clearly articulate the business problem, success metrics, and constraints. Define what constitutes a successful model.</a:t>
            </a:r>
            <a:endParaRPr lang="en-US" sz="1800" dirty="0"/>
          </a:p>
          <a:p>
            <a:pPr algn="l">
              <a:lnSpc>
                <a:spcPct val="150000"/>
              </a:lnSpc>
            </a:pPr>
            <a:r>
              <a:rPr lang="en-US" sz="2400" dirty="0"/>
              <a:t>3. </a:t>
            </a:r>
            <a:r>
              <a:rPr lang="en-US" sz="2400" dirty="0">
                <a:solidFill>
                  <a:srgbClr val="383838"/>
                </a:solidFill>
                <a:ea typeface="PT Serif" pitchFamily="34" charset="-122"/>
                <a:cs typeface="PT Serif" pitchFamily="34" charset="-120"/>
              </a:rPr>
              <a:t>Data Cleaning &amp; Preprocessing</a:t>
            </a:r>
            <a:endParaRPr lang="en-US" sz="2400" dirty="0"/>
          </a:p>
          <a:p>
            <a:pPr algn="l">
              <a:lnSpc>
                <a:spcPct val="150000"/>
              </a:lnSpc>
            </a:pPr>
            <a:r>
              <a:rPr lang="en-US" sz="1800" dirty="0">
                <a:solidFill>
                  <a:srgbClr val="383838"/>
                </a:solidFill>
                <a:ea typeface="DM Sans" pitchFamily="34" charset="-122"/>
                <a:cs typeface="DM Sans" pitchFamily="34" charset="-120"/>
              </a:rPr>
              <a:t>Handle missing values, remove duplicates, address outliers, and transform data into usable formats.</a:t>
            </a:r>
          </a:p>
          <a:p>
            <a:pPr algn="l">
              <a:lnSpc>
                <a:spcPct val="150000"/>
              </a:lnSpc>
            </a:pPr>
            <a:endParaRPr lang="en-US" sz="1800" dirty="0"/>
          </a:p>
          <a:p>
            <a:pPr algn="l">
              <a:lnSpc>
                <a:spcPct val="150000"/>
              </a:lnSpc>
            </a:pPr>
            <a:r>
              <a:rPr lang="en-US" sz="2400" dirty="0"/>
              <a:t>5. </a:t>
            </a:r>
            <a:r>
              <a:rPr lang="en-US" sz="2400" dirty="0">
                <a:solidFill>
                  <a:srgbClr val="383838"/>
                </a:solidFill>
                <a:ea typeface="PT Serif" pitchFamily="34" charset="-122"/>
                <a:cs typeface="PT Serif" pitchFamily="34" charset="-120"/>
              </a:rPr>
              <a:t>Model Selection &amp; Training</a:t>
            </a:r>
            <a:endParaRPr lang="en-US" sz="2400" dirty="0"/>
          </a:p>
          <a:p>
            <a:pPr algn="l">
              <a:lnSpc>
                <a:spcPct val="150000"/>
              </a:lnSpc>
            </a:pPr>
            <a:r>
              <a:rPr lang="en-US" sz="1800" dirty="0">
                <a:solidFill>
                  <a:srgbClr val="383838"/>
                </a:solidFill>
                <a:ea typeface="DM Sans" pitchFamily="34" charset="-122"/>
                <a:cs typeface="DM Sans" pitchFamily="34" charset="-120"/>
              </a:rPr>
              <a:t>Choose appropriate algorithms, split data into training/validation/test sets, and train candidate models.</a:t>
            </a:r>
            <a:endParaRPr lang="en-US" sz="1800" dirty="0"/>
          </a:p>
          <a:p>
            <a:pPr algn="l">
              <a:lnSpc>
                <a:spcPct val="150000"/>
              </a:lnSpc>
            </a:pPr>
            <a:r>
              <a:rPr lang="en-US" sz="2400" dirty="0"/>
              <a:t>7. </a:t>
            </a:r>
            <a:r>
              <a:rPr lang="en-US" sz="2400" dirty="0">
                <a:solidFill>
                  <a:srgbClr val="383838"/>
                </a:solidFill>
                <a:ea typeface="PT Serif" pitchFamily="34" charset="-122"/>
                <a:cs typeface="PT Serif" pitchFamily="34" charset="-120"/>
              </a:rPr>
              <a:t>Model Evaluation</a:t>
            </a:r>
            <a:endParaRPr lang="en-US" sz="2400" dirty="0"/>
          </a:p>
          <a:p>
            <a:pPr algn="l">
              <a:lnSpc>
                <a:spcPct val="150000"/>
              </a:lnSpc>
            </a:pPr>
            <a:r>
              <a:rPr lang="en-US" sz="1800" dirty="0">
                <a:solidFill>
                  <a:srgbClr val="383838"/>
                </a:solidFill>
                <a:ea typeface="DM Sans" pitchFamily="34" charset="-122"/>
                <a:cs typeface="DM Sans" pitchFamily="34" charset="-120"/>
              </a:rPr>
              <a:t>Assess model performance using appropriate metrics, validate on held-out test data, and ensure generalization.</a:t>
            </a:r>
            <a:endParaRPr lang="en-US" sz="1800" dirty="0"/>
          </a:p>
          <a:p>
            <a:pPr marL="0" indent="0" algn="l">
              <a:lnSpc>
                <a:spcPct val="150000"/>
              </a:lnSpc>
              <a:buNone/>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8001000" y="743588"/>
            <a:ext cx="6364224" cy="6742423"/>
          </a:xfrm>
        </p:spPr>
        <p:txBody>
          <a:bodyPr/>
          <a:lstStyle/>
          <a:p>
            <a:pPr algn="l">
              <a:lnSpc>
                <a:spcPct val="150000"/>
              </a:lnSpc>
            </a:pPr>
            <a:r>
              <a:rPr lang="en-US" sz="2400" dirty="0">
                <a:solidFill>
                  <a:srgbClr val="020202"/>
                </a:solidFill>
                <a:ea typeface="PT Serif" pitchFamily="34" charset="-122"/>
                <a:cs typeface="PT Serif" pitchFamily="34" charset="-120"/>
              </a:rPr>
              <a:t>2. </a:t>
            </a:r>
            <a:r>
              <a:rPr lang="en-US" sz="2400" dirty="0">
                <a:solidFill>
                  <a:srgbClr val="383838"/>
                </a:solidFill>
                <a:ea typeface="PT Serif" pitchFamily="34" charset="-122"/>
                <a:cs typeface="PT Serif" pitchFamily="34" charset="-120"/>
              </a:rPr>
              <a:t>Data Collection</a:t>
            </a:r>
            <a:endParaRPr lang="en-US" sz="2400" dirty="0"/>
          </a:p>
          <a:p>
            <a:pPr algn="l">
              <a:lnSpc>
                <a:spcPct val="150000"/>
              </a:lnSpc>
            </a:pPr>
            <a:r>
              <a:rPr lang="en-US" sz="1800" dirty="0">
                <a:solidFill>
                  <a:srgbClr val="383838"/>
                </a:solidFill>
                <a:ea typeface="DM Sans" pitchFamily="34" charset="-122"/>
                <a:cs typeface="DM Sans" pitchFamily="34" charset="-120"/>
              </a:rPr>
              <a:t>Gather relevant data from databases, APIs, sensors, or other sources. Ensure data quality and sufficient volume.</a:t>
            </a:r>
            <a:endParaRPr lang="en-US" sz="1800" dirty="0"/>
          </a:p>
          <a:p>
            <a:pPr algn="l">
              <a:lnSpc>
                <a:spcPct val="150000"/>
              </a:lnSpc>
            </a:pPr>
            <a:r>
              <a:rPr lang="en-US" sz="2400" dirty="0"/>
              <a:t>4. </a:t>
            </a:r>
            <a:r>
              <a:rPr lang="en-US" sz="2400" dirty="0">
                <a:solidFill>
                  <a:srgbClr val="383838"/>
                </a:solidFill>
                <a:ea typeface="PT Serif" pitchFamily="34" charset="-122"/>
                <a:cs typeface="PT Serif" pitchFamily="34" charset="-120"/>
              </a:rPr>
              <a:t>Feature Engineering</a:t>
            </a:r>
            <a:endParaRPr lang="en-US" sz="2400" dirty="0"/>
          </a:p>
          <a:p>
            <a:pPr algn="l">
              <a:lnSpc>
                <a:spcPct val="150000"/>
              </a:lnSpc>
            </a:pPr>
            <a:r>
              <a:rPr lang="en-US" sz="1800" dirty="0">
                <a:solidFill>
                  <a:srgbClr val="383838"/>
                </a:solidFill>
                <a:ea typeface="DM Sans" pitchFamily="34" charset="-122"/>
                <a:cs typeface="DM Sans" pitchFamily="34" charset="-120"/>
              </a:rPr>
              <a:t>Create meaningful features from raw data, select relevant variables, and transform features to improve model performance.</a:t>
            </a:r>
            <a:endParaRPr lang="en-US" sz="1800" dirty="0"/>
          </a:p>
          <a:p>
            <a:pPr algn="l">
              <a:lnSpc>
                <a:spcPct val="150000"/>
              </a:lnSpc>
            </a:pPr>
            <a:r>
              <a:rPr lang="en-US" sz="2400" dirty="0"/>
              <a:t>6. </a:t>
            </a:r>
            <a:r>
              <a:rPr lang="en-US" sz="2400" dirty="0">
                <a:solidFill>
                  <a:srgbClr val="383838"/>
                </a:solidFill>
                <a:ea typeface="PT Serif" pitchFamily="34" charset="-122"/>
                <a:cs typeface="PT Serif" pitchFamily="34" charset="-120"/>
              </a:rPr>
              <a:t>Hyperparameter Tuning</a:t>
            </a:r>
            <a:endParaRPr lang="en-US" sz="2400" dirty="0"/>
          </a:p>
          <a:p>
            <a:pPr algn="l">
              <a:lnSpc>
                <a:spcPct val="150000"/>
              </a:lnSpc>
            </a:pPr>
            <a:r>
              <a:rPr lang="en-US" sz="1800" dirty="0">
                <a:solidFill>
                  <a:srgbClr val="383838"/>
                </a:solidFill>
                <a:ea typeface="DM Sans" pitchFamily="34" charset="-122"/>
                <a:cs typeface="DM Sans" pitchFamily="34" charset="-120"/>
              </a:rPr>
              <a:t>Optimize model parameters using techniques like grid search or Bayesian optimization to maximize performance.</a:t>
            </a:r>
            <a:endParaRPr lang="en-US" sz="1800" dirty="0"/>
          </a:p>
          <a:p>
            <a:pPr algn="l">
              <a:lnSpc>
                <a:spcPct val="150000"/>
              </a:lnSpc>
            </a:pPr>
            <a:r>
              <a:rPr lang="en-US" sz="2400" dirty="0"/>
              <a:t>8. </a:t>
            </a:r>
            <a:r>
              <a:rPr lang="en-US" sz="2400" dirty="0">
                <a:solidFill>
                  <a:srgbClr val="383838"/>
                </a:solidFill>
                <a:ea typeface="PT Serif" pitchFamily="34" charset="-122"/>
                <a:cs typeface="PT Serif" pitchFamily="34" charset="-120"/>
              </a:rPr>
              <a:t>Deployment &amp; Monitoring</a:t>
            </a:r>
            <a:endParaRPr lang="en-US" sz="2400" dirty="0"/>
          </a:p>
          <a:p>
            <a:pPr algn="l">
              <a:lnSpc>
                <a:spcPct val="150000"/>
              </a:lnSpc>
            </a:pPr>
            <a:r>
              <a:rPr lang="en-US" sz="1800" dirty="0">
                <a:solidFill>
                  <a:srgbClr val="383838"/>
                </a:solidFill>
                <a:ea typeface="DM Sans" pitchFamily="34" charset="-122"/>
                <a:cs typeface="DM Sans" pitchFamily="34" charset="-120"/>
              </a:rPr>
              <a:t>Deploy model to production environment, monitor performance over time, and retrain as needed to maintain accuracy.</a:t>
            </a:r>
            <a:endParaRPr lang="en-US" sz="1800" dirty="0"/>
          </a:p>
          <a:p>
            <a:pPr marL="0" indent="0" algn="l">
              <a:lnSpc>
                <a:spcPct val="150000"/>
              </a:lnSpc>
              <a:buNone/>
            </a:pPr>
            <a:endParaRPr lang="en-US" sz="1800" dirty="0"/>
          </a:p>
        </p:txBody>
      </p:sp>
      <p:sp>
        <p:nvSpPr>
          <p:cNvPr id="6" name="TextBox 5">
            <a:extLst>
              <a:ext uri="{FF2B5EF4-FFF2-40B4-BE49-F238E27FC236}">
                <a16:creationId xmlns:a16="http://schemas.microsoft.com/office/drawing/2014/main" id="{1A996C55-32E3-DD58-5A75-AC50AEEEC968}"/>
              </a:ext>
            </a:extLst>
          </p:cNvPr>
          <p:cNvSpPr txBox="1"/>
          <p:nvPr/>
        </p:nvSpPr>
        <p:spPr>
          <a:xfrm>
            <a:off x="391923" y="7466961"/>
            <a:ext cx="13656055" cy="645882"/>
          </a:xfrm>
          <a:prstGeom prst="rect">
            <a:avLst/>
          </a:prstGeom>
          <a:noFill/>
        </p:spPr>
        <p:txBody>
          <a:bodyPr wrap="square">
            <a:spAutoFit/>
          </a:bodyPr>
          <a:lstStyle/>
          <a:p>
            <a:pPr marL="0" indent="0" algn="l">
              <a:lnSpc>
                <a:spcPts val="2150"/>
              </a:lnSpc>
              <a:buNone/>
            </a:pPr>
            <a:r>
              <a:rPr lang="en-US" dirty="0">
                <a:solidFill>
                  <a:srgbClr val="383838"/>
                </a:solidFill>
                <a:latin typeface="PT Serif" panose="020A0603040505020204" pitchFamily="18" charset="0"/>
                <a:ea typeface="DM Sans" pitchFamily="34" charset="-122"/>
                <a:cs typeface="DM Sans" pitchFamily="34" charset="-120"/>
              </a:rPr>
              <a:t>This iterative pipeline is essential for successful real-world ML implementation, requiring collaboration between data scientists, engineers, and business stakeholders.</a:t>
            </a:r>
            <a:endParaRPr lang="en-US" dirty="0">
              <a:latin typeface="PT Serif" panose="020A0603040505020204" pitchFamily="18" charset="0"/>
            </a:endParaRPr>
          </a:p>
        </p:txBody>
      </p:sp>
      <p:cxnSp>
        <p:nvCxnSpPr>
          <p:cNvPr id="8" name="Straight Connector 7">
            <a:extLst>
              <a:ext uri="{FF2B5EF4-FFF2-40B4-BE49-F238E27FC236}">
                <a16:creationId xmlns:a16="http://schemas.microsoft.com/office/drawing/2014/main" id="{B94AE2E7-EBE3-DAEA-2F38-B06B45217F22}"/>
              </a:ext>
            </a:extLst>
          </p:cNvPr>
          <p:cNvCxnSpPr/>
          <p:nvPr/>
        </p:nvCxnSpPr>
        <p:spPr>
          <a:xfrm>
            <a:off x="228600" y="2209800"/>
            <a:ext cx="66917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D9AADF-EFAF-A433-12FC-5688C1296A57}"/>
              </a:ext>
            </a:extLst>
          </p:cNvPr>
          <p:cNvCxnSpPr/>
          <p:nvPr/>
        </p:nvCxnSpPr>
        <p:spPr>
          <a:xfrm>
            <a:off x="7609077" y="3903372"/>
            <a:ext cx="66917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9DDA6FC-11F5-DB73-6D0F-90661A09C173}"/>
              </a:ext>
            </a:extLst>
          </p:cNvPr>
          <p:cNvCxnSpPr/>
          <p:nvPr/>
        </p:nvCxnSpPr>
        <p:spPr>
          <a:xfrm>
            <a:off x="228600" y="3903372"/>
            <a:ext cx="66917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74206FD-041C-96DA-AFC3-F2553A6AD495}"/>
              </a:ext>
            </a:extLst>
          </p:cNvPr>
          <p:cNvCxnSpPr/>
          <p:nvPr/>
        </p:nvCxnSpPr>
        <p:spPr>
          <a:xfrm>
            <a:off x="7673426" y="2171700"/>
            <a:ext cx="66917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08B08EF-E8F8-2B25-AFA4-148389A3204C}"/>
              </a:ext>
            </a:extLst>
          </p:cNvPr>
          <p:cNvCxnSpPr/>
          <p:nvPr/>
        </p:nvCxnSpPr>
        <p:spPr>
          <a:xfrm>
            <a:off x="7609077" y="5410200"/>
            <a:ext cx="66917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81D3FCE-FF4A-F238-5058-62949F3BEFE5}"/>
              </a:ext>
            </a:extLst>
          </p:cNvPr>
          <p:cNvCxnSpPr/>
          <p:nvPr/>
        </p:nvCxnSpPr>
        <p:spPr>
          <a:xfrm>
            <a:off x="228600" y="5410200"/>
            <a:ext cx="669179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4295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03301-09DE-CFE4-26E9-8537CB76A2E9}"/>
              </a:ext>
            </a:extLst>
          </p:cNvPr>
          <p:cNvSpPr>
            <a:spLocks noGrp="1"/>
          </p:cNvSpPr>
          <p:nvPr>
            <p:ph type="title"/>
          </p:nvPr>
        </p:nvSpPr>
        <p:spPr>
          <a:xfrm>
            <a:off x="487172" y="533400"/>
            <a:ext cx="13656055" cy="542777"/>
          </a:xfrm>
        </p:spPr>
        <p:txBody>
          <a:bodyPr/>
          <a:lstStyle/>
          <a:p>
            <a:pPr marL="0" indent="0" algn="l">
              <a:lnSpc>
                <a:spcPts val="4350"/>
              </a:lnSpc>
              <a:buNone/>
            </a:pPr>
            <a:r>
              <a:rPr lang="en-US" sz="3600" dirty="0">
                <a:solidFill>
                  <a:srgbClr val="020202"/>
                </a:solidFill>
                <a:latin typeface="PT Serif" pitchFamily="34" charset="0"/>
                <a:ea typeface="PT Serif" pitchFamily="34" charset="-122"/>
                <a:cs typeface="PT Serif" pitchFamily="34" charset="-120"/>
              </a:rPr>
              <a:t>Machine Learning vs Deep Learning</a:t>
            </a:r>
            <a:endParaRPr lang="en-US" sz="3600" dirty="0"/>
          </a:p>
        </p:txBody>
      </p:sp>
      <p:sp>
        <p:nvSpPr>
          <p:cNvPr id="3" name="Content Placeholder 2">
            <a:extLst>
              <a:ext uri="{FF2B5EF4-FFF2-40B4-BE49-F238E27FC236}">
                <a16:creationId xmlns:a16="http://schemas.microsoft.com/office/drawing/2014/main" id="{72720F5C-E85B-4A6F-5252-25E34AFAD27C}"/>
              </a:ext>
            </a:extLst>
          </p:cNvPr>
          <p:cNvSpPr>
            <a:spLocks noGrp="1"/>
          </p:cNvSpPr>
          <p:nvPr>
            <p:ph sz="half" idx="2"/>
          </p:nvPr>
        </p:nvSpPr>
        <p:spPr>
          <a:xfrm>
            <a:off x="490050" y="1447800"/>
            <a:ext cx="6596549" cy="5447645"/>
          </a:xfrm>
        </p:spPr>
        <p:txBody>
          <a:bodyPr/>
          <a:lstStyle/>
          <a:p>
            <a:pPr marL="0" indent="0" algn="l">
              <a:buNone/>
            </a:pPr>
            <a:r>
              <a:rPr lang="en-US" sz="2400" dirty="0">
                <a:solidFill>
                  <a:srgbClr val="020202"/>
                </a:solidFill>
                <a:ea typeface="PT Serif" pitchFamily="34" charset="-122"/>
                <a:cs typeface="PT Serif" pitchFamily="34" charset="-120"/>
              </a:rPr>
              <a:t>Traditional Machine Learning</a:t>
            </a:r>
          </a:p>
          <a:p>
            <a:pPr marL="0" indent="0" algn="l">
              <a:buNone/>
            </a:pPr>
            <a:endParaRPr lang="en-US" sz="2400" dirty="0">
              <a:solidFill>
                <a:srgbClr val="020202"/>
              </a:solidFill>
              <a:ea typeface="PT Serif" pitchFamily="34" charset="-122"/>
              <a:cs typeface="PT Serif" pitchFamily="34" charset="-120"/>
            </a:endParaRPr>
          </a:p>
          <a:p>
            <a:pPr algn="l"/>
            <a:r>
              <a:rPr lang="en-US" sz="1800" b="1" dirty="0">
                <a:solidFill>
                  <a:srgbClr val="383838"/>
                </a:solidFill>
                <a:ea typeface="DM Sans" pitchFamily="34" charset="-122"/>
                <a:cs typeface="DM Sans" pitchFamily="34" charset="-120"/>
              </a:rPr>
              <a:t>Feature Engineering:</a:t>
            </a:r>
            <a:r>
              <a:rPr lang="en-US" sz="1800" dirty="0">
                <a:solidFill>
                  <a:srgbClr val="383838"/>
                </a:solidFill>
                <a:ea typeface="DM Sans" pitchFamily="34" charset="-122"/>
                <a:cs typeface="DM Sans" pitchFamily="34" charset="-120"/>
              </a:rPr>
              <a:t> Requires manual feature extraction and selection by domain experts.</a:t>
            </a:r>
            <a:endParaRPr lang="en-US" sz="1800" dirty="0"/>
          </a:p>
          <a:p>
            <a:pPr marL="0" indent="0" algn="l">
              <a:buNone/>
            </a:pPr>
            <a:endParaRPr lang="en-US" sz="1800" dirty="0">
              <a:solidFill>
                <a:srgbClr val="020202"/>
              </a:solidFill>
            </a:endParaRPr>
          </a:p>
          <a:p>
            <a:pPr algn="l"/>
            <a:r>
              <a:rPr lang="en-US" sz="1800" b="1" dirty="0">
                <a:solidFill>
                  <a:srgbClr val="383838"/>
                </a:solidFill>
                <a:ea typeface="DM Sans" pitchFamily="34" charset="-122"/>
                <a:cs typeface="DM Sans" pitchFamily="34" charset="-120"/>
              </a:rPr>
              <a:t>Data Requirements:</a:t>
            </a:r>
            <a:r>
              <a:rPr lang="en-US" sz="1800" dirty="0">
                <a:solidFill>
                  <a:srgbClr val="383838"/>
                </a:solidFill>
                <a:ea typeface="DM Sans" pitchFamily="34" charset="-122"/>
                <a:cs typeface="DM Sans" pitchFamily="34" charset="-120"/>
              </a:rPr>
              <a:t> Works effectively with small to medium-sized datasets (thousands to hundreds of thousands of examples).</a:t>
            </a:r>
            <a:endParaRPr lang="en-US" sz="1800" dirty="0"/>
          </a:p>
          <a:p>
            <a:pPr marL="0" indent="0" algn="l">
              <a:buNone/>
            </a:pPr>
            <a:r>
              <a:rPr lang="en-US" sz="1800" dirty="0">
                <a:solidFill>
                  <a:srgbClr val="020202"/>
                </a:solidFill>
              </a:rPr>
              <a:t>	</a:t>
            </a:r>
          </a:p>
          <a:p>
            <a:pPr algn="l"/>
            <a:r>
              <a:rPr lang="en-US" sz="1800" b="1" dirty="0">
                <a:solidFill>
                  <a:srgbClr val="383838"/>
                </a:solidFill>
                <a:ea typeface="DM Sans" pitchFamily="34" charset="-122"/>
                <a:cs typeface="DM Sans" pitchFamily="34" charset="-120"/>
              </a:rPr>
              <a:t>Computational Needs:</a:t>
            </a:r>
            <a:r>
              <a:rPr lang="en-US" sz="1800" dirty="0">
                <a:solidFill>
                  <a:srgbClr val="383838"/>
                </a:solidFill>
                <a:ea typeface="DM Sans" pitchFamily="34" charset="-122"/>
                <a:cs typeface="DM Sans" pitchFamily="34" charset="-120"/>
              </a:rPr>
              <a:t> Runs efficiently on standard CPUs without specialized hardware.</a:t>
            </a:r>
            <a:endParaRPr lang="en-US" sz="1800" dirty="0"/>
          </a:p>
          <a:p>
            <a:pPr marL="0" indent="0" algn="l">
              <a:buNone/>
            </a:pPr>
            <a:r>
              <a:rPr lang="en-US" sz="1800" dirty="0">
                <a:solidFill>
                  <a:srgbClr val="020202"/>
                </a:solidFill>
              </a:rPr>
              <a:t>	</a:t>
            </a:r>
          </a:p>
          <a:p>
            <a:pPr algn="l"/>
            <a:r>
              <a:rPr lang="en-US" sz="1800" b="1" dirty="0">
                <a:solidFill>
                  <a:srgbClr val="383838"/>
                </a:solidFill>
                <a:ea typeface="DM Sans" pitchFamily="34" charset="-122"/>
                <a:cs typeface="DM Sans" pitchFamily="34" charset="-120"/>
              </a:rPr>
              <a:t>Interpretability:</a:t>
            </a:r>
            <a:r>
              <a:rPr lang="en-US" sz="1800" dirty="0">
                <a:solidFill>
                  <a:srgbClr val="383838"/>
                </a:solidFill>
                <a:ea typeface="DM Sans" pitchFamily="34" charset="-122"/>
                <a:cs typeface="DM Sans" pitchFamily="34" charset="-120"/>
              </a:rPr>
              <a:t> Models like Decision Trees and Linear Regression offer clear explanations of predictions.</a:t>
            </a:r>
            <a:endParaRPr lang="en-US" sz="1800" dirty="0"/>
          </a:p>
          <a:p>
            <a:pPr marL="0" indent="0" algn="l">
              <a:buNone/>
            </a:pPr>
            <a:endParaRPr lang="en-US" sz="1800" dirty="0">
              <a:solidFill>
                <a:srgbClr val="020202"/>
              </a:solidFill>
            </a:endParaRPr>
          </a:p>
          <a:p>
            <a:pPr algn="l"/>
            <a:r>
              <a:rPr lang="en-US" sz="1800" b="1" dirty="0">
                <a:solidFill>
                  <a:srgbClr val="383838"/>
                </a:solidFill>
                <a:ea typeface="DM Sans" pitchFamily="34" charset="-122"/>
                <a:cs typeface="DM Sans" pitchFamily="34" charset="-120"/>
              </a:rPr>
              <a:t>Optimal Use Cases:</a:t>
            </a:r>
            <a:r>
              <a:rPr lang="en-US" sz="1800" dirty="0">
                <a:solidFill>
                  <a:srgbClr val="383838"/>
                </a:solidFill>
                <a:ea typeface="DM Sans" pitchFamily="34" charset="-122"/>
                <a:cs typeface="DM Sans" pitchFamily="34" charset="-120"/>
              </a:rPr>
              <a:t> Structured tabular business data, problems with limited training examples, scenarios requiring model transparency.</a:t>
            </a:r>
            <a:endParaRPr lang="en-US" sz="1800" dirty="0"/>
          </a:p>
          <a:p>
            <a:pPr marL="0" indent="0" algn="l">
              <a:buNone/>
            </a:pPr>
            <a:endParaRPr lang="en-US" sz="1800" dirty="0"/>
          </a:p>
        </p:txBody>
      </p:sp>
      <p:sp>
        <p:nvSpPr>
          <p:cNvPr id="4" name="Content Placeholder 3">
            <a:extLst>
              <a:ext uri="{FF2B5EF4-FFF2-40B4-BE49-F238E27FC236}">
                <a16:creationId xmlns:a16="http://schemas.microsoft.com/office/drawing/2014/main" id="{491DA7A0-7D3D-69BB-2473-8743F41E17E9}"/>
              </a:ext>
            </a:extLst>
          </p:cNvPr>
          <p:cNvSpPr>
            <a:spLocks noGrp="1"/>
          </p:cNvSpPr>
          <p:nvPr>
            <p:ph sz="half" idx="3"/>
          </p:nvPr>
        </p:nvSpPr>
        <p:spPr>
          <a:xfrm>
            <a:off x="7776126" y="1447800"/>
            <a:ext cx="6364224" cy="5978111"/>
          </a:xfrm>
        </p:spPr>
        <p:txBody>
          <a:bodyPr/>
          <a:lstStyle/>
          <a:p>
            <a:pPr marL="0" indent="0" algn="l">
              <a:lnSpc>
                <a:spcPts val="2600"/>
              </a:lnSpc>
              <a:buNone/>
            </a:pPr>
            <a:r>
              <a:rPr lang="en-US" sz="2400" dirty="0">
                <a:solidFill>
                  <a:srgbClr val="020202"/>
                </a:solidFill>
                <a:ea typeface="PT Serif" pitchFamily="34" charset="-122"/>
                <a:cs typeface="PT Serif" pitchFamily="34" charset="-120"/>
              </a:rPr>
              <a:t>Deep Learning</a:t>
            </a:r>
          </a:p>
          <a:p>
            <a:pPr marL="0" indent="0" algn="l">
              <a:lnSpc>
                <a:spcPts val="2600"/>
              </a:lnSpc>
              <a:buNone/>
            </a:pPr>
            <a:endParaRPr lang="en-US" sz="2400" dirty="0">
              <a:solidFill>
                <a:srgbClr val="020202"/>
              </a:solidFill>
              <a:ea typeface="PT Serif" pitchFamily="34" charset="-122"/>
              <a:cs typeface="PT Serif" pitchFamily="34" charset="-120"/>
            </a:endParaRPr>
          </a:p>
          <a:p>
            <a:pPr algn="l">
              <a:lnSpc>
                <a:spcPts val="2600"/>
              </a:lnSpc>
            </a:pPr>
            <a:r>
              <a:rPr lang="en-US" sz="1800" b="1" dirty="0">
                <a:solidFill>
                  <a:srgbClr val="383838"/>
                </a:solidFill>
                <a:ea typeface="DM Sans" pitchFamily="34" charset="-122"/>
                <a:cs typeface="DM Sans" pitchFamily="34" charset="-120"/>
              </a:rPr>
              <a:t>Feature Engineering:</a:t>
            </a:r>
            <a:r>
              <a:rPr lang="en-US" sz="1800" dirty="0">
                <a:solidFill>
                  <a:srgbClr val="383838"/>
                </a:solidFill>
                <a:ea typeface="DM Sans" pitchFamily="34" charset="-122"/>
                <a:cs typeface="DM Sans" pitchFamily="34" charset="-120"/>
              </a:rPr>
              <a:t> Automatically learns relevant features from raw data through multiple processing layers.</a:t>
            </a:r>
          </a:p>
          <a:p>
            <a:pPr algn="l">
              <a:lnSpc>
                <a:spcPts val="2600"/>
              </a:lnSpc>
            </a:pPr>
            <a:endParaRPr lang="en-US" sz="1800" dirty="0"/>
          </a:p>
          <a:p>
            <a:pPr algn="l">
              <a:lnSpc>
                <a:spcPts val="2600"/>
              </a:lnSpc>
            </a:pPr>
            <a:r>
              <a:rPr lang="en-US" sz="1800" b="1" dirty="0">
                <a:solidFill>
                  <a:srgbClr val="383838"/>
                </a:solidFill>
                <a:ea typeface="DM Sans" pitchFamily="34" charset="-122"/>
                <a:cs typeface="DM Sans" pitchFamily="34" charset="-120"/>
              </a:rPr>
              <a:t>Data Requirements:</a:t>
            </a:r>
            <a:r>
              <a:rPr lang="en-US" sz="1800" dirty="0">
                <a:solidFill>
                  <a:srgbClr val="383838"/>
                </a:solidFill>
                <a:ea typeface="DM Sans" pitchFamily="34" charset="-122"/>
                <a:cs typeface="DM Sans" pitchFamily="34" charset="-120"/>
              </a:rPr>
              <a:t> Requires very large datasets (millions of examples) to achieve optimal performance.</a:t>
            </a:r>
          </a:p>
          <a:p>
            <a:pPr algn="l">
              <a:lnSpc>
                <a:spcPts val="2600"/>
              </a:lnSpc>
            </a:pPr>
            <a:endParaRPr lang="en-US" sz="1800" dirty="0"/>
          </a:p>
          <a:p>
            <a:pPr algn="l">
              <a:lnSpc>
                <a:spcPts val="2600"/>
              </a:lnSpc>
            </a:pPr>
            <a:r>
              <a:rPr lang="en-US" sz="1800" b="1" dirty="0">
                <a:solidFill>
                  <a:srgbClr val="383838"/>
                </a:solidFill>
                <a:ea typeface="DM Sans" pitchFamily="34" charset="-122"/>
                <a:cs typeface="DM Sans" pitchFamily="34" charset="-120"/>
              </a:rPr>
              <a:t>Computational Needs:</a:t>
            </a:r>
            <a:r>
              <a:rPr lang="en-US" sz="1800" dirty="0">
                <a:solidFill>
                  <a:srgbClr val="383838"/>
                </a:solidFill>
                <a:ea typeface="DM Sans" pitchFamily="34" charset="-122"/>
                <a:cs typeface="DM Sans" pitchFamily="34" charset="-120"/>
              </a:rPr>
              <a:t> Demands powerful GPUs or TPUs for efficient training and inference.</a:t>
            </a:r>
          </a:p>
          <a:p>
            <a:pPr algn="l">
              <a:lnSpc>
                <a:spcPts val="2600"/>
              </a:lnSpc>
            </a:pPr>
            <a:endParaRPr lang="en-US" sz="1800" dirty="0"/>
          </a:p>
          <a:p>
            <a:pPr algn="l">
              <a:lnSpc>
                <a:spcPts val="2600"/>
              </a:lnSpc>
            </a:pPr>
            <a:r>
              <a:rPr lang="en-US" sz="1800" b="1" dirty="0">
                <a:solidFill>
                  <a:srgbClr val="383838"/>
                </a:solidFill>
                <a:ea typeface="DM Sans" pitchFamily="34" charset="-122"/>
                <a:cs typeface="DM Sans" pitchFamily="34" charset="-120"/>
              </a:rPr>
              <a:t>Interpretability:</a:t>
            </a:r>
            <a:r>
              <a:rPr lang="en-US" sz="1800" dirty="0">
                <a:solidFill>
                  <a:srgbClr val="383838"/>
                </a:solidFill>
                <a:ea typeface="DM Sans" pitchFamily="34" charset="-122"/>
                <a:cs typeface="DM Sans" pitchFamily="34" charset="-120"/>
              </a:rPr>
              <a:t> Often operates as "black boxes" with limited transparency into decision-making processes.</a:t>
            </a:r>
          </a:p>
          <a:p>
            <a:pPr algn="l">
              <a:lnSpc>
                <a:spcPts val="2600"/>
              </a:lnSpc>
            </a:pPr>
            <a:endParaRPr lang="en-US" sz="1800" dirty="0"/>
          </a:p>
          <a:p>
            <a:pPr algn="l">
              <a:lnSpc>
                <a:spcPts val="2600"/>
              </a:lnSpc>
            </a:pPr>
            <a:r>
              <a:rPr lang="en-US" sz="1800" b="1" dirty="0">
                <a:solidFill>
                  <a:srgbClr val="383838"/>
                </a:solidFill>
                <a:ea typeface="DM Sans" pitchFamily="34" charset="-122"/>
                <a:cs typeface="DM Sans" pitchFamily="34" charset="-120"/>
              </a:rPr>
              <a:t>Optimal Use Cases:</a:t>
            </a:r>
            <a:r>
              <a:rPr lang="en-US" sz="1800" dirty="0">
                <a:solidFill>
                  <a:srgbClr val="383838"/>
                </a:solidFill>
                <a:ea typeface="DM Sans" pitchFamily="34" charset="-122"/>
                <a:cs typeface="DM Sans" pitchFamily="34" charset="-120"/>
              </a:rPr>
              <a:t> Unstructured data including images, audio, video, and natural language—excels at complex pattern recognition tasks.</a:t>
            </a:r>
            <a:endParaRPr lang="en-US" sz="1800" dirty="0"/>
          </a:p>
          <a:p>
            <a:pPr marL="0" indent="0" algn="l">
              <a:lnSpc>
                <a:spcPts val="2600"/>
              </a:lnSpc>
              <a:buNone/>
            </a:pPr>
            <a:endParaRPr lang="en-US" sz="1800" dirty="0"/>
          </a:p>
        </p:txBody>
      </p:sp>
      <p:sp>
        <p:nvSpPr>
          <p:cNvPr id="6" name="TextBox 5">
            <a:extLst>
              <a:ext uri="{FF2B5EF4-FFF2-40B4-BE49-F238E27FC236}">
                <a16:creationId xmlns:a16="http://schemas.microsoft.com/office/drawing/2014/main" id="{895CC61B-F389-ACFE-EEF3-A6156DD0DFEB}"/>
              </a:ext>
            </a:extLst>
          </p:cNvPr>
          <p:cNvSpPr txBox="1"/>
          <p:nvPr/>
        </p:nvSpPr>
        <p:spPr>
          <a:xfrm>
            <a:off x="460926" y="7243792"/>
            <a:ext cx="13788474" cy="761234"/>
          </a:xfrm>
          <a:prstGeom prst="rect">
            <a:avLst/>
          </a:prstGeom>
          <a:noFill/>
        </p:spPr>
        <p:txBody>
          <a:bodyPr wrap="square">
            <a:spAutoFit/>
          </a:bodyPr>
          <a:lstStyle/>
          <a:p>
            <a:pPr marL="0" indent="0" algn="l">
              <a:lnSpc>
                <a:spcPts val="2650"/>
              </a:lnSpc>
              <a:buNone/>
            </a:pPr>
            <a:r>
              <a:rPr lang="en-US" sz="1800" dirty="0">
                <a:solidFill>
                  <a:srgbClr val="383838"/>
                </a:solidFill>
                <a:latin typeface="PT Serif" panose="020A0603040505020204" pitchFamily="18" charset="0"/>
                <a:ea typeface="DM Sans" pitchFamily="34" charset="-122"/>
                <a:cs typeface="DM Sans" pitchFamily="34" charset="-120"/>
              </a:rPr>
              <a:t>Deep Learning is a powerful subset of Machine Learning, leveraging neural networks with multiple layers to automatically discover intricate patterns in large-scale unstructured data.</a:t>
            </a:r>
            <a:endParaRPr lang="en-US" sz="1800" dirty="0">
              <a:latin typeface="PT Serif" panose="020A0603040505020204" pitchFamily="18" charset="0"/>
            </a:endParaRPr>
          </a:p>
        </p:txBody>
      </p:sp>
    </p:spTree>
    <p:extLst>
      <p:ext uri="{BB962C8B-B14F-4D97-AF65-F5344CB8AC3E}">
        <p14:creationId xmlns:p14="http://schemas.microsoft.com/office/powerpoint/2010/main" val="30946005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482" y="83071"/>
            <a:ext cx="13656055" cy="931076"/>
          </a:xfrm>
          <a:prstGeom prst="rect">
            <a:avLst/>
          </a:prstGeom>
        </p:spPr>
        <p:txBody>
          <a:bodyPr vert="horz" wrap="square" lIns="0" tIns="439471" rIns="0" bIns="0" rtlCol="0">
            <a:spAutoFit/>
          </a:bodyPr>
          <a:lstStyle/>
          <a:p>
            <a:pPr marL="0" indent="0" algn="l">
              <a:lnSpc>
                <a:spcPts val="3800"/>
              </a:lnSpc>
              <a:buNone/>
            </a:pPr>
            <a:r>
              <a:rPr lang="en-US" sz="3600" dirty="0">
                <a:solidFill>
                  <a:srgbClr val="020202"/>
                </a:solidFill>
                <a:ea typeface="PT Serif" pitchFamily="34" charset="-122"/>
                <a:cs typeface="PT Serif" pitchFamily="34" charset="-120"/>
              </a:rPr>
              <a:t>Key Takeaways: Machine Learning Fundamentals</a:t>
            </a:r>
            <a:endParaRPr lang="en-US" sz="3600" dirty="0"/>
          </a:p>
        </p:txBody>
      </p:sp>
      <p:sp>
        <p:nvSpPr>
          <p:cNvPr id="13" name="Shape 5">
            <a:extLst>
              <a:ext uri="{FF2B5EF4-FFF2-40B4-BE49-F238E27FC236}">
                <a16:creationId xmlns:a16="http://schemas.microsoft.com/office/drawing/2014/main" id="{E7C49C67-C298-4068-CA76-A4C08A84BF5C}"/>
              </a:ext>
            </a:extLst>
          </p:cNvPr>
          <p:cNvSpPr/>
          <p:nvPr/>
        </p:nvSpPr>
        <p:spPr>
          <a:xfrm>
            <a:off x="4944709" y="1382204"/>
            <a:ext cx="4750246" cy="3265996"/>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158343" y="1427082"/>
            <a:ext cx="4536611" cy="4865280"/>
          </a:xfrm>
          <a:prstGeom prst="rect">
            <a:avLst/>
          </a:prstGeom>
          <a:noFill/>
          <a:ln/>
        </p:spPr>
        <p:txBody>
          <a:bodyPr wrap="square" lIns="0" tIns="0" rIns="0" bIns="0" rtlCol="0" anchor="t"/>
          <a:lstStyle/>
          <a:p>
            <a:pPr algn="l">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2. Four Major Paradigms</a:t>
            </a: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Supervised Learning (labeled data), Unsupervised Learning (pattern discovery), Semi-Supervised Learning (hybrid approach), and Reinforcement Learning (reward-based) address different problem types and data availability scenarios.</a:t>
            </a: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678192"/>
            <a:ext cx="3818692" cy="127015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9893313" y="1429350"/>
            <a:ext cx="4356087" cy="3218849"/>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091670" y="1469304"/>
            <a:ext cx="3818573" cy="2313740"/>
          </a:xfrm>
          <a:prstGeom prst="rect">
            <a:avLst/>
          </a:prstGeom>
          <a:noFill/>
          <a:ln/>
        </p:spPr>
        <p:txBody>
          <a:bodyPr wrap="square" lIns="0" tIns="0" rIns="0" bIns="0" rtlCol="0" anchor="t"/>
          <a:lstStyle/>
          <a:p>
            <a:pPr algn="l">
              <a:lnSpc>
                <a:spcPct val="150000"/>
              </a:lnSpc>
            </a:pPr>
            <a:r>
              <a:rPr lang="en-US" sz="2400" dirty="0">
                <a:solidFill>
                  <a:srgbClr val="383838"/>
                </a:solidFill>
                <a:latin typeface="PT Serif" panose="020A0603040505020204" pitchFamily="18" charset="0"/>
                <a:ea typeface="PT Serif" pitchFamily="34" charset="-122"/>
                <a:cs typeface="PT Serif" pitchFamily="34" charset="-120"/>
              </a:rPr>
              <a:t>3. Prediction vs Inference</a:t>
            </a: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Machine Learning prioritizes accurate predictions on unseen data, while Classical Statistics focuses on explaining relationships and testing hypotheses—both approaches offer complementary value.</a:t>
            </a: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a:p>
            <a:pPr algn="l">
              <a:lnSpc>
                <a:spcPct val="150000"/>
              </a:lnSpc>
            </a:pPr>
            <a:endParaRPr lang="en-US" dirty="0">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590800"/>
            <a:ext cx="3818573" cy="952619"/>
          </a:xfrm>
          <a:prstGeom prst="rect">
            <a:avLst/>
          </a:prstGeom>
          <a:noFill/>
          <a:ln/>
        </p:spPr>
        <p:txBody>
          <a:bodyPr wrap="square" lIns="0" tIns="0" rIns="0" bIns="0" rtlCol="0" anchor="t"/>
          <a:lstStyle/>
          <a:p>
            <a:pPr marL="0" indent="0" algn="l">
              <a:lnSpc>
                <a:spcPts val="2500"/>
              </a:lnSpc>
              <a:buNone/>
            </a:pPr>
            <a:endParaRPr lang="en-US" dirty="0">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381000" y="1382205"/>
            <a:ext cx="4365351" cy="3265996"/>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533400" y="1630150"/>
            <a:ext cx="4193722" cy="2476441"/>
          </a:xfrm>
          <a:prstGeom prst="rect">
            <a:avLst/>
          </a:prstGeom>
          <a:noFill/>
          <a:ln/>
        </p:spPr>
        <p:txBody>
          <a:bodyPr wrap="square" lIns="0" tIns="0" rIns="0" bIns="0" rtlCol="0" anchor="t"/>
          <a:lstStyle/>
          <a:p>
            <a:pPr marL="457200" indent="-457200" algn="l">
              <a:lnSpc>
                <a:spcPts val="1900"/>
              </a:lnSpc>
              <a:buAutoNum type="arabicPeriod"/>
            </a:pPr>
            <a:r>
              <a:rPr lang="en-US" sz="2400" dirty="0">
                <a:solidFill>
                  <a:srgbClr val="383838"/>
                </a:solidFill>
                <a:latin typeface="PT Serif" panose="020A0603040505020204" pitchFamily="18" charset="0"/>
                <a:ea typeface="PT Serif" pitchFamily="34" charset="-122"/>
                <a:cs typeface="PT Serif" pitchFamily="34" charset="-120"/>
              </a:rPr>
              <a:t>Data-Driven Intelligence</a:t>
            </a:r>
          </a:p>
          <a:p>
            <a:pPr algn="l">
              <a:lnSpc>
                <a:spcPts val="1900"/>
              </a:lnSpc>
            </a:pPr>
            <a:endParaRPr lang="en-US" dirty="0">
              <a:solidFill>
                <a:srgbClr val="383838"/>
              </a:solidFill>
              <a:latin typeface="PT Serif" panose="020A0603040505020204" pitchFamily="18" charset="0"/>
            </a:endParaRPr>
          </a:p>
          <a:p>
            <a:pPr algn="l">
              <a:lnSpc>
                <a:spcPct val="150000"/>
              </a:lnSpc>
            </a:pPr>
            <a:r>
              <a:rPr lang="en-US" dirty="0">
                <a:solidFill>
                  <a:srgbClr val="383838"/>
                </a:solidFill>
                <a:latin typeface="PT Serif" panose="020A0603040505020204" pitchFamily="18" charset="0"/>
                <a:ea typeface="DM Sans" pitchFamily="34" charset="-122"/>
                <a:cs typeface="DM Sans" pitchFamily="34" charset="-120"/>
              </a:rPr>
              <a:t>Machine Learning enables systems to make intelligent decisions by learning patterns from data rather than following rigid programmed rules, providing adaptability and continuous improvement.</a:t>
            </a:r>
            <a:endParaRPr lang="en-US" dirty="0">
              <a:latin typeface="PT Serif" panose="020A0603040505020204" pitchFamily="18" charset="0"/>
            </a:endParaRPr>
          </a:p>
          <a:p>
            <a:pPr algn="l">
              <a:lnSpc>
                <a:spcPts val="1900"/>
              </a:lnSpc>
            </a:pPr>
            <a:endParaRPr lang="en-US" dirty="0">
              <a:latin typeface="PT Serif" panose="020A0603040505020204" pitchFamily="18" charset="0"/>
            </a:endParaRPr>
          </a:p>
        </p:txBody>
      </p:sp>
      <p:sp>
        <p:nvSpPr>
          <p:cNvPr id="20" name="Shape 2">
            <a:extLst>
              <a:ext uri="{FF2B5EF4-FFF2-40B4-BE49-F238E27FC236}">
                <a16:creationId xmlns:a16="http://schemas.microsoft.com/office/drawing/2014/main" id="{490448F2-91C4-A2C1-CCE5-C1AF9585510E}"/>
              </a:ext>
            </a:extLst>
          </p:cNvPr>
          <p:cNvSpPr/>
          <p:nvPr/>
        </p:nvSpPr>
        <p:spPr>
          <a:xfrm>
            <a:off x="466145" y="4811204"/>
            <a:ext cx="6633484" cy="2388257"/>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3" name="Text 3">
            <a:extLst>
              <a:ext uri="{FF2B5EF4-FFF2-40B4-BE49-F238E27FC236}">
                <a16:creationId xmlns:a16="http://schemas.microsoft.com/office/drawing/2014/main" id="{3DCBC250-CD01-2E79-92CE-66C8490F3F70}"/>
              </a:ext>
            </a:extLst>
          </p:cNvPr>
          <p:cNvSpPr/>
          <p:nvPr/>
        </p:nvSpPr>
        <p:spPr>
          <a:xfrm>
            <a:off x="713382" y="5054141"/>
            <a:ext cx="5791200" cy="2476441"/>
          </a:xfrm>
          <a:prstGeom prst="rect">
            <a:avLst/>
          </a:prstGeom>
          <a:noFill/>
          <a:ln/>
        </p:spPr>
        <p:txBody>
          <a:bodyPr wrap="square" lIns="0" tIns="0" rIns="0" bIns="0" rtlCol="0" anchor="t"/>
          <a:lstStyle/>
          <a:p>
            <a:pPr algn="l">
              <a:lnSpc>
                <a:spcPts val="1900"/>
              </a:lnSpc>
            </a:pPr>
            <a:r>
              <a:rPr lang="en-US" sz="2400" dirty="0">
                <a:latin typeface="PT Serif" panose="020A0603040505020204" pitchFamily="18" charset="0"/>
              </a:rPr>
              <a:t>4. </a:t>
            </a:r>
            <a:r>
              <a:rPr lang="en-US" sz="2400" dirty="0">
                <a:solidFill>
                  <a:srgbClr val="383838"/>
                </a:solidFill>
                <a:latin typeface="PT Serif" panose="020A0603040505020204" pitchFamily="18" charset="0"/>
                <a:ea typeface="PT Serif" pitchFamily="34" charset="-122"/>
                <a:cs typeface="PT Serif" pitchFamily="34" charset="-120"/>
              </a:rPr>
              <a:t>Deep Learning Revolution</a:t>
            </a:r>
            <a:endParaRPr lang="en-US" sz="2400" dirty="0">
              <a:latin typeface="PT Serif" panose="020A0603040505020204" pitchFamily="18" charset="0"/>
            </a:endParaRPr>
          </a:p>
          <a:p>
            <a:pPr algn="l">
              <a:lnSpc>
                <a:spcPts val="1900"/>
              </a:lnSpc>
            </a:pPr>
            <a:endParaRPr lang="en-US" dirty="0">
              <a:latin typeface="PT Serif" panose="020A0603040505020204" pitchFamily="18" charset="0"/>
            </a:endParaRPr>
          </a:p>
          <a:p>
            <a:pPr algn="l">
              <a:lnSpc>
                <a:spcPct val="150000"/>
              </a:lnSpc>
            </a:pPr>
            <a:r>
              <a:rPr lang="en-US" sz="1800" dirty="0">
                <a:solidFill>
                  <a:srgbClr val="383838"/>
                </a:solidFill>
                <a:latin typeface="PT Serif" panose="020A0603040505020204" pitchFamily="18" charset="0"/>
                <a:ea typeface="DM Sans" pitchFamily="34" charset="-122"/>
                <a:cs typeface="DM Sans" pitchFamily="34" charset="-120"/>
              </a:rPr>
              <a:t>Deep Learning excels with big data and complex patterns in unstructured formats (images, text, audio), but traditional ML remains highly effective for structured business data with smaller datasets.</a:t>
            </a:r>
            <a:endParaRPr lang="en-US" sz="1800" dirty="0">
              <a:latin typeface="PT Serif" panose="020A0603040505020204" pitchFamily="18" charset="0"/>
            </a:endParaRPr>
          </a:p>
          <a:p>
            <a:pPr algn="l">
              <a:lnSpc>
                <a:spcPts val="1900"/>
              </a:lnSpc>
            </a:pPr>
            <a:endParaRPr lang="en-US" dirty="0">
              <a:latin typeface="PT Serif" panose="020A0603040505020204" pitchFamily="18" charset="0"/>
            </a:endParaRPr>
          </a:p>
        </p:txBody>
      </p:sp>
      <p:sp>
        <p:nvSpPr>
          <p:cNvPr id="24" name="Shape 2">
            <a:extLst>
              <a:ext uri="{FF2B5EF4-FFF2-40B4-BE49-F238E27FC236}">
                <a16:creationId xmlns:a16="http://schemas.microsoft.com/office/drawing/2014/main" id="{A84A5F31-82C7-41AB-F14F-56B81142D193}"/>
              </a:ext>
            </a:extLst>
          </p:cNvPr>
          <p:cNvSpPr/>
          <p:nvPr/>
        </p:nvSpPr>
        <p:spPr>
          <a:xfrm>
            <a:off x="7543800" y="4825605"/>
            <a:ext cx="6633484" cy="2388257"/>
          </a:xfrm>
          <a:prstGeom prst="roundRect">
            <a:avLst>
              <a:gd name="adj" fmla="val 1410"/>
            </a:avLst>
          </a:prstGeom>
          <a:solidFill>
            <a:srgbClr val="F2EEEE"/>
          </a:solidFill>
          <a:ln/>
        </p:spPr>
        <p:txBody>
          <a:bodyPr/>
          <a:lstStyle/>
          <a:p>
            <a:endParaRPr lang="en-IN" dirty="0">
              <a:latin typeface="PT Serif" panose="020A0603040505020204" pitchFamily="18" charset="0"/>
            </a:endParaRPr>
          </a:p>
        </p:txBody>
      </p:sp>
      <p:sp>
        <p:nvSpPr>
          <p:cNvPr id="25" name="Text 3">
            <a:extLst>
              <a:ext uri="{FF2B5EF4-FFF2-40B4-BE49-F238E27FC236}">
                <a16:creationId xmlns:a16="http://schemas.microsoft.com/office/drawing/2014/main" id="{E3294D3C-0418-C801-8DB9-F254AEFAC6F0}"/>
              </a:ext>
            </a:extLst>
          </p:cNvPr>
          <p:cNvSpPr/>
          <p:nvPr/>
        </p:nvSpPr>
        <p:spPr>
          <a:xfrm>
            <a:off x="7689092" y="4977371"/>
            <a:ext cx="5791200" cy="2476441"/>
          </a:xfrm>
          <a:prstGeom prst="rect">
            <a:avLst/>
          </a:prstGeom>
          <a:noFill/>
          <a:ln/>
        </p:spPr>
        <p:txBody>
          <a:bodyPr wrap="square" lIns="0" tIns="0" rIns="0" bIns="0" rtlCol="0" anchor="t"/>
          <a:lstStyle/>
          <a:p>
            <a:pPr algn="l">
              <a:lnSpc>
                <a:spcPts val="1900"/>
              </a:lnSpc>
            </a:pPr>
            <a:r>
              <a:rPr lang="en-US" sz="2400" dirty="0">
                <a:latin typeface="PT Serif" panose="020A0603040505020204" pitchFamily="18" charset="0"/>
              </a:rPr>
              <a:t>5. </a:t>
            </a:r>
            <a:r>
              <a:rPr lang="en-US" sz="2400" dirty="0">
                <a:solidFill>
                  <a:srgbClr val="383838"/>
                </a:solidFill>
                <a:latin typeface="PT Serif" panose="020A0603040505020204" pitchFamily="18" charset="0"/>
                <a:ea typeface="PT Serif" pitchFamily="34" charset="-122"/>
                <a:cs typeface="PT Serif" pitchFamily="34" charset="-120"/>
              </a:rPr>
              <a:t>Systematic Implementation</a:t>
            </a:r>
          </a:p>
          <a:p>
            <a:pPr algn="l">
              <a:lnSpc>
                <a:spcPts val="1900"/>
              </a:lnSpc>
            </a:pPr>
            <a:endParaRPr lang="en-US" sz="2400" dirty="0">
              <a:latin typeface="PT Serif" panose="020A0603040505020204" pitchFamily="18" charset="0"/>
            </a:endParaRPr>
          </a:p>
          <a:p>
            <a:pPr algn="l">
              <a:lnSpc>
                <a:spcPct val="150000"/>
              </a:lnSpc>
            </a:pPr>
            <a:r>
              <a:rPr lang="en-US" sz="1800" dirty="0">
                <a:solidFill>
                  <a:srgbClr val="383838"/>
                </a:solidFill>
                <a:latin typeface="PT Serif" panose="020A0603040505020204" pitchFamily="18" charset="0"/>
                <a:ea typeface="DM Sans" pitchFamily="34" charset="-122"/>
                <a:cs typeface="DM Sans" pitchFamily="34" charset="-120"/>
              </a:rPr>
              <a:t>Successful ML projects follow a structured workflow from problem definition through deployment and monitoring, requiring cross-functional collaboration and iterative refinement.</a:t>
            </a:r>
            <a:endParaRPr lang="en-US" sz="1800" dirty="0">
              <a:latin typeface="PT Serif" panose="020A0603040505020204" pitchFamily="18" charset="0"/>
            </a:endParaRPr>
          </a:p>
          <a:p>
            <a:pPr algn="l">
              <a:lnSpc>
                <a:spcPts val="1900"/>
              </a:lnSpc>
            </a:pPr>
            <a:endParaRPr lang="en-US" dirty="0">
              <a:latin typeface="PT Serif" panose="020A0603040505020204" pitchFamily="18" charset="0"/>
            </a:endParaRPr>
          </a:p>
        </p:txBody>
      </p:sp>
      <p:sp>
        <p:nvSpPr>
          <p:cNvPr id="26" name="Text 31">
            <a:extLst>
              <a:ext uri="{FF2B5EF4-FFF2-40B4-BE49-F238E27FC236}">
                <a16:creationId xmlns:a16="http://schemas.microsoft.com/office/drawing/2014/main" id="{E07AB141-1DF5-6B6F-2B0A-DC69FE07DBED}"/>
              </a:ext>
            </a:extLst>
          </p:cNvPr>
          <p:cNvSpPr/>
          <p:nvPr/>
        </p:nvSpPr>
        <p:spPr>
          <a:xfrm>
            <a:off x="466145" y="7451409"/>
            <a:ext cx="13042821" cy="595313"/>
          </a:xfrm>
          <a:prstGeom prst="rect">
            <a:avLst/>
          </a:prstGeom>
          <a:noFill/>
          <a:ln/>
        </p:spPr>
        <p:txBody>
          <a:bodyPr wrap="square" lIns="0" tIns="0" rIns="0" bIns="0" rtlCol="0" anchor="t"/>
          <a:lstStyle/>
          <a:p>
            <a:pPr marL="0" indent="0" algn="l">
              <a:lnSpc>
                <a:spcPts val="2300"/>
              </a:lnSpc>
              <a:buNone/>
            </a:pPr>
            <a:r>
              <a:rPr lang="en-US" dirty="0">
                <a:solidFill>
                  <a:srgbClr val="383838"/>
                </a:solidFill>
                <a:latin typeface="PT Serif" panose="020A0603040505020204" pitchFamily="18" charset="0"/>
                <a:ea typeface="DM Sans" pitchFamily="34" charset="-122"/>
                <a:cs typeface="DM Sans" pitchFamily="34" charset="-120"/>
              </a:rPr>
              <a:t>Machine Learning transforms how organizations leverage data to solve complex problems, creating adaptive systems that improve over time and deliver measurable business value.</a:t>
            </a:r>
            <a:endParaRPr lang="en-US" dirty="0">
              <a:latin typeface="PT Serif" panose="020A0603040505020204" pitchFamily="18" charset="0"/>
            </a:endParaRPr>
          </a:p>
        </p:txBody>
      </p:sp>
    </p:spTree>
    <p:extLst>
      <p:ext uri="{BB962C8B-B14F-4D97-AF65-F5344CB8AC3E}">
        <p14:creationId xmlns:p14="http://schemas.microsoft.com/office/powerpoint/2010/main" val="3546163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485</TotalTime>
  <Words>2225</Words>
  <Application>Microsoft Macintosh PowerPoint</Application>
  <PresentationFormat>Custom</PresentationFormat>
  <Paragraphs>288</Paragraphs>
  <Slides>16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DM Sans</vt:lpstr>
      <vt:lpstr>Lucida Sans Unicode</vt:lpstr>
      <vt:lpstr>PT Serif</vt:lpstr>
      <vt:lpstr>PT Serif Light</vt:lpstr>
      <vt:lpstr>Office Theme</vt:lpstr>
      <vt:lpstr>PowerPoint Presentation</vt:lpstr>
      <vt:lpstr>PowerPoint Presentation</vt:lpstr>
      <vt:lpstr>What is Machine Learning?</vt:lpstr>
      <vt:lpstr>Core Components of Machine Learning Systems</vt:lpstr>
      <vt:lpstr>Rule-Based Systems: The Traditional Approach </vt:lpstr>
      <vt:lpstr>Machine Learning Systems: The Modern Solution</vt:lpstr>
      <vt:lpstr>Comparative Analysis: Rules vs Machine Learning </vt:lpstr>
      <vt:lpstr>Supervised Learning: Learning from Labeled Examples</vt:lpstr>
      <vt:lpstr>Unsupervised and Semi-Supervised Learning</vt:lpstr>
      <vt:lpstr>Reinforcement Learning: Learning Through Experience</vt:lpstr>
      <vt:lpstr>ML Method Categories and Common Algorithms</vt:lpstr>
      <vt:lpstr>Classical Statistics vs Machine Learning</vt:lpstr>
      <vt:lpstr>Real-World Case Studies</vt:lpstr>
      <vt:lpstr>The Machine Learning Workflow Pipeline</vt:lpstr>
      <vt:lpstr>Machine Learning vs Deep Learning</vt:lpstr>
      <vt:lpstr>Key Takeaways: Machine Learning Fundamentals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Vinayak Deshpande</cp:lastModifiedBy>
  <cp:revision>180</cp:revision>
  <dcterms:created xsi:type="dcterms:W3CDTF">2025-08-01T06:43:07Z</dcterms:created>
  <dcterms:modified xsi:type="dcterms:W3CDTF">2025-12-13T10:38:15Z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Microsoft® PowerPoint® 2021</vt:lpwstr>
  </property>
  <property fmtid="{D5CDD505-2E9C-101B-9397-08002B2CF9AE}" pid="4" name="LastSaved">
    <vt:filetime>2025-08-01T00:00:00Z</vt:filetime>
  </property>
  <property fmtid="{D5CDD505-2E9C-101B-9397-08002B2CF9AE}" pid="5" name="Producer">
    <vt:lpwstr>Microsoft® PowerPoint® 2021</vt:lpwstr>
  </property>
</Properties>
</file>