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74" r:id="rId2"/>
    <p:sldId id="315" r:id="rId3"/>
    <p:sldId id="300" r:id="rId4"/>
    <p:sldId id="326" r:id="rId5"/>
    <p:sldId id="327" r:id="rId6"/>
    <p:sldId id="328" r:id="rId7"/>
    <p:sldId id="329" r:id="rId8"/>
    <p:sldId id="330" r:id="rId9"/>
    <p:sldId id="323" r:id="rId10"/>
    <p:sldId id="333" r:id="rId11"/>
    <p:sldId id="332" r:id="rId12"/>
    <p:sldId id="304" r:id="rId13"/>
  </p:sldIdLst>
  <p:sldSz cx="14630400" cy="8229600"/>
  <p:notesSz cx="14630400" cy="82296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48891F-FB35-E1C6-2832-95F5AEC01C35}" v="1" dt="2025-11-06T07:40:41.12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2891" autoAdjust="0"/>
  </p:normalViewPr>
  <p:slideViewPr>
    <p:cSldViewPr>
      <p:cViewPr varScale="1">
        <p:scale>
          <a:sx n="84" d="100"/>
          <a:sy n="84" d="100"/>
        </p:scale>
        <p:origin x="1000" y="19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DD48891F-FB35-E1C6-2832-95F5AEC01C35}"/>
    <pc:docChg chg="modSld">
      <pc:chgData name="Guest User" userId="" providerId="Windows Live" clId="Web-{DD48891F-FB35-E1C6-2832-95F5AEC01C35}" dt="2025-11-06T07:40:41.129" v="0" actId="1076"/>
      <pc:docMkLst>
        <pc:docMk/>
      </pc:docMkLst>
      <pc:sldChg chg="modSp">
        <pc:chgData name="Guest User" userId="" providerId="Windows Live" clId="Web-{DD48891F-FB35-E1C6-2832-95F5AEC01C35}" dt="2025-11-06T07:40:41.129" v="0" actId="1076"/>
        <pc:sldMkLst>
          <pc:docMk/>
          <pc:sldMk cId="0" sldId="260"/>
        </pc:sldMkLst>
        <pc:spChg chg="mod">
          <ac:chgData name="Guest User" userId="" providerId="Windows Live" clId="Web-{DD48891F-FB35-E1C6-2832-95F5AEC01C35}" dt="2025-11-06T07:40:41.129" v="0" actId="1076"/>
          <ac:spMkLst>
            <pc:docMk/>
            <pc:sldMk cId="0" sldId="260"/>
            <ac:spMk id="11" creationId="{1729E060-4A6E-E272-7665-9392F1B6E4F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6340475" cy="41275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8286750" y="0"/>
            <a:ext cx="6340475" cy="412750"/>
          </a:xfrm>
          <a:prstGeom prst="rect">
            <a:avLst/>
          </a:prstGeom>
        </p:spPr>
        <p:txBody>
          <a:bodyPr vert="horz" lIns="91440" tIns="45720" rIns="91440" bIns="45720" rtlCol="0"/>
          <a:lstStyle>
            <a:lvl1pPr algn="r">
              <a:defRPr sz="1200"/>
            </a:lvl1pPr>
          </a:lstStyle>
          <a:p>
            <a:fld id="{04E097FF-D63A-4701-9D59-A7186DD4FFE5}" type="datetimeFigureOut">
              <a:rPr lang="en-IN" smtClean="0"/>
              <a:t>14/12/25</a:t>
            </a:fld>
            <a:endParaRPr lang="en-IN"/>
          </a:p>
        </p:txBody>
      </p:sp>
      <p:sp>
        <p:nvSpPr>
          <p:cNvPr id="4" name="Slide Image Placeholder 3"/>
          <p:cNvSpPr>
            <a:spLocks noGrp="1" noRot="1" noChangeAspect="1"/>
          </p:cNvSpPr>
          <p:nvPr>
            <p:ph type="sldImg" idx="2"/>
          </p:nvPr>
        </p:nvSpPr>
        <p:spPr>
          <a:xfrm>
            <a:off x="4845050" y="1028700"/>
            <a:ext cx="4940300" cy="27781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463675" y="3960813"/>
            <a:ext cx="11703050" cy="32400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816850"/>
            <a:ext cx="6340475" cy="41275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8286750" y="7816850"/>
            <a:ext cx="6340475" cy="412750"/>
          </a:xfrm>
          <a:prstGeom prst="rect">
            <a:avLst/>
          </a:prstGeom>
        </p:spPr>
        <p:txBody>
          <a:bodyPr vert="horz" lIns="91440" tIns="45720" rIns="91440" bIns="45720" rtlCol="0" anchor="b"/>
          <a:lstStyle>
            <a:lvl1pPr algn="r">
              <a:defRPr sz="1200"/>
            </a:lvl1pPr>
          </a:lstStyle>
          <a:p>
            <a:fld id="{986E45C9-D4C9-4BB9-AC1A-6D12C2483BB1}" type="slidenum">
              <a:rPr lang="en-IN" smtClean="0"/>
              <a:t>‹#›</a:t>
            </a:fld>
            <a:endParaRPr lang="en-IN"/>
          </a:p>
        </p:txBody>
      </p:sp>
    </p:spTree>
    <p:extLst>
      <p:ext uri="{BB962C8B-B14F-4D97-AF65-F5344CB8AC3E}">
        <p14:creationId xmlns:p14="http://schemas.microsoft.com/office/powerpoint/2010/main" val="1837676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FC471-F21A-8034-1182-7EC20A462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32DEB8-E147-4787-5FDF-AACC13D35E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F521C-0896-D5EA-62D4-7B080E31F4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F912D4-651F-022F-E212-0668CF912244}"/>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142438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6E45C9-D4C9-4BB9-AC1A-6D12C2483BB1}" type="slidenum">
              <a:rPr lang="en-IN" smtClean="0"/>
              <a:t>9</a:t>
            </a:fld>
            <a:endParaRPr lang="en-IN"/>
          </a:p>
        </p:txBody>
      </p:sp>
    </p:spTree>
    <p:extLst>
      <p:ext uri="{BB962C8B-B14F-4D97-AF65-F5344CB8AC3E}">
        <p14:creationId xmlns:p14="http://schemas.microsoft.com/office/powerpoint/2010/main" val="12791000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6E45C9-D4C9-4BB9-AC1A-6D12C2483BB1}" type="slidenum">
              <a:rPr lang="en-IN" smtClean="0"/>
              <a:t>12</a:t>
            </a:fld>
            <a:endParaRPr lang="en-IN"/>
          </a:p>
        </p:txBody>
      </p:sp>
    </p:spTree>
    <p:extLst>
      <p:ext uri="{BB962C8B-B14F-4D97-AF65-F5344CB8AC3E}">
        <p14:creationId xmlns:p14="http://schemas.microsoft.com/office/powerpoint/2010/main" val="3728505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type="body" idx="1"/>
          </p:nvPr>
        </p:nvSpPr>
        <p:spPr/>
        <p:txBody>
          <a:bodyPr lIns="0" tIns="0" rIns="0" bIns="0"/>
          <a:lstStyle>
            <a:lvl1pPr>
              <a:defRPr sz="2800" b="0" i="0">
                <a:solidFill>
                  <a:srgbClr val="272C45"/>
                </a:solidFill>
                <a:latin typeface="PT Serif" panose="020A0603040505020204" pitchFamily="18" charset="0"/>
                <a:cs typeface="Lucida Sans Unicode"/>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206A85DC-158A-6A4D-AEC5-3C4D0AA39301}" type="datetime1">
              <a:rPr lang="en-IN" smtClean="0"/>
              <a:t>14/12/25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sz="half" idx="2"/>
          </p:nvPr>
        </p:nvSpPr>
        <p:spPr>
          <a:xfrm>
            <a:off x="731520" y="1892808"/>
            <a:ext cx="6364224" cy="430887"/>
          </a:xfrm>
          <a:prstGeom prst="rect">
            <a:avLst/>
          </a:prstGeom>
        </p:spPr>
        <p:txBody>
          <a:bodyPr wrap="square" lIns="0" tIns="0" rIns="0" bIns="0">
            <a:spAutoFit/>
          </a:bodyPr>
          <a:lstStyle>
            <a:lvl1pPr>
              <a:defRPr>
                <a:latin typeface="PT Serif" panose="020A0603040505020204" pitchFamily="18" charset="0"/>
              </a:defRPr>
            </a:lvl1pPr>
          </a:lstStyle>
          <a:p>
            <a:endParaRPr dirty="0"/>
          </a:p>
        </p:txBody>
      </p:sp>
      <p:sp>
        <p:nvSpPr>
          <p:cNvPr id="4" name="Holder 4"/>
          <p:cNvSpPr>
            <a:spLocks noGrp="1"/>
          </p:cNvSpPr>
          <p:nvPr>
            <p:ph sz="half" idx="3"/>
          </p:nvPr>
        </p:nvSpPr>
        <p:spPr>
          <a:xfrm>
            <a:off x="7534656" y="1892808"/>
            <a:ext cx="6364224" cy="430887"/>
          </a:xfrm>
          <a:prstGeom prst="rect">
            <a:avLst/>
          </a:prstGeom>
        </p:spPr>
        <p:txBody>
          <a:bodyPr wrap="square" lIns="0" tIns="0" rIns="0" bIns="0">
            <a:spAutoFit/>
          </a:bodyPr>
          <a:lstStyle>
            <a:lvl1pPr>
              <a:defRPr>
                <a:latin typeface="PT Serif" panose="020A0603040505020204" pitchFamily="18" charset="0"/>
              </a:defRPr>
            </a:lvl1pPr>
          </a:lstStyle>
          <a:p>
            <a:endParaRPr dirty="0"/>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3A60CBE1-E654-804F-8DD3-1999B1EAA43E}" type="datetime1">
              <a:rPr lang="en-IN" smtClean="0"/>
              <a:t>14/12/25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0C0E4A29-2FA4-5F43-8886-1C2CFE02D9AE}" type="datetime1">
              <a:rPr lang="en-IN" smtClean="0"/>
              <a:t>14/12/25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extLst>
      <p:ext uri="{BB962C8B-B14F-4D97-AF65-F5344CB8AC3E}">
        <p14:creationId xmlns:p14="http://schemas.microsoft.com/office/powerpoint/2010/main" val="4162544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87172" y="401522"/>
            <a:ext cx="13656055" cy="569387"/>
          </a:xfrm>
          <a:prstGeom prst="rect">
            <a:avLst/>
          </a:prstGeom>
        </p:spPr>
        <p:txBody>
          <a:bodyPr wrap="square" lIns="0" tIns="0" rIns="0" bIns="0">
            <a:spAutoFit/>
          </a:bodyPr>
          <a:lstStyle>
            <a:lvl1pPr>
              <a:defRPr sz="3700" b="0" i="0">
                <a:solidFill>
                  <a:srgbClr val="272C45"/>
                </a:solidFill>
                <a:latin typeface="Lucida Sans Unicode"/>
                <a:cs typeface="Lucida Sans Unicode"/>
              </a:defRPr>
            </a:lvl1pPr>
          </a:lstStyle>
          <a:p>
            <a:endParaRPr dirty="0"/>
          </a:p>
        </p:txBody>
      </p:sp>
      <p:sp>
        <p:nvSpPr>
          <p:cNvPr id="3" name="Holder 3"/>
          <p:cNvSpPr>
            <a:spLocks noGrp="1"/>
          </p:cNvSpPr>
          <p:nvPr>
            <p:ph type="body" idx="1"/>
          </p:nvPr>
        </p:nvSpPr>
        <p:spPr>
          <a:xfrm>
            <a:off x="5769609" y="3090163"/>
            <a:ext cx="7381240" cy="430887"/>
          </a:xfrm>
          <a:prstGeom prst="rect">
            <a:avLst/>
          </a:prstGeom>
        </p:spPr>
        <p:txBody>
          <a:bodyPr wrap="square" lIns="0" tIns="0" rIns="0" bIns="0">
            <a:spAutoFit/>
          </a:bodyPr>
          <a:lstStyle>
            <a:lvl1pPr>
              <a:defRPr sz="2800" b="0" i="0">
                <a:solidFill>
                  <a:srgbClr val="272C45"/>
                </a:solidFill>
                <a:latin typeface="Lucida Sans Unicode"/>
                <a:cs typeface="Lucida Sans Unicode"/>
              </a:defRPr>
            </a:lvl1pPr>
          </a:lstStyle>
          <a:p>
            <a:endParaRPr dirty="0"/>
          </a:p>
        </p:txBody>
      </p:sp>
      <p:sp>
        <p:nvSpPr>
          <p:cNvPr id="4" name="Holder 4"/>
          <p:cNvSpPr>
            <a:spLocks noGrp="1"/>
          </p:cNvSpPr>
          <p:nvPr>
            <p:ph type="ftr" sz="quarter" idx="5"/>
          </p:nvPr>
        </p:nvSpPr>
        <p:spPr>
          <a:xfrm>
            <a:off x="4974336" y="7653528"/>
            <a:ext cx="4681728" cy="41148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731520" y="7653528"/>
            <a:ext cx="3364992" cy="411480"/>
          </a:xfrm>
          <a:prstGeom prst="rect">
            <a:avLst/>
          </a:prstGeom>
        </p:spPr>
        <p:txBody>
          <a:bodyPr wrap="square" lIns="0" tIns="0" rIns="0" bIns="0">
            <a:spAutoFit/>
          </a:bodyPr>
          <a:lstStyle>
            <a:lvl1pPr algn="l">
              <a:defRPr>
                <a:solidFill>
                  <a:schemeClr val="tx1">
                    <a:tint val="75000"/>
                  </a:schemeClr>
                </a:solidFill>
              </a:defRPr>
            </a:lvl1pPr>
          </a:lstStyle>
          <a:p>
            <a:fld id="{9D47C385-8D9F-4541-81D3-BBF55B3B60AF}" type="datetime1">
              <a:rPr lang="en-IN" smtClean="0"/>
              <a:t>14/12/25</a:t>
            </a:fld>
            <a:endParaRPr lang="en-US"/>
          </a:p>
        </p:txBody>
      </p:sp>
      <p:sp>
        <p:nvSpPr>
          <p:cNvPr id="6" name="Holder 6"/>
          <p:cNvSpPr>
            <a:spLocks noGrp="1"/>
          </p:cNvSpPr>
          <p:nvPr>
            <p:ph type="sldNum" sz="quarter" idx="7"/>
          </p:nvPr>
        </p:nvSpPr>
        <p:spPr>
          <a:xfrm>
            <a:off x="10533888" y="7653528"/>
            <a:ext cx="3364992" cy="4114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Lst>
  <p:hf sldNum="0" hdr="0" ftr="0" dt="0"/>
  <p:txStyles>
    <p:titleStyle>
      <a:lvl1pPr>
        <a:defRPr>
          <a:latin typeface="PT Serif" panose="020A0603040505020204" pitchFamily="18" charset="0"/>
          <a:ea typeface="+mj-ea"/>
          <a:cs typeface="+mj-cs"/>
        </a:defRPr>
      </a:lvl1pPr>
    </p:titleStyle>
    <p:bodyStyle>
      <a:lvl1pPr marL="0">
        <a:defRPr>
          <a:latin typeface="PT Serif" panose="020A0603040505020204"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48BBC-7E6C-F114-F782-376A30F06152}"/>
            </a:ext>
          </a:extLst>
        </p:cNvPr>
        <p:cNvGrpSpPr/>
        <p:nvPr/>
      </p:nvGrpSpPr>
      <p:grpSpPr>
        <a:xfrm>
          <a:off x="0" y="0"/>
          <a:ext cx="0" cy="0"/>
          <a:chOff x="0" y="0"/>
          <a:chExt cx="0" cy="0"/>
        </a:xfrm>
      </p:grpSpPr>
      <p:sp>
        <p:nvSpPr>
          <p:cNvPr id="21" name="Text 0">
            <a:extLst>
              <a:ext uri="{FF2B5EF4-FFF2-40B4-BE49-F238E27FC236}">
                <a16:creationId xmlns:a16="http://schemas.microsoft.com/office/drawing/2014/main" id="{F82AA0A4-B4C8-BFF7-1622-4303CB7DF1F3}"/>
              </a:ext>
            </a:extLst>
          </p:cNvPr>
          <p:cNvSpPr/>
          <p:nvPr/>
        </p:nvSpPr>
        <p:spPr>
          <a:xfrm>
            <a:off x="776536" y="2133600"/>
            <a:ext cx="7058739"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anose="020A0603040505020204" pitchFamily="18" charset="0"/>
                <a:ea typeface="PT Serif" pitchFamily="34" charset="-122"/>
                <a:cs typeface="PT Serif" pitchFamily="34" charset="-120"/>
              </a:rPr>
              <a:t>Binary Logistic Regression</a:t>
            </a:r>
            <a:endParaRPr lang="en-US" sz="4100" dirty="0">
              <a:latin typeface="PT Serif" panose="020A0603040505020204" pitchFamily="18" charset="0"/>
            </a:endParaRPr>
          </a:p>
        </p:txBody>
      </p:sp>
      <p:sp>
        <p:nvSpPr>
          <p:cNvPr id="4" name="Text 1">
            <a:extLst>
              <a:ext uri="{FF2B5EF4-FFF2-40B4-BE49-F238E27FC236}">
                <a16:creationId xmlns:a16="http://schemas.microsoft.com/office/drawing/2014/main" id="{FD42CD41-8F20-A14D-B0D2-A8DC70160B98}"/>
              </a:ext>
            </a:extLst>
          </p:cNvPr>
          <p:cNvSpPr/>
          <p:nvPr/>
        </p:nvSpPr>
        <p:spPr>
          <a:xfrm>
            <a:off x="757539" y="3048000"/>
            <a:ext cx="8074166" cy="651272"/>
          </a:xfrm>
          <a:prstGeom prst="rect">
            <a:avLst/>
          </a:prstGeom>
          <a:noFill/>
          <a:ln/>
        </p:spPr>
        <p:txBody>
          <a:bodyPr wrap="square" lIns="0" tIns="0" rIns="0" bIns="0" rtlCol="0" anchor="t"/>
          <a:lstStyle/>
          <a:p>
            <a:pPr marL="0" indent="0" algn="l">
              <a:buNone/>
            </a:pPr>
            <a:r>
              <a:rPr lang="en-US" sz="2400" dirty="0">
                <a:solidFill>
                  <a:srgbClr val="020202"/>
                </a:solidFill>
                <a:latin typeface="PT Serif" pitchFamily="34" charset="0"/>
                <a:ea typeface="PT Serif" pitchFamily="34" charset="-122"/>
                <a:cs typeface="PT Serif" pitchFamily="34" charset="-120"/>
              </a:rPr>
              <a:t>A Machine Learning Approach</a:t>
            </a:r>
            <a:endParaRPr lang="en-US" sz="2400" dirty="0"/>
          </a:p>
        </p:txBody>
      </p:sp>
    </p:spTree>
    <p:extLst>
      <p:ext uri="{BB962C8B-B14F-4D97-AF65-F5344CB8AC3E}">
        <p14:creationId xmlns:p14="http://schemas.microsoft.com/office/powerpoint/2010/main" val="4248201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722AC495-E35E-7ED2-E96E-FD48ADFDBE77}"/>
              </a:ext>
            </a:extLst>
          </p:cNvPr>
          <p:cNvSpPr>
            <a:spLocks noGrp="1"/>
          </p:cNvSpPr>
          <p:nvPr>
            <p:ph type="title"/>
          </p:nvPr>
        </p:nvSpPr>
        <p:spPr>
          <a:xfrm>
            <a:off x="669545" y="324416"/>
            <a:ext cx="13656055" cy="1123384"/>
          </a:xfrm>
        </p:spPr>
        <p:txBody>
          <a:bodyPr/>
          <a:lstStyle/>
          <a:p>
            <a:r>
              <a:rPr lang="en-US" sz="3600" dirty="0">
                <a:solidFill>
                  <a:srgbClr val="020202"/>
                </a:solidFill>
                <a:ea typeface="PT Serif" pitchFamily="34" charset="-122"/>
                <a:cs typeface="PT Serif" pitchFamily="34" charset="-120"/>
              </a:rPr>
              <a:t>Contents</a:t>
            </a:r>
            <a:br>
              <a:rPr lang="en-US" sz="3600" dirty="0"/>
            </a:br>
            <a:endParaRPr lang="en-IN" dirty="0"/>
          </a:p>
        </p:txBody>
      </p:sp>
      <p:sp>
        <p:nvSpPr>
          <p:cNvPr id="36" name="Text 0">
            <a:extLst>
              <a:ext uri="{FF2B5EF4-FFF2-40B4-BE49-F238E27FC236}">
                <a16:creationId xmlns:a16="http://schemas.microsoft.com/office/drawing/2014/main" id="{9E915268-69CC-069E-BD94-968A96D74DA6}"/>
              </a:ext>
            </a:extLst>
          </p:cNvPr>
          <p:cNvSpPr/>
          <p:nvPr/>
        </p:nvSpPr>
        <p:spPr>
          <a:xfrm>
            <a:off x="793790" y="553240"/>
            <a:ext cx="4763333" cy="595432"/>
          </a:xfrm>
          <a:prstGeom prst="rect">
            <a:avLst/>
          </a:prstGeom>
          <a:noFill/>
          <a:ln/>
        </p:spPr>
        <p:txBody>
          <a:bodyPr wrap="none" lIns="0" tIns="0" rIns="0" bIns="0" rtlCol="0" anchor="t"/>
          <a:lstStyle/>
          <a:p>
            <a:pPr marL="0" indent="0" algn="l">
              <a:lnSpc>
                <a:spcPts val="4650"/>
              </a:lnSpc>
              <a:buNone/>
            </a:pPr>
            <a:endParaRPr lang="en-US" sz="3750" dirty="0">
              <a:latin typeface="PT Serif" panose="020A0603040505020204" pitchFamily="18" charset="0"/>
            </a:endParaRPr>
          </a:p>
        </p:txBody>
      </p:sp>
      <p:sp>
        <p:nvSpPr>
          <p:cNvPr id="37" name="Text 1">
            <a:extLst>
              <a:ext uri="{FF2B5EF4-FFF2-40B4-BE49-F238E27FC236}">
                <a16:creationId xmlns:a16="http://schemas.microsoft.com/office/drawing/2014/main" id="{016CBBA6-B9AB-B165-C2EF-2A9728A38D55}"/>
              </a:ext>
            </a:extLst>
          </p:cNvPr>
          <p:cNvSpPr/>
          <p:nvPr/>
        </p:nvSpPr>
        <p:spPr>
          <a:xfrm>
            <a:off x="793790" y="1602300"/>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cs typeface="PT Serif Light" pitchFamily="34" charset="-120"/>
              </a:rPr>
              <a:t>01</a:t>
            </a:r>
            <a:endParaRPr lang="en-US" sz="1750" dirty="0">
              <a:latin typeface="PT Serif" panose="020A0603040505020204" pitchFamily="18" charset="0"/>
            </a:endParaRPr>
          </a:p>
        </p:txBody>
      </p:sp>
      <p:sp>
        <p:nvSpPr>
          <p:cNvPr id="38" name="Shape 2">
            <a:extLst>
              <a:ext uri="{FF2B5EF4-FFF2-40B4-BE49-F238E27FC236}">
                <a16:creationId xmlns:a16="http://schemas.microsoft.com/office/drawing/2014/main" id="{7BC3F5DC-13B2-EF7D-1AFD-760FEE3BA591}"/>
              </a:ext>
            </a:extLst>
          </p:cNvPr>
          <p:cNvSpPr/>
          <p:nvPr/>
        </p:nvSpPr>
        <p:spPr>
          <a:xfrm>
            <a:off x="793790" y="1957344"/>
            <a:ext cx="6407944" cy="30480"/>
          </a:xfrm>
          <a:prstGeom prst="rect">
            <a:avLst/>
          </a:prstGeom>
          <a:solidFill>
            <a:srgbClr val="E04F00"/>
          </a:solidFill>
          <a:ln/>
        </p:spPr>
      </p:sp>
      <p:sp>
        <p:nvSpPr>
          <p:cNvPr id="39" name="Text 3">
            <a:extLst>
              <a:ext uri="{FF2B5EF4-FFF2-40B4-BE49-F238E27FC236}">
                <a16:creationId xmlns:a16="http://schemas.microsoft.com/office/drawing/2014/main" id="{E7C55DC6-75BF-FC3A-76DA-C052810AC8D0}"/>
              </a:ext>
            </a:extLst>
          </p:cNvPr>
          <p:cNvSpPr/>
          <p:nvPr/>
        </p:nvSpPr>
        <p:spPr>
          <a:xfrm>
            <a:off x="793790" y="2131652"/>
            <a:ext cx="4370308"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anose="020A0603040505020204" pitchFamily="18" charset="0"/>
              </a:rPr>
              <a:t>Binary Logistic Regression-Recap</a:t>
            </a:r>
            <a:endParaRPr lang="en-US" sz="2300" dirty="0">
              <a:latin typeface="PT Serif" panose="020A0603040505020204" pitchFamily="18" charset="0"/>
            </a:endParaRPr>
          </a:p>
        </p:txBody>
      </p:sp>
      <p:sp>
        <p:nvSpPr>
          <p:cNvPr id="40" name="Text 4">
            <a:extLst>
              <a:ext uri="{FF2B5EF4-FFF2-40B4-BE49-F238E27FC236}">
                <a16:creationId xmlns:a16="http://schemas.microsoft.com/office/drawing/2014/main" id="{20361C90-C835-AC84-275D-CE4BB4276942}"/>
              </a:ext>
            </a:extLst>
          </p:cNvPr>
          <p:cNvSpPr/>
          <p:nvPr/>
        </p:nvSpPr>
        <p:spPr>
          <a:xfrm>
            <a:off x="7428548" y="1602300"/>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cs typeface="PT Serif Light" pitchFamily="34" charset="-120"/>
              </a:rPr>
              <a:t>02</a:t>
            </a:r>
            <a:endParaRPr lang="en-US" sz="1750" dirty="0">
              <a:latin typeface="PT Serif" panose="020A0603040505020204" pitchFamily="18" charset="0"/>
            </a:endParaRPr>
          </a:p>
        </p:txBody>
      </p:sp>
      <p:sp>
        <p:nvSpPr>
          <p:cNvPr id="41" name="Shape 5">
            <a:extLst>
              <a:ext uri="{FF2B5EF4-FFF2-40B4-BE49-F238E27FC236}">
                <a16:creationId xmlns:a16="http://schemas.microsoft.com/office/drawing/2014/main" id="{2E52F9A3-FE7C-0563-69FB-604CF6A26D07}"/>
              </a:ext>
            </a:extLst>
          </p:cNvPr>
          <p:cNvSpPr/>
          <p:nvPr/>
        </p:nvSpPr>
        <p:spPr>
          <a:xfrm>
            <a:off x="7428548" y="1957344"/>
            <a:ext cx="6408063" cy="30480"/>
          </a:xfrm>
          <a:prstGeom prst="rect">
            <a:avLst/>
          </a:prstGeom>
          <a:solidFill>
            <a:srgbClr val="E04F00"/>
          </a:solidFill>
          <a:ln/>
        </p:spPr>
      </p:sp>
      <p:sp>
        <p:nvSpPr>
          <p:cNvPr id="42" name="Text 6">
            <a:extLst>
              <a:ext uri="{FF2B5EF4-FFF2-40B4-BE49-F238E27FC236}">
                <a16:creationId xmlns:a16="http://schemas.microsoft.com/office/drawing/2014/main" id="{3D69420D-7CDA-0513-91D0-B27945DDFD35}"/>
              </a:ext>
            </a:extLst>
          </p:cNvPr>
          <p:cNvSpPr/>
          <p:nvPr/>
        </p:nvSpPr>
        <p:spPr>
          <a:xfrm>
            <a:off x="7428548" y="2131652"/>
            <a:ext cx="3833217"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anose="020A0603040505020204" pitchFamily="18" charset="0"/>
              </a:rPr>
              <a:t>Binary Logistic Regression-Inferential Approach</a:t>
            </a:r>
            <a:endParaRPr lang="en-US" sz="2300" dirty="0">
              <a:latin typeface="PT Serif" panose="020A0603040505020204" pitchFamily="18" charset="0"/>
            </a:endParaRPr>
          </a:p>
        </p:txBody>
      </p:sp>
      <p:sp>
        <p:nvSpPr>
          <p:cNvPr id="43" name="Text 7">
            <a:extLst>
              <a:ext uri="{FF2B5EF4-FFF2-40B4-BE49-F238E27FC236}">
                <a16:creationId xmlns:a16="http://schemas.microsoft.com/office/drawing/2014/main" id="{572B390E-AA64-55CE-4F93-867FA41B15A0}"/>
              </a:ext>
            </a:extLst>
          </p:cNvPr>
          <p:cNvSpPr/>
          <p:nvPr/>
        </p:nvSpPr>
        <p:spPr>
          <a:xfrm>
            <a:off x="793790" y="2900557"/>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cs typeface="PT Serif Light" pitchFamily="34" charset="-120"/>
              </a:rPr>
              <a:t>03</a:t>
            </a:r>
            <a:endParaRPr lang="en-US" sz="1750" dirty="0">
              <a:latin typeface="PT Serif" panose="020A0603040505020204" pitchFamily="18" charset="0"/>
            </a:endParaRPr>
          </a:p>
        </p:txBody>
      </p:sp>
      <p:sp>
        <p:nvSpPr>
          <p:cNvPr id="44" name="Shape 8">
            <a:extLst>
              <a:ext uri="{FF2B5EF4-FFF2-40B4-BE49-F238E27FC236}">
                <a16:creationId xmlns:a16="http://schemas.microsoft.com/office/drawing/2014/main" id="{A57B1BEA-51F4-B2F0-261D-EE1F5A835AEE}"/>
              </a:ext>
            </a:extLst>
          </p:cNvPr>
          <p:cNvSpPr/>
          <p:nvPr/>
        </p:nvSpPr>
        <p:spPr>
          <a:xfrm>
            <a:off x="793790" y="3255602"/>
            <a:ext cx="6407944" cy="30480"/>
          </a:xfrm>
          <a:prstGeom prst="rect">
            <a:avLst/>
          </a:prstGeom>
          <a:solidFill>
            <a:srgbClr val="E04F00"/>
          </a:solidFill>
          <a:ln/>
        </p:spPr>
      </p:sp>
      <p:sp>
        <p:nvSpPr>
          <p:cNvPr id="45" name="Text 9">
            <a:extLst>
              <a:ext uri="{FF2B5EF4-FFF2-40B4-BE49-F238E27FC236}">
                <a16:creationId xmlns:a16="http://schemas.microsoft.com/office/drawing/2014/main" id="{D9492793-66A3-249D-AEBC-98E67CD9595D}"/>
              </a:ext>
            </a:extLst>
          </p:cNvPr>
          <p:cNvSpPr/>
          <p:nvPr/>
        </p:nvSpPr>
        <p:spPr>
          <a:xfrm>
            <a:off x="793790" y="3429909"/>
            <a:ext cx="3926681" cy="372070"/>
          </a:xfrm>
          <a:prstGeom prst="rect">
            <a:avLst/>
          </a:prstGeom>
          <a:noFill/>
          <a:ln/>
        </p:spPr>
        <p:txBody>
          <a:bodyPr wrap="none" lIns="0" tIns="0" rIns="0" bIns="0" rtlCol="0" anchor="t"/>
          <a:lstStyle/>
          <a:p>
            <a:pPr>
              <a:lnSpc>
                <a:spcPts val="2900"/>
              </a:lnSpc>
            </a:pPr>
            <a:r>
              <a:rPr lang="en-US" sz="2300" dirty="0">
                <a:solidFill>
                  <a:srgbClr val="383838"/>
                </a:solidFill>
                <a:latin typeface="PT Serif" panose="020A0603040505020204" pitchFamily="18" charset="0"/>
              </a:rPr>
              <a:t>Binary Logistic Regression-ML Approach</a:t>
            </a:r>
            <a:endParaRPr lang="en-US" sz="2300" dirty="0">
              <a:latin typeface="PT Serif" panose="020A0603040505020204" pitchFamily="18" charset="0"/>
            </a:endParaRPr>
          </a:p>
        </p:txBody>
      </p:sp>
      <p:sp>
        <p:nvSpPr>
          <p:cNvPr id="46" name="Text 10">
            <a:extLst>
              <a:ext uri="{FF2B5EF4-FFF2-40B4-BE49-F238E27FC236}">
                <a16:creationId xmlns:a16="http://schemas.microsoft.com/office/drawing/2014/main" id="{257D2B40-E3E1-20E4-2910-DF3A7602687A}"/>
              </a:ext>
            </a:extLst>
          </p:cNvPr>
          <p:cNvSpPr/>
          <p:nvPr/>
        </p:nvSpPr>
        <p:spPr>
          <a:xfrm>
            <a:off x="7428548" y="2900557"/>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cs typeface="PT Serif Light" pitchFamily="34" charset="-120"/>
              </a:rPr>
              <a:t>04</a:t>
            </a:r>
            <a:endParaRPr lang="en-US" sz="1750" dirty="0">
              <a:latin typeface="PT Serif" panose="020A0603040505020204" pitchFamily="18" charset="0"/>
            </a:endParaRPr>
          </a:p>
        </p:txBody>
      </p:sp>
      <p:sp>
        <p:nvSpPr>
          <p:cNvPr id="47" name="Shape 11">
            <a:extLst>
              <a:ext uri="{FF2B5EF4-FFF2-40B4-BE49-F238E27FC236}">
                <a16:creationId xmlns:a16="http://schemas.microsoft.com/office/drawing/2014/main" id="{D5F3BEB8-2258-6D61-E349-D27CB8337AA6}"/>
              </a:ext>
            </a:extLst>
          </p:cNvPr>
          <p:cNvSpPr/>
          <p:nvPr/>
        </p:nvSpPr>
        <p:spPr>
          <a:xfrm>
            <a:off x="7428548" y="3255602"/>
            <a:ext cx="6408063" cy="30480"/>
          </a:xfrm>
          <a:prstGeom prst="rect">
            <a:avLst/>
          </a:prstGeom>
          <a:solidFill>
            <a:srgbClr val="E04F00"/>
          </a:solidFill>
          <a:ln/>
        </p:spPr>
      </p:sp>
      <p:sp>
        <p:nvSpPr>
          <p:cNvPr id="48" name="Text 12">
            <a:extLst>
              <a:ext uri="{FF2B5EF4-FFF2-40B4-BE49-F238E27FC236}">
                <a16:creationId xmlns:a16="http://schemas.microsoft.com/office/drawing/2014/main" id="{4F6C8DA7-AB62-C992-696F-8A1236E8EB39}"/>
              </a:ext>
            </a:extLst>
          </p:cNvPr>
          <p:cNvSpPr/>
          <p:nvPr/>
        </p:nvSpPr>
        <p:spPr>
          <a:xfrm>
            <a:off x="7428548" y="3429909"/>
            <a:ext cx="3837027"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anose="020A0603040505020204" pitchFamily="18" charset="0"/>
              </a:rPr>
              <a:t>Cross Validation </a:t>
            </a:r>
            <a:endParaRPr lang="en-US" sz="2300" dirty="0">
              <a:latin typeface="PT Serif" panose="020A0603040505020204" pitchFamily="18" charset="0"/>
            </a:endParaRPr>
          </a:p>
        </p:txBody>
      </p:sp>
      <p:sp>
        <p:nvSpPr>
          <p:cNvPr id="49" name="Text 13">
            <a:extLst>
              <a:ext uri="{FF2B5EF4-FFF2-40B4-BE49-F238E27FC236}">
                <a16:creationId xmlns:a16="http://schemas.microsoft.com/office/drawing/2014/main" id="{7197A721-7FD3-3F63-F25B-C6958DC57722}"/>
              </a:ext>
            </a:extLst>
          </p:cNvPr>
          <p:cNvSpPr/>
          <p:nvPr/>
        </p:nvSpPr>
        <p:spPr>
          <a:xfrm>
            <a:off x="793790" y="4198815"/>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cs typeface="PT Serif Light" pitchFamily="34" charset="-120"/>
              </a:rPr>
              <a:t>05</a:t>
            </a:r>
            <a:endParaRPr lang="en-US" sz="1750" dirty="0">
              <a:latin typeface="PT Serif" panose="020A0603040505020204" pitchFamily="18" charset="0"/>
            </a:endParaRPr>
          </a:p>
        </p:txBody>
      </p:sp>
      <p:sp>
        <p:nvSpPr>
          <p:cNvPr id="50" name="Shape 14">
            <a:extLst>
              <a:ext uri="{FF2B5EF4-FFF2-40B4-BE49-F238E27FC236}">
                <a16:creationId xmlns:a16="http://schemas.microsoft.com/office/drawing/2014/main" id="{BD40A4AB-27E5-6A2C-4741-E0E4E6E3F084}"/>
              </a:ext>
            </a:extLst>
          </p:cNvPr>
          <p:cNvSpPr/>
          <p:nvPr/>
        </p:nvSpPr>
        <p:spPr>
          <a:xfrm>
            <a:off x="793790" y="4553859"/>
            <a:ext cx="6407944" cy="30480"/>
          </a:xfrm>
          <a:prstGeom prst="rect">
            <a:avLst/>
          </a:prstGeom>
          <a:solidFill>
            <a:srgbClr val="E04F00"/>
          </a:solidFill>
          <a:ln/>
        </p:spPr>
      </p:sp>
      <p:sp>
        <p:nvSpPr>
          <p:cNvPr id="51" name="Text 15">
            <a:extLst>
              <a:ext uri="{FF2B5EF4-FFF2-40B4-BE49-F238E27FC236}">
                <a16:creationId xmlns:a16="http://schemas.microsoft.com/office/drawing/2014/main" id="{B9947E46-7BAA-FAAB-FAB3-7CF49BB05E15}"/>
              </a:ext>
            </a:extLst>
          </p:cNvPr>
          <p:cNvSpPr/>
          <p:nvPr/>
        </p:nvSpPr>
        <p:spPr>
          <a:xfrm>
            <a:off x="793790" y="4728167"/>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anose="020A0603040505020204" pitchFamily="18" charset="0"/>
              </a:rPr>
              <a:t>Hold-Out Method</a:t>
            </a:r>
            <a:endParaRPr lang="en-US" sz="2300" dirty="0">
              <a:latin typeface="PT Serif" panose="020A0603040505020204" pitchFamily="18" charset="0"/>
            </a:endParaRPr>
          </a:p>
        </p:txBody>
      </p:sp>
      <p:sp>
        <p:nvSpPr>
          <p:cNvPr id="52" name="Text 16">
            <a:extLst>
              <a:ext uri="{FF2B5EF4-FFF2-40B4-BE49-F238E27FC236}">
                <a16:creationId xmlns:a16="http://schemas.microsoft.com/office/drawing/2014/main" id="{DAA57C8E-9E59-C336-B74D-F543766EEB30}"/>
              </a:ext>
            </a:extLst>
          </p:cNvPr>
          <p:cNvSpPr/>
          <p:nvPr/>
        </p:nvSpPr>
        <p:spPr>
          <a:xfrm>
            <a:off x="7428548" y="4198815"/>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cs typeface="PT Serif Light" pitchFamily="34" charset="-120"/>
              </a:rPr>
              <a:t>06</a:t>
            </a:r>
            <a:endParaRPr lang="en-US" sz="1750" dirty="0">
              <a:latin typeface="PT Serif" panose="020A0603040505020204" pitchFamily="18" charset="0"/>
            </a:endParaRPr>
          </a:p>
        </p:txBody>
      </p:sp>
      <p:sp>
        <p:nvSpPr>
          <p:cNvPr id="53" name="Shape 17">
            <a:extLst>
              <a:ext uri="{FF2B5EF4-FFF2-40B4-BE49-F238E27FC236}">
                <a16:creationId xmlns:a16="http://schemas.microsoft.com/office/drawing/2014/main" id="{FF6D0CED-5474-980B-4F58-56AD6075DAC4}"/>
              </a:ext>
            </a:extLst>
          </p:cNvPr>
          <p:cNvSpPr/>
          <p:nvPr/>
        </p:nvSpPr>
        <p:spPr>
          <a:xfrm>
            <a:off x="7428548" y="4553859"/>
            <a:ext cx="6408063" cy="30480"/>
          </a:xfrm>
          <a:prstGeom prst="rect">
            <a:avLst/>
          </a:prstGeom>
          <a:solidFill>
            <a:srgbClr val="E04F00"/>
          </a:solidFill>
          <a:ln/>
        </p:spPr>
      </p:sp>
      <p:sp>
        <p:nvSpPr>
          <p:cNvPr id="54" name="Text 18">
            <a:extLst>
              <a:ext uri="{FF2B5EF4-FFF2-40B4-BE49-F238E27FC236}">
                <a16:creationId xmlns:a16="http://schemas.microsoft.com/office/drawing/2014/main" id="{243B9A85-0CD0-925E-FEC6-94C70484D8A3}"/>
              </a:ext>
            </a:extLst>
          </p:cNvPr>
          <p:cNvSpPr/>
          <p:nvPr/>
        </p:nvSpPr>
        <p:spPr>
          <a:xfrm>
            <a:off x="7428548" y="4728167"/>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anose="020A0603040505020204" pitchFamily="18" charset="0"/>
              </a:rPr>
              <a:t>K-Fold Method</a:t>
            </a:r>
            <a:endParaRPr lang="en-US" sz="2300" dirty="0">
              <a:latin typeface="PT Serif" panose="020A0603040505020204" pitchFamily="18" charset="0"/>
            </a:endParaRPr>
          </a:p>
        </p:txBody>
      </p:sp>
    </p:spTree>
    <p:extLst>
      <p:ext uri="{BB962C8B-B14F-4D97-AF65-F5344CB8AC3E}">
        <p14:creationId xmlns:p14="http://schemas.microsoft.com/office/powerpoint/2010/main" val="881022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1228" y="-192919"/>
            <a:ext cx="13656055" cy="997761"/>
          </a:xfrm>
          <a:prstGeom prst="rect">
            <a:avLst/>
          </a:prstGeom>
        </p:spPr>
        <p:txBody>
          <a:bodyPr vert="horz" wrap="square" lIns="0" tIns="439471" rIns="0" bIns="0" rtlCol="0">
            <a:spAutoFit/>
          </a:bodyPr>
          <a:lstStyle/>
          <a:p>
            <a:pPr marL="0" indent="0" algn="l">
              <a:buNone/>
            </a:pPr>
            <a:r>
              <a:rPr lang="en-US" sz="3600" dirty="0">
                <a:solidFill>
                  <a:srgbClr val="020202"/>
                </a:solidFill>
                <a:ea typeface="PT Serif" pitchFamily="34" charset="-122"/>
                <a:cs typeface="PT Serif" pitchFamily="34" charset="-120"/>
              </a:rPr>
              <a:t>Binary Logistic Regression-Recap</a:t>
            </a:r>
            <a:endParaRPr lang="en-US" sz="3600" dirty="0"/>
          </a:p>
        </p:txBody>
      </p:sp>
      <p:sp>
        <p:nvSpPr>
          <p:cNvPr id="15" name="Text 7">
            <a:extLst>
              <a:ext uri="{FF2B5EF4-FFF2-40B4-BE49-F238E27FC236}">
                <a16:creationId xmlns:a16="http://schemas.microsoft.com/office/drawing/2014/main" id="{36221D7B-8D1F-CF5A-6FD1-DA6DD3F7C3CC}"/>
              </a:ext>
            </a:extLst>
          </p:cNvPr>
          <p:cNvSpPr/>
          <p:nvPr/>
        </p:nvSpPr>
        <p:spPr>
          <a:xfrm>
            <a:off x="5643399" y="3678192"/>
            <a:ext cx="3818692" cy="127015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9893314" y="2561747"/>
            <a:ext cx="3818574" cy="2424611"/>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108925" y="2818481"/>
            <a:ext cx="3602964" cy="2313740"/>
          </a:xfrm>
          <a:prstGeom prst="rect">
            <a:avLst/>
          </a:prstGeom>
          <a:noFill/>
          <a:ln/>
        </p:spPr>
        <p:txBody>
          <a:bodyPr wrap="square" lIns="0" tIns="0" rIns="0" bIns="0" rtlCol="0" anchor="t"/>
          <a:lstStyle/>
          <a:p>
            <a:pPr marL="0" indent="0" algn="l">
              <a:lnSpc>
                <a:spcPts val="2550"/>
              </a:lnSpc>
              <a:buNone/>
            </a:pPr>
            <a:r>
              <a:rPr lang="en-US" sz="2400" dirty="0">
                <a:solidFill>
                  <a:srgbClr val="383838"/>
                </a:solidFill>
                <a:latin typeface="PT Serif" panose="020A0603040505020204" pitchFamily="18" charset="0"/>
                <a:ea typeface="PT Serif" pitchFamily="34" charset="-122"/>
                <a:cs typeface="PT Serif" pitchFamily="34" charset="-120"/>
              </a:rPr>
              <a:t>Risk Management</a:t>
            </a:r>
            <a:endParaRPr lang="en-US" sz="2400" dirty="0">
              <a:latin typeface="PT Serif" panose="020A0603040505020204" pitchFamily="18" charset="0"/>
            </a:endParaRPr>
          </a:p>
          <a:p>
            <a:pPr marL="0" indent="0" algn="l">
              <a:lnSpc>
                <a:spcPct val="150000"/>
              </a:lnSpc>
              <a:buNone/>
            </a:pPr>
            <a:endParaRPr lang="en-US" sz="2400" dirty="0">
              <a:solidFill>
                <a:srgbClr val="383838"/>
              </a:solidFill>
              <a:latin typeface="PT Serif" panose="020A0603040505020204" pitchFamily="18" charset="0"/>
              <a:ea typeface="PT Serif" pitchFamily="34" charset="-122"/>
              <a:cs typeface="PT Serif" pitchFamily="34" charset="-120"/>
            </a:endParaRPr>
          </a:p>
          <a:p>
            <a:pPr marL="0" indent="0" algn="l">
              <a:lnSpc>
                <a:spcPts val="3100"/>
              </a:lnSpc>
              <a:buNone/>
            </a:pPr>
            <a:r>
              <a:rPr lang="en-US" sz="1800" dirty="0">
                <a:solidFill>
                  <a:srgbClr val="383838"/>
                </a:solidFill>
                <a:latin typeface="PT Serif" panose="020A0603040505020204" pitchFamily="18" charset="0"/>
                <a:ea typeface="DM Sans" pitchFamily="34" charset="-122"/>
                <a:cs typeface="DM Sans" pitchFamily="34" charset="-120"/>
              </a:rPr>
              <a:t>Credit scoring and fraud detection systems</a:t>
            </a:r>
            <a:endParaRPr lang="en-US" sz="1800" dirty="0">
              <a:latin typeface="PT Serif" panose="020A0603040505020204" pitchFamily="18" charset="0"/>
            </a:endParaRPr>
          </a:p>
          <a:p>
            <a:pPr marL="0" indent="0" algn="l">
              <a:lnSpc>
                <a:spcPct val="150000"/>
              </a:lnSpc>
              <a:buNone/>
            </a:pPr>
            <a:endParaRPr lang="en-US" dirty="0">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2590800"/>
            <a:ext cx="3818573" cy="95261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26" name="Text 31">
            <a:extLst>
              <a:ext uri="{FF2B5EF4-FFF2-40B4-BE49-F238E27FC236}">
                <a16:creationId xmlns:a16="http://schemas.microsoft.com/office/drawing/2014/main" id="{E07AB141-1DF5-6B6F-2B0A-DC69FE07DBED}"/>
              </a:ext>
            </a:extLst>
          </p:cNvPr>
          <p:cNvSpPr/>
          <p:nvPr/>
        </p:nvSpPr>
        <p:spPr>
          <a:xfrm>
            <a:off x="591228" y="5554637"/>
            <a:ext cx="13042821" cy="595313"/>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PT Serif" panose="020A0603040505020204" pitchFamily="18" charset="0"/>
                <a:ea typeface="DM Sans" pitchFamily="34" charset="-122"/>
                <a:cs typeface="DM Sans" pitchFamily="34" charset="-120"/>
              </a:rPr>
              <a:t>Let Y be the binary dependent variable and X₁, X₂, ..., Xₖ be K independent variables. We define p as the probability that Y equals 1 given X. The logistic regression model is:</a:t>
            </a:r>
            <a:endParaRPr lang="en-US" dirty="0">
              <a:latin typeface="PT Serif" panose="020A0603040505020204" pitchFamily="18" charset="0"/>
            </a:endParaRPr>
          </a:p>
        </p:txBody>
      </p:sp>
      <p:sp>
        <p:nvSpPr>
          <p:cNvPr id="28" name="Shape 2">
            <a:extLst>
              <a:ext uri="{FF2B5EF4-FFF2-40B4-BE49-F238E27FC236}">
                <a16:creationId xmlns:a16="http://schemas.microsoft.com/office/drawing/2014/main" id="{E7F2EE5C-87C7-F16D-F9EF-EB811ED3C5B0}"/>
              </a:ext>
            </a:extLst>
          </p:cNvPr>
          <p:cNvSpPr/>
          <p:nvPr/>
        </p:nvSpPr>
        <p:spPr>
          <a:xfrm>
            <a:off x="533400" y="2526102"/>
            <a:ext cx="4114305" cy="2460256"/>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29" name="Text 3">
            <a:extLst>
              <a:ext uri="{FF2B5EF4-FFF2-40B4-BE49-F238E27FC236}">
                <a16:creationId xmlns:a16="http://schemas.microsoft.com/office/drawing/2014/main" id="{0DC3D8C5-049C-DD26-3357-58E00F542DB1}"/>
              </a:ext>
            </a:extLst>
          </p:cNvPr>
          <p:cNvSpPr/>
          <p:nvPr/>
        </p:nvSpPr>
        <p:spPr>
          <a:xfrm>
            <a:off x="726760" y="2754720"/>
            <a:ext cx="3713225" cy="2476441"/>
          </a:xfrm>
          <a:prstGeom prst="rect">
            <a:avLst/>
          </a:prstGeom>
          <a:noFill/>
          <a:ln/>
        </p:spPr>
        <p:txBody>
          <a:bodyPr wrap="square" lIns="0" tIns="0" rIns="0" bIns="0" rtlCol="0" anchor="t"/>
          <a:lstStyle/>
          <a:p>
            <a:pPr marL="0" indent="0" algn="l">
              <a:lnSpc>
                <a:spcPts val="2550"/>
              </a:lnSpc>
              <a:buNone/>
            </a:pPr>
            <a:r>
              <a:rPr lang="en-US" sz="2400" dirty="0">
                <a:solidFill>
                  <a:srgbClr val="383838"/>
                </a:solidFill>
                <a:latin typeface="PT Serif" panose="020A0603040505020204" pitchFamily="18" charset="0"/>
                <a:ea typeface="PT Serif" pitchFamily="34" charset="-122"/>
                <a:cs typeface="PT Serif" pitchFamily="34" charset="-120"/>
              </a:rPr>
              <a:t>Marketing Analytics</a:t>
            </a:r>
            <a:endParaRPr lang="en-US" sz="2400" dirty="0">
              <a:latin typeface="PT Serif" panose="020A0603040505020204" pitchFamily="18" charset="0"/>
            </a:endParaRPr>
          </a:p>
          <a:p>
            <a:pPr marL="0" indent="0" algn="l">
              <a:lnSpc>
                <a:spcPct val="150000"/>
              </a:lnSpc>
              <a:buNone/>
            </a:pPr>
            <a:endParaRPr lang="en-US" sz="2400" dirty="0">
              <a:solidFill>
                <a:srgbClr val="383838"/>
              </a:solidFill>
              <a:latin typeface="PT Serif" panose="020A0603040505020204" pitchFamily="18" charset="0"/>
              <a:ea typeface="PT Serif" pitchFamily="34" charset="-122"/>
              <a:cs typeface="PT Serif" pitchFamily="34" charset="-120"/>
            </a:endParaRPr>
          </a:p>
          <a:p>
            <a:pPr marL="0" indent="0" algn="l">
              <a:lnSpc>
                <a:spcPts val="3100"/>
              </a:lnSpc>
              <a:buNone/>
            </a:pPr>
            <a:r>
              <a:rPr lang="en-US" sz="1800" dirty="0">
                <a:solidFill>
                  <a:srgbClr val="383838"/>
                </a:solidFill>
                <a:latin typeface="PT Serif" panose="020A0603040505020204" pitchFamily="18" charset="0"/>
                <a:ea typeface="DM Sans" pitchFamily="34" charset="-122"/>
                <a:cs typeface="DM Sans" pitchFamily="34" charset="-120"/>
              </a:rPr>
              <a:t>Cross-sell and up-sell prediction models</a:t>
            </a:r>
            <a:endParaRPr lang="en-US" sz="1800" dirty="0">
              <a:latin typeface="PT Serif" panose="020A0603040505020204" pitchFamily="18" charset="0"/>
            </a:endParaRPr>
          </a:p>
          <a:p>
            <a:pPr marL="0" indent="0" algn="l">
              <a:lnSpc>
                <a:spcPct val="150000"/>
              </a:lnSpc>
              <a:buNone/>
            </a:pPr>
            <a:endParaRPr lang="en-US" dirty="0">
              <a:latin typeface="PT Serif" panose="020A0603040505020204" pitchFamily="18" charset="0"/>
            </a:endParaRPr>
          </a:p>
        </p:txBody>
      </p:sp>
      <p:sp>
        <p:nvSpPr>
          <p:cNvPr id="30" name="Shape 5">
            <a:extLst>
              <a:ext uri="{FF2B5EF4-FFF2-40B4-BE49-F238E27FC236}">
                <a16:creationId xmlns:a16="http://schemas.microsoft.com/office/drawing/2014/main" id="{4C5EE8CA-E340-7264-83D8-CA41D716DE4C}"/>
              </a:ext>
            </a:extLst>
          </p:cNvPr>
          <p:cNvSpPr/>
          <p:nvPr/>
        </p:nvSpPr>
        <p:spPr>
          <a:xfrm>
            <a:off x="5257800" y="2514600"/>
            <a:ext cx="4114305" cy="2471758"/>
          </a:xfrm>
          <a:prstGeom prst="roundRect">
            <a:avLst>
              <a:gd name="adj" fmla="val 1410"/>
            </a:avLst>
          </a:prstGeom>
          <a:solidFill>
            <a:srgbClr val="F2EEEE"/>
          </a:solidFill>
          <a:ln/>
        </p:spPr>
      </p:sp>
      <p:sp>
        <p:nvSpPr>
          <p:cNvPr id="31" name="Text 6">
            <a:extLst>
              <a:ext uri="{FF2B5EF4-FFF2-40B4-BE49-F238E27FC236}">
                <a16:creationId xmlns:a16="http://schemas.microsoft.com/office/drawing/2014/main" id="{385EE126-84A2-761A-9E6E-6FA9D141EFBC}"/>
              </a:ext>
            </a:extLst>
          </p:cNvPr>
          <p:cNvSpPr/>
          <p:nvPr/>
        </p:nvSpPr>
        <p:spPr>
          <a:xfrm>
            <a:off x="5445044" y="2754720"/>
            <a:ext cx="3604657" cy="4865280"/>
          </a:xfrm>
          <a:prstGeom prst="rect">
            <a:avLst/>
          </a:prstGeom>
          <a:noFill/>
          <a:ln/>
        </p:spPr>
        <p:txBody>
          <a:bodyPr wrap="square" lIns="0" tIns="0" rIns="0" bIns="0" rtlCol="0" anchor="t"/>
          <a:lstStyle/>
          <a:p>
            <a:pPr marL="0" indent="0" algn="l">
              <a:lnSpc>
                <a:spcPts val="2550"/>
              </a:lnSpc>
              <a:buNone/>
            </a:pPr>
            <a:r>
              <a:rPr lang="en-US" sz="2400" dirty="0">
                <a:solidFill>
                  <a:srgbClr val="383838"/>
                </a:solidFill>
                <a:latin typeface="PT Serif" panose="020A0603040505020204" pitchFamily="18" charset="0"/>
                <a:ea typeface="PT Serif" pitchFamily="34" charset="-122"/>
                <a:cs typeface="PT Serif" pitchFamily="34" charset="-120"/>
              </a:rPr>
              <a:t>Churn Management</a:t>
            </a:r>
            <a:endParaRPr lang="en-US" sz="2400" dirty="0">
              <a:latin typeface="PT Serif" panose="020A0603040505020204" pitchFamily="18" charset="0"/>
            </a:endParaRPr>
          </a:p>
          <a:p>
            <a:pPr marL="0" indent="0" algn="l">
              <a:lnSpc>
                <a:spcPct val="150000"/>
              </a:lnSpc>
              <a:buNone/>
            </a:pPr>
            <a:endParaRPr lang="en-US" sz="2400" dirty="0">
              <a:solidFill>
                <a:srgbClr val="383838"/>
              </a:solidFill>
              <a:latin typeface="PT Serif" panose="020A0603040505020204" pitchFamily="18" charset="0"/>
              <a:ea typeface="PT Serif" pitchFamily="34" charset="-122"/>
              <a:cs typeface="PT Serif" pitchFamily="34" charset="-120"/>
            </a:endParaRPr>
          </a:p>
          <a:p>
            <a:pPr marL="0" indent="0" algn="l">
              <a:lnSpc>
                <a:spcPts val="3100"/>
              </a:lnSpc>
              <a:buNone/>
            </a:pPr>
            <a:r>
              <a:rPr lang="en-US" sz="1800" dirty="0">
                <a:solidFill>
                  <a:srgbClr val="383838"/>
                </a:solidFill>
                <a:latin typeface="PT Serif" panose="020A0603040505020204" pitchFamily="18" charset="0"/>
                <a:ea typeface="DM Sans" pitchFamily="34" charset="-122"/>
                <a:cs typeface="DM Sans" pitchFamily="34" charset="-120"/>
              </a:rPr>
              <a:t>Customer and employee retention analysis</a:t>
            </a:r>
            <a:endParaRPr lang="en-US" sz="1800" dirty="0">
              <a:latin typeface="PT Serif" panose="020A0603040505020204" pitchFamily="18" charset="0"/>
            </a:endParaRPr>
          </a:p>
          <a:p>
            <a:pPr marL="0" indent="0" algn="l">
              <a:lnSpc>
                <a:spcPct val="150000"/>
              </a:lnSpc>
              <a:buNone/>
            </a:pPr>
            <a:endParaRPr lang="en-US" dirty="0">
              <a:latin typeface="PT Serif" panose="020A0603040505020204" pitchFamily="18" charset="0"/>
            </a:endParaRPr>
          </a:p>
        </p:txBody>
      </p:sp>
      <p:sp>
        <p:nvSpPr>
          <p:cNvPr id="13" name="TextBox 12">
            <a:extLst>
              <a:ext uri="{FF2B5EF4-FFF2-40B4-BE49-F238E27FC236}">
                <a16:creationId xmlns:a16="http://schemas.microsoft.com/office/drawing/2014/main" id="{D8B79EBB-9875-D52F-FBC5-588AC6DE7EF2}"/>
              </a:ext>
            </a:extLst>
          </p:cNvPr>
          <p:cNvSpPr txBox="1"/>
          <p:nvPr/>
        </p:nvSpPr>
        <p:spPr>
          <a:xfrm>
            <a:off x="533398" y="1037453"/>
            <a:ext cx="13106401" cy="1248547"/>
          </a:xfrm>
          <a:prstGeom prst="rect">
            <a:avLst/>
          </a:prstGeom>
          <a:noFill/>
        </p:spPr>
        <p:txBody>
          <a:bodyPr wrap="square">
            <a:spAutoFit/>
          </a:bodyPr>
          <a:lstStyle/>
          <a:p>
            <a:pPr marL="0" indent="0" algn="l">
              <a:lnSpc>
                <a:spcPts val="3100"/>
              </a:lnSpc>
              <a:buNone/>
            </a:pPr>
            <a:r>
              <a:rPr lang="en-US" sz="1800" dirty="0">
                <a:solidFill>
                  <a:srgbClr val="383838"/>
                </a:solidFill>
                <a:latin typeface="PT Serif" panose="020A0603040505020204" pitchFamily="18" charset="0"/>
                <a:ea typeface="DM Sans" pitchFamily="34" charset="-122"/>
                <a:cs typeface="DM Sans" pitchFamily="34" charset="-120"/>
              </a:rPr>
              <a:t>Binary logistic regression is the statistical method of choice when your dependent variable is </a:t>
            </a:r>
            <a:r>
              <a:rPr lang="en-US" sz="1800" b="1" dirty="0">
                <a:solidFill>
                  <a:srgbClr val="383838"/>
                </a:solidFill>
                <a:latin typeface="PT Serif" panose="020A0603040505020204" pitchFamily="18" charset="0"/>
                <a:ea typeface="DM Sans" pitchFamily="34" charset="-122"/>
                <a:cs typeface="DM Sans" pitchFamily="34" charset="-120"/>
              </a:rPr>
              <a:t>binary</a:t>
            </a:r>
            <a:r>
              <a:rPr lang="en-US" sz="1800" dirty="0">
                <a:solidFill>
                  <a:srgbClr val="383838"/>
                </a:solidFill>
                <a:latin typeface="PT Serif" panose="020A0603040505020204" pitchFamily="18" charset="0"/>
                <a:ea typeface="DM Sans" pitchFamily="34" charset="-122"/>
                <a:cs typeface="DM Sans" pitchFamily="34" charset="-120"/>
              </a:rPr>
              <a:t>—taking only two possible values such as zero or one, yes or no, presence or absence, or survival or death. This powerful technique allows you to model the probability of an event occurring based on one or more predictor variables.</a:t>
            </a:r>
            <a:endParaRPr lang="en-US" sz="1800" dirty="0">
              <a:latin typeface="PT Serif" panose="020A0603040505020204" pitchFamily="18" charset="0"/>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CCAD7223-B040-0123-C8B0-56AC51550F90}"/>
                  </a:ext>
                </a:extLst>
              </p:cNvPr>
              <p:cNvSpPr txBox="1"/>
              <p:nvPr/>
            </p:nvSpPr>
            <p:spPr>
              <a:xfrm>
                <a:off x="3589772" y="6399464"/>
                <a:ext cx="7315200" cy="783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b="1" i="0" smtClean="0">
                          <a:solidFill>
                            <a:schemeClr val="tx1">
                              <a:lumMod val="75000"/>
                              <a:lumOff val="25000"/>
                            </a:schemeClr>
                          </a:solidFill>
                          <a:latin typeface="Cambria Math"/>
                        </a:rPr>
                        <m:t>𝐥𝐨𝐠</m:t>
                      </m:r>
                      <m:d>
                        <m:dPr>
                          <m:ctrlPr>
                            <a:rPr lang="en-US" sz="2000" b="1" i="1" smtClean="0">
                              <a:solidFill>
                                <a:schemeClr val="tx1">
                                  <a:lumMod val="75000"/>
                                  <a:lumOff val="25000"/>
                                </a:schemeClr>
                              </a:solidFill>
                              <a:latin typeface="Cambria Math" panose="02040503050406030204" pitchFamily="18" charset="0"/>
                            </a:rPr>
                          </m:ctrlPr>
                        </m:dPr>
                        <m:e>
                          <m:f>
                            <m:fPr>
                              <m:ctrlPr>
                                <a:rPr lang="en-US" sz="2000" b="1" i="1" smtClean="0">
                                  <a:solidFill>
                                    <a:schemeClr val="tx1">
                                      <a:lumMod val="75000"/>
                                      <a:lumOff val="25000"/>
                                    </a:schemeClr>
                                  </a:solidFill>
                                  <a:latin typeface="Cambria Math" panose="02040503050406030204" pitchFamily="18" charset="0"/>
                                </a:rPr>
                              </m:ctrlPr>
                            </m:fPr>
                            <m:num>
                              <m:r>
                                <a:rPr lang="en-US" sz="2000" b="1" i="0" smtClean="0">
                                  <a:solidFill>
                                    <a:schemeClr val="tx1">
                                      <a:lumMod val="75000"/>
                                      <a:lumOff val="25000"/>
                                    </a:schemeClr>
                                  </a:solidFill>
                                  <a:latin typeface="Cambria Math"/>
                                </a:rPr>
                                <m:t>𝐩</m:t>
                              </m:r>
                            </m:num>
                            <m:den>
                              <m:r>
                                <a:rPr lang="en-US" sz="2000" b="1" i="0" smtClean="0">
                                  <a:solidFill>
                                    <a:schemeClr val="tx1">
                                      <a:lumMod val="75000"/>
                                      <a:lumOff val="25000"/>
                                    </a:schemeClr>
                                  </a:solidFill>
                                  <a:latin typeface="Cambria Math"/>
                                </a:rPr>
                                <m:t>𝟏</m:t>
                              </m:r>
                              <m:r>
                                <a:rPr lang="en-US" sz="2000" b="1" i="0" smtClean="0">
                                  <a:solidFill>
                                    <a:schemeClr val="tx1">
                                      <a:lumMod val="75000"/>
                                      <a:lumOff val="25000"/>
                                    </a:schemeClr>
                                  </a:solidFill>
                                  <a:latin typeface="Cambria Math"/>
                                </a:rPr>
                                <m:t>−</m:t>
                              </m:r>
                              <m:r>
                                <a:rPr lang="en-US" sz="2000" b="1" i="0" smtClean="0">
                                  <a:solidFill>
                                    <a:schemeClr val="tx1">
                                      <a:lumMod val="75000"/>
                                      <a:lumOff val="25000"/>
                                    </a:schemeClr>
                                  </a:solidFill>
                                  <a:latin typeface="Cambria Math"/>
                                </a:rPr>
                                <m:t>𝐩</m:t>
                              </m:r>
                            </m:den>
                          </m:f>
                        </m:e>
                      </m:d>
                      <m:r>
                        <a:rPr lang="en-US" sz="2000" b="1" i="0" smtClean="0">
                          <a:solidFill>
                            <a:schemeClr val="tx1">
                              <a:lumMod val="75000"/>
                              <a:lumOff val="25000"/>
                            </a:schemeClr>
                          </a:solidFill>
                          <a:latin typeface="Cambria Math"/>
                        </a:rPr>
                        <m:t>= </m:t>
                      </m:r>
                      <m:sSub>
                        <m:sSubPr>
                          <m:ctrlPr>
                            <a:rPr lang="en-US" sz="2000" b="1" i="1" smtClean="0">
                              <a:solidFill>
                                <a:schemeClr val="tx1">
                                  <a:lumMod val="75000"/>
                                  <a:lumOff val="25000"/>
                                </a:schemeClr>
                              </a:solidFill>
                              <a:latin typeface="Cambria Math" panose="02040503050406030204" pitchFamily="18" charset="0"/>
                            </a:rPr>
                          </m:ctrlPr>
                        </m:sSubPr>
                        <m:e>
                          <m:r>
                            <a:rPr lang="en-US" sz="2000" b="1" i="0" smtClean="0">
                              <a:solidFill>
                                <a:schemeClr val="tx1">
                                  <a:lumMod val="75000"/>
                                  <a:lumOff val="25000"/>
                                </a:schemeClr>
                              </a:solidFill>
                              <a:latin typeface="Cambria Math"/>
                            </a:rPr>
                            <m:t>𝐛</m:t>
                          </m:r>
                        </m:e>
                        <m:sub>
                          <m:r>
                            <a:rPr lang="en-US" sz="2000" b="1" i="0" smtClean="0">
                              <a:solidFill>
                                <a:schemeClr val="tx1">
                                  <a:lumMod val="75000"/>
                                  <a:lumOff val="25000"/>
                                </a:schemeClr>
                              </a:solidFill>
                              <a:latin typeface="Cambria Math"/>
                            </a:rPr>
                            <m:t>𝟎</m:t>
                          </m:r>
                        </m:sub>
                      </m:sSub>
                      <m:r>
                        <a:rPr lang="en-US" sz="2000" b="1" i="0" smtClean="0">
                          <a:solidFill>
                            <a:schemeClr val="tx1">
                              <a:lumMod val="75000"/>
                              <a:lumOff val="25000"/>
                            </a:schemeClr>
                          </a:solidFill>
                          <a:latin typeface="Cambria Math"/>
                        </a:rPr>
                        <m:t>+ </m:t>
                      </m:r>
                      <m:sSub>
                        <m:sSubPr>
                          <m:ctrlPr>
                            <a:rPr lang="en-US" sz="2000" b="1" i="1" smtClean="0">
                              <a:solidFill>
                                <a:schemeClr val="tx1">
                                  <a:lumMod val="75000"/>
                                  <a:lumOff val="25000"/>
                                </a:schemeClr>
                              </a:solidFill>
                              <a:latin typeface="Cambria Math" panose="02040503050406030204" pitchFamily="18" charset="0"/>
                            </a:rPr>
                          </m:ctrlPr>
                        </m:sSubPr>
                        <m:e>
                          <m:r>
                            <a:rPr lang="en-US" sz="2000" b="1" i="0" smtClean="0">
                              <a:solidFill>
                                <a:schemeClr val="tx1">
                                  <a:lumMod val="75000"/>
                                  <a:lumOff val="25000"/>
                                </a:schemeClr>
                              </a:solidFill>
                              <a:latin typeface="Cambria Math"/>
                            </a:rPr>
                            <m:t>𝐛</m:t>
                          </m:r>
                        </m:e>
                        <m:sub>
                          <m:r>
                            <a:rPr lang="en-US" sz="2000" b="1" i="0" smtClean="0">
                              <a:solidFill>
                                <a:schemeClr val="tx1">
                                  <a:lumMod val="75000"/>
                                  <a:lumOff val="25000"/>
                                </a:schemeClr>
                              </a:solidFill>
                              <a:latin typeface="Cambria Math"/>
                            </a:rPr>
                            <m:t>𝟏</m:t>
                          </m:r>
                        </m:sub>
                      </m:sSub>
                      <m:sSub>
                        <m:sSubPr>
                          <m:ctrlPr>
                            <a:rPr lang="en-US" sz="2000" b="1" i="1" smtClean="0">
                              <a:solidFill>
                                <a:schemeClr val="tx1">
                                  <a:lumMod val="75000"/>
                                  <a:lumOff val="25000"/>
                                </a:schemeClr>
                              </a:solidFill>
                              <a:latin typeface="Cambria Math" panose="02040503050406030204" pitchFamily="18" charset="0"/>
                            </a:rPr>
                          </m:ctrlPr>
                        </m:sSubPr>
                        <m:e>
                          <m:r>
                            <a:rPr lang="en-US" sz="2000" b="1" i="1" smtClean="0">
                              <a:solidFill>
                                <a:schemeClr val="tx1">
                                  <a:lumMod val="75000"/>
                                  <a:lumOff val="25000"/>
                                </a:schemeClr>
                              </a:solidFill>
                              <a:latin typeface="Cambria Math"/>
                            </a:rPr>
                            <m:t>𝑿</m:t>
                          </m:r>
                        </m:e>
                        <m:sub>
                          <m:r>
                            <a:rPr lang="en-US" sz="2000" b="1" i="0" smtClean="0">
                              <a:solidFill>
                                <a:schemeClr val="tx1">
                                  <a:lumMod val="75000"/>
                                  <a:lumOff val="25000"/>
                                </a:schemeClr>
                              </a:solidFill>
                              <a:latin typeface="Cambria Math"/>
                            </a:rPr>
                            <m:t>𝟏</m:t>
                          </m:r>
                        </m:sub>
                      </m:sSub>
                      <m:r>
                        <a:rPr lang="en-US" sz="2000" b="1" i="0" smtClean="0">
                          <a:solidFill>
                            <a:schemeClr val="tx1">
                              <a:lumMod val="75000"/>
                              <a:lumOff val="25000"/>
                            </a:schemeClr>
                          </a:solidFill>
                          <a:latin typeface="Cambria Math"/>
                        </a:rPr>
                        <m:t>+…+</m:t>
                      </m:r>
                      <m:sSub>
                        <m:sSubPr>
                          <m:ctrlPr>
                            <a:rPr lang="en-US" sz="2000" b="1" i="1" smtClean="0">
                              <a:solidFill>
                                <a:schemeClr val="tx1">
                                  <a:lumMod val="75000"/>
                                  <a:lumOff val="25000"/>
                                </a:schemeClr>
                              </a:solidFill>
                              <a:latin typeface="Cambria Math" panose="02040503050406030204" pitchFamily="18" charset="0"/>
                            </a:rPr>
                          </m:ctrlPr>
                        </m:sSubPr>
                        <m:e>
                          <m:r>
                            <a:rPr lang="en-US" sz="2000" b="1" i="0" smtClean="0">
                              <a:solidFill>
                                <a:schemeClr val="tx1">
                                  <a:lumMod val="75000"/>
                                  <a:lumOff val="25000"/>
                                </a:schemeClr>
                              </a:solidFill>
                              <a:latin typeface="Cambria Math"/>
                            </a:rPr>
                            <m:t>𝐛</m:t>
                          </m:r>
                        </m:e>
                        <m:sub>
                          <m:r>
                            <a:rPr lang="en-US" sz="2000" b="1" i="0" smtClean="0">
                              <a:solidFill>
                                <a:schemeClr val="tx1">
                                  <a:lumMod val="75000"/>
                                  <a:lumOff val="25000"/>
                                </a:schemeClr>
                              </a:solidFill>
                              <a:latin typeface="Cambria Math"/>
                            </a:rPr>
                            <m:t>𝐤</m:t>
                          </m:r>
                        </m:sub>
                      </m:sSub>
                      <m:sSub>
                        <m:sSubPr>
                          <m:ctrlPr>
                            <a:rPr lang="en-US" sz="2000" b="1" i="1" smtClean="0">
                              <a:solidFill>
                                <a:schemeClr val="tx1">
                                  <a:lumMod val="75000"/>
                                  <a:lumOff val="25000"/>
                                </a:schemeClr>
                              </a:solidFill>
                              <a:latin typeface="Cambria Math" panose="02040503050406030204" pitchFamily="18" charset="0"/>
                            </a:rPr>
                          </m:ctrlPr>
                        </m:sSubPr>
                        <m:e>
                          <m:r>
                            <a:rPr lang="en-US" sz="2000" b="1" i="1" smtClean="0">
                              <a:solidFill>
                                <a:schemeClr val="tx1">
                                  <a:lumMod val="75000"/>
                                  <a:lumOff val="25000"/>
                                </a:schemeClr>
                              </a:solidFill>
                              <a:latin typeface="Cambria Math"/>
                            </a:rPr>
                            <m:t>𝑿</m:t>
                          </m:r>
                        </m:e>
                        <m:sub>
                          <m:r>
                            <a:rPr lang="en-US" sz="2000" b="1" i="0" smtClean="0">
                              <a:solidFill>
                                <a:schemeClr val="tx1">
                                  <a:lumMod val="75000"/>
                                  <a:lumOff val="25000"/>
                                </a:schemeClr>
                              </a:solidFill>
                              <a:latin typeface="Cambria Math"/>
                            </a:rPr>
                            <m:t>𝐤</m:t>
                          </m:r>
                        </m:sub>
                      </m:sSub>
                    </m:oMath>
                  </m:oMathPara>
                </a14:m>
                <a:endParaRPr lang="en-US" sz="2000" b="1" dirty="0">
                  <a:solidFill>
                    <a:schemeClr val="tx1">
                      <a:lumMod val="75000"/>
                      <a:lumOff val="25000"/>
                    </a:schemeClr>
                  </a:solidFill>
                  <a:latin typeface="PT Serif" panose="020A0603040505020204" pitchFamily="18" charset="0"/>
                </a:endParaRPr>
              </a:p>
            </p:txBody>
          </p:sp>
        </mc:Choice>
        <mc:Fallback xmlns="">
          <p:sp>
            <p:nvSpPr>
              <p:cNvPr id="19" name="TextBox 18">
                <a:extLst>
                  <a:ext uri="{FF2B5EF4-FFF2-40B4-BE49-F238E27FC236}">
                    <a16:creationId xmlns:a16="http://schemas.microsoft.com/office/drawing/2014/main" id="{CCAD7223-B040-0123-C8B0-56AC51550F90}"/>
                  </a:ext>
                </a:extLst>
              </p:cNvPr>
              <p:cNvSpPr txBox="1">
                <a:spLocks noRot="1" noChangeAspect="1" noMove="1" noResize="1" noEditPoints="1" noAdjustHandles="1" noChangeArrowheads="1" noChangeShapeType="1" noTextEdit="1"/>
              </p:cNvSpPr>
              <p:nvPr/>
            </p:nvSpPr>
            <p:spPr>
              <a:xfrm>
                <a:off x="3589772" y="6399464"/>
                <a:ext cx="7315200" cy="783869"/>
              </a:xfrm>
              <a:prstGeom prst="rect">
                <a:avLst/>
              </a:prstGeo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5461635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42BEF-FAAC-432C-1D06-5B7E286112CA}"/>
              </a:ext>
            </a:extLst>
          </p:cNvPr>
          <p:cNvSpPr>
            <a:spLocks noGrp="1"/>
          </p:cNvSpPr>
          <p:nvPr>
            <p:ph type="title"/>
          </p:nvPr>
        </p:nvSpPr>
        <p:spPr>
          <a:xfrm>
            <a:off x="487172" y="401522"/>
            <a:ext cx="13656055" cy="1107996"/>
          </a:xfrm>
        </p:spPr>
        <p:txBody>
          <a:bodyPr/>
          <a:lstStyle/>
          <a:p>
            <a:r>
              <a:rPr lang="en-US" sz="3600" dirty="0">
                <a:solidFill>
                  <a:srgbClr val="020202"/>
                </a:solidFill>
                <a:latin typeface="PT Serif" pitchFamily="34" charset="0"/>
                <a:ea typeface="PT Serif" pitchFamily="34" charset="-122"/>
                <a:cs typeface="PT Serif" pitchFamily="34" charset="-120"/>
              </a:rPr>
              <a:t>Data Snapshot</a:t>
            </a:r>
            <a:br>
              <a:rPr lang="en-US" sz="3600" dirty="0"/>
            </a:br>
            <a:endParaRPr lang="en-IN" sz="3600" dirty="0"/>
          </a:p>
        </p:txBody>
      </p:sp>
      <p:sp>
        <p:nvSpPr>
          <p:cNvPr id="3" name="Text Placeholder 2">
            <a:extLst>
              <a:ext uri="{FF2B5EF4-FFF2-40B4-BE49-F238E27FC236}">
                <a16:creationId xmlns:a16="http://schemas.microsoft.com/office/drawing/2014/main" id="{3EE56F07-DEA5-B79B-389F-E6DF6195BB9C}"/>
              </a:ext>
            </a:extLst>
          </p:cNvPr>
          <p:cNvSpPr>
            <a:spLocks noGrp="1"/>
          </p:cNvSpPr>
          <p:nvPr>
            <p:ph type="body" idx="1"/>
          </p:nvPr>
        </p:nvSpPr>
        <p:spPr>
          <a:xfrm>
            <a:off x="400907" y="1529477"/>
            <a:ext cx="13742319" cy="553998"/>
          </a:xfrm>
        </p:spPr>
        <p:txBody>
          <a:bodyPr/>
          <a:lstStyle/>
          <a:p>
            <a:pPr algn="l"/>
            <a:r>
              <a:rPr lang="en-US" sz="1800" dirty="0">
                <a:solidFill>
                  <a:srgbClr val="383838"/>
                </a:solidFill>
                <a:ea typeface="DM Sans" pitchFamily="34" charset="-122"/>
                <a:cs typeface="DM Sans" pitchFamily="34" charset="-120"/>
              </a:rPr>
              <a:t>Here's a representative sample of the loan default dataset showing the first few observations.</a:t>
            </a:r>
            <a:endParaRPr lang="en-US" sz="1800" dirty="0"/>
          </a:p>
          <a:p>
            <a:endParaRPr lang="en-IN" sz="1800" dirty="0"/>
          </a:p>
        </p:txBody>
      </p:sp>
      <p:graphicFrame>
        <p:nvGraphicFramePr>
          <p:cNvPr id="4" name="Table 4">
            <a:extLst>
              <a:ext uri="{FF2B5EF4-FFF2-40B4-BE49-F238E27FC236}">
                <a16:creationId xmlns:a16="http://schemas.microsoft.com/office/drawing/2014/main" id="{ADDD1D98-1CF9-A956-894F-59CB52CEC5E5}"/>
              </a:ext>
            </a:extLst>
          </p:cNvPr>
          <p:cNvGraphicFramePr>
            <a:graphicFrameLocks noGrp="1"/>
          </p:cNvGraphicFramePr>
          <p:nvPr>
            <p:extLst>
              <p:ext uri="{D42A27DB-BD31-4B8C-83A1-F6EECF244321}">
                <p14:modId xmlns:p14="http://schemas.microsoft.com/office/powerpoint/2010/main" val="328705688"/>
              </p:ext>
            </p:extLst>
          </p:nvPr>
        </p:nvGraphicFramePr>
        <p:xfrm>
          <a:off x="1485900" y="2911326"/>
          <a:ext cx="11658598" cy="3389494"/>
        </p:xfrm>
        <a:graphic>
          <a:graphicData uri="http://schemas.openxmlformats.org/drawingml/2006/table">
            <a:tbl>
              <a:tblPr firstRow="1" bandRow="1">
                <a:tableStyleId>{7DF18680-E054-41AD-8BC1-D1AEF772440D}</a:tableStyleId>
              </a:tblPr>
              <a:tblGrid>
                <a:gridCol w="1665514">
                  <a:extLst>
                    <a:ext uri="{9D8B030D-6E8A-4147-A177-3AD203B41FA5}">
                      <a16:colId xmlns:a16="http://schemas.microsoft.com/office/drawing/2014/main" val="2863793647"/>
                    </a:ext>
                  </a:extLst>
                </a:gridCol>
                <a:gridCol w="1665514">
                  <a:extLst>
                    <a:ext uri="{9D8B030D-6E8A-4147-A177-3AD203B41FA5}">
                      <a16:colId xmlns:a16="http://schemas.microsoft.com/office/drawing/2014/main" val="4082015804"/>
                    </a:ext>
                  </a:extLst>
                </a:gridCol>
                <a:gridCol w="1665514">
                  <a:extLst>
                    <a:ext uri="{9D8B030D-6E8A-4147-A177-3AD203B41FA5}">
                      <a16:colId xmlns:a16="http://schemas.microsoft.com/office/drawing/2014/main" val="371102954"/>
                    </a:ext>
                  </a:extLst>
                </a:gridCol>
                <a:gridCol w="1665514">
                  <a:extLst>
                    <a:ext uri="{9D8B030D-6E8A-4147-A177-3AD203B41FA5}">
                      <a16:colId xmlns:a16="http://schemas.microsoft.com/office/drawing/2014/main" val="115674199"/>
                    </a:ext>
                  </a:extLst>
                </a:gridCol>
                <a:gridCol w="1665514">
                  <a:extLst>
                    <a:ext uri="{9D8B030D-6E8A-4147-A177-3AD203B41FA5}">
                      <a16:colId xmlns:a16="http://schemas.microsoft.com/office/drawing/2014/main" val="1937610051"/>
                    </a:ext>
                  </a:extLst>
                </a:gridCol>
                <a:gridCol w="1665514">
                  <a:extLst>
                    <a:ext uri="{9D8B030D-6E8A-4147-A177-3AD203B41FA5}">
                      <a16:colId xmlns:a16="http://schemas.microsoft.com/office/drawing/2014/main" val="987713790"/>
                    </a:ext>
                  </a:extLst>
                </a:gridCol>
                <a:gridCol w="1665514">
                  <a:extLst>
                    <a:ext uri="{9D8B030D-6E8A-4147-A177-3AD203B41FA5}">
                      <a16:colId xmlns:a16="http://schemas.microsoft.com/office/drawing/2014/main" val="3370117277"/>
                    </a:ext>
                  </a:extLst>
                </a:gridCol>
              </a:tblGrid>
              <a:tr h="987232">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b="1" dirty="0">
                          <a:solidFill>
                            <a:srgbClr val="383838"/>
                          </a:solidFill>
                          <a:latin typeface="PT Serif" panose="020A0603040505020204" pitchFamily="18" charset="0"/>
                        </a:rPr>
                        <a:t>AGE</a:t>
                      </a:r>
                      <a:endParaRPr lang="en-US" sz="1800" dirty="0">
                        <a:latin typeface="PT Serif" panose="020A0603040505020204" pitchFamily="18" charset="0"/>
                      </a:endParaRPr>
                    </a:p>
                    <a:p>
                      <a:pPr algn="ctr"/>
                      <a:endParaRPr lang="en-IN"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b="1" dirty="0">
                          <a:solidFill>
                            <a:srgbClr val="383838"/>
                          </a:solidFill>
                          <a:latin typeface="PT Serif" panose="020A0603040505020204" pitchFamily="18" charset="0"/>
                        </a:rPr>
                        <a:t>EMPLOY</a:t>
                      </a:r>
                      <a:endParaRPr lang="en-US" sz="1800" dirty="0">
                        <a:latin typeface="PT Serif" panose="020A0603040505020204" pitchFamily="18" charset="0"/>
                      </a:endParaRPr>
                    </a:p>
                    <a:p>
                      <a:pPr algn="ctr"/>
                      <a:endParaRPr lang="en-IN"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b="1" dirty="0">
                          <a:solidFill>
                            <a:srgbClr val="383838"/>
                          </a:solidFill>
                          <a:latin typeface="PT Serif" panose="020A0603040505020204" pitchFamily="18" charset="0"/>
                        </a:rPr>
                        <a:t>ADDRESS</a:t>
                      </a:r>
                      <a:endParaRPr lang="en-US" sz="1800" dirty="0">
                        <a:latin typeface="PT Serif" panose="020A0603040505020204" pitchFamily="18" charset="0"/>
                      </a:endParaRPr>
                    </a:p>
                    <a:p>
                      <a:pPr algn="ctr"/>
                      <a:endParaRPr lang="en-IN"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b="1" dirty="0">
                          <a:solidFill>
                            <a:srgbClr val="383838"/>
                          </a:solidFill>
                          <a:latin typeface="PT Serif" panose="020A0603040505020204" pitchFamily="18" charset="0"/>
                        </a:rPr>
                        <a:t>DEBTINC</a:t>
                      </a:r>
                      <a:endParaRPr lang="en-US" sz="1800" dirty="0">
                        <a:latin typeface="PT Serif" panose="020A0603040505020204" pitchFamily="18" charset="0"/>
                      </a:endParaRPr>
                    </a:p>
                    <a:p>
                      <a:pPr algn="ctr"/>
                      <a:endParaRPr lang="en-IN"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b="1" dirty="0">
                          <a:solidFill>
                            <a:srgbClr val="383838"/>
                          </a:solidFill>
                          <a:latin typeface="PT Serif" panose="020A0603040505020204" pitchFamily="18" charset="0"/>
                        </a:rPr>
                        <a:t>CREDDEBT</a:t>
                      </a:r>
                      <a:endParaRPr lang="en-US" sz="1800" dirty="0">
                        <a:latin typeface="PT Serif" panose="020A0603040505020204" pitchFamily="18" charset="0"/>
                      </a:endParaRPr>
                    </a:p>
                    <a:p>
                      <a:pPr algn="ctr"/>
                      <a:endParaRPr lang="en-IN"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b="1" dirty="0">
                          <a:solidFill>
                            <a:srgbClr val="383838"/>
                          </a:solidFill>
                          <a:latin typeface="PT Serif" panose="020A0603040505020204" pitchFamily="18" charset="0"/>
                        </a:rPr>
                        <a:t>OTHDEBT</a:t>
                      </a:r>
                      <a:endParaRPr lang="en-US" sz="1800" dirty="0">
                        <a:latin typeface="PT Serif" panose="020A0603040505020204" pitchFamily="18" charset="0"/>
                      </a:endParaRPr>
                    </a:p>
                    <a:p>
                      <a:pPr algn="ctr"/>
                      <a:endParaRPr lang="en-IN"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b="1" dirty="0">
                          <a:solidFill>
                            <a:srgbClr val="383838"/>
                          </a:solidFill>
                          <a:latin typeface="PT Serif" panose="020A0603040505020204" pitchFamily="18" charset="0"/>
                        </a:rPr>
                        <a:t>DEFAULTER</a:t>
                      </a:r>
                      <a:endParaRPr lang="en-US" sz="1800" dirty="0">
                        <a:latin typeface="PT Serif" panose="020A0603040505020204" pitchFamily="18" charset="0"/>
                      </a:endParaRPr>
                    </a:p>
                    <a:p>
                      <a:pPr algn="ctr"/>
                      <a:endParaRPr lang="en-IN" dirty="0">
                        <a:latin typeface="PT Serif" panose="020A0603040505020204" pitchFamily="18" charset="0"/>
                      </a:endParaRPr>
                    </a:p>
                  </a:txBody>
                  <a:tcPr/>
                </a:tc>
                <a:extLst>
                  <a:ext uri="{0D108BD9-81ED-4DB2-BD59-A6C34878D82A}">
                    <a16:rowId xmlns:a16="http://schemas.microsoft.com/office/drawing/2014/main" val="1581692917"/>
                  </a:ext>
                </a:extLst>
              </a:tr>
              <a:tr h="400377">
                <a:tc>
                  <a:txBody>
                    <a:bodyPr/>
                    <a:lstStyle/>
                    <a:p>
                      <a:pPr algn="ctr"/>
                      <a:r>
                        <a:rPr lang="en-IN" dirty="0">
                          <a:latin typeface="PT Serif" panose="020A0603040505020204" pitchFamily="18" charset="0"/>
                        </a:rPr>
                        <a:t>3</a:t>
                      </a:r>
                    </a:p>
                  </a:txBody>
                  <a:tcPr/>
                </a:tc>
                <a:tc>
                  <a:txBody>
                    <a:bodyPr/>
                    <a:lstStyle/>
                    <a:p>
                      <a:pPr algn="ctr"/>
                      <a:r>
                        <a:rPr lang="en-IN" dirty="0">
                          <a:latin typeface="PT Serif" panose="020A0603040505020204" pitchFamily="18" charset="0"/>
                        </a:rPr>
                        <a:t>17</a:t>
                      </a:r>
                    </a:p>
                  </a:txBody>
                  <a:tcPr/>
                </a:tc>
                <a:tc>
                  <a:txBody>
                    <a:bodyPr/>
                    <a:lstStyle/>
                    <a:p>
                      <a:pPr algn="ctr"/>
                      <a:r>
                        <a:rPr lang="en-IN" dirty="0">
                          <a:latin typeface="PT Serif" panose="020A0603040505020204" pitchFamily="18" charset="0"/>
                        </a:rPr>
                        <a:t>12</a:t>
                      </a:r>
                    </a:p>
                  </a:txBody>
                  <a:tcPr/>
                </a:tc>
                <a:tc>
                  <a:txBody>
                    <a:bodyPr/>
                    <a:lstStyle/>
                    <a:p>
                      <a:pPr algn="ctr"/>
                      <a:r>
                        <a:rPr lang="en-IN" dirty="0">
                          <a:latin typeface="PT Serif" panose="020A0603040505020204" pitchFamily="18" charset="0"/>
                        </a:rPr>
                        <a:t>9.30</a:t>
                      </a:r>
                    </a:p>
                  </a:txBody>
                  <a:tcPr/>
                </a:tc>
                <a:tc>
                  <a:txBody>
                    <a:bodyPr/>
                    <a:lstStyle/>
                    <a:p>
                      <a:pPr algn="ctr"/>
                      <a:r>
                        <a:rPr lang="en-IN" dirty="0">
                          <a:latin typeface="PT Serif" panose="020A0603040505020204" pitchFamily="18" charset="0"/>
                        </a:rPr>
                        <a:t>11.36</a:t>
                      </a:r>
                    </a:p>
                  </a:txBody>
                  <a:tcPr/>
                </a:tc>
                <a:tc>
                  <a:txBody>
                    <a:bodyPr/>
                    <a:lstStyle/>
                    <a:p>
                      <a:pPr algn="ctr"/>
                      <a:r>
                        <a:rPr lang="en-IN" dirty="0">
                          <a:latin typeface="PT Serif" panose="020A0603040505020204" pitchFamily="18" charset="0"/>
                        </a:rPr>
                        <a:t>5.01</a:t>
                      </a:r>
                    </a:p>
                  </a:txBody>
                  <a:tcPr/>
                </a:tc>
                <a:tc>
                  <a:txBody>
                    <a:bodyPr/>
                    <a:lstStyle/>
                    <a:p>
                      <a:pPr algn="ctr"/>
                      <a:r>
                        <a:rPr lang="en-IN" dirty="0">
                          <a:latin typeface="PT Serif" panose="020A0603040505020204" pitchFamily="18" charset="0"/>
                        </a:rPr>
                        <a:t>1</a:t>
                      </a:r>
                    </a:p>
                  </a:txBody>
                  <a:tcPr/>
                </a:tc>
                <a:extLst>
                  <a:ext uri="{0D108BD9-81ED-4DB2-BD59-A6C34878D82A}">
                    <a16:rowId xmlns:a16="http://schemas.microsoft.com/office/drawing/2014/main" val="1742954300"/>
                  </a:ext>
                </a:extLst>
              </a:tr>
              <a:tr h="400377">
                <a:tc>
                  <a:txBody>
                    <a:bodyPr/>
                    <a:lstStyle/>
                    <a:p>
                      <a:pPr algn="ctr"/>
                      <a:r>
                        <a:rPr lang="en-IN" dirty="0">
                          <a:latin typeface="PT Serif" panose="020A0603040505020204" pitchFamily="18" charset="0"/>
                        </a:rPr>
                        <a:t>1</a:t>
                      </a:r>
                    </a:p>
                  </a:txBody>
                  <a:tcPr/>
                </a:tc>
                <a:tc>
                  <a:txBody>
                    <a:bodyPr/>
                    <a:lstStyle/>
                    <a:p>
                      <a:pPr algn="ctr"/>
                      <a:r>
                        <a:rPr lang="en-IN" dirty="0">
                          <a:latin typeface="PT Serif" panose="020A0603040505020204" pitchFamily="18" charset="0"/>
                        </a:rPr>
                        <a:t>10</a:t>
                      </a:r>
                    </a:p>
                  </a:txBody>
                  <a:tcPr/>
                </a:tc>
                <a:tc>
                  <a:txBody>
                    <a:bodyPr/>
                    <a:lstStyle/>
                    <a:p>
                      <a:pPr algn="ctr"/>
                      <a:r>
                        <a:rPr lang="en-IN" dirty="0">
                          <a:latin typeface="PT Serif" panose="020A0603040505020204" pitchFamily="18" charset="0"/>
                        </a:rPr>
                        <a:t>6</a:t>
                      </a:r>
                    </a:p>
                  </a:txBody>
                  <a:tcPr/>
                </a:tc>
                <a:tc>
                  <a:txBody>
                    <a:bodyPr/>
                    <a:lstStyle/>
                    <a:p>
                      <a:pPr algn="ctr"/>
                      <a:r>
                        <a:rPr lang="en-IN" dirty="0">
                          <a:latin typeface="PT Serif" panose="020A0603040505020204" pitchFamily="18" charset="0"/>
                        </a:rPr>
                        <a:t>17.30</a:t>
                      </a:r>
                    </a:p>
                  </a:txBody>
                  <a:tcPr/>
                </a:tc>
                <a:tc>
                  <a:txBody>
                    <a:bodyPr/>
                    <a:lstStyle/>
                    <a:p>
                      <a:pPr algn="ctr"/>
                      <a:r>
                        <a:rPr lang="en-IN" dirty="0">
                          <a:latin typeface="PT Serif" panose="020A0603040505020204" pitchFamily="18" charset="0"/>
                        </a:rPr>
                        <a:t>1.36</a:t>
                      </a:r>
                    </a:p>
                  </a:txBody>
                  <a:tcPr/>
                </a:tc>
                <a:tc>
                  <a:txBody>
                    <a:bodyPr/>
                    <a:lstStyle/>
                    <a:p>
                      <a:pPr algn="ctr"/>
                      <a:r>
                        <a:rPr lang="en-IN" dirty="0">
                          <a:latin typeface="PT Serif" panose="020A0603040505020204" pitchFamily="18" charset="0"/>
                        </a:rPr>
                        <a:t>4.00</a:t>
                      </a:r>
                    </a:p>
                  </a:txBody>
                  <a:tcPr/>
                </a:tc>
                <a:tc>
                  <a:txBody>
                    <a:bodyPr/>
                    <a:lstStyle/>
                    <a:p>
                      <a:pPr algn="ctr"/>
                      <a:r>
                        <a:rPr lang="en-IN" dirty="0">
                          <a:latin typeface="PT Serif" panose="020A0603040505020204" pitchFamily="18" charset="0"/>
                        </a:rPr>
                        <a:t>0</a:t>
                      </a:r>
                    </a:p>
                  </a:txBody>
                  <a:tcPr/>
                </a:tc>
                <a:extLst>
                  <a:ext uri="{0D108BD9-81ED-4DB2-BD59-A6C34878D82A}">
                    <a16:rowId xmlns:a16="http://schemas.microsoft.com/office/drawing/2014/main" val="2122244694"/>
                  </a:ext>
                </a:extLst>
              </a:tr>
              <a:tr h="400377">
                <a:tc>
                  <a:txBody>
                    <a:bodyPr/>
                    <a:lstStyle/>
                    <a:p>
                      <a:pPr algn="ctr"/>
                      <a:r>
                        <a:rPr lang="en-IN" dirty="0">
                          <a:latin typeface="PT Serif" panose="020A0603040505020204" pitchFamily="18" charset="0"/>
                        </a:rPr>
                        <a:t>2</a:t>
                      </a:r>
                    </a:p>
                  </a:txBody>
                  <a:tcPr/>
                </a:tc>
                <a:tc>
                  <a:txBody>
                    <a:bodyPr/>
                    <a:lstStyle/>
                    <a:p>
                      <a:pPr algn="ctr"/>
                      <a:r>
                        <a:rPr lang="en-IN" dirty="0">
                          <a:latin typeface="PT Serif" panose="020A0603040505020204" pitchFamily="18" charset="0"/>
                        </a:rPr>
                        <a:t>15</a:t>
                      </a:r>
                    </a:p>
                  </a:txBody>
                  <a:tcPr/>
                </a:tc>
                <a:tc>
                  <a:txBody>
                    <a:bodyPr/>
                    <a:lstStyle/>
                    <a:p>
                      <a:pPr algn="ctr"/>
                      <a:r>
                        <a:rPr lang="en-IN" dirty="0">
                          <a:latin typeface="PT Serif" panose="020A0603040505020204" pitchFamily="18" charset="0"/>
                        </a:rPr>
                        <a:t>14</a:t>
                      </a:r>
                    </a:p>
                  </a:txBody>
                  <a:tcPr/>
                </a:tc>
                <a:tc>
                  <a:txBody>
                    <a:bodyPr/>
                    <a:lstStyle/>
                    <a:p>
                      <a:pPr algn="ctr"/>
                      <a:r>
                        <a:rPr lang="en-IN" dirty="0">
                          <a:latin typeface="PT Serif" panose="020A0603040505020204" pitchFamily="18" charset="0"/>
                        </a:rPr>
                        <a:t>5.50</a:t>
                      </a:r>
                    </a:p>
                  </a:txBody>
                  <a:tcPr/>
                </a:tc>
                <a:tc>
                  <a:txBody>
                    <a:bodyPr/>
                    <a:lstStyle/>
                    <a:p>
                      <a:pPr algn="ctr"/>
                      <a:r>
                        <a:rPr lang="en-IN" dirty="0">
                          <a:latin typeface="PT Serif" panose="020A0603040505020204" pitchFamily="18" charset="0"/>
                        </a:rPr>
                        <a:t>0.86</a:t>
                      </a:r>
                    </a:p>
                  </a:txBody>
                  <a:tcPr/>
                </a:tc>
                <a:tc>
                  <a:txBody>
                    <a:bodyPr/>
                    <a:lstStyle/>
                    <a:p>
                      <a:pPr algn="ctr"/>
                      <a:r>
                        <a:rPr lang="en-IN" dirty="0">
                          <a:latin typeface="PT Serif" panose="020A0603040505020204" pitchFamily="18" charset="0"/>
                        </a:rPr>
                        <a:t>2.17</a:t>
                      </a:r>
                    </a:p>
                  </a:txBody>
                  <a:tcPr/>
                </a:tc>
                <a:tc>
                  <a:txBody>
                    <a:bodyPr/>
                    <a:lstStyle/>
                    <a:p>
                      <a:pPr algn="ctr"/>
                      <a:r>
                        <a:rPr lang="en-IN" dirty="0">
                          <a:latin typeface="PT Serif" panose="020A0603040505020204" pitchFamily="18" charset="0"/>
                        </a:rPr>
                        <a:t>0</a:t>
                      </a:r>
                    </a:p>
                  </a:txBody>
                  <a:tcPr/>
                </a:tc>
                <a:extLst>
                  <a:ext uri="{0D108BD9-81ED-4DB2-BD59-A6C34878D82A}">
                    <a16:rowId xmlns:a16="http://schemas.microsoft.com/office/drawing/2014/main" val="3586841937"/>
                  </a:ext>
                </a:extLst>
              </a:tr>
              <a:tr h="400377">
                <a:tc>
                  <a:txBody>
                    <a:bodyPr/>
                    <a:lstStyle/>
                    <a:p>
                      <a:pPr algn="ctr"/>
                      <a:r>
                        <a:rPr lang="en-IN" dirty="0">
                          <a:latin typeface="PT Serif" panose="020A0603040505020204" pitchFamily="18" charset="0"/>
                        </a:rPr>
                        <a:t>3</a:t>
                      </a:r>
                    </a:p>
                  </a:txBody>
                  <a:tcPr/>
                </a:tc>
                <a:tc>
                  <a:txBody>
                    <a:bodyPr/>
                    <a:lstStyle/>
                    <a:p>
                      <a:pPr algn="ctr"/>
                      <a:r>
                        <a:rPr lang="en-IN" dirty="0">
                          <a:latin typeface="PT Serif" panose="020A0603040505020204" pitchFamily="18" charset="0"/>
                        </a:rPr>
                        <a:t>15</a:t>
                      </a:r>
                    </a:p>
                  </a:txBody>
                  <a:tcPr/>
                </a:tc>
                <a:tc>
                  <a:txBody>
                    <a:bodyPr/>
                    <a:lstStyle/>
                    <a:p>
                      <a:pPr algn="ctr"/>
                      <a:r>
                        <a:rPr lang="en-IN" dirty="0">
                          <a:latin typeface="PT Serif" panose="020A0603040505020204" pitchFamily="18" charset="0"/>
                        </a:rPr>
                        <a:t>14</a:t>
                      </a:r>
                    </a:p>
                  </a:txBody>
                  <a:tcPr/>
                </a:tc>
                <a:tc>
                  <a:txBody>
                    <a:bodyPr/>
                    <a:lstStyle/>
                    <a:p>
                      <a:pPr algn="ctr"/>
                      <a:r>
                        <a:rPr lang="en-IN" dirty="0">
                          <a:latin typeface="PT Serif" panose="020A0603040505020204" pitchFamily="18" charset="0"/>
                        </a:rPr>
                        <a:t>2.90</a:t>
                      </a:r>
                    </a:p>
                  </a:txBody>
                  <a:tcPr/>
                </a:tc>
                <a:tc>
                  <a:txBody>
                    <a:bodyPr/>
                    <a:lstStyle/>
                    <a:p>
                      <a:pPr algn="ctr"/>
                      <a:r>
                        <a:rPr lang="en-IN" dirty="0">
                          <a:latin typeface="PT Serif" panose="020A0603040505020204" pitchFamily="18" charset="0"/>
                        </a:rPr>
                        <a:t>2.66</a:t>
                      </a:r>
                    </a:p>
                  </a:txBody>
                  <a:tcPr/>
                </a:tc>
                <a:tc>
                  <a:txBody>
                    <a:bodyPr/>
                    <a:lstStyle/>
                    <a:p>
                      <a:pPr algn="ctr"/>
                      <a:r>
                        <a:rPr lang="en-IN" dirty="0">
                          <a:latin typeface="PT Serif" panose="020A0603040505020204" pitchFamily="18" charset="0"/>
                        </a:rPr>
                        <a:t>0.82</a:t>
                      </a:r>
                    </a:p>
                  </a:txBody>
                  <a:tcPr/>
                </a:tc>
                <a:tc>
                  <a:txBody>
                    <a:bodyPr/>
                    <a:lstStyle/>
                    <a:p>
                      <a:pPr algn="ctr"/>
                      <a:r>
                        <a:rPr lang="en-IN" dirty="0">
                          <a:latin typeface="PT Serif" panose="020A0603040505020204" pitchFamily="18" charset="0"/>
                        </a:rPr>
                        <a:t>0</a:t>
                      </a:r>
                    </a:p>
                  </a:txBody>
                  <a:tcPr/>
                </a:tc>
                <a:extLst>
                  <a:ext uri="{0D108BD9-81ED-4DB2-BD59-A6C34878D82A}">
                    <a16:rowId xmlns:a16="http://schemas.microsoft.com/office/drawing/2014/main" val="1089091055"/>
                  </a:ext>
                </a:extLst>
              </a:tr>
              <a:tr h="400377">
                <a:tc>
                  <a:txBody>
                    <a:bodyPr/>
                    <a:lstStyle/>
                    <a:p>
                      <a:pPr algn="ctr"/>
                      <a:r>
                        <a:rPr lang="en-IN" dirty="0">
                          <a:latin typeface="PT Serif" panose="020A0603040505020204" pitchFamily="18" charset="0"/>
                        </a:rPr>
                        <a:t>1</a:t>
                      </a:r>
                    </a:p>
                  </a:txBody>
                  <a:tcPr/>
                </a:tc>
                <a:tc>
                  <a:txBody>
                    <a:bodyPr/>
                    <a:lstStyle/>
                    <a:p>
                      <a:pPr algn="ctr"/>
                      <a:r>
                        <a:rPr lang="en-IN" dirty="0">
                          <a:latin typeface="PT Serif" panose="020A0603040505020204" pitchFamily="18" charset="0"/>
                        </a:rPr>
                        <a:t>2</a:t>
                      </a:r>
                    </a:p>
                  </a:txBody>
                  <a:tcPr/>
                </a:tc>
                <a:tc>
                  <a:txBody>
                    <a:bodyPr/>
                    <a:lstStyle/>
                    <a:p>
                      <a:pPr algn="ctr"/>
                      <a:r>
                        <a:rPr lang="en-IN" dirty="0">
                          <a:latin typeface="PT Serif" panose="020A0603040505020204" pitchFamily="18" charset="0"/>
                        </a:rPr>
                        <a:t>0</a:t>
                      </a:r>
                    </a:p>
                  </a:txBody>
                  <a:tcPr/>
                </a:tc>
                <a:tc>
                  <a:txBody>
                    <a:bodyPr/>
                    <a:lstStyle/>
                    <a:p>
                      <a:pPr algn="ctr"/>
                      <a:r>
                        <a:rPr lang="en-IN" dirty="0">
                          <a:latin typeface="PT Serif" panose="020A0603040505020204" pitchFamily="18" charset="0"/>
                        </a:rPr>
                        <a:t>17.30</a:t>
                      </a:r>
                    </a:p>
                  </a:txBody>
                  <a:tcPr/>
                </a:tc>
                <a:tc>
                  <a:txBody>
                    <a:bodyPr/>
                    <a:lstStyle/>
                    <a:p>
                      <a:pPr algn="ctr"/>
                      <a:r>
                        <a:rPr lang="en-IN" dirty="0">
                          <a:latin typeface="PT Serif" panose="020A0603040505020204" pitchFamily="18" charset="0"/>
                        </a:rPr>
                        <a:t>1.79</a:t>
                      </a:r>
                    </a:p>
                  </a:txBody>
                  <a:tcPr/>
                </a:tc>
                <a:tc>
                  <a:txBody>
                    <a:bodyPr/>
                    <a:lstStyle/>
                    <a:p>
                      <a:pPr algn="ctr"/>
                      <a:r>
                        <a:rPr lang="en-IN" dirty="0">
                          <a:latin typeface="PT Serif" panose="020A0603040505020204" pitchFamily="18" charset="0"/>
                        </a:rPr>
                        <a:t>3.06</a:t>
                      </a:r>
                    </a:p>
                  </a:txBody>
                  <a:tcPr/>
                </a:tc>
                <a:tc>
                  <a:txBody>
                    <a:bodyPr/>
                    <a:lstStyle/>
                    <a:p>
                      <a:pPr algn="ctr"/>
                      <a:r>
                        <a:rPr lang="en-IN" dirty="0">
                          <a:latin typeface="PT Serif" panose="020A0603040505020204" pitchFamily="18" charset="0"/>
                        </a:rPr>
                        <a:t>1</a:t>
                      </a:r>
                    </a:p>
                  </a:txBody>
                  <a:tcPr/>
                </a:tc>
                <a:extLst>
                  <a:ext uri="{0D108BD9-81ED-4DB2-BD59-A6C34878D82A}">
                    <a16:rowId xmlns:a16="http://schemas.microsoft.com/office/drawing/2014/main" val="3241549619"/>
                  </a:ext>
                </a:extLst>
              </a:tr>
              <a:tr h="400377">
                <a:tc>
                  <a:txBody>
                    <a:bodyPr/>
                    <a:lstStyle/>
                    <a:p>
                      <a:pPr algn="ctr"/>
                      <a:r>
                        <a:rPr lang="en-IN" dirty="0">
                          <a:latin typeface="PT Serif" panose="020A0603040505020204" pitchFamily="18" charset="0"/>
                        </a:rPr>
                        <a:t>3</a:t>
                      </a:r>
                    </a:p>
                  </a:txBody>
                  <a:tcPr/>
                </a:tc>
                <a:tc>
                  <a:txBody>
                    <a:bodyPr/>
                    <a:lstStyle/>
                    <a:p>
                      <a:pPr algn="ctr"/>
                      <a:r>
                        <a:rPr lang="en-IN" dirty="0">
                          <a:latin typeface="PT Serif" panose="020A0603040505020204" pitchFamily="18" charset="0"/>
                        </a:rPr>
                        <a:t>5</a:t>
                      </a:r>
                    </a:p>
                  </a:txBody>
                  <a:tcPr/>
                </a:tc>
                <a:tc>
                  <a:txBody>
                    <a:bodyPr/>
                    <a:lstStyle/>
                    <a:p>
                      <a:pPr algn="ctr"/>
                      <a:r>
                        <a:rPr lang="en-IN" dirty="0">
                          <a:latin typeface="PT Serif" panose="020A0603040505020204" pitchFamily="18" charset="0"/>
                        </a:rPr>
                        <a:t>5</a:t>
                      </a:r>
                    </a:p>
                  </a:txBody>
                  <a:tcPr/>
                </a:tc>
                <a:tc>
                  <a:txBody>
                    <a:bodyPr/>
                    <a:lstStyle/>
                    <a:p>
                      <a:pPr algn="ctr"/>
                      <a:r>
                        <a:rPr lang="en-IN" dirty="0">
                          <a:latin typeface="PT Serif" panose="020A0603040505020204" pitchFamily="18" charset="0"/>
                        </a:rPr>
                        <a:t>10.20</a:t>
                      </a:r>
                    </a:p>
                  </a:txBody>
                  <a:tcPr/>
                </a:tc>
                <a:tc>
                  <a:txBody>
                    <a:bodyPr/>
                    <a:lstStyle/>
                    <a:p>
                      <a:pPr algn="ctr"/>
                      <a:r>
                        <a:rPr lang="en-IN" dirty="0">
                          <a:latin typeface="PT Serif" panose="020A0603040505020204" pitchFamily="18" charset="0"/>
                        </a:rPr>
                        <a:t>0.39</a:t>
                      </a:r>
                    </a:p>
                  </a:txBody>
                  <a:tcPr/>
                </a:tc>
                <a:tc>
                  <a:txBody>
                    <a:bodyPr/>
                    <a:lstStyle/>
                    <a:p>
                      <a:pPr algn="ctr"/>
                      <a:r>
                        <a:rPr lang="en-IN" dirty="0">
                          <a:latin typeface="PT Serif" panose="020A0603040505020204" pitchFamily="18" charset="0"/>
                        </a:rPr>
                        <a:t>2.16</a:t>
                      </a:r>
                    </a:p>
                  </a:txBody>
                  <a:tcPr/>
                </a:tc>
                <a:tc>
                  <a:txBody>
                    <a:bodyPr/>
                    <a:lstStyle/>
                    <a:p>
                      <a:pPr algn="ctr"/>
                      <a:r>
                        <a:rPr lang="en-IN" dirty="0">
                          <a:latin typeface="PT Serif" panose="020A0603040505020204" pitchFamily="18" charset="0"/>
                        </a:rPr>
                        <a:t>0</a:t>
                      </a:r>
                    </a:p>
                  </a:txBody>
                  <a:tcPr/>
                </a:tc>
                <a:extLst>
                  <a:ext uri="{0D108BD9-81ED-4DB2-BD59-A6C34878D82A}">
                    <a16:rowId xmlns:a16="http://schemas.microsoft.com/office/drawing/2014/main" val="4125876090"/>
                  </a:ext>
                </a:extLst>
              </a:tr>
            </a:tbl>
          </a:graphicData>
        </a:graphic>
      </p:graphicFrame>
      <p:sp>
        <p:nvSpPr>
          <p:cNvPr id="6" name="TextBox 5">
            <a:extLst>
              <a:ext uri="{FF2B5EF4-FFF2-40B4-BE49-F238E27FC236}">
                <a16:creationId xmlns:a16="http://schemas.microsoft.com/office/drawing/2014/main" id="{C5973278-C741-D3D9-248A-482577D75AAA}"/>
              </a:ext>
            </a:extLst>
          </p:cNvPr>
          <p:cNvSpPr txBox="1"/>
          <p:nvPr/>
        </p:nvSpPr>
        <p:spPr>
          <a:xfrm>
            <a:off x="487172" y="6858000"/>
            <a:ext cx="13228828" cy="646331"/>
          </a:xfrm>
          <a:prstGeom prst="rect">
            <a:avLst/>
          </a:prstGeom>
          <a:noFill/>
        </p:spPr>
        <p:txBody>
          <a:bodyPr wrap="square">
            <a:spAutoFit/>
          </a:bodyPr>
          <a:lstStyle/>
          <a:p>
            <a:r>
              <a:rPr lang="en-US" dirty="0">
                <a:solidFill>
                  <a:srgbClr val="383838"/>
                </a:solidFill>
                <a:latin typeface="PT Serif" panose="020A0603040505020204" pitchFamily="18" charset="0"/>
                <a:ea typeface="DM Sans" pitchFamily="34" charset="-122"/>
                <a:cs typeface="DM Sans" pitchFamily="34" charset="-120"/>
              </a:rPr>
              <a:t>Independent Variables: Age group (categorical),Years at current address, Years with current employer, Debt-to-income ratio, Credit card debt amount, Other debt obligations. The dependent variable is “DEFAULTER”</a:t>
            </a:r>
          </a:p>
        </p:txBody>
      </p:sp>
    </p:spTree>
    <p:extLst>
      <p:ext uri="{BB962C8B-B14F-4D97-AF65-F5344CB8AC3E}">
        <p14:creationId xmlns:p14="http://schemas.microsoft.com/office/powerpoint/2010/main" val="1479875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35819-1E85-5321-F6D7-6C5507DFE8B0}"/>
              </a:ext>
            </a:extLst>
          </p:cNvPr>
          <p:cNvSpPr>
            <a:spLocks noGrp="1"/>
          </p:cNvSpPr>
          <p:nvPr>
            <p:ph type="title"/>
          </p:nvPr>
        </p:nvSpPr>
        <p:spPr>
          <a:xfrm>
            <a:off x="462730" y="152400"/>
            <a:ext cx="13656055" cy="623376"/>
          </a:xfrm>
        </p:spPr>
        <p:txBody>
          <a:bodyPr/>
          <a:lstStyle/>
          <a:p>
            <a:pPr marL="0" indent="0">
              <a:lnSpc>
                <a:spcPts val="5100"/>
              </a:lnSpc>
            </a:pPr>
            <a:r>
              <a:rPr lang="en-US" sz="3600" dirty="0">
                <a:solidFill>
                  <a:srgbClr val="020202"/>
                </a:solidFill>
                <a:latin typeface="PT Serif" pitchFamily="34" charset="0"/>
                <a:ea typeface="PT Serif" pitchFamily="34" charset="-122"/>
                <a:cs typeface="PT Serif" pitchFamily="34" charset="-120"/>
              </a:rPr>
              <a:t>Binary Logistic Regression-Inferential Approach</a:t>
            </a:r>
            <a:endParaRPr lang="en-US" sz="3600" dirty="0"/>
          </a:p>
        </p:txBody>
      </p:sp>
      <p:sp>
        <p:nvSpPr>
          <p:cNvPr id="3" name="Text Placeholder 2">
            <a:extLst>
              <a:ext uri="{FF2B5EF4-FFF2-40B4-BE49-F238E27FC236}">
                <a16:creationId xmlns:a16="http://schemas.microsoft.com/office/drawing/2014/main" id="{B57E63A5-0632-CFD8-3A63-6DEC620AF5BD}"/>
              </a:ext>
            </a:extLst>
          </p:cNvPr>
          <p:cNvSpPr>
            <a:spLocks noGrp="1"/>
          </p:cNvSpPr>
          <p:nvPr>
            <p:ph type="body" idx="1"/>
          </p:nvPr>
        </p:nvSpPr>
        <p:spPr>
          <a:xfrm>
            <a:off x="462730" y="914400"/>
            <a:ext cx="13305028" cy="553998"/>
          </a:xfrm>
        </p:spPr>
        <p:txBody>
          <a:bodyPr/>
          <a:lstStyle/>
          <a:p>
            <a:pPr algn="l"/>
            <a:r>
              <a:rPr lang="en-US" sz="1800" dirty="0">
                <a:solidFill>
                  <a:srgbClr val="383838"/>
                </a:solidFill>
                <a:ea typeface="DM Sans" pitchFamily="34" charset="-122"/>
                <a:cs typeface="DM Sans" pitchFamily="34" charset="-120"/>
              </a:rPr>
              <a:t>The following table gives parameters estimated along with Standard Errors and P values</a:t>
            </a:r>
            <a:endParaRPr lang="en-US" sz="1800" dirty="0"/>
          </a:p>
          <a:p>
            <a:endParaRPr lang="en-IN" sz="1800" dirty="0"/>
          </a:p>
        </p:txBody>
      </p:sp>
      <p:graphicFrame>
        <p:nvGraphicFramePr>
          <p:cNvPr id="4" name="Table 4">
            <a:extLst>
              <a:ext uri="{FF2B5EF4-FFF2-40B4-BE49-F238E27FC236}">
                <a16:creationId xmlns:a16="http://schemas.microsoft.com/office/drawing/2014/main" id="{86132B36-59C9-0B1A-F587-E92A7D3DAF04}"/>
              </a:ext>
            </a:extLst>
          </p:cNvPr>
          <p:cNvGraphicFramePr>
            <a:graphicFrameLocks noGrp="1"/>
          </p:cNvGraphicFramePr>
          <p:nvPr>
            <p:extLst>
              <p:ext uri="{D42A27DB-BD31-4B8C-83A1-F6EECF244321}">
                <p14:modId xmlns:p14="http://schemas.microsoft.com/office/powerpoint/2010/main" val="3084488377"/>
              </p:ext>
            </p:extLst>
          </p:nvPr>
        </p:nvGraphicFramePr>
        <p:xfrm>
          <a:off x="1905000" y="1295400"/>
          <a:ext cx="11201400" cy="5778500"/>
        </p:xfrm>
        <a:graphic>
          <a:graphicData uri="http://schemas.openxmlformats.org/drawingml/2006/table">
            <a:tbl>
              <a:tblPr firstRow="1" bandRow="1">
                <a:tableStyleId>{7DF18680-E054-41AD-8BC1-D1AEF772440D}</a:tableStyleId>
              </a:tblPr>
              <a:tblGrid>
                <a:gridCol w="1866900">
                  <a:extLst>
                    <a:ext uri="{9D8B030D-6E8A-4147-A177-3AD203B41FA5}">
                      <a16:colId xmlns:a16="http://schemas.microsoft.com/office/drawing/2014/main" val="1631519981"/>
                    </a:ext>
                  </a:extLst>
                </a:gridCol>
                <a:gridCol w="1866900">
                  <a:extLst>
                    <a:ext uri="{9D8B030D-6E8A-4147-A177-3AD203B41FA5}">
                      <a16:colId xmlns:a16="http://schemas.microsoft.com/office/drawing/2014/main" val="267143381"/>
                    </a:ext>
                  </a:extLst>
                </a:gridCol>
                <a:gridCol w="1866900">
                  <a:extLst>
                    <a:ext uri="{9D8B030D-6E8A-4147-A177-3AD203B41FA5}">
                      <a16:colId xmlns:a16="http://schemas.microsoft.com/office/drawing/2014/main" val="3506981925"/>
                    </a:ext>
                  </a:extLst>
                </a:gridCol>
                <a:gridCol w="1866900">
                  <a:extLst>
                    <a:ext uri="{9D8B030D-6E8A-4147-A177-3AD203B41FA5}">
                      <a16:colId xmlns:a16="http://schemas.microsoft.com/office/drawing/2014/main" val="3261591878"/>
                    </a:ext>
                  </a:extLst>
                </a:gridCol>
                <a:gridCol w="1866900">
                  <a:extLst>
                    <a:ext uri="{9D8B030D-6E8A-4147-A177-3AD203B41FA5}">
                      <a16:colId xmlns:a16="http://schemas.microsoft.com/office/drawing/2014/main" val="2008563067"/>
                    </a:ext>
                  </a:extLst>
                </a:gridCol>
                <a:gridCol w="1866900">
                  <a:extLst>
                    <a:ext uri="{9D8B030D-6E8A-4147-A177-3AD203B41FA5}">
                      <a16:colId xmlns:a16="http://schemas.microsoft.com/office/drawing/2014/main" val="954977325"/>
                    </a:ext>
                  </a:extLst>
                </a:gridCol>
              </a:tblGrid>
              <a:tr h="37084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b="1" dirty="0">
                          <a:solidFill>
                            <a:srgbClr val="383838"/>
                          </a:solidFill>
                          <a:latin typeface="PT Serif" panose="020A0603040505020204" pitchFamily="18" charset="0"/>
                        </a:rPr>
                        <a:t>Variable</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b="1" dirty="0">
                          <a:solidFill>
                            <a:srgbClr val="383838"/>
                          </a:solidFill>
                          <a:latin typeface="PT Serif" panose="020A0603040505020204" pitchFamily="18" charset="0"/>
                          <a:ea typeface="DM Sans" pitchFamily="34" charset="-122"/>
                          <a:cs typeface="DM Sans" pitchFamily="34" charset="-120"/>
                        </a:rPr>
                        <a:t>Estimate</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b="1" dirty="0">
                          <a:solidFill>
                            <a:srgbClr val="383838"/>
                          </a:solidFill>
                          <a:latin typeface="PT Serif" panose="020A0603040505020204" pitchFamily="18" charset="0"/>
                          <a:ea typeface="DM Sans" pitchFamily="34" charset="-122"/>
                          <a:cs typeface="DM Sans" pitchFamily="34" charset="-120"/>
                        </a:rPr>
                        <a:t>Std. Error</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b="1" dirty="0">
                          <a:solidFill>
                            <a:srgbClr val="383838"/>
                          </a:solidFill>
                          <a:latin typeface="PT Serif" panose="020A0603040505020204" pitchFamily="18" charset="0"/>
                          <a:ea typeface="DM Sans" pitchFamily="34" charset="-122"/>
                          <a:cs typeface="DM Sans" pitchFamily="34" charset="-120"/>
                        </a:rPr>
                        <a:t>Z value</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b="1" dirty="0">
                          <a:solidFill>
                            <a:srgbClr val="383838"/>
                          </a:solidFill>
                          <a:latin typeface="PT Serif" panose="020A0603040505020204" pitchFamily="18" charset="0"/>
                          <a:ea typeface="DM Sans" pitchFamily="34" charset="-122"/>
                          <a:cs typeface="DM Sans" pitchFamily="34" charset="-120"/>
                        </a:rPr>
                        <a:t>P-value</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b="1" dirty="0">
                          <a:solidFill>
                            <a:srgbClr val="383838"/>
                          </a:solidFill>
                          <a:latin typeface="PT Serif" panose="020A0603040505020204" pitchFamily="18" charset="0"/>
                          <a:ea typeface="DM Sans" pitchFamily="34" charset="-122"/>
                          <a:cs typeface="DM Sans" pitchFamily="34" charset="-120"/>
                        </a:rPr>
                        <a:t>Significance</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extLst>
                  <a:ext uri="{0D108BD9-81ED-4DB2-BD59-A6C34878D82A}">
                    <a16:rowId xmlns:a16="http://schemas.microsoft.com/office/drawing/2014/main" val="911134808"/>
                  </a:ext>
                </a:extLst>
              </a:tr>
              <a:tr h="37084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(Intercept)</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-0.78821</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0.26407</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indent="0" algn="ctr">
                        <a:lnSpc>
                          <a:spcPts val="2250"/>
                        </a:lnSpc>
                        <a:buNone/>
                      </a:pPr>
                      <a:r>
                        <a:rPr lang="en-US" sz="1800" dirty="0">
                          <a:solidFill>
                            <a:srgbClr val="383838"/>
                          </a:solidFill>
                          <a:latin typeface="PT Serif" panose="020A0603040505020204" pitchFamily="18" charset="0"/>
                          <a:ea typeface="DM Sans" pitchFamily="34" charset="-122"/>
                          <a:cs typeface="DM Sans" pitchFamily="34" charset="-120"/>
                        </a:rPr>
                        <a:t>-2.985</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0.00284</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extLst>
                  <a:ext uri="{0D108BD9-81ED-4DB2-BD59-A6C34878D82A}">
                    <a16:rowId xmlns:a16="http://schemas.microsoft.com/office/drawing/2014/main" val="3370935344"/>
                  </a:ext>
                </a:extLst>
              </a:tr>
              <a:tr h="37084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AGE2</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0.25202</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0.26651</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0.946</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0.34433</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algn="ctr"/>
                      <a:endParaRPr lang="en-IN" sz="1800">
                        <a:latin typeface="PT Serif" panose="020A0603040505020204" pitchFamily="18" charset="0"/>
                      </a:endParaRPr>
                    </a:p>
                  </a:txBody>
                  <a:tcPr/>
                </a:tc>
                <a:extLst>
                  <a:ext uri="{0D108BD9-81ED-4DB2-BD59-A6C34878D82A}">
                    <a16:rowId xmlns:a16="http://schemas.microsoft.com/office/drawing/2014/main" val="2900133301"/>
                  </a:ext>
                </a:extLst>
              </a:tr>
              <a:tr h="37084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AGE3</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0.62707</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0.36056</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1.739</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0.08201</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algn="ctr"/>
                      <a:endParaRPr lang="en-IN" sz="1800">
                        <a:latin typeface="PT Serif" panose="020A0603040505020204" pitchFamily="18" charset="0"/>
                      </a:endParaRPr>
                    </a:p>
                  </a:txBody>
                  <a:tcPr/>
                </a:tc>
                <a:extLst>
                  <a:ext uri="{0D108BD9-81ED-4DB2-BD59-A6C34878D82A}">
                    <a16:rowId xmlns:a16="http://schemas.microsoft.com/office/drawing/2014/main" val="2418999435"/>
                  </a:ext>
                </a:extLst>
              </a:tr>
              <a:tr h="37084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EMPLOY</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-0.26172</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0.03188</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-8.211</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&lt; 0.0001</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algn="ctr"/>
                      <a:r>
                        <a:rPr lang="en-IN" sz="1800" dirty="0">
                          <a:latin typeface="PT Serif" panose="020A0603040505020204" pitchFamily="18" charset="0"/>
                        </a:rPr>
                        <a:t>***</a:t>
                      </a:r>
                    </a:p>
                  </a:txBody>
                  <a:tcPr/>
                </a:tc>
                <a:extLst>
                  <a:ext uri="{0D108BD9-81ED-4DB2-BD59-A6C34878D82A}">
                    <a16:rowId xmlns:a16="http://schemas.microsoft.com/office/drawing/2014/main" val="3305716126"/>
                  </a:ext>
                </a:extLst>
              </a:tr>
              <a:tr h="37084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ADDRESS</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-0.09964</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0.02234</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-4.459</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&lt; 0.0001</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800" dirty="0">
                          <a:latin typeface="PT Serif" panose="020A0603040505020204" pitchFamily="18" charset="0"/>
                        </a:rPr>
                        <a:t>***</a:t>
                      </a:r>
                    </a:p>
                    <a:p>
                      <a:pPr algn="ctr"/>
                      <a:endParaRPr lang="en-IN" sz="1800" dirty="0">
                        <a:latin typeface="PT Serif" panose="020A0603040505020204" pitchFamily="18" charset="0"/>
                      </a:endParaRPr>
                    </a:p>
                  </a:txBody>
                  <a:tcPr/>
                </a:tc>
                <a:extLst>
                  <a:ext uri="{0D108BD9-81ED-4DB2-BD59-A6C34878D82A}">
                    <a16:rowId xmlns:a16="http://schemas.microsoft.com/office/drawing/2014/main" val="1493570116"/>
                  </a:ext>
                </a:extLst>
              </a:tr>
              <a:tr h="37084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DEBTINC</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0.08506</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0.02212</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3.845</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0.00012</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800" dirty="0">
                          <a:latin typeface="PT Serif" panose="020A0603040505020204" pitchFamily="18" charset="0"/>
                        </a:rPr>
                        <a:t>***</a:t>
                      </a:r>
                    </a:p>
                    <a:p>
                      <a:pPr algn="ctr"/>
                      <a:endParaRPr lang="en-IN" sz="1800" dirty="0">
                        <a:latin typeface="PT Serif" panose="020A0603040505020204" pitchFamily="18" charset="0"/>
                      </a:endParaRPr>
                    </a:p>
                  </a:txBody>
                  <a:tcPr/>
                </a:tc>
                <a:extLst>
                  <a:ext uri="{0D108BD9-81ED-4DB2-BD59-A6C34878D82A}">
                    <a16:rowId xmlns:a16="http://schemas.microsoft.com/office/drawing/2014/main" val="3862505692"/>
                  </a:ext>
                </a:extLst>
              </a:tr>
              <a:tr h="37084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CREDDEBT</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0.56336</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0.08877</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6.347</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&lt; 0.0001</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800" dirty="0">
                          <a:latin typeface="PT Serif" panose="020A0603040505020204" pitchFamily="18" charset="0"/>
                        </a:rPr>
                        <a:t>***</a:t>
                      </a:r>
                    </a:p>
                    <a:p>
                      <a:pPr algn="ctr"/>
                      <a:endParaRPr lang="en-IN" sz="1800" dirty="0">
                        <a:latin typeface="PT Serif" panose="020A0603040505020204" pitchFamily="18" charset="0"/>
                      </a:endParaRPr>
                    </a:p>
                  </a:txBody>
                  <a:tcPr/>
                </a:tc>
                <a:extLst>
                  <a:ext uri="{0D108BD9-81ED-4DB2-BD59-A6C34878D82A}">
                    <a16:rowId xmlns:a16="http://schemas.microsoft.com/office/drawing/2014/main" val="2352798684"/>
                  </a:ext>
                </a:extLst>
              </a:tr>
              <a:tr h="37084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OTHDEBT</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0.02315</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0.05709</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0.405</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ea typeface="DM Sans" pitchFamily="34" charset="-122"/>
                          <a:cs typeface="DM Sans" pitchFamily="34" charset="-120"/>
                        </a:rPr>
                        <a:t>&lt; 0.0001</a:t>
                      </a:r>
                      <a:endParaRPr lang="en-US" sz="1800" dirty="0">
                        <a:latin typeface="PT Serif" panose="020A0603040505020204" pitchFamily="18" charset="0"/>
                      </a:endParaRPr>
                    </a:p>
                    <a:p>
                      <a:pPr algn="ctr"/>
                      <a:endParaRPr lang="en-IN" sz="1800" dirty="0">
                        <a:latin typeface="PT Serif" panose="020A0603040505020204" pitchFamily="18" charset="0"/>
                      </a:endParaRPr>
                    </a:p>
                  </a:txBody>
                  <a:tcPr/>
                </a:tc>
                <a:tc>
                  <a:txBody>
                    <a:bodyPr/>
                    <a:lstStyle/>
                    <a:p>
                      <a:pPr algn="ctr"/>
                      <a:endParaRPr lang="en-IN" sz="1800" dirty="0">
                        <a:latin typeface="PT Serif" panose="020A0603040505020204" pitchFamily="18" charset="0"/>
                      </a:endParaRPr>
                    </a:p>
                  </a:txBody>
                  <a:tcPr/>
                </a:tc>
                <a:extLst>
                  <a:ext uri="{0D108BD9-81ED-4DB2-BD59-A6C34878D82A}">
                    <a16:rowId xmlns:a16="http://schemas.microsoft.com/office/drawing/2014/main" val="1062167146"/>
                  </a:ext>
                </a:extLst>
              </a:tr>
            </a:tbl>
          </a:graphicData>
        </a:graphic>
      </p:graphicFrame>
      <p:sp>
        <p:nvSpPr>
          <p:cNvPr id="6" name="TextBox 5">
            <a:extLst>
              <a:ext uri="{FF2B5EF4-FFF2-40B4-BE49-F238E27FC236}">
                <a16:creationId xmlns:a16="http://schemas.microsoft.com/office/drawing/2014/main" id="{3158DD61-EA61-3227-3B60-55F5EE24CC69}"/>
              </a:ext>
            </a:extLst>
          </p:cNvPr>
          <p:cNvSpPr txBox="1"/>
          <p:nvPr/>
        </p:nvSpPr>
        <p:spPr>
          <a:xfrm>
            <a:off x="462730" y="7239000"/>
            <a:ext cx="13939070" cy="666208"/>
          </a:xfrm>
          <a:prstGeom prst="rect">
            <a:avLst/>
          </a:prstGeom>
          <a:noFill/>
        </p:spPr>
        <p:txBody>
          <a:bodyPr wrap="square">
            <a:spAutoFit/>
          </a:bodyPr>
          <a:lstStyle/>
          <a:p>
            <a:pPr marL="0" indent="0" algn="l">
              <a:lnSpc>
                <a:spcPts val="2250"/>
              </a:lnSpc>
              <a:buNone/>
            </a:pPr>
            <a:r>
              <a:rPr lang="en-US" b="1" dirty="0">
                <a:solidFill>
                  <a:srgbClr val="383838"/>
                </a:solidFill>
                <a:latin typeface="PT Serif" panose="020A0603040505020204" pitchFamily="18" charset="0"/>
                <a:ea typeface="DM Sans" pitchFamily="34" charset="-122"/>
                <a:cs typeface="DM Sans" pitchFamily="34" charset="-120"/>
              </a:rPr>
              <a:t>Key Finding:</a:t>
            </a:r>
            <a:r>
              <a:rPr lang="en-US" dirty="0">
                <a:solidFill>
                  <a:srgbClr val="383838"/>
                </a:solidFill>
                <a:latin typeface="PT Serif" panose="020A0603040505020204" pitchFamily="18" charset="0"/>
                <a:ea typeface="DM Sans" pitchFamily="34" charset="-122"/>
                <a:cs typeface="DM Sans" pitchFamily="34" charset="-120"/>
              </a:rPr>
              <a:t> EMPLOY, ADDRESS, DEBTINC, and CREDDEBT are statistically significant predictors of the dependent variable “DEFAULTER”. In contrast, AGE and OTHDEBT do not show a significant relationship with dependent variable “ DEFAULTER”. </a:t>
            </a:r>
            <a:r>
              <a:rPr lang="en-US" sz="1800" dirty="0"/>
              <a:t> </a:t>
            </a:r>
            <a:endParaRPr lang="en-US" dirty="0">
              <a:latin typeface="PT Serif" panose="020A0603040505020204" pitchFamily="18" charset="0"/>
            </a:endParaRPr>
          </a:p>
        </p:txBody>
      </p:sp>
    </p:spTree>
    <p:extLst>
      <p:ext uri="{BB962C8B-B14F-4D97-AF65-F5344CB8AC3E}">
        <p14:creationId xmlns:p14="http://schemas.microsoft.com/office/powerpoint/2010/main" val="4217902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DCFFD-A840-062C-0822-77655146F1FC}"/>
              </a:ext>
            </a:extLst>
          </p:cNvPr>
          <p:cNvSpPr>
            <a:spLocks noGrp="1"/>
          </p:cNvSpPr>
          <p:nvPr>
            <p:ph type="title"/>
          </p:nvPr>
        </p:nvSpPr>
        <p:spPr>
          <a:xfrm>
            <a:off x="506222" y="671669"/>
            <a:ext cx="13656055" cy="1107996"/>
          </a:xfrm>
        </p:spPr>
        <p:txBody>
          <a:bodyPr/>
          <a:lstStyle/>
          <a:p>
            <a:r>
              <a:rPr lang="en-US" sz="3600" dirty="0">
                <a:solidFill>
                  <a:srgbClr val="020202"/>
                </a:solidFill>
                <a:latin typeface="PT Serif" pitchFamily="34" charset="0"/>
                <a:ea typeface="PT Serif" pitchFamily="34" charset="-122"/>
                <a:cs typeface="PT Serif" pitchFamily="34" charset="-120"/>
              </a:rPr>
              <a:t>Machine Learning Approach</a:t>
            </a:r>
            <a:br>
              <a:rPr lang="en-US" sz="3600" dirty="0"/>
            </a:br>
            <a:endParaRPr lang="en-IN" sz="3600" dirty="0"/>
          </a:p>
        </p:txBody>
      </p:sp>
      <p:sp>
        <p:nvSpPr>
          <p:cNvPr id="3" name="Text 0">
            <a:extLst>
              <a:ext uri="{FF2B5EF4-FFF2-40B4-BE49-F238E27FC236}">
                <a16:creationId xmlns:a16="http://schemas.microsoft.com/office/drawing/2014/main" id="{3218D2AA-064D-DD6F-549F-3E32D36A91F6}"/>
              </a:ext>
            </a:extLst>
          </p:cNvPr>
          <p:cNvSpPr/>
          <p:nvPr/>
        </p:nvSpPr>
        <p:spPr>
          <a:xfrm>
            <a:off x="793790" y="-304800"/>
            <a:ext cx="6540460" cy="651272"/>
          </a:xfrm>
          <a:prstGeom prst="rect">
            <a:avLst/>
          </a:prstGeom>
          <a:noFill/>
          <a:ln/>
        </p:spPr>
        <p:txBody>
          <a:bodyPr wrap="none" lIns="0" tIns="0" rIns="0" bIns="0" rtlCol="0" anchor="t"/>
          <a:lstStyle/>
          <a:p>
            <a:pPr marL="0" indent="0" algn="l">
              <a:lnSpc>
                <a:spcPts val="5100"/>
              </a:lnSpc>
              <a:buNone/>
            </a:pPr>
            <a:endParaRPr lang="en-US" sz="4100" dirty="0"/>
          </a:p>
        </p:txBody>
      </p:sp>
      <p:sp>
        <p:nvSpPr>
          <p:cNvPr id="4" name="Shape 1">
            <a:extLst>
              <a:ext uri="{FF2B5EF4-FFF2-40B4-BE49-F238E27FC236}">
                <a16:creationId xmlns:a16="http://schemas.microsoft.com/office/drawing/2014/main" id="{A19CF61E-79B8-87DC-001A-2789BC9F182F}"/>
              </a:ext>
            </a:extLst>
          </p:cNvPr>
          <p:cNvSpPr/>
          <p:nvPr/>
        </p:nvSpPr>
        <p:spPr>
          <a:xfrm>
            <a:off x="842257" y="2234484"/>
            <a:ext cx="4215289" cy="3950456"/>
          </a:xfrm>
          <a:prstGeom prst="roundRect">
            <a:avLst>
              <a:gd name="adj" fmla="val 1194"/>
            </a:avLst>
          </a:prstGeom>
          <a:solidFill>
            <a:srgbClr val="F2EEEE"/>
          </a:solidFill>
          <a:ln/>
        </p:spPr>
      </p:sp>
      <p:sp>
        <p:nvSpPr>
          <p:cNvPr id="5" name="Text 2">
            <a:extLst>
              <a:ext uri="{FF2B5EF4-FFF2-40B4-BE49-F238E27FC236}">
                <a16:creationId xmlns:a16="http://schemas.microsoft.com/office/drawing/2014/main" id="{9BBE0493-2F6E-CF9F-CB8F-AC28A69DA5B4}"/>
              </a:ext>
            </a:extLst>
          </p:cNvPr>
          <p:cNvSpPr/>
          <p:nvPr/>
        </p:nvSpPr>
        <p:spPr>
          <a:xfrm>
            <a:off x="992148" y="2432842"/>
            <a:ext cx="3818573" cy="3205958"/>
          </a:xfrm>
          <a:prstGeom prst="rect">
            <a:avLst/>
          </a:prstGeom>
          <a:noFill/>
          <a:ln/>
        </p:spPr>
        <p:txBody>
          <a:bodyPr wrap="square" lIns="0" tIns="0" rIns="0" bIns="0" rtlCol="0" anchor="t"/>
          <a:lstStyle/>
          <a:p>
            <a:pPr marL="0" indent="0" algn="l">
              <a:lnSpc>
                <a:spcPts val="3050"/>
              </a:lnSpc>
              <a:buNone/>
            </a:pPr>
            <a:r>
              <a:rPr lang="en-US" sz="2450" dirty="0">
                <a:solidFill>
                  <a:srgbClr val="383838"/>
                </a:solidFill>
                <a:latin typeface="PT Serif" panose="020A0603040505020204" pitchFamily="18" charset="0"/>
                <a:ea typeface="PT Serif" pitchFamily="34" charset="-122"/>
                <a:cs typeface="PT Serif" pitchFamily="34" charset="-120"/>
              </a:rPr>
              <a:t>Primary Objective</a:t>
            </a:r>
          </a:p>
          <a:p>
            <a:pPr marL="0" indent="0" algn="l">
              <a:lnSpc>
                <a:spcPts val="3050"/>
              </a:lnSpc>
              <a:buNone/>
            </a:pPr>
            <a:endParaRPr lang="en-US" sz="2450" dirty="0">
              <a:solidFill>
                <a:srgbClr val="383838"/>
              </a:solidFill>
              <a:latin typeface="PT Serif" panose="020A0603040505020204" pitchFamily="18" charset="0"/>
            </a:endParaRPr>
          </a:p>
          <a:p>
            <a:pPr algn="l">
              <a:lnSpc>
                <a:spcPts val="3050"/>
              </a:lnSpc>
            </a:pPr>
            <a:r>
              <a:rPr lang="en-US" dirty="0">
                <a:solidFill>
                  <a:srgbClr val="383838"/>
                </a:solidFill>
                <a:latin typeface="PT Serif" panose="020A0603040505020204" pitchFamily="18" charset="0"/>
                <a:ea typeface="DM Sans" pitchFamily="34" charset="-122"/>
                <a:cs typeface="DM Sans" pitchFamily="34" charset="-120"/>
              </a:rPr>
              <a:t>Maximizing predictive performance on unseen data. Emphasis on generalization, with less concern for individual coefficient interpretation or statistical significance.</a:t>
            </a:r>
            <a:endParaRPr lang="en-US" dirty="0">
              <a:latin typeface="PT Serif" panose="020A0603040505020204" pitchFamily="18" charset="0"/>
            </a:endParaRPr>
          </a:p>
          <a:p>
            <a:pPr marL="0" indent="0" algn="l">
              <a:lnSpc>
                <a:spcPts val="3050"/>
              </a:lnSpc>
              <a:buNone/>
            </a:pPr>
            <a:endParaRPr lang="en-US" sz="2450" dirty="0">
              <a:latin typeface="PT Serif" panose="020A0603040505020204" pitchFamily="18" charset="0"/>
            </a:endParaRPr>
          </a:p>
        </p:txBody>
      </p:sp>
      <p:sp>
        <p:nvSpPr>
          <p:cNvPr id="6" name="Text 3">
            <a:extLst>
              <a:ext uri="{FF2B5EF4-FFF2-40B4-BE49-F238E27FC236}">
                <a16:creationId xmlns:a16="http://schemas.microsoft.com/office/drawing/2014/main" id="{D385EB3F-DD07-CDA9-DD3F-4DFBEBF74B2E}"/>
              </a:ext>
            </a:extLst>
          </p:cNvPr>
          <p:cNvSpPr/>
          <p:nvPr/>
        </p:nvSpPr>
        <p:spPr>
          <a:xfrm>
            <a:off x="992148" y="2942548"/>
            <a:ext cx="3818573" cy="1587698"/>
          </a:xfrm>
          <a:prstGeom prst="rect">
            <a:avLst/>
          </a:prstGeom>
          <a:noFill/>
          <a:ln/>
        </p:spPr>
        <p:txBody>
          <a:bodyPr wrap="square" lIns="0" tIns="0" rIns="0" bIns="0" rtlCol="0" anchor="t"/>
          <a:lstStyle/>
          <a:p>
            <a:pPr marL="0" indent="0" algn="l">
              <a:lnSpc>
                <a:spcPts val="2500"/>
              </a:lnSpc>
              <a:buNone/>
            </a:pPr>
            <a:endParaRPr lang="en-US" sz="1550" dirty="0"/>
          </a:p>
        </p:txBody>
      </p:sp>
      <p:sp>
        <p:nvSpPr>
          <p:cNvPr id="7" name="Shape 4">
            <a:extLst>
              <a:ext uri="{FF2B5EF4-FFF2-40B4-BE49-F238E27FC236}">
                <a16:creationId xmlns:a16="http://schemas.microsoft.com/office/drawing/2014/main" id="{29D1BC04-1FB7-A4BF-5CF0-A6DE43B06F3B}"/>
              </a:ext>
            </a:extLst>
          </p:cNvPr>
          <p:cNvSpPr/>
          <p:nvPr/>
        </p:nvSpPr>
        <p:spPr>
          <a:xfrm>
            <a:off x="5207437" y="2234484"/>
            <a:ext cx="4215408" cy="3950456"/>
          </a:xfrm>
          <a:prstGeom prst="roundRect">
            <a:avLst>
              <a:gd name="adj" fmla="val 1194"/>
            </a:avLst>
          </a:prstGeom>
          <a:solidFill>
            <a:srgbClr val="F2EEEE"/>
          </a:solidFill>
          <a:ln/>
        </p:spPr>
      </p:sp>
      <p:sp>
        <p:nvSpPr>
          <p:cNvPr id="8" name="Text 5">
            <a:extLst>
              <a:ext uri="{FF2B5EF4-FFF2-40B4-BE49-F238E27FC236}">
                <a16:creationId xmlns:a16="http://schemas.microsoft.com/office/drawing/2014/main" id="{8740BC02-A0E8-EF28-AD76-B58E3CF24635}"/>
              </a:ext>
            </a:extLst>
          </p:cNvPr>
          <p:cNvSpPr/>
          <p:nvPr/>
        </p:nvSpPr>
        <p:spPr>
          <a:xfrm>
            <a:off x="5405795" y="2432842"/>
            <a:ext cx="3890605" cy="2097404"/>
          </a:xfrm>
          <a:prstGeom prst="rect">
            <a:avLst/>
          </a:prstGeom>
          <a:noFill/>
          <a:ln/>
        </p:spPr>
        <p:txBody>
          <a:bodyPr wrap="square" lIns="0" tIns="0" rIns="0" bIns="0" rtlCol="0" anchor="t"/>
          <a:lstStyle/>
          <a:p>
            <a:pPr marL="0" indent="0" algn="l">
              <a:lnSpc>
                <a:spcPts val="3050"/>
              </a:lnSpc>
              <a:buNone/>
            </a:pPr>
            <a:r>
              <a:rPr lang="en-US" sz="2400" dirty="0">
                <a:solidFill>
                  <a:srgbClr val="383838"/>
                </a:solidFill>
                <a:latin typeface="PT Serif" panose="020A0603040505020204" pitchFamily="18" charset="0"/>
                <a:ea typeface="PT Serif" pitchFamily="34" charset="-122"/>
                <a:cs typeface="PT Serif" pitchFamily="34" charset="-120"/>
              </a:rPr>
              <a:t>Feature Engineering</a:t>
            </a:r>
          </a:p>
          <a:p>
            <a:pPr marL="0" indent="0" algn="l">
              <a:lnSpc>
                <a:spcPts val="3050"/>
              </a:lnSpc>
              <a:buNone/>
            </a:pPr>
            <a:endParaRPr lang="en-US" dirty="0">
              <a:solidFill>
                <a:srgbClr val="383838"/>
              </a:solidFill>
              <a:latin typeface="PT Serif" panose="020A0603040505020204" pitchFamily="18" charset="0"/>
            </a:endParaRPr>
          </a:p>
          <a:p>
            <a:pPr algn="l">
              <a:lnSpc>
                <a:spcPts val="3050"/>
              </a:lnSpc>
            </a:pPr>
            <a:r>
              <a:rPr lang="en-US" dirty="0">
                <a:solidFill>
                  <a:srgbClr val="383838"/>
                </a:solidFill>
                <a:latin typeface="PT Serif" panose="020A0603040505020204" pitchFamily="18" charset="0"/>
                <a:ea typeface="DM Sans" pitchFamily="34" charset="-122"/>
                <a:cs typeface="DM Sans" pitchFamily="34" charset="-120"/>
              </a:rPr>
              <a:t>Aggressive transformation of variables: polynomial features, interaction terms, binning strategies. Regularization techniques (L1/L2) manage complexity and prevent overfitting.</a:t>
            </a:r>
            <a:endParaRPr lang="en-US" dirty="0">
              <a:latin typeface="PT Serif" panose="020A0603040505020204" pitchFamily="18" charset="0"/>
            </a:endParaRPr>
          </a:p>
          <a:p>
            <a:pPr marL="0" indent="0" algn="l">
              <a:lnSpc>
                <a:spcPts val="3050"/>
              </a:lnSpc>
              <a:buNone/>
            </a:pPr>
            <a:endParaRPr lang="en-US" dirty="0">
              <a:latin typeface="PT Serif" panose="020A0603040505020204" pitchFamily="18" charset="0"/>
            </a:endParaRPr>
          </a:p>
        </p:txBody>
      </p:sp>
      <p:sp>
        <p:nvSpPr>
          <p:cNvPr id="10" name="Shape 7">
            <a:extLst>
              <a:ext uri="{FF2B5EF4-FFF2-40B4-BE49-F238E27FC236}">
                <a16:creationId xmlns:a16="http://schemas.microsoft.com/office/drawing/2014/main" id="{6E3A3B4A-457C-13E6-1CF8-A221049A0EF6}"/>
              </a:ext>
            </a:extLst>
          </p:cNvPr>
          <p:cNvSpPr/>
          <p:nvPr/>
        </p:nvSpPr>
        <p:spPr>
          <a:xfrm>
            <a:off x="9621203" y="2234484"/>
            <a:ext cx="4215289" cy="3950456"/>
          </a:xfrm>
          <a:prstGeom prst="roundRect">
            <a:avLst>
              <a:gd name="adj" fmla="val 1194"/>
            </a:avLst>
          </a:prstGeom>
          <a:solidFill>
            <a:srgbClr val="F2EEEE"/>
          </a:solidFill>
          <a:ln/>
        </p:spPr>
      </p:sp>
      <p:sp>
        <p:nvSpPr>
          <p:cNvPr id="11" name="Text 8">
            <a:extLst>
              <a:ext uri="{FF2B5EF4-FFF2-40B4-BE49-F238E27FC236}">
                <a16:creationId xmlns:a16="http://schemas.microsoft.com/office/drawing/2014/main" id="{798957B0-6322-0176-DEA6-99FB099F700D}"/>
              </a:ext>
            </a:extLst>
          </p:cNvPr>
          <p:cNvSpPr/>
          <p:nvPr/>
        </p:nvSpPr>
        <p:spPr>
          <a:xfrm>
            <a:off x="9819561" y="2432842"/>
            <a:ext cx="3818573" cy="3752098"/>
          </a:xfrm>
          <a:prstGeom prst="rect">
            <a:avLst/>
          </a:prstGeom>
          <a:noFill/>
          <a:ln/>
        </p:spPr>
        <p:txBody>
          <a:bodyPr wrap="square" lIns="0" tIns="0" rIns="0" bIns="0" rtlCol="0" anchor="t"/>
          <a:lstStyle/>
          <a:p>
            <a:pPr marL="0" indent="0" algn="l">
              <a:lnSpc>
                <a:spcPts val="3050"/>
              </a:lnSpc>
              <a:buNone/>
            </a:pPr>
            <a:r>
              <a:rPr lang="en-US" sz="2400" dirty="0">
                <a:solidFill>
                  <a:srgbClr val="383838"/>
                </a:solidFill>
                <a:latin typeface="PT Serif" panose="020A0603040505020204" pitchFamily="18" charset="0"/>
                <a:ea typeface="PT Serif" pitchFamily="34" charset="-122"/>
                <a:cs typeface="PT Serif" pitchFamily="34" charset="-120"/>
              </a:rPr>
              <a:t>Performance Metrics</a:t>
            </a:r>
          </a:p>
          <a:p>
            <a:pPr marL="0" indent="0" algn="l">
              <a:lnSpc>
                <a:spcPts val="3050"/>
              </a:lnSpc>
              <a:buNone/>
            </a:pPr>
            <a:endParaRPr lang="en-US" dirty="0">
              <a:solidFill>
                <a:srgbClr val="383838"/>
              </a:solidFill>
              <a:latin typeface="PT Serif" panose="020A0603040505020204" pitchFamily="18" charset="0"/>
            </a:endParaRPr>
          </a:p>
          <a:p>
            <a:pPr algn="l">
              <a:lnSpc>
                <a:spcPts val="3050"/>
              </a:lnSpc>
            </a:pPr>
            <a:r>
              <a:rPr lang="en-US" dirty="0">
                <a:solidFill>
                  <a:srgbClr val="383838"/>
                </a:solidFill>
                <a:latin typeface="PT Serif" panose="020A0603040505020204" pitchFamily="18" charset="0"/>
                <a:ea typeface="DM Sans" pitchFamily="34" charset="-122"/>
                <a:cs typeface="DM Sans" pitchFamily="34" charset="-120"/>
              </a:rPr>
              <a:t>AUC-ROC, precision-recall curves, calibration plots, and confusion matrices guide model selection. Cross-validation estimates out-of-sample performance reliably.</a:t>
            </a:r>
            <a:endParaRPr lang="en-US" dirty="0">
              <a:latin typeface="PT Serif" panose="020A0603040505020204" pitchFamily="18" charset="0"/>
            </a:endParaRPr>
          </a:p>
          <a:p>
            <a:pPr marL="0" indent="0" algn="l">
              <a:lnSpc>
                <a:spcPts val="3050"/>
              </a:lnSpc>
              <a:buNone/>
            </a:pPr>
            <a:endParaRPr lang="en-US" dirty="0">
              <a:latin typeface="PT Serif" panose="020A0603040505020204" pitchFamily="18" charset="0"/>
            </a:endParaRPr>
          </a:p>
        </p:txBody>
      </p:sp>
      <p:sp>
        <p:nvSpPr>
          <p:cNvPr id="12" name="Text 9">
            <a:extLst>
              <a:ext uri="{FF2B5EF4-FFF2-40B4-BE49-F238E27FC236}">
                <a16:creationId xmlns:a16="http://schemas.microsoft.com/office/drawing/2014/main" id="{4C1843F2-2D5B-7586-3258-63516073DFC9}"/>
              </a:ext>
            </a:extLst>
          </p:cNvPr>
          <p:cNvSpPr/>
          <p:nvPr/>
        </p:nvSpPr>
        <p:spPr>
          <a:xfrm>
            <a:off x="9819561" y="2942548"/>
            <a:ext cx="3818573" cy="1587698"/>
          </a:xfrm>
          <a:prstGeom prst="rect">
            <a:avLst/>
          </a:prstGeom>
          <a:noFill/>
          <a:ln/>
        </p:spPr>
        <p:txBody>
          <a:bodyPr wrap="square" lIns="0" tIns="0" rIns="0" bIns="0" rtlCol="0" anchor="t"/>
          <a:lstStyle/>
          <a:p>
            <a:pPr marL="0" indent="0" algn="l">
              <a:lnSpc>
                <a:spcPts val="2500"/>
              </a:lnSpc>
              <a:buNone/>
            </a:pPr>
            <a:endParaRPr lang="en-US" sz="1550" dirty="0"/>
          </a:p>
        </p:txBody>
      </p:sp>
      <p:sp>
        <p:nvSpPr>
          <p:cNvPr id="13" name="Text 10">
            <a:extLst>
              <a:ext uri="{FF2B5EF4-FFF2-40B4-BE49-F238E27FC236}">
                <a16:creationId xmlns:a16="http://schemas.microsoft.com/office/drawing/2014/main" id="{52833C26-3856-090A-9131-35E0398A4D18}"/>
              </a:ext>
            </a:extLst>
          </p:cNvPr>
          <p:cNvSpPr/>
          <p:nvPr/>
        </p:nvSpPr>
        <p:spPr>
          <a:xfrm>
            <a:off x="789358" y="6540460"/>
            <a:ext cx="13042821" cy="317540"/>
          </a:xfrm>
          <a:prstGeom prst="rect">
            <a:avLst/>
          </a:prstGeom>
          <a:noFill/>
          <a:ln/>
        </p:spPr>
        <p:txBody>
          <a:bodyPr wrap="none" lIns="0" tIns="0" rIns="0" bIns="0" rtlCol="0" anchor="t"/>
          <a:lstStyle/>
          <a:p>
            <a:pPr marL="0" indent="0" algn="l">
              <a:lnSpc>
                <a:spcPts val="2500"/>
              </a:lnSpc>
              <a:buNone/>
            </a:pPr>
            <a:r>
              <a:rPr lang="en-US" dirty="0">
                <a:solidFill>
                  <a:srgbClr val="383838"/>
                </a:solidFill>
                <a:latin typeface="PT Serif" panose="020A0603040505020204" pitchFamily="18" charset="0"/>
                <a:ea typeface="DM Sans" pitchFamily="34" charset="-122"/>
                <a:cs typeface="DM Sans" pitchFamily="34" charset="-120"/>
              </a:rPr>
              <a:t>The machine learning paradigm treats logistic regression as a predictive algorithm, prioritising accuracy over interpretability.</a:t>
            </a:r>
            <a:endParaRPr lang="en-US" dirty="0">
              <a:latin typeface="PT Serif" panose="020A0603040505020204" pitchFamily="18" charset="0"/>
            </a:endParaRPr>
          </a:p>
        </p:txBody>
      </p:sp>
    </p:spTree>
    <p:extLst>
      <p:ext uri="{BB962C8B-B14F-4D97-AF65-F5344CB8AC3E}">
        <p14:creationId xmlns:p14="http://schemas.microsoft.com/office/powerpoint/2010/main" val="2156253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DD531-0DC2-B339-96EC-B77F87062D90}"/>
              </a:ext>
            </a:extLst>
          </p:cNvPr>
          <p:cNvSpPr>
            <a:spLocks noGrp="1"/>
          </p:cNvSpPr>
          <p:nvPr>
            <p:ph type="title"/>
          </p:nvPr>
        </p:nvSpPr>
        <p:spPr>
          <a:xfrm>
            <a:off x="487172" y="401522"/>
            <a:ext cx="13656055" cy="1107996"/>
          </a:xfrm>
        </p:spPr>
        <p:txBody>
          <a:bodyPr/>
          <a:lstStyle/>
          <a:p>
            <a:r>
              <a:rPr lang="en-US" sz="3600" dirty="0">
                <a:solidFill>
                  <a:schemeClr val="tx1"/>
                </a:solidFill>
              </a:rPr>
              <a:t>Cross Validation in Binary Logistic Regression</a:t>
            </a:r>
            <a:br>
              <a:rPr lang="en-IN" sz="3600" dirty="0">
                <a:solidFill>
                  <a:schemeClr val="tx1"/>
                </a:solidFill>
              </a:rPr>
            </a:br>
            <a:endParaRPr lang="en-IN" sz="3600" dirty="0"/>
          </a:p>
        </p:txBody>
      </p:sp>
      <p:sp>
        <p:nvSpPr>
          <p:cNvPr id="4" name="Rectangle 3">
            <a:extLst>
              <a:ext uri="{FF2B5EF4-FFF2-40B4-BE49-F238E27FC236}">
                <a16:creationId xmlns:a16="http://schemas.microsoft.com/office/drawing/2014/main" id="{0EF6119A-6DDF-E630-2452-D654CDC46033}"/>
              </a:ext>
            </a:extLst>
          </p:cNvPr>
          <p:cNvSpPr/>
          <p:nvPr/>
        </p:nvSpPr>
        <p:spPr>
          <a:xfrm>
            <a:off x="4343400" y="1295400"/>
            <a:ext cx="4800600" cy="1524000"/>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 Placeholder 2">
            <a:extLst>
              <a:ext uri="{FF2B5EF4-FFF2-40B4-BE49-F238E27FC236}">
                <a16:creationId xmlns:a16="http://schemas.microsoft.com/office/drawing/2014/main" id="{A3057974-5DEC-2D74-942D-ED79AC97AD08}"/>
              </a:ext>
            </a:extLst>
          </p:cNvPr>
          <p:cNvSpPr txBox="1">
            <a:spLocks/>
          </p:cNvSpPr>
          <p:nvPr/>
        </p:nvSpPr>
        <p:spPr>
          <a:xfrm>
            <a:off x="3124200" y="1296838"/>
            <a:ext cx="7381240" cy="1523494"/>
          </a:xfrm>
        </p:spPr>
        <p:txBody>
          <a:bodyPr/>
          <a:lstStyle>
            <a:lvl1pPr marL="0">
              <a:defRPr>
                <a:latin typeface="PT Serif" panose="020A0603040505020204"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ctr">
              <a:lnSpc>
                <a:spcPct val="150000"/>
              </a:lnSpc>
              <a:defRPr/>
            </a:pPr>
            <a:r>
              <a:rPr lang="en-US" dirty="0">
                <a:solidFill>
                  <a:schemeClr val="tx1">
                    <a:lumMod val="75000"/>
                    <a:lumOff val="25000"/>
                  </a:schemeClr>
                </a:solidFill>
              </a:rPr>
              <a:t>Cross Validation is a </a:t>
            </a:r>
          </a:p>
          <a:p>
            <a:pPr algn="ctr">
              <a:lnSpc>
                <a:spcPct val="150000"/>
              </a:lnSpc>
              <a:defRPr/>
            </a:pPr>
            <a:r>
              <a:rPr lang="en-US" b="1" dirty="0">
                <a:solidFill>
                  <a:schemeClr val="tx1">
                    <a:lumMod val="75000"/>
                    <a:lumOff val="25000"/>
                  </a:schemeClr>
                </a:solidFill>
              </a:rPr>
              <a:t>process of evaluating the model on </a:t>
            </a:r>
          </a:p>
          <a:p>
            <a:pPr algn="ctr">
              <a:lnSpc>
                <a:spcPct val="150000"/>
              </a:lnSpc>
              <a:defRPr/>
            </a:pPr>
            <a:r>
              <a:rPr lang="en-US" b="1" dirty="0">
                <a:solidFill>
                  <a:schemeClr val="tx1">
                    <a:lumMod val="75000"/>
                    <a:lumOff val="25000"/>
                  </a:schemeClr>
                </a:solidFill>
              </a:rPr>
              <a:t>‘Out of Sample’ data</a:t>
            </a:r>
          </a:p>
          <a:p>
            <a:endParaRPr lang="en-IN" dirty="0"/>
          </a:p>
        </p:txBody>
      </p:sp>
      <p:sp>
        <p:nvSpPr>
          <p:cNvPr id="6" name="TextBox 5">
            <a:extLst>
              <a:ext uri="{FF2B5EF4-FFF2-40B4-BE49-F238E27FC236}">
                <a16:creationId xmlns:a16="http://schemas.microsoft.com/office/drawing/2014/main" id="{D8CA8446-4C08-A2CF-B94E-0283BBA45C77}"/>
              </a:ext>
            </a:extLst>
          </p:cNvPr>
          <p:cNvSpPr txBox="1"/>
          <p:nvPr/>
        </p:nvSpPr>
        <p:spPr>
          <a:xfrm>
            <a:off x="974345" y="3307635"/>
            <a:ext cx="12513055" cy="3371500"/>
          </a:xfrm>
          <a:prstGeom prst="rect">
            <a:avLst/>
          </a:prstGeom>
          <a:noFill/>
        </p:spPr>
        <p:txBody>
          <a:bodyPr wrap="square">
            <a:spAutoFit/>
          </a:bodyPr>
          <a:lstStyle/>
          <a:p>
            <a:pPr marL="342900" indent="-342900">
              <a:lnSpc>
                <a:spcPct val="150000"/>
              </a:lnSpc>
              <a:buFont typeface="Arial" pitchFamily="34" charset="0"/>
              <a:buChar char="•"/>
              <a:defRPr/>
            </a:pPr>
            <a:r>
              <a:rPr lang="en-US" sz="1800" dirty="0">
                <a:solidFill>
                  <a:schemeClr val="tx1">
                    <a:lumMod val="75000"/>
                    <a:lumOff val="25000"/>
                  </a:schemeClr>
                </a:solidFill>
                <a:latin typeface="PT Serif" panose="020A0603040505020204" pitchFamily="18" charset="0"/>
              </a:rPr>
              <a:t>Model performance measures such as ROC-AUC or Model accuracy tend to be optimistic on 'In Sample Data‘</a:t>
            </a:r>
          </a:p>
          <a:p>
            <a:pPr marL="342900" indent="-342900">
              <a:lnSpc>
                <a:spcPct val="150000"/>
              </a:lnSpc>
              <a:defRPr/>
            </a:pPr>
            <a:endParaRPr lang="en-US" sz="1800" dirty="0">
              <a:solidFill>
                <a:schemeClr val="tx1">
                  <a:lumMod val="75000"/>
                  <a:lumOff val="25000"/>
                </a:schemeClr>
              </a:solidFill>
              <a:latin typeface="PT Serif" panose="020A0603040505020204" pitchFamily="18" charset="0"/>
            </a:endParaRPr>
          </a:p>
          <a:p>
            <a:pPr marL="342900" indent="-342900">
              <a:lnSpc>
                <a:spcPct val="150000"/>
              </a:lnSpc>
              <a:buFont typeface="Arial" pitchFamily="34" charset="0"/>
              <a:buChar char="•"/>
              <a:defRPr/>
            </a:pPr>
            <a:r>
              <a:rPr lang="en-IN" sz="1800" dirty="0">
                <a:solidFill>
                  <a:schemeClr val="tx1">
                    <a:lumMod val="75000"/>
                    <a:lumOff val="25000"/>
                  </a:schemeClr>
                </a:solidFill>
                <a:latin typeface="PT Serif" panose="020A0603040505020204" pitchFamily="18" charset="0"/>
              </a:rPr>
              <a:t>Model performance on “Out of sample” data gives more realistic picture of model performance. </a:t>
            </a:r>
          </a:p>
          <a:p>
            <a:pPr marL="342900" indent="-342900">
              <a:lnSpc>
                <a:spcPct val="150000"/>
              </a:lnSpc>
              <a:buFont typeface="Arial" pitchFamily="34" charset="0"/>
              <a:buChar char="•"/>
              <a:defRPr/>
            </a:pPr>
            <a:endParaRPr lang="en-IN" dirty="0">
              <a:solidFill>
                <a:schemeClr val="tx1">
                  <a:lumMod val="75000"/>
                  <a:lumOff val="25000"/>
                </a:schemeClr>
              </a:solidFill>
              <a:latin typeface="PT Serif" panose="020A0603040505020204" pitchFamily="18" charset="0"/>
            </a:endParaRPr>
          </a:p>
          <a:p>
            <a:pPr>
              <a:lnSpc>
                <a:spcPct val="150000"/>
              </a:lnSpc>
              <a:defRPr/>
            </a:pPr>
            <a:endParaRPr lang="en-IN" dirty="0">
              <a:solidFill>
                <a:schemeClr val="tx1">
                  <a:lumMod val="75000"/>
                  <a:lumOff val="25000"/>
                </a:schemeClr>
              </a:solidFill>
              <a:latin typeface="PT Serif" panose="020A0603040505020204" pitchFamily="18" charset="0"/>
            </a:endParaRPr>
          </a:p>
          <a:p>
            <a:pPr algn="l">
              <a:lnSpc>
                <a:spcPct val="150000"/>
              </a:lnSpc>
              <a:defRPr/>
            </a:pPr>
            <a:r>
              <a:rPr lang="en-US" sz="1800" dirty="0">
                <a:solidFill>
                  <a:schemeClr val="tx1">
                    <a:lumMod val="75000"/>
                    <a:lumOff val="25000"/>
                  </a:schemeClr>
                </a:solidFill>
                <a:latin typeface="PT Serif" panose="020A0603040505020204" pitchFamily="18" charset="0"/>
              </a:rPr>
              <a:t>    Cross validation is important because although a model is built on historical data, ultimately it is to be used on future</a:t>
            </a:r>
          </a:p>
          <a:p>
            <a:pPr algn="l">
              <a:lnSpc>
                <a:spcPct val="150000"/>
              </a:lnSpc>
              <a:defRPr/>
            </a:pPr>
            <a:r>
              <a:rPr lang="en-US" dirty="0">
                <a:solidFill>
                  <a:schemeClr val="tx1">
                    <a:lumMod val="75000"/>
                    <a:lumOff val="25000"/>
                  </a:schemeClr>
                </a:solidFill>
                <a:latin typeface="PT Serif" panose="020A0603040505020204" pitchFamily="18" charset="0"/>
              </a:rPr>
              <a:t> </a:t>
            </a:r>
            <a:r>
              <a:rPr lang="en-US" sz="1800" dirty="0">
                <a:solidFill>
                  <a:schemeClr val="tx1">
                    <a:lumMod val="75000"/>
                    <a:lumOff val="25000"/>
                  </a:schemeClr>
                </a:solidFill>
                <a:latin typeface="PT Serif" panose="020A0603040505020204" pitchFamily="18" charset="0"/>
              </a:rPr>
              <a:t>   data. However good the model, if it fails on out of sample data then it defeats the purpose of predictive modeling.</a:t>
            </a:r>
          </a:p>
          <a:p>
            <a:pPr marL="342900" indent="-342900">
              <a:lnSpc>
                <a:spcPct val="150000"/>
              </a:lnSpc>
              <a:buFont typeface="Arial" pitchFamily="34" charset="0"/>
              <a:buChar char="•"/>
              <a:defRPr/>
            </a:pPr>
            <a:endParaRPr lang="en-IN" sz="1800" dirty="0">
              <a:solidFill>
                <a:schemeClr val="tx1">
                  <a:lumMod val="75000"/>
                  <a:lumOff val="25000"/>
                </a:schemeClr>
              </a:solidFill>
              <a:latin typeface="PT Serif" panose="020A0603040505020204" pitchFamily="18" charset="0"/>
            </a:endParaRPr>
          </a:p>
        </p:txBody>
      </p:sp>
    </p:spTree>
    <p:extLst>
      <p:ext uri="{BB962C8B-B14F-4D97-AF65-F5344CB8AC3E}">
        <p14:creationId xmlns:p14="http://schemas.microsoft.com/office/powerpoint/2010/main" val="2616445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DCFFD-A840-062C-0822-77655146F1FC}"/>
              </a:ext>
            </a:extLst>
          </p:cNvPr>
          <p:cNvSpPr>
            <a:spLocks noGrp="1"/>
          </p:cNvSpPr>
          <p:nvPr>
            <p:ph type="title"/>
          </p:nvPr>
        </p:nvSpPr>
        <p:spPr>
          <a:xfrm>
            <a:off x="842730" y="690490"/>
            <a:ext cx="13656055" cy="610103"/>
          </a:xfrm>
        </p:spPr>
        <p:txBody>
          <a:bodyPr/>
          <a:lstStyle/>
          <a:p>
            <a:pPr marL="0" indent="0" algn="l">
              <a:lnSpc>
                <a:spcPts val="5100"/>
              </a:lnSpc>
              <a:buNone/>
            </a:pPr>
            <a:r>
              <a:rPr lang="en-US" sz="3600" dirty="0">
                <a:solidFill>
                  <a:srgbClr val="020202"/>
                </a:solidFill>
                <a:ea typeface="PT Serif" pitchFamily="34" charset="-122"/>
                <a:cs typeface="PT Serif" pitchFamily="34" charset="-120"/>
              </a:rPr>
              <a:t>Hold-Out Method	</a:t>
            </a:r>
            <a:endParaRPr lang="en-US" sz="3600" dirty="0"/>
          </a:p>
        </p:txBody>
      </p:sp>
      <p:sp>
        <p:nvSpPr>
          <p:cNvPr id="3" name="Text 0">
            <a:extLst>
              <a:ext uri="{FF2B5EF4-FFF2-40B4-BE49-F238E27FC236}">
                <a16:creationId xmlns:a16="http://schemas.microsoft.com/office/drawing/2014/main" id="{3218D2AA-064D-DD6F-549F-3E32D36A91F6}"/>
              </a:ext>
            </a:extLst>
          </p:cNvPr>
          <p:cNvSpPr/>
          <p:nvPr/>
        </p:nvSpPr>
        <p:spPr>
          <a:xfrm>
            <a:off x="793790" y="-304800"/>
            <a:ext cx="6540460" cy="651272"/>
          </a:xfrm>
          <a:prstGeom prst="rect">
            <a:avLst/>
          </a:prstGeom>
          <a:noFill/>
          <a:ln/>
        </p:spPr>
        <p:txBody>
          <a:bodyPr wrap="none" lIns="0" tIns="0" rIns="0" bIns="0" rtlCol="0" anchor="t"/>
          <a:lstStyle/>
          <a:p>
            <a:pPr marL="0" indent="0" algn="l">
              <a:lnSpc>
                <a:spcPts val="5100"/>
              </a:lnSpc>
              <a:buNone/>
            </a:pPr>
            <a:endParaRPr lang="en-US" sz="4100" dirty="0">
              <a:latin typeface="PT Serif" panose="020A0603040505020204" pitchFamily="18" charset="0"/>
            </a:endParaRPr>
          </a:p>
        </p:txBody>
      </p:sp>
      <p:sp>
        <p:nvSpPr>
          <p:cNvPr id="4" name="Shape 1">
            <a:extLst>
              <a:ext uri="{FF2B5EF4-FFF2-40B4-BE49-F238E27FC236}">
                <a16:creationId xmlns:a16="http://schemas.microsoft.com/office/drawing/2014/main" id="{A19CF61E-79B8-87DC-001A-2789BC9F182F}"/>
              </a:ext>
            </a:extLst>
          </p:cNvPr>
          <p:cNvSpPr/>
          <p:nvPr/>
        </p:nvSpPr>
        <p:spPr>
          <a:xfrm>
            <a:off x="842730" y="1828800"/>
            <a:ext cx="4215289" cy="3950456"/>
          </a:xfrm>
          <a:prstGeom prst="roundRect">
            <a:avLst>
              <a:gd name="adj" fmla="val 1194"/>
            </a:avLst>
          </a:prstGeom>
          <a:solidFill>
            <a:srgbClr val="F2EEEE"/>
          </a:solidFill>
          <a:ln/>
        </p:spPr>
      </p:sp>
      <p:sp>
        <p:nvSpPr>
          <p:cNvPr id="5" name="Text 2">
            <a:extLst>
              <a:ext uri="{FF2B5EF4-FFF2-40B4-BE49-F238E27FC236}">
                <a16:creationId xmlns:a16="http://schemas.microsoft.com/office/drawing/2014/main" id="{9BBE0493-2F6E-CF9F-CB8F-AC28A69DA5B4}"/>
              </a:ext>
            </a:extLst>
          </p:cNvPr>
          <p:cNvSpPr/>
          <p:nvPr/>
        </p:nvSpPr>
        <p:spPr>
          <a:xfrm>
            <a:off x="992148" y="2027158"/>
            <a:ext cx="3818573" cy="3205958"/>
          </a:xfrm>
          <a:prstGeom prst="rect">
            <a:avLst/>
          </a:prstGeom>
          <a:noFill/>
          <a:ln/>
        </p:spPr>
        <p:txBody>
          <a:bodyPr wrap="square" lIns="0" tIns="0" rIns="0" bIns="0" rtlCol="0" anchor="t"/>
          <a:lstStyle/>
          <a:p>
            <a:pPr algn="l">
              <a:lnSpc>
                <a:spcPts val="3050"/>
              </a:lnSpc>
            </a:pPr>
            <a:r>
              <a:rPr lang="en-US" sz="2400" dirty="0">
                <a:solidFill>
                  <a:srgbClr val="383838"/>
                </a:solidFill>
                <a:latin typeface="PT Serif" panose="020A0603040505020204" pitchFamily="18" charset="0"/>
                <a:ea typeface="PT Serif" pitchFamily="34" charset="-122"/>
                <a:cs typeface="PT Serif" pitchFamily="34" charset="-120"/>
              </a:rPr>
              <a:t>1. Data Splitting</a:t>
            </a:r>
            <a:endParaRPr lang="en-US" sz="2400" dirty="0">
              <a:latin typeface="PT Serif" panose="020A0603040505020204" pitchFamily="18" charset="0"/>
            </a:endParaRPr>
          </a:p>
          <a:p>
            <a:pPr marL="0" indent="0" algn="l">
              <a:lnSpc>
                <a:spcPts val="3050"/>
              </a:lnSpc>
              <a:buNone/>
            </a:pPr>
            <a:endParaRPr lang="en-US" sz="2450" dirty="0">
              <a:solidFill>
                <a:srgbClr val="383838"/>
              </a:solidFill>
              <a:latin typeface="PT Serif" panose="020A0603040505020204" pitchFamily="18" charset="0"/>
              <a:ea typeface="PT Serif" pitchFamily="34" charset="-122"/>
              <a:cs typeface="PT Serif" pitchFamily="34" charset="-120"/>
            </a:endParaRPr>
          </a:p>
          <a:p>
            <a:pPr marL="0" indent="0" algn="l">
              <a:lnSpc>
                <a:spcPts val="2500"/>
              </a:lnSpc>
              <a:buNone/>
            </a:pPr>
            <a:r>
              <a:rPr lang="en-US" dirty="0">
                <a:solidFill>
                  <a:srgbClr val="383838"/>
                </a:solidFill>
                <a:latin typeface="PT Serif" panose="020A0603040505020204" pitchFamily="18" charset="0"/>
                <a:ea typeface="DM Sans" pitchFamily="34" charset="-122"/>
                <a:cs typeface="DM Sans" pitchFamily="34" charset="-120"/>
              </a:rPr>
              <a:t>Dataset partitioned into training (typically 70-80%) and test sets (20-30%). Random sampling ensures representative distribution of outcome classes.</a:t>
            </a:r>
            <a:endParaRPr lang="en-US" dirty="0">
              <a:latin typeface="PT Serif" panose="020A0603040505020204" pitchFamily="18" charset="0"/>
            </a:endParaRPr>
          </a:p>
          <a:p>
            <a:pPr marL="0" indent="0" algn="l">
              <a:lnSpc>
                <a:spcPts val="3050"/>
              </a:lnSpc>
              <a:buNone/>
            </a:pPr>
            <a:endParaRPr lang="en-US" sz="2450" dirty="0">
              <a:latin typeface="PT Serif" panose="020A0603040505020204" pitchFamily="18" charset="0"/>
            </a:endParaRPr>
          </a:p>
        </p:txBody>
      </p:sp>
      <p:sp>
        <p:nvSpPr>
          <p:cNvPr id="6" name="Text 3">
            <a:extLst>
              <a:ext uri="{FF2B5EF4-FFF2-40B4-BE49-F238E27FC236}">
                <a16:creationId xmlns:a16="http://schemas.microsoft.com/office/drawing/2014/main" id="{D385EB3F-DD07-CDA9-DD3F-4DFBEBF74B2E}"/>
              </a:ext>
            </a:extLst>
          </p:cNvPr>
          <p:cNvSpPr/>
          <p:nvPr/>
        </p:nvSpPr>
        <p:spPr>
          <a:xfrm>
            <a:off x="992148" y="2942548"/>
            <a:ext cx="3818573" cy="1587698"/>
          </a:xfrm>
          <a:prstGeom prst="rect">
            <a:avLst/>
          </a:prstGeom>
          <a:noFill/>
          <a:ln/>
        </p:spPr>
        <p:txBody>
          <a:bodyPr wrap="square" lIns="0" tIns="0" rIns="0" bIns="0" rtlCol="0" anchor="t"/>
          <a:lstStyle/>
          <a:p>
            <a:pPr marL="0" indent="0" algn="l">
              <a:lnSpc>
                <a:spcPts val="2500"/>
              </a:lnSpc>
              <a:buNone/>
            </a:pPr>
            <a:endParaRPr lang="en-US" sz="1550" dirty="0">
              <a:latin typeface="PT Serif" panose="020A0603040505020204" pitchFamily="18" charset="0"/>
            </a:endParaRPr>
          </a:p>
        </p:txBody>
      </p:sp>
      <p:sp>
        <p:nvSpPr>
          <p:cNvPr id="7" name="Shape 4">
            <a:extLst>
              <a:ext uri="{FF2B5EF4-FFF2-40B4-BE49-F238E27FC236}">
                <a16:creationId xmlns:a16="http://schemas.microsoft.com/office/drawing/2014/main" id="{29D1BC04-1FB7-A4BF-5CF0-A6DE43B06F3B}"/>
              </a:ext>
            </a:extLst>
          </p:cNvPr>
          <p:cNvSpPr/>
          <p:nvPr/>
        </p:nvSpPr>
        <p:spPr>
          <a:xfrm>
            <a:off x="5207437" y="1828800"/>
            <a:ext cx="4215408" cy="3950456"/>
          </a:xfrm>
          <a:prstGeom prst="roundRect">
            <a:avLst>
              <a:gd name="adj" fmla="val 1194"/>
            </a:avLst>
          </a:prstGeom>
          <a:solidFill>
            <a:srgbClr val="F2EEEE"/>
          </a:solidFill>
          <a:ln/>
        </p:spPr>
      </p:sp>
      <p:sp>
        <p:nvSpPr>
          <p:cNvPr id="8" name="Text 5">
            <a:extLst>
              <a:ext uri="{FF2B5EF4-FFF2-40B4-BE49-F238E27FC236}">
                <a16:creationId xmlns:a16="http://schemas.microsoft.com/office/drawing/2014/main" id="{8740BC02-A0E8-EF28-AD76-B58E3CF24635}"/>
              </a:ext>
            </a:extLst>
          </p:cNvPr>
          <p:cNvSpPr/>
          <p:nvPr/>
        </p:nvSpPr>
        <p:spPr>
          <a:xfrm>
            <a:off x="5405795" y="2027158"/>
            <a:ext cx="3890605" cy="2097404"/>
          </a:xfrm>
          <a:prstGeom prst="rect">
            <a:avLst/>
          </a:prstGeom>
          <a:noFill/>
          <a:ln/>
        </p:spPr>
        <p:txBody>
          <a:bodyPr wrap="square" lIns="0" tIns="0" rIns="0" bIns="0" rtlCol="0" anchor="t"/>
          <a:lstStyle/>
          <a:p>
            <a:pPr algn="l">
              <a:lnSpc>
                <a:spcPts val="3050"/>
              </a:lnSpc>
            </a:pPr>
            <a:r>
              <a:rPr lang="en-US" sz="2400" dirty="0">
                <a:solidFill>
                  <a:srgbClr val="383838"/>
                </a:solidFill>
                <a:latin typeface="PT Serif" panose="020A0603040505020204" pitchFamily="18" charset="0"/>
                <a:ea typeface="PT Serif" pitchFamily="34" charset="-122"/>
                <a:cs typeface="PT Serif" pitchFamily="34" charset="-120"/>
              </a:rPr>
              <a:t>2. Model Training</a:t>
            </a:r>
            <a:endParaRPr lang="en-US" sz="2400" dirty="0">
              <a:latin typeface="PT Serif" panose="020A0603040505020204" pitchFamily="18" charset="0"/>
            </a:endParaRPr>
          </a:p>
          <a:p>
            <a:pPr marL="0" indent="0" algn="l">
              <a:lnSpc>
                <a:spcPts val="3050"/>
              </a:lnSpc>
              <a:buNone/>
            </a:pPr>
            <a:endParaRPr lang="en-US" sz="2400" dirty="0">
              <a:solidFill>
                <a:srgbClr val="383838"/>
              </a:solidFill>
              <a:latin typeface="PT Serif" panose="020A0603040505020204" pitchFamily="18" charset="0"/>
              <a:ea typeface="PT Serif" pitchFamily="34" charset="-122"/>
              <a:cs typeface="PT Serif" pitchFamily="34" charset="-120"/>
            </a:endParaRPr>
          </a:p>
          <a:p>
            <a:pPr marL="0" indent="0" algn="l">
              <a:lnSpc>
                <a:spcPts val="2500"/>
              </a:lnSpc>
              <a:buNone/>
            </a:pPr>
            <a:r>
              <a:rPr lang="en-US" sz="1800" dirty="0">
                <a:solidFill>
                  <a:srgbClr val="383838"/>
                </a:solidFill>
                <a:latin typeface="PT Serif" panose="020A0603040505020204" pitchFamily="18" charset="0"/>
                <a:ea typeface="DM Sans" pitchFamily="34" charset="-122"/>
                <a:cs typeface="DM Sans" pitchFamily="34" charset="-120"/>
              </a:rPr>
              <a:t>Logistic regression fitted exclusively on training data. Hyperparameters (regularization strength) optimized via nested validation within training set.</a:t>
            </a:r>
            <a:endParaRPr lang="en-US" sz="1800" dirty="0">
              <a:latin typeface="PT Serif" panose="020A0603040505020204" pitchFamily="18" charset="0"/>
            </a:endParaRPr>
          </a:p>
          <a:p>
            <a:pPr marL="0" indent="0" algn="l">
              <a:lnSpc>
                <a:spcPts val="3050"/>
              </a:lnSpc>
              <a:buNone/>
            </a:pPr>
            <a:endParaRPr lang="en-US" dirty="0">
              <a:latin typeface="PT Serif" panose="020A0603040505020204" pitchFamily="18" charset="0"/>
            </a:endParaRPr>
          </a:p>
        </p:txBody>
      </p:sp>
      <p:sp>
        <p:nvSpPr>
          <p:cNvPr id="10" name="Shape 7">
            <a:extLst>
              <a:ext uri="{FF2B5EF4-FFF2-40B4-BE49-F238E27FC236}">
                <a16:creationId xmlns:a16="http://schemas.microsoft.com/office/drawing/2014/main" id="{6E3A3B4A-457C-13E6-1CF8-A221049A0EF6}"/>
              </a:ext>
            </a:extLst>
          </p:cNvPr>
          <p:cNvSpPr/>
          <p:nvPr/>
        </p:nvSpPr>
        <p:spPr>
          <a:xfrm>
            <a:off x="9621203" y="1828800"/>
            <a:ext cx="4215289" cy="3950456"/>
          </a:xfrm>
          <a:prstGeom prst="roundRect">
            <a:avLst>
              <a:gd name="adj" fmla="val 1194"/>
            </a:avLst>
          </a:prstGeom>
          <a:solidFill>
            <a:srgbClr val="F2EEEE"/>
          </a:solidFill>
          <a:ln/>
        </p:spPr>
      </p:sp>
      <p:sp>
        <p:nvSpPr>
          <p:cNvPr id="11" name="Text 8">
            <a:extLst>
              <a:ext uri="{FF2B5EF4-FFF2-40B4-BE49-F238E27FC236}">
                <a16:creationId xmlns:a16="http://schemas.microsoft.com/office/drawing/2014/main" id="{798957B0-6322-0176-DEA6-99FB099F700D}"/>
              </a:ext>
            </a:extLst>
          </p:cNvPr>
          <p:cNvSpPr/>
          <p:nvPr/>
        </p:nvSpPr>
        <p:spPr>
          <a:xfrm>
            <a:off x="9819561" y="2027158"/>
            <a:ext cx="3818573" cy="3752098"/>
          </a:xfrm>
          <a:prstGeom prst="rect">
            <a:avLst/>
          </a:prstGeom>
          <a:noFill/>
          <a:ln/>
        </p:spPr>
        <p:txBody>
          <a:bodyPr wrap="square" lIns="0" tIns="0" rIns="0" bIns="0" rtlCol="0" anchor="t"/>
          <a:lstStyle/>
          <a:p>
            <a:pPr algn="l">
              <a:lnSpc>
                <a:spcPts val="3050"/>
              </a:lnSpc>
            </a:pPr>
            <a:r>
              <a:rPr lang="en-US" sz="2400" dirty="0">
                <a:solidFill>
                  <a:srgbClr val="383838"/>
                </a:solidFill>
                <a:latin typeface="PT Serif" panose="020A0603040505020204" pitchFamily="18" charset="0"/>
                <a:ea typeface="PT Serif" pitchFamily="34" charset="-122"/>
                <a:cs typeface="PT Serif" pitchFamily="34" charset="-120"/>
              </a:rPr>
              <a:t>3. Performance Evaluation</a:t>
            </a:r>
            <a:endParaRPr lang="en-US" sz="2400" dirty="0">
              <a:latin typeface="PT Serif" panose="020A0603040505020204" pitchFamily="18" charset="0"/>
            </a:endParaRPr>
          </a:p>
          <a:p>
            <a:pPr marL="0" indent="0" algn="l">
              <a:lnSpc>
                <a:spcPts val="3050"/>
              </a:lnSpc>
              <a:buNone/>
            </a:pPr>
            <a:endParaRPr lang="en-US" dirty="0">
              <a:solidFill>
                <a:srgbClr val="383838"/>
              </a:solidFill>
              <a:latin typeface="PT Serif" panose="020A0603040505020204" pitchFamily="18" charset="0"/>
            </a:endParaRPr>
          </a:p>
          <a:p>
            <a:pPr marL="0" indent="0" algn="l">
              <a:lnSpc>
                <a:spcPts val="2500"/>
              </a:lnSpc>
              <a:buNone/>
            </a:pPr>
            <a:r>
              <a:rPr lang="en-US" sz="1800" dirty="0">
                <a:solidFill>
                  <a:srgbClr val="383838"/>
                </a:solidFill>
                <a:latin typeface="PT Serif" panose="020A0603040505020204" pitchFamily="18" charset="0"/>
                <a:ea typeface="DM Sans" pitchFamily="34" charset="-122"/>
                <a:cs typeface="DM Sans" pitchFamily="34" charset="-120"/>
              </a:rPr>
              <a:t>Trained model applied to  test dataset. Test AUC, accuracy, and calibration metrics provide </a:t>
            </a:r>
            <a:r>
              <a:rPr lang="en-US" dirty="0">
                <a:solidFill>
                  <a:srgbClr val="383838"/>
                </a:solidFill>
                <a:latin typeface="PT Serif" panose="020A0603040505020204" pitchFamily="18" charset="0"/>
                <a:ea typeface="DM Sans" pitchFamily="34" charset="-122"/>
                <a:cs typeface="DM Sans" pitchFamily="34" charset="-120"/>
              </a:rPr>
              <a:t>various</a:t>
            </a:r>
            <a:r>
              <a:rPr lang="en-US" sz="1800" dirty="0">
                <a:solidFill>
                  <a:srgbClr val="383838"/>
                </a:solidFill>
                <a:latin typeface="PT Serif" panose="020A0603040505020204" pitchFamily="18" charset="0"/>
                <a:ea typeface="DM Sans" pitchFamily="34" charset="-122"/>
                <a:cs typeface="DM Sans" pitchFamily="34" charset="-120"/>
              </a:rPr>
              <a:t> performance </a:t>
            </a:r>
            <a:r>
              <a:rPr lang="en-US" dirty="0">
                <a:solidFill>
                  <a:srgbClr val="383838"/>
                </a:solidFill>
                <a:latin typeface="PT Serif" panose="020A0603040505020204" pitchFamily="18" charset="0"/>
                <a:ea typeface="DM Sans" pitchFamily="34" charset="-122"/>
                <a:cs typeface="DM Sans" pitchFamily="34" charset="-120"/>
              </a:rPr>
              <a:t>measures.</a:t>
            </a:r>
            <a:endParaRPr lang="en-US" sz="1800" dirty="0">
              <a:latin typeface="PT Serif" panose="020A0603040505020204" pitchFamily="18" charset="0"/>
            </a:endParaRPr>
          </a:p>
          <a:p>
            <a:pPr marL="0" indent="0" algn="l">
              <a:lnSpc>
                <a:spcPts val="3050"/>
              </a:lnSpc>
              <a:buNone/>
            </a:pPr>
            <a:endParaRPr lang="en-US" dirty="0">
              <a:latin typeface="PT Serif" panose="020A0603040505020204" pitchFamily="18" charset="0"/>
            </a:endParaRPr>
          </a:p>
        </p:txBody>
      </p:sp>
      <p:sp>
        <p:nvSpPr>
          <p:cNvPr id="12" name="Text 9">
            <a:extLst>
              <a:ext uri="{FF2B5EF4-FFF2-40B4-BE49-F238E27FC236}">
                <a16:creationId xmlns:a16="http://schemas.microsoft.com/office/drawing/2014/main" id="{4C1843F2-2D5B-7586-3258-63516073DFC9}"/>
              </a:ext>
            </a:extLst>
          </p:cNvPr>
          <p:cNvSpPr/>
          <p:nvPr/>
        </p:nvSpPr>
        <p:spPr>
          <a:xfrm>
            <a:off x="9819561" y="2942548"/>
            <a:ext cx="3818573" cy="1587698"/>
          </a:xfrm>
          <a:prstGeom prst="rect">
            <a:avLst/>
          </a:prstGeom>
          <a:noFill/>
          <a:ln/>
        </p:spPr>
        <p:txBody>
          <a:bodyPr wrap="square" lIns="0" tIns="0" rIns="0" bIns="0" rtlCol="0" anchor="t"/>
          <a:lstStyle/>
          <a:p>
            <a:pPr marL="0" indent="0" algn="l">
              <a:lnSpc>
                <a:spcPts val="2500"/>
              </a:lnSpc>
              <a:buNone/>
            </a:pPr>
            <a:endParaRPr lang="en-US" sz="1550" dirty="0">
              <a:latin typeface="PT Serif" panose="020A0603040505020204" pitchFamily="18" charset="0"/>
            </a:endParaRPr>
          </a:p>
        </p:txBody>
      </p:sp>
      <p:sp>
        <p:nvSpPr>
          <p:cNvPr id="13" name="Text 10">
            <a:extLst>
              <a:ext uri="{FF2B5EF4-FFF2-40B4-BE49-F238E27FC236}">
                <a16:creationId xmlns:a16="http://schemas.microsoft.com/office/drawing/2014/main" id="{52833C26-3856-090A-9131-35E0398A4D18}"/>
              </a:ext>
            </a:extLst>
          </p:cNvPr>
          <p:cNvSpPr/>
          <p:nvPr/>
        </p:nvSpPr>
        <p:spPr>
          <a:xfrm>
            <a:off x="789358" y="6540460"/>
            <a:ext cx="13042821" cy="317540"/>
          </a:xfrm>
          <a:prstGeom prst="rect">
            <a:avLst/>
          </a:prstGeom>
          <a:noFill/>
          <a:ln/>
        </p:spPr>
        <p:txBody>
          <a:bodyPr wrap="square" lIns="0" tIns="0" rIns="0" bIns="0" rtlCol="0" anchor="t"/>
          <a:lstStyle/>
          <a:p>
            <a:pPr marL="0" indent="0" algn="l">
              <a:lnSpc>
                <a:spcPts val="2500"/>
              </a:lnSpc>
              <a:buNone/>
            </a:pPr>
            <a:r>
              <a:rPr lang="en-US" sz="1800" dirty="0">
                <a:solidFill>
                  <a:srgbClr val="383838"/>
                </a:solidFill>
                <a:latin typeface="PT Serif" panose="020A0603040505020204" pitchFamily="18" charset="0"/>
                <a:ea typeface="DM Sans" pitchFamily="34" charset="-122"/>
                <a:cs typeface="DM Sans" pitchFamily="34" charset="-120"/>
              </a:rPr>
              <a:t>Whilst computationally efficient, hold-out validation suffers from high variance when sample sizes are limited, as performance estimates depend heavily on the specific train-test split.</a:t>
            </a:r>
            <a:endParaRPr lang="en-US" sz="1800" dirty="0">
              <a:latin typeface="PT Serif" panose="020A0603040505020204" pitchFamily="18" charset="0"/>
            </a:endParaRPr>
          </a:p>
        </p:txBody>
      </p:sp>
    </p:spTree>
    <p:extLst>
      <p:ext uri="{BB962C8B-B14F-4D97-AF65-F5344CB8AC3E}">
        <p14:creationId xmlns:p14="http://schemas.microsoft.com/office/powerpoint/2010/main" val="23251100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object 13">
            <a:extLst>
              <a:ext uri="{FF2B5EF4-FFF2-40B4-BE49-F238E27FC236}">
                <a16:creationId xmlns:a16="http://schemas.microsoft.com/office/drawing/2014/main" id="{9EDED71C-1B31-D97D-38B2-DAFD66018FF9}"/>
              </a:ext>
            </a:extLst>
          </p:cNvPr>
          <p:cNvGrpSpPr/>
          <p:nvPr/>
        </p:nvGrpSpPr>
        <p:grpSpPr>
          <a:xfrm>
            <a:off x="1376954" y="930916"/>
            <a:ext cx="5530189" cy="2461309"/>
            <a:chOff x="793788" y="4631308"/>
            <a:chExt cx="6437630" cy="2974340"/>
          </a:xfrm>
        </p:grpSpPr>
        <p:sp>
          <p:nvSpPr>
            <p:cNvPr id="25" name="object 14">
              <a:extLst>
                <a:ext uri="{FF2B5EF4-FFF2-40B4-BE49-F238E27FC236}">
                  <a16:creationId xmlns:a16="http://schemas.microsoft.com/office/drawing/2014/main" id="{35293503-1DBD-8E87-3BE0-DDA71A76F25C}"/>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6" name="object 15">
              <a:extLst>
                <a:ext uri="{FF2B5EF4-FFF2-40B4-BE49-F238E27FC236}">
                  <a16:creationId xmlns:a16="http://schemas.microsoft.com/office/drawing/2014/main" id="{222A1FF6-5464-B670-5D90-F39A5749423F}"/>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21" name="object 13">
            <a:extLst>
              <a:ext uri="{FF2B5EF4-FFF2-40B4-BE49-F238E27FC236}">
                <a16:creationId xmlns:a16="http://schemas.microsoft.com/office/drawing/2014/main" id="{5D4C71A9-44DE-C30C-23FB-01ADE60A16CF}"/>
              </a:ext>
            </a:extLst>
          </p:cNvPr>
          <p:cNvGrpSpPr/>
          <p:nvPr/>
        </p:nvGrpSpPr>
        <p:grpSpPr>
          <a:xfrm>
            <a:off x="1376954" y="3717360"/>
            <a:ext cx="5530189" cy="3014736"/>
            <a:chOff x="793788" y="4631308"/>
            <a:chExt cx="6437630" cy="2974340"/>
          </a:xfrm>
        </p:grpSpPr>
        <p:sp>
          <p:nvSpPr>
            <p:cNvPr id="22" name="object 14">
              <a:extLst>
                <a:ext uri="{FF2B5EF4-FFF2-40B4-BE49-F238E27FC236}">
                  <a16:creationId xmlns:a16="http://schemas.microsoft.com/office/drawing/2014/main" id="{3AACB49F-E75F-EA46-C29E-950076399A38}"/>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3" name="object 15">
              <a:extLst>
                <a:ext uri="{FF2B5EF4-FFF2-40B4-BE49-F238E27FC236}">
                  <a16:creationId xmlns:a16="http://schemas.microsoft.com/office/drawing/2014/main" id="{6237666D-DF67-98DC-05C9-F9F742175B69}"/>
                </a:ext>
              </a:extLst>
            </p:cNvPr>
            <p:cNvSpPr/>
            <p:nvPr/>
          </p:nvSpPr>
          <p:spPr>
            <a:xfrm>
              <a:off x="816648" y="4654167"/>
              <a:ext cx="6391910" cy="519614"/>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15" name="object 13">
            <a:extLst>
              <a:ext uri="{FF2B5EF4-FFF2-40B4-BE49-F238E27FC236}">
                <a16:creationId xmlns:a16="http://schemas.microsoft.com/office/drawing/2014/main" id="{E03DB111-066A-1466-380E-B1A5D264D147}"/>
              </a:ext>
            </a:extLst>
          </p:cNvPr>
          <p:cNvGrpSpPr/>
          <p:nvPr/>
        </p:nvGrpSpPr>
        <p:grpSpPr>
          <a:xfrm>
            <a:off x="7641454" y="3715446"/>
            <a:ext cx="5530189" cy="3014736"/>
            <a:chOff x="793788" y="4631308"/>
            <a:chExt cx="6437630" cy="2974340"/>
          </a:xfrm>
        </p:grpSpPr>
        <p:sp>
          <p:nvSpPr>
            <p:cNvPr id="16" name="object 14">
              <a:extLst>
                <a:ext uri="{FF2B5EF4-FFF2-40B4-BE49-F238E27FC236}">
                  <a16:creationId xmlns:a16="http://schemas.microsoft.com/office/drawing/2014/main" id="{692C152D-7A07-F647-B072-3F50C547CA6A}"/>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17" name="object 15">
              <a:extLst>
                <a:ext uri="{FF2B5EF4-FFF2-40B4-BE49-F238E27FC236}">
                  <a16:creationId xmlns:a16="http://schemas.microsoft.com/office/drawing/2014/main" id="{834CABA1-B7A9-4D1F-38E0-F9624839AD97}"/>
                </a:ext>
              </a:extLst>
            </p:cNvPr>
            <p:cNvSpPr/>
            <p:nvPr/>
          </p:nvSpPr>
          <p:spPr>
            <a:xfrm>
              <a:off x="816648" y="4654167"/>
              <a:ext cx="6391910" cy="521502"/>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18" name="object 13">
            <a:extLst>
              <a:ext uri="{FF2B5EF4-FFF2-40B4-BE49-F238E27FC236}">
                <a16:creationId xmlns:a16="http://schemas.microsoft.com/office/drawing/2014/main" id="{ECB50A61-AEB7-0B14-8AE8-E898A2B99D8F}"/>
              </a:ext>
            </a:extLst>
          </p:cNvPr>
          <p:cNvGrpSpPr/>
          <p:nvPr/>
        </p:nvGrpSpPr>
        <p:grpSpPr>
          <a:xfrm>
            <a:off x="7621816" y="949832"/>
            <a:ext cx="5530189" cy="2461309"/>
            <a:chOff x="793788" y="4631308"/>
            <a:chExt cx="6437630" cy="2974340"/>
          </a:xfrm>
        </p:grpSpPr>
        <p:sp>
          <p:nvSpPr>
            <p:cNvPr id="19" name="object 14">
              <a:extLst>
                <a:ext uri="{FF2B5EF4-FFF2-40B4-BE49-F238E27FC236}">
                  <a16:creationId xmlns:a16="http://schemas.microsoft.com/office/drawing/2014/main" id="{594874B8-2992-7984-EADD-99110A13FC67}"/>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0" name="object 15">
              <a:extLst>
                <a:ext uri="{FF2B5EF4-FFF2-40B4-BE49-F238E27FC236}">
                  <a16:creationId xmlns:a16="http://schemas.microsoft.com/office/drawing/2014/main" id="{AC59F4FA-A558-F930-8313-B0B11B9AD525}"/>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sp>
        <p:nvSpPr>
          <p:cNvPr id="2" name="object 2"/>
          <p:cNvSpPr txBox="1">
            <a:spLocks noGrp="1"/>
          </p:cNvSpPr>
          <p:nvPr>
            <p:ph type="title"/>
          </p:nvPr>
        </p:nvSpPr>
        <p:spPr>
          <a:xfrm>
            <a:off x="974345" y="-152400"/>
            <a:ext cx="13656055" cy="833113"/>
          </a:xfrm>
          <a:prstGeom prst="rect">
            <a:avLst/>
          </a:prstGeom>
          <a:noFill/>
        </p:spPr>
        <p:txBody>
          <a:bodyPr vert="horz" wrap="square" lIns="0" tIns="220853" rIns="0" bIns="0" rtlCol="0">
            <a:spAutoFit/>
          </a:bodyPr>
          <a:lstStyle/>
          <a:p>
            <a:pPr marL="0" indent="0" algn="l">
              <a:lnSpc>
                <a:spcPts val="5100"/>
              </a:lnSpc>
              <a:buNone/>
            </a:pPr>
            <a:r>
              <a:rPr lang="en-US" sz="3600" dirty="0">
                <a:solidFill>
                  <a:srgbClr val="020202"/>
                </a:solidFill>
                <a:ea typeface="PT Serif" pitchFamily="34" charset="-122"/>
                <a:cs typeface="PT Serif" pitchFamily="34" charset="-120"/>
              </a:rPr>
              <a:t>K-Fold Cross-Validation</a:t>
            </a:r>
            <a:endParaRPr lang="en-US" sz="3600" dirty="0"/>
          </a:p>
        </p:txBody>
      </p:sp>
      <p:sp>
        <p:nvSpPr>
          <p:cNvPr id="8" name="Text 3">
            <a:extLst>
              <a:ext uri="{FF2B5EF4-FFF2-40B4-BE49-F238E27FC236}">
                <a16:creationId xmlns:a16="http://schemas.microsoft.com/office/drawing/2014/main" id="{A0D38183-3593-0CD5-9F87-5CFCC2BA96CD}"/>
              </a:ext>
            </a:extLst>
          </p:cNvPr>
          <p:cNvSpPr/>
          <p:nvPr/>
        </p:nvSpPr>
        <p:spPr>
          <a:xfrm>
            <a:off x="1914891" y="1085104"/>
            <a:ext cx="4409709" cy="4698301"/>
          </a:xfrm>
          <a:prstGeom prst="rect">
            <a:avLst/>
          </a:prstGeom>
          <a:noFill/>
          <a:ln/>
        </p:spPr>
        <p:txBody>
          <a:bodyPr wrap="square" lIns="0" tIns="0" rIns="0" bIns="0" rtlCol="0" anchor="t"/>
          <a:lstStyle/>
          <a:p>
            <a:pPr algn="ctr">
              <a:lnSpc>
                <a:spcPts val="2050"/>
              </a:lnSpc>
            </a:pPr>
            <a:r>
              <a:rPr lang="en-US" sz="2400" dirty="0">
                <a:solidFill>
                  <a:srgbClr val="383838"/>
                </a:solidFill>
                <a:latin typeface="PT Serif" panose="020A0603040505020204" pitchFamily="18" charset="0"/>
                <a:ea typeface="PT Serif" pitchFamily="34" charset="-122"/>
                <a:cs typeface="PT Serif" pitchFamily="34" charset="-120"/>
              </a:rPr>
              <a:t>1. Data Partitioning</a:t>
            </a:r>
            <a:endParaRPr lang="en-US" sz="2400" dirty="0">
              <a:latin typeface="PT Serif" panose="020A0603040505020204" pitchFamily="18" charset="0"/>
            </a:endParaRPr>
          </a:p>
          <a:p>
            <a:pPr algn="ctr">
              <a:lnSpc>
                <a:spcPts val="2050"/>
              </a:lnSpc>
            </a:pPr>
            <a:endParaRPr lang="en-US" sz="2400" dirty="0">
              <a:latin typeface="PT Serif" panose="020A0603040505020204" pitchFamily="18" charset="0"/>
            </a:endParaRPr>
          </a:p>
          <a:p>
            <a:pPr algn="l">
              <a:lnSpc>
                <a:spcPts val="2550"/>
              </a:lnSpc>
            </a:pPr>
            <a:endParaRPr lang="en-US" dirty="0">
              <a:solidFill>
                <a:srgbClr val="000000"/>
              </a:solidFill>
              <a:latin typeface="PT Serif" panose="020A0603040505020204" pitchFamily="18" charset="0"/>
            </a:endParaRPr>
          </a:p>
          <a:p>
            <a:pPr marL="0" indent="0" algn="l">
              <a:lnSpc>
                <a:spcPts val="2500"/>
              </a:lnSpc>
              <a:buNone/>
            </a:pPr>
            <a:r>
              <a:rPr lang="en-US" sz="1800" dirty="0">
                <a:solidFill>
                  <a:srgbClr val="383838"/>
                </a:solidFill>
                <a:latin typeface="PT Serif" panose="020A0603040505020204" pitchFamily="18" charset="0"/>
                <a:ea typeface="DM Sans" pitchFamily="34" charset="-122"/>
                <a:cs typeface="DM Sans" pitchFamily="34" charset="-120"/>
              </a:rPr>
              <a:t>Dataset divided into K equal-sized folds (typically K=5 or K=10). Stratification maintains outcome class proportions across folds.</a:t>
            </a:r>
            <a:endParaRPr lang="en-US" sz="1800" dirty="0">
              <a:latin typeface="PT Serif" panose="020A0603040505020204" pitchFamily="18" charset="0"/>
            </a:endParaRPr>
          </a:p>
          <a:p>
            <a:pPr algn="l">
              <a:lnSpc>
                <a:spcPts val="2550"/>
              </a:lnSpc>
            </a:pPr>
            <a:endParaRPr lang="en-US" dirty="0">
              <a:solidFill>
                <a:srgbClr val="000000"/>
              </a:solidFill>
              <a:latin typeface="PT Serif" panose="020A0603040505020204" pitchFamily="18" charset="0"/>
            </a:endParaRPr>
          </a:p>
          <a:p>
            <a:pPr algn="l">
              <a:lnSpc>
                <a:spcPts val="2550"/>
              </a:lnSpc>
            </a:pPr>
            <a:endParaRPr lang="en-US" dirty="0">
              <a:solidFill>
                <a:srgbClr val="000000"/>
              </a:solidFill>
              <a:latin typeface="PT Serif" panose="020A0603040505020204" pitchFamily="18" charset="0"/>
            </a:endParaRPr>
          </a:p>
          <a:p>
            <a:pPr algn="ctr">
              <a:lnSpc>
                <a:spcPts val="2050"/>
              </a:lnSpc>
            </a:pPr>
            <a:r>
              <a:rPr lang="en-US" sz="2400" dirty="0">
                <a:solidFill>
                  <a:srgbClr val="383838"/>
                </a:solidFill>
                <a:latin typeface="PT Serif" panose="020A0603040505020204" pitchFamily="18" charset="0"/>
                <a:ea typeface="PT Serif" pitchFamily="34" charset="-122"/>
                <a:cs typeface="PT Serif" pitchFamily="34" charset="-120"/>
              </a:rPr>
              <a:t>3. Performance Aggregation</a:t>
            </a:r>
            <a:endParaRPr lang="en-US" sz="2400" dirty="0">
              <a:latin typeface="PT Serif" panose="020A0603040505020204" pitchFamily="18" charset="0"/>
            </a:endParaRPr>
          </a:p>
          <a:p>
            <a:pPr algn="ctr">
              <a:lnSpc>
                <a:spcPts val="2050"/>
              </a:lnSpc>
            </a:pPr>
            <a:endParaRPr lang="en-US" sz="2400" dirty="0">
              <a:latin typeface="PT Serif" panose="020A0603040505020204" pitchFamily="18" charset="0"/>
            </a:endParaRPr>
          </a:p>
          <a:p>
            <a:pPr marL="0" indent="0" algn="l">
              <a:lnSpc>
                <a:spcPts val="2500"/>
              </a:lnSpc>
              <a:buNone/>
            </a:pPr>
            <a:r>
              <a:rPr lang="en-US" sz="1800" dirty="0">
                <a:solidFill>
                  <a:srgbClr val="383838"/>
                </a:solidFill>
                <a:latin typeface="PT Serif" panose="020A0603040505020204" pitchFamily="18" charset="0"/>
                <a:ea typeface="DM Sans" pitchFamily="34" charset="-122"/>
                <a:cs typeface="DM Sans" pitchFamily="34" charset="-120"/>
              </a:rPr>
              <a:t>ROC-AUC is the preferred measure to compare the performance of model on full data and using K-Fold validation. Other measures like Accuracy, Recall, Precision etc. can be used but they are dependent on threshold.</a:t>
            </a:r>
            <a:endParaRPr lang="en-US" sz="1800" dirty="0">
              <a:latin typeface="PT Serif" panose="020A0603040505020204" pitchFamily="18" charset="0"/>
            </a:endParaRPr>
          </a:p>
        </p:txBody>
      </p:sp>
      <p:sp>
        <p:nvSpPr>
          <p:cNvPr id="10" name="Text 6">
            <a:extLst>
              <a:ext uri="{FF2B5EF4-FFF2-40B4-BE49-F238E27FC236}">
                <a16:creationId xmlns:a16="http://schemas.microsoft.com/office/drawing/2014/main" id="{B7C25592-1A5D-94A2-1249-6AAE7946F079}"/>
              </a:ext>
            </a:extLst>
          </p:cNvPr>
          <p:cNvSpPr/>
          <p:nvPr/>
        </p:nvSpPr>
        <p:spPr>
          <a:xfrm>
            <a:off x="7947010" y="1085104"/>
            <a:ext cx="4780222" cy="4698301"/>
          </a:xfrm>
          <a:prstGeom prst="rect">
            <a:avLst/>
          </a:prstGeom>
          <a:noFill/>
          <a:ln/>
        </p:spPr>
        <p:txBody>
          <a:bodyPr wrap="square" lIns="0" tIns="0" rIns="0" bIns="0" rtlCol="0" anchor="t"/>
          <a:lstStyle/>
          <a:p>
            <a:pPr algn="ctr">
              <a:lnSpc>
                <a:spcPts val="2050"/>
              </a:lnSpc>
            </a:pPr>
            <a:r>
              <a:rPr lang="en-US" sz="2400" dirty="0">
                <a:solidFill>
                  <a:srgbClr val="383838"/>
                </a:solidFill>
                <a:latin typeface="PT Serif" panose="020A0603040505020204" pitchFamily="18" charset="0"/>
                <a:ea typeface="PT Serif" pitchFamily="34" charset="-122"/>
                <a:cs typeface="PT Serif" pitchFamily="34" charset="-120"/>
              </a:rPr>
              <a:t>2. Iterative Training</a:t>
            </a:r>
            <a:endParaRPr lang="en-US" sz="2400" dirty="0">
              <a:latin typeface="PT Serif" panose="020A0603040505020204" pitchFamily="18" charset="0"/>
            </a:endParaRPr>
          </a:p>
          <a:p>
            <a:pPr algn="ctr">
              <a:lnSpc>
                <a:spcPts val="2050"/>
              </a:lnSpc>
            </a:pPr>
            <a:endParaRPr lang="en-US" sz="2400" dirty="0">
              <a:latin typeface="PT Serif" panose="020A0603040505020204" pitchFamily="18" charset="0"/>
            </a:endParaRPr>
          </a:p>
          <a:p>
            <a:pPr marL="0" indent="0" algn="l">
              <a:lnSpc>
                <a:spcPts val="2550"/>
              </a:lnSpc>
              <a:buNone/>
            </a:pPr>
            <a:endParaRPr lang="en-US" dirty="0">
              <a:solidFill>
                <a:srgbClr val="000000"/>
              </a:solidFill>
              <a:latin typeface="PT Serif" panose="020A0603040505020204" pitchFamily="18" charset="0"/>
            </a:endParaRPr>
          </a:p>
          <a:p>
            <a:pPr marL="0" indent="0" algn="l">
              <a:lnSpc>
                <a:spcPts val="2500"/>
              </a:lnSpc>
              <a:buNone/>
            </a:pPr>
            <a:r>
              <a:rPr lang="en-US" sz="1800" dirty="0">
                <a:solidFill>
                  <a:srgbClr val="383838"/>
                </a:solidFill>
                <a:latin typeface="PT Serif" panose="020A0603040505020204" pitchFamily="18" charset="0"/>
                <a:ea typeface="DM Sans" pitchFamily="34" charset="-122"/>
                <a:cs typeface="DM Sans" pitchFamily="34" charset="-120"/>
              </a:rPr>
              <a:t>Model trained K times, each iteration using K-1 folds for training whilst holding out one fold for validation. Each observation serves as validation data exactly once.</a:t>
            </a:r>
            <a:endParaRPr lang="en-US" sz="1800" dirty="0">
              <a:latin typeface="PT Serif" panose="020A0603040505020204" pitchFamily="18" charset="0"/>
            </a:endParaRPr>
          </a:p>
          <a:p>
            <a:pPr marL="0" indent="0" algn="l">
              <a:lnSpc>
                <a:spcPts val="2550"/>
              </a:lnSpc>
              <a:buNone/>
            </a:pPr>
            <a:endParaRPr lang="en-US" dirty="0">
              <a:solidFill>
                <a:srgbClr val="000000"/>
              </a:solidFill>
              <a:latin typeface="PT Serif" panose="020A0603040505020204" pitchFamily="18" charset="0"/>
            </a:endParaRPr>
          </a:p>
          <a:p>
            <a:pPr marL="0" indent="0" algn="l">
              <a:lnSpc>
                <a:spcPts val="2550"/>
              </a:lnSpc>
              <a:buNone/>
            </a:pPr>
            <a:endParaRPr lang="en-US" dirty="0">
              <a:solidFill>
                <a:srgbClr val="000000"/>
              </a:solidFill>
              <a:latin typeface="PT Serif" panose="020A0603040505020204" pitchFamily="18" charset="0"/>
            </a:endParaRPr>
          </a:p>
          <a:p>
            <a:pPr algn="ctr">
              <a:lnSpc>
                <a:spcPts val="2050"/>
              </a:lnSpc>
            </a:pPr>
            <a:r>
              <a:rPr lang="en-US" sz="2400" dirty="0">
                <a:solidFill>
                  <a:srgbClr val="383838"/>
                </a:solidFill>
                <a:latin typeface="PT Serif" panose="020A0603040505020204" pitchFamily="18" charset="0"/>
                <a:ea typeface="PT Serif" pitchFamily="34" charset="-122"/>
                <a:cs typeface="PT Serif" pitchFamily="34" charset="-120"/>
              </a:rPr>
              <a:t>4. Final Model</a:t>
            </a:r>
            <a:endParaRPr lang="en-US" sz="2400" dirty="0">
              <a:latin typeface="PT Serif" panose="020A0603040505020204" pitchFamily="18" charset="0"/>
            </a:endParaRPr>
          </a:p>
          <a:p>
            <a:pPr marL="0" indent="0" algn="l">
              <a:lnSpc>
                <a:spcPts val="2550"/>
              </a:lnSpc>
              <a:buNone/>
            </a:pPr>
            <a:endParaRPr lang="en-US" dirty="0">
              <a:solidFill>
                <a:srgbClr val="000000"/>
              </a:solidFill>
              <a:latin typeface="PT Serif" panose="020A0603040505020204" pitchFamily="18" charset="0"/>
            </a:endParaRPr>
          </a:p>
          <a:p>
            <a:pPr marL="0" indent="0" algn="l">
              <a:lnSpc>
                <a:spcPts val="2500"/>
              </a:lnSpc>
              <a:buNone/>
            </a:pPr>
            <a:r>
              <a:rPr lang="en-US" sz="1800" dirty="0">
                <a:solidFill>
                  <a:srgbClr val="383838"/>
                </a:solidFill>
                <a:latin typeface="PT Serif" panose="020A0603040505020204" pitchFamily="18" charset="0"/>
                <a:ea typeface="DM Sans" pitchFamily="34" charset="-122"/>
                <a:cs typeface="DM Sans" pitchFamily="34" charset="-120"/>
              </a:rPr>
              <a:t>After hyperparameter optimization via cross-validation, final model trained on entire dataset for deployment.</a:t>
            </a:r>
            <a:endParaRPr lang="en-US" sz="1800" dirty="0">
              <a:latin typeface="PT Serif" panose="020A0603040505020204" pitchFamily="18" charset="0"/>
            </a:endParaRPr>
          </a:p>
        </p:txBody>
      </p:sp>
      <p:sp>
        <p:nvSpPr>
          <p:cNvPr id="28" name="TextBox 27">
            <a:extLst>
              <a:ext uri="{FF2B5EF4-FFF2-40B4-BE49-F238E27FC236}">
                <a16:creationId xmlns:a16="http://schemas.microsoft.com/office/drawing/2014/main" id="{E743F1EE-D911-93FE-0ECE-2F302D7CE145}"/>
              </a:ext>
            </a:extLst>
          </p:cNvPr>
          <p:cNvSpPr txBox="1"/>
          <p:nvPr/>
        </p:nvSpPr>
        <p:spPr>
          <a:xfrm>
            <a:off x="1336177" y="7125446"/>
            <a:ext cx="11958046" cy="716350"/>
          </a:xfrm>
          <a:prstGeom prst="rect">
            <a:avLst/>
          </a:prstGeom>
          <a:noFill/>
        </p:spPr>
        <p:txBody>
          <a:bodyPr wrap="square">
            <a:spAutoFit/>
          </a:bodyPr>
          <a:lstStyle/>
          <a:p>
            <a:pPr marL="0" indent="0" algn="l">
              <a:lnSpc>
                <a:spcPts val="2500"/>
              </a:lnSpc>
              <a:buNone/>
            </a:pPr>
            <a:r>
              <a:rPr lang="en-US" sz="1800" dirty="0">
                <a:solidFill>
                  <a:srgbClr val="383838"/>
                </a:solidFill>
                <a:latin typeface="PT Serif" panose="020A0603040505020204" pitchFamily="18" charset="0"/>
                <a:ea typeface="DM Sans" pitchFamily="34" charset="-122"/>
                <a:cs typeface="DM Sans" pitchFamily="34" charset="-120"/>
              </a:rPr>
              <a:t>K-fold cross-validation provides more stable performance estimates than hold-out validation, efficiently utilizing all available data whilst maintaining independence between training and validation sets.</a:t>
            </a:r>
            <a:endParaRPr lang="en-US" sz="1800" dirty="0">
              <a:latin typeface="PT Serif" panose="020A0603040505020204" pitchFamily="18" charset="0"/>
            </a:endParaRPr>
          </a:p>
        </p:txBody>
      </p:sp>
    </p:spTree>
    <p:extLst>
      <p:ext uri="{BB962C8B-B14F-4D97-AF65-F5344CB8AC3E}">
        <p14:creationId xmlns:p14="http://schemas.microsoft.com/office/powerpoint/2010/main" val="7985100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A34AB-82AD-5A1C-DAC9-54A9A9B430D2}"/>
              </a:ext>
            </a:extLst>
          </p:cNvPr>
          <p:cNvSpPr>
            <a:spLocks noGrp="1"/>
          </p:cNvSpPr>
          <p:nvPr>
            <p:ph type="title"/>
          </p:nvPr>
        </p:nvSpPr>
        <p:spPr>
          <a:xfrm>
            <a:off x="974345" y="312564"/>
            <a:ext cx="13656055" cy="610103"/>
          </a:xfrm>
        </p:spPr>
        <p:txBody>
          <a:bodyPr/>
          <a:lstStyle/>
          <a:p>
            <a:pPr marL="0" indent="0" algn="l">
              <a:lnSpc>
                <a:spcPts val="5100"/>
              </a:lnSpc>
              <a:buNone/>
            </a:pPr>
            <a:r>
              <a:rPr lang="en-US" sz="3600" dirty="0">
                <a:solidFill>
                  <a:srgbClr val="020202"/>
                </a:solidFill>
                <a:ea typeface="PT Serif" pitchFamily="34" charset="-122"/>
                <a:cs typeface="PT Serif" pitchFamily="34" charset="-120"/>
              </a:rPr>
              <a:t>Repeated K-Fold Cross-Validation</a:t>
            </a:r>
            <a:endParaRPr lang="en-US" sz="3600" dirty="0"/>
          </a:p>
        </p:txBody>
      </p:sp>
      <p:sp>
        <p:nvSpPr>
          <p:cNvPr id="5" name="TextBox 4">
            <a:extLst>
              <a:ext uri="{FF2B5EF4-FFF2-40B4-BE49-F238E27FC236}">
                <a16:creationId xmlns:a16="http://schemas.microsoft.com/office/drawing/2014/main" id="{849733B5-6293-226A-F4E1-E325F0FA3405}"/>
              </a:ext>
            </a:extLst>
          </p:cNvPr>
          <p:cNvSpPr txBox="1"/>
          <p:nvPr/>
        </p:nvSpPr>
        <p:spPr>
          <a:xfrm>
            <a:off x="974344" y="1752600"/>
            <a:ext cx="12970255" cy="1995611"/>
          </a:xfrm>
          <a:prstGeom prst="rect">
            <a:avLst/>
          </a:prstGeom>
          <a:noFill/>
        </p:spPr>
        <p:txBody>
          <a:bodyPr wrap="square">
            <a:spAutoFit/>
          </a:bodyPr>
          <a:lstStyle/>
          <a:p>
            <a:pPr marL="0" indent="0" algn="l">
              <a:lnSpc>
                <a:spcPts val="2500"/>
              </a:lnSpc>
              <a:buNone/>
            </a:pPr>
            <a:r>
              <a:rPr lang="en-US" dirty="0">
                <a:solidFill>
                  <a:srgbClr val="383838"/>
                </a:solidFill>
                <a:latin typeface="PT Serif" panose="020A0603040505020204" pitchFamily="18" charset="0"/>
                <a:ea typeface="DM Sans" pitchFamily="34" charset="-122"/>
                <a:cs typeface="DM Sans" pitchFamily="34" charset="-120"/>
              </a:rPr>
              <a:t>K-fold cross-validation can be repeated 'm' times to arrive at more robust measure of model performance. Repeated k-fold CV does the same as above but more than once. For example, five repeats of 10-fold CV would give 50 total resamples that are averaged.</a:t>
            </a:r>
          </a:p>
          <a:p>
            <a:pPr marL="0" indent="0" algn="l">
              <a:lnSpc>
                <a:spcPts val="2500"/>
              </a:lnSpc>
              <a:buNone/>
            </a:pPr>
            <a:endParaRPr lang="en-US" dirty="0">
              <a:solidFill>
                <a:srgbClr val="383838"/>
              </a:solidFill>
              <a:latin typeface="PT Serif" panose="020A0603040505020204" pitchFamily="18" charset="0"/>
            </a:endParaRPr>
          </a:p>
          <a:p>
            <a:pPr algn="l">
              <a:lnSpc>
                <a:spcPts val="2500"/>
              </a:lnSpc>
            </a:pPr>
            <a:r>
              <a:rPr lang="en-US" b="1" dirty="0">
                <a:solidFill>
                  <a:srgbClr val="000000"/>
                </a:solidFill>
                <a:latin typeface="PT Serif" panose="020A0603040505020204" pitchFamily="18" charset="0"/>
                <a:ea typeface="DM Sans" pitchFamily="34" charset="-122"/>
                <a:cs typeface="DM Sans" pitchFamily="34" charset="-120"/>
              </a:rPr>
              <a:t>Important Note:</a:t>
            </a:r>
            <a:r>
              <a:rPr lang="en-US" dirty="0">
                <a:solidFill>
                  <a:srgbClr val="000000"/>
                </a:solidFill>
                <a:latin typeface="PT Serif" panose="020A0603040505020204" pitchFamily="18" charset="0"/>
                <a:ea typeface="DM Sans" pitchFamily="34" charset="-122"/>
                <a:cs typeface="DM Sans" pitchFamily="34" charset="-120"/>
              </a:rPr>
              <a:t> This is not the same as 50-fold CV. The process requires computer with good computing power.</a:t>
            </a:r>
            <a:endParaRPr lang="en-US" dirty="0">
              <a:latin typeface="PT Serif" panose="020A0603040505020204" pitchFamily="18" charset="0"/>
            </a:endParaRPr>
          </a:p>
          <a:p>
            <a:pPr marL="0" indent="0" algn="l">
              <a:lnSpc>
                <a:spcPts val="2500"/>
              </a:lnSpc>
              <a:buNone/>
            </a:pPr>
            <a:endParaRPr lang="en-US" dirty="0">
              <a:latin typeface="PT Serif" panose="020A0603040505020204" pitchFamily="18" charset="0"/>
            </a:endParaRPr>
          </a:p>
        </p:txBody>
      </p:sp>
      <p:sp>
        <p:nvSpPr>
          <p:cNvPr id="6" name="Shape 2">
            <a:extLst>
              <a:ext uri="{FF2B5EF4-FFF2-40B4-BE49-F238E27FC236}">
                <a16:creationId xmlns:a16="http://schemas.microsoft.com/office/drawing/2014/main" id="{2E417A8F-DE29-0EFD-4108-138C9591C3DA}"/>
              </a:ext>
            </a:extLst>
          </p:cNvPr>
          <p:cNvSpPr/>
          <p:nvPr/>
        </p:nvSpPr>
        <p:spPr>
          <a:xfrm>
            <a:off x="152400" y="4109049"/>
            <a:ext cx="4664456" cy="2590800"/>
          </a:xfrm>
          <a:prstGeom prst="roundRect">
            <a:avLst>
              <a:gd name="adj" fmla="val 1410"/>
            </a:avLst>
          </a:prstGeom>
          <a:solidFill>
            <a:srgbClr val="F2EEEE"/>
          </a:solidFill>
          <a:ln/>
        </p:spPr>
        <p:txBody>
          <a:bodyPr/>
          <a:lstStyle/>
          <a:p>
            <a:pPr marL="0" indent="0" algn="ctr">
              <a:lnSpc>
                <a:spcPct val="200000"/>
              </a:lnSpc>
              <a:buNone/>
            </a:pPr>
            <a:r>
              <a:rPr lang="en-US" sz="4000" dirty="0">
                <a:solidFill>
                  <a:srgbClr val="383838"/>
                </a:solidFill>
                <a:latin typeface="PT Serif" panose="020A0603040505020204" pitchFamily="18" charset="0"/>
                <a:ea typeface="PT Serif" pitchFamily="34" charset="-122"/>
                <a:cs typeface="PT Serif" pitchFamily="34" charset="-120"/>
              </a:rPr>
              <a:t>10</a:t>
            </a:r>
            <a:endParaRPr lang="en-US" dirty="0">
              <a:solidFill>
                <a:srgbClr val="383838"/>
              </a:solidFill>
              <a:latin typeface="PT Serif" panose="020A0603040505020204" pitchFamily="18" charset="0"/>
            </a:endParaRPr>
          </a:p>
          <a:p>
            <a:pPr algn="ctr">
              <a:lnSpc>
                <a:spcPct val="200000"/>
              </a:lnSpc>
            </a:pPr>
            <a:r>
              <a:rPr lang="en-US" dirty="0">
                <a:solidFill>
                  <a:srgbClr val="383838"/>
                </a:solidFill>
                <a:latin typeface="PT Serif" panose="020A0603040505020204" pitchFamily="18" charset="0"/>
                <a:ea typeface="PT Serif" pitchFamily="34" charset="-122"/>
                <a:cs typeface="PT Serif" pitchFamily="34" charset="-120"/>
              </a:rPr>
              <a:t>Typical Folds</a:t>
            </a:r>
            <a:endParaRPr lang="en-US" dirty="0">
              <a:latin typeface="PT Serif" panose="020A0603040505020204" pitchFamily="18" charset="0"/>
            </a:endParaRPr>
          </a:p>
          <a:p>
            <a:pPr algn="ctr">
              <a:lnSpc>
                <a:spcPct val="200000"/>
              </a:lnSpc>
            </a:pPr>
            <a:r>
              <a:rPr lang="en-US" dirty="0">
                <a:solidFill>
                  <a:srgbClr val="383838"/>
                </a:solidFill>
                <a:latin typeface="PT Serif" panose="020A0603040505020204" pitchFamily="18" charset="0"/>
                <a:ea typeface="DM Sans" pitchFamily="34" charset="-122"/>
                <a:cs typeface="DM Sans" pitchFamily="34" charset="-120"/>
              </a:rPr>
              <a:t>Standard number of folds used in practice</a:t>
            </a:r>
            <a:endParaRPr lang="en-US" dirty="0">
              <a:latin typeface="PT Serif" panose="020A0603040505020204" pitchFamily="18" charset="0"/>
            </a:endParaRPr>
          </a:p>
          <a:p>
            <a:pPr marL="0" indent="0" algn="ctr">
              <a:lnSpc>
                <a:spcPts val="5150"/>
              </a:lnSpc>
              <a:buNone/>
            </a:pPr>
            <a:endParaRPr lang="en-US" dirty="0">
              <a:latin typeface="PT Serif" panose="020A0603040505020204" pitchFamily="18" charset="0"/>
            </a:endParaRPr>
          </a:p>
        </p:txBody>
      </p:sp>
      <p:sp>
        <p:nvSpPr>
          <p:cNvPr id="7" name="Shape 2">
            <a:extLst>
              <a:ext uri="{FF2B5EF4-FFF2-40B4-BE49-F238E27FC236}">
                <a16:creationId xmlns:a16="http://schemas.microsoft.com/office/drawing/2014/main" id="{AC679014-6A4A-F2DD-2CC1-4CCA125D224F}"/>
              </a:ext>
            </a:extLst>
          </p:cNvPr>
          <p:cNvSpPr/>
          <p:nvPr/>
        </p:nvSpPr>
        <p:spPr>
          <a:xfrm>
            <a:off x="9814984" y="4109049"/>
            <a:ext cx="4664456" cy="2590800"/>
          </a:xfrm>
          <a:prstGeom prst="roundRect">
            <a:avLst>
              <a:gd name="adj" fmla="val 1410"/>
            </a:avLst>
          </a:prstGeom>
          <a:solidFill>
            <a:srgbClr val="F2EEEE"/>
          </a:solidFill>
          <a:ln/>
        </p:spPr>
        <p:txBody>
          <a:bodyPr/>
          <a:lstStyle/>
          <a:p>
            <a:pPr marL="0" indent="0" algn="ctr">
              <a:lnSpc>
                <a:spcPct val="200000"/>
              </a:lnSpc>
              <a:buNone/>
            </a:pPr>
            <a:r>
              <a:rPr lang="en-US" sz="4000" dirty="0">
                <a:solidFill>
                  <a:srgbClr val="383838"/>
                </a:solidFill>
                <a:latin typeface="PT Serif" panose="020A0603040505020204" pitchFamily="18" charset="0"/>
                <a:ea typeface="PT Serif" pitchFamily="34" charset="-122"/>
                <a:cs typeface="PT Serif" pitchFamily="34" charset="-120"/>
              </a:rPr>
              <a:t>50</a:t>
            </a:r>
            <a:endParaRPr lang="en-US" sz="4000" dirty="0">
              <a:latin typeface="PT Serif" panose="020A0603040505020204" pitchFamily="18" charset="0"/>
            </a:endParaRPr>
          </a:p>
          <a:p>
            <a:pPr marL="0" indent="0" algn="ctr">
              <a:lnSpc>
                <a:spcPct val="200000"/>
              </a:lnSpc>
              <a:buNone/>
            </a:pPr>
            <a:r>
              <a:rPr lang="en-US" sz="1800" dirty="0">
                <a:solidFill>
                  <a:srgbClr val="383838"/>
                </a:solidFill>
                <a:latin typeface="PT Serif" panose="020A0603040505020204" pitchFamily="18" charset="0"/>
                <a:ea typeface="PT Serif" pitchFamily="34" charset="-122"/>
                <a:cs typeface="PT Serif" pitchFamily="34" charset="-120"/>
              </a:rPr>
              <a:t>Total Resamples</a:t>
            </a:r>
            <a:endParaRPr lang="en-US" sz="1800" dirty="0">
              <a:latin typeface="PT Serif" panose="020A0603040505020204" pitchFamily="18" charset="0"/>
            </a:endParaRPr>
          </a:p>
          <a:p>
            <a:pPr marL="0" indent="0" algn="ctr">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Five repeats of 10-fold CV</a:t>
            </a:r>
            <a:endParaRPr lang="en-US" sz="1800" dirty="0">
              <a:latin typeface="PT Serif" panose="020A0603040505020204" pitchFamily="18" charset="0"/>
            </a:endParaRPr>
          </a:p>
          <a:p>
            <a:pPr marL="0" indent="0" algn="ctr">
              <a:lnSpc>
                <a:spcPct val="200000"/>
              </a:lnSpc>
              <a:buNone/>
            </a:pPr>
            <a:endParaRPr lang="en-US" dirty="0">
              <a:latin typeface="PT Serif" panose="020A0603040505020204" pitchFamily="18" charset="0"/>
            </a:endParaRPr>
          </a:p>
        </p:txBody>
      </p:sp>
      <p:sp>
        <p:nvSpPr>
          <p:cNvPr id="8" name="Shape 2">
            <a:extLst>
              <a:ext uri="{FF2B5EF4-FFF2-40B4-BE49-F238E27FC236}">
                <a16:creationId xmlns:a16="http://schemas.microsoft.com/office/drawing/2014/main" id="{AE60534B-BFEB-3D0E-CBBD-5517814799A5}"/>
              </a:ext>
            </a:extLst>
          </p:cNvPr>
          <p:cNvSpPr/>
          <p:nvPr/>
        </p:nvSpPr>
        <p:spPr>
          <a:xfrm>
            <a:off x="4953000" y="4109049"/>
            <a:ext cx="4664456" cy="2590800"/>
          </a:xfrm>
          <a:prstGeom prst="roundRect">
            <a:avLst>
              <a:gd name="adj" fmla="val 1410"/>
            </a:avLst>
          </a:prstGeom>
          <a:solidFill>
            <a:srgbClr val="F2EEEE"/>
          </a:solidFill>
          <a:ln/>
        </p:spPr>
        <p:txBody>
          <a:bodyPr/>
          <a:lstStyle/>
          <a:p>
            <a:pPr marL="0" indent="0" algn="ctr">
              <a:lnSpc>
                <a:spcPct val="200000"/>
              </a:lnSpc>
              <a:buNone/>
            </a:pPr>
            <a:r>
              <a:rPr lang="en-US" sz="4000" dirty="0">
                <a:solidFill>
                  <a:srgbClr val="383838"/>
                </a:solidFill>
                <a:latin typeface="PT Serif" panose="020A0603040505020204" pitchFamily="18" charset="0"/>
                <a:ea typeface="PT Serif" pitchFamily="34" charset="-122"/>
                <a:cs typeface="PT Serif" pitchFamily="34" charset="-120"/>
              </a:rPr>
              <a:t>5</a:t>
            </a:r>
            <a:endParaRPr lang="en-US" sz="4000" dirty="0">
              <a:latin typeface="PT Serif" panose="020A0603040505020204" pitchFamily="18" charset="0"/>
            </a:endParaRPr>
          </a:p>
          <a:p>
            <a:pPr marL="0" indent="0" algn="ctr">
              <a:lnSpc>
                <a:spcPct val="200000"/>
              </a:lnSpc>
              <a:buNone/>
            </a:pPr>
            <a:r>
              <a:rPr lang="en-US" sz="1800" dirty="0">
                <a:solidFill>
                  <a:srgbClr val="383838"/>
                </a:solidFill>
                <a:latin typeface="PT Serif" panose="020A0603040505020204" pitchFamily="18" charset="0"/>
                <a:ea typeface="PT Serif" pitchFamily="34" charset="-122"/>
                <a:cs typeface="PT Serif" pitchFamily="34" charset="-120"/>
              </a:rPr>
              <a:t>Common Repeats</a:t>
            </a:r>
            <a:endParaRPr lang="en-US" sz="1800" dirty="0">
              <a:latin typeface="PT Serif" panose="020A0603040505020204" pitchFamily="18" charset="0"/>
            </a:endParaRPr>
          </a:p>
          <a:p>
            <a:pPr marL="0" indent="0" algn="ctr">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Number of times to repeat the process</a:t>
            </a:r>
            <a:endParaRPr lang="en-US" sz="1800" dirty="0">
              <a:latin typeface="PT Serif" panose="020A0603040505020204" pitchFamily="18" charset="0"/>
            </a:endParaRPr>
          </a:p>
          <a:p>
            <a:pPr marL="0" indent="0" algn="ctr">
              <a:lnSpc>
                <a:spcPct val="200000"/>
              </a:lnSpc>
              <a:buNone/>
            </a:pPr>
            <a:endParaRPr lang="en-US" dirty="0">
              <a:latin typeface="PT Serif" panose="020A0603040505020204" pitchFamily="18" charset="0"/>
            </a:endParaRPr>
          </a:p>
        </p:txBody>
      </p:sp>
    </p:spTree>
    <p:extLst>
      <p:ext uri="{BB962C8B-B14F-4D97-AF65-F5344CB8AC3E}">
        <p14:creationId xmlns:p14="http://schemas.microsoft.com/office/powerpoint/2010/main" val="2204341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DCFFD-A840-062C-0822-77655146F1FC}"/>
              </a:ext>
            </a:extLst>
          </p:cNvPr>
          <p:cNvSpPr>
            <a:spLocks noGrp="1"/>
          </p:cNvSpPr>
          <p:nvPr>
            <p:ph type="title"/>
          </p:nvPr>
        </p:nvSpPr>
        <p:spPr>
          <a:xfrm>
            <a:off x="903292" y="378572"/>
            <a:ext cx="13656055" cy="610103"/>
          </a:xfrm>
        </p:spPr>
        <p:txBody>
          <a:bodyPr/>
          <a:lstStyle/>
          <a:p>
            <a:pPr marL="0" indent="0" algn="l">
              <a:lnSpc>
                <a:spcPts val="5100"/>
              </a:lnSpc>
              <a:buNone/>
            </a:pPr>
            <a:r>
              <a:rPr lang="en-US" sz="3600" dirty="0">
                <a:solidFill>
                  <a:srgbClr val="020202"/>
                </a:solidFill>
                <a:latin typeface="PT Serif" pitchFamily="34" charset="0"/>
                <a:ea typeface="PT Serif" pitchFamily="34" charset="-122"/>
                <a:cs typeface="PT Serif" pitchFamily="34" charset="-120"/>
              </a:rPr>
              <a:t>Test Set AUC for Model Validation</a:t>
            </a:r>
            <a:endParaRPr lang="en-US" sz="3600" dirty="0"/>
          </a:p>
        </p:txBody>
      </p:sp>
      <p:sp>
        <p:nvSpPr>
          <p:cNvPr id="3" name="Text 0">
            <a:extLst>
              <a:ext uri="{FF2B5EF4-FFF2-40B4-BE49-F238E27FC236}">
                <a16:creationId xmlns:a16="http://schemas.microsoft.com/office/drawing/2014/main" id="{3218D2AA-064D-DD6F-549F-3E32D36A91F6}"/>
              </a:ext>
            </a:extLst>
          </p:cNvPr>
          <p:cNvSpPr/>
          <p:nvPr/>
        </p:nvSpPr>
        <p:spPr>
          <a:xfrm>
            <a:off x="793790" y="-304800"/>
            <a:ext cx="6540460" cy="651272"/>
          </a:xfrm>
          <a:prstGeom prst="rect">
            <a:avLst/>
          </a:prstGeom>
          <a:noFill/>
          <a:ln/>
        </p:spPr>
        <p:txBody>
          <a:bodyPr wrap="none" lIns="0" tIns="0" rIns="0" bIns="0" rtlCol="0" anchor="t"/>
          <a:lstStyle/>
          <a:p>
            <a:pPr marL="0" indent="0" algn="l">
              <a:lnSpc>
                <a:spcPts val="5100"/>
              </a:lnSpc>
              <a:buNone/>
            </a:pPr>
            <a:endParaRPr lang="en-US" sz="4100" dirty="0">
              <a:latin typeface="PT Serif" panose="020A0603040505020204" pitchFamily="18" charset="0"/>
            </a:endParaRPr>
          </a:p>
        </p:txBody>
      </p:sp>
      <p:sp>
        <p:nvSpPr>
          <p:cNvPr id="4" name="Shape 1">
            <a:extLst>
              <a:ext uri="{FF2B5EF4-FFF2-40B4-BE49-F238E27FC236}">
                <a16:creationId xmlns:a16="http://schemas.microsoft.com/office/drawing/2014/main" id="{A19CF61E-79B8-87DC-001A-2789BC9F182F}"/>
              </a:ext>
            </a:extLst>
          </p:cNvPr>
          <p:cNvSpPr/>
          <p:nvPr/>
        </p:nvSpPr>
        <p:spPr>
          <a:xfrm>
            <a:off x="842730" y="2755144"/>
            <a:ext cx="4215289" cy="3950456"/>
          </a:xfrm>
          <a:prstGeom prst="roundRect">
            <a:avLst>
              <a:gd name="adj" fmla="val 1194"/>
            </a:avLst>
          </a:prstGeom>
          <a:solidFill>
            <a:srgbClr val="F2EEEE"/>
          </a:solidFill>
          <a:ln/>
        </p:spPr>
      </p:sp>
      <p:sp>
        <p:nvSpPr>
          <p:cNvPr id="5" name="Text 2">
            <a:extLst>
              <a:ext uri="{FF2B5EF4-FFF2-40B4-BE49-F238E27FC236}">
                <a16:creationId xmlns:a16="http://schemas.microsoft.com/office/drawing/2014/main" id="{9BBE0493-2F6E-CF9F-CB8F-AC28A69DA5B4}"/>
              </a:ext>
            </a:extLst>
          </p:cNvPr>
          <p:cNvSpPr/>
          <p:nvPr/>
        </p:nvSpPr>
        <p:spPr>
          <a:xfrm>
            <a:off x="992148" y="2953502"/>
            <a:ext cx="3818573" cy="3205958"/>
          </a:xfrm>
          <a:prstGeom prst="rect">
            <a:avLst/>
          </a:prstGeom>
          <a:noFill/>
          <a:ln/>
        </p:spPr>
        <p:txBody>
          <a:bodyPr wrap="square" lIns="0" tIns="0" rIns="0" bIns="0" rtlCol="0" anchor="t"/>
          <a:lstStyle/>
          <a:p>
            <a:pPr marL="0" indent="0" algn="l">
              <a:lnSpc>
                <a:spcPts val="3050"/>
              </a:lnSpc>
              <a:buNone/>
            </a:pPr>
            <a:r>
              <a:rPr lang="en-US" sz="2400" dirty="0">
                <a:solidFill>
                  <a:srgbClr val="383838"/>
                </a:solidFill>
                <a:latin typeface="PT Serif" panose="020A0603040505020204" pitchFamily="18" charset="0"/>
                <a:ea typeface="PT Serif" pitchFamily="34" charset="-122"/>
                <a:cs typeface="PT Serif" pitchFamily="34" charset="-120"/>
              </a:rPr>
              <a:t>Discrimination Assessment</a:t>
            </a:r>
          </a:p>
          <a:p>
            <a:pPr algn="l">
              <a:lnSpc>
                <a:spcPts val="3050"/>
              </a:lnSpc>
            </a:pPr>
            <a:endParaRPr lang="en-US" dirty="0">
              <a:solidFill>
                <a:srgbClr val="383838"/>
              </a:solidFill>
              <a:latin typeface="PT Serif" panose="020A0603040505020204" pitchFamily="18" charset="0"/>
              <a:ea typeface="DM Sans" pitchFamily="34" charset="-122"/>
              <a:cs typeface="DM Sans" pitchFamily="34" charset="-120"/>
            </a:endParaRPr>
          </a:p>
          <a:p>
            <a:pPr algn="l">
              <a:lnSpc>
                <a:spcPts val="3050"/>
              </a:lnSpc>
            </a:pPr>
            <a:r>
              <a:rPr lang="en-US" dirty="0">
                <a:solidFill>
                  <a:srgbClr val="383838"/>
                </a:solidFill>
                <a:latin typeface="PT Serif" panose="020A0603040505020204" pitchFamily="18" charset="0"/>
                <a:ea typeface="DM Sans" pitchFamily="34" charset="-122"/>
                <a:cs typeface="DM Sans" pitchFamily="34" charset="-120"/>
              </a:rPr>
              <a:t>Test AUC measures how well the model separates classes on unseen data. Values range from 0.5 (random guessing) to 1.0 (perfect discrimination). AUC ≥ 0.7 generally indicates strong predictive performance.</a:t>
            </a:r>
            <a:endParaRPr lang="en-US" dirty="0">
              <a:latin typeface="PT Serif" panose="020A0603040505020204" pitchFamily="18" charset="0"/>
            </a:endParaRPr>
          </a:p>
          <a:p>
            <a:pPr marL="0" indent="0" algn="l">
              <a:lnSpc>
                <a:spcPts val="3050"/>
              </a:lnSpc>
              <a:buNone/>
            </a:pPr>
            <a:endParaRPr lang="en-US" dirty="0">
              <a:latin typeface="PT Serif" panose="020A0603040505020204" pitchFamily="18" charset="0"/>
            </a:endParaRPr>
          </a:p>
        </p:txBody>
      </p:sp>
      <p:sp>
        <p:nvSpPr>
          <p:cNvPr id="6" name="Text 3">
            <a:extLst>
              <a:ext uri="{FF2B5EF4-FFF2-40B4-BE49-F238E27FC236}">
                <a16:creationId xmlns:a16="http://schemas.microsoft.com/office/drawing/2014/main" id="{D385EB3F-DD07-CDA9-DD3F-4DFBEBF74B2E}"/>
              </a:ext>
            </a:extLst>
          </p:cNvPr>
          <p:cNvSpPr/>
          <p:nvPr/>
        </p:nvSpPr>
        <p:spPr>
          <a:xfrm>
            <a:off x="992148" y="2942548"/>
            <a:ext cx="3818573" cy="1587698"/>
          </a:xfrm>
          <a:prstGeom prst="rect">
            <a:avLst/>
          </a:prstGeom>
          <a:noFill/>
          <a:ln/>
        </p:spPr>
        <p:txBody>
          <a:bodyPr wrap="square" lIns="0" tIns="0" rIns="0" bIns="0" rtlCol="0" anchor="t"/>
          <a:lstStyle/>
          <a:p>
            <a:pPr marL="0" indent="0" algn="l">
              <a:lnSpc>
                <a:spcPts val="2500"/>
              </a:lnSpc>
              <a:buNone/>
            </a:pPr>
            <a:endParaRPr lang="en-US" sz="1550" dirty="0">
              <a:latin typeface="PT Serif" panose="020A0603040505020204" pitchFamily="18" charset="0"/>
            </a:endParaRPr>
          </a:p>
        </p:txBody>
      </p:sp>
      <p:sp>
        <p:nvSpPr>
          <p:cNvPr id="7" name="Shape 4">
            <a:extLst>
              <a:ext uri="{FF2B5EF4-FFF2-40B4-BE49-F238E27FC236}">
                <a16:creationId xmlns:a16="http://schemas.microsoft.com/office/drawing/2014/main" id="{29D1BC04-1FB7-A4BF-5CF0-A6DE43B06F3B}"/>
              </a:ext>
            </a:extLst>
          </p:cNvPr>
          <p:cNvSpPr/>
          <p:nvPr/>
        </p:nvSpPr>
        <p:spPr>
          <a:xfrm>
            <a:off x="5207437" y="2755144"/>
            <a:ext cx="4215408" cy="3950456"/>
          </a:xfrm>
          <a:prstGeom prst="roundRect">
            <a:avLst>
              <a:gd name="adj" fmla="val 1194"/>
            </a:avLst>
          </a:prstGeom>
          <a:solidFill>
            <a:srgbClr val="F2EEEE"/>
          </a:solidFill>
          <a:ln/>
        </p:spPr>
      </p:sp>
      <p:sp>
        <p:nvSpPr>
          <p:cNvPr id="8" name="Text 5">
            <a:extLst>
              <a:ext uri="{FF2B5EF4-FFF2-40B4-BE49-F238E27FC236}">
                <a16:creationId xmlns:a16="http://schemas.microsoft.com/office/drawing/2014/main" id="{8740BC02-A0E8-EF28-AD76-B58E3CF24635}"/>
              </a:ext>
            </a:extLst>
          </p:cNvPr>
          <p:cNvSpPr/>
          <p:nvPr/>
        </p:nvSpPr>
        <p:spPr>
          <a:xfrm>
            <a:off x="5405795" y="2953502"/>
            <a:ext cx="3890605" cy="2097404"/>
          </a:xfrm>
          <a:prstGeom prst="rect">
            <a:avLst/>
          </a:prstGeom>
          <a:noFill/>
          <a:ln/>
        </p:spPr>
        <p:txBody>
          <a:bodyPr wrap="square" lIns="0" tIns="0" rIns="0" bIns="0" rtlCol="0" anchor="t"/>
          <a:lstStyle/>
          <a:p>
            <a:pPr marL="0" indent="0" algn="l">
              <a:lnSpc>
                <a:spcPts val="3050"/>
              </a:lnSpc>
              <a:buNone/>
            </a:pPr>
            <a:r>
              <a:rPr lang="en-US" sz="2400" dirty="0">
                <a:solidFill>
                  <a:srgbClr val="383838"/>
                </a:solidFill>
                <a:latin typeface="PT Serif" panose="020A0603040505020204" pitchFamily="18" charset="0"/>
                <a:ea typeface="PT Serif" pitchFamily="34" charset="-122"/>
                <a:cs typeface="PT Serif" pitchFamily="34" charset="-120"/>
              </a:rPr>
              <a:t>Generalization Estimate</a:t>
            </a:r>
          </a:p>
          <a:p>
            <a:pPr marL="0" indent="0" algn="l">
              <a:lnSpc>
                <a:spcPts val="3050"/>
              </a:lnSpc>
              <a:buNone/>
            </a:pPr>
            <a:endParaRPr lang="en-US" sz="2400" dirty="0">
              <a:solidFill>
                <a:srgbClr val="383838"/>
              </a:solidFill>
              <a:latin typeface="PT Serif" panose="020A0603040505020204" pitchFamily="18" charset="0"/>
              <a:ea typeface="PT Serif" pitchFamily="34" charset="-122"/>
              <a:cs typeface="PT Serif" pitchFamily="34" charset="-120"/>
            </a:endParaRPr>
          </a:p>
          <a:p>
            <a:pPr algn="l">
              <a:lnSpc>
                <a:spcPts val="3050"/>
              </a:lnSpc>
            </a:pPr>
            <a:r>
              <a:rPr lang="en-US" dirty="0">
                <a:solidFill>
                  <a:srgbClr val="383838"/>
                </a:solidFill>
                <a:latin typeface="PT Serif" panose="020A0603040505020204" pitchFamily="18" charset="0"/>
                <a:ea typeface="DM Sans" pitchFamily="34" charset="-122"/>
                <a:cs typeface="DM Sans" pitchFamily="34" charset="-120"/>
              </a:rPr>
              <a:t>Comparing training AUC to test AUC reveals overfitting. Large gaps (e.g., training AUC = 0.95, test AUC = 0.75) indicate poor generalization, suggesting excessive model complexity or insufficient regularization.</a:t>
            </a:r>
            <a:endParaRPr lang="en-US" dirty="0">
              <a:latin typeface="PT Serif" panose="020A0603040505020204" pitchFamily="18" charset="0"/>
            </a:endParaRPr>
          </a:p>
          <a:p>
            <a:pPr marL="0" indent="0" algn="l">
              <a:lnSpc>
                <a:spcPts val="3050"/>
              </a:lnSpc>
              <a:buNone/>
            </a:pPr>
            <a:endParaRPr lang="en-US" dirty="0">
              <a:latin typeface="PT Serif" panose="020A0603040505020204" pitchFamily="18" charset="0"/>
            </a:endParaRPr>
          </a:p>
        </p:txBody>
      </p:sp>
      <p:sp>
        <p:nvSpPr>
          <p:cNvPr id="10" name="Shape 7">
            <a:extLst>
              <a:ext uri="{FF2B5EF4-FFF2-40B4-BE49-F238E27FC236}">
                <a16:creationId xmlns:a16="http://schemas.microsoft.com/office/drawing/2014/main" id="{6E3A3B4A-457C-13E6-1CF8-A221049A0EF6}"/>
              </a:ext>
            </a:extLst>
          </p:cNvPr>
          <p:cNvSpPr/>
          <p:nvPr/>
        </p:nvSpPr>
        <p:spPr>
          <a:xfrm>
            <a:off x="9602153" y="2755144"/>
            <a:ext cx="4432697" cy="3950456"/>
          </a:xfrm>
          <a:prstGeom prst="roundRect">
            <a:avLst>
              <a:gd name="adj" fmla="val 1194"/>
            </a:avLst>
          </a:prstGeom>
          <a:solidFill>
            <a:srgbClr val="F2EEEE"/>
          </a:solidFill>
          <a:ln/>
        </p:spPr>
      </p:sp>
      <p:sp>
        <p:nvSpPr>
          <p:cNvPr id="11" name="Text 8">
            <a:extLst>
              <a:ext uri="{FF2B5EF4-FFF2-40B4-BE49-F238E27FC236}">
                <a16:creationId xmlns:a16="http://schemas.microsoft.com/office/drawing/2014/main" id="{798957B0-6322-0176-DEA6-99FB099F700D}"/>
              </a:ext>
            </a:extLst>
          </p:cNvPr>
          <p:cNvSpPr/>
          <p:nvPr/>
        </p:nvSpPr>
        <p:spPr>
          <a:xfrm>
            <a:off x="9753600" y="2953502"/>
            <a:ext cx="4215289" cy="3752098"/>
          </a:xfrm>
          <a:prstGeom prst="rect">
            <a:avLst/>
          </a:prstGeom>
          <a:noFill/>
          <a:ln/>
        </p:spPr>
        <p:txBody>
          <a:bodyPr wrap="square" lIns="0" tIns="0" rIns="0" bIns="0" rtlCol="0" anchor="t"/>
          <a:lstStyle/>
          <a:p>
            <a:pPr marL="0" indent="0" algn="l">
              <a:lnSpc>
                <a:spcPts val="3050"/>
              </a:lnSpc>
              <a:buNone/>
            </a:pPr>
            <a:r>
              <a:rPr lang="en-US" sz="2400" dirty="0">
                <a:solidFill>
                  <a:srgbClr val="383838"/>
                </a:solidFill>
                <a:latin typeface="PT Serif" panose="020A0603040505020204" pitchFamily="18" charset="0"/>
                <a:ea typeface="PT Serif" pitchFamily="34" charset="-122"/>
                <a:cs typeface="PT Serif" pitchFamily="34" charset="-120"/>
              </a:rPr>
              <a:t>Threshold-Independent Metric</a:t>
            </a:r>
          </a:p>
          <a:p>
            <a:pPr marL="0" indent="0" algn="l">
              <a:lnSpc>
                <a:spcPts val="3050"/>
              </a:lnSpc>
              <a:buNone/>
            </a:pPr>
            <a:endParaRPr lang="en-US" sz="2400" dirty="0">
              <a:solidFill>
                <a:srgbClr val="383838"/>
              </a:solidFill>
              <a:latin typeface="PT Serif" panose="020A0603040505020204" pitchFamily="18" charset="0"/>
              <a:ea typeface="PT Serif" pitchFamily="34" charset="-122"/>
              <a:cs typeface="PT Serif" pitchFamily="34" charset="-120"/>
            </a:endParaRPr>
          </a:p>
          <a:p>
            <a:pPr algn="l">
              <a:lnSpc>
                <a:spcPts val="3050"/>
              </a:lnSpc>
            </a:pPr>
            <a:r>
              <a:rPr lang="en-US" dirty="0">
                <a:solidFill>
                  <a:srgbClr val="383838"/>
                </a:solidFill>
                <a:latin typeface="PT Serif" panose="020A0603040505020204" pitchFamily="18" charset="0"/>
                <a:ea typeface="DM Sans" pitchFamily="34" charset="-122"/>
                <a:cs typeface="DM Sans" pitchFamily="34" charset="-120"/>
              </a:rPr>
              <a:t>Unlike accuracy, AUC evaluates performance across all classification thresholds simultaneously. This threshold independence makes AUC particularly valuable when optimal operating points vary by application or when class imbalance exists.</a:t>
            </a:r>
            <a:endParaRPr lang="en-US" dirty="0">
              <a:latin typeface="PT Serif" panose="020A0603040505020204" pitchFamily="18" charset="0"/>
            </a:endParaRPr>
          </a:p>
          <a:p>
            <a:pPr marL="0" indent="0" algn="l">
              <a:lnSpc>
                <a:spcPts val="3050"/>
              </a:lnSpc>
              <a:buNone/>
            </a:pPr>
            <a:endParaRPr lang="en-US" dirty="0">
              <a:latin typeface="PT Serif" panose="020A0603040505020204" pitchFamily="18" charset="0"/>
            </a:endParaRPr>
          </a:p>
        </p:txBody>
      </p:sp>
      <p:sp>
        <p:nvSpPr>
          <p:cNvPr id="12" name="Text 9">
            <a:extLst>
              <a:ext uri="{FF2B5EF4-FFF2-40B4-BE49-F238E27FC236}">
                <a16:creationId xmlns:a16="http://schemas.microsoft.com/office/drawing/2014/main" id="{4C1843F2-2D5B-7586-3258-63516073DFC9}"/>
              </a:ext>
            </a:extLst>
          </p:cNvPr>
          <p:cNvSpPr/>
          <p:nvPr/>
        </p:nvSpPr>
        <p:spPr>
          <a:xfrm>
            <a:off x="9819561" y="2942548"/>
            <a:ext cx="3818573" cy="1587698"/>
          </a:xfrm>
          <a:prstGeom prst="rect">
            <a:avLst/>
          </a:prstGeom>
          <a:noFill/>
          <a:ln/>
        </p:spPr>
        <p:txBody>
          <a:bodyPr wrap="square" lIns="0" tIns="0" rIns="0" bIns="0" rtlCol="0" anchor="t"/>
          <a:lstStyle/>
          <a:p>
            <a:pPr marL="0" indent="0" algn="l">
              <a:lnSpc>
                <a:spcPts val="2500"/>
              </a:lnSpc>
              <a:buNone/>
            </a:pPr>
            <a:endParaRPr lang="en-US" sz="1550" dirty="0">
              <a:latin typeface="PT Serif" panose="020A0603040505020204" pitchFamily="18" charset="0"/>
            </a:endParaRPr>
          </a:p>
        </p:txBody>
      </p:sp>
      <p:sp>
        <p:nvSpPr>
          <p:cNvPr id="13" name="Text 10">
            <a:extLst>
              <a:ext uri="{FF2B5EF4-FFF2-40B4-BE49-F238E27FC236}">
                <a16:creationId xmlns:a16="http://schemas.microsoft.com/office/drawing/2014/main" id="{52833C26-3856-090A-9131-35E0398A4D18}"/>
              </a:ext>
            </a:extLst>
          </p:cNvPr>
          <p:cNvSpPr/>
          <p:nvPr/>
        </p:nvSpPr>
        <p:spPr>
          <a:xfrm>
            <a:off x="774621" y="7202667"/>
            <a:ext cx="13042821" cy="317540"/>
          </a:xfrm>
          <a:prstGeom prst="rect">
            <a:avLst/>
          </a:prstGeom>
          <a:noFill/>
          <a:ln/>
        </p:spPr>
        <p:txBody>
          <a:bodyPr wrap="square" lIns="0" tIns="0" rIns="0" bIns="0" rtlCol="0" anchor="t"/>
          <a:lstStyle/>
          <a:p>
            <a:pPr marL="0" indent="0" algn="l">
              <a:lnSpc>
                <a:spcPts val="2500"/>
              </a:lnSpc>
              <a:buNone/>
            </a:pPr>
            <a:r>
              <a:rPr lang="en-US" sz="1800" dirty="0">
                <a:solidFill>
                  <a:srgbClr val="383838"/>
                </a:solidFill>
                <a:latin typeface="PT Serif" panose="020A0603040505020204" pitchFamily="18" charset="0"/>
                <a:ea typeface="DM Sans" pitchFamily="34" charset="-122"/>
                <a:cs typeface="DM Sans" pitchFamily="34" charset="-120"/>
              </a:rPr>
              <a:t>This approach provides the most reliable performance estimates but requires significant computational resources. It is particularly valuable when comparing multiple models or when sample sizes are modest.</a:t>
            </a:r>
            <a:endParaRPr lang="en-US" sz="1800" dirty="0">
              <a:latin typeface="PT Serif" panose="020A0603040505020204" pitchFamily="18" charset="0"/>
            </a:endParaRPr>
          </a:p>
        </p:txBody>
      </p:sp>
      <p:sp>
        <p:nvSpPr>
          <p:cNvPr id="14" name="TextBox 13">
            <a:extLst>
              <a:ext uri="{FF2B5EF4-FFF2-40B4-BE49-F238E27FC236}">
                <a16:creationId xmlns:a16="http://schemas.microsoft.com/office/drawing/2014/main" id="{6E91C1DD-7723-D41F-0066-FB2AE63DCFAA}"/>
              </a:ext>
            </a:extLst>
          </p:cNvPr>
          <p:cNvSpPr txBox="1"/>
          <p:nvPr/>
        </p:nvSpPr>
        <p:spPr>
          <a:xfrm>
            <a:off x="829686" y="1421826"/>
            <a:ext cx="13042821" cy="716350"/>
          </a:xfrm>
          <a:prstGeom prst="rect">
            <a:avLst/>
          </a:prstGeom>
          <a:noFill/>
        </p:spPr>
        <p:txBody>
          <a:bodyPr wrap="square">
            <a:spAutoFit/>
          </a:bodyPr>
          <a:lstStyle/>
          <a:p>
            <a:pPr marL="0" indent="0" algn="l">
              <a:lnSpc>
                <a:spcPts val="2500"/>
              </a:lnSpc>
              <a:buNone/>
            </a:pPr>
            <a:r>
              <a:rPr lang="en-US" sz="1800" dirty="0">
                <a:solidFill>
                  <a:srgbClr val="383838"/>
                </a:solidFill>
                <a:latin typeface="PT Serif" panose="020A0603040505020204" pitchFamily="18" charset="0"/>
                <a:ea typeface="DM Sans" pitchFamily="34" charset="-122"/>
                <a:cs typeface="DM Sans" pitchFamily="34" charset="-120"/>
              </a:rPr>
              <a:t>The Area Under the Receiver Operating Characteristic Curve (AUC) quantifies a model's discriminative ability: its capacity to rank predicted probabilities such that positive cases receive higher scores than negative cases.</a:t>
            </a:r>
            <a:endParaRPr lang="en-US" sz="1800" dirty="0">
              <a:latin typeface="PT Serif" panose="020A0603040505020204" pitchFamily="18" charset="0"/>
            </a:endParaRPr>
          </a:p>
        </p:txBody>
      </p:sp>
    </p:spTree>
    <p:extLst>
      <p:ext uri="{BB962C8B-B14F-4D97-AF65-F5344CB8AC3E}">
        <p14:creationId xmlns:p14="http://schemas.microsoft.com/office/powerpoint/2010/main" val="4131157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object 13">
            <a:extLst>
              <a:ext uri="{FF2B5EF4-FFF2-40B4-BE49-F238E27FC236}">
                <a16:creationId xmlns:a16="http://schemas.microsoft.com/office/drawing/2014/main" id="{9EDED71C-1B31-D97D-38B2-DAFD66018FF9}"/>
              </a:ext>
            </a:extLst>
          </p:cNvPr>
          <p:cNvGrpSpPr/>
          <p:nvPr/>
        </p:nvGrpSpPr>
        <p:grpSpPr>
          <a:xfrm>
            <a:off x="1295400" y="1219199"/>
            <a:ext cx="5865583" cy="3200401"/>
            <a:chOff x="793788" y="4631308"/>
            <a:chExt cx="6437630" cy="2974340"/>
          </a:xfrm>
        </p:grpSpPr>
        <p:sp>
          <p:nvSpPr>
            <p:cNvPr id="25" name="object 14">
              <a:extLst>
                <a:ext uri="{FF2B5EF4-FFF2-40B4-BE49-F238E27FC236}">
                  <a16:creationId xmlns:a16="http://schemas.microsoft.com/office/drawing/2014/main" id="{35293503-1DBD-8E87-3BE0-DDA71A76F25C}"/>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6" name="object 15">
              <a:extLst>
                <a:ext uri="{FF2B5EF4-FFF2-40B4-BE49-F238E27FC236}">
                  <a16:creationId xmlns:a16="http://schemas.microsoft.com/office/drawing/2014/main" id="{222A1FF6-5464-B670-5D90-F39A5749423F}"/>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21" name="object 13">
            <a:extLst>
              <a:ext uri="{FF2B5EF4-FFF2-40B4-BE49-F238E27FC236}">
                <a16:creationId xmlns:a16="http://schemas.microsoft.com/office/drawing/2014/main" id="{5D4C71A9-44DE-C30C-23FB-01ADE60A16CF}"/>
              </a:ext>
            </a:extLst>
          </p:cNvPr>
          <p:cNvGrpSpPr/>
          <p:nvPr/>
        </p:nvGrpSpPr>
        <p:grpSpPr>
          <a:xfrm>
            <a:off x="1295400" y="4613657"/>
            <a:ext cx="5885221" cy="3463544"/>
            <a:chOff x="793788" y="4631308"/>
            <a:chExt cx="6437630" cy="2974340"/>
          </a:xfrm>
        </p:grpSpPr>
        <p:sp>
          <p:nvSpPr>
            <p:cNvPr id="22" name="object 14">
              <a:extLst>
                <a:ext uri="{FF2B5EF4-FFF2-40B4-BE49-F238E27FC236}">
                  <a16:creationId xmlns:a16="http://schemas.microsoft.com/office/drawing/2014/main" id="{3AACB49F-E75F-EA46-C29E-950076399A38}"/>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3" name="object 15">
              <a:extLst>
                <a:ext uri="{FF2B5EF4-FFF2-40B4-BE49-F238E27FC236}">
                  <a16:creationId xmlns:a16="http://schemas.microsoft.com/office/drawing/2014/main" id="{6237666D-DF67-98DC-05C9-F9F742175B69}"/>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15" name="object 13">
            <a:extLst>
              <a:ext uri="{FF2B5EF4-FFF2-40B4-BE49-F238E27FC236}">
                <a16:creationId xmlns:a16="http://schemas.microsoft.com/office/drawing/2014/main" id="{E03DB111-066A-1466-380E-B1A5D264D147}"/>
              </a:ext>
            </a:extLst>
          </p:cNvPr>
          <p:cNvGrpSpPr/>
          <p:nvPr/>
        </p:nvGrpSpPr>
        <p:grpSpPr>
          <a:xfrm>
            <a:off x="7602178" y="4632573"/>
            <a:ext cx="5885221" cy="3444628"/>
            <a:chOff x="793788" y="4631308"/>
            <a:chExt cx="6437630" cy="2974340"/>
          </a:xfrm>
        </p:grpSpPr>
        <p:sp>
          <p:nvSpPr>
            <p:cNvPr id="16" name="object 14">
              <a:extLst>
                <a:ext uri="{FF2B5EF4-FFF2-40B4-BE49-F238E27FC236}">
                  <a16:creationId xmlns:a16="http://schemas.microsoft.com/office/drawing/2014/main" id="{692C152D-7A07-F647-B072-3F50C547CA6A}"/>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17" name="object 15">
              <a:extLst>
                <a:ext uri="{FF2B5EF4-FFF2-40B4-BE49-F238E27FC236}">
                  <a16:creationId xmlns:a16="http://schemas.microsoft.com/office/drawing/2014/main" id="{834CABA1-B7A9-4D1F-38E0-F9624839AD97}"/>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18" name="object 13">
            <a:extLst>
              <a:ext uri="{FF2B5EF4-FFF2-40B4-BE49-F238E27FC236}">
                <a16:creationId xmlns:a16="http://schemas.microsoft.com/office/drawing/2014/main" id="{ECB50A61-AEB7-0B14-8AE8-E898A2B99D8F}"/>
              </a:ext>
            </a:extLst>
          </p:cNvPr>
          <p:cNvGrpSpPr/>
          <p:nvPr/>
        </p:nvGrpSpPr>
        <p:grpSpPr>
          <a:xfrm>
            <a:off x="7621816" y="1238116"/>
            <a:ext cx="5865583" cy="3181484"/>
            <a:chOff x="793788" y="4631308"/>
            <a:chExt cx="6437630" cy="2974340"/>
          </a:xfrm>
        </p:grpSpPr>
        <p:sp>
          <p:nvSpPr>
            <p:cNvPr id="19" name="object 14">
              <a:extLst>
                <a:ext uri="{FF2B5EF4-FFF2-40B4-BE49-F238E27FC236}">
                  <a16:creationId xmlns:a16="http://schemas.microsoft.com/office/drawing/2014/main" id="{594874B8-2992-7984-EADD-99110A13FC67}"/>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0" name="object 15">
              <a:extLst>
                <a:ext uri="{FF2B5EF4-FFF2-40B4-BE49-F238E27FC236}">
                  <a16:creationId xmlns:a16="http://schemas.microsoft.com/office/drawing/2014/main" id="{AC59F4FA-A558-F930-8313-B0B11B9AD525}"/>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sp>
        <p:nvSpPr>
          <p:cNvPr id="2" name="object 2"/>
          <p:cNvSpPr txBox="1">
            <a:spLocks noGrp="1"/>
          </p:cNvSpPr>
          <p:nvPr>
            <p:ph type="title"/>
          </p:nvPr>
        </p:nvSpPr>
        <p:spPr>
          <a:xfrm>
            <a:off x="1143000" y="-20128"/>
            <a:ext cx="13656055" cy="1487138"/>
          </a:xfrm>
          <a:prstGeom prst="rect">
            <a:avLst/>
          </a:prstGeom>
          <a:noFill/>
        </p:spPr>
        <p:txBody>
          <a:bodyPr vert="horz" wrap="square" lIns="0" tIns="220853" rIns="0" bIns="0" rtlCol="0">
            <a:spAutoFit/>
          </a:bodyPr>
          <a:lstStyle/>
          <a:p>
            <a:pPr marL="0" indent="0" algn="l">
              <a:lnSpc>
                <a:spcPts val="5100"/>
              </a:lnSpc>
              <a:buNone/>
            </a:pPr>
            <a:r>
              <a:rPr lang="en-US" sz="3600" dirty="0">
                <a:solidFill>
                  <a:srgbClr val="020202"/>
                </a:solidFill>
                <a:ea typeface="PT Serif" pitchFamily="34" charset="-122"/>
                <a:cs typeface="PT Serif" pitchFamily="34" charset="-120"/>
              </a:rPr>
              <a:t>Binary Logistic Regression: Key Takeaways</a:t>
            </a:r>
            <a:br>
              <a:rPr lang="en-US" sz="3600" dirty="0"/>
            </a:br>
            <a:endParaRPr lang="en-US" sz="3600" dirty="0"/>
          </a:p>
        </p:txBody>
      </p:sp>
      <p:sp>
        <p:nvSpPr>
          <p:cNvPr id="8" name="Text 3">
            <a:extLst>
              <a:ext uri="{FF2B5EF4-FFF2-40B4-BE49-F238E27FC236}">
                <a16:creationId xmlns:a16="http://schemas.microsoft.com/office/drawing/2014/main" id="{A0D38183-3593-0CD5-9F87-5CFCC2BA96CD}"/>
              </a:ext>
            </a:extLst>
          </p:cNvPr>
          <p:cNvSpPr/>
          <p:nvPr/>
        </p:nvSpPr>
        <p:spPr>
          <a:xfrm>
            <a:off x="1728722" y="1266792"/>
            <a:ext cx="5188384" cy="8639208"/>
          </a:xfrm>
          <a:prstGeom prst="rect">
            <a:avLst/>
          </a:prstGeom>
          <a:noFill/>
          <a:ln/>
        </p:spPr>
        <p:txBody>
          <a:bodyPr wrap="square" lIns="0" tIns="0" rIns="0" bIns="0" rtlCol="0" anchor="t"/>
          <a:lstStyle/>
          <a:p>
            <a:pPr algn="ctr">
              <a:lnSpc>
                <a:spcPct val="150000"/>
              </a:lnSpc>
            </a:pPr>
            <a:r>
              <a:rPr lang="en-US" sz="2400" dirty="0">
                <a:solidFill>
                  <a:srgbClr val="383838"/>
                </a:solidFill>
                <a:latin typeface="PT Serif" panose="020A0603040505020204" pitchFamily="18" charset="0"/>
                <a:ea typeface="PT Serif" pitchFamily="34" charset="-122"/>
                <a:cs typeface="PT Serif" pitchFamily="34" charset="-120"/>
              </a:rPr>
              <a:t>Inferential vs. Machine Learning</a:t>
            </a:r>
          </a:p>
          <a:p>
            <a:pPr algn="l">
              <a:lnSpc>
                <a:spcPct val="150000"/>
              </a:lnSpc>
            </a:pPr>
            <a:endParaRPr lang="en-US" dirty="0">
              <a:solidFill>
                <a:srgbClr val="383838"/>
              </a:solidFill>
              <a:latin typeface="PT Serif" panose="020A0603040505020204" pitchFamily="18" charset="0"/>
            </a:endParaRPr>
          </a:p>
          <a:p>
            <a:pPr algn="l">
              <a:lnSpc>
                <a:spcPct val="150000"/>
              </a:lnSpc>
            </a:pPr>
            <a:r>
              <a:rPr lang="en-US" dirty="0">
                <a:solidFill>
                  <a:srgbClr val="383838"/>
                </a:solidFill>
                <a:latin typeface="PT Serif" panose="020A0603040505020204" pitchFamily="18" charset="0"/>
                <a:ea typeface="DM Sans" pitchFamily="34" charset="-122"/>
                <a:cs typeface="DM Sans" pitchFamily="34" charset="-120"/>
              </a:rPr>
              <a:t>Inferential approaches focus on understanding relationships and statistical significance (p-values, confidence intervals), while ML prioritizes predictive accuracy on unseen data using metrics like  ROC-AUC</a:t>
            </a:r>
          </a:p>
          <a:p>
            <a:pPr algn="l">
              <a:lnSpc>
                <a:spcPct val="150000"/>
              </a:lnSpc>
            </a:pPr>
            <a:endParaRPr lang="en-US" dirty="0">
              <a:solidFill>
                <a:srgbClr val="383838"/>
              </a:solidFill>
              <a:latin typeface="PT Serif" panose="020A0603040505020204" pitchFamily="18" charset="0"/>
            </a:endParaRPr>
          </a:p>
          <a:p>
            <a:pPr algn="ctr">
              <a:lnSpc>
                <a:spcPct val="150000"/>
              </a:lnSpc>
            </a:pPr>
            <a:r>
              <a:rPr lang="en-US" sz="2400" dirty="0">
                <a:solidFill>
                  <a:srgbClr val="383838"/>
                </a:solidFill>
                <a:latin typeface="PT Serif" panose="020A0603040505020204" pitchFamily="18" charset="0"/>
                <a:ea typeface="PT Serif" pitchFamily="34" charset="-122"/>
                <a:cs typeface="PT Serif" pitchFamily="34" charset="-120"/>
              </a:rPr>
              <a:t>Model Evaluation</a:t>
            </a:r>
          </a:p>
          <a:p>
            <a:pPr algn="l">
              <a:lnSpc>
                <a:spcPct val="150000"/>
              </a:lnSpc>
            </a:pPr>
            <a:endParaRPr lang="en-US" dirty="0">
              <a:solidFill>
                <a:srgbClr val="383838"/>
              </a:solidFill>
              <a:latin typeface="PT Serif" panose="020A0603040505020204" pitchFamily="18" charset="0"/>
              <a:ea typeface="PT Serif" pitchFamily="34" charset="-122"/>
              <a:cs typeface="PT Serif" pitchFamily="34" charset="-120"/>
            </a:endParaRPr>
          </a:p>
          <a:p>
            <a:pPr algn="l">
              <a:lnSpc>
                <a:spcPct val="150000"/>
              </a:lnSpc>
            </a:pPr>
            <a:r>
              <a:rPr lang="en-US" dirty="0">
                <a:solidFill>
                  <a:srgbClr val="383838"/>
                </a:solidFill>
                <a:latin typeface="PT Serif" panose="020A0603040505020204" pitchFamily="18" charset="0"/>
                <a:ea typeface="DM Sans" pitchFamily="34" charset="-122"/>
                <a:cs typeface="DM Sans" pitchFamily="34" charset="-120"/>
              </a:rPr>
              <a:t>ROC-AUC is preferred measure. Other measures include Accuracy, Precision, Recall etc. based on confusion matrix</a:t>
            </a:r>
          </a:p>
        </p:txBody>
      </p:sp>
      <p:sp>
        <p:nvSpPr>
          <p:cNvPr id="10" name="Text 6">
            <a:extLst>
              <a:ext uri="{FF2B5EF4-FFF2-40B4-BE49-F238E27FC236}">
                <a16:creationId xmlns:a16="http://schemas.microsoft.com/office/drawing/2014/main" id="{B7C25592-1A5D-94A2-1249-6AAE7946F079}"/>
              </a:ext>
            </a:extLst>
          </p:cNvPr>
          <p:cNvSpPr/>
          <p:nvPr/>
        </p:nvSpPr>
        <p:spPr>
          <a:xfrm>
            <a:off x="8011099" y="1272353"/>
            <a:ext cx="5476301" cy="4698301"/>
          </a:xfrm>
          <a:prstGeom prst="rect">
            <a:avLst/>
          </a:prstGeom>
          <a:noFill/>
          <a:ln/>
        </p:spPr>
        <p:txBody>
          <a:bodyPr wrap="square" lIns="0" tIns="0" rIns="0" bIns="0" rtlCol="0" anchor="t"/>
          <a:lstStyle/>
          <a:p>
            <a:pPr algn="ctr">
              <a:lnSpc>
                <a:spcPct val="150000"/>
              </a:lnSpc>
            </a:pPr>
            <a:r>
              <a:rPr lang="en-US" sz="2400" dirty="0">
                <a:solidFill>
                  <a:srgbClr val="383838"/>
                </a:solidFill>
                <a:latin typeface="PT Serif" panose="020A0603040505020204" pitchFamily="18" charset="0"/>
                <a:ea typeface="PT Serif" pitchFamily="34" charset="-122"/>
                <a:cs typeface="PT Serif" pitchFamily="34" charset="-120"/>
              </a:rPr>
              <a:t>Cross-Validation Methods</a:t>
            </a:r>
          </a:p>
          <a:p>
            <a:pPr algn="l">
              <a:lnSpc>
                <a:spcPct val="150000"/>
              </a:lnSpc>
            </a:pPr>
            <a:endParaRPr lang="en-US" dirty="0">
              <a:solidFill>
                <a:srgbClr val="383838"/>
              </a:solidFill>
              <a:latin typeface="PT Serif" panose="020A0603040505020204" pitchFamily="18" charset="0"/>
            </a:endParaRPr>
          </a:p>
          <a:p>
            <a:pPr algn="l">
              <a:lnSpc>
                <a:spcPct val="150000"/>
              </a:lnSpc>
            </a:pPr>
            <a:r>
              <a:rPr lang="en-US" dirty="0">
                <a:solidFill>
                  <a:srgbClr val="383838"/>
                </a:solidFill>
                <a:latin typeface="PT Serif" panose="020A0603040505020204" pitchFamily="18" charset="0"/>
                <a:ea typeface="DM Sans" pitchFamily="34" charset="-122"/>
                <a:cs typeface="DM Sans" pitchFamily="34" charset="-120"/>
              </a:rPr>
              <a:t> Hold-Out (70-80% train/test split), K-Fold (k iterations with rotating test folds) are commonly implemented methods.</a:t>
            </a:r>
          </a:p>
          <a:p>
            <a:pPr algn="l">
              <a:lnSpc>
                <a:spcPct val="150000"/>
              </a:lnSpc>
            </a:pPr>
            <a:endParaRPr lang="en-US" dirty="0">
              <a:solidFill>
                <a:srgbClr val="383838"/>
              </a:solidFill>
              <a:latin typeface="PT Serif" panose="020A0603040505020204" pitchFamily="18" charset="0"/>
            </a:endParaRPr>
          </a:p>
          <a:p>
            <a:pPr algn="l">
              <a:lnSpc>
                <a:spcPct val="150000"/>
              </a:lnSpc>
            </a:pPr>
            <a:endParaRPr lang="en-US" dirty="0">
              <a:solidFill>
                <a:srgbClr val="383838"/>
              </a:solidFill>
              <a:latin typeface="PT Serif" panose="020A0603040505020204" pitchFamily="18" charset="0"/>
            </a:endParaRPr>
          </a:p>
          <a:p>
            <a:pPr algn="l">
              <a:lnSpc>
                <a:spcPct val="150000"/>
              </a:lnSpc>
            </a:pPr>
            <a:endParaRPr lang="en-US" dirty="0">
              <a:solidFill>
                <a:srgbClr val="383838"/>
              </a:solidFill>
              <a:latin typeface="PT Serif" panose="020A0603040505020204" pitchFamily="18" charset="0"/>
            </a:endParaRPr>
          </a:p>
          <a:p>
            <a:pPr algn="ctr">
              <a:lnSpc>
                <a:spcPct val="150000"/>
              </a:lnSpc>
            </a:pPr>
            <a:r>
              <a:rPr lang="en-US" sz="2400" dirty="0">
                <a:solidFill>
                  <a:srgbClr val="383838"/>
                </a:solidFill>
                <a:latin typeface="PT Serif" panose="020A0603040505020204" pitchFamily="18" charset="0"/>
                <a:ea typeface="PT Serif" pitchFamily="34" charset="-122"/>
                <a:cs typeface="PT Serif" pitchFamily="34" charset="-120"/>
              </a:rPr>
              <a:t>Practical Considerations</a:t>
            </a:r>
          </a:p>
          <a:p>
            <a:pPr algn="l">
              <a:lnSpc>
                <a:spcPct val="150000"/>
              </a:lnSpc>
            </a:pPr>
            <a:endParaRPr lang="en-US" dirty="0">
              <a:solidFill>
                <a:srgbClr val="383838"/>
              </a:solidFill>
              <a:latin typeface="PT Serif" panose="020A0603040505020204" pitchFamily="18" charset="0"/>
              <a:ea typeface="PT Serif" pitchFamily="34" charset="-122"/>
              <a:cs typeface="PT Serif" pitchFamily="34" charset="-120"/>
            </a:endParaRPr>
          </a:p>
          <a:p>
            <a:pPr algn="l">
              <a:lnSpc>
                <a:spcPct val="150000"/>
              </a:lnSpc>
            </a:pPr>
            <a:r>
              <a:rPr lang="en-US" dirty="0">
                <a:solidFill>
                  <a:srgbClr val="383838"/>
                </a:solidFill>
                <a:latin typeface="PT Serif" panose="020A0603040505020204" pitchFamily="18" charset="0"/>
                <a:ea typeface="DM Sans" pitchFamily="34" charset="-122"/>
                <a:cs typeface="DM Sans" pitchFamily="34" charset="-120"/>
              </a:rPr>
              <a:t>ML models require larger datasets and use regularization techniques for overfitting control. Variable selection is based on predictive value rather than statistical significance, though this may reduce interpretability compared to inferential models.</a:t>
            </a:r>
            <a:endParaRPr lang="en-US" dirty="0">
              <a:latin typeface="PT Serif" panose="020A0603040505020204" pitchFamily="18" charset="0"/>
            </a:endParaRPr>
          </a:p>
          <a:p>
            <a:pPr algn="l">
              <a:lnSpc>
                <a:spcPct val="150000"/>
              </a:lnSpc>
            </a:pPr>
            <a:endParaRPr lang="en-US" dirty="0">
              <a:latin typeface="PT Serif" panose="020A0603040505020204" pitchFamily="18" charset="0"/>
            </a:endParaRPr>
          </a:p>
          <a:p>
            <a:pPr algn="l">
              <a:lnSpc>
                <a:spcPct val="150000"/>
              </a:lnSpc>
            </a:pPr>
            <a:endParaRPr lang="en-US" dirty="0">
              <a:latin typeface="PT Serif" panose="020A0603040505020204" pitchFamily="18" charset="0"/>
            </a:endParaRPr>
          </a:p>
          <a:p>
            <a:pPr algn="l">
              <a:lnSpc>
                <a:spcPct val="150000"/>
              </a:lnSpc>
            </a:pPr>
            <a:endParaRPr lang="en-US" dirty="0">
              <a:latin typeface="PT Serif" panose="020A0603040505020204" pitchFamily="18" charset="0"/>
            </a:endParaRPr>
          </a:p>
          <a:p>
            <a:pPr>
              <a:lnSpc>
                <a:spcPct val="150000"/>
              </a:lnSpc>
            </a:pPr>
            <a:endParaRPr lang="en-IN" dirty="0">
              <a:latin typeface="PT Serif" panose="020A0603040505020204" pitchFamily="18" charset="0"/>
            </a:endParaRPr>
          </a:p>
        </p:txBody>
      </p:sp>
    </p:spTree>
    <p:extLst>
      <p:ext uri="{BB962C8B-B14F-4D97-AF65-F5344CB8AC3E}">
        <p14:creationId xmlns:p14="http://schemas.microsoft.com/office/powerpoint/2010/main" val="20509210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623</TotalTime>
  <Words>1262</Words>
  <Application>Microsoft Macintosh PowerPoint</Application>
  <PresentationFormat>Custom</PresentationFormat>
  <Paragraphs>234</Paragraphs>
  <Slides>12</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Cambria Math</vt:lpstr>
      <vt:lpstr>DM Sans</vt:lpstr>
      <vt:lpstr>Lucida Sans Unicode</vt:lpstr>
      <vt:lpstr>PT Serif</vt:lpstr>
      <vt:lpstr>PT Serif Light</vt:lpstr>
      <vt:lpstr>Office Theme</vt:lpstr>
      <vt:lpstr>PowerPoint Presentation</vt:lpstr>
      <vt:lpstr>Contents </vt:lpstr>
      <vt:lpstr>Binary Logistic Regression-Recap</vt:lpstr>
      <vt:lpstr>Data Snapshot </vt:lpstr>
      <vt:lpstr>Binary Logistic Regression-Inferential Approach</vt:lpstr>
      <vt:lpstr>Machine Learning Approach </vt:lpstr>
      <vt:lpstr>Cross Validation in Binary Logistic Regression </vt:lpstr>
      <vt:lpstr>Hold-Out Method </vt:lpstr>
      <vt:lpstr>K-Fold Cross-Validation</vt:lpstr>
      <vt:lpstr>Repeated K-Fold Cross-Validation</vt:lpstr>
      <vt:lpstr>Test Set AUC for Model Validation</vt:lpstr>
      <vt:lpstr>Binary Logistic Regression: Key Takeaways </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Vinayak Deshpande</cp:lastModifiedBy>
  <cp:revision>221</cp:revision>
  <dcterms:created xsi:type="dcterms:W3CDTF">2025-08-01T06:43:07Z</dcterms:created>
  <dcterms:modified xsi:type="dcterms:W3CDTF">2025-12-14T03:01:12Z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2025-08-01T00:00:00Z</vt:filetime>
  </property>
  <property fmtid="{D5CDD505-2E9C-101B-9397-08002B2CF9AE}" pid="3" name="Creator">
    <vt:lpwstr>Microsoft® PowerPoint® 2021</vt:lpwstr>
  </property>
  <property fmtid="{D5CDD505-2E9C-101B-9397-08002B2CF9AE}" pid="4" name="LastSaved">
    <vt:filetime>2025-08-01T00:00:00Z</vt:filetime>
  </property>
  <property fmtid="{D5CDD505-2E9C-101B-9397-08002B2CF9AE}" pid="5" name="Producer">
    <vt:lpwstr>Microsoft® PowerPoint® 2021</vt:lpwstr>
  </property>
</Properties>
</file>