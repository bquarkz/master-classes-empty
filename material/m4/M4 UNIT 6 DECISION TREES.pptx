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4" r:id="rId2"/>
    <p:sldId id="315" r:id="rId3"/>
    <p:sldId id="337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 autoAdjust="0"/>
    <p:restoredTop sz="94629"/>
  </p:normalViewPr>
  <p:slideViewPr>
    <p:cSldViewPr>
      <p:cViewPr varScale="1">
        <p:scale>
          <a:sx n="86" d="100"/>
          <a:sy n="86" d="100"/>
        </p:scale>
        <p:origin x="99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76536" y="2133600"/>
            <a:ext cx="1012006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lvl="0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Open Sans Light"/>
              <a:buNone/>
            </a:pPr>
            <a:r>
              <a:rPr lang="en-US" sz="4100" b="1" dirty="0">
                <a:solidFill>
                  <a:schemeClr val="tx1"/>
                </a:solidFill>
                <a:latin typeface="PT Serif" panose="020A0603040505020204" pitchFamily="18" charset="0"/>
              </a:rPr>
              <a:t>Decision Tree Algorithms</a:t>
            </a:r>
            <a:endParaRPr lang="en-US" sz="41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76536" y="3048000"/>
            <a:ext cx="101200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latin typeface="PT Serif" panose="020A0603040505020204" pitchFamily="18" charset="0"/>
              </a:rPr>
              <a:t>Foundation for Tree Based ML Methods </a:t>
            </a:r>
            <a:endParaRPr lang="en-US" sz="2000" dirty="0">
              <a:solidFill>
                <a:srgbClr val="FF0000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5143492-6174-36E0-18E9-2FBBD755D6BB}"/>
              </a:ext>
            </a:extLst>
          </p:cNvPr>
          <p:cNvSpPr/>
          <p:nvPr/>
        </p:nvSpPr>
        <p:spPr>
          <a:xfrm>
            <a:off x="793790" y="-113884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02694D-B466-CB52-F026-1DD37D9F698A}"/>
              </a:ext>
            </a:extLst>
          </p:cNvPr>
          <p:cNvSpPr/>
          <p:nvPr/>
        </p:nvSpPr>
        <p:spPr>
          <a:xfrm>
            <a:off x="793790" y="9351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88AB240-6167-82F2-FA94-63561C77DE0F}"/>
              </a:ext>
            </a:extLst>
          </p:cNvPr>
          <p:cNvSpPr/>
          <p:nvPr/>
        </p:nvSpPr>
        <p:spPr>
          <a:xfrm>
            <a:off x="793790" y="129022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47D2BD-5CB7-44FE-F117-50B7D5ECB0FD}"/>
              </a:ext>
            </a:extLst>
          </p:cNvPr>
          <p:cNvSpPr/>
          <p:nvPr/>
        </p:nvSpPr>
        <p:spPr>
          <a:xfrm>
            <a:off x="793790" y="1464528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Introduction to Decision Tree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8907FC8-FE83-1F57-EF45-DE3990BD36EF}"/>
              </a:ext>
            </a:extLst>
          </p:cNvPr>
          <p:cNvSpPr/>
          <p:nvPr/>
        </p:nvSpPr>
        <p:spPr>
          <a:xfrm>
            <a:off x="7428548" y="9351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5DF9D55-4CF6-279E-67F3-7A9327F74C86}"/>
              </a:ext>
            </a:extLst>
          </p:cNvPr>
          <p:cNvSpPr/>
          <p:nvPr/>
        </p:nvSpPr>
        <p:spPr>
          <a:xfrm>
            <a:off x="7428548" y="1290220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23EE2F6-2903-5323-369D-43F2EC693158}"/>
              </a:ext>
            </a:extLst>
          </p:cNvPr>
          <p:cNvSpPr/>
          <p:nvPr/>
        </p:nvSpPr>
        <p:spPr>
          <a:xfrm>
            <a:off x="7428548" y="146452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Decision Tree – Basic Framework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15DC7FF-35A5-09A2-A7CA-2BFBEA5BBC9A}"/>
              </a:ext>
            </a:extLst>
          </p:cNvPr>
          <p:cNvSpPr/>
          <p:nvPr/>
        </p:nvSpPr>
        <p:spPr>
          <a:xfrm>
            <a:off x="793790" y="22334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7CBFAAF-3BC9-FDF2-B38D-B0ADE87930EB}"/>
              </a:ext>
            </a:extLst>
          </p:cNvPr>
          <p:cNvSpPr/>
          <p:nvPr/>
        </p:nvSpPr>
        <p:spPr>
          <a:xfrm>
            <a:off x="793790" y="258847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33EF32-FAA8-FB01-4406-5BE8D46EFAEB}"/>
              </a:ext>
            </a:extLst>
          </p:cNvPr>
          <p:cNvSpPr/>
          <p:nvPr/>
        </p:nvSpPr>
        <p:spPr>
          <a:xfrm>
            <a:off x="793790" y="2762785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What is CART ?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C96BB93-355D-E26B-1140-CEC1B92A537B}"/>
              </a:ext>
            </a:extLst>
          </p:cNvPr>
          <p:cNvSpPr/>
          <p:nvPr/>
        </p:nvSpPr>
        <p:spPr>
          <a:xfrm>
            <a:off x="7428548" y="22334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F82991F-325D-ADFB-D9D5-AC7B66495818}"/>
              </a:ext>
            </a:extLst>
          </p:cNvPr>
          <p:cNvSpPr/>
          <p:nvPr/>
        </p:nvSpPr>
        <p:spPr>
          <a:xfrm>
            <a:off x="7428548" y="258847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45F64FD-AFDF-A78E-E789-4D11DE242238}"/>
              </a:ext>
            </a:extLst>
          </p:cNvPr>
          <p:cNvSpPr/>
          <p:nvPr/>
        </p:nvSpPr>
        <p:spPr>
          <a:xfrm>
            <a:off x="7428548" y="2762785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Decision Tree – Basic Components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FE094F3-732C-5F57-AFDC-CE863162C74B}"/>
              </a:ext>
            </a:extLst>
          </p:cNvPr>
          <p:cNvSpPr/>
          <p:nvPr/>
        </p:nvSpPr>
        <p:spPr>
          <a:xfrm>
            <a:off x="793790" y="35316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F3FAA8B-9BD3-5B9E-FDD6-24EB5FC3E4D5}"/>
              </a:ext>
            </a:extLst>
          </p:cNvPr>
          <p:cNvSpPr/>
          <p:nvPr/>
        </p:nvSpPr>
        <p:spPr>
          <a:xfrm>
            <a:off x="793790" y="388673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F2A74C8-BF90-FF05-83B7-CB9D6070B653}"/>
              </a:ext>
            </a:extLst>
          </p:cNvPr>
          <p:cNvSpPr/>
          <p:nvPr/>
        </p:nvSpPr>
        <p:spPr>
          <a:xfrm>
            <a:off x="793790" y="4061043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spcBef>
                <a:spcPts val="12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Binary and Non-Binary Decision Trees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C4BACC-CF9D-37A2-37A3-99FCEB85B60D}"/>
              </a:ext>
            </a:extLst>
          </p:cNvPr>
          <p:cNvSpPr/>
          <p:nvPr/>
        </p:nvSpPr>
        <p:spPr>
          <a:xfrm>
            <a:off x="7428548" y="35316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4C9F6E6-0A68-1135-3B56-16D471B6A305}"/>
              </a:ext>
            </a:extLst>
          </p:cNvPr>
          <p:cNvSpPr/>
          <p:nvPr/>
        </p:nvSpPr>
        <p:spPr>
          <a:xfrm>
            <a:off x="7428548" y="388673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59F670C-EC07-FB3D-9D8C-701102A10CB7}"/>
              </a:ext>
            </a:extLst>
          </p:cNvPr>
          <p:cNvSpPr/>
          <p:nvPr/>
        </p:nvSpPr>
        <p:spPr>
          <a:xfrm>
            <a:off x="7428548" y="4056102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Decision Tree Algorithms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C31067F-3379-E2C1-6ADF-8A82CC0B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45" y="18740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53E8647-B100-2B02-B05E-7528A05C6189}"/>
              </a:ext>
            </a:extLst>
          </p:cNvPr>
          <p:cNvSpPr/>
          <p:nvPr/>
        </p:nvSpPr>
        <p:spPr>
          <a:xfrm>
            <a:off x="838200" y="46746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11A37E0F-D61F-7707-FF82-59A3408CDA54}"/>
              </a:ext>
            </a:extLst>
          </p:cNvPr>
          <p:cNvSpPr/>
          <p:nvPr/>
        </p:nvSpPr>
        <p:spPr>
          <a:xfrm>
            <a:off x="838200" y="502973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C1294EB-A511-E3D1-579E-1D0DB12D17BF}"/>
              </a:ext>
            </a:extLst>
          </p:cNvPr>
          <p:cNvSpPr/>
          <p:nvPr/>
        </p:nvSpPr>
        <p:spPr>
          <a:xfrm>
            <a:off x="793790" y="526214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spcBef>
                <a:spcPts val="12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ID3 Algorithm</a:t>
            </a: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B25FEAD8-5905-8140-B019-BAC6BBB7E54F}"/>
              </a:ext>
            </a:extLst>
          </p:cNvPr>
          <p:cNvSpPr/>
          <p:nvPr/>
        </p:nvSpPr>
        <p:spPr>
          <a:xfrm>
            <a:off x="7460456" y="469773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3A068DDA-AA62-E7BF-0A19-2ECA46F6CEEB}"/>
              </a:ext>
            </a:extLst>
          </p:cNvPr>
          <p:cNvSpPr/>
          <p:nvPr/>
        </p:nvSpPr>
        <p:spPr>
          <a:xfrm>
            <a:off x="7460456" y="505277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FCDEA7A-C00C-425F-7CFB-6A90701DB6A8}"/>
              </a:ext>
            </a:extLst>
          </p:cNvPr>
          <p:cNvSpPr/>
          <p:nvPr/>
        </p:nvSpPr>
        <p:spPr>
          <a:xfrm>
            <a:off x="7416046" y="528518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spcBef>
                <a:spcPts val="12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Entropy and Information Gain </a:t>
            </a:r>
          </a:p>
          <a:p>
            <a:pPr algn="l" rtl="0">
              <a:spcBef>
                <a:spcPts val="12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 </a:t>
            </a: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AE630CE0-AB17-819E-04E0-DC2AAD16F59B}"/>
              </a:ext>
            </a:extLst>
          </p:cNvPr>
          <p:cNvSpPr/>
          <p:nvPr/>
        </p:nvSpPr>
        <p:spPr>
          <a:xfrm>
            <a:off x="826858" y="46810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393D97BB-6105-0ADC-590F-D6E4BD2A3E72}"/>
              </a:ext>
            </a:extLst>
          </p:cNvPr>
          <p:cNvSpPr/>
          <p:nvPr/>
        </p:nvSpPr>
        <p:spPr>
          <a:xfrm>
            <a:off x="826858" y="503604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A38C1FF-C37D-FE17-1646-36EBAD45D2DE}"/>
              </a:ext>
            </a:extLst>
          </p:cNvPr>
          <p:cNvSpPr/>
          <p:nvPr/>
        </p:nvSpPr>
        <p:spPr>
          <a:xfrm>
            <a:off x="838200" y="632894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spcBef>
                <a:spcPts val="12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CART Algorithm</a:t>
            </a: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FA647363-27EB-8D35-BBAF-D1D8C6DB9F53}"/>
              </a:ext>
            </a:extLst>
          </p:cNvPr>
          <p:cNvSpPr/>
          <p:nvPr/>
        </p:nvSpPr>
        <p:spPr>
          <a:xfrm>
            <a:off x="7504866" y="576453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</a:rPr>
              <a:t>10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8C2B6ECA-E9A7-320D-181B-5A9EAA70447A}"/>
              </a:ext>
            </a:extLst>
          </p:cNvPr>
          <p:cNvSpPr/>
          <p:nvPr/>
        </p:nvSpPr>
        <p:spPr>
          <a:xfrm>
            <a:off x="7504866" y="611957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D700CB91-D8FB-AE6E-2E28-805134D6E5DA}"/>
              </a:ext>
            </a:extLst>
          </p:cNvPr>
          <p:cNvSpPr/>
          <p:nvPr/>
        </p:nvSpPr>
        <p:spPr>
          <a:xfrm>
            <a:off x="7460456" y="635198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Python Functions</a:t>
            </a: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66F52FD2-695C-7DBC-C4EB-EEF2EF89C2C6}"/>
              </a:ext>
            </a:extLst>
          </p:cNvPr>
          <p:cNvSpPr/>
          <p:nvPr/>
        </p:nvSpPr>
        <p:spPr>
          <a:xfrm>
            <a:off x="871268" y="574780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84839B08-8007-8569-7D3C-86B086753ABB}"/>
              </a:ext>
            </a:extLst>
          </p:cNvPr>
          <p:cNvSpPr/>
          <p:nvPr/>
        </p:nvSpPr>
        <p:spPr>
          <a:xfrm>
            <a:off x="871268" y="610284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80C24732-AC9F-BE68-15A6-61EA57D08CDA}"/>
              </a:ext>
            </a:extLst>
          </p:cNvPr>
          <p:cNvSpPr/>
          <p:nvPr/>
        </p:nvSpPr>
        <p:spPr>
          <a:xfrm>
            <a:off x="838200" y="739574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02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7173-E48F-3A74-D920-228E4FD0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4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Introduction to Decision Tree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F0B4D-E303-EA16-C013-F3CDD912CF94}"/>
              </a:ext>
            </a:extLst>
          </p:cNvPr>
          <p:cNvSpPr txBox="1"/>
          <p:nvPr/>
        </p:nvSpPr>
        <p:spPr>
          <a:xfrm>
            <a:off x="838200" y="1928258"/>
            <a:ext cx="12725400" cy="322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Decision Tree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breaks down a data set into smaller subsets and presents association between target variable(dependent) and independent variables as a tree structure.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sz="2000" b="0" i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Final result is a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tree with Decision Nodes and Leaf Nodes.</a:t>
            </a:r>
            <a:endParaRPr lang="en-US" sz="2000" b="0" i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sz="2000" b="0" i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A decision node has two or more branches and leaf node represents a classification or decision.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30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BB8D-8928-1EE5-4998-4F71B142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01" y="422082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Decision Tree – Basic Framework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8F7C7-52C0-1A06-7790-1AA15A26AB8A}"/>
              </a:ext>
            </a:extLst>
          </p:cNvPr>
          <p:cNvSpPr txBox="1"/>
          <p:nvPr/>
        </p:nvSpPr>
        <p:spPr>
          <a:xfrm>
            <a:off x="773501" y="1847613"/>
            <a:ext cx="5791200" cy="129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Suppose we have information about 5 customers and their decision about buying a credit card.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This data can be represented as a </a:t>
            </a:r>
            <a:r>
              <a:rPr lang="en-US" b="1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Decision Tree</a:t>
            </a: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:</a:t>
            </a:r>
            <a:endParaRPr lang="en-US" b="1" i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" name="Google Shape;1151;p113">
            <a:extLst>
              <a:ext uri="{FF2B5EF4-FFF2-40B4-BE49-F238E27FC236}">
                <a16:creationId xmlns:a16="http://schemas.microsoft.com/office/drawing/2014/main" id="{DD9976D4-8749-DD6E-5D48-E0D9D64EA8C0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665235" y="1369036"/>
            <a:ext cx="5181600" cy="43065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8C3AC8-C818-8107-3E5F-383D1A819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39920"/>
              </p:ext>
            </p:extLst>
          </p:nvPr>
        </p:nvGraphicFramePr>
        <p:xfrm>
          <a:off x="492923" y="3788209"/>
          <a:ext cx="7620000" cy="28685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8884253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713431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2972688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8297728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71361207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Customer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Occupation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Buys credit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1214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≤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49975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≤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66113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≤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81186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&gt;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325427"/>
                  </a:ext>
                </a:extLst>
              </a:tr>
              <a:tr h="31447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&gt;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20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C0A4B2-4BC5-4EB5-4F70-40974A58DCED}"/>
              </a:ext>
            </a:extLst>
          </p:cNvPr>
          <p:cNvSpPr txBox="1"/>
          <p:nvPr/>
        </p:nvSpPr>
        <p:spPr>
          <a:xfrm>
            <a:off x="8665236" y="6086260"/>
            <a:ext cx="5181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First subset is based on Gender. All females opt for credit card.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Males however, can be split further, based on Age. Male customer of age </a:t>
            </a: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≤ 30 years do not buy credit card, whereas those &gt; 30 do buy card.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BA33-79FF-4E1B-917F-A4F32E15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47249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What is CART ?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EC55B-2999-75DA-B3AE-B8E47F13D83B}"/>
              </a:ext>
            </a:extLst>
          </p:cNvPr>
          <p:cNvSpPr txBox="1"/>
          <p:nvPr/>
        </p:nvSpPr>
        <p:spPr>
          <a:xfrm>
            <a:off x="1295400" y="1588507"/>
            <a:ext cx="11582400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term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Classification And Regression Tree (CART)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analysis is an umbrella term used to refer to predictive decision tree procedures, first introduced by 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Breiman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et al.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FA420-A69E-9817-128B-6E566C3B0CFD}"/>
              </a:ext>
            </a:extLst>
          </p:cNvPr>
          <p:cNvSpPr txBox="1"/>
          <p:nvPr/>
        </p:nvSpPr>
        <p:spPr>
          <a:xfrm>
            <a:off x="1322717" y="3165901"/>
            <a:ext cx="5608828" cy="364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Classification Tree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algn="ctr" rtl="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When the predicted outcome is the class to which the data belongs.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 such cases,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dependent variable is categorical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Independent variables can be either continuous or categorical or both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1AA19-0D68-F5FB-32A6-12C3392E8C9D}"/>
              </a:ext>
            </a:extLst>
          </p:cNvPr>
          <p:cNvSpPr txBox="1"/>
          <p:nvPr/>
        </p:nvSpPr>
        <p:spPr>
          <a:xfrm>
            <a:off x="8001000" y="3165901"/>
            <a:ext cx="5608828" cy="364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Regression Tree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algn="ctr" rtl="0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When the predicted outcome can be considered a real number. 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 such cases,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dependent variable is continuous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Independent variables can be either continuous or categorical or both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21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A140-5DBB-61E1-5945-1B7865E7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60960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Decision Tree – Basic Components</a:t>
            </a:r>
            <a:endParaRPr lang="en-IN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D53A39-8016-EC0E-940D-F1C9EFBE6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2547"/>
              </p:ext>
            </p:extLst>
          </p:nvPr>
        </p:nvGraphicFramePr>
        <p:xfrm>
          <a:off x="1866900" y="1562100"/>
          <a:ext cx="10896600" cy="510539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1625167523"/>
                    </a:ext>
                  </a:extLst>
                </a:gridCol>
                <a:gridCol w="5915297">
                  <a:extLst>
                    <a:ext uri="{9D8B030D-6E8A-4147-A177-3AD203B41FA5}">
                      <a16:colId xmlns:a16="http://schemas.microsoft.com/office/drawing/2014/main" val="2716823354"/>
                    </a:ext>
                  </a:extLst>
                </a:gridCol>
                <a:gridCol w="2801983">
                  <a:extLst>
                    <a:ext uri="{9D8B030D-6E8A-4147-A177-3AD203B41FA5}">
                      <a16:colId xmlns:a16="http://schemas.microsoft.com/office/drawing/2014/main" val="1111809774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Component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Description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Alternate terms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053422316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Root node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Has no incoming edges and zero or more outgoing edges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Parent node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701538061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Internal nodes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Each has exactly one incoming edge and two or more outgoing edges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Decision nodes / Child nodes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722930165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Leaf node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Each has exactly one incoming edges and no outgoing edges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Terminal nodes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97919802"/>
                  </a:ext>
                </a:extLst>
              </a:tr>
              <a:tr h="11345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Branches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Categories of attributes 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Edges</a:t>
                      </a:r>
                      <a:endParaRPr sz="18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16534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5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BD87-CA9C-587B-9C4F-BD831889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Decision Tree – Basic Components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Google Shape;1183;p116">
            <a:extLst>
              <a:ext uri="{FF2B5EF4-FFF2-40B4-BE49-F238E27FC236}">
                <a16:creationId xmlns:a16="http://schemas.microsoft.com/office/drawing/2014/main" id="{6F6EFBBB-97E0-D240-3B84-F9D800C3DD75}"/>
              </a:ext>
            </a:extLst>
          </p:cNvPr>
          <p:cNvSpPr txBox="1">
            <a:spLocks/>
          </p:cNvSpPr>
          <p:nvPr/>
        </p:nvSpPr>
        <p:spPr>
          <a:xfrm>
            <a:off x="75438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kern="0"/>
            </a:defPPr>
          </a:lstStyle>
          <a:p>
            <a:pPr algn="r" rtl="0"/>
            <a:fld id="{00000000-1234-1234-1234-123412341234}" type="slidenum">
              <a:rPr lang="en-US" sz="1000" smtClean="0">
                <a:solidFill>
                  <a:srgbClr val="A9A9AD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pPr algn="r" rtl="0"/>
              <a:t>7</a:t>
            </a:fld>
            <a:endParaRPr lang="en-US" sz="1000">
              <a:solidFill>
                <a:srgbClr val="A9A9AD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4" name="Google Shape;1184;p116">
            <a:extLst>
              <a:ext uri="{FF2B5EF4-FFF2-40B4-BE49-F238E27FC236}">
                <a16:creationId xmlns:a16="http://schemas.microsoft.com/office/drawing/2014/main" id="{3D86A452-1A95-EAB9-87A8-A8F3DD8887FD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429296" y="1719440"/>
            <a:ext cx="5047911" cy="37229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185;p116">
            <a:extLst>
              <a:ext uri="{FF2B5EF4-FFF2-40B4-BE49-F238E27FC236}">
                <a16:creationId xmlns:a16="http://schemas.microsoft.com/office/drawing/2014/main" id="{1069AFA3-5DD5-2539-796F-1382CE14B7D1}"/>
              </a:ext>
            </a:extLst>
          </p:cNvPr>
          <p:cNvGrpSpPr/>
          <p:nvPr/>
        </p:nvGrpSpPr>
        <p:grpSpPr>
          <a:xfrm flipH="1">
            <a:off x="3200400" y="1638303"/>
            <a:ext cx="3423874" cy="1111654"/>
            <a:chOff x="5586777" y="4741962"/>
            <a:chExt cx="3151924" cy="838199"/>
          </a:xfrm>
        </p:grpSpPr>
        <p:sp>
          <p:nvSpPr>
            <p:cNvPr id="6" name="Google Shape;1186;p116">
              <a:extLst>
                <a:ext uri="{FF2B5EF4-FFF2-40B4-BE49-F238E27FC236}">
                  <a16:creationId xmlns:a16="http://schemas.microsoft.com/office/drawing/2014/main" id="{1C7E57F0-EE3A-7146-51AC-D73531A6FCAC}"/>
                </a:ext>
              </a:extLst>
            </p:cNvPr>
            <p:cNvSpPr/>
            <p:nvPr/>
          </p:nvSpPr>
          <p:spPr>
            <a:xfrm>
              <a:off x="5942242" y="4741962"/>
              <a:ext cx="2796459" cy="83819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The first variable used for separating the observations</a:t>
              </a:r>
              <a:endParaRPr sz="2400"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cxnSp>
          <p:nvCxnSpPr>
            <p:cNvPr id="7" name="Google Shape;1187;p116">
              <a:extLst>
                <a:ext uri="{FF2B5EF4-FFF2-40B4-BE49-F238E27FC236}">
                  <a16:creationId xmlns:a16="http://schemas.microsoft.com/office/drawing/2014/main" id="{D02FFF40-D4AF-ED96-8224-CB15999FF7AE}"/>
                </a:ext>
              </a:extLst>
            </p:cNvPr>
            <p:cNvCxnSpPr/>
            <p:nvPr/>
          </p:nvCxnSpPr>
          <p:spPr>
            <a:xfrm rot="10800000">
              <a:off x="5586777" y="5035094"/>
              <a:ext cx="337773" cy="0"/>
            </a:xfrm>
            <a:prstGeom prst="straightConnector1">
              <a:avLst/>
            </a:prstGeom>
            <a:noFill/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8" name="Google Shape;1188;p116">
            <a:extLst>
              <a:ext uri="{FF2B5EF4-FFF2-40B4-BE49-F238E27FC236}">
                <a16:creationId xmlns:a16="http://schemas.microsoft.com/office/drawing/2014/main" id="{A88F6530-75F3-0969-DF75-82A381965DEB}"/>
              </a:ext>
            </a:extLst>
          </p:cNvPr>
          <p:cNvGrpSpPr/>
          <p:nvPr/>
        </p:nvGrpSpPr>
        <p:grpSpPr>
          <a:xfrm flipH="1">
            <a:off x="2164171" y="3663961"/>
            <a:ext cx="2964213" cy="1111649"/>
            <a:chOff x="5586777" y="4635405"/>
            <a:chExt cx="2964213" cy="1222815"/>
          </a:xfrm>
        </p:grpSpPr>
        <p:sp>
          <p:nvSpPr>
            <p:cNvPr id="9" name="Google Shape;1189;p116">
              <a:extLst>
                <a:ext uri="{FF2B5EF4-FFF2-40B4-BE49-F238E27FC236}">
                  <a16:creationId xmlns:a16="http://schemas.microsoft.com/office/drawing/2014/main" id="{8AB0B836-ED68-1B67-79EC-9A2EE0FD59E2}"/>
                </a:ext>
              </a:extLst>
            </p:cNvPr>
            <p:cNvSpPr/>
            <p:nvPr/>
          </p:nvSpPr>
          <p:spPr>
            <a:xfrm>
              <a:off x="5929677" y="4635405"/>
              <a:ext cx="2621313" cy="122281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Next attribute for separating the observations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</a:endParaRPr>
            </a:p>
          </p:txBody>
        </p:sp>
        <p:cxnSp>
          <p:nvCxnSpPr>
            <p:cNvPr id="10" name="Google Shape;1190;p116">
              <a:extLst>
                <a:ext uri="{FF2B5EF4-FFF2-40B4-BE49-F238E27FC236}">
                  <a16:creationId xmlns:a16="http://schemas.microsoft.com/office/drawing/2014/main" id="{A2212429-4487-A1E4-7665-408216AAB531}"/>
                </a:ext>
              </a:extLst>
            </p:cNvPr>
            <p:cNvCxnSpPr/>
            <p:nvPr/>
          </p:nvCxnSpPr>
          <p:spPr>
            <a:xfrm rot="10800000">
              <a:off x="5586777" y="5035094"/>
              <a:ext cx="337773" cy="0"/>
            </a:xfrm>
            <a:prstGeom prst="straightConnector1">
              <a:avLst/>
            </a:prstGeom>
            <a:noFill/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1" name="Google Shape;1191;p116">
            <a:extLst>
              <a:ext uri="{FF2B5EF4-FFF2-40B4-BE49-F238E27FC236}">
                <a16:creationId xmlns:a16="http://schemas.microsoft.com/office/drawing/2014/main" id="{AD98251F-E7D1-04C6-6D3F-B28838EAB751}"/>
              </a:ext>
            </a:extLst>
          </p:cNvPr>
          <p:cNvGrpSpPr/>
          <p:nvPr/>
        </p:nvGrpSpPr>
        <p:grpSpPr>
          <a:xfrm>
            <a:off x="8958695" y="2667674"/>
            <a:ext cx="3144951" cy="523220"/>
            <a:chOff x="5586777" y="4657070"/>
            <a:chExt cx="3144951" cy="575541"/>
          </a:xfrm>
        </p:grpSpPr>
        <p:sp>
          <p:nvSpPr>
            <p:cNvPr id="12" name="Google Shape;1192;p116">
              <a:extLst>
                <a:ext uri="{FF2B5EF4-FFF2-40B4-BE49-F238E27FC236}">
                  <a16:creationId xmlns:a16="http://schemas.microsoft.com/office/drawing/2014/main" id="{4B845538-3D4A-8BD4-C6BD-7F244B0D50AD}"/>
                </a:ext>
              </a:extLst>
            </p:cNvPr>
            <p:cNvSpPr/>
            <p:nvPr/>
          </p:nvSpPr>
          <p:spPr>
            <a:xfrm>
              <a:off x="5936642" y="4657070"/>
              <a:ext cx="2795086" cy="575541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Categories of Attribute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</a:endParaRPr>
            </a:p>
          </p:txBody>
        </p:sp>
        <p:cxnSp>
          <p:nvCxnSpPr>
            <p:cNvPr id="13" name="Google Shape;1193;p116">
              <a:extLst>
                <a:ext uri="{FF2B5EF4-FFF2-40B4-BE49-F238E27FC236}">
                  <a16:creationId xmlns:a16="http://schemas.microsoft.com/office/drawing/2014/main" id="{60566339-390C-96B0-135D-786CCF51DAEB}"/>
                </a:ext>
              </a:extLst>
            </p:cNvPr>
            <p:cNvCxnSpPr/>
            <p:nvPr/>
          </p:nvCxnSpPr>
          <p:spPr>
            <a:xfrm rot="10800000">
              <a:off x="5586777" y="5035094"/>
              <a:ext cx="337773" cy="0"/>
            </a:xfrm>
            <a:prstGeom prst="straightConnector1">
              <a:avLst/>
            </a:prstGeom>
            <a:noFill/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5" name="Google Shape;1195;p116">
            <a:extLst>
              <a:ext uri="{FF2B5EF4-FFF2-40B4-BE49-F238E27FC236}">
                <a16:creationId xmlns:a16="http://schemas.microsoft.com/office/drawing/2014/main" id="{24469D55-9E3E-7F3E-84E9-01971582FEB0}"/>
              </a:ext>
            </a:extLst>
          </p:cNvPr>
          <p:cNvGrpSpPr/>
          <p:nvPr/>
        </p:nvGrpSpPr>
        <p:grpSpPr>
          <a:xfrm>
            <a:off x="8580454" y="3686069"/>
            <a:ext cx="2563796" cy="1533635"/>
            <a:chOff x="6065854" y="3882520"/>
            <a:chExt cx="2563796" cy="1533635"/>
          </a:xfrm>
        </p:grpSpPr>
        <p:grpSp>
          <p:nvGrpSpPr>
            <p:cNvPr id="16" name="Google Shape;1196;p116">
              <a:extLst>
                <a:ext uri="{FF2B5EF4-FFF2-40B4-BE49-F238E27FC236}">
                  <a16:creationId xmlns:a16="http://schemas.microsoft.com/office/drawing/2014/main" id="{E6E1F320-0972-AE5B-C4F0-B3472F86EAD5}"/>
                </a:ext>
              </a:extLst>
            </p:cNvPr>
            <p:cNvGrpSpPr/>
            <p:nvPr/>
          </p:nvGrpSpPr>
          <p:grpSpPr>
            <a:xfrm>
              <a:off x="6065854" y="3882520"/>
              <a:ext cx="2563796" cy="1533635"/>
              <a:chOff x="5589604" y="5178623"/>
              <a:chExt cx="2563796" cy="1686997"/>
            </a:xfrm>
          </p:grpSpPr>
          <p:grpSp>
            <p:nvGrpSpPr>
              <p:cNvPr id="18" name="Google Shape;1197;p116">
                <a:extLst>
                  <a:ext uri="{FF2B5EF4-FFF2-40B4-BE49-F238E27FC236}">
                    <a16:creationId xmlns:a16="http://schemas.microsoft.com/office/drawing/2014/main" id="{54C3C43A-AC93-D1D8-E24C-8E093E6B541E}"/>
                  </a:ext>
                </a:extLst>
              </p:cNvPr>
              <p:cNvGrpSpPr/>
              <p:nvPr/>
            </p:nvGrpSpPr>
            <p:grpSpPr>
              <a:xfrm>
                <a:off x="6387556" y="5178623"/>
                <a:ext cx="1765844" cy="338554"/>
                <a:chOff x="5586777" y="4862155"/>
                <a:chExt cx="1765844" cy="338554"/>
              </a:xfrm>
            </p:grpSpPr>
            <p:sp>
              <p:nvSpPr>
                <p:cNvPr id="20" name="Google Shape;1198;p116">
                  <a:extLst>
                    <a:ext uri="{FF2B5EF4-FFF2-40B4-BE49-F238E27FC236}">
                      <a16:creationId xmlns:a16="http://schemas.microsoft.com/office/drawing/2014/main" id="{9314D014-423F-B24D-A234-6A7851336661}"/>
                    </a:ext>
                  </a:extLst>
                </p:cNvPr>
                <p:cNvSpPr/>
                <p:nvPr/>
              </p:nvSpPr>
              <p:spPr>
                <a:xfrm>
                  <a:off x="5932427" y="4862155"/>
                  <a:ext cx="1420194" cy="338554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72C6E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algn="ctr" rtl="0"/>
                  <a:r>
                    <a:rPr lang="en-US" dirty="0">
                      <a:solidFill>
                        <a:schemeClr val="tx1"/>
                      </a:solidFill>
                      <a:latin typeface="PT Serif" panose="020A0603040505020204" pitchFamily="18" charset="0"/>
                      <a:ea typeface="Open Sans Light"/>
                      <a:cs typeface="Open Sans Light"/>
                      <a:sym typeface="Open Sans Light"/>
                    </a:rPr>
                    <a:t>Class Labels</a:t>
                  </a:r>
                  <a:endParaRPr dirty="0">
                    <a:solidFill>
                      <a:schemeClr val="tx1"/>
                    </a:solidFill>
                    <a:latin typeface="PT Serif" panose="020A0603040505020204" pitchFamily="18" charset="0"/>
                    <a:ea typeface="Open Sans Light"/>
                    <a:cs typeface="Open Sans Light"/>
                  </a:endParaRPr>
                </a:p>
              </p:txBody>
            </p:sp>
            <p:cxnSp>
              <p:nvCxnSpPr>
                <p:cNvPr id="21" name="Google Shape;1199;p116">
                  <a:extLst>
                    <a:ext uri="{FF2B5EF4-FFF2-40B4-BE49-F238E27FC236}">
                      <a16:creationId xmlns:a16="http://schemas.microsoft.com/office/drawing/2014/main" id="{E4405309-BE30-A533-01B4-692281A19533}"/>
                    </a:ext>
                  </a:extLst>
                </p:cNvPr>
                <p:cNvCxnSpPr/>
                <p:nvPr/>
              </p:nvCxnSpPr>
              <p:spPr>
                <a:xfrm rot="10800000">
                  <a:off x="5586777" y="5035094"/>
                  <a:ext cx="33777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2C6E8"/>
                  </a:solidFill>
                  <a:prstDash val="solid"/>
                  <a:round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19" name="Google Shape;1200;p116">
                <a:extLst>
                  <a:ext uri="{FF2B5EF4-FFF2-40B4-BE49-F238E27FC236}">
                    <a16:creationId xmlns:a16="http://schemas.microsoft.com/office/drawing/2014/main" id="{4AFD703C-91FE-A412-BA02-A5B5F23D19F9}"/>
                  </a:ext>
                </a:extLst>
              </p:cNvPr>
              <p:cNvCxnSpPr/>
              <p:nvPr/>
            </p:nvCxnSpPr>
            <p:spPr>
              <a:xfrm rot="10800000">
                <a:off x="5589604" y="6865620"/>
                <a:ext cx="1877996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72C6E8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17" name="Google Shape;1201;p116">
              <a:extLst>
                <a:ext uri="{FF2B5EF4-FFF2-40B4-BE49-F238E27FC236}">
                  <a16:creationId xmlns:a16="http://schemas.microsoft.com/office/drawing/2014/main" id="{0609E616-3F3B-BC56-4110-E6CBA7752215}"/>
                </a:ext>
              </a:extLst>
            </p:cNvPr>
            <p:cNvCxnSpPr>
              <a:stCxn id="20" idx="2"/>
            </p:cNvCxnSpPr>
            <p:nvPr/>
          </p:nvCxnSpPr>
          <p:spPr>
            <a:xfrm>
              <a:off x="7919553" y="4190297"/>
              <a:ext cx="0" cy="122580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rgbClr val="72C6E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36AF8F-0F3E-E7D9-6B43-1B7C81DFC2F9}"/>
              </a:ext>
            </a:extLst>
          </p:cNvPr>
          <p:cNvSpPr txBox="1"/>
          <p:nvPr/>
        </p:nvSpPr>
        <p:spPr>
          <a:xfrm>
            <a:off x="576349" y="6578993"/>
            <a:ext cx="13020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Class labels show observations belong to which class. The leaf node also shows Number of observations and Error rate (Actual classification vs classification given by the tree)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4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74ED-F983-BC64-56BA-1F71AD70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Binary and Non Binary Trees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464FB-4433-1B48-636D-8C28C209319B}"/>
              </a:ext>
            </a:extLst>
          </p:cNvPr>
          <p:cNvSpPr txBox="1"/>
          <p:nvPr/>
        </p:nvSpPr>
        <p:spPr>
          <a:xfrm>
            <a:off x="487172" y="1600200"/>
            <a:ext cx="7315200" cy="129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Consider the same example illustrated earlier.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Occupation is the nominal attribute under consideration, with three distinct categories.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F6BB07-F555-80B5-1544-0EE972085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26334"/>
              </p:ext>
            </p:extLst>
          </p:nvPr>
        </p:nvGraphicFramePr>
        <p:xfrm>
          <a:off x="7802372" y="1306913"/>
          <a:ext cx="6400800" cy="232663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26944812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52480923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086567506"/>
                    </a:ext>
                  </a:extLst>
                </a:gridCol>
              </a:tblGrid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Customer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Occupation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Buys credit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698373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223328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890278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365060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178721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003993"/>
                  </a:ext>
                </a:extLst>
              </a:tr>
            </a:tbl>
          </a:graphicData>
        </a:graphic>
      </p:graphicFrame>
      <p:sp>
        <p:nvSpPr>
          <p:cNvPr id="11" name="Google Shape;1213;p117">
            <a:extLst>
              <a:ext uri="{FF2B5EF4-FFF2-40B4-BE49-F238E27FC236}">
                <a16:creationId xmlns:a16="http://schemas.microsoft.com/office/drawing/2014/main" id="{4C4D5317-FA46-62FF-2E72-5E190E64118D}"/>
              </a:ext>
            </a:extLst>
          </p:cNvPr>
          <p:cNvSpPr txBox="1"/>
          <p:nvPr/>
        </p:nvSpPr>
        <p:spPr>
          <a:xfrm>
            <a:off x="2858728" y="3861379"/>
            <a:ext cx="830334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There are two ways in which a decision node can be split into further branches:</a:t>
            </a:r>
            <a:endParaRPr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Google Shape;1214;p117">
            <a:extLst>
              <a:ext uri="{FF2B5EF4-FFF2-40B4-BE49-F238E27FC236}">
                <a16:creationId xmlns:a16="http://schemas.microsoft.com/office/drawing/2014/main" id="{04E2FD56-3924-6A4F-68A9-FCF905E51E5A}"/>
              </a:ext>
            </a:extLst>
          </p:cNvPr>
          <p:cNvSpPr/>
          <p:nvPr/>
        </p:nvSpPr>
        <p:spPr>
          <a:xfrm>
            <a:off x="4057753" y="4584023"/>
            <a:ext cx="1927121" cy="55797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Occupation</a:t>
            </a:r>
            <a:endParaRPr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cxnSp>
        <p:nvCxnSpPr>
          <p:cNvPr id="13" name="Google Shape;1215;p117">
            <a:extLst>
              <a:ext uri="{FF2B5EF4-FFF2-40B4-BE49-F238E27FC236}">
                <a16:creationId xmlns:a16="http://schemas.microsoft.com/office/drawing/2014/main" id="{DDF06CA7-36C6-AD2C-4907-5A09AD744E4C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3958789" y="5060280"/>
            <a:ext cx="381184" cy="477000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16;p117">
            <a:extLst>
              <a:ext uri="{FF2B5EF4-FFF2-40B4-BE49-F238E27FC236}">
                <a16:creationId xmlns:a16="http://schemas.microsoft.com/office/drawing/2014/main" id="{6DE491E8-A6C9-7F7C-039D-D81F59E6AAAA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702654" y="5060280"/>
            <a:ext cx="181133" cy="477000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217;p117">
            <a:extLst>
              <a:ext uri="{FF2B5EF4-FFF2-40B4-BE49-F238E27FC236}">
                <a16:creationId xmlns:a16="http://schemas.microsoft.com/office/drawing/2014/main" id="{2B0EDA79-3660-5B43-EF3C-519245192EA0}"/>
              </a:ext>
            </a:extLst>
          </p:cNvPr>
          <p:cNvSpPr/>
          <p:nvPr/>
        </p:nvSpPr>
        <p:spPr>
          <a:xfrm>
            <a:off x="3323193" y="5470525"/>
            <a:ext cx="1106424" cy="46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Student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16" name="Google Shape;1218;p117">
            <a:extLst>
              <a:ext uri="{FF2B5EF4-FFF2-40B4-BE49-F238E27FC236}">
                <a16:creationId xmlns:a16="http://schemas.microsoft.com/office/drawing/2014/main" id="{8BF82880-1574-EC38-C145-8B2A4C32ED64}"/>
              </a:ext>
            </a:extLst>
          </p:cNvPr>
          <p:cNvSpPr/>
          <p:nvPr/>
        </p:nvSpPr>
        <p:spPr>
          <a:xfrm>
            <a:off x="5127088" y="5489060"/>
            <a:ext cx="1781907" cy="75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Not a Student {Professional or Business}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17" name="Google Shape;1219;p117">
            <a:extLst>
              <a:ext uri="{FF2B5EF4-FFF2-40B4-BE49-F238E27FC236}">
                <a16:creationId xmlns:a16="http://schemas.microsoft.com/office/drawing/2014/main" id="{702A9C0A-9A56-5171-1330-AD9667CF9344}"/>
              </a:ext>
            </a:extLst>
          </p:cNvPr>
          <p:cNvSpPr/>
          <p:nvPr/>
        </p:nvSpPr>
        <p:spPr>
          <a:xfrm>
            <a:off x="8148345" y="4572269"/>
            <a:ext cx="2138653" cy="55797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Occupation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cxnSp>
        <p:nvCxnSpPr>
          <p:cNvPr id="18" name="Google Shape;1220;p117">
            <a:extLst>
              <a:ext uri="{FF2B5EF4-FFF2-40B4-BE49-F238E27FC236}">
                <a16:creationId xmlns:a16="http://schemas.microsoft.com/office/drawing/2014/main" id="{24A10441-E1E9-F2A1-13A9-938D94A0D513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8035923" y="5048526"/>
            <a:ext cx="425620" cy="461100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221;p117">
            <a:extLst>
              <a:ext uri="{FF2B5EF4-FFF2-40B4-BE49-F238E27FC236}">
                <a16:creationId xmlns:a16="http://schemas.microsoft.com/office/drawing/2014/main" id="{84519C07-DFF7-D7B5-87A5-2453C31DA452}"/>
              </a:ext>
            </a:extLst>
          </p:cNvPr>
          <p:cNvCxnSpPr>
            <a:cxnSpLocks/>
          </p:cNvCxnSpPr>
          <p:nvPr/>
        </p:nvCxnSpPr>
        <p:spPr>
          <a:xfrm>
            <a:off x="9599487" y="5141993"/>
            <a:ext cx="388628" cy="367633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1222;p117">
            <a:extLst>
              <a:ext uri="{FF2B5EF4-FFF2-40B4-BE49-F238E27FC236}">
                <a16:creationId xmlns:a16="http://schemas.microsoft.com/office/drawing/2014/main" id="{AA1C87DE-EA6A-9CF8-E41C-94BFA2F3ED86}"/>
              </a:ext>
            </a:extLst>
          </p:cNvPr>
          <p:cNvSpPr/>
          <p:nvPr/>
        </p:nvSpPr>
        <p:spPr>
          <a:xfrm>
            <a:off x="7171475" y="5483996"/>
            <a:ext cx="1106424" cy="46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/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Student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21" name="Google Shape;1223;p117">
            <a:extLst>
              <a:ext uri="{FF2B5EF4-FFF2-40B4-BE49-F238E27FC236}">
                <a16:creationId xmlns:a16="http://schemas.microsoft.com/office/drawing/2014/main" id="{5D29F0EC-6E7E-7EAD-BC04-E727690FBE2E}"/>
              </a:ext>
            </a:extLst>
          </p:cNvPr>
          <p:cNvSpPr/>
          <p:nvPr/>
        </p:nvSpPr>
        <p:spPr>
          <a:xfrm>
            <a:off x="9874533" y="5486454"/>
            <a:ext cx="1106424" cy="46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rtl="0"/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Business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cxnSp>
        <p:nvCxnSpPr>
          <p:cNvPr id="22" name="Google Shape;1224;p117">
            <a:extLst>
              <a:ext uri="{FF2B5EF4-FFF2-40B4-BE49-F238E27FC236}">
                <a16:creationId xmlns:a16="http://schemas.microsoft.com/office/drawing/2014/main" id="{AB685390-2D36-BC9F-4F02-67825C48849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217672" y="5130239"/>
            <a:ext cx="0" cy="557970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1225;p117">
            <a:extLst>
              <a:ext uri="{FF2B5EF4-FFF2-40B4-BE49-F238E27FC236}">
                <a16:creationId xmlns:a16="http://schemas.microsoft.com/office/drawing/2014/main" id="{EC71D5E0-D308-B399-1415-7C0AE2277092}"/>
              </a:ext>
            </a:extLst>
          </p:cNvPr>
          <p:cNvSpPr/>
          <p:nvPr/>
        </p:nvSpPr>
        <p:spPr>
          <a:xfrm>
            <a:off x="8277899" y="5674012"/>
            <a:ext cx="1640034" cy="46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Professional</a:t>
            </a:r>
            <a:endParaRPr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cxnSp>
        <p:nvCxnSpPr>
          <p:cNvPr id="24" name="Google Shape;1226;p117">
            <a:extLst>
              <a:ext uri="{FF2B5EF4-FFF2-40B4-BE49-F238E27FC236}">
                <a16:creationId xmlns:a16="http://schemas.microsoft.com/office/drawing/2014/main" id="{FB11707F-A0B3-1A55-CF79-03D20581C3E4}"/>
              </a:ext>
            </a:extLst>
          </p:cNvPr>
          <p:cNvCxnSpPr/>
          <p:nvPr/>
        </p:nvCxnSpPr>
        <p:spPr>
          <a:xfrm>
            <a:off x="7010400" y="4457417"/>
            <a:ext cx="0" cy="2156108"/>
          </a:xfrm>
          <a:prstGeom prst="straightConnector1">
            <a:avLst/>
          </a:prstGeom>
          <a:noFill/>
          <a:ln w="9525" cap="flat" cmpd="sng">
            <a:solidFill>
              <a:srgbClr val="A9A9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1227;p117">
            <a:extLst>
              <a:ext uri="{FF2B5EF4-FFF2-40B4-BE49-F238E27FC236}">
                <a16:creationId xmlns:a16="http://schemas.microsoft.com/office/drawing/2014/main" id="{52E7A04F-C644-7AD6-EB08-08BB84C8626D}"/>
              </a:ext>
            </a:extLst>
          </p:cNvPr>
          <p:cNvSpPr txBox="1"/>
          <p:nvPr/>
        </p:nvSpPr>
        <p:spPr>
          <a:xfrm>
            <a:off x="4130360" y="6588654"/>
            <a:ext cx="17819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rt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Binary Tree</a:t>
            </a:r>
            <a:endParaRPr sz="2400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26" name="Google Shape;1228;p117">
            <a:extLst>
              <a:ext uri="{FF2B5EF4-FFF2-40B4-BE49-F238E27FC236}">
                <a16:creationId xmlns:a16="http://schemas.microsoft.com/office/drawing/2014/main" id="{2E9FB777-7B2F-3BBC-20C9-D368AA39A8B8}"/>
              </a:ext>
            </a:extLst>
          </p:cNvPr>
          <p:cNvSpPr txBox="1"/>
          <p:nvPr/>
        </p:nvSpPr>
        <p:spPr>
          <a:xfrm>
            <a:off x="7960356" y="6561547"/>
            <a:ext cx="25427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Non-Binary Tree</a:t>
            </a:r>
            <a:endParaRPr sz="2400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15BBB7-18C0-6875-EF98-EF88626632F5}"/>
              </a:ext>
            </a:extLst>
          </p:cNvPr>
          <p:cNvSpPr txBox="1"/>
          <p:nvPr/>
        </p:nvSpPr>
        <p:spPr>
          <a:xfrm>
            <a:off x="2048020" y="7329843"/>
            <a:ext cx="10246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Binary and non-binary branches can be generated for ordinal and continuous variables as well</a:t>
            </a:r>
          </a:p>
        </p:txBody>
      </p:sp>
    </p:spTree>
    <p:extLst>
      <p:ext uri="{BB962C8B-B14F-4D97-AF65-F5344CB8AC3E}">
        <p14:creationId xmlns:p14="http://schemas.microsoft.com/office/powerpoint/2010/main" val="174665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23EB-8BE2-245E-49B0-D35D65E2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317748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Decision Tree Algorithms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5CA9B-3B6B-8511-A613-6797D9704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399" y="1371600"/>
            <a:ext cx="12847827" cy="6093976"/>
          </a:xfrm>
        </p:spPr>
        <p:txBody>
          <a:bodyPr/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Trees used for regression and trees used for classification have some similarities - but also some differences, such as the procedure used to determine where to split.</a:t>
            </a:r>
            <a:endParaRPr lang="en-US" sz="1800" dirty="0">
              <a:solidFill>
                <a:schemeClr val="tx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There are many specific decision-tree algorithms. Notable ones include: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endParaRPr lang="en-US" sz="1800" dirty="0">
              <a:solidFill>
                <a:schemeClr val="tx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1. ID3 (Iterative </a:t>
            </a:r>
            <a:r>
              <a:rPr lang="en-US" sz="1800" b="1" dirty="0" err="1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Dichotomiser</a:t>
            </a: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3)</a:t>
            </a:r>
            <a:endParaRPr lang="en-US" sz="1800" dirty="0">
              <a:solidFill>
                <a:schemeClr val="tx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2. C4.5 (Successor of ID3)</a:t>
            </a:r>
            <a:endParaRPr lang="en-US" sz="1800" dirty="0">
              <a:solidFill>
                <a:schemeClr val="tx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3. CART (Classification And Regression Tree)</a:t>
            </a:r>
            <a:endParaRPr lang="en-US" sz="1800" dirty="0">
              <a:solidFill>
                <a:schemeClr val="tx1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4. CHAID (</a:t>
            </a:r>
            <a:r>
              <a:rPr lang="en-US" sz="1800" b="1" dirty="0" err="1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CHi</a:t>
            </a: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-squared Automatic Interaction Detector)</a:t>
            </a:r>
            <a:endParaRPr lang="en-US" sz="1800" dirty="0">
              <a:solidFill>
                <a:schemeClr val="tx1"/>
              </a:solidFill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Performs multi-level splits when computing classification trees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5. MARS (Multivariate Adaptive Regression Splines)</a:t>
            </a:r>
            <a:endParaRPr lang="en-US" sz="1800" dirty="0">
              <a:solidFill>
                <a:schemeClr val="tx1"/>
              </a:solidFill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Extends decision trees to handle numerical data better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6. Conditional Inference Trees</a:t>
            </a:r>
            <a:endParaRPr lang="en-US" sz="1800" dirty="0">
              <a:solidFill>
                <a:schemeClr val="tx1"/>
              </a:solidFill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Statistics-based approach that uses non-parametric tests as splitting criteria, corrected for multiple testing to avoid overfitting. This approach results in unbiased predictor selection and does not require pruning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34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F6B3-9783-D9FC-17D3-002CEE85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09" y="332601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ID3 Algorithm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FB94-41CF-6EA2-DCD7-4CD31829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13106400" cy="7372596"/>
          </a:xfrm>
        </p:spPr>
        <p:txBody>
          <a:bodyPr/>
          <a:lstStyle/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900" dirty="0"/>
              <a:t>The ID3 (Iterative </a:t>
            </a:r>
            <a:r>
              <a:rPr lang="en-IN" sz="1900" dirty="0" err="1"/>
              <a:t>Dichotomiser</a:t>
            </a:r>
            <a:r>
              <a:rPr lang="en-IN" sz="1900" dirty="0"/>
              <a:t> 3) algorithm, developed by J.R. Quinlan, builds a classification decision tree using a top-down, greedy approach.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1900" dirty="0"/>
          </a:p>
          <a:p>
            <a:r>
              <a:rPr lang="en-IN" sz="1900" b="1" dirty="0"/>
              <a:t>High-Level Procedure</a:t>
            </a:r>
          </a:p>
          <a:p>
            <a:endParaRPr lang="en-IN" sz="1900" b="1" dirty="0"/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/>
              <a:t>Calculate </a:t>
            </a:r>
            <a:r>
              <a:rPr lang="en-IN" sz="1900" b="1" dirty="0"/>
              <a:t>Information Gain</a:t>
            </a:r>
            <a:r>
              <a:rPr lang="en-IN" sz="1900" dirty="0"/>
              <a:t> for all attributes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/>
              <a:t>Select attribute with </a:t>
            </a:r>
            <a:r>
              <a:rPr lang="en-IN" sz="1900" b="1" dirty="0"/>
              <a:t>maximum Gain</a:t>
            </a:r>
            <a:r>
              <a:rPr lang="en-IN" sz="1900" dirty="0"/>
              <a:t> and split the data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/>
              <a:t>Repeat the process recursively for each subset until stopping criteria are met</a:t>
            </a:r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1900" dirty="0"/>
          </a:p>
          <a:p>
            <a:pPr lvl="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900" dirty="0"/>
              <a:t>Being greedy, it chooses the best split locally at each stage without backtracking.</a:t>
            </a: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In order to decide which attribute should be included in the decision node, ID3 uses </a:t>
            </a:r>
            <a:r>
              <a:rPr lang="en-US" sz="1900" b="1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Entropy and Information Gain</a:t>
            </a:r>
            <a:r>
              <a:rPr lang="en-US" sz="19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</a:t>
            </a:r>
            <a:endParaRPr lang="en-US" sz="1900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Google Shape;1278;p121">
            <a:extLst>
              <a:ext uri="{FF2B5EF4-FFF2-40B4-BE49-F238E27FC236}">
                <a16:creationId xmlns:a16="http://schemas.microsoft.com/office/drawing/2014/main" id="{C2A18168-77DB-72A3-C83F-AFFAB7A056FB}"/>
              </a:ext>
            </a:extLst>
          </p:cNvPr>
          <p:cNvSpPr/>
          <p:nvPr/>
        </p:nvSpPr>
        <p:spPr>
          <a:xfrm>
            <a:off x="8382000" y="5025103"/>
            <a:ext cx="2011014" cy="1056918"/>
          </a:xfrm>
          <a:custGeom>
            <a:avLst/>
            <a:gdLst/>
            <a:ahLst/>
            <a:cxnLst/>
            <a:rect l="l" t="t" r="r" b="b"/>
            <a:pathLst>
              <a:path w="1601390" h="960834" extrusionOk="0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rgbClr val="1D99D8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algn="ctr" rtl="0">
              <a:lnSpc>
                <a:spcPct val="90000"/>
              </a:lnSpc>
            </a:pPr>
            <a:r>
              <a:rPr lang="en-US"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Recursively Make New Decision Tree Nodes</a:t>
            </a:r>
            <a:endParaRPr dirty="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7" name="Google Shape;1276;p121">
            <a:extLst>
              <a:ext uri="{FF2B5EF4-FFF2-40B4-BE49-F238E27FC236}">
                <a16:creationId xmlns:a16="http://schemas.microsoft.com/office/drawing/2014/main" id="{CA80C913-1FF8-1C14-E66D-4DFF9F2C35E3}"/>
              </a:ext>
            </a:extLst>
          </p:cNvPr>
          <p:cNvSpPr/>
          <p:nvPr/>
        </p:nvSpPr>
        <p:spPr>
          <a:xfrm>
            <a:off x="5789539" y="5025103"/>
            <a:ext cx="1601390" cy="1056918"/>
          </a:xfrm>
          <a:custGeom>
            <a:avLst/>
            <a:gdLst/>
            <a:ahLst/>
            <a:cxnLst/>
            <a:rect l="l" t="t" r="r" b="b"/>
            <a:pathLst>
              <a:path w="1601390" h="960834" extrusionOk="0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rgbClr val="1D99D8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Make a Decision Tree Node</a:t>
            </a:r>
            <a:endParaRPr dirty="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  <p:sp>
        <p:nvSpPr>
          <p:cNvPr id="8" name="Google Shape;1277;p121">
            <a:extLst>
              <a:ext uri="{FF2B5EF4-FFF2-40B4-BE49-F238E27FC236}">
                <a16:creationId xmlns:a16="http://schemas.microsoft.com/office/drawing/2014/main" id="{D9BDE65A-77FC-514F-EF15-C84E9A0B52D7}"/>
              </a:ext>
            </a:extLst>
          </p:cNvPr>
          <p:cNvSpPr/>
          <p:nvPr/>
        </p:nvSpPr>
        <p:spPr>
          <a:xfrm rot="10800000">
            <a:off x="7614356" y="5277973"/>
            <a:ext cx="339494" cy="436859"/>
          </a:xfrm>
          <a:custGeom>
            <a:avLst/>
            <a:gdLst/>
            <a:ahLst/>
            <a:cxnLst/>
            <a:rect l="l" t="t" r="r" b="b"/>
            <a:pathLst>
              <a:path w="339494" h="397144" extrusionOk="0">
                <a:moveTo>
                  <a:pt x="339494" y="317715"/>
                </a:moveTo>
                <a:lnTo>
                  <a:pt x="169747" y="317715"/>
                </a:lnTo>
                <a:lnTo>
                  <a:pt x="169747" y="397144"/>
                </a:lnTo>
                <a:lnTo>
                  <a:pt x="0" y="198572"/>
                </a:lnTo>
                <a:lnTo>
                  <a:pt x="169747" y="0"/>
                </a:lnTo>
                <a:lnTo>
                  <a:pt x="169747" y="79429"/>
                </a:lnTo>
                <a:lnTo>
                  <a:pt x="339494" y="79429"/>
                </a:lnTo>
                <a:lnTo>
                  <a:pt x="339494" y="317715"/>
                </a:lnTo>
                <a:close/>
              </a:path>
            </a:pathLst>
          </a:custGeom>
          <a:solidFill>
            <a:srgbClr val="A9C9E9"/>
          </a:solidFill>
          <a:ln>
            <a:noFill/>
          </a:ln>
        </p:spPr>
        <p:txBody>
          <a:bodyPr spcFirstLastPara="1" wrap="square" lIns="101825" tIns="79425" rIns="0" bIns="79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" name="Google Shape;1275;p121">
            <a:extLst>
              <a:ext uri="{FF2B5EF4-FFF2-40B4-BE49-F238E27FC236}">
                <a16:creationId xmlns:a16="http://schemas.microsoft.com/office/drawing/2014/main" id="{4FB358B8-E9E3-4B49-5764-227650699333}"/>
              </a:ext>
            </a:extLst>
          </p:cNvPr>
          <p:cNvSpPr/>
          <p:nvPr/>
        </p:nvSpPr>
        <p:spPr>
          <a:xfrm rot="16200000">
            <a:off x="5231616" y="5383813"/>
            <a:ext cx="436859" cy="339494"/>
          </a:xfrm>
          <a:custGeom>
            <a:avLst/>
            <a:gdLst/>
            <a:ahLst/>
            <a:cxnLst/>
            <a:rect l="l" t="t" r="r" b="b"/>
            <a:pathLst>
              <a:path w="339494" h="397144" extrusionOk="0">
                <a:moveTo>
                  <a:pt x="271595" y="0"/>
                </a:moveTo>
                <a:lnTo>
                  <a:pt x="271595" y="198572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0" y="198572"/>
                </a:lnTo>
                <a:lnTo>
                  <a:pt x="67899" y="198572"/>
                </a:lnTo>
                <a:lnTo>
                  <a:pt x="67899" y="0"/>
                </a:lnTo>
                <a:lnTo>
                  <a:pt x="271595" y="0"/>
                </a:lnTo>
                <a:close/>
              </a:path>
            </a:pathLst>
          </a:custGeom>
          <a:solidFill>
            <a:srgbClr val="A9C9E9"/>
          </a:solidFill>
          <a:ln>
            <a:noFill/>
          </a:ln>
        </p:spPr>
        <p:txBody>
          <a:bodyPr spcFirstLastPara="1" wrap="square" lIns="79425" tIns="0" rIns="79425" bIns="1018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" name="Google Shape;1272;p121">
            <a:extLst>
              <a:ext uri="{FF2B5EF4-FFF2-40B4-BE49-F238E27FC236}">
                <a16:creationId xmlns:a16="http://schemas.microsoft.com/office/drawing/2014/main" id="{C6C0393C-2AB9-F7F4-13EB-3383FFAEFA6F}"/>
              </a:ext>
            </a:extLst>
          </p:cNvPr>
          <p:cNvSpPr/>
          <p:nvPr/>
        </p:nvSpPr>
        <p:spPr>
          <a:xfrm>
            <a:off x="685800" y="4967944"/>
            <a:ext cx="1601390" cy="1056918"/>
          </a:xfrm>
          <a:custGeom>
            <a:avLst/>
            <a:gdLst/>
            <a:ahLst/>
            <a:cxnLst/>
            <a:rect l="l" t="t" r="r" b="b"/>
            <a:pathLst>
              <a:path w="1601390" h="960834" extrusionOk="0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rgbClr val="1D99D8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Identify the Best Attribute</a:t>
            </a:r>
            <a:endParaRPr sz="2000" dirty="0">
              <a:latin typeface="PT Serif" panose="020A0603040505020204" pitchFamily="18" charset="0"/>
            </a:endParaRPr>
          </a:p>
        </p:txBody>
      </p:sp>
      <p:sp>
        <p:nvSpPr>
          <p:cNvPr id="11" name="Google Shape;1273;p121">
            <a:extLst>
              <a:ext uri="{FF2B5EF4-FFF2-40B4-BE49-F238E27FC236}">
                <a16:creationId xmlns:a16="http://schemas.microsoft.com/office/drawing/2014/main" id="{61A5A790-3038-AA1C-64FF-B68924275C26}"/>
              </a:ext>
            </a:extLst>
          </p:cNvPr>
          <p:cNvSpPr/>
          <p:nvPr/>
        </p:nvSpPr>
        <p:spPr>
          <a:xfrm>
            <a:off x="2690785" y="5335132"/>
            <a:ext cx="339494" cy="436859"/>
          </a:xfrm>
          <a:custGeom>
            <a:avLst/>
            <a:gdLst/>
            <a:ahLst/>
            <a:cxnLst/>
            <a:rect l="l" t="t" r="r" b="b"/>
            <a:pathLst>
              <a:path w="339494" h="397144" extrusionOk="0">
                <a:moveTo>
                  <a:pt x="0" y="79429"/>
                </a:moveTo>
                <a:lnTo>
                  <a:pt x="169747" y="79429"/>
                </a:lnTo>
                <a:lnTo>
                  <a:pt x="169747" y="0"/>
                </a:lnTo>
                <a:lnTo>
                  <a:pt x="339494" y="198572"/>
                </a:lnTo>
                <a:lnTo>
                  <a:pt x="169747" y="397144"/>
                </a:lnTo>
                <a:lnTo>
                  <a:pt x="169747" y="317715"/>
                </a:lnTo>
                <a:lnTo>
                  <a:pt x="0" y="317715"/>
                </a:lnTo>
                <a:lnTo>
                  <a:pt x="0" y="79429"/>
                </a:lnTo>
                <a:close/>
              </a:path>
            </a:pathLst>
          </a:custGeom>
          <a:solidFill>
            <a:srgbClr val="A9C9E9"/>
          </a:solidFill>
          <a:ln>
            <a:noFill/>
          </a:ln>
        </p:spPr>
        <p:txBody>
          <a:bodyPr spcFirstLastPara="1" wrap="square" lIns="0" tIns="79425" rIns="101825" bIns="79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" name="Google Shape;1274;p121">
            <a:extLst>
              <a:ext uri="{FF2B5EF4-FFF2-40B4-BE49-F238E27FC236}">
                <a16:creationId xmlns:a16="http://schemas.microsoft.com/office/drawing/2014/main" id="{2249E5B5-0D37-6B74-70A9-1236A620E883}"/>
              </a:ext>
            </a:extLst>
          </p:cNvPr>
          <p:cNvSpPr/>
          <p:nvPr/>
        </p:nvSpPr>
        <p:spPr>
          <a:xfrm>
            <a:off x="3439467" y="4980321"/>
            <a:ext cx="1601390" cy="1056918"/>
          </a:xfrm>
          <a:custGeom>
            <a:avLst/>
            <a:gdLst/>
            <a:ahLst/>
            <a:cxnLst/>
            <a:rect l="l" t="t" r="r" b="b"/>
            <a:pathLst>
              <a:path w="1601390" h="960834" extrusionOk="0">
                <a:moveTo>
                  <a:pt x="0" y="96083"/>
                </a:moveTo>
                <a:cubicBezTo>
                  <a:pt x="0" y="43018"/>
                  <a:pt x="43018" y="0"/>
                  <a:pt x="96083" y="0"/>
                </a:cubicBezTo>
                <a:lnTo>
                  <a:pt x="1505307" y="0"/>
                </a:lnTo>
                <a:cubicBezTo>
                  <a:pt x="1558372" y="0"/>
                  <a:pt x="1601390" y="43018"/>
                  <a:pt x="1601390" y="96083"/>
                </a:cubicBezTo>
                <a:lnTo>
                  <a:pt x="1601390" y="864751"/>
                </a:lnTo>
                <a:cubicBezTo>
                  <a:pt x="1601390" y="917816"/>
                  <a:pt x="1558372" y="960834"/>
                  <a:pt x="1505307" y="960834"/>
                </a:cubicBezTo>
                <a:lnTo>
                  <a:pt x="96083" y="960834"/>
                </a:lnTo>
                <a:cubicBezTo>
                  <a:pt x="43018" y="960834"/>
                  <a:pt x="0" y="917816"/>
                  <a:pt x="0" y="864751"/>
                </a:cubicBezTo>
                <a:lnTo>
                  <a:pt x="0" y="96083"/>
                </a:lnTo>
                <a:close/>
              </a:path>
            </a:pathLst>
          </a:custGeom>
          <a:solidFill>
            <a:srgbClr val="1D99D8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475" tIns="81475" rIns="81475" bIns="81475" anchor="ctr" anchorCtr="0">
            <a:noAutofit/>
          </a:bodyPr>
          <a:lstStyle/>
          <a:p>
            <a:pPr algn="ctr" rtl="0">
              <a:lnSpc>
                <a:spcPct val="90000"/>
              </a:lnSpc>
            </a:pPr>
            <a:r>
              <a:rPr lang="en-US"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Split the Data Set into Subsets</a:t>
            </a:r>
            <a:endParaRPr dirty="0">
              <a:solidFill>
                <a:schemeClr val="lt1"/>
              </a:solidFill>
              <a:latin typeface="PT Serif" panose="020A0603040505020204" pitchFamily="18" charset="0"/>
              <a:ea typeface="Open Sans Light"/>
              <a:cs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6212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62E1-ABDE-2368-694B-D699454D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Concept of Entropy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0E806-0306-D3E7-5A11-7F327C43EE74}"/>
              </a:ext>
            </a:extLst>
          </p:cNvPr>
          <p:cNvSpPr txBox="1"/>
          <p:nvPr/>
        </p:nvSpPr>
        <p:spPr>
          <a:xfrm>
            <a:off x="838200" y="1143000"/>
            <a:ext cx="13258800" cy="528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Entropy</a:t>
            </a:r>
            <a:r>
              <a:rPr lang="en-US" sz="19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measures the homogeneity of a sample. It is used as a parameter for checking the amount of uncertainty associated with a set of probabilities.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endParaRPr lang="en-US" sz="1900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Entropy lies between 0 and 1 for binary classification problem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If the sample is completely homogeneous the entropy is 0 and if the sample is equally divided it has entropy of 1</a:t>
            </a:r>
          </a:p>
          <a:p>
            <a:pPr marL="285750" marR="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Entropy can be of two types, </a:t>
            </a: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for each category and at the variable level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endParaRPr lang="en-US" sz="19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Entropy of a category </a:t>
            </a:r>
            <a:r>
              <a:rPr lang="en-US" sz="19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is calculated as: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endParaRPr lang="en-US" sz="1900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Where P1 is the proportion of class 1 and P2 is the proportion of class 2</a:t>
            </a:r>
          </a:p>
          <a:p>
            <a:pPr marL="347663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Google Shape;1287;p122">
            <a:extLst>
              <a:ext uri="{FF2B5EF4-FFF2-40B4-BE49-F238E27FC236}">
                <a16:creationId xmlns:a16="http://schemas.microsoft.com/office/drawing/2014/main" id="{A1E1FA7E-F80B-6D9F-4ECE-08EBE1F8C0E4}"/>
              </a:ext>
            </a:extLst>
          </p:cNvPr>
          <p:cNvSpPr/>
          <p:nvPr/>
        </p:nvSpPr>
        <p:spPr>
          <a:xfrm>
            <a:off x="5372100" y="4724400"/>
            <a:ext cx="4191000" cy="405258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b="-11903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44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F6E1-713C-F4F5-7691-2475970B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35943"/>
            <a:ext cx="13656055" cy="1138773"/>
          </a:xfrm>
        </p:spPr>
        <p:txBody>
          <a:bodyPr/>
          <a:lstStyle/>
          <a:p>
            <a:pPr rtl="0"/>
            <a:r>
              <a:rPr lang="en-US" sz="3600" dirty="0">
                <a:solidFill>
                  <a:schemeClr val="tx1"/>
                </a:solidFill>
              </a:rPr>
              <a:t>Entropy of a Category </a:t>
            </a:r>
            <a:b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61DCF2-3B3F-953F-04A2-ADEA3D662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06842"/>
              </p:ext>
            </p:extLst>
          </p:nvPr>
        </p:nvGraphicFramePr>
        <p:xfrm>
          <a:off x="1524000" y="1138773"/>
          <a:ext cx="10153125" cy="21591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27375">
                  <a:extLst>
                    <a:ext uri="{9D8B030D-6E8A-4147-A177-3AD203B41FA5}">
                      <a16:colId xmlns:a16="http://schemas.microsoft.com/office/drawing/2014/main" val="239851559"/>
                    </a:ext>
                  </a:extLst>
                </a:gridCol>
                <a:gridCol w="1216475">
                  <a:extLst>
                    <a:ext uri="{9D8B030D-6E8A-4147-A177-3AD203B41FA5}">
                      <a16:colId xmlns:a16="http://schemas.microsoft.com/office/drawing/2014/main" val="2888027667"/>
                    </a:ext>
                  </a:extLst>
                </a:gridCol>
                <a:gridCol w="1020650">
                  <a:extLst>
                    <a:ext uri="{9D8B030D-6E8A-4147-A177-3AD203B41FA5}">
                      <a16:colId xmlns:a16="http://schemas.microsoft.com/office/drawing/2014/main" val="1492410328"/>
                    </a:ext>
                  </a:extLst>
                </a:gridCol>
                <a:gridCol w="1424325">
                  <a:extLst>
                    <a:ext uri="{9D8B030D-6E8A-4147-A177-3AD203B41FA5}">
                      <a16:colId xmlns:a16="http://schemas.microsoft.com/office/drawing/2014/main" val="3882570005"/>
                    </a:ext>
                  </a:extLst>
                </a:gridCol>
                <a:gridCol w="2132150">
                  <a:extLst>
                    <a:ext uri="{9D8B030D-6E8A-4147-A177-3AD203B41FA5}">
                      <a16:colId xmlns:a16="http://schemas.microsoft.com/office/drawing/2014/main" val="382257548"/>
                    </a:ext>
                  </a:extLst>
                </a:gridCol>
                <a:gridCol w="2132150">
                  <a:extLst>
                    <a:ext uri="{9D8B030D-6E8A-4147-A177-3AD203B41FA5}">
                      <a16:colId xmlns:a16="http://schemas.microsoft.com/office/drawing/2014/main" val="3879935520"/>
                    </a:ext>
                  </a:extLst>
                </a:gridCol>
              </a:tblGrid>
              <a:tr h="68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City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Brand A Voters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Brand B Voters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Number of Voters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% of votes for Brand A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% of votes for Brand B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247695288"/>
                  </a:ext>
                </a:extLst>
              </a:tr>
              <a:tr h="3324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Manchester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310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400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22.5%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77.5%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219685956"/>
                  </a:ext>
                </a:extLst>
              </a:tr>
              <a:tr h="43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Birmingham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690515631"/>
                  </a:ext>
                </a:extLst>
              </a:tr>
              <a:tr h="43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London</a:t>
                      </a:r>
                      <a:endParaRPr sz="180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200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50%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50%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9014552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6163E1-09E6-CEDB-DFB1-5FAC65CD3361}"/>
              </a:ext>
            </a:extLst>
          </p:cNvPr>
          <p:cNvSpPr txBox="1"/>
          <p:nvPr/>
        </p:nvSpPr>
        <p:spPr>
          <a:xfrm>
            <a:off x="487172" y="586279"/>
            <a:ext cx="14325600" cy="4618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Let us consider survey data from three cities depicting shopper’s preferred brand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Entropy for each city is calculated as: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Manchester: – 0.225 * log₂ (0.225) – 0.775 * log₂ (0.775) = 0.76919</a:t>
            </a:r>
            <a:b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Birmingham: – 0.1 * log₂ (0.1) – 0.9 * log₂ (0.9) = 0.46900</a:t>
            </a:r>
            <a:b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London: – 0.5 * log₂ (0.5) – 0.5 * log₂ (0.5)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0C2CA-E6DB-2FF0-B94B-FCF65B854007}"/>
              </a:ext>
            </a:extLst>
          </p:cNvPr>
          <p:cNvSpPr txBox="1"/>
          <p:nvPr/>
        </p:nvSpPr>
        <p:spPr>
          <a:xfrm>
            <a:off x="487172" y="4955092"/>
            <a:ext cx="13861431" cy="337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</a:rPr>
              <a:t>Entropy at the Variable Level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Entropy at the variable level can be derived by adding weighted averages of all category level entropy values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Weights are the proportion of respondents in each category (here in each city)</a:t>
            </a:r>
            <a:b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In the example under consideration, weights for the categories are</a:t>
            </a:r>
            <a:b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Manchester: 400/700 = 0.5714		Birmingham: 100/700 = 0.1428		London: 200/700 = 0.2857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Entropy at the variable level is	0.57 * 0.76919 + 0.14 * 0.46900 + 0.29 * 1 = 0.79225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</a:t>
            </a: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72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21AB-3306-BCBF-E2BF-5B52906B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38100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Concept of Information Gain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ACC4D1-9B57-E0A8-6652-DA38227B6574}"/>
              </a:ext>
            </a:extLst>
          </p:cNvPr>
          <p:cNvSpPr/>
          <p:nvPr/>
        </p:nvSpPr>
        <p:spPr>
          <a:xfrm>
            <a:off x="3810000" y="3657600"/>
            <a:ext cx="6858000" cy="1752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E34F9-ECE6-7C4C-4F5E-8E61AB30C508}"/>
              </a:ext>
            </a:extLst>
          </p:cNvPr>
          <p:cNvSpPr txBox="1"/>
          <p:nvPr/>
        </p:nvSpPr>
        <p:spPr>
          <a:xfrm>
            <a:off x="762000" y="1600200"/>
            <a:ext cx="11887200" cy="595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Information Gain </a:t>
            </a:r>
            <a:r>
              <a:rPr lang="en-US" sz="19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is based on the decrease in entropy after a dataset is split on an attribute</a:t>
            </a:r>
            <a:endParaRPr lang="en-US" sz="19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Constructing a decision tree is about finding attribute that returns the highest information gain</a:t>
            </a:r>
            <a:endParaRPr lang="en-US" sz="19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Information Gain =  </a:t>
            </a:r>
          </a:p>
          <a:p>
            <a:pPr marL="285750" marR="0" lvl="0" indent="-1841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Entropy of sample (Dependent Variable)</a:t>
            </a:r>
          </a:p>
          <a:p>
            <a:pPr marL="285750" marR="0" lvl="0" indent="-1841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– Average Entropy of Any of the Independent Variable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9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Information gain can be interpreted as ability of reducing the uncertainty (Entropy) and hence increase predictability</a:t>
            </a:r>
            <a:endParaRPr lang="en-US" sz="19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126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23D3-AC2A-51CD-83D8-4A9EF020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4219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Calculation of Information Gain</a:t>
            </a:r>
            <a:endParaRPr lang="en-IN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53DDBE-5217-0407-D09A-7BA8CFB8C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566168"/>
              </p:ext>
            </p:extLst>
          </p:nvPr>
        </p:nvGraphicFramePr>
        <p:xfrm>
          <a:off x="1828800" y="1333191"/>
          <a:ext cx="10439401" cy="20048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44185">
                  <a:extLst>
                    <a:ext uri="{9D8B030D-6E8A-4147-A177-3AD203B41FA5}">
                      <a16:colId xmlns:a16="http://schemas.microsoft.com/office/drawing/2014/main" val="2732838699"/>
                    </a:ext>
                  </a:extLst>
                </a:gridCol>
                <a:gridCol w="1199381">
                  <a:extLst>
                    <a:ext uri="{9D8B030D-6E8A-4147-A177-3AD203B41FA5}">
                      <a16:colId xmlns:a16="http://schemas.microsoft.com/office/drawing/2014/main" val="1385630524"/>
                    </a:ext>
                  </a:extLst>
                </a:gridCol>
                <a:gridCol w="1446741">
                  <a:extLst>
                    <a:ext uri="{9D8B030D-6E8A-4147-A177-3AD203B41FA5}">
                      <a16:colId xmlns:a16="http://schemas.microsoft.com/office/drawing/2014/main" val="2397996423"/>
                    </a:ext>
                  </a:extLst>
                </a:gridCol>
                <a:gridCol w="1764536">
                  <a:extLst>
                    <a:ext uri="{9D8B030D-6E8A-4147-A177-3AD203B41FA5}">
                      <a16:colId xmlns:a16="http://schemas.microsoft.com/office/drawing/2014/main" val="1432947593"/>
                    </a:ext>
                  </a:extLst>
                </a:gridCol>
                <a:gridCol w="2192279">
                  <a:extLst>
                    <a:ext uri="{9D8B030D-6E8A-4147-A177-3AD203B41FA5}">
                      <a16:colId xmlns:a16="http://schemas.microsoft.com/office/drawing/2014/main" val="4031704884"/>
                    </a:ext>
                  </a:extLst>
                </a:gridCol>
                <a:gridCol w="2192279">
                  <a:extLst>
                    <a:ext uri="{9D8B030D-6E8A-4147-A177-3AD203B41FA5}">
                      <a16:colId xmlns:a16="http://schemas.microsoft.com/office/drawing/2014/main" val="2090001668"/>
                    </a:ext>
                  </a:extLst>
                </a:gridCol>
              </a:tblGrid>
              <a:tr h="68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City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Brand A Voters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Brand B Voters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Number of Voters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% of votes for Brand A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% of votes for Brand B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210025590"/>
                  </a:ext>
                </a:extLst>
              </a:tr>
              <a:tr h="43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Manchester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310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400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22.5%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77.5%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623056072"/>
                  </a:ext>
                </a:extLst>
              </a:tr>
              <a:tr h="43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Birmingham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90%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304594763"/>
                  </a:ext>
                </a:extLst>
              </a:tr>
              <a:tr h="439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  <a:sym typeface="Open Sans Light"/>
                        </a:rPr>
                        <a:t>London</a:t>
                      </a:r>
                      <a:endParaRPr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100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200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50%</a:t>
                      </a:r>
                      <a:endParaRPr sz="1800" b="0" i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50%</a:t>
                      </a:r>
                      <a:endParaRPr sz="1800" b="0" i="0" dirty="0">
                        <a:solidFill>
                          <a:schemeClr val="tx1"/>
                        </a:solidFill>
                        <a:latin typeface="PT Serif" panose="020A0603040505020204" pitchFamily="18" charset="0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9101909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CA4131E-917E-96DD-99C5-5BF865FC6764}"/>
              </a:ext>
            </a:extLst>
          </p:cNvPr>
          <p:cNvSpPr txBox="1"/>
          <p:nvPr/>
        </p:nvSpPr>
        <p:spPr>
          <a:xfrm>
            <a:off x="1828800" y="3759652"/>
            <a:ext cx="11734800" cy="327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Entropy for complete sample is calculated as follows:</a:t>
            </a:r>
            <a:b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P1 = (Total Brand A Voters / Total Voters)</a:t>
            </a:r>
            <a:b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P2 = (Total Brand B Voters / Total Voters)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                        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Entropy=−(0.286)∗log⁡</a:t>
            </a:r>
            <a:r>
              <a:rPr lang="en-IN" sz="2000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2</a:t>
            </a: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(0.286)−(0.714)∗log⁡</a:t>
            </a:r>
            <a:r>
              <a:rPr lang="en-IN" sz="2000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2</a:t>
            </a: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(0.714)=0.86312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PT Serif" panose="020A0603040505020204" pitchFamily="18" charset="0"/>
              </a:rPr>
              <a:t>Information Gain: 0.86312−0.79225=0.070868</a:t>
            </a:r>
          </a:p>
        </p:txBody>
      </p:sp>
      <p:cxnSp>
        <p:nvCxnSpPr>
          <p:cNvPr id="8" name="Google Shape;1327;p126">
            <a:extLst>
              <a:ext uri="{FF2B5EF4-FFF2-40B4-BE49-F238E27FC236}">
                <a16:creationId xmlns:a16="http://schemas.microsoft.com/office/drawing/2014/main" id="{0E02969B-F301-FD7D-BB38-AFB90C24A763}"/>
              </a:ext>
            </a:extLst>
          </p:cNvPr>
          <p:cNvCxnSpPr/>
          <p:nvPr/>
        </p:nvCxnSpPr>
        <p:spPr>
          <a:xfrm>
            <a:off x="6778596" y="6475686"/>
            <a:ext cx="0" cy="2134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16978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9E0A-48E9-331C-463D-5FD6FDD0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4981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Information Gain and ID3 Algorithm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61995-35F5-A979-DC90-E665BD492DCB}"/>
              </a:ext>
            </a:extLst>
          </p:cNvPr>
          <p:cNvSpPr txBox="1"/>
          <p:nvPr/>
        </p:nvSpPr>
        <p:spPr>
          <a:xfrm>
            <a:off x="1524000" y="1600200"/>
            <a:ext cx="12268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Let us now go back to the basic ID3 algorithm; Step 1 of which is ‘Identify the Best Attribute’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28594" lvl="0" indent="-111118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28594" lvl="0" indent="-111118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28594" lvl="0" indent="-111118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28594" lvl="0" indent="-111118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28594" lvl="0" indent="-111118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-US" b="1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28594" lvl="0" indent="-228594" algn="l" rtl="0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Information Gain value is used to determine which attribute is the “best” – the attribute with most information gain is chosen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28594" lvl="0" indent="-228594" algn="l" rtl="0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Information gain for a variable is high when that variable has the low entropy at the variable level (Weighted average)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28594" lvl="0" indent="-228594" algn="l" rtl="0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Low entropy for a variable implies the classification based on that attribute is fairly homogenous , hence this attribute is selected as the first best attribute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28594" lvl="0" indent="-228594" algn="l" rtl="0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same process is repeated till all attributes are used as split variables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5" name="Google Shape;1336;p127">
            <a:extLst>
              <a:ext uri="{FF2B5EF4-FFF2-40B4-BE49-F238E27FC236}">
                <a16:creationId xmlns:a16="http://schemas.microsoft.com/office/drawing/2014/main" id="{5B315FB3-E472-2C0D-CAB3-267A020922D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5000" y="2362200"/>
            <a:ext cx="9525000" cy="144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2561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0E04-E460-7D47-081D-6449B20C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37837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CART Algorithm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86EA1-F3B3-2E75-5841-D31C82D6009A}"/>
              </a:ext>
            </a:extLst>
          </p:cNvPr>
          <p:cNvSpPr txBox="1"/>
          <p:nvPr/>
        </p:nvSpPr>
        <p:spPr>
          <a:xfrm>
            <a:off x="1078802" y="1371600"/>
            <a:ext cx="12929996" cy="601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>
                <a:latin typeface="PT Serif" panose="020A0603040505020204" pitchFamily="18" charset="77"/>
              </a:rPr>
              <a:t>The Classification and Regression Tree (CART) algorithm constructs a binary decision tree by repeatedly splitting nodes into two branches.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r>
              <a:rPr lang="en-IN" sz="1900" dirty="0">
                <a:latin typeface="PT Serif" panose="020A0603040505020204" pitchFamily="18" charset="77"/>
              </a:rPr>
              <a:t>The root node contains the entire training dataset, and each node split is univariate, meaning it is determined using the value of a single predictor variable.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r>
              <a:rPr lang="en-IN" sz="1900" dirty="0">
                <a:latin typeface="PT Serif" panose="020A0603040505020204" pitchFamily="18" charset="77"/>
              </a:rPr>
              <a:t>The algorithm proceeds through the following key steps: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>
                <a:latin typeface="PT Serif" panose="020A0603040505020204" pitchFamily="18" charset="77"/>
              </a:rPr>
              <a:t>Select the optimal feature and split point.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>
                <a:latin typeface="PT Serif" panose="020A0603040505020204" pitchFamily="18" charset="77"/>
              </a:rPr>
              <a:t>Divide the dataset into two subgroups based on the split.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IN" sz="1900" dirty="0">
                <a:latin typeface="PT Serif" panose="020A0603040505020204" pitchFamily="18" charset="77"/>
              </a:rPr>
              <a:t>Recursively repeat the splitting process until a stopping rule is reached.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r>
              <a:rPr lang="en-IN" sz="1900" b="1" dirty="0">
                <a:latin typeface="PT Serif" panose="020A0603040505020204" pitchFamily="18" charset="77"/>
              </a:rPr>
              <a:t>For different types of prediction tasks, CART uses different splitting criteria: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r>
              <a:rPr lang="en-IN" sz="1900" dirty="0">
                <a:latin typeface="PT Serif" panose="020A0603040505020204" pitchFamily="18" charset="77"/>
              </a:rPr>
              <a:t>Classification problems: typically use Gini impurity to evaluate splits.</a:t>
            </a:r>
          </a:p>
          <a:p>
            <a:endParaRPr lang="en-IN" sz="1900" dirty="0">
              <a:latin typeface="PT Serif" panose="020A0603040505020204" pitchFamily="18" charset="77"/>
            </a:endParaRPr>
          </a:p>
          <a:p>
            <a:r>
              <a:rPr lang="en-IN" sz="1900" dirty="0">
                <a:latin typeface="PT Serif" panose="020A0603040505020204" pitchFamily="18" charset="77"/>
              </a:rPr>
              <a:t>Regression problems: typically use Mean Squared Error (MSE) to evaluate splits.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5" name="Google Shape;1345;p128">
            <a:extLst>
              <a:ext uri="{FF2B5EF4-FFF2-40B4-BE49-F238E27FC236}">
                <a16:creationId xmlns:a16="http://schemas.microsoft.com/office/drawing/2014/main" id="{F47ECA67-AABB-BA46-4B10-0A3E1720736F}"/>
              </a:ext>
            </a:extLst>
          </p:cNvPr>
          <p:cNvGrpSpPr/>
          <p:nvPr/>
        </p:nvGrpSpPr>
        <p:grpSpPr>
          <a:xfrm>
            <a:off x="7543800" y="3048000"/>
            <a:ext cx="6979776" cy="960835"/>
            <a:chOff x="3558944" y="2147887"/>
            <a:chExt cx="5768410" cy="960834"/>
          </a:xfrm>
        </p:grpSpPr>
        <p:sp>
          <p:nvSpPr>
            <p:cNvPr id="6" name="Google Shape;1346;p128">
              <a:extLst>
                <a:ext uri="{FF2B5EF4-FFF2-40B4-BE49-F238E27FC236}">
                  <a16:creationId xmlns:a16="http://schemas.microsoft.com/office/drawing/2014/main" id="{3835F978-1C19-B8EE-C001-EABC3A38EE83}"/>
                </a:ext>
              </a:extLst>
            </p:cNvPr>
            <p:cNvSpPr/>
            <p:nvPr/>
          </p:nvSpPr>
          <p:spPr>
            <a:xfrm>
              <a:off x="3558944" y="2147887"/>
              <a:ext cx="1601390" cy="960834"/>
            </a:xfrm>
            <a:custGeom>
              <a:avLst/>
              <a:gdLst/>
              <a:ahLst/>
              <a:cxnLst/>
              <a:rect l="l" t="t" r="r" b="b"/>
              <a:pathLst>
                <a:path w="1601390" h="960834" extrusionOk="0">
                  <a:moveTo>
                    <a:pt x="0" y="96083"/>
                  </a:moveTo>
                  <a:cubicBezTo>
                    <a:pt x="0" y="43018"/>
                    <a:pt x="43018" y="0"/>
                    <a:pt x="96083" y="0"/>
                  </a:cubicBezTo>
                  <a:lnTo>
                    <a:pt x="1505307" y="0"/>
                  </a:lnTo>
                  <a:cubicBezTo>
                    <a:pt x="1558372" y="0"/>
                    <a:pt x="1601390" y="43018"/>
                    <a:pt x="1601390" y="96083"/>
                  </a:cubicBezTo>
                  <a:lnTo>
                    <a:pt x="1601390" y="864751"/>
                  </a:lnTo>
                  <a:cubicBezTo>
                    <a:pt x="1601390" y="917816"/>
                    <a:pt x="1558372" y="960834"/>
                    <a:pt x="1505307" y="960834"/>
                  </a:cubicBezTo>
                  <a:lnTo>
                    <a:pt x="96083" y="960834"/>
                  </a:lnTo>
                  <a:cubicBezTo>
                    <a:pt x="43018" y="960834"/>
                    <a:pt x="0" y="917816"/>
                    <a:pt x="0" y="864751"/>
                  </a:cubicBezTo>
                  <a:lnTo>
                    <a:pt x="0" y="96083"/>
                  </a:lnTo>
                  <a:close/>
                </a:path>
              </a:pathLst>
            </a:custGeom>
            <a:solidFill>
              <a:srgbClr val="1D99D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75" tIns="81475" rIns="81475" bIns="81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Identify Each Predictor’s Best Split</a:t>
              </a:r>
              <a:endParaRPr sz="2000" dirty="0">
                <a:latin typeface="PT Serif" panose="020A0603040505020204" pitchFamily="18" charset="0"/>
              </a:endParaRPr>
            </a:p>
          </p:txBody>
        </p:sp>
        <p:sp>
          <p:nvSpPr>
            <p:cNvPr id="7" name="Google Shape;1347;p128">
              <a:extLst>
                <a:ext uri="{FF2B5EF4-FFF2-40B4-BE49-F238E27FC236}">
                  <a16:creationId xmlns:a16="http://schemas.microsoft.com/office/drawing/2014/main" id="{C7121CBC-9707-1AC1-39E9-633C1817287B}"/>
                </a:ext>
              </a:extLst>
            </p:cNvPr>
            <p:cNvSpPr/>
            <p:nvPr/>
          </p:nvSpPr>
          <p:spPr>
            <a:xfrm>
              <a:off x="5228463" y="2429732"/>
              <a:ext cx="339494" cy="397144"/>
            </a:xfrm>
            <a:custGeom>
              <a:avLst/>
              <a:gdLst/>
              <a:ahLst/>
              <a:cxnLst/>
              <a:rect l="l" t="t" r="r" b="b"/>
              <a:pathLst>
                <a:path w="339494" h="397144" extrusionOk="0">
                  <a:moveTo>
                    <a:pt x="0" y="79429"/>
                  </a:moveTo>
                  <a:lnTo>
                    <a:pt x="169747" y="79429"/>
                  </a:lnTo>
                  <a:lnTo>
                    <a:pt x="169747" y="0"/>
                  </a:lnTo>
                  <a:lnTo>
                    <a:pt x="339494" y="198572"/>
                  </a:lnTo>
                  <a:lnTo>
                    <a:pt x="169747" y="397144"/>
                  </a:lnTo>
                  <a:lnTo>
                    <a:pt x="169747" y="317715"/>
                  </a:lnTo>
                  <a:lnTo>
                    <a:pt x="0" y="317715"/>
                  </a:lnTo>
                  <a:lnTo>
                    <a:pt x="0" y="79429"/>
                  </a:lnTo>
                  <a:close/>
                </a:path>
              </a:pathLst>
            </a:custGeom>
            <a:solidFill>
              <a:srgbClr val="A9C9E9"/>
            </a:solidFill>
            <a:ln>
              <a:noFill/>
            </a:ln>
          </p:spPr>
          <p:txBody>
            <a:bodyPr spcFirstLastPara="1" wrap="square" lIns="0" tIns="79425" rIns="101825" bIns="79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8" name="Google Shape;1348;p128">
              <a:extLst>
                <a:ext uri="{FF2B5EF4-FFF2-40B4-BE49-F238E27FC236}">
                  <a16:creationId xmlns:a16="http://schemas.microsoft.com/office/drawing/2014/main" id="{2A534761-2ACD-341F-6502-158BC1D80557}"/>
                </a:ext>
              </a:extLst>
            </p:cNvPr>
            <p:cNvSpPr/>
            <p:nvPr/>
          </p:nvSpPr>
          <p:spPr>
            <a:xfrm>
              <a:off x="5631655" y="2147887"/>
              <a:ext cx="1601390" cy="960834"/>
            </a:xfrm>
            <a:custGeom>
              <a:avLst/>
              <a:gdLst/>
              <a:ahLst/>
              <a:cxnLst/>
              <a:rect l="l" t="t" r="r" b="b"/>
              <a:pathLst>
                <a:path w="1601390" h="960834" extrusionOk="0">
                  <a:moveTo>
                    <a:pt x="0" y="96083"/>
                  </a:moveTo>
                  <a:cubicBezTo>
                    <a:pt x="0" y="43018"/>
                    <a:pt x="43018" y="0"/>
                    <a:pt x="96083" y="0"/>
                  </a:cubicBezTo>
                  <a:lnTo>
                    <a:pt x="1505307" y="0"/>
                  </a:lnTo>
                  <a:cubicBezTo>
                    <a:pt x="1558372" y="0"/>
                    <a:pt x="1601390" y="43018"/>
                    <a:pt x="1601390" y="96083"/>
                  </a:cubicBezTo>
                  <a:lnTo>
                    <a:pt x="1601390" y="864751"/>
                  </a:lnTo>
                  <a:cubicBezTo>
                    <a:pt x="1601390" y="917816"/>
                    <a:pt x="1558372" y="960834"/>
                    <a:pt x="1505307" y="960834"/>
                  </a:cubicBezTo>
                  <a:lnTo>
                    <a:pt x="96083" y="960834"/>
                  </a:lnTo>
                  <a:cubicBezTo>
                    <a:pt x="43018" y="960834"/>
                    <a:pt x="0" y="917816"/>
                    <a:pt x="0" y="864751"/>
                  </a:cubicBezTo>
                  <a:lnTo>
                    <a:pt x="0" y="96083"/>
                  </a:lnTo>
                  <a:close/>
                </a:path>
              </a:pathLst>
            </a:custGeom>
            <a:solidFill>
              <a:srgbClr val="1D99D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75" tIns="81475" rIns="81475" bIns="81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Find the Node’s Best Split</a:t>
              </a:r>
              <a:endParaRPr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</a:endParaRPr>
            </a:p>
          </p:txBody>
        </p:sp>
        <p:sp>
          <p:nvSpPr>
            <p:cNvPr id="9" name="Google Shape;1349;p128">
              <a:extLst>
                <a:ext uri="{FF2B5EF4-FFF2-40B4-BE49-F238E27FC236}">
                  <a16:creationId xmlns:a16="http://schemas.microsoft.com/office/drawing/2014/main" id="{76A1F0DD-4E52-594D-6C57-4223E1500C27}"/>
                </a:ext>
              </a:extLst>
            </p:cNvPr>
            <p:cNvSpPr/>
            <p:nvPr/>
          </p:nvSpPr>
          <p:spPr>
            <a:xfrm rot="-5400000">
              <a:off x="7302019" y="2458557"/>
              <a:ext cx="397144" cy="339494"/>
            </a:xfrm>
            <a:custGeom>
              <a:avLst/>
              <a:gdLst/>
              <a:ahLst/>
              <a:cxnLst/>
              <a:rect l="l" t="t" r="r" b="b"/>
              <a:pathLst>
                <a:path w="339494" h="397144" extrusionOk="0">
                  <a:moveTo>
                    <a:pt x="271595" y="0"/>
                  </a:moveTo>
                  <a:lnTo>
                    <a:pt x="271595" y="198572"/>
                  </a:lnTo>
                  <a:lnTo>
                    <a:pt x="339494" y="198572"/>
                  </a:lnTo>
                  <a:lnTo>
                    <a:pt x="169747" y="397144"/>
                  </a:lnTo>
                  <a:lnTo>
                    <a:pt x="0" y="198572"/>
                  </a:lnTo>
                  <a:lnTo>
                    <a:pt x="67899" y="198572"/>
                  </a:lnTo>
                  <a:lnTo>
                    <a:pt x="67899" y="0"/>
                  </a:lnTo>
                  <a:lnTo>
                    <a:pt x="271595" y="0"/>
                  </a:lnTo>
                  <a:close/>
                </a:path>
              </a:pathLst>
            </a:custGeom>
            <a:solidFill>
              <a:srgbClr val="A9C9E9"/>
            </a:solidFill>
            <a:ln>
              <a:noFill/>
            </a:ln>
          </p:spPr>
          <p:txBody>
            <a:bodyPr spcFirstLastPara="1" wrap="square" lIns="79425" tIns="0" rIns="79425" bIns="1018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0" name="Google Shape;1350;p128">
              <a:extLst>
                <a:ext uri="{FF2B5EF4-FFF2-40B4-BE49-F238E27FC236}">
                  <a16:creationId xmlns:a16="http://schemas.microsoft.com/office/drawing/2014/main" id="{0C6D64BA-A304-EB6D-98FB-0273AAF15DAD}"/>
                </a:ext>
              </a:extLst>
            </p:cNvPr>
            <p:cNvSpPr/>
            <p:nvPr/>
          </p:nvSpPr>
          <p:spPr>
            <a:xfrm>
              <a:off x="7725964" y="2147887"/>
              <a:ext cx="1601390" cy="960834"/>
            </a:xfrm>
            <a:custGeom>
              <a:avLst/>
              <a:gdLst/>
              <a:ahLst/>
              <a:cxnLst/>
              <a:rect l="l" t="t" r="r" b="b"/>
              <a:pathLst>
                <a:path w="1601390" h="960834" extrusionOk="0">
                  <a:moveTo>
                    <a:pt x="0" y="96083"/>
                  </a:moveTo>
                  <a:cubicBezTo>
                    <a:pt x="0" y="43018"/>
                    <a:pt x="43018" y="0"/>
                    <a:pt x="96083" y="0"/>
                  </a:cubicBezTo>
                  <a:lnTo>
                    <a:pt x="1505307" y="0"/>
                  </a:lnTo>
                  <a:cubicBezTo>
                    <a:pt x="1558372" y="0"/>
                    <a:pt x="1601390" y="43018"/>
                    <a:pt x="1601390" y="96083"/>
                  </a:cubicBezTo>
                  <a:lnTo>
                    <a:pt x="1601390" y="864751"/>
                  </a:lnTo>
                  <a:cubicBezTo>
                    <a:pt x="1601390" y="917816"/>
                    <a:pt x="1558372" y="960834"/>
                    <a:pt x="1505307" y="960834"/>
                  </a:cubicBezTo>
                  <a:lnTo>
                    <a:pt x="96083" y="960834"/>
                  </a:lnTo>
                  <a:cubicBezTo>
                    <a:pt x="43018" y="960834"/>
                    <a:pt x="0" y="917816"/>
                    <a:pt x="0" y="864751"/>
                  </a:cubicBezTo>
                  <a:lnTo>
                    <a:pt x="0" y="96083"/>
                  </a:lnTo>
                  <a:close/>
                </a:path>
              </a:pathLst>
            </a:custGeom>
            <a:solidFill>
              <a:srgbClr val="1D99D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75" tIns="81475" rIns="81475" bIns="81475" anchor="ctr" anchorCtr="0">
              <a:noAutofit/>
            </a:bodyPr>
            <a:lstStyle/>
            <a:p>
              <a:pPr algn="ctr" rtl="0">
                <a:lnSpc>
                  <a:spcPct val="90000"/>
                </a:lnSpc>
              </a:pPr>
              <a:r>
                <a:rPr lang="en-US" dirty="0">
                  <a:solidFill>
                    <a:schemeClr val="lt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Split the Node</a:t>
              </a:r>
              <a:endParaRPr dirty="0">
                <a:solidFill>
                  <a:schemeClr val="lt1"/>
                </a:solidFill>
                <a:latin typeface="PT Serif" panose="020A0603040505020204" pitchFamily="18" charset="0"/>
                <a:ea typeface="Open Sans Light"/>
                <a:cs typeface="Open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394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DCE4-A378-8065-562A-4EFF7D9E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445" y="68580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Gini Impurity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A51B-9C82-8D5F-2884-E46D7F5FD5F9}"/>
              </a:ext>
            </a:extLst>
          </p:cNvPr>
          <p:cNvSpPr txBox="1"/>
          <p:nvPr/>
        </p:nvSpPr>
        <p:spPr>
          <a:xfrm>
            <a:off x="1524000" y="1688303"/>
            <a:ext cx="11734800" cy="503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Gini Impurity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is a measure of how often a randomly chosen element from the set would be incorrectly labeled if it was randomly labeled according to the distribution of labels in the subset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1828754" marR="0" lvl="3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where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1828754" marR="0" lvl="3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p(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i|t</a:t>
            </a: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)     :     Fraction of records belonging to class </a:t>
            </a:r>
            <a:r>
              <a:rPr lang="en-US" b="0" i="0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</a:t>
            </a: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at node t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It reaches its minimum (zero) when all cases in the node fall into a single target category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Attribute with the smaller Gini Impurity is considered for the split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Google Shape;1359;p129">
            <a:extLst>
              <a:ext uri="{FF2B5EF4-FFF2-40B4-BE49-F238E27FC236}">
                <a16:creationId xmlns:a16="http://schemas.microsoft.com/office/drawing/2014/main" id="{563A16D4-EDFC-4A02-5CE7-B3C5CE1D7DC0}"/>
              </a:ext>
            </a:extLst>
          </p:cNvPr>
          <p:cNvSpPr/>
          <p:nvPr/>
        </p:nvSpPr>
        <p:spPr>
          <a:xfrm>
            <a:off x="4495800" y="2899360"/>
            <a:ext cx="3742808" cy="1215440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t="-90716" b="-142261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23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9F6A-4087-F3D9-BB02-2FA9510F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/>
              <a:t>Python: Classification Tree Using Information Gain</a:t>
            </a:r>
            <a:endParaRPr lang="en-IN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3DA347-BF9F-27CB-EC57-4AFF457F973E}"/>
              </a:ext>
            </a:extLst>
          </p:cNvPr>
          <p:cNvSpPr/>
          <p:nvPr/>
        </p:nvSpPr>
        <p:spPr>
          <a:xfrm>
            <a:off x="838200" y="2590800"/>
            <a:ext cx="6324600" cy="1219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32137-CE7A-E09A-0169-D6B4F3896BF1}"/>
              </a:ext>
            </a:extLst>
          </p:cNvPr>
          <p:cNvSpPr txBox="1"/>
          <p:nvPr/>
        </p:nvSpPr>
        <p:spPr>
          <a:xfrm>
            <a:off x="1017777" y="1568561"/>
            <a:ext cx="13106400" cy="309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ts val="1200"/>
            </a:pPr>
            <a:r>
              <a:rPr lang="en-US" sz="2400" dirty="0">
                <a:solidFill>
                  <a:schemeClr val="dk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Classification Tree Using Information Gain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dirty="0">
              <a:solidFill>
                <a:srgbClr val="3F3F3F"/>
              </a:solidFill>
              <a:latin typeface="PT Serif" panose="020A0603040505020204" pitchFamily="18" charset="0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dirty="0">
                <a:solidFill>
                  <a:srgbClr val="3F3F3F"/>
                </a:solidFill>
                <a:latin typeface="PT Serif" panose="020A0603040505020204" pitchFamily="18" charset="0"/>
                <a:sym typeface="Consolas"/>
              </a:rPr>
              <a:t>dtcl = DecisionTreeClassifier(criterion='entropy', </a:t>
            </a:r>
            <a:endParaRPr lang="en-US" dirty="0">
              <a:solidFill>
                <a:srgbClr val="3F3F3F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dirty="0">
                <a:solidFill>
                  <a:srgbClr val="3F3F3F"/>
                </a:solidFill>
                <a:latin typeface="PT Serif" panose="020A0603040505020204" pitchFamily="18" charset="0"/>
                <a:sym typeface="Consolas"/>
              </a:rPr>
              <a:t>                             min_samples_split= int(len(X_train)*.10))</a:t>
            </a:r>
            <a:endParaRPr lang="en-US" dirty="0">
              <a:solidFill>
                <a:srgbClr val="3F3F3F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dirty="0" err="1">
                <a:solidFill>
                  <a:srgbClr val="3F3F3F"/>
                </a:solidFill>
                <a:latin typeface="PT Serif" panose="020A0603040505020204" pitchFamily="18" charset="0"/>
                <a:sym typeface="Consolas"/>
              </a:rPr>
              <a:t>dtcl.fit</a:t>
            </a:r>
            <a:r>
              <a:rPr lang="en-US" dirty="0">
                <a:solidFill>
                  <a:srgbClr val="3F3F3F"/>
                </a:solidFill>
                <a:latin typeface="PT Serif" panose="020A0603040505020204" pitchFamily="18" charset="0"/>
                <a:sym typeface="Consolas"/>
              </a:rPr>
              <a:t>(X_train, y_train)</a:t>
            </a:r>
            <a:endParaRPr lang="en-US" dirty="0">
              <a:solidFill>
                <a:srgbClr val="3F3F3F"/>
              </a:solidFill>
              <a:latin typeface="PT Serif" panose="020A0603040505020204" pitchFamily="18" charset="0"/>
            </a:endParaRPr>
          </a:p>
          <a:p>
            <a:pPr marL="338658" indent="-330192">
              <a:lnSpc>
                <a:spcPct val="150000"/>
              </a:lnSpc>
              <a:buClr>
                <a:srgbClr val="3F3F3F"/>
              </a:buClr>
              <a:buSzPts val="900"/>
              <a:buFont typeface="Noto Sans Symbols"/>
              <a:buChar char="❑"/>
            </a:pPr>
            <a:endParaRPr lang="en-US" b="1" dirty="0">
              <a:solidFill>
                <a:srgbClr val="3F3F3F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  <a:buSzPts val="1200"/>
            </a:pPr>
            <a:endParaRPr lang="en-US" dirty="0">
              <a:latin typeface="PT Serif" panose="020A0603040505020204" pitchFamily="18" charset="0"/>
            </a:endParaRPr>
          </a:p>
        </p:txBody>
      </p:sp>
      <p:grpSp>
        <p:nvGrpSpPr>
          <p:cNvPr id="5" name="Google Shape;1489;p128">
            <a:extLst>
              <a:ext uri="{FF2B5EF4-FFF2-40B4-BE49-F238E27FC236}">
                <a16:creationId xmlns:a16="http://schemas.microsoft.com/office/drawing/2014/main" id="{42D14F55-783F-E297-EA9C-7EB5C453C44D}"/>
              </a:ext>
            </a:extLst>
          </p:cNvPr>
          <p:cNvGrpSpPr/>
          <p:nvPr/>
        </p:nvGrpSpPr>
        <p:grpSpPr>
          <a:xfrm>
            <a:off x="3783126" y="1854396"/>
            <a:ext cx="9970974" cy="3911208"/>
            <a:chOff x="-284330" y="2345905"/>
            <a:chExt cx="9558345" cy="2407658"/>
          </a:xfrm>
        </p:grpSpPr>
        <p:sp>
          <p:nvSpPr>
            <p:cNvPr id="7" name="Google Shape;1490;p128">
              <a:extLst>
                <a:ext uri="{FF2B5EF4-FFF2-40B4-BE49-F238E27FC236}">
                  <a16:creationId xmlns:a16="http://schemas.microsoft.com/office/drawing/2014/main" id="{B6C599F0-A74E-9695-B005-2E9EA3B67C21}"/>
                </a:ext>
              </a:extLst>
            </p:cNvPr>
            <p:cNvSpPr/>
            <p:nvPr/>
          </p:nvSpPr>
          <p:spPr>
            <a:xfrm>
              <a:off x="3649615" y="2345905"/>
              <a:ext cx="5624400" cy="240765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38658" indent="-330192">
                <a:lnSpc>
                  <a:spcPct val="150000"/>
                </a:lnSpc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</a:rPr>
                <a:t>DecisionTreeClassifier()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 from sklearn.tree fits a classification tree. </a:t>
              </a:r>
            </a:p>
            <a:p>
              <a:pPr marL="338658" indent="-330192">
                <a:lnSpc>
                  <a:spcPct val="150000"/>
                </a:lnSpc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</a:rPr>
                <a:t>criterion=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 ‘entropy’ specifies the function to measure the split. Default is ‘gini’ for Gini impurity. ‘entropy’ stands for information gain. </a:t>
              </a:r>
            </a:p>
            <a:p>
              <a:pPr marL="338658" indent="-330192">
                <a:lnSpc>
                  <a:spcPct val="150000"/>
                </a:lnSpc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</a:rPr>
                <a:t>min_samples_split=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 minimum number of samples required to split an internal node. This number is set to be 10% of the sample size. </a:t>
              </a:r>
            </a:p>
            <a:p>
              <a:pPr marL="338658" indent="-330192">
                <a:lnSpc>
                  <a:spcPct val="150000"/>
                </a:lnSpc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The output displays model specifications.</a:t>
              </a:r>
            </a:p>
          </p:txBody>
        </p:sp>
        <p:cxnSp>
          <p:nvCxnSpPr>
            <p:cNvPr id="8" name="Google Shape;1491;p128">
              <a:extLst>
                <a:ext uri="{FF2B5EF4-FFF2-40B4-BE49-F238E27FC236}">
                  <a16:creationId xmlns:a16="http://schemas.microsoft.com/office/drawing/2014/main" id="{6E252BD7-D3BB-810C-5BAD-28D7F2190D29}"/>
                </a:ext>
              </a:extLst>
            </p:cNvPr>
            <p:cNvCxnSpPr>
              <a:cxnSpLocks/>
            </p:cNvCxnSpPr>
            <p:nvPr/>
          </p:nvCxnSpPr>
          <p:spPr>
            <a:xfrm>
              <a:off x="-284330" y="2620011"/>
              <a:ext cx="0" cy="187628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" name="Google Shape;1492;p128">
              <a:extLst>
                <a:ext uri="{FF2B5EF4-FFF2-40B4-BE49-F238E27FC236}">
                  <a16:creationId xmlns:a16="http://schemas.microsoft.com/office/drawing/2014/main" id="{4A550E37-6F32-D0C6-BA0D-4CD739371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4330" y="2620011"/>
              <a:ext cx="3933947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31625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9A2D-E2A7-9C39-E41A-F303A1BB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Classification Tree in Python – Prediction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A7486D-521B-1A88-59ED-B030540F2C38}"/>
              </a:ext>
            </a:extLst>
          </p:cNvPr>
          <p:cNvSpPr/>
          <p:nvPr/>
        </p:nvSpPr>
        <p:spPr>
          <a:xfrm>
            <a:off x="1447800" y="2362200"/>
            <a:ext cx="6019800" cy="1752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BB137-C382-F769-6CE0-5D19522154F8}"/>
              </a:ext>
            </a:extLst>
          </p:cNvPr>
          <p:cNvSpPr txBox="1"/>
          <p:nvPr/>
        </p:nvSpPr>
        <p:spPr>
          <a:xfrm>
            <a:off x="1523999" y="1781353"/>
            <a:ext cx="1158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Generating Predictions for the model</a:t>
            </a:r>
          </a:p>
          <a:p>
            <a:pP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y_pred = </a:t>
            </a:r>
            <a:r>
              <a:rPr lang="en-US" b="0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dtcl</a:t>
            </a:r>
            <a:r>
              <a:rPr lang="en-US" b="1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.predict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(X_test)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y_pred_probs = </a:t>
            </a:r>
            <a:r>
              <a:rPr lang="en-US" b="0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dtcl</a:t>
            </a:r>
            <a:r>
              <a:rPr lang="en-US" b="1" u="none" strike="noStrike" cap="none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.predict_proba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(X_test) 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b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cutoff = 0.3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pred_test = 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np.where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(y_pred_probs[:,1] &gt; cutoff, 1, 0)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pred_test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>
              <a:buSzPts val="1200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Output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6" name="Google Shape;1228;p118">
            <a:extLst>
              <a:ext uri="{FF2B5EF4-FFF2-40B4-BE49-F238E27FC236}">
                <a16:creationId xmlns:a16="http://schemas.microsoft.com/office/drawing/2014/main" id="{255E90BD-72C8-066D-8486-FE6BF6E93A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2103"/>
          <a:stretch/>
        </p:blipFill>
        <p:spPr>
          <a:xfrm>
            <a:off x="1523999" y="4920674"/>
            <a:ext cx="8839200" cy="271945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33558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18F398-78EB-AD8C-52E0-131D686BA01C}"/>
              </a:ext>
            </a:extLst>
          </p:cNvPr>
          <p:cNvSpPr/>
          <p:nvPr/>
        </p:nvSpPr>
        <p:spPr>
          <a:xfrm>
            <a:off x="1219200" y="3962400"/>
            <a:ext cx="3848315" cy="6155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7AA41-F323-3CCD-4675-512C55E313AC}"/>
              </a:ext>
            </a:extLst>
          </p:cNvPr>
          <p:cNvSpPr/>
          <p:nvPr/>
        </p:nvSpPr>
        <p:spPr>
          <a:xfrm>
            <a:off x="1187570" y="1798500"/>
            <a:ext cx="6280030" cy="10209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23CC0-1ACB-3ADD-C070-CA8F899B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161786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Regression Tree in Python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AC17E-65F8-6465-5EF5-EFEEC7AFB162}"/>
              </a:ext>
            </a:extLst>
          </p:cNvPr>
          <p:cNvSpPr txBox="1"/>
          <p:nvPr/>
        </p:nvSpPr>
        <p:spPr>
          <a:xfrm>
            <a:off x="1409915" y="809971"/>
            <a:ext cx="731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2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Regression Tree Using MSE</a:t>
            </a:r>
          </a:p>
          <a:p>
            <a:pPr>
              <a:buSzPts val="1200"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Consolas"/>
              <a:cs typeface="Consolas"/>
              <a:sym typeface="Consolas"/>
            </a:endParaRPr>
          </a:p>
          <a:p>
            <a:pP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dtreg = 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DecisionTreeRegressor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min_samples_split =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 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int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len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(X_train)*.10))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dtreg.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fit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(X_train, y_train)</a:t>
            </a:r>
          </a:p>
          <a:p>
            <a:pPr algn="l" rtl="0">
              <a:buClr>
                <a:srgbClr val="000000"/>
              </a:buCl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algn="l" rtl="0">
              <a:buClr>
                <a:srgbClr val="000000"/>
              </a:buCl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algn="l" rtl="0"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Predictions</a:t>
            </a:r>
          </a:p>
          <a:p>
            <a:pPr algn="l" rtl="0">
              <a:buClr>
                <a:srgbClr val="000000"/>
              </a:buClr>
              <a:buSzPts val="1200"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y_pred_reg = </a:t>
            </a:r>
            <a:r>
              <a:rPr lang="en-US" b="1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dtreg</a:t>
            </a: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.predict(X_test)</a:t>
            </a: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y_pred_reg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 rtl="0">
              <a:buClr>
                <a:srgbClr val="000000"/>
              </a:buClr>
              <a:buSzPts val="12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Output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 rtl="0">
              <a:buClr>
                <a:srgbClr val="000000"/>
              </a:buCl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en-US" u="none" strike="noStrike" cap="non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buSzPts val="12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8" name="Google Shape;1383;p130">
            <a:extLst>
              <a:ext uri="{FF2B5EF4-FFF2-40B4-BE49-F238E27FC236}">
                <a16:creationId xmlns:a16="http://schemas.microsoft.com/office/drawing/2014/main" id="{F2F3EF12-83B5-B14A-BD4E-9A3AEEA808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27274" y="5257800"/>
            <a:ext cx="8153400" cy="265055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" name="Google Shape;1489;p128">
            <a:extLst>
              <a:ext uri="{FF2B5EF4-FFF2-40B4-BE49-F238E27FC236}">
                <a16:creationId xmlns:a16="http://schemas.microsoft.com/office/drawing/2014/main" id="{8A6AF9C6-6DD3-F5D2-D68A-49D4BB85116F}"/>
              </a:ext>
            </a:extLst>
          </p:cNvPr>
          <p:cNvGrpSpPr/>
          <p:nvPr/>
        </p:nvGrpSpPr>
        <p:grpSpPr>
          <a:xfrm>
            <a:off x="4051911" y="926320"/>
            <a:ext cx="9970974" cy="1780762"/>
            <a:chOff x="-284330" y="2345906"/>
            <a:chExt cx="9558345" cy="1096200"/>
          </a:xfrm>
        </p:grpSpPr>
        <p:sp>
          <p:nvSpPr>
            <p:cNvPr id="13" name="Google Shape;1490;p128">
              <a:extLst>
                <a:ext uri="{FF2B5EF4-FFF2-40B4-BE49-F238E27FC236}">
                  <a16:creationId xmlns:a16="http://schemas.microsoft.com/office/drawing/2014/main" id="{0641BDE7-D31F-81DE-5C10-BC43E28EB7EC}"/>
                </a:ext>
              </a:extLst>
            </p:cNvPr>
            <p:cNvSpPr/>
            <p:nvPr/>
          </p:nvSpPr>
          <p:spPr>
            <a:xfrm>
              <a:off x="3649615" y="2345906"/>
              <a:ext cx="5624400" cy="109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38658" indent="-330192"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</a:rPr>
                <a:t>DecisionTreeRegressor()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 from sklearn.tree fits a regression tree. </a:t>
              </a:r>
            </a:p>
            <a:p>
              <a:pPr marL="338658" indent="-330192"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</a:rPr>
                <a:t>min_samples_split=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 minimum number of samples required to split an internal node. This number is set to be 10% of the sample size. </a:t>
              </a:r>
            </a:p>
            <a:p>
              <a:pPr marL="338658" indent="-330192">
                <a:buClr>
                  <a:srgbClr val="3F3F3F"/>
                </a:buClr>
                <a:buSzPts val="900"/>
                <a:buFont typeface="Noto Sans Symbols"/>
                <a:buChar char="❑"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The output displays model specifications.</a:t>
              </a:r>
            </a:p>
          </p:txBody>
        </p:sp>
        <p:cxnSp>
          <p:nvCxnSpPr>
            <p:cNvPr id="14" name="Google Shape;1491;p128">
              <a:extLst>
                <a:ext uri="{FF2B5EF4-FFF2-40B4-BE49-F238E27FC236}">
                  <a16:creationId xmlns:a16="http://schemas.microsoft.com/office/drawing/2014/main" id="{B2388304-6352-5B79-7DFF-C3CA49470773}"/>
                </a:ext>
              </a:extLst>
            </p:cNvPr>
            <p:cNvCxnSpPr>
              <a:cxnSpLocks/>
            </p:cNvCxnSpPr>
            <p:nvPr/>
          </p:nvCxnSpPr>
          <p:spPr>
            <a:xfrm>
              <a:off x="-284330" y="2620011"/>
              <a:ext cx="0" cy="187628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5" name="Google Shape;1492;p128">
              <a:extLst>
                <a:ext uri="{FF2B5EF4-FFF2-40B4-BE49-F238E27FC236}">
                  <a16:creationId xmlns:a16="http://schemas.microsoft.com/office/drawing/2014/main" id="{F8E4F299-52E0-588D-2A29-6F14A500B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4330" y="2620011"/>
              <a:ext cx="3933947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0" name="Google Shape;1489;p128">
            <a:extLst>
              <a:ext uri="{FF2B5EF4-FFF2-40B4-BE49-F238E27FC236}">
                <a16:creationId xmlns:a16="http://schemas.microsoft.com/office/drawing/2014/main" id="{7C2E3F20-A26C-AE33-5EA0-00C2FAADFC44}"/>
              </a:ext>
            </a:extLst>
          </p:cNvPr>
          <p:cNvGrpSpPr/>
          <p:nvPr/>
        </p:nvGrpSpPr>
        <p:grpSpPr>
          <a:xfrm>
            <a:off x="4051911" y="3379793"/>
            <a:ext cx="9970974" cy="701971"/>
            <a:chOff x="-284330" y="2461887"/>
            <a:chExt cx="9558345" cy="432119"/>
          </a:xfrm>
        </p:grpSpPr>
        <p:sp>
          <p:nvSpPr>
            <p:cNvPr id="21" name="Google Shape;1490;p128">
              <a:extLst>
                <a:ext uri="{FF2B5EF4-FFF2-40B4-BE49-F238E27FC236}">
                  <a16:creationId xmlns:a16="http://schemas.microsoft.com/office/drawing/2014/main" id="{9266CE23-26ED-07E0-1A09-8D4E81D0A7C3}"/>
                </a:ext>
              </a:extLst>
            </p:cNvPr>
            <p:cNvSpPr/>
            <p:nvPr/>
          </p:nvSpPr>
          <p:spPr>
            <a:xfrm>
              <a:off x="3649615" y="2461887"/>
              <a:ext cx="5624400" cy="4321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38658" indent="-330192">
                <a:buClr>
                  <a:srgbClr val="807E84"/>
                </a:buClr>
                <a:buSzPts val="900"/>
                <a:buFont typeface="Noto Sans Symbols"/>
                <a:buChar char="❑"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</a:rPr>
                <a:t>predict() returns predicted regression value for X. Output is an array.</a:t>
              </a:r>
            </a:p>
          </p:txBody>
        </p:sp>
        <p:cxnSp>
          <p:nvCxnSpPr>
            <p:cNvPr id="22" name="Google Shape;1491;p128">
              <a:extLst>
                <a:ext uri="{FF2B5EF4-FFF2-40B4-BE49-F238E27FC236}">
                  <a16:creationId xmlns:a16="http://schemas.microsoft.com/office/drawing/2014/main" id="{D5542188-3EA0-8831-A34A-93FCF34D5785}"/>
                </a:ext>
              </a:extLst>
            </p:cNvPr>
            <p:cNvCxnSpPr>
              <a:cxnSpLocks/>
            </p:cNvCxnSpPr>
            <p:nvPr/>
          </p:nvCxnSpPr>
          <p:spPr>
            <a:xfrm>
              <a:off x="-284330" y="2620011"/>
              <a:ext cx="0" cy="187628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" name="Google Shape;1492;p128">
              <a:extLst>
                <a:ext uri="{FF2B5EF4-FFF2-40B4-BE49-F238E27FC236}">
                  <a16:creationId xmlns:a16="http://schemas.microsoft.com/office/drawing/2014/main" id="{32EEDD0E-8A59-C365-62EB-6AB4CF4B8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84330" y="2620011"/>
              <a:ext cx="3933947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33611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3">
            <a:extLst>
              <a:ext uri="{FF2B5EF4-FFF2-40B4-BE49-F238E27FC236}">
                <a16:creationId xmlns:a16="http://schemas.microsoft.com/office/drawing/2014/main" id="{5EC3BE8B-D3B0-FB22-1AD5-7BB2C3712FB8}"/>
              </a:ext>
            </a:extLst>
          </p:cNvPr>
          <p:cNvGrpSpPr/>
          <p:nvPr/>
        </p:nvGrpSpPr>
        <p:grpSpPr>
          <a:xfrm>
            <a:off x="7388153" y="4419600"/>
            <a:ext cx="6937973" cy="2845906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83955F81-242C-1EB6-6CE5-7D1B19FF459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D7C2D7D6-CDCE-A95D-39E3-5B3C5836E61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514FCC61-189F-D76F-BCCA-E8D18E6A63A1}"/>
              </a:ext>
            </a:extLst>
          </p:cNvPr>
          <p:cNvGrpSpPr/>
          <p:nvPr/>
        </p:nvGrpSpPr>
        <p:grpSpPr>
          <a:xfrm>
            <a:off x="304800" y="4419600"/>
            <a:ext cx="6937973" cy="2845906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D02CCBDA-0AE0-0EAC-BC30-0DC310E864F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E7D94525-E723-ECE9-FC46-4D8FCAE8F41A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EE8A3A4D-EA3A-45A8-68C6-4DDE52DCBD2C}"/>
              </a:ext>
            </a:extLst>
          </p:cNvPr>
          <p:cNvGrpSpPr/>
          <p:nvPr/>
        </p:nvGrpSpPr>
        <p:grpSpPr>
          <a:xfrm>
            <a:off x="7391400" y="1421294"/>
            <a:ext cx="6937973" cy="2845906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45114A5-E543-5498-95BC-9C772AF862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357FAC29-7ABF-6689-1421-8597D8D39FA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BDCF766E-D631-23A9-C7FE-5175C0A42C7F}"/>
              </a:ext>
            </a:extLst>
          </p:cNvPr>
          <p:cNvGrpSpPr/>
          <p:nvPr/>
        </p:nvGrpSpPr>
        <p:grpSpPr>
          <a:xfrm>
            <a:off x="308573" y="1413921"/>
            <a:ext cx="6937973" cy="2845906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0C1C7FC8-A291-5DA9-0533-D1F1DA9786F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AB36C886-694C-C5FE-2BFD-5DD43BDCBFB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D56925-7332-3041-D3B6-F0D34BF4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84940"/>
          </a:xfrm>
        </p:spPr>
        <p:txBody>
          <a:bodyPr/>
          <a:lstStyle/>
          <a:p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Takeaways: Decision Tree Algorithms</a:t>
            </a:r>
            <a:br>
              <a:rPr lang="en-US" sz="40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A488B-42BB-D8E5-ED1B-D400F6CFD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567" y="1371600"/>
            <a:ext cx="6364224" cy="743492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Foundation of Tree-Based Methods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Decision trees break down datasets into smaller subsets, creating a hierarchical structure with decision nodes and leaf nodes. They form the basis for powerful ensemble methods and handle both classification and regression tasks.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Splitting Criteria Drive Performance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Entropy measures uncertainty (0 to 1 scale), while information gain quantifies uncertainty reduction. Gini impurity evaluates split quality by measuring classification error probability at each node.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80287-D488-03E4-8F60-9C91333F0BB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60312" y="1371600"/>
            <a:ext cx="6364224" cy="729642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Two Major Algorithm Families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ID3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uses entropy and information gain to select optimal splits, choosing attributes that maximize predictability.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CART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creates binary trees using Gini impurity for classification and MSE for regression.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DM Sans" pitchFamily="34" charset="-122"/>
              <a:cs typeface="DM Sans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Python Implementation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Use 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DecisionTreeClassifier()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with criterion='entropy' or 'gini', and 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DecisionTreeRegressor()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for continuous outcomes. Set 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ea typeface="Consolas" pitchFamily="34" charset="-122"/>
                <a:cs typeface="Consolas" pitchFamily="34" charset="-120"/>
              </a:rPr>
              <a:t>min_samples_split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to control tree complexity and prevent overfitting.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1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</TotalTime>
  <Words>2124</Words>
  <Application>Microsoft Macintosh PowerPoint</Application>
  <PresentationFormat>Custom</PresentationFormat>
  <Paragraphs>368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Consolas</vt:lpstr>
      <vt:lpstr>DM Sans</vt:lpstr>
      <vt:lpstr>Lucida Sans Unicode</vt:lpstr>
      <vt:lpstr>Noto Sans Symbols</vt:lpstr>
      <vt:lpstr>Open Sans Light</vt:lpstr>
      <vt:lpstr>PT Serif</vt:lpstr>
      <vt:lpstr>PT Serif Light</vt:lpstr>
      <vt:lpstr>Wingdings</vt:lpstr>
      <vt:lpstr>Office Theme</vt:lpstr>
      <vt:lpstr>PowerPoint Presentation</vt:lpstr>
      <vt:lpstr>Contents </vt:lpstr>
      <vt:lpstr>Introduction to Decision Tree</vt:lpstr>
      <vt:lpstr>Decision Tree – Basic Framework</vt:lpstr>
      <vt:lpstr>What is CART ?</vt:lpstr>
      <vt:lpstr>Decision Tree – Basic Components</vt:lpstr>
      <vt:lpstr>Decision Tree – Basic Components</vt:lpstr>
      <vt:lpstr>Binary and Non Binary Trees</vt:lpstr>
      <vt:lpstr>Decision Tree Algorithms</vt:lpstr>
      <vt:lpstr>ID3 Algorithm</vt:lpstr>
      <vt:lpstr>Concept of Entropy</vt:lpstr>
      <vt:lpstr>Entropy of a Category  </vt:lpstr>
      <vt:lpstr>Concept of Information Gain</vt:lpstr>
      <vt:lpstr>Calculation of Information Gain</vt:lpstr>
      <vt:lpstr>Information Gain and ID3 Algorithm</vt:lpstr>
      <vt:lpstr>CART Algorithm</vt:lpstr>
      <vt:lpstr>Gini Impurity</vt:lpstr>
      <vt:lpstr>Python: Classification Tree Using Information Gain</vt:lpstr>
      <vt:lpstr>Classification Tree in Python – Prediction</vt:lpstr>
      <vt:lpstr>Regression Tree in Python</vt:lpstr>
      <vt:lpstr>Key Takeaways: Decision Tree Algorithms 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329</cp:revision>
  <dcterms:created xsi:type="dcterms:W3CDTF">2025-08-01T06:43:07Z</dcterms:created>
  <dcterms:modified xsi:type="dcterms:W3CDTF">2025-12-30T10:33:34Z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