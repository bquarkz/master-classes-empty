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4" r:id="rId2"/>
    <p:sldId id="315" r:id="rId3"/>
    <p:sldId id="300" r:id="rId4"/>
    <p:sldId id="326" r:id="rId5"/>
    <p:sldId id="303" r:id="rId6"/>
    <p:sldId id="327" r:id="rId7"/>
    <p:sldId id="328" r:id="rId8"/>
    <p:sldId id="329" r:id="rId9"/>
    <p:sldId id="316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04" r:id="rId18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>
      <p:cViewPr varScale="1">
        <p:scale>
          <a:sx n="86" d="100"/>
          <a:sy n="86" d="100"/>
        </p:scale>
        <p:origin x="93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30/12/25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05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30/12/25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30/12/25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30/12/25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30/12/25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76536" y="2133600"/>
            <a:ext cx="7058739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Random Forest Method </a:t>
            </a:r>
            <a:endParaRPr lang="en-US" sz="41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95274" y="3048000"/>
            <a:ext cx="8074166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Learn How Ensemble Learning Can be Used in Predictive Problems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5143492-6174-36E0-18E9-2FBBD755D6BB}"/>
              </a:ext>
            </a:extLst>
          </p:cNvPr>
          <p:cNvSpPr/>
          <p:nvPr/>
        </p:nvSpPr>
        <p:spPr>
          <a:xfrm>
            <a:off x="793790" y="343316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sz="3600" dirty="0">
              <a:latin typeface="PT Serif" panose="020A06030405050202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002694D-B466-CB52-F026-1DD37D9F698A}"/>
              </a:ext>
            </a:extLst>
          </p:cNvPr>
          <p:cNvSpPr/>
          <p:nvPr/>
        </p:nvSpPr>
        <p:spPr>
          <a:xfrm>
            <a:off x="793790" y="13923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88AB240-6167-82F2-FA94-63561C77DE0F}"/>
              </a:ext>
            </a:extLst>
          </p:cNvPr>
          <p:cNvSpPr/>
          <p:nvPr/>
        </p:nvSpPr>
        <p:spPr>
          <a:xfrm>
            <a:off x="793790" y="1747420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47D2BD-5CB7-44FE-F117-50B7D5ECB0FD}"/>
              </a:ext>
            </a:extLst>
          </p:cNvPr>
          <p:cNvSpPr/>
          <p:nvPr/>
        </p:nvSpPr>
        <p:spPr>
          <a:xfrm>
            <a:off x="793790" y="1921728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Bootstrapping</a:t>
            </a:r>
            <a:endParaRPr lang="en-US" sz="2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8907FC8-FE83-1F57-EF45-DE3990BD36EF}"/>
              </a:ext>
            </a:extLst>
          </p:cNvPr>
          <p:cNvSpPr/>
          <p:nvPr/>
        </p:nvSpPr>
        <p:spPr>
          <a:xfrm>
            <a:off x="7428548" y="13923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5DF9D55-4CF6-279E-67F3-7A9327F74C86}"/>
              </a:ext>
            </a:extLst>
          </p:cNvPr>
          <p:cNvSpPr/>
          <p:nvPr/>
        </p:nvSpPr>
        <p:spPr>
          <a:xfrm>
            <a:off x="7428548" y="1747420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23EE2F6-2903-5323-369D-43F2EC693158}"/>
              </a:ext>
            </a:extLst>
          </p:cNvPr>
          <p:cNvSpPr/>
          <p:nvPr/>
        </p:nvSpPr>
        <p:spPr>
          <a:xfrm>
            <a:off x="7428548" y="1921728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Bagging</a:t>
            </a:r>
            <a:endParaRPr lang="en-US" sz="2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15DC7FF-35A5-09A2-A7CA-2BFBEA5BBC9A}"/>
              </a:ext>
            </a:extLst>
          </p:cNvPr>
          <p:cNvSpPr/>
          <p:nvPr/>
        </p:nvSpPr>
        <p:spPr>
          <a:xfrm>
            <a:off x="793790" y="269063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7CBFAAF-3BC9-FDF2-B38D-B0ADE87930EB}"/>
              </a:ext>
            </a:extLst>
          </p:cNvPr>
          <p:cNvSpPr/>
          <p:nvPr/>
        </p:nvSpPr>
        <p:spPr>
          <a:xfrm>
            <a:off x="793790" y="304567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C33EF32-FAA8-FB01-4406-5BE8D46EFAEB}"/>
              </a:ext>
            </a:extLst>
          </p:cNvPr>
          <p:cNvSpPr/>
          <p:nvPr/>
        </p:nvSpPr>
        <p:spPr>
          <a:xfrm>
            <a:off x="793790" y="3219985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Random Forest?</a:t>
            </a:r>
            <a:endParaRPr lang="en-US" sz="2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C96BB93-355D-E26B-1140-CEC1B92A537B}"/>
              </a:ext>
            </a:extLst>
          </p:cNvPr>
          <p:cNvSpPr/>
          <p:nvPr/>
        </p:nvSpPr>
        <p:spPr>
          <a:xfrm>
            <a:off x="7428548" y="269063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F82991F-325D-ADFB-D9D5-AC7B66495818}"/>
              </a:ext>
            </a:extLst>
          </p:cNvPr>
          <p:cNvSpPr/>
          <p:nvPr/>
        </p:nvSpPr>
        <p:spPr>
          <a:xfrm>
            <a:off x="7428548" y="304567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45F64FD-AFDF-A78E-E789-4D11DE242238}"/>
              </a:ext>
            </a:extLst>
          </p:cNvPr>
          <p:cNvSpPr/>
          <p:nvPr/>
        </p:nvSpPr>
        <p:spPr>
          <a:xfrm>
            <a:off x="7428548" y="3219985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Random Forest Algorithm Steps</a:t>
            </a:r>
            <a:endParaRPr lang="en-US" sz="2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FE094F3-732C-5F57-AFDC-CE863162C74B}"/>
              </a:ext>
            </a:extLst>
          </p:cNvPr>
          <p:cNvSpPr/>
          <p:nvPr/>
        </p:nvSpPr>
        <p:spPr>
          <a:xfrm>
            <a:off x="793790" y="39888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F3FAA8B-9BD3-5B9E-FDD6-24EB5FC3E4D5}"/>
              </a:ext>
            </a:extLst>
          </p:cNvPr>
          <p:cNvSpPr/>
          <p:nvPr/>
        </p:nvSpPr>
        <p:spPr>
          <a:xfrm>
            <a:off x="793790" y="434393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F2A74C8-BF90-FF05-83B7-CB9D6070B653}"/>
              </a:ext>
            </a:extLst>
          </p:cNvPr>
          <p:cNvSpPr/>
          <p:nvPr/>
        </p:nvSpPr>
        <p:spPr>
          <a:xfrm>
            <a:off x="793790" y="4518243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Out-of-Bag Error </a:t>
            </a:r>
            <a:endParaRPr lang="en-US" sz="24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4C4BACC-CF9D-37A2-37A3-99FCEB85B60D}"/>
              </a:ext>
            </a:extLst>
          </p:cNvPr>
          <p:cNvSpPr/>
          <p:nvPr/>
        </p:nvSpPr>
        <p:spPr>
          <a:xfrm>
            <a:off x="7428548" y="39888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4C9F6E6-0A68-1135-3B56-16D471B6A305}"/>
              </a:ext>
            </a:extLst>
          </p:cNvPr>
          <p:cNvSpPr/>
          <p:nvPr/>
        </p:nvSpPr>
        <p:spPr>
          <a:xfrm>
            <a:off x="7428548" y="434393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59F670C-EC07-FB3D-9D8C-701102A10CB7}"/>
              </a:ext>
            </a:extLst>
          </p:cNvPr>
          <p:cNvSpPr/>
          <p:nvPr/>
        </p:nvSpPr>
        <p:spPr>
          <a:xfrm>
            <a:off x="7428548" y="4513302"/>
            <a:ext cx="5525452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Variable Importance</a:t>
            </a:r>
            <a:endParaRPr lang="en-US" sz="2400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C31067F-3379-E2C1-6ADF-8A82CC0B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520" y="38100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Contents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53E8647-B100-2B02-B05E-7528A05C6189}"/>
              </a:ext>
            </a:extLst>
          </p:cNvPr>
          <p:cNvSpPr/>
          <p:nvPr/>
        </p:nvSpPr>
        <p:spPr>
          <a:xfrm>
            <a:off x="838200" y="51318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11A37E0F-D61F-7707-FF82-59A3408CDA54}"/>
              </a:ext>
            </a:extLst>
          </p:cNvPr>
          <p:cNvSpPr/>
          <p:nvPr/>
        </p:nvSpPr>
        <p:spPr>
          <a:xfrm>
            <a:off x="838200" y="548693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CC1294EB-A511-E3D1-579E-1D0DB12D17BF}"/>
              </a:ext>
            </a:extLst>
          </p:cNvPr>
          <p:cNvSpPr/>
          <p:nvPr/>
        </p:nvSpPr>
        <p:spPr>
          <a:xfrm>
            <a:off x="838200" y="5661243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Predicted Probabilities in Random Forest</a:t>
            </a:r>
            <a:endParaRPr lang="en-US" sz="240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D06643FF-11B7-5518-9724-0AFC5F8C7D44}"/>
              </a:ext>
            </a:extLst>
          </p:cNvPr>
          <p:cNvSpPr/>
          <p:nvPr/>
        </p:nvSpPr>
        <p:spPr>
          <a:xfrm>
            <a:off x="7472958" y="51318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3D85372A-5129-7961-CA24-8B1E4A21B3C7}"/>
              </a:ext>
            </a:extLst>
          </p:cNvPr>
          <p:cNvSpPr/>
          <p:nvPr/>
        </p:nvSpPr>
        <p:spPr>
          <a:xfrm>
            <a:off x="7472958" y="548693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D8807895-6E20-2C25-5F59-B18E5332F3C3}"/>
              </a:ext>
            </a:extLst>
          </p:cNvPr>
          <p:cNvSpPr/>
          <p:nvPr/>
        </p:nvSpPr>
        <p:spPr>
          <a:xfrm>
            <a:off x="7472958" y="5656302"/>
            <a:ext cx="5525452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Functions for Random Forest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102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215" y="182475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Understanding Bootstrapping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80373" y="3171347"/>
            <a:ext cx="4114305" cy="321884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095984" y="3209242"/>
            <a:ext cx="3818573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Historical Origin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Named after the phrase "to pull oneself up by one's bootstraps" - succeeding despite limited resources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61475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33400" y="3124200"/>
            <a:ext cx="4114305" cy="326599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26760" y="3206955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Versatile Application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Especially useful when the sampling distribution of an estimator is not a standard distribution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3124200"/>
            <a:ext cx="4114305" cy="326599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45044" y="3218457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Universal Method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305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Can be applied to any statistical inference problem regardless of complexity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AEFFBA-5297-F553-8E5D-F13038242755}"/>
              </a:ext>
            </a:extLst>
          </p:cNvPr>
          <p:cNvSpPr txBox="1"/>
          <p:nvPr/>
        </p:nvSpPr>
        <p:spPr>
          <a:xfrm>
            <a:off x="498894" y="1668859"/>
            <a:ext cx="13293306" cy="84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Bootstrapping is a powerful statistical method for estimating the sampling distribution of an estimator by resampling with replacement from the original sample.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215" y="182475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Why Bootstrapping Matters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57621" y="1766641"/>
            <a:ext cx="4114305" cy="485123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61475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CDCBEC3-DDFA-C49D-DE40-5F234C79D060}"/>
              </a:ext>
            </a:extLst>
          </p:cNvPr>
          <p:cNvSpPr/>
          <p:nvPr/>
        </p:nvSpPr>
        <p:spPr>
          <a:xfrm>
            <a:off x="9960635" y="1837642"/>
            <a:ext cx="3949609" cy="5020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Computational Advances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 computer processors become faster and more powerful, the time and effort required for bootstrapping decreases to levels where it becomes a viable alternative to standard parametric techniques. </a:t>
            </a:r>
            <a:r>
              <a:rPr lang="en-IN" b="1" dirty="0">
                <a:latin typeface="PT Serif" panose="020A0603040505020204" pitchFamily="18" charset="77"/>
              </a:rPr>
              <a:t>Its use in ML applications has increased, whereas earlier it was limited to inferential problems.</a:t>
            </a:r>
            <a:endParaRPr lang="en-US" sz="2400" b="1" dirty="0">
              <a:latin typeface="PT Serif" panose="020A0603040505020204" pitchFamily="18" charset="77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D46902E-66E8-9E82-A6D2-7DA0B8C90766}"/>
              </a:ext>
            </a:extLst>
          </p:cNvPr>
          <p:cNvSpPr/>
          <p:nvPr/>
        </p:nvSpPr>
        <p:spPr>
          <a:xfrm>
            <a:off x="546339" y="1752599"/>
            <a:ext cx="4114305" cy="486527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901A628-ED73-9D19-147C-B0D34617A74C}"/>
              </a:ext>
            </a:extLst>
          </p:cNvPr>
          <p:cNvSpPr/>
          <p:nvPr/>
        </p:nvSpPr>
        <p:spPr>
          <a:xfrm>
            <a:off x="722447" y="1835355"/>
            <a:ext cx="3713225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Overcoming Normality Assumptions</a:t>
            </a:r>
            <a:endParaRPr lang="en-US" sz="2400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Many conventional statistical methods including correlation, regression, t-tests, and analysis of variance make assumptions about normality. When these assumptions are violated, such methods may fail to provide 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statistically valid inference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B817CBE0-E14B-8BDE-4204-48F1A582839C}"/>
              </a:ext>
            </a:extLst>
          </p:cNvPr>
          <p:cNvSpPr/>
          <p:nvPr/>
        </p:nvSpPr>
        <p:spPr>
          <a:xfrm>
            <a:off x="5253487" y="1752600"/>
            <a:ext cx="4114305" cy="486527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F0BD21E4-B0E4-82FE-16F6-142C72A7E2E4}"/>
              </a:ext>
            </a:extLst>
          </p:cNvPr>
          <p:cNvSpPr/>
          <p:nvPr/>
        </p:nvSpPr>
        <p:spPr>
          <a:xfrm>
            <a:off x="5440731" y="1846857"/>
            <a:ext cx="3604657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Data-Based Simulation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Bootstrapping is steadily becoming more popular as a statistical methodology. It is intended to simplify the 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method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of statistical inferences, sometimes in situations where no analytical answer can be obtained.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9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3301-09DE-CFE4-26E9-8537CB76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Bootstrapping Illustration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0F5C-E85B-4A6F-5252-25E34AFA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658524"/>
            <a:ext cx="5212080" cy="4333430"/>
          </a:xfrm>
        </p:spPr>
        <p:txBody>
          <a:bodyPr/>
          <a:lstStyle/>
          <a:p>
            <a:pPr>
              <a:lnSpc>
                <a:spcPts val="3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Suppose the original sample is:</a:t>
            </a:r>
          </a:p>
          <a:p>
            <a:pPr>
              <a:lnSpc>
                <a:spcPts val="3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</a:t>
            </a:r>
            <a:r>
              <a:rPr lang="en-US" sz="18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12, 23, 11, 29, 34, 38, 41, 45, 6</a:t>
            </a:r>
          </a:p>
          <a:p>
            <a:pPr>
              <a:lnSpc>
                <a:spcPts val="3100"/>
              </a:lnSpc>
            </a:pPr>
            <a:endParaRPr lang="en-US" sz="18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algn="l">
              <a:lnSpc>
                <a:spcPts val="3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Original Median =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29.00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ts val="3100"/>
              </a:lnSpc>
            </a:pPr>
            <a:endParaRPr lang="en-US" sz="1800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algn="l">
              <a:lnSpc>
                <a:spcPts val="3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We draw multiple random samples using bootstrapping to generate a sampling distribution of the sample median. Assuming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B=1000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bootstrap samples, the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25th value and 975th value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will provide a 95% confidence interval for the median.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ts val="31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E2ABED-0810-6FB9-4122-757ECC91096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315200" y="6553200"/>
            <a:ext cx="6364224" cy="1523494"/>
          </a:xfrm>
        </p:spPr>
        <p:txBody>
          <a:bodyPr/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Sampling distribution of sample median is generated</a:t>
            </a:r>
            <a:endParaRPr lang="en-US" sz="1800" b="0" i="0" u="none" strike="noStrike" cap="none" dirty="0">
              <a:solidFill>
                <a:schemeClr val="tx1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Assuming B=1000, </a:t>
            </a:r>
            <a:r>
              <a:rPr lang="en-US" sz="1800" b="1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25th</a:t>
            </a: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 value and </a:t>
            </a:r>
            <a:r>
              <a:rPr lang="en-US" sz="1800" b="1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975th</a:t>
            </a: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 value will provide 95% confidence interval for median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A525A07-7B72-3FF7-008D-B3290F505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62619"/>
              </p:ext>
            </p:extLst>
          </p:nvPr>
        </p:nvGraphicFramePr>
        <p:xfrm>
          <a:off x="6172200" y="1685841"/>
          <a:ext cx="8269233" cy="46482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49706133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278029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841384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5822709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87848031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837532955"/>
                    </a:ext>
                  </a:extLst>
                </a:gridCol>
                <a:gridCol w="1792233">
                  <a:extLst>
                    <a:ext uri="{9D8B030D-6E8A-4147-A177-3AD203B41FA5}">
                      <a16:colId xmlns:a16="http://schemas.microsoft.com/office/drawing/2014/main" val="2727368131"/>
                    </a:ext>
                  </a:extLst>
                </a:gridCol>
              </a:tblGrid>
              <a:tr h="644305"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Sample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Sample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Sample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Sample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440200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927223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63755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621915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820603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629425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06784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984908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720452"/>
                  </a:ext>
                </a:extLst>
              </a:tr>
              <a:tr h="373288"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281604"/>
                  </a:ext>
                </a:extLst>
              </a:tr>
              <a:tr h="64430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29.00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T Serif" panose="020A0603040505020204" pitchFamily="18" charset="0"/>
                        </a:rPr>
                        <a:t>38.00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680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003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3301-09DE-CFE4-26E9-8537CB76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Bagging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0F5C-E85B-4A6F-5252-25E34AFA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684403"/>
            <a:ext cx="5516880" cy="4332661"/>
          </a:xfrm>
        </p:spPr>
        <p:txBody>
          <a:bodyPr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800" b="1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What is Bagging?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  <a:ea typeface="PT Serif" pitchFamily="34" charset="-122"/>
              <a:cs typeface="PT Serif" pitchFamily="34" charset="-120"/>
            </a:endParaRPr>
          </a:p>
          <a:p>
            <a:pPr marL="285750" indent="-285750" algn="l">
              <a:lnSpc>
                <a:spcPts val="305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The term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"Bagging"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was introduced by </a:t>
            </a:r>
            <a:r>
              <a:rPr lang="en-US" sz="1800" dirty="0" err="1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Breiman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(1996)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ts val="305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Stands for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"Bootstrap Aggregating"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ts val="305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An ensemble method that combines results from classifiers trained on multiple resamples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E2ABED-0810-6FB9-4122-757ECC91096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77200" y="1684403"/>
            <a:ext cx="5983224" cy="3694666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ea typeface="PT Serif" pitchFamily="34" charset="-122"/>
                <a:cs typeface="PT Serif" pitchFamily="34" charset="-120"/>
              </a:rPr>
              <a:t>Key Points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rgbClr val="000000"/>
              </a:solidFill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a typeface="DM Sans" pitchFamily="34" charset="-122"/>
                <a:cs typeface="DM Sans" pitchFamily="34" charset="-120"/>
              </a:rPr>
              <a:t>Bagging improves performance for unstable classifiers which vary significantly with small changes in the data set</a:t>
            </a:r>
          </a:p>
          <a:p>
            <a:pPr algn="l">
              <a:lnSpc>
                <a:spcPct val="150000"/>
              </a:lnSpc>
            </a:pPr>
            <a:endParaRPr lang="en-US" sz="18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It can also be applied using different classifiers for a given sample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137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>
            <a:extLst>
              <a:ext uri="{FF2B5EF4-FFF2-40B4-BE49-F238E27FC236}">
                <a16:creationId xmlns:a16="http://schemas.microsoft.com/office/drawing/2014/main" id="{F13C2F84-28FD-5B94-B06A-ABE96679C6A3}"/>
              </a:ext>
            </a:extLst>
          </p:cNvPr>
          <p:cNvSpPr/>
          <p:nvPr/>
        </p:nvSpPr>
        <p:spPr>
          <a:xfrm>
            <a:off x="7563860" y="2054835"/>
            <a:ext cx="5762300" cy="236563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3D0CD6C-C04E-3D04-C686-A388DC9B4CA1}"/>
              </a:ext>
            </a:extLst>
          </p:cNvPr>
          <p:cNvSpPr/>
          <p:nvPr/>
        </p:nvSpPr>
        <p:spPr>
          <a:xfrm>
            <a:off x="533400" y="2053961"/>
            <a:ext cx="5762300" cy="236563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03301-09DE-CFE4-26E9-8537CB76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Bagging Method Framework in ML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0F5C-E85B-4A6F-5252-25E34AFA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8820" y="2286000"/>
            <a:ext cx="5516880" cy="4730975"/>
          </a:xfrm>
        </p:spPr>
        <p:txBody>
          <a:bodyPr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Sample Generation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Generate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B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bootstrap samples for the training data - random samples with replacement from the original dataset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Classification Models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Use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majority vote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on the classification results from all models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E2ABED-0810-6FB9-4122-757ECC91096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868356" y="2286000"/>
            <a:ext cx="5983224" cy="4730975"/>
          </a:xfrm>
        </p:spPr>
        <p:txBody>
          <a:bodyPr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Train the Model</a:t>
            </a: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Train a classifier or regression function using each bootstrap sample independently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Regression Models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305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Calculate the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average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of the predicted values from all models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87046-365D-1CBA-8BD2-D04D2D7F0DD0}"/>
              </a:ext>
            </a:extLst>
          </p:cNvPr>
          <p:cNvSpPr txBox="1"/>
          <p:nvPr/>
        </p:nvSpPr>
        <p:spPr>
          <a:xfrm>
            <a:off x="704202" y="1326228"/>
            <a:ext cx="11182997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Bagging involves two fundamental steps that work together to create robust predictions: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461E8D-ED50-F83B-3E25-541715F59C74}"/>
              </a:ext>
            </a:extLst>
          </p:cNvPr>
          <p:cNvCxnSpPr/>
          <p:nvPr/>
        </p:nvCxnSpPr>
        <p:spPr>
          <a:xfrm>
            <a:off x="533400" y="4850260"/>
            <a:ext cx="127927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8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6B00-7F37-CB1E-2C76-776F32C9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661993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Random Forest is "Bagging of Decision Trees with Random Feature Selection"</a:t>
            </a:r>
            <a:br>
              <a:rPr lang="en-US" sz="3600" dirty="0"/>
            </a:br>
            <a:endParaRPr lang="en-IN" sz="3600" dirty="0"/>
          </a:p>
        </p:txBody>
      </p:sp>
      <p:pic>
        <p:nvPicPr>
          <p:cNvPr id="3" name="Google Shape;1194;p117">
            <a:extLst>
              <a:ext uri="{FF2B5EF4-FFF2-40B4-BE49-F238E27FC236}">
                <a16:creationId xmlns:a16="http://schemas.microsoft.com/office/drawing/2014/main" id="{56197942-292A-3BC2-7F01-9EBEF8667856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7778" t="5018" r="7186" b="8538"/>
          <a:stretch/>
        </p:blipFill>
        <p:spPr>
          <a:xfrm>
            <a:off x="228600" y="1600200"/>
            <a:ext cx="10058400" cy="6400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866251-5884-5146-4472-A846686F93C2}"/>
              </a:ext>
            </a:extLst>
          </p:cNvPr>
          <p:cNvSpPr/>
          <p:nvPr/>
        </p:nvSpPr>
        <p:spPr>
          <a:xfrm>
            <a:off x="10591800" y="2057400"/>
            <a:ext cx="3810000" cy="1447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83881-F52A-72F1-87F9-C937BDEDCBB7}"/>
              </a:ext>
            </a:extLst>
          </p:cNvPr>
          <p:cNvSpPr txBox="1"/>
          <p:nvPr/>
        </p:nvSpPr>
        <p:spPr>
          <a:xfrm>
            <a:off x="10591801" y="2057400"/>
            <a:ext cx="3810000" cy="1426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Many such decision trees are obtained to grow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</a:rPr>
              <a:t>a Random Forest.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8644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586" y="122186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Random Forest?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3337573"/>
            <a:ext cx="3818574" cy="321562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5" y="3314495"/>
            <a:ext cx="3454676" cy="45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Today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One of the most powerful and widely used machine learning algorithms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88977" y="3328358"/>
            <a:ext cx="4003152" cy="322484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76919" y="3409935"/>
            <a:ext cx="3612908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1995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First proposed by </a:t>
            </a:r>
            <a:r>
              <a:rPr lang="en-US" sz="18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Tin Kam Ho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of Bell Labs as "random decision forests”</a:t>
            </a:r>
            <a:r>
              <a:rPr lang="en-IN" b="1" dirty="0"/>
              <a:t> </a:t>
            </a:r>
            <a:r>
              <a:rPr lang="en-IN" dirty="0">
                <a:latin typeface="PT Serif" panose="020A0603040505020204" pitchFamily="18" charset="77"/>
              </a:rPr>
              <a:t>and was later extended into the Random Forest algorithm by Leo Breiman in 2001</a:t>
            </a:r>
            <a:r>
              <a:rPr lang="en-IN" dirty="0"/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313377" y="3337574"/>
            <a:ext cx="4003152" cy="321562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93737" y="3409935"/>
            <a:ext cx="3507272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Innovation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Combined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Breiman's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"Bagging" idea with random selection of features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0392CD-6067-8E7C-889E-071F30DE2845}"/>
              </a:ext>
            </a:extLst>
          </p:cNvPr>
          <p:cNvSpPr txBox="1"/>
          <p:nvPr/>
        </p:nvSpPr>
        <p:spPr>
          <a:xfrm>
            <a:off x="517339" y="1661002"/>
            <a:ext cx="13194549" cy="851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Random Forest (or random forests) is an ensemble classifier that consists of many decision trees and outputs the class that is the mode of the class's output by individual trees.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170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586" y="122186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Random Forest Algorithm Steps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3" y="1470878"/>
            <a:ext cx="4218763" cy="299099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044291" y="1434031"/>
            <a:ext cx="4003152" cy="45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Random Feature Selection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At each node, select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variables at random out of all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possible variables (independently for each node), then find the best split on the selected m variable</a:t>
            </a:r>
            <a:endParaRPr lang="en-US" sz="1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88976" y="1461663"/>
            <a:ext cx="4193269" cy="300020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827443" y="1434031"/>
            <a:ext cx="3612908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Bootstrap Sampling</a:t>
            </a: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Create many resamples using training data 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1470878"/>
            <a:ext cx="4218763" cy="2990989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88685" y="1434031"/>
            <a:ext cx="3507272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Grow a Forest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Grow each tree on an independent bootstrap sample obtained from the training data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F16AFE41-DE28-6E66-4A8B-E0DABC2FCDD3}"/>
              </a:ext>
            </a:extLst>
          </p:cNvPr>
          <p:cNvSpPr/>
          <p:nvPr/>
        </p:nvSpPr>
        <p:spPr>
          <a:xfrm>
            <a:off x="2999613" y="4979193"/>
            <a:ext cx="4193269" cy="291082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A14EA5D-4CD0-EF7B-8A53-AEB2B5921BD6}"/>
              </a:ext>
            </a:extLst>
          </p:cNvPr>
          <p:cNvSpPr/>
          <p:nvPr/>
        </p:nvSpPr>
        <p:spPr>
          <a:xfrm>
            <a:off x="3187556" y="5060770"/>
            <a:ext cx="3612908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4. </a:t>
            </a: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Maximum Depth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Grow the trees to maximum depth without pruning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74E992B9-EEB6-5145-7536-F12AB9742B99}"/>
              </a:ext>
            </a:extLst>
          </p:cNvPr>
          <p:cNvSpPr/>
          <p:nvPr/>
        </p:nvSpPr>
        <p:spPr>
          <a:xfrm>
            <a:off x="7668437" y="4988409"/>
            <a:ext cx="4218763" cy="291082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1C2A68C5-8D43-0EE8-88F1-29B43B993025}"/>
              </a:ext>
            </a:extLst>
          </p:cNvPr>
          <p:cNvSpPr/>
          <p:nvPr/>
        </p:nvSpPr>
        <p:spPr>
          <a:xfrm>
            <a:off x="7848798" y="5060770"/>
            <a:ext cx="3507272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5. Aggregate Predictions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Vote or average the trees to get predictions for new data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595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0BF5-EF51-C9E0-8C7A-91A3BC36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23283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 Overview of Random Forest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C44EAF-F3AC-6F77-8813-D9312804E3A5}"/>
              </a:ext>
            </a:extLst>
          </p:cNvPr>
          <p:cNvSpPr txBox="1">
            <a:spLocks/>
          </p:cNvSpPr>
          <p:nvPr/>
        </p:nvSpPr>
        <p:spPr>
          <a:xfrm>
            <a:off x="487172" y="304800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endParaRPr lang="en-IN">
              <a:solidFill>
                <a:schemeClr val="tx1"/>
              </a:solidFill>
            </a:endParaRPr>
          </a:p>
        </p:txBody>
      </p:sp>
      <p:pic>
        <p:nvPicPr>
          <p:cNvPr id="4" name="Google Shape;1230;p120">
            <a:extLst>
              <a:ext uri="{FF2B5EF4-FFF2-40B4-BE49-F238E27FC236}">
                <a16:creationId xmlns:a16="http://schemas.microsoft.com/office/drawing/2014/main" id="{4008EA66-97B2-C708-B926-E72C7863CBA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55340" y="1272663"/>
            <a:ext cx="10919715" cy="56842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0A02BD-C8F0-927D-551B-B36CF8964B67}"/>
              </a:ext>
            </a:extLst>
          </p:cNvPr>
          <p:cNvSpPr txBox="1"/>
          <p:nvPr/>
        </p:nvSpPr>
        <p:spPr>
          <a:xfrm>
            <a:off x="738885" y="7235233"/>
            <a:ext cx="13152627" cy="71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diagram illustrates how multiple decision trees are trained on different bootstrap samples and their predictions are aggregated to produce the final Random Forest output.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498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A7829A28-1A28-873D-675D-D38B6AF4BB7A}"/>
              </a:ext>
            </a:extLst>
          </p:cNvPr>
          <p:cNvSpPr/>
          <p:nvPr/>
        </p:nvSpPr>
        <p:spPr>
          <a:xfrm>
            <a:off x="3581400" y="2057400"/>
            <a:ext cx="6574066" cy="2310440"/>
          </a:xfrm>
          <a:prstGeom prst="roundRect">
            <a:avLst>
              <a:gd name="adj" fmla="val 1601"/>
            </a:avLst>
          </a:prstGeom>
          <a:solidFill>
            <a:srgbClr val="F2EEEE"/>
          </a:solidFill>
          <a:ln/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A3CA9-5DA3-7F66-B96C-1C33C5CD7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13632" y="2170240"/>
            <a:ext cx="6364224" cy="2310441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Bootstrap Sample Characteristics</a:t>
            </a: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In bootstrap samples of data, approximately </a:t>
            </a: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2/3 of original values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get included in each sample, leaving about 1/3 out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B345F1-5503-31D4-661E-F0B987FA828D}"/>
              </a:ext>
            </a:extLst>
          </p:cNvPr>
          <p:cNvSpPr txBox="1"/>
          <p:nvPr/>
        </p:nvSpPr>
        <p:spPr>
          <a:xfrm>
            <a:off x="854083" y="5257800"/>
            <a:ext cx="13076427" cy="2437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For Each Tree</a:t>
            </a: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:</a:t>
            </a:r>
          </a:p>
          <a:p>
            <a:pPr marL="285750" indent="-285750" algn="l">
              <a:lnSpc>
                <a:spcPts val="30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Perform classification of the leftover 1/3 data using the decision tree and calculate the misclassification rate =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Out of Bag (OOB) Error Rate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ts val="30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For each variable in the tree, permute the variable's values and compute the OOB error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 algn="l">
              <a:lnSpc>
                <a:spcPts val="30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Compare to the original OOB error - the increase indicates the variable's importance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305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EB44C33-8AF9-4855-F480-D4F7508D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78" y="365700"/>
            <a:ext cx="13656055" cy="1800493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Out-of-Bag Error and Variable Importance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IN" sz="4000" dirty="0">
                <a:solidFill>
                  <a:schemeClr val="tx1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17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B433530E-16DB-87A9-FF2E-EB149F3A5B9F}"/>
              </a:ext>
            </a:extLst>
          </p:cNvPr>
          <p:cNvSpPr/>
          <p:nvPr/>
        </p:nvSpPr>
        <p:spPr>
          <a:xfrm>
            <a:off x="7504463" y="3338207"/>
            <a:ext cx="6574066" cy="3141436"/>
          </a:xfrm>
          <a:prstGeom prst="roundRect">
            <a:avLst>
              <a:gd name="adj" fmla="val 1601"/>
            </a:avLst>
          </a:prstGeom>
          <a:solidFill>
            <a:srgbClr val="F2EEEE"/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A7829A28-1A28-873D-675D-D38B6AF4BB7A}"/>
              </a:ext>
            </a:extLst>
          </p:cNvPr>
          <p:cNvSpPr/>
          <p:nvPr/>
        </p:nvSpPr>
        <p:spPr>
          <a:xfrm>
            <a:off x="521678" y="3338206"/>
            <a:ext cx="6574066" cy="3141437"/>
          </a:xfrm>
          <a:prstGeom prst="roundRect">
            <a:avLst>
              <a:gd name="adj" fmla="val 1601"/>
            </a:avLst>
          </a:prstGeom>
          <a:solidFill>
            <a:srgbClr val="F2EEEE"/>
          </a:solidFill>
          <a:ln/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A3CA9-5DA3-7F66-B96C-1C33C5CD7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3581400"/>
            <a:ext cx="6364224" cy="3141437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OOB Error Rate</a:t>
            </a:r>
            <a:endParaRPr lang="en-US" sz="2400" dirty="0"/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Calculate the overall percentage of misclassification across all out-of-bag predictions. This provides an unbiased estimate of the model's generalization error without requiring a separate validation set.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D7512-483A-255C-1C30-AB5771D669F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744498" y="3581400"/>
            <a:ext cx="6364224" cy="2725939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Variable Importance</a:t>
            </a:r>
            <a:endParaRPr lang="en-US" sz="2400" dirty="0"/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Compute the average increase in OOB error over all trees when each variable is permuted. Variables causing larger increases in error are more important for prediction accuracy.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EB44C33-8AF9-4855-F480-D4F7508D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78" y="365700"/>
            <a:ext cx="13656055" cy="623376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Aggregating Results from Individual Decision Trees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6A80A-FC1C-877D-EC6D-E3AAAABCD6AC}"/>
              </a:ext>
            </a:extLst>
          </p:cNvPr>
          <p:cNvSpPr txBox="1"/>
          <p:nvPr/>
        </p:nvSpPr>
        <p:spPr>
          <a:xfrm>
            <a:off x="454438" y="1524000"/>
            <a:ext cx="13337761" cy="71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final step involves aggregating OOB error and importance measures from all trees to determine overall model performance and feature significance.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03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0C9E-32FA-FC0C-1708-8281CB4B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84940"/>
          </a:xfrm>
        </p:spPr>
        <p:txBody>
          <a:bodyPr/>
          <a:lstStyle/>
          <a:p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Variable Importance Visualization</a:t>
            </a:r>
            <a:br>
              <a:rPr lang="en-US" sz="4000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85C5B-DE75-0D7D-A5DC-A73B88A41995}"/>
              </a:ext>
            </a:extLst>
          </p:cNvPr>
          <p:cNvSpPr txBox="1"/>
          <p:nvPr/>
        </p:nvSpPr>
        <p:spPr>
          <a:xfrm>
            <a:off x="487172" y="1765399"/>
            <a:ext cx="6432651" cy="448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Understanding Feature Impact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variable importance plot shows which features contribute most to the model's predictive power. Features are ranked by their average increase in OOB error when permuted.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helps identify the most influential predictors and can guide feature selection and model interpretation.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0FD271A-4392-0002-F74E-42F54B7C5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4200" y="1765399"/>
            <a:ext cx="6955631" cy="46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17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586" y="122186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Predicted Probabilities in Random Forest</a:t>
            </a:r>
            <a:endParaRPr lang="en-US" sz="3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4" y="2981015"/>
            <a:ext cx="3818574" cy="321562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4919" y="3008332"/>
            <a:ext cx="3454676" cy="45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Stable Estimates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results in more stable and reliable probability estimates compared to a single decision tree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88977" y="2971800"/>
            <a:ext cx="4003152" cy="322484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76919" y="3053377"/>
            <a:ext cx="3612908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Individual Tree Output</a:t>
            </a:r>
            <a:endParaRPr lang="en-US" sz="2400" dirty="0">
              <a:latin typeface="PT Serif" panose="020A0603040505020204" pitchFamily="18" charset="0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Each tree outputs the proportion of samples of each class in its terminal leaf node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313377" y="2981016"/>
            <a:ext cx="4003152" cy="3215626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93737" y="3053377"/>
            <a:ext cx="3507272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Forest Aggregation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forest aggregates these probability values across all trees to produce the final probability for each class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0392CD-6067-8E7C-889E-071F30DE2845}"/>
              </a:ext>
            </a:extLst>
          </p:cNvPr>
          <p:cNvSpPr txBox="1"/>
          <p:nvPr/>
        </p:nvSpPr>
        <p:spPr>
          <a:xfrm>
            <a:off x="517339" y="1661002"/>
            <a:ext cx="13194549" cy="851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 a Random Forest classifier, predicted probabilities are computed by averaging the predicted probabilities from all individual decision trees in the ensemble.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DBB886-3032-D19B-D4BA-4836EE1E92E9}"/>
              </a:ext>
            </a:extLst>
          </p:cNvPr>
          <p:cNvSpPr txBox="1"/>
          <p:nvPr/>
        </p:nvSpPr>
        <p:spPr>
          <a:xfrm>
            <a:off x="517339" y="6705600"/>
            <a:ext cx="7315200" cy="453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Using above predicted probabilities, ROC-AUC can be computed. 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074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586" y="122186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Essential Python Functions for Random Forest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678192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893313" y="1470878"/>
            <a:ext cx="4218763" cy="2990990"/>
          </a:xfrm>
          <a:prstGeom prst="roundRect">
            <a:avLst>
              <a:gd name="adj" fmla="val 1410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08925" y="1447800"/>
            <a:ext cx="4003152" cy="45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Making Predictions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.predict(X_test)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- Generate predictions on new data. Use 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.predict_proba()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for probability estimates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E7F2EE5C-87C7-F16D-F9EF-EB811ED3C5B0}"/>
              </a:ext>
            </a:extLst>
          </p:cNvPr>
          <p:cNvSpPr/>
          <p:nvPr/>
        </p:nvSpPr>
        <p:spPr>
          <a:xfrm>
            <a:off x="588976" y="1461663"/>
            <a:ext cx="4193269" cy="3000204"/>
          </a:xfrm>
          <a:prstGeom prst="roundRect">
            <a:avLst>
              <a:gd name="adj" fmla="val 1410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DC3D8C5-049C-DD26-3357-58E00F542DB1}"/>
              </a:ext>
            </a:extLst>
          </p:cNvPr>
          <p:cNvSpPr/>
          <p:nvPr/>
        </p:nvSpPr>
        <p:spPr>
          <a:xfrm>
            <a:off x="776919" y="1543240"/>
            <a:ext cx="3612908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Model Initialization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457200" indent="-457200" algn="l">
              <a:lnSpc>
                <a:spcPct val="150000"/>
              </a:lnSpc>
              <a:buFontTx/>
              <a:buAutoNum type="arabicPeriod"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RandomForestClassifier()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RandomForestRegressor()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- Create model instance with parameters like n_estimators, max_depth, and random_state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C5EE8CA-E340-7264-83D8-CA41D716DE4C}"/>
              </a:ext>
            </a:extLst>
          </p:cNvPr>
          <p:cNvSpPr/>
          <p:nvPr/>
        </p:nvSpPr>
        <p:spPr>
          <a:xfrm>
            <a:off x="5257800" y="1470878"/>
            <a:ext cx="4218763" cy="2990989"/>
          </a:xfrm>
          <a:prstGeom prst="roundRect">
            <a:avLst>
              <a:gd name="adj" fmla="val 1410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385EE126-84A2-761A-9E6E-6FA9D141EFBC}"/>
              </a:ext>
            </a:extLst>
          </p:cNvPr>
          <p:cNvSpPr/>
          <p:nvPr/>
        </p:nvSpPr>
        <p:spPr>
          <a:xfrm>
            <a:off x="5453160" y="1447800"/>
            <a:ext cx="3507272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Training the Model</a:t>
            </a: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.fit(X_train, y_train)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- Train the Random Forest on your training data, building multiple decision trees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F16AFE41-DE28-6E66-4A8B-E0DABC2FCDD3}"/>
              </a:ext>
            </a:extLst>
          </p:cNvPr>
          <p:cNvSpPr/>
          <p:nvPr/>
        </p:nvSpPr>
        <p:spPr>
          <a:xfrm>
            <a:off x="2999613" y="4979193"/>
            <a:ext cx="4193269" cy="2910826"/>
          </a:xfrm>
          <a:prstGeom prst="roundRect">
            <a:avLst>
              <a:gd name="adj" fmla="val 1410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A14EA5D-4CD0-EF7B-8A53-AEB2B5921BD6}"/>
              </a:ext>
            </a:extLst>
          </p:cNvPr>
          <p:cNvSpPr/>
          <p:nvPr/>
        </p:nvSpPr>
        <p:spPr>
          <a:xfrm>
            <a:off x="3187556" y="5060770"/>
            <a:ext cx="3612908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4. </a:t>
            </a: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Feature Importance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.feature_importances_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- Extract which features contribute most to predictions, essential for model interpretation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74E992B9-EEB6-5145-7536-F12AB9742B99}"/>
              </a:ext>
            </a:extLst>
          </p:cNvPr>
          <p:cNvSpPr/>
          <p:nvPr/>
        </p:nvSpPr>
        <p:spPr>
          <a:xfrm>
            <a:off x="7668437" y="4988409"/>
            <a:ext cx="4218763" cy="2910826"/>
          </a:xfrm>
          <a:prstGeom prst="roundRect">
            <a:avLst>
              <a:gd name="adj" fmla="val 1410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1C2A68C5-8D43-0EE8-88F1-29B43B993025}"/>
              </a:ext>
            </a:extLst>
          </p:cNvPr>
          <p:cNvSpPr/>
          <p:nvPr/>
        </p:nvSpPr>
        <p:spPr>
          <a:xfrm>
            <a:off x="7848798" y="5060770"/>
            <a:ext cx="3507272" cy="469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5. Model Evaluation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.score(X_test, y_test)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- Calculate accuracy or R² score. Use with sklearn.metrics for detailed evaluation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41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1376954" y="1219199"/>
            <a:ext cx="5530189" cy="3200401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5D4C71A9-44DE-C30C-23FB-01ADE60A16CF}"/>
              </a:ext>
            </a:extLst>
          </p:cNvPr>
          <p:cNvGrpSpPr/>
          <p:nvPr/>
        </p:nvGrpSpPr>
        <p:grpSpPr>
          <a:xfrm>
            <a:off x="1376954" y="4662704"/>
            <a:ext cx="5530189" cy="3200400"/>
            <a:chOff x="793788" y="4631308"/>
            <a:chExt cx="6437630" cy="297434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AACB49F-E75F-EA46-C29E-950076399A3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6237666D-DF67-98DC-05C9-F9F742175B69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E03DB111-066A-1466-380E-B1A5D264D147}"/>
              </a:ext>
            </a:extLst>
          </p:cNvPr>
          <p:cNvGrpSpPr/>
          <p:nvPr/>
        </p:nvGrpSpPr>
        <p:grpSpPr>
          <a:xfrm>
            <a:off x="7653046" y="4638253"/>
            <a:ext cx="5530189" cy="3181484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92C152D-7A07-F647-B072-3F50C547CA6A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34CABA1-B7A9-4D1F-38E0-F9624839AD97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621816" y="1238116"/>
            <a:ext cx="5530189" cy="3181484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954" y="79787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498032" y="1318805"/>
            <a:ext cx="5161221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Bootstrapping Foundation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Bootstrapping provides a robust method for resampling and estimating distributions without relying on parametric assumptions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Random Forest Power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Random Forest extends bagging by adding random feature selection, creating diverse trees that work together effectively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837530" y="1262567"/>
            <a:ext cx="516121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Bagging Ensemble Strength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Bagging combines multiple models trained on bootstrap samples to reduce variance and improve prediction stability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OOB Validation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Out-of-bag error provides built-in model validation and variable importance measures without separate test data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21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</TotalTime>
  <Words>1330</Words>
  <Application>Microsoft Macintosh PowerPoint</Application>
  <PresentationFormat>Custom</PresentationFormat>
  <Paragraphs>227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Consolas</vt:lpstr>
      <vt:lpstr>DM Sans</vt:lpstr>
      <vt:lpstr>Lucida Sans Unicode</vt:lpstr>
      <vt:lpstr>Open Sans Light</vt:lpstr>
      <vt:lpstr>PT Serif</vt:lpstr>
      <vt:lpstr>PT Serif Light</vt:lpstr>
      <vt:lpstr>Office Theme</vt:lpstr>
      <vt:lpstr>PowerPoint Presentation</vt:lpstr>
      <vt:lpstr>Contents </vt:lpstr>
      <vt:lpstr>Understanding Bootstrapping</vt:lpstr>
      <vt:lpstr>Why Bootstrapping Matters</vt:lpstr>
      <vt:lpstr>Bootstrapping Illustration</vt:lpstr>
      <vt:lpstr>Introduction to Bagging</vt:lpstr>
      <vt:lpstr>Bagging Method Framework in ML</vt:lpstr>
      <vt:lpstr>Random Forest is "Bagging of Decision Trees with Random Feature Selection" </vt:lpstr>
      <vt:lpstr>What is Random Forest?</vt:lpstr>
      <vt:lpstr>Random Forest Algorithm Steps</vt:lpstr>
      <vt:lpstr>Visual Overview of Random Forest </vt:lpstr>
      <vt:lpstr>Out-of-Bag Error and Variable Importance  </vt:lpstr>
      <vt:lpstr>Aggregating Results from Individual Decision Trees</vt:lpstr>
      <vt:lpstr>Variable Importance Visualization </vt:lpstr>
      <vt:lpstr>Predicted Probabilities in Random Forest</vt:lpstr>
      <vt:lpstr>Essential Python Functions for Random Forest</vt:lpstr>
      <vt:lpstr>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241</cp:revision>
  <dcterms:created xsi:type="dcterms:W3CDTF">2025-08-01T06:43:07Z</dcterms:created>
  <dcterms:modified xsi:type="dcterms:W3CDTF">2025-12-30T10:34:26Z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