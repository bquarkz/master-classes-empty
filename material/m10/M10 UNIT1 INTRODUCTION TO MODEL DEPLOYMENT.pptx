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70" r:id="rId3"/>
    <p:sldId id="271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</p:sldIdLst>
  <p:sldSz cx="9144000" cy="5143500" type="screen16x9"/>
  <p:notesSz cx="5143500" cy="9144000"/>
  <p:embeddedFontLst>
    <p:embeddedFont>
      <p:font typeface="DM Sans" pitchFamily="2" charset="77"/>
      <p:regular r:id="rId17"/>
    </p:embeddedFont>
    <p:embeddedFont>
      <p:font typeface="PT Serif" panose="020A0603040505020204" pitchFamily="18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72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81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7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04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8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4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7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41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9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37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489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7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83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1" y="0"/>
            <a:ext cx="9143771" cy="51435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483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55704" y="1850838"/>
            <a:ext cx="8151410" cy="186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Model Deployment</a:t>
            </a:r>
          </a:p>
          <a:p>
            <a:pPr>
              <a:lnSpc>
                <a:spcPct val="104000"/>
              </a:lnSpc>
            </a:pPr>
            <a:endParaRPr lang="en-US" sz="2400" dirty="0">
              <a:solidFill>
                <a:srgbClr val="020202"/>
              </a:solidFill>
              <a:latin typeface="PT Serif" pitchFamily="34" charset="0"/>
              <a:ea typeface="PT Serif" pitchFamily="34" charset="-122"/>
              <a:cs typeface="PT Serif" pitchFamily="34" charset="-120"/>
            </a:endParaRPr>
          </a:p>
          <a:p>
            <a:pPr>
              <a:lnSpc>
                <a:spcPct val="1040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         </a:t>
            </a:r>
            <a:r>
              <a:rPr lang="en-US" sz="2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Notebook to Production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846122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018878"/>
            <a:ext cx="750745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234" y="1061368"/>
            <a:ext cx="10378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CONTENTS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341983"/>
            <a:ext cx="417846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We'll Cover</a:t>
            </a:r>
            <a:endParaRPr lang="en-US" sz="2925" dirty="0"/>
          </a:p>
        </p:txBody>
      </p:sp>
      <p:sp>
        <p:nvSpPr>
          <p:cNvPr id="5" name="Text 3"/>
          <p:cNvSpPr/>
          <p:nvPr/>
        </p:nvSpPr>
        <p:spPr>
          <a:xfrm>
            <a:off x="496180" y="2019746"/>
            <a:ext cx="28351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8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088" dirty="0"/>
          </a:p>
        </p:txBody>
      </p:sp>
      <p:sp>
        <p:nvSpPr>
          <p:cNvPr id="6" name="Shape 4"/>
          <p:cNvSpPr/>
          <p:nvPr/>
        </p:nvSpPr>
        <p:spPr>
          <a:xfrm>
            <a:off x="496181" y="2241650"/>
            <a:ext cx="4004790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496181" y="2350592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496181" y="2668192"/>
            <a:ext cx="40047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0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deployment matters and what it really means</a:t>
            </a:r>
            <a:endParaRPr lang="en-US" sz="1088" dirty="0"/>
          </a:p>
        </p:txBody>
      </p:sp>
      <p:sp>
        <p:nvSpPr>
          <p:cNvPr id="9" name="Text 7"/>
          <p:cNvSpPr/>
          <p:nvPr/>
        </p:nvSpPr>
        <p:spPr>
          <a:xfrm>
            <a:off x="4642726" y="2019746"/>
            <a:ext cx="28351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8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088" dirty="0"/>
          </a:p>
        </p:txBody>
      </p:sp>
      <p:sp>
        <p:nvSpPr>
          <p:cNvPr id="10" name="Shape 8"/>
          <p:cNvSpPr/>
          <p:nvPr/>
        </p:nvSpPr>
        <p:spPr>
          <a:xfrm>
            <a:off x="4642726" y="2241650"/>
            <a:ext cx="40048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4642726" y="2350592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Methods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4642726" y="2668192"/>
            <a:ext cx="40048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0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Batch, real-time API, and embedded approaches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496180" y="3143027"/>
            <a:ext cx="28351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8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088" dirty="0"/>
          </a:p>
        </p:txBody>
      </p:sp>
      <p:sp>
        <p:nvSpPr>
          <p:cNvPr id="14" name="Shape 12"/>
          <p:cNvSpPr/>
          <p:nvPr/>
        </p:nvSpPr>
        <p:spPr>
          <a:xfrm>
            <a:off x="496181" y="3364930"/>
            <a:ext cx="4004790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96181" y="3473872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Framework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496181" y="3791472"/>
            <a:ext cx="400479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0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FastAPI and how to structure a deployment flow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4642726" y="3143027"/>
            <a:ext cx="28351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088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4642726" y="3364930"/>
            <a:ext cx="4004865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42726" y="3473872"/>
            <a:ext cx="23302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Environments &amp; Challenges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4642726" y="3791472"/>
            <a:ext cx="40048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0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models live and what can go wrong</a:t>
            </a:r>
            <a:endParaRPr lang="en-US" sz="1088" dirty="0"/>
          </a:p>
        </p:txBody>
      </p:sp>
    </p:spTree>
    <p:extLst>
      <p:ext uri="{BB962C8B-B14F-4D97-AF65-F5344CB8AC3E}">
        <p14:creationId xmlns:p14="http://schemas.microsoft.com/office/powerpoint/2010/main" val="396823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198960"/>
            <a:ext cx="875311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6" y="1246213"/>
            <a:ext cx="11528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531590"/>
            <a:ext cx="582082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Model Deployment Matters</a:t>
            </a:r>
            <a:endParaRPr lang="en-US" sz="2925" dirty="0"/>
          </a:p>
        </p:txBody>
      </p:sp>
      <p:sp>
        <p:nvSpPr>
          <p:cNvPr id="5" name="Shape 3"/>
          <p:cNvSpPr/>
          <p:nvPr/>
        </p:nvSpPr>
        <p:spPr>
          <a:xfrm>
            <a:off x="496180" y="2209354"/>
            <a:ext cx="2622584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37936" y="2351113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Half the Job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637936" y="2668711"/>
            <a:ext cx="2339073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a model is only half the work. The real challenge is integrating it into production systems where it can be used reliably at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520" y="2209354"/>
            <a:ext cx="2622658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402275" y="2351113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 Value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3402275" y="2668711"/>
            <a:ext cx="2339147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is only created when models run in live systems — making predictions that directly inform business decisions and user experiences.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4933" y="2209354"/>
            <a:ext cx="2622658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166688" y="2351113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Bridge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6166689" y="2668711"/>
            <a:ext cx="2339147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bridges the gap between data science and business applications, transforming research artifacts into operational, actionable tools.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71935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260277"/>
            <a:ext cx="875311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6" y="1307530"/>
            <a:ext cx="11528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592908"/>
            <a:ext cx="514962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Model Deployment?</a:t>
            </a:r>
            <a:endParaRPr lang="en-US" sz="2925" dirty="0"/>
          </a:p>
        </p:txBody>
      </p:sp>
      <p:sp>
        <p:nvSpPr>
          <p:cNvPr id="5" name="Text 3"/>
          <p:cNvSpPr/>
          <p:nvPr/>
        </p:nvSpPr>
        <p:spPr>
          <a:xfrm>
            <a:off x="496180" y="2454027"/>
            <a:ext cx="7938815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deployment is the process of integrating a trained machine learning model into a production environment so it can make predictions on real, live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81" y="3202707"/>
            <a:ext cx="815141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critical phase transforms experimental models into operational systems. Deployment encompasses not just technical integration, but also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scalability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reliability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sz="12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maintainability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ensuring the model continues to deliver value long after the initial release.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65068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238027"/>
            <a:ext cx="875311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6" y="1285280"/>
            <a:ext cx="115286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570658"/>
            <a:ext cx="454539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Prototype vs. Production</a:t>
            </a:r>
            <a:endParaRPr lang="en-US" sz="2925" dirty="0"/>
          </a:p>
        </p:txBody>
      </p:sp>
      <p:sp>
        <p:nvSpPr>
          <p:cNvPr id="5" name="Shape 3"/>
          <p:cNvSpPr/>
          <p:nvPr/>
        </p:nvSpPr>
        <p:spPr>
          <a:xfrm>
            <a:off x="496181" y="2248422"/>
            <a:ext cx="8151410" cy="1657052"/>
          </a:xfrm>
          <a:prstGeom prst="roundRect">
            <a:avLst>
              <a:gd name="adj" fmla="val 1283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496181" y="2248422"/>
            <a:ext cx="4075705" cy="165705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936" y="2390180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Prototype</a:t>
            </a:r>
            <a:endParaRPr lang="en-US" sz="1463" dirty="0"/>
          </a:p>
        </p:txBody>
      </p:sp>
      <p:sp>
        <p:nvSpPr>
          <p:cNvPr id="8" name="Text 6"/>
          <p:cNvSpPr/>
          <p:nvPr/>
        </p:nvSpPr>
        <p:spPr>
          <a:xfrm>
            <a:off x="637936" y="2707779"/>
            <a:ext cx="379219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locally on a development machine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manual execution and intervention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scalability or load considerations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testing and single-user environment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1886" y="2248422"/>
            <a:ext cx="4075705" cy="165705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1887" y="2248422"/>
            <a:ext cx="19049" cy="1657052"/>
          </a:xfrm>
          <a:prstGeom prst="roundRect">
            <a:avLst>
              <a:gd name="adj" fmla="val 111630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713641" y="2390180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</a:t>
            </a:r>
            <a:endParaRPr lang="en-US" sz="1463" dirty="0"/>
          </a:p>
        </p:txBody>
      </p:sp>
      <p:sp>
        <p:nvSpPr>
          <p:cNvPr id="12" name="Text 10"/>
          <p:cNvSpPr/>
          <p:nvPr/>
        </p:nvSpPr>
        <p:spPr>
          <a:xfrm>
            <a:off x="4713641" y="2707779"/>
            <a:ext cx="379219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processes and scheduled workflows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Scales to handle varying and peak loads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monitored and reliable</a:t>
            </a:r>
            <a:endParaRPr lang="en-US" sz="1100" dirty="0"/>
          </a:p>
          <a:p>
            <a:pPr marL="257175" indent="-257175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testing, multi-user, enterprise-ready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3475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869505"/>
            <a:ext cx="1440992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234" y="1911996"/>
            <a:ext cx="17280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METHODS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2192610"/>
            <a:ext cx="5905650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1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Ways to Deploy a Model</a:t>
            </a:r>
            <a:endParaRPr lang="en-US" sz="4013" dirty="0"/>
          </a:p>
        </p:txBody>
      </p:sp>
      <p:sp>
        <p:nvSpPr>
          <p:cNvPr id="5" name="Text 3"/>
          <p:cNvSpPr/>
          <p:nvPr/>
        </p:nvSpPr>
        <p:spPr>
          <a:xfrm>
            <a:off x="496181" y="3047107"/>
            <a:ext cx="86085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primary strategies — each suited to a different use case and latency requirement.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51924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740421"/>
            <a:ext cx="1450517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7" y="787673"/>
            <a:ext cx="172807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METHODS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073051"/>
            <a:ext cx="643286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Three Core Deployment Approaches</a:t>
            </a:r>
            <a:endParaRPr lang="en-US" sz="292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80" y="1750815"/>
            <a:ext cx="2622584" cy="26521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1138" y="1849562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985" y="2336900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Batch Deployment</a:t>
            </a:r>
            <a:endParaRPr lang="en-US" sz="1463" dirty="0"/>
          </a:p>
        </p:txBody>
      </p:sp>
      <p:sp>
        <p:nvSpPr>
          <p:cNvPr id="8" name="Text 5"/>
          <p:cNvSpPr/>
          <p:nvPr/>
        </p:nvSpPr>
        <p:spPr>
          <a:xfrm>
            <a:off x="656985" y="2654499"/>
            <a:ext cx="230097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data in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scheduled intervals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hourly, daily, or on-demand. Predictions are generated in bulk and stored for downstream consumption. Best for non-time-sensitive workloads like churn scoring or demand forecasting.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520" y="1750815"/>
            <a:ext cx="2622658" cy="26521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5551" y="1849562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3421325" y="2336900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API</a:t>
            </a:r>
            <a:endParaRPr lang="en-US" sz="1463" dirty="0"/>
          </a:p>
        </p:txBody>
      </p:sp>
      <p:sp>
        <p:nvSpPr>
          <p:cNvPr id="12" name="Text 8"/>
          <p:cNvSpPr/>
          <p:nvPr/>
        </p:nvSpPr>
        <p:spPr>
          <a:xfrm>
            <a:off x="3421325" y="2654499"/>
            <a:ext cx="2301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instant predictions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via an HTTP API endpoint. Can be standalone or integrated into existing systems. Ideal for fraud detection, recommendation engines, and any use case requiring immediate results.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4933" y="1750815"/>
            <a:ext cx="2622658" cy="26521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9964" y="1849562"/>
            <a:ext cx="21259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6185737" y="2336900"/>
            <a:ext cx="192526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Embedded Deployment</a:t>
            </a:r>
            <a:endParaRPr lang="en-US" sz="1463" dirty="0"/>
          </a:p>
        </p:txBody>
      </p:sp>
      <p:sp>
        <p:nvSpPr>
          <p:cNvPr id="16" name="Text 11"/>
          <p:cNvSpPr/>
          <p:nvPr/>
        </p:nvSpPr>
        <p:spPr>
          <a:xfrm>
            <a:off x="6185738" y="2654499"/>
            <a:ext cx="2301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is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packaged directly into a device or application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running locally on mobile hardware or edge devices without requiring an internet connection. Common in computer vision and NLP on-device applications.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63418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0" y="1756098"/>
            <a:ext cx="860801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233" y="1798588"/>
            <a:ext cx="11478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2079204"/>
            <a:ext cx="5880499" cy="64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1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FastAPI</a:t>
            </a:r>
            <a:endParaRPr lang="en-US" sz="4013" dirty="0"/>
          </a:p>
        </p:txBody>
      </p:sp>
      <p:sp>
        <p:nvSpPr>
          <p:cNvPr id="5" name="Text 3"/>
          <p:cNvSpPr/>
          <p:nvPr/>
        </p:nvSpPr>
        <p:spPr>
          <a:xfrm>
            <a:off x="496181" y="2933700"/>
            <a:ext cx="8151410" cy="453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is a modern, high-performance Python framework for building APIs with automatic documentation and type validation — and the preferred tool for ML model deployment.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1232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1074912"/>
            <a:ext cx="870325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6" y="1122165"/>
            <a:ext cx="11478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407542"/>
            <a:ext cx="417846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FastAPI?</a:t>
            </a:r>
            <a:endParaRPr lang="en-US" sz="292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81" y="2085305"/>
            <a:ext cx="354351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81" y="2616846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 Performance</a:t>
            </a:r>
            <a:endParaRPr lang="en-US" sz="1463" dirty="0"/>
          </a:p>
        </p:txBody>
      </p:sp>
      <p:sp>
        <p:nvSpPr>
          <p:cNvPr id="7" name="Text 4"/>
          <p:cNvSpPr/>
          <p:nvPr/>
        </p:nvSpPr>
        <p:spPr>
          <a:xfrm>
            <a:off x="496181" y="2934444"/>
            <a:ext cx="2598995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Among the fastest Python frameworks — on par with NodeJS and Go. Asynchronous request handling ensures efficient concurrency, making it ideal for high-traffic ML APIs.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351" y="2085305"/>
            <a:ext cx="354351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351" y="2616846"/>
            <a:ext cx="221034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Automatic Documentation</a:t>
            </a:r>
            <a:endParaRPr lang="en-US" sz="1463" dirty="0"/>
          </a:p>
        </p:txBody>
      </p:sp>
      <p:sp>
        <p:nvSpPr>
          <p:cNvPr id="10" name="Text 6"/>
          <p:cNvSpPr/>
          <p:nvPr/>
        </p:nvSpPr>
        <p:spPr>
          <a:xfrm>
            <a:off x="3272352" y="2934444"/>
            <a:ext cx="2598995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OpenAPI-compliant docs are generated automatically. Developers get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Swagger UI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ReDoc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out of the box — no extra effort required for testing or integration</a:t>
            </a:r>
            <a:r>
              <a:rPr lang="en-US" sz="10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88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521" y="2085305"/>
            <a:ext cx="354351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521" y="2616846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Easy ML Integration</a:t>
            </a:r>
            <a:endParaRPr lang="en-US" sz="1463" dirty="0"/>
          </a:p>
        </p:txBody>
      </p:sp>
      <p:sp>
        <p:nvSpPr>
          <p:cNvPr id="13" name="Text 8"/>
          <p:cNvSpPr/>
          <p:nvPr/>
        </p:nvSpPr>
        <p:spPr>
          <a:xfrm>
            <a:off x="6048521" y="2934444"/>
            <a:ext cx="2599070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seamlessly with scikit-learn, TensorFlow, and PyTorch. Pydantic models provide automatic data validation, reducing runtime errors in production pipelines.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775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3574" y="391269"/>
            <a:ext cx="843165" cy="264765"/>
          </a:xfrm>
          <a:prstGeom prst="roundRect">
            <a:avLst>
              <a:gd name="adj" fmla="val 6224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0711" y="437183"/>
            <a:ext cx="1126080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1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623574" y="709241"/>
            <a:ext cx="4614301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13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Deployment Flow</a:t>
            </a:r>
            <a:endParaRPr lang="en-US" sz="281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490" y="1359396"/>
            <a:ext cx="6140792" cy="2810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3500" y="3380318"/>
            <a:ext cx="1152872" cy="46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Return Predictions</a:t>
            </a:r>
            <a:endParaRPr lang="en-US" sz="1463" dirty="0"/>
          </a:p>
        </p:txBody>
      </p:sp>
      <p:sp>
        <p:nvSpPr>
          <p:cNvPr id="7" name="Text 4"/>
          <p:cNvSpPr/>
          <p:nvPr/>
        </p:nvSpPr>
        <p:spPr>
          <a:xfrm>
            <a:off x="4750566" y="3380318"/>
            <a:ext cx="1152872" cy="46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Create Endpoint</a:t>
            </a:r>
            <a:endParaRPr lang="en-US" sz="1463" dirty="0"/>
          </a:p>
        </p:txBody>
      </p:sp>
      <p:sp>
        <p:nvSpPr>
          <p:cNvPr id="8" name="Text 5"/>
          <p:cNvSpPr/>
          <p:nvPr/>
        </p:nvSpPr>
        <p:spPr>
          <a:xfrm>
            <a:off x="3305527" y="3380318"/>
            <a:ext cx="1152872" cy="46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Define Schema</a:t>
            </a:r>
            <a:endParaRPr lang="en-US" sz="1463" dirty="0"/>
          </a:p>
        </p:txBody>
      </p:sp>
      <p:sp>
        <p:nvSpPr>
          <p:cNvPr id="9" name="Text 6"/>
          <p:cNvSpPr/>
          <p:nvPr/>
        </p:nvSpPr>
        <p:spPr>
          <a:xfrm>
            <a:off x="1828903" y="3496916"/>
            <a:ext cx="1152872" cy="23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Model</a:t>
            </a:r>
            <a:endParaRPr lang="en-US" sz="1463" dirty="0"/>
          </a:p>
        </p:txBody>
      </p:sp>
      <p:sp>
        <p:nvSpPr>
          <p:cNvPr id="10" name="Text 7"/>
          <p:cNvSpPr/>
          <p:nvPr/>
        </p:nvSpPr>
        <p:spPr>
          <a:xfrm>
            <a:off x="623574" y="4319513"/>
            <a:ext cx="7896623" cy="432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four-step pattern is the standard structure for any FastAPI-based ML deployment — from loading a serialized model to serving validated, structured predictions.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037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714078"/>
            <a:ext cx="870325" cy="275927"/>
          </a:xfrm>
          <a:prstGeom prst="roundRect">
            <a:avLst>
              <a:gd name="adj" fmla="val 6165"/>
            </a:avLst>
          </a:prstGeom>
          <a:noFill/>
          <a:ln w="635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96" y="761331"/>
            <a:ext cx="11478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FRAMEWORK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046708"/>
            <a:ext cx="623045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Other Python Deployment Options</a:t>
            </a:r>
            <a:endParaRPr lang="en-US" sz="2925" dirty="0"/>
          </a:p>
        </p:txBody>
      </p:sp>
      <p:sp>
        <p:nvSpPr>
          <p:cNvPr id="5" name="Shape 3"/>
          <p:cNvSpPr/>
          <p:nvPr/>
        </p:nvSpPr>
        <p:spPr>
          <a:xfrm>
            <a:off x="496181" y="1724472"/>
            <a:ext cx="1931518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37936" y="1866231"/>
            <a:ext cx="164800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Flask</a:t>
            </a:r>
            <a:endParaRPr lang="en-US" sz="1463" dirty="0"/>
          </a:p>
        </p:txBody>
      </p:sp>
      <p:sp>
        <p:nvSpPr>
          <p:cNvPr id="7" name="Text 5"/>
          <p:cNvSpPr/>
          <p:nvPr/>
        </p:nvSpPr>
        <p:spPr>
          <a:xfrm>
            <a:off x="637936" y="2183830"/>
            <a:ext cx="1648007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Lightweight micro-framework. Simple and flexible for small to medium deployments with minimal overhead.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9454" y="1724472"/>
            <a:ext cx="1931518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2711209" y="1866231"/>
            <a:ext cx="164800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Django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2711209" y="2183830"/>
            <a:ext cx="1648007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Full-featured framework with built-in admin panel and ORM. Best for larger applications needing more structure.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2726" y="1724472"/>
            <a:ext cx="1931518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784482" y="1866231"/>
            <a:ext cx="164800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Streamlit</a:t>
            </a:r>
            <a:endParaRPr lang="en-US" sz="1463" dirty="0"/>
          </a:p>
        </p:txBody>
      </p:sp>
      <p:sp>
        <p:nvSpPr>
          <p:cNvPr id="13" name="Text 11"/>
          <p:cNvSpPr/>
          <p:nvPr/>
        </p:nvSpPr>
        <p:spPr>
          <a:xfrm>
            <a:off x="4784482" y="2183830"/>
            <a:ext cx="1648007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Rapid prototyping for interactive ML dashboards and demos. Not suited for production APIs.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15999" y="1724472"/>
            <a:ext cx="1931592" cy="1735187"/>
          </a:xfrm>
          <a:prstGeom prst="roundRect">
            <a:avLst>
              <a:gd name="adj" fmla="val 1225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7754" y="1866231"/>
            <a:ext cx="164808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Gradio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6857754" y="2183830"/>
            <a:ext cx="1648082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UI builder for ML models with minimal code. Great for sharing models with non-technical stakeholders.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81" y="3601418"/>
            <a:ext cx="8151410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6" y="3743177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MLflow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637936" y="4060776"/>
            <a:ext cx="78679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ML lifecycle management — covers experiment tracking, model registry, and deployment.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0364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680740"/>
            <a:ext cx="1013197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234" y="723231"/>
            <a:ext cx="1300279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63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ENVIRONMENTS</a:t>
            </a:r>
            <a:endParaRPr lang="en-US" sz="863" dirty="0"/>
          </a:p>
        </p:txBody>
      </p:sp>
      <p:sp>
        <p:nvSpPr>
          <p:cNvPr id="4" name="Text 2"/>
          <p:cNvSpPr/>
          <p:nvPr/>
        </p:nvSpPr>
        <p:spPr>
          <a:xfrm>
            <a:off x="496181" y="1003846"/>
            <a:ext cx="513473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Models Get Deployed</a:t>
            </a:r>
            <a:endParaRPr lang="en-US" sz="292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31" y="1681609"/>
            <a:ext cx="4023840" cy="1319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134" y="1842418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 Server</a:t>
            </a:r>
            <a:endParaRPr lang="en-US" sz="1463" dirty="0"/>
          </a:p>
        </p:txBody>
      </p:sp>
      <p:sp>
        <p:nvSpPr>
          <p:cNvPr id="7" name="Text 4"/>
          <p:cNvSpPr/>
          <p:nvPr/>
        </p:nvSpPr>
        <p:spPr>
          <a:xfrm>
            <a:off x="714134" y="2160017"/>
            <a:ext cx="362603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Development and testing on local machines. Ideal for prototyping and initial validation before any production release.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677" y="1681609"/>
            <a:ext cx="4023914" cy="13196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0680" y="1842418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Cloud Platforms</a:t>
            </a:r>
            <a:endParaRPr lang="en-US" sz="1463" dirty="0"/>
          </a:p>
        </p:txBody>
      </p:sp>
      <p:sp>
        <p:nvSpPr>
          <p:cNvPr id="10" name="Text 6"/>
          <p:cNvSpPr/>
          <p:nvPr/>
        </p:nvSpPr>
        <p:spPr>
          <a:xfrm>
            <a:off x="4860680" y="2160017"/>
            <a:ext cx="36261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 deployment on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AWS, Azure, or GCP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Offers managed services, global availability, and pay-as-you-go pricing.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131" y="3143027"/>
            <a:ext cx="4023840" cy="13196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4134" y="3303836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On-Premise</a:t>
            </a:r>
            <a:endParaRPr lang="en-US" sz="1463" dirty="0"/>
          </a:p>
        </p:txBody>
      </p:sp>
      <p:sp>
        <p:nvSpPr>
          <p:cNvPr id="13" name="Text 8"/>
          <p:cNvSpPr/>
          <p:nvPr/>
        </p:nvSpPr>
        <p:spPr>
          <a:xfrm>
            <a:off x="714134" y="3621435"/>
            <a:ext cx="362603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Deployed on the organization's own infrastructure. Full control over hardware and data governance — but requires dedicated maintenance.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677" y="3143027"/>
            <a:ext cx="4023914" cy="13196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60680" y="3303836"/>
            <a:ext cx="186060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6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Docker Containers</a:t>
            </a:r>
            <a:endParaRPr lang="en-US" sz="1463" dirty="0"/>
          </a:p>
        </p:txBody>
      </p:sp>
      <p:sp>
        <p:nvSpPr>
          <p:cNvPr id="16" name="Text 10"/>
          <p:cNvSpPr/>
          <p:nvPr/>
        </p:nvSpPr>
        <p:spPr>
          <a:xfrm>
            <a:off x="4860680" y="3621435"/>
            <a:ext cx="36261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Containerized deployment ensures consistency across environments. Simplifies dependency management and supports microservices architectures.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74129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645095"/>
            <a:ext cx="793234" cy="231651"/>
          </a:xfrm>
          <a:prstGeom prst="roundRect">
            <a:avLst>
              <a:gd name="adj" fmla="val 6609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2676" y="683345"/>
            <a:ext cx="1097432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7000"/>
              </a:lnSpc>
            </a:pPr>
            <a:r>
              <a:rPr lang="en-US" sz="788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CHALLENGES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496180" y="922660"/>
            <a:ext cx="5601230" cy="418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2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Can Go Wrong in Production</a:t>
            </a:r>
            <a:endParaRPr lang="en-US" sz="2625" dirty="0"/>
          </a:p>
        </p:txBody>
      </p:sp>
      <p:sp>
        <p:nvSpPr>
          <p:cNvPr id="5" name="Shape 3"/>
          <p:cNvSpPr/>
          <p:nvPr/>
        </p:nvSpPr>
        <p:spPr>
          <a:xfrm>
            <a:off x="496181" y="1642691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98007" y="1686521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Drift</a:t>
            </a:r>
            <a:endParaRPr lang="en-US" sz="1313" dirty="0"/>
          </a:p>
        </p:txBody>
      </p:sp>
      <p:sp>
        <p:nvSpPr>
          <p:cNvPr id="7" name="Text 5"/>
          <p:cNvSpPr/>
          <p:nvPr/>
        </p:nvSpPr>
        <p:spPr>
          <a:xfrm>
            <a:off x="898007" y="2010593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distribution shifts over time, silently degrading model accuracy without obvious errors.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6181" y="2628082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898007" y="2671912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Scalability</a:t>
            </a:r>
            <a:endParaRPr lang="en-US" sz="1313" dirty="0"/>
          </a:p>
        </p:txBody>
      </p:sp>
      <p:sp>
        <p:nvSpPr>
          <p:cNvPr id="10" name="Text 8"/>
          <p:cNvSpPr/>
          <p:nvPr/>
        </p:nvSpPr>
        <p:spPr>
          <a:xfrm>
            <a:off x="898007" y="2995985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Systems must handle load spikes gracefully — from near-zero traffic to sudden peak demand.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6181" y="3613473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98007" y="3657303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Latency</a:t>
            </a:r>
            <a:endParaRPr lang="en-US" sz="1313" dirty="0"/>
          </a:p>
        </p:txBody>
      </p:sp>
      <p:sp>
        <p:nvSpPr>
          <p:cNvPr id="13" name="Text 11"/>
          <p:cNvSpPr/>
          <p:nvPr/>
        </p:nvSpPr>
        <p:spPr>
          <a:xfrm>
            <a:off x="898007" y="3981376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Response time requirements demand careful optimization of inference pipelines and infrastructure.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2245" y="1642691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5134070" y="1686521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Security</a:t>
            </a:r>
            <a:endParaRPr lang="en-US" sz="1313" dirty="0"/>
          </a:p>
        </p:txBody>
      </p:sp>
      <p:sp>
        <p:nvSpPr>
          <p:cNvPr id="16" name="Text 14"/>
          <p:cNvSpPr/>
          <p:nvPr/>
        </p:nvSpPr>
        <p:spPr>
          <a:xfrm>
            <a:off x="5134070" y="2010593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and data must be protected from unauthorized access and adversarial inputs.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2245" y="2628082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134070" y="2671912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Versioning</a:t>
            </a:r>
            <a:endParaRPr lang="en-US" sz="1313" dirty="0"/>
          </a:p>
        </p:txBody>
      </p:sp>
      <p:sp>
        <p:nvSpPr>
          <p:cNvPr id="19" name="Text 17"/>
          <p:cNvSpPr/>
          <p:nvPr/>
        </p:nvSpPr>
        <p:spPr>
          <a:xfrm>
            <a:off x="5134070" y="2995985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Managing multiple model versions and ensuring seamless, zero-downtime transitions between updates.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32245" y="3613473"/>
            <a:ext cx="287008" cy="287015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5134070" y="3657303"/>
            <a:ext cx="1674572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13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</a:t>
            </a:r>
            <a:endParaRPr lang="en-US" sz="1313" dirty="0"/>
          </a:p>
        </p:txBody>
      </p:sp>
      <p:sp>
        <p:nvSpPr>
          <p:cNvPr id="22" name="Text 20"/>
          <p:cNvSpPr/>
          <p:nvPr/>
        </p:nvSpPr>
        <p:spPr>
          <a:xfrm>
            <a:off x="5134070" y="3981376"/>
            <a:ext cx="3518283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7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tracking of model performance, system health, and downstream business metrics is essential.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34063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81" y="420886"/>
            <a:ext cx="968326" cy="248692"/>
          </a:xfrm>
          <a:prstGeom prst="roundRect">
            <a:avLst>
              <a:gd name="adj" fmla="val 6498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6919" y="461219"/>
            <a:ext cx="1264040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825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TAKEAWAYS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96181" y="720701"/>
            <a:ext cx="3992363" cy="441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75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to Remember</a:t>
            </a:r>
            <a:endParaRPr lang="en-US" sz="277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81" y="1354486"/>
            <a:ext cx="4011710" cy="16200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21262" y="1455465"/>
            <a:ext cx="161549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38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649843" y="1893094"/>
            <a:ext cx="2679434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Makes Models Usable</a:t>
            </a:r>
            <a:endParaRPr lang="en-US" sz="1388" dirty="0"/>
          </a:p>
        </p:txBody>
      </p:sp>
      <p:sp>
        <p:nvSpPr>
          <p:cNvPr id="8" name="Text 5"/>
          <p:cNvSpPr/>
          <p:nvPr/>
        </p:nvSpPr>
        <p:spPr>
          <a:xfrm>
            <a:off x="649842" y="2190676"/>
            <a:ext cx="370438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 value is only realized in production. A model that never deploys has zero business impact.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806" y="1354486"/>
            <a:ext cx="4011785" cy="16200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0887" y="1455465"/>
            <a:ext cx="161549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38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238" dirty="0"/>
          </a:p>
        </p:txBody>
      </p:sp>
      <p:sp>
        <p:nvSpPr>
          <p:cNvPr id="11" name="Text 7"/>
          <p:cNvSpPr/>
          <p:nvPr/>
        </p:nvSpPr>
        <p:spPr>
          <a:xfrm>
            <a:off x="4789468" y="1893094"/>
            <a:ext cx="1767587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APIs Are the Standard</a:t>
            </a:r>
            <a:endParaRPr lang="en-US" sz="1388" dirty="0"/>
          </a:p>
        </p:txBody>
      </p:sp>
      <p:sp>
        <p:nvSpPr>
          <p:cNvPr id="12" name="Text 8"/>
          <p:cNvSpPr/>
          <p:nvPr/>
        </p:nvSpPr>
        <p:spPr>
          <a:xfrm>
            <a:off x="4789468" y="2190676"/>
            <a:ext cx="3704462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API-based deployment enables seamless integration with existing apps — supporting both real-time and batch prediction.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81" y="3102472"/>
            <a:ext cx="4011710" cy="16200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21262" y="3203451"/>
            <a:ext cx="161549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38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238" dirty="0"/>
          </a:p>
        </p:txBody>
      </p:sp>
      <p:sp>
        <p:nvSpPr>
          <p:cNvPr id="15" name="Text 10"/>
          <p:cNvSpPr/>
          <p:nvPr/>
        </p:nvSpPr>
        <p:spPr>
          <a:xfrm>
            <a:off x="649842" y="3641080"/>
            <a:ext cx="2093216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Is a Preferred Tool</a:t>
            </a:r>
            <a:endParaRPr lang="en-US" sz="1388" dirty="0"/>
          </a:p>
        </p:txBody>
      </p:sp>
      <p:sp>
        <p:nvSpPr>
          <p:cNvPr id="16" name="Text 11"/>
          <p:cNvSpPr/>
          <p:nvPr/>
        </p:nvSpPr>
        <p:spPr>
          <a:xfrm>
            <a:off x="649842" y="3938662"/>
            <a:ext cx="3704388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performance, auto-docs, and native ML library support make FastAPI the leading choice for production model APIs.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806" y="3102472"/>
            <a:ext cx="4011785" cy="16200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60887" y="3203451"/>
            <a:ext cx="161549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238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238" dirty="0"/>
          </a:p>
        </p:txBody>
      </p:sp>
      <p:sp>
        <p:nvSpPr>
          <p:cNvPr id="19" name="Text 13"/>
          <p:cNvSpPr/>
          <p:nvPr/>
        </p:nvSpPr>
        <p:spPr>
          <a:xfrm>
            <a:off x="4789467" y="3641080"/>
            <a:ext cx="2100806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88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Deployment Is Continuous</a:t>
            </a:r>
            <a:endParaRPr lang="en-US" sz="1388" dirty="0"/>
          </a:p>
        </p:txBody>
      </p:sp>
      <p:sp>
        <p:nvSpPr>
          <p:cNvPr id="20" name="Text 14"/>
          <p:cNvSpPr/>
          <p:nvPr/>
        </p:nvSpPr>
        <p:spPr>
          <a:xfrm>
            <a:off x="4789468" y="3938662"/>
            <a:ext cx="3704462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not a one-time event. Monitoring, retraining, versioning, and improvement are ongoing responsibilities.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28131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942</Words>
  <Application>Microsoft Macintosh PowerPoint</Application>
  <PresentationFormat>On-screen Show (16:9)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PT Serif Light</vt:lpstr>
      <vt:lpstr>PT Serif</vt:lpstr>
      <vt:lpstr>Calibri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12</cp:revision>
  <dcterms:created xsi:type="dcterms:W3CDTF">2026-05-29T10:16:25Z</dcterms:created>
  <dcterms:modified xsi:type="dcterms:W3CDTF">2026-06-11T05:38:42Z</dcterms:modified>
</cp:coreProperties>
</file>