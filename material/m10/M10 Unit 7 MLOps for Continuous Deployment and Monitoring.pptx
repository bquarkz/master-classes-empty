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9144000" cy="5143500" type="screen16x9"/>
  <p:notesSz cx="5143500" cy="9144000"/>
  <p:embeddedFontLst>
    <p:embeddedFont>
      <p:font typeface="DM Sans" pitchFamily="2" charset="77"/>
      <p:regular r:id="rId23"/>
      <p:bold r:id="rId24"/>
    </p:embeddedFont>
    <p:embeddedFont>
      <p:font typeface="PT Serif" panose="020A0603040505020204" pitchFamily="18" charset="77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949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44985"/>
            <a:ext cx="378053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MLOps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280005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Bridging Machine Learning, DevOps, and Data Engineering to build reliable, scalable AI systems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4704"/>
            <a:ext cx="343428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6203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42269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512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26881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 to MLOps · Need for MLOps · ML Lifecycle · DevOps vs MLOps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203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42269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51211"/>
            <a:ext cx="217579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 &amp; Versioning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2842" y="2268810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MLOps Architecture · Version Control · Data Versioning · Experiment Tracking · Model Registry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97046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92363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01305"/>
            <a:ext cx="242493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&amp; Infrastructure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6119" y="3618905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CI/CD for ML · Containerization (Docker) · Orchestration (Kubernetes)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297046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192363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01305"/>
            <a:ext cx="207793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Operations &amp; Case Study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42842" y="3618905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&amp; Retraining · End-to-End Case Study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450" y="554088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MLOps?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34132" y="1281634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MLOps (Machine Learning Operations) is a set of practices that combines Machine Learning, DevOps, and Data Engineering to automate and manage the ML lifecycle. Unlike traditional software deployment — which focuses on code — ML systems require simultaneous management of code, data, models, and infrastructure.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39665"/>
            <a:ext cx="401389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5636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Deployment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0092" y="2841575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Streamline model releases to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33987" y="2439665"/>
            <a:ext cx="401389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57961" y="25636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Reproducibility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7961" y="2841575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Consistent, repeatable results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87985"/>
            <a:ext cx="401389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092" y="341195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0092" y="368989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teamwork across disciplines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3987" y="3287985"/>
            <a:ext cx="401389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7961" y="341195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7961" y="368989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maintenance and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082" y="679549"/>
            <a:ext cx="358080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Components of MLOps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72082" y="132215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MLOps spans five interconnected pillars that must all be managed together for a successful production ML system.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113434"/>
            <a:ext cx="2634555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25169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4380" y="2529632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Versioned, validated, and pipeline-ready datasets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4648" y="2113434"/>
            <a:ext cx="2634630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225169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2909" y="2529632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code for training, evaluation, and serving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3252" y="2113434"/>
            <a:ext cx="2634555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225169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1513" y="2529632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artifacts stored and tracked in a registry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188791"/>
            <a:ext cx="4013820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380" y="332705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4380" y="3604989"/>
            <a:ext cx="37372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Compute, containers, and orchestration layers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3913" y="3188791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174" y="332705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72174" y="3604989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performance and drift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742" y="615292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MLOps is Needed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17742" y="11685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may perform well in a notebook but fail in production. Without MLOps, teams face a range of recurring problems that erode reliability and business value.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049587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145" y="204579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Deployment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9145" y="2323728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Error-prone, slow, and hard to repeat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74" y="2049587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52492" y="2045791"/>
            <a:ext cx="196415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Inconsistent Environments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52492" y="2323728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behaves differently across machines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774007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9145" y="277021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Version Control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99145" y="3048149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mpossible to trace what changed and when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74" y="2774007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52492" y="277021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Drift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052492" y="3048149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Incoming data shifts, degrading model accuracy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6119" y="3386138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92" y="3565922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3528715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fraud detection model achieved 95% accuracy in development. After deployment, customer behavior changed and accuracy dropped to 75% — causing increasing business losses without monitoring or automated retraining.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001" y="641821"/>
            <a:ext cx="413399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Machine Learning Lifecycle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24496" y="127501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traditional software, ML systems require continuous improvement after deployment. The lifecycle is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iterative rather than linear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teams loop back through stages as new data arrives and model performance evolves.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2083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04839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95401"/>
            <a:ext cx="273479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Definition &amp; Data Collection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77333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objectives and gather raw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3987" y="22083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404839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495401"/>
            <a:ext cx="292663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Preparation &amp; Feature Engineering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3987" y="277333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Clean, transform, and engineer inputs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8879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8524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75806"/>
            <a:ext cx="245841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Development &amp; Evaluation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6119" y="375374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Train, validate, and select the best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3987" y="318879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38524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475806"/>
            <a:ext cx="277170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Deployment, Monitoring &amp; Retraining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3987" y="375374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 in production and continuously improve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071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DevOps vs. MLOps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8" y="118102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MLOps extends DevOps principles to handle the unique complexity of machine learning systems. The key difference: model performance may change even when code remains unchanged, because incoming data changes over time.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39689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004" y="2123629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Aspect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0526" y="2123629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DevOps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73105" y="2123629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MLOps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004" y="248520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Asset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60526" y="2485206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73105" y="2485206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+ Data +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004" y="284678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526" y="2846784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Testing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73105" y="2846784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Validation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004" y="320836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0526" y="3208362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Deployment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73105" y="3208362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Deployment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356994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0526" y="3569940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Metrics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73105" y="3569940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+ Model Metrics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004" y="393151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0526" y="3931518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Versioning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73105" y="3931518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Code, Data &amp; Model Versioning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894"/>
            <a:ext cx="3946773" cy="3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MLOps Architecture &amp; Workflow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8" y="711993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typical MLOps pipeline automates every stage from raw data to production monitoring, delivering automation, scalability, reproducibility, and governance.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7043"/>
            <a:ext cx="571723" cy="686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3212" y="1461343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Pipeline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73212" y="1712193"/>
            <a:ext cx="747466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 and validate from sources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033141"/>
            <a:ext cx="571723" cy="6860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3212" y="2147441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73212" y="2398291"/>
            <a:ext cx="747466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 data into model inputs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719239"/>
            <a:ext cx="571723" cy="6860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3212" y="2833539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&amp; Validate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73212" y="3084388"/>
            <a:ext cx="747466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and evaluate models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405336"/>
            <a:ext cx="571723" cy="6860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3212" y="3519636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Registry &amp; Deploy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73212" y="3770486"/>
            <a:ext cx="747466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Store, approve, and release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4091434"/>
            <a:ext cx="571723" cy="6860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3212" y="4205734"/>
            <a:ext cx="1500857" cy="187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 &amp; Retrain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73212" y="4456584"/>
            <a:ext cx="747466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performance and iterate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8395"/>
            <a:ext cx="345028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Version Control in MLOps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42205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 projects involve far more than source code. Every artifact must be versioned to ensure traceability and reproducibility.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8401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to Version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211512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code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datasets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models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8046" y="188401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Common Tools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8046" y="2211512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GitLab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Bitbucket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28046" y="3275037"/>
            <a:ext cx="3924598" cy="880542"/>
          </a:xfrm>
          <a:prstGeom prst="roundRect">
            <a:avLst>
              <a:gd name="adj" fmla="val 2113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459584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0998" y="3417615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Version 1 — Accuracy 82%. Version 2 (new features added) — Accuracy 88%. Version control tracks every modification.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0386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Versioning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27222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changes frequently. A model trained on one dataset may produce different results when trained on another. Data versioning ensures reproducibility, auditability, and collaboration across teams.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70509"/>
            <a:ext cx="2634555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30877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DVC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4380" y="2586707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Version Control — lightweight, Git-integrated data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4648" y="2170509"/>
            <a:ext cx="2634630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230877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LakeFS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2909" y="2586707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Git-like branching and versioning for data lakes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3252" y="2170509"/>
            <a:ext cx="2634555" cy="95138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230877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Delta Lake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1513" y="2586707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ACID transactions and versioned storage for big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261420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FFCDB3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441204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403997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Dataset V1 = January data. Dataset V2 = January + February data. Each version can be retrieved independently when needed.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2135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Experiment Tracking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47233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scientists often run hundreds of experiments, each using different algorithms, hyperparameters, or datasets. Experiment tracking captures every run so results can be compared, reproduced, and audited.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4131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Gets Tracked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868811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Accuracy, Precision, Recall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Hyperparameters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time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version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8046" y="254131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Tools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8046" y="2868811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MLflow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 &amp; Biases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Neptune AI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1950"/>
            <a:ext cx="3021434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Registry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22809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registry is a central repository that stores trained models and their metadata, enabling governance, traceability, and easier deployment across the organization.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64856" y="1445716"/>
            <a:ext cx="14288" cy="3006775"/>
          </a:xfrm>
          <a:prstGeom prst="roundRect">
            <a:avLst>
              <a:gd name="adj" fmla="val 128193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082653" y="1575941"/>
            <a:ext cx="366266" cy="14288"/>
          </a:xfrm>
          <a:prstGeom prst="roundRect">
            <a:avLst>
              <a:gd name="adj" fmla="val 128193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4434632" y="1445716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475857" y="1462906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58851" y="1487686"/>
            <a:ext cx="1602656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6119" y="1760116"/>
            <a:ext cx="34653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trained and logged with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5081" y="2304678"/>
            <a:ext cx="366266" cy="14288"/>
          </a:xfrm>
          <a:prstGeom prst="roundRect">
            <a:avLst>
              <a:gd name="adj" fmla="val 128193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632" y="2174453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857" y="2191643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82493" y="2216423"/>
            <a:ext cx="1602656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Staging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82493" y="2488853"/>
            <a:ext cx="34653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against held-out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82653" y="2934221"/>
            <a:ext cx="366266" cy="14288"/>
          </a:xfrm>
          <a:prstGeom prst="roundRect">
            <a:avLst>
              <a:gd name="adj" fmla="val 128193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632" y="2803996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475857" y="2821186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58851" y="2845966"/>
            <a:ext cx="1602656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6119" y="3118396"/>
            <a:ext cx="34653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Approved and serving live traffic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5081" y="3563838"/>
            <a:ext cx="366266" cy="14288"/>
          </a:xfrm>
          <a:prstGeom prst="roundRect">
            <a:avLst>
              <a:gd name="adj" fmla="val 128193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632" y="3433614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4475857" y="3450803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82493" y="3475583"/>
            <a:ext cx="1602656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Archived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82493" y="3748013"/>
            <a:ext cx="34653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Retired but retained for audit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119" y="4587701"/>
            <a:ext cx="86089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functions include model storage, version management, approval workflows, and deployment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227"/>
            <a:ext cx="370269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CI/CD for Machine Learning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72588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Integration and Continuous Deployment bring automation and reliability to the ML release process, reducing manual effort and deployment risk.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386310"/>
            <a:ext cx="247344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Integration (CI)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71380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tests code whenever changes occur.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023890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validation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 testing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validation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28046" y="2386310"/>
            <a:ext cx="259571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Deployment (CD)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28046" y="271380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deploys approved models into production.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8046" y="3023890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releases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manual effort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deployment risk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3956"/>
            <a:ext cx="387667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Containerization with Docker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74761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packages an application together with all its dependencies, ensuring consistent behavior across environments — from a developer's laptop to a cloud server.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84065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4080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Image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0092" y="2685976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Immutable snapshot of the application and its environment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4648" y="2284065"/>
            <a:ext cx="263463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378622" y="24080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Container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78622" y="2685976"/>
            <a:ext cx="23866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Running instance of an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3252" y="2284065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37225" y="24080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Registry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37225" y="2685976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 store for sharing and versioning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46400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526185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48897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sentiment analysis API developed on a laptop behaves identically when deployed on a cloud server.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0415"/>
            <a:ext cx="403086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Orchestration with Kubernetes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3940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Kubernetes automates the deployment and management of containers at scale, making ML systems resilient and responsive to changing demand.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30524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0687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Auto-Scaling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4380" y="2346722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adjusts capacity based on traffic load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33987" y="1930524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2248" y="20687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Balancing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72248" y="2346722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Distributes requests evenly across containers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07419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380" y="294568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Fault Tolerance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4380" y="3223617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Restarts failed containers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3987" y="2807419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2248" y="2945681"/>
            <a:ext cx="164209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Resource Management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72248" y="3223617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Optimizes CPU and memory allocation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699867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FFCDB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879652"/>
            <a:ext cx="155004" cy="12397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9071" y="3842445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user traffic increases suddenly, Kubernetes automatically launches additional containers to handle the load.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4318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MLflow for MLOps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30797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MLflow is one of the most widely used open-source MLOps platforms, offering easy integration and broad industry adoption across all stages of the ML lifecycle.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44427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20092" y="196840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2070646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46444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Tracking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0092" y="2742381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experiment details, metrics, and parameters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33987" y="1844427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7961" y="196840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280" y="2070646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7961" y="246444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57961" y="2742381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Packages ML code for reproducible runs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3188791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20092" y="331276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412" y="3415010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092" y="380880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0092" y="408674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and serves trained model artifacts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33987" y="3188791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7961" y="3312765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0280" y="3415010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7961" y="380880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Registry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7961" y="408674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Manages the full model lifecycle from dev to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6051"/>
            <a:ext cx="334714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&amp; Retraining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71970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Deploying a model is not the end — continuous monitoring ensures it keeps delivering value as real-world data evolves.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81671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to Monitor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509168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&amp; prediction distribution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 &amp; resource utilization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drift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8046" y="2181671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Retraining Triggers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8046" y="2509168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falls below threshold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 drift detected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data becomes available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374231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FFCDB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554016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071" y="3516809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credit scoring model is retrained every month using the latest customer data to maintain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4654"/>
            <a:ext cx="463793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Study: Loan Default Prediction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73831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end-to-end MLOps pipeline demonstrates how all components work together in a real production system.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20027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2527771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Historical loan data collected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engineered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 model trained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8046" y="2200275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MLOps Stack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8046" y="2527771"/>
            <a:ext cx="3924598" cy="1407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 — code versioning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DVC — data versioning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MLflow — experiment tracking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— packaging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Kubernetes — deployment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— performance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742" y="656556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Study: Outcomes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84509" y="138368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applying a full MLOps pipeline to the loan default prediction system, the team achieved a reliable, automated production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8452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99145" y="2427163"/>
            <a:ext cx="173652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Deployment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9145" y="2705100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released to production without manual intervention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9465" y="238452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052492" y="2427163"/>
            <a:ext cx="170132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52492" y="2705100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alerts on performance degradation and drift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5158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99145" y="319422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Scheduled Retraining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9145" y="3472160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stays current as new loan data arrives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9465" y="315158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052492" y="3194224"/>
            <a:ext cx="198856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Reliable Production 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52492" y="3472160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Consistent, auditable, and scalable in operation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5473"/>
            <a:ext cx="30621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7391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35584"/>
            <a:ext cx="263455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026146"/>
            <a:ext cx="2634555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MLOps unifies ML, DevOps, and Data Engineering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507605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Managing code, data, models, and infrastructure together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4648" y="17391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1935584"/>
            <a:ext cx="263463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8" y="2026146"/>
            <a:ext cx="2634630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ML lifecycle is iterative, not linear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54648" y="2507605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improvement is required after every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3252" y="17391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1935584"/>
            <a:ext cx="263455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252" y="2026146"/>
            <a:ext cx="2634555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Version control applies to everything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13252" y="2507605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Code, data, and models must all be tracked and reproducible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2152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317974"/>
            <a:ext cx="40138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08536"/>
            <a:ext cx="353690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Automation reduces risk and accelerates delivery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6119" y="3686473"/>
            <a:ext cx="40138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CI/CD, containers, and orchestration make releases reliable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3913" y="312152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3913" y="331797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913" y="3408536"/>
            <a:ext cx="206603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is never optional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3913" y="368647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drift and model degradation require ongoing vigilance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1419</Words>
  <Application>Microsoft Macintosh PowerPoint</Application>
  <PresentationFormat>On-screen Show (16:9)</PresentationFormat>
  <Paragraphs>257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DM Sans</vt:lpstr>
      <vt:lpstr>PT Serif Light</vt:lpstr>
      <vt:lpstr>PT Serif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2026-06-22T08:28:26Z</dcterms:created>
  <dcterms:modified xsi:type="dcterms:W3CDTF">2026-06-22T09:20:48Z</dcterms:modified>
</cp:coreProperties>
</file>