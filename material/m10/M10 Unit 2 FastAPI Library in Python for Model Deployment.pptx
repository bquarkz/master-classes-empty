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82" r:id="rId5"/>
    <p:sldId id="260" r:id="rId6"/>
    <p:sldId id="286" r:id="rId7"/>
    <p:sldId id="262" r:id="rId8"/>
    <p:sldId id="263" r:id="rId9"/>
    <p:sldId id="264" r:id="rId10"/>
    <p:sldId id="265" r:id="rId11"/>
    <p:sldId id="266" r:id="rId12"/>
    <p:sldId id="267" r:id="rId13"/>
    <p:sldId id="287" r:id="rId14"/>
    <p:sldId id="288" r:id="rId15"/>
    <p:sldId id="289" r:id="rId16"/>
    <p:sldId id="272" r:id="rId17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DM Sans" pitchFamily="2" charset="0"/>
      <p:regular r:id="rId23"/>
      <p:bold r:id="rId24"/>
      <p:boldItalic r:id="rId25"/>
    </p:embeddedFont>
    <p:embeddedFont>
      <p:font typeface="PT Serif" panose="020A0603040505020204" pitchFamily="18" charset="0"/>
      <p:regular r:id="rId26"/>
      <p:bold r:id="rId27"/>
      <p: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3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955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413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916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123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27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029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12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17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01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982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7717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973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474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555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9515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223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75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4833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us-stock-fastapi.onrender.com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80" y="2144986"/>
            <a:ext cx="7158752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FastAPI Python Library for Model Deployment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81" y="2800052"/>
            <a:ext cx="860859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Building production-ready APIs for machine learning and data science applications — from core concepts to a live </a:t>
            </a:r>
          </a:p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stock analytics project.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73050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80" y="1127299"/>
            <a:ext cx="3713318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81" y="1782366"/>
            <a:ext cx="248016" cy="155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496181" y="1978819"/>
            <a:ext cx="2634490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496181" y="2069381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Understanding APIs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496181" y="2347317"/>
            <a:ext cx="26344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APIs are, how they work, and why they matter for data science systems.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54641" y="1782366"/>
            <a:ext cx="248016" cy="155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3254641" y="1978819"/>
            <a:ext cx="2634490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3254641" y="2069381"/>
            <a:ext cx="1718699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FastAPI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3254641" y="2347317"/>
            <a:ext cx="26344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capabilities, design philosophy, and what makes FastAPI stand out.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13101" y="1782366"/>
            <a:ext cx="248016" cy="155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6013101" y="1978819"/>
            <a:ext cx="2634490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3" name="Text 11"/>
          <p:cNvSpPr/>
          <p:nvPr/>
        </p:nvSpPr>
        <p:spPr>
          <a:xfrm>
            <a:off x="6013101" y="2069381"/>
            <a:ext cx="171661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FastAPI in Data Science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6013101" y="2347317"/>
            <a:ext cx="26344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Real-world use cases across model deployment, automation, and dashboards.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81" y="2961234"/>
            <a:ext cx="248016" cy="155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496180" y="3157686"/>
            <a:ext cx="4013720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81" y="3248249"/>
            <a:ext cx="2136151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Building a Real-World Project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496180" y="3526185"/>
            <a:ext cx="401372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Step-by-step construction of a live stock analytics API </a:t>
            </a:r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scratch.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33871" y="2961234"/>
            <a:ext cx="248016" cy="155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75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4633871" y="3157686"/>
            <a:ext cx="4013720" cy="14288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4633872" y="3248249"/>
            <a:ext cx="1952576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End-to-End System Design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4633871" y="3526185"/>
            <a:ext cx="401372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Connecting frontend, backend, data logic, and cloud deployment into one complete system.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54738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9326" y="450539"/>
            <a:ext cx="3713318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an API?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3996" y="1358155"/>
            <a:ext cx="815141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= Application Programming Interface.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set of rules, protocols, and tools that define how software components interact, communicate, and exchange data with each other. APIs are the backbone of modern software systems — enabling interoperability across platforms, languages, and environments.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81" y="2606874"/>
            <a:ext cx="2634490" cy="1319734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20151" y="2693716"/>
            <a:ext cx="1749952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Request-Response Cycle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620151" y="2934370"/>
            <a:ext cx="2634488" cy="79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client sends a request with parameters and authentication. The server processes it, executes business logic, and returns structured JSON or XML.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54641" y="2606874"/>
            <a:ext cx="2634490" cy="1319734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3378612" y="2730848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HTTP Methods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3378611" y="3008784"/>
            <a:ext cx="2386548" cy="79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</a:t>
            </a: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retrieves data · </a:t>
            </a: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</a:t>
            </a: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creates data · </a:t>
            </a: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PUT</a:t>
            </a: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updates data · </a:t>
            </a: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DELETE</a:t>
            </a: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removes data. Each method communicates intent clearly to the server.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13101" y="2606874"/>
            <a:ext cx="2634490" cy="1319734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137072" y="2730848"/>
            <a:ext cx="2154903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Standardized Communication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6137072" y="3008784"/>
            <a:ext cx="2386548" cy="79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APIs provide a universal language for applications to talk to each other — across platforms, programming languages, and cloud environments</a:t>
            </a:r>
            <a:r>
              <a:rPr lang="en-US" sz="975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975" dirty="0"/>
          </a:p>
        </p:txBody>
      </p:sp>
    </p:spTree>
    <p:extLst>
      <p:ext uri="{BB962C8B-B14F-4D97-AF65-F5344CB8AC3E}">
        <p14:creationId xmlns:p14="http://schemas.microsoft.com/office/powerpoint/2010/main" val="3697590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511" y="468260"/>
            <a:ext cx="3713318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FastAPI?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81" y="1093040"/>
            <a:ext cx="815141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modern, high-performance Python web framework designed for building APIs with automatic validation, serialization, and interactive documentation — with minimal code and maximum performance.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81" y="2077790"/>
            <a:ext cx="8151410" cy="682079"/>
          </a:xfrm>
          <a:prstGeom prst="roundRect">
            <a:avLst>
              <a:gd name="adj" fmla="val 2728"/>
            </a:avLst>
          </a:prstGeom>
          <a:solidFill>
            <a:srgbClr val="B6D6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52" y="2257573"/>
            <a:ext cx="155000" cy="1239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9123" y="2220367"/>
            <a:ext cx="762449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0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simple words:</a:t>
            </a: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FastAPI turns your Python functions — ML predictions, database queries, business logic — into web services that any application can call over the internet. Write a Python function, add a decorator, and it becomes a live API endpoint.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6181" y="2899395"/>
            <a:ext cx="2634490" cy="135783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4439" y="3037657"/>
            <a:ext cx="1941861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Built on Modern Standards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634439" y="3315593"/>
            <a:ext cx="2620202" cy="79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FastAPI is built on top of Starlette for the web layer and Pydantic for data validation — both battle-tested and production-proven libraries.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54641" y="2899395"/>
            <a:ext cx="2634490" cy="135783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92899" y="3037657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Async-First Design</a:t>
            </a:r>
            <a:endParaRPr lang="en-US" sz="1275" dirty="0"/>
          </a:p>
        </p:txBody>
      </p:sp>
      <p:sp>
        <p:nvSpPr>
          <p:cNvPr id="12" name="Text 9"/>
          <p:cNvSpPr/>
          <p:nvPr/>
        </p:nvSpPr>
        <p:spPr>
          <a:xfrm>
            <a:off x="3392899" y="3315593"/>
            <a:ext cx="2357974" cy="80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Native support for Python's </a:t>
            </a:r>
            <a:r>
              <a:rPr lang="en-US" sz="11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r>
              <a:rPr lang="en-US" sz="11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syntax enables non-blocking I/O — critical for high-throughput ML inference services.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13101" y="2899395"/>
            <a:ext cx="2634490" cy="135783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1359" y="3037657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Minimal Boilerplate</a:t>
            </a:r>
            <a:endParaRPr lang="en-US" sz="1275" dirty="0"/>
          </a:p>
        </p:txBody>
      </p:sp>
      <p:sp>
        <p:nvSpPr>
          <p:cNvPr id="15" name="Text 12"/>
          <p:cNvSpPr/>
          <p:nvPr/>
        </p:nvSpPr>
        <p:spPr>
          <a:xfrm>
            <a:off x="6151359" y="3315593"/>
            <a:ext cx="2496232" cy="79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would take hundreds of lines in Flask or Django can be expressed in tens of lines with FastAPI — without sacrificing robustness or correctness.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74654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80" y="1032347"/>
            <a:ext cx="3713318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Choose FastAPI?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894" y="1687413"/>
            <a:ext cx="4028007" cy="11498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7299" y="1825675"/>
            <a:ext cx="1838354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Blazing Fast Performance</a:t>
            </a:r>
            <a:endParaRPr lang="en-US" sz="1275" dirty="0"/>
          </a:p>
        </p:txBody>
      </p:sp>
      <p:sp>
        <p:nvSpPr>
          <p:cNvPr id="5" name="Text 2"/>
          <p:cNvSpPr/>
          <p:nvPr/>
        </p:nvSpPr>
        <p:spPr>
          <a:xfrm>
            <a:off x="677299" y="2103612"/>
            <a:ext cx="369434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Execution speed comparable to Node.js and Go, powered by async support, efficient routing, and ASGI server compatibility. One of the fastest Python frameworks available today.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9584" y="1687413"/>
            <a:ext cx="4028007" cy="11498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14991" y="1825675"/>
            <a:ext cx="193434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Automatic Documentation</a:t>
            </a:r>
            <a:endParaRPr lang="en-US" sz="1275" dirty="0"/>
          </a:p>
        </p:txBody>
      </p:sp>
      <p:sp>
        <p:nvSpPr>
          <p:cNvPr id="8" name="Text 4"/>
          <p:cNvSpPr/>
          <p:nvPr/>
        </p:nvSpPr>
        <p:spPr>
          <a:xfrm>
            <a:off x="4814990" y="2103612"/>
            <a:ext cx="369434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Swagger UI and ReDoc generated automatically from your code annotations and type hints — no extra setup required. Your API is self-documenting from day one.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894" y="2961233"/>
            <a:ext cx="4028007" cy="114984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7300" y="3099495"/>
            <a:ext cx="1805463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Type Safety &amp; Validation</a:t>
            </a:r>
            <a:endParaRPr lang="en-US" sz="1275" dirty="0"/>
          </a:p>
        </p:txBody>
      </p:sp>
      <p:sp>
        <p:nvSpPr>
          <p:cNvPr id="11" name="Text 6"/>
          <p:cNvSpPr/>
          <p:nvPr/>
        </p:nvSpPr>
        <p:spPr>
          <a:xfrm>
            <a:off x="677299" y="3377431"/>
            <a:ext cx="383260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Built-in data validation using Python type hints and Pydantic models, catching errors before they reach business logic. Invalid requests are rejected automatically with clear error messages.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9584" y="2961233"/>
            <a:ext cx="4028007" cy="114984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14991" y="3099495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ML Integration</a:t>
            </a:r>
            <a:endParaRPr lang="en-US" sz="1275" dirty="0"/>
          </a:p>
        </p:txBody>
      </p:sp>
      <p:sp>
        <p:nvSpPr>
          <p:cNvPr id="14" name="Text 8"/>
          <p:cNvSpPr/>
          <p:nvPr/>
        </p:nvSpPr>
        <p:spPr>
          <a:xfrm>
            <a:off x="4814990" y="3377431"/>
            <a:ext cx="369434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Seamless compatibility with scikit-learn, TensorFlow, pandas, and other major ML and data science libraries. Deploy any trained model as a REST endpoint in minutes.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77522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0810" y="361208"/>
            <a:ext cx="5014415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FastAPI Processes a Request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699" y="1220018"/>
            <a:ext cx="6750377" cy="30377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13525" y="1354198"/>
            <a:ext cx="1181310" cy="19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2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Client Request</a:t>
            </a:r>
            <a:endParaRPr lang="en-US" sz="1200" b="1" dirty="0"/>
          </a:p>
        </p:txBody>
      </p:sp>
      <p:sp>
        <p:nvSpPr>
          <p:cNvPr id="7" name="Text 4"/>
          <p:cNvSpPr/>
          <p:nvPr/>
        </p:nvSpPr>
        <p:spPr>
          <a:xfrm>
            <a:off x="2042117" y="1582637"/>
            <a:ext cx="1661789" cy="266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 call with headers and params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381855" y="3565762"/>
            <a:ext cx="1187801" cy="19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2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Request Routing</a:t>
            </a:r>
            <a:endParaRPr lang="en-US" sz="1200" b="1" dirty="0"/>
          </a:p>
        </p:txBody>
      </p:sp>
      <p:sp>
        <p:nvSpPr>
          <p:cNvPr id="9" name="Text 6"/>
          <p:cNvSpPr/>
          <p:nvPr/>
        </p:nvSpPr>
        <p:spPr>
          <a:xfrm>
            <a:off x="3381855" y="3809371"/>
            <a:ext cx="1187801" cy="400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Matched to Python function via decorators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37202" y="1331479"/>
            <a:ext cx="1181311" cy="19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2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Business Logic</a:t>
            </a:r>
            <a:endParaRPr lang="en-US" sz="1200" b="1" dirty="0"/>
          </a:p>
        </p:txBody>
      </p:sp>
      <p:sp>
        <p:nvSpPr>
          <p:cNvPr id="11" name="Text 8"/>
          <p:cNvSpPr/>
          <p:nvPr/>
        </p:nvSpPr>
        <p:spPr>
          <a:xfrm>
            <a:off x="4537201" y="1575091"/>
            <a:ext cx="1480422" cy="266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prediction, DB query, calculation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05530" y="3536655"/>
            <a:ext cx="1181310" cy="383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1200" b="1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Response Delivery</a:t>
            </a:r>
            <a:endParaRPr lang="en-US" sz="1200" b="1" dirty="0"/>
          </a:p>
        </p:txBody>
      </p:sp>
      <p:sp>
        <p:nvSpPr>
          <p:cNvPr id="13" name="Text 10"/>
          <p:cNvSpPr/>
          <p:nvPr/>
        </p:nvSpPr>
        <p:spPr>
          <a:xfrm>
            <a:off x="5465225" y="3958487"/>
            <a:ext cx="1661921" cy="266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Serialized JSON sent back to client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98830" y="4408824"/>
            <a:ext cx="7818450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request follows this predictable lifecycle — making FastAPI-based systems transparent, debuggable, and easy to scale in production environments.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40108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7420" y="487933"/>
            <a:ext cx="6173311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Where is FastAPI Used in Data Science?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81" y="1187908"/>
            <a:ext cx="815141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FastAPI has become the go-to framework for productionizing data science work across a wide range of applications. Here are the most common use cases: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80" y="1984251"/>
            <a:ext cx="4013720" cy="1121271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20151" y="2108225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Deployment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620151" y="2386161"/>
            <a:ext cx="376577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Deploying ML prediction models as production-ready REST APIs for real-time inference, batch processing, and A/B testing of model versions.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33871" y="1984251"/>
            <a:ext cx="4013720" cy="1121271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4757842" y="2108225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Automation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4757842" y="2386161"/>
            <a:ext cx="376577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Automating ETL pipelines, scheduled analytics workflows, and data quality monitoring systems that run reliably without manual intervention.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80" y="3229496"/>
            <a:ext cx="4013720" cy="1121271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20151" y="3353470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Dashboard Backends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620151" y="3631407"/>
            <a:ext cx="376577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Serving interactive dashboards and data visualizations with real-time updates, feeding tools like Streamlit, Dash, or custom React frontends.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33871" y="3229496"/>
            <a:ext cx="4013720" cy="1121271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4757842" y="3353470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Frontend Integration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4757842" y="3631407"/>
            <a:ext cx="376577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Connecting ML models with web and mobile apps through standardized APIs, enabling seamless and responsive user experiences at scale.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06981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81" y="573956"/>
            <a:ext cx="721501" cy="233214"/>
          </a:xfrm>
          <a:prstGeom prst="roundRect">
            <a:avLst>
              <a:gd name="adj" fmla="val 6383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70593" y="611163"/>
            <a:ext cx="1029865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CASE STUDY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80" y="856729"/>
            <a:ext cx="3713318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Stock Analytics API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96181" y="1449810"/>
            <a:ext cx="815141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real-world case study demonstrating FastAPI's full capabilities — from data ingestion and metric calculation to frontend integration and cloud deployment.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81" y="1986261"/>
            <a:ext cx="2717087" cy="4961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0152" y="2606353"/>
            <a:ext cx="2083616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1 &amp; 2: Data Preparation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620151" y="2884290"/>
            <a:ext cx="2593117" cy="122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>
              <a:lnSpc>
                <a:spcPct val="153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</a:rPr>
              <a:t>Collect 1 year of historical stock data and compute key financial metrics using </a:t>
            </a:r>
            <a:r>
              <a:rPr lang="en-US" sz="1200" b="1" dirty="0" err="1">
                <a:solidFill>
                  <a:srgbClr val="383838"/>
                </a:solidFill>
                <a:latin typeface="DM Sans" pitchFamily="34" charset="0"/>
              </a:rPr>
              <a:t>yfinance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</a:rPr>
              <a:t> and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</a:rPr>
              <a:t>pandas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</a:rPr>
              <a:t>. Returns, volatility, min/max, current prices via pandas for rolling one year window.</a:t>
            </a:r>
          </a:p>
          <a:p>
            <a:pPr>
              <a:lnSpc>
                <a:spcPct val="120000"/>
              </a:lnSpc>
            </a:pPr>
            <a:endParaRPr lang="en-US" sz="800" dirty="0">
              <a:latin typeface="DM Sans" pitchFamily="2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268" y="1986261"/>
            <a:ext cx="2717162" cy="4961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239" y="2606353"/>
            <a:ext cx="1808588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3: API Development</a:t>
            </a:r>
            <a:endParaRPr lang="en-US" sz="1275" dirty="0"/>
          </a:p>
        </p:txBody>
      </p:sp>
      <p:sp>
        <p:nvSpPr>
          <p:cNvPr id="11" name="Text 7"/>
          <p:cNvSpPr/>
          <p:nvPr/>
        </p:nvSpPr>
        <p:spPr>
          <a:xfrm>
            <a:off x="3337239" y="2884290"/>
            <a:ext cx="246922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Wrap Python logic in FastAPI route decorators to convert it into a callable HTTP endpoint.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429" y="1986261"/>
            <a:ext cx="2717162" cy="4961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54400" y="2606353"/>
            <a:ext cx="2069627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4: Frontend Integration</a:t>
            </a:r>
            <a:endParaRPr lang="en-US" sz="1275" dirty="0"/>
          </a:p>
        </p:txBody>
      </p:sp>
      <p:sp>
        <p:nvSpPr>
          <p:cNvPr id="14" name="Text 9"/>
          <p:cNvSpPr/>
          <p:nvPr/>
        </p:nvSpPr>
        <p:spPr>
          <a:xfrm>
            <a:off x="6054400" y="2884290"/>
            <a:ext cx="246922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 an HTML + JavaScript page to fetch and display live stock data in a browser table.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70593" y="4287442"/>
            <a:ext cx="8151410" cy="682079"/>
          </a:xfrm>
          <a:prstGeom prst="roundRect">
            <a:avLst>
              <a:gd name="adj" fmla="val 2728"/>
            </a:avLst>
          </a:prstGeom>
          <a:solidFill>
            <a:srgbClr val="B6FCB8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931" y="4606387"/>
            <a:ext cx="155000" cy="12397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506" y="4430018"/>
            <a:ext cx="762449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975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Final Outcome:</a:t>
            </a:r>
            <a:r>
              <a:rPr lang="en-US" sz="975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complete system where users can fetch live stock insights through a web interface — fully automated, no manual scripts needed.</a:t>
            </a:r>
            <a:endParaRPr lang="en-US" sz="975" dirty="0"/>
          </a:p>
        </p:txBody>
      </p:sp>
    </p:spTree>
    <p:extLst>
      <p:ext uri="{BB962C8B-B14F-4D97-AF65-F5344CB8AC3E}">
        <p14:creationId xmlns:p14="http://schemas.microsoft.com/office/powerpoint/2010/main" val="2704309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8797" y="176707"/>
            <a:ext cx="640599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25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Steps 1 &amp; 2: Data Preparation &amp; Metric Calculation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96180" y="847188"/>
            <a:ext cx="4555887" cy="4226643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def generate_us_stock_summary():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end_date = datetime.now().date()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start_date = end_date - timedelta(days=365)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symbols = [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"NVDA", "GOOGL", "AAPL", "MSFT", "AMZN",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"META", "AVGO", "TSLA", "ORCL", "PLTR"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stockdata = yf.download(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tickers=symbols,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start=start_date,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end=end_date,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progress=False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closeprice_df = stockdata["Close"].copy()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returns_df = closeprice_df.pct_change() * 100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summary_df = pd.DataFrame({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"Ticker": closeprice_df.columns,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"Max_Value": closeprice_df.max().values,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"Min_Value": closeprice_df.min().values,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"Current_Value": closeprice_df.iloc[-1].values,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"Avg_Daily_Return_%": returns_df.mean().values,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    "Volatility_%": returns_df.std().values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    return summary_df</a:t>
            </a:r>
            <a:endParaRPr lang="en-US" sz="900" dirty="0">
              <a:solidFill>
                <a:schemeClr val="accent1">
                  <a:lumMod val="75000"/>
                </a:schemeClr>
              </a:solidFill>
              <a:latin typeface="DM Sans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09246" y="1003041"/>
            <a:ext cx="1759625" cy="162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Selected Tickers</a:t>
            </a:r>
            <a:endParaRPr lang="en-US" sz="1200" b="1" dirty="0"/>
          </a:p>
        </p:txBody>
      </p:sp>
      <p:sp>
        <p:nvSpPr>
          <p:cNvPr id="7" name="Text 5"/>
          <p:cNvSpPr/>
          <p:nvPr/>
        </p:nvSpPr>
        <p:spPr>
          <a:xfrm>
            <a:off x="5409246" y="1391214"/>
            <a:ext cx="3859159" cy="825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525"/>
              </a:spcAft>
            </a:pPr>
            <a:r>
              <a:rPr lang="en-US" sz="11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NVDA · GOOGL · AAPL · MSFT · AMZN · META · AVGO · TSLA · ORCL · PLTR</a:t>
            </a:r>
            <a:endParaRPr lang="en-US" sz="1100" dirty="0"/>
          </a:p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Source: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yfinance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1 year of historical daily close prices.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09245" y="2631357"/>
            <a:ext cx="1759625" cy="162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Metrics Calculated</a:t>
            </a:r>
            <a:endParaRPr lang="en-US" sz="1200" b="1" dirty="0"/>
          </a:p>
        </p:txBody>
      </p:sp>
      <p:sp>
        <p:nvSpPr>
          <p:cNvPr id="9" name="Text 7"/>
          <p:cNvSpPr/>
          <p:nvPr/>
        </p:nvSpPr>
        <p:spPr>
          <a:xfrm>
            <a:off x="5536938" y="3085384"/>
            <a:ext cx="3115341" cy="825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57175" indent="-257175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Minimum price over the period</a:t>
            </a:r>
            <a:endParaRPr lang="en-US" sz="1200" dirty="0"/>
          </a:p>
          <a:p>
            <a:pPr marL="257175" indent="-257175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Maximum price over the period</a:t>
            </a:r>
            <a:endParaRPr lang="en-US" sz="1200" dirty="0"/>
          </a:p>
          <a:p>
            <a:pPr marL="257175" indent="-257175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Current price (latest close)</a:t>
            </a:r>
            <a:endParaRPr lang="en-US" sz="1200" dirty="0"/>
          </a:p>
          <a:p>
            <a:pPr marL="257175" indent="-257175">
              <a:lnSpc>
                <a:spcPct val="120000"/>
              </a:lnSpc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daily return (%)</a:t>
            </a:r>
            <a:endParaRPr lang="en-US" sz="1200" dirty="0"/>
          </a:p>
          <a:p>
            <a:pPr marL="257175" indent="-257175">
              <a:lnSpc>
                <a:spcPct val="120000"/>
              </a:lnSpc>
              <a:buSzPct val="100000"/>
              <a:buFont typeface="+mj-lt"/>
              <a:buAutoNum type="arabicPeriod" startAt="5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Volatility (standard deviation of returns)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33848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3574" y="349151"/>
            <a:ext cx="5979467" cy="394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75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3: API Development using FastAPI</a:t>
            </a:r>
            <a:endParaRPr lang="en-US" sz="2475" dirty="0"/>
          </a:p>
        </p:txBody>
      </p:sp>
      <p:sp>
        <p:nvSpPr>
          <p:cNvPr id="3" name="Text 1"/>
          <p:cNvSpPr/>
          <p:nvPr/>
        </p:nvSpPr>
        <p:spPr>
          <a:xfrm>
            <a:off x="623574" y="976165"/>
            <a:ext cx="7896623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1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FastAPI wraps Python logic into accessible HTTP endpoints callable from any client — browser, mobile app, or another service. Below is the complete endpoint definition for the stock analytics API.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23574" y="1616423"/>
            <a:ext cx="4211210" cy="2132558"/>
          </a:xfrm>
          <a:prstGeom prst="roundRect">
            <a:avLst>
              <a:gd name="adj" fmla="val 845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617622" y="1616423"/>
            <a:ext cx="4223116" cy="2132558"/>
          </a:xfrm>
          <a:prstGeom prst="roundRect">
            <a:avLst>
              <a:gd name="adj" fmla="val 845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767785" y="1736527"/>
            <a:ext cx="3922788" cy="1892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1000"/>
              </a:lnSpc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DM Sans" pitchFamily="2" charset="0"/>
                <a:ea typeface="Consolas" pitchFamily="34" charset="-122"/>
                <a:cs typeface="Consolas" pitchFamily="34" charset="-120"/>
              </a:rPr>
              <a:t>from fastapi import FastAPI</a:t>
            </a:r>
            <a:endParaRPr lang="en-US" sz="1000" dirty="0">
              <a:latin typeface="DM Sans" pitchFamily="2" charset="0"/>
            </a:endParaRPr>
          </a:p>
          <a:p>
            <a:pPr>
              <a:lnSpc>
                <a:spcPct val="131000"/>
              </a:lnSpc>
            </a:pPr>
            <a:endParaRPr lang="en-US" sz="1000" dirty="0">
              <a:latin typeface="DM Sans" pitchFamily="2" charset="0"/>
            </a:endParaRPr>
          </a:p>
          <a:p>
            <a:pPr>
              <a:lnSpc>
                <a:spcPct val="131000"/>
              </a:lnSpc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DM Sans" pitchFamily="2" charset="0"/>
                <a:ea typeface="Consolas" pitchFamily="34" charset="-122"/>
                <a:cs typeface="Consolas" pitchFamily="34" charset="-120"/>
              </a:rPr>
              <a:t>app = FastAPI()</a:t>
            </a:r>
            <a:endParaRPr lang="en-US" sz="1000" dirty="0">
              <a:latin typeface="DM Sans" pitchFamily="2" charset="0"/>
            </a:endParaRPr>
          </a:p>
          <a:p>
            <a:pPr>
              <a:lnSpc>
                <a:spcPct val="131000"/>
              </a:lnSpc>
            </a:pPr>
            <a:endParaRPr lang="en-US" sz="1000" dirty="0">
              <a:latin typeface="DM Sans" pitchFamily="2" charset="0"/>
            </a:endParaRPr>
          </a:p>
          <a:p>
            <a:pPr>
              <a:lnSpc>
                <a:spcPct val="131000"/>
              </a:lnSpc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DM Sans" pitchFamily="2" charset="0"/>
                <a:ea typeface="Consolas" pitchFamily="34" charset="-122"/>
                <a:cs typeface="Consolas" pitchFamily="34" charset="-120"/>
              </a:rPr>
              <a:t>@app.get("/us-stocks")</a:t>
            </a:r>
            <a:endParaRPr lang="en-US" sz="1000" dirty="0">
              <a:latin typeface="DM Sans" pitchFamily="2" charset="0"/>
            </a:endParaRPr>
          </a:p>
          <a:p>
            <a:pPr>
              <a:lnSpc>
                <a:spcPct val="131000"/>
              </a:lnSpc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DM Sans" pitchFamily="2" charset="0"/>
                <a:ea typeface="Consolas" pitchFamily="34" charset="-122"/>
                <a:cs typeface="Consolas" pitchFamily="34" charset="-120"/>
              </a:rPr>
              <a:t>def get_us_stock_summary():</a:t>
            </a:r>
            <a:endParaRPr lang="en-US" sz="1000" dirty="0">
              <a:latin typeface="DM Sans" pitchFamily="2" charset="0"/>
            </a:endParaRPr>
          </a:p>
          <a:p>
            <a:pPr>
              <a:lnSpc>
                <a:spcPct val="131000"/>
              </a:lnSpc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DM Sans" pitchFamily="2" charset="0"/>
                <a:ea typeface="Consolas" pitchFamily="34" charset="-122"/>
                <a:cs typeface="Consolas" pitchFamily="34" charset="-120"/>
              </a:rPr>
              <a:t>    result = generate_us_stock_summary()</a:t>
            </a:r>
            <a:endParaRPr lang="en-US" sz="1000" dirty="0">
              <a:latin typeface="DM Sans" pitchFamily="2" charset="0"/>
            </a:endParaRPr>
          </a:p>
          <a:p>
            <a:pPr>
              <a:lnSpc>
                <a:spcPct val="131000"/>
              </a:lnSpc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DM Sans" pitchFamily="2" charset="0"/>
                <a:ea typeface="Consolas" pitchFamily="34" charset="-122"/>
                <a:cs typeface="Consolas" pitchFamily="34" charset="-120"/>
              </a:rPr>
              <a:t>    return result.round(4).to_dict(</a:t>
            </a:r>
            <a:endParaRPr lang="en-US" sz="1000" dirty="0">
              <a:latin typeface="DM Sans" pitchFamily="2" charset="0"/>
            </a:endParaRPr>
          </a:p>
          <a:p>
            <a:pPr>
              <a:lnSpc>
                <a:spcPct val="131000"/>
              </a:lnSpc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DM Sans" pitchFamily="2" charset="0"/>
                <a:ea typeface="Consolas" pitchFamily="34" charset="-122"/>
                <a:cs typeface="Consolas" pitchFamily="34" charset="-120"/>
              </a:rPr>
              <a:t>        orient="records"</a:t>
            </a:r>
            <a:endParaRPr lang="en-US" sz="1000" dirty="0">
              <a:latin typeface="DM Sans" pitchFamily="2" charset="0"/>
            </a:endParaRPr>
          </a:p>
          <a:p>
            <a:pPr>
              <a:lnSpc>
                <a:spcPct val="131000"/>
              </a:lnSpc>
            </a:pPr>
            <a:r>
              <a:rPr lang="en-US" sz="1000" dirty="0">
                <a:solidFill>
                  <a:srgbClr val="D73A49"/>
                </a:solidFill>
                <a:highlight>
                  <a:srgbClr val="F2F2F2"/>
                </a:highlight>
                <a:latin typeface="DM Sans" pitchFamily="2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>
              <a:latin typeface="DM Sans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32731" y="1601911"/>
            <a:ext cx="2337064" cy="19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38" dirty="0">
                <a:solidFill>
                  <a:srgbClr val="020202"/>
                </a:solidFill>
                <a:latin typeface="DM Sans" pitchFamily="2" charset="0"/>
                <a:ea typeface="PT Serif" pitchFamily="34" charset="-122"/>
                <a:cs typeface="PT Serif" pitchFamily="34" charset="-120"/>
              </a:rPr>
              <a:t>FastAPI Initialization Flow</a:t>
            </a:r>
            <a:endParaRPr lang="en-US" sz="1238" dirty="0">
              <a:latin typeface="DM Sans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32731" y="1930003"/>
            <a:ext cx="270340" cy="27034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5173249" y="1946858"/>
            <a:ext cx="189230" cy="236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463" dirty="0"/>
          </a:p>
        </p:txBody>
      </p:sp>
      <p:sp>
        <p:nvSpPr>
          <p:cNvPr id="10" name="Text 8"/>
          <p:cNvSpPr/>
          <p:nvPr/>
        </p:nvSpPr>
        <p:spPr>
          <a:xfrm>
            <a:off x="5519450" y="1971303"/>
            <a:ext cx="1972445" cy="19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38" dirty="0">
                <a:solidFill>
                  <a:srgbClr val="383838"/>
                </a:solidFill>
                <a:latin typeface="DM Sans" pitchFamily="2" charset="0"/>
                <a:ea typeface="PT Serif" pitchFamily="34" charset="-122"/>
                <a:cs typeface="PT Serif" pitchFamily="34" charset="-120"/>
              </a:rPr>
              <a:t>Create FastAPI app instance</a:t>
            </a:r>
            <a:endParaRPr lang="en-US" sz="1238" dirty="0">
              <a:latin typeface="DM Sans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132731" y="2433116"/>
            <a:ext cx="270340" cy="27034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5173249" y="2449972"/>
            <a:ext cx="189230" cy="236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463" dirty="0"/>
          </a:p>
        </p:txBody>
      </p:sp>
      <p:sp>
        <p:nvSpPr>
          <p:cNvPr id="13" name="Text 11"/>
          <p:cNvSpPr/>
          <p:nvPr/>
        </p:nvSpPr>
        <p:spPr>
          <a:xfrm>
            <a:off x="5519450" y="2474416"/>
            <a:ext cx="2742387" cy="19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38" dirty="0">
                <a:solidFill>
                  <a:srgbClr val="383838"/>
                </a:solidFill>
                <a:latin typeface="DM Sans" pitchFamily="2" charset="0"/>
                <a:ea typeface="PT Serif" pitchFamily="34" charset="-122"/>
                <a:cs typeface="PT Serif" pitchFamily="34" charset="-120"/>
              </a:rPr>
              <a:t>Define route using </a:t>
            </a:r>
            <a:r>
              <a:rPr lang="en-US" sz="1238" dirty="0">
                <a:solidFill>
                  <a:srgbClr val="383838"/>
                </a:solidFill>
                <a:highlight>
                  <a:srgbClr val="F2F2F2"/>
                </a:highlight>
                <a:latin typeface="DM Sans" pitchFamily="2" charset="0"/>
                <a:ea typeface="Consolas" pitchFamily="34" charset="-122"/>
                <a:cs typeface="Consolas" pitchFamily="34" charset="-120"/>
              </a:rPr>
              <a:t>@app.get</a:t>
            </a:r>
            <a:r>
              <a:rPr lang="en-US" sz="1238" dirty="0">
                <a:solidFill>
                  <a:srgbClr val="383838"/>
                </a:solidFill>
                <a:latin typeface="DM Sans" pitchFamily="2" charset="0"/>
                <a:ea typeface="PT Serif" pitchFamily="34" charset="-122"/>
                <a:cs typeface="PT Serif" pitchFamily="34" charset="-120"/>
              </a:rPr>
              <a:t> decorator</a:t>
            </a:r>
            <a:endParaRPr lang="en-US" sz="1238" dirty="0">
              <a:latin typeface="DM Sans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132731" y="2936230"/>
            <a:ext cx="270340" cy="27034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173249" y="2953085"/>
            <a:ext cx="189230" cy="236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463" dirty="0"/>
          </a:p>
        </p:txBody>
      </p:sp>
      <p:sp>
        <p:nvSpPr>
          <p:cNvPr id="16" name="Text 14"/>
          <p:cNvSpPr/>
          <p:nvPr/>
        </p:nvSpPr>
        <p:spPr>
          <a:xfrm>
            <a:off x="5519451" y="2977530"/>
            <a:ext cx="2405300" cy="19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38" dirty="0">
                <a:solidFill>
                  <a:srgbClr val="383838"/>
                </a:solidFill>
                <a:latin typeface="DM Sans" pitchFamily="2" charset="0"/>
                <a:ea typeface="PT Serif" pitchFamily="34" charset="-122"/>
                <a:cs typeface="PT Serif" pitchFamily="34" charset="-120"/>
              </a:rPr>
              <a:t>Call the stock calculation function</a:t>
            </a:r>
            <a:endParaRPr lang="en-US" sz="1238" dirty="0">
              <a:latin typeface="DM Sans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32731" y="3439343"/>
            <a:ext cx="270340" cy="27034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5173249" y="3456198"/>
            <a:ext cx="189230" cy="236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463" dirty="0"/>
          </a:p>
        </p:txBody>
      </p:sp>
      <p:sp>
        <p:nvSpPr>
          <p:cNvPr id="19" name="Text 17"/>
          <p:cNvSpPr/>
          <p:nvPr/>
        </p:nvSpPr>
        <p:spPr>
          <a:xfrm>
            <a:off x="5519451" y="3480643"/>
            <a:ext cx="2322628" cy="19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38" dirty="0">
                <a:solidFill>
                  <a:srgbClr val="383838"/>
                </a:solidFill>
                <a:latin typeface="DM Sans" pitchFamily="2" charset="0"/>
                <a:ea typeface="PT Serif" pitchFamily="34" charset="-122"/>
                <a:cs typeface="PT Serif" pitchFamily="34" charset="-120"/>
              </a:rPr>
              <a:t>Return results as formatted JSON</a:t>
            </a:r>
            <a:endParaRPr lang="en-US" sz="1238" dirty="0">
              <a:latin typeface="DM Sans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3574" y="4010769"/>
            <a:ext cx="7896623" cy="652611"/>
          </a:xfrm>
          <a:prstGeom prst="roundRect">
            <a:avLst>
              <a:gd name="adj" fmla="val 2762"/>
            </a:avLst>
          </a:prstGeom>
          <a:solidFill>
            <a:srgbClr val="FFCDB3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75" y="4179541"/>
            <a:ext cx="150164" cy="12010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13941" y="4145459"/>
            <a:ext cx="7386155" cy="383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1000"/>
              </a:lnSpc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</a:t>
            </a:r>
            <a:r>
              <a:rPr lang="en-US" sz="12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decorator creates a GET endpoint any HTTP client can call to retrieve live stock data — fully validated and serialized automatically.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99192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937" y="159991"/>
            <a:ext cx="6900244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4: Connecting Frontend to Backend API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94673" y="881806"/>
            <a:ext cx="815141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frontend is a lightweight HTML page with JavaScript that communicates with the FastAPI backend. No framework required — just standard browser APIs.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81" y="2786137"/>
            <a:ext cx="8151410" cy="14288"/>
          </a:xfrm>
          <a:prstGeom prst="roundRect">
            <a:avLst>
              <a:gd name="adj" fmla="val 130229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1795939" y="2538115"/>
            <a:ext cx="14288" cy="248022"/>
          </a:xfrm>
          <a:prstGeom prst="roundRect">
            <a:avLst>
              <a:gd name="adj" fmla="val 130229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1756574" y="2739629"/>
            <a:ext cx="93015" cy="93017"/>
          </a:xfrm>
          <a:prstGeom prst="roundRect">
            <a:avLst>
              <a:gd name="adj" fmla="val 307201"/>
            </a:avLst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989013" y="1739206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Open HTML Page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620151" y="2017142"/>
            <a:ext cx="236586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opens the page in any browser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80303" y="2786137"/>
            <a:ext cx="14288" cy="248022"/>
          </a:xfrm>
          <a:prstGeom prst="roundRect">
            <a:avLst>
              <a:gd name="adj" fmla="val 130229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3140939" y="2739629"/>
            <a:ext cx="93015" cy="93017"/>
          </a:xfrm>
          <a:prstGeom prst="roundRect">
            <a:avLst>
              <a:gd name="adj" fmla="val 307201"/>
            </a:avLst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2373378" y="3158208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Click Button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2004516" y="3436144"/>
            <a:ext cx="236586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Triggers "Load Stock Data" action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64742" y="2538115"/>
            <a:ext cx="14288" cy="248022"/>
          </a:xfrm>
          <a:prstGeom prst="roundRect">
            <a:avLst>
              <a:gd name="adj" fmla="val 130229"/>
            </a:avLst>
          </a:prstGeom>
          <a:solidFill>
            <a:srgbClr val="D8D4D4"/>
          </a:solidFill>
          <a:ln/>
        </p:spPr>
      </p:sp>
      <p:sp>
        <p:nvSpPr>
          <p:cNvPr id="14" name="Shape 12"/>
          <p:cNvSpPr/>
          <p:nvPr/>
        </p:nvSpPr>
        <p:spPr>
          <a:xfrm>
            <a:off x="4525378" y="2739629"/>
            <a:ext cx="93015" cy="93017"/>
          </a:xfrm>
          <a:prstGeom prst="roundRect">
            <a:avLst>
              <a:gd name="adj" fmla="val 307201"/>
            </a:avLst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3757817" y="1739206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HTTP GET Request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3388954" y="2017142"/>
            <a:ext cx="236586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JavaScript calls the FastAPI endpoint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9106" y="2786137"/>
            <a:ext cx="14288" cy="248022"/>
          </a:xfrm>
          <a:prstGeom prst="roundRect">
            <a:avLst>
              <a:gd name="adj" fmla="val 130229"/>
            </a:avLst>
          </a:prstGeom>
          <a:solidFill>
            <a:srgbClr val="D8D4D4"/>
          </a:solidFill>
          <a:ln/>
        </p:spPr>
      </p:sp>
      <p:sp>
        <p:nvSpPr>
          <p:cNvPr id="18" name="Shape 16"/>
          <p:cNvSpPr/>
          <p:nvPr/>
        </p:nvSpPr>
        <p:spPr>
          <a:xfrm>
            <a:off x="5909743" y="2739629"/>
            <a:ext cx="93015" cy="93017"/>
          </a:xfrm>
          <a:prstGeom prst="roundRect">
            <a:avLst>
              <a:gd name="adj" fmla="val 307201"/>
            </a:avLst>
          </a:prstGeom>
          <a:solidFill>
            <a:srgbClr val="E04F00"/>
          </a:solidFill>
          <a:ln/>
        </p:spPr>
      </p:sp>
      <p:sp>
        <p:nvSpPr>
          <p:cNvPr id="19" name="Text 17"/>
          <p:cNvSpPr/>
          <p:nvPr/>
        </p:nvSpPr>
        <p:spPr>
          <a:xfrm>
            <a:off x="5142181" y="3158208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JSON Response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4773319" y="3436144"/>
            <a:ext cx="236586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FastAPI processes and returns data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33546" y="2538115"/>
            <a:ext cx="14288" cy="248022"/>
          </a:xfrm>
          <a:prstGeom prst="roundRect">
            <a:avLst>
              <a:gd name="adj" fmla="val 130229"/>
            </a:avLst>
          </a:prstGeom>
          <a:solidFill>
            <a:srgbClr val="D8D4D4"/>
          </a:solidFill>
          <a:ln/>
        </p:spPr>
      </p:sp>
      <p:sp>
        <p:nvSpPr>
          <p:cNvPr id="22" name="Shape 20"/>
          <p:cNvSpPr/>
          <p:nvPr/>
        </p:nvSpPr>
        <p:spPr>
          <a:xfrm>
            <a:off x="7294181" y="2739629"/>
            <a:ext cx="93015" cy="93017"/>
          </a:xfrm>
          <a:prstGeom prst="roundRect">
            <a:avLst>
              <a:gd name="adj" fmla="val 307201"/>
            </a:avLst>
          </a:prstGeom>
          <a:solidFill>
            <a:srgbClr val="E04F00"/>
          </a:solidFill>
          <a:ln/>
        </p:spPr>
      </p:sp>
      <p:sp>
        <p:nvSpPr>
          <p:cNvPr id="23" name="Text 21"/>
          <p:cNvSpPr/>
          <p:nvPr/>
        </p:nvSpPr>
        <p:spPr>
          <a:xfrm>
            <a:off x="6526620" y="1739206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UI Update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6157759" y="2017143"/>
            <a:ext cx="236586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JavaScript renders data dynamically into a table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6181" y="3774133"/>
            <a:ext cx="8151410" cy="682079"/>
          </a:xfrm>
          <a:prstGeom prst="roundRect">
            <a:avLst>
              <a:gd name="adj" fmla="val 2728"/>
            </a:avLst>
          </a:prstGeom>
          <a:solidFill>
            <a:srgbClr val="B6D6FC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52" y="3953917"/>
            <a:ext cx="155000" cy="12397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99123" y="3916710"/>
            <a:ext cx="762449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>
              <a:lnSpc>
                <a:spcPct val="133000"/>
              </a:lnSpc>
            </a:pPr>
            <a:r>
              <a:rPr lang="en-US" sz="13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Deployment URL:</a:t>
            </a: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300" u="sng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https://us-stock-fastapi.onrender.com</a:t>
            </a:r>
            <a:endParaRPr lang="en-US" sz="1300" dirty="0"/>
          </a:p>
          <a:p>
            <a:pPr>
              <a:lnSpc>
                <a:spcPct val="133000"/>
              </a:lnSpc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JavaScript acts as a bridge between the HTML UI and the Python backend — no page reload required</a:t>
            </a:r>
            <a:r>
              <a:rPr lang="en-US" sz="975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975" dirty="0"/>
          </a:p>
        </p:txBody>
      </p:sp>
    </p:spTree>
    <p:extLst>
      <p:ext uri="{BB962C8B-B14F-4D97-AF65-F5344CB8AC3E}">
        <p14:creationId xmlns:p14="http://schemas.microsoft.com/office/powerpoint/2010/main" val="138592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0134" y="189729"/>
            <a:ext cx="4019375" cy="362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End-to-End Execution Flow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80134" y="754783"/>
            <a:ext cx="7259804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6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the complete request-to-response journey every time a user interacts with the application. Understanding this flow helps you debug issues, optimize latency, and extend the system.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17" y="1366838"/>
            <a:ext cx="7027265" cy="26370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36173" y="3251388"/>
            <a:ext cx="1059919" cy="428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Fetch &amp; Metrics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00386" y="3251388"/>
            <a:ext cx="1059919" cy="428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 Processing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71858" y="3251388"/>
            <a:ext cx="1059919" cy="428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FastAPI Handler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743329" y="3251388"/>
            <a:ext cx="1059919" cy="428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Browser Request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85763" y="3358585"/>
            <a:ext cx="1059919" cy="214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User Clicks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07625" y="4225156"/>
            <a:ext cx="7094162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6000"/>
              </a:lnSpc>
            </a:pP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 (HTML + JS) 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↔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FastAPI 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↔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Python Logic </a:t>
            </a: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↔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Data Source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each layer has a single, well-defined responsibility, making the system easy to maintain and extend.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20700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39426" y="279098"/>
            <a:ext cx="5524883" cy="366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288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Live Output: Stock Data in the Browser</a:t>
            </a:r>
            <a:endParaRPr lang="en-US" sz="2288" dirty="0"/>
          </a:p>
        </p:txBody>
      </p:sp>
      <p:sp>
        <p:nvSpPr>
          <p:cNvPr id="5" name="Text 3"/>
          <p:cNvSpPr/>
          <p:nvPr/>
        </p:nvSpPr>
        <p:spPr>
          <a:xfrm>
            <a:off x="339426" y="905754"/>
            <a:ext cx="8608599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Clicking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 Summary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triggers the full pipeline: </a:t>
            </a:r>
            <a:r>
              <a:rPr lang="en-US" sz="12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Button → API Call → Python Processing → JSON → Table Rendered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81" y="1335808"/>
            <a:ext cx="4877199" cy="255217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6181" y="4001022"/>
            <a:ext cx="8151410" cy="575965"/>
          </a:xfrm>
          <a:prstGeom prst="roundRect">
            <a:avLst>
              <a:gd name="adj" fmla="val 2907"/>
            </a:avLst>
          </a:prstGeom>
          <a:solidFill>
            <a:srgbClr val="B6FCB8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99" y="4157141"/>
            <a:ext cx="139523" cy="1116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8940" y="4119339"/>
            <a:ext cx="7677032" cy="339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table is generated using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HTML tags produced inside a FastAPI Python function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sent directly to the browser as a response — demonstrating how Python can control both data logic and presentation layer in a single endpoint.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34942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7677" y="232936"/>
            <a:ext cx="5431346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Backend Automation Matters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197677" y="857716"/>
            <a:ext cx="815141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Automating your data pipelines through FastAPI eliminates the friction between development and production — turning one-off scripts into reliable, always-available services.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894" y="1955676"/>
            <a:ext cx="4028007" cy="11498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7300" y="2093938"/>
            <a:ext cx="1704709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Eliminate Manual Work</a:t>
            </a:r>
            <a:endParaRPr lang="en-US" sz="1275" dirty="0"/>
          </a:p>
        </p:txBody>
      </p:sp>
      <p:sp>
        <p:nvSpPr>
          <p:cNvPr id="6" name="Text 3"/>
          <p:cNvSpPr/>
          <p:nvPr/>
        </p:nvSpPr>
        <p:spPr>
          <a:xfrm>
            <a:off x="677299" y="2371874"/>
            <a:ext cx="369434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need to manually run scripts, remember execution times, or perform repetitive data processing tasks every day. Automation frees analysts and engineers for higher-value work.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9584" y="1955676"/>
            <a:ext cx="4028007" cy="11498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14991" y="2093938"/>
            <a:ext cx="1835600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Consistency &amp; Reliability</a:t>
            </a:r>
            <a:endParaRPr lang="en-US" sz="1275" dirty="0"/>
          </a:p>
        </p:txBody>
      </p:sp>
      <p:sp>
        <p:nvSpPr>
          <p:cNvPr id="9" name="Text 5"/>
          <p:cNvSpPr/>
          <p:nvPr/>
        </p:nvSpPr>
        <p:spPr>
          <a:xfrm>
            <a:off x="4814990" y="2371874"/>
            <a:ext cx="369434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Standardized logic and validated code ensures error-free calculations every single time — eliminating human variability and reducing the risk of silent data errors.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894" y="3229496"/>
            <a:ext cx="4028007" cy="11498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7300" y="3367758"/>
            <a:ext cx="1728149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Event-Driven Flexibility</a:t>
            </a:r>
            <a:endParaRPr lang="en-US" sz="1275" dirty="0"/>
          </a:p>
        </p:txBody>
      </p:sp>
      <p:sp>
        <p:nvSpPr>
          <p:cNvPr id="12" name="Text 7"/>
          <p:cNvSpPr/>
          <p:nvPr/>
        </p:nvSpPr>
        <p:spPr>
          <a:xfrm>
            <a:off x="677299" y="3645694"/>
            <a:ext cx="369434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Schedule via cron jobs, trigger on specific events automatically, or call on-demand through any HTTP client. Your system adapts to any operational pattern.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9584" y="3229496"/>
            <a:ext cx="4028007" cy="114984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14991" y="3367758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Scalability</a:t>
            </a:r>
            <a:endParaRPr lang="en-US" sz="1275" dirty="0"/>
          </a:p>
        </p:txBody>
      </p:sp>
      <p:sp>
        <p:nvSpPr>
          <p:cNvPr id="15" name="Text 9"/>
          <p:cNvSpPr/>
          <p:nvPr/>
        </p:nvSpPr>
        <p:spPr>
          <a:xfrm>
            <a:off x="4814990" y="3645694"/>
            <a:ext cx="369434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 equally well for real-time single-user applications and large-scale batch processing systems handling millions of records — with minimal code changes.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19906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81" y="615107"/>
            <a:ext cx="962299" cy="233214"/>
          </a:xfrm>
          <a:prstGeom prst="roundRect">
            <a:avLst>
              <a:gd name="adj" fmla="val 6383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70593" y="652314"/>
            <a:ext cx="1270663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YOUR OWN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80" y="897880"/>
            <a:ext cx="4933232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Steps to Build a Similar Project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81" y="1863031"/>
            <a:ext cx="2634490" cy="7143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0151" y="2359075"/>
            <a:ext cx="2090239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1: Prepare Data &amp; Logic</a:t>
            </a:r>
            <a:endParaRPr lang="en-US" sz="1275" dirty="0"/>
          </a:p>
        </p:txBody>
      </p:sp>
      <p:sp>
        <p:nvSpPr>
          <p:cNvPr id="7" name="Text 4"/>
          <p:cNvSpPr/>
          <p:nvPr/>
        </p:nvSpPr>
        <p:spPr>
          <a:xfrm>
            <a:off x="620151" y="2637011"/>
            <a:ext cx="2386548" cy="79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 and thoroughly test your Python data processing logic with sample datasets. Handle edge cases, nulls, and type errors before moving forward.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641" y="1676996"/>
            <a:ext cx="2634490" cy="7143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78612" y="2173040"/>
            <a:ext cx="2095969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2: Create API Endpoints</a:t>
            </a:r>
            <a:endParaRPr lang="en-US" sz="1275" dirty="0"/>
          </a:p>
        </p:txBody>
      </p:sp>
      <p:sp>
        <p:nvSpPr>
          <p:cNvPr id="10" name="Text 6"/>
          <p:cNvSpPr/>
          <p:nvPr/>
        </p:nvSpPr>
        <p:spPr>
          <a:xfrm>
            <a:off x="3378611" y="2450976"/>
            <a:ext cx="2386548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Wrap Python functions in FastAPI route decorators. Define input parameters and response models using Pydantic for automatic validation and clear API contracts.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101" y="1490960"/>
            <a:ext cx="2634490" cy="7143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37072" y="1987005"/>
            <a:ext cx="2386548" cy="407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3: Build Frontend Connection</a:t>
            </a:r>
            <a:endParaRPr lang="en-US" sz="1275" dirty="0"/>
          </a:p>
        </p:txBody>
      </p:sp>
      <p:sp>
        <p:nvSpPr>
          <p:cNvPr id="13" name="Text 8"/>
          <p:cNvSpPr/>
          <p:nvPr/>
        </p:nvSpPr>
        <p:spPr>
          <a:xfrm>
            <a:off x="6137072" y="2468463"/>
            <a:ext cx="2386548" cy="79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an HTML page with JavaScript to call your API. Handle loading states and display results dynamically on the page without full page reloads.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96181" y="4238924"/>
            <a:ext cx="8151410" cy="682079"/>
          </a:xfrm>
          <a:prstGeom prst="roundRect">
            <a:avLst>
              <a:gd name="adj" fmla="val 2728"/>
            </a:avLst>
          </a:prstGeom>
          <a:solidFill>
            <a:srgbClr val="FFCDB3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97" y="4574831"/>
            <a:ext cx="155000" cy="12397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77330" y="4427639"/>
            <a:ext cx="762449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975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 Tip:</a:t>
            </a:r>
            <a:r>
              <a:rPr lang="en-US" sz="975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Start with a single simple endpoint and gradually add complexity. Test each component independently before integration — this dramatically reduces debugging time.</a:t>
            </a:r>
            <a:endParaRPr lang="en-US" sz="975" dirty="0"/>
          </a:p>
        </p:txBody>
      </p:sp>
    </p:spTree>
    <p:extLst>
      <p:ext uri="{BB962C8B-B14F-4D97-AF65-F5344CB8AC3E}">
        <p14:creationId xmlns:p14="http://schemas.microsoft.com/office/powerpoint/2010/main" val="4232286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1557" y="322470"/>
            <a:ext cx="3713318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91557" y="1064623"/>
            <a:ext cx="815141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FastAPI bridges the gap between data science experimentation and production-grade deployment — making it an essential tool in every ML engineer's stack.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80" y="1984251"/>
            <a:ext cx="4013720" cy="1121271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20151" y="2108225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APIs are Essential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620151" y="2386161"/>
            <a:ext cx="376577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>
              <a:lnSpc>
                <a:spcPct val="133000"/>
              </a:lnSpc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APIs are foundational for building production-grade data science systems that integrate with any application, platform, or downstream consumer — internal or external</a:t>
            </a:r>
            <a:r>
              <a:rPr lang="en-US" sz="975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4633871" y="1984251"/>
            <a:ext cx="4013720" cy="1121271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4757842" y="2108225"/>
            <a:ext cx="162806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Deployment is Key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4757842" y="2386161"/>
            <a:ext cx="376577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Models and analytics only create real business value when deployed and accessible to end users in production. A model in a notebook is not a product.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80" y="3229496"/>
            <a:ext cx="4013720" cy="1121271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20152" y="3353470"/>
            <a:ext cx="2160707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FastAPI Simplifies Everything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620151" y="3631407"/>
            <a:ext cx="4137691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FastAPI makes deployment simple, scalable, and maintainable — with excellent performance, automatic docs, and an outstanding developer experience built in from the start.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33871" y="3229496"/>
            <a:ext cx="4013720" cy="1121271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4757842" y="3353470"/>
            <a:ext cx="1714160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75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End-to-End Integration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4757842" y="3631407"/>
            <a:ext cx="376577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complete data pipeline from raw data to live user interface is achievable with minimal, clean Python code — no specialized infrastructure knowledge required.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1303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2001</Words>
  <Application>Microsoft Office PowerPoint</Application>
  <PresentationFormat>On-screen Show (16:9)</PresentationFormat>
  <Paragraphs>203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DM Sans</vt:lpstr>
      <vt:lpstr>PT Serif Light</vt:lpstr>
      <vt:lpstr>Arial</vt:lpstr>
      <vt:lpstr>Consolas</vt:lpstr>
      <vt:lpstr>PT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Fimran Sanghvi</cp:lastModifiedBy>
  <cp:revision>20</cp:revision>
  <dcterms:created xsi:type="dcterms:W3CDTF">2026-05-29T10:16:25Z</dcterms:created>
  <dcterms:modified xsi:type="dcterms:W3CDTF">2026-06-16T08:28:42Z</dcterms:modified>
</cp:coreProperties>
</file>