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71" r:id="rId14"/>
    <p:sldId id="266" r:id="rId15"/>
    <p:sldId id="267" r:id="rId16"/>
    <p:sldId id="268" r:id="rId17"/>
    <p:sldId id="270" r:id="rId1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DM Sans" pitchFamily="2" charset="77"/>
      <p:regular r:id="rId24"/>
      <p:bold r:id="rId25"/>
      <p:italic r:id="rId26"/>
    </p:embeddedFont>
    <p:embeddedFont>
      <p:font typeface="PT Serif" panose="020A0603040505020204" pitchFamily="18" charset="77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91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751" y="2130593"/>
            <a:ext cx="6383536" cy="3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Containerization with Docker for ML Models</a:t>
            </a:r>
          </a:p>
          <a:p>
            <a:pPr algn="ctr">
              <a:lnSpc>
                <a:spcPct val="104000"/>
              </a:lnSpc>
            </a:pPr>
            <a:endParaRPr lang="en-IN" sz="1600" i="1" dirty="0"/>
          </a:p>
          <a:p>
            <a:pPr algn="ctr">
              <a:lnSpc>
                <a:spcPct val="104000"/>
              </a:lnSpc>
            </a:pPr>
            <a:r>
              <a:rPr lang="en-IN" sz="1600" i="1" dirty="0"/>
              <a:t>Turn Machine Learning Models into Production-Ready Containers.</a:t>
            </a:r>
            <a:endParaRPr lang="en-US"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498178"/>
            <a:ext cx="387139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209125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287712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378273"/>
            <a:ext cx="185335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Deployment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2656210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ML models fail outside your local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3987" y="209125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2287712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4633987" y="237827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Fundamentals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33987" y="2656210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Images, containers, and how Docker 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307166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268117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35867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ML Project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6119" y="363661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loan model, project structure, and Dockerfile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3987" y="307166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33987" y="3268117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33987" y="3358679"/>
            <a:ext cx="169485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Hands-On &amp; Outcomes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33987" y="363661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Commands, results, real-world applications, and key takeaways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6576" y="1063159"/>
            <a:ext cx="542270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ML Model to Real-World Use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66576" y="1965018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"An ML model is valuable only when it runs reliably in production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2856756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298073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Building a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0092" y="3258666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and evaluating your ML model is only half the job.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4648" y="2856756"/>
            <a:ext cx="263463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378622" y="298073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Real Challenge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78622" y="3258666"/>
            <a:ext cx="23866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— making the model run outside your own system.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3252" y="2856756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37225" y="298073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37225" y="3258666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must run reliably in any environment, not just yours.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5779" y="529456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Docker?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67766" y="124625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is a tool for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containerization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it packages everything needed to run an application into a single portable unit.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1952923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2132707"/>
            <a:ext cx="155004" cy="123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9071" y="2095500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Definition: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"Docker packages an application and its dependencies into a container for consistent execution across environments."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6119" y="2774528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4380" y="291279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4380" y="3190726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application source files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33987" y="2774528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2248" y="291279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72248" y="3190726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required packages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6119" y="3651424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4380" y="37896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Runtime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4380" y="4067621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or other language runtime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33987" y="3651424"/>
            <a:ext cx="4013895" cy="752921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248" y="378968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Tools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72248" y="4067621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OS-level dependencies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0585" y="970516"/>
            <a:ext cx="4021485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Docker Image?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2138363"/>
            <a:ext cx="8151763" cy="682079"/>
          </a:xfrm>
          <a:prstGeom prst="roundRect">
            <a:avLst>
              <a:gd name="adj" fmla="val 2728"/>
            </a:avLst>
          </a:prstGeom>
          <a:solidFill>
            <a:srgbClr val="FFCD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2318147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2280940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Docker image is an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immutable, read-only blueprint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packages your application code along with all its dependencies.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6119" y="295996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99145" y="3002607"/>
            <a:ext cx="2210842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Cannot be modified once created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9145" y="3484066"/>
            <a:ext cx="22108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 are fixed snapshots — they never change after being built.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991" y="295996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3668018" y="300260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Acts as a template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68018" y="3280544"/>
            <a:ext cx="22109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it like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recipe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it describes exactly what to prepare.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3939" y="2959968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36965" y="3002607"/>
            <a:ext cx="2210916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One image → Multiple containers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36965" y="3484066"/>
            <a:ext cx="22109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image can be used to spin up many running instances.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725426"/>
            <a:ext cx="4567089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Docker Container?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1728267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FFCDB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1908051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187084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Docker Container is an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isolated environment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 your application actually executes.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2475384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it isolates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6119" y="2802880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systems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28046" y="2475384"/>
            <a:ext cx="20853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28046" y="2802880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the host OS kernel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via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Namespaces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Resource control via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cgroups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6119" y="3667944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3847728"/>
            <a:ext cx="155004" cy="1239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9069" y="3665223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🍽️ </a:t>
            </a: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Analogy: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If the Image is the </a:t>
            </a:r>
            <a:r>
              <a:rPr lang="en-US" sz="12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recipe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Container is the </a:t>
            </a:r>
            <a:r>
              <a:rPr lang="en-US" sz="12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cooked dish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this is where your ML model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actually runs.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21643" y="566142"/>
            <a:ext cx="3153742" cy="33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Docker Works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57" y="1030784"/>
            <a:ext cx="4757738" cy="28237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04508" y="3193827"/>
            <a:ext cx="1182658" cy="23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run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14035" y="3193827"/>
            <a:ext cx="1182658" cy="23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build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99260" y="3074220"/>
            <a:ext cx="1182658" cy="47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Write Dockerfile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643" y="3950196"/>
            <a:ext cx="81006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write a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Dockerfile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configuration file. Running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docker, build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compiles it into a static Docker Image. Running </a:t>
            </a:r>
            <a:r>
              <a:rPr lang="en-US" sz="12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turns that image into one or many isolated, running containers.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3257" y="4599495"/>
            <a:ext cx="840380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"One image → Multiple containers → Scalable execution"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7336" y="544488"/>
            <a:ext cx="4191670" cy="3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We Built — The ML Pipeline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17" y="965076"/>
            <a:ext cx="7427491" cy="3202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7985" y="3555345"/>
            <a:ext cx="1769313" cy="221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 Prediction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57985" y="2813918"/>
            <a:ext cx="1769313" cy="221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 model.pkl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7985" y="2079981"/>
            <a:ext cx="1769313" cy="221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7985" y="1338554"/>
            <a:ext cx="1769313" cy="221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 Loan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7336" y="4249787"/>
            <a:ext cx="2447925" cy="542404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1813" y="4354264"/>
            <a:ext cx="1246510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31813" y="4553620"/>
            <a:ext cx="22389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Loan Dataset used for training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47963" y="4249787"/>
            <a:ext cx="2447925" cy="542404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52440" y="4354264"/>
            <a:ext cx="1246510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52440" y="4553620"/>
            <a:ext cx="2238970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 classifier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68591" y="4249787"/>
            <a:ext cx="2683455" cy="542404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73068" y="4354264"/>
            <a:ext cx="1246510" cy="15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Serialization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73068" y="4553620"/>
            <a:ext cx="2239045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saved using </a:t>
            </a: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pickle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</a:t>
            </a:r>
            <a:r>
              <a:rPr lang="en-US" sz="10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model.pkl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7541" y="594064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Files in Our Project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70961" y="1369479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6" y="1523980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858" y="148673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components needed to run ML are now packaged together."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831" y="2307878"/>
            <a:ext cx="2648843" cy="9513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7242" y="24461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77241" y="2724076"/>
            <a:ext cx="245343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training script — loads data, trains the Logistic Regression model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0360" y="2307878"/>
            <a:ext cx="2648917" cy="9513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35772" y="24461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435772" y="2724076"/>
            <a:ext cx="231524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 script — loads the saved model and runs inference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8964" y="2307878"/>
            <a:ext cx="2648843" cy="9513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94375" y="244613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model.pkl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194375" y="2724076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Saved trained model, serialized using pickle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831" y="3383235"/>
            <a:ext cx="2648843" cy="9513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7242" y="352149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77242" y="3799433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Lists all Python dependencies needed to run the project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0360" y="3383235"/>
            <a:ext cx="2648917" cy="9513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35772" y="3521497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3435772" y="3799433"/>
            <a:ext cx="231524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instructions — tells Docker how to package everything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D3BEE3-B9E2-A1CC-7C5B-6D896C67066D}"/>
              </a:ext>
            </a:extLst>
          </p:cNvPr>
          <p:cNvSpPr txBox="1"/>
          <p:nvPr/>
        </p:nvSpPr>
        <p:spPr>
          <a:xfrm>
            <a:off x="481831" y="4504623"/>
            <a:ext cx="8151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83838"/>
                </a:solidFill>
                <a:latin typeface="DM Sans" pitchFamily="34" charset="0"/>
              </a:rPr>
              <a:t>NOTE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 : In deployment, train.py isn’t needed since the model is already saved (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</a:rPr>
              <a:t>model.pkl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), and it’s included here only to explain the full ML lifecycle.</a:t>
            </a:r>
            <a:endParaRPr lang="en-IN" sz="1200" dirty="0">
              <a:solidFill>
                <a:srgbClr val="383838"/>
              </a:solidFill>
              <a:latin typeface="DM Sans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709017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Dockerfile</a:t>
            </a: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Content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1302097"/>
            <a:ext cx="8151763" cy="124025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89942" y="1302097"/>
            <a:ext cx="8164116" cy="124025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4947" y="1426071"/>
            <a:ext cx="785410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python:3.10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26818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878336"/>
            <a:ext cx="263455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96889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python:3.10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246834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the base environment — Python is pre-installed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54648" y="26818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54648" y="2878336"/>
            <a:ext cx="263463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54648" y="296889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WORKDIR /app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54648" y="3246834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the working directory inside the container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3252" y="2681883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3252" y="2878336"/>
            <a:ext cx="263455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3252" y="2968898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COPY . 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13252" y="3246834"/>
            <a:ext cx="263455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Copies all project files into the container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119" y="386075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4057204"/>
            <a:ext cx="40138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4147765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 pip install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6119" y="4425702"/>
            <a:ext cx="40138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nstalls all required Python dependencies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3913" y="386075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3913" y="4057204"/>
            <a:ext cx="4013895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33913" y="4147765"/>
            <a:ext cx="179881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CMD ["python", "app.py"]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33913" y="442570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the prediction script when the container starts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A90E27-0837-0030-FBC1-3371F81CB399}"/>
              </a:ext>
            </a:extLst>
          </p:cNvPr>
          <p:cNvSpPr txBox="1"/>
          <p:nvPr/>
        </p:nvSpPr>
        <p:spPr>
          <a:xfrm>
            <a:off x="437949" y="4769318"/>
            <a:ext cx="79504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DM Sans" pitchFamily="2" charset="0"/>
              </a:rPr>
              <a:t>Note</a:t>
            </a:r>
            <a:r>
              <a:rPr lang="en-US" sz="1100" dirty="0">
                <a:latin typeface="DM Sans" pitchFamily="2" charset="0"/>
              </a:rPr>
              <a:t>: A </a:t>
            </a:r>
            <a:r>
              <a:rPr lang="en-US" sz="1100" dirty="0" err="1">
                <a:latin typeface="DM Sans" pitchFamily="2" charset="0"/>
              </a:rPr>
              <a:t>Dockerfile</a:t>
            </a:r>
            <a:r>
              <a:rPr lang="en-US" sz="1100" dirty="0">
                <a:latin typeface="DM Sans" pitchFamily="2" charset="0"/>
              </a:rPr>
              <a:t> is a plain text file without any file extension that contains instructions to build a Docker image.</a:t>
            </a:r>
            <a:endParaRPr lang="en-IN" sz="1100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451" y="600782"/>
            <a:ext cx="3960614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Creating Docker Image And Running Container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89942" y="137805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simple commands are all it takes to build and run the containerized ML model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1946746"/>
            <a:ext cx="8151763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942" y="1946746"/>
            <a:ext cx="8164116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4947" y="2070720"/>
            <a:ext cx="7854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loan-model 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loan-model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731145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20092" y="285511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Python Install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0091" y="3133055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is already inside the container — nothing to set up on your machine.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4648" y="2731145"/>
            <a:ext cx="2634630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3378622" y="285511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Dependency Setup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78622" y="3133055"/>
            <a:ext cx="23866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libraries are pre-installed during the build step.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3252" y="2731145"/>
            <a:ext cx="2634555" cy="922809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137225" y="2855119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Consistent Output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37225" y="3133055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result across every system — no surprises.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154" y="3933006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didn't install Python, didn't install libraries… Still the model ran perfectly."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A23199-A09B-93EA-E087-24D4040C172B}"/>
              </a:ext>
            </a:extLst>
          </p:cNvPr>
          <p:cNvSpPr/>
          <p:nvPr/>
        </p:nvSpPr>
        <p:spPr>
          <a:xfrm>
            <a:off x="496119" y="681112"/>
            <a:ext cx="53380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Execution Output</a:t>
            </a:r>
            <a:endParaRPr lang="en-US" sz="25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9FF80-F5F0-743A-EA8F-6B90D8C8F430}"/>
              </a:ext>
            </a:extLst>
          </p:cNvPr>
          <p:cNvSpPr txBox="1"/>
          <p:nvPr/>
        </p:nvSpPr>
        <p:spPr>
          <a:xfrm>
            <a:off x="496119" y="1342724"/>
            <a:ext cx="43309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1" dirty="0">
                <a:latin typeface="DM Sans" pitchFamily="2" charset="0"/>
              </a:rPr>
              <a:t>Running the Docker Container</a:t>
            </a:r>
          </a:p>
          <a:p>
            <a:endParaRPr lang="en-IN" sz="1100" b="1" dirty="0">
              <a:latin typeface="DM Sans" pitchFamily="2" charset="0"/>
            </a:endParaRPr>
          </a:p>
          <a:p>
            <a:r>
              <a:rPr lang="en-IN" sz="1100" dirty="0">
                <a:latin typeface="DM Sans" pitchFamily="2" charset="0"/>
              </a:rPr>
              <a:t>Steps:</a:t>
            </a:r>
          </a:p>
          <a:p>
            <a:br>
              <a:rPr lang="en-IN" sz="1100" dirty="0">
                <a:latin typeface="DM Sans" pitchFamily="2" charset="0"/>
              </a:rPr>
            </a:br>
            <a:r>
              <a:rPr lang="en-IN" sz="1100" b="1" dirty="0">
                <a:latin typeface="DM Sans" pitchFamily="2" charset="0"/>
              </a:rPr>
              <a:t>1. Build the Docker Image</a:t>
            </a:r>
            <a:br>
              <a:rPr lang="en-IN" sz="1100" dirty="0">
                <a:latin typeface="DM Sans" pitchFamily="2" charset="0"/>
              </a:rPr>
            </a:br>
            <a:r>
              <a:rPr lang="en-IN" sz="1100" dirty="0">
                <a:latin typeface="DM Sans" pitchFamily="2" charset="0"/>
              </a:rPr>
              <a:t>docker build -t loan-model .</a:t>
            </a:r>
          </a:p>
          <a:p>
            <a:endParaRPr lang="en-IN" sz="1100" dirty="0">
              <a:latin typeface="DM Sans" pitchFamily="2" charset="0"/>
            </a:endParaRPr>
          </a:p>
          <a:p>
            <a:r>
              <a:rPr lang="en-IN" sz="1100" b="1" dirty="0">
                <a:latin typeface="DM Sans" pitchFamily="2" charset="0"/>
              </a:rPr>
              <a:t>2.  Run the Container</a:t>
            </a:r>
            <a:br>
              <a:rPr lang="en-IN" sz="1100" dirty="0">
                <a:latin typeface="DM Sans" pitchFamily="2" charset="0"/>
              </a:rPr>
            </a:br>
            <a:r>
              <a:rPr lang="en-IN" sz="1100" dirty="0">
                <a:latin typeface="DM Sans" pitchFamily="2" charset="0"/>
              </a:rPr>
              <a:t>docker run loan-model</a:t>
            </a:r>
          </a:p>
          <a:p>
            <a:endParaRPr lang="en-IN" sz="1100" dirty="0">
              <a:latin typeface="DM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72AAC-04DF-2FBC-0C66-7DFCF656DFB0}"/>
              </a:ext>
            </a:extLst>
          </p:cNvPr>
          <p:cNvSpPr txBox="1"/>
          <p:nvPr/>
        </p:nvSpPr>
        <p:spPr>
          <a:xfrm>
            <a:off x="435753" y="3252739"/>
            <a:ext cx="256471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DM Sans" pitchFamily="2" charset="0"/>
              </a:rPr>
              <a:t>What to Observe:</a:t>
            </a:r>
          </a:p>
          <a:p>
            <a:br>
              <a:rPr lang="en-IN" sz="1100" dirty="0">
                <a:latin typeface="DM Sans" pitchFamily="2" charset="0"/>
              </a:rPr>
            </a:br>
            <a:r>
              <a:rPr lang="en-IN" sz="1100" dirty="0">
                <a:latin typeface="DM Sans" pitchFamily="2" charset="0"/>
              </a:rPr>
              <a:t>• Image builds successfully</a:t>
            </a:r>
            <a:br>
              <a:rPr lang="en-IN" sz="1100" dirty="0">
                <a:latin typeface="DM Sans" pitchFamily="2" charset="0"/>
              </a:rPr>
            </a:br>
            <a:r>
              <a:rPr lang="en-IN" sz="1100" dirty="0">
                <a:latin typeface="DM Sans" pitchFamily="2" charset="0"/>
              </a:rPr>
              <a:t>• Container starts without errors</a:t>
            </a:r>
            <a:br>
              <a:rPr lang="en-IN" sz="1100" dirty="0">
                <a:latin typeface="DM Sans" pitchFamily="2" charset="0"/>
              </a:rPr>
            </a:br>
            <a:r>
              <a:rPr lang="en-IN" sz="1100" dirty="0">
                <a:latin typeface="DM Sans" pitchFamily="2" charset="0"/>
              </a:rPr>
              <a:t>• Model executes and gives 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261696-0115-BFC1-0623-A7EA3484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512" y="1342724"/>
            <a:ext cx="5741042" cy="12858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923F65-9BD0-237C-C896-1824E518C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512" y="2628608"/>
            <a:ext cx="5741042" cy="12573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B2FA80-6F33-CBF1-ADD6-EED7091F7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512" y="3885917"/>
            <a:ext cx="5741042" cy="91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6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1112"/>
            <a:ext cx="53380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to Share Your Docker Project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33617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sharing code + setup, we share the Docker Image.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74168"/>
            <a:ext cx="2634555" cy="1408435"/>
          </a:xfrm>
          <a:prstGeom prst="roundRect">
            <a:avLst>
              <a:gd name="adj" fmla="val 132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1798141"/>
            <a:ext cx="221292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📦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Export Image (Sender Side)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0092" y="2080840"/>
            <a:ext cx="2386608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550"/>
              </a:spcAft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save -o loan-model.tar loan-model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a single file (loan-model.tar) containing the complete application.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4648" y="1674168"/>
            <a:ext cx="2634630" cy="1408435"/>
          </a:xfrm>
          <a:prstGeom prst="roundRect">
            <a:avLst>
              <a:gd name="adj" fmla="val 1321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378622" y="1798141"/>
            <a:ext cx="234121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📥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Import Image (Receiver Side)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02596" y="2316509"/>
            <a:ext cx="238668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load -i loan-model.tar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3252" y="1674168"/>
            <a:ext cx="2634555" cy="1408435"/>
          </a:xfrm>
          <a:prstGeom prst="roundRect">
            <a:avLst>
              <a:gd name="adj" fmla="val 132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37225" y="1798141"/>
            <a:ext cx="1697236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▶️</a:t>
            </a: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Run the Application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37225" y="2080840"/>
            <a:ext cx="2386608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loan-model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222129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401913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36470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to install Python, libraries, or dependencies — just load and run.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2154" y="3984799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"Ship the image, not the environment."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881371"/>
            <a:ext cx="37134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Did We Achieve?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2164482"/>
            <a:ext cx="208530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❌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Before Docker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496741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Environment-dependent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to reproduce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"Works on my machine"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38749" y="2040508"/>
            <a:ext cx="4103191" cy="1181770"/>
          </a:xfrm>
          <a:prstGeom prst="roundRect">
            <a:avLst>
              <a:gd name="adj" fmla="val 157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4762723" y="2164482"/>
            <a:ext cx="2085305" cy="20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✅</a:t>
            </a: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After Docker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2723" y="2496741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Fully portable ML application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Reproducible results</a:t>
            </a:r>
            <a:endParaRPr lang="en-US" sz="10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deployment anywhere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2154" y="3501330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it runs in Docker, it runs anywhere."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236390"/>
            <a:ext cx="3754487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is Docker Used?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829470"/>
            <a:ext cx="310083" cy="310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206" y="182947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APIs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1206" y="2107406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ML models as REST APIs using Flask or FastAPI inside containers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1829470"/>
            <a:ext cx="310083" cy="3100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14553" y="1829470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Platforms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114553" y="2107406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containers on AWS, GCP, and Azure for scalable cloud deployments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52353"/>
            <a:ext cx="310083" cy="3100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206" y="275235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Microservices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961206" y="3030289"/>
            <a:ext cx="353325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Break large applications into small, independently deployable services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9465" y="2752353"/>
            <a:ext cx="310083" cy="3100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4553" y="2752353"/>
            <a:ext cx="162810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CI/CD Pipelines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114553" y="3030289"/>
            <a:ext cx="353332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testing and deployment of ML models in production workflows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96119" y="3566740"/>
            <a:ext cx="8151763" cy="483617"/>
          </a:xfrm>
          <a:prstGeom prst="roundRect">
            <a:avLst>
              <a:gd name="adj" fmla="val 3847"/>
            </a:avLst>
          </a:prstGeom>
          <a:solidFill>
            <a:srgbClr val="B6FCB8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92" y="3746525"/>
            <a:ext cx="155004" cy="1239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9071" y="370931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"Docker bridges the gap between Data Science and Production."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9587"/>
            <a:ext cx="4056980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Concepts at a Glance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6465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quick reference summary of everything covered in this session</a:t>
            </a: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02643"/>
            <a:ext cx="8151763" cy="3131195"/>
          </a:xfrm>
          <a:prstGeom prst="roundRect">
            <a:avLst>
              <a:gd name="adj" fmla="val 5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929" y="158658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0452" y="1586582"/>
            <a:ext cx="3059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510212" y="1586582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4929" y="194816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60452" y="1948160"/>
            <a:ext cx="26018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 for containerizing applications and 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10212" y="194816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universal shipping box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4929" y="250820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452" y="2508200"/>
            <a:ext cx="26018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Immutable, read-only blueprint of the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10212" y="2508200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recipe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4929" y="3068241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0452" y="3068241"/>
            <a:ext cx="26018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Isolated running environment created from an image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10212" y="3068241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cooked dish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4929" y="3628281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0452" y="3628281"/>
            <a:ext cx="3059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Configuration file with build instructions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10212" y="3628281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cooking instructions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929" y="3989859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60452" y="3989859"/>
            <a:ext cx="3059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Compiles the Dockerfile into a Docker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10211" y="4011145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Preparing the recipe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4929" y="4351437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run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60452" y="4394009"/>
            <a:ext cx="3059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Launches a container from an image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0212" y="4351437"/>
            <a:ext cx="346613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Serving the dish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65783"/>
            <a:ext cx="3662511" cy="40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96119" y="1246584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537344" y="1263774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1034" y="1288554"/>
            <a:ext cx="3283967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is as important as model building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1034" y="1560984"/>
            <a:ext cx="77568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that can't run in production has no real-world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1995190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37344" y="2012379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1034" y="2037159"/>
            <a:ext cx="2675781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= Portability + Reproducibility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1034" y="2309589"/>
            <a:ext cx="77568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 code, libraries, and runtime together — run anywhere, every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2743795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37344" y="2760985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1034" y="2785765"/>
            <a:ext cx="3539133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is the blueprint; Container is the execution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1034" y="3058195"/>
            <a:ext cx="77568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image can create many containers. Think: Recipe → Cooked Dish.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492401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37344" y="3509590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1034" y="3534370"/>
            <a:ext cx="1999357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Dockerfile drives everything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1034" y="3806800"/>
            <a:ext cx="775684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five instructions to containerize any ML model.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4245769"/>
            <a:ext cx="274737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537344" y="4262958"/>
            <a:ext cx="192286" cy="240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1034" y="4287738"/>
            <a:ext cx="1983656" cy="200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is industry-standard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1034" y="4560168"/>
            <a:ext cx="77568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in cloud platforms, CI/CD pipelines, microservices, and ML APIs worldwide.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1215</Words>
  <Application>Microsoft Macintosh PowerPoint</Application>
  <PresentationFormat>On-screen Show (16:9)</PresentationFormat>
  <Paragraphs>214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Consolas</vt:lpstr>
      <vt:lpstr>PT Serif Light</vt:lpstr>
      <vt:lpstr>DM Sans</vt:lpstr>
      <vt:lpstr>PT Serif</vt:lpstr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28</cp:revision>
  <dcterms:created xsi:type="dcterms:W3CDTF">2026-06-12T04:46:46Z</dcterms:created>
  <dcterms:modified xsi:type="dcterms:W3CDTF">2026-07-03T07:04:29Z</dcterms:modified>
</cp:coreProperties>
</file>