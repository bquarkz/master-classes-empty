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90" r:id="rId2"/>
    <p:sldId id="291" r:id="rId3"/>
    <p:sldId id="292" r:id="rId4"/>
    <p:sldId id="259" r:id="rId5"/>
    <p:sldId id="299" r:id="rId6"/>
    <p:sldId id="300" r:id="rId7"/>
    <p:sldId id="301" r:id="rId8"/>
    <p:sldId id="295" r:id="rId9"/>
    <p:sldId id="296" r:id="rId10"/>
    <p:sldId id="271" r:id="rId11"/>
    <p:sldId id="273" r:id="rId12"/>
    <p:sldId id="297" r:id="rId13"/>
    <p:sldId id="298" r:id="rId14"/>
    <p:sldId id="268" r:id="rId15"/>
    <p:sldId id="270" r:id="rId16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DM Sans" pitchFamily="2" charset="77"/>
      <p:regular r:id="rId22"/>
      <p:bold r:id="rId23"/>
      <p:boldItalic r:id="rId24"/>
    </p:embeddedFont>
    <p:embeddedFont>
      <p:font typeface="PT Serif" panose="020A0603040505020204" pitchFamily="18" charset="77"/>
      <p:regular r:id="rId25"/>
      <p:bold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2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41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63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41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39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45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79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46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50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53F3-064F-0AB5-938C-DC03FE38E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1F280-C2A5-E41E-406E-E77D5A617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CCC0F-1433-13B1-72C3-E354C1FC2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D4ACC-75B4-D689-2902-D11B79F2F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06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06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49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8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6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483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81" y="2045718"/>
            <a:ext cx="6211707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Deploying Analytics Using Excel &amp; APIs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81" y="2700784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 how to bridge the gap between Python analytics and business users through Excel-based API integration. 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8019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80" y="1226568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81" y="1881634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496181" y="2078087"/>
            <a:ext cx="263449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81" y="2168650"/>
            <a:ext cx="214887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Use Excel as a Frontend?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96181" y="2446586"/>
            <a:ext cx="26344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case and core advantages of Excel as a BI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54641" y="1881634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254641" y="2078087"/>
            <a:ext cx="263449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3254641" y="2168650"/>
            <a:ext cx="20331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Overall System Architecture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3254641" y="2446586"/>
            <a:ext cx="26344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Excel, FastAPI, and Python fit together end-to-end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13101" y="1881634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6013101" y="2078087"/>
            <a:ext cx="263449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13101" y="2168650"/>
            <a:ext cx="229792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Study: Stock Analytics API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013101" y="2446586"/>
            <a:ext cx="26344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preparation, metric calculation, and API development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81" y="3060502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496180" y="3256954"/>
            <a:ext cx="401372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81" y="3347517"/>
            <a:ext cx="242077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Integration &amp; Visualization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496180" y="3625454"/>
            <a:ext cx="40137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Triggering APIs from Excel, live refresh, charts, and automation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3871" y="3060502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633871" y="3256954"/>
            <a:ext cx="401372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33871" y="3347517"/>
            <a:ext cx="213927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 &amp; Key Takeaways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4633871" y="3625454"/>
            <a:ext cx="40137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Benefits for data teams, business users, and organizations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6570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6511" y="533122"/>
            <a:ext cx="475583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Use Excel as a Frontend?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80" y="1248122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 is already embedded in how business teams operate. Rather than asking users to adopt new tools, exposing analytics through Excel meets them where they are — combining Python's computational power with a familiar interface.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80" y="2193875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0151" y="2317850"/>
            <a:ext cx="163572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User Friendly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20151" y="2595786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Widely adopted across industries with no coding required for end users. Analysts can consume live data without touching Python.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33871" y="2193875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57842" y="2317850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Easy Integration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757842" y="2595786"/>
            <a:ext cx="376577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seamlessly with APIs using Power Query, Office Scripts, and VBA — no external middleware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80" y="3439121"/>
            <a:ext cx="401372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0151" y="3563095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Rich Visualization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20151" y="3841031"/>
            <a:ext cx="376577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reporting, charts, pivot tables, and dashboards natively. No additional BI licensing required.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3871" y="3439121"/>
            <a:ext cx="401372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7842" y="3563095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Lightweight BI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4757842" y="3841031"/>
            <a:ext cx="376577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Acts as a lightweight BI interface without the complexity of Power BI or Tableau setup and governance overhead.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85448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0968" y="424085"/>
            <a:ext cx="4524336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Overall System Architecture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44" y="1161305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follows a clean, linear flow from user interface to data processing and back. Each layer has a single responsibility, making the pipeline easy to debug, extend, and maintain.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1" y="1888406"/>
            <a:ext cx="2717087" cy="4961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151" y="2508499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Excel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620151" y="2786435"/>
            <a:ext cx="246914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request &amp; displays output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268" y="1888406"/>
            <a:ext cx="2717162" cy="4961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239" y="2508499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API Request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3337239" y="2786435"/>
            <a:ext cx="24692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data transmission layer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429" y="1888406"/>
            <a:ext cx="2717162" cy="4961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4400" y="2508499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FastAPI Backend</a:t>
            </a:r>
            <a:endParaRPr lang="en-US" sz="1275" dirty="0"/>
          </a:p>
        </p:txBody>
      </p:sp>
      <p:sp>
        <p:nvSpPr>
          <p:cNvPr id="14" name="Text 9"/>
          <p:cNvSpPr/>
          <p:nvPr/>
        </p:nvSpPr>
        <p:spPr>
          <a:xfrm>
            <a:off x="6054400" y="2786435"/>
            <a:ext cx="24692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Exposes analytics endpoint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81" y="3108871"/>
            <a:ext cx="2717087" cy="4961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0151" y="3728964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Python Processing</a:t>
            </a:r>
            <a:endParaRPr lang="en-US" sz="1275" dirty="0"/>
          </a:p>
        </p:txBody>
      </p:sp>
      <p:sp>
        <p:nvSpPr>
          <p:cNvPr id="17" name="Text 11"/>
          <p:cNvSpPr/>
          <p:nvPr/>
        </p:nvSpPr>
        <p:spPr>
          <a:xfrm>
            <a:off x="620151" y="4006900"/>
            <a:ext cx="246914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Computes stock metrics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268" y="3108871"/>
            <a:ext cx="2717162" cy="4961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37239" y="3728964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5. JSON Response</a:t>
            </a:r>
            <a:endParaRPr lang="en-US" sz="1275" dirty="0"/>
          </a:p>
        </p:txBody>
      </p:sp>
      <p:sp>
        <p:nvSpPr>
          <p:cNvPr id="20" name="Text 13"/>
          <p:cNvSpPr/>
          <p:nvPr/>
        </p:nvSpPr>
        <p:spPr>
          <a:xfrm>
            <a:off x="3337239" y="4006900"/>
            <a:ext cx="24692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 structured data to Excel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96181" y="4468862"/>
            <a:ext cx="8608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is independently replaceable — swap Excel for a web app, or FastAPI for Flask, without touching the other components.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4229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573956"/>
            <a:ext cx="721501" cy="233214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70593" y="611163"/>
            <a:ext cx="102986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80" y="856729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Stock Analytics API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81" y="1449810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real-world case study demonstrating FastAPI's full capabilities — from data ingestion and metric calculation to frontend integration and cloud deployment.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1" y="1986261"/>
            <a:ext cx="2717087" cy="4961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152" y="2606353"/>
            <a:ext cx="208361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 &amp; 2: Data Preparation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620151" y="2884290"/>
            <a:ext cx="2593117" cy="122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5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Collect 1 year of historical stock data and compute key financial metrics using </a:t>
            </a:r>
            <a:r>
              <a:rPr lang="en-US" sz="1200" b="1" dirty="0" err="1">
                <a:solidFill>
                  <a:srgbClr val="383838"/>
                </a:solidFill>
                <a:latin typeface="DM Sans" pitchFamily="34" charset="0"/>
              </a:rPr>
              <a:t>yfinance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 and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</a:rPr>
              <a:t>pandas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. Returns, volatility, min/max, current prices via pandas for rolling one year window.</a:t>
            </a:r>
          </a:p>
          <a:p>
            <a:pPr>
              <a:lnSpc>
                <a:spcPct val="120000"/>
              </a:lnSpc>
            </a:pPr>
            <a:endParaRPr lang="en-US" sz="800" dirty="0">
              <a:latin typeface="DM Sans" pitchFamily="2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268" y="1986261"/>
            <a:ext cx="2717162" cy="4961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239" y="2606353"/>
            <a:ext cx="180858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API Development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3337239" y="2884290"/>
            <a:ext cx="246922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Wrap Python logic in FastAPI route decorators to convert it into a callable HTTP endpoint.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429" y="1986261"/>
            <a:ext cx="2717162" cy="4961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4400" y="2606353"/>
            <a:ext cx="206962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4: Frontend Integration</a:t>
            </a:r>
            <a:endParaRPr lang="en-US" sz="1275" dirty="0"/>
          </a:p>
        </p:txBody>
      </p:sp>
      <p:sp>
        <p:nvSpPr>
          <p:cNvPr id="14" name="Text 9"/>
          <p:cNvSpPr/>
          <p:nvPr/>
        </p:nvSpPr>
        <p:spPr>
          <a:xfrm>
            <a:off x="6054400" y="2884290"/>
            <a:ext cx="246922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an HTML + JavaScript page to fetch and display live stock data in a browser table.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70593" y="4287442"/>
            <a:ext cx="8151410" cy="682079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31" y="4606387"/>
            <a:ext cx="155000" cy="1239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506" y="4430018"/>
            <a:ext cx="76244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7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Outcome:</a:t>
            </a:r>
            <a:r>
              <a:rPr lang="en-US" sz="975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complete system where users can fetch live stock insights through a web interface — fully automated, no manual scripts needed.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0992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797" y="176707"/>
            <a:ext cx="640599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Steps 1 &amp; 2: Data Preparation &amp; Metric Calculation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96180" y="847188"/>
            <a:ext cx="4555887" cy="4226643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def generate_us_stock_summary():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end_date = datetime.now().date()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start_date = end_date - timedelta(days=365)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symbols = [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"NVDA", "GOOGL", "AAPL", "MSFT", "AMZN",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"META", "AVGO", "TSLA", "ORCL", "PLTR"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stockdata = yf.download(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tickers=symbols,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start=start_date,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end=end_date,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progress=False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closeprice_df = stockdata["Close"].copy()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returns_df = closeprice_df.pct_change() * 100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summary_df = pd.DataFrame({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"Ticker": closeprice_df.columns,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"Max_Value": closeprice_df.max().values,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"Min_Value": closeprice_df.min().values,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"Current_Value": closeprice_df.iloc[-1].values,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"Avg_Daily_Return_%": returns_df.mean().values,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"Volatility_%": returns_df.std().values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return summary_df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09246" y="1003041"/>
            <a:ext cx="1759625" cy="162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Selected Tickers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5409246" y="1391214"/>
            <a:ext cx="3859159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525"/>
              </a:spcAft>
            </a:pPr>
            <a:r>
              <a:rPr lang="en-US" sz="11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NVDA · GOOGL · AAPL · MSFT · AMZN · META · AVGO · TSLA · ORCL · PLTR</a:t>
            </a:r>
            <a:endParaRPr lang="en-US" sz="1100" dirty="0"/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yfinance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1 year of historical daily close prices.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09245" y="2631357"/>
            <a:ext cx="1759625" cy="162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Metrics Calculated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5536938" y="3085384"/>
            <a:ext cx="3115341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Minimum price over the period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Maximum price over the period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price (latest close)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daily return (%)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Volatility (standard deviation of returns)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4319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574" y="349151"/>
            <a:ext cx="5979467" cy="394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7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API Development using FastAPI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623574" y="976165"/>
            <a:ext cx="789662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wraps Python logic into accessible HTTP endpoints callable from any client — browser, mobile app, or another service. Below is the complete endpoint definition for the stock analytics API.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3574" y="1616423"/>
            <a:ext cx="4211210" cy="2132558"/>
          </a:xfrm>
          <a:prstGeom prst="roundRect">
            <a:avLst>
              <a:gd name="adj" fmla="val 84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17622" y="1616423"/>
            <a:ext cx="4223116" cy="2132558"/>
          </a:xfrm>
          <a:prstGeom prst="roundRect">
            <a:avLst>
              <a:gd name="adj" fmla="val 84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67785" y="1736527"/>
            <a:ext cx="3922788" cy="1892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@app.get("/us-stocks")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def get_us_stock_summary():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result = generate_us_stock_summary()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return result.round(4).to_dict(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    orient="records"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32731" y="1601911"/>
            <a:ext cx="2337064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020202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FastAPI Initialization Flow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32731" y="1930003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173249" y="1946858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5519450" y="1971303"/>
            <a:ext cx="1972445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Create FastAPI app instance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32731" y="2433116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173249" y="2449972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463" dirty="0"/>
          </a:p>
        </p:txBody>
      </p:sp>
      <p:sp>
        <p:nvSpPr>
          <p:cNvPr id="13" name="Text 11"/>
          <p:cNvSpPr/>
          <p:nvPr/>
        </p:nvSpPr>
        <p:spPr>
          <a:xfrm>
            <a:off x="5519450" y="2474416"/>
            <a:ext cx="2742387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Define route using </a:t>
            </a:r>
            <a:r>
              <a:rPr lang="en-US" sz="1238" dirty="0">
                <a:solidFill>
                  <a:srgbClr val="383838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@app.get</a:t>
            </a: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 decorator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32731" y="2936230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173249" y="2953085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463" dirty="0"/>
          </a:p>
        </p:txBody>
      </p:sp>
      <p:sp>
        <p:nvSpPr>
          <p:cNvPr id="16" name="Text 14"/>
          <p:cNvSpPr/>
          <p:nvPr/>
        </p:nvSpPr>
        <p:spPr>
          <a:xfrm>
            <a:off x="5519451" y="2977530"/>
            <a:ext cx="2405300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Call the stock calculation function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32731" y="3439343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5173249" y="3456198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463" dirty="0"/>
          </a:p>
        </p:txBody>
      </p:sp>
      <p:sp>
        <p:nvSpPr>
          <p:cNvPr id="19" name="Text 17"/>
          <p:cNvSpPr/>
          <p:nvPr/>
        </p:nvSpPr>
        <p:spPr>
          <a:xfrm>
            <a:off x="5519451" y="3480643"/>
            <a:ext cx="2322628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Return results as formatted JSON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3574" y="4010769"/>
            <a:ext cx="7896623" cy="652611"/>
          </a:xfrm>
          <a:prstGeom prst="roundRect">
            <a:avLst>
              <a:gd name="adj" fmla="val 2762"/>
            </a:avLst>
          </a:prstGeom>
          <a:solidFill>
            <a:srgbClr val="FFCDB3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75" y="4179541"/>
            <a:ext cx="150164" cy="1201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13941" y="4145459"/>
            <a:ext cx="7386155" cy="38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decorator creates a GET endpoint any HTTP client can call to retrieve live stock data — fully validated and serialized automatically.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3160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466501"/>
            <a:ext cx="437395" cy="217736"/>
          </a:xfrm>
          <a:prstGeom prst="roundRect">
            <a:avLst>
              <a:gd name="adj" fmla="val 6495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66873" y="501848"/>
            <a:ext cx="753200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71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4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496181" y="728961"/>
            <a:ext cx="3814518" cy="386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Export Integration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81" y="1160338"/>
            <a:ext cx="2003846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Integration Concept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80" y="1521544"/>
            <a:ext cx="235664" cy="147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81" y="1707430"/>
            <a:ext cx="2642526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496180" y="1794867"/>
            <a:ext cx="1546658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as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181" y="2055317"/>
            <a:ext cx="2642526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 acts as the user interface — handling both input parameters and displaying output results.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0622" y="1521544"/>
            <a:ext cx="235664" cy="147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50622" y="1707430"/>
            <a:ext cx="2642526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50622" y="1794867"/>
            <a:ext cx="1546658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Trigger the API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50622" y="2055317"/>
            <a:ext cx="2642526" cy="551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button, Power Query connection, or VBA macro triggers the API call to the FastAPI backend.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05065" y="1521544"/>
            <a:ext cx="235664" cy="147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5065" y="1707430"/>
            <a:ext cx="2642526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005065" y="1794867"/>
            <a:ext cx="1546658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HTTP Request Sent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05065" y="2055317"/>
            <a:ext cx="2642526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 is sent to the FastAPI endpoint over HTTP with any required parameters.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80" y="2807196"/>
            <a:ext cx="235664" cy="147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81" y="2993083"/>
            <a:ext cx="4019747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80" y="3080519"/>
            <a:ext cx="1546658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Returns 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181" y="3340969"/>
            <a:ext cx="4019747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backend processes the request and returns results in structured JSON format.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7843" y="2807196"/>
            <a:ext cx="235664" cy="147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7844" y="2993083"/>
            <a:ext cx="4019747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4" name="Text 22"/>
          <p:cNvSpPr/>
          <p:nvPr/>
        </p:nvSpPr>
        <p:spPr>
          <a:xfrm>
            <a:off x="4627843" y="3080519"/>
            <a:ext cx="1546658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Updates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27844" y="3340969"/>
            <a:ext cx="4019747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 parses the JSON response and updates cells, tables, or dashboard elements automatically.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6181" y="3922960"/>
            <a:ext cx="8151410" cy="628055"/>
          </a:xfrm>
          <a:prstGeom prst="roundRect">
            <a:avLst>
              <a:gd name="adj" fmla="val 2814"/>
            </a:avLst>
          </a:prstGeom>
          <a:solidFill>
            <a:srgbClr val="FCF2B5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75" y="4090840"/>
            <a:ext cx="147262" cy="11779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79032" y="4053112"/>
            <a:ext cx="7650765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Excel cannot directly run Python. It communicates with the backend via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requests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the response is handled using VBA scripts or Power Query.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953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81" y="396255"/>
            <a:ext cx="7646821" cy="386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Automation Approaches: VBA vs. Power Query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80" y="908819"/>
            <a:ext cx="8151410" cy="514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methods exist for connecting Excel to an external API. Each has trade-offs across setup effort, refresh capability, portability, and long-term maintainability. Understanding these differences is key to choosing the right approach for your team.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496181" y="1500411"/>
            <a:ext cx="8151410" cy="2366963"/>
          </a:xfrm>
          <a:prstGeom prst="roundRect">
            <a:avLst>
              <a:gd name="adj" fmla="val 74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8812" y="1577057"/>
            <a:ext cx="2257071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54283" y="1577057"/>
            <a:ext cx="3234029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 VBA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6712" y="1577057"/>
            <a:ext cx="3315510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Query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8812" y="1909465"/>
            <a:ext cx="2257071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4283" y="1909465"/>
            <a:ext cx="3234029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button click runs macro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6712" y="1909465"/>
            <a:ext cx="3315510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One-click "Refresh"; no code execution needed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8812" y="2241872"/>
            <a:ext cx="2257071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Setup Effort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4283" y="2241872"/>
            <a:ext cx="3234029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writing and maintaining VBA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6712" y="2241872"/>
            <a:ext cx="3315510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using a visual, point-and-click editor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8812" y="2574280"/>
            <a:ext cx="2257071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Refresh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4283" y="2574280"/>
            <a:ext cx="2776840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native auto-refresh; macro must be re-run manually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6712" y="2574280"/>
            <a:ext cx="3315510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auto-refresh on file open or on a schedule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812" y="3090565"/>
            <a:ext cx="2257071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4283" y="3090565"/>
            <a:ext cx="2776840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Breaks if macros are disabled or blocked by security settings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6713" y="3090565"/>
            <a:ext cx="2858321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without enabling macros or triggering security prompts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8812" y="3606850"/>
            <a:ext cx="2257071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Maintainability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4283" y="3606850"/>
            <a:ext cx="3234029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Harder to audit, debug, and hand off to others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6712" y="3606850"/>
            <a:ext cx="3315510" cy="18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Self-documenting steps; easy to audit and hand off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6181" y="3993282"/>
            <a:ext cx="8151410" cy="628055"/>
          </a:xfrm>
          <a:prstGeom prst="roundRect">
            <a:avLst>
              <a:gd name="adj" fmla="val 2814"/>
            </a:avLst>
          </a:prstGeom>
          <a:solidFill>
            <a:srgbClr val="B6FCB8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75" y="4161160"/>
            <a:ext cx="147262" cy="11779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79032" y="4123432"/>
            <a:ext cx="7650765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We recommend </a:t>
            </a: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Query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its refresh-friendly, low-maintenance approach. Detailed setup steps for both methods are available in the attached Word document.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168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49C6-3623-8E11-0D5C-60BF22BA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>
            <a:extLst>
              <a:ext uri="{FF2B5EF4-FFF2-40B4-BE49-F238E27FC236}">
                <a16:creationId xmlns:a16="http://schemas.microsoft.com/office/drawing/2014/main" id="{EFBE580C-FB2D-3684-2953-ABE211A9ABCD}"/>
              </a:ext>
            </a:extLst>
          </p:cNvPr>
          <p:cNvSpPr/>
          <p:nvPr/>
        </p:nvSpPr>
        <p:spPr>
          <a:xfrm>
            <a:off x="5363137" y="1039230"/>
            <a:ext cx="1634092" cy="140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Request-Response Flow</a:t>
            </a:r>
            <a:endParaRPr lang="en-US" sz="12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2829801-0817-9490-0D43-11BC5875B353}"/>
              </a:ext>
            </a:extLst>
          </p:cNvPr>
          <p:cNvSpPr/>
          <p:nvPr/>
        </p:nvSpPr>
        <p:spPr>
          <a:xfrm>
            <a:off x="6022849" y="1552575"/>
            <a:ext cx="34289" cy="2739071"/>
          </a:xfrm>
          <a:prstGeom prst="roundRect">
            <a:avLst>
              <a:gd name="adj" fmla="val 134604"/>
            </a:avLst>
          </a:prstGeom>
          <a:solidFill>
            <a:srgbClr val="D8D4D4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4B01940-87DD-E83C-8D8F-838884990884}"/>
              </a:ext>
            </a:extLst>
          </p:cNvPr>
          <p:cNvSpPr/>
          <p:nvPr/>
        </p:nvSpPr>
        <p:spPr>
          <a:xfrm>
            <a:off x="5650424" y="1693515"/>
            <a:ext cx="256350" cy="9525"/>
          </a:xfrm>
          <a:prstGeom prst="roundRect">
            <a:avLst>
              <a:gd name="adj" fmla="val 134604"/>
            </a:avLst>
          </a:prstGeom>
          <a:solidFill>
            <a:srgbClr val="D8D4D4"/>
          </a:solidFill>
          <a:ln/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E1C68F2-2EE1-03CD-059E-85E03A19AFC8}"/>
              </a:ext>
            </a:extLst>
          </p:cNvPr>
          <p:cNvSpPr/>
          <p:nvPr/>
        </p:nvSpPr>
        <p:spPr>
          <a:xfrm>
            <a:off x="5946642" y="1563382"/>
            <a:ext cx="192281" cy="19228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66C7882-D0E7-443C-AEA0-160EA3B3BF28}"/>
              </a:ext>
            </a:extLst>
          </p:cNvPr>
          <p:cNvSpPr/>
          <p:nvPr/>
        </p:nvSpPr>
        <p:spPr>
          <a:xfrm>
            <a:off x="5965577" y="1572852"/>
            <a:ext cx="134612" cy="16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E5CB8F3-4E48-09B7-14A4-7DE0F91BCDA4}"/>
              </a:ext>
            </a:extLst>
          </p:cNvPr>
          <p:cNvSpPr/>
          <p:nvPr/>
        </p:nvSpPr>
        <p:spPr>
          <a:xfrm>
            <a:off x="4365434" y="1550714"/>
            <a:ext cx="1241940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4000"/>
              </a:lnSpc>
            </a:pPr>
            <a:r>
              <a:rPr lang="en-US" sz="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Clicks “US STOCK SUMMARY” button"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0E4D3A4-B34D-0CA7-0742-559BFDB7C6C1}"/>
              </a:ext>
            </a:extLst>
          </p:cNvPr>
          <p:cNvSpPr/>
          <p:nvPr/>
        </p:nvSpPr>
        <p:spPr>
          <a:xfrm>
            <a:off x="4479566" y="1877691"/>
            <a:ext cx="12419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3000"/>
              </a:lnSpc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Triggers refresh via Power Query or VBA macro</a:t>
            </a:r>
            <a:endParaRPr lang="en-US" sz="9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3536A1A-B24B-63B9-0F8C-6C01FD6F0085}"/>
              </a:ext>
            </a:extLst>
          </p:cNvPr>
          <p:cNvSpPr/>
          <p:nvPr/>
        </p:nvSpPr>
        <p:spPr>
          <a:xfrm>
            <a:off x="6103438" y="2600361"/>
            <a:ext cx="256350" cy="9525"/>
          </a:xfrm>
          <a:prstGeom prst="roundRect">
            <a:avLst>
              <a:gd name="adj" fmla="val 134604"/>
            </a:avLst>
          </a:prstGeom>
          <a:solidFill>
            <a:srgbClr val="D8D4D4"/>
          </a:solidFill>
          <a:ln/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6957F49-31EA-5B63-8E7B-3BBAAC1ACA5B}"/>
              </a:ext>
            </a:extLst>
          </p:cNvPr>
          <p:cNvSpPr/>
          <p:nvPr/>
        </p:nvSpPr>
        <p:spPr>
          <a:xfrm>
            <a:off x="5940997" y="2506116"/>
            <a:ext cx="192281" cy="19228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03E3449-3CC7-A7FB-9AE9-F60DC27645FA}"/>
              </a:ext>
            </a:extLst>
          </p:cNvPr>
          <p:cNvSpPr/>
          <p:nvPr/>
        </p:nvSpPr>
        <p:spPr>
          <a:xfrm>
            <a:off x="5969830" y="2525761"/>
            <a:ext cx="134612" cy="16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1A78DE5-138B-6326-A3F0-96493CABB381}"/>
              </a:ext>
            </a:extLst>
          </p:cNvPr>
          <p:cNvSpPr/>
          <p:nvPr/>
        </p:nvSpPr>
        <p:spPr>
          <a:xfrm>
            <a:off x="6370578" y="2202470"/>
            <a:ext cx="1242014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Sends HTTP Request</a:t>
            </a:r>
            <a:endParaRPr lang="en-US" sz="10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8978042-727F-7CD1-7C0C-2F99205EF774}"/>
              </a:ext>
            </a:extLst>
          </p:cNvPr>
          <p:cNvSpPr/>
          <p:nvPr/>
        </p:nvSpPr>
        <p:spPr>
          <a:xfrm>
            <a:off x="6370578" y="2633161"/>
            <a:ext cx="124201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Via VBA, Office Scripts, or Power Query Web connector</a:t>
            </a:r>
            <a:endParaRPr lang="en-US" sz="9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685FE1F-5A9E-2171-92EC-CB6283AB1AD2}"/>
              </a:ext>
            </a:extLst>
          </p:cNvPr>
          <p:cNvSpPr/>
          <p:nvPr/>
        </p:nvSpPr>
        <p:spPr>
          <a:xfrm>
            <a:off x="5703956" y="3537905"/>
            <a:ext cx="256350" cy="9525"/>
          </a:xfrm>
          <a:prstGeom prst="roundRect">
            <a:avLst>
              <a:gd name="adj" fmla="val 134604"/>
            </a:avLst>
          </a:prstGeom>
          <a:solidFill>
            <a:srgbClr val="D8D4D4"/>
          </a:solidFill>
          <a:ln/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E07B6F5-CAED-C888-CBC6-C12E2FA41FC8}"/>
              </a:ext>
            </a:extLst>
          </p:cNvPr>
          <p:cNvSpPr/>
          <p:nvPr/>
        </p:nvSpPr>
        <p:spPr>
          <a:xfrm>
            <a:off x="5915018" y="3434508"/>
            <a:ext cx="192281" cy="19228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E2AEB8A-CF78-C0C1-C75E-877EE46A4728}"/>
              </a:ext>
            </a:extLst>
          </p:cNvPr>
          <p:cNvSpPr/>
          <p:nvPr/>
        </p:nvSpPr>
        <p:spPr>
          <a:xfrm>
            <a:off x="5943852" y="3458542"/>
            <a:ext cx="134612" cy="16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5BBA632-7E24-397C-E238-ACDD4002F7C3}"/>
              </a:ext>
            </a:extLst>
          </p:cNvPr>
          <p:cNvSpPr/>
          <p:nvPr/>
        </p:nvSpPr>
        <p:spPr>
          <a:xfrm>
            <a:off x="4414465" y="3245198"/>
            <a:ext cx="1241940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4000"/>
              </a:lnSpc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Computes &amp; Returns JSON</a:t>
            </a:r>
            <a:endParaRPr lang="en-US" sz="10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9E35C8F-0222-DCF8-BC47-0228C367EEBD}"/>
              </a:ext>
            </a:extLst>
          </p:cNvPr>
          <p:cNvSpPr/>
          <p:nvPr/>
        </p:nvSpPr>
        <p:spPr>
          <a:xfrm>
            <a:off x="4554398" y="3626794"/>
            <a:ext cx="12419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13000"/>
              </a:lnSpc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recalculates all stock metrics on demand</a:t>
            </a:r>
            <a:endParaRPr lang="en-US" sz="9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0602211-702D-A790-783D-EF6CF9BC9B18}"/>
              </a:ext>
            </a:extLst>
          </p:cNvPr>
          <p:cNvSpPr/>
          <p:nvPr/>
        </p:nvSpPr>
        <p:spPr>
          <a:xfrm>
            <a:off x="5940997" y="4195503"/>
            <a:ext cx="192281" cy="19228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B6042024-02FA-2952-70A7-71600A4007C5}"/>
              </a:ext>
            </a:extLst>
          </p:cNvPr>
          <p:cNvSpPr/>
          <p:nvPr/>
        </p:nvSpPr>
        <p:spPr>
          <a:xfrm>
            <a:off x="5972687" y="4191670"/>
            <a:ext cx="134612" cy="16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565004A-F749-56AE-DD69-A99EBA9E39EB}"/>
              </a:ext>
            </a:extLst>
          </p:cNvPr>
          <p:cNvSpPr/>
          <p:nvPr/>
        </p:nvSpPr>
        <p:spPr>
          <a:xfrm>
            <a:off x="6370577" y="4001580"/>
            <a:ext cx="1242014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Updates Worksheet</a:t>
            </a:r>
            <a:endParaRPr lang="en-US" sz="105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9B0BA33-73DE-CD3C-836A-A153B17478A1}"/>
              </a:ext>
            </a:extLst>
          </p:cNvPr>
          <p:cNvSpPr/>
          <p:nvPr/>
        </p:nvSpPr>
        <p:spPr>
          <a:xfrm>
            <a:off x="6370578" y="4367511"/>
            <a:ext cx="124201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Table, charts, and dashboard refresh automatically</a:t>
            </a:r>
            <a:endParaRPr lang="en-US" sz="90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9EE97AD2-3865-07C5-990C-C3C56B7B57ED}"/>
              </a:ext>
            </a:extLst>
          </p:cNvPr>
          <p:cNvSpPr/>
          <p:nvPr/>
        </p:nvSpPr>
        <p:spPr>
          <a:xfrm>
            <a:off x="6133277" y="4262141"/>
            <a:ext cx="256350" cy="9525"/>
          </a:xfrm>
          <a:prstGeom prst="roundRect">
            <a:avLst>
              <a:gd name="adj" fmla="val 134604"/>
            </a:avLst>
          </a:prstGeom>
          <a:solidFill>
            <a:srgbClr val="D8D4D4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3BFCB9-263A-D7F6-F138-B0CF32D7EA78}"/>
              </a:ext>
            </a:extLst>
          </p:cNvPr>
          <p:cNvSpPr/>
          <p:nvPr/>
        </p:nvSpPr>
        <p:spPr>
          <a:xfrm>
            <a:off x="407294" y="556990"/>
            <a:ext cx="5249111" cy="264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Automation Using VBA</a:t>
            </a:r>
            <a:endParaRPr lang="en-US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69E00-9FA2-04F5-69C4-A979C2433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80" y="1314477"/>
            <a:ext cx="4078247" cy="294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9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63960" y="270921"/>
            <a:ext cx="5464311" cy="264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Excel Automation Using </a:t>
            </a:r>
            <a:r>
              <a:rPr lang="en-US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PowerQuery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7694" y="718989"/>
            <a:ext cx="8617086" cy="491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goal is simple: enable business users to fetch live stock analytics directly in Excel — without writing a single line of VBA or Python. By connecting Excel to a FastAPI endpoint via Power Query, users get a fully automated, refresh-ready dashboard out of the box.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37553" y="2137451"/>
            <a:ext cx="651693" cy="312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75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Live Stock Analytics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96181" y="4018936"/>
            <a:ext cx="8608599" cy="43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pipeline pulls data from the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/us-stocks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API endpoint, parses the JSON response, and converts it into a clean, structured Excel table</a:t>
            </a:r>
          </a:p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managed by Power Query’s built-in transformation engine.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3960" y="4572354"/>
            <a:ext cx="8103042" cy="435508"/>
          </a:xfrm>
          <a:prstGeom prst="roundRect">
            <a:avLst>
              <a:gd name="adj" fmla="val 3483"/>
            </a:avLst>
          </a:prstGeom>
          <a:solidFill>
            <a:srgbClr val="B6D6FC"/>
          </a:solidFill>
          <a:ln/>
        </p:spPr>
      </p:sp>
      <p:sp>
        <p:nvSpPr>
          <p:cNvPr id="31" name="Text 27"/>
          <p:cNvSpPr/>
          <p:nvPr/>
        </p:nvSpPr>
        <p:spPr>
          <a:xfrm>
            <a:off x="758111" y="4588930"/>
            <a:ext cx="7808891" cy="4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Note: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Step-by-step instructions for both Excel VBA and Power Query are provided in the attached Word document. Power Query is the recommended path for a more robust, maintainable, and refresh-friendly solution.</a:t>
            </a:r>
            <a:endParaRPr lang="en-US" sz="10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82E1267-2420-1E82-5D27-02E1A103F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80" y="1344869"/>
            <a:ext cx="6529886" cy="261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54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7379" y="584619"/>
            <a:ext cx="420399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Live Data Refresh in Excel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07379" y="1299619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connected, Excel becomes a dynamic analytics dashboard. The refresh cycle is fully automated — users interact with a familiar spreadsheet while the backend handles all computation silently.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81" y="2236664"/>
            <a:ext cx="815141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496181" y="2236664"/>
            <a:ext cx="2717087" cy="112127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20151" y="2360638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Click Refresh All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20151" y="2638574"/>
            <a:ext cx="246914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Re-runs the API call to the FastAPI backend endpoint with a single user 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3268" y="2236664"/>
            <a:ext cx="2717162" cy="112127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13268" y="2236664"/>
            <a:ext cx="14288" cy="1121271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239" y="2360638"/>
            <a:ext cx="169771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Backend Recomputes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3337239" y="2638574"/>
            <a:ext cx="24692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metrics are recalculated fresh from live market data on every request.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0429" y="2236664"/>
            <a:ext cx="2717162" cy="112127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30429" y="2236664"/>
            <a:ext cx="14288" cy="1121271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6054400" y="2360638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Excel Updates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054400" y="2638574"/>
            <a:ext cx="246922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Worksheet tables and all linked charts refresh automatically with zero manual steps.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81" y="3497461"/>
            <a:ext cx="8151410" cy="682079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52" y="3677245"/>
            <a:ext cx="155000" cy="12397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9123" y="3640038"/>
            <a:ext cx="76244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workflow supports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daily reporting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monitoring dashboards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analytics pipelines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all driven from a single Excel workbook.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96949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81" y="951030"/>
            <a:ext cx="5635460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Using Excel Charts for Visualization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81" y="1903215"/>
            <a:ext cx="290073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After Data Loads — Chart Options</a:t>
            </a:r>
            <a:endParaRPr lang="en-US" sz="1275" b="1" dirty="0"/>
          </a:p>
        </p:txBody>
      </p:sp>
      <p:sp>
        <p:nvSpPr>
          <p:cNvPr id="6" name="Text 4"/>
          <p:cNvSpPr/>
          <p:nvPr/>
        </p:nvSpPr>
        <p:spPr>
          <a:xfrm>
            <a:off x="496181" y="2230710"/>
            <a:ext cx="392442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charts directly from API output to visualize analytics without any additional tooling: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6181" y="2739256"/>
            <a:ext cx="3924425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chart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volatility comparison across stocks</a:t>
            </a:r>
            <a:endParaRPr lang="en-US" sz="105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 chart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price trends over time</a:t>
            </a:r>
            <a:endParaRPr lang="en-US" sz="105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Pie chart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portfolio composition breakdown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181" y="3533031"/>
            <a:ext cx="3924425" cy="707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users can analyze results without knowing Python, achieving a clean separation between </a:t>
            </a:r>
            <a:r>
              <a:rPr lang="en-US" sz="10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computation (backend)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0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 (Excel)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7928" y="1903215"/>
            <a:ext cx="208525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Advantage</a:t>
            </a:r>
            <a:endParaRPr lang="en-US" sz="1275" b="1" dirty="0"/>
          </a:p>
        </p:txBody>
      </p:sp>
      <p:sp>
        <p:nvSpPr>
          <p:cNvPr id="10" name="Text 8"/>
          <p:cNvSpPr/>
          <p:nvPr/>
        </p:nvSpPr>
        <p:spPr>
          <a:xfrm>
            <a:off x="4727929" y="2230710"/>
            <a:ext cx="3924425" cy="1779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spcAft>
                <a:spcPts val="863"/>
              </a:spcAft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Familiar charting tools empower non-technical users to explore data insights independently. No Python knowledge, no BI licensing, no new software — just the spreadsheet they already know.</a:t>
            </a:r>
            <a:endParaRPr lang="en-US" sz="1050" dirty="0"/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teams maintain full control of the logic while business users retain full control of how they visualize and present it — a clean division of responsibility that scales across teams.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5690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80" y="570311"/>
            <a:ext cx="6077245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Automating Workflow with Excel + API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80" y="1379266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automation options enable hands-free analytics delivery — from scheduled refreshes to event-triggered backend actions. Choose the approach that fits your team's tooling and technical maturity.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80" y="2293070"/>
            <a:ext cx="401372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0151" y="2417044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Scheduled Refresh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20151" y="2694980"/>
            <a:ext cx="388974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or Excel Online can refresh on a predefined schedule — hourly, daily, or weekly — without any user interaction.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3871" y="2293070"/>
            <a:ext cx="401372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57842" y="2417044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Button-Based Refresh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757842" y="2694980"/>
            <a:ext cx="41336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Office Scripts trigger API calls on demand. A single button in the worksheet gives users full control over when data updates.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80" y="3339852"/>
            <a:ext cx="401372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0152" y="3463826"/>
            <a:ext cx="167263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VBA Macro Integration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20151" y="3741762"/>
            <a:ext cx="449178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macros automate complex workflows — chaining API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calls, formatting output, and distributing reports automatically.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3871" y="3339852"/>
            <a:ext cx="401372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7842" y="3463826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Actions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4757842" y="3741762"/>
            <a:ext cx="376577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API can also save results to a database, generate PDF reports, or trigger alerts — all transparently, on each call.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30920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81" y="476102"/>
            <a:ext cx="3550504" cy="386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81" y="995065"/>
            <a:ext cx="8151410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demonstrates that production-grade analytics doesn't require complex BI platforms. A well-structured FastAPI backend paired with Excel can deliver real-world value quickly and accessibly.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81" y="1580257"/>
            <a:ext cx="4019747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13975" y="1698055"/>
            <a:ext cx="1546658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Integration Skills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3975" y="1958504"/>
            <a:ext cx="4013868" cy="551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now understand how APIs connect Python analytics to business tools like Excel — enabling seamless data delivery across teams without requiring end users to touch any code.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27844" y="1580257"/>
            <a:ext cx="4019747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45638" y="1698055"/>
            <a:ext cx="2477331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Services Power Dashboards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45637" y="1958504"/>
            <a:ext cx="3901953" cy="551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backend services handle computation, validation, and serialization, turning Excel into a live analytics dashboard that refreshes on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81" y="2739852"/>
            <a:ext cx="4019747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3975" y="2857648"/>
            <a:ext cx="1648082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975" y="3118098"/>
            <a:ext cx="3896074" cy="551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Moving beyond Jupyter notebooks into production systems means exposing logic via HTTP — reusable by any client or tool, from Excel to mobile apps.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7844" y="2739852"/>
            <a:ext cx="4019747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638" y="2857648"/>
            <a:ext cx="1546658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Automation Is Central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45637" y="3118099"/>
            <a:ext cx="4013869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Scheduled refreshes, VBA triggers, and button-based workflows eliminate manual effort and reduce reporting errors at scale.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81" y="3913435"/>
            <a:ext cx="8151410" cy="628055"/>
          </a:xfrm>
          <a:prstGeom prst="roundRect">
            <a:avLst>
              <a:gd name="adj" fmla="val 2814"/>
            </a:avLst>
          </a:prstGeom>
          <a:solidFill>
            <a:srgbClr val="B6FCB8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75" y="4081315"/>
            <a:ext cx="147262" cy="11779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79032" y="4043587"/>
            <a:ext cx="7650765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 line: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Python handles the logic. FastAPI exposes it. Excel delivers it. Together, they form a lightweight, production-ready analytics stack that any organization can adopt today.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8977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1993</Words>
  <Application>Microsoft Macintosh PowerPoint</Application>
  <PresentationFormat>On-screen Show (16:9)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Consolas</vt:lpstr>
      <vt:lpstr>DM Sans</vt:lpstr>
      <vt:lpstr>PT Serif Light</vt:lpstr>
      <vt:lpstr>PT Serif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26</cp:revision>
  <dcterms:created xsi:type="dcterms:W3CDTF">2026-05-29T10:16:25Z</dcterms:created>
  <dcterms:modified xsi:type="dcterms:W3CDTF">2026-06-19T09:26:32Z</dcterms:modified>
</cp:coreProperties>
</file>