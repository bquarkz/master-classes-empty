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embeddedFontLst>
    <p:embeddedFont>
      <p:font typeface="DM Sans Thin"/>
      <p:regular r:id="rId201314"/>
    </p:embeddedFont>
    <p:embeddedFont>
      <p:font typeface="DM Sans ExtraLight"/>
      <p:regular r:id="rId201315"/>
    </p:embeddedFont>
    <p:embeddedFont>
      <p:font typeface="DM Sans Light"/>
      <p:regular r:id="rId201316"/>
    </p:embeddedFont>
    <p:embeddedFont>
      <p:font typeface="DM Sans"/>
      <p:regular r:id="rId201317"/>
    </p:embeddedFont>
    <p:embeddedFont>
      <p:font typeface="DM Sans Medium"/>
      <p:regular r:id="rId201318"/>
    </p:embeddedFont>
    <p:embeddedFont>
      <p:font typeface="DM Sans SemiBold"/>
      <p:regular r:id="rId201319"/>
    </p:embeddedFont>
    <p:embeddedFont>
      <p:font typeface="DM Sans Bold"/>
      <p:regular r:id="rId201320"/>
    </p:embeddedFont>
    <p:embeddedFont>
      <p:font typeface="DM Sans ExtraBold"/>
      <p:regular r:id="rId201321"/>
    </p:embeddedFont>
    <p:embeddedFont>
      <p:font typeface="DM Sans Black"/>
      <p:regular r:id="rId201322"/>
    </p:embeddedFont>
    <p:embeddedFont>
      <p:font typeface="PT Serif Bold"/>
      <p:regular r:id="rId201323"/>
    </p:embeddedFont>
    <p:embeddedFont>
      <p:font typeface="PT Serif"/>
      <p:regular r:id="rId2013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5.png"/><Relationship Id="rId8" Type="http://schemas.openxmlformats.org/officeDocument/2006/relationships/image" Target="../media/image-12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1.png"/><Relationship Id="rId4" Type="http://schemas.openxmlformats.org/officeDocument/2006/relationships/image" Target="../media/image-13-2.svg"/><Relationship Id="rId5" Type="http://schemas.openxmlformats.org/officeDocument/2006/relationships/image" Target="../media/image-13-1.png"/><Relationship Id="rId6" Type="http://schemas.openxmlformats.org/officeDocument/2006/relationships/image" Target="../media/image-1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1.png"/><Relationship Id="rId4" Type="http://schemas.openxmlformats.org/officeDocument/2006/relationships/image" Target="../media/image-15-2.sv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1.png"/><Relationship Id="rId4" Type="http://schemas.openxmlformats.org/officeDocument/2006/relationships/image" Target="../media/image-17-2.svg"/><Relationship Id="rId5" Type="http://schemas.openxmlformats.org/officeDocument/2006/relationships/image" Target="../media/image-17-1.png"/><Relationship Id="rId6" Type="http://schemas.openxmlformats.org/officeDocument/2006/relationships/image" Target="../media/image-17-2.svg"/><Relationship Id="rId7" Type="http://schemas.openxmlformats.org/officeDocument/2006/relationships/image" Target="../media/image-17-1.png"/><Relationship Id="rId8" Type="http://schemas.openxmlformats.org/officeDocument/2006/relationships/image" Target="../media/image-17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5.png"/><Relationship Id="rId2" Type="http://schemas.openxmlformats.org/officeDocument/2006/relationships/image" Target="../media/image-12-6.svg"/><Relationship Id="rId3" Type="http://schemas.openxmlformats.org/officeDocument/2006/relationships/image" Target="../media/image-12-5.png"/><Relationship Id="rId4" Type="http://schemas.openxmlformats.org/officeDocument/2006/relationships/image" Target="../media/image-12-6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5.png"/><Relationship Id="rId8" Type="http://schemas.openxmlformats.org/officeDocument/2006/relationships/image" Target="../media/image-12-6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59980"/>
            <a:ext cx="9415227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Building Interactive ML Web Apps using Dash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373340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 machine learning models into interactive, user-friendly web applications using Dash — no frontend expertise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3484"/>
            <a:ext cx="495109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02029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82230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402979"/>
            <a:ext cx="3134440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Do We Need ML Web Apps?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9636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3225602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661475" y="3346351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Dash?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1475" y="390703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168973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428972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FastAPI?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61475" y="485040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5112345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5233095"/>
            <a:ext cx="256632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Basic Components of Dash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3904" y="202029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3904" y="2282230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03904" y="2402979"/>
            <a:ext cx="222393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User Does in App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03904" y="296366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3904" y="3225602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3904" y="3346351"/>
            <a:ext cx="331164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 of Dash for ML Demos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3904" y="390703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3904" y="4168973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3" name="Text 21"/>
          <p:cNvSpPr/>
          <p:nvPr/>
        </p:nvSpPr>
        <p:spPr>
          <a:xfrm>
            <a:off x="6303904" y="4289723"/>
            <a:ext cx="302292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 + FastAPI in Real Systems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3904" y="485040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3904" y="5112345"/>
            <a:ext cx="5232666" cy="1905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3904" y="5233095"/>
            <a:ext cx="259480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Workflow Components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3474"/>
            <a:ext cx="687975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Do We Need ML Web Apps?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47689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models deliver value only when the right people can use them. Web apps close the gap between technical teams and business users.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92165"/>
            <a:ext cx="3512653" cy="20623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337651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Challenge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22017" y="3747095"/>
            <a:ext cx="306776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 models are typically built and run inside Python notebooks — an environment that business users cannot access or operate effectively without technical training.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3192165"/>
            <a:ext cx="3512752" cy="20623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9964" y="337651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99964" y="3747095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web interfaces let users upload data, view real-time predictions, and make informed decisions — without writing a single line of code.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3192165"/>
            <a:ext cx="3512653" cy="20623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78010" y="337651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Bridge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278010" y="3747095"/>
            <a:ext cx="3067767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apps create a shared language between data science teams and business stakeholders, making ML outputs accessible, actionable, and trustworthy.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3477"/>
            <a:ext cx="495109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Dash?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33689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 is a Python framework for building web applications, designed specifically for data scientists who want to create interactive dashboards without any frontend expertise. It abstracts away HTML, CSS, and JavaScript entirely.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052167"/>
            <a:ext cx="3512653" cy="149502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3217466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Flask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6769" y="3588048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the backend server that handles HTTP requests and responses under the hood.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3052167"/>
            <a:ext cx="3512752" cy="149502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504716" y="3217466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Plotly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04716" y="3588048"/>
            <a:ext cx="31821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Powers interactive charts, graphs, and data visualizations rendered in the browser.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3052167"/>
            <a:ext cx="3512653" cy="1495028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82762" y="3217466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82762" y="3588048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the frontend UI components and dynamic page rendering seamlessly.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733230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FFDEC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972943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493980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Key Advantage: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entire application is written in pure Python — no HTML, CSS, or JavaScript knowledge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3513"/>
            <a:ext cx="6819035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Can We Build Using Dash?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83693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 is a versatile framework suited for a wide range of interactive, data-driven applications across industries.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287588"/>
            <a:ext cx="5351725" cy="1003895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19" y="2471936"/>
            <a:ext cx="254569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Prediction Dashboards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5819" y="2842518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 model predictions through interactive UI for end users.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287588"/>
            <a:ext cx="5351725" cy="1003895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2838" y="2471936"/>
            <a:ext cx="297728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Business Analytics Dashboards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62838" y="2842518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Summarize KPIs and business metrics with real-time charts.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456781"/>
            <a:ext cx="5351725" cy="1003895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19" y="3641130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Monitoring Systems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5819" y="4011712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model performance and data drift over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456781"/>
            <a:ext cx="5351725" cy="1003895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2838" y="3641130"/>
            <a:ext cx="266723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&amp; Stock Analytics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62838" y="4011712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Visualize market data and run scenario analysis interactively.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625975"/>
            <a:ext cx="5351725" cy="1268512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19" y="4810323"/>
            <a:ext cx="221331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Exploration Tools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5819" y="5180905"/>
            <a:ext cx="49830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Let analysts filter, slice, and explore datasets visually.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8495" y="4625975"/>
            <a:ext cx="5351725" cy="1268512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62838" y="4810323"/>
            <a:ext cx="3059532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Performance Dashboards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62838" y="5180905"/>
            <a:ext cx="498303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model metrics, confusion matrices, and evaluation curves.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4381"/>
            <a:ext cx="5984328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Should We Use Dash?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2415" y="1555155"/>
            <a:ext cx="5470785" cy="4538365"/>
          </a:xfrm>
          <a:prstGeom prst="roundRect">
            <a:avLst>
              <a:gd name="adj" fmla="val 547"/>
            </a:avLst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720453"/>
            <a:ext cx="27803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✓ Use Dash When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7710" y="2177852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245065" y="2234704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 Dashboards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45065" y="2671366"/>
            <a:ext cx="4602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want interactive visual dashboards with graphs, charts, and filterable tables.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7710" y="3531295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1245065" y="3588147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 Interaction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45065" y="4024809"/>
            <a:ext cx="4602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need to interact using sliders, dropdowns, file uploads, or form inputs.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07710" y="4884738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245065" y="4941590"/>
            <a:ext cx="259321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Python-Only Development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45065" y="5378252"/>
            <a:ext cx="460284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scientists want to build a full UI without learning any frontend skills.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1720453"/>
            <a:ext cx="27803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✗ Not Ideal When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03904" y="2177852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6841259" y="2234704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API Only Needed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41259" y="2671366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use case only requires backend API endpoints with no visual layer.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3904" y="3531295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6841259" y="3588147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Frontend Required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841259" y="4024809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is no user interface or visualization component in your system design.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1594"/>
            <a:ext cx="495109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FastAPI?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195016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FastAPI is a modern, high-performance backend web framework for building APIs and microservices in Python. It is built on standard Python type hints and is designed for production-grade deployments.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910284"/>
            <a:ext cx="5351725" cy="123041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307558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Purpose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6769" y="3446165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RESTful APIs and scalable microservices for ML models and data pipelines.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910284"/>
            <a:ext cx="5351725" cy="123041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6343789" y="307558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3789" y="3446165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Extremely fast and production-ready, rivaling Node.js and Go in throughput benchmarks.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305995"/>
            <a:ext cx="5351725" cy="123041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26769" y="447129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6769" y="4841875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Returns structured JSON responses, making it ideal for programmatic consumption.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4305995"/>
            <a:ext cx="5351725" cy="123041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6343789" y="4471293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Capabilities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3789" y="4841875"/>
            <a:ext cx="50211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Supports fully async operations, automatic documentation, and data validation via Pydantic.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7427"/>
            <a:ext cx="495109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 vs FastAPI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19084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the key differences helps you choose the right tool — or the right combination — for your ML project.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41501"/>
            <a:ext cx="10868745" cy="2898973"/>
          </a:xfrm>
          <a:prstGeom prst="roundRect">
            <a:avLst>
              <a:gd name="adj" fmla="val 85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924" y="2647851"/>
            <a:ext cx="3256774" cy="478929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833218" y="2753420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Feature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24698" y="2647851"/>
            <a:ext cx="3799586" cy="478929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8" name="Text 6"/>
          <p:cNvSpPr/>
          <p:nvPr/>
        </p:nvSpPr>
        <p:spPr>
          <a:xfrm>
            <a:off x="4089992" y="2753420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24284" y="2647851"/>
            <a:ext cx="3799586" cy="478929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889578" y="2753420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FastAPI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3218" y="3235523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Purpose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89992" y="3235523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UI + 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9578" y="3235523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Backend API only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3218" y="3717627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89992" y="3717627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Web pages, charts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89578" y="3717627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responses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218" y="4199731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UI Components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89992" y="4199731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89578" y="4199731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3218" y="4681835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089992" y="4681835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89578" y="4681835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3218" y="5163939"/>
            <a:ext cx="353577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 Use Case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89992" y="5163939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 + visualization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89578" y="5163939"/>
            <a:ext cx="407858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 pipelines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684"/>
            <a:ext cx="495109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Dash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2310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 creates a seamless connection between user interactions and Python-based machine learning models through a real-time callback system. Everything runs server-side in Python.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38375"/>
            <a:ext cx="3622882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065165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User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6769" y="3435747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Interacts with UI elements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238375"/>
            <a:ext cx="3622882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9651" y="3065165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UI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449651" y="3435747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Captures and sends actions to server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238375"/>
            <a:ext cx="3622882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72533" y="3065165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Callback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072533" y="3435747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function fires automatically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865662"/>
            <a:ext cx="3622882" cy="661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6769" y="4692452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Model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826769" y="5063034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Processes the input data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865662"/>
            <a:ext cx="3622882" cy="6614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49651" y="4692452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4449651" y="5063034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Updates graphs and tables in real time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661475" y="567898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browser sends user actions to the Dash server, which runs Python callbacks and pushes updated components — graphs, tables, and counts — back to the UI instantly.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6295"/>
            <a:ext cx="5743431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Basic Components of Dash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49971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Dash application is built from three core building blocks. Understanding them is the foundation of building any ML-powered dashboard.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50369"/>
            <a:ext cx="3512653" cy="2281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18585" y="307439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45819" y="3611860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Layout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5819" y="3982442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Defines the page structure and visual organization of all elements on the dashboard. Written entirely in Python using Dash HTML and Core Components.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950369"/>
            <a:ext cx="3512752" cy="2281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96532" y="307439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23766" y="3611860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Components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23766" y="3982442"/>
            <a:ext cx="3144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UI elements including dropdowns, sliders, buttons, file upload widgets, data tables, and Plotly graphs — all declared in Python.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950369"/>
            <a:ext cx="3512653" cy="2281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4578" y="307439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201812" y="3611860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Callbacks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01812" y="3982442"/>
            <a:ext cx="3143965" cy="1064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functions decorated with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@app.callback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connect inputs to outputs. They fire automatically whenever a user triggers an event.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6242"/>
            <a:ext cx="8251916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Our Demo Project – 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23966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demo application solves a real-world credit risk problem: predicting the probability that a customer will default on a loan, enabling data-driven lending decisions.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2415" y="2954933"/>
            <a:ext cx="5470785" cy="2536726"/>
          </a:xfrm>
          <a:prstGeom prst="roundRect">
            <a:avLst>
              <a:gd name="adj" fmla="val 978"/>
            </a:avLst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3120231"/>
            <a:ext cx="27803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Inputs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07710" y="3556893"/>
            <a:ext cx="5140196" cy="1876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Employment status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Address duration (years at current address)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Debt-to-income ratio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Credit card debt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Other outstanding debt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120231"/>
            <a:ext cx="27803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Outputs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3904" y="3556893"/>
            <a:ext cx="5232666" cy="851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Probability of default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continuous score between 0 and 1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Classification label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defaulter or non-defaulter based on a user-defined threshold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4557415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threshold can be adjusted interactively in the app, allowing business users to tune the model's sensitivity to their risk appetite.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609"/>
            <a:ext cx="495109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ML Model Used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39303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demo uses a straightforward but powerful binary classification approach that is well-suited for credit risk scoring and highly interpretable for business stakeholders.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08299"/>
            <a:ext cx="5351725" cy="20355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13317" y="222031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45819" y="2788741"/>
            <a:ext cx="255075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Binary Logistic Regression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5819" y="3159323"/>
            <a:ext cx="4983038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Implemented using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sklearn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 well-understood model that outputs probabilities natively, making it ideal for threshold-based classification.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108299"/>
            <a:ext cx="5351725" cy="20355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0337" y="222031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6362838" y="2788741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Probability Prediction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362838" y="3159323"/>
            <a:ext cx="4983038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predict_proba()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return the probability of default for each customer record in the uploaded test dataset.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09170"/>
            <a:ext cx="5351725" cy="20292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13317" y="44211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45819" y="4989612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Classification Output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45819" y="5360194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Class 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Non-Defaulter |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Class 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Defaulter. The classification is applied by comparing the probability to the selected threshold.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4309170"/>
            <a:ext cx="5351725" cy="202922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30337" y="442118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6362838" y="4989612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Strategy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362838" y="5360194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is trained once when the server starts up. It is not retrained on each request, ensuring consistent, fast predictions for all users.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1858"/>
            <a:ext cx="5382284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Training is Handled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08528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training approach is designed to simulate production systems while maintaining efficiency for demonstration purposes. Training happens once, at startup.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25" y="2781498"/>
            <a:ext cx="3504120" cy="14671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868" y="2800548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Dataset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4868" y="3171130"/>
            <a:ext cx="328167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labeled dataset is stored on the server and automatically loaded when the application starts. No external database connection is required.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163" y="2781498"/>
            <a:ext cx="3504219" cy="14671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56606" y="2800548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Training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56606" y="3171130"/>
            <a:ext cx="328177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model is fitted once during startup. This avoids redundant computation on every prediction request, mirroring how production ML services operate.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6001" y="2781498"/>
            <a:ext cx="3504219" cy="14671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48444" y="2800548"/>
            <a:ext cx="2199228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Shared Model Instance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248444" y="3171130"/>
            <a:ext cx="328177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trained model object is used to serve predictions for all users simultaneously, ensuring consistent results across sessions.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1475" y="4415631"/>
            <a:ext cx="3512653" cy="123041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4" name="Text 9"/>
          <p:cNvSpPr/>
          <p:nvPr/>
        </p:nvSpPr>
        <p:spPr>
          <a:xfrm>
            <a:off x="826769" y="4580930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Faster Predictions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6769" y="4951512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training overhead per request.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339422" y="4415631"/>
            <a:ext cx="3512752" cy="123041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17" name="Text 12"/>
          <p:cNvSpPr/>
          <p:nvPr/>
        </p:nvSpPr>
        <p:spPr>
          <a:xfrm>
            <a:off x="4504716" y="4580930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Retraining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504716" y="4951512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state is stable across all user interactions.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017468" y="4415631"/>
            <a:ext cx="3512653" cy="123041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</p:sp>
      <p:sp>
        <p:nvSpPr>
          <p:cNvPr id="20" name="Text 15"/>
          <p:cNvSpPr/>
          <p:nvPr/>
        </p:nvSpPr>
        <p:spPr>
          <a:xfrm>
            <a:off x="8182762" y="4580930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Production-Like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182762" y="495151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Reflects real enterprise ML deployment architecture.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6211"/>
            <a:ext cx="6537757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the User Does in the App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98963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application provides a simple, code-free interface for business users to interact with the ML model. No Python knowledge or technical background is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200995"/>
            <a:ext cx="3512653" cy="165298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26769" y="3531592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Upload Test CSV File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6769" y="3902174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drags and drops or selects a CSV file containing customer records to be scored by the model.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422" y="2952948"/>
            <a:ext cx="3512752" cy="165298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504716" y="3283545"/>
            <a:ext cx="273231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Select Probability Threshold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04716" y="3654127"/>
            <a:ext cx="318216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adjusts the decision threshold using a dropdown to control sensitivity — higher thresholds flag fewer customers as defaulters.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704902"/>
            <a:ext cx="3512653" cy="165298"/>
          </a:xfrm>
          <a:prstGeom prst="roundRect">
            <a:avLst>
              <a:gd name="adj" fmla="val 1500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82762" y="3035498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View Results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82762" y="3406080"/>
            <a:ext cx="318206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dashboard instantly displays the number of predicted defaulters, a probability distribution chart, and a sample prediction table — all updated in real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5080496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FFDECC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320209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731" y="5287070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 coding required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everything is handled through the intuitive web interface, making this accessible to any business stakeholder.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4590"/>
            <a:ext cx="7181869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 Callback Logic in the Project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87801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Callbacks are the engine of the application. They automate the entire prediction workflow, responding to user actions in real-time without any manual intervention.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758579"/>
            <a:ext cx="27803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Callback Triggers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485" y="3224113"/>
            <a:ext cx="248041" cy="2480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830" y="3215977"/>
            <a:ext cx="469531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CSV file is uploaded by the user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485" y="4059138"/>
            <a:ext cx="248041" cy="2480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98830" y="4051002"/>
            <a:ext cx="469531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probability threshold value is changed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184844" y="2593280"/>
            <a:ext cx="5470785" cy="2148086"/>
          </a:xfrm>
          <a:prstGeom prst="roundRect">
            <a:avLst>
              <a:gd name="adj" fmla="val 1155"/>
            </a:avLst>
          </a:prstGeom>
          <a:solidFill>
            <a:srgbClr val="E04F00"/>
          </a:solidFill>
          <a:ln/>
        </p:spPr>
      </p:sp>
      <p:sp>
        <p:nvSpPr>
          <p:cNvPr id="10" name="Text 6"/>
          <p:cNvSpPr/>
          <p:nvPr/>
        </p:nvSpPr>
        <p:spPr>
          <a:xfrm>
            <a:off x="6350139" y="2758579"/>
            <a:ext cx="27803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Inside the Callback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350139" y="3195241"/>
            <a:ext cx="5140196" cy="1238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 and parse the uploaded CSV file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 </a:t>
            </a:r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000000"/>
                </a:solidFill>
                <a:highlight>
                  <a:srgbClr val="ED5C0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predict_proba()</a:t>
            </a:r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all records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selected threshold to classify each record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the distribution chart and prediction counts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61475" y="4927402"/>
            <a:ext cx="10868745" cy="925909"/>
          </a:xfrm>
          <a:prstGeom prst="roundRect">
            <a:avLst>
              <a:gd name="adj" fmla="val 2679"/>
            </a:avLst>
          </a:prstGeom>
          <a:solidFill>
            <a:srgbClr val="FFDEC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69" y="5167114"/>
            <a:ext cx="206667" cy="1652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8731" y="5133975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Everything automated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no manual intervention required once the callback fires. The user sees updated results within milliseconds.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440"/>
            <a:ext cx="4033241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Dash App in Action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59470"/>
            <a:ext cx="5558691" cy="28599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124027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Credit Default Prediction dashboard shows four live panels: a file upload zone, a threshold selector with real-time defaulter counts, a probability distribution histogram, and a top-10 prediction preview table.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61475" y="4575870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61475" y="4773910"/>
            <a:ext cx="5387840" cy="127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4861322"/>
            <a:ext cx="1673878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Uploaded Data Preview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5120580"/>
            <a:ext cx="538784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Confirms the file was received and parsed correctly.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42281" y="4575870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42281" y="4773910"/>
            <a:ext cx="5387939" cy="127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8"/>
          <p:cNvSpPr/>
          <p:nvPr/>
        </p:nvSpPr>
        <p:spPr>
          <a:xfrm>
            <a:off x="6142281" y="4861322"/>
            <a:ext cx="2103484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Predicted Default Probability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142281" y="5120580"/>
            <a:ext cx="538793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customer record receives a probability score from the model.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61475" y="5480149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61475" y="5678190"/>
            <a:ext cx="5387840" cy="127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5765602"/>
            <a:ext cx="2253797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Threshold-Based Classification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1475" y="6024860"/>
            <a:ext cx="538784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adjust the threshold to tune sensitivity interactively.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142281" y="5480149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142281" y="5678190"/>
            <a:ext cx="5387939" cy="1270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6"/>
          <p:cNvSpPr/>
          <p:nvPr/>
        </p:nvSpPr>
        <p:spPr>
          <a:xfrm>
            <a:off x="6142281" y="5765602"/>
            <a:ext cx="1628040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Real-Time Counts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42281" y="6024860"/>
            <a:ext cx="5387939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Defaulter and non-defaulter totals update instantly on every change.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1136"/>
            <a:ext cx="7234453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Advantages of Dash for ML Demos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2024559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 removes nearly every barrier that traditionally separates ML engineers from shipping functional, interactive user interfaces.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475210"/>
            <a:ext cx="5351725" cy="15331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2017" y="2659559"/>
            <a:ext cx="331213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Simple Python-Only Development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22017" y="3030141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complete web applications without learning HTML, CSS, or JavaScript. If you know Python, you can build a full-featured UI.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2475210"/>
            <a:ext cx="5351725" cy="15331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39037" y="2659559"/>
            <a:ext cx="2709299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Frontend Skills Required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439037" y="3030141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scientists can independently design and deploy dashboards without depending on a frontend engineer or UX designer.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73637"/>
            <a:ext cx="5351725" cy="15331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2017" y="4357985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Interactive and Visual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922017" y="4728567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Plotly-powered charts provide an engaging, real-time user experience that makes model outputs easy to understand and explore.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4173637"/>
            <a:ext cx="5351725" cy="15331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39037" y="4357985"/>
            <a:ext cx="3125114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Great for Teaching &amp; Prototypes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439037" y="4728567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Ideal for classroom demos, academic projects, internal tools, and rapid prototyping before a full production build.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087"/>
            <a:ext cx="5074118" cy="400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 + FastAPI in Real Systems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116013"/>
            <a:ext cx="11478330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industry-standard pattern for scalable, production-ready ML applications combines both frameworks — Dash for the frontend experience and FastAPI for the backend prediction service.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2695" y="1387177"/>
            <a:ext cx="5506205" cy="3725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1424" y="2828038"/>
            <a:ext cx="1002635" cy="722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Production Architecture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79899" y="3917947"/>
            <a:ext cx="1491599" cy="48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Secure API communication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79899" y="4464621"/>
            <a:ext cx="1491599" cy="31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 with auth and validation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584305" y="4038312"/>
            <a:ext cx="1491598" cy="240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JSON responses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584305" y="4344256"/>
            <a:ext cx="1491598" cy="31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payload for frontend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584305" y="1708834"/>
            <a:ext cx="1491598" cy="481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 frontend dashboard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84305" y="2255508"/>
            <a:ext cx="1491598" cy="31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Displays results and visualizations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089452" y="1588596"/>
            <a:ext cx="1491599" cy="72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FastAPI prediction service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89452" y="2376000"/>
            <a:ext cx="1491599" cy="31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1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model inference requests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475" y="5213747"/>
            <a:ext cx="3562856" cy="837902"/>
          </a:xfrm>
          <a:prstGeom prst="roundRect">
            <a:avLst>
              <a:gd name="adj" fmla="val 2186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783511" y="5335786"/>
            <a:ext cx="1602541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Scalable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3511" y="5590084"/>
            <a:ext cx="331878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 a growing user base by scaling the FastAPI service independently of the Dash frontend.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14419" y="5213747"/>
            <a:ext cx="3562856" cy="837902"/>
          </a:xfrm>
          <a:prstGeom prst="roundRect">
            <a:avLst>
              <a:gd name="adj" fmla="val 2186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4436455" y="5335786"/>
            <a:ext cx="1602541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Secure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36455" y="5590084"/>
            <a:ext cx="331878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 proper authentication and authorization at the API layer, decoupled from the UI.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967364" y="5213747"/>
            <a:ext cx="3562856" cy="837902"/>
          </a:xfrm>
          <a:prstGeom prst="roundRect">
            <a:avLst>
              <a:gd name="adj" fmla="val 2186"/>
            </a:avLst>
          </a:prstGeom>
          <a:solidFill>
            <a:srgbClr val="F2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8089400" y="5335786"/>
            <a:ext cx="1602541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Production Ready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089400" y="5590084"/>
            <a:ext cx="3318784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Enterprise-grade deployment with clear separation of concerns between UI and model serving.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1475" y="6153051"/>
            <a:ext cx="11478330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architecture is the </a:t>
            </a:r>
            <a:pPr algn="l" indent="0" marL="0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natural next step</a:t>
            </a:r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beyond demos and prototypes — the same patterns used by leading ML teams in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2752"/>
            <a:ext cx="5800282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Workflow Components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61617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demo project illustrates the complete ML lifecycle — from model training at startup all the way through to a business decision — in a single, cohesive application.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31442"/>
            <a:ext cx="5434373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158232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1. Train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26769" y="3528814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trained on historical data at server startup. Ready to serve all users instantly.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331442"/>
            <a:ext cx="5434373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142" y="3158232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2. Upload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6261142" y="3528814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user uploads a test CSV file containing new customer records through the web UI.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223345"/>
            <a:ext cx="5434373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769" y="5050135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3. Predict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26769" y="5420717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Callback fires automatically, running the model and generating default probabilities for each row.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4223345"/>
            <a:ext cx="5434373" cy="661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1142" y="5050135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4. Decide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261142" y="5420717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 applies a business threshold to classify customers and act on the results with confidence.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042"/>
            <a:ext cx="4951090" cy="542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52846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 empowers ML engineers and data scientists to ship real, interactive applications — no frontend experience required.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979116"/>
            <a:ext cx="5351725" cy="20292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13317" y="20911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45819" y="2659559"/>
            <a:ext cx="2176011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Dash for ML Web Apps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5819" y="3030141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 enables Python-only development of fully interactive web applications, removing the frontend bottleneck for data science teams entirely.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979116"/>
            <a:ext cx="5351725" cy="20292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30337" y="20911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6362838" y="2659559"/>
            <a:ext cx="2260147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Complete ML Workflow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362838" y="3030141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project demonstrates the full pipeline: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Train → Upload → Predict → Decide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Every step is visible, interactive, and accessible to non-technical users.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73637"/>
            <a:ext cx="5351725" cy="20292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13317" y="428565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45819" y="4854079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Right Tool for the Job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45819" y="5224661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Dash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interactive dashboards and visual demos. Use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FastAPI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backend prediction services in production. Use them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8383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together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scalable, enterprise-grade systems.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4173637"/>
            <a:ext cx="5351725" cy="202922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30337" y="428565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2"/>
          <p:cNvSpPr/>
          <p:nvPr/>
        </p:nvSpPr>
        <p:spPr>
          <a:xfrm>
            <a:off x="6362838" y="4854079"/>
            <a:ext cx="2170753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Bridging the Gap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362838" y="5224661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important outcome: ML stops living only in notebooks and starts delivering real value to business users through intuitive, self-service web interfaces.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2026-07-03T09:18:54Z</dcterms:created>
  <dcterms:modified xsi:type="dcterms:W3CDTF">2026-07-03T09:18:54Z</dcterms:modified>
</cp:coreProperties>
</file>