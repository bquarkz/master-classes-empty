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0"/>
  </p:notesMasterIdLst>
  <p:sldIdLst>
    <p:sldId id="256" r:id="rId2"/>
    <p:sldId id="278" r:id="rId3"/>
    <p:sldId id="257" r:id="rId4"/>
    <p:sldId id="258" r:id="rId5"/>
    <p:sldId id="259" r:id="rId6"/>
    <p:sldId id="267" r:id="rId7"/>
    <p:sldId id="260" r:id="rId8"/>
    <p:sldId id="268" r:id="rId9"/>
    <p:sldId id="269" r:id="rId10"/>
    <p:sldId id="270" r:id="rId11"/>
    <p:sldId id="262" r:id="rId12"/>
    <p:sldId id="271" r:id="rId13"/>
    <p:sldId id="272" r:id="rId14"/>
    <p:sldId id="273" r:id="rId15"/>
    <p:sldId id="274" r:id="rId16"/>
    <p:sldId id="265" r:id="rId17"/>
    <p:sldId id="266" r:id="rId18"/>
    <p:sldId id="388" r:id="rId19"/>
  </p:sldIdLst>
  <p:sldSz cx="14630400" cy="8229600"/>
  <p:notesSz cx="8229600" cy="14630400"/>
  <p:embeddedFontLst>
    <p:embeddedFont>
      <p:font typeface="DM Sans" pitchFamily="2" charset="77"/>
      <p:regular r:id="rId21"/>
      <p:bold r:id="rId22"/>
      <p:italic r:id="rId23"/>
      <p:boldItalic r:id="rId24"/>
    </p:embeddedFont>
    <p:embeddedFont>
      <p:font typeface="PT Serif" panose="020A0603040505020204" pitchFamily="18" charset="77"/>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4610"/>
  </p:normalViewPr>
  <p:slideViewPr>
    <p:cSldViewPr snapToGrid="0" snapToObjects="1">
      <p:cViewPr varScale="1">
        <p:scale>
          <a:sx n="91" d="100"/>
          <a:sy n="91" d="100"/>
        </p:scale>
        <p:origin x="6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8832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370192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CD720-8E10-65E8-AD47-99A124D39C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1816E-229A-5952-FB14-CC0426D28A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E64E6-F678-1ECE-73F3-865D7FA418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26A856-7E9E-1E68-8C4D-62B4E9A4F684}"/>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7864483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230273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14904854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29007039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1986247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906332" y="2897249"/>
            <a:ext cx="9840913" cy="744260"/>
          </a:xfrm>
          <a:prstGeom prst="rect">
            <a:avLst/>
          </a:prstGeom>
          <a:noFill/>
          <a:ln/>
        </p:spPr>
        <p:txBody>
          <a:bodyPr wrap="none" lIns="0" tIns="0" rIns="0" bIns="0" rtlCol="0" anchor="t"/>
          <a:lstStyle/>
          <a:p>
            <a:pPr marL="0" indent="0" algn="l">
              <a:lnSpc>
                <a:spcPts val="5850"/>
              </a:lnSpc>
              <a:buNone/>
            </a:pPr>
            <a:r>
              <a:rPr lang="en-US" sz="4100" dirty="0">
                <a:solidFill>
                  <a:srgbClr val="020202"/>
                </a:solidFill>
                <a:latin typeface="PT Serif" pitchFamily="34" charset="0"/>
                <a:ea typeface="PT Serif" pitchFamily="34" charset="-122"/>
                <a:cs typeface="PT Serif" pitchFamily="34" charset="-120"/>
              </a:rPr>
              <a:t>Poisson Regression</a:t>
            </a:r>
          </a:p>
          <a:p>
            <a:pPr marL="0" indent="0" algn="l">
              <a:lnSpc>
                <a:spcPts val="5850"/>
              </a:lnSpc>
              <a:buNone/>
            </a:pPr>
            <a:r>
              <a:rPr lang="en-US" sz="2800" dirty="0">
                <a:solidFill>
                  <a:srgbClr val="020202"/>
                </a:solidFill>
                <a:latin typeface="PT Serif" pitchFamily="34" charset="0"/>
              </a:rPr>
              <a:t>Modeling Count Dependent Variable</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07162"/>
            <a:ext cx="4763333" cy="595432"/>
          </a:xfrm>
          <a:prstGeom prst="rect">
            <a:avLst/>
          </a:prstGeom>
          <a:noFill/>
          <a:ln/>
        </p:spPr>
        <p:txBody>
          <a:bodyPr wrap="none" lIns="0" tIns="0" rIns="0" bIns="0" rtlCol="0" anchor="t"/>
          <a:lstStyle/>
          <a:p>
            <a:pPr marL="0" indent="0" algn="l">
              <a:lnSpc>
                <a:spcPts val="4650"/>
              </a:lnSpc>
              <a:buNone/>
            </a:pPr>
            <a:r>
              <a:rPr lang="en-US" sz="3750" dirty="0">
                <a:solidFill>
                  <a:srgbClr val="020202"/>
                </a:solidFill>
                <a:latin typeface="PT Serif" pitchFamily="34" charset="0"/>
                <a:ea typeface="PT Serif" pitchFamily="34" charset="-122"/>
                <a:cs typeface="PT Serif" pitchFamily="34" charset="-120"/>
              </a:rPr>
              <a:t>Contents</a:t>
            </a:r>
            <a:endParaRPr lang="en-US" sz="3750" dirty="0"/>
          </a:p>
        </p:txBody>
      </p:sp>
      <p:sp>
        <p:nvSpPr>
          <p:cNvPr id="3" name="Text 1"/>
          <p:cNvSpPr/>
          <p:nvPr/>
        </p:nvSpPr>
        <p:spPr>
          <a:xfrm>
            <a:off x="793790"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01</a:t>
            </a:r>
            <a:endParaRPr lang="en-US" sz="1750" dirty="0"/>
          </a:p>
        </p:txBody>
      </p:sp>
      <p:sp>
        <p:nvSpPr>
          <p:cNvPr id="4" name="Shape 2"/>
          <p:cNvSpPr/>
          <p:nvPr/>
        </p:nvSpPr>
        <p:spPr>
          <a:xfrm>
            <a:off x="793790" y="2511266"/>
            <a:ext cx="6407944" cy="30480"/>
          </a:xfrm>
          <a:prstGeom prst="rect">
            <a:avLst/>
          </a:prstGeom>
          <a:solidFill>
            <a:srgbClr val="E04F00"/>
          </a:solidFill>
          <a:ln/>
        </p:spPr>
      </p:sp>
      <p:sp>
        <p:nvSpPr>
          <p:cNvPr id="5" name="Text 3"/>
          <p:cNvSpPr/>
          <p:nvPr/>
        </p:nvSpPr>
        <p:spPr>
          <a:xfrm>
            <a:off x="793790" y="2685574"/>
            <a:ext cx="4370308"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Understanding Poisson Distribution</a:t>
            </a:r>
            <a:endParaRPr lang="en-US" sz="2300" dirty="0"/>
          </a:p>
        </p:txBody>
      </p:sp>
      <p:sp>
        <p:nvSpPr>
          <p:cNvPr id="6" name="Text 4"/>
          <p:cNvSpPr/>
          <p:nvPr/>
        </p:nvSpPr>
        <p:spPr>
          <a:xfrm>
            <a:off x="7428548"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02</a:t>
            </a:r>
            <a:endParaRPr lang="en-US" sz="1750" dirty="0"/>
          </a:p>
        </p:txBody>
      </p:sp>
      <p:sp>
        <p:nvSpPr>
          <p:cNvPr id="7" name="Shape 5"/>
          <p:cNvSpPr/>
          <p:nvPr/>
        </p:nvSpPr>
        <p:spPr>
          <a:xfrm>
            <a:off x="7428548" y="2511266"/>
            <a:ext cx="6408063" cy="30480"/>
          </a:xfrm>
          <a:prstGeom prst="rect">
            <a:avLst/>
          </a:prstGeom>
          <a:solidFill>
            <a:srgbClr val="E04F00"/>
          </a:solidFill>
          <a:ln/>
        </p:spPr>
      </p:sp>
      <p:sp>
        <p:nvSpPr>
          <p:cNvPr id="8" name="Text 6"/>
          <p:cNvSpPr/>
          <p:nvPr/>
        </p:nvSpPr>
        <p:spPr>
          <a:xfrm>
            <a:off x="7428548" y="2685574"/>
            <a:ext cx="3833217"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Poisson Regression Model</a:t>
            </a:r>
            <a:endParaRPr lang="en-US" sz="2300" dirty="0"/>
          </a:p>
        </p:txBody>
      </p:sp>
      <p:sp>
        <p:nvSpPr>
          <p:cNvPr id="9" name="Text 7"/>
          <p:cNvSpPr/>
          <p:nvPr/>
        </p:nvSpPr>
        <p:spPr>
          <a:xfrm>
            <a:off x="793790"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03</a:t>
            </a:r>
            <a:endParaRPr lang="en-US" sz="1750" dirty="0"/>
          </a:p>
        </p:txBody>
      </p:sp>
      <p:sp>
        <p:nvSpPr>
          <p:cNvPr id="10" name="Shape 8"/>
          <p:cNvSpPr/>
          <p:nvPr/>
        </p:nvSpPr>
        <p:spPr>
          <a:xfrm>
            <a:off x="793790" y="3809524"/>
            <a:ext cx="6407944" cy="30480"/>
          </a:xfrm>
          <a:prstGeom prst="rect">
            <a:avLst/>
          </a:prstGeom>
          <a:solidFill>
            <a:srgbClr val="E04F00"/>
          </a:solidFill>
          <a:ln/>
        </p:spPr>
      </p:sp>
      <p:sp>
        <p:nvSpPr>
          <p:cNvPr id="11" name="Text 9"/>
          <p:cNvSpPr/>
          <p:nvPr/>
        </p:nvSpPr>
        <p:spPr>
          <a:xfrm>
            <a:off x="793790" y="3983831"/>
            <a:ext cx="3926681"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Modeling Complaint Count </a:t>
            </a:r>
            <a:endParaRPr lang="en-US" sz="2300" dirty="0"/>
          </a:p>
        </p:txBody>
      </p:sp>
      <p:sp>
        <p:nvSpPr>
          <p:cNvPr id="12" name="Text 10"/>
          <p:cNvSpPr/>
          <p:nvPr/>
        </p:nvSpPr>
        <p:spPr>
          <a:xfrm>
            <a:off x="7428548"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04</a:t>
            </a:r>
            <a:endParaRPr lang="en-US" sz="1750" dirty="0"/>
          </a:p>
        </p:txBody>
      </p:sp>
      <p:sp>
        <p:nvSpPr>
          <p:cNvPr id="13" name="Shape 11"/>
          <p:cNvSpPr/>
          <p:nvPr/>
        </p:nvSpPr>
        <p:spPr>
          <a:xfrm>
            <a:off x="7428548" y="3809524"/>
            <a:ext cx="6408063" cy="30480"/>
          </a:xfrm>
          <a:prstGeom prst="rect">
            <a:avLst/>
          </a:prstGeom>
          <a:solidFill>
            <a:srgbClr val="E04F00"/>
          </a:solidFill>
          <a:ln/>
        </p:spPr>
      </p:sp>
      <p:sp>
        <p:nvSpPr>
          <p:cNvPr id="14" name="Text 12"/>
          <p:cNvSpPr/>
          <p:nvPr/>
        </p:nvSpPr>
        <p:spPr>
          <a:xfrm>
            <a:off x="7428548" y="3983831"/>
            <a:ext cx="3837027"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Estimation of Parameters</a:t>
            </a:r>
            <a:endParaRPr lang="en-US" sz="2300" dirty="0"/>
          </a:p>
        </p:txBody>
      </p:sp>
      <p:sp>
        <p:nvSpPr>
          <p:cNvPr id="15" name="Text 13"/>
          <p:cNvSpPr/>
          <p:nvPr/>
        </p:nvSpPr>
        <p:spPr>
          <a:xfrm>
            <a:off x="793790" y="475273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05</a:t>
            </a:r>
            <a:endParaRPr lang="en-US" sz="1750" dirty="0"/>
          </a:p>
        </p:txBody>
      </p:sp>
      <p:sp>
        <p:nvSpPr>
          <p:cNvPr id="16" name="Shape 14"/>
          <p:cNvSpPr/>
          <p:nvPr/>
        </p:nvSpPr>
        <p:spPr>
          <a:xfrm>
            <a:off x="793790" y="5107781"/>
            <a:ext cx="6407944" cy="30480"/>
          </a:xfrm>
          <a:prstGeom prst="rect">
            <a:avLst/>
          </a:prstGeom>
          <a:solidFill>
            <a:srgbClr val="E04F00"/>
          </a:solidFill>
          <a:ln/>
        </p:spPr>
      </p:sp>
      <p:sp>
        <p:nvSpPr>
          <p:cNvPr id="17" name="Text 15"/>
          <p:cNvSpPr/>
          <p:nvPr/>
        </p:nvSpPr>
        <p:spPr>
          <a:xfrm>
            <a:off x="793790" y="528208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Goodness of Fit Test</a:t>
            </a:r>
            <a:endParaRPr lang="en-US" sz="2300" dirty="0"/>
          </a:p>
        </p:txBody>
      </p:sp>
      <p:sp>
        <p:nvSpPr>
          <p:cNvPr id="18" name="Text 16"/>
          <p:cNvSpPr/>
          <p:nvPr/>
        </p:nvSpPr>
        <p:spPr>
          <a:xfrm>
            <a:off x="7428548" y="475273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06</a:t>
            </a:r>
            <a:endParaRPr lang="en-US" sz="1750" dirty="0"/>
          </a:p>
        </p:txBody>
      </p:sp>
      <p:sp>
        <p:nvSpPr>
          <p:cNvPr id="19" name="Shape 17"/>
          <p:cNvSpPr/>
          <p:nvPr/>
        </p:nvSpPr>
        <p:spPr>
          <a:xfrm>
            <a:off x="7428548" y="5107781"/>
            <a:ext cx="6408063" cy="30480"/>
          </a:xfrm>
          <a:prstGeom prst="rect">
            <a:avLst/>
          </a:prstGeom>
          <a:solidFill>
            <a:srgbClr val="E04F00"/>
          </a:solidFill>
          <a:ln/>
        </p:spPr>
      </p:sp>
      <p:sp>
        <p:nvSpPr>
          <p:cNvPr id="20" name="Text 18"/>
          <p:cNvSpPr/>
          <p:nvPr/>
        </p:nvSpPr>
        <p:spPr>
          <a:xfrm>
            <a:off x="7428548" y="528208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Predicted Values</a:t>
            </a:r>
            <a:endParaRPr lang="en-US" sz="2300" dirty="0"/>
          </a:p>
        </p:txBody>
      </p:sp>
    </p:spTree>
    <p:extLst>
      <p:ext uri="{BB962C8B-B14F-4D97-AF65-F5344CB8AC3E}">
        <p14:creationId xmlns:p14="http://schemas.microsoft.com/office/powerpoint/2010/main" val="3784667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02268"/>
            <a:ext cx="7592378" cy="595432"/>
          </a:xfrm>
          <a:prstGeom prst="rect">
            <a:avLst/>
          </a:prstGeom>
          <a:noFill/>
          <a:ln/>
        </p:spPr>
        <p:txBody>
          <a:bodyPr wrap="none" lIns="0" tIns="0" rIns="0" bIns="0" rtlCol="0" anchor="t"/>
          <a:lstStyle/>
          <a:p>
            <a:pPr marL="0" indent="0" algn="l">
              <a:lnSpc>
                <a:spcPts val="4650"/>
              </a:lnSpc>
              <a:buNone/>
            </a:pPr>
            <a:r>
              <a:rPr lang="en-US" sz="3750" dirty="0">
                <a:solidFill>
                  <a:srgbClr val="020202"/>
                </a:solidFill>
                <a:latin typeface="PT Serif" pitchFamily="34" charset="0"/>
                <a:ea typeface="PT Serif" pitchFamily="34" charset="-122"/>
                <a:cs typeface="PT Serif" pitchFamily="34" charset="-120"/>
              </a:rPr>
              <a:t>Understanding Poisson Distribution</a:t>
            </a:r>
            <a:endParaRPr lang="en-US" sz="3750" dirty="0"/>
          </a:p>
        </p:txBody>
      </p:sp>
      <p:sp>
        <p:nvSpPr>
          <p:cNvPr id="3" name="Text 1"/>
          <p:cNvSpPr/>
          <p:nvPr/>
        </p:nvSpPr>
        <p:spPr>
          <a:xfrm>
            <a:off x="793790" y="2051328"/>
            <a:ext cx="13042821" cy="907018"/>
          </a:xfrm>
          <a:prstGeom prst="rect">
            <a:avLst/>
          </a:prstGeom>
          <a:noFill/>
          <a:ln/>
        </p:spPr>
        <p:txBody>
          <a:bodyPr wrap="square" lIns="0" tIns="0" rIns="0" bIns="0" rtlCol="0" anchor="t"/>
          <a:lstStyle/>
          <a:p>
            <a:pPr marL="0" indent="0" algn="l">
              <a:lnSpc>
                <a:spcPts val="3550"/>
              </a:lnSpc>
              <a:buNone/>
            </a:pPr>
            <a:r>
              <a:rPr lang="en-US" dirty="0">
                <a:solidFill>
                  <a:srgbClr val="383838"/>
                </a:solidFill>
                <a:latin typeface="DM Sans" pitchFamily="34" charset="0"/>
                <a:ea typeface="DM Sans" pitchFamily="34" charset="-122"/>
                <a:cs typeface="DM Sans" pitchFamily="34" charset="-120"/>
              </a:rPr>
              <a:t>There are several phenomena where the variable is a 'count' of rare events observed within a specific time period, such as:</a:t>
            </a:r>
            <a:endParaRPr lang="en-US" dirty="0"/>
          </a:p>
        </p:txBody>
      </p:sp>
      <p:sp>
        <p:nvSpPr>
          <p:cNvPr id="4" name="Text 2"/>
          <p:cNvSpPr/>
          <p:nvPr/>
        </p:nvSpPr>
        <p:spPr>
          <a:xfrm>
            <a:off x="793789" y="2850594"/>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Number of deaths caused by lightning in six months</a:t>
            </a:r>
            <a:endParaRPr lang="en-US" sz="1750" dirty="0"/>
          </a:p>
        </p:txBody>
      </p:sp>
      <p:sp>
        <p:nvSpPr>
          <p:cNvPr id="5" name="Text 3"/>
          <p:cNvSpPr/>
          <p:nvPr/>
        </p:nvSpPr>
        <p:spPr>
          <a:xfrm>
            <a:off x="793788" y="3258739"/>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Number of insurance claims in one year</a:t>
            </a:r>
            <a:endParaRPr lang="en-US" sz="1750" dirty="0"/>
          </a:p>
        </p:txBody>
      </p:sp>
      <p:sp>
        <p:nvSpPr>
          <p:cNvPr id="6" name="Text 4"/>
          <p:cNvSpPr/>
          <p:nvPr/>
        </p:nvSpPr>
        <p:spPr>
          <a:xfrm>
            <a:off x="793790" y="3670726"/>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Number of website visits per hour</a:t>
            </a:r>
            <a:endParaRPr lang="en-US" sz="1750" dirty="0"/>
          </a:p>
        </p:txBody>
      </p:sp>
      <p:sp>
        <p:nvSpPr>
          <p:cNvPr id="7" name="Text 5"/>
          <p:cNvSpPr/>
          <p:nvPr/>
        </p:nvSpPr>
        <p:spPr>
          <a:xfrm>
            <a:off x="793787" y="4051532"/>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Number of defects in manufactured products</a:t>
            </a:r>
            <a:endParaRPr lang="en-US" sz="1750" dirty="0"/>
          </a:p>
        </p:txBody>
      </p:sp>
      <p:sp>
        <p:nvSpPr>
          <p:cNvPr id="8" name="Text 6"/>
          <p:cNvSpPr/>
          <p:nvPr/>
        </p:nvSpPr>
        <p:spPr>
          <a:xfrm>
            <a:off x="793790" y="4844325"/>
            <a:ext cx="13042821" cy="907018"/>
          </a:xfrm>
          <a:prstGeom prst="rect">
            <a:avLst/>
          </a:prstGeom>
          <a:noFill/>
          <a:ln/>
        </p:spPr>
        <p:txBody>
          <a:bodyPr wrap="square" lIns="0" tIns="0" rIns="0" bIns="0" rtlCol="0" anchor="t"/>
          <a:lstStyle/>
          <a:p>
            <a:pPr marL="0" indent="0" algn="l">
              <a:lnSpc>
                <a:spcPts val="3550"/>
              </a:lnSpc>
              <a:buNone/>
            </a:pPr>
            <a:r>
              <a:rPr lang="en-US" b="1" dirty="0">
                <a:solidFill>
                  <a:srgbClr val="383838"/>
                </a:solidFill>
                <a:latin typeface="DM Sans" pitchFamily="34" charset="0"/>
                <a:ea typeface="DM Sans" pitchFamily="34" charset="-122"/>
                <a:cs typeface="DM Sans" pitchFamily="34" charset="-120"/>
              </a:rPr>
              <a:t>Such random variables do not follow Normal distribution</a:t>
            </a:r>
            <a:r>
              <a:rPr lang="en-US" dirty="0">
                <a:solidFill>
                  <a:srgbClr val="383838"/>
                </a:solidFill>
                <a:latin typeface="DM Sans" pitchFamily="34" charset="0"/>
                <a:ea typeface="DM Sans" pitchFamily="34" charset="-122"/>
                <a:cs typeface="DM Sans" pitchFamily="34" charset="-120"/>
              </a:rPr>
              <a:t> and therefore cannot be modeled using multiple linear regression.</a:t>
            </a:r>
            <a:endParaRPr lang="en-US" dirty="0"/>
          </a:p>
        </p:txBody>
      </p:sp>
      <p:sp>
        <p:nvSpPr>
          <p:cNvPr id="9" name="Text 7"/>
          <p:cNvSpPr/>
          <p:nvPr/>
        </p:nvSpPr>
        <p:spPr>
          <a:xfrm>
            <a:off x="793786" y="5961249"/>
            <a:ext cx="13042821" cy="907018"/>
          </a:xfrm>
          <a:prstGeom prst="rect">
            <a:avLst/>
          </a:prstGeom>
          <a:noFill/>
          <a:ln/>
        </p:spPr>
        <p:txBody>
          <a:bodyPr wrap="square" lIns="0" tIns="0" rIns="0" bIns="0" rtlCol="0" anchor="t"/>
          <a:lstStyle/>
          <a:p>
            <a:pPr marL="0" indent="0" algn="l">
              <a:lnSpc>
                <a:spcPts val="3550"/>
              </a:lnSpc>
              <a:buNone/>
            </a:pPr>
            <a:r>
              <a:rPr lang="en-US" dirty="0">
                <a:solidFill>
                  <a:srgbClr val="383838"/>
                </a:solidFill>
                <a:latin typeface="DM Sans" pitchFamily="34" charset="0"/>
                <a:ea typeface="DM Sans" pitchFamily="34" charset="-122"/>
                <a:cs typeface="DM Sans" pitchFamily="34" charset="-120"/>
              </a:rPr>
              <a:t>The probability distribution best suited for such count data is </a:t>
            </a:r>
            <a:r>
              <a:rPr lang="en-US" b="1" dirty="0">
                <a:solidFill>
                  <a:srgbClr val="E04F00"/>
                </a:solidFill>
                <a:latin typeface="DM Sans" pitchFamily="34" charset="0"/>
                <a:ea typeface="DM Sans" pitchFamily="34" charset="-122"/>
                <a:cs typeface="DM Sans" pitchFamily="34" charset="-120"/>
              </a:rPr>
              <a:t>Poisson distribution</a:t>
            </a:r>
            <a:r>
              <a:rPr lang="en-US" dirty="0">
                <a:solidFill>
                  <a:srgbClr val="383838"/>
                </a:solidFill>
                <a:latin typeface="DM Sans" pitchFamily="34" charset="0"/>
                <a:ea typeface="DM Sans" pitchFamily="34" charset="-122"/>
                <a:cs typeface="DM Sans" pitchFamily="34" charset="-120"/>
              </a:rPr>
              <a:t>, and the regression model used is </a:t>
            </a:r>
            <a:r>
              <a:rPr lang="en-US" b="1" dirty="0">
                <a:solidFill>
                  <a:srgbClr val="E04F00"/>
                </a:solidFill>
                <a:latin typeface="DM Sans" pitchFamily="34" charset="0"/>
                <a:ea typeface="DM Sans" pitchFamily="34" charset="-122"/>
                <a:cs typeface="DM Sans" pitchFamily="34" charset="-120"/>
              </a:rPr>
              <a:t>Poisson regression</a:t>
            </a:r>
            <a:r>
              <a:rPr lang="en-US" dirty="0">
                <a:solidFill>
                  <a:srgbClr val="383838"/>
                </a:solidFill>
                <a:latin typeface="DM Sans" pitchFamily="34" charset="0"/>
                <a:ea typeface="DM Sans" pitchFamily="34" charset="-122"/>
                <a:cs typeface="DM Sans" pitchFamily="34" charset="-120"/>
              </a:rPr>
              <a: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34509"/>
            <a:ext cx="6833235" cy="535900"/>
          </a:xfrm>
          <a:prstGeom prst="rect">
            <a:avLst/>
          </a:prstGeom>
          <a:noFill/>
          <a:ln/>
        </p:spPr>
        <p:txBody>
          <a:bodyPr wrap="none" lIns="0" tIns="0" rIns="0" bIns="0" rtlCol="0" anchor="t"/>
          <a:lstStyle/>
          <a:p>
            <a:pPr marL="0" indent="0" algn="l">
              <a:lnSpc>
                <a:spcPts val="4200"/>
              </a:lnSpc>
              <a:buNone/>
            </a:pPr>
            <a:r>
              <a:rPr lang="en-US" sz="3750" dirty="0">
                <a:solidFill>
                  <a:srgbClr val="020202"/>
                </a:solidFill>
                <a:latin typeface="PT Serif" pitchFamily="34" charset="0"/>
                <a:ea typeface="PT Serif" pitchFamily="34" charset="-122"/>
                <a:cs typeface="PT Serif" pitchFamily="34" charset="-120"/>
              </a:rPr>
              <a:t>Understanding Poisson Distribution</a:t>
            </a:r>
            <a:endParaRPr lang="en-US" sz="3750" dirty="0"/>
          </a:p>
        </p:txBody>
      </p:sp>
      <p:sp>
        <p:nvSpPr>
          <p:cNvPr id="3" name="Text 1"/>
          <p:cNvSpPr/>
          <p:nvPr/>
        </p:nvSpPr>
        <p:spPr>
          <a:xfrm>
            <a:off x="793790" y="1778675"/>
            <a:ext cx="13042821" cy="408146"/>
          </a:xfrm>
          <a:prstGeom prst="rect">
            <a:avLst/>
          </a:prstGeom>
          <a:noFill/>
          <a:ln/>
        </p:spPr>
        <p:txBody>
          <a:bodyPr wrap="none" lIns="0" tIns="0" rIns="0" bIns="0" rtlCol="0" anchor="t"/>
          <a:lstStyle/>
          <a:p>
            <a:pPr marL="0" indent="0" algn="l">
              <a:lnSpc>
                <a:spcPts val="3200"/>
              </a:lnSpc>
              <a:buNone/>
            </a:pPr>
            <a:r>
              <a:rPr lang="en-US" dirty="0">
                <a:solidFill>
                  <a:srgbClr val="383838"/>
                </a:solidFill>
                <a:latin typeface="DM Sans" pitchFamily="34" charset="0"/>
                <a:ea typeface="DM Sans" pitchFamily="34" charset="-122"/>
                <a:cs typeface="DM Sans" pitchFamily="34" charset="-120"/>
              </a:rPr>
              <a:t>Poisson distribution is a limiting case of Binomial distribution where:</a:t>
            </a:r>
            <a:endParaRPr lang="en-US" dirty="0"/>
          </a:p>
        </p:txBody>
      </p:sp>
      <p:sp>
        <p:nvSpPr>
          <p:cNvPr id="4" name="Shape 2"/>
          <p:cNvSpPr/>
          <p:nvPr/>
        </p:nvSpPr>
        <p:spPr>
          <a:xfrm>
            <a:off x="793790" y="2416373"/>
            <a:ext cx="459224" cy="459224"/>
          </a:xfrm>
          <a:prstGeom prst="roundRect">
            <a:avLst>
              <a:gd name="adj" fmla="val 6668"/>
            </a:avLst>
          </a:prstGeom>
          <a:solidFill>
            <a:srgbClr val="F2EEEE"/>
          </a:solidFill>
          <a:ln/>
        </p:spPr>
      </p:sp>
      <p:sp>
        <p:nvSpPr>
          <p:cNvPr id="5" name="Text 3"/>
          <p:cNvSpPr/>
          <p:nvPr/>
        </p:nvSpPr>
        <p:spPr>
          <a:xfrm>
            <a:off x="1457087" y="2454593"/>
            <a:ext cx="3514130" cy="803910"/>
          </a:xfrm>
          <a:prstGeom prst="rect">
            <a:avLst/>
          </a:prstGeom>
          <a:noFill/>
          <a:ln/>
        </p:spPr>
        <p:txBody>
          <a:bodyPr wrap="square" lIns="0" tIns="0" rIns="0" bIns="0" rtlCol="0" anchor="t"/>
          <a:lstStyle/>
          <a:p>
            <a:pPr marL="0" indent="0" algn="l">
              <a:lnSpc>
                <a:spcPts val="3150"/>
              </a:lnSpc>
              <a:buNone/>
            </a:pPr>
            <a:r>
              <a:rPr lang="en-US" dirty="0">
                <a:solidFill>
                  <a:srgbClr val="383838"/>
                </a:solidFill>
                <a:latin typeface="PT Serif" pitchFamily="34" charset="0"/>
                <a:ea typeface="PT Serif" pitchFamily="34" charset="-122"/>
                <a:cs typeface="PT Serif" pitchFamily="34" charset="-120"/>
              </a:rPr>
              <a:t>n (Number of trials) is very large</a:t>
            </a:r>
            <a:endParaRPr lang="en-US" dirty="0"/>
          </a:p>
        </p:txBody>
      </p:sp>
      <p:sp>
        <p:nvSpPr>
          <p:cNvPr id="6" name="Text 4"/>
          <p:cNvSpPr/>
          <p:nvPr/>
        </p:nvSpPr>
        <p:spPr>
          <a:xfrm>
            <a:off x="2723135" y="2980790"/>
            <a:ext cx="3514130" cy="408146"/>
          </a:xfrm>
          <a:prstGeom prst="rect">
            <a:avLst/>
          </a:prstGeom>
          <a:noFill/>
          <a:ln/>
        </p:spPr>
        <p:txBody>
          <a:bodyPr wrap="none" lIns="0" tIns="0" rIns="0" bIns="0" rtlCol="0" anchor="t"/>
          <a:lstStyle/>
          <a:p>
            <a:pPr marL="0" indent="0" algn="l">
              <a:lnSpc>
                <a:spcPts val="3200"/>
              </a:lnSpc>
              <a:buNone/>
            </a:pPr>
            <a:r>
              <a:rPr lang="en-US" sz="2000" dirty="0">
                <a:solidFill>
                  <a:srgbClr val="383838"/>
                </a:solidFill>
                <a:latin typeface="DM Sans" pitchFamily="34" charset="0"/>
                <a:ea typeface="DM Sans" pitchFamily="34" charset="-122"/>
                <a:cs typeface="DM Sans" pitchFamily="34" charset="-120"/>
              </a:rPr>
              <a:t>n → ∞</a:t>
            </a:r>
            <a:endParaRPr lang="en-US" sz="2000" dirty="0"/>
          </a:p>
        </p:txBody>
      </p:sp>
      <p:sp>
        <p:nvSpPr>
          <p:cNvPr id="7" name="Shape 5"/>
          <p:cNvSpPr/>
          <p:nvPr/>
        </p:nvSpPr>
        <p:spPr>
          <a:xfrm>
            <a:off x="5226368" y="2416373"/>
            <a:ext cx="459224" cy="459224"/>
          </a:xfrm>
          <a:prstGeom prst="roundRect">
            <a:avLst>
              <a:gd name="adj" fmla="val 6668"/>
            </a:avLst>
          </a:prstGeom>
          <a:solidFill>
            <a:srgbClr val="F2EEEE"/>
          </a:solidFill>
          <a:ln/>
        </p:spPr>
      </p:sp>
      <p:sp>
        <p:nvSpPr>
          <p:cNvPr id="8" name="Text 6"/>
          <p:cNvSpPr/>
          <p:nvPr/>
        </p:nvSpPr>
        <p:spPr>
          <a:xfrm>
            <a:off x="5889665" y="2454593"/>
            <a:ext cx="3514249" cy="803910"/>
          </a:xfrm>
          <a:prstGeom prst="rect">
            <a:avLst/>
          </a:prstGeom>
          <a:noFill/>
          <a:ln/>
        </p:spPr>
        <p:txBody>
          <a:bodyPr wrap="square" lIns="0" tIns="0" rIns="0" bIns="0" rtlCol="0" anchor="t"/>
          <a:lstStyle/>
          <a:p>
            <a:pPr marL="0" indent="0" algn="l">
              <a:lnSpc>
                <a:spcPts val="3150"/>
              </a:lnSpc>
              <a:buNone/>
            </a:pPr>
            <a:r>
              <a:rPr lang="en-US" dirty="0">
                <a:solidFill>
                  <a:srgbClr val="383838"/>
                </a:solidFill>
                <a:latin typeface="PT Serif" pitchFamily="34" charset="0"/>
                <a:ea typeface="PT Serif" pitchFamily="34" charset="-122"/>
                <a:cs typeface="PT Serif" pitchFamily="34" charset="-120"/>
              </a:rPr>
              <a:t>p (Probability of success) is very small</a:t>
            </a:r>
            <a:endParaRPr lang="en-US" dirty="0"/>
          </a:p>
        </p:txBody>
      </p:sp>
      <p:sp>
        <p:nvSpPr>
          <p:cNvPr id="9" name="Text 7"/>
          <p:cNvSpPr/>
          <p:nvPr/>
        </p:nvSpPr>
        <p:spPr>
          <a:xfrm>
            <a:off x="6893758" y="2972753"/>
            <a:ext cx="3514249" cy="408146"/>
          </a:xfrm>
          <a:prstGeom prst="rect">
            <a:avLst/>
          </a:prstGeom>
          <a:noFill/>
          <a:ln/>
        </p:spPr>
        <p:txBody>
          <a:bodyPr wrap="none" lIns="0" tIns="0" rIns="0" bIns="0" rtlCol="0" anchor="t"/>
          <a:lstStyle/>
          <a:p>
            <a:pPr marL="0" indent="0" algn="l">
              <a:lnSpc>
                <a:spcPts val="3200"/>
              </a:lnSpc>
              <a:buNone/>
            </a:pPr>
            <a:r>
              <a:rPr lang="en-US" dirty="0">
                <a:solidFill>
                  <a:srgbClr val="383838"/>
                </a:solidFill>
                <a:latin typeface="DM Sans" pitchFamily="34" charset="0"/>
                <a:ea typeface="DM Sans" pitchFamily="34" charset="-122"/>
                <a:cs typeface="DM Sans" pitchFamily="34" charset="-120"/>
              </a:rPr>
              <a:t>p → 0</a:t>
            </a:r>
            <a:endParaRPr lang="en-US" dirty="0"/>
          </a:p>
        </p:txBody>
      </p:sp>
      <p:sp>
        <p:nvSpPr>
          <p:cNvPr id="10" name="Shape 8"/>
          <p:cNvSpPr/>
          <p:nvPr/>
        </p:nvSpPr>
        <p:spPr>
          <a:xfrm>
            <a:off x="9659064" y="2416373"/>
            <a:ext cx="459224" cy="459224"/>
          </a:xfrm>
          <a:prstGeom prst="roundRect">
            <a:avLst>
              <a:gd name="adj" fmla="val 6668"/>
            </a:avLst>
          </a:prstGeom>
          <a:solidFill>
            <a:srgbClr val="F2EEEE"/>
          </a:solidFill>
          <a:ln/>
        </p:spPr>
      </p:sp>
      <p:sp>
        <p:nvSpPr>
          <p:cNvPr id="11" name="Text 9"/>
          <p:cNvSpPr/>
          <p:nvPr/>
        </p:nvSpPr>
        <p:spPr>
          <a:xfrm>
            <a:off x="10322362" y="2454593"/>
            <a:ext cx="3215283" cy="401955"/>
          </a:xfrm>
          <a:prstGeom prst="rect">
            <a:avLst/>
          </a:prstGeom>
          <a:noFill/>
          <a:ln/>
        </p:spPr>
        <p:txBody>
          <a:bodyPr wrap="none" lIns="0" tIns="0" rIns="0" bIns="0" rtlCol="0" anchor="t"/>
          <a:lstStyle/>
          <a:p>
            <a:pPr marL="0" indent="0" algn="l">
              <a:lnSpc>
                <a:spcPts val="3150"/>
              </a:lnSpc>
              <a:buNone/>
            </a:pPr>
            <a:r>
              <a:rPr lang="en-US" dirty="0">
                <a:solidFill>
                  <a:srgbClr val="383838"/>
                </a:solidFill>
                <a:latin typeface="PT Serif" pitchFamily="34" charset="0"/>
                <a:ea typeface="PT Serif" pitchFamily="34" charset="-122"/>
                <a:cs typeface="PT Serif" pitchFamily="34" charset="-120"/>
              </a:rPr>
              <a:t>np is finite</a:t>
            </a:r>
            <a:endParaRPr lang="en-US" dirty="0"/>
          </a:p>
        </p:txBody>
      </p:sp>
      <p:sp>
        <p:nvSpPr>
          <p:cNvPr id="12" name="Text 10"/>
          <p:cNvSpPr/>
          <p:nvPr/>
        </p:nvSpPr>
        <p:spPr>
          <a:xfrm>
            <a:off x="10322362" y="2978944"/>
            <a:ext cx="3514130" cy="408146"/>
          </a:xfrm>
          <a:prstGeom prst="rect">
            <a:avLst/>
          </a:prstGeom>
          <a:noFill/>
          <a:ln/>
        </p:spPr>
        <p:txBody>
          <a:bodyPr wrap="none" lIns="0" tIns="0" rIns="0" bIns="0" rtlCol="0" anchor="t"/>
          <a:lstStyle/>
          <a:p>
            <a:pPr marL="0" indent="0" algn="l">
              <a:lnSpc>
                <a:spcPts val="3200"/>
              </a:lnSpc>
              <a:buNone/>
            </a:pPr>
            <a:r>
              <a:rPr lang="en-US" dirty="0">
                <a:solidFill>
                  <a:srgbClr val="383838"/>
                </a:solidFill>
                <a:latin typeface="DM Sans" pitchFamily="34" charset="0"/>
                <a:ea typeface="DM Sans" pitchFamily="34" charset="-122"/>
                <a:cs typeface="DM Sans" pitchFamily="34" charset="-120"/>
              </a:rPr>
              <a:t>np = λ (lambda)</a:t>
            </a:r>
            <a:endParaRPr lang="en-US" dirty="0"/>
          </a:p>
        </p:txBody>
      </p:sp>
      <p:sp>
        <p:nvSpPr>
          <p:cNvPr id="13" name="Text 11"/>
          <p:cNvSpPr/>
          <p:nvPr/>
        </p:nvSpPr>
        <p:spPr>
          <a:xfrm>
            <a:off x="793790" y="4018598"/>
            <a:ext cx="13042821" cy="408146"/>
          </a:xfrm>
          <a:prstGeom prst="rect">
            <a:avLst/>
          </a:prstGeom>
          <a:noFill/>
          <a:ln/>
        </p:spPr>
        <p:txBody>
          <a:bodyPr wrap="none" lIns="0" tIns="0" rIns="0" bIns="0" rtlCol="0" anchor="t"/>
          <a:lstStyle/>
          <a:p>
            <a:pPr marL="0" indent="0" algn="l">
              <a:lnSpc>
                <a:spcPts val="3200"/>
              </a:lnSpc>
              <a:buNone/>
            </a:pPr>
            <a:r>
              <a:rPr lang="en-US" dirty="0">
                <a:solidFill>
                  <a:srgbClr val="383838"/>
                </a:solidFill>
                <a:latin typeface="DM Sans" pitchFamily="34" charset="0"/>
                <a:ea typeface="DM Sans" pitchFamily="34" charset="-122"/>
                <a:cs typeface="DM Sans" pitchFamily="34" charset="-120"/>
              </a:rPr>
              <a:t>In other words, </a:t>
            </a:r>
            <a:r>
              <a:rPr lang="en-US" b="1" dirty="0">
                <a:solidFill>
                  <a:srgbClr val="E04F00"/>
                </a:solidFill>
                <a:latin typeface="DM Sans" pitchFamily="34" charset="0"/>
                <a:ea typeface="DM Sans" pitchFamily="34" charset="-122"/>
                <a:cs typeface="DM Sans" pitchFamily="34" charset="-120"/>
              </a:rPr>
              <a:t>the chance of success is very small and the trial is repeated a large number of times</a:t>
            </a:r>
            <a:r>
              <a:rPr lang="en-US" dirty="0">
                <a:solidFill>
                  <a:srgbClr val="383838"/>
                </a:solidFill>
                <a:latin typeface="DM Sans" pitchFamily="34" charset="0"/>
                <a:ea typeface="DM Sans" pitchFamily="34" charset="-122"/>
                <a:cs typeface="DM Sans" pitchFamily="34" charset="-120"/>
              </a:rPr>
              <a:t>.</a:t>
            </a:r>
            <a:endParaRPr lang="en-US" dirty="0"/>
          </a:p>
        </p:txBody>
      </p:sp>
      <p:pic>
        <p:nvPicPr>
          <p:cNvPr id="14" name="Image 0" descr="preencoded.png"/>
          <p:cNvPicPr>
            <a:picLocks noChangeAspect="1"/>
          </p:cNvPicPr>
          <p:nvPr/>
        </p:nvPicPr>
        <p:blipFill>
          <a:blip r:embed="rId3"/>
          <a:stretch>
            <a:fillRect/>
          </a:stretch>
        </p:blipFill>
        <p:spPr>
          <a:xfrm>
            <a:off x="5444307" y="4707374"/>
            <a:ext cx="3559651" cy="627816"/>
          </a:xfrm>
          <a:prstGeom prst="rect">
            <a:avLst/>
          </a:prstGeom>
        </p:spPr>
      </p:pic>
      <p:sp>
        <p:nvSpPr>
          <p:cNvPr id="15" name="Text 12"/>
          <p:cNvSpPr/>
          <p:nvPr/>
        </p:nvSpPr>
        <p:spPr>
          <a:xfrm>
            <a:off x="793790" y="4796804"/>
            <a:ext cx="13042821" cy="408146"/>
          </a:xfrm>
          <a:prstGeom prst="rect">
            <a:avLst/>
          </a:prstGeom>
          <a:noFill/>
          <a:ln/>
        </p:spPr>
        <p:txBody>
          <a:bodyPr wrap="none" lIns="0" tIns="0" rIns="0" bIns="0" rtlCol="0" anchor="t"/>
          <a:lstStyle/>
          <a:p>
            <a:pPr marL="0" indent="0" algn="l">
              <a:lnSpc>
                <a:spcPts val="3200"/>
              </a:lnSpc>
              <a:buNone/>
            </a:pPr>
            <a:r>
              <a:rPr lang="en-US" sz="2000" dirty="0">
                <a:solidFill>
                  <a:srgbClr val="383838"/>
                </a:solidFill>
                <a:latin typeface="DM Sans" pitchFamily="34" charset="0"/>
                <a:ea typeface="DM Sans" pitchFamily="34" charset="-122"/>
                <a:cs typeface="DM Sans" pitchFamily="34" charset="-120"/>
              </a:rPr>
              <a:t>The Probability Mass Function is :</a:t>
            </a:r>
            <a:endParaRPr lang="en-US" sz="2000" dirty="0"/>
          </a:p>
        </p:txBody>
      </p:sp>
      <p:sp>
        <p:nvSpPr>
          <p:cNvPr id="16" name="Shape 13"/>
          <p:cNvSpPr/>
          <p:nvPr/>
        </p:nvSpPr>
        <p:spPr>
          <a:xfrm>
            <a:off x="745956" y="5752267"/>
            <a:ext cx="13042821" cy="698658"/>
          </a:xfrm>
          <a:prstGeom prst="roundRect">
            <a:avLst>
              <a:gd name="adj" fmla="val 3227"/>
            </a:avLst>
          </a:prstGeom>
          <a:solidFill>
            <a:srgbClr val="FFCDB3"/>
          </a:solidFill>
          <a:ln/>
        </p:spPr>
        <p:txBody>
          <a:bodyPr/>
          <a:lstStyle/>
          <a:p>
            <a:endParaRPr lang="en-IN" dirty="0"/>
          </a:p>
        </p:txBody>
      </p:sp>
      <p:pic>
        <p:nvPicPr>
          <p:cNvPr id="17" name="Image 1" descr="preencoded.png"/>
          <p:cNvPicPr>
            <a:picLocks noChangeAspect="1"/>
          </p:cNvPicPr>
          <p:nvPr/>
        </p:nvPicPr>
        <p:blipFill>
          <a:blip r:embed="rId4"/>
          <a:stretch>
            <a:fillRect/>
          </a:stretch>
        </p:blipFill>
        <p:spPr>
          <a:xfrm>
            <a:off x="973946" y="6003370"/>
            <a:ext cx="318968" cy="255151"/>
          </a:xfrm>
          <a:prstGeom prst="rect">
            <a:avLst/>
          </a:prstGeom>
        </p:spPr>
      </p:pic>
      <p:sp>
        <p:nvSpPr>
          <p:cNvPr id="18" name="Text 14"/>
          <p:cNvSpPr/>
          <p:nvPr/>
        </p:nvSpPr>
        <p:spPr>
          <a:xfrm>
            <a:off x="1520904" y="5882507"/>
            <a:ext cx="12111633" cy="408146"/>
          </a:xfrm>
          <a:prstGeom prst="rect">
            <a:avLst/>
          </a:prstGeom>
          <a:noFill/>
          <a:ln/>
        </p:spPr>
        <p:txBody>
          <a:bodyPr wrap="none" lIns="0" tIns="0" rIns="0" bIns="0" rtlCol="0" anchor="t"/>
          <a:lstStyle/>
          <a:p>
            <a:pPr marL="0" indent="0" algn="l">
              <a:lnSpc>
                <a:spcPts val="3200"/>
              </a:lnSpc>
              <a:buNone/>
            </a:pPr>
            <a:r>
              <a:rPr lang="en-US" b="1" dirty="0">
                <a:solidFill>
                  <a:srgbClr val="000000"/>
                </a:solidFill>
                <a:latin typeface="DM Sans" pitchFamily="34" charset="0"/>
                <a:ea typeface="DM Sans" pitchFamily="34" charset="-122"/>
                <a:cs typeface="DM Sans" pitchFamily="34" charset="-120"/>
              </a:rPr>
              <a:t>Key Property:</a:t>
            </a:r>
            <a:r>
              <a:rPr lang="en-US" dirty="0">
                <a:solidFill>
                  <a:srgbClr val="000000"/>
                </a:solidFill>
                <a:latin typeface="DM Sans" pitchFamily="34" charset="0"/>
                <a:ea typeface="DM Sans" pitchFamily="34" charset="-122"/>
                <a:cs typeface="DM Sans" pitchFamily="34" charset="-120"/>
              </a:rPr>
              <a:t> For Poisson distribution, Mean = Variance = λ</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48095"/>
            <a:ext cx="4763333" cy="595432"/>
          </a:xfrm>
          <a:prstGeom prst="rect">
            <a:avLst/>
          </a:prstGeom>
          <a:noFill/>
          <a:ln/>
        </p:spPr>
        <p:txBody>
          <a:bodyPr wrap="none" lIns="0" tIns="0" rIns="0" bIns="0" rtlCol="0" anchor="t"/>
          <a:lstStyle/>
          <a:p>
            <a:pPr marL="0" indent="0" algn="l">
              <a:lnSpc>
                <a:spcPts val="4650"/>
              </a:lnSpc>
              <a:buNone/>
            </a:pPr>
            <a:r>
              <a:rPr lang="en-US" sz="3750" dirty="0">
                <a:solidFill>
                  <a:srgbClr val="020202"/>
                </a:solidFill>
                <a:latin typeface="PT Serif" pitchFamily="34" charset="0"/>
                <a:ea typeface="PT Serif" pitchFamily="34" charset="-122"/>
                <a:cs typeface="PT Serif" pitchFamily="34" charset="-120"/>
              </a:rPr>
              <a:t>Poisson Regression</a:t>
            </a:r>
            <a:endParaRPr lang="en-US" sz="3750" dirty="0"/>
          </a:p>
        </p:txBody>
      </p:sp>
      <p:sp>
        <p:nvSpPr>
          <p:cNvPr id="3" name="Text 1"/>
          <p:cNvSpPr/>
          <p:nvPr/>
        </p:nvSpPr>
        <p:spPr>
          <a:xfrm>
            <a:off x="793790" y="2110502"/>
            <a:ext cx="3572470" cy="446603"/>
          </a:xfrm>
          <a:prstGeom prst="rect">
            <a:avLst/>
          </a:prstGeom>
          <a:noFill/>
          <a:ln/>
        </p:spPr>
        <p:txBody>
          <a:bodyPr wrap="none" lIns="0" tIns="0" rIns="0" bIns="0" rtlCol="0" anchor="t"/>
          <a:lstStyle/>
          <a:p>
            <a:pPr marL="0" indent="0" algn="l">
              <a:lnSpc>
                <a:spcPts val="3500"/>
              </a:lnSpc>
              <a:buNone/>
            </a:pPr>
            <a:r>
              <a:rPr lang="en-US" sz="2000" dirty="0">
                <a:solidFill>
                  <a:schemeClr val="accent2"/>
                </a:solidFill>
                <a:latin typeface="PT Serif" pitchFamily="34" charset="0"/>
                <a:ea typeface="PT Serif" pitchFamily="34" charset="-122"/>
                <a:cs typeface="PT Serif" pitchFamily="34" charset="-120"/>
              </a:rPr>
              <a:t>Dependent Variable</a:t>
            </a:r>
            <a:endParaRPr lang="en-US" sz="2000" dirty="0">
              <a:solidFill>
                <a:schemeClr val="accent2"/>
              </a:solidFill>
            </a:endParaRPr>
          </a:p>
        </p:txBody>
      </p:sp>
      <p:sp>
        <p:nvSpPr>
          <p:cNvPr id="4" name="Text 2"/>
          <p:cNvSpPr/>
          <p:nvPr/>
        </p:nvSpPr>
        <p:spPr>
          <a:xfrm>
            <a:off x="793790" y="2783919"/>
            <a:ext cx="6244709" cy="453509"/>
          </a:xfrm>
          <a:prstGeom prst="rect">
            <a:avLst/>
          </a:prstGeom>
          <a:noFill/>
          <a:ln/>
        </p:spPr>
        <p:txBody>
          <a:bodyPr wrap="none" lIns="0" tIns="0" rIns="0" bIns="0" rtlCol="0" anchor="t"/>
          <a:lstStyle/>
          <a:p>
            <a:pPr marL="0" indent="0" algn="l">
              <a:lnSpc>
                <a:spcPts val="3550"/>
              </a:lnSpc>
              <a:buNone/>
            </a:pPr>
            <a:r>
              <a:rPr lang="en-US" sz="2000" dirty="0">
                <a:latin typeface="DM Sans" pitchFamily="34" charset="0"/>
                <a:ea typeface="DM Sans" pitchFamily="34" charset="-122"/>
                <a:cs typeface="DM Sans" pitchFamily="34" charset="-120"/>
              </a:rPr>
              <a:t>Count</a:t>
            </a:r>
            <a:endParaRPr lang="en-US" sz="2000" dirty="0"/>
          </a:p>
        </p:txBody>
      </p:sp>
      <p:sp>
        <p:nvSpPr>
          <p:cNvPr id="5" name="Text 3"/>
          <p:cNvSpPr/>
          <p:nvPr/>
        </p:nvSpPr>
        <p:spPr>
          <a:xfrm>
            <a:off x="793790" y="3441502"/>
            <a:ext cx="6244709" cy="907018"/>
          </a:xfrm>
          <a:prstGeom prst="rect">
            <a:avLst/>
          </a:prstGeom>
          <a:noFill/>
          <a:ln/>
        </p:spPr>
        <p:txBody>
          <a:bodyPr wrap="square" lIns="0" tIns="0" rIns="0" bIns="0" rtlCol="0" anchor="t"/>
          <a:lstStyle/>
          <a:p>
            <a:pPr marL="0" indent="0" algn="l">
              <a:lnSpc>
                <a:spcPts val="3550"/>
              </a:lnSpc>
              <a:buNone/>
            </a:pPr>
            <a:r>
              <a:rPr lang="en-US" dirty="0">
                <a:solidFill>
                  <a:srgbClr val="383838"/>
                </a:solidFill>
                <a:latin typeface="DM Sans" pitchFamily="34" charset="0"/>
                <a:ea typeface="DM Sans" pitchFamily="34" charset="-122"/>
                <a:cs typeface="DM Sans" pitchFamily="34" charset="-120"/>
              </a:rPr>
              <a:t>Often it is the count of a rare event. Counts are all positive integers (0, 1, 2, 3, ...).</a:t>
            </a:r>
            <a:endParaRPr lang="en-US" dirty="0"/>
          </a:p>
        </p:txBody>
      </p:sp>
      <p:sp>
        <p:nvSpPr>
          <p:cNvPr id="6" name="Text 4"/>
          <p:cNvSpPr/>
          <p:nvPr/>
        </p:nvSpPr>
        <p:spPr>
          <a:xfrm>
            <a:off x="7599521" y="2110502"/>
            <a:ext cx="3572470" cy="446603"/>
          </a:xfrm>
          <a:prstGeom prst="rect">
            <a:avLst/>
          </a:prstGeom>
          <a:noFill/>
          <a:ln/>
        </p:spPr>
        <p:txBody>
          <a:bodyPr wrap="none" lIns="0" tIns="0" rIns="0" bIns="0" rtlCol="0" anchor="t"/>
          <a:lstStyle/>
          <a:p>
            <a:pPr marL="0" indent="0" algn="l">
              <a:lnSpc>
                <a:spcPts val="3500"/>
              </a:lnSpc>
              <a:buNone/>
            </a:pPr>
            <a:r>
              <a:rPr lang="en-US" sz="2000" dirty="0">
                <a:solidFill>
                  <a:srgbClr val="92D050"/>
                </a:solidFill>
                <a:latin typeface="PT Serif" pitchFamily="34" charset="0"/>
                <a:ea typeface="PT Serif" pitchFamily="34" charset="-122"/>
                <a:cs typeface="PT Serif" pitchFamily="34" charset="-120"/>
              </a:rPr>
              <a:t>Independent Variables</a:t>
            </a:r>
            <a:endParaRPr lang="en-US" sz="2000" dirty="0">
              <a:solidFill>
                <a:srgbClr val="92D050"/>
              </a:solidFill>
            </a:endParaRPr>
          </a:p>
        </p:txBody>
      </p:sp>
      <p:sp>
        <p:nvSpPr>
          <p:cNvPr id="7" name="Text 5"/>
          <p:cNvSpPr/>
          <p:nvPr/>
        </p:nvSpPr>
        <p:spPr>
          <a:xfrm>
            <a:off x="7599521" y="2783919"/>
            <a:ext cx="6244709" cy="453509"/>
          </a:xfrm>
          <a:prstGeom prst="rect">
            <a:avLst/>
          </a:prstGeom>
          <a:noFill/>
          <a:ln/>
        </p:spPr>
        <p:txBody>
          <a:bodyPr wrap="none" lIns="0" tIns="0" rIns="0" bIns="0" rtlCol="0" anchor="t"/>
          <a:lstStyle/>
          <a:p>
            <a:pPr marL="0" indent="0" algn="l">
              <a:lnSpc>
                <a:spcPts val="3550"/>
              </a:lnSpc>
              <a:buNone/>
            </a:pPr>
            <a:r>
              <a:rPr lang="en-US" sz="2000" dirty="0">
                <a:latin typeface="DM Sans" pitchFamily="34" charset="0"/>
                <a:ea typeface="DM Sans" pitchFamily="34" charset="-122"/>
                <a:cs typeface="DM Sans" pitchFamily="34" charset="-120"/>
              </a:rPr>
              <a:t>Categorical or Continuous</a:t>
            </a:r>
            <a:endParaRPr lang="en-US" sz="2000" dirty="0"/>
          </a:p>
        </p:txBody>
      </p:sp>
      <p:sp>
        <p:nvSpPr>
          <p:cNvPr id="8" name="Text 6"/>
          <p:cNvSpPr/>
          <p:nvPr/>
        </p:nvSpPr>
        <p:spPr>
          <a:xfrm>
            <a:off x="7599521" y="3441502"/>
            <a:ext cx="6244709" cy="907018"/>
          </a:xfrm>
          <a:prstGeom prst="rect">
            <a:avLst/>
          </a:prstGeom>
          <a:noFill/>
          <a:ln/>
        </p:spPr>
        <p:txBody>
          <a:bodyPr wrap="square" lIns="0" tIns="0" rIns="0" bIns="0" rtlCol="0" anchor="t"/>
          <a:lstStyle/>
          <a:p>
            <a:pPr marL="0" indent="0" algn="l">
              <a:lnSpc>
                <a:spcPts val="3550"/>
              </a:lnSpc>
              <a:buNone/>
            </a:pPr>
            <a:r>
              <a:rPr lang="en-US" dirty="0">
                <a:solidFill>
                  <a:srgbClr val="383838"/>
                </a:solidFill>
                <a:latin typeface="DM Sans" pitchFamily="34" charset="0"/>
                <a:ea typeface="DM Sans" pitchFamily="34" charset="-122"/>
                <a:cs typeface="DM Sans" pitchFamily="34" charset="-120"/>
              </a:rPr>
              <a:t>Can include both types of predictor variables in the same model.</a:t>
            </a:r>
            <a:endParaRPr lang="en-US" dirty="0"/>
          </a:p>
        </p:txBody>
      </p:sp>
      <p:sp>
        <p:nvSpPr>
          <p:cNvPr id="9" name="Shape 7"/>
          <p:cNvSpPr/>
          <p:nvPr/>
        </p:nvSpPr>
        <p:spPr>
          <a:xfrm>
            <a:off x="793790" y="4921124"/>
            <a:ext cx="13042821" cy="35957"/>
          </a:xfrm>
          <a:prstGeom prst="rect">
            <a:avLst/>
          </a:prstGeom>
          <a:solidFill>
            <a:srgbClr val="383838">
              <a:alpha val="50000"/>
            </a:srgbClr>
          </a:solidFill>
          <a:ln/>
        </p:spPr>
      </p:sp>
      <p:sp>
        <p:nvSpPr>
          <p:cNvPr id="10" name="Text 8"/>
          <p:cNvSpPr/>
          <p:nvPr/>
        </p:nvSpPr>
        <p:spPr>
          <a:xfrm>
            <a:off x="793790" y="5212199"/>
            <a:ext cx="13042821" cy="907018"/>
          </a:xfrm>
          <a:prstGeom prst="rect">
            <a:avLst/>
          </a:prstGeom>
          <a:noFill/>
          <a:ln/>
        </p:spPr>
        <p:txBody>
          <a:bodyPr wrap="square" lIns="0" tIns="0" rIns="0" bIns="0" rtlCol="0" anchor="t"/>
          <a:lstStyle/>
          <a:p>
            <a:pPr marL="0" indent="0" algn="l">
              <a:lnSpc>
                <a:spcPts val="3550"/>
              </a:lnSpc>
              <a:buNone/>
            </a:pPr>
            <a:r>
              <a:rPr lang="en-US" dirty="0">
                <a:solidFill>
                  <a:srgbClr val="383838"/>
                </a:solidFill>
                <a:latin typeface="DM Sans" pitchFamily="34" charset="0"/>
                <a:ea typeface="DM Sans" pitchFamily="34" charset="-122"/>
                <a:cs typeface="DM Sans" pitchFamily="34" charset="-120"/>
              </a:rPr>
              <a:t>Poisson regression is </a:t>
            </a:r>
            <a:r>
              <a:rPr lang="en-US" b="1" dirty="0">
                <a:solidFill>
                  <a:srgbClr val="383838"/>
                </a:solidFill>
                <a:latin typeface="DM Sans" pitchFamily="34" charset="0"/>
                <a:ea typeface="DM Sans" pitchFamily="34" charset="-122"/>
                <a:cs typeface="DM Sans" pitchFamily="34" charset="-120"/>
              </a:rPr>
              <a:t>most suitable in the case of rare events</a:t>
            </a:r>
            <a:r>
              <a:rPr lang="en-US" dirty="0">
                <a:solidFill>
                  <a:srgbClr val="383838"/>
                </a:solidFill>
                <a:latin typeface="DM Sans" pitchFamily="34" charset="0"/>
                <a:ea typeface="DM Sans" pitchFamily="34" charset="-122"/>
                <a:cs typeface="DM Sans" pitchFamily="34" charset="-120"/>
              </a:rPr>
              <a:t> where counts tend to be small relative to the observation period.</a:t>
            </a:r>
            <a:endParaRPr lang="en-US" dirty="0"/>
          </a:p>
        </p:txBody>
      </p:sp>
      <p:sp>
        <p:nvSpPr>
          <p:cNvPr id="11" name="Text 9"/>
          <p:cNvSpPr/>
          <p:nvPr/>
        </p:nvSpPr>
        <p:spPr>
          <a:xfrm>
            <a:off x="793790" y="6374368"/>
            <a:ext cx="13042821" cy="907018"/>
          </a:xfrm>
          <a:prstGeom prst="rect">
            <a:avLst/>
          </a:prstGeom>
          <a:noFill/>
          <a:ln/>
        </p:spPr>
        <p:txBody>
          <a:bodyPr wrap="square" lIns="0" tIns="0" rIns="0" bIns="0" rtlCol="0" anchor="t"/>
          <a:lstStyle/>
          <a:p>
            <a:pPr marL="0" indent="0" algn="l">
              <a:lnSpc>
                <a:spcPts val="3550"/>
              </a:lnSpc>
              <a:buNone/>
            </a:pPr>
            <a:r>
              <a:rPr lang="en-US" dirty="0">
                <a:solidFill>
                  <a:srgbClr val="383838"/>
                </a:solidFill>
                <a:latin typeface="DM Sans" pitchFamily="34" charset="0"/>
                <a:ea typeface="DM Sans" pitchFamily="34" charset="-122"/>
                <a:cs typeface="DM Sans" pitchFamily="34" charset="-120"/>
              </a:rPr>
              <a:t>Poisson regression is a type of </a:t>
            </a:r>
            <a:r>
              <a:rPr lang="en-US" b="1" dirty="0">
                <a:solidFill>
                  <a:srgbClr val="E04F00"/>
                </a:solidFill>
                <a:latin typeface="DM Sans" pitchFamily="34" charset="0"/>
                <a:ea typeface="DM Sans" pitchFamily="34" charset="-122"/>
                <a:cs typeface="DM Sans" pitchFamily="34" charset="-120"/>
              </a:rPr>
              <a:t>Generalized Linear Model (GLM)</a:t>
            </a:r>
            <a:r>
              <a:rPr lang="en-US" dirty="0">
                <a:solidFill>
                  <a:srgbClr val="383838"/>
                </a:solidFill>
                <a:latin typeface="DM Sans" pitchFamily="34" charset="0"/>
                <a:ea typeface="DM Sans" pitchFamily="34" charset="-122"/>
                <a:cs typeface="DM Sans" pitchFamily="34" charset="-120"/>
              </a:rPr>
              <a:t>, where the link function is a logarithm and the underlying probability distribution is Poisson.</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28412"/>
            <a:ext cx="5954197" cy="744260"/>
          </a:xfrm>
          <a:prstGeom prst="rect">
            <a:avLst/>
          </a:prstGeom>
          <a:noFill/>
          <a:ln/>
        </p:spPr>
        <p:txBody>
          <a:bodyPr wrap="none" lIns="0" tIns="0" rIns="0" bIns="0" rtlCol="0" anchor="t"/>
          <a:lstStyle/>
          <a:p>
            <a:pPr marL="0" indent="0" algn="l">
              <a:lnSpc>
                <a:spcPts val="5850"/>
              </a:lnSpc>
              <a:buNone/>
            </a:pPr>
            <a:r>
              <a:rPr lang="en-US" sz="3750" dirty="0">
                <a:solidFill>
                  <a:srgbClr val="020202"/>
                </a:solidFill>
                <a:latin typeface="PT Serif" pitchFamily="34" charset="0"/>
                <a:ea typeface="PT Serif" pitchFamily="34" charset="-122"/>
                <a:cs typeface="PT Serif" pitchFamily="34" charset="-120"/>
              </a:rPr>
              <a:t>Application Areas</a:t>
            </a:r>
            <a:endParaRPr lang="en-US" sz="3750" dirty="0"/>
          </a:p>
        </p:txBody>
      </p:sp>
      <p:sp>
        <p:nvSpPr>
          <p:cNvPr id="3" name="Text 1"/>
          <p:cNvSpPr/>
          <p:nvPr/>
        </p:nvSpPr>
        <p:spPr>
          <a:xfrm>
            <a:off x="793790" y="1826300"/>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Poisson regression finds widespread application across multiple industries and research domains where count data analysis is essential.</a:t>
            </a:r>
            <a:endParaRPr lang="en-US" sz="1750" dirty="0"/>
          </a:p>
        </p:txBody>
      </p:sp>
      <p:sp>
        <p:nvSpPr>
          <p:cNvPr id="4" name="Shape 2"/>
          <p:cNvSpPr/>
          <p:nvPr/>
        </p:nvSpPr>
        <p:spPr>
          <a:xfrm>
            <a:off x="793790" y="2807256"/>
            <a:ext cx="13042821" cy="4793933"/>
          </a:xfrm>
          <a:prstGeom prst="roundRect">
            <a:avLst>
              <a:gd name="adj" fmla="val 710"/>
            </a:avLst>
          </a:prstGeom>
          <a:noFill/>
          <a:ln w="7620">
            <a:solidFill>
              <a:srgbClr val="000000">
                <a:alpha val="8000"/>
              </a:srgbClr>
            </a:solidFill>
            <a:prstDash val="solid"/>
          </a:ln>
        </p:spPr>
      </p:sp>
      <p:sp>
        <p:nvSpPr>
          <p:cNvPr id="5" name="Shape 3"/>
          <p:cNvSpPr/>
          <p:nvPr/>
        </p:nvSpPr>
        <p:spPr>
          <a:xfrm>
            <a:off x="801410" y="2814876"/>
            <a:ext cx="13027581" cy="650319"/>
          </a:xfrm>
          <a:prstGeom prst="rect">
            <a:avLst/>
          </a:prstGeom>
          <a:solidFill>
            <a:srgbClr val="FFFFFF">
              <a:alpha val="4000"/>
            </a:srgbClr>
          </a:solidFill>
          <a:ln/>
        </p:spPr>
      </p:sp>
      <p:sp>
        <p:nvSpPr>
          <p:cNvPr id="6" name="Text 4"/>
          <p:cNvSpPr/>
          <p:nvPr/>
        </p:nvSpPr>
        <p:spPr>
          <a:xfrm>
            <a:off x="1028462" y="2958584"/>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383838"/>
                </a:solidFill>
                <a:latin typeface="DM Sans" pitchFamily="34" charset="0"/>
                <a:ea typeface="DM Sans" pitchFamily="34" charset="-122"/>
                <a:cs typeface="DM Sans" pitchFamily="34" charset="-120"/>
              </a:rPr>
              <a:t>Industry/Function</a:t>
            </a:r>
            <a:endParaRPr lang="en-US" sz="1750" dirty="0"/>
          </a:p>
        </p:txBody>
      </p:sp>
      <p:sp>
        <p:nvSpPr>
          <p:cNvPr id="7" name="Text 5"/>
          <p:cNvSpPr/>
          <p:nvPr/>
        </p:nvSpPr>
        <p:spPr>
          <a:xfrm>
            <a:off x="4289108" y="2958584"/>
            <a:ext cx="2144197" cy="362903"/>
          </a:xfrm>
          <a:prstGeom prst="rect">
            <a:avLst/>
          </a:prstGeom>
          <a:noFill/>
          <a:ln/>
        </p:spPr>
        <p:txBody>
          <a:bodyPr wrap="none" lIns="0" tIns="0" rIns="0" bIns="0" rtlCol="0" anchor="t"/>
          <a:lstStyle/>
          <a:p>
            <a:pPr marL="0" indent="0" algn="l">
              <a:lnSpc>
                <a:spcPts val="2850"/>
              </a:lnSpc>
              <a:buNone/>
            </a:pPr>
            <a:r>
              <a:rPr lang="en-US" sz="1750" b="1" dirty="0">
                <a:solidFill>
                  <a:srgbClr val="383838"/>
                </a:solidFill>
                <a:latin typeface="DM Sans" pitchFamily="34" charset="0"/>
                <a:ea typeface="DM Sans" pitchFamily="34" charset="-122"/>
                <a:cs typeface="DM Sans" pitchFamily="34" charset="-120"/>
              </a:rPr>
              <a:t>Purpose</a:t>
            </a:r>
            <a:endParaRPr lang="en-US" sz="1750" dirty="0"/>
          </a:p>
        </p:txBody>
      </p:sp>
      <p:sp>
        <p:nvSpPr>
          <p:cNvPr id="8" name="Text 6"/>
          <p:cNvSpPr/>
          <p:nvPr/>
        </p:nvSpPr>
        <p:spPr>
          <a:xfrm>
            <a:off x="6894552" y="2958584"/>
            <a:ext cx="2795588" cy="362903"/>
          </a:xfrm>
          <a:prstGeom prst="rect">
            <a:avLst/>
          </a:prstGeom>
          <a:noFill/>
          <a:ln/>
        </p:spPr>
        <p:txBody>
          <a:bodyPr wrap="none" lIns="0" tIns="0" rIns="0" bIns="0" rtlCol="0" anchor="t"/>
          <a:lstStyle/>
          <a:p>
            <a:pPr marL="0" indent="0" algn="l">
              <a:lnSpc>
                <a:spcPts val="2850"/>
              </a:lnSpc>
              <a:buNone/>
            </a:pPr>
            <a:r>
              <a:rPr lang="en-US" sz="1750" b="1" dirty="0">
                <a:solidFill>
                  <a:srgbClr val="383838"/>
                </a:solidFill>
                <a:latin typeface="DM Sans" pitchFamily="34" charset="0"/>
                <a:ea typeface="DM Sans" pitchFamily="34" charset="-122"/>
                <a:cs typeface="DM Sans" pitchFamily="34" charset="-120"/>
              </a:rPr>
              <a:t>Model/Predict</a:t>
            </a:r>
            <a:endParaRPr lang="en-US" sz="1750" dirty="0"/>
          </a:p>
        </p:txBody>
      </p:sp>
      <p:sp>
        <p:nvSpPr>
          <p:cNvPr id="9" name="Text 7"/>
          <p:cNvSpPr/>
          <p:nvPr/>
        </p:nvSpPr>
        <p:spPr>
          <a:xfrm>
            <a:off x="10151388" y="2958584"/>
            <a:ext cx="3450788" cy="362903"/>
          </a:xfrm>
          <a:prstGeom prst="rect">
            <a:avLst/>
          </a:prstGeom>
          <a:noFill/>
          <a:ln/>
        </p:spPr>
        <p:txBody>
          <a:bodyPr wrap="none" lIns="0" tIns="0" rIns="0" bIns="0" rtlCol="0" anchor="t"/>
          <a:lstStyle/>
          <a:p>
            <a:pPr marL="0" indent="0" algn="l">
              <a:lnSpc>
                <a:spcPts val="2850"/>
              </a:lnSpc>
              <a:buNone/>
            </a:pPr>
            <a:r>
              <a:rPr lang="en-US" sz="1750" b="1" dirty="0">
                <a:solidFill>
                  <a:srgbClr val="383838"/>
                </a:solidFill>
                <a:latin typeface="DM Sans" pitchFamily="34" charset="0"/>
                <a:ea typeface="DM Sans" pitchFamily="34" charset="-122"/>
                <a:cs typeface="DM Sans" pitchFamily="34" charset="-120"/>
              </a:rPr>
              <a:t>Based on Information Such As</a:t>
            </a:r>
            <a:endParaRPr lang="en-US" sz="1750" dirty="0"/>
          </a:p>
        </p:txBody>
      </p:sp>
      <p:sp>
        <p:nvSpPr>
          <p:cNvPr id="10" name="Shape 8"/>
          <p:cNvSpPr/>
          <p:nvPr/>
        </p:nvSpPr>
        <p:spPr>
          <a:xfrm>
            <a:off x="801410" y="3465195"/>
            <a:ext cx="13027581" cy="1376124"/>
          </a:xfrm>
          <a:prstGeom prst="rect">
            <a:avLst/>
          </a:prstGeom>
          <a:solidFill>
            <a:srgbClr val="000000">
              <a:alpha val="4000"/>
            </a:srgbClr>
          </a:solidFill>
          <a:ln/>
        </p:spPr>
      </p:sp>
      <p:sp>
        <p:nvSpPr>
          <p:cNvPr id="11" name="Text 9"/>
          <p:cNvSpPr/>
          <p:nvPr/>
        </p:nvSpPr>
        <p:spPr>
          <a:xfrm>
            <a:off x="1028462" y="3608903"/>
            <a:ext cx="2799397" cy="362903"/>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Insurance Analytics</a:t>
            </a:r>
            <a:endParaRPr lang="en-US" sz="1750" dirty="0"/>
          </a:p>
        </p:txBody>
      </p:sp>
      <p:sp>
        <p:nvSpPr>
          <p:cNvPr id="12" name="Text 10"/>
          <p:cNvSpPr/>
          <p:nvPr/>
        </p:nvSpPr>
        <p:spPr>
          <a:xfrm>
            <a:off x="4289108" y="3608903"/>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Prediction</a:t>
            </a:r>
            <a:endParaRPr lang="en-US" sz="1750" dirty="0"/>
          </a:p>
        </p:txBody>
      </p:sp>
      <p:sp>
        <p:nvSpPr>
          <p:cNvPr id="13" name="Text 11"/>
          <p:cNvSpPr/>
          <p:nvPr/>
        </p:nvSpPr>
        <p:spPr>
          <a:xfrm>
            <a:off x="6894552" y="3608903"/>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Insurance Claims</a:t>
            </a:r>
            <a:endParaRPr lang="en-US" sz="1750" dirty="0"/>
          </a:p>
        </p:txBody>
      </p:sp>
      <p:sp>
        <p:nvSpPr>
          <p:cNvPr id="14" name="Text 12"/>
          <p:cNvSpPr/>
          <p:nvPr/>
        </p:nvSpPr>
        <p:spPr>
          <a:xfrm>
            <a:off x="10151388" y="3608903"/>
            <a:ext cx="3450788" cy="1088708"/>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Policy holder details, risk characteristics, coverage type, demographics</a:t>
            </a:r>
            <a:endParaRPr lang="en-US" sz="1750" dirty="0"/>
          </a:p>
        </p:txBody>
      </p:sp>
      <p:sp>
        <p:nvSpPr>
          <p:cNvPr id="15" name="Shape 13"/>
          <p:cNvSpPr/>
          <p:nvPr/>
        </p:nvSpPr>
        <p:spPr>
          <a:xfrm>
            <a:off x="801410" y="4841319"/>
            <a:ext cx="13027581" cy="1376124"/>
          </a:xfrm>
          <a:prstGeom prst="rect">
            <a:avLst/>
          </a:prstGeom>
          <a:solidFill>
            <a:srgbClr val="FFFFFF">
              <a:alpha val="4000"/>
            </a:srgbClr>
          </a:solidFill>
          <a:ln/>
        </p:spPr>
      </p:sp>
      <p:sp>
        <p:nvSpPr>
          <p:cNvPr id="16" name="Text 14"/>
          <p:cNvSpPr/>
          <p:nvPr/>
        </p:nvSpPr>
        <p:spPr>
          <a:xfrm>
            <a:off x="1028462" y="4985028"/>
            <a:ext cx="2799397" cy="362903"/>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Education or HR</a:t>
            </a:r>
            <a:endParaRPr lang="en-US" sz="1750" dirty="0"/>
          </a:p>
        </p:txBody>
      </p:sp>
      <p:sp>
        <p:nvSpPr>
          <p:cNvPr id="17" name="Text 15"/>
          <p:cNvSpPr/>
          <p:nvPr/>
        </p:nvSpPr>
        <p:spPr>
          <a:xfrm>
            <a:off x="4289108" y="4985028"/>
            <a:ext cx="2144197"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Prediction / Optimization</a:t>
            </a:r>
            <a:endParaRPr lang="en-US" sz="1750" dirty="0"/>
          </a:p>
        </p:txBody>
      </p:sp>
      <p:sp>
        <p:nvSpPr>
          <p:cNvPr id="18" name="Text 16"/>
          <p:cNvSpPr/>
          <p:nvPr/>
        </p:nvSpPr>
        <p:spPr>
          <a:xfrm>
            <a:off x="6894552" y="4985028"/>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Absenteeism</a:t>
            </a:r>
            <a:endParaRPr lang="en-US" sz="1750" dirty="0"/>
          </a:p>
        </p:txBody>
      </p:sp>
      <p:sp>
        <p:nvSpPr>
          <p:cNvPr id="19" name="Text 17"/>
          <p:cNvSpPr/>
          <p:nvPr/>
        </p:nvSpPr>
        <p:spPr>
          <a:xfrm>
            <a:off x="10151388" y="4985028"/>
            <a:ext cx="3450788" cy="1088708"/>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Student/employee demographics, institutional features, workplace culture</a:t>
            </a:r>
            <a:endParaRPr lang="en-US" sz="1750" dirty="0"/>
          </a:p>
        </p:txBody>
      </p:sp>
      <p:sp>
        <p:nvSpPr>
          <p:cNvPr id="20" name="Shape 18"/>
          <p:cNvSpPr/>
          <p:nvPr/>
        </p:nvSpPr>
        <p:spPr>
          <a:xfrm>
            <a:off x="801410" y="6217444"/>
            <a:ext cx="13027581" cy="1376124"/>
          </a:xfrm>
          <a:prstGeom prst="rect">
            <a:avLst/>
          </a:prstGeom>
          <a:solidFill>
            <a:srgbClr val="000000">
              <a:alpha val="4000"/>
            </a:srgbClr>
          </a:solidFill>
          <a:ln/>
        </p:spPr>
      </p:sp>
      <p:sp>
        <p:nvSpPr>
          <p:cNvPr id="21" name="Text 19"/>
          <p:cNvSpPr/>
          <p:nvPr/>
        </p:nvSpPr>
        <p:spPr>
          <a:xfrm>
            <a:off x="1028462" y="6361152"/>
            <a:ext cx="2799397" cy="362903"/>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Clinical Research</a:t>
            </a:r>
            <a:endParaRPr lang="en-US" sz="1750" dirty="0"/>
          </a:p>
        </p:txBody>
      </p:sp>
      <p:sp>
        <p:nvSpPr>
          <p:cNvPr id="22" name="Text 20"/>
          <p:cNvSpPr/>
          <p:nvPr/>
        </p:nvSpPr>
        <p:spPr>
          <a:xfrm>
            <a:off x="4289108" y="6361152"/>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Prediction</a:t>
            </a:r>
            <a:endParaRPr lang="en-US" sz="1750" dirty="0"/>
          </a:p>
        </p:txBody>
      </p:sp>
      <p:sp>
        <p:nvSpPr>
          <p:cNvPr id="23" name="Text 21"/>
          <p:cNvSpPr/>
          <p:nvPr/>
        </p:nvSpPr>
        <p:spPr>
          <a:xfrm>
            <a:off x="6894552" y="6361152"/>
            <a:ext cx="2795588"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Adverse Events During Clinical Trial</a:t>
            </a:r>
            <a:endParaRPr lang="en-US" sz="1750" dirty="0"/>
          </a:p>
        </p:txBody>
      </p:sp>
      <p:sp>
        <p:nvSpPr>
          <p:cNvPr id="24" name="Text 22"/>
          <p:cNvSpPr/>
          <p:nvPr/>
        </p:nvSpPr>
        <p:spPr>
          <a:xfrm>
            <a:off x="10151388" y="6361152"/>
            <a:ext cx="3450788" cy="1088708"/>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Medicine dosage, patient history, external conditions, demographics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39259"/>
            <a:ext cx="4048839" cy="506135"/>
          </a:xfrm>
          <a:prstGeom prst="rect">
            <a:avLst/>
          </a:prstGeom>
          <a:noFill/>
          <a:ln/>
        </p:spPr>
        <p:txBody>
          <a:bodyPr wrap="none" lIns="0" tIns="0" rIns="0" bIns="0" rtlCol="0" anchor="t"/>
          <a:lstStyle/>
          <a:p>
            <a:pPr marL="0" indent="0" algn="l">
              <a:lnSpc>
                <a:spcPts val="3950"/>
              </a:lnSpc>
              <a:buNone/>
            </a:pPr>
            <a:r>
              <a:rPr lang="en-US" sz="3750" dirty="0">
                <a:solidFill>
                  <a:srgbClr val="020202"/>
                </a:solidFill>
                <a:latin typeface="PT Serif" pitchFamily="34" charset="0"/>
                <a:ea typeface="PT Serif" pitchFamily="34" charset="-122"/>
                <a:cs typeface="PT Serif" pitchFamily="34" charset="-120"/>
              </a:rPr>
              <a:t>Statistical Model</a:t>
            </a:r>
            <a:endParaRPr lang="en-US" sz="3750" dirty="0"/>
          </a:p>
        </p:txBody>
      </p:sp>
      <p:sp>
        <p:nvSpPr>
          <p:cNvPr id="3" name="Text 1"/>
          <p:cNvSpPr/>
          <p:nvPr/>
        </p:nvSpPr>
        <p:spPr>
          <a:xfrm>
            <a:off x="3197997" y="1639788"/>
            <a:ext cx="8427050" cy="960835"/>
          </a:xfrm>
          <a:prstGeom prst="rect">
            <a:avLst/>
          </a:prstGeom>
          <a:noFill/>
          <a:ln/>
        </p:spPr>
        <p:txBody>
          <a:bodyPr wrap="none" lIns="0" tIns="0" rIns="0" bIns="0" rtlCol="0" anchor="t"/>
          <a:lstStyle/>
          <a:p>
            <a:pPr marL="0" indent="0" algn="l">
              <a:lnSpc>
                <a:spcPts val="6850"/>
              </a:lnSpc>
              <a:buNone/>
            </a:pPr>
            <a:r>
              <a:rPr lang="en-US" sz="2800" dirty="0">
                <a:solidFill>
                  <a:srgbClr val="020202"/>
                </a:solidFill>
                <a:latin typeface="PT Serif" pitchFamily="34" charset="0"/>
                <a:ea typeface="PT Serif" pitchFamily="34" charset="-122"/>
                <a:cs typeface="PT Serif" pitchFamily="34" charset="-120"/>
              </a:rPr>
              <a:t>log(λ) = b₀ + b₁x₁ + b₂x₂ + … + </a:t>
            </a:r>
            <a:r>
              <a:rPr lang="en-US" sz="2800" dirty="0" err="1">
                <a:solidFill>
                  <a:srgbClr val="020202"/>
                </a:solidFill>
                <a:latin typeface="PT Serif" pitchFamily="34" charset="0"/>
                <a:ea typeface="PT Serif" pitchFamily="34" charset="-122"/>
                <a:cs typeface="PT Serif" pitchFamily="34" charset="-120"/>
              </a:rPr>
              <a:t>bₖx</a:t>
            </a:r>
            <a:r>
              <a:rPr lang="en-US" sz="2800" dirty="0">
                <a:solidFill>
                  <a:srgbClr val="020202"/>
                </a:solidFill>
                <a:latin typeface="PT Serif" pitchFamily="34" charset="0"/>
                <a:ea typeface="PT Serif" pitchFamily="34" charset="-122"/>
                <a:cs typeface="PT Serif" pitchFamily="34" charset="-120"/>
              </a:rPr>
              <a:t>ₖ</a:t>
            </a:r>
            <a:endParaRPr lang="en-US" sz="2800" dirty="0"/>
          </a:p>
        </p:txBody>
      </p:sp>
      <p:sp>
        <p:nvSpPr>
          <p:cNvPr id="4" name="Text 2"/>
          <p:cNvSpPr/>
          <p:nvPr/>
        </p:nvSpPr>
        <p:spPr>
          <a:xfrm>
            <a:off x="3375625" y="2600623"/>
            <a:ext cx="13042821" cy="385524"/>
          </a:xfrm>
          <a:prstGeom prst="rect">
            <a:avLst/>
          </a:prstGeom>
          <a:noFill/>
          <a:ln/>
        </p:spPr>
        <p:txBody>
          <a:bodyPr wrap="none" lIns="0" tIns="0" rIns="0" bIns="0" rtlCol="0" anchor="t"/>
          <a:lstStyle/>
          <a:p>
            <a:pPr marL="0" indent="0" algn="l">
              <a:lnSpc>
                <a:spcPts val="3000"/>
              </a:lnSpc>
              <a:buNone/>
            </a:pPr>
            <a:r>
              <a:rPr lang="en-US" sz="1850" dirty="0">
                <a:solidFill>
                  <a:srgbClr val="383838"/>
                </a:solidFill>
                <a:latin typeface="DM Sans" pitchFamily="34" charset="0"/>
                <a:ea typeface="DM Sans" pitchFamily="34" charset="-122"/>
                <a:cs typeface="DM Sans" pitchFamily="34" charset="-120"/>
              </a:rPr>
              <a:t>Where λ is the conditional mean of Y given X</a:t>
            </a:r>
            <a:endParaRPr lang="en-US" sz="1850" dirty="0"/>
          </a:p>
        </p:txBody>
      </p:sp>
      <p:sp>
        <p:nvSpPr>
          <p:cNvPr id="5" name="Shape 3"/>
          <p:cNvSpPr/>
          <p:nvPr/>
        </p:nvSpPr>
        <p:spPr>
          <a:xfrm>
            <a:off x="793790" y="3395405"/>
            <a:ext cx="13042821" cy="31671"/>
          </a:xfrm>
          <a:prstGeom prst="rect">
            <a:avLst/>
          </a:prstGeom>
          <a:solidFill>
            <a:srgbClr val="383838">
              <a:alpha val="50000"/>
            </a:srgbClr>
          </a:solidFill>
          <a:ln/>
        </p:spPr>
      </p:sp>
      <p:sp>
        <p:nvSpPr>
          <p:cNvPr id="6" name="Shape 4"/>
          <p:cNvSpPr/>
          <p:nvPr/>
        </p:nvSpPr>
        <p:spPr>
          <a:xfrm>
            <a:off x="793790" y="3643789"/>
            <a:ext cx="6424970" cy="2019657"/>
          </a:xfrm>
          <a:prstGeom prst="roundRect">
            <a:avLst>
              <a:gd name="adj" fmla="val 1432"/>
            </a:avLst>
          </a:prstGeom>
          <a:solidFill>
            <a:srgbClr val="FFFFFF"/>
          </a:solidFill>
          <a:ln w="22860">
            <a:solidFill>
              <a:srgbClr val="D8D4D4"/>
            </a:solidFill>
            <a:prstDash val="solid"/>
          </a:ln>
        </p:spPr>
      </p:sp>
      <p:sp>
        <p:nvSpPr>
          <p:cNvPr id="7" name="Text 5"/>
          <p:cNvSpPr/>
          <p:nvPr/>
        </p:nvSpPr>
        <p:spPr>
          <a:xfrm>
            <a:off x="1009412" y="3859411"/>
            <a:ext cx="2530435" cy="316230"/>
          </a:xfrm>
          <a:prstGeom prst="rect">
            <a:avLst/>
          </a:prstGeom>
          <a:noFill/>
          <a:ln/>
        </p:spPr>
        <p:txBody>
          <a:bodyPr wrap="none" lIns="0" tIns="0" rIns="0" bIns="0" rtlCol="0" anchor="t"/>
          <a:lstStyle/>
          <a:p>
            <a:pPr marL="0" indent="0" algn="l">
              <a:lnSpc>
                <a:spcPts val="2450"/>
              </a:lnSpc>
              <a:buNone/>
            </a:pPr>
            <a:r>
              <a:rPr lang="en-US" dirty="0">
                <a:solidFill>
                  <a:srgbClr val="383838"/>
                </a:solidFill>
                <a:latin typeface="PT Serif" pitchFamily="34" charset="0"/>
                <a:ea typeface="PT Serif" pitchFamily="34" charset="-122"/>
                <a:cs typeface="PT Serif" pitchFamily="34" charset="-120"/>
              </a:rPr>
              <a:t>Why Not OLS?</a:t>
            </a:r>
            <a:endParaRPr lang="en-US" dirty="0"/>
          </a:p>
        </p:txBody>
      </p:sp>
      <p:sp>
        <p:nvSpPr>
          <p:cNvPr id="8" name="Text 6"/>
          <p:cNvSpPr/>
          <p:nvPr/>
        </p:nvSpPr>
        <p:spPr>
          <a:xfrm>
            <a:off x="1009412" y="4291251"/>
            <a:ext cx="5993725" cy="1156573"/>
          </a:xfrm>
          <a:prstGeom prst="rect">
            <a:avLst/>
          </a:prstGeom>
          <a:noFill/>
          <a:ln/>
        </p:spPr>
        <p:txBody>
          <a:bodyPr wrap="square" lIns="0" tIns="0" rIns="0" bIns="0" rtlCol="0" anchor="t"/>
          <a:lstStyle/>
          <a:p>
            <a:pPr marL="0" indent="0" algn="l">
              <a:lnSpc>
                <a:spcPts val="3000"/>
              </a:lnSpc>
              <a:buNone/>
            </a:pPr>
            <a:r>
              <a:rPr lang="en-US" dirty="0">
                <a:solidFill>
                  <a:srgbClr val="383838"/>
                </a:solidFill>
                <a:latin typeface="DM Sans" pitchFamily="34" charset="0"/>
                <a:ea typeface="DM Sans" pitchFamily="34" charset="-122"/>
                <a:cs typeface="DM Sans" pitchFamily="34" charset="-120"/>
              </a:rPr>
              <a:t>Ordinary least squares (OLS) used in multiple linear regression is not appropriate as Y is discrete and the right-hand side is continuous.</a:t>
            </a:r>
            <a:endParaRPr lang="en-US" dirty="0"/>
          </a:p>
        </p:txBody>
      </p:sp>
      <p:sp>
        <p:nvSpPr>
          <p:cNvPr id="9" name="Shape 7"/>
          <p:cNvSpPr/>
          <p:nvPr/>
        </p:nvSpPr>
        <p:spPr>
          <a:xfrm>
            <a:off x="7411522" y="3643789"/>
            <a:ext cx="6425089" cy="2019657"/>
          </a:xfrm>
          <a:prstGeom prst="roundRect">
            <a:avLst>
              <a:gd name="adj" fmla="val 1432"/>
            </a:avLst>
          </a:prstGeom>
          <a:solidFill>
            <a:srgbClr val="FFFFFF"/>
          </a:solidFill>
          <a:ln w="22860">
            <a:solidFill>
              <a:srgbClr val="D8D4D4"/>
            </a:solidFill>
            <a:prstDash val="solid"/>
          </a:ln>
        </p:spPr>
      </p:sp>
      <p:sp>
        <p:nvSpPr>
          <p:cNvPr id="10" name="Text 8"/>
          <p:cNvSpPr/>
          <p:nvPr/>
        </p:nvSpPr>
        <p:spPr>
          <a:xfrm>
            <a:off x="7627144" y="3859411"/>
            <a:ext cx="2530435" cy="316230"/>
          </a:xfrm>
          <a:prstGeom prst="rect">
            <a:avLst/>
          </a:prstGeom>
          <a:noFill/>
          <a:ln/>
        </p:spPr>
        <p:txBody>
          <a:bodyPr wrap="none" lIns="0" tIns="0" rIns="0" bIns="0" rtlCol="0" anchor="t"/>
          <a:lstStyle/>
          <a:p>
            <a:pPr marL="0" indent="0" algn="l">
              <a:lnSpc>
                <a:spcPts val="2450"/>
              </a:lnSpc>
              <a:buNone/>
            </a:pPr>
            <a:r>
              <a:rPr lang="en-US" dirty="0">
                <a:solidFill>
                  <a:srgbClr val="383838"/>
                </a:solidFill>
                <a:latin typeface="PT Serif" pitchFamily="34" charset="0"/>
                <a:ea typeface="PT Serif" pitchFamily="34" charset="-122"/>
                <a:cs typeface="PT Serif" pitchFamily="34" charset="-120"/>
              </a:rPr>
              <a:t>Link Function</a:t>
            </a:r>
            <a:endParaRPr lang="en-US" dirty="0"/>
          </a:p>
        </p:txBody>
      </p:sp>
      <p:sp>
        <p:nvSpPr>
          <p:cNvPr id="11" name="Text 9"/>
          <p:cNvSpPr/>
          <p:nvPr/>
        </p:nvSpPr>
        <p:spPr>
          <a:xfrm>
            <a:off x="7627144" y="4291251"/>
            <a:ext cx="5993844" cy="1156573"/>
          </a:xfrm>
          <a:prstGeom prst="rect">
            <a:avLst/>
          </a:prstGeom>
          <a:noFill/>
          <a:ln/>
        </p:spPr>
        <p:txBody>
          <a:bodyPr wrap="square" lIns="0" tIns="0" rIns="0" bIns="0" rtlCol="0" anchor="t"/>
          <a:lstStyle/>
          <a:p>
            <a:pPr marL="0" indent="0" algn="l">
              <a:lnSpc>
                <a:spcPts val="3000"/>
              </a:lnSpc>
              <a:buNone/>
            </a:pPr>
            <a:r>
              <a:rPr lang="en-US" dirty="0">
                <a:solidFill>
                  <a:srgbClr val="383838"/>
                </a:solidFill>
                <a:latin typeface="DM Sans" pitchFamily="34" charset="0"/>
                <a:ea typeface="DM Sans" pitchFamily="34" charset="-122"/>
                <a:cs typeface="DM Sans" pitchFamily="34" charset="-120"/>
              </a:rPr>
              <a:t>log(λ) is the link function used in Poisson regression, establishing a connection between Y and the linear combination of X variables.</a:t>
            </a:r>
            <a:endParaRPr lang="en-US" dirty="0"/>
          </a:p>
        </p:txBody>
      </p:sp>
      <p:sp>
        <p:nvSpPr>
          <p:cNvPr id="12" name="Shape 10"/>
          <p:cNvSpPr/>
          <p:nvPr/>
        </p:nvSpPr>
        <p:spPr>
          <a:xfrm>
            <a:off x="793790" y="5856208"/>
            <a:ext cx="6424970" cy="1634133"/>
          </a:xfrm>
          <a:prstGeom prst="roundRect">
            <a:avLst>
              <a:gd name="adj" fmla="val 1770"/>
            </a:avLst>
          </a:prstGeom>
          <a:solidFill>
            <a:srgbClr val="FFFFFF"/>
          </a:solidFill>
          <a:ln w="22860">
            <a:solidFill>
              <a:srgbClr val="D8D4D4"/>
            </a:solidFill>
            <a:prstDash val="solid"/>
          </a:ln>
        </p:spPr>
      </p:sp>
      <p:sp>
        <p:nvSpPr>
          <p:cNvPr id="13" name="Text 11"/>
          <p:cNvSpPr/>
          <p:nvPr/>
        </p:nvSpPr>
        <p:spPr>
          <a:xfrm>
            <a:off x="1009412" y="6071830"/>
            <a:ext cx="2530435" cy="316230"/>
          </a:xfrm>
          <a:prstGeom prst="rect">
            <a:avLst/>
          </a:prstGeom>
          <a:noFill/>
          <a:ln/>
        </p:spPr>
        <p:txBody>
          <a:bodyPr wrap="none" lIns="0" tIns="0" rIns="0" bIns="0" rtlCol="0" anchor="t"/>
          <a:lstStyle/>
          <a:p>
            <a:pPr marL="0" indent="0" algn="l">
              <a:lnSpc>
                <a:spcPts val="2450"/>
              </a:lnSpc>
              <a:buNone/>
            </a:pPr>
            <a:r>
              <a:rPr lang="en-US" dirty="0">
                <a:solidFill>
                  <a:srgbClr val="383838"/>
                </a:solidFill>
                <a:latin typeface="PT Serif" pitchFamily="34" charset="0"/>
                <a:ea typeface="PT Serif" pitchFamily="34" charset="-122"/>
                <a:cs typeface="PT Serif" pitchFamily="34" charset="-120"/>
              </a:rPr>
              <a:t>Non-Negativity</a:t>
            </a:r>
            <a:endParaRPr lang="en-US" dirty="0"/>
          </a:p>
        </p:txBody>
      </p:sp>
      <p:sp>
        <p:nvSpPr>
          <p:cNvPr id="14" name="Text 12"/>
          <p:cNvSpPr/>
          <p:nvPr/>
        </p:nvSpPr>
        <p:spPr>
          <a:xfrm>
            <a:off x="1009412" y="6503670"/>
            <a:ext cx="5993725" cy="771049"/>
          </a:xfrm>
          <a:prstGeom prst="rect">
            <a:avLst/>
          </a:prstGeom>
          <a:noFill/>
          <a:ln/>
        </p:spPr>
        <p:txBody>
          <a:bodyPr wrap="square" lIns="0" tIns="0" rIns="0" bIns="0" rtlCol="0" anchor="t"/>
          <a:lstStyle/>
          <a:p>
            <a:pPr marL="0" indent="0" algn="l">
              <a:lnSpc>
                <a:spcPts val="3000"/>
              </a:lnSpc>
              <a:buNone/>
            </a:pPr>
            <a:r>
              <a:rPr lang="en-US" dirty="0">
                <a:solidFill>
                  <a:srgbClr val="383838"/>
                </a:solidFill>
                <a:latin typeface="DM Sans" pitchFamily="34" charset="0"/>
                <a:ea typeface="DM Sans" pitchFamily="34" charset="-122"/>
                <a:cs typeface="DM Sans" pitchFamily="34" charset="-120"/>
              </a:rPr>
              <a:t>Note that λ is greater than zero, and its log will be negative if it lies between 0 and 1.</a:t>
            </a:r>
            <a:endParaRPr lang="en-US" dirty="0"/>
          </a:p>
        </p:txBody>
      </p:sp>
      <p:sp>
        <p:nvSpPr>
          <p:cNvPr id="15" name="Shape 13"/>
          <p:cNvSpPr/>
          <p:nvPr/>
        </p:nvSpPr>
        <p:spPr>
          <a:xfrm>
            <a:off x="7411522" y="5856208"/>
            <a:ext cx="6425089" cy="1634133"/>
          </a:xfrm>
          <a:prstGeom prst="roundRect">
            <a:avLst>
              <a:gd name="adj" fmla="val 1770"/>
            </a:avLst>
          </a:prstGeom>
          <a:solidFill>
            <a:srgbClr val="FFFFFF"/>
          </a:solidFill>
          <a:ln w="22860">
            <a:solidFill>
              <a:srgbClr val="D8D4D4"/>
            </a:solidFill>
            <a:prstDash val="solid"/>
          </a:ln>
        </p:spPr>
      </p:sp>
      <p:sp>
        <p:nvSpPr>
          <p:cNvPr id="16" name="Text 14"/>
          <p:cNvSpPr/>
          <p:nvPr/>
        </p:nvSpPr>
        <p:spPr>
          <a:xfrm>
            <a:off x="7627144" y="6071830"/>
            <a:ext cx="2530435" cy="316230"/>
          </a:xfrm>
          <a:prstGeom prst="rect">
            <a:avLst/>
          </a:prstGeom>
          <a:noFill/>
          <a:ln/>
        </p:spPr>
        <p:txBody>
          <a:bodyPr wrap="none" lIns="0" tIns="0" rIns="0" bIns="0" rtlCol="0" anchor="t"/>
          <a:lstStyle/>
          <a:p>
            <a:pPr marL="0" indent="0" algn="l">
              <a:lnSpc>
                <a:spcPts val="2450"/>
              </a:lnSpc>
              <a:buNone/>
            </a:pPr>
            <a:r>
              <a:rPr lang="en-US" dirty="0">
                <a:solidFill>
                  <a:srgbClr val="383838"/>
                </a:solidFill>
                <a:latin typeface="PT Serif" pitchFamily="34" charset="0"/>
                <a:ea typeface="PT Serif" pitchFamily="34" charset="-122"/>
                <a:cs typeface="PT Serif" pitchFamily="34" charset="-120"/>
              </a:rPr>
              <a:t>Estimation Method</a:t>
            </a:r>
            <a:endParaRPr lang="en-US" dirty="0"/>
          </a:p>
        </p:txBody>
      </p:sp>
      <p:sp>
        <p:nvSpPr>
          <p:cNvPr id="17" name="Text 15"/>
          <p:cNvSpPr/>
          <p:nvPr/>
        </p:nvSpPr>
        <p:spPr>
          <a:xfrm>
            <a:off x="7627144" y="6503670"/>
            <a:ext cx="5993844" cy="771049"/>
          </a:xfrm>
          <a:prstGeom prst="rect">
            <a:avLst/>
          </a:prstGeom>
          <a:noFill/>
          <a:ln/>
        </p:spPr>
        <p:txBody>
          <a:bodyPr wrap="square" lIns="0" tIns="0" rIns="0" bIns="0" rtlCol="0" anchor="t"/>
          <a:lstStyle/>
          <a:p>
            <a:pPr marL="0" indent="0" algn="l">
              <a:lnSpc>
                <a:spcPts val="3000"/>
              </a:lnSpc>
              <a:buNone/>
            </a:pPr>
            <a:r>
              <a:rPr lang="en-US" dirty="0">
                <a:solidFill>
                  <a:srgbClr val="383838"/>
                </a:solidFill>
                <a:latin typeface="DM Sans" pitchFamily="34" charset="0"/>
                <a:ea typeface="DM Sans" pitchFamily="34" charset="-122"/>
                <a:cs typeface="DM Sans" pitchFamily="34" charset="-120"/>
              </a:rPr>
              <a:t>The regression coefficients are estimated using the </a:t>
            </a:r>
            <a:r>
              <a:rPr lang="en-US" b="1" dirty="0">
                <a:solidFill>
                  <a:srgbClr val="E04F00"/>
                </a:solidFill>
                <a:latin typeface="DM Sans" pitchFamily="34" charset="0"/>
                <a:ea typeface="DM Sans" pitchFamily="34" charset="-122"/>
                <a:cs typeface="DM Sans" pitchFamily="34" charset="-120"/>
              </a:rPr>
              <a:t>method of maximum likelihood</a:t>
            </a:r>
            <a:r>
              <a:rPr lang="en-US" dirty="0">
                <a:solidFill>
                  <a:srgbClr val="383838"/>
                </a:solidFill>
                <a:latin typeface="DM Sans" pitchFamily="34" charset="0"/>
                <a:ea typeface="DM Sans" pitchFamily="34" charset="-122"/>
                <a:cs typeface="DM Sans" pitchFamily="34" charset="-120"/>
              </a:rPr>
              <a: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71870"/>
            <a:ext cx="10700147" cy="669846"/>
          </a:xfrm>
          <a:prstGeom prst="rect">
            <a:avLst/>
          </a:prstGeom>
          <a:noFill/>
          <a:ln/>
        </p:spPr>
        <p:txBody>
          <a:bodyPr wrap="none" lIns="0" tIns="0" rIns="0" bIns="0" rtlCol="0" anchor="t"/>
          <a:lstStyle/>
          <a:p>
            <a:pPr marL="0" indent="0" algn="l">
              <a:lnSpc>
                <a:spcPts val="5250"/>
              </a:lnSpc>
              <a:buNone/>
            </a:pPr>
            <a:r>
              <a:rPr lang="en-US" sz="3750" dirty="0">
                <a:solidFill>
                  <a:srgbClr val="020202"/>
                </a:solidFill>
                <a:latin typeface="PT Serif" pitchFamily="34" charset="0"/>
                <a:ea typeface="PT Serif" pitchFamily="34" charset="-122"/>
                <a:cs typeface="PT Serif" pitchFamily="34" charset="-120"/>
              </a:rPr>
              <a:t>Case Study: Modeling Number of Complaints</a:t>
            </a:r>
            <a:endParaRPr lang="en-US" sz="3750" dirty="0"/>
          </a:p>
        </p:txBody>
      </p:sp>
      <p:sp>
        <p:nvSpPr>
          <p:cNvPr id="3" name="Text 1"/>
          <p:cNvSpPr/>
          <p:nvPr/>
        </p:nvSpPr>
        <p:spPr>
          <a:xfrm>
            <a:off x="793790" y="1643657"/>
            <a:ext cx="3215283" cy="401955"/>
          </a:xfrm>
          <a:prstGeom prst="rect">
            <a:avLst/>
          </a:prstGeom>
          <a:noFill/>
          <a:ln/>
        </p:spPr>
        <p:txBody>
          <a:bodyPr wrap="none" lIns="0" tIns="0" rIns="0" bIns="0" rtlCol="0" anchor="t"/>
          <a:lstStyle/>
          <a:p>
            <a:pPr marL="0" indent="0" algn="l">
              <a:lnSpc>
                <a:spcPts val="3150"/>
              </a:lnSpc>
              <a:buNone/>
            </a:pPr>
            <a:r>
              <a:rPr lang="en-US" sz="2000" b="1" dirty="0">
                <a:solidFill>
                  <a:srgbClr val="020202"/>
                </a:solidFill>
                <a:latin typeface="PT Serif" pitchFamily="34" charset="0"/>
                <a:ea typeface="PT Serif" pitchFamily="34" charset="-122"/>
                <a:cs typeface="PT Serif" pitchFamily="34" charset="-120"/>
              </a:rPr>
              <a:t>Business Context</a:t>
            </a:r>
            <a:endParaRPr lang="en-US" sz="2000" b="1" dirty="0"/>
          </a:p>
        </p:txBody>
      </p:sp>
      <p:sp>
        <p:nvSpPr>
          <p:cNvPr id="4" name="Text 2"/>
          <p:cNvSpPr/>
          <p:nvPr/>
        </p:nvSpPr>
        <p:spPr>
          <a:xfrm>
            <a:off x="793790" y="2131338"/>
            <a:ext cx="13042821" cy="653415"/>
          </a:xfrm>
          <a:prstGeom prst="rect">
            <a:avLst/>
          </a:prstGeom>
          <a:noFill/>
          <a:ln/>
        </p:spPr>
        <p:txBody>
          <a:bodyPr wrap="square" lIns="0" tIns="0" rIns="0" bIns="0" rtlCol="0" anchor="t"/>
          <a:lstStyle/>
          <a:p>
            <a:pPr marL="0" indent="0" algn="l">
              <a:lnSpc>
                <a:spcPts val="2550"/>
              </a:lnSpc>
              <a:buNone/>
            </a:pPr>
            <a:r>
              <a:rPr lang="en-US" sz="1600" dirty="0">
                <a:solidFill>
                  <a:srgbClr val="383838"/>
                </a:solidFill>
                <a:latin typeface="DM Sans" pitchFamily="34" charset="0"/>
                <a:ea typeface="DM Sans" pitchFamily="34" charset="-122"/>
                <a:cs typeface="DM Sans" pitchFamily="34" charset="-120"/>
              </a:rPr>
              <a:t>A company recently launched a loyalty program and collected comprehensive information about their customers. The next phase aims to add 20,000 new customers to their loyalty pool.</a:t>
            </a:r>
            <a:endParaRPr lang="en-US" sz="1600" dirty="0"/>
          </a:p>
        </p:txBody>
      </p:sp>
      <p:sp>
        <p:nvSpPr>
          <p:cNvPr id="5" name="Text 3"/>
          <p:cNvSpPr/>
          <p:nvPr/>
        </p:nvSpPr>
        <p:spPr>
          <a:xfrm>
            <a:off x="793790" y="3014305"/>
            <a:ext cx="13042821" cy="653415"/>
          </a:xfrm>
          <a:prstGeom prst="rect">
            <a:avLst/>
          </a:prstGeom>
          <a:noFill/>
          <a:ln/>
        </p:spPr>
        <p:txBody>
          <a:bodyPr wrap="square" lIns="0" tIns="0" rIns="0" bIns="0" rtlCol="0" anchor="t"/>
          <a:lstStyle/>
          <a:p>
            <a:pPr marL="0" indent="0" algn="l">
              <a:lnSpc>
                <a:spcPts val="2550"/>
              </a:lnSpc>
              <a:buNone/>
            </a:pPr>
            <a:r>
              <a:rPr lang="en-US" sz="1600" dirty="0">
                <a:solidFill>
                  <a:srgbClr val="383838"/>
                </a:solidFill>
                <a:latin typeface="DM Sans" pitchFamily="34" charset="0"/>
                <a:ea typeface="DM Sans" pitchFamily="34" charset="-122"/>
                <a:cs typeface="DM Sans" pitchFamily="34" charset="-120"/>
              </a:rPr>
              <a:t>The company needs to understand complaint patterns to set up a call center with optimal staffing strength. This predictive modeling will enable efficient resource allocation and improved customer service planning.</a:t>
            </a:r>
            <a:endParaRPr lang="en-US" sz="1600" dirty="0"/>
          </a:p>
        </p:txBody>
      </p:sp>
      <p:sp>
        <p:nvSpPr>
          <p:cNvPr id="6" name="Text 4"/>
          <p:cNvSpPr/>
          <p:nvPr/>
        </p:nvSpPr>
        <p:spPr>
          <a:xfrm>
            <a:off x="793790" y="4217312"/>
            <a:ext cx="2679383" cy="334804"/>
          </a:xfrm>
          <a:prstGeom prst="rect">
            <a:avLst/>
          </a:prstGeom>
          <a:noFill/>
          <a:ln/>
        </p:spPr>
        <p:txBody>
          <a:bodyPr wrap="none" lIns="0" tIns="0" rIns="0" bIns="0" rtlCol="0" anchor="t"/>
          <a:lstStyle/>
          <a:p>
            <a:pPr marL="0" indent="0" algn="l">
              <a:lnSpc>
                <a:spcPts val="2600"/>
              </a:lnSpc>
              <a:buNone/>
            </a:pPr>
            <a:r>
              <a:rPr lang="en-US" sz="2000" b="1" dirty="0">
                <a:solidFill>
                  <a:srgbClr val="020202"/>
                </a:solidFill>
                <a:latin typeface="PT Serif" pitchFamily="34" charset="0"/>
                <a:ea typeface="PT Serif" pitchFamily="34" charset="-122"/>
                <a:cs typeface="PT Serif" pitchFamily="34" charset="-120"/>
              </a:rPr>
              <a:t>Research Objective</a:t>
            </a:r>
            <a:endParaRPr lang="en-US" sz="2000" b="1" dirty="0"/>
          </a:p>
        </p:txBody>
      </p:sp>
      <p:sp>
        <p:nvSpPr>
          <p:cNvPr id="7" name="Text 5"/>
          <p:cNvSpPr/>
          <p:nvPr/>
        </p:nvSpPr>
        <p:spPr>
          <a:xfrm>
            <a:off x="793790" y="4640223"/>
            <a:ext cx="6272451" cy="980123"/>
          </a:xfrm>
          <a:prstGeom prst="rect">
            <a:avLst/>
          </a:prstGeom>
          <a:noFill/>
          <a:ln/>
        </p:spPr>
        <p:txBody>
          <a:bodyPr wrap="square" lIns="0" tIns="0" rIns="0" bIns="0" rtlCol="0" anchor="t"/>
          <a:lstStyle/>
          <a:p>
            <a:pPr marL="0" indent="0" algn="l">
              <a:lnSpc>
                <a:spcPts val="2550"/>
              </a:lnSpc>
              <a:buNone/>
            </a:pPr>
            <a:r>
              <a:rPr lang="en-US" sz="1600" dirty="0">
                <a:solidFill>
                  <a:srgbClr val="383838"/>
                </a:solidFill>
                <a:latin typeface="DM Sans" pitchFamily="34" charset="0"/>
                <a:ea typeface="DM Sans" pitchFamily="34" charset="-122"/>
                <a:cs typeface="DM Sans" pitchFamily="34" charset="-120"/>
              </a:rPr>
              <a:t>To model the number of complaints in order to prepare a strategic roadmap for call center operations in the next phase of the loyalty program.</a:t>
            </a:r>
            <a:endParaRPr lang="en-US" sz="1600" dirty="0"/>
          </a:p>
        </p:txBody>
      </p:sp>
      <p:sp>
        <p:nvSpPr>
          <p:cNvPr id="8" name="Text 6"/>
          <p:cNvSpPr/>
          <p:nvPr/>
        </p:nvSpPr>
        <p:spPr>
          <a:xfrm>
            <a:off x="793790" y="6032554"/>
            <a:ext cx="2679383" cy="334804"/>
          </a:xfrm>
          <a:prstGeom prst="rect">
            <a:avLst/>
          </a:prstGeom>
          <a:noFill/>
          <a:ln/>
        </p:spPr>
        <p:txBody>
          <a:bodyPr wrap="none" lIns="0" tIns="0" rIns="0" bIns="0" rtlCol="0" anchor="t"/>
          <a:lstStyle/>
          <a:p>
            <a:pPr marL="0" indent="0" algn="l">
              <a:lnSpc>
                <a:spcPts val="2600"/>
              </a:lnSpc>
              <a:buNone/>
            </a:pPr>
            <a:r>
              <a:rPr lang="en-US" sz="2000" b="1" dirty="0">
                <a:solidFill>
                  <a:srgbClr val="020202"/>
                </a:solidFill>
                <a:latin typeface="PT Serif" pitchFamily="34" charset="0"/>
                <a:ea typeface="PT Serif" pitchFamily="34" charset="-122"/>
                <a:cs typeface="PT Serif" pitchFamily="34" charset="-120"/>
              </a:rPr>
              <a:t>Study Parameters</a:t>
            </a:r>
            <a:endParaRPr lang="en-US" sz="2000" b="1" dirty="0"/>
          </a:p>
        </p:txBody>
      </p:sp>
      <p:sp>
        <p:nvSpPr>
          <p:cNvPr id="9" name="Text 7"/>
          <p:cNvSpPr/>
          <p:nvPr/>
        </p:nvSpPr>
        <p:spPr>
          <a:xfrm>
            <a:off x="793790" y="6363295"/>
            <a:ext cx="6272451" cy="326708"/>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83838"/>
                </a:solidFill>
                <a:latin typeface="DM Sans" pitchFamily="34" charset="0"/>
                <a:ea typeface="DM Sans" pitchFamily="34" charset="-122"/>
                <a:cs typeface="DM Sans" pitchFamily="34" charset="-120"/>
              </a:rPr>
              <a:t>Sample size: 113 customers</a:t>
            </a:r>
            <a:endParaRPr lang="en-US" sz="1600" dirty="0"/>
          </a:p>
        </p:txBody>
      </p:sp>
      <p:sp>
        <p:nvSpPr>
          <p:cNvPr id="10" name="Text 8"/>
          <p:cNvSpPr/>
          <p:nvPr/>
        </p:nvSpPr>
        <p:spPr>
          <a:xfrm>
            <a:off x="793790" y="6761440"/>
            <a:ext cx="6272451" cy="326708"/>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83838"/>
                </a:solidFill>
                <a:latin typeface="DM Sans" pitchFamily="34" charset="0"/>
                <a:ea typeface="DM Sans" pitchFamily="34" charset="-122"/>
                <a:cs typeface="DM Sans" pitchFamily="34" charset="-120"/>
              </a:rPr>
              <a:t>Target expansion: 20,000 new customers</a:t>
            </a:r>
            <a:endParaRPr lang="en-US" sz="1600" dirty="0"/>
          </a:p>
        </p:txBody>
      </p:sp>
      <p:sp>
        <p:nvSpPr>
          <p:cNvPr id="11" name="Text 9"/>
          <p:cNvSpPr/>
          <p:nvPr/>
        </p:nvSpPr>
        <p:spPr>
          <a:xfrm>
            <a:off x="793790" y="7159585"/>
            <a:ext cx="6272451" cy="326708"/>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83838"/>
                </a:solidFill>
                <a:latin typeface="DM Sans" pitchFamily="34" charset="0"/>
                <a:ea typeface="DM Sans" pitchFamily="34" charset="-122"/>
                <a:cs typeface="DM Sans" pitchFamily="34" charset="-120"/>
              </a:rPr>
              <a:t>Focus: Call center capacity planning</a:t>
            </a:r>
            <a:endParaRPr lang="en-US" sz="1600" dirty="0"/>
          </a:p>
        </p:txBody>
      </p:sp>
      <p:sp>
        <p:nvSpPr>
          <p:cNvPr id="12" name="Text 10"/>
          <p:cNvSpPr/>
          <p:nvPr/>
        </p:nvSpPr>
        <p:spPr>
          <a:xfrm>
            <a:off x="7571780" y="4217312"/>
            <a:ext cx="2867858" cy="334804"/>
          </a:xfrm>
          <a:prstGeom prst="rect">
            <a:avLst/>
          </a:prstGeom>
          <a:noFill/>
          <a:ln/>
        </p:spPr>
        <p:txBody>
          <a:bodyPr wrap="none" lIns="0" tIns="0" rIns="0" bIns="0" rtlCol="0" anchor="t"/>
          <a:lstStyle/>
          <a:p>
            <a:pPr marL="0" indent="0" algn="l">
              <a:lnSpc>
                <a:spcPts val="2600"/>
              </a:lnSpc>
              <a:buNone/>
            </a:pPr>
            <a:r>
              <a:rPr lang="en-US" sz="2000" b="1" dirty="0">
                <a:solidFill>
                  <a:srgbClr val="020202"/>
                </a:solidFill>
                <a:latin typeface="PT Serif" pitchFamily="34" charset="0"/>
                <a:ea typeface="PT Serif" pitchFamily="34" charset="-122"/>
                <a:cs typeface="PT Serif" pitchFamily="34" charset="-120"/>
              </a:rPr>
              <a:t>Available Data Variables</a:t>
            </a:r>
            <a:endParaRPr lang="en-US" sz="2000" b="1" dirty="0"/>
          </a:p>
        </p:txBody>
      </p:sp>
      <p:sp>
        <p:nvSpPr>
          <p:cNvPr id="13" name="Text 11"/>
          <p:cNvSpPr/>
          <p:nvPr/>
        </p:nvSpPr>
        <p:spPr>
          <a:xfrm>
            <a:off x="7571780" y="4640223"/>
            <a:ext cx="6272451" cy="326708"/>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83838"/>
                </a:solidFill>
                <a:latin typeface="DM Sans" pitchFamily="34" charset="0"/>
                <a:ea typeface="DM Sans" pitchFamily="34" charset="-122"/>
                <a:cs typeface="DM Sans" pitchFamily="34" charset="-120"/>
              </a:rPr>
              <a:t>Region (geographic location)</a:t>
            </a:r>
            <a:endParaRPr lang="en-US" sz="1600" dirty="0"/>
          </a:p>
        </p:txBody>
      </p:sp>
      <p:sp>
        <p:nvSpPr>
          <p:cNvPr id="14" name="Text 12"/>
          <p:cNvSpPr/>
          <p:nvPr/>
        </p:nvSpPr>
        <p:spPr>
          <a:xfrm>
            <a:off x="7571780" y="5038368"/>
            <a:ext cx="6272451" cy="326708"/>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83838"/>
                </a:solidFill>
                <a:latin typeface="DM Sans" pitchFamily="34" charset="0"/>
                <a:ea typeface="DM Sans" pitchFamily="34" charset="-122"/>
                <a:cs typeface="DM Sans" pitchFamily="34" charset="-120"/>
              </a:rPr>
              <a:t>Loyalty Tier (platinum, gold, silver)</a:t>
            </a:r>
            <a:endParaRPr lang="en-US" sz="1600" dirty="0"/>
          </a:p>
        </p:txBody>
      </p:sp>
      <p:sp>
        <p:nvSpPr>
          <p:cNvPr id="15" name="Text 13"/>
          <p:cNvSpPr/>
          <p:nvPr/>
        </p:nvSpPr>
        <p:spPr>
          <a:xfrm>
            <a:off x="7571780" y="5436513"/>
            <a:ext cx="6272451" cy="326708"/>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83838"/>
                </a:solidFill>
                <a:latin typeface="DM Sans" pitchFamily="34" charset="0"/>
                <a:ea typeface="DM Sans" pitchFamily="34" charset="-122"/>
                <a:cs typeface="DM Sans" pitchFamily="34" charset="-120"/>
              </a:rPr>
              <a:t>Customer's Association with Company (tenure)</a:t>
            </a:r>
            <a:endParaRPr lang="en-US" sz="1600" dirty="0"/>
          </a:p>
        </p:txBody>
      </p:sp>
      <p:sp>
        <p:nvSpPr>
          <p:cNvPr id="16" name="Text 14"/>
          <p:cNvSpPr/>
          <p:nvPr/>
        </p:nvSpPr>
        <p:spPr>
          <a:xfrm>
            <a:off x="7571780" y="5834658"/>
            <a:ext cx="6272451" cy="326708"/>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83838"/>
                </a:solidFill>
                <a:latin typeface="DM Sans" pitchFamily="34" charset="0"/>
                <a:ea typeface="DM Sans" pitchFamily="34" charset="-122"/>
                <a:cs typeface="DM Sans" pitchFamily="34" charset="-120"/>
              </a:rPr>
              <a:t>Number of Complaints (outcome variable)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79383"/>
            <a:ext cx="5669756" cy="595432"/>
          </a:xfrm>
          <a:prstGeom prst="rect">
            <a:avLst/>
          </a:prstGeom>
          <a:noFill/>
          <a:ln/>
        </p:spPr>
        <p:txBody>
          <a:bodyPr wrap="none" lIns="0" tIns="0" rIns="0" bIns="0" rtlCol="0" anchor="t"/>
          <a:lstStyle/>
          <a:p>
            <a:pPr marL="0" indent="0" algn="l">
              <a:lnSpc>
                <a:spcPts val="4650"/>
              </a:lnSpc>
              <a:buNone/>
            </a:pPr>
            <a:r>
              <a:rPr lang="en-US" sz="3750" dirty="0">
                <a:solidFill>
                  <a:srgbClr val="020202"/>
                </a:solidFill>
                <a:latin typeface="PT Serif" pitchFamily="34" charset="0"/>
                <a:ea typeface="PT Serif" pitchFamily="34" charset="-122"/>
                <a:cs typeface="PT Serif" pitchFamily="34" charset="-120"/>
              </a:rPr>
              <a:t>Case Study: Data Snapshot</a:t>
            </a:r>
            <a:endParaRPr lang="en-US" sz="3750" dirty="0"/>
          </a:p>
        </p:txBody>
      </p:sp>
      <p:sp>
        <p:nvSpPr>
          <p:cNvPr id="3" name="Text 1"/>
          <p:cNvSpPr/>
          <p:nvPr/>
        </p:nvSpPr>
        <p:spPr>
          <a:xfrm>
            <a:off x="793790" y="1578887"/>
            <a:ext cx="13042821" cy="290274"/>
          </a:xfrm>
          <a:prstGeom prst="rect">
            <a:avLst/>
          </a:prstGeom>
          <a:noFill/>
          <a:ln/>
        </p:spPr>
        <p:txBody>
          <a:bodyPr wrap="none" lIns="0" tIns="0" rIns="0" bIns="0" rtlCol="0" anchor="t"/>
          <a:lstStyle/>
          <a:p>
            <a:pPr marL="0" indent="0" algn="l">
              <a:lnSpc>
                <a:spcPts val="2250"/>
              </a:lnSpc>
              <a:buNone/>
            </a:pPr>
            <a:r>
              <a:rPr lang="en-US" dirty="0">
                <a:solidFill>
                  <a:srgbClr val="383838"/>
                </a:solidFill>
                <a:latin typeface="DM Sans" pitchFamily="34" charset="0"/>
                <a:ea typeface="DM Sans" pitchFamily="34" charset="-122"/>
                <a:cs typeface="DM Sans" pitchFamily="34" charset="-120"/>
              </a:rPr>
              <a:t>Below is a sample of the customer dataset used for modeling. Each row represents a unique customer with </a:t>
            </a:r>
          </a:p>
          <a:p>
            <a:pPr marL="0" indent="0" algn="l">
              <a:lnSpc>
                <a:spcPts val="2250"/>
              </a:lnSpc>
              <a:buNone/>
            </a:pPr>
            <a:r>
              <a:rPr lang="en-US" dirty="0">
                <a:solidFill>
                  <a:srgbClr val="383838"/>
                </a:solidFill>
                <a:latin typeface="DM Sans" pitchFamily="34" charset="0"/>
                <a:ea typeface="DM Sans" pitchFamily="34" charset="-122"/>
                <a:cs typeface="DM Sans" pitchFamily="34" charset="-120"/>
              </a:rPr>
              <a:t>their characteristics and complaint count.</a:t>
            </a:r>
            <a:endParaRPr lang="en-US" dirty="0"/>
          </a:p>
        </p:txBody>
      </p:sp>
      <p:sp>
        <p:nvSpPr>
          <p:cNvPr id="4" name="Shape 2"/>
          <p:cNvSpPr/>
          <p:nvPr/>
        </p:nvSpPr>
        <p:spPr>
          <a:xfrm>
            <a:off x="793790" y="2232065"/>
            <a:ext cx="13042821" cy="4723686"/>
          </a:xfrm>
          <a:prstGeom prst="roundRect">
            <a:avLst>
              <a:gd name="adj" fmla="val 576"/>
            </a:avLst>
          </a:prstGeom>
          <a:noFill/>
          <a:ln w="7620">
            <a:solidFill>
              <a:srgbClr val="000000">
                <a:alpha val="8000"/>
              </a:srgbClr>
            </a:solidFill>
            <a:prstDash val="solid"/>
          </a:ln>
        </p:spPr>
      </p:sp>
      <p:sp>
        <p:nvSpPr>
          <p:cNvPr id="5" name="Shape 3"/>
          <p:cNvSpPr/>
          <p:nvPr/>
        </p:nvSpPr>
        <p:spPr>
          <a:xfrm>
            <a:off x="801410" y="2239685"/>
            <a:ext cx="13027581" cy="523161"/>
          </a:xfrm>
          <a:prstGeom prst="rect">
            <a:avLst/>
          </a:prstGeom>
          <a:solidFill>
            <a:srgbClr val="FFFFFF">
              <a:alpha val="4000"/>
            </a:srgbClr>
          </a:solidFill>
          <a:ln/>
        </p:spPr>
      </p:sp>
      <p:sp>
        <p:nvSpPr>
          <p:cNvPr id="6" name="Text 4"/>
          <p:cNvSpPr/>
          <p:nvPr/>
        </p:nvSpPr>
        <p:spPr>
          <a:xfrm>
            <a:off x="983218" y="2356128"/>
            <a:ext cx="2238732" cy="290274"/>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custid</a:t>
            </a:r>
            <a:endParaRPr lang="en-US" sz="1400" dirty="0"/>
          </a:p>
        </p:txBody>
      </p:sp>
      <p:sp>
        <p:nvSpPr>
          <p:cNvPr id="7" name="Text 5"/>
          <p:cNvSpPr/>
          <p:nvPr/>
        </p:nvSpPr>
        <p:spPr>
          <a:xfrm>
            <a:off x="3592473" y="2356128"/>
            <a:ext cx="2234922" cy="290274"/>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region</a:t>
            </a:r>
            <a:endParaRPr lang="en-US" sz="1400" dirty="0"/>
          </a:p>
        </p:txBody>
      </p:sp>
      <p:sp>
        <p:nvSpPr>
          <p:cNvPr id="8" name="Text 6"/>
          <p:cNvSpPr/>
          <p:nvPr/>
        </p:nvSpPr>
        <p:spPr>
          <a:xfrm>
            <a:off x="6197918" y="2356128"/>
            <a:ext cx="2234922" cy="290274"/>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tier</a:t>
            </a:r>
            <a:endParaRPr lang="en-US" sz="1400" dirty="0"/>
          </a:p>
        </p:txBody>
      </p:sp>
      <p:sp>
        <p:nvSpPr>
          <p:cNvPr id="9" name="Text 7"/>
          <p:cNvSpPr/>
          <p:nvPr/>
        </p:nvSpPr>
        <p:spPr>
          <a:xfrm>
            <a:off x="8803362" y="2356128"/>
            <a:ext cx="2234922" cy="290274"/>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age</a:t>
            </a:r>
            <a:endParaRPr lang="en-US" sz="1400" dirty="0"/>
          </a:p>
        </p:txBody>
      </p:sp>
      <p:sp>
        <p:nvSpPr>
          <p:cNvPr id="10" name="Text 8"/>
          <p:cNvSpPr/>
          <p:nvPr/>
        </p:nvSpPr>
        <p:spPr>
          <a:xfrm>
            <a:off x="11408807" y="2356128"/>
            <a:ext cx="2238732" cy="290274"/>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ncomp</a:t>
            </a:r>
            <a:endParaRPr lang="en-US" sz="1400" dirty="0"/>
          </a:p>
        </p:txBody>
      </p:sp>
      <p:sp>
        <p:nvSpPr>
          <p:cNvPr id="11" name="Shape 9"/>
          <p:cNvSpPr/>
          <p:nvPr/>
        </p:nvSpPr>
        <p:spPr>
          <a:xfrm>
            <a:off x="801410" y="2762845"/>
            <a:ext cx="13027581" cy="523161"/>
          </a:xfrm>
          <a:prstGeom prst="rect">
            <a:avLst/>
          </a:prstGeom>
          <a:solidFill>
            <a:srgbClr val="000000">
              <a:alpha val="4000"/>
            </a:srgbClr>
          </a:solidFill>
          <a:ln/>
        </p:spPr>
      </p:sp>
      <p:sp>
        <p:nvSpPr>
          <p:cNvPr id="12" name="Text 10"/>
          <p:cNvSpPr/>
          <p:nvPr/>
        </p:nvSpPr>
        <p:spPr>
          <a:xfrm>
            <a:off x="983218" y="2879288"/>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1</a:t>
            </a:r>
            <a:endParaRPr lang="en-US" sz="1400" dirty="0"/>
          </a:p>
        </p:txBody>
      </p:sp>
      <p:sp>
        <p:nvSpPr>
          <p:cNvPr id="13" name="Text 11"/>
          <p:cNvSpPr/>
          <p:nvPr/>
        </p:nvSpPr>
        <p:spPr>
          <a:xfrm>
            <a:off x="3592473" y="2879288"/>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N</a:t>
            </a:r>
            <a:endParaRPr lang="en-US" sz="1400" dirty="0"/>
          </a:p>
        </p:txBody>
      </p:sp>
      <p:sp>
        <p:nvSpPr>
          <p:cNvPr id="14" name="Text 12"/>
          <p:cNvSpPr/>
          <p:nvPr/>
        </p:nvSpPr>
        <p:spPr>
          <a:xfrm>
            <a:off x="6197918" y="2879288"/>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platinum</a:t>
            </a:r>
            <a:endParaRPr lang="en-US" sz="1400" dirty="0"/>
          </a:p>
        </p:txBody>
      </p:sp>
      <p:sp>
        <p:nvSpPr>
          <p:cNvPr id="15" name="Text 13"/>
          <p:cNvSpPr/>
          <p:nvPr/>
        </p:nvSpPr>
        <p:spPr>
          <a:xfrm>
            <a:off x="8803362" y="2879288"/>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less2</a:t>
            </a:r>
            <a:endParaRPr lang="en-US" sz="1400" dirty="0"/>
          </a:p>
        </p:txBody>
      </p:sp>
      <p:sp>
        <p:nvSpPr>
          <p:cNvPr id="16" name="Text 14"/>
          <p:cNvSpPr/>
          <p:nvPr/>
        </p:nvSpPr>
        <p:spPr>
          <a:xfrm>
            <a:off x="11408807" y="2879288"/>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0</a:t>
            </a:r>
            <a:endParaRPr lang="en-US" sz="1400" dirty="0"/>
          </a:p>
        </p:txBody>
      </p:sp>
      <p:sp>
        <p:nvSpPr>
          <p:cNvPr id="17" name="Shape 15"/>
          <p:cNvSpPr/>
          <p:nvPr/>
        </p:nvSpPr>
        <p:spPr>
          <a:xfrm>
            <a:off x="801410" y="3286006"/>
            <a:ext cx="13027581" cy="523161"/>
          </a:xfrm>
          <a:prstGeom prst="rect">
            <a:avLst/>
          </a:prstGeom>
          <a:solidFill>
            <a:srgbClr val="FFFFFF">
              <a:alpha val="4000"/>
            </a:srgbClr>
          </a:solidFill>
          <a:ln/>
        </p:spPr>
      </p:sp>
      <p:sp>
        <p:nvSpPr>
          <p:cNvPr id="18" name="Text 16"/>
          <p:cNvSpPr/>
          <p:nvPr/>
        </p:nvSpPr>
        <p:spPr>
          <a:xfrm>
            <a:off x="983218" y="3402449"/>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2</a:t>
            </a:r>
            <a:endParaRPr lang="en-US" sz="1400" dirty="0"/>
          </a:p>
        </p:txBody>
      </p:sp>
      <p:sp>
        <p:nvSpPr>
          <p:cNvPr id="19" name="Text 17"/>
          <p:cNvSpPr/>
          <p:nvPr/>
        </p:nvSpPr>
        <p:spPr>
          <a:xfrm>
            <a:off x="3592473" y="3402449"/>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W</a:t>
            </a:r>
            <a:endParaRPr lang="en-US" sz="1400" dirty="0"/>
          </a:p>
        </p:txBody>
      </p:sp>
      <p:sp>
        <p:nvSpPr>
          <p:cNvPr id="20" name="Text 18"/>
          <p:cNvSpPr/>
          <p:nvPr/>
        </p:nvSpPr>
        <p:spPr>
          <a:xfrm>
            <a:off x="6197918" y="3402449"/>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gold</a:t>
            </a:r>
            <a:endParaRPr lang="en-US" sz="1400" dirty="0"/>
          </a:p>
        </p:txBody>
      </p:sp>
      <p:sp>
        <p:nvSpPr>
          <p:cNvPr id="21" name="Text 19"/>
          <p:cNvSpPr/>
          <p:nvPr/>
        </p:nvSpPr>
        <p:spPr>
          <a:xfrm>
            <a:off x="8803362" y="3402449"/>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more2</a:t>
            </a:r>
            <a:endParaRPr lang="en-US" sz="1400" dirty="0"/>
          </a:p>
        </p:txBody>
      </p:sp>
      <p:sp>
        <p:nvSpPr>
          <p:cNvPr id="22" name="Text 20"/>
          <p:cNvSpPr/>
          <p:nvPr/>
        </p:nvSpPr>
        <p:spPr>
          <a:xfrm>
            <a:off x="11408807" y="3402449"/>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3</a:t>
            </a:r>
            <a:endParaRPr lang="en-US" sz="1400" dirty="0"/>
          </a:p>
        </p:txBody>
      </p:sp>
      <p:sp>
        <p:nvSpPr>
          <p:cNvPr id="23" name="Shape 21"/>
          <p:cNvSpPr/>
          <p:nvPr/>
        </p:nvSpPr>
        <p:spPr>
          <a:xfrm>
            <a:off x="801410" y="3809167"/>
            <a:ext cx="13027581" cy="523161"/>
          </a:xfrm>
          <a:prstGeom prst="rect">
            <a:avLst/>
          </a:prstGeom>
          <a:solidFill>
            <a:srgbClr val="000000">
              <a:alpha val="4000"/>
            </a:srgbClr>
          </a:solidFill>
          <a:ln/>
        </p:spPr>
      </p:sp>
      <p:sp>
        <p:nvSpPr>
          <p:cNvPr id="24" name="Text 22"/>
          <p:cNvSpPr/>
          <p:nvPr/>
        </p:nvSpPr>
        <p:spPr>
          <a:xfrm>
            <a:off x="983218" y="3925610"/>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3</a:t>
            </a:r>
            <a:endParaRPr lang="en-US" sz="1400" dirty="0"/>
          </a:p>
        </p:txBody>
      </p:sp>
      <p:sp>
        <p:nvSpPr>
          <p:cNvPr id="25" name="Text 23"/>
          <p:cNvSpPr/>
          <p:nvPr/>
        </p:nvSpPr>
        <p:spPr>
          <a:xfrm>
            <a:off x="3592473" y="3925610"/>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W</a:t>
            </a:r>
            <a:endParaRPr lang="en-US" sz="1400" dirty="0"/>
          </a:p>
        </p:txBody>
      </p:sp>
      <p:sp>
        <p:nvSpPr>
          <p:cNvPr id="26" name="Text 24"/>
          <p:cNvSpPr/>
          <p:nvPr/>
        </p:nvSpPr>
        <p:spPr>
          <a:xfrm>
            <a:off x="6197918" y="3925610"/>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silver</a:t>
            </a:r>
            <a:endParaRPr lang="en-US" sz="1400" dirty="0"/>
          </a:p>
        </p:txBody>
      </p:sp>
      <p:sp>
        <p:nvSpPr>
          <p:cNvPr id="27" name="Text 25"/>
          <p:cNvSpPr/>
          <p:nvPr/>
        </p:nvSpPr>
        <p:spPr>
          <a:xfrm>
            <a:off x="8803362" y="3925610"/>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less2</a:t>
            </a:r>
            <a:endParaRPr lang="en-US" sz="1400" dirty="0"/>
          </a:p>
        </p:txBody>
      </p:sp>
      <p:sp>
        <p:nvSpPr>
          <p:cNvPr id="28" name="Text 26"/>
          <p:cNvSpPr/>
          <p:nvPr/>
        </p:nvSpPr>
        <p:spPr>
          <a:xfrm>
            <a:off x="11408807" y="3925610"/>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9</a:t>
            </a:r>
            <a:endParaRPr lang="en-US" sz="1400" dirty="0"/>
          </a:p>
        </p:txBody>
      </p:sp>
      <p:sp>
        <p:nvSpPr>
          <p:cNvPr id="29" name="Shape 27"/>
          <p:cNvSpPr/>
          <p:nvPr/>
        </p:nvSpPr>
        <p:spPr>
          <a:xfrm>
            <a:off x="801410" y="4332327"/>
            <a:ext cx="13027581" cy="523161"/>
          </a:xfrm>
          <a:prstGeom prst="rect">
            <a:avLst/>
          </a:prstGeom>
          <a:solidFill>
            <a:srgbClr val="FFFFFF">
              <a:alpha val="4000"/>
            </a:srgbClr>
          </a:solidFill>
          <a:ln/>
        </p:spPr>
      </p:sp>
      <p:sp>
        <p:nvSpPr>
          <p:cNvPr id="30" name="Text 28"/>
          <p:cNvSpPr/>
          <p:nvPr/>
        </p:nvSpPr>
        <p:spPr>
          <a:xfrm>
            <a:off x="983218" y="4448770"/>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4</a:t>
            </a:r>
            <a:endParaRPr lang="en-US" sz="1400" dirty="0"/>
          </a:p>
        </p:txBody>
      </p:sp>
      <p:sp>
        <p:nvSpPr>
          <p:cNvPr id="31" name="Text 29"/>
          <p:cNvSpPr/>
          <p:nvPr/>
        </p:nvSpPr>
        <p:spPr>
          <a:xfrm>
            <a:off x="3592473" y="4448770"/>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S</a:t>
            </a:r>
            <a:endParaRPr lang="en-US" sz="1400" dirty="0"/>
          </a:p>
        </p:txBody>
      </p:sp>
      <p:sp>
        <p:nvSpPr>
          <p:cNvPr id="32" name="Text 30"/>
          <p:cNvSpPr/>
          <p:nvPr/>
        </p:nvSpPr>
        <p:spPr>
          <a:xfrm>
            <a:off x="6197918" y="4448770"/>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silver</a:t>
            </a:r>
            <a:endParaRPr lang="en-US" sz="1400" dirty="0"/>
          </a:p>
        </p:txBody>
      </p:sp>
      <p:sp>
        <p:nvSpPr>
          <p:cNvPr id="33" name="Text 31"/>
          <p:cNvSpPr/>
          <p:nvPr/>
        </p:nvSpPr>
        <p:spPr>
          <a:xfrm>
            <a:off x="8803362" y="4448770"/>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less2</a:t>
            </a:r>
            <a:endParaRPr lang="en-US" sz="1400" dirty="0"/>
          </a:p>
        </p:txBody>
      </p:sp>
      <p:sp>
        <p:nvSpPr>
          <p:cNvPr id="34" name="Text 32"/>
          <p:cNvSpPr/>
          <p:nvPr/>
        </p:nvSpPr>
        <p:spPr>
          <a:xfrm>
            <a:off x="11408807" y="4448770"/>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6</a:t>
            </a:r>
            <a:endParaRPr lang="en-US" sz="1400" dirty="0"/>
          </a:p>
        </p:txBody>
      </p:sp>
      <p:sp>
        <p:nvSpPr>
          <p:cNvPr id="35" name="Shape 33"/>
          <p:cNvSpPr/>
          <p:nvPr/>
        </p:nvSpPr>
        <p:spPr>
          <a:xfrm>
            <a:off x="801410" y="4855488"/>
            <a:ext cx="13027581" cy="523161"/>
          </a:xfrm>
          <a:prstGeom prst="rect">
            <a:avLst/>
          </a:prstGeom>
          <a:solidFill>
            <a:srgbClr val="000000">
              <a:alpha val="4000"/>
            </a:srgbClr>
          </a:solidFill>
          <a:ln/>
        </p:spPr>
      </p:sp>
      <p:sp>
        <p:nvSpPr>
          <p:cNvPr id="36" name="Text 34"/>
          <p:cNvSpPr/>
          <p:nvPr/>
        </p:nvSpPr>
        <p:spPr>
          <a:xfrm>
            <a:off x="983218" y="4971931"/>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5</a:t>
            </a:r>
            <a:endParaRPr lang="en-US" sz="1400" dirty="0"/>
          </a:p>
        </p:txBody>
      </p:sp>
      <p:sp>
        <p:nvSpPr>
          <p:cNvPr id="37" name="Text 35"/>
          <p:cNvSpPr/>
          <p:nvPr/>
        </p:nvSpPr>
        <p:spPr>
          <a:xfrm>
            <a:off x="3592473" y="4971931"/>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E</a:t>
            </a:r>
            <a:endParaRPr lang="en-US" sz="1400" dirty="0"/>
          </a:p>
        </p:txBody>
      </p:sp>
      <p:sp>
        <p:nvSpPr>
          <p:cNvPr id="38" name="Text 36"/>
          <p:cNvSpPr/>
          <p:nvPr/>
        </p:nvSpPr>
        <p:spPr>
          <a:xfrm>
            <a:off x="6197918" y="4971931"/>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silver</a:t>
            </a:r>
            <a:endParaRPr lang="en-US" sz="1400" dirty="0"/>
          </a:p>
        </p:txBody>
      </p:sp>
      <p:sp>
        <p:nvSpPr>
          <p:cNvPr id="39" name="Text 37"/>
          <p:cNvSpPr/>
          <p:nvPr/>
        </p:nvSpPr>
        <p:spPr>
          <a:xfrm>
            <a:off x="8803362" y="4971931"/>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less2</a:t>
            </a:r>
            <a:endParaRPr lang="en-US" sz="1400" dirty="0"/>
          </a:p>
        </p:txBody>
      </p:sp>
      <p:sp>
        <p:nvSpPr>
          <p:cNvPr id="40" name="Text 38"/>
          <p:cNvSpPr/>
          <p:nvPr/>
        </p:nvSpPr>
        <p:spPr>
          <a:xfrm>
            <a:off x="11408807" y="4971931"/>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7</a:t>
            </a:r>
            <a:endParaRPr lang="en-US" sz="1400" dirty="0"/>
          </a:p>
        </p:txBody>
      </p:sp>
      <p:sp>
        <p:nvSpPr>
          <p:cNvPr id="41" name="Shape 39"/>
          <p:cNvSpPr/>
          <p:nvPr/>
        </p:nvSpPr>
        <p:spPr>
          <a:xfrm>
            <a:off x="801410" y="5378648"/>
            <a:ext cx="13027581" cy="523161"/>
          </a:xfrm>
          <a:prstGeom prst="rect">
            <a:avLst/>
          </a:prstGeom>
          <a:solidFill>
            <a:srgbClr val="FFFFFF">
              <a:alpha val="4000"/>
            </a:srgbClr>
          </a:solidFill>
          <a:ln/>
        </p:spPr>
      </p:sp>
      <p:sp>
        <p:nvSpPr>
          <p:cNvPr id="42" name="Text 40"/>
          <p:cNvSpPr/>
          <p:nvPr/>
        </p:nvSpPr>
        <p:spPr>
          <a:xfrm>
            <a:off x="983218" y="5495092"/>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6</a:t>
            </a:r>
            <a:endParaRPr lang="en-US" sz="1400" dirty="0"/>
          </a:p>
        </p:txBody>
      </p:sp>
      <p:sp>
        <p:nvSpPr>
          <p:cNvPr id="43" name="Text 41"/>
          <p:cNvSpPr/>
          <p:nvPr/>
        </p:nvSpPr>
        <p:spPr>
          <a:xfrm>
            <a:off x="3592473" y="5495092"/>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N</a:t>
            </a:r>
            <a:endParaRPr lang="en-US" sz="1400" dirty="0"/>
          </a:p>
        </p:txBody>
      </p:sp>
      <p:sp>
        <p:nvSpPr>
          <p:cNvPr id="44" name="Text 42"/>
          <p:cNvSpPr/>
          <p:nvPr/>
        </p:nvSpPr>
        <p:spPr>
          <a:xfrm>
            <a:off x="6197918" y="5495092"/>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silver</a:t>
            </a:r>
            <a:endParaRPr lang="en-US" sz="1400" dirty="0"/>
          </a:p>
        </p:txBody>
      </p:sp>
      <p:sp>
        <p:nvSpPr>
          <p:cNvPr id="45" name="Text 43"/>
          <p:cNvSpPr/>
          <p:nvPr/>
        </p:nvSpPr>
        <p:spPr>
          <a:xfrm>
            <a:off x="8803362" y="5495092"/>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less2</a:t>
            </a:r>
            <a:endParaRPr lang="en-US" sz="1400" dirty="0"/>
          </a:p>
        </p:txBody>
      </p:sp>
      <p:sp>
        <p:nvSpPr>
          <p:cNvPr id="46" name="Text 44"/>
          <p:cNvSpPr/>
          <p:nvPr/>
        </p:nvSpPr>
        <p:spPr>
          <a:xfrm>
            <a:off x="11408807" y="5495092"/>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5</a:t>
            </a:r>
            <a:endParaRPr lang="en-US" sz="1400" dirty="0"/>
          </a:p>
        </p:txBody>
      </p:sp>
      <p:sp>
        <p:nvSpPr>
          <p:cNvPr id="47" name="Shape 45"/>
          <p:cNvSpPr/>
          <p:nvPr/>
        </p:nvSpPr>
        <p:spPr>
          <a:xfrm>
            <a:off x="801410" y="5901809"/>
            <a:ext cx="13027581" cy="523161"/>
          </a:xfrm>
          <a:prstGeom prst="rect">
            <a:avLst/>
          </a:prstGeom>
          <a:solidFill>
            <a:srgbClr val="000000">
              <a:alpha val="4000"/>
            </a:srgbClr>
          </a:solidFill>
          <a:ln/>
        </p:spPr>
      </p:sp>
      <p:sp>
        <p:nvSpPr>
          <p:cNvPr id="48" name="Text 46"/>
          <p:cNvSpPr/>
          <p:nvPr/>
        </p:nvSpPr>
        <p:spPr>
          <a:xfrm>
            <a:off x="983218" y="6018252"/>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7</a:t>
            </a:r>
            <a:endParaRPr lang="en-US" sz="1400" dirty="0"/>
          </a:p>
        </p:txBody>
      </p:sp>
      <p:sp>
        <p:nvSpPr>
          <p:cNvPr id="49" name="Text 47"/>
          <p:cNvSpPr/>
          <p:nvPr/>
        </p:nvSpPr>
        <p:spPr>
          <a:xfrm>
            <a:off x="3592473" y="6018252"/>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N</a:t>
            </a:r>
            <a:endParaRPr lang="en-US" sz="1400" dirty="0"/>
          </a:p>
        </p:txBody>
      </p:sp>
      <p:sp>
        <p:nvSpPr>
          <p:cNvPr id="50" name="Text 48"/>
          <p:cNvSpPr/>
          <p:nvPr/>
        </p:nvSpPr>
        <p:spPr>
          <a:xfrm>
            <a:off x="6197918" y="6018252"/>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gold</a:t>
            </a:r>
            <a:endParaRPr lang="en-US" sz="1400" dirty="0"/>
          </a:p>
        </p:txBody>
      </p:sp>
      <p:sp>
        <p:nvSpPr>
          <p:cNvPr id="51" name="Text 49"/>
          <p:cNvSpPr/>
          <p:nvPr/>
        </p:nvSpPr>
        <p:spPr>
          <a:xfrm>
            <a:off x="8803362" y="6018252"/>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less2</a:t>
            </a:r>
            <a:endParaRPr lang="en-US" sz="1400" dirty="0"/>
          </a:p>
        </p:txBody>
      </p:sp>
      <p:sp>
        <p:nvSpPr>
          <p:cNvPr id="52" name="Text 50"/>
          <p:cNvSpPr/>
          <p:nvPr/>
        </p:nvSpPr>
        <p:spPr>
          <a:xfrm>
            <a:off x="11408807" y="6018252"/>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4</a:t>
            </a:r>
            <a:endParaRPr lang="en-US" sz="1400" dirty="0"/>
          </a:p>
        </p:txBody>
      </p:sp>
      <p:sp>
        <p:nvSpPr>
          <p:cNvPr id="53" name="Shape 51"/>
          <p:cNvSpPr/>
          <p:nvPr/>
        </p:nvSpPr>
        <p:spPr>
          <a:xfrm>
            <a:off x="801410" y="6424970"/>
            <a:ext cx="13027581" cy="523161"/>
          </a:xfrm>
          <a:prstGeom prst="rect">
            <a:avLst/>
          </a:prstGeom>
          <a:solidFill>
            <a:srgbClr val="FFFFFF">
              <a:alpha val="4000"/>
            </a:srgbClr>
          </a:solidFill>
          <a:ln/>
        </p:spPr>
      </p:sp>
      <p:sp>
        <p:nvSpPr>
          <p:cNvPr id="54" name="Text 52"/>
          <p:cNvSpPr/>
          <p:nvPr/>
        </p:nvSpPr>
        <p:spPr>
          <a:xfrm>
            <a:off x="983218" y="6541413"/>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8</a:t>
            </a:r>
            <a:endParaRPr lang="en-US" sz="1400" dirty="0"/>
          </a:p>
        </p:txBody>
      </p:sp>
      <p:sp>
        <p:nvSpPr>
          <p:cNvPr id="55" name="Text 53"/>
          <p:cNvSpPr/>
          <p:nvPr/>
        </p:nvSpPr>
        <p:spPr>
          <a:xfrm>
            <a:off x="3592473" y="6541413"/>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N</a:t>
            </a:r>
            <a:endParaRPr lang="en-US" sz="1400" dirty="0"/>
          </a:p>
        </p:txBody>
      </p:sp>
      <p:sp>
        <p:nvSpPr>
          <p:cNvPr id="56" name="Text 54"/>
          <p:cNvSpPr/>
          <p:nvPr/>
        </p:nvSpPr>
        <p:spPr>
          <a:xfrm>
            <a:off x="6197918" y="6541413"/>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gold</a:t>
            </a:r>
            <a:endParaRPr lang="en-US" sz="1400" dirty="0"/>
          </a:p>
        </p:txBody>
      </p:sp>
      <p:sp>
        <p:nvSpPr>
          <p:cNvPr id="57" name="Text 55"/>
          <p:cNvSpPr/>
          <p:nvPr/>
        </p:nvSpPr>
        <p:spPr>
          <a:xfrm>
            <a:off x="8803362" y="6541413"/>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less2</a:t>
            </a:r>
            <a:endParaRPr lang="en-US" sz="1400" dirty="0"/>
          </a:p>
        </p:txBody>
      </p:sp>
      <p:sp>
        <p:nvSpPr>
          <p:cNvPr id="58" name="Text 56"/>
          <p:cNvSpPr/>
          <p:nvPr/>
        </p:nvSpPr>
        <p:spPr>
          <a:xfrm>
            <a:off x="11408807" y="6541413"/>
            <a:ext cx="2238732"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8</a:t>
            </a:r>
            <a:endParaRPr lang="en-US" sz="1400" dirty="0"/>
          </a:p>
        </p:txBody>
      </p:sp>
      <p:sp>
        <p:nvSpPr>
          <p:cNvPr id="59" name="Text 57"/>
          <p:cNvSpPr/>
          <p:nvPr/>
        </p:nvSpPr>
        <p:spPr>
          <a:xfrm>
            <a:off x="793790" y="7159823"/>
            <a:ext cx="13042821" cy="290274"/>
          </a:xfrm>
          <a:prstGeom prst="rect">
            <a:avLst/>
          </a:prstGeom>
          <a:noFill/>
          <a:ln/>
        </p:spPr>
        <p:txBody>
          <a:bodyPr wrap="none" lIns="0" tIns="0" rIns="0" bIns="0" rtlCol="0" anchor="t"/>
          <a:lstStyle/>
          <a:p>
            <a:pPr marL="0" indent="0" algn="l">
              <a:lnSpc>
                <a:spcPts val="2250"/>
              </a:lnSpc>
              <a:buNone/>
            </a:pPr>
            <a:r>
              <a:rPr lang="en-US" dirty="0">
                <a:solidFill>
                  <a:srgbClr val="383838"/>
                </a:solidFill>
                <a:latin typeface="DM Sans" pitchFamily="34" charset="0"/>
                <a:ea typeface="DM Sans" pitchFamily="34" charset="-122"/>
                <a:cs typeface="DM Sans" pitchFamily="34" charset="-120"/>
              </a:rPr>
              <a:t>Note: The complete dataset contains 113 customer records with varying complaint counts across different regions, </a:t>
            </a:r>
          </a:p>
          <a:p>
            <a:pPr marL="0" indent="0" algn="l">
              <a:lnSpc>
                <a:spcPts val="2250"/>
              </a:lnSpc>
              <a:buNone/>
            </a:pPr>
            <a:r>
              <a:rPr lang="en-US" dirty="0">
                <a:solidFill>
                  <a:srgbClr val="383838"/>
                </a:solidFill>
                <a:latin typeface="DM Sans" pitchFamily="34" charset="0"/>
                <a:ea typeface="DM Sans" pitchFamily="34" charset="-122"/>
                <a:cs typeface="DM Sans" pitchFamily="34" charset="-120"/>
              </a:rPr>
              <a:t>loyalty tiers, and tenure categories.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59750"/>
            <a:ext cx="5060990" cy="632579"/>
          </a:xfrm>
          <a:prstGeom prst="rect">
            <a:avLst/>
          </a:prstGeom>
          <a:noFill/>
          <a:ln/>
        </p:spPr>
        <p:txBody>
          <a:bodyPr wrap="none" lIns="0" tIns="0" rIns="0" bIns="0" rtlCol="0" anchor="t"/>
          <a:lstStyle/>
          <a:p>
            <a:pPr marL="0" indent="0" algn="l">
              <a:lnSpc>
                <a:spcPts val="4950"/>
              </a:lnSpc>
              <a:buNone/>
            </a:pPr>
            <a:r>
              <a:rPr lang="en-US" sz="3750" dirty="0">
                <a:solidFill>
                  <a:srgbClr val="020202"/>
                </a:solidFill>
                <a:latin typeface="PT Serif" pitchFamily="34" charset="0"/>
                <a:ea typeface="PT Serif" pitchFamily="34" charset="-122"/>
                <a:cs typeface="PT Serif" pitchFamily="34" charset="-120"/>
              </a:rPr>
              <a:t>Data Structure</a:t>
            </a:r>
            <a:endParaRPr lang="en-US" sz="3750" dirty="0"/>
          </a:p>
        </p:txBody>
      </p:sp>
      <p:sp>
        <p:nvSpPr>
          <p:cNvPr id="3" name="Text 1"/>
          <p:cNvSpPr/>
          <p:nvPr/>
        </p:nvSpPr>
        <p:spPr>
          <a:xfrm>
            <a:off x="793790" y="1877854"/>
            <a:ext cx="13042821" cy="616744"/>
          </a:xfrm>
          <a:prstGeom prst="rect">
            <a:avLst/>
          </a:prstGeom>
          <a:noFill/>
          <a:ln/>
        </p:spPr>
        <p:txBody>
          <a:bodyPr wrap="square" lIns="0" tIns="0" rIns="0" bIns="0" rtlCol="0" anchor="t"/>
          <a:lstStyle/>
          <a:p>
            <a:pPr marL="0" indent="0" algn="l">
              <a:lnSpc>
                <a:spcPts val="2400"/>
              </a:lnSpc>
              <a:buNone/>
            </a:pPr>
            <a:r>
              <a:rPr lang="en-US" dirty="0">
                <a:solidFill>
                  <a:srgbClr val="383838"/>
                </a:solidFill>
                <a:latin typeface="DM Sans" pitchFamily="34" charset="0"/>
                <a:ea typeface="DM Sans" pitchFamily="34" charset="-122"/>
                <a:cs typeface="DM Sans" pitchFamily="34" charset="-120"/>
              </a:rPr>
              <a:t>The dataset comprises customer records with complaint counts as the dependent variable. Each observation represents a unique customer identified by their customer ID, with associated characteristics that may influence complaint behavior.</a:t>
            </a:r>
            <a:endParaRPr lang="en-US" dirty="0"/>
          </a:p>
        </p:txBody>
      </p:sp>
      <p:sp>
        <p:nvSpPr>
          <p:cNvPr id="4" name="Text 2"/>
          <p:cNvSpPr/>
          <p:nvPr/>
        </p:nvSpPr>
        <p:spPr>
          <a:xfrm>
            <a:off x="793790" y="2904173"/>
            <a:ext cx="3036570" cy="379452"/>
          </a:xfrm>
          <a:prstGeom prst="rect">
            <a:avLst/>
          </a:prstGeom>
          <a:noFill/>
          <a:ln/>
        </p:spPr>
        <p:txBody>
          <a:bodyPr wrap="none" lIns="0" tIns="0" rIns="0" bIns="0" rtlCol="0" anchor="t"/>
          <a:lstStyle/>
          <a:p>
            <a:pPr marL="0" indent="0" algn="l">
              <a:lnSpc>
                <a:spcPts val="2950"/>
              </a:lnSpc>
              <a:buNone/>
            </a:pPr>
            <a:r>
              <a:rPr lang="en-US" dirty="0">
                <a:solidFill>
                  <a:srgbClr val="020202"/>
                </a:solidFill>
                <a:latin typeface="PT Serif" pitchFamily="34" charset="0"/>
                <a:ea typeface="PT Serif" pitchFamily="34" charset="-122"/>
                <a:cs typeface="PT Serif" pitchFamily="34" charset="-120"/>
              </a:rPr>
              <a:t>Variable Overview</a:t>
            </a:r>
            <a:endParaRPr lang="en-US" dirty="0"/>
          </a:p>
        </p:txBody>
      </p:sp>
      <p:sp>
        <p:nvSpPr>
          <p:cNvPr id="5" name="Shape 3"/>
          <p:cNvSpPr/>
          <p:nvPr/>
        </p:nvSpPr>
        <p:spPr>
          <a:xfrm>
            <a:off x="793790" y="3500438"/>
            <a:ext cx="7637502" cy="3652599"/>
          </a:xfrm>
          <a:prstGeom prst="roundRect">
            <a:avLst>
              <a:gd name="adj" fmla="val 792"/>
            </a:avLst>
          </a:prstGeom>
          <a:noFill/>
          <a:ln w="7620">
            <a:solidFill>
              <a:srgbClr val="000000">
                <a:alpha val="8000"/>
              </a:srgbClr>
            </a:solidFill>
            <a:prstDash val="solid"/>
          </a:ln>
        </p:spPr>
      </p:sp>
      <p:sp>
        <p:nvSpPr>
          <p:cNvPr id="6" name="Shape 4"/>
          <p:cNvSpPr/>
          <p:nvPr/>
        </p:nvSpPr>
        <p:spPr>
          <a:xfrm>
            <a:off x="801410" y="3508058"/>
            <a:ext cx="7622262" cy="554831"/>
          </a:xfrm>
          <a:prstGeom prst="rect">
            <a:avLst/>
          </a:prstGeom>
          <a:solidFill>
            <a:srgbClr val="FFFFFF">
              <a:alpha val="4000"/>
            </a:srgbClr>
          </a:solidFill>
          <a:ln/>
        </p:spPr>
      </p:sp>
      <p:sp>
        <p:nvSpPr>
          <p:cNvPr id="7" name="Text 5"/>
          <p:cNvSpPr/>
          <p:nvPr/>
        </p:nvSpPr>
        <p:spPr>
          <a:xfrm>
            <a:off x="994291" y="3631287"/>
            <a:ext cx="3421737" cy="308372"/>
          </a:xfrm>
          <a:prstGeom prst="rect">
            <a:avLst/>
          </a:prstGeom>
          <a:noFill/>
          <a:ln/>
        </p:spPr>
        <p:txBody>
          <a:bodyPr wrap="none" lIns="0" tIns="0" rIns="0" bIns="0" rtlCol="0" anchor="t"/>
          <a:lstStyle/>
          <a:p>
            <a:pPr marL="0" indent="0" algn="l">
              <a:lnSpc>
                <a:spcPts val="2400"/>
              </a:lnSpc>
              <a:buNone/>
            </a:pPr>
            <a:r>
              <a:rPr lang="en-US" sz="1500" b="1" dirty="0">
                <a:solidFill>
                  <a:srgbClr val="383838"/>
                </a:solidFill>
                <a:latin typeface="DM Sans" pitchFamily="34" charset="0"/>
                <a:ea typeface="DM Sans" pitchFamily="34" charset="-122"/>
                <a:cs typeface="DM Sans" pitchFamily="34" charset="-120"/>
              </a:rPr>
              <a:t>Variable</a:t>
            </a:r>
            <a:endParaRPr lang="en-US" sz="1500" dirty="0"/>
          </a:p>
        </p:txBody>
      </p:sp>
      <p:sp>
        <p:nvSpPr>
          <p:cNvPr id="8" name="Text 6"/>
          <p:cNvSpPr/>
          <p:nvPr/>
        </p:nvSpPr>
        <p:spPr>
          <a:xfrm>
            <a:off x="4809173" y="3631287"/>
            <a:ext cx="3421737" cy="308372"/>
          </a:xfrm>
          <a:prstGeom prst="rect">
            <a:avLst/>
          </a:prstGeom>
          <a:noFill/>
          <a:ln/>
        </p:spPr>
        <p:txBody>
          <a:bodyPr wrap="none" lIns="0" tIns="0" rIns="0" bIns="0" rtlCol="0" anchor="t"/>
          <a:lstStyle/>
          <a:p>
            <a:pPr marL="0" indent="0" algn="l">
              <a:lnSpc>
                <a:spcPts val="2400"/>
              </a:lnSpc>
              <a:buNone/>
            </a:pPr>
            <a:r>
              <a:rPr lang="en-US" sz="1500" b="1" dirty="0">
                <a:solidFill>
                  <a:srgbClr val="383838"/>
                </a:solidFill>
                <a:latin typeface="DM Sans" pitchFamily="34" charset="0"/>
                <a:ea typeface="DM Sans" pitchFamily="34" charset="-122"/>
                <a:cs typeface="DM Sans" pitchFamily="34" charset="-120"/>
              </a:rPr>
              <a:t>Description</a:t>
            </a:r>
            <a:endParaRPr lang="en-US" sz="1500" dirty="0"/>
          </a:p>
        </p:txBody>
      </p:sp>
      <p:sp>
        <p:nvSpPr>
          <p:cNvPr id="9" name="Shape 7"/>
          <p:cNvSpPr/>
          <p:nvPr/>
        </p:nvSpPr>
        <p:spPr>
          <a:xfrm>
            <a:off x="801410" y="4062889"/>
            <a:ext cx="7622262" cy="554831"/>
          </a:xfrm>
          <a:prstGeom prst="rect">
            <a:avLst/>
          </a:prstGeom>
          <a:solidFill>
            <a:srgbClr val="000000">
              <a:alpha val="4000"/>
            </a:srgbClr>
          </a:solidFill>
          <a:ln/>
        </p:spPr>
      </p:sp>
      <p:sp>
        <p:nvSpPr>
          <p:cNvPr id="10" name="Text 8"/>
          <p:cNvSpPr/>
          <p:nvPr/>
        </p:nvSpPr>
        <p:spPr>
          <a:xfrm>
            <a:off x="994291" y="4186118"/>
            <a:ext cx="3421737" cy="308372"/>
          </a:xfrm>
          <a:prstGeom prst="rect">
            <a:avLst/>
          </a:prstGeom>
          <a:noFill/>
          <a:ln/>
        </p:spPr>
        <p:txBody>
          <a:bodyPr wrap="none" lIns="0" tIns="0" rIns="0" bIns="0" rtlCol="0" anchor="t"/>
          <a:lstStyle/>
          <a:p>
            <a:pPr marL="0" indent="0" algn="l">
              <a:lnSpc>
                <a:spcPts val="2400"/>
              </a:lnSpc>
              <a:buNone/>
            </a:pPr>
            <a:r>
              <a:rPr lang="en-US" sz="1500" dirty="0">
                <a:solidFill>
                  <a:srgbClr val="383838"/>
                </a:solidFill>
                <a:latin typeface="DM Sans" pitchFamily="34" charset="0"/>
                <a:ea typeface="DM Sans" pitchFamily="34" charset="-122"/>
                <a:cs typeface="DM Sans" pitchFamily="34" charset="-120"/>
              </a:rPr>
              <a:t>custid</a:t>
            </a:r>
            <a:endParaRPr lang="en-US" sz="1500" dirty="0"/>
          </a:p>
        </p:txBody>
      </p:sp>
      <p:sp>
        <p:nvSpPr>
          <p:cNvPr id="11" name="Text 9"/>
          <p:cNvSpPr/>
          <p:nvPr/>
        </p:nvSpPr>
        <p:spPr>
          <a:xfrm>
            <a:off x="4809173" y="4186118"/>
            <a:ext cx="3421737" cy="308372"/>
          </a:xfrm>
          <a:prstGeom prst="rect">
            <a:avLst/>
          </a:prstGeom>
          <a:noFill/>
          <a:ln/>
        </p:spPr>
        <p:txBody>
          <a:bodyPr wrap="none" lIns="0" tIns="0" rIns="0" bIns="0" rtlCol="0" anchor="t"/>
          <a:lstStyle/>
          <a:p>
            <a:pPr marL="0" indent="0" algn="l">
              <a:lnSpc>
                <a:spcPts val="2400"/>
              </a:lnSpc>
              <a:buNone/>
            </a:pPr>
            <a:r>
              <a:rPr lang="en-US" sz="1500" dirty="0">
                <a:solidFill>
                  <a:srgbClr val="383838"/>
                </a:solidFill>
                <a:latin typeface="DM Sans" pitchFamily="34" charset="0"/>
                <a:ea typeface="DM Sans" pitchFamily="34" charset="-122"/>
                <a:cs typeface="DM Sans" pitchFamily="34" charset="-120"/>
              </a:rPr>
              <a:t>Customer ID (unique identifier)</a:t>
            </a:r>
            <a:endParaRPr lang="en-US" sz="1500" dirty="0"/>
          </a:p>
        </p:txBody>
      </p:sp>
      <p:sp>
        <p:nvSpPr>
          <p:cNvPr id="12" name="Shape 10"/>
          <p:cNvSpPr/>
          <p:nvPr/>
        </p:nvSpPr>
        <p:spPr>
          <a:xfrm>
            <a:off x="801410" y="4617720"/>
            <a:ext cx="7622262" cy="554831"/>
          </a:xfrm>
          <a:prstGeom prst="rect">
            <a:avLst/>
          </a:prstGeom>
          <a:solidFill>
            <a:srgbClr val="FFFFFF">
              <a:alpha val="4000"/>
            </a:srgbClr>
          </a:solidFill>
          <a:ln/>
        </p:spPr>
      </p:sp>
      <p:sp>
        <p:nvSpPr>
          <p:cNvPr id="13" name="Text 11"/>
          <p:cNvSpPr/>
          <p:nvPr/>
        </p:nvSpPr>
        <p:spPr>
          <a:xfrm>
            <a:off x="994291" y="4740950"/>
            <a:ext cx="3421737" cy="308372"/>
          </a:xfrm>
          <a:prstGeom prst="rect">
            <a:avLst/>
          </a:prstGeom>
          <a:noFill/>
          <a:ln/>
        </p:spPr>
        <p:txBody>
          <a:bodyPr wrap="none" lIns="0" tIns="0" rIns="0" bIns="0" rtlCol="0" anchor="t"/>
          <a:lstStyle/>
          <a:p>
            <a:pPr marL="0" indent="0" algn="l">
              <a:lnSpc>
                <a:spcPts val="2400"/>
              </a:lnSpc>
              <a:buNone/>
            </a:pPr>
            <a:r>
              <a:rPr lang="en-US" sz="1500" dirty="0">
                <a:solidFill>
                  <a:srgbClr val="383838"/>
                </a:solidFill>
                <a:latin typeface="DM Sans" pitchFamily="34" charset="0"/>
                <a:ea typeface="DM Sans" pitchFamily="34" charset="-122"/>
                <a:cs typeface="DM Sans" pitchFamily="34" charset="-120"/>
              </a:rPr>
              <a:t>region</a:t>
            </a:r>
            <a:endParaRPr lang="en-US" sz="1500" dirty="0"/>
          </a:p>
        </p:txBody>
      </p:sp>
      <p:sp>
        <p:nvSpPr>
          <p:cNvPr id="14" name="Text 12"/>
          <p:cNvSpPr/>
          <p:nvPr/>
        </p:nvSpPr>
        <p:spPr>
          <a:xfrm>
            <a:off x="4809173" y="4740950"/>
            <a:ext cx="3421737" cy="308372"/>
          </a:xfrm>
          <a:prstGeom prst="rect">
            <a:avLst/>
          </a:prstGeom>
          <a:noFill/>
          <a:ln/>
        </p:spPr>
        <p:txBody>
          <a:bodyPr wrap="none" lIns="0" tIns="0" rIns="0" bIns="0" rtlCol="0" anchor="t"/>
          <a:lstStyle/>
          <a:p>
            <a:pPr marL="0" indent="0" algn="l">
              <a:lnSpc>
                <a:spcPts val="2400"/>
              </a:lnSpc>
              <a:buNone/>
            </a:pPr>
            <a:r>
              <a:rPr lang="en-US" sz="1500" dirty="0">
                <a:solidFill>
                  <a:srgbClr val="383838"/>
                </a:solidFill>
                <a:latin typeface="DM Sans" pitchFamily="34" charset="0"/>
                <a:ea typeface="DM Sans" pitchFamily="34" charset="-122"/>
                <a:cs typeface="DM Sans" pitchFamily="34" charset="-120"/>
              </a:rPr>
              <a:t>Geographic region (E, W, N, S)</a:t>
            </a:r>
            <a:endParaRPr lang="en-US" sz="1500" dirty="0"/>
          </a:p>
        </p:txBody>
      </p:sp>
      <p:sp>
        <p:nvSpPr>
          <p:cNvPr id="15" name="Shape 13"/>
          <p:cNvSpPr/>
          <p:nvPr/>
        </p:nvSpPr>
        <p:spPr>
          <a:xfrm>
            <a:off x="801410" y="5172551"/>
            <a:ext cx="7622262" cy="863203"/>
          </a:xfrm>
          <a:prstGeom prst="rect">
            <a:avLst/>
          </a:prstGeom>
          <a:solidFill>
            <a:srgbClr val="000000">
              <a:alpha val="4000"/>
            </a:srgbClr>
          </a:solidFill>
          <a:ln/>
        </p:spPr>
      </p:sp>
      <p:sp>
        <p:nvSpPr>
          <p:cNvPr id="16" name="Text 14"/>
          <p:cNvSpPr/>
          <p:nvPr/>
        </p:nvSpPr>
        <p:spPr>
          <a:xfrm>
            <a:off x="994291" y="5295781"/>
            <a:ext cx="3421737" cy="308372"/>
          </a:xfrm>
          <a:prstGeom prst="rect">
            <a:avLst/>
          </a:prstGeom>
          <a:noFill/>
          <a:ln/>
        </p:spPr>
        <p:txBody>
          <a:bodyPr wrap="none" lIns="0" tIns="0" rIns="0" bIns="0" rtlCol="0" anchor="t"/>
          <a:lstStyle/>
          <a:p>
            <a:pPr marL="0" indent="0" algn="l">
              <a:lnSpc>
                <a:spcPts val="2400"/>
              </a:lnSpc>
              <a:buNone/>
            </a:pPr>
            <a:r>
              <a:rPr lang="en-US" sz="1500" dirty="0">
                <a:solidFill>
                  <a:srgbClr val="383838"/>
                </a:solidFill>
                <a:latin typeface="DM Sans" pitchFamily="34" charset="0"/>
                <a:ea typeface="DM Sans" pitchFamily="34" charset="-122"/>
                <a:cs typeface="DM Sans" pitchFamily="34" charset="-120"/>
              </a:rPr>
              <a:t>tier</a:t>
            </a:r>
            <a:endParaRPr lang="en-US" sz="1500" dirty="0"/>
          </a:p>
        </p:txBody>
      </p:sp>
      <p:sp>
        <p:nvSpPr>
          <p:cNvPr id="17" name="Text 15"/>
          <p:cNvSpPr/>
          <p:nvPr/>
        </p:nvSpPr>
        <p:spPr>
          <a:xfrm>
            <a:off x="4809173" y="5295781"/>
            <a:ext cx="3421737" cy="616744"/>
          </a:xfrm>
          <a:prstGeom prst="rect">
            <a:avLst/>
          </a:prstGeom>
          <a:noFill/>
          <a:ln/>
        </p:spPr>
        <p:txBody>
          <a:bodyPr wrap="square" lIns="0" tIns="0" rIns="0" bIns="0" rtlCol="0" anchor="t"/>
          <a:lstStyle/>
          <a:p>
            <a:pPr marL="0" indent="0" algn="l">
              <a:lnSpc>
                <a:spcPts val="2400"/>
              </a:lnSpc>
              <a:buNone/>
            </a:pPr>
            <a:r>
              <a:rPr lang="en-US" sz="1500" dirty="0">
                <a:solidFill>
                  <a:srgbClr val="383838"/>
                </a:solidFill>
                <a:latin typeface="DM Sans" pitchFamily="34" charset="0"/>
                <a:ea typeface="DM Sans" pitchFamily="34" charset="-122"/>
                <a:cs typeface="DM Sans" pitchFamily="34" charset="-120"/>
              </a:rPr>
              <a:t>Loyalty program level (platinum, gold, silver)</a:t>
            </a:r>
            <a:endParaRPr lang="en-US" sz="1500" dirty="0"/>
          </a:p>
        </p:txBody>
      </p:sp>
      <p:sp>
        <p:nvSpPr>
          <p:cNvPr id="18" name="Shape 16"/>
          <p:cNvSpPr/>
          <p:nvPr/>
        </p:nvSpPr>
        <p:spPr>
          <a:xfrm>
            <a:off x="801410" y="6035754"/>
            <a:ext cx="7622262" cy="554831"/>
          </a:xfrm>
          <a:prstGeom prst="rect">
            <a:avLst/>
          </a:prstGeom>
          <a:solidFill>
            <a:srgbClr val="FFFFFF">
              <a:alpha val="4000"/>
            </a:srgbClr>
          </a:solidFill>
          <a:ln/>
        </p:spPr>
      </p:sp>
      <p:sp>
        <p:nvSpPr>
          <p:cNvPr id="19" name="Text 17"/>
          <p:cNvSpPr/>
          <p:nvPr/>
        </p:nvSpPr>
        <p:spPr>
          <a:xfrm>
            <a:off x="994291" y="6158984"/>
            <a:ext cx="3421737" cy="308372"/>
          </a:xfrm>
          <a:prstGeom prst="rect">
            <a:avLst/>
          </a:prstGeom>
          <a:noFill/>
          <a:ln/>
        </p:spPr>
        <p:txBody>
          <a:bodyPr wrap="none" lIns="0" tIns="0" rIns="0" bIns="0" rtlCol="0" anchor="t"/>
          <a:lstStyle/>
          <a:p>
            <a:pPr marL="0" indent="0" algn="l">
              <a:lnSpc>
                <a:spcPts val="2400"/>
              </a:lnSpc>
              <a:buNone/>
            </a:pPr>
            <a:r>
              <a:rPr lang="en-US" sz="1500" dirty="0">
                <a:solidFill>
                  <a:srgbClr val="383838"/>
                </a:solidFill>
                <a:latin typeface="DM Sans" pitchFamily="34" charset="0"/>
                <a:ea typeface="DM Sans" pitchFamily="34" charset="-122"/>
                <a:cs typeface="DM Sans" pitchFamily="34" charset="-120"/>
              </a:rPr>
              <a:t>age</a:t>
            </a:r>
            <a:endParaRPr lang="en-US" sz="1500" dirty="0"/>
          </a:p>
        </p:txBody>
      </p:sp>
      <p:sp>
        <p:nvSpPr>
          <p:cNvPr id="20" name="Text 18"/>
          <p:cNvSpPr/>
          <p:nvPr/>
        </p:nvSpPr>
        <p:spPr>
          <a:xfrm>
            <a:off x="4809173" y="6158984"/>
            <a:ext cx="3421737" cy="308372"/>
          </a:xfrm>
          <a:prstGeom prst="rect">
            <a:avLst/>
          </a:prstGeom>
          <a:noFill/>
          <a:ln/>
        </p:spPr>
        <p:txBody>
          <a:bodyPr wrap="none" lIns="0" tIns="0" rIns="0" bIns="0" rtlCol="0" anchor="t"/>
          <a:lstStyle/>
          <a:p>
            <a:pPr marL="0" indent="0" algn="l">
              <a:lnSpc>
                <a:spcPts val="2400"/>
              </a:lnSpc>
              <a:buNone/>
            </a:pPr>
            <a:r>
              <a:rPr lang="en-US" sz="1500" dirty="0">
                <a:solidFill>
                  <a:srgbClr val="383838"/>
                </a:solidFill>
                <a:latin typeface="DM Sans" pitchFamily="34" charset="0"/>
                <a:ea typeface="DM Sans" pitchFamily="34" charset="-122"/>
                <a:cs typeface="DM Sans" pitchFamily="34" charset="-120"/>
              </a:rPr>
              <a:t>Customer tenure (less2, more2)</a:t>
            </a:r>
            <a:endParaRPr lang="en-US" sz="1500" dirty="0"/>
          </a:p>
        </p:txBody>
      </p:sp>
      <p:sp>
        <p:nvSpPr>
          <p:cNvPr id="21" name="Shape 19"/>
          <p:cNvSpPr/>
          <p:nvPr/>
        </p:nvSpPr>
        <p:spPr>
          <a:xfrm>
            <a:off x="801410" y="6590586"/>
            <a:ext cx="7622262" cy="554831"/>
          </a:xfrm>
          <a:prstGeom prst="rect">
            <a:avLst/>
          </a:prstGeom>
          <a:solidFill>
            <a:srgbClr val="000000">
              <a:alpha val="4000"/>
            </a:srgbClr>
          </a:solidFill>
          <a:ln/>
        </p:spPr>
      </p:sp>
      <p:sp>
        <p:nvSpPr>
          <p:cNvPr id="22" name="Text 20"/>
          <p:cNvSpPr/>
          <p:nvPr/>
        </p:nvSpPr>
        <p:spPr>
          <a:xfrm>
            <a:off x="994291" y="6713815"/>
            <a:ext cx="3421737" cy="308372"/>
          </a:xfrm>
          <a:prstGeom prst="rect">
            <a:avLst/>
          </a:prstGeom>
          <a:noFill/>
          <a:ln/>
        </p:spPr>
        <p:txBody>
          <a:bodyPr wrap="none" lIns="0" tIns="0" rIns="0" bIns="0" rtlCol="0" anchor="t"/>
          <a:lstStyle/>
          <a:p>
            <a:pPr marL="0" indent="0" algn="l">
              <a:lnSpc>
                <a:spcPts val="2400"/>
              </a:lnSpc>
              <a:buNone/>
            </a:pPr>
            <a:r>
              <a:rPr lang="en-US" sz="1500" dirty="0">
                <a:solidFill>
                  <a:srgbClr val="383838"/>
                </a:solidFill>
                <a:latin typeface="DM Sans" pitchFamily="34" charset="0"/>
                <a:ea typeface="DM Sans" pitchFamily="34" charset="-122"/>
                <a:cs typeface="DM Sans" pitchFamily="34" charset="-120"/>
              </a:rPr>
              <a:t>ncomp</a:t>
            </a:r>
            <a:endParaRPr lang="en-US" sz="1500" dirty="0"/>
          </a:p>
        </p:txBody>
      </p:sp>
      <p:sp>
        <p:nvSpPr>
          <p:cNvPr id="23" name="Text 21"/>
          <p:cNvSpPr/>
          <p:nvPr/>
        </p:nvSpPr>
        <p:spPr>
          <a:xfrm>
            <a:off x="4809173" y="6713815"/>
            <a:ext cx="3421737" cy="308372"/>
          </a:xfrm>
          <a:prstGeom prst="rect">
            <a:avLst/>
          </a:prstGeom>
          <a:noFill/>
          <a:ln/>
        </p:spPr>
        <p:txBody>
          <a:bodyPr wrap="none" lIns="0" tIns="0" rIns="0" bIns="0" rtlCol="0" anchor="t"/>
          <a:lstStyle/>
          <a:p>
            <a:pPr marL="0" indent="0" algn="l">
              <a:lnSpc>
                <a:spcPts val="2400"/>
              </a:lnSpc>
              <a:buNone/>
            </a:pPr>
            <a:r>
              <a:rPr lang="en-US" sz="1500" dirty="0">
                <a:solidFill>
                  <a:srgbClr val="383838"/>
                </a:solidFill>
                <a:latin typeface="DM Sans" pitchFamily="34" charset="0"/>
                <a:ea typeface="DM Sans" pitchFamily="34" charset="-122"/>
                <a:cs typeface="DM Sans" pitchFamily="34" charset="-120"/>
              </a:rPr>
              <a:t>Complaint count (dependent variable)</a:t>
            </a:r>
            <a:endParaRPr lang="en-US" sz="1500" dirty="0"/>
          </a:p>
        </p:txBody>
      </p:sp>
      <p:sp>
        <p:nvSpPr>
          <p:cNvPr id="24" name="Text 22"/>
          <p:cNvSpPr/>
          <p:nvPr/>
        </p:nvSpPr>
        <p:spPr>
          <a:xfrm>
            <a:off x="8978365" y="2904173"/>
            <a:ext cx="3036570" cy="379452"/>
          </a:xfrm>
          <a:prstGeom prst="rect">
            <a:avLst/>
          </a:prstGeom>
          <a:noFill/>
          <a:ln/>
        </p:spPr>
        <p:txBody>
          <a:bodyPr wrap="none" lIns="0" tIns="0" rIns="0" bIns="0" rtlCol="0" anchor="t"/>
          <a:lstStyle/>
          <a:p>
            <a:pPr marL="0" indent="0" algn="l">
              <a:lnSpc>
                <a:spcPts val="2950"/>
              </a:lnSpc>
              <a:buNone/>
            </a:pPr>
            <a:r>
              <a:rPr lang="en-US" dirty="0">
                <a:solidFill>
                  <a:srgbClr val="020202"/>
                </a:solidFill>
                <a:latin typeface="PT Serif" pitchFamily="34" charset="0"/>
                <a:ea typeface="PT Serif" pitchFamily="34" charset="-122"/>
                <a:cs typeface="PT Serif" pitchFamily="34" charset="-120"/>
              </a:rPr>
              <a:t>Data Characteristics</a:t>
            </a:r>
            <a:endParaRPr lang="en-US" dirty="0"/>
          </a:p>
        </p:txBody>
      </p:sp>
      <p:sp>
        <p:nvSpPr>
          <p:cNvPr id="25" name="Text 23"/>
          <p:cNvSpPr/>
          <p:nvPr/>
        </p:nvSpPr>
        <p:spPr>
          <a:xfrm>
            <a:off x="8909209" y="3652242"/>
            <a:ext cx="4934903" cy="308372"/>
          </a:xfrm>
          <a:prstGeom prst="rect">
            <a:avLst/>
          </a:prstGeom>
          <a:noFill/>
          <a:ln/>
        </p:spPr>
        <p:txBody>
          <a:bodyPr wrap="none" lIns="0" tIns="0" rIns="0" bIns="0" rtlCol="0" anchor="t"/>
          <a:lstStyle/>
          <a:p>
            <a:pPr marL="0" indent="0" algn="l">
              <a:lnSpc>
                <a:spcPts val="2400"/>
              </a:lnSpc>
              <a:buNone/>
            </a:pPr>
            <a:r>
              <a:rPr lang="en-US" sz="1600" b="1" dirty="0">
                <a:solidFill>
                  <a:srgbClr val="383838"/>
                </a:solidFill>
                <a:latin typeface="DM Sans" pitchFamily="34" charset="0"/>
                <a:ea typeface="DM Sans" pitchFamily="34" charset="-122"/>
                <a:cs typeface="DM Sans" pitchFamily="34" charset="-120"/>
              </a:rPr>
              <a:t>Dependent Variable:</a:t>
            </a:r>
            <a:r>
              <a:rPr lang="en-US" sz="1600" dirty="0">
                <a:solidFill>
                  <a:srgbClr val="383838"/>
                </a:solidFill>
                <a:latin typeface="DM Sans" pitchFamily="34" charset="0"/>
                <a:ea typeface="DM Sans" pitchFamily="34" charset="-122"/>
                <a:cs typeface="DM Sans" pitchFamily="34" charset="-120"/>
              </a:rPr>
              <a:t> Number of complaints (ncomp)</a:t>
            </a:r>
            <a:endParaRPr lang="en-US" sz="1600" dirty="0"/>
          </a:p>
        </p:txBody>
      </p:sp>
      <p:sp>
        <p:nvSpPr>
          <p:cNvPr id="26" name="Text 24"/>
          <p:cNvSpPr/>
          <p:nvPr/>
        </p:nvSpPr>
        <p:spPr>
          <a:xfrm>
            <a:off x="8909209" y="4132897"/>
            <a:ext cx="4934903" cy="616744"/>
          </a:xfrm>
          <a:prstGeom prst="rect">
            <a:avLst/>
          </a:prstGeom>
          <a:noFill/>
          <a:ln/>
        </p:spPr>
        <p:txBody>
          <a:bodyPr wrap="square" lIns="0" tIns="0" rIns="0" bIns="0" rtlCol="0" anchor="t"/>
          <a:lstStyle/>
          <a:p>
            <a:pPr marL="0" indent="0" algn="l">
              <a:lnSpc>
                <a:spcPts val="2400"/>
              </a:lnSpc>
              <a:buNone/>
            </a:pPr>
            <a:r>
              <a:rPr lang="en-US" sz="1600" b="1" dirty="0">
                <a:solidFill>
                  <a:srgbClr val="383838"/>
                </a:solidFill>
                <a:latin typeface="DM Sans" pitchFamily="34" charset="0"/>
                <a:ea typeface="DM Sans" pitchFamily="34" charset="-122"/>
                <a:cs typeface="DM Sans" pitchFamily="34" charset="-120"/>
              </a:rPr>
              <a:t>Independent Variables:</a:t>
            </a:r>
            <a:r>
              <a:rPr lang="en-US" sz="1600" dirty="0">
                <a:solidFill>
                  <a:srgbClr val="383838"/>
                </a:solidFill>
                <a:latin typeface="DM Sans" pitchFamily="34" charset="0"/>
                <a:ea typeface="DM Sans" pitchFamily="34" charset="-122"/>
                <a:cs typeface="DM Sans" pitchFamily="34" charset="-120"/>
              </a:rPr>
              <a:t> Region, loyalty tier, and customer age</a:t>
            </a:r>
            <a:endParaRPr lang="en-US" sz="1600" dirty="0"/>
          </a:p>
        </p:txBody>
      </p:sp>
      <p:sp>
        <p:nvSpPr>
          <p:cNvPr id="27" name="Text 25"/>
          <p:cNvSpPr/>
          <p:nvPr/>
        </p:nvSpPr>
        <p:spPr>
          <a:xfrm>
            <a:off x="8909209" y="4895135"/>
            <a:ext cx="4934903" cy="616744"/>
          </a:xfrm>
          <a:prstGeom prst="rect">
            <a:avLst/>
          </a:prstGeom>
          <a:noFill/>
          <a:ln/>
        </p:spPr>
        <p:txBody>
          <a:bodyPr wrap="square" lIns="0" tIns="0" rIns="0" bIns="0" rtlCol="0" anchor="t"/>
          <a:lstStyle/>
          <a:p>
            <a:pPr marL="0" indent="0" algn="l">
              <a:lnSpc>
                <a:spcPts val="2400"/>
              </a:lnSpc>
              <a:buNone/>
            </a:pPr>
            <a:r>
              <a:rPr lang="en-US" sz="1600" b="1" dirty="0">
                <a:solidFill>
                  <a:srgbClr val="383838"/>
                </a:solidFill>
                <a:latin typeface="DM Sans" pitchFamily="34" charset="0"/>
                <a:ea typeface="DM Sans" pitchFamily="34" charset="-122"/>
                <a:cs typeface="DM Sans" pitchFamily="34" charset="-120"/>
              </a:rPr>
              <a:t>Sample Size:</a:t>
            </a:r>
            <a:r>
              <a:rPr lang="en-US" sz="1600" dirty="0">
                <a:solidFill>
                  <a:srgbClr val="383838"/>
                </a:solidFill>
                <a:latin typeface="DM Sans" pitchFamily="34" charset="0"/>
                <a:ea typeface="DM Sans" pitchFamily="34" charset="-122"/>
                <a:cs typeface="DM Sans" pitchFamily="34" charset="-120"/>
              </a:rPr>
              <a:t> 113 observations across diverse customer segments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966192"/>
            <a:ext cx="6425446" cy="446603"/>
          </a:xfrm>
          <a:prstGeom prst="rect">
            <a:avLst/>
          </a:prstGeom>
          <a:noFill/>
          <a:ln/>
        </p:spPr>
        <p:txBody>
          <a:bodyPr wrap="none" lIns="0" tIns="0" rIns="0" bIns="0" rtlCol="0" anchor="t"/>
          <a:lstStyle/>
          <a:p>
            <a:pPr marL="0" indent="0" algn="l">
              <a:lnSpc>
                <a:spcPts val="3500"/>
              </a:lnSpc>
              <a:buNone/>
            </a:pPr>
            <a:r>
              <a:rPr lang="en-US" sz="3750" dirty="0">
                <a:solidFill>
                  <a:srgbClr val="020202"/>
                </a:solidFill>
                <a:latin typeface="PT Serif" pitchFamily="34" charset="0"/>
                <a:ea typeface="PT Serif" pitchFamily="34" charset="-122"/>
                <a:cs typeface="PT Serif" pitchFamily="34" charset="-120"/>
              </a:rPr>
              <a:t>Model Specification and Base Categories</a:t>
            </a:r>
            <a:endParaRPr lang="en-US" sz="3750" dirty="0"/>
          </a:p>
        </p:txBody>
      </p:sp>
      <p:sp>
        <p:nvSpPr>
          <p:cNvPr id="3" name="Text 1"/>
          <p:cNvSpPr/>
          <p:nvPr/>
        </p:nvSpPr>
        <p:spPr>
          <a:xfrm>
            <a:off x="793790" y="1752957"/>
            <a:ext cx="13042821" cy="680323"/>
          </a:xfrm>
          <a:prstGeom prst="rect">
            <a:avLst/>
          </a:prstGeom>
          <a:noFill/>
          <a:ln/>
        </p:spPr>
        <p:txBody>
          <a:bodyPr wrap="square" lIns="0" tIns="0" rIns="0" bIns="0" rtlCol="0" anchor="t"/>
          <a:lstStyle/>
          <a:p>
            <a:pPr marL="0" indent="0" algn="l">
              <a:lnSpc>
                <a:spcPts val="2650"/>
              </a:lnSpc>
              <a:buNone/>
            </a:pPr>
            <a:r>
              <a:rPr lang="en-US" sz="1600" dirty="0">
                <a:solidFill>
                  <a:srgbClr val="383838"/>
                </a:solidFill>
                <a:latin typeface="DM Sans" pitchFamily="34" charset="0"/>
                <a:ea typeface="DM Sans" pitchFamily="34" charset="-122"/>
                <a:cs typeface="DM Sans" pitchFamily="34" charset="-120"/>
              </a:rPr>
              <a:t>In categorical regression analysis, one category from each independent variable must serve as the </a:t>
            </a:r>
            <a:r>
              <a:rPr lang="en-US" sz="1600" b="1" dirty="0">
                <a:solidFill>
                  <a:srgbClr val="E04F00"/>
                </a:solidFill>
                <a:latin typeface="DM Sans" pitchFamily="34" charset="0"/>
                <a:ea typeface="DM Sans" pitchFamily="34" charset="-122"/>
                <a:cs typeface="DM Sans" pitchFamily="34" charset="-120"/>
              </a:rPr>
              <a:t>reference or base category</a:t>
            </a:r>
            <a:r>
              <a:rPr lang="en-US" sz="1600" dirty="0">
                <a:solidFill>
                  <a:srgbClr val="383838"/>
                </a:solidFill>
                <a:latin typeface="DM Sans" pitchFamily="34" charset="0"/>
                <a:ea typeface="DM Sans" pitchFamily="34" charset="-122"/>
                <a:cs typeface="DM Sans" pitchFamily="34" charset="-120"/>
              </a:rPr>
              <a:t>. The coefficients for other categories represent the effect relative to this baseline, enabling meaningful interpretation of results.</a:t>
            </a:r>
            <a:endParaRPr lang="en-US" sz="1600" dirty="0"/>
          </a:p>
        </p:txBody>
      </p:sp>
      <p:sp>
        <p:nvSpPr>
          <p:cNvPr id="4" name="Shape 2"/>
          <p:cNvSpPr/>
          <p:nvPr/>
        </p:nvSpPr>
        <p:spPr>
          <a:xfrm>
            <a:off x="793790" y="2624614"/>
            <a:ext cx="4234220" cy="2966085"/>
          </a:xfrm>
          <a:prstGeom prst="roundRect">
            <a:avLst>
              <a:gd name="adj" fmla="val 860"/>
            </a:avLst>
          </a:prstGeom>
          <a:solidFill>
            <a:srgbClr val="F2EEEE"/>
          </a:solidFill>
          <a:ln/>
        </p:spPr>
      </p:sp>
      <p:sp>
        <p:nvSpPr>
          <p:cNvPr id="5" name="Text 3"/>
          <p:cNvSpPr/>
          <p:nvPr/>
        </p:nvSpPr>
        <p:spPr>
          <a:xfrm>
            <a:off x="963811" y="2794635"/>
            <a:ext cx="2232779" cy="278963"/>
          </a:xfrm>
          <a:prstGeom prst="rect">
            <a:avLst/>
          </a:prstGeom>
          <a:noFill/>
          <a:ln/>
        </p:spPr>
        <p:txBody>
          <a:bodyPr wrap="none" lIns="0" tIns="0" rIns="0" bIns="0" rtlCol="0" anchor="t"/>
          <a:lstStyle/>
          <a:p>
            <a:pPr marL="0" indent="0" algn="l">
              <a:lnSpc>
                <a:spcPts val="2150"/>
              </a:lnSpc>
              <a:buNone/>
            </a:pPr>
            <a:r>
              <a:rPr lang="en-US" sz="1750" dirty="0">
                <a:solidFill>
                  <a:srgbClr val="383838"/>
                </a:solidFill>
                <a:latin typeface="PT Serif" pitchFamily="34" charset="0"/>
                <a:ea typeface="PT Serif" pitchFamily="34" charset="-122"/>
                <a:cs typeface="PT Serif" pitchFamily="34" charset="-120"/>
              </a:rPr>
              <a:t>Region Variable</a:t>
            </a:r>
            <a:endParaRPr lang="en-US" sz="1750" dirty="0"/>
          </a:p>
        </p:txBody>
      </p:sp>
      <p:sp>
        <p:nvSpPr>
          <p:cNvPr id="6" name="Text 4"/>
          <p:cNvSpPr/>
          <p:nvPr/>
        </p:nvSpPr>
        <p:spPr>
          <a:xfrm>
            <a:off x="963811" y="3175635"/>
            <a:ext cx="3894177" cy="680323"/>
          </a:xfrm>
          <a:prstGeom prst="rect">
            <a:avLst/>
          </a:prstGeom>
          <a:noFill/>
          <a:ln/>
        </p:spPr>
        <p:txBody>
          <a:bodyPr wrap="square" lIns="0" tIns="0" rIns="0" bIns="0" rtlCol="0" anchor="t"/>
          <a:lstStyle/>
          <a:p>
            <a:pPr marL="0" indent="0" algn="l">
              <a:lnSpc>
                <a:spcPts val="2650"/>
              </a:lnSpc>
              <a:buNone/>
            </a:pPr>
            <a:r>
              <a:rPr lang="en-US" sz="1650" b="1" dirty="0">
                <a:solidFill>
                  <a:srgbClr val="383838"/>
                </a:solidFill>
                <a:latin typeface="DM Sans" pitchFamily="34" charset="0"/>
                <a:ea typeface="DM Sans" pitchFamily="34" charset="-122"/>
                <a:cs typeface="DM Sans" pitchFamily="34" charset="-120"/>
              </a:rPr>
              <a:t>Categories:</a:t>
            </a:r>
            <a:r>
              <a:rPr lang="en-US" sz="1650" dirty="0">
                <a:solidFill>
                  <a:srgbClr val="383838"/>
                </a:solidFill>
                <a:latin typeface="DM Sans" pitchFamily="34" charset="0"/>
                <a:ea typeface="DM Sans" pitchFamily="34" charset="-122"/>
                <a:cs typeface="DM Sans" pitchFamily="34" charset="-120"/>
              </a:rPr>
              <a:t> East (E), West (W), North (N), South (S)</a:t>
            </a:r>
            <a:endParaRPr lang="en-US" sz="1650" dirty="0"/>
          </a:p>
        </p:txBody>
      </p:sp>
      <p:sp>
        <p:nvSpPr>
          <p:cNvPr id="7" name="Text 5"/>
          <p:cNvSpPr/>
          <p:nvPr/>
        </p:nvSpPr>
        <p:spPr>
          <a:xfrm>
            <a:off x="963811" y="3957995"/>
            <a:ext cx="3894177" cy="340162"/>
          </a:xfrm>
          <a:prstGeom prst="rect">
            <a:avLst/>
          </a:prstGeom>
          <a:noFill/>
          <a:ln/>
        </p:spPr>
        <p:txBody>
          <a:bodyPr wrap="none" lIns="0" tIns="0" rIns="0" bIns="0" rtlCol="0" anchor="t"/>
          <a:lstStyle/>
          <a:p>
            <a:pPr marL="0" indent="0" algn="l">
              <a:lnSpc>
                <a:spcPts val="2650"/>
              </a:lnSpc>
              <a:buNone/>
            </a:pPr>
            <a:r>
              <a:rPr lang="en-US" sz="1650" b="1" dirty="0">
                <a:solidFill>
                  <a:srgbClr val="E04F00"/>
                </a:solidFill>
                <a:latin typeface="DM Sans" pitchFamily="34" charset="0"/>
                <a:ea typeface="DM Sans" pitchFamily="34" charset="-122"/>
                <a:cs typeface="DM Sans" pitchFamily="34" charset="-120"/>
              </a:rPr>
              <a:t>Base Category:</a:t>
            </a:r>
            <a:r>
              <a:rPr lang="en-US" sz="1650" dirty="0">
                <a:solidFill>
                  <a:srgbClr val="383838"/>
                </a:solidFill>
                <a:latin typeface="DM Sans" pitchFamily="34" charset="0"/>
                <a:ea typeface="DM Sans" pitchFamily="34" charset="-122"/>
                <a:cs typeface="DM Sans" pitchFamily="34" charset="-120"/>
              </a:rPr>
              <a:t> East (E)</a:t>
            </a:r>
            <a:endParaRPr lang="en-US" sz="1650" dirty="0"/>
          </a:p>
        </p:txBody>
      </p:sp>
      <p:sp>
        <p:nvSpPr>
          <p:cNvPr id="8" name="Text 6"/>
          <p:cNvSpPr/>
          <p:nvPr/>
        </p:nvSpPr>
        <p:spPr>
          <a:xfrm>
            <a:off x="963811" y="4400193"/>
            <a:ext cx="3894177" cy="1020485"/>
          </a:xfrm>
          <a:prstGeom prst="rect">
            <a:avLst/>
          </a:prstGeom>
          <a:noFill/>
          <a:ln/>
        </p:spPr>
        <p:txBody>
          <a:bodyPr wrap="square" lIns="0" tIns="0" rIns="0" bIns="0" rtlCol="0" anchor="t"/>
          <a:lstStyle/>
          <a:p>
            <a:pPr marL="0" indent="0" algn="l">
              <a:lnSpc>
                <a:spcPts val="2650"/>
              </a:lnSpc>
              <a:buNone/>
            </a:pPr>
            <a:r>
              <a:rPr lang="en-US" sz="1650" dirty="0">
                <a:solidFill>
                  <a:srgbClr val="383838"/>
                </a:solidFill>
                <a:latin typeface="DM Sans" pitchFamily="34" charset="0"/>
                <a:ea typeface="DM Sans" pitchFamily="34" charset="-122"/>
                <a:cs typeface="DM Sans" pitchFamily="34" charset="-120"/>
              </a:rPr>
              <a:t>Coefficients for W, N, and S represent differences from the East region baseline.</a:t>
            </a:r>
            <a:endParaRPr lang="en-US" sz="1650" dirty="0"/>
          </a:p>
        </p:txBody>
      </p:sp>
      <p:sp>
        <p:nvSpPr>
          <p:cNvPr id="9" name="Shape 7"/>
          <p:cNvSpPr/>
          <p:nvPr/>
        </p:nvSpPr>
        <p:spPr>
          <a:xfrm>
            <a:off x="5198031" y="2624614"/>
            <a:ext cx="4234220" cy="2966085"/>
          </a:xfrm>
          <a:prstGeom prst="roundRect">
            <a:avLst>
              <a:gd name="adj" fmla="val 860"/>
            </a:avLst>
          </a:prstGeom>
          <a:solidFill>
            <a:srgbClr val="F2EEEE"/>
          </a:solidFill>
          <a:ln/>
        </p:spPr>
      </p:sp>
      <p:sp>
        <p:nvSpPr>
          <p:cNvPr id="10" name="Text 8"/>
          <p:cNvSpPr/>
          <p:nvPr/>
        </p:nvSpPr>
        <p:spPr>
          <a:xfrm>
            <a:off x="5368052" y="2794635"/>
            <a:ext cx="2232779" cy="278963"/>
          </a:xfrm>
          <a:prstGeom prst="rect">
            <a:avLst/>
          </a:prstGeom>
          <a:noFill/>
          <a:ln/>
        </p:spPr>
        <p:txBody>
          <a:bodyPr wrap="none" lIns="0" tIns="0" rIns="0" bIns="0" rtlCol="0" anchor="t"/>
          <a:lstStyle/>
          <a:p>
            <a:pPr marL="0" indent="0" algn="l">
              <a:lnSpc>
                <a:spcPts val="2150"/>
              </a:lnSpc>
              <a:buNone/>
            </a:pPr>
            <a:r>
              <a:rPr lang="en-US" sz="1750" dirty="0">
                <a:solidFill>
                  <a:srgbClr val="383838"/>
                </a:solidFill>
                <a:latin typeface="PT Serif" pitchFamily="34" charset="0"/>
                <a:ea typeface="PT Serif" pitchFamily="34" charset="-122"/>
                <a:cs typeface="PT Serif" pitchFamily="34" charset="-120"/>
              </a:rPr>
              <a:t>Tier Variable</a:t>
            </a:r>
            <a:endParaRPr lang="en-US" sz="1750" dirty="0"/>
          </a:p>
        </p:txBody>
      </p:sp>
      <p:sp>
        <p:nvSpPr>
          <p:cNvPr id="11" name="Text 9"/>
          <p:cNvSpPr/>
          <p:nvPr/>
        </p:nvSpPr>
        <p:spPr>
          <a:xfrm>
            <a:off x="5368052" y="3175635"/>
            <a:ext cx="3894177" cy="340162"/>
          </a:xfrm>
          <a:prstGeom prst="rect">
            <a:avLst/>
          </a:prstGeom>
          <a:noFill/>
          <a:ln/>
        </p:spPr>
        <p:txBody>
          <a:bodyPr wrap="none" lIns="0" tIns="0" rIns="0" bIns="0" rtlCol="0" anchor="t"/>
          <a:lstStyle/>
          <a:p>
            <a:pPr marL="0" indent="0" algn="l">
              <a:lnSpc>
                <a:spcPts val="2650"/>
              </a:lnSpc>
              <a:buNone/>
            </a:pPr>
            <a:r>
              <a:rPr lang="en-US" sz="1650" b="1" dirty="0">
                <a:solidFill>
                  <a:srgbClr val="383838"/>
                </a:solidFill>
                <a:latin typeface="DM Sans" pitchFamily="34" charset="0"/>
                <a:ea typeface="DM Sans" pitchFamily="34" charset="-122"/>
                <a:cs typeface="DM Sans" pitchFamily="34" charset="-120"/>
              </a:rPr>
              <a:t>Categories:</a:t>
            </a:r>
            <a:r>
              <a:rPr lang="en-US" sz="1650" dirty="0">
                <a:solidFill>
                  <a:srgbClr val="383838"/>
                </a:solidFill>
                <a:latin typeface="DM Sans" pitchFamily="34" charset="0"/>
                <a:ea typeface="DM Sans" pitchFamily="34" charset="-122"/>
                <a:cs typeface="DM Sans" pitchFamily="34" charset="-120"/>
              </a:rPr>
              <a:t> Platinum, Gold, Silver</a:t>
            </a:r>
            <a:endParaRPr lang="en-US" sz="1650" dirty="0"/>
          </a:p>
        </p:txBody>
      </p:sp>
      <p:sp>
        <p:nvSpPr>
          <p:cNvPr id="12" name="Text 10"/>
          <p:cNvSpPr/>
          <p:nvPr/>
        </p:nvSpPr>
        <p:spPr>
          <a:xfrm>
            <a:off x="5368052" y="3617833"/>
            <a:ext cx="3894177" cy="340162"/>
          </a:xfrm>
          <a:prstGeom prst="rect">
            <a:avLst/>
          </a:prstGeom>
          <a:noFill/>
          <a:ln/>
        </p:spPr>
        <p:txBody>
          <a:bodyPr wrap="none" lIns="0" tIns="0" rIns="0" bIns="0" rtlCol="0" anchor="t"/>
          <a:lstStyle/>
          <a:p>
            <a:pPr marL="0" indent="0" algn="l">
              <a:lnSpc>
                <a:spcPts val="2650"/>
              </a:lnSpc>
              <a:buNone/>
            </a:pPr>
            <a:r>
              <a:rPr lang="en-US" sz="1650" b="1" dirty="0">
                <a:solidFill>
                  <a:srgbClr val="E04F00"/>
                </a:solidFill>
                <a:latin typeface="DM Sans" pitchFamily="34" charset="0"/>
                <a:ea typeface="DM Sans" pitchFamily="34" charset="-122"/>
                <a:cs typeface="DM Sans" pitchFamily="34" charset="-120"/>
              </a:rPr>
              <a:t>Base Category:</a:t>
            </a:r>
            <a:r>
              <a:rPr lang="en-US" sz="1650" dirty="0">
                <a:solidFill>
                  <a:srgbClr val="383838"/>
                </a:solidFill>
                <a:latin typeface="DM Sans" pitchFamily="34" charset="0"/>
                <a:ea typeface="DM Sans" pitchFamily="34" charset="-122"/>
                <a:cs typeface="DM Sans" pitchFamily="34" charset="-120"/>
              </a:rPr>
              <a:t> Gold</a:t>
            </a:r>
            <a:endParaRPr lang="en-US" sz="1650" dirty="0"/>
          </a:p>
        </p:txBody>
      </p:sp>
      <p:sp>
        <p:nvSpPr>
          <p:cNvPr id="13" name="Text 11"/>
          <p:cNvSpPr/>
          <p:nvPr/>
        </p:nvSpPr>
        <p:spPr>
          <a:xfrm>
            <a:off x="5368052" y="4060031"/>
            <a:ext cx="3894177" cy="1020485"/>
          </a:xfrm>
          <a:prstGeom prst="rect">
            <a:avLst/>
          </a:prstGeom>
          <a:noFill/>
          <a:ln/>
        </p:spPr>
        <p:txBody>
          <a:bodyPr wrap="square" lIns="0" tIns="0" rIns="0" bIns="0" rtlCol="0" anchor="t"/>
          <a:lstStyle/>
          <a:p>
            <a:pPr marL="0" indent="0" algn="l">
              <a:lnSpc>
                <a:spcPts val="2650"/>
              </a:lnSpc>
              <a:buNone/>
            </a:pPr>
            <a:r>
              <a:rPr lang="en-US" sz="1650" dirty="0">
                <a:solidFill>
                  <a:srgbClr val="383838"/>
                </a:solidFill>
                <a:latin typeface="DM Sans" pitchFamily="34" charset="0"/>
                <a:ea typeface="DM Sans" pitchFamily="34" charset="-122"/>
                <a:cs typeface="DM Sans" pitchFamily="34" charset="-120"/>
              </a:rPr>
              <a:t>Platinum and Silver coefficients show complaint patterns relative to Gold tier customers.</a:t>
            </a:r>
            <a:endParaRPr lang="en-US" sz="1650" dirty="0"/>
          </a:p>
        </p:txBody>
      </p:sp>
      <p:sp>
        <p:nvSpPr>
          <p:cNvPr id="14" name="Shape 12"/>
          <p:cNvSpPr/>
          <p:nvPr/>
        </p:nvSpPr>
        <p:spPr>
          <a:xfrm>
            <a:off x="9602272" y="2624614"/>
            <a:ext cx="4234220" cy="2966085"/>
          </a:xfrm>
          <a:prstGeom prst="roundRect">
            <a:avLst>
              <a:gd name="adj" fmla="val 860"/>
            </a:avLst>
          </a:prstGeom>
          <a:solidFill>
            <a:srgbClr val="F2EEEE"/>
          </a:solidFill>
          <a:ln/>
        </p:spPr>
      </p:sp>
      <p:sp>
        <p:nvSpPr>
          <p:cNvPr id="15" name="Text 13"/>
          <p:cNvSpPr/>
          <p:nvPr/>
        </p:nvSpPr>
        <p:spPr>
          <a:xfrm>
            <a:off x="9772293" y="2794635"/>
            <a:ext cx="2232779" cy="278963"/>
          </a:xfrm>
          <a:prstGeom prst="rect">
            <a:avLst/>
          </a:prstGeom>
          <a:noFill/>
          <a:ln/>
        </p:spPr>
        <p:txBody>
          <a:bodyPr wrap="none" lIns="0" tIns="0" rIns="0" bIns="0" rtlCol="0" anchor="t"/>
          <a:lstStyle/>
          <a:p>
            <a:pPr marL="0" indent="0" algn="l">
              <a:lnSpc>
                <a:spcPts val="2150"/>
              </a:lnSpc>
              <a:buNone/>
            </a:pPr>
            <a:r>
              <a:rPr lang="en-US" sz="1750" dirty="0">
                <a:solidFill>
                  <a:srgbClr val="383838"/>
                </a:solidFill>
                <a:latin typeface="PT Serif" pitchFamily="34" charset="0"/>
                <a:ea typeface="PT Serif" pitchFamily="34" charset="-122"/>
                <a:cs typeface="PT Serif" pitchFamily="34" charset="-120"/>
              </a:rPr>
              <a:t>Age Variable</a:t>
            </a:r>
            <a:endParaRPr lang="en-US" sz="1750" dirty="0"/>
          </a:p>
        </p:txBody>
      </p:sp>
      <p:sp>
        <p:nvSpPr>
          <p:cNvPr id="16" name="Text 14"/>
          <p:cNvSpPr/>
          <p:nvPr/>
        </p:nvSpPr>
        <p:spPr>
          <a:xfrm>
            <a:off x="9772293" y="3175635"/>
            <a:ext cx="3894177" cy="340162"/>
          </a:xfrm>
          <a:prstGeom prst="rect">
            <a:avLst/>
          </a:prstGeom>
          <a:noFill/>
          <a:ln/>
        </p:spPr>
        <p:txBody>
          <a:bodyPr wrap="none" lIns="0" tIns="0" rIns="0" bIns="0" rtlCol="0" anchor="t"/>
          <a:lstStyle/>
          <a:p>
            <a:pPr marL="0" indent="0" algn="l">
              <a:lnSpc>
                <a:spcPts val="2650"/>
              </a:lnSpc>
              <a:buNone/>
            </a:pPr>
            <a:r>
              <a:rPr lang="en-US" sz="1650" b="1" dirty="0">
                <a:solidFill>
                  <a:srgbClr val="383838"/>
                </a:solidFill>
                <a:latin typeface="DM Sans" pitchFamily="34" charset="0"/>
                <a:ea typeface="DM Sans" pitchFamily="34" charset="-122"/>
                <a:cs typeface="DM Sans" pitchFamily="34" charset="-120"/>
              </a:rPr>
              <a:t>Categories:</a:t>
            </a:r>
            <a:r>
              <a:rPr lang="en-US" sz="1650" dirty="0">
                <a:solidFill>
                  <a:srgbClr val="383838"/>
                </a:solidFill>
                <a:latin typeface="DM Sans" pitchFamily="34" charset="0"/>
                <a:ea typeface="DM Sans" pitchFamily="34" charset="-122"/>
                <a:cs typeface="DM Sans" pitchFamily="34" charset="-120"/>
              </a:rPr>
              <a:t> less2, more2</a:t>
            </a:r>
            <a:endParaRPr lang="en-US" sz="1650" dirty="0"/>
          </a:p>
        </p:txBody>
      </p:sp>
      <p:sp>
        <p:nvSpPr>
          <p:cNvPr id="17" name="Text 15"/>
          <p:cNvSpPr/>
          <p:nvPr/>
        </p:nvSpPr>
        <p:spPr>
          <a:xfrm>
            <a:off x="9772293" y="3617833"/>
            <a:ext cx="3894177" cy="340162"/>
          </a:xfrm>
          <a:prstGeom prst="rect">
            <a:avLst/>
          </a:prstGeom>
          <a:noFill/>
          <a:ln/>
        </p:spPr>
        <p:txBody>
          <a:bodyPr wrap="none" lIns="0" tIns="0" rIns="0" bIns="0" rtlCol="0" anchor="t"/>
          <a:lstStyle/>
          <a:p>
            <a:pPr marL="0" indent="0" algn="l">
              <a:lnSpc>
                <a:spcPts val="2650"/>
              </a:lnSpc>
              <a:buNone/>
            </a:pPr>
            <a:r>
              <a:rPr lang="en-US" sz="1650" b="1" dirty="0">
                <a:solidFill>
                  <a:srgbClr val="E04F00"/>
                </a:solidFill>
                <a:latin typeface="DM Sans" pitchFamily="34" charset="0"/>
                <a:ea typeface="DM Sans" pitchFamily="34" charset="-122"/>
                <a:cs typeface="DM Sans" pitchFamily="34" charset="-120"/>
              </a:rPr>
              <a:t>Base Category:</a:t>
            </a:r>
            <a:r>
              <a:rPr lang="en-US" sz="1650" dirty="0">
                <a:solidFill>
                  <a:srgbClr val="383838"/>
                </a:solidFill>
                <a:latin typeface="DM Sans" pitchFamily="34" charset="0"/>
                <a:ea typeface="DM Sans" pitchFamily="34" charset="-122"/>
                <a:cs typeface="DM Sans" pitchFamily="34" charset="-120"/>
              </a:rPr>
              <a:t> less2</a:t>
            </a:r>
            <a:endParaRPr lang="en-US" sz="1650" dirty="0"/>
          </a:p>
        </p:txBody>
      </p:sp>
      <p:sp>
        <p:nvSpPr>
          <p:cNvPr id="18" name="Text 16"/>
          <p:cNvSpPr/>
          <p:nvPr/>
        </p:nvSpPr>
        <p:spPr>
          <a:xfrm>
            <a:off x="9772293" y="4060031"/>
            <a:ext cx="3894177" cy="1020485"/>
          </a:xfrm>
          <a:prstGeom prst="rect">
            <a:avLst/>
          </a:prstGeom>
          <a:noFill/>
          <a:ln/>
        </p:spPr>
        <p:txBody>
          <a:bodyPr wrap="square" lIns="0" tIns="0" rIns="0" bIns="0" rtlCol="0" anchor="t"/>
          <a:lstStyle/>
          <a:p>
            <a:pPr marL="0" indent="0" algn="l">
              <a:lnSpc>
                <a:spcPts val="2650"/>
              </a:lnSpc>
              <a:buNone/>
            </a:pPr>
            <a:r>
              <a:rPr lang="en-US" sz="1650" dirty="0">
                <a:solidFill>
                  <a:srgbClr val="383838"/>
                </a:solidFill>
                <a:latin typeface="DM Sans" pitchFamily="34" charset="0"/>
                <a:ea typeface="DM Sans" pitchFamily="34" charset="-122"/>
                <a:cs typeface="DM Sans" pitchFamily="34" charset="-120"/>
              </a:rPr>
              <a:t>The more2 coefficient indicates how longer-tenure customers differ from newer ones.</a:t>
            </a:r>
            <a:endParaRPr lang="en-US" sz="1650" dirty="0"/>
          </a:p>
        </p:txBody>
      </p:sp>
      <p:sp>
        <p:nvSpPr>
          <p:cNvPr id="19" name="Shape 17"/>
          <p:cNvSpPr/>
          <p:nvPr/>
        </p:nvSpPr>
        <p:spPr>
          <a:xfrm>
            <a:off x="793790" y="5782032"/>
            <a:ext cx="13042821" cy="1130856"/>
          </a:xfrm>
          <a:prstGeom prst="roundRect">
            <a:avLst>
              <a:gd name="adj" fmla="val 2257"/>
            </a:avLst>
          </a:prstGeom>
          <a:solidFill>
            <a:srgbClr val="FFCDB3"/>
          </a:solidFill>
          <a:ln/>
        </p:spPr>
      </p:sp>
      <p:pic>
        <p:nvPicPr>
          <p:cNvPr id="20" name="Image 0" descr="preencoded.png"/>
          <p:cNvPicPr>
            <a:picLocks noChangeAspect="1"/>
          </p:cNvPicPr>
          <p:nvPr/>
        </p:nvPicPr>
        <p:blipFill>
          <a:blip r:embed="rId3"/>
          <a:stretch>
            <a:fillRect/>
          </a:stretch>
        </p:blipFill>
        <p:spPr>
          <a:xfrm>
            <a:off x="963811" y="6044684"/>
            <a:ext cx="265748" cy="212646"/>
          </a:xfrm>
          <a:prstGeom prst="rect">
            <a:avLst/>
          </a:prstGeom>
        </p:spPr>
      </p:pic>
      <p:sp>
        <p:nvSpPr>
          <p:cNvPr id="21" name="Text 18"/>
          <p:cNvSpPr/>
          <p:nvPr/>
        </p:nvSpPr>
        <p:spPr>
          <a:xfrm>
            <a:off x="1399580" y="5994559"/>
            <a:ext cx="12267009" cy="680323"/>
          </a:xfrm>
          <a:prstGeom prst="rect">
            <a:avLst/>
          </a:prstGeom>
          <a:noFill/>
          <a:ln/>
        </p:spPr>
        <p:txBody>
          <a:bodyPr wrap="square" lIns="0" tIns="0" rIns="0" bIns="0" rtlCol="0" anchor="t"/>
          <a:lstStyle/>
          <a:p>
            <a:pPr marL="0" indent="0" algn="l">
              <a:lnSpc>
                <a:spcPts val="2650"/>
              </a:lnSpc>
              <a:buNone/>
            </a:pPr>
            <a:r>
              <a:rPr lang="en-US" sz="1650" b="1" dirty="0">
                <a:solidFill>
                  <a:srgbClr val="000000"/>
                </a:solidFill>
                <a:latin typeface="DM Sans" pitchFamily="34" charset="0"/>
                <a:ea typeface="DM Sans" pitchFamily="34" charset="-122"/>
                <a:cs typeface="DM Sans" pitchFamily="34" charset="-120"/>
              </a:rPr>
              <a:t>Important:</a:t>
            </a:r>
            <a:r>
              <a:rPr lang="en-US" sz="1650" dirty="0">
                <a:solidFill>
                  <a:srgbClr val="000000"/>
                </a:solidFill>
                <a:latin typeface="DM Sans" pitchFamily="34" charset="0"/>
                <a:ea typeface="DM Sans" pitchFamily="34" charset="-122"/>
                <a:cs typeface="DM Sans" pitchFamily="34" charset="-120"/>
              </a:rPr>
              <a:t> Base categories are excluded from the model to avoid multicollinearity. Their effect is captured in the intercept term, while other categories show relative differences.</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E5F09-E203-E5E5-074B-2638AC122CD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DDC6C56-2F5D-EBEC-7845-B48430ABB4F7}"/>
              </a:ext>
            </a:extLst>
          </p:cNvPr>
          <p:cNvSpPr/>
          <p:nvPr/>
        </p:nvSpPr>
        <p:spPr>
          <a:xfrm>
            <a:off x="793790" y="859750"/>
            <a:ext cx="5060990" cy="632579"/>
          </a:xfrm>
          <a:prstGeom prst="rect">
            <a:avLst/>
          </a:prstGeom>
          <a:noFill/>
          <a:ln/>
        </p:spPr>
        <p:txBody>
          <a:bodyPr wrap="none" lIns="0" tIns="0" rIns="0" bIns="0" rtlCol="0" anchor="t"/>
          <a:lstStyle/>
          <a:p>
            <a:pPr>
              <a:lnSpc>
                <a:spcPts val="4950"/>
              </a:lnSpc>
            </a:pPr>
            <a:r>
              <a:rPr lang="en-US" sz="3750" dirty="0">
                <a:latin typeface="PT Serif" panose="020A0603040505020204" pitchFamily="18" charset="0"/>
              </a:rPr>
              <a:t>Model for the Case Study</a:t>
            </a:r>
          </a:p>
        </p:txBody>
      </p:sp>
      <p:sp>
        <p:nvSpPr>
          <p:cNvPr id="28" name="TextBox 27">
            <a:extLst>
              <a:ext uri="{FF2B5EF4-FFF2-40B4-BE49-F238E27FC236}">
                <a16:creationId xmlns:a16="http://schemas.microsoft.com/office/drawing/2014/main" id="{9222B4C7-B8B8-441F-15BD-E38BC9C12794}"/>
              </a:ext>
            </a:extLst>
          </p:cNvPr>
          <p:cNvSpPr txBox="1"/>
          <p:nvPr/>
        </p:nvSpPr>
        <p:spPr>
          <a:xfrm>
            <a:off x="793790" y="2128477"/>
            <a:ext cx="9973875" cy="677108"/>
          </a:xfrm>
          <a:prstGeom prst="rect">
            <a:avLst/>
          </a:prstGeom>
          <a:noFill/>
        </p:spPr>
        <p:txBody>
          <a:bodyPr wrap="square" rtlCol="0">
            <a:spAutoFit/>
          </a:bodyPr>
          <a:lstStyle/>
          <a:p>
            <a:r>
              <a:rPr lang="en-US" sz="2000" dirty="0">
                <a:solidFill>
                  <a:schemeClr val="tx1">
                    <a:lumMod val="75000"/>
                    <a:lumOff val="25000"/>
                  </a:schemeClr>
                </a:solidFill>
                <a:latin typeface="DM Sans" pitchFamily="2" charset="0"/>
              </a:rPr>
              <a:t>The Poisson regression model is :</a:t>
            </a:r>
          </a:p>
          <a:p>
            <a:endParaRPr lang="en-IN" dirty="0"/>
          </a:p>
        </p:txBody>
      </p:sp>
      <p:pic>
        <p:nvPicPr>
          <p:cNvPr id="30" name="Picture 29">
            <a:extLst>
              <a:ext uri="{FF2B5EF4-FFF2-40B4-BE49-F238E27FC236}">
                <a16:creationId xmlns:a16="http://schemas.microsoft.com/office/drawing/2014/main" id="{D5C8783C-CE4E-A878-C303-19ABD8A35897}"/>
              </a:ext>
            </a:extLst>
          </p:cNvPr>
          <p:cNvPicPr>
            <a:picLocks noChangeAspect="1"/>
          </p:cNvPicPr>
          <p:nvPr/>
        </p:nvPicPr>
        <p:blipFill>
          <a:blip r:embed="rId3"/>
          <a:stretch>
            <a:fillRect/>
          </a:stretch>
        </p:blipFill>
        <p:spPr>
          <a:xfrm>
            <a:off x="1842946" y="2793274"/>
            <a:ext cx="9199010" cy="3361637"/>
          </a:xfrm>
          <a:prstGeom prst="rect">
            <a:avLst/>
          </a:prstGeom>
        </p:spPr>
      </p:pic>
    </p:spTree>
    <p:extLst>
      <p:ext uri="{BB962C8B-B14F-4D97-AF65-F5344CB8AC3E}">
        <p14:creationId xmlns:p14="http://schemas.microsoft.com/office/powerpoint/2010/main" val="465898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35819"/>
            <a:ext cx="4373047" cy="483751"/>
          </a:xfrm>
          <a:prstGeom prst="rect">
            <a:avLst/>
          </a:prstGeom>
          <a:noFill/>
          <a:ln/>
        </p:spPr>
        <p:txBody>
          <a:bodyPr wrap="none" lIns="0" tIns="0" rIns="0" bIns="0" rtlCol="0" anchor="t"/>
          <a:lstStyle/>
          <a:p>
            <a:pPr marL="0" indent="0" algn="l">
              <a:lnSpc>
                <a:spcPts val="3800"/>
              </a:lnSpc>
              <a:buNone/>
            </a:pPr>
            <a:r>
              <a:rPr lang="en-US" sz="3750" dirty="0">
                <a:solidFill>
                  <a:srgbClr val="020202"/>
                </a:solidFill>
                <a:latin typeface="PT Serif" pitchFamily="34" charset="0"/>
                <a:ea typeface="PT Serif" pitchFamily="34" charset="-122"/>
                <a:cs typeface="PT Serif" pitchFamily="34" charset="-120"/>
              </a:rPr>
              <a:t>Estimation of Parameters</a:t>
            </a:r>
            <a:endParaRPr lang="en-US" sz="3750" dirty="0"/>
          </a:p>
        </p:txBody>
      </p:sp>
      <p:sp>
        <p:nvSpPr>
          <p:cNvPr id="3" name="Text 1"/>
          <p:cNvSpPr/>
          <p:nvPr/>
        </p:nvSpPr>
        <p:spPr>
          <a:xfrm>
            <a:off x="793790" y="1378506"/>
            <a:ext cx="2322076" cy="290155"/>
          </a:xfrm>
          <a:prstGeom prst="rect">
            <a:avLst/>
          </a:prstGeom>
          <a:noFill/>
          <a:ln/>
        </p:spPr>
        <p:txBody>
          <a:bodyPr wrap="none" lIns="0" tIns="0" rIns="0" bIns="0" rtlCol="0" anchor="t"/>
          <a:lstStyle/>
          <a:p>
            <a:pPr marL="0" indent="0" algn="l">
              <a:lnSpc>
                <a:spcPts val="2250"/>
              </a:lnSpc>
              <a:buNone/>
            </a:pPr>
            <a:r>
              <a:rPr lang="en-US" dirty="0">
                <a:solidFill>
                  <a:srgbClr val="020202"/>
                </a:solidFill>
                <a:latin typeface="PT Serif" pitchFamily="34" charset="0"/>
                <a:ea typeface="PT Serif" pitchFamily="34" charset="-122"/>
                <a:cs typeface="PT Serif" pitchFamily="34" charset="-120"/>
              </a:rPr>
              <a:t>Model Output</a:t>
            </a:r>
            <a:endParaRPr lang="en-US" dirty="0"/>
          </a:p>
        </p:txBody>
      </p:sp>
      <p:sp>
        <p:nvSpPr>
          <p:cNvPr id="4" name="Text 2"/>
          <p:cNvSpPr/>
          <p:nvPr/>
        </p:nvSpPr>
        <p:spPr>
          <a:xfrm>
            <a:off x="793790" y="1889760"/>
            <a:ext cx="13042821" cy="294799"/>
          </a:xfrm>
          <a:prstGeom prst="rect">
            <a:avLst/>
          </a:prstGeom>
          <a:noFill/>
          <a:ln/>
        </p:spPr>
        <p:txBody>
          <a:bodyPr wrap="none" lIns="0" tIns="0" rIns="0" bIns="0" rtlCol="0" anchor="t"/>
          <a:lstStyle/>
          <a:p>
            <a:pPr marL="0" indent="0" algn="l">
              <a:lnSpc>
                <a:spcPts val="2300"/>
              </a:lnSpc>
              <a:buNone/>
            </a:pPr>
            <a:r>
              <a:rPr lang="en-US" sz="1600" dirty="0">
                <a:solidFill>
                  <a:srgbClr val="383838"/>
                </a:solidFill>
                <a:latin typeface="DM Sans" pitchFamily="34" charset="0"/>
                <a:ea typeface="DM Sans" pitchFamily="34" charset="-122"/>
                <a:cs typeface="DM Sans" pitchFamily="34" charset="-120"/>
              </a:rPr>
              <a:t>The following table presents the estimated coefficients, standard errors, z-values, and p-values for each predictor in the Poisson regression model.</a:t>
            </a:r>
            <a:endParaRPr lang="en-US" sz="1600" dirty="0"/>
          </a:p>
        </p:txBody>
      </p:sp>
      <p:sp>
        <p:nvSpPr>
          <p:cNvPr id="5" name="Shape 3"/>
          <p:cNvSpPr/>
          <p:nvPr/>
        </p:nvSpPr>
        <p:spPr>
          <a:xfrm>
            <a:off x="793790" y="2350413"/>
            <a:ext cx="13042821" cy="3436620"/>
          </a:xfrm>
          <a:prstGeom prst="roundRect">
            <a:avLst>
              <a:gd name="adj" fmla="val 644"/>
            </a:avLst>
          </a:prstGeom>
          <a:noFill/>
          <a:ln w="7620">
            <a:solidFill>
              <a:srgbClr val="000000">
                <a:alpha val="8000"/>
              </a:srgbClr>
            </a:solidFill>
            <a:prstDash val="solid"/>
          </a:ln>
        </p:spPr>
      </p:sp>
      <p:sp>
        <p:nvSpPr>
          <p:cNvPr id="6" name="Shape 4"/>
          <p:cNvSpPr/>
          <p:nvPr/>
        </p:nvSpPr>
        <p:spPr>
          <a:xfrm>
            <a:off x="801410" y="2358033"/>
            <a:ext cx="13027581" cy="427673"/>
          </a:xfrm>
          <a:prstGeom prst="rect">
            <a:avLst/>
          </a:prstGeom>
          <a:solidFill>
            <a:srgbClr val="FFFFFF">
              <a:alpha val="4000"/>
            </a:srgbClr>
          </a:solidFill>
          <a:ln/>
        </p:spPr>
      </p:sp>
      <p:sp>
        <p:nvSpPr>
          <p:cNvPr id="7" name="Text 5"/>
          <p:cNvSpPr/>
          <p:nvPr/>
        </p:nvSpPr>
        <p:spPr>
          <a:xfrm>
            <a:off x="949166" y="2453997"/>
            <a:ext cx="2306836" cy="235744"/>
          </a:xfrm>
          <a:prstGeom prst="rect">
            <a:avLst/>
          </a:prstGeom>
          <a:noFill/>
          <a:ln/>
        </p:spPr>
        <p:txBody>
          <a:bodyPr wrap="none" lIns="0" tIns="0" rIns="0" bIns="0" rtlCol="0" anchor="t"/>
          <a:lstStyle/>
          <a:p>
            <a:pPr marL="0" indent="0" algn="l">
              <a:lnSpc>
                <a:spcPts val="1850"/>
              </a:lnSpc>
              <a:buNone/>
            </a:pPr>
            <a:r>
              <a:rPr lang="en-US" sz="1150" b="1" dirty="0">
                <a:solidFill>
                  <a:srgbClr val="383838"/>
                </a:solidFill>
                <a:latin typeface="DM Sans" pitchFamily="34" charset="0"/>
                <a:ea typeface="DM Sans" pitchFamily="34" charset="-122"/>
                <a:cs typeface="DM Sans" pitchFamily="34" charset="-120"/>
              </a:rPr>
              <a:t>Variable</a:t>
            </a:r>
            <a:endParaRPr lang="en-US" sz="1150" dirty="0"/>
          </a:p>
        </p:txBody>
      </p:sp>
      <p:sp>
        <p:nvSpPr>
          <p:cNvPr id="8" name="Text 6"/>
          <p:cNvSpPr/>
          <p:nvPr/>
        </p:nvSpPr>
        <p:spPr>
          <a:xfrm>
            <a:off x="3558421" y="2453997"/>
            <a:ext cx="2303026" cy="235744"/>
          </a:xfrm>
          <a:prstGeom prst="rect">
            <a:avLst/>
          </a:prstGeom>
          <a:noFill/>
          <a:ln/>
        </p:spPr>
        <p:txBody>
          <a:bodyPr wrap="none" lIns="0" tIns="0" rIns="0" bIns="0" rtlCol="0" anchor="t"/>
          <a:lstStyle/>
          <a:p>
            <a:pPr marL="0" indent="0" algn="l">
              <a:lnSpc>
                <a:spcPts val="1850"/>
              </a:lnSpc>
              <a:buNone/>
            </a:pPr>
            <a:r>
              <a:rPr lang="en-US" sz="1150" b="1" dirty="0">
                <a:solidFill>
                  <a:srgbClr val="383838"/>
                </a:solidFill>
                <a:latin typeface="DM Sans" pitchFamily="34" charset="0"/>
                <a:ea typeface="DM Sans" pitchFamily="34" charset="-122"/>
                <a:cs typeface="DM Sans" pitchFamily="34" charset="-120"/>
              </a:rPr>
              <a:t>Estimate</a:t>
            </a:r>
            <a:endParaRPr lang="en-US" sz="1150" dirty="0"/>
          </a:p>
        </p:txBody>
      </p:sp>
      <p:sp>
        <p:nvSpPr>
          <p:cNvPr id="9" name="Text 7"/>
          <p:cNvSpPr/>
          <p:nvPr/>
        </p:nvSpPr>
        <p:spPr>
          <a:xfrm>
            <a:off x="6163866" y="2453997"/>
            <a:ext cx="2303026" cy="235744"/>
          </a:xfrm>
          <a:prstGeom prst="rect">
            <a:avLst/>
          </a:prstGeom>
          <a:noFill/>
          <a:ln/>
        </p:spPr>
        <p:txBody>
          <a:bodyPr wrap="none" lIns="0" tIns="0" rIns="0" bIns="0" rtlCol="0" anchor="t"/>
          <a:lstStyle/>
          <a:p>
            <a:pPr marL="0" indent="0" algn="l">
              <a:lnSpc>
                <a:spcPts val="1850"/>
              </a:lnSpc>
              <a:buNone/>
            </a:pPr>
            <a:r>
              <a:rPr lang="en-US" sz="1150" b="1" dirty="0">
                <a:solidFill>
                  <a:srgbClr val="383838"/>
                </a:solidFill>
                <a:latin typeface="DM Sans" pitchFamily="34" charset="0"/>
                <a:ea typeface="DM Sans" pitchFamily="34" charset="-122"/>
                <a:cs typeface="DM Sans" pitchFamily="34" charset="-120"/>
              </a:rPr>
              <a:t>Std. Error</a:t>
            </a:r>
            <a:endParaRPr lang="en-US" sz="1150" dirty="0"/>
          </a:p>
        </p:txBody>
      </p:sp>
      <p:sp>
        <p:nvSpPr>
          <p:cNvPr id="10" name="Text 8"/>
          <p:cNvSpPr/>
          <p:nvPr/>
        </p:nvSpPr>
        <p:spPr>
          <a:xfrm>
            <a:off x="8769310" y="2453997"/>
            <a:ext cx="2303026" cy="235744"/>
          </a:xfrm>
          <a:prstGeom prst="rect">
            <a:avLst/>
          </a:prstGeom>
          <a:noFill/>
          <a:ln/>
        </p:spPr>
        <p:txBody>
          <a:bodyPr wrap="none" lIns="0" tIns="0" rIns="0" bIns="0" rtlCol="0" anchor="t"/>
          <a:lstStyle/>
          <a:p>
            <a:pPr marL="0" indent="0" algn="l">
              <a:lnSpc>
                <a:spcPts val="1850"/>
              </a:lnSpc>
              <a:buNone/>
            </a:pPr>
            <a:r>
              <a:rPr lang="en-US" sz="1150" b="1" dirty="0">
                <a:solidFill>
                  <a:srgbClr val="383838"/>
                </a:solidFill>
                <a:latin typeface="DM Sans" pitchFamily="34" charset="0"/>
                <a:ea typeface="DM Sans" pitchFamily="34" charset="-122"/>
                <a:cs typeface="DM Sans" pitchFamily="34" charset="-120"/>
              </a:rPr>
              <a:t>z value</a:t>
            </a:r>
            <a:endParaRPr lang="en-US" sz="1150" dirty="0"/>
          </a:p>
        </p:txBody>
      </p:sp>
      <p:sp>
        <p:nvSpPr>
          <p:cNvPr id="11" name="Text 9"/>
          <p:cNvSpPr/>
          <p:nvPr/>
        </p:nvSpPr>
        <p:spPr>
          <a:xfrm>
            <a:off x="11374755" y="2453997"/>
            <a:ext cx="2306836" cy="235744"/>
          </a:xfrm>
          <a:prstGeom prst="rect">
            <a:avLst/>
          </a:prstGeom>
          <a:noFill/>
          <a:ln/>
        </p:spPr>
        <p:txBody>
          <a:bodyPr wrap="none" lIns="0" tIns="0" rIns="0" bIns="0" rtlCol="0" anchor="t"/>
          <a:lstStyle/>
          <a:p>
            <a:pPr marL="0" indent="0" algn="l">
              <a:lnSpc>
                <a:spcPts val="1850"/>
              </a:lnSpc>
              <a:buNone/>
            </a:pPr>
            <a:r>
              <a:rPr lang="en-US" sz="1150" b="1" dirty="0">
                <a:solidFill>
                  <a:srgbClr val="383838"/>
                </a:solidFill>
                <a:latin typeface="DM Sans" pitchFamily="34" charset="0"/>
                <a:ea typeface="DM Sans" pitchFamily="34" charset="-122"/>
                <a:cs typeface="DM Sans" pitchFamily="34" charset="-120"/>
              </a:rPr>
              <a:t>Pr(&gt;|z|)</a:t>
            </a:r>
            <a:endParaRPr lang="en-US" sz="1150" dirty="0"/>
          </a:p>
        </p:txBody>
      </p:sp>
      <p:sp>
        <p:nvSpPr>
          <p:cNvPr id="12" name="Shape 10"/>
          <p:cNvSpPr/>
          <p:nvPr/>
        </p:nvSpPr>
        <p:spPr>
          <a:xfrm>
            <a:off x="801410" y="2785705"/>
            <a:ext cx="13027581" cy="427673"/>
          </a:xfrm>
          <a:prstGeom prst="rect">
            <a:avLst/>
          </a:prstGeom>
          <a:solidFill>
            <a:srgbClr val="000000">
              <a:alpha val="4000"/>
            </a:srgbClr>
          </a:solidFill>
          <a:ln/>
        </p:spPr>
      </p:sp>
      <p:sp>
        <p:nvSpPr>
          <p:cNvPr id="13" name="Text 11"/>
          <p:cNvSpPr/>
          <p:nvPr/>
        </p:nvSpPr>
        <p:spPr>
          <a:xfrm>
            <a:off x="949166" y="2881670"/>
            <a:ext cx="230683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(Intercept)</a:t>
            </a:r>
            <a:endParaRPr lang="en-US" sz="1150" dirty="0"/>
          </a:p>
        </p:txBody>
      </p:sp>
      <p:sp>
        <p:nvSpPr>
          <p:cNvPr id="14" name="Text 12"/>
          <p:cNvSpPr/>
          <p:nvPr/>
        </p:nvSpPr>
        <p:spPr>
          <a:xfrm>
            <a:off x="3558421" y="2881670"/>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1.7918</a:t>
            </a:r>
            <a:endParaRPr lang="en-US" sz="1150" dirty="0"/>
          </a:p>
        </p:txBody>
      </p:sp>
      <p:sp>
        <p:nvSpPr>
          <p:cNvPr id="15" name="Text 13"/>
          <p:cNvSpPr/>
          <p:nvPr/>
        </p:nvSpPr>
        <p:spPr>
          <a:xfrm>
            <a:off x="6163866" y="2881670"/>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0.1079</a:t>
            </a:r>
            <a:endParaRPr lang="en-US" sz="1150" dirty="0"/>
          </a:p>
        </p:txBody>
      </p:sp>
      <p:sp>
        <p:nvSpPr>
          <p:cNvPr id="16" name="Text 14"/>
          <p:cNvSpPr/>
          <p:nvPr/>
        </p:nvSpPr>
        <p:spPr>
          <a:xfrm>
            <a:off x="8769310" y="2881670"/>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16.603</a:t>
            </a:r>
            <a:endParaRPr lang="en-US" sz="1150" dirty="0"/>
          </a:p>
        </p:txBody>
      </p:sp>
      <p:sp>
        <p:nvSpPr>
          <p:cNvPr id="17" name="Text 15"/>
          <p:cNvSpPr/>
          <p:nvPr/>
        </p:nvSpPr>
        <p:spPr>
          <a:xfrm>
            <a:off x="11374755" y="2881670"/>
            <a:ext cx="230683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&lt; 2e-16 ***</a:t>
            </a:r>
            <a:endParaRPr lang="en-US" sz="1150" dirty="0"/>
          </a:p>
        </p:txBody>
      </p:sp>
      <p:sp>
        <p:nvSpPr>
          <p:cNvPr id="18" name="Shape 16"/>
          <p:cNvSpPr/>
          <p:nvPr/>
        </p:nvSpPr>
        <p:spPr>
          <a:xfrm>
            <a:off x="801410" y="3213378"/>
            <a:ext cx="13027581" cy="427673"/>
          </a:xfrm>
          <a:prstGeom prst="rect">
            <a:avLst/>
          </a:prstGeom>
          <a:solidFill>
            <a:srgbClr val="FFFFFF">
              <a:alpha val="4000"/>
            </a:srgbClr>
          </a:solidFill>
          <a:ln/>
        </p:spPr>
      </p:sp>
      <p:sp>
        <p:nvSpPr>
          <p:cNvPr id="19" name="Text 17"/>
          <p:cNvSpPr/>
          <p:nvPr/>
        </p:nvSpPr>
        <p:spPr>
          <a:xfrm>
            <a:off x="949166" y="3309342"/>
            <a:ext cx="230683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regionN</a:t>
            </a:r>
            <a:endParaRPr lang="en-US" sz="1150" dirty="0"/>
          </a:p>
        </p:txBody>
      </p:sp>
      <p:sp>
        <p:nvSpPr>
          <p:cNvPr id="20" name="Text 18"/>
          <p:cNvSpPr/>
          <p:nvPr/>
        </p:nvSpPr>
        <p:spPr>
          <a:xfrm>
            <a:off x="3558421" y="3309342"/>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-0.2513</a:t>
            </a:r>
            <a:endParaRPr lang="en-US" sz="1150" dirty="0"/>
          </a:p>
        </p:txBody>
      </p:sp>
      <p:sp>
        <p:nvSpPr>
          <p:cNvPr id="21" name="Text 19"/>
          <p:cNvSpPr/>
          <p:nvPr/>
        </p:nvSpPr>
        <p:spPr>
          <a:xfrm>
            <a:off x="6163866" y="3309342"/>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0.1334</a:t>
            </a:r>
            <a:endParaRPr lang="en-US" sz="1150" dirty="0"/>
          </a:p>
        </p:txBody>
      </p:sp>
      <p:sp>
        <p:nvSpPr>
          <p:cNvPr id="22" name="Text 20"/>
          <p:cNvSpPr/>
          <p:nvPr/>
        </p:nvSpPr>
        <p:spPr>
          <a:xfrm>
            <a:off x="8769310" y="3309342"/>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-1.884</a:t>
            </a:r>
            <a:endParaRPr lang="en-US" sz="1150" dirty="0"/>
          </a:p>
        </p:txBody>
      </p:sp>
      <p:sp>
        <p:nvSpPr>
          <p:cNvPr id="23" name="Text 21"/>
          <p:cNvSpPr/>
          <p:nvPr/>
        </p:nvSpPr>
        <p:spPr>
          <a:xfrm>
            <a:off x="11374755" y="3309342"/>
            <a:ext cx="230683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0.0596</a:t>
            </a:r>
            <a:endParaRPr lang="en-US" sz="1150" dirty="0"/>
          </a:p>
        </p:txBody>
      </p:sp>
      <p:sp>
        <p:nvSpPr>
          <p:cNvPr id="24" name="Shape 22"/>
          <p:cNvSpPr/>
          <p:nvPr/>
        </p:nvSpPr>
        <p:spPr>
          <a:xfrm>
            <a:off x="801410" y="3641050"/>
            <a:ext cx="13027581" cy="427673"/>
          </a:xfrm>
          <a:prstGeom prst="rect">
            <a:avLst/>
          </a:prstGeom>
          <a:solidFill>
            <a:srgbClr val="000000">
              <a:alpha val="4000"/>
            </a:srgbClr>
          </a:solidFill>
          <a:ln/>
        </p:spPr>
      </p:sp>
      <p:sp>
        <p:nvSpPr>
          <p:cNvPr id="25" name="Text 23"/>
          <p:cNvSpPr/>
          <p:nvPr/>
        </p:nvSpPr>
        <p:spPr>
          <a:xfrm>
            <a:off x="949166" y="3737015"/>
            <a:ext cx="230683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regionS</a:t>
            </a:r>
            <a:endParaRPr lang="en-US" sz="1150" dirty="0"/>
          </a:p>
        </p:txBody>
      </p:sp>
      <p:sp>
        <p:nvSpPr>
          <p:cNvPr id="26" name="Text 24"/>
          <p:cNvSpPr/>
          <p:nvPr/>
        </p:nvSpPr>
        <p:spPr>
          <a:xfrm>
            <a:off x="3558421" y="3737015"/>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-0.1093</a:t>
            </a:r>
            <a:endParaRPr lang="en-US" sz="1150" dirty="0"/>
          </a:p>
        </p:txBody>
      </p:sp>
      <p:sp>
        <p:nvSpPr>
          <p:cNvPr id="27" name="Text 25"/>
          <p:cNvSpPr/>
          <p:nvPr/>
        </p:nvSpPr>
        <p:spPr>
          <a:xfrm>
            <a:off x="6163866" y="3737015"/>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0.1263</a:t>
            </a:r>
            <a:endParaRPr lang="en-US" sz="1150" dirty="0"/>
          </a:p>
        </p:txBody>
      </p:sp>
      <p:sp>
        <p:nvSpPr>
          <p:cNvPr id="28" name="Text 26"/>
          <p:cNvSpPr/>
          <p:nvPr/>
        </p:nvSpPr>
        <p:spPr>
          <a:xfrm>
            <a:off x="8769310" y="3737015"/>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-0.865</a:t>
            </a:r>
            <a:endParaRPr lang="en-US" sz="1150" dirty="0"/>
          </a:p>
        </p:txBody>
      </p:sp>
      <p:sp>
        <p:nvSpPr>
          <p:cNvPr id="29" name="Text 27"/>
          <p:cNvSpPr/>
          <p:nvPr/>
        </p:nvSpPr>
        <p:spPr>
          <a:xfrm>
            <a:off x="11374755" y="3737015"/>
            <a:ext cx="230683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0.3870</a:t>
            </a:r>
            <a:endParaRPr lang="en-US" sz="1150" dirty="0"/>
          </a:p>
        </p:txBody>
      </p:sp>
      <p:sp>
        <p:nvSpPr>
          <p:cNvPr id="30" name="Shape 28"/>
          <p:cNvSpPr/>
          <p:nvPr/>
        </p:nvSpPr>
        <p:spPr>
          <a:xfrm>
            <a:off x="801410" y="4068723"/>
            <a:ext cx="13027581" cy="427673"/>
          </a:xfrm>
          <a:prstGeom prst="rect">
            <a:avLst/>
          </a:prstGeom>
          <a:solidFill>
            <a:srgbClr val="FFFFFF">
              <a:alpha val="4000"/>
            </a:srgbClr>
          </a:solidFill>
          <a:ln/>
        </p:spPr>
      </p:sp>
      <p:sp>
        <p:nvSpPr>
          <p:cNvPr id="31" name="Text 29"/>
          <p:cNvSpPr/>
          <p:nvPr/>
        </p:nvSpPr>
        <p:spPr>
          <a:xfrm>
            <a:off x="949166" y="4164687"/>
            <a:ext cx="230683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regionW</a:t>
            </a:r>
            <a:endParaRPr lang="en-US" sz="1150" dirty="0"/>
          </a:p>
        </p:txBody>
      </p:sp>
      <p:sp>
        <p:nvSpPr>
          <p:cNvPr id="32" name="Text 30"/>
          <p:cNvSpPr/>
          <p:nvPr/>
        </p:nvSpPr>
        <p:spPr>
          <a:xfrm>
            <a:off x="3558421" y="4164687"/>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-0.0513</a:t>
            </a:r>
            <a:endParaRPr lang="en-US" sz="1150" dirty="0"/>
          </a:p>
        </p:txBody>
      </p:sp>
      <p:sp>
        <p:nvSpPr>
          <p:cNvPr id="33" name="Text 31"/>
          <p:cNvSpPr/>
          <p:nvPr/>
        </p:nvSpPr>
        <p:spPr>
          <a:xfrm>
            <a:off x="6163866" y="4164687"/>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0.1386</a:t>
            </a:r>
            <a:endParaRPr lang="en-US" sz="1150" dirty="0"/>
          </a:p>
        </p:txBody>
      </p:sp>
      <p:sp>
        <p:nvSpPr>
          <p:cNvPr id="34" name="Text 32"/>
          <p:cNvSpPr/>
          <p:nvPr/>
        </p:nvSpPr>
        <p:spPr>
          <a:xfrm>
            <a:off x="8769310" y="4164687"/>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-0.370</a:t>
            </a:r>
            <a:endParaRPr lang="en-US" sz="1150" dirty="0"/>
          </a:p>
        </p:txBody>
      </p:sp>
      <p:sp>
        <p:nvSpPr>
          <p:cNvPr id="35" name="Text 33"/>
          <p:cNvSpPr/>
          <p:nvPr/>
        </p:nvSpPr>
        <p:spPr>
          <a:xfrm>
            <a:off x="11374755" y="4164687"/>
            <a:ext cx="230683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0.7114</a:t>
            </a:r>
            <a:endParaRPr lang="en-US" sz="1150" dirty="0"/>
          </a:p>
        </p:txBody>
      </p:sp>
      <p:sp>
        <p:nvSpPr>
          <p:cNvPr id="36" name="Shape 34"/>
          <p:cNvSpPr/>
          <p:nvPr/>
        </p:nvSpPr>
        <p:spPr>
          <a:xfrm>
            <a:off x="801410" y="4496395"/>
            <a:ext cx="13027581" cy="427673"/>
          </a:xfrm>
          <a:prstGeom prst="rect">
            <a:avLst/>
          </a:prstGeom>
          <a:solidFill>
            <a:srgbClr val="000000">
              <a:alpha val="4000"/>
            </a:srgbClr>
          </a:solidFill>
          <a:ln/>
        </p:spPr>
      </p:sp>
      <p:sp>
        <p:nvSpPr>
          <p:cNvPr id="37" name="Text 35"/>
          <p:cNvSpPr/>
          <p:nvPr/>
        </p:nvSpPr>
        <p:spPr>
          <a:xfrm>
            <a:off x="949166" y="4592360"/>
            <a:ext cx="230683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tierplatinum</a:t>
            </a:r>
            <a:endParaRPr lang="en-US" sz="1150" dirty="0"/>
          </a:p>
        </p:txBody>
      </p:sp>
      <p:sp>
        <p:nvSpPr>
          <p:cNvPr id="38" name="Text 36"/>
          <p:cNvSpPr/>
          <p:nvPr/>
        </p:nvSpPr>
        <p:spPr>
          <a:xfrm>
            <a:off x="3558421" y="4592360"/>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-0.8283</a:t>
            </a:r>
            <a:endParaRPr lang="en-US" sz="1150" dirty="0"/>
          </a:p>
        </p:txBody>
      </p:sp>
      <p:sp>
        <p:nvSpPr>
          <p:cNvPr id="39" name="Text 37"/>
          <p:cNvSpPr/>
          <p:nvPr/>
        </p:nvSpPr>
        <p:spPr>
          <a:xfrm>
            <a:off x="6163866" y="4592360"/>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0.1729</a:t>
            </a:r>
            <a:endParaRPr lang="en-US" sz="1150" dirty="0"/>
          </a:p>
        </p:txBody>
      </p:sp>
      <p:sp>
        <p:nvSpPr>
          <p:cNvPr id="40" name="Text 38"/>
          <p:cNvSpPr/>
          <p:nvPr/>
        </p:nvSpPr>
        <p:spPr>
          <a:xfrm>
            <a:off x="8769310" y="4592360"/>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-4.791</a:t>
            </a:r>
            <a:endParaRPr lang="en-US" sz="1150" dirty="0"/>
          </a:p>
        </p:txBody>
      </p:sp>
      <p:sp>
        <p:nvSpPr>
          <p:cNvPr id="41" name="Text 39"/>
          <p:cNvSpPr/>
          <p:nvPr/>
        </p:nvSpPr>
        <p:spPr>
          <a:xfrm>
            <a:off x="11374755" y="4592360"/>
            <a:ext cx="230683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1.66e-06 ***</a:t>
            </a:r>
            <a:endParaRPr lang="en-US" sz="1150" dirty="0"/>
          </a:p>
        </p:txBody>
      </p:sp>
      <p:sp>
        <p:nvSpPr>
          <p:cNvPr id="42" name="Shape 40"/>
          <p:cNvSpPr/>
          <p:nvPr/>
        </p:nvSpPr>
        <p:spPr>
          <a:xfrm>
            <a:off x="801410" y="4924068"/>
            <a:ext cx="13027581" cy="427673"/>
          </a:xfrm>
          <a:prstGeom prst="rect">
            <a:avLst/>
          </a:prstGeom>
          <a:solidFill>
            <a:srgbClr val="FFFFFF">
              <a:alpha val="4000"/>
            </a:srgbClr>
          </a:solidFill>
          <a:ln/>
        </p:spPr>
      </p:sp>
      <p:sp>
        <p:nvSpPr>
          <p:cNvPr id="43" name="Text 41"/>
          <p:cNvSpPr/>
          <p:nvPr/>
        </p:nvSpPr>
        <p:spPr>
          <a:xfrm>
            <a:off x="949166" y="5020032"/>
            <a:ext cx="230683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tiersilver</a:t>
            </a:r>
            <a:endParaRPr lang="en-US" sz="1150" dirty="0"/>
          </a:p>
        </p:txBody>
      </p:sp>
      <p:sp>
        <p:nvSpPr>
          <p:cNvPr id="44" name="Text 42"/>
          <p:cNvSpPr/>
          <p:nvPr/>
        </p:nvSpPr>
        <p:spPr>
          <a:xfrm>
            <a:off x="3558421" y="5020032"/>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0.0669</a:t>
            </a:r>
            <a:endParaRPr lang="en-US" sz="1150" dirty="0"/>
          </a:p>
        </p:txBody>
      </p:sp>
      <p:sp>
        <p:nvSpPr>
          <p:cNvPr id="45" name="Text 43"/>
          <p:cNvSpPr/>
          <p:nvPr/>
        </p:nvSpPr>
        <p:spPr>
          <a:xfrm>
            <a:off x="6163866" y="5020032"/>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0.1067</a:t>
            </a:r>
            <a:endParaRPr lang="en-US" sz="1150" dirty="0"/>
          </a:p>
        </p:txBody>
      </p:sp>
      <p:sp>
        <p:nvSpPr>
          <p:cNvPr id="46" name="Text 44"/>
          <p:cNvSpPr/>
          <p:nvPr/>
        </p:nvSpPr>
        <p:spPr>
          <a:xfrm>
            <a:off x="8769310" y="5020032"/>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0.627</a:t>
            </a:r>
            <a:endParaRPr lang="en-US" sz="1150" dirty="0"/>
          </a:p>
        </p:txBody>
      </p:sp>
      <p:sp>
        <p:nvSpPr>
          <p:cNvPr id="47" name="Text 45"/>
          <p:cNvSpPr/>
          <p:nvPr/>
        </p:nvSpPr>
        <p:spPr>
          <a:xfrm>
            <a:off x="11374755" y="5020032"/>
            <a:ext cx="230683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0.5305</a:t>
            </a:r>
            <a:endParaRPr lang="en-US" sz="1150" dirty="0"/>
          </a:p>
        </p:txBody>
      </p:sp>
      <p:sp>
        <p:nvSpPr>
          <p:cNvPr id="48" name="Shape 46"/>
          <p:cNvSpPr/>
          <p:nvPr/>
        </p:nvSpPr>
        <p:spPr>
          <a:xfrm>
            <a:off x="801410" y="5351740"/>
            <a:ext cx="13027581" cy="427673"/>
          </a:xfrm>
          <a:prstGeom prst="rect">
            <a:avLst/>
          </a:prstGeom>
          <a:solidFill>
            <a:srgbClr val="000000">
              <a:alpha val="4000"/>
            </a:srgbClr>
          </a:solidFill>
          <a:ln/>
        </p:spPr>
      </p:sp>
      <p:sp>
        <p:nvSpPr>
          <p:cNvPr id="49" name="Text 47"/>
          <p:cNvSpPr/>
          <p:nvPr/>
        </p:nvSpPr>
        <p:spPr>
          <a:xfrm>
            <a:off x="949166" y="5447705"/>
            <a:ext cx="230683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agemore2</a:t>
            </a:r>
            <a:endParaRPr lang="en-US" sz="1150" dirty="0"/>
          </a:p>
        </p:txBody>
      </p:sp>
      <p:sp>
        <p:nvSpPr>
          <p:cNvPr id="50" name="Text 48"/>
          <p:cNvSpPr/>
          <p:nvPr/>
        </p:nvSpPr>
        <p:spPr>
          <a:xfrm>
            <a:off x="3558421" y="5447705"/>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-0.3301</a:t>
            </a:r>
            <a:endParaRPr lang="en-US" sz="1150" dirty="0"/>
          </a:p>
        </p:txBody>
      </p:sp>
      <p:sp>
        <p:nvSpPr>
          <p:cNvPr id="51" name="Text 49"/>
          <p:cNvSpPr/>
          <p:nvPr/>
        </p:nvSpPr>
        <p:spPr>
          <a:xfrm>
            <a:off x="6163866" y="5447705"/>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0.0984</a:t>
            </a:r>
            <a:endParaRPr lang="en-US" sz="1150" dirty="0"/>
          </a:p>
        </p:txBody>
      </p:sp>
      <p:sp>
        <p:nvSpPr>
          <p:cNvPr id="52" name="Text 50"/>
          <p:cNvSpPr/>
          <p:nvPr/>
        </p:nvSpPr>
        <p:spPr>
          <a:xfrm>
            <a:off x="8769310" y="5447705"/>
            <a:ext cx="230302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-3.354</a:t>
            </a:r>
            <a:endParaRPr lang="en-US" sz="1150" dirty="0"/>
          </a:p>
        </p:txBody>
      </p:sp>
      <p:sp>
        <p:nvSpPr>
          <p:cNvPr id="53" name="Text 51"/>
          <p:cNvSpPr/>
          <p:nvPr/>
        </p:nvSpPr>
        <p:spPr>
          <a:xfrm>
            <a:off x="11374755" y="5447705"/>
            <a:ext cx="2306836" cy="235744"/>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0.0008 ***</a:t>
            </a:r>
            <a:endParaRPr lang="en-US" sz="1150" dirty="0"/>
          </a:p>
        </p:txBody>
      </p:sp>
      <p:sp>
        <p:nvSpPr>
          <p:cNvPr id="54" name="Text 52"/>
          <p:cNvSpPr/>
          <p:nvPr/>
        </p:nvSpPr>
        <p:spPr>
          <a:xfrm>
            <a:off x="793790" y="5952887"/>
            <a:ext cx="13042821" cy="589598"/>
          </a:xfrm>
          <a:prstGeom prst="rect">
            <a:avLst/>
          </a:prstGeom>
          <a:noFill/>
          <a:ln/>
        </p:spPr>
        <p:txBody>
          <a:bodyPr wrap="square" lIns="0" tIns="0" rIns="0" bIns="0" rtlCol="0" anchor="t"/>
          <a:lstStyle/>
          <a:p>
            <a:pPr marL="0" indent="0" algn="l">
              <a:lnSpc>
                <a:spcPts val="2300"/>
              </a:lnSpc>
              <a:buNone/>
            </a:pPr>
            <a:r>
              <a:rPr lang="en-US" sz="1600" b="1" dirty="0">
                <a:solidFill>
                  <a:srgbClr val="383838"/>
                </a:solidFill>
                <a:latin typeface="DM Sans" pitchFamily="34" charset="0"/>
                <a:ea typeface="DM Sans" pitchFamily="34" charset="-122"/>
                <a:cs typeface="DM Sans" pitchFamily="34" charset="-120"/>
              </a:rPr>
              <a:t>Interpretation:</a:t>
            </a:r>
            <a:r>
              <a:rPr lang="en-US" sz="1600" dirty="0">
                <a:solidFill>
                  <a:srgbClr val="383838"/>
                </a:solidFill>
                <a:latin typeface="DM Sans" pitchFamily="34" charset="0"/>
                <a:ea typeface="DM Sans" pitchFamily="34" charset="-122"/>
                <a:cs typeface="DM Sans" pitchFamily="34" charset="-120"/>
              </a:rPr>
              <a:t> The </a:t>
            </a:r>
            <a:r>
              <a:rPr lang="en-US" sz="1600" b="1" dirty="0">
                <a:solidFill>
                  <a:srgbClr val="383838"/>
                </a:solidFill>
                <a:latin typeface="DM Sans" pitchFamily="34" charset="0"/>
                <a:ea typeface="DM Sans" pitchFamily="34" charset="-122"/>
                <a:cs typeface="DM Sans" pitchFamily="34" charset="-120"/>
              </a:rPr>
              <a:t>Estimate</a:t>
            </a:r>
            <a:r>
              <a:rPr lang="en-US" sz="1600" dirty="0">
                <a:solidFill>
                  <a:srgbClr val="383838"/>
                </a:solidFill>
                <a:latin typeface="DM Sans" pitchFamily="34" charset="0"/>
                <a:ea typeface="DM Sans" pitchFamily="34" charset="-122"/>
                <a:cs typeface="DM Sans" pitchFamily="34" charset="-120"/>
              </a:rPr>
              <a:t> column provides the estimated coefficients of the independent variables in the model. These represent the change in log-expected count for a one-unit change in the predictor, holding other variables constant.</a:t>
            </a:r>
            <a:endParaRPr lang="en-US" sz="1600" dirty="0"/>
          </a:p>
        </p:txBody>
      </p:sp>
      <p:sp>
        <p:nvSpPr>
          <p:cNvPr id="55" name="Shape 53"/>
          <p:cNvSpPr/>
          <p:nvPr/>
        </p:nvSpPr>
        <p:spPr>
          <a:xfrm>
            <a:off x="793790" y="6708337"/>
            <a:ext cx="13042821" cy="929591"/>
          </a:xfrm>
          <a:prstGeom prst="roundRect">
            <a:avLst>
              <a:gd name="adj" fmla="val 3227"/>
            </a:avLst>
          </a:prstGeom>
          <a:solidFill>
            <a:srgbClr val="FFCDB3"/>
          </a:solidFill>
          <a:ln/>
        </p:spPr>
      </p:sp>
      <p:pic>
        <p:nvPicPr>
          <p:cNvPr id="56" name="Image 0" descr="preencoded.png"/>
          <p:cNvPicPr>
            <a:picLocks noChangeAspect="1"/>
          </p:cNvPicPr>
          <p:nvPr/>
        </p:nvPicPr>
        <p:blipFill>
          <a:blip r:embed="rId3"/>
          <a:stretch>
            <a:fillRect/>
          </a:stretch>
        </p:blipFill>
        <p:spPr>
          <a:xfrm>
            <a:off x="941189" y="6937058"/>
            <a:ext cx="230267" cy="184190"/>
          </a:xfrm>
          <a:prstGeom prst="rect">
            <a:avLst/>
          </a:prstGeom>
        </p:spPr>
      </p:pic>
      <p:sp>
        <p:nvSpPr>
          <p:cNvPr id="57" name="Text 54"/>
          <p:cNvSpPr/>
          <p:nvPr/>
        </p:nvSpPr>
        <p:spPr>
          <a:xfrm>
            <a:off x="1318855" y="6892528"/>
            <a:ext cx="12370356" cy="294799"/>
          </a:xfrm>
          <a:prstGeom prst="rect">
            <a:avLst/>
          </a:prstGeom>
          <a:noFill/>
          <a:ln/>
        </p:spPr>
        <p:txBody>
          <a:bodyPr wrap="none" lIns="0" tIns="0" rIns="0" bIns="0" rtlCol="0" anchor="t"/>
          <a:lstStyle/>
          <a:p>
            <a:pPr marL="0" indent="0" algn="l">
              <a:lnSpc>
                <a:spcPts val="2300"/>
              </a:lnSpc>
              <a:buNone/>
            </a:pPr>
            <a:r>
              <a:rPr lang="en-US" sz="1600" dirty="0">
                <a:solidFill>
                  <a:srgbClr val="000000"/>
                </a:solidFill>
                <a:latin typeface="DM Sans" pitchFamily="34" charset="0"/>
                <a:ea typeface="DM Sans" pitchFamily="34" charset="-122"/>
                <a:cs typeface="DM Sans" pitchFamily="34" charset="-120"/>
              </a:rPr>
              <a:t>*** indicates statistical significance at p &lt; 0.001 level. Platinum tier and tenure (agemore2) show significant effects on </a:t>
            </a:r>
          </a:p>
          <a:p>
            <a:pPr marL="0" indent="0" algn="l">
              <a:lnSpc>
                <a:spcPts val="2300"/>
              </a:lnSpc>
              <a:buNone/>
            </a:pPr>
            <a:r>
              <a:rPr lang="en-US" sz="1600" dirty="0">
                <a:solidFill>
                  <a:srgbClr val="000000"/>
                </a:solidFill>
                <a:latin typeface="DM Sans" pitchFamily="34" charset="0"/>
                <a:ea typeface="DM Sans" pitchFamily="34" charset="-122"/>
                <a:cs typeface="DM Sans" pitchFamily="34" charset="-120"/>
              </a:rPr>
              <a:t>complaint counts.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12840"/>
            <a:ext cx="3870246" cy="483751"/>
          </a:xfrm>
          <a:prstGeom prst="rect">
            <a:avLst/>
          </a:prstGeom>
          <a:noFill/>
          <a:ln/>
        </p:spPr>
        <p:txBody>
          <a:bodyPr wrap="none" lIns="0" tIns="0" rIns="0" bIns="0" rtlCol="0" anchor="t"/>
          <a:lstStyle/>
          <a:p>
            <a:pPr>
              <a:lnSpc>
                <a:spcPts val="3800"/>
              </a:lnSpc>
            </a:pPr>
            <a:r>
              <a:rPr lang="en-US" sz="3750" dirty="0">
                <a:solidFill>
                  <a:srgbClr val="020202"/>
                </a:solidFill>
                <a:latin typeface="PT Serif" pitchFamily="34" charset="0"/>
                <a:ea typeface="PT Serif" pitchFamily="34" charset="-122"/>
                <a:cs typeface="PT Serif" pitchFamily="34" charset="-120"/>
              </a:rPr>
              <a:t>Goodness of Fit : Testing Model Adequacy</a:t>
            </a:r>
            <a:endParaRPr lang="en-US" sz="3750" dirty="0"/>
          </a:p>
          <a:p>
            <a:pPr marL="0" indent="0" algn="l">
              <a:lnSpc>
                <a:spcPts val="3800"/>
              </a:lnSpc>
              <a:buNone/>
            </a:pPr>
            <a:endParaRPr lang="en-US" sz="3750" dirty="0"/>
          </a:p>
        </p:txBody>
      </p:sp>
      <p:sp>
        <p:nvSpPr>
          <p:cNvPr id="3" name="Text 1"/>
          <p:cNvSpPr/>
          <p:nvPr/>
        </p:nvSpPr>
        <p:spPr>
          <a:xfrm>
            <a:off x="4589702" y="903624"/>
            <a:ext cx="2523530" cy="290155"/>
          </a:xfrm>
          <a:prstGeom prst="rect">
            <a:avLst/>
          </a:prstGeom>
          <a:noFill/>
          <a:ln/>
        </p:spPr>
        <p:txBody>
          <a:bodyPr wrap="none" lIns="0" tIns="0" rIns="0" bIns="0" rtlCol="0" anchor="t"/>
          <a:lstStyle/>
          <a:p>
            <a:pPr marL="0" indent="0" algn="l">
              <a:lnSpc>
                <a:spcPts val="2250"/>
              </a:lnSpc>
              <a:buNone/>
            </a:pPr>
            <a:endParaRPr lang="en-US" sz="1800" dirty="0"/>
          </a:p>
        </p:txBody>
      </p:sp>
      <p:sp>
        <p:nvSpPr>
          <p:cNvPr id="4" name="Text 2"/>
          <p:cNvSpPr/>
          <p:nvPr/>
        </p:nvSpPr>
        <p:spPr>
          <a:xfrm>
            <a:off x="793790" y="1835799"/>
            <a:ext cx="1935123" cy="241816"/>
          </a:xfrm>
          <a:prstGeom prst="rect">
            <a:avLst/>
          </a:prstGeom>
          <a:noFill/>
          <a:ln/>
        </p:spPr>
        <p:txBody>
          <a:bodyPr wrap="none" lIns="0" tIns="0" rIns="0" bIns="0" rtlCol="0" anchor="t"/>
          <a:lstStyle/>
          <a:p>
            <a:pPr marL="0" indent="0" algn="l">
              <a:lnSpc>
                <a:spcPts val="1900"/>
              </a:lnSpc>
              <a:buNone/>
            </a:pPr>
            <a:r>
              <a:rPr lang="en-US" sz="2000" b="1" dirty="0">
                <a:solidFill>
                  <a:srgbClr val="020202"/>
                </a:solidFill>
                <a:latin typeface="PT Serif" pitchFamily="34" charset="0"/>
                <a:ea typeface="PT Serif" pitchFamily="34" charset="-122"/>
                <a:cs typeface="PT Serif" pitchFamily="34" charset="-120"/>
              </a:rPr>
              <a:t>Objective</a:t>
            </a:r>
            <a:endParaRPr lang="en-US" sz="2000" b="1" dirty="0"/>
          </a:p>
        </p:txBody>
      </p:sp>
      <p:sp>
        <p:nvSpPr>
          <p:cNvPr id="5" name="Text 3"/>
          <p:cNvSpPr/>
          <p:nvPr/>
        </p:nvSpPr>
        <p:spPr>
          <a:xfrm>
            <a:off x="793790" y="2381079"/>
            <a:ext cx="6341626" cy="235744"/>
          </a:xfrm>
          <a:prstGeom prst="rect">
            <a:avLst/>
          </a:prstGeom>
          <a:noFill/>
          <a:ln/>
        </p:spPr>
        <p:txBody>
          <a:bodyPr wrap="none" lIns="0" tIns="0" rIns="0" bIns="0" rtlCol="0" anchor="t"/>
          <a:lstStyle/>
          <a:p>
            <a:pPr marL="0" indent="0" algn="l">
              <a:lnSpc>
                <a:spcPts val="1850"/>
              </a:lnSpc>
              <a:buNone/>
            </a:pPr>
            <a:r>
              <a:rPr lang="en-US" dirty="0">
                <a:solidFill>
                  <a:srgbClr val="383838"/>
                </a:solidFill>
                <a:latin typeface="DM Sans" pitchFamily="34" charset="0"/>
                <a:ea typeface="DM Sans" pitchFamily="34" charset="-122"/>
                <a:cs typeface="DM Sans" pitchFamily="34" charset="-120"/>
              </a:rPr>
              <a:t>To test the null hypothesis that the model is a good fit to the </a:t>
            </a:r>
          </a:p>
          <a:p>
            <a:pPr marL="0" indent="0" algn="l">
              <a:lnSpc>
                <a:spcPts val="1850"/>
              </a:lnSpc>
              <a:buNone/>
            </a:pPr>
            <a:r>
              <a:rPr lang="en-US" dirty="0">
                <a:solidFill>
                  <a:srgbClr val="383838"/>
                </a:solidFill>
                <a:latin typeface="DM Sans" pitchFamily="34" charset="0"/>
                <a:ea typeface="DM Sans" pitchFamily="34" charset="-122"/>
                <a:cs typeface="DM Sans" pitchFamily="34" charset="-120"/>
              </a:rPr>
              <a:t>observed data.</a:t>
            </a:r>
            <a:endParaRPr lang="en-US" dirty="0"/>
          </a:p>
        </p:txBody>
      </p:sp>
      <p:sp>
        <p:nvSpPr>
          <p:cNvPr id="6" name="Text 4"/>
          <p:cNvSpPr/>
          <p:nvPr/>
        </p:nvSpPr>
        <p:spPr>
          <a:xfrm>
            <a:off x="793790" y="2994649"/>
            <a:ext cx="6341626" cy="235744"/>
          </a:xfrm>
          <a:prstGeom prst="rect">
            <a:avLst/>
          </a:prstGeom>
          <a:noFill/>
          <a:ln/>
        </p:spPr>
        <p:txBody>
          <a:bodyPr wrap="none" lIns="0" tIns="0" rIns="0" bIns="0" rtlCol="0" anchor="t"/>
          <a:lstStyle/>
          <a:p>
            <a:pPr marL="0" indent="0" algn="l">
              <a:lnSpc>
                <a:spcPts val="1850"/>
              </a:lnSpc>
              <a:buNone/>
            </a:pPr>
            <a:r>
              <a:rPr lang="en-US" b="1" dirty="0">
                <a:solidFill>
                  <a:srgbClr val="383838"/>
                </a:solidFill>
                <a:latin typeface="DM Sans" pitchFamily="34" charset="0"/>
                <a:ea typeface="DM Sans" pitchFamily="34" charset="-122"/>
                <a:cs typeface="DM Sans" pitchFamily="34" charset="-120"/>
              </a:rPr>
              <a:t>Null Hypothesis (H₀):</a:t>
            </a:r>
            <a:r>
              <a:rPr lang="en-US" dirty="0">
                <a:solidFill>
                  <a:srgbClr val="383838"/>
                </a:solidFill>
                <a:latin typeface="DM Sans" pitchFamily="34" charset="0"/>
                <a:ea typeface="DM Sans" pitchFamily="34" charset="-122"/>
                <a:cs typeface="DM Sans" pitchFamily="34" charset="-120"/>
              </a:rPr>
              <a:t> Model is a good fit</a:t>
            </a:r>
            <a:endParaRPr lang="en-US" dirty="0"/>
          </a:p>
        </p:txBody>
      </p:sp>
      <p:sp>
        <p:nvSpPr>
          <p:cNvPr id="7" name="Text 5"/>
          <p:cNvSpPr/>
          <p:nvPr/>
        </p:nvSpPr>
        <p:spPr>
          <a:xfrm>
            <a:off x="793790" y="3514584"/>
            <a:ext cx="6341626" cy="235744"/>
          </a:xfrm>
          <a:prstGeom prst="rect">
            <a:avLst/>
          </a:prstGeom>
          <a:noFill/>
          <a:ln/>
        </p:spPr>
        <p:txBody>
          <a:bodyPr wrap="none" lIns="0" tIns="0" rIns="0" bIns="0" rtlCol="0" anchor="t"/>
          <a:lstStyle/>
          <a:p>
            <a:pPr marL="0" indent="0" algn="l">
              <a:lnSpc>
                <a:spcPts val="1850"/>
              </a:lnSpc>
              <a:buNone/>
            </a:pPr>
            <a:r>
              <a:rPr lang="en-US" b="1" dirty="0">
                <a:solidFill>
                  <a:srgbClr val="383838"/>
                </a:solidFill>
                <a:latin typeface="DM Sans" pitchFamily="34" charset="0"/>
                <a:ea typeface="DM Sans" pitchFamily="34" charset="-122"/>
                <a:cs typeface="DM Sans" pitchFamily="34" charset="-120"/>
              </a:rPr>
              <a:t>Alternate Hypothesis (H₁):</a:t>
            </a:r>
            <a:r>
              <a:rPr lang="en-US" dirty="0">
                <a:solidFill>
                  <a:srgbClr val="383838"/>
                </a:solidFill>
                <a:latin typeface="DM Sans" pitchFamily="34" charset="0"/>
                <a:ea typeface="DM Sans" pitchFamily="34" charset="-122"/>
                <a:cs typeface="DM Sans" pitchFamily="34" charset="-120"/>
              </a:rPr>
              <a:t> There is significant lack of fit</a:t>
            </a:r>
            <a:endParaRPr lang="en-US" dirty="0"/>
          </a:p>
        </p:txBody>
      </p:sp>
      <p:sp>
        <p:nvSpPr>
          <p:cNvPr id="8" name="Text 6"/>
          <p:cNvSpPr/>
          <p:nvPr/>
        </p:nvSpPr>
        <p:spPr>
          <a:xfrm>
            <a:off x="9182099" y="1835799"/>
            <a:ext cx="1935123" cy="241816"/>
          </a:xfrm>
          <a:prstGeom prst="rect">
            <a:avLst/>
          </a:prstGeom>
          <a:noFill/>
          <a:ln/>
        </p:spPr>
        <p:txBody>
          <a:bodyPr wrap="none" lIns="0" tIns="0" rIns="0" bIns="0" rtlCol="0" anchor="t"/>
          <a:lstStyle/>
          <a:p>
            <a:pPr marL="0" indent="0" algn="l">
              <a:lnSpc>
                <a:spcPts val="1900"/>
              </a:lnSpc>
              <a:buNone/>
            </a:pPr>
            <a:r>
              <a:rPr lang="en-US" sz="2000" b="1" dirty="0">
                <a:solidFill>
                  <a:srgbClr val="020202"/>
                </a:solidFill>
                <a:latin typeface="PT Serif" pitchFamily="34" charset="0"/>
                <a:ea typeface="PT Serif" pitchFamily="34" charset="-122"/>
                <a:cs typeface="PT Serif" pitchFamily="34" charset="-120"/>
              </a:rPr>
              <a:t>Decision Criteria</a:t>
            </a:r>
            <a:endParaRPr lang="en-US" sz="2000" b="1" dirty="0"/>
          </a:p>
        </p:txBody>
      </p:sp>
      <p:sp>
        <p:nvSpPr>
          <p:cNvPr id="9" name="Text 7"/>
          <p:cNvSpPr/>
          <p:nvPr/>
        </p:nvSpPr>
        <p:spPr>
          <a:xfrm>
            <a:off x="8288774" y="2250302"/>
            <a:ext cx="6341626" cy="235744"/>
          </a:xfrm>
          <a:prstGeom prst="rect">
            <a:avLst/>
          </a:prstGeom>
          <a:noFill/>
          <a:ln/>
        </p:spPr>
        <p:txBody>
          <a:bodyPr wrap="none" lIns="0" tIns="0" rIns="0" bIns="0" rtlCol="0" anchor="t"/>
          <a:lstStyle/>
          <a:p>
            <a:pPr marL="0" indent="0" algn="l">
              <a:lnSpc>
                <a:spcPts val="1850"/>
              </a:lnSpc>
              <a:buNone/>
            </a:pPr>
            <a:r>
              <a:rPr lang="en-US" dirty="0">
                <a:solidFill>
                  <a:srgbClr val="383838"/>
                </a:solidFill>
                <a:latin typeface="DM Sans" pitchFamily="34" charset="0"/>
                <a:ea typeface="DM Sans" pitchFamily="34" charset="-122"/>
                <a:cs typeface="DM Sans" pitchFamily="34" charset="-120"/>
              </a:rPr>
              <a:t>Reject the null hypothesis </a:t>
            </a:r>
            <a:r>
              <a:rPr lang="en-US" b="1" dirty="0">
                <a:solidFill>
                  <a:srgbClr val="383838"/>
                </a:solidFill>
                <a:latin typeface="DM Sans" pitchFamily="34" charset="0"/>
                <a:ea typeface="DM Sans" pitchFamily="34" charset="-122"/>
                <a:cs typeface="DM Sans" pitchFamily="34" charset="-120"/>
              </a:rPr>
              <a:t>if p-value &lt; 0.05</a:t>
            </a:r>
            <a:endParaRPr lang="en-US" dirty="0"/>
          </a:p>
        </p:txBody>
      </p:sp>
      <p:sp>
        <p:nvSpPr>
          <p:cNvPr id="10" name="Text 8"/>
          <p:cNvSpPr/>
          <p:nvPr/>
        </p:nvSpPr>
        <p:spPr>
          <a:xfrm>
            <a:off x="8288774" y="2729745"/>
            <a:ext cx="6341626" cy="471488"/>
          </a:xfrm>
          <a:prstGeom prst="rect">
            <a:avLst/>
          </a:prstGeom>
          <a:noFill/>
          <a:ln/>
        </p:spPr>
        <p:txBody>
          <a:bodyPr wrap="square" lIns="0" tIns="0" rIns="0" bIns="0" rtlCol="0" anchor="t"/>
          <a:lstStyle/>
          <a:p>
            <a:pPr marL="0" indent="0" algn="l">
              <a:lnSpc>
                <a:spcPts val="1850"/>
              </a:lnSpc>
              <a:buNone/>
            </a:pPr>
            <a:endParaRPr lang="en-US" dirty="0"/>
          </a:p>
        </p:txBody>
      </p:sp>
      <p:sp>
        <p:nvSpPr>
          <p:cNvPr id="11" name="Shape 9"/>
          <p:cNvSpPr/>
          <p:nvPr/>
        </p:nvSpPr>
        <p:spPr>
          <a:xfrm>
            <a:off x="793790" y="4150757"/>
            <a:ext cx="6447711" cy="1738789"/>
          </a:xfrm>
          <a:prstGeom prst="roundRect">
            <a:avLst>
              <a:gd name="adj" fmla="val 1272"/>
            </a:avLst>
          </a:prstGeom>
          <a:solidFill>
            <a:srgbClr val="FFFFFF"/>
          </a:solidFill>
          <a:ln w="15240">
            <a:solidFill>
              <a:srgbClr val="D8D4D4"/>
            </a:solidFill>
            <a:prstDash val="solid"/>
          </a:ln>
        </p:spPr>
        <p:txBody>
          <a:bodyPr/>
          <a:lstStyle/>
          <a:p>
            <a:endParaRPr lang="en-IN" dirty="0"/>
          </a:p>
        </p:txBody>
      </p:sp>
      <p:sp>
        <p:nvSpPr>
          <p:cNvPr id="12" name="Text 10"/>
          <p:cNvSpPr/>
          <p:nvPr/>
        </p:nvSpPr>
        <p:spPr>
          <a:xfrm>
            <a:off x="1027331" y="4232077"/>
            <a:ext cx="2937272" cy="241816"/>
          </a:xfrm>
          <a:prstGeom prst="rect">
            <a:avLst/>
          </a:prstGeom>
          <a:noFill/>
          <a:ln/>
        </p:spPr>
        <p:txBody>
          <a:bodyPr wrap="none" lIns="0" tIns="0" rIns="0" bIns="0" rtlCol="0" anchor="t"/>
          <a:lstStyle/>
          <a:p>
            <a:pPr marL="0" indent="0" algn="l">
              <a:lnSpc>
                <a:spcPts val="1900"/>
              </a:lnSpc>
              <a:buNone/>
            </a:pPr>
            <a:r>
              <a:rPr lang="en-US" sz="1600" dirty="0">
                <a:solidFill>
                  <a:srgbClr val="383838"/>
                </a:solidFill>
                <a:latin typeface="PT Serif" pitchFamily="34" charset="0"/>
                <a:ea typeface="PT Serif" pitchFamily="34" charset="-122"/>
                <a:cs typeface="PT Serif" pitchFamily="34" charset="-120"/>
              </a:rPr>
              <a:t>Test Statistic 1: Residual Deviance</a:t>
            </a:r>
            <a:endParaRPr lang="en-US" sz="1600" dirty="0"/>
          </a:p>
        </p:txBody>
      </p:sp>
      <p:pic>
        <p:nvPicPr>
          <p:cNvPr id="13" name="Image 0" descr="preencoded.png"/>
          <p:cNvPicPr>
            <a:picLocks noChangeAspect="1"/>
          </p:cNvPicPr>
          <p:nvPr/>
        </p:nvPicPr>
        <p:blipFill>
          <a:blip r:embed="rId3"/>
          <a:stretch>
            <a:fillRect/>
          </a:stretch>
        </p:blipFill>
        <p:spPr>
          <a:xfrm>
            <a:off x="2122957" y="4555212"/>
            <a:ext cx="3269068" cy="524828"/>
          </a:xfrm>
          <a:prstGeom prst="rect">
            <a:avLst/>
          </a:prstGeom>
        </p:spPr>
      </p:pic>
      <p:pic>
        <p:nvPicPr>
          <p:cNvPr id="14" name="Image 1" descr="preencoded.png"/>
          <p:cNvPicPr>
            <a:picLocks noChangeAspect="1"/>
          </p:cNvPicPr>
          <p:nvPr/>
        </p:nvPicPr>
        <p:blipFill>
          <a:blip r:embed="rId4"/>
          <a:stretch>
            <a:fillRect/>
          </a:stretch>
        </p:blipFill>
        <p:spPr>
          <a:xfrm>
            <a:off x="2791659" y="5286245"/>
            <a:ext cx="835206" cy="391359"/>
          </a:xfrm>
          <a:prstGeom prst="rect">
            <a:avLst/>
          </a:prstGeom>
        </p:spPr>
      </p:pic>
      <p:sp>
        <p:nvSpPr>
          <p:cNvPr id="15" name="Shape 11"/>
          <p:cNvSpPr/>
          <p:nvPr/>
        </p:nvSpPr>
        <p:spPr>
          <a:xfrm>
            <a:off x="7494984" y="4120022"/>
            <a:ext cx="6447711" cy="1738789"/>
          </a:xfrm>
          <a:prstGeom prst="roundRect">
            <a:avLst>
              <a:gd name="adj" fmla="val 1272"/>
            </a:avLst>
          </a:prstGeom>
          <a:solidFill>
            <a:srgbClr val="FFFFFF"/>
          </a:solidFill>
          <a:ln w="15240">
            <a:solidFill>
              <a:srgbClr val="D8D4D4"/>
            </a:solidFill>
            <a:prstDash val="solid"/>
          </a:ln>
        </p:spPr>
      </p:sp>
      <p:sp>
        <p:nvSpPr>
          <p:cNvPr id="16" name="Text 12"/>
          <p:cNvSpPr/>
          <p:nvPr/>
        </p:nvSpPr>
        <p:spPr>
          <a:xfrm>
            <a:off x="7645360" y="4253020"/>
            <a:ext cx="3073479" cy="241816"/>
          </a:xfrm>
          <a:prstGeom prst="rect">
            <a:avLst/>
          </a:prstGeom>
          <a:noFill/>
          <a:ln/>
        </p:spPr>
        <p:txBody>
          <a:bodyPr wrap="none" lIns="0" tIns="0" rIns="0" bIns="0" rtlCol="0" anchor="t"/>
          <a:lstStyle/>
          <a:p>
            <a:pPr marL="0" indent="0" algn="l">
              <a:lnSpc>
                <a:spcPts val="1900"/>
              </a:lnSpc>
              <a:buNone/>
            </a:pPr>
            <a:r>
              <a:rPr lang="en-US" sz="1600" dirty="0">
                <a:solidFill>
                  <a:srgbClr val="383838"/>
                </a:solidFill>
                <a:latin typeface="PT Serif" pitchFamily="34" charset="0"/>
                <a:ea typeface="PT Serif" pitchFamily="34" charset="-122"/>
                <a:cs typeface="PT Serif" pitchFamily="34" charset="-120"/>
              </a:rPr>
              <a:t>Test Statistic 2: Pearson Chi-Square</a:t>
            </a:r>
            <a:endParaRPr lang="en-US" sz="1600" dirty="0"/>
          </a:p>
        </p:txBody>
      </p:sp>
      <p:pic>
        <p:nvPicPr>
          <p:cNvPr id="17" name="Image 2" descr="preencoded.png"/>
          <p:cNvPicPr>
            <a:picLocks noChangeAspect="1"/>
          </p:cNvPicPr>
          <p:nvPr/>
        </p:nvPicPr>
        <p:blipFill>
          <a:blip r:embed="rId5"/>
          <a:stretch>
            <a:fillRect/>
          </a:stretch>
        </p:blipFill>
        <p:spPr>
          <a:xfrm>
            <a:off x="8854160" y="4535854"/>
            <a:ext cx="3590310" cy="516374"/>
          </a:xfrm>
          <a:prstGeom prst="rect">
            <a:avLst/>
          </a:prstGeom>
        </p:spPr>
      </p:pic>
      <p:sp>
        <p:nvSpPr>
          <p:cNvPr id="21" name="Text 14"/>
          <p:cNvSpPr/>
          <p:nvPr/>
        </p:nvSpPr>
        <p:spPr>
          <a:xfrm>
            <a:off x="793790" y="6824953"/>
            <a:ext cx="13042821" cy="471488"/>
          </a:xfrm>
          <a:prstGeom prst="rect">
            <a:avLst/>
          </a:prstGeom>
          <a:noFill/>
          <a:ln/>
        </p:spPr>
        <p:txBody>
          <a:bodyPr wrap="square" lIns="0" tIns="0" rIns="0" bIns="0" rtlCol="0" anchor="t"/>
          <a:lstStyle/>
          <a:p>
            <a:pPr marL="0" indent="0" algn="l">
              <a:lnSpc>
                <a:spcPts val="1850"/>
              </a:lnSpc>
              <a:buNone/>
            </a:pPr>
            <a:r>
              <a:rPr lang="en-US" sz="1600" b="1" dirty="0">
                <a:solidFill>
                  <a:srgbClr val="383838"/>
                </a:solidFill>
                <a:latin typeface="DM Sans" pitchFamily="34" charset="0"/>
                <a:ea typeface="DM Sans" pitchFamily="34" charset="-122"/>
                <a:cs typeface="DM Sans" pitchFamily="34" charset="-120"/>
              </a:rPr>
              <a:t>Interpretation:</a:t>
            </a:r>
            <a:r>
              <a:rPr lang="en-US" sz="1600" dirty="0">
                <a:solidFill>
                  <a:srgbClr val="383838"/>
                </a:solidFill>
                <a:latin typeface="DM Sans" pitchFamily="34" charset="0"/>
                <a:ea typeface="DM Sans" pitchFamily="34" charset="-122"/>
                <a:cs typeface="DM Sans" pitchFamily="34" charset="-120"/>
              </a:rPr>
              <a:t> Since p-value &gt; 0.05, we do not reject H₀. The model can be considered to be a good fit to the data, indicating that it adequately captures the relationship between predictors and complaint counts.</a:t>
            </a:r>
            <a:endParaRPr lang="en-US" sz="1600" dirty="0"/>
          </a:p>
        </p:txBody>
      </p:sp>
      <p:pic>
        <p:nvPicPr>
          <p:cNvPr id="22" name="Picture 2">
            <a:extLst>
              <a:ext uri="{FF2B5EF4-FFF2-40B4-BE49-F238E27FC236}">
                <a16:creationId xmlns:a16="http://schemas.microsoft.com/office/drawing/2014/main" id="{1821EB09-B863-2B87-5581-2E8B013053D3}"/>
              </a:ext>
            </a:extLst>
          </p:cNvPr>
          <p:cNvPicPr>
            <a:picLocks noChangeAspect="1" noChangeArrowheads="1"/>
          </p:cNvPicPr>
          <p:nvPr/>
        </p:nvPicPr>
        <p:blipFill>
          <a:blip r:embed="rId6" cstate="print"/>
          <a:srcRect l="56696" t="84280" r="32762" b="13751"/>
          <a:stretch>
            <a:fillRect/>
          </a:stretch>
        </p:blipFill>
        <p:spPr bwMode="auto">
          <a:xfrm>
            <a:off x="793790" y="6188478"/>
            <a:ext cx="2289586" cy="240407"/>
          </a:xfrm>
          <a:prstGeom prst="rect">
            <a:avLst/>
          </a:prstGeom>
          <a:noFill/>
          <a:ln w="9525">
            <a:solidFill>
              <a:schemeClr val="accent1"/>
            </a:solidFill>
            <a:miter lim="800000"/>
            <a:headEnd/>
            <a:tailEnd/>
          </a:ln>
        </p:spPr>
      </p:pic>
      <p:pic>
        <p:nvPicPr>
          <p:cNvPr id="19" name="Image 1" descr="preencoded.png">
            <a:extLst>
              <a:ext uri="{FF2B5EF4-FFF2-40B4-BE49-F238E27FC236}">
                <a16:creationId xmlns:a16="http://schemas.microsoft.com/office/drawing/2014/main" id="{428B3F68-7E0F-4265-61E5-6AEEC84D87D0}"/>
              </a:ext>
            </a:extLst>
          </p:cNvPr>
          <p:cNvPicPr>
            <a:picLocks noChangeAspect="1"/>
          </p:cNvPicPr>
          <p:nvPr/>
        </p:nvPicPr>
        <p:blipFill>
          <a:blip r:embed="rId4"/>
          <a:stretch>
            <a:fillRect/>
          </a:stretch>
        </p:blipFill>
        <p:spPr>
          <a:xfrm>
            <a:off x="10149660" y="5289679"/>
            <a:ext cx="835206" cy="3913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0932" y="621387"/>
            <a:ext cx="5767507" cy="481965"/>
          </a:xfrm>
          <a:prstGeom prst="rect">
            <a:avLst/>
          </a:prstGeom>
          <a:noFill/>
          <a:ln/>
        </p:spPr>
        <p:txBody>
          <a:bodyPr wrap="none" lIns="0" tIns="0" rIns="0" bIns="0" rtlCol="0" anchor="t"/>
          <a:lstStyle/>
          <a:p>
            <a:pPr marL="0" indent="0" algn="l">
              <a:lnSpc>
                <a:spcPts val="3750"/>
              </a:lnSpc>
              <a:buNone/>
            </a:pPr>
            <a:r>
              <a:rPr lang="en-US" sz="3750" dirty="0">
                <a:solidFill>
                  <a:srgbClr val="020202"/>
                </a:solidFill>
                <a:latin typeface="PT Serif" pitchFamily="34" charset="0"/>
                <a:ea typeface="PT Serif" pitchFamily="34" charset="-122"/>
                <a:cs typeface="PT Serif" pitchFamily="34" charset="-120"/>
              </a:rPr>
              <a:t>Predictions in Poisson Regression</a:t>
            </a:r>
            <a:endParaRPr lang="en-US" sz="3750" dirty="0"/>
          </a:p>
        </p:txBody>
      </p:sp>
      <p:sp>
        <p:nvSpPr>
          <p:cNvPr id="3" name="Text 1"/>
          <p:cNvSpPr/>
          <p:nvPr/>
        </p:nvSpPr>
        <p:spPr>
          <a:xfrm>
            <a:off x="790932" y="1397079"/>
            <a:ext cx="13048536" cy="587454"/>
          </a:xfrm>
          <a:prstGeom prst="rect">
            <a:avLst/>
          </a:prstGeom>
          <a:noFill/>
          <a:ln/>
        </p:spPr>
        <p:txBody>
          <a:bodyPr wrap="square" lIns="0" tIns="0" rIns="0" bIns="0" rtlCol="0" anchor="t"/>
          <a:lstStyle/>
          <a:p>
            <a:pPr marL="0" indent="0" algn="l">
              <a:lnSpc>
                <a:spcPts val="2300"/>
              </a:lnSpc>
              <a:buNone/>
            </a:pPr>
            <a:r>
              <a:rPr lang="en-US" sz="1600" dirty="0">
                <a:solidFill>
                  <a:srgbClr val="383838"/>
                </a:solidFill>
                <a:latin typeface="DM Sans" pitchFamily="34" charset="0"/>
                <a:ea typeface="DM Sans" pitchFamily="34" charset="-122"/>
                <a:cs typeface="DM Sans" pitchFamily="34" charset="-120"/>
              </a:rPr>
              <a:t>The fitted Poisson regression model generates predicted complaint counts for each customer based on their characteristics. Below is a comparison of observed versus predicted values.</a:t>
            </a:r>
            <a:endParaRPr lang="en-US" sz="1600" dirty="0"/>
          </a:p>
        </p:txBody>
      </p:sp>
      <p:sp>
        <p:nvSpPr>
          <p:cNvPr id="4" name="Text 2"/>
          <p:cNvSpPr/>
          <p:nvPr/>
        </p:nvSpPr>
        <p:spPr>
          <a:xfrm>
            <a:off x="790932" y="2204799"/>
            <a:ext cx="2313503" cy="289084"/>
          </a:xfrm>
          <a:prstGeom prst="rect">
            <a:avLst/>
          </a:prstGeom>
          <a:noFill/>
          <a:ln/>
        </p:spPr>
        <p:txBody>
          <a:bodyPr wrap="none" lIns="0" tIns="0" rIns="0" bIns="0" rtlCol="0" anchor="t"/>
          <a:lstStyle/>
          <a:p>
            <a:pPr marL="0" indent="0" algn="l">
              <a:lnSpc>
                <a:spcPts val="2250"/>
              </a:lnSpc>
              <a:buNone/>
            </a:pPr>
            <a:r>
              <a:rPr lang="en-US" sz="1800" dirty="0">
                <a:solidFill>
                  <a:srgbClr val="020202"/>
                </a:solidFill>
                <a:latin typeface="PT Serif" pitchFamily="34" charset="0"/>
                <a:ea typeface="PT Serif" pitchFamily="34" charset="-122"/>
                <a:cs typeface="PT Serif" pitchFamily="34" charset="-120"/>
              </a:rPr>
              <a:t>Model Predictions</a:t>
            </a:r>
            <a:endParaRPr lang="en-US" sz="1800" dirty="0"/>
          </a:p>
        </p:txBody>
      </p:sp>
      <p:sp>
        <p:nvSpPr>
          <p:cNvPr id="5" name="Shape 3"/>
          <p:cNvSpPr/>
          <p:nvPr/>
        </p:nvSpPr>
        <p:spPr>
          <a:xfrm>
            <a:off x="790932" y="2714149"/>
            <a:ext cx="13048536" cy="3000613"/>
          </a:xfrm>
          <a:prstGeom prst="roundRect">
            <a:avLst>
              <a:gd name="adj" fmla="val 734"/>
            </a:avLst>
          </a:prstGeom>
          <a:noFill/>
          <a:ln w="7620">
            <a:solidFill>
              <a:srgbClr val="000000">
                <a:alpha val="8000"/>
              </a:srgbClr>
            </a:solidFill>
            <a:prstDash val="solid"/>
          </a:ln>
        </p:spPr>
      </p:sp>
      <p:sp>
        <p:nvSpPr>
          <p:cNvPr id="6" name="Shape 4"/>
          <p:cNvSpPr/>
          <p:nvPr/>
        </p:nvSpPr>
        <p:spPr>
          <a:xfrm>
            <a:off x="798552" y="2721769"/>
            <a:ext cx="13035796" cy="426482"/>
          </a:xfrm>
          <a:prstGeom prst="rect">
            <a:avLst/>
          </a:prstGeom>
          <a:solidFill>
            <a:srgbClr val="FFFFFF">
              <a:alpha val="4000"/>
            </a:srgbClr>
          </a:solidFill>
          <a:ln/>
        </p:spPr>
      </p:sp>
      <p:sp>
        <p:nvSpPr>
          <p:cNvPr id="7" name="Text 5"/>
          <p:cNvSpPr/>
          <p:nvPr/>
        </p:nvSpPr>
        <p:spPr>
          <a:xfrm>
            <a:off x="945952" y="2817495"/>
            <a:ext cx="1875115" cy="235029"/>
          </a:xfrm>
          <a:prstGeom prst="rect">
            <a:avLst/>
          </a:prstGeom>
          <a:noFill/>
          <a:ln/>
        </p:spPr>
        <p:txBody>
          <a:bodyPr wrap="none" lIns="0" tIns="0" rIns="0" bIns="0" rtlCol="0" anchor="t"/>
          <a:lstStyle/>
          <a:p>
            <a:pPr marL="0" indent="0" algn="l">
              <a:lnSpc>
                <a:spcPts val="1850"/>
              </a:lnSpc>
              <a:buNone/>
            </a:pPr>
            <a:r>
              <a:rPr lang="en-US" sz="1150" b="1" dirty="0">
                <a:solidFill>
                  <a:srgbClr val="383838"/>
                </a:solidFill>
                <a:latin typeface="DM Sans" pitchFamily="34" charset="0"/>
                <a:ea typeface="DM Sans" pitchFamily="34" charset="-122"/>
                <a:cs typeface="DM Sans" pitchFamily="34" charset="-120"/>
              </a:rPr>
              <a:t>Customer ID</a:t>
            </a:r>
            <a:endParaRPr lang="en-US" sz="1150" dirty="0"/>
          </a:p>
        </p:txBody>
      </p:sp>
      <p:sp>
        <p:nvSpPr>
          <p:cNvPr id="8" name="Text 6"/>
          <p:cNvSpPr/>
          <p:nvPr/>
        </p:nvSpPr>
        <p:spPr>
          <a:xfrm>
            <a:off x="3122295" y="2817495"/>
            <a:ext cx="1871305" cy="235029"/>
          </a:xfrm>
          <a:prstGeom prst="rect">
            <a:avLst/>
          </a:prstGeom>
          <a:noFill/>
          <a:ln/>
        </p:spPr>
        <p:txBody>
          <a:bodyPr wrap="none" lIns="0" tIns="0" rIns="0" bIns="0" rtlCol="0" anchor="t"/>
          <a:lstStyle/>
          <a:p>
            <a:pPr marL="0" indent="0" algn="l">
              <a:lnSpc>
                <a:spcPts val="1850"/>
              </a:lnSpc>
              <a:buNone/>
            </a:pPr>
            <a:r>
              <a:rPr lang="en-US" sz="1150" b="1" dirty="0">
                <a:solidFill>
                  <a:srgbClr val="383838"/>
                </a:solidFill>
                <a:latin typeface="DM Sans" pitchFamily="34" charset="0"/>
                <a:ea typeface="DM Sans" pitchFamily="34" charset="-122"/>
                <a:cs typeface="DM Sans" pitchFamily="34" charset="-120"/>
              </a:rPr>
              <a:t>Region</a:t>
            </a:r>
            <a:endParaRPr lang="en-US" sz="1150" dirty="0"/>
          </a:p>
        </p:txBody>
      </p:sp>
      <p:sp>
        <p:nvSpPr>
          <p:cNvPr id="9" name="Text 7"/>
          <p:cNvSpPr/>
          <p:nvPr/>
        </p:nvSpPr>
        <p:spPr>
          <a:xfrm>
            <a:off x="5294828" y="2817495"/>
            <a:ext cx="1871305" cy="235029"/>
          </a:xfrm>
          <a:prstGeom prst="rect">
            <a:avLst/>
          </a:prstGeom>
          <a:noFill/>
          <a:ln/>
        </p:spPr>
        <p:txBody>
          <a:bodyPr wrap="none" lIns="0" tIns="0" rIns="0" bIns="0" rtlCol="0" anchor="t"/>
          <a:lstStyle/>
          <a:p>
            <a:pPr marL="0" indent="0" algn="l">
              <a:lnSpc>
                <a:spcPts val="1850"/>
              </a:lnSpc>
              <a:buNone/>
            </a:pPr>
            <a:r>
              <a:rPr lang="en-US" sz="1150" b="1" dirty="0">
                <a:solidFill>
                  <a:srgbClr val="383838"/>
                </a:solidFill>
                <a:latin typeface="DM Sans" pitchFamily="34" charset="0"/>
                <a:ea typeface="DM Sans" pitchFamily="34" charset="-122"/>
                <a:cs typeface="DM Sans" pitchFamily="34" charset="-120"/>
              </a:rPr>
              <a:t>Tier</a:t>
            </a:r>
            <a:endParaRPr lang="en-US" sz="1150" dirty="0"/>
          </a:p>
        </p:txBody>
      </p:sp>
      <p:sp>
        <p:nvSpPr>
          <p:cNvPr id="10" name="Text 8"/>
          <p:cNvSpPr/>
          <p:nvPr/>
        </p:nvSpPr>
        <p:spPr>
          <a:xfrm>
            <a:off x="7467362" y="2817495"/>
            <a:ext cx="1871305" cy="235029"/>
          </a:xfrm>
          <a:prstGeom prst="rect">
            <a:avLst/>
          </a:prstGeom>
          <a:noFill/>
          <a:ln/>
        </p:spPr>
        <p:txBody>
          <a:bodyPr wrap="none" lIns="0" tIns="0" rIns="0" bIns="0" rtlCol="0" anchor="t"/>
          <a:lstStyle/>
          <a:p>
            <a:pPr marL="0" indent="0" algn="l">
              <a:lnSpc>
                <a:spcPts val="1850"/>
              </a:lnSpc>
              <a:buNone/>
            </a:pPr>
            <a:r>
              <a:rPr lang="en-US" sz="1150" b="1" dirty="0">
                <a:solidFill>
                  <a:srgbClr val="383838"/>
                </a:solidFill>
                <a:latin typeface="DM Sans" pitchFamily="34" charset="0"/>
                <a:ea typeface="DM Sans" pitchFamily="34" charset="-122"/>
                <a:cs typeface="DM Sans" pitchFamily="34" charset="-120"/>
              </a:rPr>
              <a:t>Age</a:t>
            </a:r>
            <a:endParaRPr lang="en-US" sz="1150" dirty="0"/>
          </a:p>
        </p:txBody>
      </p:sp>
      <p:sp>
        <p:nvSpPr>
          <p:cNvPr id="11" name="Text 9"/>
          <p:cNvSpPr/>
          <p:nvPr/>
        </p:nvSpPr>
        <p:spPr>
          <a:xfrm>
            <a:off x="9639895" y="2817495"/>
            <a:ext cx="1871305" cy="235029"/>
          </a:xfrm>
          <a:prstGeom prst="rect">
            <a:avLst/>
          </a:prstGeom>
          <a:noFill/>
          <a:ln/>
        </p:spPr>
        <p:txBody>
          <a:bodyPr wrap="none" lIns="0" tIns="0" rIns="0" bIns="0" rtlCol="0" anchor="t"/>
          <a:lstStyle/>
          <a:p>
            <a:pPr marL="0" indent="0" algn="l">
              <a:lnSpc>
                <a:spcPts val="1850"/>
              </a:lnSpc>
              <a:buNone/>
            </a:pPr>
            <a:r>
              <a:rPr lang="en-US" sz="1150" b="1" dirty="0">
                <a:solidFill>
                  <a:srgbClr val="383838"/>
                </a:solidFill>
                <a:latin typeface="DM Sans" pitchFamily="34" charset="0"/>
                <a:ea typeface="DM Sans" pitchFamily="34" charset="-122"/>
                <a:cs typeface="DM Sans" pitchFamily="34" charset="-120"/>
              </a:rPr>
              <a:t>Observed (ncomp)</a:t>
            </a:r>
            <a:endParaRPr lang="en-US" sz="1150" dirty="0"/>
          </a:p>
        </p:txBody>
      </p:sp>
      <p:sp>
        <p:nvSpPr>
          <p:cNvPr id="12" name="Text 10"/>
          <p:cNvSpPr/>
          <p:nvPr/>
        </p:nvSpPr>
        <p:spPr>
          <a:xfrm>
            <a:off x="11812429" y="2817495"/>
            <a:ext cx="1875115" cy="235029"/>
          </a:xfrm>
          <a:prstGeom prst="rect">
            <a:avLst/>
          </a:prstGeom>
          <a:noFill/>
          <a:ln/>
        </p:spPr>
        <p:txBody>
          <a:bodyPr wrap="none" lIns="0" tIns="0" rIns="0" bIns="0" rtlCol="0" anchor="t"/>
          <a:lstStyle/>
          <a:p>
            <a:pPr marL="0" indent="0" algn="l">
              <a:lnSpc>
                <a:spcPts val="1850"/>
              </a:lnSpc>
              <a:buNone/>
            </a:pPr>
            <a:r>
              <a:rPr lang="en-US" sz="1150" b="1" dirty="0">
                <a:solidFill>
                  <a:srgbClr val="383838"/>
                </a:solidFill>
                <a:latin typeface="DM Sans" pitchFamily="34" charset="0"/>
                <a:ea typeface="DM Sans" pitchFamily="34" charset="-122"/>
                <a:cs typeface="DM Sans" pitchFamily="34" charset="-120"/>
              </a:rPr>
              <a:t>Predicted</a:t>
            </a:r>
            <a:endParaRPr lang="en-US" sz="1150" dirty="0"/>
          </a:p>
        </p:txBody>
      </p:sp>
      <p:sp>
        <p:nvSpPr>
          <p:cNvPr id="13" name="Shape 11"/>
          <p:cNvSpPr/>
          <p:nvPr/>
        </p:nvSpPr>
        <p:spPr>
          <a:xfrm>
            <a:off x="798552" y="3148251"/>
            <a:ext cx="13035796" cy="426482"/>
          </a:xfrm>
          <a:prstGeom prst="rect">
            <a:avLst/>
          </a:prstGeom>
          <a:solidFill>
            <a:srgbClr val="000000">
              <a:alpha val="4000"/>
            </a:srgbClr>
          </a:solidFill>
          <a:ln/>
        </p:spPr>
      </p:sp>
      <p:sp>
        <p:nvSpPr>
          <p:cNvPr id="14" name="Text 12"/>
          <p:cNvSpPr/>
          <p:nvPr/>
        </p:nvSpPr>
        <p:spPr>
          <a:xfrm>
            <a:off x="945952" y="3243977"/>
            <a:ext cx="187511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1</a:t>
            </a:r>
            <a:endParaRPr lang="en-US" sz="1150" dirty="0"/>
          </a:p>
        </p:txBody>
      </p:sp>
      <p:sp>
        <p:nvSpPr>
          <p:cNvPr id="15" name="Text 13"/>
          <p:cNvSpPr/>
          <p:nvPr/>
        </p:nvSpPr>
        <p:spPr>
          <a:xfrm>
            <a:off x="3122295" y="3243977"/>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N</a:t>
            </a:r>
            <a:endParaRPr lang="en-US" sz="1150" dirty="0"/>
          </a:p>
        </p:txBody>
      </p:sp>
      <p:sp>
        <p:nvSpPr>
          <p:cNvPr id="16" name="Text 14"/>
          <p:cNvSpPr/>
          <p:nvPr/>
        </p:nvSpPr>
        <p:spPr>
          <a:xfrm>
            <a:off x="5294828" y="3243977"/>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platinum</a:t>
            </a:r>
            <a:endParaRPr lang="en-US" sz="1150" dirty="0"/>
          </a:p>
        </p:txBody>
      </p:sp>
      <p:sp>
        <p:nvSpPr>
          <p:cNvPr id="17" name="Text 15"/>
          <p:cNvSpPr/>
          <p:nvPr/>
        </p:nvSpPr>
        <p:spPr>
          <a:xfrm>
            <a:off x="7467362" y="3243977"/>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less2</a:t>
            </a:r>
            <a:endParaRPr lang="en-US" sz="1150" dirty="0"/>
          </a:p>
        </p:txBody>
      </p:sp>
      <p:sp>
        <p:nvSpPr>
          <p:cNvPr id="18" name="Text 16"/>
          <p:cNvSpPr/>
          <p:nvPr/>
        </p:nvSpPr>
        <p:spPr>
          <a:xfrm>
            <a:off x="9639895" y="3243977"/>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0</a:t>
            </a:r>
            <a:endParaRPr lang="en-US" sz="1150" dirty="0"/>
          </a:p>
        </p:txBody>
      </p:sp>
      <p:sp>
        <p:nvSpPr>
          <p:cNvPr id="19" name="Text 17"/>
          <p:cNvSpPr/>
          <p:nvPr/>
        </p:nvSpPr>
        <p:spPr>
          <a:xfrm>
            <a:off x="11812429" y="3243977"/>
            <a:ext cx="187511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1.84</a:t>
            </a:r>
            <a:endParaRPr lang="en-US" sz="1150" dirty="0"/>
          </a:p>
        </p:txBody>
      </p:sp>
      <p:sp>
        <p:nvSpPr>
          <p:cNvPr id="20" name="Shape 18"/>
          <p:cNvSpPr/>
          <p:nvPr/>
        </p:nvSpPr>
        <p:spPr>
          <a:xfrm>
            <a:off x="798552" y="3574733"/>
            <a:ext cx="13035796" cy="426482"/>
          </a:xfrm>
          <a:prstGeom prst="rect">
            <a:avLst/>
          </a:prstGeom>
          <a:solidFill>
            <a:srgbClr val="FFFFFF">
              <a:alpha val="4000"/>
            </a:srgbClr>
          </a:solidFill>
          <a:ln/>
        </p:spPr>
      </p:sp>
      <p:sp>
        <p:nvSpPr>
          <p:cNvPr id="21" name="Text 19"/>
          <p:cNvSpPr/>
          <p:nvPr/>
        </p:nvSpPr>
        <p:spPr>
          <a:xfrm>
            <a:off x="945952" y="3670459"/>
            <a:ext cx="187511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2</a:t>
            </a:r>
            <a:endParaRPr lang="en-US" sz="1150" dirty="0"/>
          </a:p>
        </p:txBody>
      </p:sp>
      <p:sp>
        <p:nvSpPr>
          <p:cNvPr id="22" name="Text 20"/>
          <p:cNvSpPr/>
          <p:nvPr/>
        </p:nvSpPr>
        <p:spPr>
          <a:xfrm>
            <a:off x="3122295" y="3670459"/>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W</a:t>
            </a:r>
            <a:endParaRPr lang="en-US" sz="1150" dirty="0"/>
          </a:p>
        </p:txBody>
      </p:sp>
      <p:sp>
        <p:nvSpPr>
          <p:cNvPr id="23" name="Text 21"/>
          <p:cNvSpPr/>
          <p:nvPr/>
        </p:nvSpPr>
        <p:spPr>
          <a:xfrm>
            <a:off x="5294828" y="3670459"/>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gold</a:t>
            </a:r>
            <a:endParaRPr lang="en-US" sz="1150" dirty="0"/>
          </a:p>
        </p:txBody>
      </p:sp>
      <p:sp>
        <p:nvSpPr>
          <p:cNvPr id="24" name="Text 22"/>
          <p:cNvSpPr/>
          <p:nvPr/>
        </p:nvSpPr>
        <p:spPr>
          <a:xfrm>
            <a:off x="7467362" y="3670459"/>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more2</a:t>
            </a:r>
            <a:endParaRPr lang="en-US" sz="1150" dirty="0"/>
          </a:p>
        </p:txBody>
      </p:sp>
      <p:sp>
        <p:nvSpPr>
          <p:cNvPr id="25" name="Text 23"/>
          <p:cNvSpPr/>
          <p:nvPr/>
        </p:nvSpPr>
        <p:spPr>
          <a:xfrm>
            <a:off x="9639895" y="3670459"/>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3</a:t>
            </a:r>
            <a:endParaRPr lang="en-US" sz="1150" dirty="0"/>
          </a:p>
        </p:txBody>
      </p:sp>
      <p:sp>
        <p:nvSpPr>
          <p:cNvPr id="26" name="Text 24"/>
          <p:cNvSpPr/>
          <p:nvPr/>
        </p:nvSpPr>
        <p:spPr>
          <a:xfrm>
            <a:off x="11812429" y="3670459"/>
            <a:ext cx="187511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4.21</a:t>
            </a:r>
            <a:endParaRPr lang="en-US" sz="1150" dirty="0"/>
          </a:p>
        </p:txBody>
      </p:sp>
      <p:sp>
        <p:nvSpPr>
          <p:cNvPr id="27" name="Shape 25"/>
          <p:cNvSpPr/>
          <p:nvPr/>
        </p:nvSpPr>
        <p:spPr>
          <a:xfrm>
            <a:off x="798552" y="4001214"/>
            <a:ext cx="13035796" cy="426482"/>
          </a:xfrm>
          <a:prstGeom prst="rect">
            <a:avLst/>
          </a:prstGeom>
          <a:solidFill>
            <a:srgbClr val="000000">
              <a:alpha val="4000"/>
            </a:srgbClr>
          </a:solidFill>
          <a:ln/>
        </p:spPr>
      </p:sp>
      <p:sp>
        <p:nvSpPr>
          <p:cNvPr id="28" name="Text 26"/>
          <p:cNvSpPr/>
          <p:nvPr/>
        </p:nvSpPr>
        <p:spPr>
          <a:xfrm>
            <a:off x="945952" y="4096941"/>
            <a:ext cx="187511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3</a:t>
            </a:r>
            <a:endParaRPr lang="en-US" sz="1150" dirty="0"/>
          </a:p>
        </p:txBody>
      </p:sp>
      <p:sp>
        <p:nvSpPr>
          <p:cNvPr id="29" name="Text 27"/>
          <p:cNvSpPr/>
          <p:nvPr/>
        </p:nvSpPr>
        <p:spPr>
          <a:xfrm>
            <a:off x="3122295" y="4096941"/>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W</a:t>
            </a:r>
            <a:endParaRPr lang="en-US" sz="1150" dirty="0"/>
          </a:p>
        </p:txBody>
      </p:sp>
      <p:sp>
        <p:nvSpPr>
          <p:cNvPr id="30" name="Text 28"/>
          <p:cNvSpPr/>
          <p:nvPr/>
        </p:nvSpPr>
        <p:spPr>
          <a:xfrm>
            <a:off x="5294828" y="4096941"/>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silver</a:t>
            </a:r>
            <a:endParaRPr lang="en-US" sz="1150" dirty="0"/>
          </a:p>
        </p:txBody>
      </p:sp>
      <p:sp>
        <p:nvSpPr>
          <p:cNvPr id="31" name="Text 29"/>
          <p:cNvSpPr/>
          <p:nvPr/>
        </p:nvSpPr>
        <p:spPr>
          <a:xfrm>
            <a:off x="7467362" y="4096941"/>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less2</a:t>
            </a:r>
            <a:endParaRPr lang="en-US" sz="1150" dirty="0"/>
          </a:p>
        </p:txBody>
      </p:sp>
      <p:sp>
        <p:nvSpPr>
          <p:cNvPr id="32" name="Text 30"/>
          <p:cNvSpPr/>
          <p:nvPr/>
        </p:nvSpPr>
        <p:spPr>
          <a:xfrm>
            <a:off x="9639895" y="4096941"/>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9</a:t>
            </a:r>
            <a:endParaRPr lang="en-US" sz="1150" dirty="0"/>
          </a:p>
        </p:txBody>
      </p:sp>
      <p:sp>
        <p:nvSpPr>
          <p:cNvPr id="33" name="Text 31"/>
          <p:cNvSpPr/>
          <p:nvPr/>
        </p:nvSpPr>
        <p:spPr>
          <a:xfrm>
            <a:off x="11812429" y="4096941"/>
            <a:ext cx="187511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6.39</a:t>
            </a:r>
            <a:endParaRPr lang="en-US" sz="1150" dirty="0"/>
          </a:p>
        </p:txBody>
      </p:sp>
      <p:sp>
        <p:nvSpPr>
          <p:cNvPr id="34" name="Shape 32"/>
          <p:cNvSpPr/>
          <p:nvPr/>
        </p:nvSpPr>
        <p:spPr>
          <a:xfrm>
            <a:off x="798552" y="4427696"/>
            <a:ext cx="13035796" cy="426482"/>
          </a:xfrm>
          <a:prstGeom prst="rect">
            <a:avLst/>
          </a:prstGeom>
          <a:solidFill>
            <a:srgbClr val="FFFFFF">
              <a:alpha val="4000"/>
            </a:srgbClr>
          </a:solidFill>
          <a:ln/>
        </p:spPr>
      </p:sp>
      <p:sp>
        <p:nvSpPr>
          <p:cNvPr id="35" name="Text 33"/>
          <p:cNvSpPr/>
          <p:nvPr/>
        </p:nvSpPr>
        <p:spPr>
          <a:xfrm>
            <a:off x="945952" y="4523423"/>
            <a:ext cx="187511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4</a:t>
            </a:r>
            <a:endParaRPr lang="en-US" sz="1150" dirty="0"/>
          </a:p>
        </p:txBody>
      </p:sp>
      <p:sp>
        <p:nvSpPr>
          <p:cNvPr id="36" name="Text 34"/>
          <p:cNvSpPr/>
          <p:nvPr/>
        </p:nvSpPr>
        <p:spPr>
          <a:xfrm>
            <a:off x="3122295" y="4523423"/>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S</a:t>
            </a:r>
            <a:endParaRPr lang="en-US" sz="1150" dirty="0"/>
          </a:p>
        </p:txBody>
      </p:sp>
      <p:sp>
        <p:nvSpPr>
          <p:cNvPr id="37" name="Text 35"/>
          <p:cNvSpPr/>
          <p:nvPr/>
        </p:nvSpPr>
        <p:spPr>
          <a:xfrm>
            <a:off x="5294828" y="4523423"/>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silver</a:t>
            </a:r>
            <a:endParaRPr lang="en-US" sz="1150" dirty="0"/>
          </a:p>
        </p:txBody>
      </p:sp>
      <p:sp>
        <p:nvSpPr>
          <p:cNvPr id="38" name="Text 36"/>
          <p:cNvSpPr/>
          <p:nvPr/>
        </p:nvSpPr>
        <p:spPr>
          <a:xfrm>
            <a:off x="7467362" y="4523423"/>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less2</a:t>
            </a:r>
            <a:endParaRPr lang="en-US" sz="1150" dirty="0"/>
          </a:p>
        </p:txBody>
      </p:sp>
      <p:sp>
        <p:nvSpPr>
          <p:cNvPr id="39" name="Text 37"/>
          <p:cNvSpPr/>
          <p:nvPr/>
        </p:nvSpPr>
        <p:spPr>
          <a:xfrm>
            <a:off x="9639895" y="4523423"/>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6</a:t>
            </a:r>
            <a:endParaRPr lang="en-US" sz="1150" dirty="0"/>
          </a:p>
        </p:txBody>
      </p:sp>
      <p:sp>
        <p:nvSpPr>
          <p:cNvPr id="40" name="Text 38"/>
          <p:cNvSpPr/>
          <p:nvPr/>
        </p:nvSpPr>
        <p:spPr>
          <a:xfrm>
            <a:off x="11812429" y="4523423"/>
            <a:ext cx="187511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5.67</a:t>
            </a:r>
            <a:endParaRPr lang="en-US" sz="1150" dirty="0"/>
          </a:p>
        </p:txBody>
      </p:sp>
      <p:sp>
        <p:nvSpPr>
          <p:cNvPr id="41" name="Shape 39"/>
          <p:cNvSpPr/>
          <p:nvPr/>
        </p:nvSpPr>
        <p:spPr>
          <a:xfrm>
            <a:off x="798552" y="4854178"/>
            <a:ext cx="13035796" cy="426482"/>
          </a:xfrm>
          <a:prstGeom prst="rect">
            <a:avLst/>
          </a:prstGeom>
          <a:solidFill>
            <a:srgbClr val="000000">
              <a:alpha val="4000"/>
            </a:srgbClr>
          </a:solidFill>
          <a:ln/>
        </p:spPr>
      </p:sp>
      <p:sp>
        <p:nvSpPr>
          <p:cNvPr id="42" name="Text 40"/>
          <p:cNvSpPr/>
          <p:nvPr/>
        </p:nvSpPr>
        <p:spPr>
          <a:xfrm>
            <a:off x="945952" y="4949904"/>
            <a:ext cx="187511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5</a:t>
            </a:r>
            <a:endParaRPr lang="en-US" sz="1150" dirty="0"/>
          </a:p>
        </p:txBody>
      </p:sp>
      <p:sp>
        <p:nvSpPr>
          <p:cNvPr id="43" name="Text 41"/>
          <p:cNvSpPr/>
          <p:nvPr/>
        </p:nvSpPr>
        <p:spPr>
          <a:xfrm>
            <a:off x="3122295" y="4949904"/>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E</a:t>
            </a:r>
            <a:endParaRPr lang="en-US" sz="1150" dirty="0"/>
          </a:p>
        </p:txBody>
      </p:sp>
      <p:sp>
        <p:nvSpPr>
          <p:cNvPr id="44" name="Text 42"/>
          <p:cNvSpPr/>
          <p:nvPr/>
        </p:nvSpPr>
        <p:spPr>
          <a:xfrm>
            <a:off x="5294828" y="4949904"/>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silver</a:t>
            </a:r>
            <a:endParaRPr lang="en-US" sz="1150" dirty="0"/>
          </a:p>
        </p:txBody>
      </p:sp>
      <p:sp>
        <p:nvSpPr>
          <p:cNvPr id="45" name="Text 43"/>
          <p:cNvSpPr/>
          <p:nvPr/>
        </p:nvSpPr>
        <p:spPr>
          <a:xfrm>
            <a:off x="7467362" y="4949904"/>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less2</a:t>
            </a:r>
            <a:endParaRPr lang="en-US" sz="1150" dirty="0"/>
          </a:p>
        </p:txBody>
      </p:sp>
      <p:sp>
        <p:nvSpPr>
          <p:cNvPr id="46" name="Text 44"/>
          <p:cNvSpPr/>
          <p:nvPr/>
        </p:nvSpPr>
        <p:spPr>
          <a:xfrm>
            <a:off x="9639895" y="4949904"/>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7</a:t>
            </a:r>
            <a:endParaRPr lang="en-US" sz="1150" dirty="0"/>
          </a:p>
        </p:txBody>
      </p:sp>
      <p:sp>
        <p:nvSpPr>
          <p:cNvPr id="47" name="Text 45"/>
          <p:cNvSpPr/>
          <p:nvPr/>
        </p:nvSpPr>
        <p:spPr>
          <a:xfrm>
            <a:off x="11812429" y="4949904"/>
            <a:ext cx="187511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6.42</a:t>
            </a:r>
            <a:endParaRPr lang="en-US" sz="1150" dirty="0"/>
          </a:p>
        </p:txBody>
      </p:sp>
      <p:sp>
        <p:nvSpPr>
          <p:cNvPr id="48" name="Shape 46"/>
          <p:cNvSpPr/>
          <p:nvPr/>
        </p:nvSpPr>
        <p:spPr>
          <a:xfrm>
            <a:off x="798552" y="5280660"/>
            <a:ext cx="13035796" cy="426482"/>
          </a:xfrm>
          <a:prstGeom prst="rect">
            <a:avLst/>
          </a:prstGeom>
          <a:solidFill>
            <a:srgbClr val="FFFFFF">
              <a:alpha val="4000"/>
            </a:srgbClr>
          </a:solidFill>
          <a:ln/>
        </p:spPr>
      </p:sp>
      <p:sp>
        <p:nvSpPr>
          <p:cNvPr id="49" name="Text 47"/>
          <p:cNvSpPr/>
          <p:nvPr/>
        </p:nvSpPr>
        <p:spPr>
          <a:xfrm>
            <a:off x="945952" y="5376386"/>
            <a:ext cx="187511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6</a:t>
            </a:r>
            <a:endParaRPr lang="en-US" sz="1150" dirty="0"/>
          </a:p>
        </p:txBody>
      </p:sp>
      <p:sp>
        <p:nvSpPr>
          <p:cNvPr id="50" name="Text 48"/>
          <p:cNvSpPr/>
          <p:nvPr/>
        </p:nvSpPr>
        <p:spPr>
          <a:xfrm>
            <a:off x="3122295" y="5376386"/>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N</a:t>
            </a:r>
            <a:endParaRPr lang="en-US" sz="1150" dirty="0"/>
          </a:p>
        </p:txBody>
      </p:sp>
      <p:sp>
        <p:nvSpPr>
          <p:cNvPr id="51" name="Text 49"/>
          <p:cNvSpPr/>
          <p:nvPr/>
        </p:nvSpPr>
        <p:spPr>
          <a:xfrm>
            <a:off x="5294828" y="5376386"/>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silver</a:t>
            </a:r>
            <a:endParaRPr lang="en-US" sz="1150" dirty="0"/>
          </a:p>
        </p:txBody>
      </p:sp>
      <p:sp>
        <p:nvSpPr>
          <p:cNvPr id="52" name="Text 50"/>
          <p:cNvSpPr/>
          <p:nvPr/>
        </p:nvSpPr>
        <p:spPr>
          <a:xfrm>
            <a:off x="7467362" y="5376386"/>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less2</a:t>
            </a:r>
            <a:endParaRPr lang="en-US" sz="1150" dirty="0"/>
          </a:p>
        </p:txBody>
      </p:sp>
      <p:sp>
        <p:nvSpPr>
          <p:cNvPr id="53" name="Text 51"/>
          <p:cNvSpPr/>
          <p:nvPr/>
        </p:nvSpPr>
        <p:spPr>
          <a:xfrm>
            <a:off x="9639895" y="5376386"/>
            <a:ext cx="187130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5</a:t>
            </a:r>
            <a:endParaRPr lang="en-US" sz="1150" dirty="0"/>
          </a:p>
        </p:txBody>
      </p:sp>
      <p:sp>
        <p:nvSpPr>
          <p:cNvPr id="54" name="Text 52"/>
          <p:cNvSpPr/>
          <p:nvPr/>
        </p:nvSpPr>
        <p:spPr>
          <a:xfrm>
            <a:off x="11812429" y="5376386"/>
            <a:ext cx="1875115" cy="235029"/>
          </a:xfrm>
          <a:prstGeom prst="rect">
            <a:avLst/>
          </a:prstGeom>
          <a:noFill/>
          <a:ln/>
        </p:spPr>
        <p:txBody>
          <a:bodyPr wrap="none" lIns="0" tIns="0" rIns="0" bIns="0" rtlCol="0" anchor="t"/>
          <a:lstStyle/>
          <a:p>
            <a:pPr marL="0" indent="0" algn="l">
              <a:lnSpc>
                <a:spcPts val="1850"/>
              </a:lnSpc>
              <a:buNone/>
            </a:pPr>
            <a:r>
              <a:rPr lang="en-US" sz="1150" dirty="0">
                <a:solidFill>
                  <a:srgbClr val="383838"/>
                </a:solidFill>
                <a:latin typeface="DM Sans" pitchFamily="34" charset="0"/>
                <a:ea typeface="DM Sans" pitchFamily="34" charset="-122"/>
                <a:cs typeface="DM Sans" pitchFamily="34" charset="-120"/>
              </a:rPr>
              <a:t>4.98</a:t>
            </a:r>
            <a:endParaRPr lang="en-US" sz="1150" dirty="0"/>
          </a:p>
        </p:txBody>
      </p:sp>
      <p:sp>
        <p:nvSpPr>
          <p:cNvPr id="55" name="Text 53"/>
          <p:cNvSpPr/>
          <p:nvPr/>
        </p:nvSpPr>
        <p:spPr>
          <a:xfrm>
            <a:off x="790932" y="5879902"/>
            <a:ext cx="13048536" cy="587454"/>
          </a:xfrm>
          <a:prstGeom prst="rect">
            <a:avLst/>
          </a:prstGeom>
          <a:noFill/>
          <a:ln/>
        </p:spPr>
        <p:txBody>
          <a:bodyPr wrap="square" lIns="0" tIns="0" rIns="0" bIns="0" rtlCol="0" anchor="t"/>
          <a:lstStyle/>
          <a:p>
            <a:pPr marL="0" indent="0" algn="l">
              <a:lnSpc>
                <a:spcPts val="2300"/>
              </a:lnSpc>
              <a:buNone/>
            </a:pPr>
            <a:r>
              <a:rPr lang="en-US" sz="1600" b="1" dirty="0">
                <a:solidFill>
                  <a:srgbClr val="383838"/>
                </a:solidFill>
                <a:latin typeface="DM Sans" pitchFamily="34" charset="0"/>
                <a:ea typeface="DM Sans" pitchFamily="34" charset="-122"/>
                <a:cs typeface="DM Sans" pitchFamily="34" charset="-120"/>
              </a:rPr>
              <a:t>Interpretation:</a:t>
            </a:r>
            <a:r>
              <a:rPr lang="en-US" sz="1600" dirty="0">
                <a:solidFill>
                  <a:srgbClr val="383838"/>
                </a:solidFill>
                <a:latin typeface="DM Sans" pitchFamily="34" charset="0"/>
                <a:ea typeface="DM Sans" pitchFamily="34" charset="-122"/>
                <a:cs typeface="DM Sans" pitchFamily="34" charset="-120"/>
              </a:rPr>
              <a:t> The last two columns show observed and predicted values of "ncomp" (number of complaints). The model provides reasonable predictions that can be used for capacity planning and resource allocation in the call center.</a:t>
            </a:r>
            <a:endParaRPr lang="en-US" sz="1600" dirty="0"/>
          </a:p>
        </p:txBody>
      </p:sp>
      <p:sp>
        <p:nvSpPr>
          <p:cNvPr id="56" name="Shape 54"/>
          <p:cNvSpPr/>
          <p:nvPr/>
        </p:nvSpPr>
        <p:spPr>
          <a:xfrm>
            <a:off x="790932" y="6632496"/>
            <a:ext cx="13048536" cy="976432"/>
          </a:xfrm>
          <a:prstGeom prst="roundRect">
            <a:avLst>
              <a:gd name="adj" fmla="val 2257"/>
            </a:avLst>
          </a:prstGeom>
          <a:solidFill>
            <a:srgbClr val="FFCDB3"/>
          </a:solidFill>
          <a:ln/>
        </p:spPr>
      </p:sp>
      <p:pic>
        <p:nvPicPr>
          <p:cNvPr id="57" name="Image 0" descr="preencoded.png"/>
          <p:cNvPicPr>
            <a:picLocks noChangeAspect="1"/>
          </p:cNvPicPr>
          <p:nvPr/>
        </p:nvPicPr>
        <p:blipFill>
          <a:blip r:embed="rId3"/>
          <a:stretch>
            <a:fillRect/>
          </a:stretch>
        </p:blipFill>
        <p:spPr>
          <a:xfrm>
            <a:off x="937736" y="6860977"/>
            <a:ext cx="229433" cy="183594"/>
          </a:xfrm>
          <a:prstGeom prst="rect">
            <a:avLst/>
          </a:prstGeom>
        </p:spPr>
      </p:pic>
      <p:sp>
        <p:nvSpPr>
          <p:cNvPr id="58" name="Text 55"/>
          <p:cNvSpPr/>
          <p:nvPr/>
        </p:nvSpPr>
        <p:spPr>
          <a:xfrm>
            <a:off x="1313974" y="6815971"/>
            <a:ext cx="12378690" cy="587454"/>
          </a:xfrm>
          <a:prstGeom prst="rect">
            <a:avLst/>
          </a:prstGeom>
          <a:noFill/>
          <a:ln/>
        </p:spPr>
        <p:txBody>
          <a:bodyPr wrap="square" lIns="0" tIns="0" rIns="0" bIns="0" rtlCol="0" anchor="t"/>
          <a:lstStyle/>
          <a:p>
            <a:pPr marL="0" indent="0" algn="l">
              <a:lnSpc>
                <a:spcPts val="2300"/>
              </a:lnSpc>
              <a:buNone/>
            </a:pPr>
            <a:r>
              <a:rPr lang="en-US" sz="1600" dirty="0">
                <a:solidFill>
                  <a:srgbClr val="000000"/>
                </a:solidFill>
                <a:latin typeface="DM Sans" pitchFamily="34" charset="0"/>
                <a:ea typeface="DM Sans" pitchFamily="34" charset="-122"/>
                <a:cs typeface="DM Sans" pitchFamily="34" charset="-120"/>
              </a:rPr>
              <a:t>These predictions enable the company to estimate expected complaint volumes for the 20,000 new customers in the next phase of the loyalty program.</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947976"/>
            <a:ext cx="9871353" cy="565666"/>
          </a:xfrm>
          <a:prstGeom prst="rect">
            <a:avLst/>
          </a:prstGeom>
          <a:noFill/>
          <a:ln/>
        </p:spPr>
        <p:txBody>
          <a:bodyPr wrap="none" lIns="0" tIns="0" rIns="0" bIns="0" rtlCol="0" anchor="t"/>
          <a:lstStyle/>
          <a:p>
            <a:pPr marL="0" indent="0" algn="l">
              <a:lnSpc>
                <a:spcPts val="4450"/>
              </a:lnSpc>
              <a:buNone/>
            </a:pPr>
            <a:r>
              <a:rPr lang="en-US" sz="3750" dirty="0">
                <a:solidFill>
                  <a:srgbClr val="020202"/>
                </a:solidFill>
                <a:latin typeface="PT Serif" pitchFamily="34" charset="0"/>
                <a:ea typeface="PT Serif" pitchFamily="34" charset="-122"/>
                <a:cs typeface="PT Serif" pitchFamily="34" charset="-120"/>
              </a:rPr>
              <a:t>Introduction to Zero-Inflated Poisson Regression</a:t>
            </a:r>
            <a:endParaRPr lang="en-US" sz="3750" dirty="0"/>
          </a:p>
        </p:txBody>
      </p:sp>
      <p:sp>
        <p:nvSpPr>
          <p:cNvPr id="11" name="TextBox 10">
            <a:extLst>
              <a:ext uri="{FF2B5EF4-FFF2-40B4-BE49-F238E27FC236}">
                <a16:creationId xmlns:a16="http://schemas.microsoft.com/office/drawing/2014/main" id="{4FE5268F-51CB-2837-B27E-FA1DCF504039}"/>
              </a:ext>
            </a:extLst>
          </p:cNvPr>
          <p:cNvSpPr txBox="1"/>
          <p:nvPr/>
        </p:nvSpPr>
        <p:spPr>
          <a:xfrm>
            <a:off x="793790" y="2036270"/>
            <a:ext cx="11403106" cy="2542363"/>
          </a:xfrm>
          <a:prstGeom prst="rect">
            <a:avLst/>
          </a:prstGeom>
          <a:noFill/>
        </p:spPr>
        <p:txBody>
          <a:bodyPr wrap="square" rtlCol="0">
            <a:spAutoFit/>
          </a:bodyPr>
          <a:lstStyle/>
          <a:p>
            <a:pPr marL="342900" indent="-342900">
              <a:lnSpc>
                <a:spcPct val="150000"/>
              </a:lnSpc>
              <a:buFont typeface="Arial" pitchFamily="34" charset="0"/>
              <a:buChar char="•"/>
            </a:pPr>
            <a:r>
              <a:rPr lang="en-US" dirty="0">
                <a:solidFill>
                  <a:schemeClr val="tx1">
                    <a:lumMod val="75000"/>
                    <a:lumOff val="25000"/>
                  </a:schemeClr>
                </a:solidFill>
                <a:latin typeface="DM Sans" pitchFamily="2" charset="0"/>
              </a:rPr>
              <a:t>One common cause of over-dispersion is excess zeros, which in turn are generated by an additional data generating process.  In this situation, </a:t>
            </a:r>
            <a:r>
              <a:rPr lang="en-US" b="1" dirty="0">
                <a:solidFill>
                  <a:schemeClr val="tx1">
                    <a:lumMod val="75000"/>
                    <a:lumOff val="25000"/>
                  </a:schemeClr>
                </a:solidFill>
                <a:latin typeface="DM Sans" pitchFamily="2" charset="0"/>
              </a:rPr>
              <a:t>zero-inflated </a:t>
            </a:r>
            <a:r>
              <a:rPr lang="en-US" b="1" dirty="0" err="1">
                <a:solidFill>
                  <a:schemeClr val="tx1">
                    <a:lumMod val="75000"/>
                    <a:lumOff val="25000"/>
                  </a:schemeClr>
                </a:solidFill>
                <a:latin typeface="DM Sans" pitchFamily="2" charset="0"/>
              </a:rPr>
              <a:t>poisson</a:t>
            </a:r>
            <a:r>
              <a:rPr lang="en-US" b="1" dirty="0">
                <a:solidFill>
                  <a:schemeClr val="tx1">
                    <a:lumMod val="75000"/>
                    <a:lumOff val="25000"/>
                  </a:schemeClr>
                </a:solidFill>
                <a:latin typeface="DM Sans" pitchFamily="2" charset="0"/>
              </a:rPr>
              <a:t> regression</a:t>
            </a:r>
            <a:r>
              <a:rPr lang="en-US" dirty="0">
                <a:solidFill>
                  <a:schemeClr val="tx1">
                    <a:lumMod val="75000"/>
                    <a:lumOff val="25000"/>
                  </a:schemeClr>
                </a:solidFill>
                <a:latin typeface="DM Sans" pitchFamily="2" charset="0"/>
              </a:rPr>
              <a:t> should be considered</a:t>
            </a:r>
          </a:p>
          <a:p>
            <a:pPr marL="342900" indent="-342900">
              <a:lnSpc>
                <a:spcPct val="150000"/>
              </a:lnSpc>
              <a:buFont typeface="Arial" pitchFamily="34" charset="0"/>
              <a:buChar char="•"/>
            </a:pPr>
            <a:endParaRPr lang="en-US" dirty="0">
              <a:solidFill>
                <a:schemeClr val="tx1">
                  <a:lumMod val="75000"/>
                  <a:lumOff val="25000"/>
                </a:schemeClr>
              </a:solidFill>
              <a:latin typeface="DM Sans" pitchFamily="2" charset="0"/>
            </a:endParaRPr>
          </a:p>
          <a:p>
            <a:pPr marL="342900" indent="-342900">
              <a:lnSpc>
                <a:spcPct val="150000"/>
              </a:lnSpc>
              <a:buFont typeface="Arial" pitchFamily="34" charset="0"/>
              <a:buChar char="•"/>
            </a:pPr>
            <a:r>
              <a:rPr lang="en-US" dirty="0">
                <a:solidFill>
                  <a:schemeClr val="tx1">
                    <a:lumMod val="75000"/>
                    <a:lumOff val="25000"/>
                  </a:schemeClr>
                </a:solidFill>
                <a:latin typeface="DM Sans" pitchFamily="2" charset="0"/>
              </a:rPr>
              <a:t>Zero-inflated models attempt to account for excess zeros.  In other words, two kinds of zeros are thought to exist in the data, "true zeros" and "excess zeros".  Zero-inflated models estimate two equations simultaneously, one for the count model and one for the excess zeros.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765096"/>
            <a:ext cx="7071122" cy="535900"/>
          </a:xfrm>
          <a:prstGeom prst="rect">
            <a:avLst/>
          </a:prstGeom>
          <a:noFill/>
          <a:ln/>
        </p:spPr>
        <p:txBody>
          <a:bodyPr wrap="none" lIns="0" tIns="0" rIns="0" bIns="0" rtlCol="0" anchor="t"/>
          <a:lstStyle/>
          <a:p>
            <a:pPr marL="0" indent="0" algn="l">
              <a:lnSpc>
                <a:spcPts val="4200"/>
              </a:lnSpc>
              <a:buNone/>
            </a:pPr>
            <a:r>
              <a:rPr lang="en-US" sz="3750" dirty="0">
                <a:solidFill>
                  <a:srgbClr val="020202"/>
                </a:solidFill>
                <a:latin typeface="PT Serif" pitchFamily="34" charset="0"/>
                <a:ea typeface="PT Serif" pitchFamily="34" charset="-122"/>
                <a:cs typeface="PT Serif" pitchFamily="34" charset="-120"/>
              </a:rPr>
              <a:t>Offset Variable in Poisson Regression</a:t>
            </a:r>
            <a:endParaRPr lang="en-US" sz="3750" dirty="0"/>
          </a:p>
        </p:txBody>
      </p:sp>
      <p:sp>
        <p:nvSpPr>
          <p:cNvPr id="3" name="Text 1"/>
          <p:cNvSpPr/>
          <p:nvPr/>
        </p:nvSpPr>
        <p:spPr>
          <a:xfrm>
            <a:off x="793790" y="1709261"/>
            <a:ext cx="13042821" cy="408146"/>
          </a:xfrm>
          <a:prstGeom prst="rect">
            <a:avLst/>
          </a:prstGeom>
          <a:noFill/>
          <a:ln/>
        </p:spPr>
        <p:txBody>
          <a:bodyPr wrap="none" lIns="0" tIns="0" rIns="0" bIns="0" rtlCol="0" anchor="t"/>
          <a:lstStyle/>
          <a:p>
            <a:pPr marL="0" indent="0" algn="l">
              <a:lnSpc>
                <a:spcPts val="3200"/>
              </a:lnSpc>
              <a:buNone/>
            </a:pPr>
            <a:r>
              <a:rPr lang="en-US" dirty="0">
                <a:solidFill>
                  <a:srgbClr val="383838"/>
                </a:solidFill>
                <a:latin typeface="DM Sans" pitchFamily="34" charset="0"/>
                <a:ea typeface="DM Sans" pitchFamily="34" charset="-122"/>
                <a:cs typeface="DM Sans" pitchFamily="34" charset="-120"/>
              </a:rPr>
              <a:t>Poisson regression can be used to analyze </a:t>
            </a:r>
            <a:r>
              <a:rPr lang="en-US" b="1" dirty="0">
                <a:solidFill>
                  <a:srgbClr val="E04F00"/>
                </a:solidFill>
                <a:latin typeface="DM Sans" pitchFamily="34" charset="0"/>
                <a:ea typeface="DM Sans" pitchFamily="34" charset="-122"/>
                <a:cs typeface="DM Sans" pitchFamily="34" charset="-120"/>
              </a:rPr>
              <a:t>not only count data but also rate data</a:t>
            </a:r>
            <a:r>
              <a:rPr lang="en-US" dirty="0">
                <a:solidFill>
                  <a:srgbClr val="383838"/>
                </a:solidFill>
                <a:latin typeface="DM Sans" pitchFamily="34" charset="0"/>
                <a:ea typeface="DM Sans" pitchFamily="34" charset="-122"/>
                <a:cs typeface="DM Sans" pitchFamily="34" charset="-120"/>
              </a:rPr>
              <a:t>.</a:t>
            </a:r>
            <a:endParaRPr lang="en-US" dirty="0"/>
          </a:p>
        </p:txBody>
      </p:sp>
      <p:sp>
        <p:nvSpPr>
          <p:cNvPr id="4" name="Text 2"/>
          <p:cNvSpPr/>
          <p:nvPr/>
        </p:nvSpPr>
        <p:spPr>
          <a:xfrm>
            <a:off x="793790" y="2346960"/>
            <a:ext cx="204073" cy="255151"/>
          </a:xfrm>
          <a:prstGeom prst="rect">
            <a:avLst/>
          </a:prstGeom>
          <a:noFill/>
          <a:ln/>
        </p:spPr>
        <p:txBody>
          <a:bodyPr wrap="none" lIns="0" tIns="0" rIns="0" bIns="0" rtlCol="0" anchor="t"/>
          <a:lstStyle/>
          <a:p>
            <a:pPr marL="0" indent="0" algn="l">
              <a:lnSpc>
                <a:spcPts val="2550"/>
              </a:lnSpc>
              <a:buNone/>
            </a:pPr>
            <a:r>
              <a:rPr lang="en-US" sz="1600" dirty="0">
                <a:solidFill>
                  <a:srgbClr val="383838"/>
                </a:solidFill>
                <a:latin typeface="PT Serif Light" pitchFamily="34" charset="0"/>
                <a:ea typeface="PT Serif Light" pitchFamily="34" charset="-122"/>
                <a:cs typeface="PT Serif Light" pitchFamily="34" charset="-120"/>
              </a:rPr>
              <a:t>01</a:t>
            </a:r>
            <a:endParaRPr lang="en-US" sz="1600" dirty="0"/>
          </a:p>
        </p:txBody>
      </p:sp>
      <p:sp>
        <p:nvSpPr>
          <p:cNvPr id="5" name="Shape 3"/>
          <p:cNvSpPr/>
          <p:nvPr/>
        </p:nvSpPr>
        <p:spPr>
          <a:xfrm>
            <a:off x="793790" y="2670929"/>
            <a:ext cx="4211479" cy="22860"/>
          </a:xfrm>
          <a:prstGeom prst="rect">
            <a:avLst/>
          </a:prstGeom>
          <a:solidFill>
            <a:srgbClr val="E04F00"/>
          </a:solidFill>
          <a:ln/>
        </p:spPr>
      </p:sp>
      <p:sp>
        <p:nvSpPr>
          <p:cNvPr id="6" name="Text 4"/>
          <p:cNvSpPr/>
          <p:nvPr/>
        </p:nvSpPr>
        <p:spPr>
          <a:xfrm>
            <a:off x="793790" y="2818686"/>
            <a:ext cx="2679383" cy="334804"/>
          </a:xfrm>
          <a:prstGeom prst="rect">
            <a:avLst/>
          </a:prstGeom>
          <a:noFill/>
          <a:ln/>
        </p:spPr>
        <p:txBody>
          <a:bodyPr wrap="none" lIns="0" tIns="0" rIns="0" bIns="0" rtlCol="0" anchor="t"/>
          <a:lstStyle/>
          <a:p>
            <a:pPr marL="0" indent="0" algn="l">
              <a:lnSpc>
                <a:spcPts val="2600"/>
              </a:lnSpc>
              <a:buNone/>
            </a:pPr>
            <a:r>
              <a:rPr lang="en-US" sz="2000" dirty="0">
                <a:solidFill>
                  <a:srgbClr val="383838"/>
                </a:solidFill>
                <a:latin typeface="PT Serif" pitchFamily="34" charset="0"/>
                <a:ea typeface="PT Serif" pitchFamily="34" charset="-122"/>
                <a:cs typeface="PT Serif" pitchFamily="34" charset="-120"/>
              </a:rPr>
              <a:t>Understanding Rates</a:t>
            </a:r>
            <a:endParaRPr lang="en-US" sz="2000" dirty="0"/>
          </a:p>
        </p:txBody>
      </p:sp>
      <p:sp>
        <p:nvSpPr>
          <p:cNvPr id="7" name="Text 5"/>
          <p:cNvSpPr/>
          <p:nvPr/>
        </p:nvSpPr>
        <p:spPr>
          <a:xfrm>
            <a:off x="793790" y="3275886"/>
            <a:ext cx="4211479" cy="2448878"/>
          </a:xfrm>
          <a:prstGeom prst="rect">
            <a:avLst/>
          </a:prstGeom>
          <a:noFill/>
          <a:ln/>
        </p:spPr>
        <p:txBody>
          <a:bodyPr wrap="square" lIns="0" tIns="0" rIns="0" bIns="0" rtlCol="0" anchor="t"/>
          <a:lstStyle/>
          <a:p>
            <a:pPr marL="0" indent="0" algn="l">
              <a:lnSpc>
                <a:spcPts val="3200"/>
              </a:lnSpc>
              <a:buNone/>
            </a:pPr>
            <a:r>
              <a:rPr lang="en-US" dirty="0">
                <a:solidFill>
                  <a:srgbClr val="383838"/>
                </a:solidFill>
                <a:latin typeface="DM Sans" pitchFamily="34" charset="0"/>
                <a:ea typeface="DM Sans" pitchFamily="34" charset="-122"/>
                <a:cs typeface="DM Sans" pitchFamily="34" charset="-120"/>
              </a:rPr>
              <a:t>Rates are simply counts divided by a measure like total count or time. For example, insurance claim rate is measured as the number of claims divided by the total number of policyholders (say N).</a:t>
            </a:r>
            <a:endParaRPr lang="en-US" dirty="0"/>
          </a:p>
        </p:txBody>
      </p:sp>
      <p:sp>
        <p:nvSpPr>
          <p:cNvPr id="8" name="Text 6"/>
          <p:cNvSpPr/>
          <p:nvPr/>
        </p:nvSpPr>
        <p:spPr>
          <a:xfrm>
            <a:off x="5209342" y="2346960"/>
            <a:ext cx="204073" cy="255151"/>
          </a:xfrm>
          <a:prstGeom prst="rect">
            <a:avLst/>
          </a:prstGeom>
          <a:noFill/>
          <a:ln/>
        </p:spPr>
        <p:txBody>
          <a:bodyPr wrap="none" lIns="0" tIns="0" rIns="0" bIns="0" rtlCol="0" anchor="t"/>
          <a:lstStyle/>
          <a:p>
            <a:pPr marL="0" indent="0" algn="l">
              <a:lnSpc>
                <a:spcPts val="2550"/>
              </a:lnSpc>
              <a:buNone/>
            </a:pPr>
            <a:r>
              <a:rPr lang="en-US" sz="1600" dirty="0">
                <a:solidFill>
                  <a:srgbClr val="383838"/>
                </a:solidFill>
                <a:latin typeface="PT Serif Light" pitchFamily="34" charset="0"/>
                <a:ea typeface="PT Serif Light" pitchFamily="34" charset="-122"/>
                <a:cs typeface="PT Serif Light" pitchFamily="34" charset="-120"/>
              </a:rPr>
              <a:t>02</a:t>
            </a:r>
            <a:endParaRPr lang="en-US" sz="1600" dirty="0"/>
          </a:p>
        </p:txBody>
      </p:sp>
      <p:sp>
        <p:nvSpPr>
          <p:cNvPr id="9" name="Shape 7"/>
          <p:cNvSpPr/>
          <p:nvPr/>
        </p:nvSpPr>
        <p:spPr>
          <a:xfrm>
            <a:off x="5209342" y="2670929"/>
            <a:ext cx="4211598" cy="22860"/>
          </a:xfrm>
          <a:prstGeom prst="rect">
            <a:avLst/>
          </a:prstGeom>
          <a:solidFill>
            <a:srgbClr val="E04F00"/>
          </a:solidFill>
          <a:ln/>
        </p:spPr>
      </p:sp>
      <p:sp>
        <p:nvSpPr>
          <p:cNvPr id="10" name="Text 8"/>
          <p:cNvSpPr/>
          <p:nvPr/>
        </p:nvSpPr>
        <p:spPr>
          <a:xfrm>
            <a:off x="5209342" y="2818686"/>
            <a:ext cx="2679383" cy="334804"/>
          </a:xfrm>
          <a:prstGeom prst="rect">
            <a:avLst/>
          </a:prstGeom>
          <a:noFill/>
          <a:ln/>
        </p:spPr>
        <p:txBody>
          <a:bodyPr wrap="none" lIns="0" tIns="0" rIns="0" bIns="0" rtlCol="0" anchor="t"/>
          <a:lstStyle/>
          <a:p>
            <a:pPr marL="0" indent="0" algn="l">
              <a:lnSpc>
                <a:spcPts val="2600"/>
              </a:lnSpc>
              <a:buNone/>
            </a:pPr>
            <a:r>
              <a:rPr lang="en-US" sz="2000" dirty="0">
                <a:solidFill>
                  <a:srgbClr val="383838"/>
                </a:solidFill>
                <a:latin typeface="PT Serif" pitchFamily="34" charset="0"/>
                <a:ea typeface="PT Serif" pitchFamily="34" charset="-122"/>
                <a:cs typeface="PT Serif" pitchFamily="34" charset="-120"/>
              </a:rPr>
              <a:t>Defining the Offset</a:t>
            </a:r>
            <a:endParaRPr lang="en-US" sz="2000" dirty="0"/>
          </a:p>
        </p:txBody>
      </p:sp>
      <p:sp>
        <p:nvSpPr>
          <p:cNvPr id="11" name="Text 9"/>
          <p:cNvSpPr/>
          <p:nvPr/>
        </p:nvSpPr>
        <p:spPr>
          <a:xfrm>
            <a:off x="5209342" y="3275886"/>
            <a:ext cx="4211598" cy="2040731"/>
          </a:xfrm>
          <a:prstGeom prst="rect">
            <a:avLst/>
          </a:prstGeom>
          <a:noFill/>
          <a:ln/>
        </p:spPr>
        <p:txBody>
          <a:bodyPr wrap="square" lIns="0" tIns="0" rIns="0" bIns="0" rtlCol="0" anchor="t"/>
          <a:lstStyle/>
          <a:p>
            <a:pPr marL="0" indent="0" algn="l">
              <a:lnSpc>
                <a:spcPts val="3200"/>
              </a:lnSpc>
              <a:buNone/>
            </a:pPr>
            <a:r>
              <a:rPr lang="en-US" dirty="0">
                <a:solidFill>
                  <a:srgbClr val="383838"/>
                </a:solidFill>
                <a:latin typeface="DM Sans" pitchFamily="34" charset="0"/>
                <a:ea typeface="DM Sans" pitchFamily="34" charset="-122"/>
                <a:cs typeface="DM Sans" pitchFamily="34" charset="-120"/>
              </a:rPr>
              <a:t>The </a:t>
            </a:r>
            <a:r>
              <a:rPr lang="en-US" b="1" dirty="0">
                <a:solidFill>
                  <a:srgbClr val="383838"/>
                </a:solidFill>
                <a:latin typeface="DM Sans" pitchFamily="34" charset="0"/>
                <a:ea typeface="DM Sans" pitchFamily="34" charset="-122"/>
                <a:cs typeface="DM Sans" pitchFamily="34" charset="-120"/>
              </a:rPr>
              <a:t>log-transformed regression variable</a:t>
            </a:r>
            <a:r>
              <a:rPr lang="en-US" dirty="0">
                <a:solidFill>
                  <a:srgbClr val="383838"/>
                </a:solidFill>
                <a:latin typeface="DM Sans" pitchFamily="34" charset="0"/>
                <a:ea typeface="DM Sans" pitchFamily="34" charset="-122"/>
                <a:cs typeface="DM Sans" pitchFamily="34" charset="-120"/>
              </a:rPr>
              <a:t> with a </a:t>
            </a:r>
            <a:r>
              <a:rPr lang="en-US" b="1" dirty="0">
                <a:solidFill>
                  <a:srgbClr val="383838"/>
                </a:solidFill>
                <a:latin typeface="DM Sans" pitchFamily="34" charset="0"/>
                <a:ea typeface="DM Sans" pitchFamily="34" charset="-122"/>
                <a:cs typeface="DM Sans" pitchFamily="34" charset="-120"/>
              </a:rPr>
              <a:t>constant coefficient of 1</a:t>
            </a:r>
            <a:r>
              <a:rPr lang="en-US" dirty="0">
                <a:solidFill>
                  <a:srgbClr val="383838"/>
                </a:solidFill>
                <a:latin typeface="DM Sans" pitchFamily="34" charset="0"/>
                <a:ea typeface="DM Sans" pitchFamily="34" charset="-122"/>
                <a:cs typeface="DM Sans" pitchFamily="34" charset="-120"/>
              </a:rPr>
              <a:t> for each observation is known as the </a:t>
            </a:r>
            <a:r>
              <a:rPr lang="en-US" b="1" dirty="0">
                <a:solidFill>
                  <a:srgbClr val="E04F00"/>
                </a:solidFill>
                <a:latin typeface="DM Sans" pitchFamily="34" charset="0"/>
                <a:ea typeface="DM Sans" pitchFamily="34" charset="-122"/>
                <a:cs typeface="DM Sans" pitchFamily="34" charset="-120"/>
              </a:rPr>
              <a:t>'Offset'</a:t>
            </a:r>
            <a:r>
              <a:rPr lang="en-US" dirty="0">
                <a:solidFill>
                  <a:srgbClr val="383838"/>
                </a:solidFill>
                <a:latin typeface="DM Sans" pitchFamily="34" charset="0"/>
                <a:ea typeface="DM Sans" pitchFamily="34" charset="-122"/>
                <a:cs typeface="DM Sans" pitchFamily="34" charset="-120"/>
              </a:rPr>
              <a:t>.</a:t>
            </a:r>
            <a:endParaRPr lang="en-US" dirty="0"/>
          </a:p>
        </p:txBody>
      </p:sp>
      <p:sp>
        <p:nvSpPr>
          <p:cNvPr id="12" name="Text 10"/>
          <p:cNvSpPr/>
          <p:nvPr/>
        </p:nvSpPr>
        <p:spPr>
          <a:xfrm>
            <a:off x="9625013" y="2346960"/>
            <a:ext cx="204073" cy="255151"/>
          </a:xfrm>
          <a:prstGeom prst="rect">
            <a:avLst/>
          </a:prstGeom>
          <a:noFill/>
          <a:ln/>
        </p:spPr>
        <p:txBody>
          <a:bodyPr wrap="none" lIns="0" tIns="0" rIns="0" bIns="0" rtlCol="0" anchor="t"/>
          <a:lstStyle/>
          <a:p>
            <a:pPr marL="0" indent="0" algn="l">
              <a:lnSpc>
                <a:spcPts val="2550"/>
              </a:lnSpc>
              <a:buNone/>
            </a:pPr>
            <a:r>
              <a:rPr lang="en-US" sz="1600" dirty="0">
                <a:solidFill>
                  <a:srgbClr val="383838"/>
                </a:solidFill>
                <a:latin typeface="PT Serif Light" pitchFamily="34" charset="0"/>
                <a:ea typeface="PT Serif Light" pitchFamily="34" charset="-122"/>
                <a:cs typeface="PT Serif Light" pitchFamily="34" charset="-120"/>
              </a:rPr>
              <a:t>03</a:t>
            </a:r>
            <a:endParaRPr lang="en-US" sz="1600" dirty="0"/>
          </a:p>
        </p:txBody>
      </p:sp>
      <p:sp>
        <p:nvSpPr>
          <p:cNvPr id="13" name="Shape 11"/>
          <p:cNvSpPr/>
          <p:nvPr/>
        </p:nvSpPr>
        <p:spPr>
          <a:xfrm>
            <a:off x="9625013" y="2670929"/>
            <a:ext cx="4211598" cy="22860"/>
          </a:xfrm>
          <a:prstGeom prst="rect">
            <a:avLst/>
          </a:prstGeom>
          <a:solidFill>
            <a:srgbClr val="E04F00"/>
          </a:solidFill>
          <a:ln/>
        </p:spPr>
      </p:sp>
      <p:sp>
        <p:nvSpPr>
          <p:cNvPr id="14" name="Text 12"/>
          <p:cNvSpPr/>
          <p:nvPr/>
        </p:nvSpPr>
        <p:spPr>
          <a:xfrm>
            <a:off x="9625013" y="2818686"/>
            <a:ext cx="2749153" cy="334804"/>
          </a:xfrm>
          <a:prstGeom prst="rect">
            <a:avLst/>
          </a:prstGeom>
          <a:noFill/>
          <a:ln/>
        </p:spPr>
        <p:txBody>
          <a:bodyPr wrap="none" lIns="0" tIns="0" rIns="0" bIns="0" rtlCol="0" anchor="t"/>
          <a:lstStyle/>
          <a:p>
            <a:pPr marL="0" indent="0" algn="l">
              <a:lnSpc>
                <a:spcPts val="2600"/>
              </a:lnSpc>
              <a:buNone/>
            </a:pPr>
            <a:r>
              <a:rPr lang="en-US" sz="2000" dirty="0">
                <a:solidFill>
                  <a:srgbClr val="383838"/>
                </a:solidFill>
                <a:latin typeface="PT Serif" pitchFamily="34" charset="0"/>
                <a:ea typeface="PT Serif" pitchFamily="34" charset="-122"/>
                <a:cs typeface="PT Serif" pitchFamily="34" charset="-120"/>
              </a:rPr>
              <a:t>Model Implementation</a:t>
            </a:r>
            <a:endParaRPr lang="en-US" sz="2000" dirty="0"/>
          </a:p>
        </p:txBody>
      </p:sp>
      <p:sp>
        <p:nvSpPr>
          <p:cNvPr id="15" name="Text 13"/>
          <p:cNvSpPr/>
          <p:nvPr/>
        </p:nvSpPr>
        <p:spPr>
          <a:xfrm>
            <a:off x="9625013" y="3275886"/>
            <a:ext cx="4211598" cy="2448878"/>
          </a:xfrm>
          <a:prstGeom prst="rect">
            <a:avLst/>
          </a:prstGeom>
          <a:noFill/>
          <a:ln/>
        </p:spPr>
        <p:txBody>
          <a:bodyPr wrap="square" lIns="0" tIns="0" rIns="0" bIns="0" rtlCol="0" anchor="t"/>
          <a:lstStyle/>
          <a:p>
            <a:pPr marL="0" indent="0" algn="l">
              <a:lnSpc>
                <a:spcPts val="3200"/>
              </a:lnSpc>
              <a:buNone/>
            </a:pPr>
            <a:r>
              <a:rPr lang="en-US" dirty="0">
                <a:solidFill>
                  <a:srgbClr val="383838"/>
                </a:solidFill>
                <a:latin typeface="DM Sans" pitchFamily="34" charset="0"/>
                <a:ea typeface="DM Sans" pitchFamily="34" charset="-122"/>
                <a:cs typeface="DM Sans" pitchFamily="34" charset="-120"/>
              </a:rPr>
              <a:t>The Poisson model is fit to the counts and </a:t>
            </a:r>
            <a:r>
              <a:rPr lang="en-US" b="1" dirty="0">
                <a:solidFill>
                  <a:srgbClr val="383838"/>
                </a:solidFill>
                <a:latin typeface="DM Sans" pitchFamily="34" charset="0"/>
                <a:ea typeface="DM Sans" pitchFamily="34" charset="-122"/>
                <a:cs typeface="DM Sans" pitchFamily="34" charset="-120"/>
              </a:rPr>
              <a:t>uses the log of the denominator</a:t>
            </a:r>
            <a:r>
              <a:rPr lang="en-US" dirty="0">
                <a:solidFill>
                  <a:srgbClr val="383838"/>
                </a:solidFill>
                <a:latin typeface="DM Sans" pitchFamily="34" charset="0"/>
                <a:ea typeface="DM Sans" pitchFamily="34" charset="-122"/>
                <a:cs typeface="DM Sans" pitchFamily="34" charset="-120"/>
              </a:rPr>
              <a:t> (usually N) </a:t>
            </a:r>
            <a:r>
              <a:rPr lang="en-US" b="1" dirty="0">
                <a:solidFill>
                  <a:srgbClr val="383838"/>
                </a:solidFill>
                <a:latin typeface="DM Sans" pitchFamily="34" charset="0"/>
                <a:ea typeface="DM Sans" pitchFamily="34" charset="-122"/>
                <a:cs typeface="DM Sans" pitchFamily="34" charset="-120"/>
              </a:rPr>
              <a:t>as an offset variable</a:t>
            </a:r>
            <a:r>
              <a:rPr lang="en-US" dirty="0">
                <a:solidFill>
                  <a:srgbClr val="383838"/>
                </a:solidFill>
                <a:latin typeface="DM Sans" pitchFamily="34" charset="0"/>
                <a:ea typeface="DM Sans" pitchFamily="34" charset="-122"/>
                <a:cs typeface="DM Sans" pitchFamily="34" charset="-120"/>
              </a:rPr>
              <a:t>, allowing proper modeling of rates rather than raw counts.</a:t>
            </a:r>
            <a:endParaRPr lang="en-US" dirty="0"/>
          </a:p>
        </p:txBody>
      </p:sp>
      <p:sp>
        <p:nvSpPr>
          <p:cNvPr id="16" name="Shape 14"/>
          <p:cNvSpPr/>
          <p:nvPr/>
        </p:nvSpPr>
        <p:spPr>
          <a:xfrm>
            <a:off x="793790" y="6107311"/>
            <a:ext cx="13042821" cy="1357074"/>
          </a:xfrm>
          <a:prstGeom prst="roundRect">
            <a:avLst>
              <a:gd name="adj" fmla="val 2256"/>
            </a:avLst>
          </a:prstGeom>
          <a:solidFill>
            <a:srgbClr val="FFCDB3"/>
          </a:solidFill>
          <a:ln/>
        </p:spPr>
      </p:sp>
      <p:pic>
        <p:nvPicPr>
          <p:cNvPr id="17" name="Image 0" descr="preencoded.png"/>
          <p:cNvPicPr>
            <a:picLocks noChangeAspect="1"/>
          </p:cNvPicPr>
          <p:nvPr/>
        </p:nvPicPr>
        <p:blipFill>
          <a:blip r:embed="rId3"/>
          <a:stretch>
            <a:fillRect/>
          </a:stretch>
        </p:blipFill>
        <p:spPr>
          <a:xfrm>
            <a:off x="997863" y="6428542"/>
            <a:ext cx="318968" cy="255151"/>
          </a:xfrm>
          <a:prstGeom prst="rect">
            <a:avLst/>
          </a:prstGeom>
        </p:spPr>
      </p:pic>
      <p:sp>
        <p:nvSpPr>
          <p:cNvPr id="18" name="Text 15"/>
          <p:cNvSpPr/>
          <p:nvPr/>
        </p:nvSpPr>
        <p:spPr>
          <a:xfrm>
            <a:off x="1520904" y="6362343"/>
            <a:ext cx="12111633" cy="816293"/>
          </a:xfrm>
          <a:prstGeom prst="rect">
            <a:avLst/>
          </a:prstGeom>
          <a:noFill/>
          <a:ln/>
        </p:spPr>
        <p:txBody>
          <a:bodyPr wrap="square" lIns="0" tIns="0" rIns="0" bIns="0" rtlCol="0" anchor="t"/>
          <a:lstStyle/>
          <a:p>
            <a:pPr marL="0" indent="0" algn="l">
              <a:lnSpc>
                <a:spcPts val="3200"/>
              </a:lnSpc>
              <a:buNone/>
            </a:pPr>
            <a:r>
              <a:rPr lang="en-US" dirty="0">
                <a:solidFill>
                  <a:srgbClr val="000000"/>
                </a:solidFill>
                <a:latin typeface="DM Sans" pitchFamily="34" charset="0"/>
                <a:ea typeface="DM Sans" pitchFamily="34" charset="-122"/>
                <a:cs typeface="DM Sans" pitchFamily="34" charset="-120"/>
              </a:rPr>
              <a:t>Using an offset allows the model to account for different exposure times or population sizes across observations, making rate comparisons meaningful and statistically valid.</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37818"/>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Key Takeaways</a:t>
            </a:r>
            <a:endParaRPr lang="en-US" sz="4100" dirty="0"/>
          </a:p>
        </p:txBody>
      </p:sp>
      <p:sp>
        <p:nvSpPr>
          <p:cNvPr id="4" name="Shape 2"/>
          <p:cNvSpPr/>
          <p:nvPr/>
        </p:nvSpPr>
        <p:spPr>
          <a:xfrm>
            <a:off x="793790" y="2405420"/>
            <a:ext cx="6422231" cy="2652713"/>
          </a:xfrm>
          <a:prstGeom prst="roundRect">
            <a:avLst>
              <a:gd name="adj" fmla="val 1122"/>
            </a:avLst>
          </a:prstGeom>
          <a:solidFill>
            <a:srgbClr val="F2EEEE"/>
          </a:solidFill>
          <a:ln/>
        </p:spPr>
      </p:sp>
      <p:sp>
        <p:nvSpPr>
          <p:cNvPr id="5" name="Shape 3"/>
          <p:cNvSpPr/>
          <p:nvPr/>
        </p:nvSpPr>
        <p:spPr>
          <a:xfrm>
            <a:off x="992148" y="2603778"/>
            <a:ext cx="595313" cy="595313"/>
          </a:xfrm>
          <a:prstGeom prst="roundRect">
            <a:avLst>
              <a:gd name="adj" fmla="val 15358451"/>
            </a:avLst>
          </a:prstGeom>
          <a:solidFill>
            <a:srgbClr val="E04F00"/>
          </a:solidFill>
          <a:ln/>
        </p:spPr>
      </p:sp>
      <p:pic>
        <p:nvPicPr>
          <p:cNvPr id="6" name="Image 0" descr="preencoded.png"/>
          <p:cNvPicPr>
            <a:picLocks noChangeAspect="1"/>
          </p:cNvPicPr>
          <p:nvPr/>
        </p:nvPicPr>
        <p:blipFill>
          <a:blip r:embed="rId3"/>
          <a:stretch>
            <a:fillRect/>
          </a:stretch>
        </p:blipFill>
        <p:spPr>
          <a:xfrm>
            <a:off x="1155859" y="2733913"/>
            <a:ext cx="267891" cy="334923"/>
          </a:xfrm>
          <a:prstGeom prst="rect">
            <a:avLst/>
          </a:prstGeom>
        </p:spPr>
      </p:pic>
      <p:sp>
        <p:nvSpPr>
          <p:cNvPr id="7" name="Text 4"/>
          <p:cNvSpPr/>
          <p:nvPr/>
        </p:nvSpPr>
        <p:spPr>
          <a:xfrm>
            <a:off x="992148" y="3397448"/>
            <a:ext cx="3757136"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rPr>
              <a:t>Poisson Distribution</a:t>
            </a:r>
            <a:endParaRPr lang="en-US" sz="2450" dirty="0"/>
          </a:p>
        </p:txBody>
      </p:sp>
      <p:sp>
        <p:nvSpPr>
          <p:cNvPr id="8" name="Text 5"/>
          <p:cNvSpPr/>
          <p:nvPr/>
        </p:nvSpPr>
        <p:spPr>
          <a:xfrm>
            <a:off x="992148" y="3907155"/>
            <a:ext cx="6025515"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rPr>
              <a:t>Limiting case of Binomial Distribution-large n and small </a:t>
            </a:r>
          </a:p>
          <a:p>
            <a:pPr marL="0" indent="0" algn="l">
              <a:lnSpc>
                <a:spcPts val="2500"/>
              </a:lnSpc>
              <a:buNone/>
            </a:pPr>
            <a:r>
              <a:rPr lang="en-US" dirty="0">
                <a:solidFill>
                  <a:srgbClr val="383838"/>
                </a:solidFill>
                <a:latin typeface="DM Sans" pitchFamily="34" charset="0"/>
              </a:rPr>
              <a:t>p</a:t>
            </a:r>
            <a:endParaRPr lang="en-US" dirty="0"/>
          </a:p>
        </p:txBody>
      </p:sp>
      <p:sp>
        <p:nvSpPr>
          <p:cNvPr id="9" name="Shape 6"/>
          <p:cNvSpPr/>
          <p:nvPr/>
        </p:nvSpPr>
        <p:spPr>
          <a:xfrm>
            <a:off x="7414379" y="2405420"/>
            <a:ext cx="6422231" cy="2652713"/>
          </a:xfrm>
          <a:prstGeom prst="roundRect">
            <a:avLst>
              <a:gd name="adj" fmla="val 1122"/>
            </a:avLst>
          </a:prstGeom>
          <a:solidFill>
            <a:srgbClr val="F2EEEE"/>
          </a:solidFill>
          <a:ln/>
        </p:spPr>
      </p:sp>
      <p:sp>
        <p:nvSpPr>
          <p:cNvPr id="10" name="Shape 7"/>
          <p:cNvSpPr/>
          <p:nvPr/>
        </p:nvSpPr>
        <p:spPr>
          <a:xfrm>
            <a:off x="7612737" y="2603778"/>
            <a:ext cx="595313" cy="595313"/>
          </a:xfrm>
          <a:prstGeom prst="roundRect">
            <a:avLst>
              <a:gd name="adj" fmla="val 15358451"/>
            </a:avLst>
          </a:prstGeom>
          <a:solidFill>
            <a:srgbClr val="E04F00"/>
          </a:solidFill>
          <a:ln/>
        </p:spPr>
      </p:sp>
      <p:pic>
        <p:nvPicPr>
          <p:cNvPr id="11" name="Image 1" descr="preencoded.png"/>
          <p:cNvPicPr>
            <a:picLocks noChangeAspect="1"/>
          </p:cNvPicPr>
          <p:nvPr/>
        </p:nvPicPr>
        <p:blipFill>
          <a:blip r:embed="rId4"/>
          <a:stretch>
            <a:fillRect/>
          </a:stretch>
        </p:blipFill>
        <p:spPr>
          <a:xfrm>
            <a:off x="7776448" y="2733913"/>
            <a:ext cx="267891" cy="334923"/>
          </a:xfrm>
          <a:prstGeom prst="rect">
            <a:avLst/>
          </a:prstGeom>
        </p:spPr>
      </p:pic>
      <p:sp>
        <p:nvSpPr>
          <p:cNvPr id="12" name="Text 8"/>
          <p:cNvSpPr/>
          <p:nvPr/>
        </p:nvSpPr>
        <p:spPr>
          <a:xfrm>
            <a:off x="7612737" y="3397448"/>
            <a:ext cx="3629263"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Poisson Regression</a:t>
            </a:r>
            <a:endParaRPr lang="en-US" sz="2450" dirty="0"/>
          </a:p>
        </p:txBody>
      </p:sp>
      <p:sp>
        <p:nvSpPr>
          <p:cNvPr id="13" name="Text 9"/>
          <p:cNvSpPr/>
          <p:nvPr/>
        </p:nvSpPr>
        <p:spPr>
          <a:xfrm>
            <a:off x="7612737" y="3907155"/>
            <a:ext cx="6025515"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rPr>
              <a:t>The model for Count Variable for rare events</a:t>
            </a:r>
            <a:endParaRPr lang="en-US" dirty="0"/>
          </a:p>
        </p:txBody>
      </p:sp>
      <p:sp>
        <p:nvSpPr>
          <p:cNvPr id="14" name="Shape 10"/>
          <p:cNvSpPr/>
          <p:nvPr/>
        </p:nvSpPr>
        <p:spPr>
          <a:xfrm>
            <a:off x="793790" y="5256490"/>
            <a:ext cx="6422231" cy="2335173"/>
          </a:xfrm>
          <a:prstGeom prst="roundRect">
            <a:avLst>
              <a:gd name="adj" fmla="val 1275"/>
            </a:avLst>
          </a:prstGeom>
          <a:solidFill>
            <a:srgbClr val="F2EEEE"/>
          </a:solidFill>
          <a:ln/>
        </p:spPr>
      </p:sp>
      <p:sp>
        <p:nvSpPr>
          <p:cNvPr id="15" name="Shape 11"/>
          <p:cNvSpPr/>
          <p:nvPr/>
        </p:nvSpPr>
        <p:spPr>
          <a:xfrm>
            <a:off x="992148" y="5454848"/>
            <a:ext cx="595313" cy="595313"/>
          </a:xfrm>
          <a:prstGeom prst="roundRect">
            <a:avLst>
              <a:gd name="adj" fmla="val 15358451"/>
            </a:avLst>
          </a:prstGeom>
          <a:solidFill>
            <a:srgbClr val="E04F00"/>
          </a:solidFill>
          <a:ln/>
        </p:spPr>
      </p:sp>
      <p:pic>
        <p:nvPicPr>
          <p:cNvPr id="16" name="Image 2" descr="preencoded.png"/>
          <p:cNvPicPr>
            <a:picLocks noChangeAspect="1"/>
          </p:cNvPicPr>
          <p:nvPr/>
        </p:nvPicPr>
        <p:blipFill>
          <a:blip r:embed="rId5"/>
          <a:stretch>
            <a:fillRect/>
          </a:stretch>
        </p:blipFill>
        <p:spPr>
          <a:xfrm>
            <a:off x="1155859" y="5584984"/>
            <a:ext cx="267891" cy="334923"/>
          </a:xfrm>
          <a:prstGeom prst="rect">
            <a:avLst/>
          </a:prstGeom>
        </p:spPr>
      </p:pic>
      <p:sp>
        <p:nvSpPr>
          <p:cNvPr id="17" name="Text 12"/>
          <p:cNvSpPr/>
          <p:nvPr/>
        </p:nvSpPr>
        <p:spPr>
          <a:xfrm>
            <a:off x="992148" y="6248519"/>
            <a:ext cx="409741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Method of Estimation</a:t>
            </a:r>
            <a:endParaRPr lang="en-US" sz="2450" dirty="0"/>
          </a:p>
        </p:txBody>
      </p:sp>
      <p:sp>
        <p:nvSpPr>
          <p:cNvPr id="18" name="Text 13"/>
          <p:cNvSpPr/>
          <p:nvPr/>
        </p:nvSpPr>
        <p:spPr>
          <a:xfrm>
            <a:off x="992148" y="6758226"/>
            <a:ext cx="6025515" cy="635079"/>
          </a:xfrm>
          <a:prstGeom prst="rect">
            <a:avLst/>
          </a:prstGeom>
          <a:noFill/>
          <a:ln/>
        </p:spPr>
        <p:txBody>
          <a:bodyPr wrap="square" lIns="0" tIns="0" rIns="0" bIns="0" rtlCol="0" anchor="t"/>
          <a:lstStyle/>
          <a:p>
            <a:pPr>
              <a:lnSpc>
                <a:spcPts val="2500"/>
              </a:lnSpc>
            </a:pPr>
            <a:r>
              <a:rPr lang="en-US" dirty="0">
                <a:solidFill>
                  <a:srgbClr val="383838"/>
                </a:solidFill>
                <a:latin typeface="DM Sans" pitchFamily="34" charset="0"/>
              </a:rPr>
              <a:t>MLE is used to estimate the parameters of the model</a:t>
            </a:r>
            <a:endParaRPr lang="en-US" dirty="0"/>
          </a:p>
        </p:txBody>
      </p:sp>
      <p:sp>
        <p:nvSpPr>
          <p:cNvPr id="19" name="Shape 14"/>
          <p:cNvSpPr/>
          <p:nvPr/>
        </p:nvSpPr>
        <p:spPr>
          <a:xfrm>
            <a:off x="7414379" y="5256490"/>
            <a:ext cx="6422231" cy="2335173"/>
          </a:xfrm>
          <a:prstGeom prst="roundRect">
            <a:avLst>
              <a:gd name="adj" fmla="val 1275"/>
            </a:avLst>
          </a:prstGeom>
          <a:solidFill>
            <a:srgbClr val="F2EEEE"/>
          </a:solidFill>
          <a:ln/>
        </p:spPr>
      </p:sp>
      <p:sp>
        <p:nvSpPr>
          <p:cNvPr id="20" name="Shape 15"/>
          <p:cNvSpPr/>
          <p:nvPr/>
        </p:nvSpPr>
        <p:spPr>
          <a:xfrm>
            <a:off x="7612737" y="5454848"/>
            <a:ext cx="595313" cy="595313"/>
          </a:xfrm>
          <a:prstGeom prst="roundRect">
            <a:avLst>
              <a:gd name="adj" fmla="val 15358451"/>
            </a:avLst>
          </a:prstGeom>
          <a:solidFill>
            <a:srgbClr val="E04F00"/>
          </a:solidFill>
          <a:ln/>
        </p:spPr>
      </p:sp>
      <p:pic>
        <p:nvPicPr>
          <p:cNvPr id="21" name="Image 3" descr="preencoded.png"/>
          <p:cNvPicPr>
            <a:picLocks noChangeAspect="1"/>
          </p:cNvPicPr>
          <p:nvPr/>
        </p:nvPicPr>
        <p:blipFill>
          <a:blip r:embed="rId6"/>
          <a:stretch>
            <a:fillRect/>
          </a:stretch>
        </p:blipFill>
        <p:spPr>
          <a:xfrm>
            <a:off x="7776448" y="5584984"/>
            <a:ext cx="267891" cy="334923"/>
          </a:xfrm>
          <a:prstGeom prst="rect">
            <a:avLst/>
          </a:prstGeom>
        </p:spPr>
      </p:pic>
      <p:sp>
        <p:nvSpPr>
          <p:cNvPr id="22" name="Text 16"/>
          <p:cNvSpPr/>
          <p:nvPr/>
        </p:nvSpPr>
        <p:spPr>
          <a:xfrm>
            <a:off x="7612737" y="6248519"/>
            <a:ext cx="3409831"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Offset Variable</a:t>
            </a:r>
            <a:endParaRPr lang="en-US" sz="2450" dirty="0"/>
          </a:p>
        </p:txBody>
      </p:sp>
      <p:sp>
        <p:nvSpPr>
          <p:cNvPr id="23" name="Text 17"/>
          <p:cNvSpPr/>
          <p:nvPr/>
        </p:nvSpPr>
        <p:spPr>
          <a:xfrm>
            <a:off x="7612737" y="6758226"/>
            <a:ext cx="6025515" cy="635079"/>
          </a:xfrm>
          <a:prstGeom prst="rect">
            <a:avLst/>
          </a:prstGeom>
          <a:noFill/>
          <a:ln/>
        </p:spPr>
        <p:txBody>
          <a:bodyPr wrap="square" lIns="0" tIns="0" rIns="0" bIns="0" rtlCol="0" anchor="t"/>
          <a:lstStyle/>
          <a:p>
            <a:pPr>
              <a:lnSpc>
                <a:spcPts val="2500"/>
              </a:lnSpc>
            </a:pPr>
            <a:r>
              <a:rPr lang="en-US" sz="1600" dirty="0">
                <a:solidFill>
                  <a:srgbClr val="000000"/>
                </a:solidFill>
                <a:latin typeface="DM Sans" pitchFamily="34" charset="0"/>
                <a:ea typeface="DM Sans" pitchFamily="34" charset="-122"/>
                <a:cs typeface="DM Sans" pitchFamily="34" charset="-120"/>
              </a:rPr>
              <a:t>To account for different exposure times or population sizes across observations</a:t>
            </a:r>
            <a:endParaRPr lang="en-US" sz="1600" dirty="0"/>
          </a:p>
        </p:txBody>
      </p:sp>
    </p:spTree>
    <p:extLst>
      <p:ext uri="{BB962C8B-B14F-4D97-AF65-F5344CB8AC3E}">
        <p14:creationId xmlns:p14="http://schemas.microsoft.com/office/powerpoint/2010/main" val="35130618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1778</Words>
  <Application>Microsoft Macintosh PowerPoint</Application>
  <PresentationFormat>Custom</PresentationFormat>
  <Paragraphs>321</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PT Serif</vt:lpstr>
      <vt:lpstr>DM Sans</vt:lpstr>
      <vt:lpstr>Calibri</vt:lpstr>
      <vt:lpstr>Arial</vt:lpstr>
      <vt:lpstr>PT Serif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Vinayak Deshpande</cp:lastModifiedBy>
  <cp:revision>27</cp:revision>
  <dcterms:created xsi:type="dcterms:W3CDTF">2025-10-14T08:26:36Z</dcterms:created>
  <dcterms:modified xsi:type="dcterms:W3CDTF">2025-10-15T11:03:47Z</dcterms:modified>
</cp:coreProperties>
</file>