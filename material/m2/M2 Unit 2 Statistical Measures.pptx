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392" r:id="rId15"/>
    <p:sldId id="391" r:id="rId16"/>
    <p:sldId id="269" r:id="rId17"/>
    <p:sldId id="270" r:id="rId18"/>
    <p:sldId id="274" r:id="rId19"/>
    <p:sldId id="271" r:id="rId20"/>
    <p:sldId id="275" r:id="rId21"/>
    <p:sldId id="388" r:id="rId22"/>
  </p:sldIdLst>
  <p:sldSz cx="14630400" cy="8229600"/>
  <p:notesSz cx="8229600" cy="14630400"/>
  <p:embeddedFontLst>
    <p:embeddedFont>
      <p:font typeface="DM Sans" pitchFamily="2" charset="0"/>
      <p:regular r:id="rId24"/>
      <p:bold r:id="rId25"/>
      <p:italic r:id="rId26"/>
    </p:embeddedFont>
    <p:embeddedFont>
      <p:font typeface="PT Serif" panose="020A0603040505020204" pitchFamily="18" charset="0"/>
      <p:regular r:id="rId27"/>
      <p:bold r:id="rId28"/>
      <p:italic r:id="rId29"/>
      <p:bold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varScale="1">
        <p:scale>
          <a:sx n="49" d="100"/>
          <a:sy n="49" d="100"/>
        </p:scale>
        <p:origin x="94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1831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939F5-3CA7-1714-C502-F00A3A222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DF299D-F43E-37ED-CE25-0102DB72B8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1AC5EC-0A9C-767D-2A5E-C9399C4885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1EBD29-F063-FB16-41F9-9F8E28606A8E}"/>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1143831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8747952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520040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9020549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extLst>
      <p:ext uri="{BB962C8B-B14F-4D97-AF65-F5344CB8AC3E}">
        <p14:creationId xmlns:p14="http://schemas.microsoft.com/office/powerpoint/2010/main" val="551577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8.xml"/><Relationship Id="rId5" Type="http://schemas.openxmlformats.org/officeDocument/2006/relationships/image" Target="../media/image13.png"/><Relationship Id="rId4" Type="http://schemas.openxmlformats.org/officeDocument/2006/relationships/image" Target="../media/image12.gi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746534"/>
            <a:ext cx="10419874" cy="1302544"/>
          </a:xfrm>
          <a:prstGeom prst="rect">
            <a:avLst/>
          </a:prstGeom>
          <a:noFill/>
          <a:ln/>
        </p:spPr>
        <p:txBody>
          <a:bodyPr wrap="none" lIns="0" tIns="0" rIns="0" bIns="0" rtlCol="0" anchor="t"/>
          <a:lstStyle/>
          <a:p>
            <a:pPr marL="0" indent="0" algn="l">
              <a:lnSpc>
                <a:spcPts val="10250"/>
              </a:lnSpc>
              <a:buNone/>
            </a:pPr>
            <a:r>
              <a:rPr lang="en-US" sz="4100" dirty="0">
                <a:solidFill>
                  <a:srgbClr val="020202"/>
                </a:solidFill>
                <a:latin typeface="PT Serif" pitchFamily="34" charset="0"/>
                <a:ea typeface="PT Serif" pitchFamily="34" charset="-122"/>
                <a:cs typeface="PT Serif" pitchFamily="34" charset="-120"/>
              </a:rPr>
              <a:t>Statistical Measures</a:t>
            </a:r>
            <a:endParaRPr lang="en-US" sz="4100" dirty="0"/>
          </a:p>
        </p:txBody>
      </p:sp>
      <p:sp>
        <p:nvSpPr>
          <p:cNvPr id="3" name="Text 1"/>
          <p:cNvSpPr/>
          <p:nvPr/>
        </p:nvSpPr>
        <p:spPr>
          <a:xfrm>
            <a:off x="793790" y="4346734"/>
            <a:ext cx="12435364" cy="521017"/>
          </a:xfrm>
          <a:prstGeom prst="rect">
            <a:avLst/>
          </a:prstGeom>
          <a:noFill/>
          <a:ln/>
        </p:spPr>
        <p:txBody>
          <a:bodyPr wrap="none" lIns="0" tIns="0" rIns="0" bIns="0" rtlCol="0" anchor="t"/>
          <a:lstStyle/>
          <a:p>
            <a:pPr marL="0" indent="0" algn="l">
              <a:lnSpc>
                <a:spcPts val="4100"/>
              </a:lnSpc>
              <a:buNone/>
            </a:pPr>
            <a:r>
              <a:rPr lang="en-US" sz="3250" dirty="0">
                <a:solidFill>
                  <a:srgbClr val="020202"/>
                </a:solidFill>
                <a:latin typeface="PT Serif" pitchFamily="34" charset="0"/>
                <a:ea typeface="PT Serif" pitchFamily="34" charset="-122"/>
                <a:cs typeface="PT Serif" pitchFamily="34" charset="-120"/>
              </a:rPr>
              <a:t>Measures of Central Tendency, Variation, Skewness and Correlation</a:t>
            </a:r>
            <a:endParaRPr lang="en-US" sz="3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p:nvPr/>
        </p:nvSpPr>
        <p:spPr>
          <a:xfrm>
            <a:off x="793790" y="2851785"/>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PT Serif Light" pitchFamily="34" charset="0"/>
                <a:ea typeface="PT Serif Light" pitchFamily="34" charset="-122"/>
                <a:cs typeface="PT Serif Light" pitchFamily="34" charset="-120"/>
              </a:rPr>
              <a:t>01</a:t>
            </a:r>
            <a:endParaRPr lang="en-US" sz="1550" dirty="0"/>
          </a:p>
        </p:txBody>
      </p:sp>
      <p:sp>
        <p:nvSpPr>
          <p:cNvPr id="4" name="Shape 2"/>
          <p:cNvSpPr/>
          <p:nvPr/>
        </p:nvSpPr>
        <p:spPr>
          <a:xfrm>
            <a:off x="793790" y="3166110"/>
            <a:ext cx="6422231" cy="22860"/>
          </a:xfrm>
          <a:prstGeom prst="rect">
            <a:avLst/>
          </a:prstGeom>
          <a:solidFill>
            <a:srgbClr val="E04F00"/>
          </a:solidFill>
          <a:ln/>
        </p:spPr>
      </p:sp>
      <p:sp>
        <p:nvSpPr>
          <p:cNvPr id="5" name="Text 3"/>
          <p:cNvSpPr/>
          <p:nvPr/>
        </p:nvSpPr>
        <p:spPr>
          <a:xfrm>
            <a:off x="793790" y="3311009"/>
            <a:ext cx="3371374"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Measure of Central Tendency</a:t>
            </a:r>
            <a:endParaRPr lang="en-US" sz="2050" dirty="0"/>
          </a:p>
        </p:txBody>
      </p:sp>
      <p:sp>
        <p:nvSpPr>
          <p:cNvPr id="6" name="Text 4"/>
          <p:cNvSpPr/>
          <p:nvPr/>
        </p:nvSpPr>
        <p:spPr>
          <a:xfrm>
            <a:off x="793790" y="3755708"/>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Understanding mean, median, and mode as measures that identify the center of your data distribution</a:t>
            </a:r>
            <a:endParaRPr lang="en-US" sz="1550" dirty="0"/>
          </a:p>
        </p:txBody>
      </p:sp>
      <p:sp>
        <p:nvSpPr>
          <p:cNvPr id="7" name="Text 5"/>
          <p:cNvSpPr/>
          <p:nvPr/>
        </p:nvSpPr>
        <p:spPr>
          <a:xfrm>
            <a:off x="7414379" y="2851785"/>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PT Serif Light" pitchFamily="34" charset="0"/>
                <a:ea typeface="PT Serif Light" pitchFamily="34" charset="-122"/>
                <a:cs typeface="PT Serif Light" pitchFamily="34" charset="-120"/>
              </a:rPr>
              <a:t>02</a:t>
            </a:r>
            <a:endParaRPr lang="en-US" sz="1550" dirty="0"/>
          </a:p>
        </p:txBody>
      </p:sp>
      <p:sp>
        <p:nvSpPr>
          <p:cNvPr id="8" name="Shape 6"/>
          <p:cNvSpPr/>
          <p:nvPr/>
        </p:nvSpPr>
        <p:spPr>
          <a:xfrm>
            <a:off x="7414379" y="3166110"/>
            <a:ext cx="6422231" cy="22860"/>
          </a:xfrm>
          <a:prstGeom prst="rect">
            <a:avLst/>
          </a:prstGeom>
          <a:solidFill>
            <a:srgbClr val="E04F00"/>
          </a:solidFill>
          <a:ln/>
        </p:spPr>
      </p:sp>
      <p:sp>
        <p:nvSpPr>
          <p:cNvPr id="9" name="Text 7"/>
          <p:cNvSpPr/>
          <p:nvPr/>
        </p:nvSpPr>
        <p:spPr>
          <a:xfrm>
            <a:off x="7414379" y="3311009"/>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Measure of Variation</a:t>
            </a:r>
            <a:endParaRPr lang="en-US" sz="2050" dirty="0"/>
          </a:p>
        </p:txBody>
      </p:sp>
      <p:sp>
        <p:nvSpPr>
          <p:cNvPr id="10" name="Text 8"/>
          <p:cNvSpPr/>
          <p:nvPr/>
        </p:nvSpPr>
        <p:spPr>
          <a:xfrm>
            <a:off x="7414379" y="3755708"/>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Exploring how spread-out the data is using range, IQR, and standard deviation</a:t>
            </a:r>
            <a:endParaRPr lang="en-US" sz="1550" dirty="0"/>
          </a:p>
        </p:txBody>
      </p:sp>
      <p:sp>
        <p:nvSpPr>
          <p:cNvPr id="11" name="Text 9"/>
          <p:cNvSpPr/>
          <p:nvPr/>
        </p:nvSpPr>
        <p:spPr>
          <a:xfrm>
            <a:off x="793790" y="4737973"/>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PT Serif Light" pitchFamily="34" charset="0"/>
                <a:ea typeface="PT Serif Light" pitchFamily="34" charset="-122"/>
                <a:cs typeface="PT Serif Light" pitchFamily="34" charset="-120"/>
              </a:rPr>
              <a:t>03</a:t>
            </a:r>
            <a:endParaRPr lang="en-US" sz="1550" dirty="0"/>
          </a:p>
        </p:txBody>
      </p:sp>
      <p:sp>
        <p:nvSpPr>
          <p:cNvPr id="12" name="Shape 10"/>
          <p:cNvSpPr/>
          <p:nvPr/>
        </p:nvSpPr>
        <p:spPr>
          <a:xfrm>
            <a:off x="793790" y="5052298"/>
            <a:ext cx="6422231" cy="22860"/>
          </a:xfrm>
          <a:prstGeom prst="rect">
            <a:avLst/>
          </a:prstGeom>
          <a:solidFill>
            <a:srgbClr val="E04F00"/>
          </a:solidFill>
          <a:ln/>
        </p:spPr>
      </p:sp>
      <p:sp>
        <p:nvSpPr>
          <p:cNvPr id="13" name="Text 11"/>
          <p:cNvSpPr/>
          <p:nvPr/>
        </p:nvSpPr>
        <p:spPr>
          <a:xfrm>
            <a:off x="793790" y="5197197"/>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Measure of Skewness</a:t>
            </a:r>
            <a:endParaRPr lang="en-US" sz="2050" dirty="0"/>
          </a:p>
        </p:txBody>
      </p:sp>
      <p:sp>
        <p:nvSpPr>
          <p:cNvPr id="14" name="Text 12"/>
          <p:cNvSpPr/>
          <p:nvPr/>
        </p:nvSpPr>
        <p:spPr>
          <a:xfrm>
            <a:off x="793790" y="5641896"/>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Analyzing the symmetry of data distributions and understanding what skewness reveals</a:t>
            </a:r>
            <a:endParaRPr lang="en-US" sz="1550" dirty="0"/>
          </a:p>
        </p:txBody>
      </p:sp>
      <p:sp>
        <p:nvSpPr>
          <p:cNvPr id="15" name="Text 13"/>
          <p:cNvSpPr/>
          <p:nvPr/>
        </p:nvSpPr>
        <p:spPr>
          <a:xfrm>
            <a:off x="7414379" y="4737973"/>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PT Serif Light" pitchFamily="34" charset="0"/>
                <a:ea typeface="PT Serif Light" pitchFamily="34" charset="-122"/>
                <a:cs typeface="PT Serif Light" pitchFamily="34" charset="-120"/>
              </a:rPr>
              <a:t>04</a:t>
            </a:r>
            <a:endParaRPr lang="en-US" sz="1550" dirty="0"/>
          </a:p>
        </p:txBody>
      </p:sp>
      <p:sp>
        <p:nvSpPr>
          <p:cNvPr id="16" name="Shape 14"/>
          <p:cNvSpPr/>
          <p:nvPr/>
        </p:nvSpPr>
        <p:spPr>
          <a:xfrm>
            <a:off x="7414379" y="5052298"/>
            <a:ext cx="6422231" cy="22860"/>
          </a:xfrm>
          <a:prstGeom prst="rect">
            <a:avLst/>
          </a:prstGeom>
          <a:solidFill>
            <a:srgbClr val="E04F00"/>
          </a:solidFill>
          <a:ln/>
        </p:spPr>
      </p:sp>
      <p:sp>
        <p:nvSpPr>
          <p:cNvPr id="17" name="Text 15"/>
          <p:cNvSpPr/>
          <p:nvPr/>
        </p:nvSpPr>
        <p:spPr>
          <a:xfrm>
            <a:off x="7414379" y="5197197"/>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Bivariate Analysis</a:t>
            </a:r>
            <a:endParaRPr lang="en-US" sz="2050" dirty="0"/>
          </a:p>
        </p:txBody>
      </p:sp>
      <p:sp>
        <p:nvSpPr>
          <p:cNvPr id="18" name="Text 16"/>
          <p:cNvSpPr/>
          <p:nvPr/>
        </p:nvSpPr>
        <p:spPr>
          <a:xfrm>
            <a:off x="7414379" y="5641896"/>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Examining relationships between two variables through correlation and scatter plots</a:t>
            </a:r>
            <a:endParaRPr lang="en-US" sz="1550" dirty="0"/>
          </a:p>
        </p:txBody>
      </p:sp>
      <p:sp>
        <p:nvSpPr>
          <p:cNvPr id="19" name="Text 0">
            <a:extLst>
              <a:ext uri="{FF2B5EF4-FFF2-40B4-BE49-F238E27FC236}">
                <a16:creationId xmlns:a16="http://schemas.microsoft.com/office/drawing/2014/main" id="{C6D76326-352D-8A4A-A042-354A95FBC686}"/>
              </a:ext>
            </a:extLst>
          </p:cNvPr>
          <p:cNvSpPr/>
          <p:nvPr/>
        </p:nvSpPr>
        <p:spPr>
          <a:xfrm>
            <a:off x="667180" y="1367717"/>
            <a:ext cx="4763333" cy="595432"/>
          </a:xfrm>
          <a:prstGeom prst="rect">
            <a:avLst/>
          </a:prstGeom>
          <a:noFill/>
          <a:ln/>
        </p:spPr>
        <p:txBody>
          <a:bodyPr wrap="none" lIns="0" tIns="0" rIns="0" bIns="0" rtlCol="0" anchor="t"/>
          <a:lstStyle/>
          <a:p>
            <a:pPr marL="0" indent="0" algn="l">
              <a:lnSpc>
                <a:spcPts val="4650"/>
              </a:lnSpc>
              <a:buNone/>
            </a:pPr>
            <a:r>
              <a:rPr lang="en-US" sz="3750" dirty="0">
                <a:solidFill>
                  <a:srgbClr val="020202"/>
                </a:solidFill>
                <a:latin typeface="PT Serif" pitchFamily="34" charset="0"/>
                <a:ea typeface="PT Serif" pitchFamily="34" charset="-122"/>
                <a:cs typeface="PT Serif" pitchFamily="34" charset="-120"/>
              </a:rPr>
              <a:t>Contents</a:t>
            </a:r>
            <a:endParaRPr lang="en-US" sz="3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753553"/>
            <a:ext cx="6969681"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Measures of Central Tendency</a:t>
            </a:r>
            <a:endParaRPr lang="en-US" sz="4100" dirty="0"/>
          </a:p>
        </p:txBody>
      </p:sp>
      <p:sp>
        <p:nvSpPr>
          <p:cNvPr id="3" name="Text 1"/>
          <p:cNvSpPr/>
          <p:nvPr/>
        </p:nvSpPr>
        <p:spPr>
          <a:xfrm>
            <a:off x="1091446" y="3024902"/>
            <a:ext cx="12745164" cy="317540"/>
          </a:xfrm>
          <a:prstGeom prst="rect">
            <a:avLst/>
          </a:prstGeom>
          <a:noFill/>
          <a:ln/>
        </p:spPr>
        <p:txBody>
          <a:bodyPr wrap="non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A single value that describes a set of data by identifying the central position as a summary measure.</a:t>
            </a:r>
            <a:endParaRPr lang="en-US" dirty="0"/>
          </a:p>
        </p:txBody>
      </p:sp>
      <p:sp>
        <p:nvSpPr>
          <p:cNvPr id="4" name="Shape 2"/>
          <p:cNvSpPr/>
          <p:nvPr/>
        </p:nvSpPr>
        <p:spPr>
          <a:xfrm>
            <a:off x="793790" y="2801660"/>
            <a:ext cx="22860" cy="764024"/>
          </a:xfrm>
          <a:prstGeom prst="rect">
            <a:avLst/>
          </a:prstGeom>
          <a:solidFill>
            <a:srgbClr val="E04F00"/>
          </a:solidFill>
          <a:ln/>
        </p:spPr>
      </p:sp>
      <p:sp>
        <p:nvSpPr>
          <p:cNvPr id="5" name="Text 3"/>
          <p:cNvSpPr/>
          <p:nvPr/>
        </p:nvSpPr>
        <p:spPr>
          <a:xfrm>
            <a:off x="793790" y="3863340"/>
            <a:ext cx="4167902" cy="521017"/>
          </a:xfrm>
          <a:prstGeom prst="rect">
            <a:avLst/>
          </a:prstGeom>
          <a:noFill/>
          <a:ln/>
        </p:spPr>
        <p:txBody>
          <a:bodyPr wrap="none" lIns="0" tIns="0" rIns="0" bIns="0" rtlCol="0" anchor="t"/>
          <a:lstStyle/>
          <a:p>
            <a:pPr marL="0" indent="0" algn="l">
              <a:lnSpc>
                <a:spcPts val="4100"/>
              </a:lnSpc>
              <a:buNone/>
            </a:pPr>
            <a:r>
              <a:rPr lang="en-US" sz="3250" dirty="0">
                <a:solidFill>
                  <a:srgbClr val="020202"/>
                </a:solidFill>
                <a:latin typeface="PT Serif" pitchFamily="34" charset="0"/>
                <a:ea typeface="PT Serif" pitchFamily="34" charset="-122"/>
                <a:cs typeface="PT Serif" pitchFamily="34" charset="-120"/>
              </a:rPr>
              <a:t>Three Key Measures</a:t>
            </a:r>
            <a:endParaRPr lang="en-US" sz="3250" dirty="0"/>
          </a:p>
        </p:txBody>
      </p:sp>
      <p:sp>
        <p:nvSpPr>
          <p:cNvPr id="6" name="Shape 4"/>
          <p:cNvSpPr/>
          <p:nvPr/>
        </p:nvSpPr>
        <p:spPr>
          <a:xfrm>
            <a:off x="793790" y="4682014"/>
            <a:ext cx="4215289" cy="1794034"/>
          </a:xfrm>
          <a:prstGeom prst="roundRect">
            <a:avLst>
              <a:gd name="adj" fmla="val 1659"/>
            </a:avLst>
          </a:prstGeom>
          <a:solidFill>
            <a:srgbClr val="F2EEEE"/>
          </a:solidFill>
          <a:ln/>
        </p:spPr>
      </p:sp>
      <p:sp>
        <p:nvSpPr>
          <p:cNvPr id="7" name="Text 5"/>
          <p:cNvSpPr/>
          <p:nvPr/>
        </p:nvSpPr>
        <p:spPr>
          <a:xfrm>
            <a:off x="992148" y="4880372"/>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Mean</a:t>
            </a:r>
            <a:endParaRPr lang="en-US" sz="2050" dirty="0"/>
          </a:p>
        </p:txBody>
      </p:sp>
      <p:sp>
        <p:nvSpPr>
          <p:cNvPr id="8" name="Text 6"/>
          <p:cNvSpPr/>
          <p:nvPr/>
        </p:nvSpPr>
        <p:spPr>
          <a:xfrm>
            <a:off x="992148" y="5325070"/>
            <a:ext cx="3818573"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Sum of all values divided by total number of values. Most commonly used measure</a:t>
            </a:r>
          </a:p>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of central tendency. </a:t>
            </a:r>
            <a:endParaRPr lang="en-US" sz="1550" dirty="0"/>
          </a:p>
        </p:txBody>
      </p:sp>
      <p:sp>
        <p:nvSpPr>
          <p:cNvPr id="9" name="Shape 7"/>
          <p:cNvSpPr/>
          <p:nvPr/>
        </p:nvSpPr>
        <p:spPr>
          <a:xfrm>
            <a:off x="5207437" y="4682014"/>
            <a:ext cx="4215408" cy="1794034"/>
          </a:xfrm>
          <a:prstGeom prst="roundRect">
            <a:avLst>
              <a:gd name="adj" fmla="val 1659"/>
            </a:avLst>
          </a:prstGeom>
          <a:solidFill>
            <a:srgbClr val="F2EEEE"/>
          </a:solidFill>
          <a:ln/>
        </p:spPr>
      </p:sp>
      <p:sp>
        <p:nvSpPr>
          <p:cNvPr id="10" name="Text 8"/>
          <p:cNvSpPr/>
          <p:nvPr/>
        </p:nvSpPr>
        <p:spPr>
          <a:xfrm>
            <a:off x="5405795" y="4880372"/>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Median</a:t>
            </a:r>
            <a:endParaRPr lang="en-US" sz="2050" dirty="0"/>
          </a:p>
        </p:txBody>
      </p:sp>
      <p:sp>
        <p:nvSpPr>
          <p:cNvPr id="11" name="Text 9"/>
          <p:cNvSpPr/>
          <p:nvPr/>
        </p:nvSpPr>
        <p:spPr>
          <a:xfrm>
            <a:off x="5405795" y="5325070"/>
            <a:ext cx="3818692"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Middle value when data is arranged in ascending order. Represents the 50th percentile of your dataset.</a:t>
            </a:r>
            <a:endParaRPr lang="en-US" sz="1550" dirty="0"/>
          </a:p>
        </p:txBody>
      </p:sp>
      <p:sp>
        <p:nvSpPr>
          <p:cNvPr id="12" name="Shape 10"/>
          <p:cNvSpPr/>
          <p:nvPr/>
        </p:nvSpPr>
        <p:spPr>
          <a:xfrm>
            <a:off x="9621203" y="4682014"/>
            <a:ext cx="4215289" cy="1794034"/>
          </a:xfrm>
          <a:prstGeom prst="roundRect">
            <a:avLst>
              <a:gd name="adj" fmla="val 1659"/>
            </a:avLst>
          </a:prstGeom>
          <a:solidFill>
            <a:srgbClr val="F2EEEE"/>
          </a:solidFill>
          <a:ln/>
        </p:spPr>
      </p:sp>
      <p:sp>
        <p:nvSpPr>
          <p:cNvPr id="13" name="Text 11"/>
          <p:cNvSpPr/>
          <p:nvPr/>
        </p:nvSpPr>
        <p:spPr>
          <a:xfrm>
            <a:off x="9819561" y="4880372"/>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Mode</a:t>
            </a:r>
            <a:endParaRPr lang="en-US" sz="2050" dirty="0"/>
          </a:p>
        </p:txBody>
      </p:sp>
      <p:sp>
        <p:nvSpPr>
          <p:cNvPr id="14" name="Text 12"/>
          <p:cNvSpPr/>
          <p:nvPr/>
        </p:nvSpPr>
        <p:spPr>
          <a:xfrm>
            <a:off x="9819561" y="5325070"/>
            <a:ext cx="3818573"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Most frequently occurring observation in the data set. Can be useful for categorical data analysis.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566982"/>
            <a:ext cx="10222706"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Understanding Through Example</a:t>
            </a:r>
            <a:endParaRPr lang="en-US" sz="4100" dirty="0"/>
          </a:p>
        </p:txBody>
      </p:sp>
      <p:sp>
        <p:nvSpPr>
          <p:cNvPr id="3" name="Text 1"/>
          <p:cNvSpPr/>
          <p:nvPr/>
        </p:nvSpPr>
        <p:spPr>
          <a:xfrm>
            <a:off x="793790" y="2615089"/>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Consider a company with 1,000 employees. Let's see how each measure of central tendency tells us something different about the age distribution of the workforce.</a:t>
            </a:r>
            <a:endParaRPr lang="en-US" dirty="0"/>
          </a:p>
        </p:txBody>
      </p:sp>
      <p:sp>
        <p:nvSpPr>
          <p:cNvPr id="4" name="Shape 2"/>
          <p:cNvSpPr/>
          <p:nvPr/>
        </p:nvSpPr>
        <p:spPr>
          <a:xfrm>
            <a:off x="793790" y="3473410"/>
            <a:ext cx="4215289" cy="3189208"/>
          </a:xfrm>
          <a:prstGeom prst="roundRect">
            <a:avLst>
              <a:gd name="adj" fmla="val 933"/>
            </a:avLst>
          </a:prstGeom>
          <a:solidFill>
            <a:srgbClr val="FFFFFF"/>
          </a:solidFill>
          <a:ln w="22860">
            <a:solidFill>
              <a:srgbClr val="D8D4D4"/>
            </a:solidFill>
            <a:prstDash val="solid"/>
          </a:ln>
        </p:spPr>
      </p:sp>
      <p:sp>
        <p:nvSpPr>
          <p:cNvPr id="5" name="Shape 3"/>
          <p:cNvSpPr/>
          <p:nvPr/>
        </p:nvSpPr>
        <p:spPr>
          <a:xfrm>
            <a:off x="816650" y="3496270"/>
            <a:ext cx="4169569" cy="595313"/>
          </a:xfrm>
          <a:prstGeom prst="roundRect">
            <a:avLst>
              <a:gd name="adj" fmla="val 393"/>
            </a:avLst>
          </a:prstGeom>
          <a:solidFill>
            <a:srgbClr val="F2EEEE"/>
          </a:solidFill>
          <a:ln/>
        </p:spPr>
      </p:sp>
      <p:sp>
        <p:nvSpPr>
          <p:cNvPr id="6" name="Text 4"/>
          <p:cNvSpPr/>
          <p:nvPr/>
        </p:nvSpPr>
        <p:spPr>
          <a:xfrm>
            <a:off x="1015008" y="4289941"/>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Mean</a:t>
            </a:r>
            <a:endParaRPr lang="en-US" sz="2050" dirty="0"/>
          </a:p>
        </p:txBody>
      </p:sp>
      <p:sp>
        <p:nvSpPr>
          <p:cNvPr id="7" name="Text 5"/>
          <p:cNvSpPr/>
          <p:nvPr/>
        </p:nvSpPr>
        <p:spPr>
          <a:xfrm>
            <a:off x="1015008" y="4734639"/>
            <a:ext cx="3772853" cy="635079"/>
          </a:xfrm>
          <a:prstGeom prst="rect">
            <a:avLst/>
          </a:prstGeom>
          <a:noFill/>
          <a:ln/>
        </p:spPr>
        <p:txBody>
          <a:bodyPr wrap="squar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Average age of all employees working in the company</a:t>
            </a:r>
            <a:endParaRPr lang="en-US" sz="1550" dirty="0"/>
          </a:p>
        </p:txBody>
      </p:sp>
      <p:sp>
        <p:nvSpPr>
          <p:cNvPr id="8" name="Text 6"/>
          <p:cNvSpPr/>
          <p:nvPr/>
        </p:nvSpPr>
        <p:spPr>
          <a:xfrm>
            <a:off x="1015008" y="5488781"/>
            <a:ext cx="3772853"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This gives you the overall average, but can be influenced by very young interns or older executives.</a:t>
            </a:r>
            <a:endParaRPr lang="en-US" sz="1550" dirty="0"/>
          </a:p>
        </p:txBody>
      </p:sp>
      <p:sp>
        <p:nvSpPr>
          <p:cNvPr id="9" name="Shape 7"/>
          <p:cNvSpPr/>
          <p:nvPr/>
        </p:nvSpPr>
        <p:spPr>
          <a:xfrm>
            <a:off x="5207437" y="3473410"/>
            <a:ext cx="4215408" cy="3189208"/>
          </a:xfrm>
          <a:prstGeom prst="roundRect">
            <a:avLst>
              <a:gd name="adj" fmla="val 933"/>
            </a:avLst>
          </a:prstGeom>
          <a:solidFill>
            <a:srgbClr val="FFFFFF"/>
          </a:solidFill>
          <a:ln w="22860">
            <a:solidFill>
              <a:srgbClr val="D8D4D4"/>
            </a:solidFill>
            <a:prstDash val="solid"/>
          </a:ln>
        </p:spPr>
      </p:sp>
      <p:sp>
        <p:nvSpPr>
          <p:cNvPr id="10" name="Shape 8"/>
          <p:cNvSpPr/>
          <p:nvPr/>
        </p:nvSpPr>
        <p:spPr>
          <a:xfrm>
            <a:off x="5230297" y="3496270"/>
            <a:ext cx="4169688" cy="595313"/>
          </a:xfrm>
          <a:prstGeom prst="roundRect">
            <a:avLst>
              <a:gd name="adj" fmla="val 393"/>
            </a:avLst>
          </a:prstGeom>
          <a:solidFill>
            <a:srgbClr val="F2EEEE"/>
          </a:solidFill>
          <a:ln/>
        </p:spPr>
      </p:sp>
      <p:sp>
        <p:nvSpPr>
          <p:cNvPr id="11" name="Text 9"/>
          <p:cNvSpPr/>
          <p:nvPr/>
        </p:nvSpPr>
        <p:spPr>
          <a:xfrm>
            <a:off x="5428655" y="4289941"/>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Median</a:t>
            </a:r>
            <a:endParaRPr lang="en-US" sz="2050" dirty="0"/>
          </a:p>
        </p:txBody>
      </p:sp>
      <p:sp>
        <p:nvSpPr>
          <p:cNvPr id="12" name="Text 10"/>
          <p:cNvSpPr/>
          <p:nvPr/>
        </p:nvSpPr>
        <p:spPr>
          <a:xfrm>
            <a:off x="5428655" y="4734639"/>
            <a:ext cx="3772972" cy="635079"/>
          </a:xfrm>
          <a:prstGeom prst="rect">
            <a:avLst/>
          </a:prstGeom>
          <a:noFill/>
          <a:ln/>
        </p:spPr>
        <p:txBody>
          <a:bodyPr wrap="squar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Age below and above which half of the employees fall</a:t>
            </a:r>
            <a:endParaRPr lang="en-US" sz="1550" dirty="0"/>
          </a:p>
        </p:txBody>
      </p:sp>
      <p:sp>
        <p:nvSpPr>
          <p:cNvPr id="13" name="Text 11"/>
          <p:cNvSpPr/>
          <p:nvPr/>
        </p:nvSpPr>
        <p:spPr>
          <a:xfrm>
            <a:off x="5428655" y="5488781"/>
            <a:ext cx="3772972"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This tells you the typical employee age, unaffected by extreme values on either end.</a:t>
            </a:r>
            <a:endParaRPr lang="en-US" sz="1550" dirty="0"/>
          </a:p>
        </p:txBody>
      </p:sp>
      <p:sp>
        <p:nvSpPr>
          <p:cNvPr id="14" name="Shape 12"/>
          <p:cNvSpPr/>
          <p:nvPr/>
        </p:nvSpPr>
        <p:spPr>
          <a:xfrm>
            <a:off x="9621203" y="3473410"/>
            <a:ext cx="4215289" cy="3189208"/>
          </a:xfrm>
          <a:prstGeom prst="roundRect">
            <a:avLst>
              <a:gd name="adj" fmla="val 933"/>
            </a:avLst>
          </a:prstGeom>
          <a:solidFill>
            <a:srgbClr val="FFFFFF"/>
          </a:solidFill>
          <a:ln w="22860">
            <a:solidFill>
              <a:srgbClr val="D8D4D4"/>
            </a:solidFill>
            <a:prstDash val="solid"/>
          </a:ln>
        </p:spPr>
      </p:sp>
      <p:sp>
        <p:nvSpPr>
          <p:cNvPr id="15" name="Shape 13"/>
          <p:cNvSpPr/>
          <p:nvPr/>
        </p:nvSpPr>
        <p:spPr>
          <a:xfrm>
            <a:off x="9644063" y="3496270"/>
            <a:ext cx="4169569" cy="595313"/>
          </a:xfrm>
          <a:prstGeom prst="roundRect">
            <a:avLst>
              <a:gd name="adj" fmla="val 393"/>
            </a:avLst>
          </a:prstGeom>
          <a:solidFill>
            <a:srgbClr val="F2EEEE"/>
          </a:solidFill>
          <a:ln/>
        </p:spPr>
      </p:sp>
      <p:sp>
        <p:nvSpPr>
          <p:cNvPr id="16" name="Text 14"/>
          <p:cNvSpPr/>
          <p:nvPr/>
        </p:nvSpPr>
        <p:spPr>
          <a:xfrm>
            <a:off x="9842421" y="4289941"/>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Mode</a:t>
            </a:r>
            <a:endParaRPr lang="en-US" sz="2050" dirty="0"/>
          </a:p>
        </p:txBody>
      </p:sp>
      <p:sp>
        <p:nvSpPr>
          <p:cNvPr id="17" name="Text 15"/>
          <p:cNvSpPr/>
          <p:nvPr/>
        </p:nvSpPr>
        <p:spPr>
          <a:xfrm>
            <a:off x="9842421" y="4734639"/>
            <a:ext cx="3772853" cy="635079"/>
          </a:xfrm>
          <a:prstGeom prst="rect">
            <a:avLst/>
          </a:prstGeom>
          <a:noFill/>
          <a:ln/>
        </p:spPr>
        <p:txBody>
          <a:bodyPr wrap="squar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Age of the maximum number of employees</a:t>
            </a:r>
            <a:endParaRPr lang="en-US" sz="1550" dirty="0"/>
          </a:p>
        </p:txBody>
      </p:sp>
      <p:sp>
        <p:nvSpPr>
          <p:cNvPr id="18" name="Text 16"/>
          <p:cNvSpPr/>
          <p:nvPr/>
        </p:nvSpPr>
        <p:spPr>
          <a:xfrm>
            <a:off x="9842421" y="5488781"/>
            <a:ext cx="3772853"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This reveals the most common age group in the organization.  </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28030" y="545663"/>
            <a:ext cx="11752064" cy="651272"/>
          </a:xfrm>
          <a:prstGeom prst="rect">
            <a:avLst/>
          </a:prstGeom>
          <a:noFill/>
          <a:ln/>
        </p:spPr>
        <p:txBody>
          <a:bodyPr wrap="none" lIns="0" tIns="0" rIns="0" bIns="0" rtlCol="0" anchor="t"/>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Measures of Central Tendency: A Practical Example</a:t>
            </a:r>
            <a:endParaRPr lang="en-US" sz="3600" dirty="0"/>
          </a:p>
        </p:txBody>
      </p:sp>
      <p:sp>
        <p:nvSpPr>
          <p:cNvPr id="3" name="Text 1"/>
          <p:cNvSpPr/>
          <p:nvPr/>
        </p:nvSpPr>
        <p:spPr>
          <a:xfrm>
            <a:off x="491060" y="1763498"/>
            <a:ext cx="13042821" cy="317540"/>
          </a:xfrm>
          <a:prstGeom prst="rect">
            <a:avLst/>
          </a:prstGeom>
          <a:noFill/>
          <a:ln/>
        </p:spPr>
        <p:txBody>
          <a:bodyPr wrap="non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Let's work through a concrete example using student test scores to see how each measure is calculated.</a:t>
            </a:r>
            <a:endParaRPr lang="en-US" dirty="0"/>
          </a:p>
        </p:txBody>
      </p:sp>
      <p:sp>
        <p:nvSpPr>
          <p:cNvPr id="4" name="Shape 2"/>
          <p:cNvSpPr/>
          <p:nvPr/>
        </p:nvSpPr>
        <p:spPr>
          <a:xfrm>
            <a:off x="793790" y="2846308"/>
            <a:ext cx="13042821" cy="843201"/>
          </a:xfrm>
          <a:prstGeom prst="roundRect">
            <a:avLst>
              <a:gd name="adj" fmla="val 3531"/>
            </a:avLst>
          </a:prstGeom>
          <a:solidFill>
            <a:srgbClr val="FFCDB3"/>
          </a:solidFill>
          <a:ln/>
        </p:spPr>
      </p:sp>
      <p:pic>
        <p:nvPicPr>
          <p:cNvPr id="5" name="Image 0" descr="preencoded.png"/>
          <p:cNvPicPr>
            <a:picLocks noChangeAspect="1"/>
          </p:cNvPicPr>
          <p:nvPr/>
        </p:nvPicPr>
        <p:blipFill>
          <a:blip r:embed="rId3"/>
          <a:stretch>
            <a:fillRect/>
          </a:stretch>
        </p:blipFill>
        <p:spPr>
          <a:xfrm>
            <a:off x="992148" y="3141583"/>
            <a:ext cx="248007" cy="198358"/>
          </a:xfrm>
          <a:prstGeom prst="rect">
            <a:avLst/>
          </a:prstGeom>
        </p:spPr>
      </p:pic>
      <p:sp>
        <p:nvSpPr>
          <p:cNvPr id="6" name="Text 3"/>
          <p:cNvSpPr/>
          <p:nvPr/>
        </p:nvSpPr>
        <p:spPr>
          <a:xfrm>
            <a:off x="1438513" y="3094196"/>
            <a:ext cx="12199739" cy="317540"/>
          </a:xfrm>
          <a:prstGeom prst="rect">
            <a:avLst/>
          </a:prstGeom>
          <a:noFill/>
          <a:ln/>
        </p:spPr>
        <p:txBody>
          <a:bodyPr wrap="none" lIns="0" tIns="0" rIns="0" bIns="0" rtlCol="0" anchor="t"/>
          <a:lstStyle/>
          <a:p>
            <a:pPr marL="0" indent="0" algn="l">
              <a:lnSpc>
                <a:spcPts val="2500"/>
              </a:lnSpc>
              <a:buNone/>
            </a:pPr>
            <a:r>
              <a:rPr lang="en-US" b="1" dirty="0">
                <a:solidFill>
                  <a:srgbClr val="000000"/>
                </a:solidFill>
                <a:latin typeface="DM Sans" pitchFamily="34" charset="0"/>
                <a:ea typeface="DM Sans" pitchFamily="34" charset="-122"/>
                <a:cs typeface="DM Sans" pitchFamily="34" charset="-120"/>
              </a:rPr>
              <a:t>Student marks:</a:t>
            </a:r>
            <a:r>
              <a:rPr lang="en-US" dirty="0">
                <a:solidFill>
                  <a:srgbClr val="000000"/>
                </a:solidFill>
                <a:latin typeface="DM Sans" pitchFamily="34" charset="0"/>
                <a:ea typeface="DM Sans" pitchFamily="34" charset="-122"/>
                <a:cs typeface="DM Sans" pitchFamily="34" charset="-120"/>
              </a:rPr>
              <a:t> 13, 20, 16, 17, 09, 18, 17, 11, 08, 17, 12, 20</a:t>
            </a:r>
            <a:endParaRPr lang="en-US" dirty="0"/>
          </a:p>
        </p:txBody>
      </p:sp>
      <p:sp>
        <p:nvSpPr>
          <p:cNvPr id="7" name="Text 4"/>
          <p:cNvSpPr/>
          <p:nvPr/>
        </p:nvSpPr>
        <p:spPr>
          <a:xfrm>
            <a:off x="793790" y="4011930"/>
            <a:ext cx="4182189" cy="654963"/>
          </a:xfrm>
          <a:prstGeom prst="rect">
            <a:avLst/>
          </a:prstGeom>
          <a:noFill/>
          <a:ln/>
        </p:spPr>
        <p:txBody>
          <a:bodyPr wrap="none" lIns="0" tIns="0" rIns="0" bIns="0" rtlCol="0" anchor="t"/>
          <a:lstStyle/>
          <a:p>
            <a:pPr marL="0" indent="0" algn="ctr">
              <a:lnSpc>
                <a:spcPts val="5150"/>
              </a:lnSpc>
              <a:buNone/>
            </a:pPr>
            <a:r>
              <a:rPr lang="en-US" sz="5150" dirty="0">
                <a:solidFill>
                  <a:srgbClr val="383838"/>
                </a:solidFill>
                <a:latin typeface="PT Serif" pitchFamily="34" charset="0"/>
                <a:ea typeface="PT Serif" pitchFamily="34" charset="-122"/>
                <a:cs typeface="PT Serif" pitchFamily="34" charset="-120"/>
              </a:rPr>
              <a:t>14.83</a:t>
            </a:r>
            <a:endParaRPr lang="en-US" sz="5150" dirty="0"/>
          </a:p>
        </p:txBody>
      </p:sp>
      <p:sp>
        <p:nvSpPr>
          <p:cNvPr id="8" name="Text 5"/>
          <p:cNvSpPr/>
          <p:nvPr/>
        </p:nvSpPr>
        <p:spPr>
          <a:xfrm>
            <a:off x="1582341" y="4914900"/>
            <a:ext cx="2604968" cy="325636"/>
          </a:xfrm>
          <a:prstGeom prst="rect">
            <a:avLst/>
          </a:prstGeom>
          <a:noFill/>
          <a:ln/>
        </p:spPr>
        <p:txBody>
          <a:bodyPr wrap="none" lIns="0" tIns="0" rIns="0" bIns="0" rtlCol="0" anchor="t"/>
          <a:lstStyle/>
          <a:p>
            <a:pPr marL="0" indent="0" algn="ctr">
              <a:lnSpc>
                <a:spcPts val="2550"/>
              </a:lnSpc>
              <a:buNone/>
            </a:pPr>
            <a:r>
              <a:rPr lang="en-US" sz="2050" dirty="0">
                <a:solidFill>
                  <a:srgbClr val="383838"/>
                </a:solidFill>
                <a:latin typeface="PT Serif" pitchFamily="34" charset="0"/>
                <a:ea typeface="PT Serif" pitchFamily="34" charset="-122"/>
                <a:cs typeface="PT Serif" pitchFamily="34" charset="-120"/>
              </a:rPr>
              <a:t>Mean</a:t>
            </a:r>
            <a:endParaRPr lang="en-US" sz="2050" dirty="0"/>
          </a:p>
        </p:txBody>
      </p:sp>
      <p:sp>
        <p:nvSpPr>
          <p:cNvPr id="9" name="Text 6"/>
          <p:cNvSpPr/>
          <p:nvPr/>
        </p:nvSpPr>
        <p:spPr>
          <a:xfrm>
            <a:off x="793790" y="5359598"/>
            <a:ext cx="4182189" cy="317540"/>
          </a:xfrm>
          <a:prstGeom prst="rect">
            <a:avLst/>
          </a:prstGeom>
          <a:noFill/>
          <a:ln/>
        </p:spPr>
        <p:txBody>
          <a:bodyPr wrap="none" lIns="0" tIns="0" rIns="0" bIns="0" rtlCol="0" anchor="t"/>
          <a:lstStyle/>
          <a:p>
            <a:pPr marL="0" indent="0" algn="ctr">
              <a:lnSpc>
                <a:spcPts val="2500"/>
              </a:lnSpc>
              <a:buNone/>
            </a:pPr>
            <a:r>
              <a:rPr lang="en-US" dirty="0">
                <a:solidFill>
                  <a:srgbClr val="383838"/>
                </a:solidFill>
                <a:latin typeface="DM Sans" pitchFamily="34" charset="0"/>
                <a:ea typeface="DM Sans" pitchFamily="34" charset="-122"/>
                <a:cs typeface="DM Sans" pitchFamily="34" charset="-120"/>
              </a:rPr>
              <a:t>Average marks scored</a:t>
            </a:r>
            <a:endParaRPr lang="en-US" dirty="0"/>
          </a:p>
        </p:txBody>
      </p:sp>
      <p:sp>
        <p:nvSpPr>
          <p:cNvPr id="10" name="Text 7"/>
          <p:cNvSpPr/>
          <p:nvPr/>
        </p:nvSpPr>
        <p:spPr>
          <a:xfrm>
            <a:off x="793790" y="5796201"/>
            <a:ext cx="4182189" cy="317540"/>
          </a:xfrm>
          <a:prstGeom prst="rect">
            <a:avLst/>
          </a:prstGeom>
          <a:noFill/>
          <a:ln/>
        </p:spPr>
        <p:txBody>
          <a:bodyPr wrap="none" lIns="0" tIns="0" rIns="0" bIns="0" rtlCol="0" anchor="t"/>
          <a:lstStyle/>
          <a:p>
            <a:pPr marL="0" indent="0" algn="ctr">
              <a:lnSpc>
                <a:spcPts val="2500"/>
              </a:lnSpc>
              <a:buNone/>
            </a:pPr>
            <a:r>
              <a:rPr lang="en-US" dirty="0">
                <a:solidFill>
                  <a:srgbClr val="383838"/>
                </a:solidFill>
                <a:latin typeface="DM Sans" pitchFamily="34" charset="0"/>
                <a:ea typeface="DM Sans" pitchFamily="34" charset="-122"/>
                <a:cs typeface="DM Sans" pitchFamily="34" charset="-120"/>
              </a:rPr>
              <a:t>Sum of all values divided by the</a:t>
            </a:r>
          </a:p>
          <a:p>
            <a:pPr marL="0" indent="0" algn="ctr">
              <a:lnSpc>
                <a:spcPts val="2500"/>
              </a:lnSpc>
              <a:buNone/>
            </a:pPr>
            <a:r>
              <a:rPr lang="en-US" dirty="0">
                <a:solidFill>
                  <a:srgbClr val="383838"/>
                </a:solidFill>
                <a:latin typeface="DM Sans" pitchFamily="34" charset="0"/>
                <a:ea typeface="DM Sans" pitchFamily="34" charset="-122"/>
                <a:cs typeface="DM Sans" pitchFamily="34" charset="-120"/>
              </a:rPr>
              <a:t>number of students</a:t>
            </a:r>
            <a:endParaRPr lang="en-US" dirty="0"/>
          </a:p>
        </p:txBody>
      </p:sp>
      <p:sp>
        <p:nvSpPr>
          <p:cNvPr id="11" name="Text 8"/>
          <p:cNvSpPr/>
          <p:nvPr/>
        </p:nvSpPr>
        <p:spPr>
          <a:xfrm>
            <a:off x="5223986" y="4011930"/>
            <a:ext cx="4182308" cy="654963"/>
          </a:xfrm>
          <a:prstGeom prst="rect">
            <a:avLst/>
          </a:prstGeom>
          <a:noFill/>
          <a:ln/>
        </p:spPr>
        <p:txBody>
          <a:bodyPr wrap="none" lIns="0" tIns="0" rIns="0" bIns="0" rtlCol="0" anchor="t"/>
          <a:lstStyle/>
          <a:p>
            <a:pPr marL="0" indent="0" algn="ctr">
              <a:lnSpc>
                <a:spcPts val="5150"/>
              </a:lnSpc>
              <a:buNone/>
            </a:pPr>
            <a:r>
              <a:rPr lang="en-US" sz="5150" dirty="0">
                <a:solidFill>
                  <a:srgbClr val="383838"/>
                </a:solidFill>
                <a:latin typeface="PT Serif" pitchFamily="34" charset="0"/>
                <a:ea typeface="PT Serif" pitchFamily="34" charset="-122"/>
                <a:cs typeface="PT Serif" pitchFamily="34" charset="-120"/>
              </a:rPr>
              <a:t>16.5</a:t>
            </a:r>
            <a:endParaRPr lang="en-US" sz="5150" dirty="0"/>
          </a:p>
        </p:txBody>
      </p:sp>
      <p:sp>
        <p:nvSpPr>
          <p:cNvPr id="12" name="Text 9"/>
          <p:cNvSpPr/>
          <p:nvPr/>
        </p:nvSpPr>
        <p:spPr>
          <a:xfrm>
            <a:off x="6012656" y="4914900"/>
            <a:ext cx="2604968" cy="325636"/>
          </a:xfrm>
          <a:prstGeom prst="rect">
            <a:avLst/>
          </a:prstGeom>
          <a:noFill/>
          <a:ln/>
        </p:spPr>
        <p:txBody>
          <a:bodyPr wrap="none" lIns="0" tIns="0" rIns="0" bIns="0" rtlCol="0" anchor="t"/>
          <a:lstStyle/>
          <a:p>
            <a:pPr marL="0" indent="0" algn="ctr">
              <a:lnSpc>
                <a:spcPts val="2550"/>
              </a:lnSpc>
              <a:buNone/>
            </a:pPr>
            <a:r>
              <a:rPr lang="en-US" sz="2050" dirty="0">
                <a:solidFill>
                  <a:srgbClr val="383838"/>
                </a:solidFill>
                <a:latin typeface="PT Serif" pitchFamily="34" charset="0"/>
                <a:ea typeface="PT Serif" pitchFamily="34" charset="-122"/>
                <a:cs typeface="PT Serif" pitchFamily="34" charset="-120"/>
              </a:rPr>
              <a:t>Median</a:t>
            </a:r>
            <a:endParaRPr lang="en-US" sz="2050" dirty="0"/>
          </a:p>
        </p:txBody>
      </p:sp>
      <p:sp>
        <p:nvSpPr>
          <p:cNvPr id="13" name="Text 10"/>
          <p:cNvSpPr/>
          <p:nvPr/>
        </p:nvSpPr>
        <p:spPr>
          <a:xfrm>
            <a:off x="5223986" y="5359598"/>
            <a:ext cx="4182308" cy="317540"/>
          </a:xfrm>
          <a:prstGeom prst="rect">
            <a:avLst/>
          </a:prstGeom>
          <a:noFill/>
          <a:ln/>
        </p:spPr>
        <p:txBody>
          <a:bodyPr wrap="none" lIns="0" tIns="0" rIns="0" bIns="0" rtlCol="0" anchor="t"/>
          <a:lstStyle/>
          <a:p>
            <a:pPr marL="0" indent="0" algn="ctr">
              <a:lnSpc>
                <a:spcPts val="2500"/>
              </a:lnSpc>
              <a:buNone/>
            </a:pPr>
            <a:r>
              <a:rPr lang="en-US" dirty="0">
                <a:solidFill>
                  <a:srgbClr val="383838"/>
                </a:solidFill>
                <a:latin typeface="DM Sans" pitchFamily="34" charset="0"/>
                <a:ea typeface="DM Sans" pitchFamily="34" charset="-122"/>
                <a:cs typeface="DM Sans" pitchFamily="34" charset="-120"/>
              </a:rPr>
              <a:t>Half scored above/below</a:t>
            </a:r>
            <a:endParaRPr lang="en-US" dirty="0"/>
          </a:p>
        </p:txBody>
      </p:sp>
      <p:sp>
        <p:nvSpPr>
          <p:cNvPr id="14" name="Text 11"/>
          <p:cNvSpPr/>
          <p:nvPr/>
        </p:nvSpPr>
        <p:spPr>
          <a:xfrm>
            <a:off x="5223986" y="5796201"/>
            <a:ext cx="4182308" cy="317540"/>
          </a:xfrm>
          <a:prstGeom prst="rect">
            <a:avLst/>
          </a:prstGeom>
          <a:noFill/>
          <a:ln/>
        </p:spPr>
        <p:txBody>
          <a:bodyPr wrap="none" lIns="0" tIns="0" rIns="0" bIns="0" rtlCol="0" anchor="t"/>
          <a:lstStyle/>
          <a:p>
            <a:pPr marL="0" indent="0" algn="ctr">
              <a:lnSpc>
                <a:spcPts val="2500"/>
              </a:lnSpc>
              <a:buNone/>
            </a:pPr>
            <a:r>
              <a:rPr lang="en-US" dirty="0">
                <a:solidFill>
                  <a:srgbClr val="383838"/>
                </a:solidFill>
                <a:latin typeface="DM Sans" pitchFamily="34" charset="0"/>
                <a:ea typeface="DM Sans" pitchFamily="34" charset="-122"/>
                <a:cs typeface="DM Sans" pitchFamily="34" charset="-120"/>
              </a:rPr>
              <a:t>Middle value when arranged in order</a:t>
            </a:r>
            <a:endParaRPr lang="en-US" dirty="0"/>
          </a:p>
        </p:txBody>
      </p:sp>
      <p:sp>
        <p:nvSpPr>
          <p:cNvPr id="15" name="Text 12"/>
          <p:cNvSpPr/>
          <p:nvPr/>
        </p:nvSpPr>
        <p:spPr>
          <a:xfrm>
            <a:off x="9654302" y="4011930"/>
            <a:ext cx="4182308" cy="654963"/>
          </a:xfrm>
          <a:prstGeom prst="rect">
            <a:avLst/>
          </a:prstGeom>
          <a:noFill/>
          <a:ln/>
        </p:spPr>
        <p:txBody>
          <a:bodyPr wrap="none" lIns="0" tIns="0" rIns="0" bIns="0" rtlCol="0" anchor="t"/>
          <a:lstStyle/>
          <a:p>
            <a:pPr marL="0" indent="0" algn="ctr">
              <a:lnSpc>
                <a:spcPts val="5150"/>
              </a:lnSpc>
              <a:buNone/>
            </a:pPr>
            <a:r>
              <a:rPr lang="en-US" sz="5150" dirty="0">
                <a:solidFill>
                  <a:srgbClr val="383838"/>
                </a:solidFill>
                <a:latin typeface="PT Serif" pitchFamily="34" charset="0"/>
                <a:ea typeface="PT Serif" pitchFamily="34" charset="-122"/>
                <a:cs typeface="PT Serif" pitchFamily="34" charset="-120"/>
              </a:rPr>
              <a:t>17</a:t>
            </a:r>
            <a:endParaRPr lang="en-US" sz="5150" dirty="0"/>
          </a:p>
        </p:txBody>
      </p:sp>
      <p:sp>
        <p:nvSpPr>
          <p:cNvPr id="16" name="Text 13"/>
          <p:cNvSpPr/>
          <p:nvPr/>
        </p:nvSpPr>
        <p:spPr>
          <a:xfrm>
            <a:off x="10442972" y="4914900"/>
            <a:ext cx="2604968" cy="325636"/>
          </a:xfrm>
          <a:prstGeom prst="rect">
            <a:avLst/>
          </a:prstGeom>
          <a:noFill/>
          <a:ln/>
        </p:spPr>
        <p:txBody>
          <a:bodyPr wrap="none" lIns="0" tIns="0" rIns="0" bIns="0" rtlCol="0" anchor="t"/>
          <a:lstStyle/>
          <a:p>
            <a:pPr marL="0" indent="0" algn="ctr">
              <a:lnSpc>
                <a:spcPts val="2550"/>
              </a:lnSpc>
              <a:buNone/>
            </a:pPr>
            <a:r>
              <a:rPr lang="en-US" sz="2050" dirty="0">
                <a:solidFill>
                  <a:srgbClr val="383838"/>
                </a:solidFill>
                <a:latin typeface="PT Serif" pitchFamily="34" charset="0"/>
                <a:ea typeface="PT Serif" pitchFamily="34" charset="-122"/>
                <a:cs typeface="PT Serif" pitchFamily="34" charset="-120"/>
              </a:rPr>
              <a:t>Mode</a:t>
            </a:r>
            <a:endParaRPr lang="en-US" sz="2050" dirty="0"/>
          </a:p>
        </p:txBody>
      </p:sp>
      <p:sp>
        <p:nvSpPr>
          <p:cNvPr id="17" name="Text 14"/>
          <p:cNvSpPr/>
          <p:nvPr/>
        </p:nvSpPr>
        <p:spPr>
          <a:xfrm>
            <a:off x="9654302" y="5359598"/>
            <a:ext cx="4182308" cy="317540"/>
          </a:xfrm>
          <a:prstGeom prst="rect">
            <a:avLst/>
          </a:prstGeom>
          <a:noFill/>
          <a:ln/>
        </p:spPr>
        <p:txBody>
          <a:bodyPr wrap="none" lIns="0" tIns="0" rIns="0" bIns="0" rtlCol="0" anchor="t"/>
          <a:lstStyle/>
          <a:p>
            <a:pPr marL="0" indent="0" algn="ctr">
              <a:lnSpc>
                <a:spcPts val="2500"/>
              </a:lnSpc>
              <a:buNone/>
            </a:pPr>
            <a:r>
              <a:rPr lang="en-US" dirty="0">
                <a:solidFill>
                  <a:srgbClr val="383838"/>
                </a:solidFill>
                <a:latin typeface="DM Sans" pitchFamily="34" charset="0"/>
                <a:ea typeface="DM Sans" pitchFamily="34" charset="-122"/>
                <a:cs typeface="DM Sans" pitchFamily="34" charset="-120"/>
              </a:rPr>
              <a:t>Most common score</a:t>
            </a:r>
            <a:endParaRPr lang="en-US" dirty="0"/>
          </a:p>
        </p:txBody>
      </p:sp>
      <p:sp>
        <p:nvSpPr>
          <p:cNvPr id="18" name="Text 15"/>
          <p:cNvSpPr/>
          <p:nvPr/>
        </p:nvSpPr>
        <p:spPr>
          <a:xfrm>
            <a:off x="9654302" y="5796201"/>
            <a:ext cx="4182308" cy="317540"/>
          </a:xfrm>
          <a:prstGeom prst="rect">
            <a:avLst/>
          </a:prstGeom>
          <a:noFill/>
          <a:ln/>
        </p:spPr>
        <p:txBody>
          <a:bodyPr wrap="none" lIns="0" tIns="0" rIns="0" bIns="0" rtlCol="0" anchor="t"/>
          <a:lstStyle/>
          <a:p>
            <a:pPr marL="0" indent="0" algn="ctr">
              <a:lnSpc>
                <a:spcPts val="2500"/>
              </a:lnSpc>
              <a:buNone/>
            </a:pPr>
            <a:r>
              <a:rPr lang="en-US" dirty="0">
                <a:solidFill>
                  <a:srgbClr val="383838"/>
                </a:solidFill>
                <a:latin typeface="DM Sans" pitchFamily="34" charset="0"/>
                <a:ea typeface="DM Sans" pitchFamily="34" charset="-122"/>
                <a:cs typeface="DM Sans" pitchFamily="34" charset="-120"/>
              </a:rPr>
              <a:t>Appears three times in the dataset</a:t>
            </a:r>
            <a:endParaRPr lang="en-US" dirty="0"/>
          </a:p>
        </p:txBody>
      </p:sp>
      <p:sp>
        <p:nvSpPr>
          <p:cNvPr id="19" name="Text 16"/>
          <p:cNvSpPr/>
          <p:nvPr/>
        </p:nvSpPr>
        <p:spPr>
          <a:xfrm>
            <a:off x="793729" y="6871555"/>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Notice how the three measures give us different perspectives on the same data. The mode is highest, the median falls in between, and the mean is pulled down slightly by the lower scores.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595795"/>
            <a:ext cx="7966710"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Trimmed Mean: Handling Outliers</a:t>
            </a:r>
            <a:endParaRPr lang="en-US" sz="4100" dirty="0"/>
          </a:p>
        </p:txBody>
      </p:sp>
      <p:sp>
        <p:nvSpPr>
          <p:cNvPr id="3" name="Text 1"/>
          <p:cNvSpPr/>
          <p:nvPr/>
        </p:nvSpPr>
        <p:spPr>
          <a:xfrm>
            <a:off x="793790" y="2643902"/>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When your data contains extreme values that don't represent the typical pattern, a trimmed mean provides a more robust measure of central tendency.</a:t>
            </a:r>
            <a:endParaRPr lang="en-US" dirty="0"/>
          </a:p>
        </p:txBody>
      </p:sp>
      <p:sp>
        <p:nvSpPr>
          <p:cNvPr id="4" name="Text 2"/>
          <p:cNvSpPr/>
          <p:nvPr/>
        </p:nvSpPr>
        <p:spPr>
          <a:xfrm>
            <a:off x="793790" y="3700582"/>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020202"/>
                </a:solidFill>
                <a:latin typeface="PT Serif" pitchFamily="34" charset="0"/>
                <a:ea typeface="PT Serif" pitchFamily="34" charset="-122"/>
                <a:cs typeface="PT Serif" pitchFamily="34" charset="-120"/>
              </a:rPr>
              <a:t>Purpose</a:t>
            </a:r>
            <a:endParaRPr lang="en-US" sz="2450" dirty="0"/>
          </a:p>
        </p:txBody>
      </p:sp>
      <p:sp>
        <p:nvSpPr>
          <p:cNvPr id="5" name="Text 3"/>
          <p:cNvSpPr/>
          <p:nvPr/>
        </p:nvSpPr>
        <p:spPr>
          <a:xfrm>
            <a:off x="793790" y="4289584"/>
            <a:ext cx="6279356"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Excludes extreme data points, typically removing 5% of observations at each end of the sorted dataset. This helps eliminate the distorting effect of outliers.</a:t>
            </a:r>
            <a:endParaRPr lang="en-US" dirty="0"/>
          </a:p>
        </p:txBody>
      </p:sp>
      <p:sp>
        <p:nvSpPr>
          <p:cNvPr id="6" name="Text 4"/>
          <p:cNvSpPr/>
          <p:nvPr/>
        </p:nvSpPr>
        <p:spPr>
          <a:xfrm>
            <a:off x="7564874" y="3700582"/>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020202"/>
                </a:solidFill>
                <a:latin typeface="PT Serif" pitchFamily="34" charset="0"/>
                <a:ea typeface="PT Serif" pitchFamily="34" charset="-122"/>
                <a:cs typeface="PT Serif" pitchFamily="34" charset="-120"/>
              </a:rPr>
              <a:t>Benefit</a:t>
            </a:r>
            <a:endParaRPr lang="en-US" sz="2450" dirty="0"/>
          </a:p>
        </p:txBody>
      </p:sp>
      <p:sp>
        <p:nvSpPr>
          <p:cNvPr id="7" name="Text 5"/>
          <p:cNvSpPr/>
          <p:nvPr/>
        </p:nvSpPr>
        <p:spPr>
          <a:xfrm>
            <a:off x="7551063" y="4234963"/>
            <a:ext cx="6279356"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Provides a robust estimate if the underlying distribution is symmetric. Best practice: report both trimmed mean and regular mean when outliers are present.</a:t>
            </a:r>
            <a:endParaRPr lang="en-US" dirty="0"/>
          </a:p>
        </p:txBody>
      </p:sp>
      <p:sp>
        <p:nvSpPr>
          <p:cNvPr id="8" name="Shape 6"/>
          <p:cNvSpPr/>
          <p:nvPr/>
        </p:nvSpPr>
        <p:spPr>
          <a:xfrm>
            <a:off x="793790" y="5743187"/>
            <a:ext cx="13042821" cy="32385"/>
          </a:xfrm>
          <a:prstGeom prst="rect">
            <a:avLst/>
          </a:prstGeom>
          <a:solidFill>
            <a:srgbClr val="383838">
              <a:alpha val="50000"/>
            </a:srgbClr>
          </a:solidFill>
          <a:ln/>
        </p:spPr>
      </p:sp>
      <p:sp>
        <p:nvSpPr>
          <p:cNvPr id="9" name="Text 7"/>
          <p:cNvSpPr/>
          <p:nvPr/>
        </p:nvSpPr>
        <p:spPr>
          <a:xfrm>
            <a:off x="793790" y="5998726"/>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For example, if you're analyzing housing prices and a few mansions skew your data, a trimmed mean would exclude these extreme values and better represent typical home prices.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407200"/>
            <a:ext cx="6548795"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Choosing the Right Measure</a:t>
            </a:r>
            <a:endParaRPr lang="en-US" sz="4100" dirty="0"/>
          </a:p>
        </p:txBody>
      </p:sp>
      <p:sp>
        <p:nvSpPr>
          <p:cNvPr id="3" name="Text 1"/>
          <p:cNvSpPr/>
          <p:nvPr/>
        </p:nvSpPr>
        <p:spPr>
          <a:xfrm>
            <a:off x="793790" y="2455307"/>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Not all measures of central tendency are appropriate for all types of data. The variable type determines which measure provides the most meaningful summary.</a:t>
            </a:r>
            <a:endParaRPr lang="en-US" dirty="0"/>
          </a:p>
        </p:txBody>
      </p:sp>
      <p:sp>
        <p:nvSpPr>
          <p:cNvPr id="4" name="Shape 2"/>
          <p:cNvSpPr/>
          <p:nvPr/>
        </p:nvSpPr>
        <p:spPr>
          <a:xfrm>
            <a:off x="793790" y="3313628"/>
            <a:ext cx="13042821" cy="3508653"/>
          </a:xfrm>
          <a:prstGeom prst="roundRect">
            <a:avLst>
              <a:gd name="adj" fmla="val 849"/>
            </a:avLst>
          </a:prstGeom>
          <a:solidFill>
            <a:srgbClr val="F2EEEE"/>
          </a:solidFill>
          <a:ln/>
        </p:spPr>
      </p:sp>
      <p:sp>
        <p:nvSpPr>
          <p:cNvPr id="5" name="Shape 3"/>
          <p:cNvSpPr/>
          <p:nvPr/>
        </p:nvSpPr>
        <p:spPr>
          <a:xfrm>
            <a:off x="793790" y="3313628"/>
            <a:ext cx="6521410" cy="1913096"/>
          </a:xfrm>
          <a:prstGeom prst="roundRect">
            <a:avLst>
              <a:gd name="adj" fmla="val 1556"/>
            </a:avLst>
          </a:prstGeom>
          <a:solidFill>
            <a:srgbClr val="F2EEEE"/>
          </a:solidFill>
          <a:ln/>
        </p:spPr>
      </p:sp>
      <p:sp>
        <p:nvSpPr>
          <p:cNvPr id="6" name="Text 4"/>
          <p:cNvSpPr/>
          <p:nvPr/>
        </p:nvSpPr>
        <p:spPr>
          <a:xfrm>
            <a:off x="992148" y="3511987"/>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Nominal</a:t>
            </a:r>
            <a:endParaRPr lang="en-US" sz="2050" dirty="0"/>
          </a:p>
        </p:txBody>
      </p:sp>
      <p:sp>
        <p:nvSpPr>
          <p:cNvPr id="7" name="Text 5"/>
          <p:cNvSpPr/>
          <p:nvPr/>
        </p:nvSpPr>
        <p:spPr>
          <a:xfrm>
            <a:off x="992148" y="3956685"/>
            <a:ext cx="6124694"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Best Measure: Mode</a:t>
            </a:r>
            <a:endParaRPr lang="en-US" sz="1550" dirty="0"/>
          </a:p>
        </p:txBody>
      </p:sp>
      <p:sp>
        <p:nvSpPr>
          <p:cNvPr id="8" name="Text 6"/>
          <p:cNvSpPr/>
          <p:nvPr/>
        </p:nvSpPr>
        <p:spPr>
          <a:xfrm>
            <a:off x="992148" y="4393287"/>
            <a:ext cx="6124694"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Categories with no order (e.g., colors, brands). Only the most frequent category makes sense.</a:t>
            </a:r>
            <a:endParaRPr lang="en-US" sz="1550" dirty="0"/>
          </a:p>
        </p:txBody>
      </p:sp>
      <p:sp>
        <p:nvSpPr>
          <p:cNvPr id="9" name="Shape 7"/>
          <p:cNvSpPr/>
          <p:nvPr/>
        </p:nvSpPr>
        <p:spPr>
          <a:xfrm>
            <a:off x="7315200" y="3313628"/>
            <a:ext cx="6521410" cy="1913096"/>
          </a:xfrm>
          <a:prstGeom prst="rect">
            <a:avLst/>
          </a:prstGeom>
          <a:solidFill>
            <a:srgbClr val="F2EEEE"/>
          </a:solidFill>
          <a:ln/>
        </p:spPr>
      </p:sp>
      <p:sp>
        <p:nvSpPr>
          <p:cNvPr id="10" name="Shape 8"/>
          <p:cNvSpPr/>
          <p:nvPr/>
        </p:nvSpPr>
        <p:spPr>
          <a:xfrm>
            <a:off x="7315200" y="3313628"/>
            <a:ext cx="22860" cy="1913096"/>
          </a:xfrm>
          <a:prstGeom prst="roundRect">
            <a:avLst>
              <a:gd name="adj" fmla="val 130232"/>
            </a:avLst>
          </a:prstGeom>
          <a:solidFill>
            <a:srgbClr val="D8D4D4"/>
          </a:solidFill>
          <a:ln/>
        </p:spPr>
      </p:sp>
      <p:sp>
        <p:nvSpPr>
          <p:cNvPr id="11" name="Text 9"/>
          <p:cNvSpPr/>
          <p:nvPr/>
        </p:nvSpPr>
        <p:spPr>
          <a:xfrm>
            <a:off x="7513558" y="3511987"/>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Ordinal</a:t>
            </a:r>
            <a:endParaRPr lang="en-US" sz="2050" dirty="0"/>
          </a:p>
        </p:txBody>
      </p:sp>
      <p:sp>
        <p:nvSpPr>
          <p:cNvPr id="12" name="Text 10"/>
          <p:cNvSpPr/>
          <p:nvPr/>
        </p:nvSpPr>
        <p:spPr>
          <a:xfrm>
            <a:off x="7513558" y="3956685"/>
            <a:ext cx="6124694"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Best Measure: Median</a:t>
            </a:r>
            <a:endParaRPr lang="en-US" sz="1550" dirty="0"/>
          </a:p>
        </p:txBody>
      </p:sp>
      <p:sp>
        <p:nvSpPr>
          <p:cNvPr id="13" name="Text 11"/>
          <p:cNvSpPr/>
          <p:nvPr/>
        </p:nvSpPr>
        <p:spPr>
          <a:xfrm>
            <a:off x="7513558" y="4393287"/>
            <a:ext cx="6124694"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Ranked categories (e.g., satisfaction ratings). The middle rank is most appropriate.</a:t>
            </a:r>
            <a:endParaRPr lang="en-US" sz="1550" dirty="0"/>
          </a:p>
        </p:txBody>
      </p:sp>
      <p:sp>
        <p:nvSpPr>
          <p:cNvPr id="14" name="Shape 12"/>
          <p:cNvSpPr/>
          <p:nvPr/>
        </p:nvSpPr>
        <p:spPr>
          <a:xfrm>
            <a:off x="793790" y="5226725"/>
            <a:ext cx="6521410" cy="1595557"/>
          </a:xfrm>
          <a:prstGeom prst="rect">
            <a:avLst/>
          </a:prstGeom>
          <a:solidFill>
            <a:srgbClr val="F2EEEE"/>
          </a:solidFill>
          <a:ln/>
        </p:spPr>
      </p:sp>
      <p:sp>
        <p:nvSpPr>
          <p:cNvPr id="15" name="Shape 13"/>
          <p:cNvSpPr/>
          <p:nvPr/>
        </p:nvSpPr>
        <p:spPr>
          <a:xfrm>
            <a:off x="793790" y="5226725"/>
            <a:ext cx="6521410" cy="22860"/>
          </a:xfrm>
          <a:prstGeom prst="roundRect">
            <a:avLst>
              <a:gd name="adj" fmla="val 130232"/>
            </a:avLst>
          </a:prstGeom>
          <a:solidFill>
            <a:srgbClr val="D8D4D4"/>
          </a:solidFill>
          <a:ln/>
        </p:spPr>
      </p:sp>
      <p:sp>
        <p:nvSpPr>
          <p:cNvPr id="16" name="Text 14"/>
          <p:cNvSpPr/>
          <p:nvPr/>
        </p:nvSpPr>
        <p:spPr>
          <a:xfrm>
            <a:off x="992148" y="5425083"/>
            <a:ext cx="3115866"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Interval/Ratio (Symmetric)</a:t>
            </a:r>
            <a:endParaRPr lang="en-US" sz="2050" dirty="0"/>
          </a:p>
        </p:txBody>
      </p:sp>
      <p:sp>
        <p:nvSpPr>
          <p:cNvPr id="17" name="Text 15"/>
          <p:cNvSpPr/>
          <p:nvPr/>
        </p:nvSpPr>
        <p:spPr>
          <a:xfrm>
            <a:off x="992148" y="5869781"/>
            <a:ext cx="6124694"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Best Measure: Mean</a:t>
            </a:r>
            <a:endParaRPr lang="en-US" sz="1550" dirty="0"/>
          </a:p>
        </p:txBody>
      </p:sp>
      <p:sp>
        <p:nvSpPr>
          <p:cNvPr id="18" name="Text 16"/>
          <p:cNvSpPr/>
          <p:nvPr/>
        </p:nvSpPr>
        <p:spPr>
          <a:xfrm>
            <a:off x="992148" y="6306383"/>
            <a:ext cx="6124694"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Numeric data evenly distributed. The arithmetic average is ideal.</a:t>
            </a:r>
            <a:endParaRPr lang="en-US" sz="1550" dirty="0"/>
          </a:p>
        </p:txBody>
      </p:sp>
      <p:sp>
        <p:nvSpPr>
          <p:cNvPr id="19" name="Shape 17"/>
          <p:cNvSpPr/>
          <p:nvPr/>
        </p:nvSpPr>
        <p:spPr>
          <a:xfrm>
            <a:off x="7315200" y="5226725"/>
            <a:ext cx="6521410" cy="1595557"/>
          </a:xfrm>
          <a:prstGeom prst="rect">
            <a:avLst/>
          </a:prstGeom>
          <a:solidFill>
            <a:srgbClr val="F2EEEE"/>
          </a:solidFill>
          <a:ln/>
        </p:spPr>
      </p:sp>
      <p:sp>
        <p:nvSpPr>
          <p:cNvPr id="20" name="Shape 18"/>
          <p:cNvSpPr/>
          <p:nvPr/>
        </p:nvSpPr>
        <p:spPr>
          <a:xfrm>
            <a:off x="7315200" y="5226725"/>
            <a:ext cx="22860" cy="1595557"/>
          </a:xfrm>
          <a:prstGeom prst="roundRect">
            <a:avLst>
              <a:gd name="adj" fmla="val 130232"/>
            </a:avLst>
          </a:prstGeom>
          <a:solidFill>
            <a:srgbClr val="D8D4D4"/>
          </a:solidFill>
          <a:ln/>
        </p:spPr>
      </p:sp>
      <p:sp>
        <p:nvSpPr>
          <p:cNvPr id="21" name="Shape 19"/>
          <p:cNvSpPr/>
          <p:nvPr/>
        </p:nvSpPr>
        <p:spPr>
          <a:xfrm>
            <a:off x="7315200" y="5226725"/>
            <a:ext cx="6521410" cy="22860"/>
          </a:xfrm>
          <a:prstGeom prst="roundRect">
            <a:avLst>
              <a:gd name="adj" fmla="val 130232"/>
            </a:avLst>
          </a:prstGeom>
          <a:solidFill>
            <a:srgbClr val="D8D4D4"/>
          </a:solidFill>
          <a:ln/>
        </p:spPr>
      </p:sp>
      <p:sp>
        <p:nvSpPr>
          <p:cNvPr id="22" name="Text 20"/>
          <p:cNvSpPr/>
          <p:nvPr/>
        </p:nvSpPr>
        <p:spPr>
          <a:xfrm>
            <a:off x="7513558" y="5425083"/>
            <a:ext cx="3607475"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Interval/Ratio (Not Symmetric)</a:t>
            </a:r>
            <a:endParaRPr lang="en-US" sz="2050" dirty="0"/>
          </a:p>
        </p:txBody>
      </p:sp>
      <p:sp>
        <p:nvSpPr>
          <p:cNvPr id="23" name="Text 21"/>
          <p:cNvSpPr/>
          <p:nvPr/>
        </p:nvSpPr>
        <p:spPr>
          <a:xfrm>
            <a:off x="7513558" y="5869781"/>
            <a:ext cx="6124694"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Best Measure: Median</a:t>
            </a:r>
            <a:endParaRPr lang="en-US" sz="1550" dirty="0"/>
          </a:p>
        </p:txBody>
      </p:sp>
      <p:sp>
        <p:nvSpPr>
          <p:cNvPr id="24" name="Text 22"/>
          <p:cNvSpPr/>
          <p:nvPr/>
        </p:nvSpPr>
        <p:spPr>
          <a:xfrm>
            <a:off x="7513558" y="6306383"/>
            <a:ext cx="6124694"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Skewed numeric data. The median resists outlier influence.</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350050"/>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Measures of Variation</a:t>
            </a:r>
            <a:endParaRPr lang="en-US" sz="4100" dirty="0"/>
          </a:p>
        </p:txBody>
      </p:sp>
      <p:sp>
        <p:nvSpPr>
          <p:cNvPr id="3" name="Text 1"/>
          <p:cNvSpPr/>
          <p:nvPr/>
        </p:nvSpPr>
        <p:spPr>
          <a:xfrm>
            <a:off x="793790" y="2398157"/>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Central tendency tells us where the center of our data is, but variation measures tell us how spread out the data points are from that center. Understanding variation is crucial for interpreting data accurately.</a:t>
            </a:r>
            <a:endParaRPr lang="en-US" sz="1550" dirty="0"/>
          </a:p>
        </p:txBody>
      </p:sp>
      <p:sp>
        <p:nvSpPr>
          <p:cNvPr id="4" name="Text 2"/>
          <p:cNvSpPr/>
          <p:nvPr/>
        </p:nvSpPr>
        <p:spPr>
          <a:xfrm>
            <a:off x="793790" y="3330893"/>
            <a:ext cx="4167902" cy="521017"/>
          </a:xfrm>
          <a:prstGeom prst="rect">
            <a:avLst/>
          </a:prstGeom>
          <a:noFill/>
          <a:ln/>
        </p:spPr>
        <p:txBody>
          <a:bodyPr wrap="none" lIns="0" tIns="0" rIns="0" bIns="0" rtlCol="0" anchor="t"/>
          <a:lstStyle/>
          <a:p>
            <a:pPr marL="0" indent="0" algn="l">
              <a:lnSpc>
                <a:spcPts val="4100"/>
              </a:lnSpc>
              <a:buNone/>
            </a:pPr>
            <a:r>
              <a:rPr lang="en-US" sz="3250" dirty="0">
                <a:solidFill>
                  <a:srgbClr val="020202"/>
                </a:solidFill>
                <a:latin typeface="PT Serif" pitchFamily="34" charset="0"/>
                <a:ea typeface="PT Serif" pitchFamily="34" charset="-122"/>
                <a:cs typeface="PT Serif" pitchFamily="34" charset="-120"/>
              </a:rPr>
              <a:t>Three Key Measures</a:t>
            </a:r>
            <a:endParaRPr lang="en-US" sz="3250" dirty="0"/>
          </a:p>
        </p:txBody>
      </p:sp>
      <p:sp>
        <p:nvSpPr>
          <p:cNvPr id="5" name="Shape 3"/>
          <p:cNvSpPr/>
          <p:nvPr/>
        </p:nvSpPr>
        <p:spPr>
          <a:xfrm>
            <a:off x="793790" y="4447223"/>
            <a:ext cx="4215289" cy="2432209"/>
          </a:xfrm>
          <a:prstGeom prst="roundRect">
            <a:avLst>
              <a:gd name="adj" fmla="val 4511"/>
            </a:avLst>
          </a:prstGeom>
          <a:solidFill>
            <a:srgbClr val="FFFFFF"/>
          </a:solidFill>
          <a:ln/>
        </p:spPr>
      </p:sp>
      <p:sp>
        <p:nvSpPr>
          <p:cNvPr id="6" name="Shape 4"/>
          <p:cNvSpPr/>
          <p:nvPr/>
        </p:nvSpPr>
        <p:spPr>
          <a:xfrm>
            <a:off x="793790" y="4424363"/>
            <a:ext cx="4215289" cy="91440"/>
          </a:xfrm>
          <a:prstGeom prst="roundRect">
            <a:avLst>
              <a:gd name="adj" fmla="val 32558"/>
            </a:avLst>
          </a:prstGeom>
          <a:solidFill>
            <a:srgbClr val="E04F00"/>
          </a:solidFill>
          <a:ln/>
        </p:spPr>
      </p:sp>
      <p:sp>
        <p:nvSpPr>
          <p:cNvPr id="7" name="Shape 5"/>
          <p:cNvSpPr/>
          <p:nvPr/>
        </p:nvSpPr>
        <p:spPr>
          <a:xfrm>
            <a:off x="2603778" y="4149566"/>
            <a:ext cx="595313" cy="595313"/>
          </a:xfrm>
          <a:prstGeom prst="roundRect">
            <a:avLst>
              <a:gd name="adj" fmla="val 153600"/>
            </a:avLst>
          </a:prstGeom>
          <a:solidFill>
            <a:srgbClr val="E04F00"/>
          </a:solidFill>
          <a:ln/>
        </p:spPr>
      </p:sp>
      <p:sp>
        <p:nvSpPr>
          <p:cNvPr id="8" name="Text 6"/>
          <p:cNvSpPr/>
          <p:nvPr/>
        </p:nvSpPr>
        <p:spPr>
          <a:xfrm>
            <a:off x="2782372" y="4298394"/>
            <a:ext cx="238125" cy="297656"/>
          </a:xfrm>
          <a:prstGeom prst="rect">
            <a:avLst/>
          </a:prstGeom>
          <a:noFill/>
          <a:ln/>
        </p:spPr>
        <p:txBody>
          <a:bodyPr wrap="none" lIns="0" tIns="0" rIns="0" bIns="0" rtlCol="0" anchor="t"/>
          <a:lstStyle/>
          <a:p>
            <a:pPr marL="0" indent="0" algn="l">
              <a:lnSpc>
                <a:spcPts val="3000"/>
              </a:lnSpc>
              <a:buNone/>
            </a:pPr>
            <a:r>
              <a:rPr lang="en-US" sz="1850" dirty="0">
                <a:solidFill>
                  <a:srgbClr val="FFFFFF"/>
                </a:solidFill>
                <a:latin typeface="PT Serif" pitchFamily="34" charset="0"/>
                <a:ea typeface="PT Serif" pitchFamily="34" charset="-122"/>
                <a:cs typeface="PT Serif" pitchFamily="34" charset="-120"/>
              </a:rPr>
              <a:t>1</a:t>
            </a:r>
            <a:endParaRPr lang="en-US" sz="1850" dirty="0"/>
          </a:p>
        </p:txBody>
      </p:sp>
      <p:sp>
        <p:nvSpPr>
          <p:cNvPr id="9" name="Text 7"/>
          <p:cNvSpPr/>
          <p:nvPr/>
        </p:nvSpPr>
        <p:spPr>
          <a:xfrm>
            <a:off x="1015008" y="4943356"/>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Range</a:t>
            </a:r>
            <a:endParaRPr lang="en-US" sz="2050" dirty="0"/>
          </a:p>
        </p:txBody>
      </p:sp>
      <p:sp>
        <p:nvSpPr>
          <p:cNvPr id="10" name="Text 8"/>
          <p:cNvSpPr/>
          <p:nvPr/>
        </p:nvSpPr>
        <p:spPr>
          <a:xfrm>
            <a:off x="1015008" y="5388054"/>
            <a:ext cx="3772853" cy="127015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Difference between the highest and lowest values in your dataset. Simple to calculate but sensitive to extreme values.</a:t>
            </a:r>
            <a:endParaRPr lang="en-US" sz="1550" dirty="0"/>
          </a:p>
        </p:txBody>
      </p:sp>
      <p:sp>
        <p:nvSpPr>
          <p:cNvPr id="11" name="Shape 9"/>
          <p:cNvSpPr/>
          <p:nvPr/>
        </p:nvSpPr>
        <p:spPr>
          <a:xfrm>
            <a:off x="5207437" y="4447223"/>
            <a:ext cx="4215408" cy="2432209"/>
          </a:xfrm>
          <a:prstGeom prst="roundRect">
            <a:avLst>
              <a:gd name="adj" fmla="val 4511"/>
            </a:avLst>
          </a:prstGeom>
          <a:solidFill>
            <a:srgbClr val="FFFFFF"/>
          </a:solidFill>
          <a:ln/>
        </p:spPr>
      </p:sp>
      <p:sp>
        <p:nvSpPr>
          <p:cNvPr id="12" name="Shape 10"/>
          <p:cNvSpPr/>
          <p:nvPr/>
        </p:nvSpPr>
        <p:spPr>
          <a:xfrm>
            <a:off x="5207437" y="4424363"/>
            <a:ext cx="4215408" cy="91440"/>
          </a:xfrm>
          <a:prstGeom prst="roundRect">
            <a:avLst>
              <a:gd name="adj" fmla="val 32558"/>
            </a:avLst>
          </a:prstGeom>
          <a:solidFill>
            <a:srgbClr val="E04F00"/>
          </a:solidFill>
          <a:ln/>
        </p:spPr>
      </p:sp>
      <p:sp>
        <p:nvSpPr>
          <p:cNvPr id="13" name="Shape 11"/>
          <p:cNvSpPr/>
          <p:nvPr/>
        </p:nvSpPr>
        <p:spPr>
          <a:xfrm>
            <a:off x="7017425" y="4149566"/>
            <a:ext cx="595313" cy="595313"/>
          </a:xfrm>
          <a:prstGeom prst="roundRect">
            <a:avLst>
              <a:gd name="adj" fmla="val 153600"/>
            </a:avLst>
          </a:prstGeom>
          <a:solidFill>
            <a:srgbClr val="E04F00"/>
          </a:solidFill>
          <a:ln/>
        </p:spPr>
      </p:sp>
      <p:sp>
        <p:nvSpPr>
          <p:cNvPr id="14" name="Text 12"/>
          <p:cNvSpPr/>
          <p:nvPr/>
        </p:nvSpPr>
        <p:spPr>
          <a:xfrm>
            <a:off x="7196018" y="4298394"/>
            <a:ext cx="238125" cy="297656"/>
          </a:xfrm>
          <a:prstGeom prst="rect">
            <a:avLst/>
          </a:prstGeom>
          <a:noFill/>
          <a:ln/>
        </p:spPr>
        <p:txBody>
          <a:bodyPr wrap="none" lIns="0" tIns="0" rIns="0" bIns="0" rtlCol="0" anchor="t"/>
          <a:lstStyle/>
          <a:p>
            <a:pPr marL="0" indent="0" algn="l">
              <a:lnSpc>
                <a:spcPts val="3000"/>
              </a:lnSpc>
              <a:buNone/>
            </a:pPr>
            <a:r>
              <a:rPr lang="en-US" sz="1850" dirty="0">
                <a:solidFill>
                  <a:srgbClr val="FFFFFF"/>
                </a:solidFill>
                <a:latin typeface="PT Serif" pitchFamily="34" charset="0"/>
                <a:ea typeface="PT Serif" pitchFamily="34" charset="-122"/>
                <a:cs typeface="PT Serif" pitchFamily="34" charset="-120"/>
              </a:rPr>
              <a:t>2</a:t>
            </a:r>
            <a:endParaRPr lang="en-US" sz="1850" dirty="0"/>
          </a:p>
        </p:txBody>
      </p:sp>
      <p:sp>
        <p:nvSpPr>
          <p:cNvPr id="15" name="Text 13"/>
          <p:cNvSpPr/>
          <p:nvPr/>
        </p:nvSpPr>
        <p:spPr>
          <a:xfrm>
            <a:off x="5428655" y="4943356"/>
            <a:ext cx="3107769"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Inter-Quartile Range (IQR)</a:t>
            </a:r>
            <a:endParaRPr lang="en-US" sz="2050" dirty="0"/>
          </a:p>
        </p:txBody>
      </p:sp>
      <p:sp>
        <p:nvSpPr>
          <p:cNvPr id="16" name="Text 14"/>
          <p:cNvSpPr/>
          <p:nvPr/>
        </p:nvSpPr>
        <p:spPr>
          <a:xfrm>
            <a:off x="5428655" y="5388054"/>
            <a:ext cx="3772972" cy="127015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Range between lower quartile (Q1) and upper quartile (Q3). Captures the spread of the middle 50% of data, resistant to outliers.</a:t>
            </a:r>
            <a:endParaRPr lang="en-US" sz="1550" dirty="0"/>
          </a:p>
        </p:txBody>
      </p:sp>
      <p:sp>
        <p:nvSpPr>
          <p:cNvPr id="17" name="Shape 15"/>
          <p:cNvSpPr/>
          <p:nvPr/>
        </p:nvSpPr>
        <p:spPr>
          <a:xfrm>
            <a:off x="9621203" y="4447223"/>
            <a:ext cx="4215289" cy="2432209"/>
          </a:xfrm>
          <a:prstGeom prst="roundRect">
            <a:avLst>
              <a:gd name="adj" fmla="val 4511"/>
            </a:avLst>
          </a:prstGeom>
          <a:solidFill>
            <a:srgbClr val="FFFFFF"/>
          </a:solidFill>
          <a:ln/>
        </p:spPr>
      </p:sp>
      <p:sp>
        <p:nvSpPr>
          <p:cNvPr id="18" name="Shape 16"/>
          <p:cNvSpPr/>
          <p:nvPr/>
        </p:nvSpPr>
        <p:spPr>
          <a:xfrm>
            <a:off x="9621203" y="4424363"/>
            <a:ext cx="4215289" cy="91440"/>
          </a:xfrm>
          <a:prstGeom prst="roundRect">
            <a:avLst>
              <a:gd name="adj" fmla="val 32558"/>
            </a:avLst>
          </a:prstGeom>
          <a:solidFill>
            <a:srgbClr val="E04F00"/>
          </a:solidFill>
          <a:ln/>
        </p:spPr>
      </p:sp>
      <p:sp>
        <p:nvSpPr>
          <p:cNvPr id="19" name="Shape 17"/>
          <p:cNvSpPr/>
          <p:nvPr/>
        </p:nvSpPr>
        <p:spPr>
          <a:xfrm>
            <a:off x="11431191" y="4149566"/>
            <a:ext cx="595313" cy="595313"/>
          </a:xfrm>
          <a:prstGeom prst="roundRect">
            <a:avLst>
              <a:gd name="adj" fmla="val 153600"/>
            </a:avLst>
          </a:prstGeom>
          <a:solidFill>
            <a:srgbClr val="E04F00"/>
          </a:solidFill>
          <a:ln/>
        </p:spPr>
      </p:sp>
      <p:sp>
        <p:nvSpPr>
          <p:cNvPr id="20" name="Text 18"/>
          <p:cNvSpPr/>
          <p:nvPr/>
        </p:nvSpPr>
        <p:spPr>
          <a:xfrm>
            <a:off x="11609784" y="4298394"/>
            <a:ext cx="238125" cy="297656"/>
          </a:xfrm>
          <a:prstGeom prst="rect">
            <a:avLst/>
          </a:prstGeom>
          <a:noFill/>
          <a:ln/>
        </p:spPr>
        <p:txBody>
          <a:bodyPr wrap="none" lIns="0" tIns="0" rIns="0" bIns="0" rtlCol="0" anchor="t"/>
          <a:lstStyle/>
          <a:p>
            <a:pPr marL="0" indent="0" algn="l">
              <a:lnSpc>
                <a:spcPts val="3000"/>
              </a:lnSpc>
              <a:buNone/>
            </a:pPr>
            <a:r>
              <a:rPr lang="en-US" sz="1850" dirty="0">
                <a:solidFill>
                  <a:srgbClr val="FFFFFF"/>
                </a:solidFill>
                <a:latin typeface="PT Serif" pitchFamily="34" charset="0"/>
                <a:ea typeface="PT Serif" pitchFamily="34" charset="-122"/>
                <a:cs typeface="PT Serif" pitchFamily="34" charset="-120"/>
              </a:rPr>
              <a:t>3</a:t>
            </a:r>
            <a:endParaRPr lang="en-US" sz="1850" dirty="0"/>
          </a:p>
        </p:txBody>
      </p:sp>
      <p:sp>
        <p:nvSpPr>
          <p:cNvPr id="21" name="Text 19"/>
          <p:cNvSpPr/>
          <p:nvPr/>
        </p:nvSpPr>
        <p:spPr>
          <a:xfrm>
            <a:off x="9842421" y="4943356"/>
            <a:ext cx="2798207"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Standard Deviation (SD)</a:t>
            </a:r>
            <a:endParaRPr lang="en-US" sz="2050" dirty="0"/>
          </a:p>
        </p:txBody>
      </p:sp>
      <p:sp>
        <p:nvSpPr>
          <p:cNvPr id="22" name="Text 20"/>
          <p:cNvSpPr/>
          <p:nvPr/>
        </p:nvSpPr>
        <p:spPr>
          <a:xfrm>
            <a:off x="9842421" y="5388054"/>
            <a:ext cx="3772853" cy="127015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Based on sum of squares of deviations from mean. The positive square root of variance. Measures average distance from the mean.</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615672"/>
            <a:ext cx="539912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Coefficient of Variation</a:t>
            </a:r>
            <a:endParaRPr lang="en-US" sz="4100" dirty="0"/>
          </a:p>
        </p:txBody>
      </p:sp>
      <p:sp>
        <p:nvSpPr>
          <p:cNvPr id="3" name="Text 1"/>
          <p:cNvSpPr/>
          <p:nvPr/>
        </p:nvSpPr>
        <p:spPr>
          <a:xfrm>
            <a:off x="868203" y="1224083"/>
            <a:ext cx="13042821" cy="1079065"/>
          </a:xfrm>
          <a:prstGeom prst="rect">
            <a:avLst/>
          </a:prstGeom>
          <a:noFill/>
          <a:ln/>
        </p:spPr>
        <p:txBody>
          <a:bodyPr wrap="square" lIns="0" tIns="0" rIns="0" bIns="0" rtlCol="0" anchor="t"/>
          <a:lstStyle/>
          <a:p>
            <a:pPr marL="0" indent="0" algn="l">
              <a:lnSpc>
                <a:spcPts val="7050"/>
              </a:lnSpc>
              <a:buNone/>
            </a:pPr>
            <a:r>
              <a:rPr lang="en-US" sz="2000" dirty="0">
                <a:solidFill>
                  <a:srgbClr val="020202"/>
                </a:solidFill>
                <a:latin typeface="PT Serif" pitchFamily="34" charset="0"/>
                <a:ea typeface="PT Serif" pitchFamily="34" charset="-122"/>
                <a:cs typeface="PT Serif" pitchFamily="34" charset="-120"/>
              </a:rPr>
              <a:t>Comparing Variability Across Different Scales</a:t>
            </a:r>
            <a:endParaRPr lang="en-US" sz="2000" dirty="0"/>
          </a:p>
        </p:txBody>
      </p:sp>
      <p:sp>
        <p:nvSpPr>
          <p:cNvPr id="4" name="Text 2"/>
          <p:cNvSpPr/>
          <p:nvPr/>
        </p:nvSpPr>
        <p:spPr>
          <a:xfrm>
            <a:off x="816650" y="2915365"/>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Coefficient of Variation (CV) is a relative measure of variation used to compare variability between two or more datasets, especially when they have different units or vastly different means.</a:t>
            </a:r>
            <a:endParaRPr lang="en-US" dirty="0"/>
          </a:p>
        </p:txBody>
      </p:sp>
      <p:sp>
        <p:nvSpPr>
          <p:cNvPr id="5" name="Text 3"/>
          <p:cNvSpPr/>
          <p:nvPr/>
        </p:nvSpPr>
        <p:spPr>
          <a:xfrm>
            <a:off x="1017032" y="4334947"/>
            <a:ext cx="12745164" cy="317540"/>
          </a:xfrm>
          <a:prstGeom prst="rect">
            <a:avLst/>
          </a:prstGeom>
          <a:noFill/>
          <a:ln/>
        </p:spPr>
        <p:txBody>
          <a:bodyPr wrap="non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CV is defined as </a:t>
            </a:r>
            <a:r>
              <a:rPr lang="en-US" b="1" dirty="0">
                <a:solidFill>
                  <a:srgbClr val="383838"/>
                </a:solidFill>
                <a:latin typeface="DM Sans" pitchFamily="34" charset="0"/>
                <a:ea typeface="DM Sans" pitchFamily="34" charset="-122"/>
                <a:cs typeface="DM Sans" pitchFamily="34" charset="-120"/>
              </a:rPr>
              <a:t>"Standard Deviation divided by Mean"</a:t>
            </a:r>
            <a:r>
              <a:rPr lang="en-US" dirty="0">
                <a:solidFill>
                  <a:srgbClr val="383838"/>
                </a:solidFill>
                <a:latin typeface="DM Sans" pitchFamily="34" charset="0"/>
                <a:ea typeface="DM Sans" pitchFamily="34" charset="-122"/>
                <a:cs typeface="DM Sans" pitchFamily="34" charset="-120"/>
              </a:rPr>
              <a:t> and is generally expressed as a percentage.</a:t>
            </a:r>
            <a:endParaRPr lang="en-US" dirty="0"/>
          </a:p>
        </p:txBody>
      </p:sp>
      <p:sp>
        <p:nvSpPr>
          <p:cNvPr id="6" name="Shape 4"/>
          <p:cNvSpPr/>
          <p:nvPr/>
        </p:nvSpPr>
        <p:spPr>
          <a:xfrm>
            <a:off x="793790" y="4145816"/>
            <a:ext cx="22860" cy="764024"/>
          </a:xfrm>
          <a:prstGeom prst="rect">
            <a:avLst/>
          </a:prstGeom>
          <a:solidFill>
            <a:srgbClr val="E04F00"/>
          </a:solidFill>
          <a:ln/>
        </p:spPr>
      </p:sp>
      <p:sp>
        <p:nvSpPr>
          <p:cNvPr id="7" name="Shape 5"/>
          <p:cNvSpPr/>
          <p:nvPr/>
        </p:nvSpPr>
        <p:spPr>
          <a:xfrm>
            <a:off x="793790" y="5505212"/>
            <a:ext cx="446484" cy="446484"/>
          </a:xfrm>
          <a:prstGeom prst="roundRect">
            <a:avLst>
              <a:gd name="adj" fmla="val 6668"/>
            </a:avLst>
          </a:prstGeom>
          <a:solidFill>
            <a:srgbClr val="F2EEEE"/>
          </a:solidFill>
          <a:ln/>
        </p:spPr>
      </p:sp>
      <p:sp>
        <p:nvSpPr>
          <p:cNvPr id="8" name="Text 6"/>
          <p:cNvSpPr/>
          <p:nvPr/>
        </p:nvSpPr>
        <p:spPr>
          <a:xfrm>
            <a:off x="1438632" y="5573435"/>
            <a:ext cx="3537347" cy="651272"/>
          </a:xfrm>
          <a:prstGeom prst="rect">
            <a:avLst/>
          </a:prstGeom>
          <a:noFill/>
          <a:ln/>
        </p:spPr>
        <p:txBody>
          <a:bodyPr wrap="squar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Unit-free comparison between different data sets</a:t>
            </a:r>
            <a:endParaRPr lang="en-US" sz="2050" dirty="0"/>
          </a:p>
        </p:txBody>
      </p:sp>
      <p:sp>
        <p:nvSpPr>
          <p:cNvPr id="9" name="Text 7"/>
          <p:cNvSpPr/>
          <p:nvPr/>
        </p:nvSpPr>
        <p:spPr>
          <a:xfrm>
            <a:off x="1438632" y="6343769"/>
            <a:ext cx="3537347" cy="127015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Allows you to compare the variability of measurements in different units, like comparing consistency in kilograms versus pounds.</a:t>
            </a:r>
            <a:endParaRPr lang="en-US" sz="1550" dirty="0"/>
          </a:p>
        </p:txBody>
      </p:sp>
      <p:sp>
        <p:nvSpPr>
          <p:cNvPr id="10" name="Shape 8"/>
          <p:cNvSpPr/>
          <p:nvPr/>
        </p:nvSpPr>
        <p:spPr>
          <a:xfrm>
            <a:off x="5223986" y="5505212"/>
            <a:ext cx="446484" cy="446484"/>
          </a:xfrm>
          <a:prstGeom prst="roundRect">
            <a:avLst>
              <a:gd name="adj" fmla="val 6668"/>
            </a:avLst>
          </a:prstGeom>
          <a:solidFill>
            <a:srgbClr val="F2EEEE"/>
          </a:solidFill>
          <a:ln/>
        </p:spPr>
      </p:sp>
      <p:sp>
        <p:nvSpPr>
          <p:cNvPr id="11" name="Text 9"/>
          <p:cNvSpPr/>
          <p:nvPr/>
        </p:nvSpPr>
        <p:spPr>
          <a:xfrm>
            <a:off x="5868829" y="5573435"/>
            <a:ext cx="3537466" cy="651272"/>
          </a:xfrm>
          <a:prstGeom prst="rect">
            <a:avLst/>
          </a:prstGeom>
          <a:noFill/>
          <a:ln/>
        </p:spPr>
        <p:txBody>
          <a:bodyPr wrap="squar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Higher CV indicates more variability</a:t>
            </a:r>
            <a:endParaRPr lang="en-US" sz="2050" dirty="0"/>
          </a:p>
        </p:txBody>
      </p:sp>
      <p:sp>
        <p:nvSpPr>
          <p:cNvPr id="12" name="Text 10"/>
          <p:cNvSpPr/>
          <p:nvPr/>
        </p:nvSpPr>
        <p:spPr>
          <a:xfrm>
            <a:off x="5868829" y="6343769"/>
            <a:ext cx="3537466"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 larger coefficient means the data is more spread out relative to its mean, indicating less consistency or stability.</a:t>
            </a:r>
            <a:endParaRPr lang="en-US" sz="1550" dirty="0"/>
          </a:p>
        </p:txBody>
      </p:sp>
      <p:sp>
        <p:nvSpPr>
          <p:cNvPr id="13" name="Shape 11"/>
          <p:cNvSpPr/>
          <p:nvPr/>
        </p:nvSpPr>
        <p:spPr>
          <a:xfrm>
            <a:off x="9654302" y="5505212"/>
            <a:ext cx="446484" cy="446484"/>
          </a:xfrm>
          <a:prstGeom prst="roundRect">
            <a:avLst>
              <a:gd name="adj" fmla="val 6668"/>
            </a:avLst>
          </a:prstGeom>
          <a:solidFill>
            <a:srgbClr val="F2EEEE"/>
          </a:solidFill>
          <a:ln/>
        </p:spPr>
      </p:sp>
      <p:sp>
        <p:nvSpPr>
          <p:cNvPr id="14" name="Text 12"/>
          <p:cNvSpPr/>
          <p:nvPr/>
        </p:nvSpPr>
        <p:spPr>
          <a:xfrm>
            <a:off x="10299144" y="5573435"/>
            <a:ext cx="3537466" cy="651272"/>
          </a:xfrm>
          <a:prstGeom prst="rect">
            <a:avLst/>
          </a:prstGeom>
          <a:noFill/>
          <a:ln/>
        </p:spPr>
        <p:txBody>
          <a:bodyPr wrap="squar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Also known as Relative Standard Deviation</a:t>
            </a:r>
            <a:endParaRPr lang="en-US" sz="2050" dirty="0"/>
          </a:p>
        </p:txBody>
      </p:sp>
      <p:sp>
        <p:nvSpPr>
          <p:cNvPr id="15" name="Text 13"/>
          <p:cNvSpPr/>
          <p:nvPr/>
        </p:nvSpPr>
        <p:spPr>
          <a:xfrm>
            <a:off x="10299144" y="6343769"/>
            <a:ext cx="3537466" cy="127015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Commonly used in quality control, finance, and any field requiring precision comparisons across different scales.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808083"/>
            <a:ext cx="9999702"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Real-World Applications: Central Tendency</a:t>
            </a:r>
            <a:endParaRPr lang="en-US" sz="4100" dirty="0"/>
          </a:p>
        </p:txBody>
      </p:sp>
      <p:sp>
        <p:nvSpPr>
          <p:cNvPr id="3" name="Text 1"/>
          <p:cNvSpPr/>
          <p:nvPr/>
        </p:nvSpPr>
        <p:spPr>
          <a:xfrm>
            <a:off x="793790" y="2657713"/>
            <a:ext cx="13042821" cy="317540"/>
          </a:xfrm>
          <a:prstGeom prst="rect">
            <a:avLst/>
          </a:prstGeom>
          <a:noFill/>
          <a:ln/>
        </p:spPr>
        <p:txBody>
          <a:bodyPr wrap="non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Understanding when to use each measure of central tendency helps you communicate data insights more effectively </a:t>
            </a:r>
          </a:p>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in practical scenarios.</a:t>
            </a:r>
            <a:endParaRPr lang="en-US" dirty="0"/>
          </a:p>
        </p:txBody>
      </p:sp>
      <p:pic>
        <p:nvPicPr>
          <p:cNvPr id="4" name="Image 0" descr="preencoded.png"/>
          <p:cNvPicPr>
            <a:picLocks noChangeAspect="1"/>
          </p:cNvPicPr>
          <p:nvPr/>
        </p:nvPicPr>
        <p:blipFill>
          <a:blip r:embed="rId3"/>
          <a:stretch>
            <a:fillRect/>
          </a:stretch>
        </p:blipFill>
        <p:spPr>
          <a:xfrm>
            <a:off x="793790" y="3396972"/>
            <a:ext cx="4347567" cy="793790"/>
          </a:xfrm>
          <a:prstGeom prst="rect">
            <a:avLst/>
          </a:prstGeom>
        </p:spPr>
      </p:pic>
      <p:sp>
        <p:nvSpPr>
          <p:cNvPr id="5" name="Text 2"/>
          <p:cNvSpPr/>
          <p:nvPr/>
        </p:nvSpPr>
        <p:spPr>
          <a:xfrm>
            <a:off x="992148" y="4389120"/>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Mode</a:t>
            </a:r>
            <a:endParaRPr lang="en-US" sz="2050" dirty="0"/>
          </a:p>
        </p:txBody>
      </p:sp>
      <p:sp>
        <p:nvSpPr>
          <p:cNvPr id="6" name="Text 3"/>
          <p:cNvSpPr/>
          <p:nvPr/>
        </p:nvSpPr>
        <p:spPr>
          <a:xfrm>
            <a:off x="992148" y="4833818"/>
            <a:ext cx="3950851"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Popular products, most ordered dishes</a:t>
            </a:r>
            <a:endParaRPr lang="en-US" sz="1550" dirty="0"/>
          </a:p>
        </p:txBody>
      </p:sp>
      <p:sp>
        <p:nvSpPr>
          <p:cNvPr id="7" name="Text 4"/>
          <p:cNvSpPr/>
          <p:nvPr/>
        </p:nvSpPr>
        <p:spPr>
          <a:xfrm>
            <a:off x="992148" y="5270421"/>
            <a:ext cx="3950851"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Retail stores use mode to identify best-selling items. Restaurants track which dishes are ordered most frequently.</a:t>
            </a:r>
            <a:endParaRPr lang="en-US" sz="1550" dirty="0"/>
          </a:p>
        </p:txBody>
      </p:sp>
      <p:pic>
        <p:nvPicPr>
          <p:cNvPr id="8" name="Image 1" descr="preencoded.png"/>
          <p:cNvPicPr>
            <a:picLocks noChangeAspect="1"/>
          </p:cNvPicPr>
          <p:nvPr/>
        </p:nvPicPr>
        <p:blipFill>
          <a:blip r:embed="rId4"/>
          <a:stretch>
            <a:fillRect/>
          </a:stretch>
        </p:blipFill>
        <p:spPr>
          <a:xfrm>
            <a:off x="5141357" y="3396972"/>
            <a:ext cx="4347567" cy="793790"/>
          </a:xfrm>
          <a:prstGeom prst="rect">
            <a:avLst/>
          </a:prstGeom>
        </p:spPr>
      </p:pic>
      <p:sp>
        <p:nvSpPr>
          <p:cNvPr id="9" name="Text 5"/>
          <p:cNvSpPr/>
          <p:nvPr/>
        </p:nvSpPr>
        <p:spPr>
          <a:xfrm>
            <a:off x="5339715" y="4389120"/>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Median</a:t>
            </a:r>
            <a:endParaRPr lang="en-US" sz="2050" dirty="0"/>
          </a:p>
        </p:txBody>
      </p:sp>
      <p:sp>
        <p:nvSpPr>
          <p:cNvPr id="10" name="Text 6"/>
          <p:cNvSpPr/>
          <p:nvPr/>
        </p:nvSpPr>
        <p:spPr>
          <a:xfrm>
            <a:off x="5339715" y="4833818"/>
            <a:ext cx="3950851"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Median income, house prices</a:t>
            </a:r>
            <a:endParaRPr lang="en-US" sz="1550" dirty="0"/>
          </a:p>
        </p:txBody>
      </p:sp>
      <p:sp>
        <p:nvSpPr>
          <p:cNvPr id="11" name="Text 7"/>
          <p:cNvSpPr/>
          <p:nvPr/>
        </p:nvSpPr>
        <p:spPr>
          <a:xfrm>
            <a:off x="5339715" y="5270421"/>
            <a:ext cx="3950851"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Economic data often uses median because it's robust to extremes.  </a:t>
            </a:r>
            <a:endParaRPr lang="en-US" sz="1550" dirty="0"/>
          </a:p>
        </p:txBody>
      </p:sp>
      <p:pic>
        <p:nvPicPr>
          <p:cNvPr id="12" name="Image 2" descr="preencoded.png"/>
          <p:cNvPicPr>
            <a:picLocks noChangeAspect="1"/>
          </p:cNvPicPr>
          <p:nvPr/>
        </p:nvPicPr>
        <p:blipFill>
          <a:blip r:embed="rId5"/>
          <a:stretch>
            <a:fillRect/>
          </a:stretch>
        </p:blipFill>
        <p:spPr>
          <a:xfrm>
            <a:off x="9488924" y="3396972"/>
            <a:ext cx="4347567" cy="793790"/>
          </a:xfrm>
          <a:prstGeom prst="rect">
            <a:avLst/>
          </a:prstGeom>
        </p:spPr>
      </p:pic>
      <p:sp>
        <p:nvSpPr>
          <p:cNvPr id="13" name="Text 8"/>
          <p:cNvSpPr/>
          <p:nvPr/>
        </p:nvSpPr>
        <p:spPr>
          <a:xfrm>
            <a:off x="9687282" y="4389120"/>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Mean</a:t>
            </a:r>
            <a:endParaRPr lang="en-US" sz="2050" dirty="0"/>
          </a:p>
        </p:txBody>
      </p:sp>
      <p:sp>
        <p:nvSpPr>
          <p:cNvPr id="14" name="Text 9"/>
          <p:cNvSpPr/>
          <p:nvPr/>
        </p:nvSpPr>
        <p:spPr>
          <a:xfrm>
            <a:off x="9687282" y="4833818"/>
            <a:ext cx="3950851"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Average class scores, batting averages</a:t>
            </a:r>
            <a:endParaRPr lang="en-US" sz="1550" dirty="0"/>
          </a:p>
        </p:txBody>
      </p:sp>
      <p:sp>
        <p:nvSpPr>
          <p:cNvPr id="15" name="Text 10"/>
          <p:cNvSpPr/>
          <p:nvPr/>
        </p:nvSpPr>
        <p:spPr>
          <a:xfrm>
            <a:off x="9687282" y="5270421"/>
            <a:ext cx="3950851"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Educational assessments and sports statistics rely on means to evaluate overall performance across all observations.</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075" y="546735"/>
            <a:ext cx="7656433" cy="618053"/>
          </a:xfrm>
          <a:prstGeom prst="rect">
            <a:avLst/>
          </a:prstGeom>
          <a:noFill/>
          <a:ln/>
        </p:spPr>
        <p:txBody>
          <a:bodyPr wrap="none" lIns="0" tIns="0" rIns="0" bIns="0" rtlCol="0" anchor="t"/>
          <a:lstStyle/>
          <a:p>
            <a:pPr marL="0" indent="0" algn="l">
              <a:lnSpc>
                <a:spcPts val="4850"/>
              </a:lnSpc>
              <a:buNone/>
            </a:pPr>
            <a:r>
              <a:rPr lang="en-US" sz="3850" dirty="0">
                <a:solidFill>
                  <a:srgbClr val="020202"/>
                </a:solidFill>
                <a:latin typeface="PT Serif" pitchFamily="34" charset="0"/>
                <a:ea typeface="PT Serif" pitchFamily="34" charset="-122"/>
                <a:cs typeface="PT Serif" pitchFamily="34" charset="-120"/>
              </a:rPr>
              <a:t>Real-World Applications: Variation</a:t>
            </a:r>
            <a:endParaRPr lang="en-US" sz="3850" dirty="0"/>
          </a:p>
        </p:txBody>
      </p:sp>
      <p:sp>
        <p:nvSpPr>
          <p:cNvPr id="3" name="Text 1"/>
          <p:cNvSpPr/>
          <p:nvPr/>
        </p:nvSpPr>
        <p:spPr>
          <a:xfrm>
            <a:off x="793075" y="1541502"/>
            <a:ext cx="13044249" cy="602694"/>
          </a:xfrm>
          <a:prstGeom prst="rect">
            <a:avLst/>
          </a:prstGeom>
          <a:noFill/>
          <a:ln/>
        </p:spPr>
        <p:txBody>
          <a:bodyPr wrap="square" lIns="0" tIns="0" rIns="0" bIns="0" rtlCol="0" anchor="t"/>
          <a:lstStyle/>
          <a:p>
            <a:pPr marL="0" indent="0" algn="l">
              <a:lnSpc>
                <a:spcPts val="2350"/>
              </a:lnSpc>
              <a:buNone/>
            </a:pPr>
            <a:r>
              <a:rPr lang="en-US" dirty="0">
                <a:solidFill>
                  <a:srgbClr val="383838"/>
                </a:solidFill>
                <a:latin typeface="DM Sans" pitchFamily="34" charset="0"/>
                <a:ea typeface="DM Sans" pitchFamily="34" charset="-122"/>
                <a:cs typeface="DM Sans" pitchFamily="34" charset="-120"/>
              </a:rPr>
              <a:t>Measures of variation reveal consistency, risk, and reliability in your data. Different fields use different variation measures depending on their specific needs.</a:t>
            </a:r>
            <a:endParaRPr lang="en-US" dirty="0"/>
          </a:p>
        </p:txBody>
      </p:sp>
      <p:sp>
        <p:nvSpPr>
          <p:cNvPr id="4" name="Shape 2"/>
          <p:cNvSpPr/>
          <p:nvPr/>
        </p:nvSpPr>
        <p:spPr>
          <a:xfrm>
            <a:off x="793075" y="2356009"/>
            <a:ext cx="6427946" cy="2569250"/>
          </a:xfrm>
          <a:prstGeom prst="roundRect">
            <a:avLst>
              <a:gd name="adj" fmla="val 1100"/>
            </a:avLst>
          </a:prstGeom>
          <a:solidFill>
            <a:srgbClr val="F2EEEE"/>
          </a:solidFill>
          <a:ln/>
        </p:spPr>
      </p:sp>
      <p:sp>
        <p:nvSpPr>
          <p:cNvPr id="5" name="Shape 3"/>
          <p:cNvSpPr/>
          <p:nvPr/>
        </p:nvSpPr>
        <p:spPr>
          <a:xfrm>
            <a:off x="981432" y="2544366"/>
            <a:ext cx="565071" cy="565071"/>
          </a:xfrm>
          <a:prstGeom prst="roundRect">
            <a:avLst>
              <a:gd name="adj" fmla="val 16180419"/>
            </a:avLst>
          </a:prstGeom>
          <a:solidFill>
            <a:srgbClr val="E04F00"/>
          </a:solidFill>
          <a:ln/>
        </p:spPr>
      </p:sp>
      <p:pic>
        <p:nvPicPr>
          <p:cNvPr id="6" name="Image 0" descr="preencoded.png"/>
          <p:cNvPicPr>
            <a:picLocks noChangeAspect="1"/>
          </p:cNvPicPr>
          <p:nvPr/>
        </p:nvPicPr>
        <p:blipFill>
          <a:blip r:embed="rId3"/>
          <a:stretch>
            <a:fillRect/>
          </a:stretch>
        </p:blipFill>
        <p:spPr>
          <a:xfrm>
            <a:off x="1136809" y="2667953"/>
            <a:ext cx="254198" cy="317778"/>
          </a:xfrm>
          <a:prstGeom prst="rect">
            <a:avLst/>
          </a:prstGeom>
        </p:spPr>
      </p:pic>
      <p:sp>
        <p:nvSpPr>
          <p:cNvPr id="7" name="Text 4"/>
          <p:cNvSpPr/>
          <p:nvPr/>
        </p:nvSpPr>
        <p:spPr>
          <a:xfrm>
            <a:off x="981432" y="3297793"/>
            <a:ext cx="2472333" cy="309086"/>
          </a:xfrm>
          <a:prstGeom prst="rect">
            <a:avLst/>
          </a:prstGeom>
          <a:noFill/>
          <a:ln/>
        </p:spPr>
        <p:txBody>
          <a:bodyPr wrap="none" lIns="0" tIns="0" rIns="0" bIns="0" rtlCol="0" anchor="t"/>
          <a:lstStyle/>
          <a:p>
            <a:pPr marL="0" indent="0" algn="l">
              <a:lnSpc>
                <a:spcPts val="2400"/>
              </a:lnSpc>
              <a:buNone/>
            </a:pPr>
            <a:r>
              <a:rPr lang="en-US" sz="1900" dirty="0">
                <a:solidFill>
                  <a:srgbClr val="383838"/>
                </a:solidFill>
                <a:latin typeface="PT Serif" pitchFamily="34" charset="0"/>
                <a:ea typeface="PT Serif" pitchFamily="34" charset="-122"/>
                <a:cs typeface="PT Serif" pitchFamily="34" charset="-120"/>
              </a:rPr>
              <a:t>Standard Deviation</a:t>
            </a:r>
            <a:endParaRPr lang="en-US" sz="1900" dirty="0"/>
          </a:p>
        </p:txBody>
      </p:sp>
      <p:sp>
        <p:nvSpPr>
          <p:cNvPr id="8" name="Text 5"/>
          <p:cNvSpPr/>
          <p:nvPr/>
        </p:nvSpPr>
        <p:spPr>
          <a:xfrm>
            <a:off x="981432" y="3719870"/>
            <a:ext cx="6051233" cy="301347"/>
          </a:xfrm>
          <a:prstGeom prst="rect">
            <a:avLst/>
          </a:prstGeom>
          <a:noFill/>
          <a:ln/>
        </p:spPr>
        <p:txBody>
          <a:bodyPr wrap="none" lIns="0" tIns="0" rIns="0" bIns="0" rtlCol="0" anchor="t"/>
          <a:lstStyle/>
          <a:p>
            <a:pPr marL="0" indent="0" algn="l">
              <a:lnSpc>
                <a:spcPts val="2350"/>
              </a:lnSpc>
              <a:buNone/>
            </a:pPr>
            <a:r>
              <a:rPr lang="en-US" sz="1550" b="1" dirty="0">
                <a:solidFill>
                  <a:srgbClr val="383838"/>
                </a:solidFill>
                <a:latin typeface="DM Sans" pitchFamily="34" charset="0"/>
                <a:ea typeface="DM Sans" pitchFamily="34" charset="-122"/>
                <a:cs typeface="DM Sans" pitchFamily="34" charset="-120"/>
              </a:rPr>
              <a:t>Risk and volatility in investments</a:t>
            </a:r>
            <a:endParaRPr lang="en-US" sz="1550" dirty="0"/>
          </a:p>
        </p:txBody>
      </p:sp>
      <p:sp>
        <p:nvSpPr>
          <p:cNvPr id="9" name="Text 6"/>
          <p:cNvSpPr/>
          <p:nvPr/>
        </p:nvSpPr>
        <p:spPr>
          <a:xfrm>
            <a:off x="981432" y="4134207"/>
            <a:ext cx="6051233" cy="602694"/>
          </a:xfrm>
          <a:prstGeom prst="rect">
            <a:avLst/>
          </a:prstGeom>
          <a:noFill/>
          <a:ln/>
        </p:spPr>
        <p:txBody>
          <a:bodyPr wrap="square" lIns="0" tIns="0" rIns="0" bIns="0" rtlCol="0" anchor="t"/>
          <a:lstStyle/>
          <a:p>
            <a:pPr marL="0" indent="0" algn="l">
              <a:lnSpc>
                <a:spcPts val="2350"/>
              </a:lnSpc>
              <a:buNone/>
            </a:pPr>
            <a:r>
              <a:rPr lang="en-US" sz="1550" dirty="0">
                <a:solidFill>
                  <a:srgbClr val="383838"/>
                </a:solidFill>
                <a:latin typeface="DM Sans" pitchFamily="34" charset="0"/>
                <a:ea typeface="DM Sans" pitchFamily="34" charset="-122"/>
                <a:cs typeface="DM Sans" pitchFamily="34" charset="-120"/>
              </a:rPr>
              <a:t>Financial analysts use SD to quantify investment risk. Higher SD means more unpredictable returns.</a:t>
            </a:r>
            <a:endParaRPr lang="en-US" sz="1550" dirty="0"/>
          </a:p>
        </p:txBody>
      </p:sp>
      <p:sp>
        <p:nvSpPr>
          <p:cNvPr id="10" name="Shape 7"/>
          <p:cNvSpPr/>
          <p:nvPr/>
        </p:nvSpPr>
        <p:spPr>
          <a:xfrm>
            <a:off x="7409378" y="2356009"/>
            <a:ext cx="6427946" cy="2569250"/>
          </a:xfrm>
          <a:prstGeom prst="roundRect">
            <a:avLst>
              <a:gd name="adj" fmla="val 1100"/>
            </a:avLst>
          </a:prstGeom>
          <a:solidFill>
            <a:srgbClr val="F2EEEE"/>
          </a:solidFill>
          <a:ln/>
        </p:spPr>
      </p:sp>
      <p:sp>
        <p:nvSpPr>
          <p:cNvPr id="11" name="Shape 8"/>
          <p:cNvSpPr/>
          <p:nvPr/>
        </p:nvSpPr>
        <p:spPr>
          <a:xfrm>
            <a:off x="7597735" y="2544366"/>
            <a:ext cx="565071" cy="565071"/>
          </a:xfrm>
          <a:prstGeom prst="roundRect">
            <a:avLst>
              <a:gd name="adj" fmla="val 16180419"/>
            </a:avLst>
          </a:prstGeom>
          <a:solidFill>
            <a:srgbClr val="E04F00"/>
          </a:solidFill>
          <a:ln/>
        </p:spPr>
      </p:sp>
      <p:pic>
        <p:nvPicPr>
          <p:cNvPr id="12" name="Image 1" descr="preencoded.png"/>
          <p:cNvPicPr>
            <a:picLocks noChangeAspect="1"/>
          </p:cNvPicPr>
          <p:nvPr/>
        </p:nvPicPr>
        <p:blipFill>
          <a:blip r:embed="rId4"/>
          <a:stretch>
            <a:fillRect/>
          </a:stretch>
        </p:blipFill>
        <p:spPr>
          <a:xfrm>
            <a:off x="7753112" y="2667953"/>
            <a:ext cx="254198" cy="317778"/>
          </a:xfrm>
          <a:prstGeom prst="rect">
            <a:avLst/>
          </a:prstGeom>
        </p:spPr>
      </p:pic>
      <p:sp>
        <p:nvSpPr>
          <p:cNvPr id="13" name="Text 9"/>
          <p:cNvSpPr/>
          <p:nvPr/>
        </p:nvSpPr>
        <p:spPr>
          <a:xfrm>
            <a:off x="7597735" y="3297793"/>
            <a:ext cx="2561987" cy="309086"/>
          </a:xfrm>
          <a:prstGeom prst="rect">
            <a:avLst/>
          </a:prstGeom>
          <a:noFill/>
          <a:ln/>
        </p:spPr>
        <p:txBody>
          <a:bodyPr wrap="none" lIns="0" tIns="0" rIns="0" bIns="0" rtlCol="0" anchor="t"/>
          <a:lstStyle/>
          <a:p>
            <a:pPr marL="0" indent="0" algn="l">
              <a:lnSpc>
                <a:spcPts val="2400"/>
              </a:lnSpc>
              <a:buNone/>
            </a:pPr>
            <a:r>
              <a:rPr lang="en-US" sz="1900" dirty="0">
                <a:solidFill>
                  <a:srgbClr val="383838"/>
                </a:solidFill>
                <a:latin typeface="PT Serif" pitchFamily="34" charset="0"/>
                <a:ea typeface="PT Serif" pitchFamily="34" charset="-122"/>
                <a:cs typeface="PT Serif" pitchFamily="34" charset="-120"/>
              </a:rPr>
              <a:t>Coefficient of Variation</a:t>
            </a:r>
            <a:endParaRPr lang="en-US" sz="1900" dirty="0"/>
          </a:p>
        </p:txBody>
      </p:sp>
      <p:sp>
        <p:nvSpPr>
          <p:cNvPr id="14" name="Text 10"/>
          <p:cNvSpPr/>
          <p:nvPr/>
        </p:nvSpPr>
        <p:spPr>
          <a:xfrm>
            <a:off x="7597735" y="3719870"/>
            <a:ext cx="6051233" cy="301347"/>
          </a:xfrm>
          <a:prstGeom prst="rect">
            <a:avLst/>
          </a:prstGeom>
          <a:noFill/>
          <a:ln/>
        </p:spPr>
        <p:txBody>
          <a:bodyPr wrap="none" lIns="0" tIns="0" rIns="0" bIns="0" rtlCol="0" anchor="t"/>
          <a:lstStyle/>
          <a:p>
            <a:pPr marL="0" indent="0" algn="l">
              <a:lnSpc>
                <a:spcPts val="2350"/>
              </a:lnSpc>
              <a:buNone/>
            </a:pPr>
            <a:r>
              <a:rPr lang="en-US" sz="1550" b="1" dirty="0">
                <a:solidFill>
                  <a:srgbClr val="383838"/>
                </a:solidFill>
                <a:latin typeface="DM Sans" pitchFamily="34" charset="0"/>
                <a:ea typeface="DM Sans" pitchFamily="34" charset="-122"/>
                <a:cs typeface="DM Sans" pitchFamily="34" charset="-120"/>
              </a:rPr>
              <a:t>Stability in production quality</a:t>
            </a:r>
            <a:endParaRPr lang="en-US" sz="1550" dirty="0"/>
          </a:p>
        </p:txBody>
      </p:sp>
      <p:sp>
        <p:nvSpPr>
          <p:cNvPr id="15" name="Text 11"/>
          <p:cNvSpPr/>
          <p:nvPr/>
        </p:nvSpPr>
        <p:spPr>
          <a:xfrm>
            <a:off x="7597735" y="4134207"/>
            <a:ext cx="6051233" cy="602694"/>
          </a:xfrm>
          <a:prstGeom prst="rect">
            <a:avLst/>
          </a:prstGeom>
          <a:noFill/>
          <a:ln/>
        </p:spPr>
        <p:txBody>
          <a:bodyPr wrap="square" lIns="0" tIns="0" rIns="0" bIns="0" rtlCol="0" anchor="t"/>
          <a:lstStyle/>
          <a:p>
            <a:pPr marL="0" indent="0" algn="l">
              <a:lnSpc>
                <a:spcPts val="2350"/>
              </a:lnSpc>
              <a:buNone/>
            </a:pPr>
            <a:r>
              <a:rPr lang="en-US" sz="1550" dirty="0">
                <a:solidFill>
                  <a:srgbClr val="383838"/>
                </a:solidFill>
                <a:latin typeface="DM Sans" pitchFamily="34" charset="0"/>
                <a:ea typeface="DM Sans" pitchFamily="34" charset="-122"/>
                <a:cs typeface="DM Sans" pitchFamily="34" charset="-120"/>
              </a:rPr>
              <a:t>Manufacturing uses CV to compare consistency across different product lines or production processes.</a:t>
            </a:r>
            <a:endParaRPr lang="en-US" sz="1550" dirty="0"/>
          </a:p>
        </p:txBody>
      </p:sp>
      <p:sp>
        <p:nvSpPr>
          <p:cNvPr id="16" name="Shape 12"/>
          <p:cNvSpPr/>
          <p:nvPr/>
        </p:nvSpPr>
        <p:spPr>
          <a:xfrm>
            <a:off x="793075" y="5113615"/>
            <a:ext cx="6427946" cy="2569250"/>
          </a:xfrm>
          <a:prstGeom prst="roundRect">
            <a:avLst>
              <a:gd name="adj" fmla="val 1100"/>
            </a:avLst>
          </a:prstGeom>
          <a:solidFill>
            <a:srgbClr val="F2EEEE"/>
          </a:solidFill>
          <a:ln/>
        </p:spPr>
      </p:sp>
      <p:sp>
        <p:nvSpPr>
          <p:cNvPr id="17" name="Shape 13"/>
          <p:cNvSpPr/>
          <p:nvPr/>
        </p:nvSpPr>
        <p:spPr>
          <a:xfrm>
            <a:off x="981432" y="5301972"/>
            <a:ext cx="565071" cy="565071"/>
          </a:xfrm>
          <a:prstGeom prst="roundRect">
            <a:avLst>
              <a:gd name="adj" fmla="val 16180419"/>
            </a:avLst>
          </a:prstGeom>
          <a:solidFill>
            <a:srgbClr val="E04F00"/>
          </a:solidFill>
          <a:ln/>
        </p:spPr>
      </p:sp>
      <p:pic>
        <p:nvPicPr>
          <p:cNvPr id="18" name="Image 2" descr="preencoded.png"/>
          <p:cNvPicPr>
            <a:picLocks noChangeAspect="1"/>
          </p:cNvPicPr>
          <p:nvPr/>
        </p:nvPicPr>
        <p:blipFill>
          <a:blip r:embed="rId5"/>
          <a:stretch>
            <a:fillRect/>
          </a:stretch>
        </p:blipFill>
        <p:spPr>
          <a:xfrm>
            <a:off x="1136809" y="5425559"/>
            <a:ext cx="254198" cy="317778"/>
          </a:xfrm>
          <a:prstGeom prst="rect">
            <a:avLst/>
          </a:prstGeom>
        </p:spPr>
      </p:pic>
      <p:sp>
        <p:nvSpPr>
          <p:cNvPr id="19" name="Text 14"/>
          <p:cNvSpPr/>
          <p:nvPr/>
        </p:nvSpPr>
        <p:spPr>
          <a:xfrm>
            <a:off x="981432" y="6055400"/>
            <a:ext cx="2472333" cy="309086"/>
          </a:xfrm>
          <a:prstGeom prst="rect">
            <a:avLst/>
          </a:prstGeom>
          <a:noFill/>
          <a:ln/>
        </p:spPr>
        <p:txBody>
          <a:bodyPr wrap="none" lIns="0" tIns="0" rIns="0" bIns="0" rtlCol="0" anchor="t"/>
          <a:lstStyle/>
          <a:p>
            <a:pPr marL="0" indent="0" algn="l">
              <a:lnSpc>
                <a:spcPts val="2400"/>
              </a:lnSpc>
              <a:buNone/>
            </a:pPr>
            <a:r>
              <a:rPr lang="en-US" sz="1900" dirty="0">
                <a:solidFill>
                  <a:srgbClr val="383838"/>
                </a:solidFill>
                <a:latin typeface="PT Serif" pitchFamily="34" charset="0"/>
                <a:ea typeface="PT Serif" pitchFamily="34" charset="-122"/>
                <a:cs typeface="PT Serif" pitchFamily="34" charset="-120"/>
              </a:rPr>
              <a:t>IQR</a:t>
            </a:r>
            <a:endParaRPr lang="en-US" sz="1900" dirty="0"/>
          </a:p>
        </p:txBody>
      </p:sp>
      <p:sp>
        <p:nvSpPr>
          <p:cNvPr id="20" name="Text 15"/>
          <p:cNvSpPr/>
          <p:nvPr/>
        </p:nvSpPr>
        <p:spPr>
          <a:xfrm>
            <a:off x="981432" y="6477476"/>
            <a:ext cx="6051233" cy="301347"/>
          </a:xfrm>
          <a:prstGeom prst="rect">
            <a:avLst/>
          </a:prstGeom>
          <a:noFill/>
          <a:ln/>
        </p:spPr>
        <p:txBody>
          <a:bodyPr wrap="none" lIns="0" tIns="0" rIns="0" bIns="0" rtlCol="0" anchor="t"/>
          <a:lstStyle/>
          <a:p>
            <a:pPr marL="0" indent="0" algn="l">
              <a:lnSpc>
                <a:spcPts val="2350"/>
              </a:lnSpc>
              <a:buNone/>
            </a:pPr>
            <a:r>
              <a:rPr lang="en-US" sz="1550" b="1" dirty="0">
                <a:solidFill>
                  <a:srgbClr val="383838"/>
                </a:solidFill>
                <a:latin typeface="DM Sans" pitchFamily="34" charset="0"/>
                <a:ea typeface="DM Sans" pitchFamily="34" charset="-122"/>
                <a:cs typeface="DM Sans" pitchFamily="34" charset="-120"/>
              </a:rPr>
              <a:t>Spread of middle 50%</a:t>
            </a:r>
            <a:endParaRPr lang="en-US" sz="1550" dirty="0"/>
          </a:p>
        </p:txBody>
      </p:sp>
      <p:sp>
        <p:nvSpPr>
          <p:cNvPr id="21" name="Text 16"/>
          <p:cNvSpPr/>
          <p:nvPr/>
        </p:nvSpPr>
        <p:spPr>
          <a:xfrm>
            <a:off x="981432" y="6891814"/>
            <a:ext cx="6051233" cy="602694"/>
          </a:xfrm>
          <a:prstGeom prst="rect">
            <a:avLst/>
          </a:prstGeom>
          <a:noFill/>
          <a:ln/>
        </p:spPr>
        <p:txBody>
          <a:bodyPr wrap="square" lIns="0" tIns="0" rIns="0" bIns="0" rtlCol="0" anchor="t"/>
          <a:lstStyle/>
          <a:p>
            <a:pPr marL="0" indent="0" algn="l">
              <a:lnSpc>
                <a:spcPts val="2350"/>
              </a:lnSpc>
              <a:buNone/>
            </a:pPr>
            <a:r>
              <a:rPr lang="en-US" sz="1550" dirty="0">
                <a:solidFill>
                  <a:srgbClr val="383838"/>
                </a:solidFill>
                <a:latin typeface="DM Sans" pitchFamily="34" charset="0"/>
                <a:ea typeface="DM Sans" pitchFamily="34" charset="-122"/>
                <a:cs typeface="DM Sans" pitchFamily="34" charset="-120"/>
              </a:rPr>
              <a:t>Less sensitive to outliers, making it ideal for analyzing typical performance while ignoring extreme cases.</a:t>
            </a:r>
            <a:endParaRPr lang="en-US" sz="1550" dirty="0"/>
          </a:p>
        </p:txBody>
      </p:sp>
      <p:sp>
        <p:nvSpPr>
          <p:cNvPr id="22" name="Shape 17"/>
          <p:cNvSpPr/>
          <p:nvPr/>
        </p:nvSpPr>
        <p:spPr>
          <a:xfrm>
            <a:off x="7409378" y="5113615"/>
            <a:ext cx="6427946" cy="2569250"/>
          </a:xfrm>
          <a:prstGeom prst="roundRect">
            <a:avLst>
              <a:gd name="adj" fmla="val 1100"/>
            </a:avLst>
          </a:prstGeom>
          <a:solidFill>
            <a:srgbClr val="F2EEEE"/>
          </a:solidFill>
          <a:ln/>
        </p:spPr>
      </p:sp>
      <p:sp>
        <p:nvSpPr>
          <p:cNvPr id="23" name="Shape 18"/>
          <p:cNvSpPr/>
          <p:nvPr/>
        </p:nvSpPr>
        <p:spPr>
          <a:xfrm>
            <a:off x="7597735" y="5301972"/>
            <a:ext cx="565071" cy="565071"/>
          </a:xfrm>
          <a:prstGeom prst="roundRect">
            <a:avLst>
              <a:gd name="adj" fmla="val 16180419"/>
            </a:avLst>
          </a:prstGeom>
          <a:solidFill>
            <a:srgbClr val="E04F00"/>
          </a:solidFill>
          <a:ln/>
        </p:spPr>
      </p:sp>
      <p:pic>
        <p:nvPicPr>
          <p:cNvPr id="24" name="Image 3" descr="preencoded.png"/>
          <p:cNvPicPr>
            <a:picLocks noChangeAspect="1"/>
          </p:cNvPicPr>
          <p:nvPr/>
        </p:nvPicPr>
        <p:blipFill>
          <a:blip r:embed="rId6"/>
          <a:stretch>
            <a:fillRect/>
          </a:stretch>
        </p:blipFill>
        <p:spPr>
          <a:xfrm>
            <a:off x="7753112" y="5425559"/>
            <a:ext cx="254198" cy="317778"/>
          </a:xfrm>
          <a:prstGeom prst="rect">
            <a:avLst/>
          </a:prstGeom>
        </p:spPr>
      </p:pic>
      <p:sp>
        <p:nvSpPr>
          <p:cNvPr id="25" name="Text 19"/>
          <p:cNvSpPr/>
          <p:nvPr/>
        </p:nvSpPr>
        <p:spPr>
          <a:xfrm>
            <a:off x="7597735" y="6055400"/>
            <a:ext cx="2472333" cy="309086"/>
          </a:xfrm>
          <a:prstGeom prst="rect">
            <a:avLst/>
          </a:prstGeom>
          <a:noFill/>
          <a:ln/>
        </p:spPr>
        <p:txBody>
          <a:bodyPr wrap="none" lIns="0" tIns="0" rIns="0" bIns="0" rtlCol="0" anchor="t"/>
          <a:lstStyle/>
          <a:p>
            <a:pPr marL="0" indent="0" algn="l">
              <a:lnSpc>
                <a:spcPts val="2400"/>
              </a:lnSpc>
              <a:buNone/>
            </a:pPr>
            <a:r>
              <a:rPr lang="en-US" sz="1900" dirty="0">
                <a:solidFill>
                  <a:srgbClr val="383838"/>
                </a:solidFill>
                <a:latin typeface="PT Serif" pitchFamily="34" charset="0"/>
                <a:ea typeface="PT Serif" pitchFamily="34" charset="-122"/>
                <a:cs typeface="PT Serif" pitchFamily="34" charset="-120"/>
              </a:rPr>
              <a:t>Range</a:t>
            </a:r>
            <a:endParaRPr lang="en-US" sz="1900" dirty="0"/>
          </a:p>
        </p:txBody>
      </p:sp>
      <p:sp>
        <p:nvSpPr>
          <p:cNvPr id="26" name="Text 20"/>
          <p:cNvSpPr/>
          <p:nvPr/>
        </p:nvSpPr>
        <p:spPr>
          <a:xfrm>
            <a:off x="7597735" y="6477476"/>
            <a:ext cx="6051233" cy="301347"/>
          </a:xfrm>
          <a:prstGeom prst="rect">
            <a:avLst/>
          </a:prstGeom>
          <a:noFill/>
          <a:ln/>
        </p:spPr>
        <p:txBody>
          <a:bodyPr wrap="none" lIns="0" tIns="0" rIns="0" bIns="0" rtlCol="0" anchor="t"/>
          <a:lstStyle/>
          <a:p>
            <a:pPr marL="0" indent="0" algn="l">
              <a:lnSpc>
                <a:spcPts val="2350"/>
              </a:lnSpc>
              <a:buNone/>
            </a:pPr>
            <a:r>
              <a:rPr lang="en-US" sz="1550" b="1" dirty="0">
                <a:solidFill>
                  <a:srgbClr val="383838"/>
                </a:solidFill>
                <a:latin typeface="DM Sans" pitchFamily="34" charset="0"/>
                <a:ea typeface="DM Sans" pitchFamily="34" charset="-122"/>
                <a:cs typeface="DM Sans" pitchFamily="34" charset="-120"/>
              </a:rPr>
              <a:t>Overall spread</a:t>
            </a:r>
            <a:endParaRPr lang="en-US" sz="1550" dirty="0"/>
          </a:p>
        </p:txBody>
      </p:sp>
      <p:sp>
        <p:nvSpPr>
          <p:cNvPr id="27" name="Text 21"/>
          <p:cNvSpPr/>
          <p:nvPr/>
        </p:nvSpPr>
        <p:spPr>
          <a:xfrm>
            <a:off x="7597735" y="6891814"/>
            <a:ext cx="6051233" cy="602694"/>
          </a:xfrm>
          <a:prstGeom prst="rect">
            <a:avLst/>
          </a:prstGeom>
          <a:noFill/>
          <a:ln/>
        </p:spPr>
        <p:txBody>
          <a:bodyPr wrap="square" lIns="0" tIns="0" rIns="0" bIns="0" rtlCol="0" anchor="t"/>
          <a:lstStyle/>
          <a:p>
            <a:pPr marL="0" indent="0" algn="l">
              <a:lnSpc>
                <a:spcPts val="2350"/>
              </a:lnSpc>
              <a:buNone/>
            </a:pPr>
            <a:r>
              <a:rPr lang="en-US" sz="1550" dirty="0">
                <a:solidFill>
                  <a:srgbClr val="383838"/>
                </a:solidFill>
                <a:latin typeface="DM Sans" pitchFamily="34" charset="0"/>
                <a:ea typeface="DM Sans" pitchFamily="34" charset="-122"/>
                <a:cs typeface="DM Sans" pitchFamily="34" charset="-120"/>
              </a:rPr>
              <a:t>Weather reports use range to show temperature extremes. Simple but informative for understanding total spread.</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643057"/>
            <a:ext cx="9520952" cy="618649"/>
          </a:xfrm>
          <a:prstGeom prst="rect">
            <a:avLst/>
          </a:prstGeom>
          <a:noFill/>
          <a:ln/>
        </p:spPr>
        <p:txBody>
          <a:bodyPr wrap="none" lIns="0" tIns="0" rIns="0" bIns="0" rtlCol="0" anchor="t"/>
          <a:lstStyle/>
          <a:p>
            <a:pPr marL="0" indent="0" algn="l">
              <a:lnSpc>
                <a:spcPts val="4850"/>
              </a:lnSpc>
              <a:buNone/>
            </a:pPr>
            <a:r>
              <a:rPr lang="en-US" sz="3850" dirty="0">
                <a:solidFill>
                  <a:srgbClr val="020202"/>
                </a:solidFill>
                <a:latin typeface="PT Serif" pitchFamily="34" charset="0"/>
                <a:ea typeface="PT Serif" pitchFamily="34" charset="-122"/>
                <a:cs typeface="PT Serif" pitchFamily="34" charset="-120"/>
              </a:rPr>
              <a:t>Comparing Consistency: A Cricket Example</a:t>
            </a:r>
            <a:endParaRPr lang="en-US" sz="3850" dirty="0"/>
          </a:p>
        </p:txBody>
      </p:sp>
      <p:sp>
        <p:nvSpPr>
          <p:cNvPr id="3" name="Text 1"/>
          <p:cNvSpPr/>
          <p:nvPr/>
        </p:nvSpPr>
        <p:spPr>
          <a:xfrm>
            <a:off x="793790" y="1638776"/>
            <a:ext cx="13042821" cy="603409"/>
          </a:xfrm>
          <a:prstGeom prst="rect">
            <a:avLst/>
          </a:prstGeom>
          <a:noFill/>
          <a:ln/>
        </p:spPr>
        <p:txBody>
          <a:bodyPr wrap="square" lIns="0" tIns="0" rIns="0" bIns="0" rtlCol="0" anchor="t"/>
          <a:lstStyle/>
          <a:p>
            <a:pPr marL="0" indent="0" algn="l">
              <a:lnSpc>
                <a:spcPts val="2350"/>
              </a:lnSpc>
              <a:buNone/>
            </a:pPr>
            <a:r>
              <a:rPr lang="en-US" dirty="0">
                <a:solidFill>
                  <a:srgbClr val="383838"/>
                </a:solidFill>
                <a:latin typeface="DM Sans" pitchFamily="34" charset="0"/>
                <a:ea typeface="DM Sans" pitchFamily="34" charset="-122"/>
                <a:cs typeface="DM Sans" pitchFamily="34" charset="-120"/>
              </a:rPr>
              <a:t>Let's compare two batsmen with identical averages but very different consistency levels. This demonstrates why variation measures matter as much as central tendency.</a:t>
            </a:r>
            <a:endParaRPr lang="en-US" dirty="0"/>
          </a:p>
        </p:txBody>
      </p:sp>
      <p:sp>
        <p:nvSpPr>
          <p:cNvPr id="4" name="Text 2"/>
          <p:cNvSpPr/>
          <p:nvPr/>
        </p:nvSpPr>
        <p:spPr>
          <a:xfrm>
            <a:off x="793790" y="2642711"/>
            <a:ext cx="2969657" cy="371118"/>
          </a:xfrm>
          <a:prstGeom prst="rect">
            <a:avLst/>
          </a:prstGeom>
          <a:noFill/>
          <a:ln/>
        </p:spPr>
        <p:txBody>
          <a:bodyPr wrap="none" lIns="0" tIns="0" rIns="0" bIns="0" rtlCol="0" anchor="t"/>
          <a:lstStyle/>
          <a:p>
            <a:pPr marL="0" indent="0" algn="l">
              <a:lnSpc>
                <a:spcPts val="2900"/>
              </a:lnSpc>
              <a:buNone/>
            </a:pPr>
            <a:r>
              <a:rPr lang="en-US" sz="2300" dirty="0">
                <a:solidFill>
                  <a:srgbClr val="020202"/>
                </a:solidFill>
                <a:latin typeface="PT Serif" pitchFamily="34" charset="0"/>
                <a:ea typeface="PT Serif" pitchFamily="34" charset="-122"/>
                <a:cs typeface="PT Serif" pitchFamily="34" charset="-120"/>
              </a:rPr>
              <a:t>Batsman A</a:t>
            </a:r>
            <a:endParaRPr lang="en-US" sz="2300" dirty="0"/>
          </a:p>
        </p:txBody>
      </p:sp>
      <p:sp>
        <p:nvSpPr>
          <p:cNvPr id="5" name="Text 3"/>
          <p:cNvSpPr/>
          <p:nvPr/>
        </p:nvSpPr>
        <p:spPr>
          <a:xfrm>
            <a:off x="793790" y="3202305"/>
            <a:ext cx="6291382" cy="301704"/>
          </a:xfrm>
          <a:prstGeom prst="rect">
            <a:avLst/>
          </a:prstGeom>
          <a:noFill/>
          <a:ln/>
        </p:spPr>
        <p:txBody>
          <a:bodyPr wrap="none" lIns="0" tIns="0" rIns="0" bIns="0" rtlCol="0" anchor="t"/>
          <a:lstStyle/>
          <a:p>
            <a:pPr marL="0" indent="0" algn="l">
              <a:lnSpc>
                <a:spcPts val="2350"/>
              </a:lnSpc>
              <a:buNone/>
            </a:pPr>
            <a:r>
              <a:rPr lang="en-US" sz="1550" b="1" dirty="0">
                <a:solidFill>
                  <a:srgbClr val="383838"/>
                </a:solidFill>
                <a:latin typeface="DM Sans" pitchFamily="34" charset="0"/>
                <a:ea typeface="DM Sans" pitchFamily="34" charset="-122"/>
                <a:cs typeface="DM Sans" pitchFamily="34" charset="-120"/>
              </a:rPr>
              <a:t>Scores:</a:t>
            </a:r>
            <a:r>
              <a:rPr lang="en-US" sz="1550" dirty="0">
                <a:solidFill>
                  <a:srgbClr val="383838"/>
                </a:solidFill>
                <a:latin typeface="DM Sans" pitchFamily="34" charset="0"/>
                <a:ea typeface="DM Sans" pitchFamily="34" charset="-122"/>
                <a:cs typeface="DM Sans" pitchFamily="34" charset="-120"/>
              </a:rPr>
              <a:t> 78, 62, 73, 54, 76, 77</a:t>
            </a:r>
            <a:endParaRPr lang="en-US" sz="1550" dirty="0"/>
          </a:p>
        </p:txBody>
      </p:sp>
      <p:sp>
        <p:nvSpPr>
          <p:cNvPr id="6" name="Shape 4"/>
          <p:cNvSpPr/>
          <p:nvPr/>
        </p:nvSpPr>
        <p:spPr>
          <a:xfrm>
            <a:off x="793790" y="3810227"/>
            <a:ext cx="6291382" cy="31075"/>
          </a:xfrm>
          <a:prstGeom prst="rect">
            <a:avLst/>
          </a:prstGeom>
          <a:solidFill>
            <a:srgbClr val="383838">
              <a:alpha val="50000"/>
            </a:srgbClr>
          </a:solidFill>
          <a:ln/>
        </p:spPr>
      </p:sp>
      <p:sp>
        <p:nvSpPr>
          <p:cNvPr id="7" name="Text 5"/>
          <p:cNvSpPr/>
          <p:nvPr/>
        </p:nvSpPr>
        <p:spPr>
          <a:xfrm>
            <a:off x="793790" y="4053245"/>
            <a:ext cx="6291382" cy="377190"/>
          </a:xfrm>
          <a:prstGeom prst="rect">
            <a:avLst/>
          </a:prstGeom>
          <a:noFill/>
          <a:ln/>
        </p:spPr>
        <p:txBody>
          <a:bodyPr wrap="none" lIns="0" tIns="0" rIns="0" bIns="0" rtlCol="0" anchor="t"/>
          <a:lstStyle/>
          <a:p>
            <a:pPr marL="0" indent="0" algn="l">
              <a:lnSpc>
                <a:spcPts val="2950"/>
              </a:lnSpc>
              <a:buNone/>
            </a:pPr>
            <a:r>
              <a:rPr lang="en-US" sz="1850" b="1" dirty="0">
                <a:solidFill>
                  <a:srgbClr val="383838"/>
                </a:solidFill>
                <a:latin typeface="DM Sans" pitchFamily="34" charset="0"/>
                <a:ea typeface="DM Sans" pitchFamily="34" charset="-122"/>
                <a:cs typeface="DM Sans" pitchFamily="34" charset="-120"/>
              </a:rPr>
              <a:t>Average: 70</a:t>
            </a:r>
            <a:endParaRPr lang="en-US" sz="1850" dirty="0"/>
          </a:p>
        </p:txBody>
      </p:sp>
      <p:sp>
        <p:nvSpPr>
          <p:cNvPr id="8" name="Text 6"/>
          <p:cNvSpPr/>
          <p:nvPr/>
        </p:nvSpPr>
        <p:spPr>
          <a:xfrm>
            <a:off x="793790" y="4600099"/>
            <a:ext cx="6291382" cy="377190"/>
          </a:xfrm>
          <a:prstGeom prst="rect">
            <a:avLst/>
          </a:prstGeom>
          <a:noFill/>
          <a:ln/>
        </p:spPr>
        <p:txBody>
          <a:bodyPr wrap="none" lIns="0" tIns="0" rIns="0" bIns="0" rtlCol="0" anchor="t"/>
          <a:lstStyle/>
          <a:p>
            <a:pPr marL="0" indent="0" algn="l">
              <a:lnSpc>
                <a:spcPts val="2950"/>
              </a:lnSpc>
              <a:buNone/>
            </a:pPr>
            <a:r>
              <a:rPr lang="en-US" sz="1850" b="1" dirty="0">
                <a:solidFill>
                  <a:srgbClr val="383838"/>
                </a:solidFill>
                <a:latin typeface="DM Sans" pitchFamily="34" charset="0"/>
                <a:ea typeface="DM Sans" pitchFamily="34" charset="-122"/>
                <a:cs typeface="DM Sans" pitchFamily="34" charset="-120"/>
              </a:rPr>
              <a:t>CV: 13.97%</a:t>
            </a:r>
            <a:endParaRPr lang="en-US" sz="1850" dirty="0"/>
          </a:p>
        </p:txBody>
      </p:sp>
      <p:sp>
        <p:nvSpPr>
          <p:cNvPr id="9" name="Shape 7"/>
          <p:cNvSpPr/>
          <p:nvPr/>
        </p:nvSpPr>
        <p:spPr>
          <a:xfrm>
            <a:off x="793790" y="5283506"/>
            <a:ext cx="6291382" cy="31075"/>
          </a:xfrm>
          <a:prstGeom prst="rect">
            <a:avLst/>
          </a:prstGeom>
          <a:solidFill>
            <a:srgbClr val="383838">
              <a:alpha val="50000"/>
            </a:srgbClr>
          </a:solidFill>
          <a:ln/>
        </p:spPr>
      </p:sp>
      <p:sp>
        <p:nvSpPr>
          <p:cNvPr id="10" name="Text 8"/>
          <p:cNvSpPr/>
          <p:nvPr/>
        </p:nvSpPr>
        <p:spPr>
          <a:xfrm>
            <a:off x="793790" y="5526524"/>
            <a:ext cx="6291382" cy="301704"/>
          </a:xfrm>
          <a:prstGeom prst="rect">
            <a:avLst/>
          </a:prstGeom>
          <a:noFill/>
          <a:ln/>
        </p:spPr>
        <p:txBody>
          <a:bodyPr wrap="none" lIns="0" tIns="0" rIns="0" bIns="0" rtlCol="0" anchor="t"/>
          <a:lstStyle/>
          <a:p>
            <a:pPr marL="0" indent="0" algn="l">
              <a:lnSpc>
                <a:spcPts val="2350"/>
              </a:lnSpc>
              <a:buNone/>
            </a:pPr>
            <a:r>
              <a:rPr lang="en-US" sz="1450" dirty="0">
                <a:solidFill>
                  <a:srgbClr val="FFFFFF"/>
                </a:solidFill>
                <a:highlight>
                  <a:srgbClr val="E04F00"/>
                </a:highlight>
                <a:latin typeface="DM Sans" pitchFamily="34" charset="0"/>
                <a:ea typeface="DM Sans" pitchFamily="34" charset="-122"/>
                <a:cs typeface="DM Sans" pitchFamily="34" charset="-120"/>
              </a:rPr>
              <a:t>More consistent (lower variability)</a:t>
            </a:r>
            <a:endParaRPr lang="en-US" sz="1450" dirty="0"/>
          </a:p>
        </p:txBody>
      </p:sp>
      <p:sp>
        <p:nvSpPr>
          <p:cNvPr id="11" name="Text 9"/>
          <p:cNvSpPr/>
          <p:nvPr/>
        </p:nvSpPr>
        <p:spPr>
          <a:xfrm>
            <a:off x="793790" y="5997893"/>
            <a:ext cx="6291382" cy="603409"/>
          </a:xfrm>
          <a:prstGeom prst="rect">
            <a:avLst/>
          </a:prstGeom>
          <a:noFill/>
          <a:ln/>
        </p:spPr>
        <p:txBody>
          <a:bodyPr wrap="square" lIns="0" tIns="0" rIns="0" bIns="0" rtlCol="0" anchor="t"/>
          <a:lstStyle/>
          <a:p>
            <a:pPr marL="0" indent="0" algn="l">
              <a:lnSpc>
                <a:spcPts val="2350"/>
              </a:lnSpc>
              <a:buNone/>
            </a:pPr>
            <a:r>
              <a:rPr lang="en-US" sz="1550" dirty="0">
                <a:solidFill>
                  <a:srgbClr val="383838"/>
                </a:solidFill>
                <a:latin typeface="DM Sans" pitchFamily="34" charset="0"/>
                <a:ea typeface="DM Sans" pitchFamily="34" charset="-122"/>
                <a:cs typeface="DM Sans" pitchFamily="34" charset="-120"/>
              </a:rPr>
              <a:t>Batsman A delivers predictable performance. Selectors can rely on consistent contributions around 70 runs.</a:t>
            </a:r>
            <a:endParaRPr lang="en-US" sz="1550" dirty="0"/>
          </a:p>
        </p:txBody>
      </p:sp>
      <p:sp>
        <p:nvSpPr>
          <p:cNvPr id="12" name="Text 10"/>
          <p:cNvSpPr/>
          <p:nvPr/>
        </p:nvSpPr>
        <p:spPr>
          <a:xfrm>
            <a:off x="7552849" y="2642711"/>
            <a:ext cx="2969657" cy="371118"/>
          </a:xfrm>
          <a:prstGeom prst="rect">
            <a:avLst/>
          </a:prstGeom>
          <a:noFill/>
          <a:ln/>
        </p:spPr>
        <p:txBody>
          <a:bodyPr wrap="none" lIns="0" tIns="0" rIns="0" bIns="0" rtlCol="0" anchor="t"/>
          <a:lstStyle/>
          <a:p>
            <a:pPr marL="0" indent="0" algn="l">
              <a:lnSpc>
                <a:spcPts val="2900"/>
              </a:lnSpc>
              <a:buNone/>
            </a:pPr>
            <a:r>
              <a:rPr lang="en-US" sz="2300" dirty="0">
                <a:solidFill>
                  <a:srgbClr val="020202"/>
                </a:solidFill>
                <a:latin typeface="PT Serif" pitchFamily="34" charset="0"/>
                <a:ea typeface="PT Serif" pitchFamily="34" charset="-122"/>
                <a:cs typeface="PT Serif" pitchFamily="34" charset="-120"/>
              </a:rPr>
              <a:t>Batsman B</a:t>
            </a:r>
            <a:endParaRPr lang="en-US" sz="2300" dirty="0"/>
          </a:p>
        </p:txBody>
      </p:sp>
      <p:sp>
        <p:nvSpPr>
          <p:cNvPr id="13" name="Text 11"/>
          <p:cNvSpPr/>
          <p:nvPr/>
        </p:nvSpPr>
        <p:spPr>
          <a:xfrm>
            <a:off x="7552849" y="3202305"/>
            <a:ext cx="6291382" cy="301704"/>
          </a:xfrm>
          <a:prstGeom prst="rect">
            <a:avLst/>
          </a:prstGeom>
          <a:noFill/>
          <a:ln/>
        </p:spPr>
        <p:txBody>
          <a:bodyPr wrap="none" lIns="0" tIns="0" rIns="0" bIns="0" rtlCol="0" anchor="t"/>
          <a:lstStyle/>
          <a:p>
            <a:pPr marL="0" indent="0" algn="l">
              <a:lnSpc>
                <a:spcPts val="2350"/>
              </a:lnSpc>
              <a:buNone/>
            </a:pPr>
            <a:r>
              <a:rPr lang="en-US" sz="1550" b="1" dirty="0">
                <a:solidFill>
                  <a:srgbClr val="383838"/>
                </a:solidFill>
                <a:latin typeface="DM Sans" pitchFamily="34" charset="0"/>
                <a:ea typeface="DM Sans" pitchFamily="34" charset="-122"/>
                <a:cs typeface="DM Sans" pitchFamily="34" charset="-120"/>
              </a:rPr>
              <a:t>Scores:</a:t>
            </a:r>
            <a:r>
              <a:rPr lang="en-US" sz="1550" dirty="0">
                <a:solidFill>
                  <a:srgbClr val="383838"/>
                </a:solidFill>
                <a:latin typeface="DM Sans" pitchFamily="34" charset="0"/>
                <a:ea typeface="DM Sans" pitchFamily="34" charset="-122"/>
                <a:cs typeface="DM Sans" pitchFamily="34" charset="-120"/>
              </a:rPr>
              <a:t> 92, 8, 78, 34, 109, 99</a:t>
            </a:r>
            <a:endParaRPr lang="en-US" sz="1550" dirty="0"/>
          </a:p>
        </p:txBody>
      </p:sp>
      <p:sp>
        <p:nvSpPr>
          <p:cNvPr id="14" name="Shape 12"/>
          <p:cNvSpPr/>
          <p:nvPr/>
        </p:nvSpPr>
        <p:spPr>
          <a:xfrm>
            <a:off x="7552849" y="3810227"/>
            <a:ext cx="6291382" cy="31075"/>
          </a:xfrm>
          <a:prstGeom prst="rect">
            <a:avLst/>
          </a:prstGeom>
          <a:solidFill>
            <a:srgbClr val="383838">
              <a:alpha val="50000"/>
            </a:srgbClr>
          </a:solidFill>
          <a:ln/>
        </p:spPr>
      </p:sp>
      <p:sp>
        <p:nvSpPr>
          <p:cNvPr id="15" name="Text 13"/>
          <p:cNvSpPr/>
          <p:nvPr/>
        </p:nvSpPr>
        <p:spPr>
          <a:xfrm>
            <a:off x="7552849" y="4053245"/>
            <a:ext cx="6291382" cy="377190"/>
          </a:xfrm>
          <a:prstGeom prst="rect">
            <a:avLst/>
          </a:prstGeom>
          <a:noFill/>
          <a:ln/>
        </p:spPr>
        <p:txBody>
          <a:bodyPr wrap="none" lIns="0" tIns="0" rIns="0" bIns="0" rtlCol="0" anchor="t"/>
          <a:lstStyle/>
          <a:p>
            <a:pPr marL="0" indent="0" algn="l">
              <a:lnSpc>
                <a:spcPts val="2950"/>
              </a:lnSpc>
              <a:buNone/>
            </a:pPr>
            <a:r>
              <a:rPr lang="en-US" sz="1850" b="1" dirty="0">
                <a:solidFill>
                  <a:srgbClr val="383838"/>
                </a:solidFill>
                <a:latin typeface="DM Sans" pitchFamily="34" charset="0"/>
                <a:ea typeface="DM Sans" pitchFamily="34" charset="-122"/>
                <a:cs typeface="DM Sans" pitchFamily="34" charset="-120"/>
              </a:rPr>
              <a:t>Average: 70</a:t>
            </a:r>
            <a:endParaRPr lang="en-US" sz="1850" dirty="0"/>
          </a:p>
        </p:txBody>
      </p:sp>
      <p:sp>
        <p:nvSpPr>
          <p:cNvPr id="16" name="Text 14"/>
          <p:cNvSpPr/>
          <p:nvPr/>
        </p:nvSpPr>
        <p:spPr>
          <a:xfrm>
            <a:off x="7552849" y="4600099"/>
            <a:ext cx="6291382" cy="377190"/>
          </a:xfrm>
          <a:prstGeom prst="rect">
            <a:avLst/>
          </a:prstGeom>
          <a:noFill/>
          <a:ln/>
        </p:spPr>
        <p:txBody>
          <a:bodyPr wrap="none" lIns="0" tIns="0" rIns="0" bIns="0" rtlCol="0" anchor="t"/>
          <a:lstStyle/>
          <a:p>
            <a:pPr marL="0" indent="0" algn="l">
              <a:lnSpc>
                <a:spcPts val="2950"/>
              </a:lnSpc>
              <a:buNone/>
            </a:pPr>
            <a:r>
              <a:rPr lang="en-US" sz="1850" b="1" dirty="0">
                <a:solidFill>
                  <a:srgbClr val="383838"/>
                </a:solidFill>
                <a:latin typeface="DM Sans" pitchFamily="34" charset="0"/>
                <a:ea typeface="DM Sans" pitchFamily="34" charset="-122"/>
                <a:cs typeface="DM Sans" pitchFamily="34" charset="-120"/>
              </a:rPr>
              <a:t>CV: 57.32%</a:t>
            </a:r>
            <a:endParaRPr lang="en-US" sz="1850" dirty="0"/>
          </a:p>
        </p:txBody>
      </p:sp>
      <p:sp>
        <p:nvSpPr>
          <p:cNvPr id="17" name="Shape 15"/>
          <p:cNvSpPr/>
          <p:nvPr/>
        </p:nvSpPr>
        <p:spPr>
          <a:xfrm>
            <a:off x="7552849" y="5283506"/>
            <a:ext cx="6291382" cy="31075"/>
          </a:xfrm>
          <a:prstGeom prst="rect">
            <a:avLst/>
          </a:prstGeom>
          <a:solidFill>
            <a:srgbClr val="383838">
              <a:alpha val="50000"/>
            </a:srgbClr>
          </a:solidFill>
          <a:ln/>
        </p:spPr>
      </p:sp>
      <p:sp>
        <p:nvSpPr>
          <p:cNvPr id="18" name="Text 16"/>
          <p:cNvSpPr/>
          <p:nvPr/>
        </p:nvSpPr>
        <p:spPr>
          <a:xfrm>
            <a:off x="7552849" y="5526524"/>
            <a:ext cx="6291382" cy="301704"/>
          </a:xfrm>
          <a:prstGeom prst="rect">
            <a:avLst/>
          </a:prstGeom>
          <a:noFill/>
          <a:ln/>
        </p:spPr>
        <p:txBody>
          <a:bodyPr wrap="none" lIns="0" tIns="0" rIns="0" bIns="0" rtlCol="0" anchor="t"/>
          <a:lstStyle/>
          <a:p>
            <a:pPr marL="0" indent="0" algn="l">
              <a:lnSpc>
                <a:spcPts val="2350"/>
              </a:lnSpc>
              <a:buNone/>
            </a:pPr>
            <a:r>
              <a:rPr lang="en-US" sz="1450" dirty="0">
                <a:solidFill>
                  <a:srgbClr val="FFFFFF"/>
                </a:solidFill>
                <a:highlight>
                  <a:srgbClr val="E04F00"/>
                </a:highlight>
                <a:latin typeface="DM Sans" pitchFamily="34" charset="0"/>
                <a:ea typeface="DM Sans" pitchFamily="34" charset="-122"/>
                <a:cs typeface="DM Sans" pitchFamily="34" charset="-120"/>
              </a:rPr>
              <a:t>Less consistent (higher variability)</a:t>
            </a:r>
            <a:endParaRPr lang="en-US" sz="1450" dirty="0"/>
          </a:p>
        </p:txBody>
      </p:sp>
      <p:sp>
        <p:nvSpPr>
          <p:cNvPr id="19" name="Text 17"/>
          <p:cNvSpPr/>
          <p:nvPr/>
        </p:nvSpPr>
        <p:spPr>
          <a:xfrm>
            <a:off x="7552849" y="5997893"/>
            <a:ext cx="6291382" cy="603409"/>
          </a:xfrm>
          <a:prstGeom prst="rect">
            <a:avLst/>
          </a:prstGeom>
          <a:noFill/>
          <a:ln/>
        </p:spPr>
        <p:txBody>
          <a:bodyPr wrap="square" lIns="0" tIns="0" rIns="0" bIns="0" rtlCol="0" anchor="t"/>
          <a:lstStyle/>
          <a:p>
            <a:pPr marL="0" indent="0" algn="l">
              <a:lnSpc>
                <a:spcPts val="2350"/>
              </a:lnSpc>
              <a:buNone/>
            </a:pPr>
            <a:r>
              <a:rPr lang="en-US" sz="1550" dirty="0">
                <a:solidFill>
                  <a:srgbClr val="383838"/>
                </a:solidFill>
                <a:latin typeface="DM Sans" pitchFamily="34" charset="0"/>
                <a:ea typeface="DM Sans" pitchFamily="34" charset="-122"/>
                <a:cs typeface="DM Sans" pitchFamily="34" charset="-120"/>
              </a:rPr>
              <a:t>Batsman B is unpredictable. Capable of high scores but also single-digit scores.  </a:t>
            </a:r>
            <a:endParaRPr lang="en-US" sz="1550" dirty="0"/>
          </a:p>
        </p:txBody>
      </p:sp>
      <p:sp>
        <p:nvSpPr>
          <p:cNvPr id="20" name="Text 18"/>
          <p:cNvSpPr/>
          <p:nvPr/>
        </p:nvSpPr>
        <p:spPr>
          <a:xfrm>
            <a:off x="793790" y="6983016"/>
            <a:ext cx="13042821" cy="603409"/>
          </a:xfrm>
          <a:prstGeom prst="rect">
            <a:avLst/>
          </a:prstGeom>
          <a:noFill/>
          <a:ln/>
        </p:spPr>
        <p:txBody>
          <a:bodyPr wrap="square" lIns="0" tIns="0" rIns="0" bIns="0" rtlCol="0" anchor="t"/>
          <a:lstStyle/>
          <a:p>
            <a:pPr marL="0" indent="0" algn="l">
              <a:lnSpc>
                <a:spcPts val="2350"/>
              </a:lnSpc>
              <a:buNone/>
            </a:pPr>
            <a:r>
              <a:rPr lang="en-US" sz="1550" dirty="0">
                <a:solidFill>
                  <a:srgbClr val="383838"/>
                </a:solidFill>
                <a:latin typeface="DM Sans" pitchFamily="34" charset="0"/>
                <a:ea typeface="DM Sans" pitchFamily="34" charset="-122"/>
                <a:cs typeface="DM Sans" pitchFamily="34" charset="-120"/>
              </a:rPr>
              <a:t>Despite identical averages, the coefficient of variation reveals dramatically different performance patterns. This insight is crucial for team selection and strategy.</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735330"/>
            <a:ext cx="5762744"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Understanding Skewness</a:t>
            </a:r>
            <a:endParaRPr lang="en-US" sz="4100" dirty="0"/>
          </a:p>
        </p:txBody>
      </p:sp>
      <p:sp>
        <p:nvSpPr>
          <p:cNvPr id="3" name="Text 1"/>
          <p:cNvSpPr/>
          <p:nvPr/>
        </p:nvSpPr>
        <p:spPr>
          <a:xfrm>
            <a:off x="1091446" y="2006679"/>
            <a:ext cx="12745164" cy="317540"/>
          </a:xfrm>
          <a:prstGeom prst="rect">
            <a:avLst/>
          </a:prstGeom>
          <a:noFill/>
          <a:ln/>
        </p:spPr>
        <p:txBody>
          <a:bodyPr wrap="non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Skewness measures the lack of symmetry in data distribution.</a:t>
            </a:r>
            <a:endParaRPr lang="en-US" dirty="0"/>
          </a:p>
        </p:txBody>
      </p:sp>
      <p:sp>
        <p:nvSpPr>
          <p:cNvPr id="4" name="Shape 2"/>
          <p:cNvSpPr/>
          <p:nvPr/>
        </p:nvSpPr>
        <p:spPr>
          <a:xfrm>
            <a:off x="793790" y="1783437"/>
            <a:ext cx="22860" cy="764024"/>
          </a:xfrm>
          <a:prstGeom prst="rect">
            <a:avLst/>
          </a:prstGeom>
          <a:solidFill>
            <a:srgbClr val="E04F00"/>
          </a:solidFill>
          <a:ln/>
        </p:spPr>
      </p:sp>
      <p:sp>
        <p:nvSpPr>
          <p:cNvPr id="5" name="Shape 3"/>
          <p:cNvSpPr/>
          <p:nvPr/>
        </p:nvSpPr>
        <p:spPr>
          <a:xfrm>
            <a:off x="793790" y="2770703"/>
            <a:ext cx="4215289" cy="2984778"/>
          </a:xfrm>
          <a:prstGeom prst="roundRect">
            <a:avLst>
              <a:gd name="adj" fmla="val 997"/>
            </a:avLst>
          </a:prstGeom>
          <a:solidFill>
            <a:srgbClr val="F2EEEE"/>
          </a:solidFill>
          <a:ln/>
        </p:spPr>
      </p:sp>
      <p:sp>
        <p:nvSpPr>
          <p:cNvPr id="6" name="Text 4"/>
          <p:cNvSpPr/>
          <p:nvPr/>
        </p:nvSpPr>
        <p:spPr>
          <a:xfrm>
            <a:off x="992148" y="2969062"/>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Positively Skewed</a:t>
            </a:r>
            <a:endParaRPr lang="en-US" sz="2050" dirty="0"/>
          </a:p>
        </p:txBody>
      </p:sp>
      <p:sp>
        <p:nvSpPr>
          <p:cNvPr id="7" name="Text 5"/>
          <p:cNvSpPr/>
          <p:nvPr/>
        </p:nvSpPr>
        <p:spPr>
          <a:xfrm>
            <a:off x="992148" y="3413760"/>
            <a:ext cx="3818573"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Right tail longer</a:t>
            </a:r>
            <a:endParaRPr lang="en-US" sz="1550" dirty="0"/>
          </a:p>
        </p:txBody>
      </p:sp>
      <p:sp>
        <p:nvSpPr>
          <p:cNvPr id="8" name="Text 6"/>
          <p:cNvSpPr/>
          <p:nvPr/>
        </p:nvSpPr>
        <p:spPr>
          <a:xfrm>
            <a:off x="992148" y="3850362"/>
            <a:ext cx="3818573"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Mean &gt; Median &gt; Mode</a:t>
            </a:r>
            <a:endParaRPr lang="en-US" sz="1550" dirty="0"/>
          </a:p>
        </p:txBody>
      </p:sp>
      <p:sp>
        <p:nvSpPr>
          <p:cNvPr id="9" name="Text 7"/>
          <p:cNvSpPr/>
          <p:nvPr/>
        </p:nvSpPr>
        <p:spPr>
          <a:xfrm>
            <a:off x="992148" y="4286964"/>
            <a:ext cx="3818573" cy="127015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Most values cluster on the left with a long right tail. Example: Income distribution where few high earners pull the mean upward.</a:t>
            </a:r>
            <a:endParaRPr lang="en-US" sz="1550" dirty="0"/>
          </a:p>
        </p:txBody>
      </p:sp>
      <p:sp>
        <p:nvSpPr>
          <p:cNvPr id="10" name="Shape 8"/>
          <p:cNvSpPr/>
          <p:nvPr/>
        </p:nvSpPr>
        <p:spPr>
          <a:xfrm>
            <a:off x="5207437" y="2770703"/>
            <a:ext cx="4215408" cy="2984778"/>
          </a:xfrm>
          <a:prstGeom prst="roundRect">
            <a:avLst>
              <a:gd name="adj" fmla="val 997"/>
            </a:avLst>
          </a:prstGeom>
          <a:solidFill>
            <a:srgbClr val="F2EEEE"/>
          </a:solidFill>
          <a:ln/>
        </p:spPr>
      </p:sp>
      <p:sp>
        <p:nvSpPr>
          <p:cNvPr id="11" name="Text 9"/>
          <p:cNvSpPr/>
          <p:nvPr/>
        </p:nvSpPr>
        <p:spPr>
          <a:xfrm>
            <a:off x="5405795" y="2969062"/>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Symmetric</a:t>
            </a:r>
            <a:endParaRPr lang="en-US" sz="2050" dirty="0"/>
          </a:p>
        </p:txBody>
      </p:sp>
      <p:sp>
        <p:nvSpPr>
          <p:cNvPr id="12" name="Text 10"/>
          <p:cNvSpPr/>
          <p:nvPr/>
        </p:nvSpPr>
        <p:spPr>
          <a:xfrm>
            <a:off x="5405795" y="3413760"/>
            <a:ext cx="3818692"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Normal distribution</a:t>
            </a:r>
            <a:endParaRPr lang="en-US" sz="1550" dirty="0"/>
          </a:p>
        </p:txBody>
      </p:sp>
      <p:sp>
        <p:nvSpPr>
          <p:cNvPr id="13" name="Text 11"/>
          <p:cNvSpPr/>
          <p:nvPr/>
        </p:nvSpPr>
        <p:spPr>
          <a:xfrm>
            <a:off x="5405795" y="3850362"/>
            <a:ext cx="3818692"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Mean = Median = Mode</a:t>
            </a:r>
            <a:endParaRPr lang="en-US" sz="1550" dirty="0"/>
          </a:p>
        </p:txBody>
      </p:sp>
      <p:sp>
        <p:nvSpPr>
          <p:cNvPr id="14" name="Text 12"/>
          <p:cNvSpPr/>
          <p:nvPr/>
        </p:nvSpPr>
        <p:spPr>
          <a:xfrm>
            <a:off x="5405795" y="4286964"/>
            <a:ext cx="3818692"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Perfectly balanced distribution. The bell curve where data spreads evenly around the center.</a:t>
            </a:r>
            <a:endParaRPr lang="en-US" sz="1550" dirty="0"/>
          </a:p>
        </p:txBody>
      </p:sp>
      <p:sp>
        <p:nvSpPr>
          <p:cNvPr id="15" name="Shape 13"/>
          <p:cNvSpPr/>
          <p:nvPr/>
        </p:nvSpPr>
        <p:spPr>
          <a:xfrm>
            <a:off x="9621203" y="2770703"/>
            <a:ext cx="4215289" cy="2984778"/>
          </a:xfrm>
          <a:prstGeom prst="roundRect">
            <a:avLst>
              <a:gd name="adj" fmla="val 997"/>
            </a:avLst>
          </a:prstGeom>
          <a:solidFill>
            <a:srgbClr val="F2EEEE"/>
          </a:solidFill>
          <a:ln/>
        </p:spPr>
      </p:sp>
      <p:sp>
        <p:nvSpPr>
          <p:cNvPr id="16" name="Text 14"/>
          <p:cNvSpPr/>
          <p:nvPr/>
        </p:nvSpPr>
        <p:spPr>
          <a:xfrm>
            <a:off x="9819561" y="2969062"/>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Negatively Skewed</a:t>
            </a:r>
            <a:endParaRPr lang="en-US" sz="2050" dirty="0"/>
          </a:p>
        </p:txBody>
      </p:sp>
      <p:sp>
        <p:nvSpPr>
          <p:cNvPr id="17" name="Text 15"/>
          <p:cNvSpPr/>
          <p:nvPr/>
        </p:nvSpPr>
        <p:spPr>
          <a:xfrm>
            <a:off x="9819561" y="3413760"/>
            <a:ext cx="3818573"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Left tail longer</a:t>
            </a:r>
            <a:endParaRPr lang="en-US" sz="1550" dirty="0"/>
          </a:p>
        </p:txBody>
      </p:sp>
      <p:sp>
        <p:nvSpPr>
          <p:cNvPr id="18" name="Text 16"/>
          <p:cNvSpPr/>
          <p:nvPr/>
        </p:nvSpPr>
        <p:spPr>
          <a:xfrm>
            <a:off x="9819561" y="3850362"/>
            <a:ext cx="3818573"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Mode &gt; Median &gt; Mean</a:t>
            </a:r>
            <a:endParaRPr lang="en-US" sz="1550" dirty="0"/>
          </a:p>
        </p:txBody>
      </p:sp>
      <p:sp>
        <p:nvSpPr>
          <p:cNvPr id="19" name="Text 17"/>
          <p:cNvSpPr/>
          <p:nvPr/>
        </p:nvSpPr>
        <p:spPr>
          <a:xfrm>
            <a:off x="9819561" y="4286964"/>
            <a:ext cx="3818573"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Most values cluster on the right with a long left tail. Example: Test scores when most students perform well.</a:t>
            </a:r>
            <a:endParaRPr lang="en-US" sz="1550" dirty="0"/>
          </a:p>
        </p:txBody>
      </p:sp>
      <p:sp>
        <p:nvSpPr>
          <p:cNvPr id="20" name="Shape 18"/>
          <p:cNvSpPr/>
          <p:nvPr/>
        </p:nvSpPr>
        <p:spPr>
          <a:xfrm>
            <a:off x="793790" y="6077872"/>
            <a:ext cx="13042821" cy="32385"/>
          </a:xfrm>
          <a:prstGeom prst="rect">
            <a:avLst/>
          </a:prstGeom>
          <a:solidFill>
            <a:srgbClr val="383838">
              <a:alpha val="50000"/>
            </a:srgbClr>
          </a:solidFill>
          <a:ln/>
        </p:spPr>
      </p:sp>
      <p:sp>
        <p:nvSpPr>
          <p:cNvPr id="21" name="Shape 19"/>
          <p:cNvSpPr/>
          <p:nvPr/>
        </p:nvSpPr>
        <p:spPr>
          <a:xfrm>
            <a:off x="793790" y="6333411"/>
            <a:ext cx="13042821" cy="1160740"/>
          </a:xfrm>
          <a:prstGeom prst="roundRect">
            <a:avLst>
              <a:gd name="adj" fmla="val 2565"/>
            </a:avLst>
          </a:prstGeom>
          <a:solidFill>
            <a:srgbClr val="FFCDB3"/>
          </a:solidFill>
          <a:ln/>
        </p:spPr>
      </p:sp>
      <p:pic>
        <p:nvPicPr>
          <p:cNvPr id="22" name="Image 0" descr="preencoded.png"/>
          <p:cNvPicPr>
            <a:picLocks noChangeAspect="1"/>
          </p:cNvPicPr>
          <p:nvPr/>
        </p:nvPicPr>
        <p:blipFill>
          <a:blip r:embed="rId3"/>
          <a:stretch>
            <a:fillRect/>
          </a:stretch>
        </p:blipFill>
        <p:spPr>
          <a:xfrm>
            <a:off x="992148" y="6628686"/>
            <a:ext cx="248007" cy="198358"/>
          </a:xfrm>
          <a:prstGeom prst="rect">
            <a:avLst/>
          </a:prstGeom>
        </p:spPr>
      </p:pic>
      <p:sp>
        <p:nvSpPr>
          <p:cNvPr id="23" name="Text 20"/>
          <p:cNvSpPr/>
          <p:nvPr/>
        </p:nvSpPr>
        <p:spPr>
          <a:xfrm>
            <a:off x="1438513" y="6581299"/>
            <a:ext cx="12199739" cy="635079"/>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DM Sans" pitchFamily="34" charset="0"/>
                <a:ea typeface="DM Sans" pitchFamily="34" charset="-122"/>
                <a:cs typeface="DM Sans" pitchFamily="34" charset="-120"/>
              </a:rPr>
              <a:t>Interpretation guideline:</a:t>
            </a:r>
            <a:r>
              <a:rPr lang="en-US" sz="1550" dirty="0">
                <a:solidFill>
                  <a:srgbClr val="000000"/>
                </a:solidFill>
                <a:latin typeface="DM Sans" pitchFamily="34" charset="0"/>
                <a:ea typeface="DM Sans" pitchFamily="34" charset="-122"/>
                <a:cs typeface="DM Sans" pitchFamily="34" charset="-120"/>
              </a:rPr>
              <a:t> Skewness &gt; 1 or &lt; -1 indicates substantial skewness. Normal Distribution is perfectly symmetric with skewness = 0.</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7C971-7102-8E96-651B-23E4C3CD0D96}"/>
            </a:ext>
          </a:extLst>
        </p:cNvPr>
        <p:cNvGrpSpPr/>
        <p:nvPr/>
      </p:nvGrpSpPr>
      <p:grpSpPr>
        <a:xfrm>
          <a:off x="0" y="0"/>
          <a:ext cx="0" cy="0"/>
          <a:chOff x="0" y="0"/>
          <a:chExt cx="0" cy="0"/>
        </a:xfrm>
      </p:grpSpPr>
      <p:pic>
        <p:nvPicPr>
          <p:cNvPr id="1026" name="Picture 2" descr="Skewness vs. Kurtosis: What's the Difference? | by Piotr Szymanski | Python  in Plain English">
            <a:extLst>
              <a:ext uri="{FF2B5EF4-FFF2-40B4-BE49-F238E27FC236}">
                <a16:creationId xmlns:a16="http://schemas.microsoft.com/office/drawing/2014/main" id="{6016DABE-481A-C4FE-38A9-7D2BCD28C4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7069" y="1606731"/>
            <a:ext cx="11868819" cy="5081452"/>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FB14AAAA-EBE0-1C7C-8F33-3D829146D484}"/>
              </a:ext>
            </a:extLst>
          </p:cNvPr>
          <p:cNvSpPr txBox="1"/>
          <p:nvPr/>
        </p:nvSpPr>
        <p:spPr>
          <a:xfrm>
            <a:off x="1463040" y="514269"/>
            <a:ext cx="7776891" cy="719043"/>
          </a:xfrm>
          <a:prstGeom prst="rect">
            <a:avLst/>
          </a:prstGeom>
          <a:noFill/>
        </p:spPr>
        <p:txBody>
          <a:bodyPr wrap="square">
            <a:spAutoFit/>
          </a:bodyPr>
          <a:lstStyle/>
          <a:p>
            <a:pPr marL="0" indent="0" algn="l">
              <a:lnSpc>
                <a:spcPts val="5100"/>
              </a:lnSpc>
              <a:buNone/>
            </a:pPr>
            <a:r>
              <a:rPr lang="en-US" sz="4100" dirty="0">
                <a:solidFill>
                  <a:srgbClr val="020202"/>
                </a:solidFill>
                <a:latin typeface="PT Serif" pitchFamily="34" charset="0"/>
              </a:rPr>
              <a:t>Understanding</a:t>
            </a:r>
            <a:r>
              <a:rPr lang="en-US" sz="1800" dirty="0">
                <a:solidFill>
                  <a:srgbClr val="020202"/>
                </a:solidFill>
                <a:latin typeface="PT Serif" pitchFamily="34" charset="0"/>
                <a:ea typeface="PT Serif" pitchFamily="34" charset="-122"/>
                <a:cs typeface="PT Serif" pitchFamily="34" charset="-120"/>
              </a:rPr>
              <a:t>  </a:t>
            </a:r>
            <a:r>
              <a:rPr lang="en-US" sz="4100" dirty="0">
                <a:solidFill>
                  <a:srgbClr val="020202"/>
                </a:solidFill>
                <a:latin typeface="PT Serif" pitchFamily="34" charset="0"/>
              </a:rPr>
              <a:t>Skewness</a:t>
            </a:r>
          </a:p>
        </p:txBody>
      </p:sp>
    </p:spTree>
    <p:extLst>
      <p:ext uri="{BB962C8B-B14F-4D97-AF65-F5344CB8AC3E}">
        <p14:creationId xmlns:p14="http://schemas.microsoft.com/office/powerpoint/2010/main" val="2652588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A2CD1890-E304-CB3F-1A85-B7246AE19D6D}"/>
              </a:ext>
            </a:extLst>
          </p:cNvPr>
          <p:cNvSpPr txBox="1">
            <a:spLocks noChangeArrowheads="1"/>
          </p:cNvSpPr>
          <p:nvPr/>
        </p:nvSpPr>
        <p:spPr>
          <a:xfrm>
            <a:off x="1251952" y="1737361"/>
            <a:ext cx="5029200" cy="5431156"/>
          </a:xfr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dirty="0">
                <a:latin typeface="DM Sans" pitchFamily="2" charset="0"/>
              </a:rPr>
              <a:t>Box and Whisker plot summarizes data graphically using 5  measures: Minimum,Q1,Q2,Q3 and Maximum.</a:t>
            </a:r>
          </a:p>
          <a:p>
            <a:pPr>
              <a:buFont typeface="Arial" pitchFamily="34" charset="0"/>
              <a:buNone/>
            </a:pPr>
            <a:endParaRPr lang="en-US" sz="1800" dirty="0">
              <a:latin typeface="DM Sans" pitchFamily="2" charset="0"/>
            </a:endParaRPr>
          </a:p>
          <a:p>
            <a:r>
              <a:rPr lang="en-US" sz="1800" dirty="0">
                <a:latin typeface="DM Sans" pitchFamily="2" charset="0"/>
              </a:rPr>
              <a:t>The body of the box goes from the first quartile (Q1) to the third quartile (Q3).</a:t>
            </a:r>
          </a:p>
          <a:p>
            <a:pPr marL="0" indent="0">
              <a:buNone/>
            </a:pPr>
            <a:endParaRPr lang="en-US" sz="1800" dirty="0">
              <a:latin typeface="DM Sans" pitchFamily="2" charset="0"/>
            </a:endParaRPr>
          </a:p>
          <a:p>
            <a:r>
              <a:rPr lang="en-US" sz="1800" dirty="0">
                <a:latin typeface="DM Sans" pitchFamily="2" charset="0"/>
              </a:rPr>
              <a:t>The whiskers go from Q1 to smallest no-n outlier and Q3 to highest non-outlier data points.</a:t>
            </a:r>
          </a:p>
          <a:p>
            <a:pPr marL="0" indent="0">
              <a:buFont typeface="Arial" pitchFamily="34" charset="0"/>
              <a:buNone/>
            </a:pPr>
            <a:endParaRPr lang="en-US" sz="1800" dirty="0">
              <a:latin typeface="DM Sans" pitchFamily="2" charset="0"/>
            </a:endParaRPr>
          </a:p>
          <a:p>
            <a:r>
              <a:rPr lang="en-US" sz="1800" dirty="0">
                <a:latin typeface="DM Sans" pitchFamily="2" charset="0"/>
              </a:rPr>
              <a:t>The distribution is considered symmetric if median is at the center of the box and whiskers have same length</a:t>
            </a:r>
          </a:p>
          <a:p>
            <a:endParaRPr lang="en-US" sz="1800" dirty="0">
              <a:solidFill>
                <a:schemeClr val="accent6">
                  <a:lumMod val="75000"/>
                </a:schemeClr>
              </a:solidFill>
              <a:latin typeface="DM Sans" pitchFamily="2" charset="0"/>
            </a:endParaRPr>
          </a:p>
          <a:p>
            <a:endParaRPr lang="en-US" sz="1800" dirty="0">
              <a:latin typeface="DM Sans" pitchFamily="2" charset="0"/>
            </a:endParaRPr>
          </a:p>
          <a:p>
            <a:pPr>
              <a:buFont typeface="Arial" pitchFamily="34" charset="0"/>
              <a:buNone/>
            </a:pPr>
            <a:endParaRPr lang="en-US" sz="1800" dirty="0">
              <a:latin typeface="DM Sans" pitchFamily="2" charset="0"/>
            </a:endParaRPr>
          </a:p>
          <a:p>
            <a:endParaRPr lang="en-US" sz="1800" dirty="0">
              <a:latin typeface="DM Sans" pitchFamily="2" charset="0"/>
            </a:endParaRPr>
          </a:p>
          <a:p>
            <a:pPr>
              <a:buFont typeface="Arial" pitchFamily="34" charset="0"/>
              <a:buNone/>
            </a:pPr>
            <a:endParaRPr lang="en-US" sz="1800" dirty="0">
              <a:latin typeface="DM Sans" pitchFamily="2" charset="0"/>
            </a:endParaRPr>
          </a:p>
          <a:p>
            <a:pPr>
              <a:buFont typeface="Arial" pitchFamily="34" charset="0"/>
              <a:buNone/>
            </a:pPr>
            <a:endParaRPr lang="en-US" sz="1800" dirty="0">
              <a:solidFill>
                <a:schemeClr val="accent6">
                  <a:lumMod val="75000"/>
                </a:schemeClr>
              </a:solidFill>
              <a:latin typeface="DM Sans" pitchFamily="2" charset="0"/>
            </a:endParaRPr>
          </a:p>
          <a:p>
            <a:pPr>
              <a:buFont typeface="Arial" pitchFamily="34" charset="0"/>
              <a:buNone/>
            </a:pPr>
            <a:endParaRPr lang="en-US" sz="1800" dirty="0">
              <a:solidFill>
                <a:schemeClr val="accent6">
                  <a:lumMod val="75000"/>
                </a:schemeClr>
              </a:solidFill>
              <a:latin typeface="DM Sans" pitchFamily="2" charset="0"/>
            </a:endParaRPr>
          </a:p>
          <a:p>
            <a:endParaRPr lang="en-US" sz="1800" dirty="0">
              <a:solidFill>
                <a:schemeClr val="accent6">
                  <a:lumMod val="75000"/>
                </a:schemeClr>
              </a:solidFill>
              <a:latin typeface="DM Sans" pitchFamily="2" charset="0"/>
            </a:endParaRPr>
          </a:p>
          <a:p>
            <a:pPr>
              <a:buFont typeface="Arial" pitchFamily="34" charset="0"/>
              <a:buNone/>
            </a:pPr>
            <a:endParaRPr lang="en-US" sz="1800" dirty="0">
              <a:solidFill>
                <a:schemeClr val="accent6">
                  <a:lumMod val="75000"/>
                </a:schemeClr>
              </a:solidFill>
              <a:latin typeface="DM Sans" pitchFamily="2" charset="0"/>
            </a:endParaRPr>
          </a:p>
          <a:p>
            <a:endParaRPr lang="en-US" sz="1800" dirty="0">
              <a:solidFill>
                <a:schemeClr val="accent6">
                  <a:lumMod val="75000"/>
                </a:schemeClr>
              </a:solidFill>
              <a:latin typeface="DM Sans" pitchFamily="2" charset="0"/>
            </a:endParaRPr>
          </a:p>
          <a:p>
            <a:endParaRPr lang="en-US" sz="1800" dirty="0">
              <a:solidFill>
                <a:schemeClr val="accent6">
                  <a:lumMod val="75000"/>
                </a:schemeClr>
              </a:solidFill>
              <a:latin typeface="DM Sans" pitchFamily="2" charset="0"/>
            </a:endParaRPr>
          </a:p>
        </p:txBody>
      </p:sp>
      <p:pic>
        <p:nvPicPr>
          <p:cNvPr id="3" name="Picture 2" descr="Image result for box plot image">
            <a:extLst>
              <a:ext uri="{FF2B5EF4-FFF2-40B4-BE49-F238E27FC236}">
                <a16:creationId xmlns:a16="http://schemas.microsoft.com/office/drawing/2014/main" id="{72EB428F-F4A0-9D6F-8E0C-AFE2EF3172A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02756" y="1630018"/>
            <a:ext cx="5029200" cy="3760966"/>
          </a:xfrm>
          <a:prstGeom prst="rect">
            <a:avLst/>
          </a:prstGeom>
          <a:noFill/>
          <a:extLst>
            <a:ext uri="{909E8E84-426E-40DD-AFC4-6F175D3DCCD1}">
              <a14:hiddenFill xmlns:a14="http://schemas.microsoft.com/office/drawing/2010/main">
                <a:solidFill>
                  <a:srgbClr val="FFFFFF"/>
                </a:solidFill>
              </a14:hiddenFill>
            </a:ext>
          </a:extLst>
        </p:spPr>
      </p:pic>
      <p:sp>
        <p:nvSpPr>
          <p:cNvPr id="4" name="Text 0">
            <a:extLst>
              <a:ext uri="{FF2B5EF4-FFF2-40B4-BE49-F238E27FC236}">
                <a16:creationId xmlns:a16="http://schemas.microsoft.com/office/drawing/2014/main" id="{8408C937-FCAB-A0C1-55BC-999B34D01BEF}"/>
              </a:ext>
            </a:extLst>
          </p:cNvPr>
          <p:cNvSpPr/>
          <p:nvPr/>
        </p:nvSpPr>
        <p:spPr>
          <a:xfrm>
            <a:off x="1251952" y="655439"/>
            <a:ext cx="5762744" cy="651272"/>
          </a:xfrm>
          <a:prstGeom prst="rect">
            <a:avLst/>
          </a:prstGeom>
          <a:noFill/>
          <a:ln/>
        </p:spPr>
        <p:txBody>
          <a:bodyPr wrap="none" lIns="0" tIns="0" rIns="0" bIns="0" rtlCol="0" anchor="t"/>
          <a:lstStyle/>
          <a:p>
            <a:pPr marL="0" indent="0" algn="l">
              <a:lnSpc>
                <a:spcPts val="5100"/>
              </a:lnSpc>
              <a:buNone/>
            </a:pPr>
            <a:r>
              <a:rPr lang="en-US" sz="4000" dirty="0">
                <a:solidFill>
                  <a:srgbClr val="020202"/>
                </a:solidFill>
                <a:latin typeface="PT Serif" pitchFamily="34" charset="0"/>
                <a:ea typeface="PT Serif" pitchFamily="34" charset="-122"/>
                <a:cs typeface="PT Serif" pitchFamily="34" charset="-120"/>
              </a:rPr>
              <a:t>Box-Whisker Plot</a:t>
            </a:r>
            <a:endParaRPr lang="en-US" sz="4000" dirty="0"/>
          </a:p>
        </p:txBody>
      </p:sp>
    </p:spTree>
    <p:extLst>
      <p:ext uri="{BB962C8B-B14F-4D97-AF65-F5344CB8AC3E}">
        <p14:creationId xmlns:p14="http://schemas.microsoft.com/office/powerpoint/2010/main" val="945730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1249442"/>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Bivariate Analysis</a:t>
            </a:r>
            <a:endParaRPr lang="en-US" sz="4100" dirty="0"/>
          </a:p>
        </p:txBody>
      </p:sp>
      <p:sp>
        <p:nvSpPr>
          <p:cNvPr id="3" name="Text 1"/>
          <p:cNvSpPr/>
          <p:nvPr/>
        </p:nvSpPr>
        <p:spPr>
          <a:xfrm>
            <a:off x="793790" y="2297549"/>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Bivariate analysis examines the relationship between two variables. The analytical approach depends on whether your variables are categorical or numeric.</a:t>
            </a:r>
            <a:endParaRPr lang="en-US" dirty="0"/>
          </a:p>
        </p:txBody>
      </p:sp>
      <p:sp>
        <p:nvSpPr>
          <p:cNvPr id="4" name="Shape 2"/>
          <p:cNvSpPr/>
          <p:nvPr/>
        </p:nvSpPr>
        <p:spPr>
          <a:xfrm>
            <a:off x="793790" y="3155871"/>
            <a:ext cx="4215289" cy="3824288"/>
          </a:xfrm>
          <a:prstGeom prst="roundRect">
            <a:avLst>
              <a:gd name="adj" fmla="val 778"/>
            </a:avLst>
          </a:prstGeom>
          <a:solidFill>
            <a:srgbClr val="FFFFFF"/>
          </a:solidFill>
          <a:ln w="22860">
            <a:solidFill>
              <a:srgbClr val="D8D4D4"/>
            </a:solidFill>
            <a:prstDash val="solid"/>
          </a:ln>
        </p:spPr>
      </p:sp>
      <p:sp>
        <p:nvSpPr>
          <p:cNvPr id="5" name="Shape 3"/>
          <p:cNvSpPr/>
          <p:nvPr/>
        </p:nvSpPr>
        <p:spPr>
          <a:xfrm>
            <a:off x="816650" y="3178731"/>
            <a:ext cx="4169569" cy="595313"/>
          </a:xfrm>
          <a:prstGeom prst="roundRect">
            <a:avLst>
              <a:gd name="adj" fmla="val 393"/>
            </a:avLst>
          </a:prstGeom>
          <a:solidFill>
            <a:srgbClr val="F2EEEE"/>
          </a:solidFill>
          <a:ln/>
        </p:spPr>
      </p:sp>
      <p:sp>
        <p:nvSpPr>
          <p:cNvPr id="6" name="Text 4"/>
          <p:cNvSpPr/>
          <p:nvPr/>
        </p:nvSpPr>
        <p:spPr>
          <a:xfrm>
            <a:off x="2752606" y="3290292"/>
            <a:ext cx="297656" cy="372070"/>
          </a:xfrm>
          <a:prstGeom prst="rect">
            <a:avLst/>
          </a:prstGeom>
          <a:noFill/>
          <a:ln/>
        </p:spPr>
        <p:txBody>
          <a:bodyPr wrap="none" lIns="0" tIns="0" rIns="0" bIns="0" rtlCol="0" anchor="t"/>
          <a:lstStyle/>
          <a:p>
            <a:pPr marL="0" indent="0" algn="l">
              <a:lnSpc>
                <a:spcPts val="2300"/>
              </a:lnSpc>
              <a:buNone/>
            </a:pPr>
            <a:r>
              <a:rPr lang="en-US" sz="2300" dirty="0">
                <a:solidFill>
                  <a:srgbClr val="383838"/>
                </a:solidFill>
                <a:latin typeface="PT Serif" pitchFamily="34" charset="0"/>
                <a:ea typeface="PT Serif" pitchFamily="34" charset="-122"/>
                <a:cs typeface="PT Serif" pitchFamily="34" charset="-120"/>
              </a:rPr>
              <a:t>1</a:t>
            </a:r>
            <a:endParaRPr lang="en-US" sz="2300" dirty="0"/>
          </a:p>
        </p:txBody>
      </p:sp>
      <p:sp>
        <p:nvSpPr>
          <p:cNvPr id="7" name="Text 5"/>
          <p:cNvSpPr/>
          <p:nvPr/>
        </p:nvSpPr>
        <p:spPr>
          <a:xfrm>
            <a:off x="1015008" y="3972401"/>
            <a:ext cx="2990374"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Two Categorical Variables</a:t>
            </a:r>
            <a:endParaRPr lang="en-US" sz="2050" dirty="0"/>
          </a:p>
        </p:txBody>
      </p:sp>
      <p:sp>
        <p:nvSpPr>
          <p:cNvPr id="8" name="Text 6"/>
          <p:cNvSpPr/>
          <p:nvPr/>
        </p:nvSpPr>
        <p:spPr>
          <a:xfrm>
            <a:off x="1015008" y="4417100"/>
            <a:ext cx="3772853" cy="635079"/>
          </a:xfrm>
          <a:prstGeom prst="rect">
            <a:avLst/>
          </a:prstGeom>
          <a:noFill/>
          <a:ln/>
        </p:spPr>
        <p:txBody>
          <a:bodyPr wrap="squar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Techniques: Cross-tabulation, chi-square tests</a:t>
            </a:r>
            <a:endParaRPr lang="en-US" sz="1550" dirty="0"/>
          </a:p>
        </p:txBody>
      </p:sp>
      <p:sp>
        <p:nvSpPr>
          <p:cNvPr id="9" name="Text 7"/>
          <p:cNvSpPr/>
          <p:nvPr/>
        </p:nvSpPr>
        <p:spPr>
          <a:xfrm>
            <a:off x="1015008" y="5171242"/>
            <a:ext cx="3772853" cy="1587698"/>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Used for analyzing relationships like gender vs. product preference, or education level vs. voting behavior. Creates contingency tables to reveal patterns.</a:t>
            </a:r>
            <a:endParaRPr lang="en-US" sz="1550" dirty="0"/>
          </a:p>
        </p:txBody>
      </p:sp>
      <p:sp>
        <p:nvSpPr>
          <p:cNvPr id="10" name="Shape 8"/>
          <p:cNvSpPr/>
          <p:nvPr/>
        </p:nvSpPr>
        <p:spPr>
          <a:xfrm>
            <a:off x="5207437" y="3155871"/>
            <a:ext cx="4215408" cy="3824288"/>
          </a:xfrm>
          <a:prstGeom prst="roundRect">
            <a:avLst>
              <a:gd name="adj" fmla="val 778"/>
            </a:avLst>
          </a:prstGeom>
          <a:solidFill>
            <a:srgbClr val="FFFFFF"/>
          </a:solidFill>
          <a:ln w="22860">
            <a:solidFill>
              <a:srgbClr val="D8D4D4"/>
            </a:solidFill>
            <a:prstDash val="solid"/>
          </a:ln>
        </p:spPr>
      </p:sp>
      <p:sp>
        <p:nvSpPr>
          <p:cNvPr id="11" name="Shape 9"/>
          <p:cNvSpPr/>
          <p:nvPr/>
        </p:nvSpPr>
        <p:spPr>
          <a:xfrm>
            <a:off x="5230297" y="3178731"/>
            <a:ext cx="4169688" cy="595313"/>
          </a:xfrm>
          <a:prstGeom prst="roundRect">
            <a:avLst>
              <a:gd name="adj" fmla="val 393"/>
            </a:avLst>
          </a:prstGeom>
          <a:solidFill>
            <a:srgbClr val="F2EEEE"/>
          </a:solidFill>
          <a:ln/>
        </p:spPr>
      </p:sp>
      <p:sp>
        <p:nvSpPr>
          <p:cNvPr id="12" name="Text 10"/>
          <p:cNvSpPr/>
          <p:nvPr/>
        </p:nvSpPr>
        <p:spPr>
          <a:xfrm>
            <a:off x="7166253" y="3290292"/>
            <a:ext cx="297656" cy="372070"/>
          </a:xfrm>
          <a:prstGeom prst="rect">
            <a:avLst/>
          </a:prstGeom>
          <a:noFill/>
          <a:ln/>
        </p:spPr>
        <p:txBody>
          <a:bodyPr wrap="none" lIns="0" tIns="0" rIns="0" bIns="0" rtlCol="0" anchor="t"/>
          <a:lstStyle/>
          <a:p>
            <a:pPr marL="0" indent="0" algn="l">
              <a:lnSpc>
                <a:spcPts val="2300"/>
              </a:lnSpc>
              <a:buNone/>
            </a:pPr>
            <a:r>
              <a:rPr lang="en-US" sz="2300" dirty="0">
                <a:solidFill>
                  <a:srgbClr val="383838"/>
                </a:solidFill>
                <a:latin typeface="PT Serif" pitchFamily="34" charset="0"/>
                <a:ea typeface="PT Serif" pitchFamily="34" charset="-122"/>
                <a:cs typeface="PT Serif" pitchFamily="34" charset="-120"/>
              </a:rPr>
              <a:t>2</a:t>
            </a:r>
            <a:endParaRPr lang="en-US" sz="2300" dirty="0"/>
          </a:p>
        </p:txBody>
      </p:sp>
      <p:sp>
        <p:nvSpPr>
          <p:cNvPr id="13" name="Text 11"/>
          <p:cNvSpPr/>
          <p:nvPr/>
        </p:nvSpPr>
        <p:spPr>
          <a:xfrm>
            <a:off x="5428655" y="3972401"/>
            <a:ext cx="266854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Two Numeric Variables</a:t>
            </a:r>
            <a:endParaRPr lang="en-US" sz="2050" dirty="0"/>
          </a:p>
        </p:txBody>
      </p:sp>
      <p:sp>
        <p:nvSpPr>
          <p:cNvPr id="14" name="Text 12"/>
          <p:cNvSpPr/>
          <p:nvPr/>
        </p:nvSpPr>
        <p:spPr>
          <a:xfrm>
            <a:off x="5428655" y="4417100"/>
            <a:ext cx="3772972" cy="635079"/>
          </a:xfrm>
          <a:prstGeom prst="rect">
            <a:avLst/>
          </a:prstGeom>
          <a:noFill/>
          <a:ln/>
        </p:spPr>
        <p:txBody>
          <a:bodyPr wrap="squar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Techniques: Scatter plots, correlation, regression</a:t>
            </a:r>
            <a:endParaRPr lang="en-US" sz="1550" dirty="0"/>
          </a:p>
        </p:txBody>
      </p:sp>
      <p:sp>
        <p:nvSpPr>
          <p:cNvPr id="15" name="Text 13"/>
          <p:cNvSpPr/>
          <p:nvPr/>
        </p:nvSpPr>
        <p:spPr>
          <a:xfrm>
            <a:off x="5428655" y="5171242"/>
            <a:ext cx="3772972" cy="127015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Explores relationships like hours studied vs. exam scores, or temperature vs. ice cream sales. Quantifies strength and direction of relationships.</a:t>
            </a:r>
            <a:endParaRPr lang="en-US" sz="1550" dirty="0"/>
          </a:p>
        </p:txBody>
      </p:sp>
      <p:sp>
        <p:nvSpPr>
          <p:cNvPr id="16" name="Shape 14"/>
          <p:cNvSpPr/>
          <p:nvPr/>
        </p:nvSpPr>
        <p:spPr>
          <a:xfrm>
            <a:off x="9621203" y="3155871"/>
            <a:ext cx="4215289" cy="3824288"/>
          </a:xfrm>
          <a:prstGeom prst="roundRect">
            <a:avLst>
              <a:gd name="adj" fmla="val 778"/>
            </a:avLst>
          </a:prstGeom>
          <a:solidFill>
            <a:srgbClr val="FFFFFF"/>
          </a:solidFill>
          <a:ln w="22860">
            <a:solidFill>
              <a:srgbClr val="D8D4D4"/>
            </a:solidFill>
            <a:prstDash val="solid"/>
          </a:ln>
        </p:spPr>
      </p:sp>
      <p:sp>
        <p:nvSpPr>
          <p:cNvPr id="17" name="Shape 15"/>
          <p:cNvSpPr/>
          <p:nvPr/>
        </p:nvSpPr>
        <p:spPr>
          <a:xfrm>
            <a:off x="9644063" y="3178731"/>
            <a:ext cx="4169569" cy="595313"/>
          </a:xfrm>
          <a:prstGeom prst="roundRect">
            <a:avLst>
              <a:gd name="adj" fmla="val 393"/>
            </a:avLst>
          </a:prstGeom>
          <a:solidFill>
            <a:srgbClr val="F2EEEE"/>
          </a:solidFill>
          <a:ln/>
        </p:spPr>
      </p:sp>
      <p:sp>
        <p:nvSpPr>
          <p:cNvPr id="18" name="Text 16"/>
          <p:cNvSpPr/>
          <p:nvPr/>
        </p:nvSpPr>
        <p:spPr>
          <a:xfrm>
            <a:off x="11580019" y="3290292"/>
            <a:ext cx="297656" cy="372070"/>
          </a:xfrm>
          <a:prstGeom prst="rect">
            <a:avLst/>
          </a:prstGeom>
          <a:noFill/>
          <a:ln/>
        </p:spPr>
        <p:txBody>
          <a:bodyPr wrap="none" lIns="0" tIns="0" rIns="0" bIns="0" rtlCol="0" anchor="t"/>
          <a:lstStyle/>
          <a:p>
            <a:pPr marL="0" indent="0" algn="l">
              <a:lnSpc>
                <a:spcPts val="2300"/>
              </a:lnSpc>
              <a:buNone/>
            </a:pPr>
            <a:r>
              <a:rPr lang="en-US" sz="2300" dirty="0">
                <a:solidFill>
                  <a:srgbClr val="383838"/>
                </a:solidFill>
                <a:latin typeface="PT Serif" pitchFamily="34" charset="0"/>
                <a:ea typeface="PT Serif" pitchFamily="34" charset="-122"/>
                <a:cs typeface="PT Serif" pitchFamily="34" charset="-120"/>
              </a:rPr>
              <a:t>3</a:t>
            </a:r>
            <a:endParaRPr lang="en-US" sz="2300" dirty="0"/>
          </a:p>
        </p:txBody>
      </p:sp>
      <p:sp>
        <p:nvSpPr>
          <p:cNvPr id="19" name="Text 17"/>
          <p:cNvSpPr/>
          <p:nvPr/>
        </p:nvSpPr>
        <p:spPr>
          <a:xfrm>
            <a:off x="9842421" y="3972401"/>
            <a:ext cx="3748921"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One Numeric &amp; One Categorical</a:t>
            </a:r>
            <a:endParaRPr lang="en-US" sz="2050" dirty="0"/>
          </a:p>
        </p:txBody>
      </p:sp>
      <p:sp>
        <p:nvSpPr>
          <p:cNvPr id="20" name="Text 18"/>
          <p:cNvSpPr/>
          <p:nvPr/>
        </p:nvSpPr>
        <p:spPr>
          <a:xfrm>
            <a:off x="9842421" y="4417100"/>
            <a:ext cx="3772853" cy="635079"/>
          </a:xfrm>
          <a:prstGeom prst="rect">
            <a:avLst/>
          </a:prstGeom>
          <a:noFill/>
          <a:ln/>
        </p:spPr>
        <p:txBody>
          <a:bodyPr wrap="squar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Techniques: Group comparisons, ANOVA</a:t>
            </a:r>
            <a:endParaRPr lang="en-US" sz="1550" dirty="0"/>
          </a:p>
        </p:txBody>
      </p:sp>
      <p:sp>
        <p:nvSpPr>
          <p:cNvPr id="21" name="Text 19"/>
          <p:cNvSpPr/>
          <p:nvPr/>
        </p:nvSpPr>
        <p:spPr>
          <a:xfrm>
            <a:off x="9842421" y="5171242"/>
            <a:ext cx="3772853" cy="127015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Compares numeric outcomes across categories, such as salary differences between departments or test scores across teaching methods.</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521738"/>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Scatter Plot Analysis</a:t>
            </a:r>
            <a:endParaRPr lang="en-US" sz="4100" dirty="0"/>
          </a:p>
        </p:txBody>
      </p:sp>
      <p:sp>
        <p:nvSpPr>
          <p:cNvPr id="3" name="Text 1"/>
          <p:cNvSpPr/>
          <p:nvPr/>
        </p:nvSpPr>
        <p:spPr>
          <a:xfrm>
            <a:off x="793790" y="2665929"/>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Scatter plots provide a visual representation of the relationship between two numeric variables using the X-axis, Y-axis, and data points. Each point represents one observation.</a:t>
            </a:r>
            <a:endParaRPr lang="en-US" dirty="0"/>
          </a:p>
        </p:txBody>
      </p:sp>
      <p:sp>
        <p:nvSpPr>
          <p:cNvPr id="4" name="Shape 2"/>
          <p:cNvSpPr/>
          <p:nvPr/>
        </p:nvSpPr>
        <p:spPr>
          <a:xfrm>
            <a:off x="793790" y="3793927"/>
            <a:ext cx="4215289" cy="2548176"/>
          </a:xfrm>
          <a:prstGeom prst="roundRect">
            <a:avLst>
              <a:gd name="adj" fmla="val 18693"/>
            </a:avLst>
          </a:prstGeom>
          <a:solidFill>
            <a:srgbClr val="F2EEEE"/>
          </a:solidFill>
          <a:ln/>
        </p:spPr>
      </p:sp>
      <p:sp>
        <p:nvSpPr>
          <p:cNvPr id="5" name="Text 3"/>
          <p:cNvSpPr/>
          <p:nvPr/>
        </p:nvSpPr>
        <p:spPr>
          <a:xfrm>
            <a:off x="992148" y="399228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Positive Correlation</a:t>
            </a:r>
            <a:endParaRPr lang="en-US" sz="2050" dirty="0"/>
          </a:p>
        </p:txBody>
      </p:sp>
      <p:sp>
        <p:nvSpPr>
          <p:cNvPr id="6" name="Text 4"/>
          <p:cNvSpPr/>
          <p:nvPr/>
        </p:nvSpPr>
        <p:spPr>
          <a:xfrm>
            <a:off x="992148" y="4436983"/>
            <a:ext cx="3818573"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Upward trending pattern</a:t>
            </a:r>
            <a:endParaRPr lang="en-US" sz="1550" dirty="0"/>
          </a:p>
        </p:txBody>
      </p:sp>
      <p:sp>
        <p:nvSpPr>
          <p:cNvPr id="7" name="Text 5"/>
          <p:cNvSpPr/>
          <p:nvPr/>
        </p:nvSpPr>
        <p:spPr>
          <a:xfrm>
            <a:off x="992148" y="4873585"/>
            <a:ext cx="3818573" cy="127015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As one variable increases, the other tends to increase as well. Points cluster along an upward-sloping line. Example: Study hours and test scores.</a:t>
            </a:r>
            <a:endParaRPr lang="en-US" sz="1550" dirty="0"/>
          </a:p>
        </p:txBody>
      </p:sp>
      <p:sp>
        <p:nvSpPr>
          <p:cNvPr id="8" name="Shape 6"/>
          <p:cNvSpPr/>
          <p:nvPr/>
        </p:nvSpPr>
        <p:spPr>
          <a:xfrm>
            <a:off x="5207437" y="3793927"/>
            <a:ext cx="4215408" cy="2548176"/>
          </a:xfrm>
          <a:prstGeom prst="roundRect">
            <a:avLst>
              <a:gd name="adj" fmla="val 18693"/>
            </a:avLst>
          </a:prstGeom>
          <a:solidFill>
            <a:srgbClr val="F2EEEE"/>
          </a:solidFill>
          <a:ln/>
        </p:spPr>
      </p:sp>
      <p:sp>
        <p:nvSpPr>
          <p:cNvPr id="9" name="Text 7"/>
          <p:cNvSpPr/>
          <p:nvPr/>
        </p:nvSpPr>
        <p:spPr>
          <a:xfrm>
            <a:off x="5405795" y="399228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Negative Correlation</a:t>
            </a:r>
            <a:endParaRPr lang="en-US" sz="2050" dirty="0"/>
          </a:p>
        </p:txBody>
      </p:sp>
      <p:sp>
        <p:nvSpPr>
          <p:cNvPr id="10" name="Text 8"/>
          <p:cNvSpPr/>
          <p:nvPr/>
        </p:nvSpPr>
        <p:spPr>
          <a:xfrm>
            <a:off x="5405795" y="4436983"/>
            <a:ext cx="3818692"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Downward trending pattern</a:t>
            </a:r>
            <a:endParaRPr lang="en-US" sz="1550" dirty="0"/>
          </a:p>
        </p:txBody>
      </p:sp>
      <p:sp>
        <p:nvSpPr>
          <p:cNvPr id="11" name="Text 9"/>
          <p:cNvSpPr/>
          <p:nvPr/>
        </p:nvSpPr>
        <p:spPr>
          <a:xfrm>
            <a:off x="5405795" y="4873585"/>
            <a:ext cx="3818692" cy="127015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As one variable increases, the other tends to decrease. Points cluster along a downward-sloping line. Example: Exercise frequency and body weight.</a:t>
            </a:r>
            <a:endParaRPr lang="en-US" sz="1550" dirty="0"/>
          </a:p>
        </p:txBody>
      </p:sp>
      <p:sp>
        <p:nvSpPr>
          <p:cNvPr id="12" name="Shape 10"/>
          <p:cNvSpPr/>
          <p:nvPr/>
        </p:nvSpPr>
        <p:spPr>
          <a:xfrm>
            <a:off x="9621203" y="3793927"/>
            <a:ext cx="4215289" cy="2548176"/>
          </a:xfrm>
          <a:prstGeom prst="roundRect">
            <a:avLst>
              <a:gd name="adj" fmla="val 18693"/>
            </a:avLst>
          </a:prstGeom>
          <a:solidFill>
            <a:srgbClr val="F2EEEE"/>
          </a:solidFill>
          <a:ln/>
        </p:spPr>
      </p:sp>
      <p:sp>
        <p:nvSpPr>
          <p:cNvPr id="13" name="Text 11"/>
          <p:cNvSpPr/>
          <p:nvPr/>
        </p:nvSpPr>
        <p:spPr>
          <a:xfrm>
            <a:off x="9819561" y="399228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No Correlation</a:t>
            </a:r>
            <a:endParaRPr lang="en-US" sz="2050" dirty="0"/>
          </a:p>
        </p:txBody>
      </p:sp>
      <p:sp>
        <p:nvSpPr>
          <p:cNvPr id="14" name="Text 12"/>
          <p:cNvSpPr/>
          <p:nvPr/>
        </p:nvSpPr>
        <p:spPr>
          <a:xfrm>
            <a:off x="9819561" y="4436983"/>
            <a:ext cx="3818573"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Random scattered pattern</a:t>
            </a:r>
            <a:endParaRPr lang="en-US" sz="1550" dirty="0"/>
          </a:p>
        </p:txBody>
      </p:sp>
      <p:sp>
        <p:nvSpPr>
          <p:cNvPr id="15" name="Text 13"/>
          <p:cNvSpPr/>
          <p:nvPr/>
        </p:nvSpPr>
        <p:spPr>
          <a:xfrm>
            <a:off x="9819561" y="4873585"/>
            <a:ext cx="3818573" cy="127015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No clear relationship exists between the variables. Points appear randomly distributed with no discernible pattern.  </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6165" y="356592"/>
            <a:ext cx="5954197" cy="744260"/>
          </a:xfrm>
          <a:prstGeom prst="rect">
            <a:avLst/>
          </a:prstGeom>
          <a:noFill/>
          <a:ln/>
        </p:spPr>
        <p:txBody>
          <a:bodyPr wrap="none" lIns="0" tIns="0" rIns="0" bIns="0" rtlCol="0" anchor="t"/>
          <a:lstStyle/>
          <a:p>
            <a:pPr marL="0" indent="0" algn="l">
              <a:lnSpc>
                <a:spcPts val="5850"/>
              </a:lnSpc>
              <a:buNone/>
            </a:pPr>
            <a:r>
              <a:rPr lang="en-US" sz="3600" dirty="0">
                <a:solidFill>
                  <a:srgbClr val="020202"/>
                </a:solidFill>
                <a:latin typeface="PT Serif" pitchFamily="34" charset="0"/>
                <a:ea typeface="PT Serif" pitchFamily="34" charset="-122"/>
                <a:cs typeface="PT Serif" pitchFamily="34" charset="-120"/>
              </a:rPr>
              <a:t>Scatter Plot Analysis</a:t>
            </a:r>
            <a:endParaRPr lang="en-US" sz="3600" dirty="0"/>
          </a:p>
        </p:txBody>
      </p:sp>
      <p:sp>
        <p:nvSpPr>
          <p:cNvPr id="3" name="Text 1"/>
          <p:cNvSpPr/>
          <p:nvPr/>
        </p:nvSpPr>
        <p:spPr>
          <a:xfrm>
            <a:off x="547806" y="1242200"/>
            <a:ext cx="13042821" cy="362903"/>
          </a:xfrm>
          <a:prstGeom prst="rect">
            <a:avLst/>
          </a:prstGeom>
          <a:noFill/>
          <a:ln/>
        </p:spPr>
        <p:txBody>
          <a:bodyPr wrap="none" lIns="0" tIns="0" rIns="0" bIns="0" rtlCol="0" anchor="t"/>
          <a:lstStyle/>
          <a:p>
            <a:pPr marL="0" indent="0" algn="l">
              <a:lnSpc>
                <a:spcPts val="2850"/>
              </a:lnSpc>
              <a:buNone/>
            </a:pPr>
            <a:r>
              <a:rPr lang="en-US" sz="2000" dirty="0">
                <a:solidFill>
                  <a:srgbClr val="383838"/>
                </a:solidFill>
                <a:latin typeface="DM Sans" pitchFamily="34" charset="0"/>
                <a:ea typeface="DM Sans" pitchFamily="34" charset="-122"/>
                <a:cs typeface="DM Sans" pitchFamily="34" charset="-120"/>
              </a:rPr>
              <a:t>Shows relationship between two numeric variables using X-axis, Y-axis, and data points.</a:t>
            </a:r>
            <a:endParaRPr lang="en-US" sz="2000" dirty="0"/>
          </a:p>
        </p:txBody>
      </p:sp>
      <p:sp>
        <p:nvSpPr>
          <p:cNvPr id="4" name="Shape 2"/>
          <p:cNvSpPr/>
          <p:nvPr/>
        </p:nvSpPr>
        <p:spPr>
          <a:xfrm>
            <a:off x="793790" y="4705945"/>
            <a:ext cx="113348" cy="113348"/>
          </a:xfrm>
          <a:prstGeom prst="roundRect">
            <a:avLst>
              <a:gd name="adj" fmla="val 403360"/>
            </a:avLst>
          </a:prstGeom>
          <a:solidFill>
            <a:srgbClr val="E04F00"/>
          </a:solidFill>
          <a:ln/>
        </p:spPr>
      </p:sp>
      <p:sp>
        <p:nvSpPr>
          <p:cNvPr id="5" name="Text 3"/>
          <p:cNvSpPr/>
          <p:nvPr/>
        </p:nvSpPr>
        <p:spPr>
          <a:xfrm>
            <a:off x="1133951" y="4549973"/>
            <a:ext cx="3572470" cy="446603"/>
          </a:xfrm>
          <a:prstGeom prst="rect">
            <a:avLst/>
          </a:prstGeom>
          <a:noFill/>
          <a:ln/>
        </p:spPr>
        <p:txBody>
          <a:bodyPr wrap="none" lIns="0" tIns="0" rIns="0" bIns="0" rtlCol="0" anchor="t"/>
          <a:lstStyle/>
          <a:p>
            <a:pPr marL="0" indent="0" algn="l">
              <a:lnSpc>
                <a:spcPts val="3500"/>
              </a:lnSpc>
              <a:buNone/>
            </a:pPr>
            <a:r>
              <a:rPr lang="en-US" sz="2400" dirty="0">
                <a:solidFill>
                  <a:srgbClr val="383838"/>
                </a:solidFill>
                <a:latin typeface="PT Serif" pitchFamily="34" charset="0"/>
                <a:ea typeface="PT Serif" pitchFamily="34" charset="-122"/>
                <a:cs typeface="PT Serif" pitchFamily="34" charset="-120"/>
              </a:rPr>
              <a:t>Positive Correlation</a:t>
            </a:r>
            <a:endParaRPr lang="en-US" sz="2400" dirty="0"/>
          </a:p>
        </p:txBody>
      </p:sp>
      <p:sp>
        <p:nvSpPr>
          <p:cNvPr id="6" name="Text 4"/>
          <p:cNvSpPr/>
          <p:nvPr/>
        </p:nvSpPr>
        <p:spPr>
          <a:xfrm>
            <a:off x="1133951" y="5132665"/>
            <a:ext cx="3818453" cy="362903"/>
          </a:xfrm>
          <a:prstGeom prst="rect">
            <a:avLst/>
          </a:prstGeom>
          <a:noFill/>
          <a:ln/>
        </p:spPr>
        <p:txBody>
          <a:bodyPr wrap="none" lIns="0" tIns="0" rIns="0" bIns="0" rtlCol="0" anchor="t"/>
          <a:lstStyle/>
          <a:p>
            <a:pPr marL="0" indent="0" algn="l">
              <a:lnSpc>
                <a:spcPts val="2850"/>
              </a:lnSpc>
              <a:buNone/>
            </a:pPr>
            <a:r>
              <a:rPr lang="en-US" sz="2000" dirty="0">
                <a:solidFill>
                  <a:srgbClr val="383838"/>
                </a:solidFill>
                <a:latin typeface="DM Sans" pitchFamily="34" charset="0"/>
                <a:ea typeface="DM Sans" pitchFamily="34" charset="-122"/>
                <a:cs typeface="DM Sans" pitchFamily="34" charset="-120"/>
              </a:rPr>
              <a:t>Upward trending pattern</a:t>
            </a:r>
            <a:endParaRPr lang="en-US" sz="2000" dirty="0"/>
          </a:p>
        </p:txBody>
      </p:sp>
      <p:sp>
        <p:nvSpPr>
          <p:cNvPr id="7" name="Shape 5"/>
          <p:cNvSpPr/>
          <p:nvPr/>
        </p:nvSpPr>
        <p:spPr>
          <a:xfrm>
            <a:off x="5235893" y="4705945"/>
            <a:ext cx="113348" cy="113348"/>
          </a:xfrm>
          <a:prstGeom prst="roundRect">
            <a:avLst>
              <a:gd name="adj" fmla="val 403360"/>
            </a:avLst>
          </a:prstGeom>
          <a:solidFill>
            <a:srgbClr val="E04F00"/>
          </a:solidFill>
          <a:ln/>
        </p:spPr>
      </p:sp>
      <p:sp>
        <p:nvSpPr>
          <p:cNvPr id="8" name="Text 6"/>
          <p:cNvSpPr/>
          <p:nvPr/>
        </p:nvSpPr>
        <p:spPr>
          <a:xfrm>
            <a:off x="5576054" y="4549973"/>
            <a:ext cx="3572470" cy="446603"/>
          </a:xfrm>
          <a:prstGeom prst="rect">
            <a:avLst/>
          </a:prstGeom>
          <a:noFill/>
          <a:ln/>
        </p:spPr>
        <p:txBody>
          <a:bodyPr wrap="none" lIns="0" tIns="0" rIns="0" bIns="0" rtlCol="0" anchor="t"/>
          <a:lstStyle/>
          <a:p>
            <a:pPr marL="0" indent="0" algn="l">
              <a:lnSpc>
                <a:spcPts val="3500"/>
              </a:lnSpc>
              <a:buNone/>
            </a:pPr>
            <a:r>
              <a:rPr lang="en-US" sz="2400" dirty="0">
                <a:solidFill>
                  <a:srgbClr val="383838"/>
                </a:solidFill>
                <a:latin typeface="PT Serif" pitchFamily="34" charset="0"/>
                <a:ea typeface="PT Serif" pitchFamily="34" charset="-122"/>
                <a:cs typeface="PT Serif" pitchFamily="34" charset="-120"/>
              </a:rPr>
              <a:t>Negative Correlation</a:t>
            </a:r>
            <a:endParaRPr lang="en-US" sz="2400" dirty="0"/>
          </a:p>
        </p:txBody>
      </p:sp>
      <p:sp>
        <p:nvSpPr>
          <p:cNvPr id="9" name="Text 7"/>
          <p:cNvSpPr/>
          <p:nvPr/>
        </p:nvSpPr>
        <p:spPr>
          <a:xfrm>
            <a:off x="5576054" y="5132665"/>
            <a:ext cx="3818453" cy="362903"/>
          </a:xfrm>
          <a:prstGeom prst="rect">
            <a:avLst/>
          </a:prstGeom>
          <a:noFill/>
          <a:ln/>
        </p:spPr>
        <p:txBody>
          <a:bodyPr wrap="none" lIns="0" tIns="0" rIns="0" bIns="0" rtlCol="0" anchor="t"/>
          <a:lstStyle/>
          <a:p>
            <a:pPr marL="0" indent="0" algn="l">
              <a:lnSpc>
                <a:spcPts val="2850"/>
              </a:lnSpc>
              <a:buNone/>
            </a:pPr>
            <a:r>
              <a:rPr lang="en-US" sz="2000" dirty="0">
                <a:solidFill>
                  <a:srgbClr val="383838"/>
                </a:solidFill>
                <a:latin typeface="DM Sans" pitchFamily="34" charset="0"/>
                <a:ea typeface="DM Sans" pitchFamily="34" charset="-122"/>
                <a:cs typeface="DM Sans" pitchFamily="34" charset="-120"/>
              </a:rPr>
              <a:t>Downward trending pattern</a:t>
            </a:r>
            <a:endParaRPr lang="en-US" sz="2000" dirty="0"/>
          </a:p>
        </p:txBody>
      </p:sp>
      <p:sp>
        <p:nvSpPr>
          <p:cNvPr id="10" name="Shape 8"/>
          <p:cNvSpPr/>
          <p:nvPr/>
        </p:nvSpPr>
        <p:spPr>
          <a:xfrm>
            <a:off x="9677995" y="4705945"/>
            <a:ext cx="113348" cy="113348"/>
          </a:xfrm>
          <a:prstGeom prst="roundRect">
            <a:avLst>
              <a:gd name="adj" fmla="val 403360"/>
            </a:avLst>
          </a:prstGeom>
          <a:solidFill>
            <a:srgbClr val="E04F00"/>
          </a:solidFill>
          <a:ln/>
        </p:spPr>
      </p:sp>
      <p:sp>
        <p:nvSpPr>
          <p:cNvPr id="11" name="Text 9"/>
          <p:cNvSpPr/>
          <p:nvPr/>
        </p:nvSpPr>
        <p:spPr>
          <a:xfrm>
            <a:off x="10018157" y="4549973"/>
            <a:ext cx="3572470" cy="446603"/>
          </a:xfrm>
          <a:prstGeom prst="rect">
            <a:avLst/>
          </a:prstGeom>
          <a:noFill/>
          <a:ln/>
        </p:spPr>
        <p:txBody>
          <a:bodyPr wrap="none" lIns="0" tIns="0" rIns="0" bIns="0" rtlCol="0" anchor="t"/>
          <a:lstStyle/>
          <a:p>
            <a:pPr marL="0" indent="0" algn="l">
              <a:lnSpc>
                <a:spcPts val="3500"/>
              </a:lnSpc>
              <a:buNone/>
            </a:pPr>
            <a:r>
              <a:rPr lang="en-US" sz="2400" dirty="0">
                <a:solidFill>
                  <a:srgbClr val="383838"/>
                </a:solidFill>
                <a:latin typeface="PT Serif" pitchFamily="34" charset="0"/>
                <a:ea typeface="PT Serif" pitchFamily="34" charset="-122"/>
                <a:cs typeface="PT Serif" pitchFamily="34" charset="-120"/>
              </a:rPr>
              <a:t>No Correlation</a:t>
            </a:r>
            <a:endParaRPr lang="en-US" sz="2400" dirty="0"/>
          </a:p>
        </p:txBody>
      </p:sp>
      <p:sp>
        <p:nvSpPr>
          <p:cNvPr id="12" name="Text 10"/>
          <p:cNvSpPr/>
          <p:nvPr/>
        </p:nvSpPr>
        <p:spPr>
          <a:xfrm>
            <a:off x="10018157" y="5132665"/>
            <a:ext cx="3818453" cy="362903"/>
          </a:xfrm>
          <a:prstGeom prst="rect">
            <a:avLst/>
          </a:prstGeom>
          <a:noFill/>
          <a:ln/>
        </p:spPr>
        <p:txBody>
          <a:bodyPr wrap="none" lIns="0" tIns="0" rIns="0" bIns="0" rtlCol="0" anchor="t"/>
          <a:lstStyle/>
          <a:p>
            <a:pPr marL="0" indent="0" algn="l">
              <a:lnSpc>
                <a:spcPts val="2850"/>
              </a:lnSpc>
              <a:buNone/>
            </a:pPr>
            <a:r>
              <a:rPr lang="en-US" sz="2000" dirty="0">
                <a:solidFill>
                  <a:srgbClr val="383838"/>
                </a:solidFill>
                <a:latin typeface="DM Sans" pitchFamily="34" charset="0"/>
                <a:ea typeface="DM Sans" pitchFamily="34" charset="-122"/>
                <a:cs typeface="DM Sans" pitchFamily="34" charset="-120"/>
              </a:rPr>
              <a:t>Random scattered pattern</a:t>
            </a:r>
            <a:endParaRPr lang="en-US" sz="2000" dirty="0"/>
          </a:p>
        </p:txBody>
      </p:sp>
      <p:pic>
        <p:nvPicPr>
          <p:cNvPr id="13" name="Picture 2" descr="Image result for scatterplot">
            <a:extLst>
              <a:ext uri="{FF2B5EF4-FFF2-40B4-BE49-F238E27FC236}">
                <a16:creationId xmlns:a16="http://schemas.microsoft.com/office/drawing/2014/main" id="{779AE186-EE54-9F75-8593-2980DDD820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2867" y="1929212"/>
            <a:ext cx="2743201" cy="2335446"/>
          </a:xfrm>
          <a:prstGeom prst="rect">
            <a:avLst/>
          </a:prstGeom>
          <a:ln w="3175">
            <a:solidFill>
              <a:schemeClr val="accent1"/>
            </a:solidFill>
          </a:ln>
        </p:spPr>
        <p:style>
          <a:lnRef idx="2">
            <a:schemeClr val="accent1"/>
          </a:lnRef>
          <a:fillRef idx="1">
            <a:schemeClr val="lt1"/>
          </a:fillRef>
          <a:effectRef idx="0">
            <a:schemeClr val="accent1"/>
          </a:effectRef>
          <a:fontRef idx="minor">
            <a:schemeClr val="dk1"/>
          </a:fontRef>
        </p:style>
      </p:pic>
      <p:pic>
        <p:nvPicPr>
          <p:cNvPr id="14" name="Picture 4" descr="Image result for scatterplot negative correlation">
            <a:extLst>
              <a:ext uri="{FF2B5EF4-FFF2-40B4-BE49-F238E27FC236}">
                <a16:creationId xmlns:a16="http://schemas.microsoft.com/office/drawing/2014/main" id="{53BF639C-847E-69DD-39B6-148E4A64E1D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851" t="3217" r="3109" b="3801"/>
          <a:stretch/>
        </p:blipFill>
        <p:spPr bwMode="auto">
          <a:xfrm>
            <a:off x="5870373" y="1929212"/>
            <a:ext cx="2671794" cy="2335446"/>
          </a:xfrm>
          <a:prstGeom prst="rect">
            <a:avLst/>
          </a:prstGeom>
          <a:ln w="3175">
            <a:solidFill>
              <a:schemeClr val="accent1"/>
            </a:solidFill>
          </a:ln>
        </p:spPr>
        <p:style>
          <a:lnRef idx="2">
            <a:schemeClr val="accent1"/>
          </a:lnRef>
          <a:fillRef idx="1">
            <a:schemeClr val="lt1"/>
          </a:fillRef>
          <a:effectRef idx="0">
            <a:schemeClr val="accent1"/>
          </a:effectRef>
          <a:fontRef idx="minor">
            <a:schemeClr val="dk1"/>
          </a:fontRef>
        </p:style>
      </p:pic>
      <p:pic>
        <p:nvPicPr>
          <p:cNvPr id="15" name="Picture 2" descr="Image result for scatterplot no correlation">
            <a:extLst>
              <a:ext uri="{FF2B5EF4-FFF2-40B4-BE49-F238E27FC236}">
                <a16:creationId xmlns:a16="http://schemas.microsoft.com/office/drawing/2014/main" id="{02B05768-2DC9-6E03-2D4C-C5C36908B0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41934" y="1929212"/>
            <a:ext cx="2809621" cy="2335446"/>
          </a:xfrm>
          <a:prstGeom prst="rect">
            <a:avLst/>
          </a:prstGeom>
          <a:noFill/>
          <a:ln w="3175">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74675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713542"/>
            <a:ext cx="7612975"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Pearson's Correlation Coefficient</a:t>
            </a:r>
            <a:endParaRPr lang="en-US" sz="4100" dirty="0"/>
          </a:p>
        </p:txBody>
      </p:sp>
      <p:sp>
        <p:nvSpPr>
          <p:cNvPr id="3" name="Text 1"/>
          <p:cNvSpPr/>
          <p:nvPr/>
        </p:nvSpPr>
        <p:spPr>
          <a:xfrm>
            <a:off x="793790" y="1761649"/>
            <a:ext cx="13042821" cy="317540"/>
          </a:xfrm>
          <a:prstGeom prst="rect">
            <a:avLst/>
          </a:prstGeom>
          <a:noFill/>
          <a:ln/>
        </p:spPr>
        <p:txBody>
          <a:bodyPr wrap="non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Pearson's correlation coefficient (r) quantifies the strength and direction of the linear relationship between two </a:t>
            </a:r>
          </a:p>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continuous variables.</a:t>
            </a:r>
            <a:endParaRPr lang="en-US" dirty="0"/>
          </a:p>
        </p:txBody>
      </p:sp>
      <p:sp>
        <p:nvSpPr>
          <p:cNvPr id="4" name="Text 2"/>
          <p:cNvSpPr/>
          <p:nvPr/>
        </p:nvSpPr>
        <p:spPr>
          <a:xfrm>
            <a:off x="793790" y="2633424"/>
            <a:ext cx="7223284" cy="898684"/>
          </a:xfrm>
          <a:prstGeom prst="rect">
            <a:avLst/>
          </a:prstGeom>
          <a:noFill/>
          <a:ln/>
        </p:spPr>
        <p:txBody>
          <a:bodyPr wrap="none" lIns="0" tIns="0" rIns="0" bIns="0" rtlCol="0" anchor="t"/>
          <a:lstStyle/>
          <a:p>
            <a:pPr marL="0" indent="0" algn="l">
              <a:lnSpc>
                <a:spcPts val="7050"/>
              </a:lnSpc>
              <a:buNone/>
            </a:pPr>
            <a:r>
              <a:rPr lang="en-US" sz="2000" dirty="0">
                <a:solidFill>
                  <a:srgbClr val="020202"/>
                </a:solidFill>
                <a:latin typeface="PT Serif" pitchFamily="34" charset="0"/>
                <a:ea typeface="PT Serif" pitchFamily="34" charset="-122"/>
                <a:cs typeface="PT Serif" pitchFamily="34" charset="-120"/>
              </a:rPr>
              <a:t>r = Cov(X,Y) / (σx × σy)</a:t>
            </a:r>
            <a:endParaRPr lang="en-US" sz="2000" dirty="0"/>
          </a:p>
        </p:txBody>
      </p:sp>
      <p:sp>
        <p:nvSpPr>
          <p:cNvPr id="5" name="Text 3"/>
          <p:cNvSpPr/>
          <p:nvPr/>
        </p:nvSpPr>
        <p:spPr>
          <a:xfrm>
            <a:off x="7827636" y="2876789"/>
            <a:ext cx="4167902" cy="521017"/>
          </a:xfrm>
          <a:prstGeom prst="rect">
            <a:avLst/>
          </a:prstGeom>
          <a:noFill/>
          <a:ln/>
        </p:spPr>
        <p:txBody>
          <a:bodyPr wrap="none" lIns="0" tIns="0" rIns="0" bIns="0" rtlCol="0" anchor="t"/>
          <a:lstStyle/>
          <a:p>
            <a:pPr marL="0" indent="0" algn="l">
              <a:lnSpc>
                <a:spcPts val="4100"/>
              </a:lnSpc>
              <a:buNone/>
            </a:pPr>
            <a:r>
              <a:rPr lang="en-US" sz="2000" dirty="0">
                <a:solidFill>
                  <a:srgbClr val="020202"/>
                </a:solidFill>
                <a:latin typeface="PT Serif" pitchFamily="34" charset="0"/>
                <a:ea typeface="PT Serif" pitchFamily="34" charset="-122"/>
                <a:cs typeface="PT Serif" pitchFamily="34" charset="-120"/>
              </a:rPr>
              <a:t>Range: -1 ≤ r ≤ +1</a:t>
            </a:r>
            <a:endParaRPr lang="en-US" sz="2000" dirty="0"/>
          </a:p>
        </p:txBody>
      </p:sp>
      <p:sp>
        <p:nvSpPr>
          <p:cNvPr id="6" name="Text 4"/>
          <p:cNvSpPr/>
          <p:nvPr/>
        </p:nvSpPr>
        <p:spPr>
          <a:xfrm>
            <a:off x="793790" y="3875128"/>
            <a:ext cx="3125867" cy="390644"/>
          </a:xfrm>
          <a:prstGeom prst="rect">
            <a:avLst/>
          </a:prstGeom>
          <a:noFill/>
          <a:ln/>
        </p:spPr>
        <p:txBody>
          <a:bodyPr wrap="none" lIns="0" tIns="0" rIns="0" bIns="0" rtlCol="0" anchor="t"/>
          <a:lstStyle/>
          <a:p>
            <a:pPr marL="0" indent="0" algn="l">
              <a:lnSpc>
                <a:spcPts val="3050"/>
              </a:lnSpc>
              <a:buNone/>
            </a:pPr>
            <a:r>
              <a:rPr lang="en-US" sz="2000" dirty="0">
                <a:solidFill>
                  <a:srgbClr val="020202"/>
                </a:solidFill>
                <a:latin typeface="PT Serif" pitchFamily="34" charset="0"/>
                <a:ea typeface="PT Serif" pitchFamily="34" charset="-122"/>
                <a:cs typeface="PT Serif" pitchFamily="34" charset="-120"/>
              </a:rPr>
              <a:t>Interpreting the Value</a:t>
            </a:r>
            <a:endParaRPr lang="en-US" sz="2000" dirty="0"/>
          </a:p>
        </p:txBody>
      </p:sp>
      <p:sp>
        <p:nvSpPr>
          <p:cNvPr id="7" name="Text 5"/>
          <p:cNvSpPr/>
          <p:nvPr/>
        </p:nvSpPr>
        <p:spPr>
          <a:xfrm>
            <a:off x="793790" y="4489014"/>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383838"/>
                </a:solidFill>
                <a:latin typeface="DM Sans" pitchFamily="34" charset="0"/>
                <a:ea typeface="DM Sans" pitchFamily="34" charset="-122"/>
                <a:cs typeface="DM Sans" pitchFamily="34" charset="-120"/>
              </a:rPr>
              <a:t>r &gt; 0:</a:t>
            </a:r>
            <a:r>
              <a:rPr lang="en-US" sz="1550" dirty="0">
                <a:solidFill>
                  <a:srgbClr val="383838"/>
                </a:solidFill>
                <a:latin typeface="DM Sans" pitchFamily="34" charset="0"/>
                <a:ea typeface="DM Sans" pitchFamily="34" charset="-122"/>
                <a:cs typeface="DM Sans" pitchFamily="34" charset="-120"/>
              </a:rPr>
              <a:t> Positive correlation (both variables move in the same direction)</a:t>
            </a:r>
            <a:endParaRPr lang="en-US" sz="1550" dirty="0"/>
          </a:p>
        </p:txBody>
      </p:sp>
      <p:sp>
        <p:nvSpPr>
          <p:cNvPr id="8" name="Text 6"/>
          <p:cNvSpPr/>
          <p:nvPr/>
        </p:nvSpPr>
        <p:spPr>
          <a:xfrm>
            <a:off x="793790" y="5318046"/>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383838"/>
                </a:solidFill>
                <a:latin typeface="DM Sans" pitchFamily="34" charset="0"/>
                <a:ea typeface="DM Sans" pitchFamily="34" charset="-122"/>
                <a:cs typeface="DM Sans" pitchFamily="34" charset="-120"/>
              </a:rPr>
              <a:t>r &lt; 0:</a:t>
            </a:r>
            <a:r>
              <a:rPr lang="en-US" sz="1550" dirty="0">
                <a:solidFill>
                  <a:srgbClr val="383838"/>
                </a:solidFill>
                <a:latin typeface="DM Sans" pitchFamily="34" charset="0"/>
                <a:ea typeface="DM Sans" pitchFamily="34" charset="-122"/>
                <a:cs typeface="DM Sans" pitchFamily="34" charset="-120"/>
              </a:rPr>
              <a:t> Negative correlation (variables move in opposite directions)</a:t>
            </a:r>
            <a:endParaRPr lang="en-US" sz="1550" dirty="0"/>
          </a:p>
        </p:txBody>
      </p:sp>
      <p:sp>
        <p:nvSpPr>
          <p:cNvPr id="9" name="Text 7"/>
          <p:cNvSpPr/>
          <p:nvPr/>
        </p:nvSpPr>
        <p:spPr>
          <a:xfrm>
            <a:off x="793790" y="6163097"/>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383838"/>
                </a:solidFill>
                <a:latin typeface="DM Sans" pitchFamily="34" charset="0"/>
                <a:ea typeface="DM Sans" pitchFamily="34" charset="-122"/>
                <a:cs typeface="DM Sans" pitchFamily="34" charset="-120"/>
              </a:rPr>
              <a:t>r = 0:</a:t>
            </a:r>
            <a:r>
              <a:rPr lang="en-US" sz="1550" dirty="0">
                <a:solidFill>
                  <a:srgbClr val="383838"/>
                </a:solidFill>
                <a:latin typeface="DM Sans" pitchFamily="34" charset="0"/>
                <a:ea typeface="DM Sans" pitchFamily="34" charset="-122"/>
                <a:cs typeface="DM Sans" pitchFamily="34" charset="-120"/>
              </a:rPr>
              <a:t> No linear correlation (no relationship detected)</a:t>
            </a:r>
            <a:endParaRPr lang="en-US" sz="1550" dirty="0"/>
          </a:p>
        </p:txBody>
      </p:sp>
      <p:sp>
        <p:nvSpPr>
          <p:cNvPr id="10" name="Text 8"/>
          <p:cNvSpPr/>
          <p:nvPr/>
        </p:nvSpPr>
        <p:spPr>
          <a:xfrm>
            <a:off x="7827636" y="3724156"/>
            <a:ext cx="3125867" cy="390644"/>
          </a:xfrm>
          <a:prstGeom prst="rect">
            <a:avLst/>
          </a:prstGeom>
          <a:noFill/>
          <a:ln/>
        </p:spPr>
        <p:txBody>
          <a:bodyPr wrap="none" lIns="0" tIns="0" rIns="0" bIns="0" rtlCol="0" anchor="t"/>
          <a:lstStyle/>
          <a:p>
            <a:pPr marL="0" indent="0" algn="l">
              <a:lnSpc>
                <a:spcPts val="3050"/>
              </a:lnSpc>
              <a:buNone/>
            </a:pPr>
            <a:r>
              <a:rPr lang="en-US" sz="2000" dirty="0">
                <a:solidFill>
                  <a:srgbClr val="020202"/>
                </a:solidFill>
                <a:latin typeface="PT Serif" pitchFamily="34" charset="0"/>
                <a:ea typeface="PT Serif" pitchFamily="34" charset="-122"/>
                <a:cs typeface="PT Serif" pitchFamily="34" charset="-120"/>
              </a:rPr>
              <a:t>Key Properties</a:t>
            </a:r>
            <a:endParaRPr lang="en-US" sz="2000" dirty="0"/>
          </a:p>
        </p:txBody>
      </p:sp>
      <p:sp>
        <p:nvSpPr>
          <p:cNvPr id="11" name="Text 9"/>
          <p:cNvSpPr/>
          <p:nvPr/>
        </p:nvSpPr>
        <p:spPr>
          <a:xfrm>
            <a:off x="7827636" y="4379953"/>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83838"/>
                </a:solidFill>
                <a:latin typeface="DM Sans" pitchFamily="34" charset="0"/>
                <a:ea typeface="DM Sans" pitchFamily="34" charset="-122"/>
                <a:cs typeface="DM Sans" pitchFamily="34" charset="-120"/>
              </a:rPr>
              <a:t>Works for continuous numeric variables with linear relationships</a:t>
            </a:r>
            <a:endParaRPr lang="en-US" sz="1550" dirty="0"/>
          </a:p>
        </p:txBody>
      </p:sp>
      <p:sp>
        <p:nvSpPr>
          <p:cNvPr id="12" name="Text 10"/>
          <p:cNvSpPr/>
          <p:nvPr/>
        </p:nvSpPr>
        <p:spPr>
          <a:xfrm>
            <a:off x="7827636" y="4832563"/>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83838"/>
                </a:solidFill>
                <a:latin typeface="DM Sans" pitchFamily="34" charset="0"/>
                <a:ea typeface="DM Sans" pitchFamily="34" charset="-122"/>
                <a:cs typeface="DM Sans" pitchFamily="34" charset="-120"/>
              </a:rPr>
              <a:t>Units don't matter—dimensionless measure</a:t>
            </a:r>
            <a:endParaRPr lang="en-US" sz="1550" dirty="0"/>
          </a:p>
        </p:txBody>
      </p:sp>
      <p:sp>
        <p:nvSpPr>
          <p:cNvPr id="13" name="Text 11"/>
          <p:cNvSpPr/>
          <p:nvPr/>
        </p:nvSpPr>
        <p:spPr>
          <a:xfrm>
            <a:off x="7827636" y="5318046"/>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83838"/>
                </a:solidFill>
                <a:latin typeface="DM Sans" pitchFamily="34" charset="0"/>
                <a:ea typeface="DM Sans" pitchFamily="34" charset="-122"/>
                <a:cs typeface="DM Sans" pitchFamily="34" charset="-120"/>
              </a:rPr>
              <a:t>Not affected by scale changes or transformations</a:t>
            </a:r>
            <a:endParaRPr lang="en-US" sz="1550" dirty="0"/>
          </a:p>
        </p:txBody>
      </p:sp>
      <p:sp>
        <p:nvSpPr>
          <p:cNvPr id="14" name="Text 12"/>
          <p:cNvSpPr/>
          <p:nvPr/>
        </p:nvSpPr>
        <p:spPr>
          <a:xfrm>
            <a:off x="7827636" y="5783998"/>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83838"/>
                </a:solidFill>
                <a:latin typeface="DM Sans" pitchFamily="34" charset="0"/>
                <a:ea typeface="DM Sans" pitchFamily="34" charset="-122"/>
                <a:cs typeface="DM Sans" pitchFamily="34" charset="-120"/>
              </a:rPr>
              <a:t>Values closer to -1 or +1 indicate stronger relationships</a:t>
            </a:r>
            <a:endParaRPr lang="en-US" sz="1550" dirty="0"/>
          </a:p>
        </p:txBody>
      </p:sp>
      <p:sp>
        <p:nvSpPr>
          <p:cNvPr id="15" name="Text 13"/>
          <p:cNvSpPr/>
          <p:nvPr/>
        </p:nvSpPr>
        <p:spPr>
          <a:xfrm>
            <a:off x="793789" y="6776981"/>
            <a:ext cx="13042821" cy="317540"/>
          </a:xfrm>
          <a:prstGeom prst="rect">
            <a:avLst/>
          </a:prstGeom>
          <a:noFill/>
          <a:ln/>
        </p:spPr>
        <p:txBody>
          <a:bodyPr wrap="non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Remember: Correlation does not imply causation. A strong correlation simply means variables move together, not that </a:t>
            </a:r>
          </a:p>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one causes the other.</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6165" y="356592"/>
            <a:ext cx="8462752" cy="744260"/>
          </a:xfrm>
          <a:prstGeom prst="rect">
            <a:avLst/>
          </a:prstGeom>
          <a:noFill/>
          <a:ln/>
        </p:spPr>
        <p:txBody>
          <a:bodyPr wrap="none" lIns="0" tIns="0" rIns="0" bIns="0" rtlCol="0" anchor="t"/>
          <a:lstStyle/>
          <a:p>
            <a:pPr marL="0" indent="0" algn="l">
              <a:lnSpc>
                <a:spcPts val="5850"/>
              </a:lnSpc>
              <a:buNone/>
            </a:pPr>
            <a:r>
              <a:rPr lang="en-US" sz="3200" dirty="0">
                <a:solidFill>
                  <a:srgbClr val="020202"/>
                </a:solidFill>
                <a:latin typeface="PT Serif" pitchFamily="34" charset="0"/>
                <a:ea typeface="PT Serif" pitchFamily="34" charset="-122"/>
                <a:cs typeface="PT Serif" pitchFamily="34" charset="-120"/>
              </a:rPr>
              <a:t>Example: Scatter Plot and Correlation Coefficient</a:t>
            </a:r>
            <a:endParaRPr lang="en-US" sz="3200" dirty="0"/>
          </a:p>
        </p:txBody>
      </p:sp>
      <p:sp>
        <p:nvSpPr>
          <p:cNvPr id="3" name="Text 1"/>
          <p:cNvSpPr/>
          <p:nvPr/>
        </p:nvSpPr>
        <p:spPr>
          <a:xfrm>
            <a:off x="456165" y="1495418"/>
            <a:ext cx="13042821" cy="1641677"/>
          </a:xfrm>
          <a:prstGeom prst="rect">
            <a:avLst/>
          </a:prstGeom>
          <a:noFill/>
          <a:ln/>
        </p:spPr>
        <p:txBody>
          <a:bodyPr wrap="none" lIns="0" tIns="0" rIns="0" bIns="0" rtlCol="0" anchor="t"/>
          <a:lstStyle/>
          <a:p>
            <a:pPr>
              <a:lnSpc>
                <a:spcPts val="2850"/>
              </a:lnSpc>
            </a:pPr>
            <a:r>
              <a:rPr lang="en-US" dirty="0">
                <a:solidFill>
                  <a:srgbClr val="383838"/>
                </a:solidFill>
                <a:latin typeface="DM Sans" pitchFamily="2" charset="0"/>
                <a:ea typeface="DM Sans" pitchFamily="34" charset="-122"/>
                <a:cs typeface="DM Sans" pitchFamily="34" charset="-120"/>
              </a:rPr>
              <a:t>Let X: Advertise Spend and Y: Sales Revenue  ( both in $1000s) for 10 stores</a:t>
            </a:r>
          </a:p>
          <a:p>
            <a:pPr>
              <a:lnSpc>
                <a:spcPts val="2850"/>
              </a:lnSpc>
            </a:pPr>
            <a:r>
              <a:rPr lang="en-US" sz="2000" dirty="0">
                <a:latin typeface="DM Sans" pitchFamily="2" charset="0"/>
              </a:rPr>
              <a:t> </a:t>
            </a:r>
          </a:p>
          <a:p>
            <a:pPr>
              <a:lnSpc>
                <a:spcPts val="2850"/>
              </a:lnSpc>
            </a:pPr>
            <a:r>
              <a:rPr lang="en-US" dirty="0">
                <a:latin typeface="DM Sans" pitchFamily="2" charset="0"/>
              </a:rPr>
              <a:t>X = [ 10.0, 15.0, 20.0, 25.0, 30.0, 35.0, 40.0, 45.0, 50.0, 55.0 ]</a:t>
            </a:r>
          </a:p>
          <a:p>
            <a:pPr>
              <a:lnSpc>
                <a:spcPts val="2850"/>
              </a:lnSpc>
            </a:pPr>
            <a:r>
              <a:rPr lang="en-US" dirty="0">
                <a:latin typeface="DM Sans" pitchFamily="2" charset="0"/>
              </a:rPr>
              <a:t>Y = [ 33.0, 30.6, 42.5, 55.2, 41.7, 45.7, 67.8, 63.7, 55.3, 69.4 </a:t>
            </a:r>
            <a:r>
              <a:rPr lang="en-US" b="1" dirty="0">
                <a:latin typeface="DM Sans" pitchFamily="2" charset="0"/>
              </a:rPr>
              <a:t>]</a:t>
            </a:r>
          </a:p>
          <a:p>
            <a:pPr>
              <a:lnSpc>
                <a:spcPts val="2850"/>
              </a:lnSpc>
            </a:pPr>
            <a:endParaRPr lang="en-US" sz="2000" dirty="0">
              <a:solidFill>
                <a:srgbClr val="383838"/>
              </a:solidFill>
              <a:latin typeface="DM Sans" pitchFamily="2" charset="0"/>
              <a:ea typeface="DM Sans" pitchFamily="34" charset="-122"/>
              <a:cs typeface="DM Sans" pitchFamily="34" charset="-120"/>
            </a:endParaRPr>
          </a:p>
          <a:p>
            <a:pPr marL="0" indent="0" algn="l">
              <a:lnSpc>
                <a:spcPts val="2850"/>
              </a:lnSpc>
              <a:buNone/>
            </a:pPr>
            <a:r>
              <a:rPr lang="en-US" sz="2000" dirty="0">
                <a:solidFill>
                  <a:srgbClr val="383838"/>
                </a:solidFill>
                <a:latin typeface="DM Sans" pitchFamily="2" charset="0"/>
                <a:ea typeface="DM Sans" pitchFamily="34" charset="-122"/>
                <a:cs typeface="DM Sans" pitchFamily="34" charset="-120"/>
              </a:rPr>
              <a:t> </a:t>
            </a:r>
            <a:endParaRPr lang="en-US" sz="2000" dirty="0">
              <a:latin typeface="DM Sans" pitchFamily="2" charset="0"/>
            </a:endParaRPr>
          </a:p>
        </p:txBody>
      </p:sp>
      <p:pic>
        <p:nvPicPr>
          <p:cNvPr id="17" name="Picture 16">
            <a:extLst>
              <a:ext uri="{FF2B5EF4-FFF2-40B4-BE49-F238E27FC236}">
                <a16:creationId xmlns:a16="http://schemas.microsoft.com/office/drawing/2014/main" id="{8526D577-78E9-274F-859A-256090DBCE5E}"/>
              </a:ext>
            </a:extLst>
          </p:cNvPr>
          <p:cNvPicPr/>
          <p:nvPr/>
        </p:nvPicPr>
        <p:blipFill>
          <a:blip r:embed="rId3"/>
          <a:stretch>
            <a:fillRect/>
          </a:stretch>
        </p:blipFill>
        <p:spPr>
          <a:xfrm>
            <a:off x="267287" y="3334043"/>
            <a:ext cx="6597747" cy="4459458"/>
          </a:xfrm>
          <a:prstGeom prst="rect">
            <a:avLst/>
          </a:prstGeom>
        </p:spPr>
      </p:pic>
      <p:sp>
        <p:nvSpPr>
          <p:cNvPr id="18" name="Text 0">
            <a:extLst>
              <a:ext uri="{FF2B5EF4-FFF2-40B4-BE49-F238E27FC236}">
                <a16:creationId xmlns:a16="http://schemas.microsoft.com/office/drawing/2014/main" id="{87C3744C-A7DB-904B-A3AD-3B9D0D008C18}"/>
              </a:ext>
            </a:extLst>
          </p:cNvPr>
          <p:cNvSpPr/>
          <p:nvPr/>
        </p:nvSpPr>
        <p:spPr>
          <a:xfrm>
            <a:off x="6220861" y="4480973"/>
            <a:ext cx="8462752" cy="2177938"/>
          </a:xfrm>
          <a:prstGeom prst="rect">
            <a:avLst/>
          </a:prstGeom>
          <a:noFill/>
          <a:ln/>
        </p:spPr>
        <p:txBody>
          <a:bodyPr wrap="none" lIns="0" tIns="0" rIns="0" bIns="0" rtlCol="0" anchor="t"/>
          <a:lstStyle/>
          <a:p>
            <a:pPr marL="0" indent="0" algn="l">
              <a:lnSpc>
                <a:spcPts val="5850"/>
              </a:lnSpc>
              <a:buNone/>
            </a:pPr>
            <a:r>
              <a:rPr lang="en-US" dirty="0">
                <a:solidFill>
                  <a:srgbClr val="020202"/>
                </a:solidFill>
                <a:latin typeface="PT Serif" pitchFamily="34" charset="0"/>
                <a:ea typeface="PT Serif" pitchFamily="34" charset="-122"/>
                <a:cs typeface="PT Serif" pitchFamily="34" charset="-120"/>
              </a:rPr>
              <a:t>Correlation Coefficient=0.85</a:t>
            </a:r>
          </a:p>
          <a:p>
            <a:pPr marL="0" indent="0" algn="l">
              <a:lnSpc>
                <a:spcPts val="5850"/>
              </a:lnSpc>
              <a:buNone/>
            </a:pPr>
            <a:r>
              <a:rPr lang="en-US" dirty="0">
                <a:solidFill>
                  <a:srgbClr val="020202"/>
                </a:solidFill>
                <a:latin typeface="PT Serif" pitchFamily="34" charset="0"/>
              </a:rPr>
              <a:t>High Positive Correlation</a:t>
            </a:r>
          </a:p>
          <a:p>
            <a:pPr marL="0" indent="0" algn="l">
              <a:lnSpc>
                <a:spcPts val="5850"/>
              </a:lnSpc>
              <a:buNone/>
            </a:pPr>
            <a:endParaRPr lang="en-US" sz="3200" dirty="0"/>
          </a:p>
        </p:txBody>
      </p:sp>
    </p:spTree>
    <p:extLst>
      <p:ext uri="{BB962C8B-B14F-4D97-AF65-F5344CB8AC3E}">
        <p14:creationId xmlns:p14="http://schemas.microsoft.com/office/powerpoint/2010/main" val="3397031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37818"/>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Key Takeaways</a:t>
            </a:r>
            <a:endParaRPr lang="en-US" sz="4100" dirty="0"/>
          </a:p>
        </p:txBody>
      </p:sp>
      <p:sp>
        <p:nvSpPr>
          <p:cNvPr id="4" name="Shape 2"/>
          <p:cNvSpPr/>
          <p:nvPr/>
        </p:nvSpPr>
        <p:spPr>
          <a:xfrm>
            <a:off x="793790" y="2405420"/>
            <a:ext cx="6422231" cy="2652713"/>
          </a:xfrm>
          <a:prstGeom prst="roundRect">
            <a:avLst>
              <a:gd name="adj" fmla="val 1122"/>
            </a:avLst>
          </a:prstGeom>
          <a:solidFill>
            <a:srgbClr val="F2EEEE"/>
          </a:solidFill>
          <a:ln/>
        </p:spPr>
      </p:sp>
      <p:sp>
        <p:nvSpPr>
          <p:cNvPr id="5" name="Shape 3"/>
          <p:cNvSpPr/>
          <p:nvPr/>
        </p:nvSpPr>
        <p:spPr>
          <a:xfrm>
            <a:off x="992148" y="2603778"/>
            <a:ext cx="595313" cy="595313"/>
          </a:xfrm>
          <a:prstGeom prst="roundRect">
            <a:avLst>
              <a:gd name="adj" fmla="val 15358451"/>
            </a:avLst>
          </a:prstGeom>
          <a:solidFill>
            <a:srgbClr val="E04F00"/>
          </a:solidFill>
          <a:ln/>
        </p:spPr>
      </p:sp>
      <p:pic>
        <p:nvPicPr>
          <p:cNvPr id="6" name="Image 0" descr="preencoded.png"/>
          <p:cNvPicPr>
            <a:picLocks noChangeAspect="1"/>
          </p:cNvPicPr>
          <p:nvPr/>
        </p:nvPicPr>
        <p:blipFill>
          <a:blip r:embed="rId3"/>
          <a:stretch>
            <a:fillRect/>
          </a:stretch>
        </p:blipFill>
        <p:spPr>
          <a:xfrm>
            <a:off x="1155859" y="2733913"/>
            <a:ext cx="267891" cy="334923"/>
          </a:xfrm>
          <a:prstGeom prst="rect">
            <a:avLst/>
          </a:prstGeom>
        </p:spPr>
      </p:pic>
      <p:sp>
        <p:nvSpPr>
          <p:cNvPr id="7" name="Text 4"/>
          <p:cNvSpPr/>
          <p:nvPr/>
        </p:nvSpPr>
        <p:spPr>
          <a:xfrm>
            <a:off x="992148" y="3397448"/>
            <a:ext cx="3757136"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rPr>
              <a:t>Measures of Central Tendency</a:t>
            </a:r>
            <a:endParaRPr lang="en-US" sz="2450" dirty="0"/>
          </a:p>
        </p:txBody>
      </p:sp>
      <p:sp>
        <p:nvSpPr>
          <p:cNvPr id="8" name="Text 5"/>
          <p:cNvSpPr/>
          <p:nvPr/>
        </p:nvSpPr>
        <p:spPr>
          <a:xfrm>
            <a:off x="992148" y="3907155"/>
            <a:ext cx="6025515"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rPr>
              <a:t>Mean, Median and Mode</a:t>
            </a:r>
          </a:p>
          <a:p>
            <a:pPr marL="0" indent="0" algn="l">
              <a:lnSpc>
                <a:spcPts val="2500"/>
              </a:lnSpc>
              <a:buNone/>
            </a:pPr>
            <a:r>
              <a:rPr lang="en-US" dirty="0">
                <a:solidFill>
                  <a:srgbClr val="383838"/>
                </a:solidFill>
                <a:latin typeface="DM Sans" pitchFamily="34" charset="0"/>
              </a:rPr>
              <a:t>Decide appropriate measure</a:t>
            </a:r>
            <a:endParaRPr lang="en-US" dirty="0"/>
          </a:p>
        </p:txBody>
      </p:sp>
      <p:sp>
        <p:nvSpPr>
          <p:cNvPr id="9" name="Shape 6"/>
          <p:cNvSpPr/>
          <p:nvPr/>
        </p:nvSpPr>
        <p:spPr>
          <a:xfrm>
            <a:off x="7414379" y="2405420"/>
            <a:ext cx="6422231" cy="2652713"/>
          </a:xfrm>
          <a:prstGeom prst="roundRect">
            <a:avLst>
              <a:gd name="adj" fmla="val 1122"/>
            </a:avLst>
          </a:prstGeom>
          <a:solidFill>
            <a:srgbClr val="F2EEEE"/>
          </a:solidFill>
          <a:ln/>
        </p:spPr>
      </p:sp>
      <p:sp>
        <p:nvSpPr>
          <p:cNvPr id="10" name="Shape 7"/>
          <p:cNvSpPr/>
          <p:nvPr/>
        </p:nvSpPr>
        <p:spPr>
          <a:xfrm>
            <a:off x="7612737" y="2603778"/>
            <a:ext cx="595313" cy="595313"/>
          </a:xfrm>
          <a:prstGeom prst="roundRect">
            <a:avLst>
              <a:gd name="adj" fmla="val 15358451"/>
            </a:avLst>
          </a:prstGeom>
          <a:solidFill>
            <a:srgbClr val="E04F00"/>
          </a:solidFill>
          <a:ln/>
        </p:spPr>
      </p:sp>
      <p:pic>
        <p:nvPicPr>
          <p:cNvPr id="11" name="Image 1" descr="preencoded.png"/>
          <p:cNvPicPr>
            <a:picLocks noChangeAspect="1"/>
          </p:cNvPicPr>
          <p:nvPr/>
        </p:nvPicPr>
        <p:blipFill>
          <a:blip r:embed="rId4"/>
          <a:stretch>
            <a:fillRect/>
          </a:stretch>
        </p:blipFill>
        <p:spPr>
          <a:xfrm>
            <a:off x="7776448" y="2733913"/>
            <a:ext cx="267891" cy="334923"/>
          </a:xfrm>
          <a:prstGeom prst="rect">
            <a:avLst/>
          </a:prstGeom>
        </p:spPr>
      </p:pic>
      <p:sp>
        <p:nvSpPr>
          <p:cNvPr id="12" name="Text 8"/>
          <p:cNvSpPr/>
          <p:nvPr/>
        </p:nvSpPr>
        <p:spPr>
          <a:xfrm>
            <a:off x="7612737" y="3397448"/>
            <a:ext cx="3629263"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Measures of Variation</a:t>
            </a:r>
            <a:endParaRPr lang="en-US" sz="2450" dirty="0"/>
          </a:p>
        </p:txBody>
      </p:sp>
      <p:sp>
        <p:nvSpPr>
          <p:cNvPr id="13" name="Text 9"/>
          <p:cNvSpPr/>
          <p:nvPr/>
        </p:nvSpPr>
        <p:spPr>
          <a:xfrm>
            <a:off x="7612737" y="3907155"/>
            <a:ext cx="6025515"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rPr>
              <a:t>Gives spread of the data , understanding sources of variation is the key concept in statistics</a:t>
            </a:r>
            <a:endParaRPr lang="en-US" dirty="0"/>
          </a:p>
        </p:txBody>
      </p:sp>
      <p:sp>
        <p:nvSpPr>
          <p:cNvPr id="14" name="Shape 10"/>
          <p:cNvSpPr/>
          <p:nvPr/>
        </p:nvSpPr>
        <p:spPr>
          <a:xfrm>
            <a:off x="793790" y="5256490"/>
            <a:ext cx="6422231" cy="2335173"/>
          </a:xfrm>
          <a:prstGeom prst="roundRect">
            <a:avLst>
              <a:gd name="adj" fmla="val 1275"/>
            </a:avLst>
          </a:prstGeom>
          <a:solidFill>
            <a:srgbClr val="F2EEEE"/>
          </a:solidFill>
          <a:ln/>
        </p:spPr>
      </p:sp>
      <p:sp>
        <p:nvSpPr>
          <p:cNvPr id="15" name="Shape 11"/>
          <p:cNvSpPr/>
          <p:nvPr/>
        </p:nvSpPr>
        <p:spPr>
          <a:xfrm>
            <a:off x="992148" y="5454848"/>
            <a:ext cx="595313" cy="595313"/>
          </a:xfrm>
          <a:prstGeom prst="roundRect">
            <a:avLst>
              <a:gd name="adj" fmla="val 15358451"/>
            </a:avLst>
          </a:prstGeom>
          <a:solidFill>
            <a:srgbClr val="E04F00"/>
          </a:solidFill>
          <a:ln/>
        </p:spPr>
      </p:sp>
      <p:pic>
        <p:nvPicPr>
          <p:cNvPr id="16" name="Image 2" descr="preencoded.png"/>
          <p:cNvPicPr>
            <a:picLocks noChangeAspect="1"/>
          </p:cNvPicPr>
          <p:nvPr/>
        </p:nvPicPr>
        <p:blipFill>
          <a:blip r:embed="rId5"/>
          <a:stretch>
            <a:fillRect/>
          </a:stretch>
        </p:blipFill>
        <p:spPr>
          <a:xfrm>
            <a:off x="1155859" y="5584984"/>
            <a:ext cx="267891" cy="334923"/>
          </a:xfrm>
          <a:prstGeom prst="rect">
            <a:avLst/>
          </a:prstGeom>
        </p:spPr>
      </p:pic>
      <p:sp>
        <p:nvSpPr>
          <p:cNvPr id="17" name="Text 12"/>
          <p:cNvSpPr/>
          <p:nvPr/>
        </p:nvSpPr>
        <p:spPr>
          <a:xfrm>
            <a:off x="992148" y="6248519"/>
            <a:ext cx="4097417"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Measure of Skewness</a:t>
            </a:r>
            <a:endParaRPr lang="en-US" sz="2450" dirty="0"/>
          </a:p>
        </p:txBody>
      </p:sp>
      <p:sp>
        <p:nvSpPr>
          <p:cNvPr id="18" name="Text 13"/>
          <p:cNvSpPr/>
          <p:nvPr/>
        </p:nvSpPr>
        <p:spPr>
          <a:xfrm>
            <a:off x="992148" y="6758226"/>
            <a:ext cx="6025515" cy="635079"/>
          </a:xfrm>
          <a:prstGeom prst="rect">
            <a:avLst/>
          </a:prstGeom>
          <a:noFill/>
          <a:ln/>
        </p:spPr>
        <p:txBody>
          <a:bodyPr wrap="square" lIns="0" tIns="0" rIns="0" bIns="0" rtlCol="0" anchor="t"/>
          <a:lstStyle/>
          <a:p>
            <a:pPr>
              <a:lnSpc>
                <a:spcPts val="2500"/>
              </a:lnSpc>
            </a:pPr>
            <a:r>
              <a:rPr lang="en-US" dirty="0">
                <a:solidFill>
                  <a:srgbClr val="383838"/>
                </a:solidFill>
                <a:latin typeface="DM Sans" pitchFamily="34" charset="0"/>
              </a:rPr>
              <a:t>Skewness measures lack of symmetry </a:t>
            </a:r>
            <a:endParaRPr lang="en-US" dirty="0"/>
          </a:p>
        </p:txBody>
      </p:sp>
      <p:sp>
        <p:nvSpPr>
          <p:cNvPr id="19" name="Shape 14"/>
          <p:cNvSpPr/>
          <p:nvPr/>
        </p:nvSpPr>
        <p:spPr>
          <a:xfrm>
            <a:off x="7414379" y="5256490"/>
            <a:ext cx="6422231" cy="2335173"/>
          </a:xfrm>
          <a:prstGeom prst="roundRect">
            <a:avLst>
              <a:gd name="adj" fmla="val 1275"/>
            </a:avLst>
          </a:prstGeom>
          <a:solidFill>
            <a:srgbClr val="F2EEEE"/>
          </a:solidFill>
          <a:ln/>
        </p:spPr>
      </p:sp>
      <p:sp>
        <p:nvSpPr>
          <p:cNvPr id="20" name="Shape 15"/>
          <p:cNvSpPr/>
          <p:nvPr/>
        </p:nvSpPr>
        <p:spPr>
          <a:xfrm>
            <a:off x="7612737" y="5454848"/>
            <a:ext cx="595313" cy="595313"/>
          </a:xfrm>
          <a:prstGeom prst="roundRect">
            <a:avLst>
              <a:gd name="adj" fmla="val 15358451"/>
            </a:avLst>
          </a:prstGeom>
          <a:solidFill>
            <a:srgbClr val="E04F00"/>
          </a:solidFill>
          <a:ln/>
        </p:spPr>
      </p:sp>
      <p:pic>
        <p:nvPicPr>
          <p:cNvPr id="21" name="Image 3" descr="preencoded.png"/>
          <p:cNvPicPr>
            <a:picLocks noChangeAspect="1"/>
          </p:cNvPicPr>
          <p:nvPr/>
        </p:nvPicPr>
        <p:blipFill>
          <a:blip r:embed="rId6"/>
          <a:stretch>
            <a:fillRect/>
          </a:stretch>
        </p:blipFill>
        <p:spPr>
          <a:xfrm>
            <a:off x="7776448" y="5584984"/>
            <a:ext cx="267891" cy="334923"/>
          </a:xfrm>
          <a:prstGeom prst="rect">
            <a:avLst/>
          </a:prstGeom>
        </p:spPr>
      </p:pic>
      <p:sp>
        <p:nvSpPr>
          <p:cNvPr id="22" name="Text 16"/>
          <p:cNvSpPr/>
          <p:nvPr/>
        </p:nvSpPr>
        <p:spPr>
          <a:xfrm>
            <a:off x="7612737" y="6248519"/>
            <a:ext cx="3409831"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Bivariate Analysis</a:t>
            </a:r>
          </a:p>
          <a:p>
            <a:pPr marL="0" indent="0" algn="l">
              <a:lnSpc>
                <a:spcPts val="3050"/>
              </a:lnSpc>
              <a:buNone/>
            </a:pPr>
            <a:r>
              <a:rPr lang="en-US" dirty="0">
                <a:solidFill>
                  <a:srgbClr val="383838"/>
                </a:solidFill>
                <a:latin typeface="PT Serif" pitchFamily="34" charset="0"/>
              </a:rPr>
              <a:t>Scatter plot is for visualizing relationship and correlation </a:t>
            </a:r>
          </a:p>
          <a:p>
            <a:pPr marL="0" indent="0" algn="l">
              <a:lnSpc>
                <a:spcPts val="3050"/>
              </a:lnSpc>
              <a:buNone/>
            </a:pPr>
            <a:r>
              <a:rPr lang="en-US" dirty="0">
                <a:solidFill>
                  <a:srgbClr val="383838"/>
                </a:solidFill>
                <a:latin typeface="PT Serif" pitchFamily="34" charset="0"/>
              </a:rPr>
              <a:t>coefficient quantifies degree of correlation</a:t>
            </a:r>
            <a:endParaRPr lang="en-US" dirty="0"/>
          </a:p>
        </p:txBody>
      </p:sp>
      <p:sp>
        <p:nvSpPr>
          <p:cNvPr id="23" name="Text 17"/>
          <p:cNvSpPr/>
          <p:nvPr/>
        </p:nvSpPr>
        <p:spPr>
          <a:xfrm>
            <a:off x="7612737" y="6758226"/>
            <a:ext cx="6025515" cy="635079"/>
          </a:xfrm>
          <a:prstGeom prst="rect">
            <a:avLst/>
          </a:prstGeom>
          <a:noFill/>
          <a:ln/>
        </p:spPr>
        <p:txBody>
          <a:bodyPr wrap="square" lIns="0" tIns="0" rIns="0" bIns="0" rtlCol="0" anchor="t"/>
          <a:lstStyle/>
          <a:p>
            <a:pPr>
              <a:lnSpc>
                <a:spcPts val="2500"/>
              </a:lnSpc>
            </a:pPr>
            <a:endParaRPr lang="en-US" sz="1600" dirty="0"/>
          </a:p>
        </p:txBody>
      </p:sp>
    </p:spTree>
    <p:extLst>
      <p:ext uri="{BB962C8B-B14F-4D97-AF65-F5344CB8AC3E}">
        <p14:creationId xmlns:p14="http://schemas.microsoft.com/office/powerpoint/2010/main" val="3074518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TotalTime>
  <Words>2038</Words>
  <Application>Microsoft Office PowerPoint</Application>
  <PresentationFormat>Custom</PresentationFormat>
  <Paragraphs>259</Paragraphs>
  <Slides>21</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PT Serif</vt:lpstr>
      <vt:lpstr>DM Sans</vt:lpstr>
      <vt:lpstr>PT Serif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Fimran</dc:creator>
  <cp:lastModifiedBy>babita kachroo</cp:lastModifiedBy>
  <cp:revision>23</cp:revision>
  <dcterms:created xsi:type="dcterms:W3CDTF">2025-10-03T14:19:33Z</dcterms:created>
  <dcterms:modified xsi:type="dcterms:W3CDTF">2025-11-03T16:23:29Z</dcterms:modified>
</cp:coreProperties>
</file>