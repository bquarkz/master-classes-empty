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7" r:id="rId4"/>
    <p:sldId id="258" r:id="rId5"/>
    <p:sldId id="409" r:id="rId6"/>
    <p:sldId id="260" r:id="rId7"/>
    <p:sldId id="410" r:id="rId8"/>
    <p:sldId id="262" r:id="rId9"/>
    <p:sldId id="263" r:id="rId10"/>
    <p:sldId id="411" r:id="rId11"/>
    <p:sldId id="264" r:id="rId12"/>
    <p:sldId id="408" r:id="rId13"/>
    <p:sldId id="266" r:id="rId14"/>
    <p:sldId id="267" r:id="rId15"/>
    <p:sldId id="268" r:id="rId16"/>
    <p:sldId id="269" r:id="rId17"/>
  </p:sldIdLst>
  <p:sldSz cx="14630400" cy="8229600"/>
  <p:notesSz cx="8229600" cy="14630400"/>
  <p:embeddedFontLst>
    <p:embeddedFont>
      <p:font typeface="DM Sans" pitchFamily="2" charset="77"/>
      <p:regular r:id="rId19"/>
      <p:bold r:id="rId20"/>
      <p:italic r:id="rId21"/>
      <p:boldItalic r:id="rId22"/>
    </p:embeddedFont>
    <p:embeddedFont>
      <p:font typeface="PT Serif" panose="020A0603040505020204" pitchFamily="18" charset="77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4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2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5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54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2A0F-4B42-3AE1-1159-68565C42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28E42-64FC-1F8B-5C28-B20F21A36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1D448-6727-2A16-9CD9-8CC7FE5D5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6F00F-D233-36C5-4163-FFBD13E52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39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04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05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61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06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49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52380"/>
            <a:ext cx="7058739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Distribution Theory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3801308"/>
            <a:ext cx="555569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Standard Discrete and Continuous Distributions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71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112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855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What is Data Distribution?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112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7428548" y="2685574"/>
            <a:ext cx="38332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Discrete vs Continuous Distributions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3790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38095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3983831"/>
            <a:ext cx="39266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Bernoulli  and Binomial Distribution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28548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38095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28548" y="39838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Poisson Distribution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3790" y="47527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0778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2820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Exponential Distribution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28548" y="47527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107781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28548" y="52820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Normal and Lognormal Distributions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04463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665" y="764601"/>
            <a:ext cx="6566535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Data Distribution?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48665" y="205249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data distribution describes how values of a variable are spread or arranged across its possible range. It reveals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frequency or probability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different outcomes occurring and provides a complete picture of the data's behavior.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89" y="328986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Distributions can be represented through multiple formats: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377473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Frequency tables showing counts or proportions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3790" y="412841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Histograms displaying visual patterns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3788" y="452945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Mathematical functions (PDF for continuous, PMF for discrete variables)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1446" y="5678210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Examples: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Exam scores often follow a bell-shaped normal distribution, with most students scoring near the average. Manufacturing defects per batch typically follow a Poisson distribution, modeling rare random events.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3790" y="5454968"/>
            <a:ext cx="22860" cy="1081564"/>
          </a:xfrm>
          <a:prstGeom prst="rect">
            <a:avLst/>
          </a:prstGeom>
          <a:solidFill>
            <a:srgbClr val="E04F00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EA6C5C-61CE-F92B-01EF-97C7FC690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090" y="3021666"/>
            <a:ext cx="2902453" cy="2520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54988"/>
            <a:ext cx="8529280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Discrete vs Continuous Distributions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86170" y="164189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the distinction between discrete and continuous distributions is fundamental to choosing appropriate statistical methods and interpreting results correctly.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3347680"/>
            <a:ext cx="13042821" cy="3440668"/>
          </a:xfrm>
          <a:prstGeom prst="roundRect">
            <a:avLst>
              <a:gd name="adj" fmla="val 86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35530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887" y="348198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911923" y="3481983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Discrete Distribution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471541" y="3481983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Distribution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926205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887" y="4052888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of Data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911923" y="4052888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Countable outcomes (integers)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471541" y="4052888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Uncountable outcomes (any real value)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49711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9887" y="4623792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Function Type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11923" y="4623792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Probability Mass Function (PMF)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471541" y="4623792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Probability Density Function (PDF)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506801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887" y="5194697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Value Probability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11923" y="5194697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P(X = x) &gt; 0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471541" y="5194697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P(X = x) = 0 (only intervals have probability)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563891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9887" y="5765602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Examples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911923" y="5765602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insurance claims, coin tosses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471541" y="5765602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Height, weight, time measurements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1410" y="620982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99887" y="6336506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Graphical Display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911923" y="6336506"/>
            <a:ext cx="415528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graph (separated bars)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471541" y="6336506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Smooth curve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248" y="635078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Bernoulli Distribution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81248" y="1226759"/>
            <a:ext cx="6720007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Foundation of Binary Outcomes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1248" y="252446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Bernoulli distribution represents the simplest random experiment: a single trial with exactly two possible outcomes. We conventionally label these as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(1)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 (0)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though these terms don't imply positive or negative results.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1248" y="3730995"/>
            <a:ext cx="3633311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Mass Function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793790" y="4866799"/>
            <a:ext cx="6279356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8740" y="4545057"/>
            <a:ext cx="6279356" cy="3564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1248" y="511213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</a:t>
            </a:r>
            <a:r>
              <a:rPr lang="en-US" sz="16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 =0,1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01255" y="378383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Parameters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7387444" y="44914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Mean:</a:t>
            </a:r>
            <a:r>
              <a:rPr lang="en-US" sz="16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87444" y="50450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Variance:</a:t>
            </a:r>
            <a:r>
              <a:rPr lang="en-US" sz="16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p(1 - p)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3790" y="619375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Practical Applications: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Policy renewal decisions (renewed or not), patient treatment response (positive or negative), quality control checks (pass or fail), customer conversion (purchase or no purchase).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6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53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Binomial Distribution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492806"/>
            <a:ext cx="529697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Counting Successes in Repeated Trials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247876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binomial distribution extends the Bernoulli concept to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independent trials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each with the same probability p of success. It answers the question: "How many successes will occur in n attempts?"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3535442"/>
            <a:ext cx="285285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Mathematical Definition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93790" y="4112181"/>
            <a:ext cx="6279356" cy="648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385" y="4004338"/>
            <a:ext cx="6279356" cy="6484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501169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k = 0, 1, 2, ..., 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4874" y="3535442"/>
            <a:ext cx="26747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Distribution Properties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7564874" y="405943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μ = np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64874" y="455556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Variance: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σ² = np(1 − p)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564874" y="505170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Deviation: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σ = √(np(1 − p))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93790" y="6227207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48" y="6522482"/>
            <a:ext cx="248007" cy="1983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38513" y="6475095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Insurance Example: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1,000 insured vehicles each have a 3% probability of filing an accident claim, the number of claims follows a binomial distribution with n = 1000 and p = 0.03, giving an expected 30 claims.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6988"/>
            <a:ext cx="4688919" cy="586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Poisson Distribution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89" y="1170028"/>
            <a:ext cx="6959441" cy="468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Modeling Rare Events Over Time or 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89" y="2087642"/>
            <a:ext cx="1304282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Poisson distribution describes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events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occurring in a fixed interval when these events happen independently at a constant average rate λ (lambda). It's particularly useful for modeling rare occurrences.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3208615"/>
            <a:ext cx="3269337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Mass Function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786188"/>
            <a:ext cx="7651313" cy="53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47884" y="3744277"/>
            <a:ext cx="7651313" cy="5378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4549973"/>
            <a:ext cx="76513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</a:t>
            </a:r>
            <a:r>
              <a:rPr lang="en-US" sz="14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 = 0, 1, 2, 3, …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88492" y="3208615"/>
            <a:ext cx="2813328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Unique Property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888492" y="3738801"/>
            <a:ext cx="49556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 = Variance = λ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888492" y="4185285"/>
            <a:ext cx="53339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equality is a distinctive characteristic that helps identify Poisson processes in real data.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93790" y="5264348"/>
            <a:ext cx="4179927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Common Applications in Practice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3790" y="5883831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insurance claims per month per 1,000 policies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93790" y="6232088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accidents at a traffic intersection per week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93790" y="6580346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Manufacturing defects in a production batch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71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14707"/>
            <a:ext cx="5438537" cy="61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Exponential Distribution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71644" y="1128831"/>
            <a:ext cx="2948464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Between Events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8784" y="2058829"/>
            <a:ext cx="13132832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While the Poisson distribution counts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many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events occur, the exponential distribution models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long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we wait between events in a Poisson process. It's the continuous counterpart focused on timing rather than counting.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8784" y="3055382"/>
            <a:ext cx="31443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Density Function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8784" y="3549729"/>
            <a:ext cx="701742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f(x) = </a:t>
            </a:r>
            <a:r>
              <a:rPr lang="en-US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λe−λx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x &gt; 0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8784" y="4036338"/>
            <a:ext cx="3694986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Cumulative Distribution Function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8784" y="4530685"/>
            <a:ext cx="701742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F(x) = 1 − e−λx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8784" y="4998601"/>
            <a:ext cx="701742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gives the probability that the waiting time is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most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x units.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30552" y="3055382"/>
            <a:ext cx="3029069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Distribution Characteristics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30552" y="3549729"/>
            <a:ext cx="565856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μ = 1/λ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30552" y="4017645"/>
            <a:ext cx="565856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Variance: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σ² = 1/λ²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30552" y="4485561"/>
            <a:ext cx="565856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Deviation: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σ = 1/λ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29533" y="5887522"/>
            <a:ext cx="12852083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Memoryless Property: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P(X &gt; s + t | X &gt; s) = P(X &gt; t)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29533" y="6397466"/>
            <a:ext cx="12852083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remarkable property means the distribution "forgets" how long you've already waited. If a device hasn't failed after running for s hours, the probability it survives another t hours is the same as if it were brand new.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48784" y="5677019"/>
            <a:ext cx="22860" cy="1529834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48784" y="7417356"/>
            <a:ext cx="13132832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Applications: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Time until next insurance claim, equipment lifespan modeling, customer service wait times, radioactive decay 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intervals.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930" y="52012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Normal Distribution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70930" y="1153179"/>
            <a:ext cx="496097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Bell Curve That Rules Statistics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2800" dirty="0">
              <a:solidFill>
                <a:srgbClr val="020202"/>
              </a:solidFill>
              <a:latin typeface="PT Serif" pitchFamily="34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25210" y="202749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normal distribution, also called the Gaussian distribution, is the most important probability distribution in statistics. Its symmetric, bell-shaped curve appears throughout nature and human behavior, making it fundamental to statistical inference.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48070" y="5540692"/>
            <a:ext cx="6422231" cy="2296120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5210" y="5540692"/>
            <a:ext cx="91440" cy="2296120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1083588" y="5839003"/>
            <a:ext cx="333327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Density Function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083588" y="4042529"/>
            <a:ext cx="5911215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82" y="6489382"/>
            <a:ext cx="5911215" cy="6103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3588" y="735079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Defined by two parameters: mean μ and standard deviation σ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37239" y="5540692"/>
            <a:ext cx="6422231" cy="2296120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37239" y="5540692"/>
            <a:ext cx="91440" cy="2296120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3" name="Text 10"/>
          <p:cNvSpPr/>
          <p:nvPr/>
        </p:nvSpPr>
        <p:spPr>
          <a:xfrm>
            <a:off x="7795617" y="566110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Properties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795615" y="6268377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Symmetric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around the mean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795616" y="6683135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 = Median = Mode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 center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795617" y="7104515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Normal variable can take real values from minus infinity to plus infinity </a:t>
            </a:r>
            <a:endParaRPr lang="en-US" sz="15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D955CA9-6A47-D5D0-DA46-F89199D49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900" y="3147196"/>
            <a:ext cx="5162599" cy="21341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9C4A-9EB7-C6E4-D5C8-0CF90405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4DD81E-CC99-424A-E120-592B7EF6A572}"/>
              </a:ext>
            </a:extLst>
          </p:cNvPr>
          <p:cNvSpPr/>
          <p:nvPr/>
        </p:nvSpPr>
        <p:spPr>
          <a:xfrm>
            <a:off x="770930" y="52012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Normal Distribution</a:t>
            </a:r>
            <a:endParaRPr lang="en-US" sz="4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8C4158-E729-A243-B381-0781E20FD38C}"/>
              </a:ext>
            </a:extLst>
          </p:cNvPr>
          <p:cNvSpPr/>
          <p:nvPr/>
        </p:nvSpPr>
        <p:spPr>
          <a:xfrm>
            <a:off x="770929" y="1235276"/>
            <a:ext cx="496097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Bell Curve That Rules Statistics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2800" dirty="0">
              <a:solidFill>
                <a:srgbClr val="020202"/>
              </a:solidFill>
              <a:latin typeface="PT Serif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52F4D4-537E-86FE-80B9-B5ED9E229A86}"/>
              </a:ext>
            </a:extLst>
          </p:cNvPr>
          <p:cNvSpPr/>
          <p:nvPr/>
        </p:nvSpPr>
        <p:spPr>
          <a:xfrm>
            <a:off x="1083588" y="4042529"/>
            <a:ext cx="5911215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5091E28-C22F-5EEB-291C-1E9A0BA80C7A}"/>
              </a:ext>
            </a:extLst>
          </p:cNvPr>
          <p:cNvSpPr/>
          <p:nvPr/>
        </p:nvSpPr>
        <p:spPr>
          <a:xfrm>
            <a:off x="770930" y="22947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the Normal Distribution Matters:</a:t>
            </a:r>
            <a:endParaRPr lang="en-US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FB79C29-CC26-0728-D27B-3452E56F6B6F}"/>
              </a:ext>
            </a:extLst>
          </p:cNvPr>
          <p:cNvSpPr/>
          <p:nvPr/>
        </p:nvSpPr>
        <p:spPr>
          <a:xfrm>
            <a:off x="770929" y="2749245"/>
            <a:ext cx="13667798" cy="185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Central Limit Theorem states that for a large number of independent random variables, the distribution of their averages tends toward a normal distribution, regardless of the original population distribution. This property makes the normal distribution the foundation for hypothesis testing and confidence interval estimation.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3EFD1A9-DEF6-2B06-BDC0-082DE94B50A9}"/>
              </a:ext>
            </a:extLst>
          </p:cNvPr>
          <p:cNvSpPr/>
          <p:nvPr/>
        </p:nvSpPr>
        <p:spPr>
          <a:xfrm>
            <a:off x="770929" y="4487375"/>
            <a:ext cx="13667798" cy="184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example: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we take the average height of 500 randomly selected people, the distribution of these sample means will be approximately 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normal, even if individual heights are not perfectly normal. (think of taking a random sample of size 500 repeatedly giving 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Sampling distribution of sample mean)</a:t>
            </a:r>
          </a:p>
        </p:txBody>
      </p:sp>
    </p:spTree>
    <p:extLst>
      <p:ext uri="{BB962C8B-B14F-4D97-AF65-F5344CB8AC3E}">
        <p14:creationId xmlns:p14="http://schemas.microsoft.com/office/powerpoint/2010/main" val="1786971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056" y="525006"/>
            <a:ext cx="815316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the 68-95-99.7 Rule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36664" y="1166991"/>
            <a:ext cx="6149578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Empirical Rule for Normal Distributions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302037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334703"/>
            <a:ext cx="421528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479602"/>
            <a:ext cx="345281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 Standard Deviation (±1σ)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93790" y="3924300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Approximately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68% of data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falls within one standard deviation of the mean. This captures the bulk of typical values.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995982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Range: μ − σ to μ + σ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207437" y="302037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3334703"/>
            <a:ext cx="421540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5207437" y="3479602"/>
            <a:ext cx="357878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Two Standard Deviations (±2σ)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5207437" y="3924300"/>
            <a:ext cx="42154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Approximately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95% of data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falls within two standard deviations. Values outside this range are considered unusual.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07437" y="4995982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Range: μ − 2σ to μ + 2σ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21203" y="302037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21203" y="3334703"/>
            <a:ext cx="421528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9621203" y="3479602"/>
            <a:ext cx="376320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Three Standard Deviations (±3σ)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9621203" y="3924300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Approximately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99.7% of data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falls within three standard deviations. Values beyond this are rare outliers.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21203" y="4995982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Range: μ − 3σ to μ + 3σ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5685592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980867"/>
            <a:ext cx="248007" cy="19835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38513" y="5933480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Practical Application: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exam scores are normally distributed with mean 75 and standard deviation 10, then 68% of students score between 65 and 85, while 95% score between 55 and 95. Only about 0.3% score below 45 or above 105.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978" y="551204"/>
            <a:ext cx="5766435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Log-Normal Distribution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56530" y="1202476"/>
            <a:ext cx="5734883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the Logarithm is Normal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6530" y="213687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random variable X follows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log-normal distribution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its natural logarithm ln(X) is normally distributed. This distribution is always positive and right-skewed, making it ideal for modeling variables that can't be negative and have a long tail of high values.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3790" y="4316611"/>
            <a:ext cx="4215289" cy="2222302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008" y="453782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Income Distributions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1015008" y="5047536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people earn moderate incomes, but a small number earn extremely high incomes, creating a characteristic right-skewed pattern.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4316611"/>
            <a:ext cx="4215408" cy="2222302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8655" y="453782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Stock Prices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5428655" y="5047536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Prices can grow exponentially but cannot fall below zero, making log-normal distributions appropriate for financial modeling.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4316611"/>
            <a:ext cx="4215289" cy="2222302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42421" y="4537829"/>
            <a:ext cx="3606403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Insurance Claim Amounts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9842421" y="5047536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claims are small, but catastrophic claims create a long right tail that is well-captured by the log-normal distribution.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921403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248" y="614779"/>
            <a:ext cx="534233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Quantile-Quantile Plot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7519" y="1210181"/>
            <a:ext cx="9338667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Powerful Graphical Tool for Assessing Normality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7519" y="230719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 Quantile-Quantile (Q-Q) plot is a very powerful graphical method of assessing whether data follows a normal distribution. It provides visual evidence that complements formal statistical tests.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357568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890010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4034909"/>
            <a:ext cx="3829288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Calculate Sample Quantiles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93790" y="4544616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Quantiles are calculated using your sample data and ranked in order from smallest to largest.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14379" y="357568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3890010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414379" y="4034909"/>
            <a:ext cx="4572833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Determine Theoretical Quantiles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7414379" y="4544616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Expected quantiles are calculated based on what we would expect if the data truly came from a normal distribution.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55268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5841206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5986105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Plot and Compare</a:t>
            </a:r>
            <a:endParaRPr lang="en-US" sz="2450" dirty="0"/>
          </a:p>
        </p:txBody>
      </p:sp>
      <p:sp>
        <p:nvSpPr>
          <p:cNvPr id="16" name="Text 14"/>
          <p:cNvSpPr/>
          <p:nvPr/>
        </p:nvSpPr>
        <p:spPr>
          <a:xfrm>
            <a:off x="793790" y="6495812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Sample quantiles (Y-axis) are plotted against theoretical quantiles (X-axis). If the data is truly normal, the plot will be linear.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14379" y="55268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5841206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14379" y="5986105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Assess Linearity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7414379" y="6495812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correlation between sample and theoretical quantiles indicates the normality assumption is valid for your data.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161643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930" y="563225"/>
            <a:ext cx="525232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Interpreting Q-Q Plots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81347" y="1276343"/>
            <a:ext cx="5231487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Reading the Visual Evidence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0930" y="237243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Q-Q plot displays actual quantile values from your sample on the Y-axis and theoretical values expected under a normal distribution on the X-axis. The pattern reveals whether your data follows a normal distribution.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3790" y="3582591"/>
            <a:ext cx="6422231" cy="1904762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0930" y="3582591"/>
            <a:ext cx="91440" cy="1904762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1083588" y="380380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 Pattern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1083588" y="4313515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Points fall close to a straight diagonal line, indicating the data distribution closely matches the normal distribution. This is strong evidence for normality.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582591"/>
            <a:ext cx="6422231" cy="1904762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1519" y="3582591"/>
            <a:ext cx="91440" cy="1904762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704177" y="380380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Curved Pattern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7704177" y="4313515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Points deviate systematically from the line in a curved pattern, suggesting the data is skewed (either left or right) and not normally distributed.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685711"/>
            <a:ext cx="6422231" cy="1587222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930" y="5685711"/>
            <a:ext cx="91440" cy="1587222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83588" y="590692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S-Shaped Pattern</a:t>
            </a:r>
            <a:endParaRPr lang="en-US" sz="2450" dirty="0"/>
          </a:p>
        </p:txBody>
      </p:sp>
      <p:sp>
        <p:nvSpPr>
          <p:cNvPr id="16" name="Text 14"/>
          <p:cNvSpPr/>
          <p:nvPr/>
        </p:nvSpPr>
        <p:spPr>
          <a:xfrm>
            <a:off x="1083588" y="6416635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Points form an S-curve, indicating the data has heavier or lighter tails than the normal distribution (kurtosis issues).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379" y="5685711"/>
            <a:ext cx="6422231" cy="1587222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1519" y="5685711"/>
            <a:ext cx="91440" cy="1587222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04177" y="590692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Outliers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7704177" y="6416635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Individual points far from the line at the extremes indicate outliers that deviate from the normal distribution pattern.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360630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1385"/>
            <a:ext cx="4428411" cy="553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Q-Q Plot Examples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93790" y="1154788"/>
            <a:ext cx="497633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Assessing Normality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2272308"/>
            <a:ext cx="288345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 1: Normal Data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94278"/>
            <a:ext cx="4723686" cy="32229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6206966"/>
            <a:ext cx="631567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nterpretation: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Q-Q plot is linear. The distribution can be assumed to be normal. Points closely follow the diagonal reference line.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28560" y="2272308"/>
            <a:ext cx="3495437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 2: Non-Normal Data</a:t>
            </a:r>
            <a:endParaRPr lang="en-US" sz="2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560" y="2794278"/>
            <a:ext cx="4723686" cy="32229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28560" y="6206966"/>
            <a:ext cx="6315670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Interpretation: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Q-Q plot is deviated from linearity. Distribution of 'billamt' appears to be non-normal. Systematic departure from the line suggests skewness.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93790" y="7358301"/>
            <a:ext cx="130428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visual assessments are essential for determining whether parametric statistical tests (which assume normality)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 appropriate for your data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20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7818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586746"/>
            <a:ext cx="7738943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Essential Concepts in Distribution Theory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793790" y="2405420"/>
            <a:ext cx="6422231" cy="2652713"/>
          </a:xfrm>
          <a:prstGeom prst="roundRect">
            <a:avLst>
              <a:gd name="adj" fmla="val 112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92148" y="26037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59" y="2733913"/>
            <a:ext cx="267891" cy="3349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3397448"/>
            <a:ext cx="3757136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Distribution Fundamentals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992148" y="3907155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Distributions describe how data spreads across possible values. Discrete distributions use PMFs; continuous distributions use PDFs. Each type serves different data structures.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4379" y="2405420"/>
            <a:ext cx="6422231" cy="2652713"/>
          </a:xfrm>
          <a:prstGeom prst="roundRect">
            <a:avLst>
              <a:gd name="adj" fmla="val 1122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612737" y="26037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448" y="2733913"/>
            <a:ext cx="267891" cy="3349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2737" y="3397448"/>
            <a:ext cx="3629263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Discrete Distributions</a:t>
            </a:r>
            <a:endParaRPr lang="en-US" sz="2450" dirty="0"/>
          </a:p>
        </p:txBody>
      </p:sp>
      <p:sp>
        <p:nvSpPr>
          <p:cNvPr id="13" name="Text 9"/>
          <p:cNvSpPr/>
          <p:nvPr/>
        </p:nvSpPr>
        <p:spPr>
          <a:xfrm>
            <a:off x="7612737" y="3907155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Bernoulli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single binary trials,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Binomial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counting successes in n trials,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Poisson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rare events with constant rate.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93790" y="5256490"/>
            <a:ext cx="6422231" cy="2335173"/>
          </a:xfrm>
          <a:prstGeom prst="roundRect">
            <a:avLst>
              <a:gd name="adj" fmla="val 127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92148" y="545484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859" y="5584984"/>
            <a:ext cx="267891" cy="3349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2148" y="6248519"/>
            <a:ext cx="409741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Continuous Distributions</a:t>
            </a:r>
            <a:endParaRPr lang="en-US" sz="2450" dirty="0"/>
          </a:p>
        </p:txBody>
      </p:sp>
      <p:sp>
        <p:nvSpPr>
          <p:cNvPr id="18" name="Text 13"/>
          <p:cNvSpPr/>
          <p:nvPr/>
        </p:nvSpPr>
        <p:spPr>
          <a:xfrm>
            <a:off x="992148" y="6758226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Exponential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time between events,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symmetric data,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Log-Normal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positive skewed data like income or prices.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414379" y="5256490"/>
            <a:ext cx="6422231" cy="2335173"/>
          </a:xfrm>
          <a:prstGeom prst="roundRect">
            <a:avLst>
              <a:gd name="adj" fmla="val 127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612737" y="545484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448" y="5584984"/>
            <a:ext cx="267891" cy="33492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2737" y="6248519"/>
            <a:ext cx="3409831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 Assessment Tools</a:t>
            </a:r>
            <a:endParaRPr lang="en-US" sz="2450" dirty="0"/>
          </a:p>
        </p:txBody>
      </p:sp>
      <p:sp>
        <p:nvSpPr>
          <p:cNvPr id="23" name="Text 17"/>
          <p:cNvSpPr/>
          <p:nvPr/>
        </p:nvSpPr>
        <p:spPr>
          <a:xfrm>
            <a:off x="7612737" y="6758226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Q-Q plots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test normality assumptions. These graphics are essential for proper statistical analysis and model validation.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9660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1765</Words>
  <Application>Microsoft Macintosh PowerPoint</Application>
  <PresentationFormat>Custom</PresentationFormat>
  <Paragraphs>192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PT Serif</vt:lpstr>
      <vt:lpstr>DM Sans</vt:lpstr>
      <vt:lpstr>Calibri</vt:lpstr>
      <vt:lpstr>Arial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27</cp:revision>
  <dcterms:created xsi:type="dcterms:W3CDTF">2025-10-08T03:07:54Z</dcterms:created>
  <dcterms:modified xsi:type="dcterms:W3CDTF">2025-10-24T06:08:08Z</dcterms:modified>
</cp:coreProperties>
</file>