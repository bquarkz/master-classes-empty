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1"/>
  </p:notesMasterIdLst>
  <p:sldIdLst>
    <p:sldId id="276" r:id="rId2"/>
    <p:sldId id="280" r:id="rId3"/>
    <p:sldId id="277" r:id="rId4"/>
    <p:sldId id="256" r:id="rId5"/>
    <p:sldId id="260" r:id="rId6"/>
    <p:sldId id="261" r:id="rId7"/>
    <p:sldId id="278" r:id="rId8"/>
    <p:sldId id="263" r:id="rId9"/>
    <p:sldId id="265" r:id="rId10"/>
    <p:sldId id="266" r:id="rId11"/>
    <p:sldId id="267" r:id="rId12"/>
    <p:sldId id="268" r:id="rId13"/>
    <p:sldId id="269" r:id="rId14"/>
    <p:sldId id="270" r:id="rId15"/>
    <p:sldId id="271" r:id="rId16"/>
    <p:sldId id="272" r:id="rId17"/>
    <p:sldId id="279" r:id="rId18"/>
    <p:sldId id="273" r:id="rId19"/>
    <p:sldId id="275" r:id="rId20"/>
  </p:sldIdLst>
  <p:sldSz cx="14630400" cy="8229600"/>
  <p:notesSz cx="8229600" cy="14630400"/>
  <p:embeddedFontLst>
    <p:embeddedFont>
      <p:font typeface="DM Sans" pitchFamily="2" charset="77"/>
      <p:regular r:id="rId22"/>
    </p:embeddedFont>
    <p:embeddedFont>
      <p:font typeface="PT Serif" panose="020A0603040505020204" pitchFamily="18" charset="77"/>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610"/>
  </p:normalViewPr>
  <p:slideViewPr>
    <p:cSldViewPr snapToGrid="0" snapToObjects="1">
      <p:cViewPr varScale="1">
        <p:scale>
          <a:sx n="91" d="100"/>
          <a:sy n="91" d="100"/>
        </p:scale>
        <p:origin x="6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023E49-2CB0-45C4-A8AC-FB8DBC486414}"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US"/>
        </a:p>
      </dgm:t>
    </dgm:pt>
    <dgm:pt modelId="{6BF061A3-48D2-4F24-84C2-C973EEB81B3D}">
      <dgm:prSet phldrT="[Text]"/>
      <dgm:spPr>
        <a:solidFill>
          <a:srgbClr val="00B0F0"/>
        </a:solidFill>
      </dgm:spPr>
      <dgm:t>
        <a:bodyPr/>
        <a:lstStyle/>
        <a:p>
          <a:r>
            <a:rPr lang="en-US" dirty="0">
              <a:solidFill>
                <a:srgbClr val="333300"/>
              </a:solidFill>
            </a:rPr>
            <a:t>DEFAULTER</a:t>
          </a:r>
        </a:p>
        <a:p>
          <a:r>
            <a:rPr lang="en-US" dirty="0">
              <a:solidFill>
                <a:srgbClr val="333300"/>
              </a:solidFill>
            </a:rPr>
            <a:t>(YES OR NO)</a:t>
          </a:r>
        </a:p>
      </dgm:t>
    </dgm:pt>
    <dgm:pt modelId="{BC19E5A9-357F-4AF0-AD1A-C2E5679A0410}" type="parTrans" cxnId="{FB5F7FA0-1E0D-44A9-8B76-7C04E6A0BD52}">
      <dgm:prSet/>
      <dgm:spPr/>
      <dgm:t>
        <a:bodyPr/>
        <a:lstStyle/>
        <a:p>
          <a:endParaRPr lang="en-US"/>
        </a:p>
      </dgm:t>
    </dgm:pt>
    <dgm:pt modelId="{43ADA604-3F92-45D2-93D4-C3BB2DDA17CC}" type="sibTrans" cxnId="{FB5F7FA0-1E0D-44A9-8B76-7C04E6A0BD52}">
      <dgm:prSet/>
      <dgm:spPr/>
      <dgm:t>
        <a:bodyPr/>
        <a:lstStyle/>
        <a:p>
          <a:endParaRPr lang="en-US"/>
        </a:p>
      </dgm:t>
    </dgm:pt>
    <dgm:pt modelId="{96B29A53-1E72-4944-82C2-ED0B518E6E4A}">
      <dgm:prSet phldrT="[Text]"/>
      <dgm:spPr>
        <a:solidFill>
          <a:schemeClr val="accent5"/>
        </a:solidFill>
      </dgm:spPr>
      <dgm:t>
        <a:bodyPr/>
        <a:lstStyle/>
        <a:p>
          <a:r>
            <a:rPr lang="en-US" b="1" dirty="0">
              <a:solidFill>
                <a:srgbClr val="333300"/>
              </a:solidFill>
            </a:rPr>
            <a:t>AGE</a:t>
          </a:r>
        </a:p>
      </dgm:t>
    </dgm:pt>
    <dgm:pt modelId="{532F4AC3-7B48-4B6F-8C7E-E18BAC13EF21}" type="parTrans" cxnId="{CBDD6C7B-3591-4223-986D-B0FF1FDDAA77}">
      <dgm:prSet/>
      <dgm:spPr>
        <a:solidFill>
          <a:srgbClr val="333300"/>
        </a:solidFill>
      </dgm:spPr>
      <dgm:t>
        <a:bodyPr/>
        <a:lstStyle/>
        <a:p>
          <a:endParaRPr lang="en-US"/>
        </a:p>
      </dgm:t>
    </dgm:pt>
    <dgm:pt modelId="{FDEA1DBE-56EC-432E-A41C-014E7FE956A7}" type="sibTrans" cxnId="{CBDD6C7B-3591-4223-986D-B0FF1FDDAA77}">
      <dgm:prSet/>
      <dgm:spPr/>
      <dgm:t>
        <a:bodyPr/>
        <a:lstStyle/>
        <a:p>
          <a:endParaRPr lang="en-US"/>
        </a:p>
      </dgm:t>
    </dgm:pt>
    <dgm:pt modelId="{0A0C3CB4-DBF0-4305-A6C4-48BD6AB13EEB}">
      <dgm:prSet phldrT="[Text]"/>
      <dgm:spPr>
        <a:solidFill>
          <a:schemeClr val="accent5"/>
        </a:solidFill>
        <a:ln>
          <a:solidFill>
            <a:schemeClr val="accent1"/>
          </a:solidFill>
        </a:ln>
      </dgm:spPr>
      <dgm:t>
        <a:bodyPr/>
        <a:lstStyle/>
        <a:p>
          <a:r>
            <a:rPr lang="en-US" b="1" dirty="0">
              <a:solidFill>
                <a:srgbClr val="333300"/>
              </a:solidFill>
            </a:rPr>
            <a:t>EMPLOY</a:t>
          </a:r>
        </a:p>
        <a:p>
          <a:r>
            <a:rPr lang="en-US" b="1" dirty="0">
              <a:solidFill>
                <a:srgbClr val="333300"/>
              </a:solidFill>
            </a:rPr>
            <a:t>(-)</a:t>
          </a:r>
        </a:p>
      </dgm:t>
    </dgm:pt>
    <dgm:pt modelId="{E48E56FB-F461-417F-A12E-810F9FBC745A}" type="parTrans" cxnId="{27F3CEDD-83F0-45D8-8BF4-34373EFB9B4A}">
      <dgm:prSet/>
      <dgm:spPr>
        <a:solidFill>
          <a:srgbClr val="333300"/>
        </a:solidFill>
      </dgm:spPr>
      <dgm:t>
        <a:bodyPr/>
        <a:lstStyle/>
        <a:p>
          <a:endParaRPr lang="en-US"/>
        </a:p>
      </dgm:t>
    </dgm:pt>
    <dgm:pt modelId="{D70076E3-F1B2-4223-B6A2-10D7450E8E27}" type="sibTrans" cxnId="{27F3CEDD-83F0-45D8-8BF4-34373EFB9B4A}">
      <dgm:prSet/>
      <dgm:spPr/>
      <dgm:t>
        <a:bodyPr/>
        <a:lstStyle/>
        <a:p>
          <a:endParaRPr lang="en-US"/>
        </a:p>
      </dgm:t>
    </dgm:pt>
    <dgm:pt modelId="{B29D43DC-36FF-49D6-8691-98D39F453D69}">
      <dgm:prSet phldrT="[Text]"/>
      <dgm:spPr>
        <a:solidFill>
          <a:schemeClr val="accent5"/>
        </a:solidFill>
      </dgm:spPr>
      <dgm:t>
        <a:bodyPr/>
        <a:lstStyle/>
        <a:p>
          <a:r>
            <a:rPr lang="en-US" b="1" dirty="0">
              <a:solidFill>
                <a:srgbClr val="333300"/>
              </a:solidFill>
            </a:rPr>
            <a:t>ADDRESS</a:t>
          </a:r>
        </a:p>
        <a:p>
          <a:r>
            <a:rPr lang="en-US" b="1" dirty="0">
              <a:solidFill>
                <a:srgbClr val="333300"/>
              </a:solidFill>
            </a:rPr>
            <a:t>(-)</a:t>
          </a:r>
        </a:p>
      </dgm:t>
    </dgm:pt>
    <dgm:pt modelId="{78DECE25-B5FC-4725-B2F6-FBD3FD8E0BFE}" type="parTrans" cxnId="{F637F8DB-0E70-4A60-8ABB-262EAFB987D7}">
      <dgm:prSet/>
      <dgm:spPr>
        <a:solidFill>
          <a:srgbClr val="333300"/>
        </a:solidFill>
      </dgm:spPr>
      <dgm:t>
        <a:bodyPr/>
        <a:lstStyle/>
        <a:p>
          <a:endParaRPr lang="en-US"/>
        </a:p>
      </dgm:t>
    </dgm:pt>
    <dgm:pt modelId="{E246BB69-5EAF-447A-B93B-558654793B95}" type="sibTrans" cxnId="{F637F8DB-0E70-4A60-8ABB-262EAFB987D7}">
      <dgm:prSet/>
      <dgm:spPr/>
      <dgm:t>
        <a:bodyPr/>
        <a:lstStyle/>
        <a:p>
          <a:endParaRPr lang="en-US"/>
        </a:p>
      </dgm:t>
    </dgm:pt>
    <dgm:pt modelId="{8A839C35-C468-46F4-8568-9D9802AFCB81}">
      <dgm:prSet/>
      <dgm:spPr>
        <a:solidFill>
          <a:schemeClr val="accent5"/>
        </a:solidFill>
      </dgm:spPr>
      <dgm:t>
        <a:bodyPr/>
        <a:lstStyle/>
        <a:p>
          <a:r>
            <a:rPr lang="en-US" b="1" dirty="0">
              <a:solidFill>
                <a:srgbClr val="333300"/>
              </a:solidFill>
            </a:rPr>
            <a:t>DEBTINC</a:t>
          </a:r>
        </a:p>
        <a:p>
          <a:r>
            <a:rPr lang="en-US" b="1" dirty="0">
              <a:solidFill>
                <a:srgbClr val="333300"/>
              </a:solidFill>
            </a:rPr>
            <a:t>(+)</a:t>
          </a:r>
        </a:p>
      </dgm:t>
    </dgm:pt>
    <dgm:pt modelId="{51065201-984A-4C12-B51C-F4C491B51A4E}" type="parTrans" cxnId="{F185472F-69C7-42B0-B4EE-F65494B5C7EB}">
      <dgm:prSet/>
      <dgm:spPr>
        <a:solidFill>
          <a:srgbClr val="333300"/>
        </a:solidFill>
      </dgm:spPr>
      <dgm:t>
        <a:bodyPr/>
        <a:lstStyle/>
        <a:p>
          <a:endParaRPr lang="en-US"/>
        </a:p>
      </dgm:t>
    </dgm:pt>
    <dgm:pt modelId="{33024413-46AC-40EA-A994-1BAB899DFB49}" type="sibTrans" cxnId="{F185472F-69C7-42B0-B4EE-F65494B5C7EB}">
      <dgm:prSet/>
      <dgm:spPr/>
      <dgm:t>
        <a:bodyPr/>
        <a:lstStyle/>
        <a:p>
          <a:endParaRPr lang="en-US"/>
        </a:p>
      </dgm:t>
    </dgm:pt>
    <dgm:pt modelId="{71F7C7A9-FA25-4480-9E21-2DF9F4C71F1A}">
      <dgm:prSet/>
      <dgm:spPr>
        <a:solidFill>
          <a:schemeClr val="accent5"/>
        </a:solidFill>
      </dgm:spPr>
      <dgm:t>
        <a:bodyPr/>
        <a:lstStyle/>
        <a:p>
          <a:r>
            <a:rPr lang="en-US" b="1" dirty="0">
              <a:solidFill>
                <a:srgbClr val="333300"/>
              </a:solidFill>
            </a:rPr>
            <a:t>OTHDEBT</a:t>
          </a:r>
        </a:p>
        <a:p>
          <a:r>
            <a:rPr lang="en-US" b="1" dirty="0">
              <a:solidFill>
                <a:srgbClr val="333300"/>
              </a:solidFill>
            </a:rPr>
            <a:t>(+)</a:t>
          </a:r>
        </a:p>
      </dgm:t>
    </dgm:pt>
    <dgm:pt modelId="{8B93FA04-6982-4D81-85A0-E4C6C76E40D7}" type="parTrans" cxnId="{B88E8A91-3BCC-47B0-9887-46B970A60A40}">
      <dgm:prSet/>
      <dgm:spPr>
        <a:solidFill>
          <a:srgbClr val="333300"/>
        </a:solidFill>
      </dgm:spPr>
      <dgm:t>
        <a:bodyPr/>
        <a:lstStyle/>
        <a:p>
          <a:endParaRPr lang="en-US"/>
        </a:p>
      </dgm:t>
    </dgm:pt>
    <dgm:pt modelId="{8F80C312-B9F4-430A-8303-075A4B1EC5FE}" type="sibTrans" cxnId="{B88E8A91-3BCC-47B0-9887-46B970A60A40}">
      <dgm:prSet/>
      <dgm:spPr/>
      <dgm:t>
        <a:bodyPr/>
        <a:lstStyle/>
        <a:p>
          <a:endParaRPr lang="en-US"/>
        </a:p>
      </dgm:t>
    </dgm:pt>
    <dgm:pt modelId="{6BDB9336-9C65-4A91-B84E-655851E701AD}">
      <dgm:prSet/>
      <dgm:spPr>
        <a:solidFill>
          <a:schemeClr val="accent5"/>
        </a:solidFill>
      </dgm:spPr>
      <dgm:t>
        <a:bodyPr/>
        <a:lstStyle/>
        <a:p>
          <a:r>
            <a:rPr lang="en-US" b="1" dirty="0">
              <a:solidFill>
                <a:srgbClr val="333300"/>
              </a:solidFill>
            </a:rPr>
            <a:t>CREDDEBT</a:t>
          </a:r>
        </a:p>
        <a:p>
          <a:r>
            <a:rPr lang="en-US" b="1" dirty="0">
              <a:solidFill>
                <a:srgbClr val="333300"/>
              </a:solidFill>
            </a:rPr>
            <a:t>(+)</a:t>
          </a:r>
        </a:p>
      </dgm:t>
    </dgm:pt>
    <dgm:pt modelId="{CC7EB737-AE38-412C-A78C-BAF95830E6F9}" type="parTrans" cxnId="{018BE85A-CD77-4253-A7C6-B067D3DC4789}">
      <dgm:prSet/>
      <dgm:spPr>
        <a:solidFill>
          <a:srgbClr val="333300"/>
        </a:solidFill>
      </dgm:spPr>
      <dgm:t>
        <a:bodyPr/>
        <a:lstStyle/>
        <a:p>
          <a:endParaRPr lang="en-US"/>
        </a:p>
      </dgm:t>
    </dgm:pt>
    <dgm:pt modelId="{88BA61E0-B385-437F-B9A0-3A5386FB31F5}" type="sibTrans" cxnId="{018BE85A-CD77-4253-A7C6-B067D3DC4789}">
      <dgm:prSet/>
      <dgm:spPr/>
      <dgm:t>
        <a:bodyPr/>
        <a:lstStyle/>
        <a:p>
          <a:endParaRPr lang="en-US"/>
        </a:p>
      </dgm:t>
    </dgm:pt>
    <dgm:pt modelId="{405AC865-8FAD-4104-B79F-92CE45EFF26E}" type="pres">
      <dgm:prSet presAssocID="{F7023E49-2CB0-45C4-A8AC-FB8DBC486414}" presName="cycle" presStyleCnt="0">
        <dgm:presLayoutVars>
          <dgm:chMax val="1"/>
          <dgm:dir/>
          <dgm:animLvl val="ctr"/>
          <dgm:resizeHandles val="exact"/>
        </dgm:presLayoutVars>
      </dgm:prSet>
      <dgm:spPr/>
    </dgm:pt>
    <dgm:pt modelId="{B74C40F2-02D7-4AC2-9F76-E64DF8B8EBC6}" type="pres">
      <dgm:prSet presAssocID="{6BF061A3-48D2-4F24-84C2-C973EEB81B3D}" presName="centerShape" presStyleLbl="node0" presStyleIdx="0" presStyleCnt="1"/>
      <dgm:spPr/>
    </dgm:pt>
    <dgm:pt modelId="{D9CC4D38-0D24-4FFB-858A-F3E14F146D63}" type="pres">
      <dgm:prSet presAssocID="{532F4AC3-7B48-4B6F-8C7E-E18BAC13EF21}" presName="parTrans" presStyleLbl="bgSibTrans2D1" presStyleIdx="0" presStyleCnt="6"/>
      <dgm:spPr/>
    </dgm:pt>
    <dgm:pt modelId="{782E41E8-821B-41B5-B6CE-84EAC40CC5A7}" type="pres">
      <dgm:prSet presAssocID="{96B29A53-1E72-4944-82C2-ED0B518E6E4A}" presName="node" presStyleLbl="node1" presStyleIdx="0" presStyleCnt="6">
        <dgm:presLayoutVars>
          <dgm:bulletEnabled val="1"/>
        </dgm:presLayoutVars>
      </dgm:prSet>
      <dgm:spPr/>
    </dgm:pt>
    <dgm:pt modelId="{D3AA9255-1FFA-43A9-AE47-1D6E5192C9DE}" type="pres">
      <dgm:prSet presAssocID="{E48E56FB-F461-417F-A12E-810F9FBC745A}" presName="parTrans" presStyleLbl="bgSibTrans2D1" presStyleIdx="1" presStyleCnt="6"/>
      <dgm:spPr/>
    </dgm:pt>
    <dgm:pt modelId="{DAABC09C-79E5-4BB3-9E09-4AEC8B79AFFB}" type="pres">
      <dgm:prSet presAssocID="{0A0C3CB4-DBF0-4305-A6C4-48BD6AB13EEB}" presName="node" presStyleLbl="node1" presStyleIdx="1" presStyleCnt="6">
        <dgm:presLayoutVars>
          <dgm:bulletEnabled val="1"/>
        </dgm:presLayoutVars>
      </dgm:prSet>
      <dgm:spPr/>
    </dgm:pt>
    <dgm:pt modelId="{44E50ED9-51A9-4C65-8CC5-EE9197808A60}" type="pres">
      <dgm:prSet presAssocID="{78DECE25-B5FC-4725-B2F6-FBD3FD8E0BFE}" presName="parTrans" presStyleLbl="bgSibTrans2D1" presStyleIdx="2" presStyleCnt="6"/>
      <dgm:spPr/>
    </dgm:pt>
    <dgm:pt modelId="{6F960204-8F0F-40DC-936B-EC7780FF5E50}" type="pres">
      <dgm:prSet presAssocID="{B29D43DC-36FF-49D6-8691-98D39F453D69}" presName="node" presStyleLbl="node1" presStyleIdx="2" presStyleCnt="6">
        <dgm:presLayoutVars>
          <dgm:bulletEnabled val="1"/>
        </dgm:presLayoutVars>
      </dgm:prSet>
      <dgm:spPr/>
    </dgm:pt>
    <dgm:pt modelId="{778C121C-53BB-421E-A77F-34EB35A26C69}" type="pres">
      <dgm:prSet presAssocID="{51065201-984A-4C12-B51C-F4C491B51A4E}" presName="parTrans" presStyleLbl="bgSibTrans2D1" presStyleIdx="3" presStyleCnt="6"/>
      <dgm:spPr/>
    </dgm:pt>
    <dgm:pt modelId="{A7E9FC40-1706-47AE-B797-5FE1CC6D064F}" type="pres">
      <dgm:prSet presAssocID="{8A839C35-C468-46F4-8568-9D9802AFCB81}" presName="node" presStyleLbl="node1" presStyleIdx="3" presStyleCnt="6">
        <dgm:presLayoutVars>
          <dgm:bulletEnabled val="1"/>
        </dgm:presLayoutVars>
      </dgm:prSet>
      <dgm:spPr/>
    </dgm:pt>
    <dgm:pt modelId="{7841DF95-B1A1-439C-A588-3D8FEF7A2C4D}" type="pres">
      <dgm:prSet presAssocID="{CC7EB737-AE38-412C-A78C-BAF95830E6F9}" presName="parTrans" presStyleLbl="bgSibTrans2D1" presStyleIdx="4" presStyleCnt="6"/>
      <dgm:spPr/>
    </dgm:pt>
    <dgm:pt modelId="{4E5901E4-3130-4AAC-B81A-179C8F259C36}" type="pres">
      <dgm:prSet presAssocID="{6BDB9336-9C65-4A91-B84E-655851E701AD}" presName="node" presStyleLbl="node1" presStyleIdx="4" presStyleCnt="6">
        <dgm:presLayoutVars>
          <dgm:bulletEnabled val="1"/>
        </dgm:presLayoutVars>
      </dgm:prSet>
      <dgm:spPr/>
    </dgm:pt>
    <dgm:pt modelId="{1A9C72DD-2145-41EC-B4BC-B9CC96B7FCFA}" type="pres">
      <dgm:prSet presAssocID="{8B93FA04-6982-4D81-85A0-E4C6C76E40D7}" presName="parTrans" presStyleLbl="bgSibTrans2D1" presStyleIdx="5" presStyleCnt="6"/>
      <dgm:spPr/>
    </dgm:pt>
    <dgm:pt modelId="{421929E6-A89C-4A05-A41A-FD2D8DD37C14}" type="pres">
      <dgm:prSet presAssocID="{71F7C7A9-FA25-4480-9E21-2DF9F4C71F1A}" presName="node" presStyleLbl="node1" presStyleIdx="5" presStyleCnt="6">
        <dgm:presLayoutVars>
          <dgm:bulletEnabled val="1"/>
        </dgm:presLayoutVars>
      </dgm:prSet>
      <dgm:spPr/>
    </dgm:pt>
  </dgm:ptLst>
  <dgm:cxnLst>
    <dgm:cxn modelId="{57315C1C-7414-4AD9-B68F-9C40300A9A19}" type="presOf" srcId="{78DECE25-B5FC-4725-B2F6-FBD3FD8E0BFE}" destId="{44E50ED9-51A9-4C65-8CC5-EE9197808A60}" srcOrd="0" destOrd="0" presId="urn:microsoft.com/office/officeart/2005/8/layout/radial4"/>
    <dgm:cxn modelId="{F185472F-69C7-42B0-B4EE-F65494B5C7EB}" srcId="{6BF061A3-48D2-4F24-84C2-C973EEB81B3D}" destId="{8A839C35-C468-46F4-8568-9D9802AFCB81}" srcOrd="3" destOrd="0" parTransId="{51065201-984A-4C12-B51C-F4C491B51A4E}" sibTransId="{33024413-46AC-40EA-A994-1BAB899DFB49}"/>
    <dgm:cxn modelId="{6ADB7931-29FF-4D3A-81F5-CA4CF1DDA3D1}" type="presOf" srcId="{8A839C35-C468-46F4-8568-9D9802AFCB81}" destId="{A7E9FC40-1706-47AE-B797-5FE1CC6D064F}" srcOrd="0" destOrd="0" presId="urn:microsoft.com/office/officeart/2005/8/layout/radial4"/>
    <dgm:cxn modelId="{A6B27436-663A-4DE6-9AD4-A16B1DFCF82B}" type="presOf" srcId="{96B29A53-1E72-4944-82C2-ED0B518E6E4A}" destId="{782E41E8-821B-41B5-B6CE-84EAC40CC5A7}" srcOrd="0" destOrd="0" presId="urn:microsoft.com/office/officeart/2005/8/layout/radial4"/>
    <dgm:cxn modelId="{62F1A353-32CE-4C56-BD20-42C76AC5102F}" type="presOf" srcId="{71F7C7A9-FA25-4480-9E21-2DF9F4C71F1A}" destId="{421929E6-A89C-4A05-A41A-FD2D8DD37C14}" srcOrd="0" destOrd="0" presId="urn:microsoft.com/office/officeart/2005/8/layout/radial4"/>
    <dgm:cxn modelId="{018BE85A-CD77-4253-A7C6-B067D3DC4789}" srcId="{6BF061A3-48D2-4F24-84C2-C973EEB81B3D}" destId="{6BDB9336-9C65-4A91-B84E-655851E701AD}" srcOrd="4" destOrd="0" parTransId="{CC7EB737-AE38-412C-A78C-BAF95830E6F9}" sibTransId="{88BA61E0-B385-437F-B9A0-3A5386FB31F5}"/>
    <dgm:cxn modelId="{28E93365-C6DD-4787-9139-75B070D96A92}" type="presOf" srcId="{0A0C3CB4-DBF0-4305-A6C4-48BD6AB13EEB}" destId="{DAABC09C-79E5-4BB3-9E09-4AEC8B79AFFB}" srcOrd="0" destOrd="0" presId="urn:microsoft.com/office/officeart/2005/8/layout/radial4"/>
    <dgm:cxn modelId="{1692896A-5290-489A-9F43-143A07237E3F}" type="presOf" srcId="{B29D43DC-36FF-49D6-8691-98D39F453D69}" destId="{6F960204-8F0F-40DC-936B-EC7780FF5E50}" srcOrd="0" destOrd="0" presId="urn:microsoft.com/office/officeart/2005/8/layout/radial4"/>
    <dgm:cxn modelId="{CBDD6C7B-3591-4223-986D-B0FF1FDDAA77}" srcId="{6BF061A3-48D2-4F24-84C2-C973EEB81B3D}" destId="{96B29A53-1E72-4944-82C2-ED0B518E6E4A}" srcOrd="0" destOrd="0" parTransId="{532F4AC3-7B48-4B6F-8C7E-E18BAC13EF21}" sibTransId="{FDEA1DBE-56EC-432E-A41C-014E7FE956A7}"/>
    <dgm:cxn modelId="{B88E8A91-3BCC-47B0-9887-46B970A60A40}" srcId="{6BF061A3-48D2-4F24-84C2-C973EEB81B3D}" destId="{71F7C7A9-FA25-4480-9E21-2DF9F4C71F1A}" srcOrd="5" destOrd="0" parTransId="{8B93FA04-6982-4D81-85A0-E4C6C76E40D7}" sibTransId="{8F80C312-B9F4-430A-8303-075A4B1EC5FE}"/>
    <dgm:cxn modelId="{45CE2497-5624-4A6C-B93C-28E2CBC4FD1E}" type="presOf" srcId="{CC7EB737-AE38-412C-A78C-BAF95830E6F9}" destId="{7841DF95-B1A1-439C-A588-3D8FEF7A2C4D}" srcOrd="0" destOrd="0" presId="urn:microsoft.com/office/officeart/2005/8/layout/radial4"/>
    <dgm:cxn modelId="{FB5F7FA0-1E0D-44A9-8B76-7C04E6A0BD52}" srcId="{F7023E49-2CB0-45C4-A8AC-FB8DBC486414}" destId="{6BF061A3-48D2-4F24-84C2-C973EEB81B3D}" srcOrd="0" destOrd="0" parTransId="{BC19E5A9-357F-4AF0-AD1A-C2E5679A0410}" sibTransId="{43ADA604-3F92-45D2-93D4-C3BB2DDA17CC}"/>
    <dgm:cxn modelId="{67EF38AA-FB45-453D-B715-5029C1B48290}" type="presOf" srcId="{E48E56FB-F461-417F-A12E-810F9FBC745A}" destId="{D3AA9255-1FFA-43A9-AE47-1D6E5192C9DE}" srcOrd="0" destOrd="0" presId="urn:microsoft.com/office/officeart/2005/8/layout/radial4"/>
    <dgm:cxn modelId="{38A542B5-3A13-4D12-A2DE-575B71F8442E}" type="presOf" srcId="{8B93FA04-6982-4D81-85A0-E4C6C76E40D7}" destId="{1A9C72DD-2145-41EC-B4BC-B9CC96B7FCFA}" srcOrd="0" destOrd="0" presId="urn:microsoft.com/office/officeart/2005/8/layout/radial4"/>
    <dgm:cxn modelId="{705A27BF-FA01-4B56-82B6-B39EC0CACB2A}" type="presOf" srcId="{51065201-984A-4C12-B51C-F4C491B51A4E}" destId="{778C121C-53BB-421E-A77F-34EB35A26C69}" srcOrd="0" destOrd="0" presId="urn:microsoft.com/office/officeart/2005/8/layout/radial4"/>
    <dgm:cxn modelId="{01D525CA-67A5-4343-84D0-F8C54536C6CA}" type="presOf" srcId="{6BDB9336-9C65-4A91-B84E-655851E701AD}" destId="{4E5901E4-3130-4AAC-B81A-179C8F259C36}" srcOrd="0" destOrd="0" presId="urn:microsoft.com/office/officeart/2005/8/layout/radial4"/>
    <dgm:cxn modelId="{BFC5B8D0-4D73-4A33-8D5F-94417E147EBD}" type="presOf" srcId="{F7023E49-2CB0-45C4-A8AC-FB8DBC486414}" destId="{405AC865-8FAD-4104-B79F-92CE45EFF26E}" srcOrd="0" destOrd="0" presId="urn:microsoft.com/office/officeart/2005/8/layout/radial4"/>
    <dgm:cxn modelId="{F637F8DB-0E70-4A60-8ABB-262EAFB987D7}" srcId="{6BF061A3-48D2-4F24-84C2-C973EEB81B3D}" destId="{B29D43DC-36FF-49D6-8691-98D39F453D69}" srcOrd="2" destOrd="0" parTransId="{78DECE25-B5FC-4725-B2F6-FBD3FD8E0BFE}" sibTransId="{E246BB69-5EAF-447A-B93B-558654793B95}"/>
    <dgm:cxn modelId="{27F3CEDD-83F0-45D8-8BF4-34373EFB9B4A}" srcId="{6BF061A3-48D2-4F24-84C2-C973EEB81B3D}" destId="{0A0C3CB4-DBF0-4305-A6C4-48BD6AB13EEB}" srcOrd="1" destOrd="0" parTransId="{E48E56FB-F461-417F-A12E-810F9FBC745A}" sibTransId="{D70076E3-F1B2-4223-B6A2-10D7450E8E27}"/>
    <dgm:cxn modelId="{494DA2DE-EDE7-4642-A6C1-F07BB72F3DEA}" type="presOf" srcId="{532F4AC3-7B48-4B6F-8C7E-E18BAC13EF21}" destId="{D9CC4D38-0D24-4FFB-858A-F3E14F146D63}" srcOrd="0" destOrd="0" presId="urn:microsoft.com/office/officeart/2005/8/layout/radial4"/>
    <dgm:cxn modelId="{E89CDBF0-2118-4221-99C0-59240396ADE4}" type="presOf" srcId="{6BF061A3-48D2-4F24-84C2-C973EEB81B3D}" destId="{B74C40F2-02D7-4AC2-9F76-E64DF8B8EBC6}" srcOrd="0" destOrd="0" presId="urn:microsoft.com/office/officeart/2005/8/layout/radial4"/>
    <dgm:cxn modelId="{6A51C5E4-5271-44C8-A125-AA5CA3A540D2}" type="presParOf" srcId="{405AC865-8FAD-4104-B79F-92CE45EFF26E}" destId="{B74C40F2-02D7-4AC2-9F76-E64DF8B8EBC6}" srcOrd="0" destOrd="0" presId="urn:microsoft.com/office/officeart/2005/8/layout/radial4"/>
    <dgm:cxn modelId="{5E36ECE7-70F8-4761-81DF-B55CE31D85DE}" type="presParOf" srcId="{405AC865-8FAD-4104-B79F-92CE45EFF26E}" destId="{D9CC4D38-0D24-4FFB-858A-F3E14F146D63}" srcOrd="1" destOrd="0" presId="urn:microsoft.com/office/officeart/2005/8/layout/radial4"/>
    <dgm:cxn modelId="{6D9ACB18-1427-431A-9311-856A6819E1A8}" type="presParOf" srcId="{405AC865-8FAD-4104-B79F-92CE45EFF26E}" destId="{782E41E8-821B-41B5-B6CE-84EAC40CC5A7}" srcOrd="2" destOrd="0" presId="urn:microsoft.com/office/officeart/2005/8/layout/radial4"/>
    <dgm:cxn modelId="{B5E96F35-2FEC-4F0A-8D3E-FA7D91160895}" type="presParOf" srcId="{405AC865-8FAD-4104-B79F-92CE45EFF26E}" destId="{D3AA9255-1FFA-43A9-AE47-1D6E5192C9DE}" srcOrd="3" destOrd="0" presId="urn:microsoft.com/office/officeart/2005/8/layout/radial4"/>
    <dgm:cxn modelId="{6A6D60E6-6C87-4E39-A3EA-33CAE784409D}" type="presParOf" srcId="{405AC865-8FAD-4104-B79F-92CE45EFF26E}" destId="{DAABC09C-79E5-4BB3-9E09-4AEC8B79AFFB}" srcOrd="4" destOrd="0" presId="urn:microsoft.com/office/officeart/2005/8/layout/radial4"/>
    <dgm:cxn modelId="{1D8E6324-A2FB-4CAE-997C-06C1D6D497F3}" type="presParOf" srcId="{405AC865-8FAD-4104-B79F-92CE45EFF26E}" destId="{44E50ED9-51A9-4C65-8CC5-EE9197808A60}" srcOrd="5" destOrd="0" presId="urn:microsoft.com/office/officeart/2005/8/layout/radial4"/>
    <dgm:cxn modelId="{AF870147-CAA1-4362-83CD-AC34F94D3673}" type="presParOf" srcId="{405AC865-8FAD-4104-B79F-92CE45EFF26E}" destId="{6F960204-8F0F-40DC-936B-EC7780FF5E50}" srcOrd="6" destOrd="0" presId="urn:microsoft.com/office/officeart/2005/8/layout/radial4"/>
    <dgm:cxn modelId="{8FA870AB-B1CA-4268-BCF2-18EE40E74A7C}" type="presParOf" srcId="{405AC865-8FAD-4104-B79F-92CE45EFF26E}" destId="{778C121C-53BB-421E-A77F-34EB35A26C69}" srcOrd="7" destOrd="0" presId="urn:microsoft.com/office/officeart/2005/8/layout/radial4"/>
    <dgm:cxn modelId="{FE1EFF0D-22F8-43CE-8C01-29B34D4CF450}" type="presParOf" srcId="{405AC865-8FAD-4104-B79F-92CE45EFF26E}" destId="{A7E9FC40-1706-47AE-B797-5FE1CC6D064F}" srcOrd="8" destOrd="0" presId="urn:microsoft.com/office/officeart/2005/8/layout/radial4"/>
    <dgm:cxn modelId="{B6566A6F-048B-4C14-8185-9DA19E075FC7}" type="presParOf" srcId="{405AC865-8FAD-4104-B79F-92CE45EFF26E}" destId="{7841DF95-B1A1-439C-A588-3D8FEF7A2C4D}" srcOrd="9" destOrd="0" presId="urn:microsoft.com/office/officeart/2005/8/layout/radial4"/>
    <dgm:cxn modelId="{9B341B85-1885-4C25-A709-D937C6A6DCBD}" type="presParOf" srcId="{405AC865-8FAD-4104-B79F-92CE45EFF26E}" destId="{4E5901E4-3130-4AAC-B81A-179C8F259C36}" srcOrd="10" destOrd="0" presId="urn:microsoft.com/office/officeart/2005/8/layout/radial4"/>
    <dgm:cxn modelId="{CD46D951-1D9E-482D-BCD6-BCF62E721CCF}" type="presParOf" srcId="{405AC865-8FAD-4104-B79F-92CE45EFF26E}" destId="{1A9C72DD-2145-41EC-B4BC-B9CC96B7FCFA}" srcOrd="11" destOrd="0" presId="urn:microsoft.com/office/officeart/2005/8/layout/radial4"/>
    <dgm:cxn modelId="{608064DB-9666-48EB-924A-AF3156910DB7}" type="presParOf" srcId="{405AC865-8FAD-4104-B79F-92CE45EFF26E}" destId="{421929E6-A89C-4A05-A41A-FD2D8DD37C14}" srcOrd="12"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4C40F2-02D7-4AC2-9F76-E64DF8B8EBC6}">
      <dsp:nvSpPr>
        <dsp:cNvPr id="0" name=""/>
        <dsp:cNvSpPr/>
      </dsp:nvSpPr>
      <dsp:spPr>
        <a:xfrm>
          <a:off x="1857748" y="2004878"/>
          <a:ext cx="1359560" cy="1359560"/>
        </a:xfrm>
        <a:prstGeom prst="ellipse">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333300"/>
              </a:solidFill>
            </a:rPr>
            <a:t>DEFAULTER</a:t>
          </a:r>
        </a:p>
        <a:p>
          <a:pPr marL="0" lvl="0" indent="0" algn="ctr" defTabSz="711200">
            <a:lnSpc>
              <a:spcPct val="90000"/>
            </a:lnSpc>
            <a:spcBef>
              <a:spcPct val="0"/>
            </a:spcBef>
            <a:spcAft>
              <a:spcPct val="35000"/>
            </a:spcAft>
            <a:buNone/>
          </a:pPr>
          <a:r>
            <a:rPr lang="en-US" sz="1600" kern="1200" dirty="0">
              <a:solidFill>
                <a:srgbClr val="333300"/>
              </a:solidFill>
            </a:rPr>
            <a:t>(YES OR NO)</a:t>
          </a:r>
        </a:p>
      </dsp:txBody>
      <dsp:txXfrm>
        <a:off x="2056851" y="2203981"/>
        <a:ext cx="961354" cy="961354"/>
      </dsp:txXfrm>
    </dsp:sp>
    <dsp:sp modelId="{D9CC4D38-0D24-4FFB-858A-F3E14F146D63}">
      <dsp:nvSpPr>
        <dsp:cNvPr id="0" name=""/>
        <dsp:cNvSpPr/>
      </dsp:nvSpPr>
      <dsp:spPr>
        <a:xfrm rot="10800000">
          <a:off x="476358" y="2490921"/>
          <a:ext cx="1305413" cy="387474"/>
        </a:xfrm>
        <a:prstGeom prst="leftArrow">
          <a:avLst>
            <a:gd name="adj1" fmla="val 60000"/>
            <a:gd name="adj2" fmla="val 50000"/>
          </a:avLst>
        </a:prstGeom>
        <a:solidFill>
          <a:srgbClr val="333300"/>
        </a:solidFill>
        <a:ln>
          <a:noFill/>
        </a:ln>
        <a:effectLst/>
      </dsp:spPr>
      <dsp:style>
        <a:lnRef idx="0">
          <a:scrgbClr r="0" g="0" b="0"/>
        </a:lnRef>
        <a:fillRef idx="1">
          <a:scrgbClr r="0" g="0" b="0"/>
        </a:fillRef>
        <a:effectRef idx="0">
          <a:scrgbClr r="0" g="0" b="0"/>
        </a:effectRef>
        <a:fontRef idx="minor">
          <a:schemeClr val="lt1"/>
        </a:fontRef>
      </dsp:style>
    </dsp:sp>
    <dsp:sp modelId="{782E41E8-821B-41B5-B6CE-84EAC40CC5A7}">
      <dsp:nvSpPr>
        <dsp:cNvPr id="0" name=""/>
        <dsp:cNvSpPr/>
      </dsp:nvSpPr>
      <dsp:spPr>
        <a:xfrm>
          <a:off x="512" y="2303981"/>
          <a:ext cx="951692" cy="761353"/>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rgbClr val="333300"/>
              </a:solidFill>
            </a:rPr>
            <a:t>AGE</a:t>
          </a:r>
        </a:p>
      </dsp:txBody>
      <dsp:txXfrm>
        <a:off x="22811" y="2326280"/>
        <a:ext cx="907094" cy="716755"/>
      </dsp:txXfrm>
    </dsp:sp>
    <dsp:sp modelId="{D3AA9255-1FFA-43A9-AE47-1D6E5192C9DE}">
      <dsp:nvSpPr>
        <dsp:cNvPr id="0" name=""/>
        <dsp:cNvSpPr/>
      </dsp:nvSpPr>
      <dsp:spPr>
        <a:xfrm rot="12960000">
          <a:off x="745351" y="1663047"/>
          <a:ext cx="1305413" cy="387474"/>
        </a:xfrm>
        <a:prstGeom prst="leftArrow">
          <a:avLst>
            <a:gd name="adj1" fmla="val 60000"/>
            <a:gd name="adj2" fmla="val 50000"/>
          </a:avLst>
        </a:prstGeom>
        <a:solidFill>
          <a:srgbClr val="333300"/>
        </a:solidFill>
        <a:ln>
          <a:noFill/>
        </a:ln>
        <a:effectLst/>
      </dsp:spPr>
      <dsp:style>
        <a:lnRef idx="0">
          <a:scrgbClr r="0" g="0" b="0"/>
        </a:lnRef>
        <a:fillRef idx="1">
          <a:scrgbClr r="0" g="0" b="0"/>
        </a:fillRef>
        <a:effectRef idx="0">
          <a:scrgbClr r="0" g="0" b="0"/>
        </a:effectRef>
        <a:fontRef idx="minor">
          <a:schemeClr val="lt1"/>
        </a:fontRef>
      </dsp:style>
    </dsp:sp>
    <dsp:sp modelId="{DAABC09C-79E5-4BB3-9E09-4AEC8B79AFFB}">
      <dsp:nvSpPr>
        <dsp:cNvPr id="0" name=""/>
        <dsp:cNvSpPr/>
      </dsp:nvSpPr>
      <dsp:spPr>
        <a:xfrm>
          <a:off x="394161" y="1092456"/>
          <a:ext cx="951692" cy="761353"/>
        </a:xfrm>
        <a:prstGeom prst="roundRect">
          <a:avLst>
            <a:gd name="adj" fmla="val 10000"/>
          </a:avLst>
        </a:prstGeom>
        <a:solidFill>
          <a:schemeClr val="accent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rgbClr val="333300"/>
              </a:solidFill>
            </a:rPr>
            <a:t>EMPLOY</a:t>
          </a:r>
        </a:p>
        <a:p>
          <a:pPr marL="0" lvl="0" indent="0" algn="ctr" defTabSz="666750">
            <a:lnSpc>
              <a:spcPct val="90000"/>
            </a:lnSpc>
            <a:spcBef>
              <a:spcPct val="0"/>
            </a:spcBef>
            <a:spcAft>
              <a:spcPct val="35000"/>
            </a:spcAft>
            <a:buNone/>
          </a:pPr>
          <a:r>
            <a:rPr lang="en-US" sz="1500" b="1" kern="1200" dirty="0">
              <a:solidFill>
                <a:srgbClr val="333300"/>
              </a:solidFill>
            </a:rPr>
            <a:t>(-)</a:t>
          </a:r>
        </a:p>
      </dsp:txBody>
      <dsp:txXfrm>
        <a:off x="416460" y="1114755"/>
        <a:ext cx="907094" cy="716755"/>
      </dsp:txXfrm>
    </dsp:sp>
    <dsp:sp modelId="{44E50ED9-51A9-4C65-8CC5-EE9197808A60}">
      <dsp:nvSpPr>
        <dsp:cNvPr id="0" name=""/>
        <dsp:cNvSpPr/>
      </dsp:nvSpPr>
      <dsp:spPr>
        <a:xfrm rot="15120000">
          <a:off x="1449582" y="1151393"/>
          <a:ext cx="1305413" cy="387474"/>
        </a:xfrm>
        <a:prstGeom prst="leftArrow">
          <a:avLst>
            <a:gd name="adj1" fmla="val 60000"/>
            <a:gd name="adj2" fmla="val 50000"/>
          </a:avLst>
        </a:prstGeom>
        <a:solidFill>
          <a:srgbClr val="333300"/>
        </a:solidFill>
        <a:ln>
          <a:noFill/>
        </a:ln>
        <a:effectLst/>
      </dsp:spPr>
      <dsp:style>
        <a:lnRef idx="0">
          <a:scrgbClr r="0" g="0" b="0"/>
        </a:lnRef>
        <a:fillRef idx="1">
          <a:scrgbClr r="0" g="0" b="0"/>
        </a:fillRef>
        <a:effectRef idx="0">
          <a:scrgbClr r="0" g="0" b="0"/>
        </a:effectRef>
        <a:fontRef idx="minor">
          <a:schemeClr val="lt1"/>
        </a:fontRef>
      </dsp:style>
    </dsp:sp>
    <dsp:sp modelId="{6F960204-8F0F-40DC-936B-EC7780FF5E50}">
      <dsp:nvSpPr>
        <dsp:cNvPr id="0" name=""/>
        <dsp:cNvSpPr/>
      </dsp:nvSpPr>
      <dsp:spPr>
        <a:xfrm>
          <a:off x="1424745" y="343693"/>
          <a:ext cx="951692" cy="761353"/>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rgbClr val="333300"/>
              </a:solidFill>
            </a:rPr>
            <a:t>ADDRESS</a:t>
          </a:r>
        </a:p>
        <a:p>
          <a:pPr marL="0" lvl="0" indent="0" algn="ctr" defTabSz="666750">
            <a:lnSpc>
              <a:spcPct val="90000"/>
            </a:lnSpc>
            <a:spcBef>
              <a:spcPct val="0"/>
            </a:spcBef>
            <a:spcAft>
              <a:spcPct val="35000"/>
            </a:spcAft>
            <a:buNone/>
          </a:pPr>
          <a:r>
            <a:rPr lang="en-US" sz="1500" b="1" kern="1200" dirty="0">
              <a:solidFill>
                <a:srgbClr val="333300"/>
              </a:solidFill>
            </a:rPr>
            <a:t>(-)</a:t>
          </a:r>
        </a:p>
      </dsp:txBody>
      <dsp:txXfrm>
        <a:off x="1447044" y="365992"/>
        <a:ext cx="907094" cy="716755"/>
      </dsp:txXfrm>
    </dsp:sp>
    <dsp:sp modelId="{778C121C-53BB-421E-A77F-34EB35A26C69}">
      <dsp:nvSpPr>
        <dsp:cNvPr id="0" name=""/>
        <dsp:cNvSpPr/>
      </dsp:nvSpPr>
      <dsp:spPr>
        <a:xfrm rot="17280000">
          <a:off x="2320060" y="1151393"/>
          <a:ext cx="1305413" cy="387474"/>
        </a:xfrm>
        <a:prstGeom prst="leftArrow">
          <a:avLst>
            <a:gd name="adj1" fmla="val 60000"/>
            <a:gd name="adj2" fmla="val 50000"/>
          </a:avLst>
        </a:prstGeom>
        <a:solidFill>
          <a:srgbClr val="333300"/>
        </a:solidFill>
        <a:ln>
          <a:noFill/>
        </a:ln>
        <a:effectLst/>
      </dsp:spPr>
      <dsp:style>
        <a:lnRef idx="0">
          <a:scrgbClr r="0" g="0" b="0"/>
        </a:lnRef>
        <a:fillRef idx="1">
          <a:scrgbClr r="0" g="0" b="0"/>
        </a:fillRef>
        <a:effectRef idx="0">
          <a:scrgbClr r="0" g="0" b="0"/>
        </a:effectRef>
        <a:fontRef idx="minor">
          <a:schemeClr val="lt1"/>
        </a:fontRef>
      </dsp:style>
    </dsp:sp>
    <dsp:sp modelId="{A7E9FC40-1706-47AE-B797-5FE1CC6D064F}">
      <dsp:nvSpPr>
        <dsp:cNvPr id="0" name=""/>
        <dsp:cNvSpPr/>
      </dsp:nvSpPr>
      <dsp:spPr>
        <a:xfrm>
          <a:off x="2698618" y="343693"/>
          <a:ext cx="951692" cy="761353"/>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rgbClr val="333300"/>
              </a:solidFill>
            </a:rPr>
            <a:t>DEBTINC</a:t>
          </a:r>
        </a:p>
        <a:p>
          <a:pPr marL="0" lvl="0" indent="0" algn="ctr" defTabSz="666750">
            <a:lnSpc>
              <a:spcPct val="90000"/>
            </a:lnSpc>
            <a:spcBef>
              <a:spcPct val="0"/>
            </a:spcBef>
            <a:spcAft>
              <a:spcPct val="35000"/>
            </a:spcAft>
            <a:buNone/>
          </a:pPr>
          <a:r>
            <a:rPr lang="en-US" sz="1500" b="1" kern="1200" dirty="0">
              <a:solidFill>
                <a:srgbClr val="333300"/>
              </a:solidFill>
            </a:rPr>
            <a:t>(+)</a:t>
          </a:r>
        </a:p>
      </dsp:txBody>
      <dsp:txXfrm>
        <a:off x="2720917" y="365992"/>
        <a:ext cx="907094" cy="716755"/>
      </dsp:txXfrm>
    </dsp:sp>
    <dsp:sp modelId="{7841DF95-B1A1-439C-A588-3D8FEF7A2C4D}">
      <dsp:nvSpPr>
        <dsp:cNvPr id="0" name=""/>
        <dsp:cNvSpPr/>
      </dsp:nvSpPr>
      <dsp:spPr>
        <a:xfrm rot="19440000">
          <a:off x="3024292" y="1663047"/>
          <a:ext cx="1305413" cy="387474"/>
        </a:xfrm>
        <a:prstGeom prst="leftArrow">
          <a:avLst>
            <a:gd name="adj1" fmla="val 60000"/>
            <a:gd name="adj2" fmla="val 50000"/>
          </a:avLst>
        </a:prstGeom>
        <a:solidFill>
          <a:srgbClr val="333300"/>
        </a:solidFill>
        <a:ln>
          <a:noFill/>
        </a:ln>
        <a:effectLst/>
      </dsp:spPr>
      <dsp:style>
        <a:lnRef idx="0">
          <a:scrgbClr r="0" g="0" b="0"/>
        </a:lnRef>
        <a:fillRef idx="1">
          <a:scrgbClr r="0" g="0" b="0"/>
        </a:fillRef>
        <a:effectRef idx="0">
          <a:scrgbClr r="0" g="0" b="0"/>
        </a:effectRef>
        <a:fontRef idx="minor">
          <a:schemeClr val="lt1"/>
        </a:fontRef>
      </dsp:style>
    </dsp:sp>
    <dsp:sp modelId="{4E5901E4-3130-4AAC-B81A-179C8F259C36}">
      <dsp:nvSpPr>
        <dsp:cNvPr id="0" name=""/>
        <dsp:cNvSpPr/>
      </dsp:nvSpPr>
      <dsp:spPr>
        <a:xfrm>
          <a:off x="3729203" y="1092456"/>
          <a:ext cx="951692" cy="761353"/>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rgbClr val="333300"/>
              </a:solidFill>
            </a:rPr>
            <a:t>CREDDEBT</a:t>
          </a:r>
        </a:p>
        <a:p>
          <a:pPr marL="0" lvl="0" indent="0" algn="ctr" defTabSz="666750">
            <a:lnSpc>
              <a:spcPct val="90000"/>
            </a:lnSpc>
            <a:spcBef>
              <a:spcPct val="0"/>
            </a:spcBef>
            <a:spcAft>
              <a:spcPct val="35000"/>
            </a:spcAft>
            <a:buNone/>
          </a:pPr>
          <a:r>
            <a:rPr lang="en-US" sz="1500" b="1" kern="1200" dirty="0">
              <a:solidFill>
                <a:srgbClr val="333300"/>
              </a:solidFill>
            </a:rPr>
            <a:t>(+)</a:t>
          </a:r>
        </a:p>
      </dsp:txBody>
      <dsp:txXfrm>
        <a:off x="3751502" y="1114755"/>
        <a:ext cx="907094" cy="716755"/>
      </dsp:txXfrm>
    </dsp:sp>
    <dsp:sp modelId="{1A9C72DD-2145-41EC-B4BC-B9CC96B7FCFA}">
      <dsp:nvSpPr>
        <dsp:cNvPr id="0" name=""/>
        <dsp:cNvSpPr/>
      </dsp:nvSpPr>
      <dsp:spPr>
        <a:xfrm>
          <a:off x="3293285" y="2490921"/>
          <a:ext cx="1305413" cy="387474"/>
        </a:xfrm>
        <a:prstGeom prst="leftArrow">
          <a:avLst>
            <a:gd name="adj1" fmla="val 60000"/>
            <a:gd name="adj2" fmla="val 50000"/>
          </a:avLst>
        </a:prstGeom>
        <a:solidFill>
          <a:srgbClr val="333300"/>
        </a:solidFill>
        <a:ln>
          <a:noFill/>
        </a:ln>
        <a:effectLst/>
      </dsp:spPr>
      <dsp:style>
        <a:lnRef idx="0">
          <a:scrgbClr r="0" g="0" b="0"/>
        </a:lnRef>
        <a:fillRef idx="1">
          <a:scrgbClr r="0" g="0" b="0"/>
        </a:fillRef>
        <a:effectRef idx="0">
          <a:scrgbClr r="0" g="0" b="0"/>
        </a:effectRef>
        <a:fontRef idx="minor">
          <a:schemeClr val="lt1"/>
        </a:fontRef>
      </dsp:style>
    </dsp:sp>
    <dsp:sp modelId="{421929E6-A89C-4A05-A41A-FD2D8DD37C14}">
      <dsp:nvSpPr>
        <dsp:cNvPr id="0" name=""/>
        <dsp:cNvSpPr/>
      </dsp:nvSpPr>
      <dsp:spPr>
        <a:xfrm>
          <a:off x="4122852" y="2303981"/>
          <a:ext cx="951692" cy="761353"/>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rgbClr val="333300"/>
              </a:solidFill>
            </a:rPr>
            <a:t>OTHDEBT</a:t>
          </a:r>
        </a:p>
        <a:p>
          <a:pPr marL="0" lvl="0" indent="0" algn="ctr" defTabSz="666750">
            <a:lnSpc>
              <a:spcPct val="90000"/>
            </a:lnSpc>
            <a:spcBef>
              <a:spcPct val="0"/>
            </a:spcBef>
            <a:spcAft>
              <a:spcPct val="35000"/>
            </a:spcAft>
            <a:buNone/>
          </a:pPr>
          <a:r>
            <a:rPr lang="en-US" sz="1500" b="1" kern="1200" dirty="0">
              <a:solidFill>
                <a:srgbClr val="333300"/>
              </a:solidFill>
            </a:rPr>
            <a:t>(+)</a:t>
          </a:r>
        </a:p>
      </dsp:txBody>
      <dsp:txXfrm>
        <a:off x="4145151" y="2326280"/>
        <a:ext cx="907094" cy="716755"/>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5737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633441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18906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622998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674412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405142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7001376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843689"/>
            <a:ext cx="6123265"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Binary Logistic Regression</a:t>
            </a:r>
            <a:endParaRPr lang="en-US" sz="4100" dirty="0"/>
          </a:p>
        </p:txBody>
      </p:sp>
      <p:sp>
        <p:nvSpPr>
          <p:cNvPr id="4" name="Text 2"/>
          <p:cNvSpPr/>
          <p:nvPr/>
        </p:nvSpPr>
        <p:spPr>
          <a:xfrm>
            <a:off x="793790" y="3821339"/>
            <a:ext cx="13042821" cy="396954"/>
          </a:xfrm>
          <a:prstGeom prst="rect">
            <a:avLst/>
          </a:prstGeom>
          <a:noFill/>
          <a:ln/>
        </p:spPr>
        <p:txBody>
          <a:bodyPr wrap="none" lIns="0" tIns="0" rIns="0" bIns="0" rtlCol="0" anchor="t"/>
          <a:lstStyle/>
          <a:p>
            <a:pPr marL="0" indent="0" algn="l">
              <a:lnSpc>
                <a:spcPts val="3100"/>
              </a:lnSpc>
              <a:buNone/>
            </a:pPr>
            <a:r>
              <a:rPr lang="en-US" sz="1950" dirty="0">
                <a:solidFill>
                  <a:srgbClr val="383838"/>
                </a:solidFill>
                <a:latin typeface="DM Sans" pitchFamily="34" charset="0"/>
                <a:ea typeface="DM Sans" pitchFamily="34" charset="-122"/>
                <a:cs typeface="DM Sans" pitchFamily="34" charset="-120"/>
              </a:rPr>
              <a:t>Modeling Binary Dependent Variable</a:t>
            </a:r>
            <a:endParaRPr lang="en-US" sz="1950" dirty="0"/>
          </a:p>
        </p:txBody>
      </p:sp>
    </p:spTree>
    <p:extLst>
      <p:ext uri="{BB962C8B-B14F-4D97-AF65-F5344CB8AC3E}">
        <p14:creationId xmlns:p14="http://schemas.microsoft.com/office/powerpoint/2010/main" val="3060174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07162"/>
            <a:ext cx="4763333" cy="595432"/>
          </a:xfrm>
          <a:prstGeom prst="rect">
            <a:avLst/>
          </a:prstGeom>
          <a:noFill/>
          <a:ln/>
        </p:spPr>
        <p:txBody>
          <a:bodyPr wrap="non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Contents</a:t>
            </a:r>
            <a:endParaRPr lang="en-US" sz="3750" dirty="0"/>
          </a:p>
        </p:txBody>
      </p:sp>
      <p:sp>
        <p:nvSpPr>
          <p:cNvPr id="3" name="Text 1"/>
          <p:cNvSpPr/>
          <p:nvPr/>
        </p:nvSpPr>
        <p:spPr>
          <a:xfrm>
            <a:off x="793790"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01</a:t>
            </a:r>
            <a:endParaRPr lang="en-US" sz="1750" dirty="0"/>
          </a:p>
        </p:txBody>
      </p:sp>
      <p:sp>
        <p:nvSpPr>
          <p:cNvPr id="4" name="Shape 2"/>
          <p:cNvSpPr/>
          <p:nvPr/>
        </p:nvSpPr>
        <p:spPr>
          <a:xfrm>
            <a:off x="793790" y="2511266"/>
            <a:ext cx="6407944" cy="30480"/>
          </a:xfrm>
          <a:prstGeom prst="rect">
            <a:avLst/>
          </a:prstGeom>
          <a:solidFill>
            <a:srgbClr val="E04F00"/>
          </a:solidFill>
          <a:ln/>
        </p:spPr>
      </p:sp>
      <p:sp>
        <p:nvSpPr>
          <p:cNvPr id="5" name="Text 3"/>
          <p:cNvSpPr/>
          <p:nvPr/>
        </p:nvSpPr>
        <p:spPr>
          <a:xfrm>
            <a:off x="793790" y="2685574"/>
            <a:ext cx="437030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Binary Logistic Regression Intro</a:t>
            </a:r>
            <a:endParaRPr lang="en-US" sz="2300" dirty="0"/>
          </a:p>
        </p:txBody>
      </p:sp>
      <p:sp>
        <p:nvSpPr>
          <p:cNvPr id="6" name="Text 4"/>
          <p:cNvSpPr/>
          <p:nvPr/>
        </p:nvSpPr>
        <p:spPr>
          <a:xfrm>
            <a:off x="7428548"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02</a:t>
            </a:r>
            <a:endParaRPr lang="en-US" sz="1750" dirty="0"/>
          </a:p>
        </p:txBody>
      </p:sp>
      <p:sp>
        <p:nvSpPr>
          <p:cNvPr id="7" name="Shape 5"/>
          <p:cNvSpPr/>
          <p:nvPr/>
        </p:nvSpPr>
        <p:spPr>
          <a:xfrm>
            <a:off x="7428548" y="2511266"/>
            <a:ext cx="6408063" cy="30480"/>
          </a:xfrm>
          <a:prstGeom prst="rect">
            <a:avLst/>
          </a:prstGeom>
          <a:solidFill>
            <a:srgbClr val="E04F00"/>
          </a:solidFill>
          <a:ln/>
        </p:spPr>
      </p:sp>
      <p:sp>
        <p:nvSpPr>
          <p:cNvPr id="8" name="Text 6"/>
          <p:cNvSpPr/>
          <p:nvPr/>
        </p:nvSpPr>
        <p:spPr>
          <a:xfrm>
            <a:off x="7428548" y="2685574"/>
            <a:ext cx="383321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Why Not Use Linear Regression for Binary Target</a:t>
            </a:r>
            <a:endParaRPr lang="en-US" sz="2300" dirty="0"/>
          </a:p>
        </p:txBody>
      </p:sp>
      <p:sp>
        <p:nvSpPr>
          <p:cNvPr id="9" name="Text 7"/>
          <p:cNvSpPr/>
          <p:nvPr/>
        </p:nvSpPr>
        <p:spPr>
          <a:xfrm>
            <a:off x="793790"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03</a:t>
            </a:r>
            <a:endParaRPr lang="en-US" sz="1750" dirty="0"/>
          </a:p>
        </p:txBody>
      </p:sp>
      <p:sp>
        <p:nvSpPr>
          <p:cNvPr id="10" name="Shape 8"/>
          <p:cNvSpPr/>
          <p:nvPr/>
        </p:nvSpPr>
        <p:spPr>
          <a:xfrm>
            <a:off x="793790" y="3809524"/>
            <a:ext cx="6407944" cy="30480"/>
          </a:xfrm>
          <a:prstGeom prst="rect">
            <a:avLst/>
          </a:prstGeom>
          <a:solidFill>
            <a:srgbClr val="E04F00"/>
          </a:solidFill>
          <a:ln/>
        </p:spPr>
      </p:sp>
      <p:sp>
        <p:nvSpPr>
          <p:cNvPr id="11" name="Text 9"/>
          <p:cNvSpPr/>
          <p:nvPr/>
        </p:nvSpPr>
        <p:spPr>
          <a:xfrm>
            <a:off x="793790" y="3983831"/>
            <a:ext cx="3926681"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Modeling  Customer Default(0/1) </a:t>
            </a:r>
            <a:endParaRPr lang="en-US" sz="2300" dirty="0"/>
          </a:p>
        </p:txBody>
      </p:sp>
      <p:sp>
        <p:nvSpPr>
          <p:cNvPr id="12" name="Text 10"/>
          <p:cNvSpPr/>
          <p:nvPr/>
        </p:nvSpPr>
        <p:spPr>
          <a:xfrm>
            <a:off x="7428548"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04</a:t>
            </a:r>
            <a:endParaRPr lang="en-US" sz="1750" dirty="0"/>
          </a:p>
        </p:txBody>
      </p:sp>
      <p:sp>
        <p:nvSpPr>
          <p:cNvPr id="13" name="Shape 11"/>
          <p:cNvSpPr/>
          <p:nvPr/>
        </p:nvSpPr>
        <p:spPr>
          <a:xfrm>
            <a:off x="7428548" y="3809524"/>
            <a:ext cx="6408063" cy="30480"/>
          </a:xfrm>
          <a:prstGeom prst="rect">
            <a:avLst/>
          </a:prstGeom>
          <a:solidFill>
            <a:srgbClr val="E04F00"/>
          </a:solidFill>
          <a:ln/>
        </p:spPr>
      </p:sp>
      <p:sp>
        <p:nvSpPr>
          <p:cNvPr id="14" name="Text 12"/>
          <p:cNvSpPr/>
          <p:nvPr/>
        </p:nvSpPr>
        <p:spPr>
          <a:xfrm>
            <a:off x="7428548" y="3983831"/>
            <a:ext cx="383702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Estimation of Parameters</a:t>
            </a:r>
            <a:endParaRPr lang="en-US" sz="2300" dirty="0"/>
          </a:p>
        </p:txBody>
      </p:sp>
      <p:sp>
        <p:nvSpPr>
          <p:cNvPr id="15" name="Text 13"/>
          <p:cNvSpPr/>
          <p:nvPr/>
        </p:nvSpPr>
        <p:spPr>
          <a:xfrm>
            <a:off x="793790" y="475273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05</a:t>
            </a:r>
            <a:endParaRPr lang="en-US" sz="1750" dirty="0"/>
          </a:p>
        </p:txBody>
      </p:sp>
      <p:sp>
        <p:nvSpPr>
          <p:cNvPr id="16" name="Shape 14"/>
          <p:cNvSpPr/>
          <p:nvPr/>
        </p:nvSpPr>
        <p:spPr>
          <a:xfrm>
            <a:off x="793790" y="5107781"/>
            <a:ext cx="6407944" cy="30480"/>
          </a:xfrm>
          <a:prstGeom prst="rect">
            <a:avLst/>
          </a:prstGeom>
          <a:solidFill>
            <a:srgbClr val="E04F00"/>
          </a:solidFill>
          <a:ln/>
        </p:spPr>
      </p:sp>
      <p:sp>
        <p:nvSpPr>
          <p:cNvPr id="17" name="Text 15"/>
          <p:cNvSpPr/>
          <p:nvPr/>
        </p:nvSpPr>
        <p:spPr>
          <a:xfrm>
            <a:off x="793790" y="528208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ROC Curve and Confusion Matrix</a:t>
            </a:r>
            <a:endParaRPr lang="en-US" sz="2300" dirty="0"/>
          </a:p>
        </p:txBody>
      </p:sp>
      <p:sp>
        <p:nvSpPr>
          <p:cNvPr id="18" name="Text 16"/>
          <p:cNvSpPr/>
          <p:nvPr/>
        </p:nvSpPr>
        <p:spPr>
          <a:xfrm>
            <a:off x="7428548" y="475273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06</a:t>
            </a:r>
            <a:endParaRPr lang="en-US" sz="1750" dirty="0"/>
          </a:p>
        </p:txBody>
      </p:sp>
      <p:sp>
        <p:nvSpPr>
          <p:cNvPr id="19" name="Shape 17"/>
          <p:cNvSpPr/>
          <p:nvPr/>
        </p:nvSpPr>
        <p:spPr>
          <a:xfrm>
            <a:off x="7428548" y="5107781"/>
            <a:ext cx="6408063" cy="30480"/>
          </a:xfrm>
          <a:prstGeom prst="rect">
            <a:avLst/>
          </a:prstGeom>
          <a:solidFill>
            <a:srgbClr val="E04F00"/>
          </a:solidFill>
          <a:ln/>
        </p:spPr>
      </p:sp>
      <p:sp>
        <p:nvSpPr>
          <p:cNvPr id="20" name="Text 18"/>
          <p:cNvSpPr/>
          <p:nvPr/>
        </p:nvSpPr>
        <p:spPr>
          <a:xfrm>
            <a:off x="7428548" y="528208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Predicted Values</a:t>
            </a:r>
            <a:endParaRPr lang="en-US" sz="2300" dirty="0"/>
          </a:p>
        </p:txBody>
      </p:sp>
    </p:spTree>
    <p:extLst>
      <p:ext uri="{BB962C8B-B14F-4D97-AF65-F5344CB8AC3E}">
        <p14:creationId xmlns:p14="http://schemas.microsoft.com/office/powerpoint/2010/main" val="4288267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962144"/>
            <a:ext cx="6123265"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Binary Logistic Regression</a:t>
            </a:r>
            <a:endParaRPr lang="en-US" sz="4100" dirty="0"/>
          </a:p>
        </p:txBody>
      </p:sp>
      <p:sp>
        <p:nvSpPr>
          <p:cNvPr id="3" name="Text 1"/>
          <p:cNvSpPr/>
          <p:nvPr/>
        </p:nvSpPr>
        <p:spPr>
          <a:xfrm>
            <a:off x="793790" y="2010251"/>
            <a:ext cx="13042821" cy="1190863"/>
          </a:xfrm>
          <a:prstGeom prst="rect">
            <a:avLst/>
          </a:prstGeom>
          <a:noFill/>
          <a:ln/>
        </p:spPr>
        <p:txBody>
          <a:bodyPr wrap="square" lIns="0" tIns="0" rIns="0" bIns="0" rtlCol="0" anchor="t"/>
          <a:lstStyle/>
          <a:p>
            <a:pPr marL="0" indent="0" algn="l">
              <a:lnSpc>
                <a:spcPts val="3100"/>
              </a:lnSpc>
              <a:buNone/>
            </a:pPr>
            <a:r>
              <a:rPr lang="en-US" sz="1950" dirty="0">
                <a:solidFill>
                  <a:srgbClr val="383838"/>
                </a:solidFill>
                <a:latin typeface="DM Sans" pitchFamily="34" charset="0"/>
                <a:ea typeface="DM Sans" pitchFamily="34" charset="-122"/>
                <a:cs typeface="DM Sans" pitchFamily="34" charset="-120"/>
              </a:rPr>
              <a:t>Binary logistic regression is the statistical method of choice when your dependent variable is </a:t>
            </a:r>
            <a:r>
              <a:rPr lang="en-US" sz="1950" b="1" dirty="0">
                <a:solidFill>
                  <a:srgbClr val="383838"/>
                </a:solidFill>
                <a:latin typeface="DM Sans" pitchFamily="34" charset="0"/>
                <a:ea typeface="DM Sans" pitchFamily="34" charset="-122"/>
                <a:cs typeface="DM Sans" pitchFamily="34" charset="-120"/>
              </a:rPr>
              <a:t>binary</a:t>
            </a:r>
            <a:r>
              <a:rPr lang="en-US" sz="1950" dirty="0">
                <a:solidFill>
                  <a:srgbClr val="383838"/>
                </a:solidFill>
                <a:latin typeface="DM Sans" pitchFamily="34" charset="0"/>
                <a:ea typeface="DM Sans" pitchFamily="34" charset="-122"/>
                <a:cs typeface="DM Sans" pitchFamily="34" charset="-120"/>
              </a:rPr>
              <a:t>—taking only two possible values such as zero or one, yes or no, presence or absence, or survival or death. This powerful technique allows you to model the probability of an event occurring based on one or more predictor variables.</a:t>
            </a:r>
            <a:endParaRPr lang="en-US" sz="1950" dirty="0"/>
          </a:p>
        </p:txBody>
      </p:sp>
      <p:sp>
        <p:nvSpPr>
          <p:cNvPr id="4" name="Shape 2"/>
          <p:cNvSpPr/>
          <p:nvPr/>
        </p:nvSpPr>
        <p:spPr>
          <a:xfrm>
            <a:off x="793790" y="3424357"/>
            <a:ext cx="4215289" cy="2428994"/>
          </a:xfrm>
          <a:prstGeom prst="roundRect">
            <a:avLst>
              <a:gd name="adj" fmla="val 1226"/>
            </a:avLst>
          </a:prstGeom>
          <a:solidFill>
            <a:srgbClr val="F2EEEE"/>
          </a:solidFill>
          <a:ln/>
        </p:spPr>
      </p:sp>
      <p:sp>
        <p:nvSpPr>
          <p:cNvPr id="5" name="Shape 3"/>
          <p:cNvSpPr/>
          <p:nvPr/>
        </p:nvSpPr>
        <p:spPr>
          <a:xfrm>
            <a:off x="992148" y="3622715"/>
            <a:ext cx="595313" cy="595313"/>
          </a:xfrm>
          <a:prstGeom prst="roundRect">
            <a:avLst>
              <a:gd name="adj" fmla="val 15358451"/>
            </a:avLst>
          </a:prstGeom>
          <a:solidFill>
            <a:srgbClr val="E04F00"/>
          </a:solidFill>
          <a:ln/>
        </p:spPr>
      </p:sp>
      <p:pic>
        <p:nvPicPr>
          <p:cNvPr id="6" name="Image 0" descr="preencoded.png"/>
          <p:cNvPicPr>
            <a:picLocks noChangeAspect="1"/>
          </p:cNvPicPr>
          <p:nvPr/>
        </p:nvPicPr>
        <p:blipFill>
          <a:blip r:embed="rId3"/>
          <a:stretch>
            <a:fillRect/>
          </a:stretch>
        </p:blipFill>
        <p:spPr>
          <a:xfrm>
            <a:off x="1155859" y="3752850"/>
            <a:ext cx="267891" cy="334923"/>
          </a:xfrm>
          <a:prstGeom prst="rect">
            <a:avLst/>
          </a:prstGeom>
        </p:spPr>
      </p:pic>
      <p:sp>
        <p:nvSpPr>
          <p:cNvPr id="7" name="Text 4"/>
          <p:cNvSpPr/>
          <p:nvPr/>
        </p:nvSpPr>
        <p:spPr>
          <a:xfrm>
            <a:off x="992148" y="441638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Marketing Analytics</a:t>
            </a:r>
            <a:endParaRPr lang="en-US" sz="2050" dirty="0"/>
          </a:p>
        </p:txBody>
      </p:sp>
      <p:sp>
        <p:nvSpPr>
          <p:cNvPr id="8" name="Text 5"/>
          <p:cNvSpPr/>
          <p:nvPr/>
        </p:nvSpPr>
        <p:spPr>
          <a:xfrm>
            <a:off x="992148" y="4861084"/>
            <a:ext cx="3818573" cy="793909"/>
          </a:xfrm>
          <a:prstGeom prst="rect">
            <a:avLst/>
          </a:prstGeom>
          <a:noFill/>
          <a:ln/>
        </p:spPr>
        <p:txBody>
          <a:bodyPr wrap="square" lIns="0" tIns="0" rIns="0" bIns="0" rtlCol="0" anchor="t"/>
          <a:lstStyle/>
          <a:p>
            <a:pPr marL="0" indent="0" algn="l">
              <a:lnSpc>
                <a:spcPts val="3100"/>
              </a:lnSpc>
              <a:buNone/>
            </a:pPr>
            <a:r>
              <a:rPr lang="en-US" sz="1950" dirty="0">
                <a:solidFill>
                  <a:srgbClr val="383838"/>
                </a:solidFill>
                <a:latin typeface="DM Sans" pitchFamily="34" charset="0"/>
                <a:ea typeface="DM Sans" pitchFamily="34" charset="-122"/>
                <a:cs typeface="DM Sans" pitchFamily="34" charset="-120"/>
              </a:rPr>
              <a:t>Cross-sell and up-sell prediction models</a:t>
            </a:r>
            <a:endParaRPr lang="en-US" sz="1950" dirty="0"/>
          </a:p>
        </p:txBody>
      </p:sp>
      <p:sp>
        <p:nvSpPr>
          <p:cNvPr id="9" name="Shape 6"/>
          <p:cNvSpPr/>
          <p:nvPr/>
        </p:nvSpPr>
        <p:spPr>
          <a:xfrm>
            <a:off x="5207437" y="3424357"/>
            <a:ext cx="4215408" cy="2428994"/>
          </a:xfrm>
          <a:prstGeom prst="roundRect">
            <a:avLst>
              <a:gd name="adj" fmla="val 1226"/>
            </a:avLst>
          </a:prstGeom>
          <a:solidFill>
            <a:srgbClr val="F2EEEE"/>
          </a:solidFill>
          <a:ln/>
        </p:spPr>
      </p:sp>
      <p:sp>
        <p:nvSpPr>
          <p:cNvPr id="10" name="Shape 7"/>
          <p:cNvSpPr/>
          <p:nvPr/>
        </p:nvSpPr>
        <p:spPr>
          <a:xfrm>
            <a:off x="5405795" y="3622715"/>
            <a:ext cx="595313" cy="595313"/>
          </a:xfrm>
          <a:prstGeom prst="roundRect">
            <a:avLst>
              <a:gd name="adj" fmla="val 15358451"/>
            </a:avLst>
          </a:prstGeom>
          <a:solidFill>
            <a:srgbClr val="E04F00"/>
          </a:solidFill>
          <a:ln/>
        </p:spPr>
      </p:sp>
      <p:pic>
        <p:nvPicPr>
          <p:cNvPr id="11" name="Image 1" descr="preencoded.png"/>
          <p:cNvPicPr>
            <a:picLocks noChangeAspect="1"/>
          </p:cNvPicPr>
          <p:nvPr/>
        </p:nvPicPr>
        <p:blipFill>
          <a:blip r:embed="rId4"/>
          <a:stretch>
            <a:fillRect/>
          </a:stretch>
        </p:blipFill>
        <p:spPr>
          <a:xfrm>
            <a:off x="5569506" y="3752850"/>
            <a:ext cx="267891" cy="334923"/>
          </a:xfrm>
          <a:prstGeom prst="rect">
            <a:avLst/>
          </a:prstGeom>
        </p:spPr>
      </p:pic>
      <p:sp>
        <p:nvSpPr>
          <p:cNvPr id="12" name="Text 8"/>
          <p:cNvSpPr/>
          <p:nvPr/>
        </p:nvSpPr>
        <p:spPr>
          <a:xfrm>
            <a:off x="5405795" y="441638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Churn Management</a:t>
            </a:r>
            <a:endParaRPr lang="en-US" sz="2050" dirty="0"/>
          </a:p>
        </p:txBody>
      </p:sp>
      <p:sp>
        <p:nvSpPr>
          <p:cNvPr id="13" name="Text 9"/>
          <p:cNvSpPr/>
          <p:nvPr/>
        </p:nvSpPr>
        <p:spPr>
          <a:xfrm>
            <a:off x="5405795" y="4861084"/>
            <a:ext cx="3818692" cy="793909"/>
          </a:xfrm>
          <a:prstGeom prst="rect">
            <a:avLst/>
          </a:prstGeom>
          <a:noFill/>
          <a:ln/>
        </p:spPr>
        <p:txBody>
          <a:bodyPr wrap="square" lIns="0" tIns="0" rIns="0" bIns="0" rtlCol="0" anchor="t"/>
          <a:lstStyle/>
          <a:p>
            <a:pPr marL="0" indent="0" algn="l">
              <a:lnSpc>
                <a:spcPts val="3100"/>
              </a:lnSpc>
              <a:buNone/>
            </a:pPr>
            <a:r>
              <a:rPr lang="en-US" sz="1950" dirty="0">
                <a:solidFill>
                  <a:srgbClr val="383838"/>
                </a:solidFill>
                <a:latin typeface="DM Sans" pitchFamily="34" charset="0"/>
                <a:ea typeface="DM Sans" pitchFamily="34" charset="-122"/>
                <a:cs typeface="DM Sans" pitchFamily="34" charset="-120"/>
              </a:rPr>
              <a:t>Customer and employee retention analysis</a:t>
            </a:r>
            <a:endParaRPr lang="en-US" sz="1950" dirty="0"/>
          </a:p>
        </p:txBody>
      </p:sp>
      <p:sp>
        <p:nvSpPr>
          <p:cNvPr id="14" name="Shape 10"/>
          <p:cNvSpPr/>
          <p:nvPr/>
        </p:nvSpPr>
        <p:spPr>
          <a:xfrm>
            <a:off x="9621203" y="3424357"/>
            <a:ext cx="4215289" cy="2428994"/>
          </a:xfrm>
          <a:prstGeom prst="roundRect">
            <a:avLst>
              <a:gd name="adj" fmla="val 1226"/>
            </a:avLst>
          </a:prstGeom>
          <a:solidFill>
            <a:srgbClr val="F2EEEE"/>
          </a:solidFill>
          <a:ln/>
        </p:spPr>
      </p:sp>
      <p:sp>
        <p:nvSpPr>
          <p:cNvPr id="15" name="Shape 11"/>
          <p:cNvSpPr/>
          <p:nvPr/>
        </p:nvSpPr>
        <p:spPr>
          <a:xfrm>
            <a:off x="9819561" y="3622715"/>
            <a:ext cx="595313" cy="595313"/>
          </a:xfrm>
          <a:prstGeom prst="roundRect">
            <a:avLst>
              <a:gd name="adj" fmla="val 15358451"/>
            </a:avLst>
          </a:prstGeom>
          <a:solidFill>
            <a:srgbClr val="E04F00"/>
          </a:solidFill>
          <a:ln/>
        </p:spPr>
      </p:sp>
      <p:pic>
        <p:nvPicPr>
          <p:cNvPr id="16" name="Image 2" descr="preencoded.png"/>
          <p:cNvPicPr>
            <a:picLocks noChangeAspect="1"/>
          </p:cNvPicPr>
          <p:nvPr/>
        </p:nvPicPr>
        <p:blipFill>
          <a:blip r:embed="rId5"/>
          <a:stretch>
            <a:fillRect/>
          </a:stretch>
        </p:blipFill>
        <p:spPr>
          <a:xfrm>
            <a:off x="9983272" y="3752850"/>
            <a:ext cx="267891" cy="334923"/>
          </a:xfrm>
          <a:prstGeom prst="rect">
            <a:avLst/>
          </a:prstGeom>
        </p:spPr>
      </p:pic>
      <p:sp>
        <p:nvSpPr>
          <p:cNvPr id="17" name="Text 12"/>
          <p:cNvSpPr/>
          <p:nvPr/>
        </p:nvSpPr>
        <p:spPr>
          <a:xfrm>
            <a:off x="9819561" y="441638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Risk Management</a:t>
            </a:r>
            <a:endParaRPr lang="en-US" sz="2050" dirty="0"/>
          </a:p>
        </p:txBody>
      </p:sp>
      <p:sp>
        <p:nvSpPr>
          <p:cNvPr id="18" name="Text 13"/>
          <p:cNvSpPr/>
          <p:nvPr/>
        </p:nvSpPr>
        <p:spPr>
          <a:xfrm>
            <a:off x="9819561" y="4861084"/>
            <a:ext cx="3818573" cy="793909"/>
          </a:xfrm>
          <a:prstGeom prst="rect">
            <a:avLst/>
          </a:prstGeom>
          <a:noFill/>
          <a:ln/>
        </p:spPr>
        <p:txBody>
          <a:bodyPr wrap="square" lIns="0" tIns="0" rIns="0" bIns="0" rtlCol="0" anchor="t"/>
          <a:lstStyle/>
          <a:p>
            <a:pPr marL="0" indent="0" algn="l">
              <a:lnSpc>
                <a:spcPts val="3100"/>
              </a:lnSpc>
              <a:buNone/>
            </a:pPr>
            <a:r>
              <a:rPr lang="en-US" sz="1950" dirty="0">
                <a:solidFill>
                  <a:srgbClr val="383838"/>
                </a:solidFill>
                <a:latin typeface="DM Sans" pitchFamily="34" charset="0"/>
                <a:ea typeface="DM Sans" pitchFamily="34" charset="-122"/>
                <a:cs typeface="DM Sans" pitchFamily="34" charset="-120"/>
              </a:rPr>
              <a:t>Credit scoring and fraud detection systems</a:t>
            </a:r>
            <a:endParaRPr lang="en-US" sz="1950" dirty="0"/>
          </a:p>
        </p:txBody>
      </p:sp>
      <p:sp>
        <p:nvSpPr>
          <p:cNvPr id="19" name="Text 14"/>
          <p:cNvSpPr/>
          <p:nvPr/>
        </p:nvSpPr>
        <p:spPr>
          <a:xfrm>
            <a:off x="793790" y="6076593"/>
            <a:ext cx="13042821" cy="1190863"/>
          </a:xfrm>
          <a:prstGeom prst="rect">
            <a:avLst/>
          </a:prstGeom>
          <a:noFill/>
          <a:ln/>
        </p:spPr>
        <p:txBody>
          <a:bodyPr wrap="square" lIns="0" tIns="0" rIns="0" bIns="0" rtlCol="0" anchor="t"/>
          <a:lstStyle/>
          <a:p>
            <a:pPr marL="0" indent="0" algn="l">
              <a:lnSpc>
                <a:spcPts val="3100"/>
              </a:lnSpc>
              <a:buNone/>
            </a:pPr>
            <a:r>
              <a:rPr lang="en-US" sz="1950" dirty="0">
                <a:solidFill>
                  <a:srgbClr val="383838"/>
                </a:solidFill>
                <a:latin typeface="DM Sans" pitchFamily="34" charset="0"/>
                <a:ea typeface="DM Sans" pitchFamily="34" charset="-122"/>
                <a:cs typeface="DM Sans" pitchFamily="34" charset="-120"/>
              </a:rPr>
              <a:t>The independent variables in your model can be either categorical (such as gender or region) or continuous (such as age or income), providing tremendous flexibility in model specification. This versatility makes logistic regression applicable across diverse fields including market research and clinical studies.</a:t>
            </a:r>
            <a:endParaRPr lang="en-US" sz="1950" dirty="0"/>
          </a:p>
        </p:txBody>
      </p:sp>
    </p:spTree>
    <p:extLst>
      <p:ext uri="{BB962C8B-B14F-4D97-AF65-F5344CB8AC3E}">
        <p14:creationId xmlns:p14="http://schemas.microsoft.com/office/powerpoint/2010/main" val="2783047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42097" y="679453"/>
            <a:ext cx="7556421" cy="1302544"/>
          </a:xfrm>
          <a:prstGeom prst="rect">
            <a:avLst/>
          </a:prstGeom>
          <a:noFill/>
          <a:ln/>
        </p:spPr>
        <p:txBody>
          <a:bodyPr wrap="squar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Why Not Use Linear Regression Model?</a:t>
            </a:r>
            <a:endParaRPr lang="en-US" sz="4100" dirty="0"/>
          </a:p>
        </p:txBody>
      </p:sp>
      <p:sp>
        <p:nvSpPr>
          <p:cNvPr id="4" name="Text 1"/>
          <p:cNvSpPr/>
          <p:nvPr/>
        </p:nvSpPr>
        <p:spPr>
          <a:xfrm>
            <a:off x="442096" y="4843712"/>
            <a:ext cx="7556421" cy="3234883"/>
          </a:xfrm>
          <a:prstGeom prst="rect">
            <a:avLst/>
          </a:prstGeom>
          <a:noFill/>
          <a:ln/>
        </p:spPr>
        <p:txBody>
          <a:bodyPr wrap="square" lIns="0" tIns="0" rIns="0" bIns="0" rtlCol="0" anchor="t"/>
          <a:lstStyle/>
          <a:p>
            <a:pPr marL="0" indent="0" algn="l">
              <a:lnSpc>
                <a:spcPts val="3100"/>
              </a:lnSpc>
              <a:buNone/>
            </a:pPr>
            <a:r>
              <a:rPr lang="en-US" sz="1950" dirty="0">
                <a:solidFill>
                  <a:srgbClr val="383838"/>
                </a:solidFill>
                <a:latin typeface="DM Sans" pitchFamily="34" charset="0"/>
                <a:ea typeface="DM Sans" pitchFamily="34" charset="-122"/>
                <a:cs typeface="DM Sans" pitchFamily="34" charset="-120"/>
              </a:rPr>
              <a:t> </a:t>
            </a:r>
          </a:p>
          <a:p>
            <a:pPr marL="285750" indent="-285750">
              <a:lnSpc>
                <a:spcPct val="150000"/>
              </a:lnSpc>
              <a:buFont typeface="Arial" pitchFamily="34" charset="0"/>
              <a:buChar char="•"/>
            </a:pPr>
            <a:r>
              <a:rPr lang="en-IN" sz="2000" dirty="0">
                <a:solidFill>
                  <a:schemeClr val="tx1">
                    <a:lumMod val="75000"/>
                    <a:lumOff val="25000"/>
                  </a:schemeClr>
                </a:solidFill>
              </a:rPr>
              <a:t>If binary variable Y is used on left hand side of the model, then the two sides are not comparable. Right hand side is a continuous term.</a:t>
            </a:r>
          </a:p>
          <a:p>
            <a:pPr marL="285750" indent="-285750">
              <a:lnSpc>
                <a:spcPct val="150000"/>
              </a:lnSpc>
              <a:buFont typeface="Arial" pitchFamily="34" charset="0"/>
              <a:buChar char="•"/>
            </a:pPr>
            <a:r>
              <a:rPr lang="en-US" sz="2000" dirty="0">
                <a:solidFill>
                  <a:schemeClr val="tx1">
                    <a:lumMod val="75000"/>
                    <a:lumOff val="25000"/>
                  </a:schemeClr>
                </a:solidFill>
              </a:rPr>
              <a:t>If probability  ‘P’ is used instead of Y then linearity may not hold true. The relationship assumed in logistic regression is a  ‘S’ shaped curve.</a:t>
            </a:r>
          </a:p>
          <a:p>
            <a:pPr marL="0" indent="0" algn="l">
              <a:lnSpc>
                <a:spcPts val="3100"/>
              </a:lnSpc>
              <a:buNone/>
            </a:pPr>
            <a:endParaRPr lang="en-US" sz="1950" dirty="0">
              <a:solidFill>
                <a:srgbClr val="383838"/>
              </a:solidFill>
              <a:latin typeface="DM Sans" pitchFamily="34" charset="0"/>
              <a:ea typeface="DM Sans" pitchFamily="34" charset="-122"/>
              <a:cs typeface="DM Sans" pitchFamily="34" charset="-120"/>
            </a:endParaRPr>
          </a:p>
          <a:p>
            <a:pPr marL="0" indent="0" algn="l">
              <a:lnSpc>
                <a:spcPts val="3100"/>
              </a:lnSpc>
              <a:buNone/>
            </a:pPr>
            <a:endParaRPr lang="en-US" sz="195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05FB51B-B53E-2D48-8A13-3D56397BD4AC}"/>
                  </a:ext>
                </a:extLst>
              </p:cNvPr>
              <p:cNvSpPr txBox="1"/>
              <p:nvPr/>
            </p:nvSpPr>
            <p:spPr>
              <a:xfrm>
                <a:off x="867612" y="3151427"/>
                <a:ext cx="4623372" cy="772287"/>
              </a:xfrm>
              <a:prstGeom prst="roundRect">
                <a:avLst/>
              </a:prstGeom>
              <a:noFill/>
              <a:ln w="3175">
                <a:solidFill>
                  <a:schemeClr val="accent1"/>
                </a:solidFill>
              </a:ln>
            </p:spPr>
            <p:txBody>
              <a:bodyPr wrap="none" rtlCol="0" anchor="ctr">
                <a:spAutoFit/>
              </a:bodyPr>
              <a:lstStyle/>
              <a:p>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75000"/>
                              <a:lumOff val="25000"/>
                            </a:schemeClr>
                          </a:solidFill>
                          <a:latin typeface="Cambria Math"/>
                        </a:rPr>
                        <m:t>Y</m:t>
                      </m:r>
                      <m:r>
                        <a:rPr lang="en-US" b="0" i="0" smtClean="0">
                          <a:solidFill>
                            <a:schemeClr val="tx1">
                              <a:lumMod val="75000"/>
                              <a:lumOff val="25000"/>
                            </a:schemeClr>
                          </a:solidFill>
                          <a:latin typeface="Cambria Math"/>
                        </a:rPr>
                        <m:t>= </m:t>
                      </m:r>
                      <m:sSub>
                        <m:sSubPr>
                          <m:ctrlPr>
                            <a:rPr lang="en-US" b="0" i="1" smtClean="0">
                              <a:solidFill>
                                <a:schemeClr val="tx1">
                                  <a:lumMod val="75000"/>
                                  <a:lumOff val="25000"/>
                                </a:schemeClr>
                              </a:solidFill>
                              <a:latin typeface="Cambria Math" panose="02040503050406030204" pitchFamily="18" charset="0"/>
                            </a:rPr>
                          </m:ctrlPr>
                        </m:sSubPr>
                        <m:e>
                          <m:r>
                            <m:rPr>
                              <m:sty m:val="p"/>
                            </m:rPr>
                            <a:rPr lang="en-US" b="0" i="0" smtClean="0">
                              <a:solidFill>
                                <a:schemeClr val="tx1">
                                  <a:lumMod val="75000"/>
                                  <a:lumOff val="25000"/>
                                </a:schemeClr>
                              </a:solidFill>
                              <a:latin typeface="Cambria Math"/>
                            </a:rPr>
                            <m:t>b</m:t>
                          </m:r>
                        </m:e>
                        <m:sub>
                          <m:r>
                            <a:rPr lang="en-US" b="0" i="0" smtClean="0">
                              <a:solidFill>
                                <a:schemeClr val="tx1">
                                  <a:lumMod val="75000"/>
                                  <a:lumOff val="25000"/>
                                </a:schemeClr>
                              </a:solidFill>
                              <a:latin typeface="Cambria Math"/>
                            </a:rPr>
                            <m:t>0</m:t>
                          </m:r>
                        </m:sub>
                      </m:sSub>
                      <m:r>
                        <a:rPr lang="en-US" b="0" i="0" smtClean="0">
                          <a:solidFill>
                            <a:schemeClr val="tx1">
                              <a:lumMod val="75000"/>
                              <a:lumOff val="25000"/>
                            </a:schemeClr>
                          </a:solidFill>
                          <a:latin typeface="Cambria Math"/>
                        </a:rPr>
                        <m:t>+</m:t>
                      </m:r>
                      <m:sSub>
                        <m:sSubPr>
                          <m:ctrlPr>
                            <a:rPr lang="en-US" i="1">
                              <a:solidFill>
                                <a:schemeClr val="tx1">
                                  <a:lumMod val="75000"/>
                                  <a:lumOff val="25000"/>
                                </a:schemeClr>
                              </a:solidFill>
                              <a:latin typeface="Cambria Math" panose="02040503050406030204" pitchFamily="18" charset="0"/>
                            </a:rPr>
                          </m:ctrlPr>
                        </m:sSubPr>
                        <m:e>
                          <m:r>
                            <m:rPr>
                              <m:sty m:val="p"/>
                            </m:rPr>
                            <a:rPr lang="en-US" i="0">
                              <a:solidFill>
                                <a:schemeClr val="tx1">
                                  <a:lumMod val="75000"/>
                                  <a:lumOff val="25000"/>
                                </a:schemeClr>
                              </a:solidFill>
                              <a:latin typeface="Cambria Math"/>
                            </a:rPr>
                            <m:t>b</m:t>
                          </m:r>
                        </m:e>
                        <m:sub>
                          <m:r>
                            <a:rPr lang="en-US" b="0" i="0" smtClean="0">
                              <a:solidFill>
                                <a:schemeClr val="tx1">
                                  <a:lumMod val="75000"/>
                                  <a:lumOff val="25000"/>
                                </a:schemeClr>
                              </a:solidFill>
                              <a:latin typeface="Cambria Math"/>
                            </a:rPr>
                            <m:t>1</m:t>
                          </m:r>
                        </m:sub>
                      </m:sSub>
                      <m:sSub>
                        <m:sSubPr>
                          <m:ctrlPr>
                            <a:rPr lang="en-US" i="1">
                              <a:solidFill>
                                <a:schemeClr val="tx1">
                                  <a:lumMod val="75000"/>
                                  <a:lumOff val="25000"/>
                                </a:schemeClr>
                              </a:solidFill>
                              <a:latin typeface="Cambria Math" panose="02040503050406030204" pitchFamily="18" charset="0"/>
                            </a:rPr>
                          </m:ctrlPr>
                        </m:sSubPr>
                        <m:e>
                          <m:r>
                            <m:rPr>
                              <m:sty m:val="p"/>
                            </m:rPr>
                            <a:rPr lang="en-US" b="0" i="0" smtClean="0">
                              <a:solidFill>
                                <a:schemeClr val="tx1">
                                  <a:lumMod val="75000"/>
                                  <a:lumOff val="25000"/>
                                </a:schemeClr>
                              </a:solidFill>
                              <a:latin typeface="Cambria Math"/>
                            </a:rPr>
                            <m:t>X</m:t>
                          </m:r>
                        </m:e>
                        <m:sub>
                          <m:r>
                            <a:rPr lang="en-US" b="0" i="0" smtClean="0">
                              <a:solidFill>
                                <a:schemeClr val="tx1">
                                  <a:lumMod val="75000"/>
                                  <a:lumOff val="25000"/>
                                </a:schemeClr>
                              </a:solidFill>
                              <a:latin typeface="Cambria Math"/>
                            </a:rPr>
                            <m:t>1</m:t>
                          </m:r>
                        </m:sub>
                      </m:sSub>
                      <m:r>
                        <a:rPr lang="en-US" b="0" i="0" smtClean="0">
                          <a:solidFill>
                            <a:schemeClr val="tx1">
                              <a:lumMod val="75000"/>
                              <a:lumOff val="25000"/>
                            </a:schemeClr>
                          </a:solidFill>
                          <a:latin typeface="Cambria Math"/>
                        </a:rPr>
                        <m:t>+</m:t>
                      </m:r>
                      <m:sSub>
                        <m:sSubPr>
                          <m:ctrlPr>
                            <a:rPr lang="en-US" i="1">
                              <a:solidFill>
                                <a:schemeClr val="tx1">
                                  <a:lumMod val="75000"/>
                                  <a:lumOff val="25000"/>
                                </a:schemeClr>
                              </a:solidFill>
                              <a:latin typeface="Cambria Math" panose="02040503050406030204" pitchFamily="18" charset="0"/>
                            </a:rPr>
                          </m:ctrlPr>
                        </m:sSubPr>
                        <m:e>
                          <m:r>
                            <m:rPr>
                              <m:sty m:val="p"/>
                            </m:rPr>
                            <a:rPr lang="en-US" i="0">
                              <a:solidFill>
                                <a:schemeClr val="tx1">
                                  <a:lumMod val="75000"/>
                                  <a:lumOff val="25000"/>
                                </a:schemeClr>
                              </a:solidFill>
                              <a:latin typeface="Cambria Math"/>
                            </a:rPr>
                            <m:t>b</m:t>
                          </m:r>
                        </m:e>
                        <m:sub>
                          <m:r>
                            <a:rPr lang="en-US" b="0" i="0" smtClean="0">
                              <a:solidFill>
                                <a:schemeClr val="tx1">
                                  <a:lumMod val="75000"/>
                                  <a:lumOff val="25000"/>
                                </a:schemeClr>
                              </a:solidFill>
                              <a:latin typeface="Cambria Math"/>
                            </a:rPr>
                            <m:t>2</m:t>
                          </m:r>
                        </m:sub>
                      </m:sSub>
                      <m:sSub>
                        <m:sSubPr>
                          <m:ctrlPr>
                            <a:rPr lang="en-US" i="1">
                              <a:solidFill>
                                <a:schemeClr val="tx1">
                                  <a:lumMod val="75000"/>
                                  <a:lumOff val="25000"/>
                                </a:schemeClr>
                              </a:solidFill>
                              <a:latin typeface="Cambria Math" panose="02040503050406030204" pitchFamily="18" charset="0"/>
                            </a:rPr>
                          </m:ctrlPr>
                        </m:sSubPr>
                        <m:e>
                          <m:r>
                            <m:rPr>
                              <m:sty m:val="p"/>
                            </m:rPr>
                            <a:rPr lang="en-US" b="0" i="0" smtClean="0">
                              <a:solidFill>
                                <a:schemeClr val="tx1">
                                  <a:lumMod val="75000"/>
                                  <a:lumOff val="25000"/>
                                </a:schemeClr>
                              </a:solidFill>
                              <a:latin typeface="Cambria Math"/>
                            </a:rPr>
                            <m:t>X</m:t>
                          </m:r>
                        </m:e>
                        <m:sub>
                          <m:r>
                            <a:rPr lang="en-US" b="0" i="0" smtClean="0">
                              <a:solidFill>
                                <a:schemeClr val="tx1">
                                  <a:lumMod val="75000"/>
                                  <a:lumOff val="25000"/>
                                </a:schemeClr>
                              </a:solidFill>
                              <a:latin typeface="Cambria Math"/>
                            </a:rPr>
                            <m:t>2</m:t>
                          </m:r>
                        </m:sub>
                      </m:sSub>
                      <m:r>
                        <a:rPr lang="en-US" b="0" i="0" smtClean="0">
                          <a:solidFill>
                            <a:schemeClr val="tx1">
                              <a:lumMod val="75000"/>
                              <a:lumOff val="25000"/>
                            </a:schemeClr>
                          </a:solidFill>
                          <a:latin typeface="Cambria Math"/>
                        </a:rPr>
                        <m:t>+ … +</m:t>
                      </m:r>
                      <m:sSub>
                        <m:sSubPr>
                          <m:ctrlPr>
                            <a:rPr lang="en-US" i="1">
                              <a:solidFill>
                                <a:schemeClr val="tx1">
                                  <a:lumMod val="75000"/>
                                  <a:lumOff val="25000"/>
                                </a:schemeClr>
                              </a:solidFill>
                              <a:latin typeface="Cambria Math" panose="02040503050406030204" pitchFamily="18" charset="0"/>
                            </a:rPr>
                          </m:ctrlPr>
                        </m:sSubPr>
                        <m:e>
                          <m:r>
                            <m:rPr>
                              <m:sty m:val="p"/>
                            </m:rPr>
                            <a:rPr lang="en-US" i="0">
                              <a:solidFill>
                                <a:schemeClr val="tx1">
                                  <a:lumMod val="75000"/>
                                  <a:lumOff val="25000"/>
                                </a:schemeClr>
                              </a:solidFill>
                              <a:latin typeface="Cambria Math"/>
                            </a:rPr>
                            <m:t>b</m:t>
                          </m:r>
                        </m:e>
                        <m:sub>
                          <m:r>
                            <m:rPr>
                              <m:sty m:val="p"/>
                            </m:rPr>
                            <a:rPr lang="en-US" b="0" i="0" smtClean="0">
                              <a:solidFill>
                                <a:schemeClr val="tx1">
                                  <a:lumMod val="75000"/>
                                  <a:lumOff val="25000"/>
                                </a:schemeClr>
                              </a:solidFill>
                              <a:latin typeface="Cambria Math"/>
                            </a:rPr>
                            <m:t>p</m:t>
                          </m:r>
                        </m:sub>
                      </m:sSub>
                      <m:sSub>
                        <m:sSubPr>
                          <m:ctrlPr>
                            <a:rPr lang="en-US" i="1">
                              <a:solidFill>
                                <a:schemeClr val="tx1">
                                  <a:lumMod val="75000"/>
                                  <a:lumOff val="25000"/>
                                </a:schemeClr>
                              </a:solidFill>
                              <a:latin typeface="Cambria Math" panose="02040503050406030204" pitchFamily="18" charset="0"/>
                            </a:rPr>
                          </m:ctrlPr>
                        </m:sSubPr>
                        <m:e>
                          <m:r>
                            <m:rPr>
                              <m:sty m:val="p"/>
                            </m:rPr>
                            <a:rPr lang="en-US" b="0" i="0" smtClean="0">
                              <a:solidFill>
                                <a:schemeClr val="tx1">
                                  <a:lumMod val="75000"/>
                                  <a:lumOff val="25000"/>
                                </a:schemeClr>
                              </a:solidFill>
                              <a:latin typeface="Cambria Math"/>
                            </a:rPr>
                            <m:t>X</m:t>
                          </m:r>
                        </m:e>
                        <m:sub>
                          <m:r>
                            <m:rPr>
                              <m:sty m:val="p"/>
                            </m:rPr>
                            <a:rPr lang="en-US" b="0" i="0" smtClean="0">
                              <a:solidFill>
                                <a:schemeClr val="tx1">
                                  <a:lumMod val="75000"/>
                                  <a:lumOff val="25000"/>
                                </a:schemeClr>
                              </a:solidFill>
                              <a:latin typeface="Cambria Math"/>
                            </a:rPr>
                            <m:t>p</m:t>
                          </m:r>
                        </m:sub>
                      </m:sSub>
                      <m:r>
                        <a:rPr lang="en-US" b="0" i="0" smtClean="0">
                          <a:solidFill>
                            <a:schemeClr val="tx1">
                              <a:lumMod val="75000"/>
                              <a:lumOff val="25000"/>
                            </a:schemeClr>
                          </a:solidFill>
                          <a:latin typeface="Cambria Math"/>
                        </a:rPr>
                        <m:t>+</m:t>
                      </m:r>
                      <m:r>
                        <m:rPr>
                          <m:sty m:val="p"/>
                        </m:rPr>
                        <a:rPr lang="en-US" b="0" i="0" smtClean="0">
                          <a:solidFill>
                            <a:schemeClr val="tx1">
                              <a:lumMod val="75000"/>
                              <a:lumOff val="25000"/>
                            </a:schemeClr>
                          </a:solidFill>
                          <a:latin typeface="Cambria Math"/>
                        </a:rPr>
                        <m:t>e</m:t>
                      </m:r>
                    </m:oMath>
                  </m:oMathPara>
                </a14:m>
                <a:endParaRPr lang="en-US" dirty="0">
                  <a:solidFill>
                    <a:schemeClr val="tx1">
                      <a:lumMod val="75000"/>
                      <a:lumOff val="25000"/>
                    </a:schemeClr>
                  </a:solidFill>
                </a:endParaRPr>
              </a:p>
            </p:txBody>
          </p:sp>
        </mc:Choice>
        <mc:Fallback xmlns="">
          <p:sp>
            <p:nvSpPr>
              <p:cNvPr id="5" name="TextBox 4">
                <a:extLst>
                  <a:ext uri="{FF2B5EF4-FFF2-40B4-BE49-F238E27FC236}">
                    <a16:creationId xmlns:a16="http://schemas.microsoft.com/office/drawing/2014/main" id="{B05FB51B-B53E-2D48-8A13-3D56397BD4AC}"/>
                  </a:ext>
                </a:extLst>
              </p:cNvPr>
              <p:cNvSpPr txBox="1">
                <a:spLocks noRot="1" noChangeAspect="1" noMove="1" noResize="1" noEditPoints="1" noAdjustHandles="1" noChangeArrowheads="1" noChangeShapeType="1" noTextEdit="1"/>
              </p:cNvSpPr>
              <p:nvPr/>
            </p:nvSpPr>
            <p:spPr>
              <a:xfrm>
                <a:off x="867612" y="3151427"/>
                <a:ext cx="4623372" cy="772287"/>
              </a:xfrm>
              <a:prstGeom prst="roundRect">
                <a:avLst/>
              </a:prstGeom>
              <a:blipFill>
                <a:blip r:embed="rId3"/>
                <a:stretch>
                  <a:fillRect/>
                </a:stretch>
              </a:blipFill>
              <a:ln w="3175">
                <a:solidFill>
                  <a:schemeClr val="accent1"/>
                </a:solidFill>
              </a:ln>
            </p:spPr>
            <p:txBody>
              <a:bodyPr/>
              <a:lstStyle/>
              <a:p>
                <a:r>
                  <a:rPr lang="en-US">
                    <a:noFill/>
                  </a:rPr>
                  <a:t> </a:t>
                </a:r>
              </a:p>
            </p:txBody>
          </p:sp>
        </mc:Fallback>
      </mc:AlternateContent>
      <p:sp>
        <p:nvSpPr>
          <p:cNvPr id="6" name="Rectangle 5">
            <a:extLst>
              <a:ext uri="{FF2B5EF4-FFF2-40B4-BE49-F238E27FC236}">
                <a16:creationId xmlns:a16="http://schemas.microsoft.com/office/drawing/2014/main" id="{E917A30C-1498-4143-979A-28CA2ECA87EA}"/>
              </a:ext>
            </a:extLst>
          </p:cNvPr>
          <p:cNvSpPr/>
          <p:nvPr/>
        </p:nvSpPr>
        <p:spPr>
          <a:xfrm>
            <a:off x="168812" y="2397435"/>
            <a:ext cx="5805405" cy="400110"/>
          </a:xfrm>
          <a:prstGeom prst="rect">
            <a:avLst/>
          </a:prstGeom>
        </p:spPr>
        <p:txBody>
          <a:bodyPr wrap="square">
            <a:spAutoFit/>
          </a:bodyPr>
          <a:lstStyle/>
          <a:p>
            <a:pPr algn="ctr"/>
            <a:r>
              <a:rPr lang="en-US" sz="2000" dirty="0">
                <a:solidFill>
                  <a:schemeClr val="tx1">
                    <a:lumMod val="75000"/>
                    <a:lumOff val="25000"/>
                  </a:schemeClr>
                </a:solidFill>
              </a:rPr>
              <a:t>The statistical model for multiple linear regression is</a:t>
            </a:r>
          </a:p>
        </p:txBody>
      </p:sp>
      <p:pic>
        <p:nvPicPr>
          <p:cNvPr id="7" name="Image 0" descr="preencoded.png">
            <a:extLst>
              <a:ext uri="{FF2B5EF4-FFF2-40B4-BE49-F238E27FC236}">
                <a16:creationId xmlns:a16="http://schemas.microsoft.com/office/drawing/2014/main" id="{74DD413F-915E-A04B-8E46-6C1E8A27B63A}"/>
              </a:ext>
            </a:extLst>
          </p:cNvPr>
          <p:cNvPicPr>
            <a:picLocks noChangeAspect="1"/>
          </p:cNvPicPr>
          <p:nvPr/>
        </p:nvPicPr>
        <p:blipFill>
          <a:blip r:embed="rId4"/>
          <a:stretch>
            <a:fillRect/>
          </a:stretch>
        </p:blipFill>
        <p:spPr>
          <a:xfrm>
            <a:off x="6888405" y="1672293"/>
            <a:ext cx="7129645" cy="3171419"/>
          </a:xfrm>
          <a:prstGeom prst="rect">
            <a:avLst/>
          </a:prstGeom>
        </p:spPr>
      </p:pic>
    </p:spTree>
    <p:extLst>
      <p:ext uri="{BB962C8B-B14F-4D97-AF65-F5344CB8AC3E}">
        <p14:creationId xmlns:p14="http://schemas.microsoft.com/office/powerpoint/2010/main" val="2639209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521976"/>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The Statistical Model</a:t>
            </a:r>
            <a:endParaRPr lang="en-US" sz="4100" dirty="0"/>
          </a:p>
        </p:txBody>
      </p:sp>
      <p:sp>
        <p:nvSpPr>
          <p:cNvPr id="3" name="Text 1"/>
          <p:cNvSpPr/>
          <p:nvPr/>
        </p:nvSpPr>
        <p:spPr>
          <a:xfrm>
            <a:off x="793790" y="2570083"/>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mathematical foundation of binary logistic regression transforms the bounded probability into an unbounded scale that can be modeled linearly. This transformation is the key to the method's success.</a:t>
            </a:r>
          </a:p>
          <a:p>
            <a:pPr marL="0" indent="0" algn="l">
              <a:lnSpc>
                <a:spcPts val="2500"/>
              </a:lnSpc>
              <a:buNone/>
            </a:pPr>
            <a:endParaRPr lang="en-US" sz="1550" dirty="0">
              <a:solidFill>
                <a:srgbClr val="383838"/>
              </a:solidFill>
              <a:latin typeface="DM Sans" pitchFamily="34" charset="0"/>
            </a:endParaRPr>
          </a:p>
          <a:p>
            <a:pPr marL="0" indent="0" algn="l">
              <a:lnSpc>
                <a:spcPts val="2500"/>
              </a:lnSpc>
              <a:buNone/>
            </a:pPr>
            <a:endParaRPr lang="en-US" sz="1550" dirty="0"/>
          </a:p>
        </p:txBody>
      </p:sp>
      <p:sp>
        <p:nvSpPr>
          <p:cNvPr id="4" name="Text 2"/>
          <p:cNvSpPr/>
          <p:nvPr/>
        </p:nvSpPr>
        <p:spPr>
          <a:xfrm>
            <a:off x="793790" y="3428405"/>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Let Y be the binary dependent variable and X₁, X₂, ..., Xₖ be K independent variables. We define p as the probability that Y equals 1. The logistic regression model is:</a:t>
            </a:r>
            <a:endParaRPr lang="en-US" dirty="0"/>
          </a:p>
        </p:txBody>
      </p:sp>
      <p:sp>
        <p:nvSpPr>
          <p:cNvPr id="5" name="Text 3"/>
          <p:cNvSpPr/>
          <p:nvPr/>
        </p:nvSpPr>
        <p:spPr>
          <a:xfrm>
            <a:off x="793790" y="4314587"/>
            <a:ext cx="13042821" cy="648414"/>
          </a:xfrm>
          <a:prstGeom prst="rect">
            <a:avLst/>
          </a:prstGeom>
          <a:noFill/>
          <a:ln/>
        </p:spPr>
        <p:txBody>
          <a:bodyPr wrap="square" lIns="0" tIns="0" rIns="0" bIns="0" rtlCol="0" anchor="t"/>
          <a:lstStyle/>
          <a:p>
            <a:pPr marL="0" indent="0" algn="l">
              <a:lnSpc>
                <a:spcPts val="2800"/>
              </a:lnSpc>
              <a:buNone/>
            </a:pPr>
            <a:endParaRPr lang="en-US" sz="1750" dirty="0"/>
          </a:p>
        </p:txBody>
      </p:sp>
      <p:sp>
        <p:nvSpPr>
          <p:cNvPr id="8" name="Text 5"/>
          <p:cNvSpPr/>
          <p:nvPr/>
        </p:nvSpPr>
        <p:spPr>
          <a:xfrm>
            <a:off x="793790" y="6072426"/>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parameters b₀, b₁, ..., bₖ are estimated using Maximum Likelihood Estimation (MLE), which finds the parameter values that make the observed data most probable.</a:t>
            </a:r>
            <a:endParaRPr lang="en-US"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7CDA763-F7CE-8240-A5E2-B2E3DC00AD8D}"/>
                  </a:ext>
                </a:extLst>
              </p:cNvPr>
              <p:cNvSpPr txBox="1"/>
              <p:nvPr/>
            </p:nvSpPr>
            <p:spPr>
              <a:xfrm>
                <a:off x="3204895" y="4727000"/>
                <a:ext cx="4422334" cy="790713"/>
              </a:xfrm>
              <a:prstGeom prst="roundRect">
                <a:avLst/>
              </a:prstGeom>
              <a:noFill/>
              <a:ln w="3175">
                <a:solidFill>
                  <a:schemeClr val="accent1"/>
                </a:solidFill>
              </a:ln>
            </p:spPr>
            <p:txBody>
              <a:bodyPr wrap="none" rtlCol="0" anchor="ctr">
                <a:spAutoFit/>
              </a:bodyPr>
              <a:lstStyle/>
              <a:p>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75000"/>
                              <a:lumOff val="25000"/>
                            </a:schemeClr>
                          </a:solidFill>
                          <a:latin typeface="Cambria Math"/>
                        </a:rPr>
                        <m:t>log</m:t>
                      </m:r>
                      <m:d>
                        <m:dPr>
                          <m:ctrlPr>
                            <a:rPr lang="en-US" b="0" i="1" smtClean="0">
                              <a:solidFill>
                                <a:schemeClr val="tx1">
                                  <a:lumMod val="75000"/>
                                  <a:lumOff val="25000"/>
                                </a:schemeClr>
                              </a:solidFill>
                              <a:latin typeface="Cambria Math" panose="02040503050406030204" pitchFamily="18" charset="0"/>
                            </a:rPr>
                          </m:ctrlPr>
                        </m:dPr>
                        <m:e>
                          <m:f>
                            <m:fPr>
                              <m:ctrlPr>
                                <a:rPr lang="en-US" b="0" i="1" smtClean="0">
                                  <a:solidFill>
                                    <a:schemeClr val="tx1">
                                      <a:lumMod val="75000"/>
                                      <a:lumOff val="25000"/>
                                    </a:schemeClr>
                                  </a:solidFill>
                                  <a:latin typeface="Cambria Math" panose="02040503050406030204" pitchFamily="18" charset="0"/>
                                </a:rPr>
                              </m:ctrlPr>
                            </m:fPr>
                            <m:num>
                              <m:r>
                                <m:rPr>
                                  <m:sty m:val="p"/>
                                </m:rPr>
                                <a:rPr lang="en-US" b="0" i="0" smtClean="0">
                                  <a:solidFill>
                                    <a:schemeClr val="tx1">
                                      <a:lumMod val="75000"/>
                                      <a:lumOff val="25000"/>
                                    </a:schemeClr>
                                  </a:solidFill>
                                  <a:latin typeface="Cambria Math"/>
                                </a:rPr>
                                <m:t>p</m:t>
                              </m:r>
                            </m:num>
                            <m:den>
                              <m:r>
                                <a:rPr lang="en-US" b="0" i="0" smtClean="0">
                                  <a:solidFill>
                                    <a:schemeClr val="tx1">
                                      <a:lumMod val="75000"/>
                                      <a:lumOff val="25000"/>
                                    </a:schemeClr>
                                  </a:solidFill>
                                  <a:latin typeface="Cambria Math"/>
                                </a:rPr>
                                <m:t>1−</m:t>
                              </m:r>
                              <m:r>
                                <m:rPr>
                                  <m:sty m:val="p"/>
                                </m:rPr>
                                <a:rPr lang="en-US" b="0" i="0" smtClean="0">
                                  <a:solidFill>
                                    <a:schemeClr val="tx1">
                                      <a:lumMod val="75000"/>
                                      <a:lumOff val="25000"/>
                                    </a:schemeClr>
                                  </a:solidFill>
                                  <a:latin typeface="Cambria Math"/>
                                </a:rPr>
                                <m:t>p</m:t>
                              </m:r>
                            </m:den>
                          </m:f>
                        </m:e>
                      </m:d>
                      <m:r>
                        <a:rPr lang="en-US" b="0" i="0" smtClean="0">
                          <a:solidFill>
                            <a:schemeClr val="tx1">
                              <a:lumMod val="75000"/>
                              <a:lumOff val="25000"/>
                            </a:schemeClr>
                          </a:solidFill>
                          <a:latin typeface="Cambria Math"/>
                        </a:rPr>
                        <m:t>= </m:t>
                      </m:r>
                      <m:sSub>
                        <m:sSubPr>
                          <m:ctrlPr>
                            <a:rPr lang="en-US" b="0" i="1" smtClean="0">
                              <a:solidFill>
                                <a:schemeClr val="tx1">
                                  <a:lumMod val="75000"/>
                                  <a:lumOff val="25000"/>
                                </a:schemeClr>
                              </a:solidFill>
                              <a:latin typeface="Cambria Math" panose="02040503050406030204" pitchFamily="18" charset="0"/>
                            </a:rPr>
                          </m:ctrlPr>
                        </m:sSubPr>
                        <m:e>
                          <m:r>
                            <m:rPr>
                              <m:sty m:val="p"/>
                            </m:rPr>
                            <a:rPr lang="en-US" b="0" i="0" smtClean="0">
                              <a:solidFill>
                                <a:schemeClr val="tx1">
                                  <a:lumMod val="75000"/>
                                  <a:lumOff val="25000"/>
                                </a:schemeClr>
                              </a:solidFill>
                              <a:latin typeface="Cambria Math"/>
                            </a:rPr>
                            <m:t>b</m:t>
                          </m:r>
                        </m:e>
                        <m:sub>
                          <m:r>
                            <a:rPr lang="en-US" b="0" i="0" smtClean="0">
                              <a:solidFill>
                                <a:schemeClr val="tx1">
                                  <a:lumMod val="75000"/>
                                  <a:lumOff val="25000"/>
                                </a:schemeClr>
                              </a:solidFill>
                              <a:latin typeface="Cambria Math"/>
                            </a:rPr>
                            <m:t>0</m:t>
                          </m:r>
                        </m:sub>
                      </m:sSub>
                      <m:r>
                        <a:rPr lang="en-US" b="0" i="0" smtClean="0">
                          <a:solidFill>
                            <a:schemeClr val="tx1">
                              <a:lumMod val="75000"/>
                              <a:lumOff val="25000"/>
                            </a:schemeClr>
                          </a:solidFill>
                          <a:latin typeface="Cambria Math"/>
                        </a:rPr>
                        <m:t>+ </m:t>
                      </m:r>
                      <m:sSub>
                        <m:sSubPr>
                          <m:ctrlPr>
                            <a:rPr lang="en-US" b="0" i="1" smtClean="0">
                              <a:solidFill>
                                <a:schemeClr val="tx1">
                                  <a:lumMod val="75000"/>
                                  <a:lumOff val="25000"/>
                                </a:schemeClr>
                              </a:solidFill>
                              <a:latin typeface="Cambria Math" panose="02040503050406030204" pitchFamily="18" charset="0"/>
                            </a:rPr>
                          </m:ctrlPr>
                        </m:sSubPr>
                        <m:e>
                          <m:r>
                            <m:rPr>
                              <m:sty m:val="p"/>
                            </m:rPr>
                            <a:rPr lang="en-US" b="0" i="0" smtClean="0">
                              <a:solidFill>
                                <a:schemeClr val="tx1">
                                  <a:lumMod val="75000"/>
                                  <a:lumOff val="25000"/>
                                </a:schemeClr>
                              </a:solidFill>
                              <a:latin typeface="Cambria Math"/>
                            </a:rPr>
                            <m:t>b</m:t>
                          </m:r>
                        </m:e>
                        <m:sub>
                          <m:r>
                            <a:rPr lang="en-US" b="0" i="0" smtClean="0">
                              <a:solidFill>
                                <a:schemeClr val="tx1">
                                  <a:lumMod val="75000"/>
                                  <a:lumOff val="25000"/>
                                </a:schemeClr>
                              </a:solidFill>
                              <a:latin typeface="Cambria Math"/>
                            </a:rPr>
                            <m:t>1</m:t>
                          </m:r>
                        </m:sub>
                      </m:sSub>
                      <m:sSub>
                        <m:sSubPr>
                          <m:ctrlPr>
                            <a:rPr lang="en-US" b="0" i="1" smtClean="0">
                              <a:solidFill>
                                <a:schemeClr val="tx1">
                                  <a:lumMod val="75000"/>
                                  <a:lumOff val="25000"/>
                                </a:schemeClr>
                              </a:solidFill>
                              <a:latin typeface="Cambria Math" panose="02040503050406030204" pitchFamily="18" charset="0"/>
                            </a:rPr>
                          </m:ctrlPr>
                        </m:sSubPr>
                        <m:e>
                          <m:r>
                            <m:rPr>
                              <m:sty m:val="p"/>
                            </m:rPr>
                            <a:rPr lang="en-US" b="0" i="1" smtClean="0">
                              <a:solidFill>
                                <a:schemeClr val="tx1">
                                  <a:lumMod val="75000"/>
                                  <a:lumOff val="25000"/>
                                </a:schemeClr>
                              </a:solidFill>
                              <a:latin typeface="Cambria Math"/>
                            </a:rPr>
                            <m:t>X</m:t>
                          </m:r>
                        </m:e>
                        <m:sub>
                          <m:r>
                            <a:rPr lang="en-US" b="0" i="0" smtClean="0">
                              <a:solidFill>
                                <a:schemeClr val="tx1">
                                  <a:lumMod val="75000"/>
                                  <a:lumOff val="25000"/>
                                </a:schemeClr>
                              </a:solidFill>
                              <a:latin typeface="Cambria Math"/>
                            </a:rPr>
                            <m:t>1</m:t>
                          </m:r>
                        </m:sub>
                      </m:sSub>
                      <m:r>
                        <a:rPr lang="en-US" b="0" i="0" smtClean="0">
                          <a:solidFill>
                            <a:schemeClr val="tx1">
                              <a:lumMod val="75000"/>
                              <a:lumOff val="25000"/>
                            </a:schemeClr>
                          </a:solidFill>
                          <a:latin typeface="Cambria Math"/>
                        </a:rPr>
                        <m:t>+…+</m:t>
                      </m:r>
                      <m:sSub>
                        <m:sSubPr>
                          <m:ctrlPr>
                            <a:rPr lang="en-US" b="0" i="1" smtClean="0">
                              <a:solidFill>
                                <a:schemeClr val="tx1">
                                  <a:lumMod val="75000"/>
                                  <a:lumOff val="25000"/>
                                </a:schemeClr>
                              </a:solidFill>
                              <a:latin typeface="Cambria Math" panose="02040503050406030204" pitchFamily="18" charset="0"/>
                            </a:rPr>
                          </m:ctrlPr>
                        </m:sSubPr>
                        <m:e>
                          <m:r>
                            <m:rPr>
                              <m:sty m:val="p"/>
                            </m:rPr>
                            <a:rPr lang="en-US" b="0" i="0" smtClean="0">
                              <a:solidFill>
                                <a:schemeClr val="tx1">
                                  <a:lumMod val="75000"/>
                                  <a:lumOff val="25000"/>
                                </a:schemeClr>
                              </a:solidFill>
                              <a:latin typeface="Cambria Math"/>
                            </a:rPr>
                            <m:t>b</m:t>
                          </m:r>
                        </m:e>
                        <m:sub>
                          <m:r>
                            <m:rPr>
                              <m:sty m:val="p"/>
                            </m:rPr>
                            <a:rPr lang="en-US" b="0" i="0" smtClean="0">
                              <a:solidFill>
                                <a:schemeClr val="tx1">
                                  <a:lumMod val="75000"/>
                                  <a:lumOff val="25000"/>
                                </a:schemeClr>
                              </a:solidFill>
                              <a:latin typeface="Cambria Math"/>
                            </a:rPr>
                            <m:t>k</m:t>
                          </m:r>
                        </m:sub>
                      </m:sSub>
                      <m:sSub>
                        <m:sSubPr>
                          <m:ctrlPr>
                            <a:rPr lang="en-US" b="0" i="1" smtClean="0">
                              <a:solidFill>
                                <a:schemeClr val="tx1">
                                  <a:lumMod val="75000"/>
                                  <a:lumOff val="25000"/>
                                </a:schemeClr>
                              </a:solidFill>
                              <a:latin typeface="Cambria Math" panose="02040503050406030204" pitchFamily="18" charset="0"/>
                            </a:rPr>
                          </m:ctrlPr>
                        </m:sSubPr>
                        <m:e>
                          <m:r>
                            <m:rPr>
                              <m:sty m:val="p"/>
                            </m:rPr>
                            <a:rPr lang="en-US" b="0" i="1" smtClean="0">
                              <a:solidFill>
                                <a:schemeClr val="tx1">
                                  <a:lumMod val="75000"/>
                                  <a:lumOff val="25000"/>
                                </a:schemeClr>
                              </a:solidFill>
                              <a:latin typeface="Cambria Math"/>
                            </a:rPr>
                            <m:t>X</m:t>
                          </m:r>
                        </m:e>
                        <m:sub>
                          <m:r>
                            <m:rPr>
                              <m:sty m:val="p"/>
                            </m:rPr>
                            <a:rPr lang="en-US" b="0" i="0" smtClean="0">
                              <a:solidFill>
                                <a:schemeClr val="tx1">
                                  <a:lumMod val="75000"/>
                                  <a:lumOff val="25000"/>
                                </a:schemeClr>
                              </a:solidFill>
                              <a:latin typeface="Cambria Math"/>
                            </a:rPr>
                            <m:t>k</m:t>
                          </m:r>
                        </m:sub>
                      </m:sSub>
                    </m:oMath>
                  </m:oMathPara>
                </a14:m>
                <a:endParaRPr lang="en-US" dirty="0">
                  <a:solidFill>
                    <a:schemeClr val="tx1">
                      <a:lumMod val="75000"/>
                      <a:lumOff val="25000"/>
                    </a:schemeClr>
                  </a:solidFill>
                </a:endParaRPr>
              </a:p>
            </p:txBody>
          </p:sp>
        </mc:Choice>
        <mc:Fallback xmlns="">
          <p:sp>
            <p:nvSpPr>
              <p:cNvPr id="9" name="TextBox 8">
                <a:extLst>
                  <a:ext uri="{FF2B5EF4-FFF2-40B4-BE49-F238E27FC236}">
                    <a16:creationId xmlns:a16="http://schemas.microsoft.com/office/drawing/2014/main" id="{47CDA763-F7CE-8240-A5E2-B2E3DC00AD8D}"/>
                  </a:ext>
                </a:extLst>
              </p:cNvPr>
              <p:cNvSpPr txBox="1">
                <a:spLocks noRot="1" noChangeAspect="1" noMove="1" noResize="1" noEditPoints="1" noAdjustHandles="1" noChangeArrowheads="1" noChangeShapeType="1" noTextEdit="1"/>
              </p:cNvSpPr>
              <p:nvPr/>
            </p:nvSpPr>
            <p:spPr>
              <a:xfrm>
                <a:off x="3204895" y="4727000"/>
                <a:ext cx="4422334" cy="790713"/>
              </a:xfrm>
              <a:prstGeom prst="roundRect">
                <a:avLst/>
              </a:prstGeom>
              <a:blipFill>
                <a:blip r:embed="rId3"/>
                <a:stretch>
                  <a:fillRect/>
                </a:stretch>
              </a:blipFill>
              <a:ln w="3175">
                <a:solidFill>
                  <a:schemeClr val="accent1"/>
                </a:solidFill>
              </a:ln>
            </p:spPr>
            <p:txBody>
              <a:bodyPr/>
              <a:lstStyle/>
              <a:p>
                <a:r>
                  <a:rPr 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168838"/>
            <a:ext cx="8067199"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Understanding the Transformation</a:t>
            </a:r>
            <a:endParaRPr lang="en-US" sz="4100" dirty="0"/>
          </a:p>
        </p:txBody>
      </p:sp>
      <p:sp>
        <p:nvSpPr>
          <p:cNvPr id="3" name="Text 1"/>
          <p:cNvSpPr/>
          <p:nvPr/>
        </p:nvSpPr>
        <p:spPr>
          <a:xfrm>
            <a:off x="793670" y="2279681"/>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logistic transformation involves three key steps, each expanding the range of possible values to enable linear modeling.</a:t>
            </a:r>
            <a:endParaRPr lang="en-US" dirty="0"/>
          </a:p>
        </p:txBody>
      </p:sp>
      <p:pic>
        <p:nvPicPr>
          <p:cNvPr id="4" name="Image 0" descr="preencoded.png"/>
          <p:cNvPicPr>
            <a:picLocks noChangeAspect="1"/>
          </p:cNvPicPr>
          <p:nvPr/>
        </p:nvPicPr>
        <p:blipFill>
          <a:blip r:embed="rId3"/>
          <a:stretch>
            <a:fillRect/>
          </a:stretch>
        </p:blipFill>
        <p:spPr>
          <a:xfrm>
            <a:off x="793790" y="3186113"/>
            <a:ext cx="4347567" cy="793790"/>
          </a:xfrm>
          <a:prstGeom prst="rect">
            <a:avLst/>
          </a:prstGeom>
        </p:spPr>
      </p:pic>
      <p:sp>
        <p:nvSpPr>
          <p:cNvPr id="5" name="Text 2"/>
          <p:cNvSpPr/>
          <p:nvPr/>
        </p:nvSpPr>
        <p:spPr>
          <a:xfrm>
            <a:off x="992148" y="4178260"/>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Step 1: Probability</a:t>
            </a:r>
            <a:endParaRPr lang="en-US" sz="2050" dirty="0"/>
          </a:p>
        </p:txBody>
      </p:sp>
      <p:sp>
        <p:nvSpPr>
          <p:cNvPr id="6" name="Text 3"/>
          <p:cNvSpPr/>
          <p:nvPr/>
        </p:nvSpPr>
        <p:spPr>
          <a:xfrm>
            <a:off x="992148" y="4622959"/>
            <a:ext cx="395085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p lies between 0 and 1, representing the probability of the outcome occurring.</a:t>
            </a:r>
            <a:endParaRPr lang="en-US" dirty="0"/>
          </a:p>
        </p:txBody>
      </p:sp>
      <p:pic>
        <p:nvPicPr>
          <p:cNvPr id="7" name="Image 1" descr="preencoded.png"/>
          <p:cNvPicPr>
            <a:picLocks noChangeAspect="1"/>
          </p:cNvPicPr>
          <p:nvPr/>
        </p:nvPicPr>
        <p:blipFill>
          <a:blip r:embed="rId4"/>
          <a:stretch>
            <a:fillRect/>
          </a:stretch>
        </p:blipFill>
        <p:spPr>
          <a:xfrm>
            <a:off x="5141357" y="3186113"/>
            <a:ext cx="4347567" cy="793790"/>
          </a:xfrm>
          <a:prstGeom prst="rect">
            <a:avLst/>
          </a:prstGeom>
        </p:spPr>
      </p:pic>
      <p:sp>
        <p:nvSpPr>
          <p:cNvPr id="8" name="Text 4"/>
          <p:cNvSpPr/>
          <p:nvPr/>
        </p:nvSpPr>
        <p:spPr>
          <a:xfrm>
            <a:off x="5339715" y="4178260"/>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Step 2: Odds</a:t>
            </a:r>
            <a:endParaRPr lang="en-US" sz="2050" dirty="0"/>
          </a:p>
        </p:txBody>
      </p:sp>
      <p:sp>
        <p:nvSpPr>
          <p:cNvPr id="9" name="Text 5"/>
          <p:cNvSpPr/>
          <p:nvPr/>
        </p:nvSpPr>
        <p:spPr>
          <a:xfrm>
            <a:off x="5339715" y="4622959"/>
            <a:ext cx="3950851"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p/(1-p) lies between 0 and infinity, expressing probability as odds rather than proportion.</a:t>
            </a:r>
            <a:endParaRPr lang="en-US" dirty="0"/>
          </a:p>
        </p:txBody>
      </p:sp>
      <p:pic>
        <p:nvPicPr>
          <p:cNvPr id="10" name="Image 2" descr="preencoded.png"/>
          <p:cNvPicPr>
            <a:picLocks noChangeAspect="1"/>
          </p:cNvPicPr>
          <p:nvPr/>
        </p:nvPicPr>
        <p:blipFill>
          <a:blip r:embed="rId5"/>
          <a:stretch>
            <a:fillRect/>
          </a:stretch>
        </p:blipFill>
        <p:spPr>
          <a:xfrm>
            <a:off x="9488924" y="3186113"/>
            <a:ext cx="4347567" cy="793790"/>
          </a:xfrm>
          <a:prstGeom prst="rect">
            <a:avLst/>
          </a:prstGeom>
        </p:spPr>
      </p:pic>
      <p:sp>
        <p:nvSpPr>
          <p:cNvPr id="11" name="Text 6"/>
          <p:cNvSpPr/>
          <p:nvPr/>
        </p:nvSpPr>
        <p:spPr>
          <a:xfrm>
            <a:off x="9687282" y="4178260"/>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Step 3: Log-Odds</a:t>
            </a:r>
            <a:endParaRPr lang="en-US" sz="2050" dirty="0"/>
          </a:p>
        </p:txBody>
      </p:sp>
      <p:sp>
        <p:nvSpPr>
          <p:cNvPr id="12" name="Text 7"/>
          <p:cNvSpPr/>
          <p:nvPr/>
        </p:nvSpPr>
        <p:spPr>
          <a:xfrm>
            <a:off x="9687282" y="4622959"/>
            <a:ext cx="3950851"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l</a:t>
            </a:r>
            <a:r>
              <a:rPr lang="en-US" dirty="0">
                <a:solidFill>
                  <a:srgbClr val="383838"/>
                </a:solidFill>
                <a:latin typeface="DM Sans" pitchFamily="34" charset="0"/>
                <a:ea typeface="DM Sans" pitchFamily="34" charset="-122"/>
                <a:cs typeface="DM Sans" pitchFamily="34" charset="-120"/>
              </a:rPr>
              <a:t>og[p/(1-p)] lies between -∞ and +∞, creating an unbounded scale suitable for linear modeling.</a:t>
            </a:r>
            <a:endParaRPr lang="en-US" dirty="0"/>
          </a:p>
        </p:txBody>
      </p:sp>
      <p:sp>
        <p:nvSpPr>
          <p:cNvPr id="13" name="Text 8"/>
          <p:cNvSpPr/>
          <p:nvPr/>
        </p:nvSpPr>
        <p:spPr>
          <a:xfrm>
            <a:off x="793670" y="6531750"/>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This elegant transformation allows us to model binary outcomes using the familiar linear equation framework while respecting the bounded nature of probabilities. The model cannot directly use Y (which is only 0 or 1) on the left-hand side, so we work with the log-odds instead.</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3962" y="775739"/>
            <a:ext cx="6123265" cy="651272"/>
          </a:xfrm>
          <a:prstGeom prst="rect">
            <a:avLst/>
          </a:prstGeom>
          <a:noFill/>
          <a:ln/>
        </p:spPr>
        <p:txBody>
          <a:bodyPr wrap="none" lIns="0" tIns="0" rIns="0" bIns="0" rtlCol="0" anchor="t"/>
          <a:lstStyle/>
          <a:p>
            <a:pPr>
              <a:lnSpc>
                <a:spcPts val="5100"/>
              </a:lnSpc>
            </a:pPr>
            <a:r>
              <a:rPr lang="en-US" sz="4100" dirty="0">
                <a:solidFill>
                  <a:srgbClr val="020202"/>
                </a:solidFill>
                <a:latin typeface="PT Serif" pitchFamily="34" charset="0"/>
                <a:ea typeface="PT Serif" pitchFamily="34" charset="-122"/>
                <a:cs typeface="PT Serif" pitchFamily="34" charset="-120"/>
              </a:rPr>
              <a:t>Case Study: Predicting Loan Defaulters</a:t>
            </a:r>
            <a:endParaRPr lang="en-US" sz="4100" dirty="0"/>
          </a:p>
        </p:txBody>
      </p:sp>
      <p:sp>
        <p:nvSpPr>
          <p:cNvPr id="3" name="Rectangle 2">
            <a:extLst>
              <a:ext uri="{FF2B5EF4-FFF2-40B4-BE49-F238E27FC236}">
                <a16:creationId xmlns:a16="http://schemas.microsoft.com/office/drawing/2014/main" id="{E729A6E7-70F0-944E-8DE1-112EB757F9CC}"/>
              </a:ext>
            </a:extLst>
          </p:cNvPr>
          <p:cNvSpPr/>
          <p:nvPr/>
        </p:nvSpPr>
        <p:spPr>
          <a:xfrm>
            <a:off x="413962" y="1829654"/>
            <a:ext cx="7315200" cy="2308324"/>
          </a:xfrm>
          <a:prstGeom prst="rect">
            <a:avLst/>
          </a:prstGeom>
          <a:ln>
            <a:noFill/>
          </a:ln>
        </p:spPr>
        <p:txBody>
          <a:bodyPr>
            <a:spAutoFit/>
          </a:bodyPr>
          <a:lstStyle/>
          <a:p>
            <a:r>
              <a:rPr lang="en-US" dirty="0">
                <a:solidFill>
                  <a:srgbClr val="383838"/>
                </a:solidFill>
                <a:latin typeface="DM Sans" pitchFamily="34" charset="0"/>
                <a:ea typeface="DM Sans" pitchFamily="34" charset="-122"/>
                <a:cs typeface="DM Sans" pitchFamily="34" charset="-120"/>
              </a:rPr>
              <a:t>Predict whether a customer applying for a loan will default on repayment, allowing the bank to make informed lending decisions and manage risk effectively</a:t>
            </a:r>
          </a:p>
          <a:p>
            <a:endParaRPr lang="en-US" dirty="0">
              <a:solidFill>
                <a:srgbClr val="383838"/>
              </a:solidFill>
              <a:latin typeface="DM Sans" pitchFamily="34" charset="0"/>
            </a:endParaRPr>
          </a:p>
          <a:p>
            <a:r>
              <a:rPr lang="en-US" b="1" dirty="0">
                <a:solidFill>
                  <a:srgbClr val="383838"/>
                </a:solidFill>
                <a:latin typeface="DM Sans" pitchFamily="34" charset="0"/>
                <a:ea typeface="DM Sans" pitchFamily="34" charset="-122"/>
                <a:cs typeface="DM Sans" pitchFamily="34" charset="-120"/>
              </a:rPr>
              <a:t>Dependent Variable</a:t>
            </a:r>
            <a:r>
              <a:rPr lang="en-US" dirty="0">
                <a:solidFill>
                  <a:srgbClr val="383838"/>
                </a:solidFill>
                <a:latin typeface="DM Sans" pitchFamily="34" charset="0"/>
                <a:ea typeface="DM Sans" pitchFamily="34" charset="-122"/>
                <a:cs typeface="DM Sans" pitchFamily="34" charset="-120"/>
              </a:rPr>
              <a:t>: Defaulter</a:t>
            </a:r>
            <a:r>
              <a:rPr lang="en-US" b="1" dirty="0">
                <a:solidFill>
                  <a:srgbClr val="383838"/>
                </a:solidFill>
                <a:latin typeface="DM Sans" pitchFamily="34" charset="0"/>
                <a:ea typeface="DM Sans" pitchFamily="34" charset="-122"/>
                <a:cs typeface="DM Sans" pitchFamily="34" charset="-120"/>
              </a:rPr>
              <a:t>:</a:t>
            </a:r>
            <a:r>
              <a:rPr lang="en-US" dirty="0">
                <a:solidFill>
                  <a:srgbClr val="383838"/>
                </a:solidFill>
                <a:latin typeface="DM Sans" pitchFamily="34" charset="0"/>
                <a:ea typeface="DM Sans" pitchFamily="34" charset="-122"/>
                <a:cs typeface="DM Sans" pitchFamily="34" charset="-120"/>
              </a:rPr>
              <a:t> Binary variable coded as 1 if the customer defaulted after receiving the loan, 0 otherwise. This status is observed after loan disbursement.</a:t>
            </a:r>
            <a:endParaRPr lang="en-US" dirty="0"/>
          </a:p>
          <a:p>
            <a:endParaRPr lang="en-US" dirty="0"/>
          </a:p>
        </p:txBody>
      </p:sp>
      <p:sp>
        <p:nvSpPr>
          <p:cNvPr id="5" name="Rectangle 4">
            <a:extLst>
              <a:ext uri="{FF2B5EF4-FFF2-40B4-BE49-F238E27FC236}">
                <a16:creationId xmlns:a16="http://schemas.microsoft.com/office/drawing/2014/main" id="{47112354-EF3E-2446-AD73-A26677C03B94}"/>
              </a:ext>
            </a:extLst>
          </p:cNvPr>
          <p:cNvSpPr/>
          <p:nvPr/>
        </p:nvSpPr>
        <p:spPr>
          <a:xfrm>
            <a:off x="413962" y="4301471"/>
            <a:ext cx="7531340" cy="3416320"/>
          </a:xfrm>
          <a:prstGeom prst="rect">
            <a:avLst/>
          </a:prstGeom>
          <a:ln>
            <a:noFill/>
          </a:ln>
        </p:spPr>
        <p:txBody>
          <a:bodyPr wrap="square">
            <a:spAutoFit/>
          </a:bodyPr>
          <a:lstStyle/>
          <a:p>
            <a:r>
              <a:rPr lang="en-US" b="1" dirty="0">
                <a:solidFill>
                  <a:srgbClr val="383838"/>
                </a:solidFill>
                <a:latin typeface="DM Sans" pitchFamily="34" charset="0"/>
                <a:ea typeface="DM Sans" pitchFamily="34" charset="-122"/>
                <a:cs typeface="DM Sans" pitchFamily="34" charset="-120"/>
              </a:rPr>
              <a:t>Independent Variables</a:t>
            </a:r>
            <a:r>
              <a:rPr lang="en-US" dirty="0">
                <a:solidFill>
                  <a:srgbClr val="383838"/>
                </a:solidFill>
                <a:latin typeface="DM Sans" pitchFamily="34" charset="0"/>
                <a:ea typeface="DM Sans" pitchFamily="34" charset="-122"/>
                <a:cs typeface="DM Sans" pitchFamily="34" charset="-120"/>
              </a:rPr>
              <a:t>(All predictor information was collected during the loan application process,  </a:t>
            </a:r>
          </a:p>
          <a:p>
            <a:endParaRPr lang="en-US" dirty="0">
              <a:solidFill>
                <a:srgbClr val="383838"/>
              </a:solidFill>
              <a:latin typeface="DM Sans" pitchFamily="34" charset="0"/>
              <a:ea typeface="DM Sans" pitchFamily="34" charset="-122"/>
              <a:cs typeface="DM Sans" pitchFamily="34" charset="-120"/>
            </a:endParaRPr>
          </a:p>
          <a:p>
            <a:r>
              <a:rPr lang="en-US" dirty="0">
                <a:solidFill>
                  <a:srgbClr val="383838"/>
                </a:solidFill>
                <a:latin typeface="DM Sans" pitchFamily="34" charset="0"/>
                <a:ea typeface="DM Sans" pitchFamily="34" charset="-122"/>
                <a:cs typeface="DM Sans" pitchFamily="34" charset="-120"/>
              </a:rPr>
              <a:t>Age group (categorical)</a:t>
            </a:r>
          </a:p>
          <a:p>
            <a:r>
              <a:rPr lang="en-US" dirty="0">
                <a:solidFill>
                  <a:srgbClr val="383838"/>
                </a:solidFill>
                <a:latin typeface="DM Sans" pitchFamily="34" charset="0"/>
                <a:ea typeface="DM Sans" pitchFamily="34" charset="-122"/>
                <a:cs typeface="DM Sans" pitchFamily="34" charset="-120"/>
              </a:rPr>
              <a:t>Years at current address</a:t>
            </a:r>
          </a:p>
          <a:p>
            <a:r>
              <a:rPr lang="en-US" dirty="0">
                <a:solidFill>
                  <a:srgbClr val="383838"/>
                </a:solidFill>
                <a:latin typeface="DM Sans" pitchFamily="34" charset="0"/>
                <a:ea typeface="DM Sans" pitchFamily="34" charset="-122"/>
                <a:cs typeface="DM Sans" pitchFamily="34" charset="-120"/>
              </a:rPr>
              <a:t>Years with current employer</a:t>
            </a:r>
          </a:p>
          <a:p>
            <a:r>
              <a:rPr lang="en-US" dirty="0">
                <a:solidFill>
                  <a:srgbClr val="383838"/>
                </a:solidFill>
                <a:latin typeface="DM Sans" pitchFamily="34" charset="0"/>
                <a:ea typeface="DM Sans" pitchFamily="34" charset="-122"/>
                <a:cs typeface="DM Sans" pitchFamily="34" charset="-120"/>
              </a:rPr>
              <a:t>Debt-to-income ratio</a:t>
            </a:r>
          </a:p>
          <a:p>
            <a:r>
              <a:rPr lang="en-US" dirty="0">
                <a:solidFill>
                  <a:srgbClr val="383838"/>
                </a:solidFill>
                <a:latin typeface="DM Sans" pitchFamily="34" charset="0"/>
                <a:ea typeface="DM Sans" pitchFamily="34" charset="-122"/>
                <a:cs typeface="DM Sans" pitchFamily="34" charset="-120"/>
              </a:rPr>
              <a:t>Credit card debt amount</a:t>
            </a:r>
          </a:p>
          <a:p>
            <a:r>
              <a:rPr lang="en-US" dirty="0">
                <a:solidFill>
                  <a:srgbClr val="383838"/>
                </a:solidFill>
                <a:latin typeface="DM Sans" pitchFamily="34" charset="0"/>
                <a:ea typeface="DM Sans" pitchFamily="34" charset="-122"/>
                <a:cs typeface="DM Sans" pitchFamily="34" charset="-120"/>
              </a:rPr>
              <a:t>Other debt obligations</a:t>
            </a:r>
          </a:p>
          <a:p>
            <a:endParaRPr lang="en-US" dirty="0"/>
          </a:p>
          <a:p>
            <a:endParaRPr lang="en-US" dirty="0"/>
          </a:p>
          <a:p>
            <a:endParaRPr lang="en-US" dirty="0"/>
          </a:p>
        </p:txBody>
      </p:sp>
      <p:graphicFrame>
        <p:nvGraphicFramePr>
          <p:cNvPr id="6" name="Diagram 5">
            <a:extLst>
              <a:ext uri="{FF2B5EF4-FFF2-40B4-BE49-F238E27FC236}">
                <a16:creationId xmlns:a16="http://schemas.microsoft.com/office/drawing/2014/main" id="{BD042736-C241-B347-8C70-0BD7CC5D717F}"/>
              </a:ext>
            </a:extLst>
          </p:cNvPr>
          <p:cNvGraphicFramePr/>
          <p:nvPr>
            <p:extLst>
              <p:ext uri="{D42A27DB-BD31-4B8C-83A1-F6EECF244321}">
                <p14:modId xmlns:p14="http://schemas.microsoft.com/office/powerpoint/2010/main" val="890701826"/>
              </p:ext>
            </p:extLst>
          </p:nvPr>
        </p:nvGraphicFramePr>
        <p:xfrm>
          <a:off x="8750104" y="2461846"/>
          <a:ext cx="5075057" cy="37081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54960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26638"/>
            <a:ext cx="5214818"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Sample Data Structure</a:t>
            </a:r>
            <a:endParaRPr lang="en-US" sz="4100" dirty="0"/>
          </a:p>
        </p:txBody>
      </p:sp>
      <p:sp>
        <p:nvSpPr>
          <p:cNvPr id="3" name="Text 1"/>
          <p:cNvSpPr/>
          <p:nvPr/>
        </p:nvSpPr>
        <p:spPr>
          <a:xfrm>
            <a:off x="793790" y="1774746"/>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Understanding the data structure is essential before building any statistical model. Here's a representative sample of the loan default dataset showing the first few observations.</a:t>
            </a:r>
            <a:endParaRPr lang="en-US" dirty="0"/>
          </a:p>
        </p:txBody>
      </p:sp>
      <p:sp>
        <p:nvSpPr>
          <p:cNvPr id="4" name="Shape 2"/>
          <p:cNvSpPr/>
          <p:nvPr/>
        </p:nvSpPr>
        <p:spPr>
          <a:xfrm>
            <a:off x="793790" y="2633067"/>
            <a:ext cx="13042821" cy="4011573"/>
          </a:xfrm>
          <a:prstGeom prst="roundRect">
            <a:avLst>
              <a:gd name="adj" fmla="val 742"/>
            </a:avLst>
          </a:prstGeom>
          <a:noFill/>
          <a:ln w="7620">
            <a:solidFill>
              <a:srgbClr val="000000">
                <a:alpha val="8000"/>
              </a:srgbClr>
            </a:solidFill>
            <a:prstDash val="solid"/>
          </a:ln>
        </p:spPr>
      </p:sp>
      <p:sp>
        <p:nvSpPr>
          <p:cNvPr id="5" name="Shape 3"/>
          <p:cNvSpPr/>
          <p:nvPr/>
        </p:nvSpPr>
        <p:spPr>
          <a:xfrm>
            <a:off x="801410" y="2640687"/>
            <a:ext cx="13031391" cy="570905"/>
          </a:xfrm>
          <a:prstGeom prst="rect">
            <a:avLst/>
          </a:prstGeom>
          <a:solidFill>
            <a:srgbClr val="FFFFFF">
              <a:alpha val="4000"/>
            </a:srgbClr>
          </a:solidFill>
          <a:ln/>
        </p:spPr>
      </p:sp>
      <p:sp>
        <p:nvSpPr>
          <p:cNvPr id="6" name="Text 4"/>
          <p:cNvSpPr/>
          <p:nvPr/>
        </p:nvSpPr>
        <p:spPr>
          <a:xfrm>
            <a:off x="1000363" y="2767370"/>
            <a:ext cx="146101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AGE</a:t>
            </a:r>
            <a:endParaRPr lang="en-US" sz="1550" dirty="0"/>
          </a:p>
        </p:txBody>
      </p:sp>
      <p:sp>
        <p:nvSpPr>
          <p:cNvPr id="7" name="Text 5"/>
          <p:cNvSpPr/>
          <p:nvPr/>
        </p:nvSpPr>
        <p:spPr>
          <a:xfrm>
            <a:off x="2865715" y="2767370"/>
            <a:ext cx="145720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EMPLOY</a:t>
            </a:r>
            <a:endParaRPr lang="en-US" sz="1550" dirty="0"/>
          </a:p>
        </p:txBody>
      </p:sp>
      <p:sp>
        <p:nvSpPr>
          <p:cNvPr id="8" name="Text 6"/>
          <p:cNvSpPr/>
          <p:nvPr/>
        </p:nvSpPr>
        <p:spPr>
          <a:xfrm>
            <a:off x="4727257" y="2767370"/>
            <a:ext cx="145720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ADDRESS</a:t>
            </a:r>
            <a:endParaRPr lang="en-US" sz="1550" dirty="0"/>
          </a:p>
        </p:txBody>
      </p:sp>
      <p:sp>
        <p:nvSpPr>
          <p:cNvPr id="9" name="Text 7"/>
          <p:cNvSpPr/>
          <p:nvPr/>
        </p:nvSpPr>
        <p:spPr>
          <a:xfrm>
            <a:off x="6588800" y="2767370"/>
            <a:ext cx="145720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DEBTINC</a:t>
            </a:r>
            <a:endParaRPr lang="en-US" sz="1550" dirty="0"/>
          </a:p>
        </p:txBody>
      </p:sp>
      <p:sp>
        <p:nvSpPr>
          <p:cNvPr id="10" name="Text 8"/>
          <p:cNvSpPr/>
          <p:nvPr/>
        </p:nvSpPr>
        <p:spPr>
          <a:xfrm>
            <a:off x="8450342" y="2767370"/>
            <a:ext cx="145720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CREDDEBT</a:t>
            </a:r>
            <a:endParaRPr lang="en-US" sz="1550" dirty="0"/>
          </a:p>
        </p:txBody>
      </p:sp>
      <p:sp>
        <p:nvSpPr>
          <p:cNvPr id="11" name="Text 9"/>
          <p:cNvSpPr/>
          <p:nvPr/>
        </p:nvSpPr>
        <p:spPr>
          <a:xfrm>
            <a:off x="10311884" y="2767370"/>
            <a:ext cx="145720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OTHDEBT</a:t>
            </a:r>
            <a:endParaRPr lang="en-US" sz="1550" dirty="0"/>
          </a:p>
        </p:txBody>
      </p:sp>
      <p:sp>
        <p:nvSpPr>
          <p:cNvPr id="12" name="Text 10"/>
          <p:cNvSpPr/>
          <p:nvPr/>
        </p:nvSpPr>
        <p:spPr>
          <a:xfrm>
            <a:off x="12173426" y="2767370"/>
            <a:ext cx="146101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DEFAULTER</a:t>
            </a:r>
            <a:endParaRPr lang="en-US" sz="1550" dirty="0"/>
          </a:p>
        </p:txBody>
      </p:sp>
      <p:sp>
        <p:nvSpPr>
          <p:cNvPr id="13" name="Shape 11"/>
          <p:cNvSpPr/>
          <p:nvPr/>
        </p:nvSpPr>
        <p:spPr>
          <a:xfrm>
            <a:off x="801410" y="3211592"/>
            <a:ext cx="13031391" cy="570905"/>
          </a:xfrm>
          <a:prstGeom prst="rect">
            <a:avLst/>
          </a:prstGeom>
          <a:solidFill>
            <a:srgbClr val="000000">
              <a:alpha val="4000"/>
            </a:srgbClr>
          </a:solidFill>
          <a:ln/>
        </p:spPr>
      </p:sp>
      <p:sp>
        <p:nvSpPr>
          <p:cNvPr id="14" name="Text 12"/>
          <p:cNvSpPr/>
          <p:nvPr/>
        </p:nvSpPr>
        <p:spPr>
          <a:xfrm>
            <a:off x="1000363" y="3338274"/>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3</a:t>
            </a:r>
            <a:endParaRPr lang="en-US" sz="1550" dirty="0"/>
          </a:p>
        </p:txBody>
      </p:sp>
      <p:sp>
        <p:nvSpPr>
          <p:cNvPr id="15" name="Text 13"/>
          <p:cNvSpPr/>
          <p:nvPr/>
        </p:nvSpPr>
        <p:spPr>
          <a:xfrm>
            <a:off x="2865715" y="333827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17</a:t>
            </a:r>
            <a:endParaRPr lang="en-US" sz="1550" dirty="0"/>
          </a:p>
        </p:txBody>
      </p:sp>
      <p:sp>
        <p:nvSpPr>
          <p:cNvPr id="16" name="Text 14"/>
          <p:cNvSpPr/>
          <p:nvPr/>
        </p:nvSpPr>
        <p:spPr>
          <a:xfrm>
            <a:off x="4727257" y="333827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12</a:t>
            </a:r>
            <a:endParaRPr lang="en-US" sz="1550" dirty="0"/>
          </a:p>
        </p:txBody>
      </p:sp>
      <p:sp>
        <p:nvSpPr>
          <p:cNvPr id="17" name="Text 15"/>
          <p:cNvSpPr/>
          <p:nvPr/>
        </p:nvSpPr>
        <p:spPr>
          <a:xfrm>
            <a:off x="6588800" y="333827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9.30</a:t>
            </a:r>
            <a:endParaRPr lang="en-US" sz="1550" dirty="0"/>
          </a:p>
        </p:txBody>
      </p:sp>
      <p:sp>
        <p:nvSpPr>
          <p:cNvPr id="18" name="Text 16"/>
          <p:cNvSpPr/>
          <p:nvPr/>
        </p:nvSpPr>
        <p:spPr>
          <a:xfrm>
            <a:off x="8450342" y="333827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11.36</a:t>
            </a:r>
            <a:endParaRPr lang="en-US" sz="1550" dirty="0"/>
          </a:p>
        </p:txBody>
      </p:sp>
      <p:sp>
        <p:nvSpPr>
          <p:cNvPr id="19" name="Text 17"/>
          <p:cNvSpPr/>
          <p:nvPr/>
        </p:nvSpPr>
        <p:spPr>
          <a:xfrm>
            <a:off x="10311884" y="333827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5.01</a:t>
            </a:r>
            <a:endParaRPr lang="en-US" sz="1550" dirty="0"/>
          </a:p>
        </p:txBody>
      </p:sp>
      <p:sp>
        <p:nvSpPr>
          <p:cNvPr id="20" name="Text 18"/>
          <p:cNvSpPr/>
          <p:nvPr/>
        </p:nvSpPr>
        <p:spPr>
          <a:xfrm>
            <a:off x="12173426" y="3338274"/>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a:t>
            </a:r>
            <a:endParaRPr lang="en-US" sz="1550" dirty="0"/>
          </a:p>
        </p:txBody>
      </p:sp>
      <p:sp>
        <p:nvSpPr>
          <p:cNvPr id="21" name="Shape 19"/>
          <p:cNvSpPr/>
          <p:nvPr/>
        </p:nvSpPr>
        <p:spPr>
          <a:xfrm>
            <a:off x="801410" y="3782497"/>
            <a:ext cx="13031391" cy="570905"/>
          </a:xfrm>
          <a:prstGeom prst="rect">
            <a:avLst/>
          </a:prstGeom>
          <a:solidFill>
            <a:srgbClr val="FFFFFF">
              <a:alpha val="4000"/>
            </a:srgbClr>
          </a:solidFill>
          <a:ln/>
        </p:spPr>
      </p:sp>
      <p:sp>
        <p:nvSpPr>
          <p:cNvPr id="22" name="Text 20"/>
          <p:cNvSpPr/>
          <p:nvPr/>
        </p:nvSpPr>
        <p:spPr>
          <a:xfrm>
            <a:off x="1000363" y="3909179"/>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a:t>
            </a:r>
            <a:endParaRPr lang="en-US" sz="1550" dirty="0"/>
          </a:p>
        </p:txBody>
      </p:sp>
      <p:sp>
        <p:nvSpPr>
          <p:cNvPr id="23" name="Text 21"/>
          <p:cNvSpPr/>
          <p:nvPr/>
        </p:nvSpPr>
        <p:spPr>
          <a:xfrm>
            <a:off x="2865715" y="3909179"/>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10</a:t>
            </a:r>
            <a:endParaRPr lang="en-US" sz="1550" dirty="0"/>
          </a:p>
        </p:txBody>
      </p:sp>
      <p:sp>
        <p:nvSpPr>
          <p:cNvPr id="24" name="Text 22"/>
          <p:cNvSpPr/>
          <p:nvPr/>
        </p:nvSpPr>
        <p:spPr>
          <a:xfrm>
            <a:off x="4727257" y="3909179"/>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6</a:t>
            </a:r>
            <a:endParaRPr lang="en-US" sz="1550" dirty="0"/>
          </a:p>
        </p:txBody>
      </p:sp>
      <p:sp>
        <p:nvSpPr>
          <p:cNvPr id="25" name="Text 23"/>
          <p:cNvSpPr/>
          <p:nvPr/>
        </p:nvSpPr>
        <p:spPr>
          <a:xfrm>
            <a:off x="6588800" y="3909179"/>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17.30</a:t>
            </a:r>
            <a:endParaRPr lang="en-US" sz="1550" dirty="0"/>
          </a:p>
        </p:txBody>
      </p:sp>
      <p:sp>
        <p:nvSpPr>
          <p:cNvPr id="26" name="Text 24"/>
          <p:cNvSpPr/>
          <p:nvPr/>
        </p:nvSpPr>
        <p:spPr>
          <a:xfrm>
            <a:off x="8450342" y="3909179"/>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1.36</a:t>
            </a:r>
            <a:endParaRPr lang="en-US" sz="1550" dirty="0"/>
          </a:p>
        </p:txBody>
      </p:sp>
      <p:sp>
        <p:nvSpPr>
          <p:cNvPr id="27" name="Text 25"/>
          <p:cNvSpPr/>
          <p:nvPr/>
        </p:nvSpPr>
        <p:spPr>
          <a:xfrm>
            <a:off x="10311884" y="3909179"/>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4.00</a:t>
            </a:r>
            <a:endParaRPr lang="en-US" sz="1550" dirty="0"/>
          </a:p>
        </p:txBody>
      </p:sp>
      <p:sp>
        <p:nvSpPr>
          <p:cNvPr id="28" name="Text 26"/>
          <p:cNvSpPr/>
          <p:nvPr/>
        </p:nvSpPr>
        <p:spPr>
          <a:xfrm>
            <a:off x="12173426" y="3909179"/>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a:t>
            </a:r>
            <a:endParaRPr lang="en-US" sz="1550" dirty="0"/>
          </a:p>
        </p:txBody>
      </p:sp>
      <p:sp>
        <p:nvSpPr>
          <p:cNvPr id="29" name="Shape 27"/>
          <p:cNvSpPr/>
          <p:nvPr/>
        </p:nvSpPr>
        <p:spPr>
          <a:xfrm>
            <a:off x="801410" y="4353401"/>
            <a:ext cx="13031391" cy="570905"/>
          </a:xfrm>
          <a:prstGeom prst="rect">
            <a:avLst/>
          </a:prstGeom>
          <a:solidFill>
            <a:srgbClr val="000000">
              <a:alpha val="4000"/>
            </a:srgbClr>
          </a:solidFill>
          <a:ln/>
        </p:spPr>
      </p:sp>
      <p:sp>
        <p:nvSpPr>
          <p:cNvPr id="30" name="Text 28"/>
          <p:cNvSpPr/>
          <p:nvPr/>
        </p:nvSpPr>
        <p:spPr>
          <a:xfrm>
            <a:off x="1000363" y="4480084"/>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2</a:t>
            </a:r>
            <a:endParaRPr lang="en-US" sz="1550" dirty="0"/>
          </a:p>
        </p:txBody>
      </p:sp>
      <p:sp>
        <p:nvSpPr>
          <p:cNvPr id="31" name="Text 29"/>
          <p:cNvSpPr/>
          <p:nvPr/>
        </p:nvSpPr>
        <p:spPr>
          <a:xfrm>
            <a:off x="2865715" y="448008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15</a:t>
            </a:r>
            <a:endParaRPr lang="en-US" sz="1550" dirty="0"/>
          </a:p>
        </p:txBody>
      </p:sp>
      <p:sp>
        <p:nvSpPr>
          <p:cNvPr id="32" name="Text 30"/>
          <p:cNvSpPr/>
          <p:nvPr/>
        </p:nvSpPr>
        <p:spPr>
          <a:xfrm>
            <a:off x="4727257" y="448008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14</a:t>
            </a:r>
            <a:endParaRPr lang="en-US" sz="1550" dirty="0"/>
          </a:p>
        </p:txBody>
      </p:sp>
      <p:sp>
        <p:nvSpPr>
          <p:cNvPr id="33" name="Text 31"/>
          <p:cNvSpPr/>
          <p:nvPr/>
        </p:nvSpPr>
        <p:spPr>
          <a:xfrm>
            <a:off x="6588800" y="448008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5.50</a:t>
            </a:r>
            <a:endParaRPr lang="en-US" sz="1550" dirty="0"/>
          </a:p>
        </p:txBody>
      </p:sp>
      <p:sp>
        <p:nvSpPr>
          <p:cNvPr id="34" name="Text 32"/>
          <p:cNvSpPr/>
          <p:nvPr/>
        </p:nvSpPr>
        <p:spPr>
          <a:xfrm>
            <a:off x="8450342" y="448008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0.86</a:t>
            </a:r>
            <a:endParaRPr lang="en-US" sz="1550" dirty="0"/>
          </a:p>
        </p:txBody>
      </p:sp>
      <p:sp>
        <p:nvSpPr>
          <p:cNvPr id="35" name="Text 33"/>
          <p:cNvSpPr/>
          <p:nvPr/>
        </p:nvSpPr>
        <p:spPr>
          <a:xfrm>
            <a:off x="10311884" y="448008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2.17</a:t>
            </a:r>
            <a:endParaRPr lang="en-US" sz="1550" dirty="0"/>
          </a:p>
        </p:txBody>
      </p:sp>
      <p:sp>
        <p:nvSpPr>
          <p:cNvPr id="36" name="Text 34"/>
          <p:cNvSpPr/>
          <p:nvPr/>
        </p:nvSpPr>
        <p:spPr>
          <a:xfrm>
            <a:off x="12173426" y="4480084"/>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a:t>
            </a:r>
            <a:endParaRPr lang="en-US" sz="1550" dirty="0"/>
          </a:p>
        </p:txBody>
      </p:sp>
      <p:sp>
        <p:nvSpPr>
          <p:cNvPr id="37" name="Shape 35"/>
          <p:cNvSpPr/>
          <p:nvPr/>
        </p:nvSpPr>
        <p:spPr>
          <a:xfrm>
            <a:off x="801410" y="4924306"/>
            <a:ext cx="13031391" cy="570905"/>
          </a:xfrm>
          <a:prstGeom prst="rect">
            <a:avLst/>
          </a:prstGeom>
          <a:solidFill>
            <a:srgbClr val="FFFFFF">
              <a:alpha val="4000"/>
            </a:srgbClr>
          </a:solidFill>
          <a:ln/>
        </p:spPr>
      </p:sp>
      <p:sp>
        <p:nvSpPr>
          <p:cNvPr id="38" name="Text 36"/>
          <p:cNvSpPr/>
          <p:nvPr/>
        </p:nvSpPr>
        <p:spPr>
          <a:xfrm>
            <a:off x="1000363" y="5050988"/>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3</a:t>
            </a:r>
            <a:endParaRPr lang="en-US" sz="1550" dirty="0"/>
          </a:p>
        </p:txBody>
      </p:sp>
      <p:sp>
        <p:nvSpPr>
          <p:cNvPr id="39" name="Text 37"/>
          <p:cNvSpPr/>
          <p:nvPr/>
        </p:nvSpPr>
        <p:spPr>
          <a:xfrm>
            <a:off x="2865715" y="505098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15</a:t>
            </a:r>
            <a:endParaRPr lang="en-US" sz="1550" dirty="0"/>
          </a:p>
        </p:txBody>
      </p:sp>
      <p:sp>
        <p:nvSpPr>
          <p:cNvPr id="40" name="Text 38"/>
          <p:cNvSpPr/>
          <p:nvPr/>
        </p:nvSpPr>
        <p:spPr>
          <a:xfrm>
            <a:off x="4727257" y="505098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14</a:t>
            </a:r>
            <a:endParaRPr lang="en-US" sz="1550" dirty="0"/>
          </a:p>
        </p:txBody>
      </p:sp>
      <p:sp>
        <p:nvSpPr>
          <p:cNvPr id="41" name="Text 39"/>
          <p:cNvSpPr/>
          <p:nvPr/>
        </p:nvSpPr>
        <p:spPr>
          <a:xfrm>
            <a:off x="6588800" y="505098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2.90</a:t>
            </a:r>
            <a:endParaRPr lang="en-US" sz="1550" dirty="0"/>
          </a:p>
        </p:txBody>
      </p:sp>
      <p:sp>
        <p:nvSpPr>
          <p:cNvPr id="42" name="Text 40"/>
          <p:cNvSpPr/>
          <p:nvPr/>
        </p:nvSpPr>
        <p:spPr>
          <a:xfrm>
            <a:off x="8450342" y="505098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2.66</a:t>
            </a:r>
            <a:endParaRPr lang="en-US" sz="1550" dirty="0"/>
          </a:p>
        </p:txBody>
      </p:sp>
      <p:sp>
        <p:nvSpPr>
          <p:cNvPr id="43" name="Text 41"/>
          <p:cNvSpPr/>
          <p:nvPr/>
        </p:nvSpPr>
        <p:spPr>
          <a:xfrm>
            <a:off x="10311884" y="505098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0.82</a:t>
            </a:r>
            <a:endParaRPr lang="en-US" sz="1550" dirty="0"/>
          </a:p>
        </p:txBody>
      </p:sp>
      <p:sp>
        <p:nvSpPr>
          <p:cNvPr id="44" name="Text 42"/>
          <p:cNvSpPr/>
          <p:nvPr/>
        </p:nvSpPr>
        <p:spPr>
          <a:xfrm>
            <a:off x="12173426" y="5050988"/>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a:t>
            </a:r>
            <a:endParaRPr lang="en-US" sz="1550" dirty="0"/>
          </a:p>
        </p:txBody>
      </p:sp>
      <p:sp>
        <p:nvSpPr>
          <p:cNvPr id="45" name="Shape 43"/>
          <p:cNvSpPr/>
          <p:nvPr/>
        </p:nvSpPr>
        <p:spPr>
          <a:xfrm>
            <a:off x="801410" y="5495211"/>
            <a:ext cx="13031391" cy="570905"/>
          </a:xfrm>
          <a:prstGeom prst="rect">
            <a:avLst/>
          </a:prstGeom>
          <a:solidFill>
            <a:srgbClr val="000000">
              <a:alpha val="4000"/>
            </a:srgbClr>
          </a:solidFill>
          <a:ln/>
        </p:spPr>
      </p:sp>
      <p:sp>
        <p:nvSpPr>
          <p:cNvPr id="46" name="Text 44"/>
          <p:cNvSpPr/>
          <p:nvPr/>
        </p:nvSpPr>
        <p:spPr>
          <a:xfrm>
            <a:off x="1000363" y="5621893"/>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a:t>
            </a:r>
            <a:endParaRPr lang="en-US" sz="1550" dirty="0"/>
          </a:p>
        </p:txBody>
      </p:sp>
      <p:sp>
        <p:nvSpPr>
          <p:cNvPr id="47" name="Text 45"/>
          <p:cNvSpPr/>
          <p:nvPr/>
        </p:nvSpPr>
        <p:spPr>
          <a:xfrm>
            <a:off x="2865715" y="5621893"/>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2</a:t>
            </a:r>
            <a:endParaRPr lang="en-US" sz="1550" dirty="0"/>
          </a:p>
        </p:txBody>
      </p:sp>
      <p:sp>
        <p:nvSpPr>
          <p:cNvPr id="48" name="Text 46"/>
          <p:cNvSpPr/>
          <p:nvPr/>
        </p:nvSpPr>
        <p:spPr>
          <a:xfrm>
            <a:off x="4727257" y="5621893"/>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a:t>
            </a:r>
            <a:endParaRPr lang="en-US" sz="1550" dirty="0"/>
          </a:p>
        </p:txBody>
      </p:sp>
      <p:sp>
        <p:nvSpPr>
          <p:cNvPr id="49" name="Text 47"/>
          <p:cNvSpPr/>
          <p:nvPr/>
        </p:nvSpPr>
        <p:spPr>
          <a:xfrm>
            <a:off x="6588800" y="5621893"/>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17.30</a:t>
            </a:r>
            <a:endParaRPr lang="en-US" sz="1550" dirty="0"/>
          </a:p>
        </p:txBody>
      </p:sp>
      <p:sp>
        <p:nvSpPr>
          <p:cNvPr id="50" name="Text 48"/>
          <p:cNvSpPr/>
          <p:nvPr/>
        </p:nvSpPr>
        <p:spPr>
          <a:xfrm>
            <a:off x="8450342" y="5621893"/>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1.79</a:t>
            </a:r>
            <a:endParaRPr lang="en-US" sz="1550" dirty="0"/>
          </a:p>
        </p:txBody>
      </p:sp>
      <p:sp>
        <p:nvSpPr>
          <p:cNvPr id="51" name="Text 49"/>
          <p:cNvSpPr/>
          <p:nvPr/>
        </p:nvSpPr>
        <p:spPr>
          <a:xfrm>
            <a:off x="10311884" y="5621893"/>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3.06</a:t>
            </a:r>
            <a:endParaRPr lang="en-US" sz="1550" dirty="0"/>
          </a:p>
        </p:txBody>
      </p:sp>
      <p:sp>
        <p:nvSpPr>
          <p:cNvPr id="52" name="Text 50"/>
          <p:cNvSpPr/>
          <p:nvPr/>
        </p:nvSpPr>
        <p:spPr>
          <a:xfrm>
            <a:off x="12173426" y="5621893"/>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a:t>
            </a:r>
            <a:endParaRPr lang="en-US" sz="1550" dirty="0"/>
          </a:p>
        </p:txBody>
      </p:sp>
      <p:sp>
        <p:nvSpPr>
          <p:cNvPr id="53" name="Shape 51"/>
          <p:cNvSpPr/>
          <p:nvPr/>
        </p:nvSpPr>
        <p:spPr>
          <a:xfrm>
            <a:off x="801410" y="6066115"/>
            <a:ext cx="13031391" cy="570905"/>
          </a:xfrm>
          <a:prstGeom prst="rect">
            <a:avLst/>
          </a:prstGeom>
          <a:solidFill>
            <a:srgbClr val="FFFFFF">
              <a:alpha val="4000"/>
            </a:srgbClr>
          </a:solidFill>
          <a:ln/>
        </p:spPr>
      </p:sp>
      <p:sp>
        <p:nvSpPr>
          <p:cNvPr id="54" name="Text 52"/>
          <p:cNvSpPr/>
          <p:nvPr/>
        </p:nvSpPr>
        <p:spPr>
          <a:xfrm>
            <a:off x="1000363" y="6192798"/>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3</a:t>
            </a:r>
            <a:endParaRPr lang="en-US" sz="1550" dirty="0"/>
          </a:p>
        </p:txBody>
      </p:sp>
      <p:sp>
        <p:nvSpPr>
          <p:cNvPr id="55" name="Text 53"/>
          <p:cNvSpPr/>
          <p:nvPr/>
        </p:nvSpPr>
        <p:spPr>
          <a:xfrm>
            <a:off x="2865715" y="619279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5</a:t>
            </a:r>
            <a:endParaRPr lang="en-US" sz="1550" dirty="0"/>
          </a:p>
        </p:txBody>
      </p:sp>
      <p:sp>
        <p:nvSpPr>
          <p:cNvPr id="56" name="Text 54"/>
          <p:cNvSpPr/>
          <p:nvPr/>
        </p:nvSpPr>
        <p:spPr>
          <a:xfrm>
            <a:off x="4727257" y="619279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5</a:t>
            </a:r>
            <a:endParaRPr lang="en-US" sz="1550" dirty="0"/>
          </a:p>
        </p:txBody>
      </p:sp>
      <p:sp>
        <p:nvSpPr>
          <p:cNvPr id="57" name="Text 55"/>
          <p:cNvSpPr/>
          <p:nvPr/>
        </p:nvSpPr>
        <p:spPr>
          <a:xfrm>
            <a:off x="6588800" y="619279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10.20</a:t>
            </a:r>
            <a:endParaRPr lang="en-US" sz="1550" dirty="0"/>
          </a:p>
        </p:txBody>
      </p:sp>
      <p:sp>
        <p:nvSpPr>
          <p:cNvPr id="58" name="Text 56"/>
          <p:cNvSpPr/>
          <p:nvPr/>
        </p:nvSpPr>
        <p:spPr>
          <a:xfrm>
            <a:off x="8450342" y="619279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0.39</a:t>
            </a:r>
            <a:endParaRPr lang="en-US" sz="1550" dirty="0"/>
          </a:p>
        </p:txBody>
      </p:sp>
      <p:sp>
        <p:nvSpPr>
          <p:cNvPr id="59" name="Text 57"/>
          <p:cNvSpPr/>
          <p:nvPr/>
        </p:nvSpPr>
        <p:spPr>
          <a:xfrm>
            <a:off x="10311884" y="619279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2.16</a:t>
            </a:r>
            <a:endParaRPr lang="en-US" sz="1550" dirty="0"/>
          </a:p>
        </p:txBody>
      </p:sp>
      <p:sp>
        <p:nvSpPr>
          <p:cNvPr id="60" name="Text 58"/>
          <p:cNvSpPr/>
          <p:nvPr/>
        </p:nvSpPr>
        <p:spPr>
          <a:xfrm>
            <a:off x="12173426" y="6192798"/>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a:t>
            </a:r>
            <a:endParaRPr lang="en-US" sz="1550" dirty="0"/>
          </a:p>
        </p:txBody>
      </p:sp>
      <p:sp>
        <p:nvSpPr>
          <p:cNvPr id="61" name="Text 59"/>
          <p:cNvSpPr/>
          <p:nvPr/>
        </p:nvSpPr>
        <p:spPr>
          <a:xfrm>
            <a:off x="793790" y="6867882"/>
            <a:ext cx="13042821" cy="635079"/>
          </a:xfrm>
          <a:prstGeom prst="rect">
            <a:avLst/>
          </a:prstGeom>
          <a:noFill/>
          <a:ln/>
        </p:spPr>
        <p:txBody>
          <a:bodyPr wrap="square" lIns="0" tIns="0" rIns="0" bIns="0" rtlCol="0" anchor="t"/>
          <a:lstStyle/>
          <a:p>
            <a:pPr marL="0" indent="0" algn="l">
              <a:lnSpc>
                <a:spcPts val="2500"/>
              </a:lnSpc>
              <a:buNone/>
            </a:pPr>
            <a:r>
              <a:rPr lang="en-US" b="1" dirty="0">
                <a:solidFill>
                  <a:srgbClr val="383838"/>
                </a:solidFill>
                <a:latin typeface="DM Sans" pitchFamily="34" charset="0"/>
                <a:ea typeface="DM Sans" pitchFamily="34" charset="-122"/>
                <a:cs typeface="DM Sans" pitchFamily="34" charset="-120"/>
              </a:rPr>
              <a:t>Note:</a:t>
            </a:r>
            <a:r>
              <a:rPr lang="en-US" dirty="0">
                <a:solidFill>
                  <a:srgbClr val="383838"/>
                </a:solidFill>
                <a:latin typeface="DM Sans" pitchFamily="34" charset="0"/>
                <a:ea typeface="DM Sans" pitchFamily="34" charset="-122"/>
                <a:cs typeface="DM Sans" pitchFamily="34" charset="-120"/>
              </a:rPr>
              <a:t> Age groups are coded as 1 (under 28 years), 2 (28-40 years), and 3 (over 40 years). EMPLOY and ADDRESS represent years in each category. DEBTINC is the debt-to-income ratio expressed as a percentage.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377910"/>
            <a:ext cx="9579888"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Testing Individual Predictors: Wald's Test</a:t>
            </a:r>
            <a:endParaRPr lang="en-US" sz="4100" dirty="0"/>
          </a:p>
        </p:txBody>
      </p:sp>
      <p:sp>
        <p:nvSpPr>
          <p:cNvPr id="3" name="Text 1"/>
          <p:cNvSpPr/>
          <p:nvPr/>
        </p:nvSpPr>
        <p:spPr>
          <a:xfrm>
            <a:off x="793790" y="2426018"/>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After estimating the model parameters, we need to determine which predictors significantly influence the outcome. Wald's test provides this assessment for each individual coefficient.</a:t>
            </a:r>
            <a:endParaRPr lang="en-US" dirty="0"/>
          </a:p>
        </p:txBody>
      </p:sp>
      <p:sp>
        <p:nvSpPr>
          <p:cNvPr id="4" name="Text 2"/>
          <p:cNvSpPr/>
          <p:nvPr/>
        </p:nvSpPr>
        <p:spPr>
          <a:xfrm>
            <a:off x="793790" y="348269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Hypothesis Structure</a:t>
            </a:r>
            <a:endParaRPr lang="en-US" sz="2050" dirty="0"/>
          </a:p>
        </p:txBody>
      </p:sp>
      <p:sp>
        <p:nvSpPr>
          <p:cNvPr id="5" name="Text 3"/>
          <p:cNvSpPr/>
          <p:nvPr/>
        </p:nvSpPr>
        <p:spPr>
          <a:xfrm>
            <a:off x="793790" y="4006691"/>
            <a:ext cx="5602962" cy="317540"/>
          </a:xfrm>
          <a:prstGeom prst="rect">
            <a:avLst/>
          </a:prstGeom>
          <a:noFill/>
          <a:ln/>
        </p:spPr>
        <p:txBody>
          <a:bodyPr wrap="none" lIns="0" tIns="0" rIns="0" bIns="0" rtlCol="0" anchor="t"/>
          <a:lstStyle/>
          <a:p>
            <a:pPr marL="0" indent="0" algn="l">
              <a:lnSpc>
                <a:spcPts val="2500"/>
              </a:lnSpc>
              <a:buNone/>
            </a:pPr>
            <a:r>
              <a:rPr lang="en-US" b="1" dirty="0">
                <a:solidFill>
                  <a:srgbClr val="383838"/>
                </a:solidFill>
                <a:latin typeface="DM Sans" pitchFamily="34" charset="0"/>
                <a:ea typeface="DM Sans" pitchFamily="34" charset="-122"/>
                <a:cs typeface="DM Sans" pitchFamily="34" charset="-120"/>
              </a:rPr>
              <a:t>Null Hypothesis (H₀):</a:t>
            </a:r>
            <a:r>
              <a:rPr lang="en-US" dirty="0">
                <a:solidFill>
                  <a:srgbClr val="383838"/>
                </a:solidFill>
                <a:latin typeface="DM Sans" pitchFamily="34" charset="0"/>
                <a:ea typeface="DM Sans" pitchFamily="34" charset="-122"/>
                <a:cs typeface="DM Sans" pitchFamily="34" charset="-120"/>
              </a:rPr>
              <a:t> bᵢ = 0</a:t>
            </a:r>
            <a:endParaRPr lang="en-US" dirty="0"/>
          </a:p>
        </p:txBody>
      </p:sp>
      <p:sp>
        <p:nvSpPr>
          <p:cNvPr id="6" name="Text 4"/>
          <p:cNvSpPr/>
          <p:nvPr/>
        </p:nvSpPr>
        <p:spPr>
          <a:xfrm>
            <a:off x="793790" y="4502825"/>
            <a:ext cx="5602962"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predictor has no effect on the outcome.</a:t>
            </a:r>
            <a:endParaRPr lang="en-US" dirty="0"/>
          </a:p>
        </p:txBody>
      </p:sp>
      <p:sp>
        <p:nvSpPr>
          <p:cNvPr id="7" name="Text 5"/>
          <p:cNvSpPr/>
          <p:nvPr/>
        </p:nvSpPr>
        <p:spPr>
          <a:xfrm>
            <a:off x="793790" y="4998958"/>
            <a:ext cx="5602962" cy="317540"/>
          </a:xfrm>
          <a:prstGeom prst="rect">
            <a:avLst/>
          </a:prstGeom>
          <a:noFill/>
          <a:ln/>
        </p:spPr>
        <p:txBody>
          <a:bodyPr wrap="none" lIns="0" tIns="0" rIns="0" bIns="0" rtlCol="0" anchor="t"/>
          <a:lstStyle/>
          <a:p>
            <a:pPr marL="0" indent="0" algn="l">
              <a:lnSpc>
                <a:spcPts val="2500"/>
              </a:lnSpc>
              <a:buNone/>
            </a:pPr>
            <a:r>
              <a:rPr lang="en-US" b="1" dirty="0">
                <a:solidFill>
                  <a:srgbClr val="383838"/>
                </a:solidFill>
                <a:latin typeface="DM Sans" pitchFamily="34" charset="0"/>
                <a:ea typeface="DM Sans" pitchFamily="34" charset="-122"/>
                <a:cs typeface="DM Sans" pitchFamily="34" charset="-120"/>
              </a:rPr>
              <a:t>Alternative Hypothesis (H₁):</a:t>
            </a:r>
            <a:r>
              <a:rPr lang="en-US" dirty="0">
                <a:solidFill>
                  <a:srgbClr val="383838"/>
                </a:solidFill>
                <a:latin typeface="DM Sans" pitchFamily="34" charset="0"/>
                <a:ea typeface="DM Sans" pitchFamily="34" charset="-122"/>
                <a:cs typeface="DM Sans" pitchFamily="34" charset="-120"/>
              </a:rPr>
              <a:t> bᵢ ≠ 0</a:t>
            </a:r>
            <a:endParaRPr lang="en-US" dirty="0"/>
          </a:p>
        </p:txBody>
      </p:sp>
      <p:sp>
        <p:nvSpPr>
          <p:cNvPr id="8" name="Text 6"/>
          <p:cNvSpPr/>
          <p:nvPr/>
        </p:nvSpPr>
        <p:spPr>
          <a:xfrm>
            <a:off x="793790" y="5495092"/>
            <a:ext cx="5602962"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predictor significantly influences the outcome.</a:t>
            </a:r>
            <a:endParaRPr lang="en-US" dirty="0"/>
          </a:p>
        </p:txBody>
      </p:sp>
      <p:sp>
        <p:nvSpPr>
          <p:cNvPr id="9" name="Text 7"/>
          <p:cNvSpPr/>
          <p:nvPr/>
        </p:nvSpPr>
        <p:spPr>
          <a:xfrm>
            <a:off x="793790" y="5991225"/>
            <a:ext cx="5602962"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test applies to each predictor separately, where i = 1, 2, 3, ..., k.</a:t>
            </a:r>
            <a:endParaRPr lang="en-US" dirty="0"/>
          </a:p>
        </p:txBody>
      </p:sp>
      <p:sp>
        <p:nvSpPr>
          <p:cNvPr id="10" name="Text 8"/>
          <p:cNvSpPr/>
          <p:nvPr/>
        </p:nvSpPr>
        <p:spPr>
          <a:xfrm>
            <a:off x="6888480" y="348269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Test Statistic</a:t>
            </a:r>
            <a:endParaRPr lang="en-US" sz="2050" dirty="0"/>
          </a:p>
        </p:txBody>
      </p:sp>
      <p:sp>
        <p:nvSpPr>
          <p:cNvPr id="11" name="Text 9"/>
          <p:cNvSpPr/>
          <p:nvPr/>
        </p:nvSpPr>
        <p:spPr>
          <a:xfrm>
            <a:off x="6888480" y="4059436"/>
            <a:ext cx="6955631" cy="596265"/>
          </a:xfrm>
          <a:prstGeom prst="rect">
            <a:avLst/>
          </a:prstGeom>
          <a:noFill/>
          <a:ln/>
        </p:spPr>
        <p:txBody>
          <a:bodyPr wrap="square" lIns="0" tIns="0" rIns="0" bIns="0" rtlCol="0" anchor="t"/>
          <a:lstStyle/>
          <a:p>
            <a:pPr marL="0" indent="0" algn="l">
              <a:lnSpc>
                <a:spcPts val="2800"/>
              </a:lnSpc>
              <a:buNone/>
            </a:pPr>
            <a:endParaRPr lang="en-US" sz="1750" dirty="0"/>
          </a:p>
        </p:txBody>
      </p:sp>
      <p:pic>
        <p:nvPicPr>
          <p:cNvPr id="12" name="Image 0" descr="preencoded.png"/>
          <p:cNvPicPr>
            <a:picLocks noChangeAspect="1"/>
          </p:cNvPicPr>
          <p:nvPr/>
        </p:nvPicPr>
        <p:blipFill>
          <a:blip r:embed="rId3"/>
          <a:stretch>
            <a:fillRect/>
          </a:stretch>
        </p:blipFill>
        <p:spPr>
          <a:xfrm>
            <a:off x="6888480" y="4059436"/>
            <a:ext cx="6955631" cy="596265"/>
          </a:xfrm>
          <a:prstGeom prst="rect">
            <a:avLst/>
          </a:prstGeom>
        </p:spPr>
      </p:pic>
      <p:sp>
        <p:nvSpPr>
          <p:cNvPr id="13" name="Text 10"/>
          <p:cNvSpPr/>
          <p:nvPr/>
        </p:nvSpPr>
        <p:spPr>
          <a:xfrm>
            <a:off x="6888480" y="4906804"/>
            <a:ext cx="6955631"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Under the null hypothesis, Z follows a standard normal distribution. Some software packages (like SAS) report the Wald chi-square statistic, which is simply Z² and follows a chi-square distribution with 1 degree of freedom.</a:t>
            </a:r>
            <a:endParaRPr lang="en-US" dirty="0"/>
          </a:p>
        </p:txBody>
      </p:sp>
      <p:sp>
        <p:nvSpPr>
          <p:cNvPr id="14" name="Text 11"/>
          <p:cNvSpPr/>
          <p:nvPr/>
        </p:nvSpPr>
        <p:spPr>
          <a:xfrm>
            <a:off x="6895862" y="6626304"/>
            <a:ext cx="6955631" cy="635079"/>
          </a:xfrm>
          <a:prstGeom prst="rect">
            <a:avLst/>
          </a:prstGeom>
          <a:noFill/>
          <a:ln/>
        </p:spPr>
        <p:txBody>
          <a:bodyPr wrap="square" lIns="0" tIns="0" rIns="0" bIns="0" rtlCol="0" anchor="t"/>
          <a:lstStyle/>
          <a:p>
            <a:pPr marL="0" indent="0" algn="l">
              <a:lnSpc>
                <a:spcPts val="2500"/>
              </a:lnSpc>
              <a:buNone/>
            </a:pPr>
            <a:r>
              <a:rPr lang="en-US" b="1" dirty="0">
                <a:solidFill>
                  <a:srgbClr val="383838"/>
                </a:solidFill>
                <a:latin typeface="DM Sans" pitchFamily="34" charset="0"/>
                <a:ea typeface="DM Sans" pitchFamily="34" charset="-122"/>
                <a:cs typeface="DM Sans" pitchFamily="34" charset="-120"/>
              </a:rPr>
              <a:t>Decision Rule:</a:t>
            </a:r>
            <a:r>
              <a:rPr lang="en-US" dirty="0">
                <a:solidFill>
                  <a:srgbClr val="383838"/>
                </a:solidFill>
                <a:latin typeface="DM Sans" pitchFamily="34" charset="0"/>
                <a:ea typeface="DM Sans" pitchFamily="34" charset="-122"/>
                <a:cs typeface="DM Sans" pitchFamily="34" charset="-120"/>
              </a:rPr>
              <a:t> Reject H₀ if the p-value &lt; 0.05 (using standard significance level).</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687229"/>
            <a:ext cx="4688919" cy="586026"/>
          </a:xfrm>
          <a:prstGeom prst="rect">
            <a:avLst/>
          </a:prstGeom>
          <a:noFill/>
          <a:ln/>
        </p:spPr>
        <p:txBody>
          <a:bodyPr wrap="none" lIns="0" tIns="0" rIns="0" bIns="0" rtlCol="0" anchor="t"/>
          <a:lstStyle/>
          <a:p>
            <a:pPr marL="0" indent="0" algn="l">
              <a:lnSpc>
                <a:spcPts val="4600"/>
              </a:lnSpc>
              <a:buNone/>
            </a:pPr>
            <a:r>
              <a:rPr lang="en-US" sz="3650" dirty="0">
                <a:solidFill>
                  <a:srgbClr val="020202"/>
                </a:solidFill>
                <a:latin typeface="PT Serif" pitchFamily="34" charset="0"/>
                <a:ea typeface="PT Serif" pitchFamily="34" charset="-122"/>
                <a:cs typeface="PT Serif" pitchFamily="34" charset="-120"/>
              </a:rPr>
              <a:t>Initial Model Results</a:t>
            </a:r>
            <a:endParaRPr lang="en-US" sz="3650" dirty="0"/>
          </a:p>
        </p:txBody>
      </p:sp>
      <p:sp>
        <p:nvSpPr>
          <p:cNvPr id="3" name="Text 1"/>
          <p:cNvSpPr/>
          <p:nvPr/>
        </p:nvSpPr>
        <p:spPr>
          <a:xfrm>
            <a:off x="793790" y="1630442"/>
            <a:ext cx="13042821" cy="285750"/>
          </a:xfrm>
          <a:prstGeom prst="rect">
            <a:avLst/>
          </a:prstGeom>
          <a:noFill/>
          <a:ln/>
        </p:spPr>
        <p:txBody>
          <a:bodyPr wrap="none" lIns="0" tIns="0" rIns="0" bIns="0" rtlCol="0" anchor="t"/>
          <a:lstStyle/>
          <a:p>
            <a:pPr marL="0" indent="0" algn="l">
              <a:lnSpc>
                <a:spcPts val="2250"/>
              </a:lnSpc>
              <a:buNone/>
            </a:pPr>
            <a:r>
              <a:rPr lang="en-US" dirty="0">
                <a:solidFill>
                  <a:srgbClr val="383838"/>
                </a:solidFill>
                <a:latin typeface="DM Sans" pitchFamily="34" charset="0"/>
                <a:ea typeface="DM Sans" pitchFamily="34" charset="-122"/>
                <a:cs typeface="DM Sans" pitchFamily="34" charset="-120"/>
              </a:rPr>
              <a:t>The first model included all predictor variables. Here are the coefficient estimates with their statistical significance tests.</a:t>
            </a:r>
            <a:endParaRPr lang="en-US" dirty="0"/>
          </a:p>
        </p:txBody>
      </p:sp>
      <p:sp>
        <p:nvSpPr>
          <p:cNvPr id="4" name="Shape 2"/>
          <p:cNvSpPr/>
          <p:nvPr/>
        </p:nvSpPr>
        <p:spPr>
          <a:xfrm>
            <a:off x="793790" y="2117050"/>
            <a:ext cx="13042821" cy="4652963"/>
          </a:xfrm>
          <a:prstGeom prst="roundRect">
            <a:avLst>
              <a:gd name="adj" fmla="val 576"/>
            </a:avLst>
          </a:prstGeom>
          <a:noFill/>
          <a:ln w="7620">
            <a:solidFill>
              <a:srgbClr val="000000">
                <a:alpha val="8000"/>
              </a:srgbClr>
            </a:solidFill>
            <a:prstDash val="solid"/>
          </a:ln>
        </p:spPr>
      </p:sp>
      <p:sp>
        <p:nvSpPr>
          <p:cNvPr id="5" name="Shape 3"/>
          <p:cNvSpPr/>
          <p:nvPr/>
        </p:nvSpPr>
        <p:spPr>
          <a:xfrm>
            <a:off x="801410" y="2124670"/>
            <a:ext cx="13030081" cy="515303"/>
          </a:xfrm>
          <a:prstGeom prst="rect">
            <a:avLst/>
          </a:prstGeom>
          <a:solidFill>
            <a:srgbClr val="FFFFFF">
              <a:alpha val="4000"/>
            </a:srgbClr>
          </a:solidFill>
          <a:ln/>
        </p:spPr>
      </p:sp>
      <p:sp>
        <p:nvSpPr>
          <p:cNvPr id="6" name="Text 4"/>
          <p:cNvSpPr/>
          <p:nvPr/>
        </p:nvSpPr>
        <p:spPr>
          <a:xfrm>
            <a:off x="980599" y="2239447"/>
            <a:ext cx="1810583"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Variable</a:t>
            </a:r>
            <a:endParaRPr lang="en-US" sz="1400" dirty="0"/>
          </a:p>
        </p:txBody>
      </p:sp>
      <p:sp>
        <p:nvSpPr>
          <p:cNvPr id="7" name="Text 5"/>
          <p:cNvSpPr/>
          <p:nvPr/>
        </p:nvSpPr>
        <p:spPr>
          <a:xfrm>
            <a:off x="3155990" y="2239447"/>
            <a:ext cx="1806773"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Estimate</a:t>
            </a:r>
            <a:endParaRPr lang="en-US" sz="1400" dirty="0"/>
          </a:p>
        </p:txBody>
      </p:sp>
      <p:sp>
        <p:nvSpPr>
          <p:cNvPr id="8" name="Text 6"/>
          <p:cNvSpPr/>
          <p:nvPr/>
        </p:nvSpPr>
        <p:spPr>
          <a:xfrm>
            <a:off x="5327571" y="2239447"/>
            <a:ext cx="1806773"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Std. Error</a:t>
            </a:r>
            <a:endParaRPr lang="en-US" sz="1400" dirty="0"/>
          </a:p>
        </p:txBody>
      </p:sp>
      <p:sp>
        <p:nvSpPr>
          <p:cNvPr id="9" name="Text 7"/>
          <p:cNvSpPr/>
          <p:nvPr/>
        </p:nvSpPr>
        <p:spPr>
          <a:xfrm>
            <a:off x="7499152" y="2239447"/>
            <a:ext cx="1806773"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Z value</a:t>
            </a:r>
            <a:endParaRPr lang="en-US" sz="1400" dirty="0"/>
          </a:p>
        </p:txBody>
      </p:sp>
      <p:sp>
        <p:nvSpPr>
          <p:cNvPr id="10" name="Text 8"/>
          <p:cNvSpPr/>
          <p:nvPr/>
        </p:nvSpPr>
        <p:spPr>
          <a:xfrm>
            <a:off x="9670733" y="2239447"/>
            <a:ext cx="1806773"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P-value</a:t>
            </a:r>
            <a:endParaRPr lang="en-US" sz="1400" dirty="0"/>
          </a:p>
        </p:txBody>
      </p:sp>
      <p:sp>
        <p:nvSpPr>
          <p:cNvPr id="11" name="Text 9"/>
          <p:cNvSpPr/>
          <p:nvPr/>
        </p:nvSpPr>
        <p:spPr>
          <a:xfrm>
            <a:off x="11842313" y="2239447"/>
            <a:ext cx="1810583" cy="285750"/>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Significance</a:t>
            </a:r>
            <a:endParaRPr lang="en-US" sz="1400" dirty="0"/>
          </a:p>
        </p:txBody>
      </p:sp>
      <p:sp>
        <p:nvSpPr>
          <p:cNvPr id="12" name="Shape 10"/>
          <p:cNvSpPr/>
          <p:nvPr/>
        </p:nvSpPr>
        <p:spPr>
          <a:xfrm>
            <a:off x="801410" y="2639973"/>
            <a:ext cx="13030081" cy="515303"/>
          </a:xfrm>
          <a:prstGeom prst="rect">
            <a:avLst/>
          </a:prstGeom>
          <a:solidFill>
            <a:srgbClr val="000000">
              <a:alpha val="4000"/>
            </a:srgbClr>
          </a:solidFill>
          <a:ln/>
        </p:spPr>
      </p:sp>
      <p:sp>
        <p:nvSpPr>
          <p:cNvPr id="13" name="Text 11"/>
          <p:cNvSpPr/>
          <p:nvPr/>
        </p:nvSpPr>
        <p:spPr>
          <a:xfrm>
            <a:off x="980599" y="2754749"/>
            <a:ext cx="181058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(Intercept)</a:t>
            </a:r>
            <a:endParaRPr lang="en-US" sz="1400" dirty="0"/>
          </a:p>
        </p:txBody>
      </p:sp>
      <p:sp>
        <p:nvSpPr>
          <p:cNvPr id="14" name="Text 12"/>
          <p:cNvSpPr/>
          <p:nvPr/>
        </p:nvSpPr>
        <p:spPr>
          <a:xfrm>
            <a:off x="3155990" y="2754749"/>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-0.78821</a:t>
            </a:r>
            <a:endParaRPr lang="en-US" sz="1400" dirty="0"/>
          </a:p>
        </p:txBody>
      </p:sp>
      <p:sp>
        <p:nvSpPr>
          <p:cNvPr id="15" name="Text 13"/>
          <p:cNvSpPr/>
          <p:nvPr/>
        </p:nvSpPr>
        <p:spPr>
          <a:xfrm>
            <a:off x="5327571" y="2754749"/>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0.26407</a:t>
            </a:r>
            <a:endParaRPr lang="en-US" sz="1400" dirty="0"/>
          </a:p>
        </p:txBody>
      </p:sp>
      <p:sp>
        <p:nvSpPr>
          <p:cNvPr id="16" name="Text 14"/>
          <p:cNvSpPr/>
          <p:nvPr/>
        </p:nvSpPr>
        <p:spPr>
          <a:xfrm>
            <a:off x="7499152" y="2754749"/>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-2.985</a:t>
            </a:r>
            <a:endParaRPr lang="en-US" sz="1400" dirty="0"/>
          </a:p>
        </p:txBody>
      </p:sp>
      <p:sp>
        <p:nvSpPr>
          <p:cNvPr id="17" name="Text 15"/>
          <p:cNvSpPr/>
          <p:nvPr/>
        </p:nvSpPr>
        <p:spPr>
          <a:xfrm>
            <a:off x="9670733" y="2754749"/>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0.00284</a:t>
            </a:r>
            <a:endParaRPr lang="en-US" sz="1400" dirty="0"/>
          </a:p>
        </p:txBody>
      </p:sp>
      <p:sp>
        <p:nvSpPr>
          <p:cNvPr id="18" name="Text 16"/>
          <p:cNvSpPr/>
          <p:nvPr/>
        </p:nvSpPr>
        <p:spPr>
          <a:xfrm>
            <a:off x="11842313" y="2754749"/>
            <a:ext cx="181058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a:t>
            </a:r>
            <a:endParaRPr lang="en-US" sz="1400" dirty="0"/>
          </a:p>
        </p:txBody>
      </p:sp>
      <p:sp>
        <p:nvSpPr>
          <p:cNvPr id="19" name="Shape 17"/>
          <p:cNvSpPr/>
          <p:nvPr/>
        </p:nvSpPr>
        <p:spPr>
          <a:xfrm>
            <a:off x="801410" y="3155275"/>
            <a:ext cx="13030081" cy="515303"/>
          </a:xfrm>
          <a:prstGeom prst="rect">
            <a:avLst/>
          </a:prstGeom>
          <a:solidFill>
            <a:srgbClr val="FFFFFF">
              <a:alpha val="4000"/>
            </a:srgbClr>
          </a:solidFill>
          <a:ln/>
        </p:spPr>
      </p:sp>
      <p:sp>
        <p:nvSpPr>
          <p:cNvPr id="20" name="Text 18"/>
          <p:cNvSpPr/>
          <p:nvPr/>
        </p:nvSpPr>
        <p:spPr>
          <a:xfrm>
            <a:off x="980599" y="3270052"/>
            <a:ext cx="181058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AGE2</a:t>
            </a:r>
            <a:endParaRPr lang="en-US" sz="1400" dirty="0"/>
          </a:p>
        </p:txBody>
      </p:sp>
      <p:sp>
        <p:nvSpPr>
          <p:cNvPr id="21" name="Text 19"/>
          <p:cNvSpPr/>
          <p:nvPr/>
        </p:nvSpPr>
        <p:spPr>
          <a:xfrm>
            <a:off x="3155990" y="3270052"/>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0.25202</a:t>
            </a:r>
            <a:endParaRPr lang="en-US" sz="1400" dirty="0"/>
          </a:p>
        </p:txBody>
      </p:sp>
      <p:sp>
        <p:nvSpPr>
          <p:cNvPr id="22" name="Text 20"/>
          <p:cNvSpPr/>
          <p:nvPr/>
        </p:nvSpPr>
        <p:spPr>
          <a:xfrm>
            <a:off x="5327571" y="3270052"/>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0.26651</a:t>
            </a:r>
            <a:endParaRPr lang="en-US" sz="1400" dirty="0"/>
          </a:p>
        </p:txBody>
      </p:sp>
      <p:sp>
        <p:nvSpPr>
          <p:cNvPr id="23" name="Text 21"/>
          <p:cNvSpPr/>
          <p:nvPr/>
        </p:nvSpPr>
        <p:spPr>
          <a:xfrm>
            <a:off x="7499152" y="3270052"/>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0.946</a:t>
            </a:r>
            <a:endParaRPr lang="en-US" sz="1400" dirty="0"/>
          </a:p>
        </p:txBody>
      </p:sp>
      <p:sp>
        <p:nvSpPr>
          <p:cNvPr id="24" name="Text 22"/>
          <p:cNvSpPr/>
          <p:nvPr/>
        </p:nvSpPr>
        <p:spPr>
          <a:xfrm>
            <a:off x="9670733" y="3270052"/>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0.34433</a:t>
            </a:r>
            <a:endParaRPr lang="en-US" sz="1400" dirty="0"/>
          </a:p>
        </p:txBody>
      </p:sp>
      <p:sp>
        <p:nvSpPr>
          <p:cNvPr id="25" name="Text 23"/>
          <p:cNvSpPr/>
          <p:nvPr/>
        </p:nvSpPr>
        <p:spPr>
          <a:xfrm>
            <a:off x="11842313" y="3270052"/>
            <a:ext cx="1810583" cy="285750"/>
          </a:xfrm>
          <a:prstGeom prst="rect">
            <a:avLst/>
          </a:prstGeom>
          <a:noFill/>
          <a:ln/>
        </p:spPr>
        <p:txBody>
          <a:bodyPr wrap="none" lIns="0" tIns="0" rIns="0" bIns="0" rtlCol="0" anchor="t"/>
          <a:lstStyle/>
          <a:p>
            <a:pPr marL="0" indent="0" algn="l">
              <a:lnSpc>
                <a:spcPts val="2250"/>
              </a:lnSpc>
              <a:buNone/>
            </a:pPr>
            <a:endParaRPr lang="en-US" sz="1400" dirty="0"/>
          </a:p>
        </p:txBody>
      </p:sp>
      <p:sp>
        <p:nvSpPr>
          <p:cNvPr id="26" name="Shape 24"/>
          <p:cNvSpPr/>
          <p:nvPr/>
        </p:nvSpPr>
        <p:spPr>
          <a:xfrm>
            <a:off x="801410" y="3670578"/>
            <a:ext cx="13030081" cy="515303"/>
          </a:xfrm>
          <a:prstGeom prst="rect">
            <a:avLst/>
          </a:prstGeom>
          <a:solidFill>
            <a:srgbClr val="000000">
              <a:alpha val="4000"/>
            </a:srgbClr>
          </a:solidFill>
          <a:ln/>
        </p:spPr>
      </p:sp>
      <p:sp>
        <p:nvSpPr>
          <p:cNvPr id="27" name="Text 25"/>
          <p:cNvSpPr/>
          <p:nvPr/>
        </p:nvSpPr>
        <p:spPr>
          <a:xfrm>
            <a:off x="980599" y="3785354"/>
            <a:ext cx="181058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AGE3</a:t>
            </a:r>
            <a:endParaRPr lang="en-US" sz="1400" dirty="0"/>
          </a:p>
        </p:txBody>
      </p:sp>
      <p:sp>
        <p:nvSpPr>
          <p:cNvPr id="28" name="Text 26"/>
          <p:cNvSpPr/>
          <p:nvPr/>
        </p:nvSpPr>
        <p:spPr>
          <a:xfrm>
            <a:off x="3155990" y="3785354"/>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0.62707</a:t>
            </a:r>
            <a:endParaRPr lang="en-US" sz="1400" dirty="0"/>
          </a:p>
        </p:txBody>
      </p:sp>
      <p:sp>
        <p:nvSpPr>
          <p:cNvPr id="29" name="Text 27"/>
          <p:cNvSpPr/>
          <p:nvPr/>
        </p:nvSpPr>
        <p:spPr>
          <a:xfrm>
            <a:off x="5327571" y="3785354"/>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0.36056</a:t>
            </a:r>
            <a:endParaRPr lang="en-US" sz="1400" dirty="0"/>
          </a:p>
        </p:txBody>
      </p:sp>
      <p:sp>
        <p:nvSpPr>
          <p:cNvPr id="30" name="Text 28"/>
          <p:cNvSpPr/>
          <p:nvPr/>
        </p:nvSpPr>
        <p:spPr>
          <a:xfrm>
            <a:off x="7499152" y="3785354"/>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1.739</a:t>
            </a:r>
            <a:endParaRPr lang="en-US" sz="1400" dirty="0"/>
          </a:p>
        </p:txBody>
      </p:sp>
      <p:sp>
        <p:nvSpPr>
          <p:cNvPr id="31" name="Text 29"/>
          <p:cNvSpPr/>
          <p:nvPr/>
        </p:nvSpPr>
        <p:spPr>
          <a:xfrm>
            <a:off x="9670733" y="3785354"/>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0.08201</a:t>
            </a:r>
            <a:endParaRPr lang="en-US" sz="1400" dirty="0"/>
          </a:p>
        </p:txBody>
      </p:sp>
      <p:sp>
        <p:nvSpPr>
          <p:cNvPr id="32" name="Text 30"/>
          <p:cNvSpPr/>
          <p:nvPr/>
        </p:nvSpPr>
        <p:spPr>
          <a:xfrm>
            <a:off x="11842313" y="3785354"/>
            <a:ext cx="181058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a:t>
            </a:r>
            <a:endParaRPr lang="en-US" sz="1400" dirty="0"/>
          </a:p>
        </p:txBody>
      </p:sp>
      <p:sp>
        <p:nvSpPr>
          <p:cNvPr id="33" name="Shape 31"/>
          <p:cNvSpPr/>
          <p:nvPr/>
        </p:nvSpPr>
        <p:spPr>
          <a:xfrm>
            <a:off x="801410" y="4185880"/>
            <a:ext cx="13030081" cy="515303"/>
          </a:xfrm>
          <a:prstGeom prst="rect">
            <a:avLst/>
          </a:prstGeom>
          <a:solidFill>
            <a:srgbClr val="FFFFFF">
              <a:alpha val="4000"/>
            </a:srgbClr>
          </a:solidFill>
          <a:ln/>
        </p:spPr>
      </p:sp>
      <p:sp>
        <p:nvSpPr>
          <p:cNvPr id="34" name="Text 32"/>
          <p:cNvSpPr/>
          <p:nvPr/>
        </p:nvSpPr>
        <p:spPr>
          <a:xfrm>
            <a:off x="980599" y="4300657"/>
            <a:ext cx="181058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EMPLOY</a:t>
            </a:r>
            <a:endParaRPr lang="en-US" sz="1400" dirty="0"/>
          </a:p>
        </p:txBody>
      </p:sp>
      <p:sp>
        <p:nvSpPr>
          <p:cNvPr id="35" name="Text 33"/>
          <p:cNvSpPr/>
          <p:nvPr/>
        </p:nvSpPr>
        <p:spPr>
          <a:xfrm>
            <a:off x="3155990" y="4300657"/>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-0.26172</a:t>
            </a:r>
            <a:endParaRPr lang="en-US" sz="1400" dirty="0"/>
          </a:p>
        </p:txBody>
      </p:sp>
      <p:sp>
        <p:nvSpPr>
          <p:cNvPr id="36" name="Text 34"/>
          <p:cNvSpPr/>
          <p:nvPr/>
        </p:nvSpPr>
        <p:spPr>
          <a:xfrm>
            <a:off x="5327571" y="4300657"/>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0.03188</a:t>
            </a:r>
            <a:endParaRPr lang="en-US" sz="1400" dirty="0"/>
          </a:p>
        </p:txBody>
      </p:sp>
      <p:sp>
        <p:nvSpPr>
          <p:cNvPr id="37" name="Text 35"/>
          <p:cNvSpPr/>
          <p:nvPr/>
        </p:nvSpPr>
        <p:spPr>
          <a:xfrm>
            <a:off x="7499152" y="4300657"/>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-8.211</a:t>
            </a:r>
            <a:endParaRPr lang="en-US" sz="1400" dirty="0"/>
          </a:p>
        </p:txBody>
      </p:sp>
      <p:sp>
        <p:nvSpPr>
          <p:cNvPr id="38" name="Text 36"/>
          <p:cNvSpPr/>
          <p:nvPr/>
        </p:nvSpPr>
        <p:spPr>
          <a:xfrm>
            <a:off x="9670733" y="4300657"/>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&lt; 0.0001</a:t>
            </a:r>
            <a:endParaRPr lang="en-US" sz="1400" dirty="0"/>
          </a:p>
        </p:txBody>
      </p:sp>
      <p:sp>
        <p:nvSpPr>
          <p:cNvPr id="39" name="Text 37"/>
          <p:cNvSpPr/>
          <p:nvPr/>
        </p:nvSpPr>
        <p:spPr>
          <a:xfrm>
            <a:off x="11842313" y="4300657"/>
            <a:ext cx="181058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a:t>
            </a:r>
            <a:endParaRPr lang="en-US" sz="1400" dirty="0"/>
          </a:p>
        </p:txBody>
      </p:sp>
      <p:sp>
        <p:nvSpPr>
          <p:cNvPr id="40" name="Shape 38"/>
          <p:cNvSpPr/>
          <p:nvPr/>
        </p:nvSpPr>
        <p:spPr>
          <a:xfrm>
            <a:off x="801410" y="4701183"/>
            <a:ext cx="13030081" cy="515303"/>
          </a:xfrm>
          <a:prstGeom prst="rect">
            <a:avLst/>
          </a:prstGeom>
          <a:solidFill>
            <a:srgbClr val="000000">
              <a:alpha val="4000"/>
            </a:srgbClr>
          </a:solidFill>
          <a:ln/>
        </p:spPr>
      </p:sp>
      <p:sp>
        <p:nvSpPr>
          <p:cNvPr id="41" name="Text 39"/>
          <p:cNvSpPr/>
          <p:nvPr/>
        </p:nvSpPr>
        <p:spPr>
          <a:xfrm>
            <a:off x="980599" y="4815959"/>
            <a:ext cx="181058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ADDRESS</a:t>
            </a:r>
            <a:endParaRPr lang="en-US" sz="1400" dirty="0"/>
          </a:p>
        </p:txBody>
      </p:sp>
      <p:sp>
        <p:nvSpPr>
          <p:cNvPr id="42" name="Text 40"/>
          <p:cNvSpPr/>
          <p:nvPr/>
        </p:nvSpPr>
        <p:spPr>
          <a:xfrm>
            <a:off x="3155990" y="4815959"/>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-0.09964</a:t>
            </a:r>
            <a:endParaRPr lang="en-US" sz="1400" dirty="0"/>
          </a:p>
        </p:txBody>
      </p:sp>
      <p:sp>
        <p:nvSpPr>
          <p:cNvPr id="43" name="Text 41"/>
          <p:cNvSpPr/>
          <p:nvPr/>
        </p:nvSpPr>
        <p:spPr>
          <a:xfrm>
            <a:off x="5327571" y="4815959"/>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0.02234</a:t>
            </a:r>
            <a:endParaRPr lang="en-US" sz="1400" dirty="0"/>
          </a:p>
        </p:txBody>
      </p:sp>
      <p:sp>
        <p:nvSpPr>
          <p:cNvPr id="44" name="Text 42"/>
          <p:cNvSpPr/>
          <p:nvPr/>
        </p:nvSpPr>
        <p:spPr>
          <a:xfrm>
            <a:off x="7499152" y="4815959"/>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-4.459</a:t>
            </a:r>
            <a:endParaRPr lang="en-US" sz="1400" dirty="0"/>
          </a:p>
        </p:txBody>
      </p:sp>
      <p:sp>
        <p:nvSpPr>
          <p:cNvPr id="45" name="Text 43"/>
          <p:cNvSpPr/>
          <p:nvPr/>
        </p:nvSpPr>
        <p:spPr>
          <a:xfrm>
            <a:off x="9670733" y="4815959"/>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&lt; 0.0001</a:t>
            </a:r>
            <a:endParaRPr lang="en-US" sz="1400" dirty="0"/>
          </a:p>
        </p:txBody>
      </p:sp>
      <p:sp>
        <p:nvSpPr>
          <p:cNvPr id="46" name="Text 44"/>
          <p:cNvSpPr/>
          <p:nvPr/>
        </p:nvSpPr>
        <p:spPr>
          <a:xfrm>
            <a:off x="11842313" y="4815959"/>
            <a:ext cx="181058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a:t>
            </a:r>
            <a:endParaRPr lang="en-US" sz="1400" dirty="0"/>
          </a:p>
        </p:txBody>
      </p:sp>
      <p:sp>
        <p:nvSpPr>
          <p:cNvPr id="47" name="Shape 45"/>
          <p:cNvSpPr/>
          <p:nvPr/>
        </p:nvSpPr>
        <p:spPr>
          <a:xfrm>
            <a:off x="801410" y="5216485"/>
            <a:ext cx="13030081" cy="515303"/>
          </a:xfrm>
          <a:prstGeom prst="rect">
            <a:avLst/>
          </a:prstGeom>
          <a:solidFill>
            <a:srgbClr val="FFFFFF">
              <a:alpha val="4000"/>
            </a:srgbClr>
          </a:solidFill>
          <a:ln/>
        </p:spPr>
      </p:sp>
      <p:sp>
        <p:nvSpPr>
          <p:cNvPr id="48" name="Text 46"/>
          <p:cNvSpPr/>
          <p:nvPr/>
        </p:nvSpPr>
        <p:spPr>
          <a:xfrm>
            <a:off x="980599" y="5331262"/>
            <a:ext cx="181058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DEBTINC</a:t>
            </a:r>
            <a:endParaRPr lang="en-US" sz="1400" dirty="0"/>
          </a:p>
        </p:txBody>
      </p:sp>
      <p:sp>
        <p:nvSpPr>
          <p:cNvPr id="49" name="Text 47"/>
          <p:cNvSpPr/>
          <p:nvPr/>
        </p:nvSpPr>
        <p:spPr>
          <a:xfrm>
            <a:off x="3155990" y="5331262"/>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0.08506</a:t>
            </a:r>
            <a:endParaRPr lang="en-US" sz="1400" dirty="0"/>
          </a:p>
        </p:txBody>
      </p:sp>
      <p:sp>
        <p:nvSpPr>
          <p:cNvPr id="50" name="Text 48"/>
          <p:cNvSpPr/>
          <p:nvPr/>
        </p:nvSpPr>
        <p:spPr>
          <a:xfrm>
            <a:off x="5327571" y="5331262"/>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0.02212</a:t>
            </a:r>
            <a:endParaRPr lang="en-US" sz="1400" dirty="0"/>
          </a:p>
        </p:txBody>
      </p:sp>
      <p:sp>
        <p:nvSpPr>
          <p:cNvPr id="51" name="Text 49"/>
          <p:cNvSpPr/>
          <p:nvPr/>
        </p:nvSpPr>
        <p:spPr>
          <a:xfrm>
            <a:off x="7499152" y="5331262"/>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3.845</a:t>
            </a:r>
            <a:endParaRPr lang="en-US" sz="1400" dirty="0"/>
          </a:p>
        </p:txBody>
      </p:sp>
      <p:sp>
        <p:nvSpPr>
          <p:cNvPr id="52" name="Text 50"/>
          <p:cNvSpPr/>
          <p:nvPr/>
        </p:nvSpPr>
        <p:spPr>
          <a:xfrm>
            <a:off x="9670733" y="5331262"/>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0.00012</a:t>
            </a:r>
            <a:endParaRPr lang="en-US" sz="1400" dirty="0"/>
          </a:p>
        </p:txBody>
      </p:sp>
      <p:sp>
        <p:nvSpPr>
          <p:cNvPr id="53" name="Text 51"/>
          <p:cNvSpPr/>
          <p:nvPr/>
        </p:nvSpPr>
        <p:spPr>
          <a:xfrm>
            <a:off x="11842313" y="5331262"/>
            <a:ext cx="181058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a:t>
            </a:r>
            <a:endParaRPr lang="en-US" sz="1400" dirty="0"/>
          </a:p>
        </p:txBody>
      </p:sp>
      <p:sp>
        <p:nvSpPr>
          <p:cNvPr id="54" name="Shape 52"/>
          <p:cNvSpPr/>
          <p:nvPr/>
        </p:nvSpPr>
        <p:spPr>
          <a:xfrm>
            <a:off x="801410" y="5731788"/>
            <a:ext cx="13030081" cy="515303"/>
          </a:xfrm>
          <a:prstGeom prst="rect">
            <a:avLst/>
          </a:prstGeom>
          <a:solidFill>
            <a:srgbClr val="000000">
              <a:alpha val="4000"/>
            </a:srgbClr>
          </a:solidFill>
          <a:ln/>
        </p:spPr>
      </p:sp>
      <p:sp>
        <p:nvSpPr>
          <p:cNvPr id="55" name="Text 53"/>
          <p:cNvSpPr/>
          <p:nvPr/>
        </p:nvSpPr>
        <p:spPr>
          <a:xfrm>
            <a:off x="980599" y="5846564"/>
            <a:ext cx="181058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CREDDEBT</a:t>
            </a:r>
            <a:endParaRPr lang="en-US" sz="1400" dirty="0"/>
          </a:p>
        </p:txBody>
      </p:sp>
      <p:sp>
        <p:nvSpPr>
          <p:cNvPr id="56" name="Text 54"/>
          <p:cNvSpPr/>
          <p:nvPr/>
        </p:nvSpPr>
        <p:spPr>
          <a:xfrm>
            <a:off x="3155990" y="5846564"/>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0.56336</a:t>
            </a:r>
            <a:endParaRPr lang="en-US" sz="1400" dirty="0"/>
          </a:p>
        </p:txBody>
      </p:sp>
      <p:sp>
        <p:nvSpPr>
          <p:cNvPr id="57" name="Text 55"/>
          <p:cNvSpPr/>
          <p:nvPr/>
        </p:nvSpPr>
        <p:spPr>
          <a:xfrm>
            <a:off x="5327571" y="5846564"/>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0.08877</a:t>
            </a:r>
            <a:endParaRPr lang="en-US" sz="1400" dirty="0"/>
          </a:p>
        </p:txBody>
      </p:sp>
      <p:sp>
        <p:nvSpPr>
          <p:cNvPr id="58" name="Text 56"/>
          <p:cNvSpPr/>
          <p:nvPr/>
        </p:nvSpPr>
        <p:spPr>
          <a:xfrm>
            <a:off x="7499152" y="5846564"/>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6.347</a:t>
            </a:r>
            <a:endParaRPr lang="en-US" sz="1400" dirty="0"/>
          </a:p>
        </p:txBody>
      </p:sp>
      <p:sp>
        <p:nvSpPr>
          <p:cNvPr id="59" name="Text 57"/>
          <p:cNvSpPr/>
          <p:nvPr/>
        </p:nvSpPr>
        <p:spPr>
          <a:xfrm>
            <a:off x="9670733" y="5846564"/>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&lt; 0.0001</a:t>
            </a:r>
            <a:endParaRPr lang="en-US" sz="1400" dirty="0"/>
          </a:p>
        </p:txBody>
      </p:sp>
      <p:sp>
        <p:nvSpPr>
          <p:cNvPr id="60" name="Text 58"/>
          <p:cNvSpPr/>
          <p:nvPr/>
        </p:nvSpPr>
        <p:spPr>
          <a:xfrm>
            <a:off x="11842313" y="5846564"/>
            <a:ext cx="181058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a:t>
            </a:r>
            <a:endParaRPr lang="en-US" sz="1400" dirty="0"/>
          </a:p>
        </p:txBody>
      </p:sp>
      <p:sp>
        <p:nvSpPr>
          <p:cNvPr id="61" name="Shape 59"/>
          <p:cNvSpPr/>
          <p:nvPr/>
        </p:nvSpPr>
        <p:spPr>
          <a:xfrm>
            <a:off x="801410" y="6247090"/>
            <a:ext cx="13030081" cy="515303"/>
          </a:xfrm>
          <a:prstGeom prst="rect">
            <a:avLst/>
          </a:prstGeom>
          <a:solidFill>
            <a:srgbClr val="FFFFFF">
              <a:alpha val="4000"/>
            </a:srgbClr>
          </a:solidFill>
          <a:ln/>
        </p:spPr>
      </p:sp>
      <p:sp>
        <p:nvSpPr>
          <p:cNvPr id="62" name="Text 60"/>
          <p:cNvSpPr/>
          <p:nvPr/>
        </p:nvSpPr>
        <p:spPr>
          <a:xfrm>
            <a:off x="980599" y="6361867"/>
            <a:ext cx="181058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OTHDEBT</a:t>
            </a:r>
            <a:endParaRPr lang="en-US" sz="1400" dirty="0"/>
          </a:p>
        </p:txBody>
      </p:sp>
      <p:sp>
        <p:nvSpPr>
          <p:cNvPr id="63" name="Text 61"/>
          <p:cNvSpPr/>
          <p:nvPr/>
        </p:nvSpPr>
        <p:spPr>
          <a:xfrm>
            <a:off x="3155990" y="6361867"/>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0.02315</a:t>
            </a:r>
            <a:endParaRPr lang="en-US" sz="1400" dirty="0"/>
          </a:p>
        </p:txBody>
      </p:sp>
      <p:sp>
        <p:nvSpPr>
          <p:cNvPr id="64" name="Text 62"/>
          <p:cNvSpPr/>
          <p:nvPr/>
        </p:nvSpPr>
        <p:spPr>
          <a:xfrm>
            <a:off x="5327571" y="6361867"/>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0.05709</a:t>
            </a:r>
            <a:endParaRPr lang="en-US" sz="1400" dirty="0"/>
          </a:p>
        </p:txBody>
      </p:sp>
      <p:sp>
        <p:nvSpPr>
          <p:cNvPr id="65" name="Text 63"/>
          <p:cNvSpPr/>
          <p:nvPr/>
        </p:nvSpPr>
        <p:spPr>
          <a:xfrm>
            <a:off x="7499152" y="6361867"/>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0.405</a:t>
            </a:r>
            <a:endParaRPr lang="en-US" sz="1400" dirty="0"/>
          </a:p>
        </p:txBody>
      </p:sp>
      <p:sp>
        <p:nvSpPr>
          <p:cNvPr id="66" name="Text 64"/>
          <p:cNvSpPr/>
          <p:nvPr/>
        </p:nvSpPr>
        <p:spPr>
          <a:xfrm>
            <a:off x="9670733" y="6361867"/>
            <a:ext cx="1806773" cy="285750"/>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0.68517</a:t>
            </a:r>
            <a:endParaRPr lang="en-US" sz="1400" dirty="0"/>
          </a:p>
        </p:txBody>
      </p:sp>
      <p:sp>
        <p:nvSpPr>
          <p:cNvPr id="67" name="Text 65"/>
          <p:cNvSpPr/>
          <p:nvPr/>
        </p:nvSpPr>
        <p:spPr>
          <a:xfrm>
            <a:off x="11842313" y="6361867"/>
            <a:ext cx="1810583" cy="285750"/>
          </a:xfrm>
          <a:prstGeom prst="rect">
            <a:avLst/>
          </a:prstGeom>
          <a:noFill/>
          <a:ln/>
        </p:spPr>
        <p:txBody>
          <a:bodyPr wrap="none" lIns="0" tIns="0" rIns="0" bIns="0" rtlCol="0" anchor="t"/>
          <a:lstStyle/>
          <a:p>
            <a:pPr marL="0" indent="0" algn="l">
              <a:lnSpc>
                <a:spcPts val="2250"/>
              </a:lnSpc>
              <a:buNone/>
            </a:pPr>
            <a:endParaRPr lang="en-US" sz="1400" dirty="0"/>
          </a:p>
        </p:txBody>
      </p:sp>
      <p:sp>
        <p:nvSpPr>
          <p:cNvPr id="68" name="Text 66"/>
          <p:cNvSpPr/>
          <p:nvPr/>
        </p:nvSpPr>
        <p:spPr>
          <a:xfrm>
            <a:off x="793790" y="6970871"/>
            <a:ext cx="13042821" cy="571500"/>
          </a:xfrm>
          <a:prstGeom prst="rect">
            <a:avLst/>
          </a:prstGeom>
          <a:noFill/>
          <a:ln/>
        </p:spPr>
        <p:txBody>
          <a:bodyPr wrap="square" lIns="0" tIns="0" rIns="0" bIns="0" rtlCol="0" anchor="t"/>
          <a:lstStyle/>
          <a:p>
            <a:pPr marL="0" indent="0" algn="l">
              <a:lnSpc>
                <a:spcPts val="2250"/>
              </a:lnSpc>
              <a:buNone/>
            </a:pPr>
            <a:r>
              <a:rPr lang="en-US" b="1" dirty="0">
                <a:solidFill>
                  <a:srgbClr val="383838"/>
                </a:solidFill>
                <a:latin typeface="DM Sans" pitchFamily="34" charset="0"/>
                <a:ea typeface="DM Sans" pitchFamily="34" charset="-122"/>
                <a:cs typeface="DM Sans" pitchFamily="34" charset="-120"/>
              </a:rPr>
              <a:t>Key Finding:</a:t>
            </a:r>
            <a:r>
              <a:rPr lang="en-US" dirty="0">
                <a:solidFill>
                  <a:srgbClr val="383838"/>
                </a:solidFill>
                <a:latin typeface="DM Sans" pitchFamily="34" charset="0"/>
                <a:ea typeface="DM Sans" pitchFamily="34" charset="-122"/>
                <a:cs typeface="DM Sans" pitchFamily="34" charset="-120"/>
              </a:rPr>
              <a:t> EMPLOY, ADDRESS, DEBTINC, and CREDDEBT are statistically significant predictors. AGE and OTHDEBT show no significant relationship with default probability and should be removed from the model.</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853321"/>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Refined Model Results</a:t>
            </a:r>
            <a:endParaRPr lang="en-US" sz="4100" dirty="0"/>
          </a:p>
        </p:txBody>
      </p:sp>
      <p:sp>
        <p:nvSpPr>
          <p:cNvPr id="3" name="Text 1"/>
          <p:cNvSpPr/>
          <p:nvPr/>
        </p:nvSpPr>
        <p:spPr>
          <a:xfrm>
            <a:off x="793790" y="1901428"/>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After removing the non-significant predictors (AGE and OTHDEBT), we re-estimated the model with only the meaningful variables. This refined model is more parsimonious and easier to interpret.</a:t>
            </a:r>
            <a:endParaRPr lang="en-US" dirty="0"/>
          </a:p>
        </p:txBody>
      </p:sp>
      <p:sp>
        <p:nvSpPr>
          <p:cNvPr id="4" name="Shape 2"/>
          <p:cNvSpPr/>
          <p:nvPr/>
        </p:nvSpPr>
        <p:spPr>
          <a:xfrm>
            <a:off x="793790" y="2759750"/>
            <a:ext cx="13042821" cy="3440668"/>
          </a:xfrm>
          <a:prstGeom prst="roundRect">
            <a:avLst>
              <a:gd name="adj" fmla="val 865"/>
            </a:avLst>
          </a:prstGeom>
          <a:noFill/>
          <a:ln w="7620">
            <a:solidFill>
              <a:srgbClr val="000000">
                <a:alpha val="8000"/>
              </a:srgbClr>
            </a:solidFill>
            <a:prstDash val="solid"/>
          </a:ln>
        </p:spPr>
      </p:sp>
      <p:sp>
        <p:nvSpPr>
          <p:cNvPr id="5" name="Shape 3"/>
          <p:cNvSpPr/>
          <p:nvPr/>
        </p:nvSpPr>
        <p:spPr>
          <a:xfrm>
            <a:off x="801410" y="2767370"/>
            <a:ext cx="13030081" cy="570905"/>
          </a:xfrm>
          <a:prstGeom prst="rect">
            <a:avLst/>
          </a:prstGeom>
          <a:solidFill>
            <a:srgbClr val="FFFFFF">
              <a:alpha val="4000"/>
            </a:srgbClr>
          </a:solidFill>
          <a:ln/>
        </p:spPr>
      </p:sp>
      <p:sp>
        <p:nvSpPr>
          <p:cNvPr id="6" name="Text 4"/>
          <p:cNvSpPr/>
          <p:nvPr/>
        </p:nvSpPr>
        <p:spPr>
          <a:xfrm>
            <a:off x="1000363" y="2894052"/>
            <a:ext cx="1771055"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Variable</a:t>
            </a:r>
            <a:endParaRPr lang="en-US" sz="1550" dirty="0"/>
          </a:p>
        </p:txBody>
      </p:sp>
      <p:sp>
        <p:nvSpPr>
          <p:cNvPr id="7" name="Text 5"/>
          <p:cNvSpPr/>
          <p:nvPr/>
        </p:nvSpPr>
        <p:spPr>
          <a:xfrm>
            <a:off x="3175754" y="2894052"/>
            <a:ext cx="1767245"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Estimate</a:t>
            </a:r>
            <a:endParaRPr lang="en-US" sz="1550" dirty="0"/>
          </a:p>
        </p:txBody>
      </p:sp>
      <p:sp>
        <p:nvSpPr>
          <p:cNvPr id="8" name="Text 6"/>
          <p:cNvSpPr/>
          <p:nvPr/>
        </p:nvSpPr>
        <p:spPr>
          <a:xfrm>
            <a:off x="5347335" y="2894052"/>
            <a:ext cx="1767245"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Std. Error</a:t>
            </a:r>
            <a:endParaRPr lang="en-US" sz="1550" dirty="0"/>
          </a:p>
        </p:txBody>
      </p:sp>
      <p:sp>
        <p:nvSpPr>
          <p:cNvPr id="9" name="Text 7"/>
          <p:cNvSpPr/>
          <p:nvPr/>
        </p:nvSpPr>
        <p:spPr>
          <a:xfrm>
            <a:off x="7518916" y="2894052"/>
            <a:ext cx="1767245"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Z value</a:t>
            </a:r>
            <a:endParaRPr lang="en-US" sz="1550" dirty="0"/>
          </a:p>
        </p:txBody>
      </p:sp>
      <p:sp>
        <p:nvSpPr>
          <p:cNvPr id="10" name="Text 8"/>
          <p:cNvSpPr/>
          <p:nvPr/>
        </p:nvSpPr>
        <p:spPr>
          <a:xfrm>
            <a:off x="9690497" y="2894052"/>
            <a:ext cx="1767245"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P-value</a:t>
            </a:r>
            <a:endParaRPr lang="en-US" sz="1550" dirty="0"/>
          </a:p>
        </p:txBody>
      </p:sp>
      <p:sp>
        <p:nvSpPr>
          <p:cNvPr id="11" name="Text 9"/>
          <p:cNvSpPr/>
          <p:nvPr/>
        </p:nvSpPr>
        <p:spPr>
          <a:xfrm>
            <a:off x="11862078" y="2894052"/>
            <a:ext cx="1771055"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Significance</a:t>
            </a:r>
            <a:endParaRPr lang="en-US" sz="1550" dirty="0"/>
          </a:p>
        </p:txBody>
      </p:sp>
      <p:sp>
        <p:nvSpPr>
          <p:cNvPr id="12" name="Shape 10"/>
          <p:cNvSpPr/>
          <p:nvPr/>
        </p:nvSpPr>
        <p:spPr>
          <a:xfrm>
            <a:off x="801410" y="3338274"/>
            <a:ext cx="13030081" cy="570905"/>
          </a:xfrm>
          <a:prstGeom prst="rect">
            <a:avLst/>
          </a:prstGeom>
          <a:solidFill>
            <a:srgbClr val="000000">
              <a:alpha val="4000"/>
            </a:srgbClr>
          </a:solidFill>
          <a:ln/>
        </p:spPr>
      </p:sp>
      <p:sp>
        <p:nvSpPr>
          <p:cNvPr id="13" name="Text 11"/>
          <p:cNvSpPr/>
          <p:nvPr/>
        </p:nvSpPr>
        <p:spPr>
          <a:xfrm>
            <a:off x="1000363" y="3464957"/>
            <a:ext cx="177105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(Intercept)</a:t>
            </a:r>
            <a:endParaRPr lang="en-US" sz="1550" dirty="0"/>
          </a:p>
        </p:txBody>
      </p:sp>
      <p:sp>
        <p:nvSpPr>
          <p:cNvPr id="14" name="Text 12"/>
          <p:cNvSpPr/>
          <p:nvPr/>
        </p:nvSpPr>
        <p:spPr>
          <a:xfrm>
            <a:off x="3175754" y="3464957"/>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-0.79107</a:t>
            </a:r>
            <a:endParaRPr lang="en-US" sz="1550" dirty="0"/>
          </a:p>
        </p:txBody>
      </p:sp>
      <p:sp>
        <p:nvSpPr>
          <p:cNvPr id="15" name="Text 13"/>
          <p:cNvSpPr/>
          <p:nvPr/>
        </p:nvSpPr>
        <p:spPr>
          <a:xfrm>
            <a:off x="5347335" y="3464957"/>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0.25154</a:t>
            </a:r>
            <a:endParaRPr lang="en-US" sz="1550" dirty="0"/>
          </a:p>
        </p:txBody>
      </p:sp>
      <p:sp>
        <p:nvSpPr>
          <p:cNvPr id="16" name="Text 14"/>
          <p:cNvSpPr/>
          <p:nvPr/>
        </p:nvSpPr>
        <p:spPr>
          <a:xfrm>
            <a:off x="7518916" y="3464957"/>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-3.145</a:t>
            </a:r>
            <a:endParaRPr lang="en-US" sz="1550" dirty="0"/>
          </a:p>
        </p:txBody>
      </p:sp>
      <p:sp>
        <p:nvSpPr>
          <p:cNvPr id="17" name="Text 15"/>
          <p:cNvSpPr/>
          <p:nvPr/>
        </p:nvSpPr>
        <p:spPr>
          <a:xfrm>
            <a:off x="9690497" y="3464957"/>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0.00166</a:t>
            </a:r>
            <a:endParaRPr lang="en-US" sz="1550" dirty="0"/>
          </a:p>
        </p:txBody>
      </p:sp>
      <p:sp>
        <p:nvSpPr>
          <p:cNvPr id="18" name="Text 16"/>
          <p:cNvSpPr/>
          <p:nvPr/>
        </p:nvSpPr>
        <p:spPr>
          <a:xfrm>
            <a:off x="11862078" y="3464957"/>
            <a:ext cx="177105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t>
            </a:r>
            <a:endParaRPr lang="en-US" sz="1550" dirty="0"/>
          </a:p>
        </p:txBody>
      </p:sp>
      <p:sp>
        <p:nvSpPr>
          <p:cNvPr id="19" name="Shape 17"/>
          <p:cNvSpPr/>
          <p:nvPr/>
        </p:nvSpPr>
        <p:spPr>
          <a:xfrm>
            <a:off x="801410" y="3909179"/>
            <a:ext cx="13030081" cy="570905"/>
          </a:xfrm>
          <a:prstGeom prst="rect">
            <a:avLst/>
          </a:prstGeom>
          <a:solidFill>
            <a:srgbClr val="FFFFFF">
              <a:alpha val="4000"/>
            </a:srgbClr>
          </a:solidFill>
          <a:ln/>
        </p:spPr>
      </p:sp>
      <p:sp>
        <p:nvSpPr>
          <p:cNvPr id="20" name="Text 18"/>
          <p:cNvSpPr/>
          <p:nvPr/>
        </p:nvSpPr>
        <p:spPr>
          <a:xfrm>
            <a:off x="1000363" y="4035862"/>
            <a:ext cx="177105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EMPLOY</a:t>
            </a:r>
            <a:endParaRPr lang="en-US" sz="1550" dirty="0"/>
          </a:p>
        </p:txBody>
      </p:sp>
      <p:sp>
        <p:nvSpPr>
          <p:cNvPr id="21" name="Text 19"/>
          <p:cNvSpPr/>
          <p:nvPr/>
        </p:nvSpPr>
        <p:spPr>
          <a:xfrm>
            <a:off x="3175754" y="4035862"/>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-0.24258</a:t>
            </a:r>
            <a:endParaRPr lang="en-US" sz="1550" dirty="0"/>
          </a:p>
        </p:txBody>
      </p:sp>
      <p:sp>
        <p:nvSpPr>
          <p:cNvPr id="22" name="Text 20"/>
          <p:cNvSpPr/>
          <p:nvPr/>
        </p:nvSpPr>
        <p:spPr>
          <a:xfrm>
            <a:off x="5347335" y="4035862"/>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0.02806</a:t>
            </a:r>
            <a:endParaRPr lang="en-US" sz="1550" dirty="0"/>
          </a:p>
        </p:txBody>
      </p:sp>
      <p:sp>
        <p:nvSpPr>
          <p:cNvPr id="23" name="Text 21"/>
          <p:cNvSpPr/>
          <p:nvPr/>
        </p:nvSpPr>
        <p:spPr>
          <a:xfrm>
            <a:off x="7518916" y="4035862"/>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-8.646</a:t>
            </a:r>
            <a:endParaRPr lang="en-US" sz="1550" dirty="0"/>
          </a:p>
        </p:txBody>
      </p:sp>
      <p:sp>
        <p:nvSpPr>
          <p:cNvPr id="24" name="Text 22"/>
          <p:cNvSpPr/>
          <p:nvPr/>
        </p:nvSpPr>
        <p:spPr>
          <a:xfrm>
            <a:off x="9690497" y="4035862"/>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&lt; 0.0001</a:t>
            </a:r>
            <a:endParaRPr lang="en-US" sz="1550" dirty="0"/>
          </a:p>
        </p:txBody>
      </p:sp>
      <p:sp>
        <p:nvSpPr>
          <p:cNvPr id="25" name="Text 23"/>
          <p:cNvSpPr/>
          <p:nvPr/>
        </p:nvSpPr>
        <p:spPr>
          <a:xfrm>
            <a:off x="11862078" y="4035862"/>
            <a:ext cx="177105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t>
            </a:r>
            <a:endParaRPr lang="en-US" sz="1550" dirty="0"/>
          </a:p>
        </p:txBody>
      </p:sp>
      <p:sp>
        <p:nvSpPr>
          <p:cNvPr id="26" name="Shape 24"/>
          <p:cNvSpPr/>
          <p:nvPr/>
        </p:nvSpPr>
        <p:spPr>
          <a:xfrm>
            <a:off x="801410" y="4480084"/>
            <a:ext cx="13030081" cy="570905"/>
          </a:xfrm>
          <a:prstGeom prst="rect">
            <a:avLst/>
          </a:prstGeom>
          <a:solidFill>
            <a:srgbClr val="000000">
              <a:alpha val="4000"/>
            </a:srgbClr>
          </a:solidFill>
          <a:ln/>
        </p:spPr>
      </p:sp>
      <p:sp>
        <p:nvSpPr>
          <p:cNvPr id="27" name="Text 25"/>
          <p:cNvSpPr/>
          <p:nvPr/>
        </p:nvSpPr>
        <p:spPr>
          <a:xfrm>
            <a:off x="1000363" y="4606766"/>
            <a:ext cx="177105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ADDRESS</a:t>
            </a:r>
            <a:endParaRPr lang="en-US" sz="1550" dirty="0"/>
          </a:p>
        </p:txBody>
      </p:sp>
      <p:sp>
        <p:nvSpPr>
          <p:cNvPr id="28" name="Text 26"/>
          <p:cNvSpPr/>
          <p:nvPr/>
        </p:nvSpPr>
        <p:spPr>
          <a:xfrm>
            <a:off x="3175754" y="4606766"/>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-0.08122</a:t>
            </a:r>
            <a:endParaRPr lang="en-US" sz="1550" dirty="0"/>
          </a:p>
        </p:txBody>
      </p:sp>
      <p:sp>
        <p:nvSpPr>
          <p:cNvPr id="29" name="Text 27"/>
          <p:cNvSpPr/>
          <p:nvPr/>
        </p:nvSpPr>
        <p:spPr>
          <a:xfrm>
            <a:off x="5347335" y="4606766"/>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0.01960</a:t>
            </a:r>
            <a:endParaRPr lang="en-US" sz="1550" dirty="0"/>
          </a:p>
        </p:txBody>
      </p:sp>
      <p:sp>
        <p:nvSpPr>
          <p:cNvPr id="30" name="Text 28"/>
          <p:cNvSpPr/>
          <p:nvPr/>
        </p:nvSpPr>
        <p:spPr>
          <a:xfrm>
            <a:off x="7518916" y="4606766"/>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-4.144</a:t>
            </a:r>
            <a:endParaRPr lang="en-US" sz="1550" dirty="0"/>
          </a:p>
        </p:txBody>
      </p:sp>
      <p:sp>
        <p:nvSpPr>
          <p:cNvPr id="31" name="Text 29"/>
          <p:cNvSpPr/>
          <p:nvPr/>
        </p:nvSpPr>
        <p:spPr>
          <a:xfrm>
            <a:off x="9690497" y="4606766"/>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&lt; 0.0001</a:t>
            </a:r>
            <a:endParaRPr lang="en-US" sz="1550" dirty="0"/>
          </a:p>
        </p:txBody>
      </p:sp>
      <p:sp>
        <p:nvSpPr>
          <p:cNvPr id="32" name="Text 30"/>
          <p:cNvSpPr/>
          <p:nvPr/>
        </p:nvSpPr>
        <p:spPr>
          <a:xfrm>
            <a:off x="11862078" y="4606766"/>
            <a:ext cx="177105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t>
            </a:r>
            <a:endParaRPr lang="en-US" sz="1550" dirty="0"/>
          </a:p>
        </p:txBody>
      </p:sp>
      <p:sp>
        <p:nvSpPr>
          <p:cNvPr id="33" name="Shape 31"/>
          <p:cNvSpPr/>
          <p:nvPr/>
        </p:nvSpPr>
        <p:spPr>
          <a:xfrm>
            <a:off x="801410" y="5050988"/>
            <a:ext cx="13030081" cy="570905"/>
          </a:xfrm>
          <a:prstGeom prst="rect">
            <a:avLst/>
          </a:prstGeom>
          <a:solidFill>
            <a:srgbClr val="FFFFFF">
              <a:alpha val="4000"/>
            </a:srgbClr>
          </a:solidFill>
          <a:ln/>
        </p:spPr>
      </p:sp>
      <p:sp>
        <p:nvSpPr>
          <p:cNvPr id="34" name="Text 32"/>
          <p:cNvSpPr/>
          <p:nvPr/>
        </p:nvSpPr>
        <p:spPr>
          <a:xfrm>
            <a:off x="1000363" y="5177671"/>
            <a:ext cx="177105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DEBTINC</a:t>
            </a:r>
            <a:endParaRPr lang="en-US" sz="1550" dirty="0"/>
          </a:p>
        </p:txBody>
      </p:sp>
      <p:sp>
        <p:nvSpPr>
          <p:cNvPr id="35" name="Text 33"/>
          <p:cNvSpPr/>
          <p:nvPr/>
        </p:nvSpPr>
        <p:spPr>
          <a:xfrm>
            <a:off x="3175754" y="5177671"/>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0.08827</a:t>
            </a:r>
            <a:endParaRPr lang="en-US" sz="1550" dirty="0"/>
          </a:p>
        </p:txBody>
      </p:sp>
      <p:sp>
        <p:nvSpPr>
          <p:cNvPr id="36" name="Text 34"/>
          <p:cNvSpPr/>
          <p:nvPr/>
        </p:nvSpPr>
        <p:spPr>
          <a:xfrm>
            <a:off x="5347335" y="5177671"/>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0.01854</a:t>
            </a:r>
            <a:endParaRPr lang="en-US" sz="1550" dirty="0"/>
          </a:p>
        </p:txBody>
      </p:sp>
      <p:sp>
        <p:nvSpPr>
          <p:cNvPr id="37" name="Text 35"/>
          <p:cNvSpPr/>
          <p:nvPr/>
        </p:nvSpPr>
        <p:spPr>
          <a:xfrm>
            <a:off x="7518916" y="5177671"/>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4.760</a:t>
            </a:r>
            <a:endParaRPr lang="en-US" sz="1550" dirty="0"/>
          </a:p>
        </p:txBody>
      </p:sp>
      <p:sp>
        <p:nvSpPr>
          <p:cNvPr id="38" name="Text 36"/>
          <p:cNvSpPr/>
          <p:nvPr/>
        </p:nvSpPr>
        <p:spPr>
          <a:xfrm>
            <a:off x="9690497" y="5177671"/>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&lt; 0.0001</a:t>
            </a:r>
            <a:endParaRPr lang="en-US" sz="1550" dirty="0"/>
          </a:p>
        </p:txBody>
      </p:sp>
      <p:sp>
        <p:nvSpPr>
          <p:cNvPr id="39" name="Text 37"/>
          <p:cNvSpPr/>
          <p:nvPr/>
        </p:nvSpPr>
        <p:spPr>
          <a:xfrm>
            <a:off x="11862078" y="5177671"/>
            <a:ext cx="177105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t>
            </a:r>
            <a:endParaRPr lang="en-US" sz="1550" dirty="0"/>
          </a:p>
        </p:txBody>
      </p:sp>
      <p:sp>
        <p:nvSpPr>
          <p:cNvPr id="40" name="Shape 38"/>
          <p:cNvSpPr/>
          <p:nvPr/>
        </p:nvSpPr>
        <p:spPr>
          <a:xfrm>
            <a:off x="801410" y="5621893"/>
            <a:ext cx="13030081" cy="570905"/>
          </a:xfrm>
          <a:prstGeom prst="rect">
            <a:avLst/>
          </a:prstGeom>
          <a:solidFill>
            <a:srgbClr val="000000">
              <a:alpha val="4000"/>
            </a:srgbClr>
          </a:solidFill>
          <a:ln/>
        </p:spPr>
      </p:sp>
      <p:sp>
        <p:nvSpPr>
          <p:cNvPr id="41" name="Text 39"/>
          <p:cNvSpPr/>
          <p:nvPr/>
        </p:nvSpPr>
        <p:spPr>
          <a:xfrm>
            <a:off x="1000363" y="5748576"/>
            <a:ext cx="177105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CREDDEBT</a:t>
            </a:r>
            <a:endParaRPr lang="en-US" sz="1550" dirty="0"/>
          </a:p>
        </p:txBody>
      </p:sp>
      <p:sp>
        <p:nvSpPr>
          <p:cNvPr id="42" name="Text 40"/>
          <p:cNvSpPr/>
          <p:nvPr/>
        </p:nvSpPr>
        <p:spPr>
          <a:xfrm>
            <a:off x="3175754" y="5748576"/>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0.57290</a:t>
            </a:r>
            <a:endParaRPr lang="en-US" sz="1550" dirty="0"/>
          </a:p>
        </p:txBody>
      </p:sp>
      <p:sp>
        <p:nvSpPr>
          <p:cNvPr id="43" name="Text 41"/>
          <p:cNvSpPr/>
          <p:nvPr/>
        </p:nvSpPr>
        <p:spPr>
          <a:xfrm>
            <a:off x="5347335" y="5748576"/>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0.08725</a:t>
            </a:r>
            <a:endParaRPr lang="en-US" sz="1550" dirty="0"/>
          </a:p>
        </p:txBody>
      </p:sp>
      <p:sp>
        <p:nvSpPr>
          <p:cNvPr id="44" name="Text 42"/>
          <p:cNvSpPr/>
          <p:nvPr/>
        </p:nvSpPr>
        <p:spPr>
          <a:xfrm>
            <a:off x="7518916" y="5748576"/>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6.566</a:t>
            </a:r>
            <a:endParaRPr lang="en-US" sz="1550" dirty="0"/>
          </a:p>
        </p:txBody>
      </p:sp>
      <p:sp>
        <p:nvSpPr>
          <p:cNvPr id="45" name="Text 43"/>
          <p:cNvSpPr/>
          <p:nvPr/>
        </p:nvSpPr>
        <p:spPr>
          <a:xfrm>
            <a:off x="9690497" y="5748576"/>
            <a:ext cx="176724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&lt; 0.0001</a:t>
            </a:r>
            <a:endParaRPr lang="en-US" sz="1550" dirty="0"/>
          </a:p>
        </p:txBody>
      </p:sp>
      <p:sp>
        <p:nvSpPr>
          <p:cNvPr id="46" name="Text 44"/>
          <p:cNvSpPr/>
          <p:nvPr/>
        </p:nvSpPr>
        <p:spPr>
          <a:xfrm>
            <a:off x="11862078" y="5748576"/>
            <a:ext cx="177105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t>
            </a:r>
            <a:endParaRPr lang="en-US" sz="1550" dirty="0"/>
          </a:p>
        </p:txBody>
      </p:sp>
      <p:sp>
        <p:nvSpPr>
          <p:cNvPr id="47" name="Text 45"/>
          <p:cNvSpPr/>
          <p:nvPr/>
        </p:nvSpPr>
        <p:spPr>
          <a:xfrm>
            <a:off x="793790" y="6423660"/>
            <a:ext cx="13042821" cy="952619"/>
          </a:xfrm>
          <a:prstGeom prst="rect">
            <a:avLst/>
          </a:prstGeom>
          <a:noFill/>
          <a:ln/>
        </p:spPr>
        <p:txBody>
          <a:bodyPr wrap="square" lIns="0" tIns="0" rIns="0" bIns="0" rtlCol="0" anchor="t"/>
          <a:lstStyle/>
          <a:p>
            <a:pPr marL="0" indent="0" algn="l">
              <a:lnSpc>
                <a:spcPts val="2500"/>
              </a:lnSpc>
              <a:buNone/>
            </a:pPr>
            <a:r>
              <a:rPr lang="en-US" b="1" dirty="0">
                <a:solidFill>
                  <a:srgbClr val="383838"/>
                </a:solidFill>
                <a:latin typeface="DM Sans" pitchFamily="34" charset="0"/>
                <a:ea typeface="DM Sans" pitchFamily="34" charset="-122"/>
                <a:cs typeface="DM Sans" pitchFamily="34" charset="-120"/>
              </a:rPr>
              <a:t>Interpretation:</a:t>
            </a:r>
            <a:r>
              <a:rPr lang="en-US" dirty="0">
                <a:solidFill>
                  <a:srgbClr val="383838"/>
                </a:solidFill>
                <a:latin typeface="DM Sans" pitchFamily="34" charset="0"/>
                <a:ea typeface="DM Sans" pitchFamily="34" charset="-122"/>
                <a:cs typeface="DM Sans" pitchFamily="34" charset="-120"/>
              </a:rPr>
              <a:t> All four remaining predictors are highly significant. Negative coefficients (EMPLOY, ADDRESS) indicate that longer employment tenure and residence stability reduce default probability. Positive coefficients (DEBTINC, CREDDEBT) show that higher debt levels increase default risk.</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567809"/>
            <a:ext cx="5456992"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Predicting Probabilities</a:t>
            </a:r>
            <a:endParaRPr lang="en-US" sz="4100" dirty="0"/>
          </a:p>
        </p:txBody>
      </p:sp>
      <p:sp>
        <p:nvSpPr>
          <p:cNvPr id="3" name="Text 1"/>
          <p:cNvSpPr/>
          <p:nvPr/>
        </p:nvSpPr>
        <p:spPr>
          <a:xfrm>
            <a:off x="793790" y="1615916"/>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Once the model is estimated, we can calculate predicted default probabilities for each observation in our dataset. These probabilities guide lending decisions.</a:t>
            </a:r>
            <a:endParaRPr lang="en-US" dirty="0"/>
          </a:p>
        </p:txBody>
      </p:sp>
      <p:sp>
        <p:nvSpPr>
          <p:cNvPr id="4" name="Shape 2"/>
          <p:cNvSpPr/>
          <p:nvPr/>
        </p:nvSpPr>
        <p:spPr>
          <a:xfrm>
            <a:off x="793790" y="2474238"/>
            <a:ext cx="13042821" cy="4011573"/>
          </a:xfrm>
          <a:prstGeom prst="roundRect">
            <a:avLst>
              <a:gd name="adj" fmla="val 742"/>
            </a:avLst>
          </a:prstGeom>
          <a:noFill/>
          <a:ln w="7620">
            <a:solidFill>
              <a:srgbClr val="000000">
                <a:alpha val="8000"/>
              </a:srgbClr>
            </a:solidFill>
            <a:prstDash val="solid"/>
          </a:ln>
        </p:spPr>
      </p:sp>
      <p:sp>
        <p:nvSpPr>
          <p:cNvPr id="5" name="Shape 3"/>
          <p:cNvSpPr/>
          <p:nvPr/>
        </p:nvSpPr>
        <p:spPr>
          <a:xfrm>
            <a:off x="801410" y="2481858"/>
            <a:ext cx="13031391" cy="570905"/>
          </a:xfrm>
          <a:prstGeom prst="rect">
            <a:avLst/>
          </a:prstGeom>
          <a:solidFill>
            <a:srgbClr val="FFFFFF">
              <a:alpha val="4000"/>
            </a:srgbClr>
          </a:solidFill>
          <a:ln/>
        </p:spPr>
      </p:sp>
      <p:sp>
        <p:nvSpPr>
          <p:cNvPr id="6" name="Text 4"/>
          <p:cNvSpPr/>
          <p:nvPr/>
        </p:nvSpPr>
        <p:spPr>
          <a:xfrm>
            <a:off x="1000363" y="2608540"/>
            <a:ext cx="146101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ID</a:t>
            </a:r>
            <a:endParaRPr lang="en-US" sz="1550" dirty="0"/>
          </a:p>
        </p:txBody>
      </p:sp>
      <p:sp>
        <p:nvSpPr>
          <p:cNvPr id="7" name="Text 5"/>
          <p:cNvSpPr/>
          <p:nvPr/>
        </p:nvSpPr>
        <p:spPr>
          <a:xfrm>
            <a:off x="2865715" y="2608540"/>
            <a:ext cx="145720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EMPLOY</a:t>
            </a:r>
            <a:endParaRPr lang="en-US" sz="1550" dirty="0"/>
          </a:p>
        </p:txBody>
      </p:sp>
      <p:sp>
        <p:nvSpPr>
          <p:cNvPr id="8" name="Text 6"/>
          <p:cNvSpPr/>
          <p:nvPr/>
        </p:nvSpPr>
        <p:spPr>
          <a:xfrm>
            <a:off x="4727257" y="2608540"/>
            <a:ext cx="145720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ADDRESS</a:t>
            </a:r>
            <a:endParaRPr lang="en-US" sz="1550" dirty="0"/>
          </a:p>
        </p:txBody>
      </p:sp>
      <p:sp>
        <p:nvSpPr>
          <p:cNvPr id="9" name="Text 7"/>
          <p:cNvSpPr/>
          <p:nvPr/>
        </p:nvSpPr>
        <p:spPr>
          <a:xfrm>
            <a:off x="6588800" y="2608540"/>
            <a:ext cx="145720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DEBTINC</a:t>
            </a:r>
            <a:endParaRPr lang="en-US" sz="1550" dirty="0"/>
          </a:p>
        </p:txBody>
      </p:sp>
      <p:sp>
        <p:nvSpPr>
          <p:cNvPr id="10" name="Text 8"/>
          <p:cNvSpPr/>
          <p:nvPr/>
        </p:nvSpPr>
        <p:spPr>
          <a:xfrm>
            <a:off x="8450342" y="2608540"/>
            <a:ext cx="145720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CREDDEBT</a:t>
            </a:r>
            <a:endParaRPr lang="en-US" sz="1550" dirty="0"/>
          </a:p>
        </p:txBody>
      </p:sp>
      <p:sp>
        <p:nvSpPr>
          <p:cNvPr id="11" name="Text 9"/>
          <p:cNvSpPr/>
          <p:nvPr/>
        </p:nvSpPr>
        <p:spPr>
          <a:xfrm>
            <a:off x="10311884" y="2608540"/>
            <a:ext cx="145720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DEFAULTER</a:t>
            </a:r>
            <a:endParaRPr lang="en-US" sz="1550" dirty="0"/>
          </a:p>
        </p:txBody>
      </p:sp>
      <p:sp>
        <p:nvSpPr>
          <p:cNvPr id="12" name="Text 10"/>
          <p:cNvSpPr/>
          <p:nvPr/>
        </p:nvSpPr>
        <p:spPr>
          <a:xfrm>
            <a:off x="12173426" y="2608540"/>
            <a:ext cx="146101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Pred. Prob</a:t>
            </a:r>
            <a:endParaRPr lang="en-US" sz="1550" dirty="0"/>
          </a:p>
        </p:txBody>
      </p:sp>
      <p:sp>
        <p:nvSpPr>
          <p:cNvPr id="13" name="Shape 11"/>
          <p:cNvSpPr/>
          <p:nvPr/>
        </p:nvSpPr>
        <p:spPr>
          <a:xfrm>
            <a:off x="801410" y="3052763"/>
            <a:ext cx="13031391" cy="570905"/>
          </a:xfrm>
          <a:prstGeom prst="rect">
            <a:avLst/>
          </a:prstGeom>
          <a:solidFill>
            <a:srgbClr val="000000">
              <a:alpha val="4000"/>
            </a:srgbClr>
          </a:solidFill>
          <a:ln/>
        </p:spPr>
      </p:sp>
      <p:sp>
        <p:nvSpPr>
          <p:cNvPr id="14" name="Text 12"/>
          <p:cNvSpPr/>
          <p:nvPr/>
        </p:nvSpPr>
        <p:spPr>
          <a:xfrm>
            <a:off x="1000363" y="3179445"/>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a:t>
            </a:r>
            <a:endParaRPr lang="en-US" sz="1550" dirty="0"/>
          </a:p>
        </p:txBody>
      </p:sp>
      <p:sp>
        <p:nvSpPr>
          <p:cNvPr id="15" name="Text 13"/>
          <p:cNvSpPr/>
          <p:nvPr/>
        </p:nvSpPr>
        <p:spPr>
          <a:xfrm>
            <a:off x="2865715" y="3179445"/>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17</a:t>
            </a:r>
            <a:endParaRPr lang="en-US" sz="1550" dirty="0"/>
          </a:p>
        </p:txBody>
      </p:sp>
      <p:sp>
        <p:nvSpPr>
          <p:cNvPr id="16" name="Text 14"/>
          <p:cNvSpPr/>
          <p:nvPr/>
        </p:nvSpPr>
        <p:spPr>
          <a:xfrm>
            <a:off x="4727257" y="3179445"/>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12</a:t>
            </a:r>
            <a:endParaRPr lang="en-US" sz="1550" dirty="0"/>
          </a:p>
        </p:txBody>
      </p:sp>
      <p:sp>
        <p:nvSpPr>
          <p:cNvPr id="17" name="Text 15"/>
          <p:cNvSpPr/>
          <p:nvPr/>
        </p:nvSpPr>
        <p:spPr>
          <a:xfrm>
            <a:off x="6588800" y="3179445"/>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9.3</a:t>
            </a:r>
            <a:endParaRPr lang="en-US" sz="1550" dirty="0"/>
          </a:p>
        </p:txBody>
      </p:sp>
      <p:sp>
        <p:nvSpPr>
          <p:cNvPr id="18" name="Text 16"/>
          <p:cNvSpPr/>
          <p:nvPr/>
        </p:nvSpPr>
        <p:spPr>
          <a:xfrm>
            <a:off x="8450342" y="3179445"/>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11.36</a:t>
            </a:r>
            <a:endParaRPr lang="en-US" sz="1550" dirty="0"/>
          </a:p>
        </p:txBody>
      </p:sp>
      <p:sp>
        <p:nvSpPr>
          <p:cNvPr id="19" name="Text 17"/>
          <p:cNvSpPr/>
          <p:nvPr/>
        </p:nvSpPr>
        <p:spPr>
          <a:xfrm>
            <a:off x="10311884" y="3179445"/>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a:t>
            </a:r>
            <a:endParaRPr lang="en-US" sz="1550" dirty="0"/>
          </a:p>
        </p:txBody>
      </p:sp>
      <p:sp>
        <p:nvSpPr>
          <p:cNvPr id="20" name="Text 18"/>
          <p:cNvSpPr/>
          <p:nvPr/>
        </p:nvSpPr>
        <p:spPr>
          <a:xfrm>
            <a:off x="12173426" y="3179445"/>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0.81</a:t>
            </a:r>
            <a:endParaRPr lang="en-US" sz="1550" dirty="0"/>
          </a:p>
        </p:txBody>
      </p:sp>
      <p:sp>
        <p:nvSpPr>
          <p:cNvPr id="21" name="Shape 19"/>
          <p:cNvSpPr/>
          <p:nvPr/>
        </p:nvSpPr>
        <p:spPr>
          <a:xfrm>
            <a:off x="801410" y="3623667"/>
            <a:ext cx="13031391" cy="570905"/>
          </a:xfrm>
          <a:prstGeom prst="rect">
            <a:avLst/>
          </a:prstGeom>
          <a:solidFill>
            <a:srgbClr val="FFFFFF">
              <a:alpha val="4000"/>
            </a:srgbClr>
          </a:solidFill>
          <a:ln/>
        </p:spPr>
      </p:sp>
      <p:sp>
        <p:nvSpPr>
          <p:cNvPr id="22" name="Text 20"/>
          <p:cNvSpPr/>
          <p:nvPr/>
        </p:nvSpPr>
        <p:spPr>
          <a:xfrm>
            <a:off x="1000363" y="3750350"/>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2</a:t>
            </a:r>
            <a:endParaRPr lang="en-US" sz="1550" dirty="0"/>
          </a:p>
        </p:txBody>
      </p:sp>
      <p:sp>
        <p:nvSpPr>
          <p:cNvPr id="23" name="Text 21"/>
          <p:cNvSpPr/>
          <p:nvPr/>
        </p:nvSpPr>
        <p:spPr>
          <a:xfrm>
            <a:off x="2865715" y="3750350"/>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10</a:t>
            </a:r>
            <a:endParaRPr lang="en-US" sz="1550" dirty="0"/>
          </a:p>
        </p:txBody>
      </p:sp>
      <p:sp>
        <p:nvSpPr>
          <p:cNvPr id="24" name="Text 22"/>
          <p:cNvSpPr/>
          <p:nvPr/>
        </p:nvSpPr>
        <p:spPr>
          <a:xfrm>
            <a:off x="4727257" y="3750350"/>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6</a:t>
            </a:r>
            <a:endParaRPr lang="en-US" sz="1550" dirty="0"/>
          </a:p>
        </p:txBody>
      </p:sp>
      <p:sp>
        <p:nvSpPr>
          <p:cNvPr id="25" name="Text 23"/>
          <p:cNvSpPr/>
          <p:nvPr/>
        </p:nvSpPr>
        <p:spPr>
          <a:xfrm>
            <a:off x="6588800" y="3750350"/>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17.3</a:t>
            </a:r>
            <a:endParaRPr lang="en-US" sz="1550" dirty="0"/>
          </a:p>
        </p:txBody>
      </p:sp>
      <p:sp>
        <p:nvSpPr>
          <p:cNvPr id="26" name="Text 24"/>
          <p:cNvSpPr/>
          <p:nvPr/>
        </p:nvSpPr>
        <p:spPr>
          <a:xfrm>
            <a:off x="8450342" y="3750350"/>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1.36</a:t>
            </a:r>
            <a:endParaRPr lang="en-US" sz="1550" dirty="0"/>
          </a:p>
        </p:txBody>
      </p:sp>
      <p:sp>
        <p:nvSpPr>
          <p:cNvPr id="27" name="Text 25"/>
          <p:cNvSpPr/>
          <p:nvPr/>
        </p:nvSpPr>
        <p:spPr>
          <a:xfrm>
            <a:off x="10311884" y="3750350"/>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a:t>
            </a:r>
            <a:endParaRPr lang="en-US" sz="1550" dirty="0"/>
          </a:p>
        </p:txBody>
      </p:sp>
      <p:sp>
        <p:nvSpPr>
          <p:cNvPr id="28" name="Text 26"/>
          <p:cNvSpPr/>
          <p:nvPr/>
        </p:nvSpPr>
        <p:spPr>
          <a:xfrm>
            <a:off x="12173426" y="3750350"/>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0.20</a:t>
            </a:r>
            <a:endParaRPr lang="en-US" sz="1550" dirty="0"/>
          </a:p>
        </p:txBody>
      </p:sp>
      <p:sp>
        <p:nvSpPr>
          <p:cNvPr id="29" name="Shape 27"/>
          <p:cNvSpPr/>
          <p:nvPr/>
        </p:nvSpPr>
        <p:spPr>
          <a:xfrm>
            <a:off x="801410" y="4194572"/>
            <a:ext cx="13031391" cy="570905"/>
          </a:xfrm>
          <a:prstGeom prst="rect">
            <a:avLst/>
          </a:prstGeom>
          <a:solidFill>
            <a:srgbClr val="000000">
              <a:alpha val="4000"/>
            </a:srgbClr>
          </a:solidFill>
          <a:ln/>
        </p:spPr>
      </p:sp>
      <p:sp>
        <p:nvSpPr>
          <p:cNvPr id="30" name="Text 28"/>
          <p:cNvSpPr/>
          <p:nvPr/>
        </p:nvSpPr>
        <p:spPr>
          <a:xfrm>
            <a:off x="1000363" y="4321254"/>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3</a:t>
            </a:r>
            <a:endParaRPr lang="en-US" sz="1550" dirty="0"/>
          </a:p>
        </p:txBody>
      </p:sp>
      <p:sp>
        <p:nvSpPr>
          <p:cNvPr id="31" name="Text 29"/>
          <p:cNvSpPr/>
          <p:nvPr/>
        </p:nvSpPr>
        <p:spPr>
          <a:xfrm>
            <a:off x="2865715" y="432125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15</a:t>
            </a:r>
            <a:endParaRPr lang="en-US" sz="1550" dirty="0"/>
          </a:p>
        </p:txBody>
      </p:sp>
      <p:sp>
        <p:nvSpPr>
          <p:cNvPr id="32" name="Text 30"/>
          <p:cNvSpPr/>
          <p:nvPr/>
        </p:nvSpPr>
        <p:spPr>
          <a:xfrm>
            <a:off x="4727257" y="432125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14</a:t>
            </a:r>
            <a:endParaRPr lang="en-US" sz="1550" dirty="0"/>
          </a:p>
        </p:txBody>
      </p:sp>
      <p:sp>
        <p:nvSpPr>
          <p:cNvPr id="33" name="Text 31"/>
          <p:cNvSpPr/>
          <p:nvPr/>
        </p:nvSpPr>
        <p:spPr>
          <a:xfrm>
            <a:off x="6588800" y="432125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5.5</a:t>
            </a:r>
            <a:endParaRPr lang="en-US" sz="1550" dirty="0"/>
          </a:p>
        </p:txBody>
      </p:sp>
      <p:sp>
        <p:nvSpPr>
          <p:cNvPr id="34" name="Text 32"/>
          <p:cNvSpPr/>
          <p:nvPr/>
        </p:nvSpPr>
        <p:spPr>
          <a:xfrm>
            <a:off x="8450342" y="432125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0.86</a:t>
            </a:r>
            <a:endParaRPr lang="en-US" sz="1550" dirty="0"/>
          </a:p>
        </p:txBody>
      </p:sp>
      <p:sp>
        <p:nvSpPr>
          <p:cNvPr id="35" name="Text 33"/>
          <p:cNvSpPr/>
          <p:nvPr/>
        </p:nvSpPr>
        <p:spPr>
          <a:xfrm>
            <a:off x="10311884" y="432125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a:t>
            </a:r>
            <a:endParaRPr lang="en-US" sz="1550" dirty="0"/>
          </a:p>
        </p:txBody>
      </p:sp>
      <p:sp>
        <p:nvSpPr>
          <p:cNvPr id="36" name="Text 34"/>
          <p:cNvSpPr/>
          <p:nvPr/>
        </p:nvSpPr>
        <p:spPr>
          <a:xfrm>
            <a:off x="12173426" y="4321254"/>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0.01</a:t>
            </a:r>
            <a:endParaRPr lang="en-US" sz="1550" dirty="0"/>
          </a:p>
        </p:txBody>
      </p:sp>
      <p:sp>
        <p:nvSpPr>
          <p:cNvPr id="37" name="Shape 35"/>
          <p:cNvSpPr/>
          <p:nvPr/>
        </p:nvSpPr>
        <p:spPr>
          <a:xfrm>
            <a:off x="801410" y="4765477"/>
            <a:ext cx="13031391" cy="570905"/>
          </a:xfrm>
          <a:prstGeom prst="rect">
            <a:avLst/>
          </a:prstGeom>
          <a:solidFill>
            <a:srgbClr val="FFFFFF">
              <a:alpha val="4000"/>
            </a:srgbClr>
          </a:solidFill>
          <a:ln/>
        </p:spPr>
      </p:sp>
      <p:sp>
        <p:nvSpPr>
          <p:cNvPr id="38" name="Text 36"/>
          <p:cNvSpPr/>
          <p:nvPr/>
        </p:nvSpPr>
        <p:spPr>
          <a:xfrm>
            <a:off x="1000363" y="4892159"/>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4</a:t>
            </a:r>
            <a:endParaRPr lang="en-US" sz="1550" dirty="0"/>
          </a:p>
        </p:txBody>
      </p:sp>
      <p:sp>
        <p:nvSpPr>
          <p:cNvPr id="39" name="Text 37"/>
          <p:cNvSpPr/>
          <p:nvPr/>
        </p:nvSpPr>
        <p:spPr>
          <a:xfrm>
            <a:off x="2865715" y="4892159"/>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15</a:t>
            </a:r>
            <a:endParaRPr lang="en-US" sz="1550" dirty="0"/>
          </a:p>
        </p:txBody>
      </p:sp>
      <p:sp>
        <p:nvSpPr>
          <p:cNvPr id="40" name="Text 38"/>
          <p:cNvSpPr/>
          <p:nvPr/>
        </p:nvSpPr>
        <p:spPr>
          <a:xfrm>
            <a:off x="4727257" y="4892159"/>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14</a:t>
            </a:r>
            <a:endParaRPr lang="en-US" sz="1550" dirty="0"/>
          </a:p>
        </p:txBody>
      </p:sp>
      <p:sp>
        <p:nvSpPr>
          <p:cNvPr id="41" name="Text 39"/>
          <p:cNvSpPr/>
          <p:nvPr/>
        </p:nvSpPr>
        <p:spPr>
          <a:xfrm>
            <a:off x="6588800" y="4892159"/>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2.9</a:t>
            </a:r>
            <a:endParaRPr lang="en-US" sz="1550" dirty="0"/>
          </a:p>
        </p:txBody>
      </p:sp>
      <p:sp>
        <p:nvSpPr>
          <p:cNvPr id="42" name="Text 40"/>
          <p:cNvSpPr/>
          <p:nvPr/>
        </p:nvSpPr>
        <p:spPr>
          <a:xfrm>
            <a:off x="8450342" y="4892159"/>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2.66</a:t>
            </a:r>
            <a:endParaRPr lang="en-US" sz="1550" dirty="0"/>
          </a:p>
        </p:txBody>
      </p:sp>
      <p:sp>
        <p:nvSpPr>
          <p:cNvPr id="43" name="Text 41"/>
          <p:cNvSpPr/>
          <p:nvPr/>
        </p:nvSpPr>
        <p:spPr>
          <a:xfrm>
            <a:off x="10311884" y="4892159"/>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a:t>
            </a:r>
            <a:endParaRPr lang="en-US" sz="1550" dirty="0"/>
          </a:p>
        </p:txBody>
      </p:sp>
      <p:sp>
        <p:nvSpPr>
          <p:cNvPr id="44" name="Text 42"/>
          <p:cNvSpPr/>
          <p:nvPr/>
        </p:nvSpPr>
        <p:spPr>
          <a:xfrm>
            <a:off x="12173426" y="4892159"/>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0.02</a:t>
            </a:r>
            <a:endParaRPr lang="en-US" sz="1550" dirty="0"/>
          </a:p>
        </p:txBody>
      </p:sp>
      <p:sp>
        <p:nvSpPr>
          <p:cNvPr id="45" name="Shape 43"/>
          <p:cNvSpPr/>
          <p:nvPr/>
        </p:nvSpPr>
        <p:spPr>
          <a:xfrm>
            <a:off x="801410" y="5336381"/>
            <a:ext cx="13031391" cy="570905"/>
          </a:xfrm>
          <a:prstGeom prst="rect">
            <a:avLst/>
          </a:prstGeom>
          <a:solidFill>
            <a:srgbClr val="000000">
              <a:alpha val="4000"/>
            </a:srgbClr>
          </a:solidFill>
          <a:ln/>
        </p:spPr>
      </p:sp>
      <p:sp>
        <p:nvSpPr>
          <p:cNvPr id="46" name="Text 44"/>
          <p:cNvSpPr/>
          <p:nvPr/>
        </p:nvSpPr>
        <p:spPr>
          <a:xfrm>
            <a:off x="1000363" y="5463064"/>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5</a:t>
            </a:r>
            <a:endParaRPr lang="en-US" sz="1550" dirty="0"/>
          </a:p>
        </p:txBody>
      </p:sp>
      <p:sp>
        <p:nvSpPr>
          <p:cNvPr id="47" name="Text 45"/>
          <p:cNvSpPr/>
          <p:nvPr/>
        </p:nvSpPr>
        <p:spPr>
          <a:xfrm>
            <a:off x="2865715" y="546306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2</a:t>
            </a:r>
            <a:endParaRPr lang="en-US" sz="1550" dirty="0"/>
          </a:p>
        </p:txBody>
      </p:sp>
      <p:sp>
        <p:nvSpPr>
          <p:cNvPr id="48" name="Text 46"/>
          <p:cNvSpPr/>
          <p:nvPr/>
        </p:nvSpPr>
        <p:spPr>
          <a:xfrm>
            <a:off x="4727257" y="546306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a:t>
            </a:r>
            <a:endParaRPr lang="en-US" sz="1550" dirty="0"/>
          </a:p>
        </p:txBody>
      </p:sp>
      <p:sp>
        <p:nvSpPr>
          <p:cNvPr id="49" name="Text 47"/>
          <p:cNvSpPr/>
          <p:nvPr/>
        </p:nvSpPr>
        <p:spPr>
          <a:xfrm>
            <a:off x="6588800" y="546306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17.3</a:t>
            </a:r>
            <a:endParaRPr lang="en-US" sz="1550" dirty="0"/>
          </a:p>
        </p:txBody>
      </p:sp>
      <p:sp>
        <p:nvSpPr>
          <p:cNvPr id="50" name="Text 48"/>
          <p:cNvSpPr/>
          <p:nvPr/>
        </p:nvSpPr>
        <p:spPr>
          <a:xfrm>
            <a:off x="8450342" y="546306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1.79</a:t>
            </a:r>
            <a:endParaRPr lang="en-US" sz="1550" dirty="0"/>
          </a:p>
        </p:txBody>
      </p:sp>
      <p:sp>
        <p:nvSpPr>
          <p:cNvPr id="51" name="Text 49"/>
          <p:cNvSpPr/>
          <p:nvPr/>
        </p:nvSpPr>
        <p:spPr>
          <a:xfrm>
            <a:off x="10311884" y="5463064"/>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a:t>
            </a:r>
            <a:endParaRPr lang="en-US" sz="1550" dirty="0"/>
          </a:p>
        </p:txBody>
      </p:sp>
      <p:sp>
        <p:nvSpPr>
          <p:cNvPr id="52" name="Text 50"/>
          <p:cNvSpPr/>
          <p:nvPr/>
        </p:nvSpPr>
        <p:spPr>
          <a:xfrm>
            <a:off x="12173426" y="5463064"/>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0.78</a:t>
            </a:r>
            <a:endParaRPr lang="en-US" sz="1550" dirty="0"/>
          </a:p>
        </p:txBody>
      </p:sp>
      <p:sp>
        <p:nvSpPr>
          <p:cNvPr id="53" name="Shape 51"/>
          <p:cNvSpPr/>
          <p:nvPr/>
        </p:nvSpPr>
        <p:spPr>
          <a:xfrm>
            <a:off x="801410" y="5907286"/>
            <a:ext cx="13031391" cy="570905"/>
          </a:xfrm>
          <a:prstGeom prst="rect">
            <a:avLst/>
          </a:prstGeom>
          <a:solidFill>
            <a:srgbClr val="FFFFFF">
              <a:alpha val="4000"/>
            </a:srgbClr>
          </a:solidFill>
          <a:ln/>
        </p:spPr>
      </p:sp>
      <p:sp>
        <p:nvSpPr>
          <p:cNvPr id="54" name="Text 52"/>
          <p:cNvSpPr/>
          <p:nvPr/>
        </p:nvSpPr>
        <p:spPr>
          <a:xfrm>
            <a:off x="1000363" y="6033968"/>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6</a:t>
            </a:r>
            <a:endParaRPr lang="en-US" sz="1550" dirty="0"/>
          </a:p>
        </p:txBody>
      </p:sp>
      <p:sp>
        <p:nvSpPr>
          <p:cNvPr id="55" name="Text 53"/>
          <p:cNvSpPr/>
          <p:nvPr/>
        </p:nvSpPr>
        <p:spPr>
          <a:xfrm>
            <a:off x="2865715" y="603396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5</a:t>
            </a:r>
            <a:endParaRPr lang="en-US" sz="1550" dirty="0"/>
          </a:p>
        </p:txBody>
      </p:sp>
      <p:sp>
        <p:nvSpPr>
          <p:cNvPr id="56" name="Text 54"/>
          <p:cNvSpPr/>
          <p:nvPr/>
        </p:nvSpPr>
        <p:spPr>
          <a:xfrm>
            <a:off x="4727257" y="603396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5</a:t>
            </a:r>
            <a:endParaRPr lang="en-US" sz="1550" dirty="0"/>
          </a:p>
        </p:txBody>
      </p:sp>
      <p:sp>
        <p:nvSpPr>
          <p:cNvPr id="57" name="Text 55"/>
          <p:cNvSpPr/>
          <p:nvPr/>
        </p:nvSpPr>
        <p:spPr>
          <a:xfrm>
            <a:off x="6588800" y="603396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10.2</a:t>
            </a:r>
            <a:endParaRPr lang="en-US" sz="1550" dirty="0"/>
          </a:p>
        </p:txBody>
      </p:sp>
      <p:sp>
        <p:nvSpPr>
          <p:cNvPr id="58" name="Text 56"/>
          <p:cNvSpPr/>
          <p:nvPr/>
        </p:nvSpPr>
        <p:spPr>
          <a:xfrm>
            <a:off x="8450342" y="603396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0.39</a:t>
            </a:r>
            <a:endParaRPr lang="en-US" sz="1550" dirty="0"/>
          </a:p>
        </p:txBody>
      </p:sp>
      <p:sp>
        <p:nvSpPr>
          <p:cNvPr id="59" name="Text 57"/>
          <p:cNvSpPr/>
          <p:nvPr/>
        </p:nvSpPr>
        <p:spPr>
          <a:xfrm>
            <a:off x="10311884" y="6033968"/>
            <a:ext cx="145720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a:t>
            </a:r>
            <a:endParaRPr lang="en-US" sz="1550" dirty="0"/>
          </a:p>
        </p:txBody>
      </p:sp>
      <p:sp>
        <p:nvSpPr>
          <p:cNvPr id="60" name="Text 58"/>
          <p:cNvSpPr/>
          <p:nvPr/>
        </p:nvSpPr>
        <p:spPr>
          <a:xfrm>
            <a:off x="12173426" y="6033968"/>
            <a:ext cx="1461016"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0.22</a:t>
            </a:r>
            <a:endParaRPr lang="en-US" sz="1550" dirty="0"/>
          </a:p>
        </p:txBody>
      </p:sp>
      <p:sp>
        <p:nvSpPr>
          <p:cNvPr id="61" name="Text 59"/>
          <p:cNvSpPr/>
          <p:nvPr/>
        </p:nvSpPr>
        <p:spPr>
          <a:xfrm>
            <a:off x="793790" y="6709053"/>
            <a:ext cx="13042821"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To make binary predictions, we need a </a:t>
            </a:r>
            <a:r>
              <a:rPr lang="en-US" b="1" dirty="0">
                <a:solidFill>
                  <a:srgbClr val="383838"/>
                </a:solidFill>
                <a:latin typeface="DM Sans" pitchFamily="34" charset="0"/>
                <a:ea typeface="DM Sans" pitchFamily="34" charset="-122"/>
                <a:cs typeface="DM Sans" pitchFamily="34" charset="-120"/>
              </a:rPr>
              <a:t>cut-off value</a:t>
            </a:r>
            <a:r>
              <a:rPr lang="en-US" dirty="0">
                <a:solidFill>
                  <a:srgbClr val="383838"/>
                </a:solidFill>
                <a:latin typeface="DM Sans" pitchFamily="34" charset="0"/>
                <a:ea typeface="DM Sans" pitchFamily="34" charset="-122"/>
                <a:cs typeface="DM Sans" pitchFamily="34" charset="-120"/>
              </a:rPr>
              <a:t>. For example, if we set the cut-off at 0.5, any predicted probability above 0.5 is classified as Y = 1 (defaulter), while probabilities at or below 0.5 are classified as Y = 0 (non-defaulter). The choice of cut-off significantly impacts model performance.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569476"/>
            <a:ext cx="5567362"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The Classification Table</a:t>
            </a:r>
            <a:endParaRPr lang="en-US" sz="4100" dirty="0"/>
          </a:p>
        </p:txBody>
      </p:sp>
      <p:sp>
        <p:nvSpPr>
          <p:cNvPr id="3" name="Text 1"/>
          <p:cNvSpPr/>
          <p:nvPr/>
        </p:nvSpPr>
        <p:spPr>
          <a:xfrm>
            <a:off x="793790" y="1617583"/>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 classification table, also called a confusion matrix, compares actual outcomes with predicted classifications. This cross-tabulation reveals how well the model performs.</a:t>
            </a:r>
            <a:endParaRPr lang="en-US" dirty="0"/>
          </a:p>
        </p:txBody>
      </p:sp>
      <p:sp>
        <p:nvSpPr>
          <p:cNvPr id="4" name="Text 2"/>
          <p:cNvSpPr/>
          <p:nvPr/>
        </p:nvSpPr>
        <p:spPr>
          <a:xfrm>
            <a:off x="793790" y="2674263"/>
            <a:ext cx="3179683"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Classification at 0.5 Cut-off</a:t>
            </a:r>
            <a:endParaRPr lang="en-US" sz="2050" dirty="0"/>
          </a:p>
        </p:txBody>
      </p:sp>
      <p:sp>
        <p:nvSpPr>
          <p:cNvPr id="5" name="Shape 3"/>
          <p:cNvSpPr/>
          <p:nvPr/>
        </p:nvSpPr>
        <p:spPr>
          <a:xfrm>
            <a:off x="793790" y="3223141"/>
            <a:ext cx="6279356" cy="2045494"/>
          </a:xfrm>
          <a:prstGeom prst="roundRect">
            <a:avLst>
              <a:gd name="adj" fmla="val 1455"/>
            </a:avLst>
          </a:prstGeom>
          <a:noFill/>
          <a:ln w="7620">
            <a:solidFill>
              <a:srgbClr val="000000">
                <a:alpha val="8000"/>
              </a:srgbClr>
            </a:solidFill>
            <a:prstDash val="solid"/>
          </a:ln>
        </p:spPr>
      </p:sp>
      <p:sp>
        <p:nvSpPr>
          <p:cNvPr id="6" name="Shape 4"/>
          <p:cNvSpPr/>
          <p:nvPr/>
        </p:nvSpPr>
        <p:spPr>
          <a:xfrm>
            <a:off x="801410" y="3230761"/>
            <a:ext cx="6263402" cy="570905"/>
          </a:xfrm>
          <a:prstGeom prst="rect">
            <a:avLst/>
          </a:prstGeom>
          <a:solidFill>
            <a:srgbClr val="FFFFFF">
              <a:alpha val="4000"/>
            </a:srgbClr>
          </a:solidFill>
          <a:ln/>
        </p:spPr>
      </p:sp>
      <p:sp>
        <p:nvSpPr>
          <p:cNvPr id="7" name="Text 5"/>
          <p:cNvSpPr/>
          <p:nvPr/>
        </p:nvSpPr>
        <p:spPr>
          <a:xfrm>
            <a:off x="1000601" y="3357443"/>
            <a:ext cx="1686997"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Actual</a:t>
            </a:r>
            <a:endParaRPr lang="en-US" sz="1550" dirty="0"/>
          </a:p>
        </p:txBody>
      </p:sp>
      <p:sp>
        <p:nvSpPr>
          <p:cNvPr id="8" name="Text 6"/>
          <p:cNvSpPr/>
          <p:nvPr/>
        </p:nvSpPr>
        <p:spPr>
          <a:xfrm>
            <a:off x="3091934" y="3357443"/>
            <a:ext cx="1683187"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Pred: 0</a:t>
            </a:r>
            <a:endParaRPr lang="en-US" sz="1550" dirty="0"/>
          </a:p>
        </p:txBody>
      </p:sp>
      <p:sp>
        <p:nvSpPr>
          <p:cNvPr id="9" name="Text 7"/>
          <p:cNvSpPr/>
          <p:nvPr/>
        </p:nvSpPr>
        <p:spPr>
          <a:xfrm>
            <a:off x="5179457" y="3357443"/>
            <a:ext cx="1686997"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Pred: 1</a:t>
            </a:r>
            <a:endParaRPr lang="en-US" sz="1550" dirty="0"/>
          </a:p>
        </p:txBody>
      </p:sp>
      <p:sp>
        <p:nvSpPr>
          <p:cNvPr id="10" name="Shape 8"/>
          <p:cNvSpPr/>
          <p:nvPr/>
        </p:nvSpPr>
        <p:spPr>
          <a:xfrm>
            <a:off x="801410" y="3801666"/>
            <a:ext cx="6263402" cy="888444"/>
          </a:xfrm>
          <a:prstGeom prst="rect">
            <a:avLst/>
          </a:prstGeom>
          <a:solidFill>
            <a:srgbClr val="000000">
              <a:alpha val="4000"/>
            </a:srgbClr>
          </a:solidFill>
          <a:ln/>
        </p:spPr>
      </p:sp>
      <p:sp>
        <p:nvSpPr>
          <p:cNvPr id="11" name="Text 9"/>
          <p:cNvSpPr/>
          <p:nvPr/>
        </p:nvSpPr>
        <p:spPr>
          <a:xfrm>
            <a:off x="1000601" y="3928348"/>
            <a:ext cx="1686997" cy="635079"/>
          </a:xfrm>
          <a:prstGeom prst="rect">
            <a:avLst/>
          </a:prstGeom>
          <a:noFill/>
          <a:ln/>
        </p:spPr>
        <p:txBody>
          <a:bodyPr wrap="squar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0 (Non-defaulter)</a:t>
            </a:r>
            <a:endParaRPr lang="en-US" sz="1550" dirty="0"/>
          </a:p>
        </p:txBody>
      </p:sp>
      <p:sp>
        <p:nvSpPr>
          <p:cNvPr id="12" name="Text 10"/>
          <p:cNvSpPr/>
          <p:nvPr/>
        </p:nvSpPr>
        <p:spPr>
          <a:xfrm>
            <a:off x="3091934" y="3928348"/>
            <a:ext cx="1683187"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479</a:t>
            </a:r>
            <a:endParaRPr lang="en-US" sz="1550" dirty="0"/>
          </a:p>
        </p:txBody>
      </p:sp>
      <p:sp>
        <p:nvSpPr>
          <p:cNvPr id="13" name="Text 11"/>
          <p:cNvSpPr/>
          <p:nvPr/>
        </p:nvSpPr>
        <p:spPr>
          <a:xfrm>
            <a:off x="5179457" y="3928348"/>
            <a:ext cx="1686997"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38</a:t>
            </a:r>
            <a:endParaRPr lang="en-US" sz="1550" dirty="0"/>
          </a:p>
        </p:txBody>
      </p:sp>
      <p:sp>
        <p:nvSpPr>
          <p:cNvPr id="14" name="Shape 12"/>
          <p:cNvSpPr/>
          <p:nvPr/>
        </p:nvSpPr>
        <p:spPr>
          <a:xfrm>
            <a:off x="801410" y="4690110"/>
            <a:ext cx="6263402" cy="570905"/>
          </a:xfrm>
          <a:prstGeom prst="rect">
            <a:avLst/>
          </a:prstGeom>
          <a:solidFill>
            <a:srgbClr val="FFFFFF">
              <a:alpha val="4000"/>
            </a:srgbClr>
          </a:solidFill>
          <a:ln/>
        </p:spPr>
      </p:sp>
      <p:sp>
        <p:nvSpPr>
          <p:cNvPr id="15" name="Text 13"/>
          <p:cNvSpPr/>
          <p:nvPr/>
        </p:nvSpPr>
        <p:spPr>
          <a:xfrm>
            <a:off x="1000601" y="4816793"/>
            <a:ext cx="1686997"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1 (Defaulter)</a:t>
            </a:r>
            <a:endParaRPr lang="en-US" sz="1550" dirty="0"/>
          </a:p>
        </p:txBody>
      </p:sp>
      <p:sp>
        <p:nvSpPr>
          <p:cNvPr id="16" name="Text 14"/>
          <p:cNvSpPr/>
          <p:nvPr/>
        </p:nvSpPr>
        <p:spPr>
          <a:xfrm>
            <a:off x="3091934" y="4816793"/>
            <a:ext cx="1683187"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91</a:t>
            </a:r>
            <a:endParaRPr lang="en-US" sz="1550" dirty="0"/>
          </a:p>
        </p:txBody>
      </p:sp>
      <p:sp>
        <p:nvSpPr>
          <p:cNvPr id="17" name="Text 15"/>
          <p:cNvSpPr/>
          <p:nvPr/>
        </p:nvSpPr>
        <p:spPr>
          <a:xfrm>
            <a:off x="5179457" y="4816793"/>
            <a:ext cx="1686997"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92</a:t>
            </a:r>
            <a:endParaRPr lang="en-US" sz="1550" dirty="0"/>
          </a:p>
        </p:txBody>
      </p:sp>
      <p:sp>
        <p:nvSpPr>
          <p:cNvPr id="18" name="Text 16"/>
          <p:cNvSpPr/>
          <p:nvPr/>
        </p:nvSpPr>
        <p:spPr>
          <a:xfrm>
            <a:off x="793790" y="5491877"/>
            <a:ext cx="6279356" cy="317540"/>
          </a:xfrm>
          <a:prstGeom prst="rect">
            <a:avLst/>
          </a:prstGeom>
          <a:noFill/>
          <a:ln/>
        </p:spPr>
        <p:txBody>
          <a:bodyPr wrap="none" lIns="0" tIns="0" rIns="0" bIns="0" rtlCol="0" anchor="t"/>
          <a:lstStyle/>
          <a:p>
            <a:pPr marL="0" indent="0" algn="l">
              <a:lnSpc>
                <a:spcPts val="2500"/>
              </a:lnSpc>
              <a:buNone/>
            </a:pPr>
            <a:r>
              <a:rPr lang="en-US" b="1" dirty="0">
                <a:solidFill>
                  <a:srgbClr val="383838"/>
                </a:solidFill>
                <a:latin typeface="DM Sans" pitchFamily="34" charset="0"/>
                <a:ea typeface="DM Sans" pitchFamily="34" charset="-122"/>
                <a:cs typeface="DM Sans" pitchFamily="34" charset="-120"/>
              </a:rPr>
              <a:t>Misclassification Rate:</a:t>
            </a:r>
            <a:r>
              <a:rPr lang="en-US" dirty="0">
                <a:solidFill>
                  <a:srgbClr val="383838"/>
                </a:solidFill>
                <a:latin typeface="DM Sans" pitchFamily="34" charset="0"/>
                <a:ea typeface="DM Sans" pitchFamily="34" charset="-122"/>
                <a:cs typeface="DM Sans" pitchFamily="34" charset="-120"/>
              </a:rPr>
              <a:t> (38 + 91) / 700 = 18.43%</a:t>
            </a:r>
            <a:endParaRPr lang="en-US" dirty="0"/>
          </a:p>
        </p:txBody>
      </p:sp>
      <p:sp>
        <p:nvSpPr>
          <p:cNvPr id="19" name="Text 17"/>
          <p:cNvSpPr/>
          <p:nvPr/>
        </p:nvSpPr>
        <p:spPr>
          <a:xfrm>
            <a:off x="793790" y="5988010"/>
            <a:ext cx="6279356"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model correctly classifies 81.57% of cases when using a 0.5 probability cut-off.</a:t>
            </a:r>
            <a:endParaRPr lang="en-US" dirty="0"/>
          </a:p>
        </p:txBody>
      </p:sp>
      <p:sp>
        <p:nvSpPr>
          <p:cNvPr id="20" name="Text 18"/>
          <p:cNvSpPr/>
          <p:nvPr/>
        </p:nvSpPr>
        <p:spPr>
          <a:xfrm>
            <a:off x="7564874" y="2674263"/>
            <a:ext cx="2858333"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Understanding the Table</a:t>
            </a:r>
            <a:endParaRPr lang="en-US" sz="2050" dirty="0"/>
          </a:p>
        </p:txBody>
      </p:sp>
      <p:sp>
        <p:nvSpPr>
          <p:cNvPr id="21" name="Text 19"/>
          <p:cNvSpPr/>
          <p:nvPr/>
        </p:nvSpPr>
        <p:spPr>
          <a:xfrm>
            <a:off x="7564874" y="3198257"/>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383838"/>
                </a:solidFill>
                <a:latin typeface="DM Sans" pitchFamily="34" charset="0"/>
                <a:ea typeface="DM Sans" pitchFamily="34" charset="-122"/>
                <a:cs typeface="DM Sans" pitchFamily="34" charset="-120"/>
              </a:rPr>
              <a:t>Top-left (479):</a:t>
            </a:r>
            <a:r>
              <a:rPr lang="en-US" sz="1550" dirty="0">
                <a:solidFill>
                  <a:srgbClr val="383838"/>
                </a:solidFill>
                <a:latin typeface="DM Sans" pitchFamily="34" charset="0"/>
                <a:ea typeface="DM Sans" pitchFamily="34" charset="-122"/>
                <a:cs typeface="DM Sans" pitchFamily="34" charset="-120"/>
              </a:rPr>
              <a:t> True negatives—correctly identified non-defaulters</a:t>
            </a:r>
            <a:endParaRPr lang="en-US" sz="1550" dirty="0"/>
          </a:p>
        </p:txBody>
      </p:sp>
      <p:sp>
        <p:nvSpPr>
          <p:cNvPr id="22" name="Text 20"/>
          <p:cNvSpPr/>
          <p:nvPr/>
        </p:nvSpPr>
        <p:spPr>
          <a:xfrm>
            <a:off x="7564874" y="3902750"/>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383838"/>
                </a:solidFill>
                <a:latin typeface="DM Sans" pitchFamily="34" charset="0"/>
                <a:ea typeface="DM Sans" pitchFamily="34" charset="-122"/>
                <a:cs typeface="DM Sans" pitchFamily="34" charset="-120"/>
              </a:rPr>
              <a:t>Bottom-right (92):</a:t>
            </a:r>
            <a:r>
              <a:rPr lang="en-US" sz="1550" dirty="0">
                <a:solidFill>
                  <a:srgbClr val="383838"/>
                </a:solidFill>
                <a:latin typeface="DM Sans" pitchFamily="34" charset="0"/>
                <a:ea typeface="DM Sans" pitchFamily="34" charset="-122"/>
                <a:cs typeface="DM Sans" pitchFamily="34" charset="-120"/>
              </a:rPr>
              <a:t> True positives—correctly identified defaulters</a:t>
            </a:r>
            <a:endParaRPr lang="en-US" sz="1550" dirty="0"/>
          </a:p>
        </p:txBody>
      </p:sp>
      <p:sp>
        <p:nvSpPr>
          <p:cNvPr id="23" name="Text 21"/>
          <p:cNvSpPr/>
          <p:nvPr/>
        </p:nvSpPr>
        <p:spPr>
          <a:xfrm>
            <a:off x="7564874" y="4607243"/>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383838"/>
                </a:solidFill>
                <a:latin typeface="DM Sans" pitchFamily="34" charset="0"/>
                <a:ea typeface="DM Sans" pitchFamily="34" charset="-122"/>
                <a:cs typeface="DM Sans" pitchFamily="34" charset="-120"/>
              </a:rPr>
              <a:t>Top-right (38):</a:t>
            </a:r>
            <a:r>
              <a:rPr lang="en-US" sz="1550" dirty="0">
                <a:solidFill>
                  <a:srgbClr val="383838"/>
                </a:solidFill>
                <a:latin typeface="DM Sans" pitchFamily="34" charset="0"/>
                <a:ea typeface="DM Sans" pitchFamily="34" charset="-122"/>
                <a:cs typeface="DM Sans" pitchFamily="34" charset="-120"/>
              </a:rPr>
              <a:t> False positives—non-defaulters wrongly classified as defaulters</a:t>
            </a:r>
            <a:endParaRPr lang="en-US" sz="1550" dirty="0"/>
          </a:p>
        </p:txBody>
      </p:sp>
      <p:sp>
        <p:nvSpPr>
          <p:cNvPr id="24" name="Text 22"/>
          <p:cNvSpPr/>
          <p:nvPr/>
        </p:nvSpPr>
        <p:spPr>
          <a:xfrm>
            <a:off x="7564874" y="5311735"/>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383838"/>
                </a:solidFill>
                <a:latin typeface="DM Sans" pitchFamily="34" charset="0"/>
                <a:ea typeface="DM Sans" pitchFamily="34" charset="-122"/>
                <a:cs typeface="DM Sans" pitchFamily="34" charset="-120"/>
              </a:rPr>
              <a:t>Bottom-left (91):</a:t>
            </a:r>
            <a:r>
              <a:rPr lang="en-US" sz="1550" dirty="0">
                <a:solidFill>
                  <a:srgbClr val="383838"/>
                </a:solidFill>
                <a:latin typeface="DM Sans" pitchFamily="34" charset="0"/>
                <a:ea typeface="DM Sans" pitchFamily="34" charset="-122"/>
                <a:cs typeface="DM Sans" pitchFamily="34" charset="-120"/>
              </a:rPr>
              <a:t> False negatives—defaulters wrongly classified as non-defaulters</a:t>
            </a:r>
            <a:endParaRPr lang="en-US" sz="1550" dirty="0"/>
          </a:p>
        </p:txBody>
      </p:sp>
      <p:sp>
        <p:nvSpPr>
          <p:cNvPr id="25" name="Text 23"/>
          <p:cNvSpPr/>
          <p:nvPr/>
        </p:nvSpPr>
        <p:spPr>
          <a:xfrm>
            <a:off x="793790" y="7024926"/>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classification table varies with the chosen cut-off value, so it should not be used as the sole measure of model quality. Different cut-offs produce different trade-offs between types of errors.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944761"/>
            <a:ext cx="5743456"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Key Performance Metrics</a:t>
            </a:r>
            <a:endParaRPr lang="en-US" sz="4100" dirty="0"/>
          </a:p>
        </p:txBody>
      </p:sp>
      <p:sp>
        <p:nvSpPr>
          <p:cNvPr id="3" name="Text 1"/>
          <p:cNvSpPr/>
          <p:nvPr/>
        </p:nvSpPr>
        <p:spPr>
          <a:xfrm>
            <a:off x="793790" y="1992868"/>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Understanding classification performance requires specific terminology that captures different aspects of prediction accuracy.</a:t>
            </a:r>
            <a:endParaRPr lang="en-US" dirty="0"/>
          </a:p>
        </p:txBody>
      </p:sp>
      <p:sp>
        <p:nvSpPr>
          <p:cNvPr id="4" name="Shape 2"/>
          <p:cNvSpPr/>
          <p:nvPr/>
        </p:nvSpPr>
        <p:spPr>
          <a:xfrm>
            <a:off x="793790" y="2533650"/>
            <a:ext cx="6422231" cy="2276356"/>
          </a:xfrm>
          <a:prstGeom prst="roundRect">
            <a:avLst>
              <a:gd name="adj" fmla="val 1308"/>
            </a:avLst>
          </a:prstGeom>
          <a:solidFill>
            <a:srgbClr val="FFFFFF"/>
          </a:solidFill>
          <a:ln w="22860">
            <a:solidFill>
              <a:srgbClr val="D8D4D4"/>
            </a:solidFill>
            <a:prstDash val="solid"/>
          </a:ln>
        </p:spPr>
      </p:sp>
      <p:sp>
        <p:nvSpPr>
          <p:cNvPr id="5" name="Text 3"/>
          <p:cNvSpPr/>
          <p:nvPr/>
        </p:nvSpPr>
        <p:spPr>
          <a:xfrm>
            <a:off x="1015008" y="275486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Sensitivity</a:t>
            </a:r>
            <a:endParaRPr lang="en-US" sz="2050" dirty="0"/>
          </a:p>
        </p:txBody>
      </p:sp>
      <p:sp>
        <p:nvSpPr>
          <p:cNvPr id="6" name="Text 4"/>
          <p:cNvSpPr/>
          <p:nvPr/>
        </p:nvSpPr>
        <p:spPr>
          <a:xfrm>
            <a:off x="1015008" y="3199567"/>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percentage of actual occurrences correctly predicted: P(Ypred=1 | Y=1)</a:t>
            </a:r>
            <a:endParaRPr lang="en-US" sz="1550" dirty="0"/>
          </a:p>
        </p:txBody>
      </p:sp>
      <p:sp>
        <p:nvSpPr>
          <p:cNvPr id="7" name="Text 5"/>
          <p:cNvSpPr/>
          <p:nvPr/>
        </p:nvSpPr>
        <p:spPr>
          <a:xfrm>
            <a:off x="1015008" y="3953708"/>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Also called the </a:t>
            </a:r>
            <a:r>
              <a:rPr lang="en-US" sz="1550" b="1" dirty="0">
                <a:solidFill>
                  <a:srgbClr val="383838"/>
                </a:solidFill>
                <a:latin typeface="DM Sans" pitchFamily="34" charset="0"/>
                <a:ea typeface="DM Sans" pitchFamily="34" charset="-122"/>
                <a:cs typeface="DM Sans" pitchFamily="34" charset="-120"/>
              </a:rPr>
              <a:t>true positive rate</a:t>
            </a:r>
            <a:r>
              <a:rPr lang="en-US" sz="1550" dirty="0">
                <a:solidFill>
                  <a:srgbClr val="383838"/>
                </a:solidFill>
                <a:latin typeface="DM Sans" pitchFamily="34" charset="0"/>
                <a:ea typeface="DM Sans" pitchFamily="34" charset="-122"/>
                <a:cs typeface="DM Sans" pitchFamily="34" charset="-120"/>
              </a:rPr>
              <a:t>. Measures how well the model identifies positive cases.</a:t>
            </a:r>
            <a:endParaRPr lang="en-US" sz="1550" dirty="0"/>
          </a:p>
        </p:txBody>
      </p:sp>
      <p:sp>
        <p:nvSpPr>
          <p:cNvPr id="8" name="Shape 6"/>
          <p:cNvSpPr/>
          <p:nvPr/>
        </p:nvSpPr>
        <p:spPr>
          <a:xfrm>
            <a:off x="7414379" y="2533650"/>
            <a:ext cx="6422231" cy="2276356"/>
          </a:xfrm>
          <a:prstGeom prst="roundRect">
            <a:avLst>
              <a:gd name="adj" fmla="val 1308"/>
            </a:avLst>
          </a:prstGeom>
          <a:solidFill>
            <a:srgbClr val="FFFFFF"/>
          </a:solidFill>
          <a:ln w="22860">
            <a:solidFill>
              <a:srgbClr val="D8D4D4"/>
            </a:solidFill>
            <a:prstDash val="solid"/>
          </a:ln>
        </p:spPr>
      </p:sp>
      <p:sp>
        <p:nvSpPr>
          <p:cNvPr id="9" name="Text 7"/>
          <p:cNvSpPr/>
          <p:nvPr/>
        </p:nvSpPr>
        <p:spPr>
          <a:xfrm>
            <a:off x="7635597" y="275486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Specificity</a:t>
            </a:r>
            <a:endParaRPr lang="en-US" sz="2050" dirty="0"/>
          </a:p>
        </p:txBody>
      </p:sp>
      <p:sp>
        <p:nvSpPr>
          <p:cNvPr id="10" name="Text 8"/>
          <p:cNvSpPr/>
          <p:nvPr/>
        </p:nvSpPr>
        <p:spPr>
          <a:xfrm>
            <a:off x="7635597" y="3199567"/>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percentage of actual non-occurrences correctly predicted: P(Ypred=0 | Y=0)</a:t>
            </a:r>
            <a:endParaRPr lang="en-US" sz="1550" dirty="0"/>
          </a:p>
        </p:txBody>
      </p:sp>
      <p:sp>
        <p:nvSpPr>
          <p:cNvPr id="11" name="Text 9"/>
          <p:cNvSpPr/>
          <p:nvPr/>
        </p:nvSpPr>
        <p:spPr>
          <a:xfrm>
            <a:off x="7635597" y="3953708"/>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Also called the </a:t>
            </a:r>
            <a:r>
              <a:rPr lang="en-US" sz="1550" b="1" dirty="0">
                <a:solidFill>
                  <a:srgbClr val="383838"/>
                </a:solidFill>
                <a:latin typeface="DM Sans" pitchFamily="34" charset="0"/>
                <a:ea typeface="DM Sans" pitchFamily="34" charset="-122"/>
                <a:cs typeface="DM Sans" pitchFamily="34" charset="-120"/>
              </a:rPr>
              <a:t>true negative rate</a:t>
            </a:r>
            <a:r>
              <a:rPr lang="en-US" sz="1550" dirty="0">
                <a:solidFill>
                  <a:srgbClr val="383838"/>
                </a:solidFill>
                <a:latin typeface="DM Sans" pitchFamily="34" charset="0"/>
                <a:ea typeface="DM Sans" pitchFamily="34" charset="-122"/>
                <a:cs typeface="DM Sans" pitchFamily="34" charset="-120"/>
              </a:rPr>
              <a:t>. Measures how well the model identifies negative cases.</a:t>
            </a:r>
            <a:endParaRPr lang="en-US" sz="1550" dirty="0"/>
          </a:p>
        </p:txBody>
      </p:sp>
      <p:sp>
        <p:nvSpPr>
          <p:cNvPr id="12" name="Shape 10"/>
          <p:cNvSpPr/>
          <p:nvPr/>
        </p:nvSpPr>
        <p:spPr>
          <a:xfrm>
            <a:off x="793790" y="5008364"/>
            <a:ext cx="6422231" cy="2276356"/>
          </a:xfrm>
          <a:prstGeom prst="roundRect">
            <a:avLst>
              <a:gd name="adj" fmla="val 1308"/>
            </a:avLst>
          </a:prstGeom>
          <a:solidFill>
            <a:srgbClr val="FFFFFF"/>
          </a:solidFill>
          <a:ln w="22860">
            <a:solidFill>
              <a:srgbClr val="D8D4D4"/>
            </a:solidFill>
            <a:prstDash val="solid"/>
          </a:ln>
        </p:spPr>
      </p:sp>
      <p:sp>
        <p:nvSpPr>
          <p:cNvPr id="13" name="Text 11"/>
          <p:cNvSpPr/>
          <p:nvPr/>
        </p:nvSpPr>
        <p:spPr>
          <a:xfrm>
            <a:off x="1015008" y="522958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False Positive Rate</a:t>
            </a:r>
            <a:endParaRPr lang="en-US" sz="2050" dirty="0"/>
          </a:p>
        </p:txBody>
      </p:sp>
      <p:sp>
        <p:nvSpPr>
          <p:cNvPr id="14" name="Text 12"/>
          <p:cNvSpPr/>
          <p:nvPr/>
        </p:nvSpPr>
        <p:spPr>
          <a:xfrm>
            <a:off x="1015008" y="5674281"/>
            <a:ext cx="5979795"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Calculated as (1 - Specificity). The percentage of non-occurrences incorrectly predicted as occurrences: P(Ypred=1 | Y=0)</a:t>
            </a:r>
            <a:endParaRPr lang="en-US" sz="1550" dirty="0"/>
          </a:p>
        </p:txBody>
      </p:sp>
      <p:sp>
        <p:nvSpPr>
          <p:cNvPr id="15" name="Text 13"/>
          <p:cNvSpPr/>
          <p:nvPr/>
        </p:nvSpPr>
        <p:spPr>
          <a:xfrm>
            <a:off x="1015008" y="6745962"/>
            <a:ext cx="597979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Represents Type I error in hypothesis testing.</a:t>
            </a:r>
            <a:endParaRPr lang="en-US" sz="1550" dirty="0"/>
          </a:p>
        </p:txBody>
      </p:sp>
      <p:sp>
        <p:nvSpPr>
          <p:cNvPr id="16" name="Shape 14"/>
          <p:cNvSpPr/>
          <p:nvPr/>
        </p:nvSpPr>
        <p:spPr>
          <a:xfrm>
            <a:off x="7414379" y="5008364"/>
            <a:ext cx="6422231" cy="2276356"/>
          </a:xfrm>
          <a:prstGeom prst="roundRect">
            <a:avLst>
              <a:gd name="adj" fmla="val 1308"/>
            </a:avLst>
          </a:prstGeom>
          <a:solidFill>
            <a:srgbClr val="FFFFFF"/>
          </a:solidFill>
          <a:ln w="22860">
            <a:solidFill>
              <a:srgbClr val="D8D4D4"/>
            </a:solidFill>
            <a:prstDash val="solid"/>
          </a:ln>
        </p:spPr>
      </p:sp>
      <p:sp>
        <p:nvSpPr>
          <p:cNvPr id="17" name="Text 15"/>
          <p:cNvSpPr/>
          <p:nvPr/>
        </p:nvSpPr>
        <p:spPr>
          <a:xfrm>
            <a:off x="7635597" y="522958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False Negative Rate</a:t>
            </a:r>
            <a:endParaRPr lang="en-US" sz="2050" dirty="0"/>
          </a:p>
        </p:txBody>
      </p:sp>
      <p:sp>
        <p:nvSpPr>
          <p:cNvPr id="18" name="Text 16"/>
          <p:cNvSpPr/>
          <p:nvPr/>
        </p:nvSpPr>
        <p:spPr>
          <a:xfrm>
            <a:off x="7635597" y="5674281"/>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Calculated as (1 - Sensitivity). The percentage of occurrences incorrectly predicted as non-occurrences: P(Ypred=0 | Y=1)</a:t>
            </a:r>
            <a:endParaRPr lang="en-US" sz="1550" dirty="0"/>
          </a:p>
        </p:txBody>
      </p:sp>
      <p:sp>
        <p:nvSpPr>
          <p:cNvPr id="19" name="Text 17"/>
          <p:cNvSpPr/>
          <p:nvPr/>
        </p:nvSpPr>
        <p:spPr>
          <a:xfrm>
            <a:off x="7635597" y="6428423"/>
            <a:ext cx="597979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Represents Type II error in hypothesis testing.</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560903"/>
            <a:ext cx="8210669" cy="618649"/>
          </a:xfrm>
          <a:prstGeom prst="rect">
            <a:avLst/>
          </a:prstGeom>
          <a:noFill/>
          <a:ln/>
        </p:spPr>
        <p:txBody>
          <a:bodyPr wrap="none" lIns="0" tIns="0" rIns="0" bIns="0" rtlCol="0" anchor="t"/>
          <a:lstStyle/>
          <a:p>
            <a:pPr marL="0" indent="0" algn="l">
              <a:lnSpc>
                <a:spcPts val="4850"/>
              </a:lnSpc>
              <a:buNone/>
            </a:pPr>
            <a:r>
              <a:rPr lang="en-US" sz="3850" dirty="0">
                <a:solidFill>
                  <a:srgbClr val="020202"/>
                </a:solidFill>
                <a:latin typeface="PT Serif" pitchFamily="34" charset="0"/>
                <a:ea typeface="PT Serif" pitchFamily="34" charset="-122"/>
                <a:cs typeface="PT Serif" pitchFamily="34" charset="-120"/>
              </a:rPr>
              <a:t>Cut-off Analysis: Finding the Balance</a:t>
            </a:r>
            <a:endParaRPr lang="en-US" sz="3850" dirty="0"/>
          </a:p>
        </p:txBody>
      </p:sp>
      <p:sp>
        <p:nvSpPr>
          <p:cNvPr id="3" name="Text 1"/>
          <p:cNvSpPr/>
          <p:nvPr/>
        </p:nvSpPr>
        <p:spPr>
          <a:xfrm>
            <a:off x="793790" y="1556623"/>
            <a:ext cx="13042821" cy="603409"/>
          </a:xfrm>
          <a:prstGeom prst="rect">
            <a:avLst/>
          </a:prstGeom>
          <a:noFill/>
          <a:ln/>
        </p:spPr>
        <p:txBody>
          <a:bodyPr wrap="square" lIns="0" tIns="0" rIns="0" bIns="0" rtlCol="0" anchor="t"/>
          <a:lstStyle/>
          <a:p>
            <a:pPr marL="0" indent="0" algn="l">
              <a:lnSpc>
                <a:spcPts val="2350"/>
              </a:lnSpc>
              <a:buNone/>
            </a:pPr>
            <a:r>
              <a:rPr lang="en-US" dirty="0">
                <a:solidFill>
                  <a:srgbClr val="383838"/>
                </a:solidFill>
                <a:latin typeface="DM Sans" pitchFamily="34" charset="0"/>
                <a:ea typeface="DM Sans" pitchFamily="34" charset="-122"/>
                <a:cs typeface="DM Sans" pitchFamily="34" charset="-120"/>
              </a:rPr>
              <a:t>Model performance varies dramatically depending on the probability cut-off chosen for classification. Examining multiple cut-offs reveals important trade-offs.</a:t>
            </a:r>
            <a:endParaRPr lang="en-US" dirty="0"/>
          </a:p>
        </p:txBody>
      </p:sp>
      <p:sp>
        <p:nvSpPr>
          <p:cNvPr id="4" name="Shape 2"/>
          <p:cNvSpPr/>
          <p:nvPr/>
        </p:nvSpPr>
        <p:spPr>
          <a:xfrm>
            <a:off x="793790" y="2372082"/>
            <a:ext cx="13042821" cy="4179332"/>
          </a:xfrm>
          <a:prstGeom prst="roundRect">
            <a:avLst>
              <a:gd name="adj" fmla="val 677"/>
            </a:avLst>
          </a:prstGeom>
          <a:noFill/>
          <a:ln w="7620">
            <a:solidFill>
              <a:srgbClr val="000000">
                <a:alpha val="8000"/>
              </a:srgbClr>
            </a:solidFill>
            <a:prstDash val="solid"/>
          </a:ln>
        </p:spPr>
      </p:sp>
      <p:sp>
        <p:nvSpPr>
          <p:cNvPr id="5" name="Shape 3"/>
          <p:cNvSpPr/>
          <p:nvPr/>
        </p:nvSpPr>
        <p:spPr>
          <a:xfrm>
            <a:off x="801410" y="2379702"/>
            <a:ext cx="13027581" cy="543163"/>
          </a:xfrm>
          <a:prstGeom prst="rect">
            <a:avLst/>
          </a:prstGeom>
          <a:solidFill>
            <a:srgbClr val="FFFFFF">
              <a:alpha val="4000"/>
            </a:srgbClr>
          </a:solidFill>
          <a:ln/>
        </p:spPr>
      </p:sp>
      <p:sp>
        <p:nvSpPr>
          <p:cNvPr id="6" name="Text 4"/>
          <p:cNvSpPr/>
          <p:nvPr/>
        </p:nvSpPr>
        <p:spPr>
          <a:xfrm>
            <a:off x="990124" y="2500432"/>
            <a:ext cx="2876074" cy="301704"/>
          </a:xfrm>
          <a:prstGeom prst="rect">
            <a:avLst/>
          </a:prstGeom>
          <a:noFill/>
          <a:ln/>
        </p:spPr>
        <p:txBody>
          <a:bodyPr wrap="none" lIns="0" tIns="0" rIns="0" bIns="0" rtlCol="0" anchor="t"/>
          <a:lstStyle/>
          <a:p>
            <a:pPr marL="0" indent="0" algn="l">
              <a:lnSpc>
                <a:spcPts val="2350"/>
              </a:lnSpc>
              <a:buNone/>
            </a:pPr>
            <a:r>
              <a:rPr lang="en-US" sz="1450" b="1" dirty="0">
                <a:solidFill>
                  <a:srgbClr val="383838"/>
                </a:solidFill>
                <a:latin typeface="DM Sans" pitchFamily="34" charset="0"/>
                <a:ea typeface="DM Sans" pitchFamily="34" charset="-122"/>
                <a:cs typeface="DM Sans" pitchFamily="34" charset="-120"/>
              </a:rPr>
              <a:t>Cut-off Value</a:t>
            </a:r>
            <a:endParaRPr lang="en-US" sz="1450" dirty="0"/>
          </a:p>
        </p:txBody>
      </p:sp>
      <p:sp>
        <p:nvSpPr>
          <p:cNvPr id="7" name="Text 5"/>
          <p:cNvSpPr/>
          <p:nvPr/>
        </p:nvSpPr>
        <p:spPr>
          <a:xfrm>
            <a:off x="4250769" y="2500432"/>
            <a:ext cx="2872264" cy="301704"/>
          </a:xfrm>
          <a:prstGeom prst="rect">
            <a:avLst/>
          </a:prstGeom>
          <a:noFill/>
          <a:ln/>
        </p:spPr>
        <p:txBody>
          <a:bodyPr wrap="none" lIns="0" tIns="0" rIns="0" bIns="0" rtlCol="0" anchor="t"/>
          <a:lstStyle/>
          <a:p>
            <a:pPr marL="0" indent="0" algn="l">
              <a:lnSpc>
                <a:spcPts val="2350"/>
              </a:lnSpc>
              <a:buNone/>
            </a:pPr>
            <a:r>
              <a:rPr lang="en-US" sz="1450" b="1" dirty="0">
                <a:solidFill>
                  <a:srgbClr val="383838"/>
                </a:solidFill>
                <a:latin typeface="DM Sans" pitchFamily="34" charset="0"/>
                <a:ea typeface="DM Sans" pitchFamily="34" charset="-122"/>
                <a:cs typeface="DM Sans" pitchFamily="34" charset="-120"/>
              </a:rPr>
              <a:t>Sensitivity</a:t>
            </a:r>
            <a:endParaRPr lang="en-US" sz="1450" dirty="0"/>
          </a:p>
        </p:txBody>
      </p:sp>
      <p:sp>
        <p:nvSpPr>
          <p:cNvPr id="8" name="Text 6"/>
          <p:cNvSpPr/>
          <p:nvPr/>
        </p:nvSpPr>
        <p:spPr>
          <a:xfrm>
            <a:off x="7507605" y="2500432"/>
            <a:ext cx="2872264" cy="301704"/>
          </a:xfrm>
          <a:prstGeom prst="rect">
            <a:avLst/>
          </a:prstGeom>
          <a:noFill/>
          <a:ln/>
        </p:spPr>
        <p:txBody>
          <a:bodyPr wrap="none" lIns="0" tIns="0" rIns="0" bIns="0" rtlCol="0" anchor="t"/>
          <a:lstStyle/>
          <a:p>
            <a:pPr marL="0" indent="0" algn="l">
              <a:lnSpc>
                <a:spcPts val="2350"/>
              </a:lnSpc>
              <a:buNone/>
            </a:pPr>
            <a:r>
              <a:rPr lang="en-US" sz="1450" b="1" dirty="0">
                <a:solidFill>
                  <a:srgbClr val="383838"/>
                </a:solidFill>
                <a:latin typeface="DM Sans" pitchFamily="34" charset="0"/>
                <a:ea typeface="DM Sans" pitchFamily="34" charset="-122"/>
                <a:cs typeface="DM Sans" pitchFamily="34" charset="-120"/>
              </a:rPr>
              <a:t>Specificity</a:t>
            </a:r>
            <a:endParaRPr lang="en-US" sz="1450" dirty="0"/>
          </a:p>
        </p:txBody>
      </p:sp>
      <p:sp>
        <p:nvSpPr>
          <p:cNvPr id="9" name="Text 7"/>
          <p:cNvSpPr/>
          <p:nvPr/>
        </p:nvSpPr>
        <p:spPr>
          <a:xfrm>
            <a:off x="10764441" y="2500432"/>
            <a:ext cx="2876074" cy="301704"/>
          </a:xfrm>
          <a:prstGeom prst="rect">
            <a:avLst/>
          </a:prstGeom>
          <a:noFill/>
          <a:ln/>
        </p:spPr>
        <p:txBody>
          <a:bodyPr wrap="none" lIns="0" tIns="0" rIns="0" bIns="0" rtlCol="0" anchor="t"/>
          <a:lstStyle/>
          <a:p>
            <a:pPr marL="0" indent="0" algn="l">
              <a:lnSpc>
                <a:spcPts val="2350"/>
              </a:lnSpc>
              <a:buNone/>
            </a:pPr>
            <a:r>
              <a:rPr lang="en-US" sz="1450" b="1" dirty="0">
                <a:solidFill>
                  <a:srgbClr val="383838"/>
                </a:solidFill>
                <a:latin typeface="DM Sans" pitchFamily="34" charset="0"/>
                <a:ea typeface="DM Sans" pitchFamily="34" charset="-122"/>
                <a:cs typeface="DM Sans" pitchFamily="34" charset="-120"/>
              </a:rPr>
              <a:t>Interpretation</a:t>
            </a:r>
            <a:endParaRPr lang="en-US" sz="1450" dirty="0"/>
          </a:p>
        </p:txBody>
      </p:sp>
      <p:sp>
        <p:nvSpPr>
          <p:cNvPr id="10" name="Shape 8"/>
          <p:cNvSpPr/>
          <p:nvPr/>
        </p:nvSpPr>
        <p:spPr>
          <a:xfrm>
            <a:off x="801410" y="2922865"/>
            <a:ext cx="13027581" cy="844868"/>
          </a:xfrm>
          <a:prstGeom prst="rect">
            <a:avLst/>
          </a:prstGeom>
          <a:solidFill>
            <a:srgbClr val="000000">
              <a:alpha val="4000"/>
            </a:srgbClr>
          </a:solidFill>
          <a:ln/>
        </p:spPr>
      </p:sp>
      <p:sp>
        <p:nvSpPr>
          <p:cNvPr id="11" name="Text 9"/>
          <p:cNvSpPr/>
          <p:nvPr/>
        </p:nvSpPr>
        <p:spPr>
          <a:xfrm>
            <a:off x="990124" y="3043595"/>
            <a:ext cx="287607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0.1</a:t>
            </a:r>
            <a:endParaRPr lang="en-US" sz="1450" dirty="0"/>
          </a:p>
        </p:txBody>
      </p:sp>
      <p:sp>
        <p:nvSpPr>
          <p:cNvPr id="12" name="Text 10"/>
          <p:cNvSpPr/>
          <p:nvPr/>
        </p:nvSpPr>
        <p:spPr>
          <a:xfrm>
            <a:off x="4250769" y="3043595"/>
            <a:ext cx="287226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93.4%</a:t>
            </a:r>
            <a:endParaRPr lang="en-US" sz="1450" dirty="0"/>
          </a:p>
        </p:txBody>
      </p:sp>
      <p:sp>
        <p:nvSpPr>
          <p:cNvPr id="13" name="Text 11"/>
          <p:cNvSpPr/>
          <p:nvPr/>
        </p:nvSpPr>
        <p:spPr>
          <a:xfrm>
            <a:off x="7507605" y="3043595"/>
            <a:ext cx="287226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48.7%</a:t>
            </a:r>
            <a:endParaRPr lang="en-US" sz="1450" dirty="0"/>
          </a:p>
        </p:txBody>
      </p:sp>
      <p:sp>
        <p:nvSpPr>
          <p:cNvPr id="14" name="Text 12"/>
          <p:cNvSpPr/>
          <p:nvPr/>
        </p:nvSpPr>
        <p:spPr>
          <a:xfrm>
            <a:off x="10764441" y="3043595"/>
            <a:ext cx="2876074" cy="603409"/>
          </a:xfrm>
          <a:prstGeom prst="rect">
            <a:avLst/>
          </a:prstGeom>
          <a:noFill/>
          <a:ln/>
        </p:spPr>
        <p:txBody>
          <a:bodyPr wrap="squar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Catches most defaulters but many false alarms</a:t>
            </a:r>
            <a:endParaRPr lang="en-US" sz="1450" dirty="0"/>
          </a:p>
        </p:txBody>
      </p:sp>
      <p:sp>
        <p:nvSpPr>
          <p:cNvPr id="15" name="Shape 13"/>
          <p:cNvSpPr/>
          <p:nvPr/>
        </p:nvSpPr>
        <p:spPr>
          <a:xfrm>
            <a:off x="801410" y="3767733"/>
            <a:ext cx="13027581" cy="543163"/>
          </a:xfrm>
          <a:prstGeom prst="rect">
            <a:avLst/>
          </a:prstGeom>
          <a:solidFill>
            <a:srgbClr val="FFFFFF">
              <a:alpha val="4000"/>
            </a:srgbClr>
          </a:solidFill>
          <a:ln/>
        </p:spPr>
      </p:sp>
      <p:sp>
        <p:nvSpPr>
          <p:cNvPr id="16" name="Text 14"/>
          <p:cNvSpPr/>
          <p:nvPr/>
        </p:nvSpPr>
        <p:spPr>
          <a:xfrm>
            <a:off x="990124" y="3888462"/>
            <a:ext cx="287607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0.2</a:t>
            </a:r>
            <a:endParaRPr lang="en-US" sz="1450" dirty="0"/>
          </a:p>
        </p:txBody>
      </p:sp>
      <p:sp>
        <p:nvSpPr>
          <p:cNvPr id="17" name="Text 15"/>
          <p:cNvSpPr/>
          <p:nvPr/>
        </p:nvSpPr>
        <p:spPr>
          <a:xfrm>
            <a:off x="4250769" y="3888462"/>
            <a:ext cx="287226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84.7%</a:t>
            </a:r>
            <a:endParaRPr lang="en-US" sz="1450" dirty="0"/>
          </a:p>
        </p:txBody>
      </p:sp>
      <p:sp>
        <p:nvSpPr>
          <p:cNvPr id="18" name="Text 16"/>
          <p:cNvSpPr/>
          <p:nvPr/>
        </p:nvSpPr>
        <p:spPr>
          <a:xfrm>
            <a:off x="7507605" y="3888462"/>
            <a:ext cx="287226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68.1%</a:t>
            </a:r>
            <a:endParaRPr lang="en-US" sz="1450" dirty="0"/>
          </a:p>
        </p:txBody>
      </p:sp>
      <p:sp>
        <p:nvSpPr>
          <p:cNvPr id="19" name="Text 17"/>
          <p:cNvSpPr/>
          <p:nvPr/>
        </p:nvSpPr>
        <p:spPr>
          <a:xfrm>
            <a:off x="10764441" y="3888462"/>
            <a:ext cx="287607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Better balance emerging</a:t>
            </a:r>
            <a:endParaRPr lang="en-US" sz="1450" dirty="0"/>
          </a:p>
        </p:txBody>
      </p:sp>
      <p:sp>
        <p:nvSpPr>
          <p:cNvPr id="20" name="Shape 18"/>
          <p:cNvSpPr/>
          <p:nvPr/>
        </p:nvSpPr>
        <p:spPr>
          <a:xfrm>
            <a:off x="801410" y="4310896"/>
            <a:ext cx="13027581" cy="543163"/>
          </a:xfrm>
          <a:prstGeom prst="rect">
            <a:avLst/>
          </a:prstGeom>
          <a:solidFill>
            <a:srgbClr val="000000">
              <a:alpha val="4000"/>
            </a:srgbClr>
          </a:solidFill>
          <a:ln/>
        </p:spPr>
      </p:sp>
      <p:sp>
        <p:nvSpPr>
          <p:cNvPr id="21" name="Text 19"/>
          <p:cNvSpPr/>
          <p:nvPr/>
        </p:nvSpPr>
        <p:spPr>
          <a:xfrm>
            <a:off x="990124" y="4431625"/>
            <a:ext cx="287607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0.3</a:t>
            </a:r>
            <a:endParaRPr lang="en-US" sz="1450" dirty="0"/>
          </a:p>
        </p:txBody>
      </p:sp>
      <p:sp>
        <p:nvSpPr>
          <p:cNvPr id="22" name="Text 20"/>
          <p:cNvSpPr/>
          <p:nvPr/>
        </p:nvSpPr>
        <p:spPr>
          <a:xfrm>
            <a:off x="4250769" y="4431625"/>
            <a:ext cx="287226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74.9%</a:t>
            </a:r>
            <a:endParaRPr lang="en-US" sz="1450" dirty="0"/>
          </a:p>
        </p:txBody>
      </p:sp>
      <p:sp>
        <p:nvSpPr>
          <p:cNvPr id="23" name="Text 21"/>
          <p:cNvSpPr/>
          <p:nvPr/>
        </p:nvSpPr>
        <p:spPr>
          <a:xfrm>
            <a:off x="7507605" y="4431625"/>
            <a:ext cx="287226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80.3%</a:t>
            </a:r>
            <a:endParaRPr lang="en-US" sz="1450" dirty="0"/>
          </a:p>
        </p:txBody>
      </p:sp>
      <p:sp>
        <p:nvSpPr>
          <p:cNvPr id="24" name="Text 22"/>
          <p:cNvSpPr/>
          <p:nvPr/>
        </p:nvSpPr>
        <p:spPr>
          <a:xfrm>
            <a:off x="10764441" y="4431625"/>
            <a:ext cx="2876074" cy="301704"/>
          </a:xfrm>
          <a:prstGeom prst="rect">
            <a:avLst/>
          </a:prstGeom>
          <a:noFill/>
          <a:ln/>
        </p:spPr>
        <p:txBody>
          <a:bodyPr wrap="none" lIns="0" tIns="0" rIns="0" bIns="0" rtlCol="0" anchor="t"/>
          <a:lstStyle/>
          <a:p>
            <a:pPr marL="0" indent="0" algn="l">
              <a:lnSpc>
                <a:spcPts val="2350"/>
              </a:lnSpc>
              <a:buNone/>
            </a:pPr>
            <a:r>
              <a:rPr lang="en-US" sz="1450" b="1" dirty="0">
                <a:solidFill>
                  <a:srgbClr val="383838"/>
                </a:solidFill>
                <a:latin typeface="DM Sans" pitchFamily="34" charset="0"/>
                <a:ea typeface="DM Sans" pitchFamily="34" charset="-122"/>
                <a:cs typeface="DM Sans" pitchFamily="34" charset="-120"/>
              </a:rPr>
              <a:t>Optimal balance point</a:t>
            </a:r>
            <a:endParaRPr lang="en-US" sz="1450" dirty="0"/>
          </a:p>
        </p:txBody>
      </p:sp>
      <p:sp>
        <p:nvSpPr>
          <p:cNvPr id="25" name="Shape 23"/>
          <p:cNvSpPr/>
          <p:nvPr/>
        </p:nvSpPr>
        <p:spPr>
          <a:xfrm>
            <a:off x="801410" y="4854059"/>
            <a:ext cx="13027581" cy="844868"/>
          </a:xfrm>
          <a:prstGeom prst="rect">
            <a:avLst/>
          </a:prstGeom>
          <a:solidFill>
            <a:srgbClr val="FFFFFF">
              <a:alpha val="4000"/>
            </a:srgbClr>
          </a:solidFill>
          <a:ln/>
        </p:spPr>
      </p:sp>
      <p:sp>
        <p:nvSpPr>
          <p:cNvPr id="26" name="Text 24"/>
          <p:cNvSpPr/>
          <p:nvPr/>
        </p:nvSpPr>
        <p:spPr>
          <a:xfrm>
            <a:off x="990124" y="4974788"/>
            <a:ext cx="287607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0.4</a:t>
            </a:r>
            <a:endParaRPr lang="en-US" sz="1450" dirty="0"/>
          </a:p>
        </p:txBody>
      </p:sp>
      <p:sp>
        <p:nvSpPr>
          <p:cNvPr id="27" name="Text 25"/>
          <p:cNvSpPr/>
          <p:nvPr/>
        </p:nvSpPr>
        <p:spPr>
          <a:xfrm>
            <a:off x="4250769" y="4974788"/>
            <a:ext cx="287226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61.7%</a:t>
            </a:r>
            <a:endParaRPr lang="en-US" sz="1450" dirty="0"/>
          </a:p>
        </p:txBody>
      </p:sp>
      <p:sp>
        <p:nvSpPr>
          <p:cNvPr id="28" name="Text 26"/>
          <p:cNvSpPr/>
          <p:nvPr/>
        </p:nvSpPr>
        <p:spPr>
          <a:xfrm>
            <a:off x="7507605" y="4974788"/>
            <a:ext cx="287226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86.8%</a:t>
            </a:r>
            <a:endParaRPr lang="en-US" sz="1450" dirty="0"/>
          </a:p>
        </p:txBody>
      </p:sp>
      <p:sp>
        <p:nvSpPr>
          <p:cNvPr id="29" name="Text 27"/>
          <p:cNvSpPr/>
          <p:nvPr/>
        </p:nvSpPr>
        <p:spPr>
          <a:xfrm>
            <a:off x="10764441" y="4974788"/>
            <a:ext cx="2876074" cy="603409"/>
          </a:xfrm>
          <a:prstGeom prst="rect">
            <a:avLst/>
          </a:prstGeom>
          <a:noFill/>
          <a:ln/>
        </p:spPr>
        <p:txBody>
          <a:bodyPr wrap="squar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High specificity but missing defaulters</a:t>
            </a:r>
            <a:endParaRPr lang="en-US" sz="1450" dirty="0"/>
          </a:p>
        </p:txBody>
      </p:sp>
      <p:sp>
        <p:nvSpPr>
          <p:cNvPr id="30" name="Shape 28"/>
          <p:cNvSpPr/>
          <p:nvPr/>
        </p:nvSpPr>
        <p:spPr>
          <a:xfrm>
            <a:off x="801410" y="5698927"/>
            <a:ext cx="13027581" cy="844868"/>
          </a:xfrm>
          <a:prstGeom prst="rect">
            <a:avLst/>
          </a:prstGeom>
          <a:solidFill>
            <a:srgbClr val="000000">
              <a:alpha val="4000"/>
            </a:srgbClr>
          </a:solidFill>
          <a:ln/>
        </p:spPr>
      </p:sp>
      <p:sp>
        <p:nvSpPr>
          <p:cNvPr id="31" name="Text 29"/>
          <p:cNvSpPr/>
          <p:nvPr/>
        </p:nvSpPr>
        <p:spPr>
          <a:xfrm>
            <a:off x="990124" y="5819656"/>
            <a:ext cx="287607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0.5</a:t>
            </a:r>
            <a:endParaRPr lang="en-US" sz="1450" dirty="0"/>
          </a:p>
        </p:txBody>
      </p:sp>
      <p:sp>
        <p:nvSpPr>
          <p:cNvPr id="32" name="Text 30"/>
          <p:cNvSpPr/>
          <p:nvPr/>
        </p:nvSpPr>
        <p:spPr>
          <a:xfrm>
            <a:off x="4250769" y="5819656"/>
            <a:ext cx="287226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50.3%</a:t>
            </a:r>
            <a:endParaRPr lang="en-US" sz="1450" dirty="0"/>
          </a:p>
        </p:txBody>
      </p:sp>
      <p:sp>
        <p:nvSpPr>
          <p:cNvPr id="33" name="Text 31"/>
          <p:cNvSpPr/>
          <p:nvPr/>
        </p:nvSpPr>
        <p:spPr>
          <a:xfrm>
            <a:off x="7507605" y="5819656"/>
            <a:ext cx="2872264" cy="301704"/>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92.6%</a:t>
            </a:r>
            <a:endParaRPr lang="en-US" sz="1450" dirty="0"/>
          </a:p>
        </p:txBody>
      </p:sp>
      <p:sp>
        <p:nvSpPr>
          <p:cNvPr id="34" name="Text 32"/>
          <p:cNvSpPr/>
          <p:nvPr/>
        </p:nvSpPr>
        <p:spPr>
          <a:xfrm>
            <a:off x="10764441" y="5819656"/>
            <a:ext cx="2876074" cy="603409"/>
          </a:xfrm>
          <a:prstGeom prst="rect">
            <a:avLst/>
          </a:prstGeom>
          <a:noFill/>
          <a:ln/>
        </p:spPr>
        <p:txBody>
          <a:bodyPr wrap="squar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Very conservative, misses many defaulters</a:t>
            </a:r>
            <a:endParaRPr lang="en-US" sz="1450" dirty="0"/>
          </a:p>
        </p:txBody>
      </p:sp>
      <p:sp>
        <p:nvSpPr>
          <p:cNvPr id="35" name="Text 33"/>
          <p:cNvSpPr/>
          <p:nvPr/>
        </p:nvSpPr>
        <p:spPr>
          <a:xfrm>
            <a:off x="793790" y="6763464"/>
            <a:ext cx="13042821" cy="905113"/>
          </a:xfrm>
          <a:prstGeom prst="rect">
            <a:avLst/>
          </a:prstGeom>
          <a:noFill/>
          <a:ln/>
        </p:spPr>
        <p:txBody>
          <a:bodyPr wrap="square" lIns="0" tIns="0" rIns="0" bIns="0" rtlCol="0" anchor="t"/>
          <a:lstStyle/>
          <a:p>
            <a:pPr marL="0" indent="0" algn="l">
              <a:lnSpc>
                <a:spcPts val="2350"/>
              </a:lnSpc>
              <a:buNone/>
            </a:pPr>
            <a:r>
              <a:rPr lang="en-US" b="1" dirty="0">
                <a:solidFill>
                  <a:srgbClr val="383838"/>
                </a:solidFill>
                <a:latin typeface="DM Sans" pitchFamily="34" charset="0"/>
                <a:ea typeface="DM Sans" pitchFamily="34" charset="-122"/>
                <a:cs typeface="DM Sans" pitchFamily="34" charset="-120"/>
              </a:rPr>
              <a:t>Recommendation:</a:t>
            </a:r>
            <a:r>
              <a:rPr lang="en-US" dirty="0">
                <a:solidFill>
                  <a:srgbClr val="383838"/>
                </a:solidFill>
                <a:latin typeface="DM Sans" pitchFamily="34" charset="0"/>
                <a:ea typeface="DM Sans" pitchFamily="34" charset="-122"/>
                <a:cs typeface="DM Sans" pitchFamily="34" charset="-120"/>
              </a:rPr>
              <a:t> The optimal cut-off of 0.3 achieves balanced sensitivity (74.9%) and specificity (80.3%). This balance depends on business context—in lending, false negatives (missed defaulters) may be costlier than false positives (rejected good customers), suggesting a lower cut-off might be preferable.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910114"/>
            <a:ext cx="8471416"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ROC Curve: Visualizing Performance</a:t>
            </a:r>
            <a:endParaRPr lang="en-US" sz="4100" dirty="0"/>
          </a:p>
        </p:txBody>
      </p:sp>
      <p:sp>
        <p:nvSpPr>
          <p:cNvPr id="3" name="Text 1"/>
          <p:cNvSpPr/>
          <p:nvPr/>
        </p:nvSpPr>
        <p:spPr>
          <a:xfrm>
            <a:off x="793790" y="1958221"/>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Receiver Operating Characteristic (ROC) curve provides a comprehensive graphical representation of model performance across all possible cut-off values simultaneously.</a:t>
            </a:r>
            <a:endParaRPr lang="en-US" dirty="0"/>
          </a:p>
        </p:txBody>
      </p:sp>
      <p:sp>
        <p:nvSpPr>
          <p:cNvPr id="4" name="Text 2"/>
          <p:cNvSpPr/>
          <p:nvPr/>
        </p:nvSpPr>
        <p:spPr>
          <a:xfrm>
            <a:off x="793790" y="3014901"/>
            <a:ext cx="3483531"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Understanding the ROC Curve</a:t>
            </a:r>
            <a:endParaRPr lang="en-US" sz="2050" dirty="0"/>
          </a:p>
        </p:txBody>
      </p:sp>
      <p:sp>
        <p:nvSpPr>
          <p:cNvPr id="5" name="Text 3"/>
          <p:cNvSpPr/>
          <p:nvPr/>
        </p:nvSpPr>
        <p:spPr>
          <a:xfrm>
            <a:off x="793790" y="3538895"/>
            <a:ext cx="6955631" cy="952619"/>
          </a:xfrm>
          <a:prstGeom prst="rect">
            <a:avLst/>
          </a:prstGeom>
          <a:noFill/>
          <a:ln/>
        </p:spPr>
        <p:txBody>
          <a:bodyPr wrap="square" lIns="0" tIns="0" rIns="0" bIns="0" rtlCol="0" anchor="t"/>
          <a:lstStyle/>
          <a:p>
            <a:pPr marL="0" indent="0" algn="l">
              <a:lnSpc>
                <a:spcPts val="2500"/>
              </a:lnSpc>
              <a:buNone/>
            </a:pPr>
            <a:r>
              <a:rPr lang="en-US" sz="1600" dirty="0">
                <a:solidFill>
                  <a:srgbClr val="383838"/>
                </a:solidFill>
                <a:latin typeface="DM Sans" pitchFamily="34" charset="0"/>
                <a:ea typeface="DM Sans" pitchFamily="34" charset="-122"/>
                <a:cs typeface="DM Sans" pitchFamily="34" charset="-120"/>
              </a:rPr>
              <a:t>The ROC curve plots </a:t>
            </a:r>
            <a:r>
              <a:rPr lang="en-US" sz="1600" b="1" dirty="0">
                <a:solidFill>
                  <a:srgbClr val="383838"/>
                </a:solidFill>
                <a:latin typeface="DM Sans" pitchFamily="34" charset="0"/>
                <a:ea typeface="DM Sans" pitchFamily="34" charset="-122"/>
                <a:cs typeface="DM Sans" pitchFamily="34" charset="-120"/>
              </a:rPr>
              <a:t>sensitivity</a:t>
            </a:r>
            <a:r>
              <a:rPr lang="en-US" sz="1600" dirty="0">
                <a:solidFill>
                  <a:srgbClr val="383838"/>
                </a:solidFill>
                <a:latin typeface="DM Sans" pitchFamily="34" charset="0"/>
                <a:ea typeface="DM Sans" pitchFamily="34" charset="-122"/>
                <a:cs typeface="DM Sans" pitchFamily="34" charset="-120"/>
              </a:rPr>
              <a:t> (true positive rate) on the Y-axis against </a:t>
            </a:r>
            <a:r>
              <a:rPr lang="en-US" sz="1600" b="1" dirty="0">
                <a:solidFill>
                  <a:srgbClr val="383838"/>
                </a:solidFill>
                <a:latin typeface="DM Sans" pitchFamily="34" charset="0"/>
                <a:ea typeface="DM Sans" pitchFamily="34" charset="-122"/>
                <a:cs typeface="DM Sans" pitchFamily="34" charset="-120"/>
              </a:rPr>
              <a:t>1-specificity</a:t>
            </a:r>
            <a:r>
              <a:rPr lang="en-US" sz="1600" dirty="0">
                <a:solidFill>
                  <a:srgbClr val="383838"/>
                </a:solidFill>
                <a:latin typeface="DM Sans" pitchFamily="34" charset="0"/>
                <a:ea typeface="DM Sans" pitchFamily="34" charset="-122"/>
                <a:cs typeface="DM Sans" pitchFamily="34" charset="-120"/>
              </a:rPr>
              <a:t> (false positive rate) on the X-axis for every possible cut-off value.</a:t>
            </a:r>
            <a:endParaRPr lang="en-US" sz="1600" dirty="0"/>
          </a:p>
        </p:txBody>
      </p:sp>
      <p:sp>
        <p:nvSpPr>
          <p:cNvPr id="6" name="Text 4"/>
          <p:cNvSpPr/>
          <p:nvPr/>
        </p:nvSpPr>
        <p:spPr>
          <a:xfrm>
            <a:off x="793790" y="4670108"/>
            <a:ext cx="6955631" cy="952619"/>
          </a:xfrm>
          <a:prstGeom prst="rect">
            <a:avLst/>
          </a:prstGeom>
          <a:noFill/>
          <a:ln/>
        </p:spPr>
        <p:txBody>
          <a:bodyPr wrap="square" lIns="0" tIns="0" rIns="0" bIns="0" rtlCol="0" anchor="t"/>
          <a:lstStyle/>
          <a:p>
            <a:pPr marL="0" indent="0" algn="l">
              <a:lnSpc>
                <a:spcPts val="2500"/>
              </a:lnSpc>
              <a:buNone/>
            </a:pPr>
            <a:r>
              <a:rPr lang="en-US" sz="1600" dirty="0">
                <a:solidFill>
                  <a:srgbClr val="383838"/>
                </a:solidFill>
                <a:latin typeface="DM Sans" pitchFamily="34" charset="0"/>
                <a:ea typeface="DM Sans" pitchFamily="34" charset="-122"/>
                <a:cs typeface="DM Sans" pitchFamily="34" charset="-120"/>
              </a:rPr>
              <a:t>Each point on the curve represents the sensitivity-specificity trade-off at a particular cut-off. Moving up and right along the curve means accepting more false positives to capture more true positives.</a:t>
            </a:r>
            <a:endParaRPr lang="en-US" sz="1600" dirty="0"/>
          </a:p>
        </p:txBody>
      </p:sp>
      <p:sp>
        <p:nvSpPr>
          <p:cNvPr id="7" name="Text 5"/>
          <p:cNvSpPr/>
          <p:nvPr/>
        </p:nvSpPr>
        <p:spPr>
          <a:xfrm>
            <a:off x="793790" y="5801320"/>
            <a:ext cx="6955631" cy="952619"/>
          </a:xfrm>
          <a:prstGeom prst="rect">
            <a:avLst/>
          </a:prstGeom>
          <a:noFill/>
          <a:ln/>
        </p:spPr>
        <p:txBody>
          <a:bodyPr wrap="square" lIns="0" tIns="0" rIns="0" bIns="0" rtlCol="0" anchor="t"/>
          <a:lstStyle/>
          <a:p>
            <a:pPr marL="0" indent="0" algn="l">
              <a:lnSpc>
                <a:spcPts val="2500"/>
              </a:lnSpc>
              <a:buNone/>
            </a:pPr>
            <a:r>
              <a:rPr lang="en-US" sz="1600" dirty="0">
                <a:solidFill>
                  <a:srgbClr val="383838"/>
                </a:solidFill>
                <a:latin typeface="DM Sans" pitchFamily="34" charset="0"/>
                <a:ea typeface="DM Sans" pitchFamily="34" charset="-122"/>
                <a:cs typeface="DM Sans" pitchFamily="34" charset="-120"/>
              </a:rPr>
              <a:t>The diagonal line from (0,0) to (1,1) represents random guessing—a worthless model. Good models bow toward the top-left corner, maximizing sensitivity while minimizing false positives.</a:t>
            </a:r>
            <a:endParaRPr lang="en-US" sz="1600" dirty="0"/>
          </a:p>
        </p:txBody>
      </p:sp>
      <p:sp>
        <p:nvSpPr>
          <p:cNvPr id="8" name="Text 6"/>
          <p:cNvSpPr/>
          <p:nvPr/>
        </p:nvSpPr>
        <p:spPr>
          <a:xfrm>
            <a:off x="8241149" y="3014901"/>
            <a:ext cx="3258026"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Area Under the Curve (AUC)</a:t>
            </a:r>
            <a:endParaRPr lang="en-US" sz="2050" dirty="0"/>
          </a:p>
        </p:txBody>
      </p:sp>
      <p:sp>
        <p:nvSpPr>
          <p:cNvPr id="9" name="Text 7"/>
          <p:cNvSpPr/>
          <p:nvPr/>
        </p:nvSpPr>
        <p:spPr>
          <a:xfrm>
            <a:off x="8241149" y="3538895"/>
            <a:ext cx="5602962"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AUC = 0.8558</a:t>
            </a:r>
            <a:endParaRPr lang="en-US" sz="1550" dirty="0"/>
          </a:p>
        </p:txBody>
      </p:sp>
      <p:sp>
        <p:nvSpPr>
          <p:cNvPr id="10" name="Text 8"/>
          <p:cNvSpPr/>
          <p:nvPr/>
        </p:nvSpPr>
        <p:spPr>
          <a:xfrm>
            <a:off x="8241149" y="4035028"/>
            <a:ext cx="5602962" cy="635079"/>
          </a:xfrm>
          <a:prstGeom prst="rect">
            <a:avLst/>
          </a:prstGeom>
          <a:noFill/>
          <a:ln/>
        </p:spPr>
        <p:txBody>
          <a:bodyPr wrap="square" lIns="0" tIns="0" rIns="0" bIns="0" rtlCol="0" anchor="t"/>
          <a:lstStyle/>
          <a:p>
            <a:pPr marL="0" indent="0" algn="l">
              <a:lnSpc>
                <a:spcPts val="2500"/>
              </a:lnSpc>
              <a:buNone/>
            </a:pPr>
            <a:r>
              <a:rPr lang="en-US" sz="1600" dirty="0">
                <a:solidFill>
                  <a:srgbClr val="383838"/>
                </a:solidFill>
                <a:latin typeface="DM Sans" pitchFamily="34" charset="0"/>
                <a:ea typeface="DM Sans" pitchFamily="34" charset="-122"/>
                <a:cs typeface="DM Sans" pitchFamily="34" charset="-120"/>
              </a:rPr>
              <a:t>The area under the ROC curve (C-statistic) quantifies overall model discrimination ability:</a:t>
            </a:r>
            <a:endParaRPr lang="en-US" sz="1600" dirty="0"/>
          </a:p>
        </p:txBody>
      </p:sp>
      <p:sp>
        <p:nvSpPr>
          <p:cNvPr id="11" name="Text 9"/>
          <p:cNvSpPr/>
          <p:nvPr/>
        </p:nvSpPr>
        <p:spPr>
          <a:xfrm>
            <a:off x="8241149" y="4848701"/>
            <a:ext cx="5602962"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383838"/>
                </a:solidFill>
                <a:latin typeface="DM Sans" pitchFamily="34" charset="0"/>
                <a:ea typeface="DM Sans" pitchFamily="34" charset="-122"/>
                <a:cs typeface="DM Sans" pitchFamily="34" charset="-120"/>
              </a:rPr>
              <a:t>C = 1.0:</a:t>
            </a:r>
            <a:r>
              <a:rPr lang="en-US" sz="1550" dirty="0">
                <a:solidFill>
                  <a:srgbClr val="383838"/>
                </a:solidFill>
                <a:latin typeface="DM Sans" pitchFamily="34" charset="0"/>
                <a:ea typeface="DM Sans" pitchFamily="34" charset="-122"/>
                <a:cs typeface="DM Sans" pitchFamily="34" charset="-120"/>
              </a:rPr>
              <a:t> Perfect model</a:t>
            </a:r>
            <a:endParaRPr lang="en-US" sz="1550" dirty="0"/>
          </a:p>
        </p:txBody>
      </p:sp>
      <p:sp>
        <p:nvSpPr>
          <p:cNvPr id="12" name="Text 10"/>
          <p:cNvSpPr/>
          <p:nvPr/>
        </p:nvSpPr>
        <p:spPr>
          <a:xfrm>
            <a:off x="8241149" y="5235654"/>
            <a:ext cx="5602962"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383838"/>
                </a:solidFill>
                <a:latin typeface="DM Sans" pitchFamily="34" charset="0"/>
                <a:ea typeface="DM Sans" pitchFamily="34" charset="-122"/>
                <a:cs typeface="DM Sans" pitchFamily="34" charset="-120"/>
              </a:rPr>
              <a:t>C = 0.8558:</a:t>
            </a:r>
            <a:r>
              <a:rPr lang="en-US" sz="1550" dirty="0">
                <a:solidFill>
                  <a:srgbClr val="383838"/>
                </a:solidFill>
                <a:latin typeface="DM Sans" pitchFamily="34" charset="0"/>
                <a:ea typeface="DM Sans" pitchFamily="34" charset="-122"/>
                <a:cs typeface="DM Sans" pitchFamily="34" charset="-120"/>
              </a:rPr>
              <a:t> Good model</a:t>
            </a:r>
            <a:endParaRPr lang="en-US" sz="1550" dirty="0"/>
          </a:p>
        </p:txBody>
      </p:sp>
      <p:sp>
        <p:nvSpPr>
          <p:cNvPr id="13" name="Text 11"/>
          <p:cNvSpPr/>
          <p:nvPr/>
        </p:nvSpPr>
        <p:spPr>
          <a:xfrm>
            <a:off x="8241149" y="5622607"/>
            <a:ext cx="5602962"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383838"/>
                </a:solidFill>
                <a:latin typeface="DM Sans" pitchFamily="34" charset="0"/>
                <a:ea typeface="DM Sans" pitchFamily="34" charset="-122"/>
                <a:cs typeface="DM Sans" pitchFamily="34" charset="-120"/>
              </a:rPr>
              <a:t>C = 0.7-0.8:</a:t>
            </a:r>
            <a:r>
              <a:rPr lang="en-US" sz="1550" dirty="0">
                <a:solidFill>
                  <a:srgbClr val="383838"/>
                </a:solidFill>
                <a:latin typeface="DM Sans" pitchFamily="34" charset="0"/>
                <a:ea typeface="DM Sans" pitchFamily="34" charset="-122"/>
                <a:cs typeface="DM Sans" pitchFamily="34" charset="-120"/>
              </a:rPr>
              <a:t> Acceptable</a:t>
            </a:r>
            <a:endParaRPr lang="en-US" sz="1550" dirty="0"/>
          </a:p>
        </p:txBody>
      </p:sp>
      <p:sp>
        <p:nvSpPr>
          <p:cNvPr id="14" name="Text 12"/>
          <p:cNvSpPr/>
          <p:nvPr/>
        </p:nvSpPr>
        <p:spPr>
          <a:xfrm>
            <a:off x="8241149" y="6009561"/>
            <a:ext cx="5602962"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383838"/>
                </a:solidFill>
                <a:latin typeface="DM Sans" pitchFamily="34" charset="0"/>
                <a:ea typeface="DM Sans" pitchFamily="34" charset="-122"/>
                <a:cs typeface="DM Sans" pitchFamily="34" charset="-120"/>
              </a:rPr>
              <a:t>C = 0.5:</a:t>
            </a:r>
            <a:r>
              <a:rPr lang="en-US" sz="1550" dirty="0">
                <a:solidFill>
                  <a:srgbClr val="383838"/>
                </a:solidFill>
                <a:latin typeface="DM Sans" pitchFamily="34" charset="0"/>
                <a:ea typeface="DM Sans" pitchFamily="34" charset="-122"/>
                <a:cs typeface="DM Sans" pitchFamily="34" charset="-120"/>
              </a:rPr>
              <a:t> No better than chance</a:t>
            </a:r>
            <a:endParaRPr lang="en-US" sz="1550" dirty="0"/>
          </a:p>
        </p:txBody>
      </p:sp>
      <p:sp>
        <p:nvSpPr>
          <p:cNvPr id="15" name="Text 13"/>
          <p:cNvSpPr/>
          <p:nvPr/>
        </p:nvSpPr>
        <p:spPr>
          <a:xfrm>
            <a:off x="8241149" y="6505694"/>
            <a:ext cx="5602962" cy="635079"/>
          </a:xfrm>
          <a:prstGeom prst="rect">
            <a:avLst/>
          </a:prstGeom>
          <a:noFill/>
          <a:ln/>
        </p:spPr>
        <p:txBody>
          <a:bodyPr wrap="square" lIns="0" tIns="0" rIns="0" bIns="0" rtlCol="0" anchor="t"/>
          <a:lstStyle/>
          <a:p>
            <a:pPr marL="0" indent="0" algn="l">
              <a:lnSpc>
                <a:spcPts val="2500"/>
              </a:lnSpc>
              <a:buNone/>
            </a:pPr>
            <a:r>
              <a:rPr lang="en-US" sz="1600" dirty="0">
                <a:solidFill>
                  <a:srgbClr val="383838"/>
                </a:solidFill>
                <a:latin typeface="DM Sans" pitchFamily="34" charset="0"/>
                <a:ea typeface="DM Sans" pitchFamily="34" charset="-122"/>
                <a:cs typeface="DM Sans" pitchFamily="34" charset="-120"/>
              </a:rPr>
              <a:t>Our model's AUC of 0.8558 indicates strong predictive ability for distinguishing defaulters from non-defaulters.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910114"/>
            <a:ext cx="8471416"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ROC Curve: Visualizing Performance</a:t>
            </a:r>
            <a:endParaRPr lang="en-US" sz="4100" dirty="0"/>
          </a:p>
        </p:txBody>
      </p:sp>
      <p:sp>
        <p:nvSpPr>
          <p:cNvPr id="3" name="Text 1"/>
          <p:cNvSpPr/>
          <p:nvPr/>
        </p:nvSpPr>
        <p:spPr>
          <a:xfrm>
            <a:off x="793790" y="1958221"/>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Receiver Operating Characteristic (ROC) curve provides a comprehensive graphical representation of model performance across all possible cut-off values simultaneously.</a:t>
            </a:r>
            <a:endParaRPr lang="en-US" dirty="0"/>
          </a:p>
        </p:txBody>
      </p:sp>
      <p:sp>
        <p:nvSpPr>
          <p:cNvPr id="8" name="Text 6"/>
          <p:cNvSpPr/>
          <p:nvPr/>
        </p:nvSpPr>
        <p:spPr>
          <a:xfrm>
            <a:off x="8241149" y="3014901"/>
            <a:ext cx="3258026"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Area Under the Curve (AUC)</a:t>
            </a:r>
            <a:endParaRPr lang="en-US" sz="2050" dirty="0"/>
          </a:p>
        </p:txBody>
      </p:sp>
      <p:sp>
        <p:nvSpPr>
          <p:cNvPr id="9" name="Text 7"/>
          <p:cNvSpPr/>
          <p:nvPr/>
        </p:nvSpPr>
        <p:spPr>
          <a:xfrm>
            <a:off x="8241149" y="3538895"/>
            <a:ext cx="5602962"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AUC = 0.8558</a:t>
            </a:r>
            <a:endParaRPr lang="en-US" sz="1550" dirty="0"/>
          </a:p>
        </p:txBody>
      </p:sp>
      <p:sp>
        <p:nvSpPr>
          <p:cNvPr id="10" name="Text 8"/>
          <p:cNvSpPr/>
          <p:nvPr/>
        </p:nvSpPr>
        <p:spPr>
          <a:xfrm>
            <a:off x="8241149" y="4035028"/>
            <a:ext cx="5602962" cy="635079"/>
          </a:xfrm>
          <a:prstGeom prst="rect">
            <a:avLst/>
          </a:prstGeom>
          <a:noFill/>
          <a:ln/>
        </p:spPr>
        <p:txBody>
          <a:bodyPr wrap="square" lIns="0" tIns="0" rIns="0" bIns="0" rtlCol="0" anchor="t"/>
          <a:lstStyle/>
          <a:p>
            <a:pPr marL="0" indent="0" algn="l">
              <a:lnSpc>
                <a:spcPts val="2500"/>
              </a:lnSpc>
              <a:buNone/>
            </a:pPr>
            <a:r>
              <a:rPr lang="en-US" sz="1600" dirty="0">
                <a:solidFill>
                  <a:srgbClr val="383838"/>
                </a:solidFill>
                <a:latin typeface="DM Sans" pitchFamily="34" charset="0"/>
                <a:ea typeface="DM Sans" pitchFamily="34" charset="-122"/>
                <a:cs typeface="DM Sans" pitchFamily="34" charset="-120"/>
              </a:rPr>
              <a:t>The area under the ROC curve (C-statistic) quantifies overall model discrimination ability:</a:t>
            </a:r>
            <a:endParaRPr lang="en-US" sz="1600" dirty="0"/>
          </a:p>
        </p:txBody>
      </p:sp>
      <p:sp>
        <p:nvSpPr>
          <p:cNvPr id="15" name="Text 13"/>
          <p:cNvSpPr/>
          <p:nvPr/>
        </p:nvSpPr>
        <p:spPr>
          <a:xfrm>
            <a:off x="8241149" y="5197399"/>
            <a:ext cx="5602962" cy="635079"/>
          </a:xfrm>
          <a:prstGeom prst="rect">
            <a:avLst/>
          </a:prstGeom>
          <a:noFill/>
          <a:ln/>
        </p:spPr>
        <p:txBody>
          <a:bodyPr wrap="square" lIns="0" tIns="0" rIns="0" bIns="0" rtlCol="0" anchor="t"/>
          <a:lstStyle/>
          <a:p>
            <a:pPr marL="0" indent="0" algn="l">
              <a:lnSpc>
                <a:spcPts val="2500"/>
              </a:lnSpc>
              <a:buNone/>
            </a:pPr>
            <a:r>
              <a:rPr lang="en-US" sz="1600" dirty="0">
                <a:solidFill>
                  <a:srgbClr val="383838"/>
                </a:solidFill>
                <a:latin typeface="DM Sans" pitchFamily="34" charset="0"/>
                <a:ea typeface="DM Sans" pitchFamily="34" charset="-122"/>
                <a:cs typeface="DM Sans" pitchFamily="34" charset="-120"/>
              </a:rPr>
              <a:t>Our model's AUC of 0.8558 indicates strong predictive ability for distinguishing defaulters from non-defaulters.</a:t>
            </a:r>
            <a:endParaRPr lang="en-US" sz="1600" dirty="0"/>
          </a:p>
        </p:txBody>
      </p:sp>
      <p:pic>
        <p:nvPicPr>
          <p:cNvPr id="16" name="Picture 15">
            <a:extLst>
              <a:ext uri="{FF2B5EF4-FFF2-40B4-BE49-F238E27FC236}">
                <a16:creationId xmlns:a16="http://schemas.microsoft.com/office/drawing/2014/main" id="{5432A7B9-DEFD-3043-A798-B25959D205A9}"/>
              </a:ext>
            </a:extLst>
          </p:cNvPr>
          <p:cNvPicPr>
            <a:picLocks noChangeAspect="1"/>
          </p:cNvPicPr>
          <p:nvPr/>
        </p:nvPicPr>
        <p:blipFill rotWithShape="1">
          <a:blip r:embed="rId3"/>
          <a:srcRect t="6314"/>
          <a:stretch/>
        </p:blipFill>
        <p:spPr>
          <a:xfrm>
            <a:off x="1041842" y="3177719"/>
            <a:ext cx="4288323" cy="3018319"/>
          </a:xfrm>
          <a:prstGeom prst="rect">
            <a:avLst/>
          </a:prstGeom>
          <a:ln>
            <a:solidFill>
              <a:schemeClr val="accent1"/>
            </a:solidFill>
          </a:ln>
        </p:spPr>
      </p:pic>
    </p:spTree>
    <p:extLst>
      <p:ext uri="{BB962C8B-B14F-4D97-AF65-F5344CB8AC3E}">
        <p14:creationId xmlns:p14="http://schemas.microsoft.com/office/powerpoint/2010/main" val="572853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964763"/>
            <a:ext cx="6990040"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The Multicollinearity Problem</a:t>
            </a:r>
            <a:endParaRPr lang="en-US" sz="4100" dirty="0"/>
          </a:p>
        </p:txBody>
      </p:sp>
      <p:sp>
        <p:nvSpPr>
          <p:cNvPr id="3" name="Text 1"/>
          <p:cNvSpPr/>
          <p:nvPr/>
        </p:nvSpPr>
        <p:spPr>
          <a:xfrm>
            <a:off x="793790" y="2012871"/>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Multicollinearity occurs when there is a strong linear relation among  independent  variables.</a:t>
            </a:r>
            <a:endParaRPr lang="en-US" dirty="0"/>
          </a:p>
        </p:txBody>
      </p:sp>
      <p:sp>
        <p:nvSpPr>
          <p:cNvPr id="4" name="Text 2"/>
          <p:cNvSpPr/>
          <p:nvPr/>
        </p:nvSpPr>
        <p:spPr>
          <a:xfrm>
            <a:off x="793790" y="3069550"/>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Why It Matters</a:t>
            </a:r>
            <a:endParaRPr lang="en-US" sz="2050" dirty="0"/>
          </a:p>
        </p:txBody>
      </p:sp>
      <p:sp>
        <p:nvSpPr>
          <p:cNvPr id="5" name="Text 3"/>
          <p:cNvSpPr/>
          <p:nvPr/>
        </p:nvSpPr>
        <p:spPr>
          <a:xfrm>
            <a:off x="793790" y="3593544"/>
            <a:ext cx="6279356" cy="1905120"/>
          </a:xfrm>
          <a:prstGeom prst="rect">
            <a:avLst/>
          </a:prstGeom>
          <a:noFill/>
          <a:ln/>
        </p:spPr>
        <p:txBody>
          <a:bodyPr wrap="square" lIns="0" tIns="0" rIns="0" bIns="0" rtlCol="0" anchor="t"/>
          <a:lstStyle/>
          <a:p>
            <a:pPr marL="0" indent="0" algn="l">
              <a:lnSpc>
                <a:spcPts val="2500"/>
              </a:lnSpc>
              <a:buNone/>
            </a:pPr>
            <a:r>
              <a:rPr lang="en-US" sz="1600" dirty="0">
                <a:solidFill>
                  <a:srgbClr val="383838"/>
                </a:solidFill>
                <a:latin typeface="DM Sans" pitchFamily="34" charset="0"/>
                <a:ea typeface="DM Sans" pitchFamily="34" charset="-122"/>
                <a:cs typeface="DM Sans" pitchFamily="34" charset="-120"/>
              </a:rPr>
              <a:t>Strong linear relationships among predictors cause several problems:</a:t>
            </a:r>
          </a:p>
          <a:p>
            <a:pPr>
              <a:lnSpc>
                <a:spcPts val="2500"/>
              </a:lnSpc>
            </a:pPr>
            <a:r>
              <a:rPr lang="en-US" sz="1600" dirty="0">
                <a:solidFill>
                  <a:srgbClr val="383838"/>
                </a:solidFill>
                <a:latin typeface="DM Sans" pitchFamily="34" charset="0"/>
                <a:ea typeface="DM Sans" pitchFamily="34" charset="-122"/>
                <a:cs typeface="DM Sans" pitchFamily="34" charset="-120"/>
              </a:rPr>
              <a:t>Inflated standard errors of coefficients</a:t>
            </a:r>
          </a:p>
          <a:p>
            <a:pPr>
              <a:lnSpc>
                <a:spcPts val="2500"/>
              </a:lnSpc>
            </a:pPr>
            <a:r>
              <a:rPr lang="en-US" sz="1600" dirty="0">
                <a:solidFill>
                  <a:srgbClr val="383838"/>
                </a:solidFill>
                <a:latin typeface="DM Sans" pitchFamily="34" charset="0"/>
                <a:ea typeface="DM Sans" pitchFamily="34" charset="-122"/>
                <a:cs typeface="DM Sans" pitchFamily="34" charset="-120"/>
              </a:rPr>
              <a:t>Unstable parameter estimates</a:t>
            </a:r>
          </a:p>
          <a:p>
            <a:pPr>
              <a:lnSpc>
                <a:spcPts val="2500"/>
              </a:lnSpc>
            </a:pPr>
            <a:r>
              <a:rPr lang="en-US" sz="1600" dirty="0">
                <a:solidFill>
                  <a:srgbClr val="383838"/>
                </a:solidFill>
                <a:latin typeface="DM Sans" pitchFamily="34" charset="0"/>
                <a:ea typeface="DM Sans" pitchFamily="34" charset="-122"/>
                <a:cs typeface="DM Sans" pitchFamily="34" charset="-120"/>
              </a:rPr>
              <a:t>Difficulty interpreting individual effects</a:t>
            </a:r>
            <a:endParaRPr lang="en-US" sz="1600" dirty="0"/>
          </a:p>
          <a:p>
            <a:pPr>
              <a:lnSpc>
                <a:spcPts val="2500"/>
              </a:lnSpc>
            </a:pPr>
            <a:endParaRPr lang="en-US" sz="1600" dirty="0"/>
          </a:p>
          <a:p>
            <a:pPr>
              <a:lnSpc>
                <a:spcPts val="2500"/>
              </a:lnSpc>
            </a:pPr>
            <a:endParaRPr lang="en-US" sz="1600" dirty="0"/>
          </a:p>
          <a:p>
            <a:pPr marL="0" indent="0" algn="l">
              <a:lnSpc>
                <a:spcPts val="2500"/>
              </a:lnSpc>
              <a:buNone/>
            </a:pPr>
            <a:endParaRPr lang="en-US" sz="1600" dirty="0"/>
          </a:p>
        </p:txBody>
      </p:sp>
      <p:sp>
        <p:nvSpPr>
          <p:cNvPr id="6" name="Text 4"/>
          <p:cNvSpPr/>
          <p:nvPr/>
        </p:nvSpPr>
        <p:spPr>
          <a:xfrm>
            <a:off x="793790" y="4407218"/>
            <a:ext cx="6279356" cy="317540"/>
          </a:xfrm>
          <a:prstGeom prst="rect">
            <a:avLst/>
          </a:prstGeom>
          <a:noFill/>
          <a:ln/>
        </p:spPr>
        <p:txBody>
          <a:bodyPr wrap="none" lIns="0" tIns="0" rIns="0" bIns="0" rtlCol="0" anchor="t"/>
          <a:lstStyle/>
          <a:p>
            <a:pPr marL="342900" indent="-342900" algn="l">
              <a:lnSpc>
                <a:spcPts val="2500"/>
              </a:lnSpc>
              <a:buSzPct val="100000"/>
              <a:buChar char="•"/>
            </a:pPr>
            <a:endParaRPr lang="en-US" sz="1550" dirty="0"/>
          </a:p>
        </p:txBody>
      </p:sp>
      <p:sp>
        <p:nvSpPr>
          <p:cNvPr id="7" name="Text 5"/>
          <p:cNvSpPr/>
          <p:nvPr/>
        </p:nvSpPr>
        <p:spPr>
          <a:xfrm>
            <a:off x="793790" y="4794171"/>
            <a:ext cx="6279356" cy="317540"/>
          </a:xfrm>
          <a:prstGeom prst="rect">
            <a:avLst/>
          </a:prstGeom>
          <a:noFill/>
          <a:ln/>
        </p:spPr>
        <p:txBody>
          <a:bodyPr wrap="none" lIns="0" tIns="0" rIns="0" bIns="0" rtlCol="0" anchor="t"/>
          <a:lstStyle/>
          <a:p>
            <a:pPr marL="342900" indent="-342900" algn="l">
              <a:lnSpc>
                <a:spcPts val="2500"/>
              </a:lnSpc>
              <a:buSzPct val="100000"/>
              <a:buChar char="•"/>
            </a:pPr>
            <a:endParaRPr lang="en-US" sz="1550" dirty="0"/>
          </a:p>
        </p:txBody>
      </p:sp>
      <p:sp>
        <p:nvSpPr>
          <p:cNvPr id="8" name="Text 6"/>
          <p:cNvSpPr/>
          <p:nvPr/>
        </p:nvSpPr>
        <p:spPr>
          <a:xfrm>
            <a:off x="793790" y="5181124"/>
            <a:ext cx="6279356" cy="317540"/>
          </a:xfrm>
          <a:prstGeom prst="rect">
            <a:avLst/>
          </a:prstGeom>
          <a:noFill/>
          <a:ln/>
        </p:spPr>
        <p:txBody>
          <a:bodyPr wrap="none" lIns="0" tIns="0" rIns="0" bIns="0" rtlCol="0" anchor="t"/>
          <a:lstStyle/>
          <a:p>
            <a:pPr marL="342900" indent="-342900" algn="l">
              <a:lnSpc>
                <a:spcPts val="2500"/>
              </a:lnSpc>
              <a:buSzPct val="100000"/>
              <a:buChar char="•"/>
            </a:pPr>
            <a:endParaRPr lang="en-US" sz="1550" dirty="0"/>
          </a:p>
        </p:txBody>
      </p:sp>
      <p:sp>
        <p:nvSpPr>
          <p:cNvPr id="11" name="Text 9"/>
          <p:cNvSpPr/>
          <p:nvPr/>
        </p:nvSpPr>
        <p:spPr>
          <a:xfrm>
            <a:off x="695316" y="5836026"/>
            <a:ext cx="6279356" cy="635079"/>
          </a:xfrm>
          <a:prstGeom prst="rect">
            <a:avLst/>
          </a:prstGeom>
          <a:noFill/>
          <a:ln/>
        </p:spPr>
        <p:txBody>
          <a:bodyPr wrap="square" lIns="0" tIns="0" rIns="0" bIns="0" rtlCol="0" anchor="t"/>
          <a:lstStyle/>
          <a:p>
            <a:pPr marL="0" indent="0" algn="l">
              <a:lnSpc>
                <a:spcPts val="2500"/>
              </a:lnSpc>
              <a:buNone/>
            </a:pPr>
            <a:r>
              <a:rPr lang="en-US" sz="1600" dirty="0">
                <a:solidFill>
                  <a:srgbClr val="383838"/>
                </a:solidFill>
                <a:latin typeface="DM Sans" pitchFamily="34" charset="0"/>
                <a:ea typeface="DM Sans" pitchFamily="34" charset="-122"/>
                <a:cs typeface="DM Sans" pitchFamily="34" charset="-120"/>
              </a:rPr>
              <a:t>These issues can lead to incorrect conclusions about which variables truly matter for prediction.</a:t>
            </a:r>
            <a:endParaRPr lang="en-US" sz="1600" dirty="0"/>
          </a:p>
        </p:txBody>
      </p:sp>
      <p:sp>
        <p:nvSpPr>
          <p:cNvPr id="12" name="Text 10"/>
          <p:cNvSpPr/>
          <p:nvPr/>
        </p:nvSpPr>
        <p:spPr>
          <a:xfrm>
            <a:off x="7564874" y="3069550"/>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Detection Method</a:t>
            </a:r>
            <a:endParaRPr lang="en-US" sz="2050" dirty="0"/>
          </a:p>
        </p:txBody>
      </p:sp>
      <p:sp>
        <p:nvSpPr>
          <p:cNvPr id="13" name="Text 11"/>
          <p:cNvSpPr/>
          <p:nvPr/>
        </p:nvSpPr>
        <p:spPr>
          <a:xfrm>
            <a:off x="7564874" y="3593544"/>
            <a:ext cx="6279356" cy="635079"/>
          </a:xfrm>
          <a:prstGeom prst="rect">
            <a:avLst/>
          </a:prstGeom>
          <a:noFill/>
          <a:ln/>
        </p:spPr>
        <p:txBody>
          <a:bodyPr wrap="square" lIns="0" tIns="0" rIns="0" bIns="0" rtlCol="0" anchor="t"/>
          <a:lstStyle/>
          <a:p>
            <a:pPr marL="0" indent="0" algn="l">
              <a:lnSpc>
                <a:spcPts val="2500"/>
              </a:lnSpc>
              <a:buNone/>
            </a:pPr>
            <a:r>
              <a:rPr lang="en-US" sz="1600" dirty="0">
                <a:solidFill>
                  <a:srgbClr val="383838"/>
                </a:solidFill>
                <a:latin typeface="DM Sans" pitchFamily="34" charset="0"/>
                <a:ea typeface="DM Sans" pitchFamily="34" charset="-122"/>
                <a:cs typeface="DM Sans" pitchFamily="34" charset="-120"/>
              </a:rPr>
              <a:t>Use </a:t>
            </a:r>
            <a:r>
              <a:rPr lang="en-US" sz="1600" b="1" dirty="0">
                <a:solidFill>
                  <a:srgbClr val="383838"/>
                </a:solidFill>
                <a:latin typeface="DM Sans" pitchFamily="34" charset="0"/>
                <a:ea typeface="DM Sans" pitchFamily="34" charset="-122"/>
                <a:cs typeface="DM Sans" pitchFamily="34" charset="-120"/>
              </a:rPr>
              <a:t>Variance Inflation Factors (VIF)</a:t>
            </a:r>
            <a:r>
              <a:rPr lang="en-US" sz="1600" dirty="0">
                <a:solidFill>
                  <a:srgbClr val="383838"/>
                </a:solidFill>
                <a:latin typeface="DM Sans" pitchFamily="34" charset="0"/>
                <a:ea typeface="DM Sans" pitchFamily="34" charset="-122"/>
                <a:cs typeface="DM Sans" pitchFamily="34" charset="-120"/>
              </a:rPr>
              <a:t> to detect multicollinearity. For each predictor Xᵢ:</a:t>
            </a:r>
            <a:endParaRPr lang="en-US" sz="1600" dirty="0"/>
          </a:p>
        </p:txBody>
      </p:sp>
      <p:sp>
        <p:nvSpPr>
          <p:cNvPr id="14" name="Text 12"/>
          <p:cNvSpPr/>
          <p:nvPr/>
        </p:nvSpPr>
        <p:spPr>
          <a:xfrm>
            <a:off x="7564874" y="4407218"/>
            <a:ext cx="6279356" cy="773906"/>
          </a:xfrm>
          <a:prstGeom prst="rect">
            <a:avLst/>
          </a:prstGeom>
          <a:noFill/>
          <a:ln/>
        </p:spPr>
        <p:txBody>
          <a:bodyPr wrap="none" lIns="0" tIns="0" rIns="0" bIns="0" rtlCol="0" anchor="t"/>
          <a:lstStyle/>
          <a:p>
            <a:pPr marL="342900" indent="-342900" algn="l">
              <a:lnSpc>
                <a:spcPts val="2500"/>
              </a:lnSpc>
              <a:buSzPct val="100000"/>
              <a:buFont typeface="+mj-lt"/>
              <a:buAutoNum type="arabicPeriod"/>
            </a:pPr>
            <a:r>
              <a:rPr lang="en-US" sz="1550" dirty="0">
                <a:solidFill>
                  <a:srgbClr val="383838"/>
                </a:solidFill>
                <a:latin typeface="DM Sans" pitchFamily="34" charset="0"/>
                <a:ea typeface="DM Sans" pitchFamily="34" charset="-122"/>
                <a:cs typeface="DM Sans" pitchFamily="34" charset="-120"/>
              </a:rPr>
              <a:t>Regress Xᵢ on all other predictors</a:t>
            </a:r>
          </a:p>
          <a:p>
            <a:pPr marL="342900" indent="-342900">
              <a:lnSpc>
                <a:spcPts val="2500"/>
              </a:lnSpc>
              <a:buSzPct val="100000"/>
              <a:buFont typeface="+mj-lt"/>
              <a:buAutoNum type="arabicPeriod"/>
            </a:pPr>
            <a:r>
              <a:rPr lang="en-US" sz="1550" dirty="0">
                <a:solidFill>
                  <a:srgbClr val="383838"/>
                </a:solidFill>
                <a:latin typeface="DM Sans" pitchFamily="34" charset="0"/>
                <a:ea typeface="DM Sans" pitchFamily="34" charset="-122"/>
                <a:cs typeface="DM Sans" pitchFamily="34" charset="-120"/>
              </a:rPr>
              <a:t>Calculate R² from this regression</a:t>
            </a:r>
          </a:p>
          <a:p>
            <a:pPr marL="342900" indent="-342900">
              <a:lnSpc>
                <a:spcPts val="2500"/>
              </a:lnSpc>
              <a:buSzPct val="100000"/>
              <a:buFont typeface="+mj-lt"/>
              <a:buAutoNum type="arabicPeriod"/>
            </a:pPr>
            <a:r>
              <a:rPr lang="en-US" sz="1550" dirty="0">
                <a:solidFill>
                  <a:srgbClr val="383838"/>
                </a:solidFill>
                <a:latin typeface="DM Sans" pitchFamily="34" charset="0"/>
                <a:ea typeface="DM Sans" pitchFamily="34" charset="-122"/>
                <a:cs typeface="DM Sans" pitchFamily="34" charset="-120"/>
              </a:rPr>
              <a:t>Compute VIF = 1/(1-R²)</a:t>
            </a:r>
            <a:endParaRPr lang="en-US" sz="1550" dirty="0"/>
          </a:p>
          <a:p>
            <a:pPr marL="342900" indent="-342900">
              <a:lnSpc>
                <a:spcPts val="2500"/>
              </a:lnSpc>
              <a:buSzPct val="100000"/>
              <a:buFont typeface="+mj-lt"/>
              <a:buAutoNum type="arabicPeriod"/>
            </a:pPr>
            <a:endParaRPr lang="en-US" sz="1550" dirty="0"/>
          </a:p>
          <a:p>
            <a:pPr marL="342900" indent="-342900" algn="l">
              <a:lnSpc>
                <a:spcPts val="2500"/>
              </a:lnSpc>
              <a:buSzPct val="100000"/>
              <a:buFont typeface="+mj-lt"/>
              <a:buAutoNum type="arabicPeriod"/>
            </a:pPr>
            <a:endParaRPr lang="en-US" sz="1550" dirty="0"/>
          </a:p>
        </p:txBody>
      </p:sp>
      <p:sp>
        <p:nvSpPr>
          <p:cNvPr id="15" name="Text 13"/>
          <p:cNvSpPr/>
          <p:nvPr/>
        </p:nvSpPr>
        <p:spPr>
          <a:xfrm>
            <a:off x="7564874" y="4794171"/>
            <a:ext cx="6279356"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2"/>
            </a:pPr>
            <a:endParaRPr lang="en-US" sz="1550" dirty="0"/>
          </a:p>
        </p:txBody>
      </p:sp>
      <p:sp>
        <p:nvSpPr>
          <p:cNvPr id="16" name="Text 14"/>
          <p:cNvSpPr/>
          <p:nvPr/>
        </p:nvSpPr>
        <p:spPr>
          <a:xfrm>
            <a:off x="7564874" y="5181124"/>
            <a:ext cx="6279356"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3"/>
            </a:pPr>
            <a:endParaRPr lang="en-US" sz="1550" dirty="0"/>
          </a:p>
        </p:txBody>
      </p:sp>
      <p:sp>
        <p:nvSpPr>
          <p:cNvPr id="17" name="Text 15"/>
          <p:cNvSpPr/>
          <p:nvPr/>
        </p:nvSpPr>
        <p:spPr>
          <a:xfrm>
            <a:off x="7564874" y="5677257"/>
            <a:ext cx="6279356" cy="952619"/>
          </a:xfrm>
          <a:prstGeom prst="rect">
            <a:avLst/>
          </a:prstGeom>
          <a:noFill/>
          <a:ln/>
        </p:spPr>
        <p:txBody>
          <a:bodyPr wrap="square" lIns="0" tIns="0" rIns="0" bIns="0" rtlCol="0" anchor="t"/>
          <a:lstStyle/>
          <a:p>
            <a:pPr marL="0" indent="0" algn="l">
              <a:lnSpc>
                <a:spcPts val="2500"/>
              </a:lnSpc>
              <a:buNone/>
            </a:pPr>
            <a:r>
              <a:rPr lang="en-US" sz="1600" b="1" dirty="0">
                <a:solidFill>
                  <a:srgbClr val="383838"/>
                </a:solidFill>
                <a:latin typeface="DM Sans" pitchFamily="34" charset="0"/>
                <a:ea typeface="DM Sans" pitchFamily="34" charset="-122"/>
                <a:cs typeface="DM Sans" pitchFamily="34" charset="-120"/>
              </a:rPr>
              <a:t>Decision Rule:</a:t>
            </a:r>
            <a:r>
              <a:rPr lang="en-US" sz="1600" dirty="0">
                <a:solidFill>
                  <a:srgbClr val="383838"/>
                </a:solidFill>
                <a:latin typeface="DM Sans" pitchFamily="34" charset="0"/>
                <a:ea typeface="DM Sans" pitchFamily="34" charset="-122"/>
                <a:cs typeface="DM Sans" pitchFamily="34" charset="-120"/>
              </a:rPr>
              <a:t> Any VIF &gt; 5 indicates problematic multicollinearity requiring attention through variable removal, combination, or transformation.</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877253"/>
            <a:ext cx="4428411" cy="553403"/>
          </a:xfrm>
          <a:prstGeom prst="rect">
            <a:avLst/>
          </a:prstGeom>
          <a:noFill/>
          <a:ln/>
        </p:spPr>
        <p:txBody>
          <a:bodyPr wrap="none" lIns="0" tIns="0" rIns="0" bIns="0" rtlCol="0" anchor="t"/>
          <a:lstStyle/>
          <a:p>
            <a:pPr marL="0" indent="0" algn="l">
              <a:lnSpc>
                <a:spcPts val="4350"/>
              </a:lnSpc>
              <a:buNone/>
            </a:pPr>
            <a:r>
              <a:rPr lang="en-US" sz="3450" dirty="0">
                <a:solidFill>
                  <a:srgbClr val="020202"/>
                </a:solidFill>
                <a:latin typeface="PT Serif" pitchFamily="34" charset="0"/>
                <a:ea typeface="PT Serif" pitchFamily="34" charset="-122"/>
                <a:cs typeface="PT Serif" pitchFamily="34" charset="-120"/>
              </a:rPr>
              <a:t>Key Takeaways</a:t>
            </a:r>
            <a:endParaRPr lang="en-US" sz="3450" dirty="0"/>
          </a:p>
        </p:txBody>
      </p:sp>
      <p:sp>
        <p:nvSpPr>
          <p:cNvPr id="4" name="Text 2"/>
          <p:cNvSpPr/>
          <p:nvPr/>
        </p:nvSpPr>
        <p:spPr>
          <a:xfrm>
            <a:off x="793790" y="2700576"/>
            <a:ext cx="168593" cy="210860"/>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PT Serif Light" pitchFamily="34" charset="0"/>
                <a:ea typeface="PT Serif Light" pitchFamily="34" charset="-122"/>
                <a:cs typeface="PT Serif Light" pitchFamily="34" charset="-120"/>
              </a:rPr>
              <a:t>01</a:t>
            </a:r>
            <a:endParaRPr lang="en-US" sz="1300" dirty="0"/>
          </a:p>
        </p:txBody>
      </p:sp>
      <p:sp>
        <p:nvSpPr>
          <p:cNvPr id="5" name="Shape 3"/>
          <p:cNvSpPr/>
          <p:nvPr/>
        </p:nvSpPr>
        <p:spPr>
          <a:xfrm>
            <a:off x="793790" y="2964418"/>
            <a:ext cx="6437114" cy="22860"/>
          </a:xfrm>
          <a:prstGeom prst="rect">
            <a:avLst/>
          </a:prstGeom>
          <a:solidFill>
            <a:srgbClr val="E04F00"/>
          </a:solidFill>
          <a:ln/>
        </p:spPr>
      </p:sp>
      <p:sp>
        <p:nvSpPr>
          <p:cNvPr id="6" name="Text 4"/>
          <p:cNvSpPr/>
          <p:nvPr/>
        </p:nvSpPr>
        <p:spPr>
          <a:xfrm>
            <a:off x="793790" y="3094434"/>
            <a:ext cx="5467112" cy="276820"/>
          </a:xfrm>
          <a:prstGeom prst="rect">
            <a:avLst/>
          </a:prstGeom>
          <a:noFill/>
          <a:ln/>
        </p:spPr>
        <p:txBody>
          <a:bodyPr wrap="none" lIns="0" tIns="0" rIns="0" bIns="0" rtlCol="0" anchor="t"/>
          <a:lstStyle/>
          <a:p>
            <a:pPr marL="0" indent="0" algn="l">
              <a:lnSpc>
                <a:spcPts val="2150"/>
              </a:lnSpc>
              <a:buNone/>
            </a:pPr>
            <a:r>
              <a:rPr lang="en-US" sz="1700" dirty="0">
                <a:solidFill>
                  <a:srgbClr val="383838"/>
                </a:solidFill>
                <a:latin typeface="PT Serif" pitchFamily="34" charset="0"/>
                <a:ea typeface="PT Serif" pitchFamily="34" charset="-122"/>
                <a:cs typeface="PT Serif" pitchFamily="34" charset="-120"/>
              </a:rPr>
              <a:t>Choose logistic regression when your outcome is binary</a:t>
            </a:r>
            <a:endParaRPr lang="en-US" sz="1700" dirty="0"/>
          </a:p>
        </p:txBody>
      </p:sp>
      <p:sp>
        <p:nvSpPr>
          <p:cNvPr id="7" name="Text 5"/>
          <p:cNvSpPr/>
          <p:nvPr/>
        </p:nvSpPr>
        <p:spPr>
          <a:xfrm>
            <a:off x="793790" y="3472458"/>
            <a:ext cx="6437114" cy="539829"/>
          </a:xfrm>
          <a:prstGeom prst="rect">
            <a:avLst/>
          </a:prstGeom>
          <a:noFill/>
          <a:ln/>
        </p:spPr>
        <p:txBody>
          <a:bodyPr wrap="square" lIns="0" tIns="0" rIns="0" bIns="0" rtlCol="0" anchor="t"/>
          <a:lstStyle/>
          <a:p>
            <a:pPr marL="0" indent="0" algn="l">
              <a:lnSpc>
                <a:spcPts val="2100"/>
              </a:lnSpc>
              <a:buNone/>
            </a:pPr>
            <a:r>
              <a:rPr lang="en-US" sz="1600" dirty="0">
                <a:solidFill>
                  <a:srgbClr val="383838"/>
                </a:solidFill>
                <a:latin typeface="DM Sans" pitchFamily="34" charset="0"/>
                <a:ea typeface="DM Sans" pitchFamily="34" charset="-122"/>
                <a:cs typeface="DM Sans" pitchFamily="34" charset="-120"/>
              </a:rPr>
              <a:t>Linear regression fails with binary outcomes because it cannot constrain predictions between 0 and 1.</a:t>
            </a:r>
            <a:endParaRPr lang="en-US" sz="1600" dirty="0"/>
          </a:p>
        </p:txBody>
      </p:sp>
      <p:sp>
        <p:nvSpPr>
          <p:cNvPr id="8" name="Text 6"/>
          <p:cNvSpPr/>
          <p:nvPr/>
        </p:nvSpPr>
        <p:spPr>
          <a:xfrm>
            <a:off x="7399496" y="2700576"/>
            <a:ext cx="168593" cy="210860"/>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PT Serif Light" pitchFamily="34" charset="0"/>
                <a:ea typeface="PT Serif Light" pitchFamily="34" charset="-122"/>
                <a:cs typeface="PT Serif Light" pitchFamily="34" charset="-120"/>
              </a:rPr>
              <a:t>02</a:t>
            </a:r>
            <a:endParaRPr lang="en-US" sz="1300" dirty="0"/>
          </a:p>
        </p:txBody>
      </p:sp>
      <p:sp>
        <p:nvSpPr>
          <p:cNvPr id="9" name="Shape 7"/>
          <p:cNvSpPr/>
          <p:nvPr/>
        </p:nvSpPr>
        <p:spPr>
          <a:xfrm>
            <a:off x="7399496" y="2964418"/>
            <a:ext cx="6437114" cy="22860"/>
          </a:xfrm>
          <a:prstGeom prst="rect">
            <a:avLst/>
          </a:prstGeom>
          <a:solidFill>
            <a:srgbClr val="E04F00"/>
          </a:solidFill>
          <a:ln/>
        </p:spPr>
      </p:sp>
      <p:sp>
        <p:nvSpPr>
          <p:cNvPr id="10" name="Text 8"/>
          <p:cNvSpPr/>
          <p:nvPr/>
        </p:nvSpPr>
        <p:spPr>
          <a:xfrm>
            <a:off x="7399496" y="3094434"/>
            <a:ext cx="3440787" cy="276820"/>
          </a:xfrm>
          <a:prstGeom prst="rect">
            <a:avLst/>
          </a:prstGeom>
          <a:noFill/>
          <a:ln/>
        </p:spPr>
        <p:txBody>
          <a:bodyPr wrap="none" lIns="0" tIns="0" rIns="0" bIns="0" rtlCol="0" anchor="t"/>
          <a:lstStyle/>
          <a:p>
            <a:pPr marL="0" indent="0" algn="l">
              <a:lnSpc>
                <a:spcPts val="2150"/>
              </a:lnSpc>
              <a:buNone/>
            </a:pPr>
            <a:r>
              <a:rPr lang="en-US" sz="1700" dirty="0">
                <a:solidFill>
                  <a:srgbClr val="383838"/>
                </a:solidFill>
                <a:latin typeface="PT Serif" pitchFamily="34" charset="0"/>
                <a:ea typeface="PT Serif" pitchFamily="34" charset="-122"/>
                <a:cs typeface="PT Serif" pitchFamily="34" charset="-120"/>
              </a:rPr>
              <a:t>The log-odds transformation is key</a:t>
            </a:r>
            <a:endParaRPr lang="en-US" sz="1700" dirty="0"/>
          </a:p>
        </p:txBody>
      </p:sp>
      <p:sp>
        <p:nvSpPr>
          <p:cNvPr id="11" name="Text 9"/>
          <p:cNvSpPr/>
          <p:nvPr/>
        </p:nvSpPr>
        <p:spPr>
          <a:xfrm>
            <a:off x="7399496" y="3472458"/>
            <a:ext cx="6437114" cy="539829"/>
          </a:xfrm>
          <a:prstGeom prst="rect">
            <a:avLst/>
          </a:prstGeom>
          <a:noFill/>
          <a:ln/>
        </p:spPr>
        <p:txBody>
          <a:bodyPr wrap="square" lIns="0" tIns="0" rIns="0" bIns="0" rtlCol="0" anchor="t"/>
          <a:lstStyle/>
          <a:p>
            <a:pPr marL="0" indent="0" algn="l">
              <a:lnSpc>
                <a:spcPts val="2100"/>
              </a:lnSpc>
              <a:buNone/>
            </a:pPr>
            <a:r>
              <a:rPr lang="en-US" sz="1600" dirty="0">
                <a:solidFill>
                  <a:srgbClr val="383838"/>
                </a:solidFill>
                <a:latin typeface="DM Sans" pitchFamily="34" charset="0"/>
                <a:ea typeface="DM Sans" pitchFamily="34" charset="-122"/>
                <a:cs typeface="DM Sans" pitchFamily="34" charset="-120"/>
              </a:rPr>
              <a:t>Converting bounded probabilities to unbounded log-odds enables linear modeling while preserving probability interpretation.</a:t>
            </a:r>
            <a:endParaRPr lang="en-US" sz="1600" dirty="0"/>
          </a:p>
        </p:txBody>
      </p:sp>
      <p:sp>
        <p:nvSpPr>
          <p:cNvPr id="12" name="Text 10"/>
          <p:cNvSpPr/>
          <p:nvPr/>
        </p:nvSpPr>
        <p:spPr>
          <a:xfrm>
            <a:off x="793790" y="4307324"/>
            <a:ext cx="168593" cy="210860"/>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PT Serif Light" pitchFamily="34" charset="0"/>
                <a:ea typeface="PT Serif Light" pitchFamily="34" charset="-122"/>
                <a:cs typeface="PT Serif Light" pitchFamily="34" charset="-120"/>
              </a:rPr>
              <a:t>03</a:t>
            </a:r>
            <a:endParaRPr lang="en-US" sz="1300" dirty="0"/>
          </a:p>
        </p:txBody>
      </p:sp>
      <p:sp>
        <p:nvSpPr>
          <p:cNvPr id="13" name="Shape 11"/>
          <p:cNvSpPr/>
          <p:nvPr/>
        </p:nvSpPr>
        <p:spPr>
          <a:xfrm>
            <a:off x="793790" y="4571167"/>
            <a:ext cx="6437114" cy="22860"/>
          </a:xfrm>
          <a:prstGeom prst="rect">
            <a:avLst/>
          </a:prstGeom>
          <a:solidFill>
            <a:srgbClr val="E04F00"/>
          </a:solidFill>
          <a:ln/>
        </p:spPr>
      </p:sp>
      <p:sp>
        <p:nvSpPr>
          <p:cNvPr id="14" name="Text 12"/>
          <p:cNvSpPr/>
          <p:nvPr/>
        </p:nvSpPr>
        <p:spPr>
          <a:xfrm>
            <a:off x="793790" y="4701183"/>
            <a:ext cx="3869650" cy="276820"/>
          </a:xfrm>
          <a:prstGeom prst="rect">
            <a:avLst/>
          </a:prstGeom>
          <a:noFill/>
          <a:ln/>
        </p:spPr>
        <p:txBody>
          <a:bodyPr wrap="none" lIns="0" tIns="0" rIns="0" bIns="0" rtlCol="0" anchor="t"/>
          <a:lstStyle/>
          <a:p>
            <a:pPr marL="0" indent="0" algn="l">
              <a:lnSpc>
                <a:spcPts val="2150"/>
              </a:lnSpc>
              <a:buNone/>
            </a:pPr>
            <a:r>
              <a:rPr lang="en-US" sz="1700" dirty="0">
                <a:solidFill>
                  <a:srgbClr val="383838"/>
                </a:solidFill>
                <a:latin typeface="PT Serif" pitchFamily="34" charset="0"/>
                <a:ea typeface="PT Serif" pitchFamily="34" charset="-122"/>
                <a:cs typeface="PT Serif" pitchFamily="34" charset="-120"/>
              </a:rPr>
              <a:t>Use Wald's test for variable significance</a:t>
            </a:r>
            <a:endParaRPr lang="en-US" sz="1700" dirty="0"/>
          </a:p>
        </p:txBody>
      </p:sp>
      <p:sp>
        <p:nvSpPr>
          <p:cNvPr id="15" name="Text 13"/>
          <p:cNvSpPr/>
          <p:nvPr/>
        </p:nvSpPr>
        <p:spPr>
          <a:xfrm>
            <a:off x="793790" y="5079206"/>
            <a:ext cx="6437114" cy="539829"/>
          </a:xfrm>
          <a:prstGeom prst="rect">
            <a:avLst/>
          </a:prstGeom>
          <a:noFill/>
          <a:ln/>
        </p:spPr>
        <p:txBody>
          <a:bodyPr wrap="square" lIns="0" tIns="0" rIns="0" bIns="0" rtlCol="0" anchor="t"/>
          <a:lstStyle/>
          <a:p>
            <a:pPr marL="0" indent="0" algn="l">
              <a:lnSpc>
                <a:spcPts val="2100"/>
              </a:lnSpc>
              <a:buNone/>
            </a:pPr>
            <a:r>
              <a:rPr lang="en-US" sz="1600" dirty="0">
                <a:solidFill>
                  <a:srgbClr val="383838"/>
                </a:solidFill>
                <a:latin typeface="DM Sans" pitchFamily="34" charset="0"/>
                <a:ea typeface="DM Sans" pitchFamily="34" charset="-122"/>
                <a:cs typeface="DM Sans" pitchFamily="34" charset="-120"/>
              </a:rPr>
              <a:t>Test each coefficient individually and remove non-significant predictors to create a parsimonious, interpretable model.</a:t>
            </a:r>
            <a:endParaRPr lang="en-US" sz="1600" dirty="0"/>
          </a:p>
        </p:txBody>
      </p:sp>
      <p:sp>
        <p:nvSpPr>
          <p:cNvPr id="16" name="Text 14"/>
          <p:cNvSpPr/>
          <p:nvPr/>
        </p:nvSpPr>
        <p:spPr>
          <a:xfrm>
            <a:off x="7399496" y="4307324"/>
            <a:ext cx="168593" cy="210860"/>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PT Serif Light" pitchFamily="34" charset="0"/>
                <a:ea typeface="PT Serif Light" pitchFamily="34" charset="-122"/>
                <a:cs typeface="PT Serif Light" pitchFamily="34" charset="-120"/>
              </a:rPr>
              <a:t>04</a:t>
            </a:r>
            <a:endParaRPr lang="en-US" sz="1300" dirty="0"/>
          </a:p>
        </p:txBody>
      </p:sp>
      <p:sp>
        <p:nvSpPr>
          <p:cNvPr id="17" name="Shape 15"/>
          <p:cNvSpPr/>
          <p:nvPr/>
        </p:nvSpPr>
        <p:spPr>
          <a:xfrm>
            <a:off x="7399496" y="4571167"/>
            <a:ext cx="6437114" cy="22860"/>
          </a:xfrm>
          <a:prstGeom prst="rect">
            <a:avLst/>
          </a:prstGeom>
          <a:solidFill>
            <a:srgbClr val="E04F00"/>
          </a:solidFill>
          <a:ln/>
        </p:spPr>
      </p:sp>
      <p:sp>
        <p:nvSpPr>
          <p:cNvPr id="18" name="Text 16"/>
          <p:cNvSpPr/>
          <p:nvPr/>
        </p:nvSpPr>
        <p:spPr>
          <a:xfrm>
            <a:off x="7399496" y="4701183"/>
            <a:ext cx="3195876" cy="276820"/>
          </a:xfrm>
          <a:prstGeom prst="rect">
            <a:avLst/>
          </a:prstGeom>
          <a:noFill/>
          <a:ln/>
        </p:spPr>
        <p:txBody>
          <a:bodyPr wrap="none" lIns="0" tIns="0" rIns="0" bIns="0" rtlCol="0" anchor="t"/>
          <a:lstStyle/>
          <a:p>
            <a:pPr marL="0" indent="0" algn="l">
              <a:lnSpc>
                <a:spcPts val="2150"/>
              </a:lnSpc>
              <a:buNone/>
            </a:pPr>
            <a:r>
              <a:rPr lang="en-US" sz="1700" dirty="0">
                <a:solidFill>
                  <a:srgbClr val="383838"/>
                </a:solidFill>
                <a:latin typeface="PT Serif" pitchFamily="34" charset="0"/>
                <a:ea typeface="PT Serif" pitchFamily="34" charset="-122"/>
                <a:cs typeface="PT Serif" pitchFamily="34" charset="-120"/>
              </a:rPr>
              <a:t>Cut-off selection balances errors</a:t>
            </a:r>
            <a:endParaRPr lang="en-US" sz="1700" dirty="0"/>
          </a:p>
        </p:txBody>
      </p:sp>
      <p:sp>
        <p:nvSpPr>
          <p:cNvPr id="19" name="Text 17"/>
          <p:cNvSpPr/>
          <p:nvPr/>
        </p:nvSpPr>
        <p:spPr>
          <a:xfrm>
            <a:off x="7399496" y="5079206"/>
            <a:ext cx="6437114" cy="539829"/>
          </a:xfrm>
          <a:prstGeom prst="rect">
            <a:avLst/>
          </a:prstGeom>
          <a:noFill/>
          <a:ln/>
        </p:spPr>
        <p:txBody>
          <a:bodyPr wrap="square" lIns="0" tIns="0" rIns="0" bIns="0" rtlCol="0" anchor="t"/>
          <a:lstStyle/>
          <a:p>
            <a:pPr marL="0" indent="0" algn="l">
              <a:lnSpc>
                <a:spcPts val="2100"/>
              </a:lnSpc>
              <a:buNone/>
            </a:pPr>
            <a:r>
              <a:rPr lang="en-US" sz="1600" dirty="0">
                <a:solidFill>
                  <a:srgbClr val="383838"/>
                </a:solidFill>
                <a:latin typeface="DM Sans" pitchFamily="34" charset="0"/>
                <a:ea typeface="DM Sans" pitchFamily="34" charset="-122"/>
                <a:cs typeface="DM Sans" pitchFamily="34" charset="-120"/>
              </a:rPr>
              <a:t>Different cut-offs yield different sensitivity-specificity trade-offs. Choose based on the relative costs of false positives versus false negatives in your context.</a:t>
            </a:r>
            <a:endParaRPr lang="en-US" sz="1600" dirty="0"/>
          </a:p>
        </p:txBody>
      </p:sp>
      <p:sp>
        <p:nvSpPr>
          <p:cNvPr id="20" name="Text 18"/>
          <p:cNvSpPr/>
          <p:nvPr/>
        </p:nvSpPr>
        <p:spPr>
          <a:xfrm>
            <a:off x="793790" y="5914073"/>
            <a:ext cx="168593" cy="210860"/>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PT Serif Light" pitchFamily="34" charset="0"/>
                <a:ea typeface="PT Serif Light" pitchFamily="34" charset="-122"/>
                <a:cs typeface="PT Serif Light" pitchFamily="34" charset="-120"/>
              </a:rPr>
              <a:t>05</a:t>
            </a:r>
            <a:endParaRPr lang="en-US" sz="1300" dirty="0"/>
          </a:p>
        </p:txBody>
      </p:sp>
      <p:sp>
        <p:nvSpPr>
          <p:cNvPr id="21" name="Shape 19"/>
          <p:cNvSpPr/>
          <p:nvPr/>
        </p:nvSpPr>
        <p:spPr>
          <a:xfrm>
            <a:off x="793790" y="6177915"/>
            <a:ext cx="6437114" cy="22860"/>
          </a:xfrm>
          <a:prstGeom prst="rect">
            <a:avLst/>
          </a:prstGeom>
          <a:solidFill>
            <a:srgbClr val="E04F00"/>
          </a:solidFill>
          <a:ln/>
        </p:spPr>
      </p:sp>
      <p:sp>
        <p:nvSpPr>
          <p:cNvPr id="22" name="Text 20"/>
          <p:cNvSpPr/>
          <p:nvPr/>
        </p:nvSpPr>
        <p:spPr>
          <a:xfrm>
            <a:off x="793790" y="6307931"/>
            <a:ext cx="4036814" cy="276820"/>
          </a:xfrm>
          <a:prstGeom prst="rect">
            <a:avLst/>
          </a:prstGeom>
          <a:noFill/>
          <a:ln/>
        </p:spPr>
        <p:txBody>
          <a:bodyPr wrap="none" lIns="0" tIns="0" rIns="0" bIns="0" rtlCol="0" anchor="t"/>
          <a:lstStyle/>
          <a:p>
            <a:pPr marL="0" indent="0" algn="l">
              <a:lnSpc>
                <a:spcPts val="2150"/>
              </a:lnSpc>
              <a:buNone/>
            </a:pPr>
            <a:r>
              <a:rPr lang="en-US" sz="1700" dirty="0">
                <a:solidFill>
                  <a:srgbClr val="383838"/>
                </a:solidFill>
                <a:latin typeface="PT Serif" pitchFamily="34" charset="0"/>
                <a:ea typeface="PT Serif" pitchFamily="34" charset="-122"/>
                <a:cs typeface="PT Serif" pitchFamily="34" charset="-120"/>
              </a:rPr>
              <a:t>ROC curve measures overall performance</a:t>
            </a:r>
            <a:endParaRPr lang="en-US" sz="1700" dirty="0"/>
          </a:p>
        </p:txBody>
      </p:sp>
      <p:sp>
        <p:nvSpPr>
          <p:cNvPr id="23" name="Text 21"/>
          <p:cNvSpPr/>
          <p:nvPr/>
        </p:nvSpPr>
        <p:spPr>
          <a:xfrm>
            <a:off x="793790" y="6685955"/>
            <a:ext cx="6437114" cy="539829"/>
          </a:xfrm>
          <a:prstGeom prst="rect">
            <a:avLst/>
          </a:prstGeom>
          <a:noFill/>
          <a:ln/>
        </p:spPr>
        <p:txBody>
          <a:bodyPr wrap="square" lIns="0" tIns="0" rIns="0" bIns="0" rtlCol="0" anchor="t"/>
          <a:lstStyle/>
          <a:p>
            <a:pPr marL="0" indent="0" algn="l">
              <a:lnSpc>
                <a:spcPts val="2100"/>
              </a:lnSpc>
              <a:buNone/>
            </a:pPr>
            <a:r>
              <a:rPr lang="en-US" sz="1300" dirty="0">
                <a:solidFill>
                  <a:srgbClr val="383838"/>
                </a:solidFill>
                <a:latin typeface="DM Sans" pitchFamily="34" charset="0"/>
                <a:ea typeface="DM Sans" pitchFamily="34" charset="-122"/>
                <a:cs typeface="DM Sans" pitchFamily="34" charset="-120"/>
              </a:rPr>
              <a:t>T</a:t>
            </a:r>
            <a:r>
              <a:rPr lang="en-US" sz="1600" dirty="0">
                <a:solidFill>
                  <a:srgbClr val="383838"/>
                </a:solidFill>
                <a:latin typeface="DM Sans" pitchFamily="34" charset="0"/>
                <a:ea typeface="DM Sans" pitchFamily="34" charset="-122"/>
                <a:cs typeface="DM Sans" pitchFamily="34" charset="-120"/>
              </a:rPr>
              <a:t>he area under the ROC curve provides a single metric of model discrimination ability across all cut-offs. AUC above 0.8 indicates good predictive power.</a:t>
            </a:r>
            <a:endParaRPr lang="en-US" sz="1600" dirty="0"/>
          </a:p>
        </p:txBody>
      </p:sp>
      <p:sp>
        <p:nvSpPr>
          <p:cNvPr id="24" name="Text 22"/>
          <p:cNvSpPr/>
          <p:nvPr/>
        </p:nvSpPr>
        <p:spPr>
          <a:xfrm>
            <a:off x="7399496" y="5914073"/>
            <a:ext cx="168593" cy="210860"/>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PT Serif Light" pitchFamily="34" charset="0"/>
                <a:ea typeface="PT Serif Light" pitchFamily="34" charset="-122"/>
                <a:cs typeface="PT Serif Light" pitchFamily="34" charset="-120"/>
              </a:rPr>
              <a:t>06</a:t>
            </a:r>
            <a:endParaRPr lang="en-US" sz="1300" dirty="0"/>
          </a:p>
        </p:txBody>
      </p:sp>
      <p:sp>
        <p:nvSpPr>
          <p:cNvPr id="25" name="Shape 23"/>
          <p:cNvSpPr/>
          <p:nvPr/>
        </p:nvSpPr>
        <p:spPr>
          <a:xfrm>
            <a:off x="7399496" y="6177915"/>
            <a:ext cx="6437114" cy="22860"/>
          </a:xfrm>
          <a:prstGeom prst="rect">
            <a:avLst/>
          </a:prstGeom>
          <a:solidFill>
            <a:srgbClr val="E04F00"/>
          </a:solidFill>
          <a:ln/>
        </p:spPr>
      </p:sp>
      <p:sp>
        <p:nvSpPr>
          <p:cNvPr id="26" name="Text 24"/>
          <p:cNvSpPr/>
          <p:nvPr/>
        </p:nvSpPr>
        <p:spPr>
          <a:xfrm>
            <a:off x="7399496" y="6307931"/>
            <a:ext cx="3355300" cy="276820"/>
          </a:xfrm>
          <a:prstGeom prst="rect">
            <a:avLst/>
          </a:prstGeom>
          <a:noFill/>
          <a:ln/>
        </p:spPr>
        <p:txBody>
          <a:bodyPr wrap="none" lIns="0" tIns="0" rIns="0" bIns="0" rtlCol="0" anchor="t"/>
          <a:lstStyle/>
          <a:p>
            <a:pPr marL="0" indent="0" algn="l">
              <a:lnSpc>
                <a:spcPts val="2150"/>
              </a:lnSpc>
              <a:buNone/>
            </a:pPr>
            <a:r>
              <a:rPr lang="en-US" sz="1700" dirty="0">
                <a:solidFill>
                  <a:srgbClr val="383838"/>
                </a:solidFill>
                <a:latin typeface="PT Serif" pitchFamily="34" charset="0"/>
                <a:ea typeface="PT Serif" pitchFamily="34" charset="-122"/>
                <a:cs typeface="PT Serif" pitchFamily="34" charset="-120"/>
              </a:rPr>
              <a:t>Always check for multicollinearity</a:t>
            </a:r>
            <a:endParaRPr lang="en-US" sz="1700" dirty="0"/>
          </a:p>
        </p:txBody>
      </p:sp>
      <p:sp>
        <p:nvSpPr>
          <p:cNvPr id="27" name="Text 25"/>
          <p:cNvSpPr/>
          <p:nvPr/>
        </p:nvSpPr>
        <p:spPr>
          <a:xfrm>
            <a:off x="7399496" y="6685955"/>
            <a:ext cx="6437114" cy="539829"/>
          </a:xfrm>
          <a:prstGeom prst="rect">
            <a:avLst/>
          </a:prstGeom>
          <a:noFill/>
          <a:ln/>
        </p:spPr>
        <p:txBody>
          <a:bodyPr wrap="square" lIns="0" tIns="0" rIns="0" bIns="0" rtlCol="0" anchor="t"/>
          <a:lstStyle/>
          <a:p>
            <a:pPr marL="0" indent="0" algn="l">
              <a:lnSpc>
                <a:spcPts val="2100"/>
              </a:lnSpc>
              <a:buNone/>
            </a:pPr>
            <a:r>
              <a:rPr lang="en-US" sz="1600" dirty="0">
                <a:solidFill>
                  <a:srgbClr val="383838"/>
                </a:solidFill>
                <a:latin typeface="DM Sans" pitchFamily="34" charset="0"/>
                <a:ea typeface="DM Sans" pitchFamily="34" charset="-122"/>
                <a:cs typeface="DM Sans" pitchFamily="34" charset="-120"/>
              </a:rPr>
              <a:t>Use VIF to detect correlated predictors. Values above 5 require attention to ensure stable, interpretable results.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2306</Words>
  <Application>Microsoft Macintosh PowerPoint</Application>
  <PresentationFormat>Custom</PresentationFormat>
  <Paragraphs>413</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PT Serif</vt:lpstr>
      <vt:lpstr>DM Sans</vt:lpstr>
      <vt:lpstr>Calibri</vt:lpstr>
      <vt:lpstr>Cambria Math</vt:lpstr>
      <vt:lpstr>Arial</vt:lpstr>
      <vt:lpstr>PT Serif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Vinayak Deshpande</cp:lastModifiedBy>
  <cp:revision>12</cp:revision>
  <dcterms:created xsi:type="dcterms:W3CDTF">2025-10-11T13:15:13Z</dcterms:created>
  <dcterms:modified xsi:type="dcterms:W3CDTF">2025-10-16T02:46:47Z</dcterms:modified>
</cp:coreProperties>
</file>