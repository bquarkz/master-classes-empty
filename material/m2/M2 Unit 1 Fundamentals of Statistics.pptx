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4630400" cy="8229600"/>
  <p:notesSz cx="8229600" cy="14630400"/>
  <p:embeddedFontLst>
    <p:embeddedFont>
      <p:font typeface="DM Sans" pitchFamily="2" charset="77"/>
      <p:regular r:id="rId20"/>
    </p:embeddedFont>
    <p:embeddedFont>
      <p:font typeface="PT Serif" panose="020A0603040505020204" pitchFamily="18" charset="77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2928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085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86905"/>
            <a:ext cx="12306181" cy="130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Fundamentals of Statistics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4089449"/>
            <a:ext cx="9933742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Foundation for Data Analysis, AI &amp; Machine Learning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7162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215622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11266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685574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</a:rPr>
              <a:t>What is Statistics?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428548" y="215622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51126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7428548" y="2685574"/>
            <a:ext cx="383321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</a:rPr>
              <a:t>Why Statistics for AI /ML?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93790" y="34544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380952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793790" y="3983831"/>
            <a:ext cx="392668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</a:rPr>
              <a:t>Sources of Data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428548" y="34544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380952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7428548" y="3983831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</a:rPr>
              <a:t>Types of Data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93790" y="475273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107781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2820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</a:rPr>
              <a:t>Area of Statistics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428548" y="475273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428548" y="5107781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0" name="Text 18"/>
          <p:cNvSpPr/>
          <p:nvPr/>
        </p:nvSpPr>
        <p:spPr>
          <a:xfrm>
            <a:off x="7428548" y="52820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</a:rPr>
              <a:t>Pathway to Learn Statistics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3614621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61166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Statistics?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93790" y="3709273"/>
            <a:ext cx="4215289" cy="1859042"/>
          </a:xfrm>
          <a:prstGeom prst="roundRect">
            <a:avLst>
              <a:gd name="adj" fmla="val 1601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992148" y="3907631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Science of Data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992148" y="4417338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Collecting, organizing, analyzing, and interpreting data through systematic methodologies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3709273"/>
            <a:ext cx="4215408" cy="1859042"/>
          </a:xfrm>
          <a:prstGeom prst="roundRect">
            <a:avLst>
              <a:gd name="adj" fmla="val 1601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5405795" y="3907631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Insights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405795" y="4417338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Transforms raw data into meaningful insights and actionable information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3709273"/>
            <a:ext cx="4215289" cy="1859042"/>
          </a:xfrm>
          <a:prstGeom prst="roundRect">
            <a:avLst>
              <a:gd name="adj" fmla="val 1601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9819561" y="3907631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Decision Making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9819561" y="4417338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Helps make informed decisions under uncertainty with quantitative evidence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8036"/>
            <a:ext cx="5913834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Statistics for AI/ML?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93790" y="2476143"/>
            <a:ext cx="6422231" cy="2222302"/>
          </a:xfrm>
          <a:prstGeom prst="roundRect">
            <a:avLst>
              <a:gd name="adj" fmla="val 134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5008" y="2697361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Preliminary Analysis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015008" y="3207068"/>
            <a:ext cx="597979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Exploratory Data Analysis and Hypothesis Testing are critical steps prior to building machine learning models. These techniques help identify patterns, detect anomalies, and validate assumptions about your dataset.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14379" y="2476143"/>
            <a:ext cx="6422231" cy="2222302"/>
          </a:xfrm>
          <a:prstGeom prst="roundRect">
            <a:avLst>
              <a:gd name="adj" fmla="val 134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35597" y="2697361"/>
            <a:ext cx="3352086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Probability Foundations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7635597" y="3207068"/>
            <a:ext cx="597979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Probability theory and probability distributions provide the mathematical framework for algorithmic decision-making. Understanding distributions is essential for selecting appropriate model.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4896803"/>
            <a:ext cx="6422231" cy="190476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5008" y="5118021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Validation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1015008" y="5627727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Statistical theory enables rigorous feature selection, cross-validation techniques, and bias detection. These methods ensure your models generalize well to unseen data.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14379" y="4896803"/>
            <a:ext cx="6422231" cy="190476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597" y="5118021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Explainable AI</a:t>
            </a:r>
            <a:endParaRPr lang="en-US" sz="2450" dirty="0"/>
          </a:p>
        </p:txBody>
      </p:sp>
      <p:sp>
        <p:nvSpPr>
          <p:cNvPr id="14" name="Text 12"/>
          <p:cNvSpPr/>
          <p:nvPr/>
        </p:nvSpPr>
        <p:spPr>
          <a:xfrm>
            <a:off x="7635597" y="5627727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Statistics ensures reliability and explainability of AI outcomes. Statistical methods help interpret model predictions and communicate results to stakeholders effectively.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3891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Sources of Data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1801177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Primary Data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793790" y="239018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First-hand collection through: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288631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Controlled experiments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27326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Survey questionnaires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366021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 interviews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404717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Field observations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4687103"/>
            <a:ext cx="6279356" cy="32385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93790" y="4942642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Automated Data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793790" y="553164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Technology-driven collection: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602777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IoT sensors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3790" y="641473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Transaction systems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93790" y="680168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Monitoring devices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718863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feeds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64874" y="1801177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Secondary Data</a:t>
            </a:r>
            <a:endParaRPr lang="en-US" sz="2450" dirty="0"/>
          </a:p>
        </p:txBody>
      </p:sp>
      <p:sp>
        <p:nvSpPr>
          <p:cNvPr id="17" name="Text 15"/>
          <p:cNvSpPr/>
          <p:nvPr/>
        </p:nvSpPr>
        <p:spPr>
          <a:xfrm>
            <a:off x="7564874" y="239018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Existing sources including: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564874" y="288631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Published research reports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64874" y="327326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Government databases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64874" y="366021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Industry datasets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564874" y="404717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Academic publications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564874" y="4687103"/>
            <a:ext cx="6279356" cy="32385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564874" y="4942642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Big Data Sources</a:t>
            </a:r>
            <a:endParaRPr lang="en-US" sz="2450" dirty="0"/>
          </a:p>
        </p:txBody>
      </p:sp>
      <p:sp>
        <p:nvSpPr>
          <p:cNvPr id="24" name="Text 22"/>
          <p:cNvSpPr/>
          <p:nvPr/>
        </p:nvSpPr>
        <p:spPr>
          <a:xfrm>
            <a:off x="7564874" y="553164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Large-scale digital platforms: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564874" y="602777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Social media platforms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564874" y="641473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Mobile applications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564874" y="680168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 server logs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564874" y="718863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interactions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1295"/>
            <a:ext cx="5885736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Types of Data – Overview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93790" y="2839403"/>
            <a:ext cx="6422231" cy="1859042"/>
          </a:xfrm>
          <a:prstGeom prst="roundRect">
            <a:avLst>
              <a:gd name="adj" fmla="val 1601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992148" y="3037761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Quantitative Data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992148" y="3547467"/>
            <a:ext cx="60255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Numerical measurements that can be counted or measured with mathematical precision. Enables statistical calculations and mathematical operations.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14379" y="2839403"/>
            <a:ext cx="6422231" cy="1859042"/>
          </a:xfrm>
          <a:prstGeom prst="roundRect">
            <a:avLst>
              <a:gd name="adj" fmla="val 1601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7612737" y="3037761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Qualitative Data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7612737" y="3547467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Categorical information describing characteristics, attributes, or qualities. Essential for classification and grouping analyses.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4896803"/>
            <a:ext cx="6422231" cy="1541502"/>
          </a:xfrm>
          <a:prstGeom prst="roundRect">
            <a:avLst>
              <a:gd name="adj" fmla="val 1931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992148" y="5095161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Structured Data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992148" y="5604867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Organized in defined formats like databases and spreadsheets. Easy to query, analyze, and process using standard tools.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14379" y="4896803"/>
            <a:ext cx="6422231" cy="1541502"/>
          </a:xfrm>
          <a:prstGeom prst="roundRect">
            <a:avLst>
              <a:gd name="adj" fmla="val 1931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612737" y="5095161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Unstructured Data</a:t>
            </a:r>
            <a:endParaRPr lang="en-US" sz="2450" dirty="0"/>
          </a:p>
        </p:txBody>
      </p:sp>
      <p:sp>
        <p:nvSpPr>
          <p:cNvPr id="14" name="Text 12"/>
          <p:cNvSpPr/>
          <p:nvPr/>
        </p:nvSpPr>
        <p:spPr>
          <a:xfrm>
            <a:off x="7612737" y="5604867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Free-form content like text, images, audio, and video files. Requires preprocessing and specialized techniques for analysis.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8967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Quantitative Data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2406253"/>
            <a:ext cx="4167902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Discrete Data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793790" y="3125629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Countable, finite values that represent distinct, separate units. Cannot be subdivided meaningfully.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93930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Examples: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43543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Number of children in families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82238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Goals scored in matches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20934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Number of cars sold per month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59629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Number of Students in classrooms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2406253"/>
            <a:ext cx="4167902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Continuous Data</a:t>
            </a:r>
            <a:endParaRPr lang="en-US" sz="3250" dirty="0"/>
          </a:p>
        </p:txBody>
      </p:sp>
      <p:sp>
        <p:nvSpPr>
          <p:cNvPr id="11" name="Text 9"/>
          <p:cNvSpPr/>
          <p:nvPr/>
        </p:nvSpPr>
        <p:spPr>
          <a:xfrm>
            <a:off x="7564874" y="3125629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Measurable values with infinite possible values within a range. Can be subdivided into finer increments.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4874" y="393930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Examples: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4874" y="443543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Height and weight measurements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64874" y="482238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Temperature readings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64874" y="520934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durations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64874" y="559629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Distance traveled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91446" y="6429732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Both types enable mathematical calculations including mean, variance, correlation, and regression analysis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93790" y="6206490"/>
            <a:ext cx="22860" cy="764024"/>
          </a:xfrm>
          <a:prstGeom prst="rect">
            <a:avLst/>
          </a:prstGeom>
          <a:solidFill>
            <a:srgbClr val="E04F0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8967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Qualitative Data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2406253"/>
            <a:ext cx="4167902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Nominal Data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793790" y="3125629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Categories without natural ordering or ranking. Used purely for labeling and identification purposes.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93930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Examples: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43543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 (male, female, non-binary)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82238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Blood types (A, B, AB, O)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20934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Colors (red, blue, green)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59629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Brands and product names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2406253"/>
            <a:ext cx="4167902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Ordinal Data</a:t>
            </a:r>
            <a:endParaRPr lang="en-US" sz="3250" dirty="0"/>
          </a:p>
        </p:txBody>
      </p:sp>
      <p:sp>
        <p:nvSpPr>
          <p:cNvPr id="11" name="Text 9"/>
          <p:cNvSpPr/>
          <p:nvPr/>
        </p:nvSpPr>
        <p:spPr>
          <a:xfrm>
            <a:off x="7564874" y="3125629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Categories with meaningful order and hierarchy. Rank matters, but distances between ranks are unknown.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4874" y="393930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Examples: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4874" y="443543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Satisfaction levels (poor, fair, good, excellent)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64874" y="482238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Education levels (elementary, high school, college)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64874" y="520934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Movie ratings (1-5 stars)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64874" y="559629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Survey rankings and preferences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91446" y="6429732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Essential for classification algorithms, clustering methods, and survey research methodologies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93790" y="6206490"/>
            <a:ext cx="22860" cy="764024"/>
          </a:xfrm>
          <a:prstGeom prst="rect">
            <a:avLst/>
          </a:prstGeom>
          <a:solidFill>
            <a:srgbClr val="E04F0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6236"/>
            <a:ext cx="7602022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Structured vs. Unstructured Data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93790" y="2364343"/>
            <a:ext cx="6422231" cy="4008239"/>
          </a:xfrm>
          <a:prstGeom prst="roundRect">
            <a:avLst>
              <a:gd name="adj" fmla="val 273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2364343"/>
            <a:ext cx="91440" cy="4008239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2585561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Structured Data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1083588" y="3095268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Organized in predefined formats with clear schemas: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83588" y="3531870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Database tables with rows and columns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83588" y="3918823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Spreadsheet files (Excel, CSV)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83588" y="4305776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Relational database records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83588" y="4692729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JSON and XML formatted data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83588" y="5129332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Advantages: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Easy to query, analyze, and process with standard SQL and data analysis tools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14379" y="2364343"/>
            <a:ext cx="6422231" cy="4008239"/>
          </a:xfrm>
          <a:prstGeom prst="roundRect">
            <a:avLst>
              <a:gd name="adj" fmla="val 273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91519" y="2364343"/>
            <a:ext cx="91440" cy="4008239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7704177" y="2585561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Unstructured Data</a:t>
            </a:r>
            <a:endParaRPr lang="en-US" sz="2450" dirty="0"/>
          </a:p>
        </p:txBody>
      </p:sp>
      <p:sp>
        <p:nvSpPr>
          <p:cNvPr id="15" name="Text 13"/>
          <p:cNvSpPr/>
          <p:nvPr/>
        </p:nvSpPr>
        <p:spPr>
          <a:xfrm>
            <a:off x="7704177" y="3095268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Free-form content without defined structure or schema: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704177" y="3531870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 documents and social media posts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704177" y="3918823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Images, photos, and graphics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704177" y="4305776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Audio recordings and podcasts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704177" y="4692729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Video files and multimedia content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704177" y="5079683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Email messages and web pages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704177" y="5516285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Requires preprocessing, feature extraction, and specialized AI models for analysis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93790" y="659582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Modern AI/ML models often combine both structured and unstructured data sources to generate comprehensive insights and predictions.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8670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Measurement Scales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278677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101102"/>
            <a:ext cx="642223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246001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Nominal Scale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793790" y="3755708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 labels and categories without inherent order or ranking. Used for classification and identification only.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14379" y="278677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4379" y="3101102"/>
            <a:ext cx="642223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7414379" y="3246001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Ordinal Scale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7414379" y="3755708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Ordered categories with rank but unknown distances between levels. Preserves relative ordering information.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473797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5052298"/>
            <a:ext cx="642223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197197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Interval Scale</a:t>
            </a:r>
            <a:endParaRPr lang="en-US" sz="2450" dirty="0"/>
          </a:p>
        </p:txBody>
      </p:sp>
      <p:sp>
        <p:nvSpPr>
          <p:cNvPr id="14" name="Text 12"/>
          <p:cNvSpPr/>
          <p:nvPr/>
        </p:nvSpPr>
        <p:spPr>
          <a:xfrm>
            <a:off x="793790" y="5706904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Equal intervals between values but no meaningful absolute zero point. Supports addition and subtraction operations.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414379" y="473797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14379" y="5052298"/>
            <a:ext cx="642223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7414379" y="5197197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Ratio Scale</a:t>
            </a:r>
            <a:endParaRPr lang="en-US" sz="2450" dirty="0"/>
          </a:p>
        </p:txBody>
      </p:sp>
      <p:sp>
        <p:nvSpPr>
          <p:cNvPr id="18" name="Text 16"/>
          <p:cNvSpPr/>
          <p:nvPr/>
        </p:nvSpPr>
        <p:spPr>
          <a:xfrm>
            <a:off x="7414379" y="5706904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Equal intervals with absolute zero, allowing meaningful ratios and proportions. Supports all mathematical operations.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7615"/>
            <a:ext cx="7496294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Measurement Scales – Examples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93790" y="1965722"/>
            <a:ext cx="6422231" cy="2732723"/>
          </a:xfrm>
          <a:prstGeom prst="roundRect">
            <a:avLst>
              <a:gd name="adj" fmla="val 108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5008" y="2186940"/>
            <a:ext cx="2842974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Nominal Scale Examples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015008" y="2631638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Categories without natural order: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15008" y="3068241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Types of fruits: apple, orange, mango, banana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15008" y="3455194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 brands: Toyota, Ford, BMW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15008" y="3842147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Departments: HR, Finance, Marketing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1965722"/>
            <a:ext cx="6422231" cy="2732723"/>
          </a:xfrm>
          <a:prstGeom prst="roundRect">
            <a:avLst>
              <a:gd name="adj" fmla="val 108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597" y="2186940"/>
            <a:ext cx="2720816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Ordinal Scale Examples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7635597" y="2631638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Ranked categories with clear hierarchy: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635597" y="3068241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Education levels: primary, secondary, undergraduate, graduate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635597" y="3772733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Performance ratings: poor, average, good, excellent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635597" y="4159687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Military ranks: private, sergeant, lieutenant, captain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4896803"/>
            <a:ext cx="6422231" cy="2415183"/>
          </a:xfrm>
          <a:prstGeom prst="roundRect">
            <a:avLst>
              <a:gd name="adj" fmla="val 123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5008" y="5118021"/>
            <a:ext cx="2760940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Interval Scale Examples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1015008" y="5562719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Equal intervals without absolute zero: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15008" y="5999321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Temperature in Celsius or Fahrenheit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15008" y="6386274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Calendar years (AD/BC system)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015008" y="6773228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IQ scores and standardized test results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414379" y="4896803"/>
            <a:ext cx="6422231" cy="2415183"/>
          </a:xfrm>
          <a:prstGeom prst="roundRect">
            <a:avLst>
              <a:gd name="adj" fmla="val 123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597" y="5118021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Ratio Scale Examples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7635597" y="5562719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True zero point enables meaningful ratios: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635597" y="5999321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Income, salary, and financial metrics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635597" y="6386274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Height, weight, and physical measurements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635597" y="6773228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durations and age calculations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2600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Areas of Statistics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2899886"/>
            <a:ext cx="4167902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Descriptive Statistics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793790" y="3619262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Summarizing and visualizing existing data patterns through numerical and graphical methods.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43293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What happened in the data?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92906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summarization techniques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31602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representation methods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70297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Pattern identification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608992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 tendency measures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2899886"/>
            <a:ext cx="4167902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Inferential Statistics</a:t>
            </a:r>
            <a:endParaRPr lang="en-US" sz="3250" dirty="0"/>
          </a:p>
        </p:txBody>
      </p:sp>
      <p:sp>
        <p:nvSpPr>
          <p:cNvPr id="11" name="Text 9"/>
          <p:cNvSpPr/>
          <p:nvPr/>
        </p:nvSpPr>
        <p:spPr>
          <a:xfrm>
            <a:off x="7564874" y="3619262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Making inferences and generalizations from sample data to broader populations.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4874" y="443293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What can we infer or conclude?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4874" y="492906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Hypothesis testing procedures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64874" y="531602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Population parameter estimation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64874" y="570297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Statistical modeling techniques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64874" y="608992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Confidence interval construction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2964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Descriptive Statistics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93790" y="1901071"/>
            <a:ext cx="4215289" cy="4091583"/>
          </a:xfrm>
          <a:prstGeom prst="roundRect">
            <a:avLst>
              <a:gd name="adj" fmla="val 728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992148" y="2099429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Tabular Methods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992148" y="2609136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Organizing data in structured formats: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92148" y="3045738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Frequency distribution tables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92148" y="3432691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Cross-tabulation matrices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92148" y="3819644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Summary statistics tables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92148" y="4206597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Contingency tables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207437" y="1901071"/>
            <a:ext cx="4215408" cy="4091583"/>
          </a:xfrm>
          <a:prstGeom prst="roundRect">
            <a:avLst>
              <a:gd name="adj" fmla="val 72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5405795" y="2099429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Graphical Methods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5405795" y="2609136"/>
            <a:ext cx="38186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representation techniques: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405795" y="3045738"/>
            <a:ext cx="38186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Pie charts for categorical proportions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05795" y="3432691"/>
            <a:ext cx="38186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Histograms for distribution shapes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405795" y="3819644"/>
            <a:ext cx="38186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 charts for comparative analysis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05795" y="4206597"/>
            <a:ext cx="38186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Box plots for outlier detection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9621203" y="1901071"/>
            <a:ext cx="4215289" cy="4091583"/>
          </a:xfrm>
          <a:prstGeom prst="roundRect">
            <a:avLst>
              <a:gd name="adj" fmla="val 728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9819561" y="2099429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Numerical Methods</a:t>
            </a:r>
            <a:endParaRPr lang="en-US" sz="2450" dirty="0"/>
          </a:p>
        </p:txBody>
      </p:sp>
      <p:sp>
        <p:nvSpPr>
          <p:cNvPr id="19" name="Text 17"/>
          <p:cNvSpPr/>
          <p:nvPr/>
        </p:nvSpPr>
        <p:spPr>
          <a:xfrm>
            <a:off x="9819561" y="2609136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Statistical measures and calculations: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819561" y="3045738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 tendency: mean, median, mode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819561" y="3750231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Variability: variance, standard deviation, range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819561" y="4454723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Shape: skewness and kurtosis measures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819561" y="5159216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Relative position: percentiles and quartiles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93790" y="6215896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FFCDB3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6511171"/>
            <a:ext cx="248007" cy="19835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438513" y="6463784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Calculating the average test score of a statistics class to understand overall performance and identify students who may need additional support.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6304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Inferential Statistics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1855232"/>
            <a:ext cx="11712178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Goal: Make inferences and test hypotheses about populations based on sample data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793790" y="2543532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1438632" y="2580680"/>
            <a:ext cx="3182303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Estimation Techniques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1438632" y="3090386"/>
            <a:ext cx="575250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Point estimates and confidence intervals for population parameters such as means, proportions, and variances. Provides range of plausible values.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39144" y="2543532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8083987" y="2580680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Hypothesis Testing</a:t>
            </a:r>
            <a:endParaRPr lang="en-US" sz="2450" dirty="0"/>
          </a:p>
        </p:txBody>
      </p:sp>
      <p:sp>
        <p:nvSpPr>
          <p:cNvPr id="9" name="Text 7"/>
          <p:cNvSpPr/>
          <p:nvPr/>
        </p:nvSpPr>
        <p:spPr>
          <a:xfrm>
            <a:off x="8083987" y="3090386"/>
            <a:ext cx="575262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Statistical tests to validate or reject research hypotheses. Includes t-tests, chi-square tests, ANOVA, and other significance tests.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3790" y="4439841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1438632" y="4476988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Regression Analysis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1438632" y="4986695"/>
            <a:ext cx="575250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Modeling relationships between dependent and independent variables for both inference and prediction. Linear Regression and Logistic, Regression are commonly used methods.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39144" y="4439841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8083987" y="4476988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Correlation Studies</a:t>
            </a:r>
            <a:endParaRPr lang="en-US" sz="2450" dirty="0"/>
          </a:p>
        </p:txBody>
      </p:sp>
      <p:sp>
        <p:nvSpPr>
          <p:cNvPr id="15" name="Text 13"/>
          <p:cNvSpPr/>
          <p:nvPr/>
        </p:nvSpPr>
        <p:spPr>
          <a:xfrm>
            <a:off x="8083987" y="4986695"/>
            <a:ext cx="575262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Measuring strength and direction of associations between variables. Pearson, Spearman, and other correlation coefficients.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3790" y="6162556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FFCDB3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6457831"/>
            <a:ext cx="248007" cy="19835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38513" y="6410444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Predicting election outcomes by analyzing polling data from a representative sample of voters, then generalizing results to the entire voting population.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8642"/>
            <a:ext cx="5994083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Probability &amp; Uncertainty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93790" y="2864406"/>
            <a:ext cx="4215289" cy="3846552"/>
          </a:xfrm>
          <a:prstGeom prst="roundRect">
            <a:avLst>
              <a:gd name="adj" fmla="val 2853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841546"/>
            <a:ext cx="4215289" cy="91440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5" name="Shape 3"/>
          <p:cNvSpPr/>
          <p:nvPr/>
        </p:nvSpPr>
        <p:spPr>
          <a:xfrm>
            <a:off x="2603778" y="2566749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1015008" y="3360539"/>
            <a:ext cx="326112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Mathematics of Chance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1015008" y="3870246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Quantifying uncertainty and randomness in data. Essential for understanding likelihood of events and modeling stochastic processes.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2864406"/>
            <a:ext cx="4215408" cy="3846552"/>
          </a:xfrm>
          <a:prstGeom prst="roundRect">
            <a:avLst>
              <a:gd name="adj" fmla="val 2853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207437" y="2841546"/>
            <a:ext cx="4215408" cy="91440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0" name="Shape 8"/>
          <p:cNvSpPr/>
          <p:nvPr/>
        </p:nvSpPr>
        <p:spPr>
          <a:xfrm>
            <a:off x="7017425" y="2566749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5428655" y="3360539"/>
            <a:ext cx="321325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Statistical Foundations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5428655" y="3870246"/>
            <a:ext cx="377297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Basis for random variables, probability distributions, and risk analysis. Enables confidence intervals and hypothesis testing frameworks.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21203" y="2864406"/>
            <a:ext cx="4215289" cy="3846552"/>
          </a:xfrm>
          <a:prstGeom prst="roundRect">
            <a:avLst>
              <a:gd name="adj" fmla="val 2853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621203" y="2841546"/>
            <a:ext cx="4215289" cy="91440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1191" y="2566749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E04F00"/>
          </a:solidFill>
          <a:ln/>
        </p:spPr>
      </p:sp>
      <p:sp>
        <p:nvSpPr>
          <p:cNvPr id="16" name="Text 14"/>
          <p:cNvSpPr/>
          <p:nvPr/>
        </p:nvSpPr>
        <p:spPr>
          <a:xfrm>
            <a:off x="9842421" y="3360539"/>
            <a:ext cx="3505200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 Algorithm Foundation</a:t>
            </a:r>
            <a:endParaRPr lang="en-US" sz="2450" dirty="0"/>
          </a:p>
        </p:txBody>
      </p:sp>
      <p:sp>
        <p:nvSpPr>
          <p:cNvPr id="17" name="Text 15"/>
          <p:cNvSpPr/>
          <p:nvPr/>
        </p:nvSpPr>
        <p:spPr>
          <a:xfrm>
            <a:off x="9842421" y="3870246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component of machine learning models including: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842421" y="4624388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Bayesian inference methods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842421" y="5011341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Naive Bayes classifiers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842421" y="5398294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Probabilistic neural networks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842421" y="5785247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Monte Carlo simulations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842421" y="6172200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Hidden Markov Models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95432"/>
            <a:ext cx="4715947" cy="488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Pathway to Learn Statistics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381482"/>
            <a:ext cx="446484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89102" y="1530310"/>
            <a:ext cx="2344460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Foundation Level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389102" y="1912620"/>
            <a:ext cx="1244750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Master data types, measurement scales, and basic statistical terminology. Understand the language of statistics.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032" y="2448401"/>
            <a:ext cx="446484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12344" y="2597229"/>
            <a:ext cx="2344460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Descriptive Methods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612344" y="2979539"/>
            <a:ext cx="1222426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Study summarization techniques, visualization approaches, and exploratory data analysis methods.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274" y="3515320"/>
            <a:ext cx="446484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35587" y="3664148"/>
            <a:ext cx="2344460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Probability Theory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835587" y="4046458"/>
            <a:ext cx="1200102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probability distributions, random variables, expected values, and uncertainty quantification.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635" y="4582239"/>
            <a:ext cx="446484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58948" y="4731068"/>
            <a:ext cx="2352556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Inferential Techniques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2058948" y="5113377"/>
            <a:ext cx="1177766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</a:t>
            </a: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ractice hypothesis testing, confidence intervals, p-values, and statistical significance determination.</a:t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274" y="5649158"/>
            <a:ext cx="446484" cy="1143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35587" y="5797987"/>
            <a:ext cx="2344460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Advanced Methods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835587" y="6180296"/>
            <a:ext cx="1200102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 regression analysis, ANOVA, multivariate statistics, time series, and specialized statistical techniques.</a:t>
            </a:r>
            <a:endParaRPr lang="en-US" sz="15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032" y="6716078"/>
            <a:ext cx="446484" cy="11430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612344" y="6864906"/>
            <a:ext cx="2344460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Practical Application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1612344" y="7247215"/>
            <a:ext cx="1222426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statistical knowledge in real AI/ML projects, data science workflows, and research applications.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2667"/>
            <a:ext cx="7189708" cy="89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7050"/>
              </a:lnSpc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93790" y="2628186"/>
            <a:ext cx="6422231" cy="1541502"/>
          </a:xfrm>
          <a:prstGeom prst="roundRect">
            <a:avLst>
              <a:gd name="adj" fmla="val 1931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992148" y="2826544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Language of Data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992148" y="3336250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Statistics provides the universal framework for understanding and communicating data insights across all disciplines.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14379" y="2628186"/>
            <a:ext cx="6422231" cy="1541502"/>
          </a:xfrm>
          <a:prstGeom prst="roundRect">
            <a:avLst>
              <a:gd name="adj" fmla="val 1931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7612737" y="2826544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Analysis &amp; Prediction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7612737" y="3336250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Essential tools for analyzing patterns, understanding relationships, and making accurate predictions from data.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4368046"/>
            <a:ext cx="6422231" cy="1541502"/>
          </a:xfrm>
          <a:prstGeom prst="roundRect">
            <a:avLst>
              <a:gd name="adj" fmla="val 1931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992148" y="4566404"/>
            <a:ext cx="3614261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Evidence-Based Decisions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992148" y="5076111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 for making informed, objective decisions backed by quantitative evidence and rigorous analysis.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14379" y="4368046"/>
            <a:ext cx="6422231" cy="1541502"/>
          </a:xfrm>
          <a:prstGeom prst="roundRect">
            <a:avLst>
              <a:gd name="adj" fmla="val 1931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612737" y="4566404"/>
            <a:ext cx="3125867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Core Technology Tool</a:t>
            </a:r>
            <a:endParaRPr lang="en-US" sz="2450" dirty="0"/>
          </a:p>
        </p:txBody>
      </p:sp>
      <p:sp>
        <p:nvSpPr>
          <p:cNvPr id="14" name="Text 12"/>
          <p:cNvSpPr/>
          <p:nvPr/>
        </p:nvSpPr>
        <p:spPr>
          <a:xfrm>
            <a:off x="7612737" y="5076111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Fundamental requirement for artificial intelligence, machine learning, business analytics, and scientific research.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91446" y="6356032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Master statistics to unlock the full potential of data-driven insights and AI applications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93790" y="6132790"/>
            <a:ext cx="22860" cy="764024"/>
          </a:xfrm>
          <a:prstGeom prst="rect">
            <a:avLst/>
          </a:prstGeom>
          <a:solidFill>
            <a:srgbClr val="E04F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1490</Words>
  <Application>Microsoft Macintosh PowerPoint</Application>
  <PresentationFormat>Custom</PresentationFormat>
  <Paragraphs>246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PT Serif</vt:lpstr>
      <vt:lpstr>DM Sans</vt:lpstr>
      <vt:lpstr>Calibri</vt:lpstr>
      <vt:lpstr>Arial</vt:lpstr>
      <vt:lpstr>PT Serif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8</cp:revision>
  <dcterms:created xsi:type="dcterms:W3CDTF">2025-10-04T02:40:46Z</dcterms:created>
  <dcterms:modified xsi:type="dcterms:W3CDTF">2025-10-22T12:01:52Z</dcterms:modified>
</cp:coreProperties>
</file>