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4"/>
  </p:notesMasterIdLst>
  <p:sldIdLst>
    <p:sldId id="256" r:id="rId2"/>
    <p:sldId id="278" r:id="rId3"/>
    <p:sldId id="257" r:id="rId4"/>
    <p:sldId id="258" r:id="rId5"/>
    <p:sldId id="259" r:id="rId6"/>
    <p:sldId id="260" r:id="rId7"/>
    <p:sldId id="261" r:id="rId8"/>
    <p:sldId id="262" r:id="rId9"/>
    <p:sldId id="263" r:id="rId10"/>
    <p:sldId id="264" r:id="rId11"/>
    <p:sldId id="265" r:id="rId12"/>
    <p:sldId id="266" r:id="rId13"/>
    <p:sldId id="267" r:id="rId14"/>
    <p:sldId id="268" r:id="rId15"/>
    <p:sldId id="276" r:id="rId16"/>
    <p:sldId id="270" r:id="rId17"/>
    <p:sldId id="271" r:id="rId18"/>
    <p:sldId id="272" r:id="rId19"/>
    <p:sldId id="273" r:id="rId20"/>
    <p:sldId id="274" r:id="rId21"/>
    <p:sldId id="275" r:id="rId22"/>
    <p:sldId id="388" r:id="rId23"/>
  </p:sldIdLst>
  <p:sldSz cx="14630400" cy="8229600"/>
  <p:notesSz cx="8229600" cy="14630400"/>
  <p:embeddedFontLst>
    <p:embeddedFont>
      <p:font typeface="DM Sans" pitchFamily="2" charset="77"/>
      <p:regular r:id="rId25"/>
    </p:embeddedFont>
    <p:embeddedFont>
      <p:font typeface="PT Serif" panose="020A0603040505020204" pitchFamily="18" charset="77"/>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91" d="100"/>
          <a:sy n="91"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9490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46183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46340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205445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6.xml"/><Relationship Id="rId7" Type="http://schemas.openxmlformats.org/officeDocument/2006/relationships/image" Target="../media/image5.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1.bin"/><Relationship Id="rId9"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15.w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7.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7.xml"/><Relationship Id="rId7" Type="http://schemas.openxmlformats.org/officeDocument/2006/relationships/image" Target="../media/image25.png"/><Relationship Id="rId2" Type="http://schemas.openxmlformats.org/officeDocument/2006/relationships/slideLayout" Target="../slideLayouts/slideLayout17.xml"/><Relationship Id="rId1" Type="http://schemas.openxmlformats.org/officeDocument/2006/relationships/vmlDrawing" Target="../drawings/vmlDrawing3.v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1.wmf"/></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9.xml"/><Relationship Id="rId6" Type="http://schemas.openxmlformats.org/officeDocument/2006/relationships/image" Target="../media/image3.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1.xml"/><Relationship Id="rId1" Type="http://schemas.openxmlformats.org/officeDocument/2006/relationships/slideLayout" Target="../slideLayouts/slideLayout21.xml"/><Relationship Id="rId5" Type="http://schemas.openxmlformats.org/officeDocument/2006/relationships/image" Target="../media/image34.gif"/><Relationship Id="rId4" Type="http://schemas.openxmlformats.org/officeDocument/2006/relationships/image" Target="../media/image33.emf"/></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79722" y="3620452"/>
            <a:ext cx="7276981"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Statistical Inference</a:t>
            </a:r>
          </a:p>
          <a:p>
            <a:pPr marL="0" indent="0" algn="l">
              <a:lnSpc>
                <a:spcPts val="5100"/>
              </a:lnSpc>
              <a:buNone/>
            </a:pPr>
            <a:r>
              <a:rPr lang="en-US" sz="3000" dirty="0">
                <a:solidFill>
                  <a:srgbClr val="020202"/>
                </a:solidFill>
                <a:latin typeface="PT Serif" pitchFamily="34" charset="0"/>
                <a:ea typeface="PT Serif" pitchFamily="34" charset="-122"/>
                <a:cs typeface="PT Serif" pitchFamily="34" charset="-120"/>
              </a:rPr>
              <a:t>Nonparametric Statistical Tests</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Contents</a:t>
            </a:r>
            <a:endParaRPr lang="en-US" sz="3750" dirty="0"/>
          </a:p>
        </p:txBody>
      </p:sp>
      <p:sp>
        <p:nvSpPr>
          <p:cNvPr id="3" name="Text 1"/>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p:cNvSpPr/>
          <p:nvPr/>
        </p:nvSpPr>
        <p:spPr>
          <a:xfrm>
            <a:off x="793790" y="2511266"/>
            <a:ext cx="6407944" cy="30480"/>
          </a:xfrm>
          <a:prstGeom prst="rect">
            <a:avLst/>
          </a:prstGeom>
          <a:solidFill>
            <a:srgbClr val="E04F00"/>
          </a:solidFill>
          <a:ln/>
        </p:spPr>
      </p:sp>
      <p:sp>
        <p:nvSpPr>
          <p:cNvPr id="5" name="Text 3"/>
          <p:cNvSpPr/>
          <p:nvPr/>
        </p:nvSpPr>
        <p:spPr>
          <a:xfrm>
            <a:off x="793790" y="2685574"/>
            <a:ext cx="43703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Understanding Nonparametric Tests</a:t>
            </a:r>
            <a:endParaRPr lang="en-US" sz="2300" dirty="0"/>
          </a:p>
        </p:txBody>
      </p:sp>
      <p:sp>
        <p:nvSpPr>
          <p:cNvPr id="6" name="Text 4"/>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p:cNvSpPr/>
          <p:nvPr/>
        </p:nvSpPr>
        <p:spPr>
          <a:xfrm>
            <a:off x="7428548" y="2511266"/>
            <a:ext cx="6408063" cy="30480"/>
          </a:xfrm>
          <a:prstGeom prst="rect">
            <a:avLst/>
          </a:prstGeom>
          <a:solidFill>
            <a:srgbClr val="E04F00"/>
          </a:solidFill>
          <a:ln/>
        </p:spPr>
      </p:sp>
      <p:sp>
        <p:nvSpPr>
          <p:cNvPr id="8" name="Text 6"/>
          <p:cNvSpPr/>
          <p:nvPr/>
        </p:nvSpPr>
        <p:spPr>
          <a:xfrm>
            <a:off x="7428548" y="2685574"/>
            <a:ext cx="383321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Mann-Whitney U Test</a:t>
            </a:r>
            <a:endParaRPr lang="en-US" sz="2300" dirty="0"/>
          </a:p>
        </p:txBody>
      </p:sp>
      <p:sp>
        <p:nvSpPr>
          <p:cNvPr id="9" name="Text 7"/>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0" name="Shape 8"/>
          <p:cNvSpPr/>
          <p:nvPr/>
        </p:nvSpPr>
        <p:spPr>
          <a:xfrm>
            <a:off x="793790" y="3809524"/>
            <a:ext cx="6407944" cy="30480"/>
          </a:xfrm>
          <a:prstGeom prst="rect">
            <a:avLst/>
          </a:prstGeom>
          <a:solidFill>
            <a:srgbClr val="E04F00"/>
          </a:solidFill>
          <a:ln/>
        </p:spPr>
      </p:sp>
      <p:sp>
        <p:nvSpPr>
          <p:cNvPr id="11" name="Text 9"/>
          <p:cNvSpPr/>
          <p:nvPr/>
        </p:nvSpPr>
        <p:spPr>
          <a:xfrm>
            <a:off x="793790" y="3983831"/>
            <a:ext cx="3926681" cy="372070"/>
          </a:xfrm>
          <a:prstGeom prst="rect">
            <a:avLst/>
          </a:prstGeom>
          <a:noFill/>
          <a:ln/>
        </p:spPr>
        <p:txBody>
          <a:bodyPr wrap="none" lIns="0" tIns="0" rIns="0" bIns="0" rtlCol="0" anchor="t"/>
          <a:lstStyle/>
          <a:p>
            <a:pPr marL="0" indent="0" algn="l">
              <a:lnSpc>
                <a:spcPts val="2900"/>
              </a:lnSpc>
              <a:buNone/>
            </a:pPr>
            <a:r>
              <a:rPr lang="en-US" sz="2300" dirty="0" err="1">
                <a:solidFill>
                  <a:srgbClr val="383838"/>
                </a:solidFill>
                <a:latin typeface="PT Serif" pitchFamily="34" charset="0"/>
              </a:rPr>
              <a:t>WiLcoxon’s</a:t>
            </a:r>
            <a:r>
              <a:rPr lang="en-US" sz="2300" dirty="0">
                <a:solidFill>
                  <a:srgbClr val="383838"/>
                </a:solidFill>
                <a:latin typeface="PT Serif" pitchFamily="34" charset="0"/>
              </a:rPr>
              <a:t> Signed Rank Test</a:t>
            </a:r>
            <a:endParaRPr lang="en-US" sz="2300" dirty="0"/>
          </a:p>
        </p:txBody>
      </p:sp>
      <p:sp>
        <p:nvSpPr>
          <p:cNvPr id="12" name="Text 10"/>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3" name="Shape 11"/>
          <p:cNvSpPr/>
          <p:nvPr/>
        </p:nvSpPr>
        <p:spPr>
          <a:xfrm>
            <a:off x="7428548" y="3809524"/>
            <a:ext cx="6408063" cy="30480"/>
          </a:xfrm>
          <a:prstGeom prst="rect">
            <a:avLst/>
          </a:prstGeom>
          <a:solidFill>
            <a:srgbClr val="E04F00"/>
          </a:solidFill>
          <a:ln/>
        </p:spPr>
      </p:sp>
      <p:sp>
        <p:nvSpPr>
          <p:cNvPr id="14" name="Text 12"/>
          <p:cNvSpPr/>
          <p:nvPr/>
        </p:nvSpPr>
        <p:spPr>
          <a:xfrm>
            <a:off x="7428548" y="3983831"/>
            <a:ext cx="383702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Kruskal Wallis Test</a:t>
            </a:r>
            <a:endParaRPr lang="en-US" sz="2300" dirty="0"/>
          </a:p>
        </p:txBody>
      </p:sp>
      <p:sp>
        <p:nvSpPr>
          <p:cNvPr id="15" name="Text 13"/>
          <p:cNvSpPr/>
          <p:nvPr/>
        </p:nvSpPr>
        <p:spPr>
          <a:xfrm>
            <a:off x="793790"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6" name="Shape 14"/>
          <p:cNvSpPr/>
          <p:nvPr/>
        </p:nvSpPr>
        <p:spPr>
          <a:xfrm>
            <a:off x="793790" y="5107781"/>
            <a:ext cx="6407944" cy="30480"/>
          </a:xfrm>
          <a:prstGeom prst="rect">
            <a:avLst/>
          </a:prstGeom>
          <a:solidFill>
            <a:srgbClr val="E04F00"/>
          </a:solidFill>
          <a:ln/>
        </p:spPr>
      </p:sp>
      <p:sp>
        <p:nvSpPr>
          <p:cNvPr id="17" name="Text 15"/>
          <p:cNvSpPr/>
          <p:nvPr/>
        </p:nvSpPr>
        <p:spPr>
          <a:xfrm>
            <a:off x="793790"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Chi Square Test of Association</a:t>
            </a:r>
            <a:endParaRPr lang="en-US" sz="2300" dirty="0"/>
          </a:p>
        </p:txBody>
      </p:sp>
      <p:sp>
        <p:nvSpPr>
          <p:cNvPr id="18" name="Text 16"/>
          <p:cNvSpPr/>
          <p:nvPr/>
        </p:nvSpPr>
        <p:spPr>
          <a:xfrm>
            <a:off x="7428548"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19" name="Shape 17"/>
          <p:cNvSpPr/>
          <p:nvPr/>
        </p:nvSpPr>
        <p:spPr>
          <a:xfrm>
            <a:off x="7428548" y="5107781"/>
            <a:ext cx="6408063" cy="30480"/>
          </a:xfrm>
          <a:prstGeom prst="rect">
            <a:avLst/>
          </a:prstGeom>
          <a:solidFill>
            <a:srgbClr val="E04F00"/>
          </a:solidFill>
          <a:ln/>
        </p:spPr>
      </p:sp>
      <p:sp>
        <p:nvSpPr>
          <p:cNvPr id="20" name="Text 18"/>
          <p:cNvSpPr/>
          <p:nvPr/>
        </p:nvSpPr>
        <p:spPr>
          <a:xfrm>
            <a:off x="7428548" y="5282089"/>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Analysis of Variance</a:t>
            </a:r>
            <a:endParaRPr lang="en-US" sz="2300" dirty="0"/>
          </a:p>
        </p:txBody>
      </p:sp>
    </p:spTree>
    <p:extLst>
      <p:ext uri="{BB962C8B-B14F-4D97-AF65-F5344CB8AC3E}">
        <p14:creationId xmlns:p14="http://schemas.microsoft.com/office/powerpoint/2010/main" val="495930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125504"/>
            <a:ext cx="8384381"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Understanding Nonparametric Tests</a:t>
            </a:r>
            <a:endParaRPr lang="en-US" sz="4100" dirty="0"/>
          </a:p>
        </p:txBody>
      </p:sp>
      <p:sp>
        <p:nvSpPr>
          <p:cNvPr id="3" name="Shape 1"/>
          <p:cNvSpPr/>
          <p:nvPr/>
        </p:nvSpPr>
        <p:spPr>
          <a:xfrm>
            <a:off x="793790" y="3173611"/>
            <a:ext cx="4215289" cy="2930485"/>
          </a:xfrm>
          <a:prstGeom prst="roundRect">
            <a:avLst>
              <a:gd name="adj" fmla="val 1016"/>
            </a:avLst>
          </a:prstGeom>
          <a:solidFill>
            <a:srgbClr val="FFFFFF"/>
          </a:solidFill>
          <a:ln w="22860">
            <a:solidFill>
              <a:srgbClr val="D8D4D4"/>
            </a:solidFill>
            <a:prstDash val="solid"/>
          </a:ln>
        </p:spPr>
      </p:sp>
      <p:sp>
        <p:nvSpPr>
          <p:cNvPr id="4" name="Text 2"/>
          <p:cNvSpPr/>
          <p:nvPr/>
        </p:nvSpPr>
        <p:spPr>
          <a:xfrm>
            <a:off x="1015008" y="3394829"/>
            <a:ext cx="3404830"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Parametric Assumptions</a:t>
            </a:r>
            <a:endParaRPr lang="en-US" sz="2450" dirty="0"/>
          </a:p>
        </p:txBody>
      </p:sp>
      <p:sp>
        <p:nvSpPr>
          <p:cNvPr id="5" name="Text 3"/>
          <p:cNvSpPr/>
          <p:nvPr/>
        </p:nvSpPr>
        <p:spPr>
          <a:xfrm>
            <a:off x="1015008" y="3904536"/>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Traditional tests based on t and F distributions assume that populations follow a normal distribution. When this assumption is violated, results may be unreliable.</a:t>
            </a:r>
            <a:endParaRPr lang="en-US" sz="1550" dirty="0"/>
          </a:p>
        </p:txBody>
      </p:sp>
      <p:sp>
        <p:nvSpPr>
          <p:cNvPr id="6" name="Shape 4"/>
          <p:cNvSpPr/>
          <p:nvPr/>
        </p:nvSpPr>
        <p:spPr>
          <a:xfrm>
            <a:off x="5207437" y="3173611"/>
            <a:ext cx="4215408" cy="2930485"/>
          </a:xfrm>
          <a:prstGeom prst="roundRect">
            <a:avLst>
              <a:gd name="adj" fmla="val 1016"/>
            </a:avLst>
          </a:prstGeom>
          <a:solidFill>
            <a:srgbClr val="FFFFFF"/>
          </a:solidFill>
          <a:ln w="22860">
            <a:solidFill>
              <a:srgbClr val="D8D4D4"/>
            </a:solidFill>
            <a:prstDash val="solid"/>
          </a:ln>
        </p:spPr>
      </p:sp>
      <p:sp>
        <p:nvSpPr>
          <p:cNvPr id="7" name="Text 5"/>
          <p:cNvSpPr/>
          <p:nvPr/>
        </p:nvSpPr>
        <p:spPr>
          <a:xfrm>
            <a:off x="5428655" y="3394829"/>
            <a:ext cx="3772972" cy="781288"/>
          </a:xfrm>
          <a:prstGeom prst="rect">
            <a:avLst/>
          </a:prstGeom>
          <a:noFill/>
          <a:ln/>
        </p:spPr>
        <p:txBody>
          <a:bodyPr wrap="squar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Distribution-Free Alternative</a:t>
            </a:r>
            <a:endParaRPr lang="en-US" sz="2450" dirty="0"/>
          </a:p>
        </p:txBody>
      </p:sp>
      <p:sp>
        <p:nvSpPr>
          <p:cNvPr id="8" name="Text 6"/>
          <p:cNvSpPr/>
          <p:nvPr/>
        </p:nvSpPr>
        <p:spPr>
          <a:xfrm>
            <a:off x="5428655" y="4295180"/>
            <a:ext cx="3772972"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Nonparametric tests don't require assumptions about the population distribution. They're also called distribution-free tests and work with ordinal or non-normal continuous data.</a:t>
            </a:r>
            <a:endParaRPr lang="en-US" sz="1550" dirty="0"/>
          </a:p>
        </p:txBody>
      </p:sp>
      <p:sp>
        <p:nvSpPr>
          <p:cNvPr id="9" name="Shape 7"/>
          <p:cNvSpPr/>
          <p:nvPr/>
        </p:nvSpPr>
        <p:spPr>
          <a:xfrm>
            <a:off x="9621203" y="3173611"/>
            <a:ext cx="4215289" cy="2930485"/>
          </a:xfrm>
          <a:prstGeom prst="roundRect">
            <a:avLst>
              <a:gd name="adj" fmla="val 1016"/>
            </a:avLst>
          </a:prstGeom>
          <a:solidFill>
            <a:srgbClr val="FFFFFF"/>
          </a:solidFill>
          <a:ln w="22860">
            <a:solidFill>
              <a:srgbClr val="D8D4D4"/>
            </a:solidFill>
            <a:prstDash val="solid"/>
          </a:ln>
        </p:spPr>
      </p:sp>
      <p:sp>
        <p:nvSpPr>
          <p:cNvPr id="10" name="Text 8"/>
          <p:cNvSpPr/>
          <p:nvPr/>
        </p:nvSpPr>
        <p:spPr>
          <a:xfrm>
            <a:off x="9842421" y="3394829"/>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Power Considerations</a:t>
            </a:r>
            <a:endParaRPr lang="en-US" sz="2450" dirty="0"/>
          </a:p>
        </p:txBody>
      </p:sp>
      <p:sp>
        <p:nvSpPr>
          <p:cNvPr id="11" name="Text 9"/>
          <p:cNvSpPr/>
          <p:nvPr/>
        </p:nvSpPr>
        <p:spPr>
          <a:xfrm>
            <a:off x="9842421" y="3904536"/>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When parametric assumptions are met, parametric tests have greater statistical power. However, nonparametric tests are more robust when assumptions are violated.</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055614"/>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Mann-Whitney U Test</a:t>
            </a:r>
            <a:endParaRPr lang="en-US" sz="4100" dirty="0"/>
          </a:p>
        </p:txBody>
      </p:sp>
      <p:sp>
        <p:nvSpPr>
          <p:cNvPr id="3" name="Text 1"/>
          <p:cNvSpPr/>
          <p:nvPr/>
        </p:nvSpPr>
        <p:spPr>
          <a:xfrm>
            <a:off x="793790" y="3004542"/>
            <a:ext cx="5690830"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Nonparametric Alternative to Independent t-Test</a:t>
            </a:r>
            <a:endParaRPr lang="en-US" sz="2050" dirty="0"/>
          </a:p>
        </p:txBody>
      </p:sp>
      <p:sp>
        <p:nvSpPr>
          <p:cNvPr id="4" name="Text 2"/>
          <p:cNvSpPr/>
          <p:nvPr/>
        </p:nvSpPr>
        <p:spPr>
          <a:xfrm>
            <a:off x="793790" y="3627834"/>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Mann-Whitney U test compares differences between two independent groups when the dependent variable is either ordinal or continuous but not normally distributed. It's mathematically equivalent to the Wilcoxon rank-sum test.</a:t>
            </a:r>
            <a:endParaRPr lang="en-US" dirty="0"/>
          </a:p>
        </p:txBody>
      </p:sp>
      <p:sp>
        <p:nvSpPr>
          <p:cNvPr id="5" name="Text 3"/>
          <p:cNvSpPr/>
          <p:nvPr/>
        </p:nvSpPr>
        <p:spPr>
          <a:xfrm>
            <a:off x="793790" y="448615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01</a:t>
            </a:r>
            <a:endParaRPr lang="en-US" sz="1550" dirty="0"/>
          </a:p>
        </p:txBody>
      </p:sp>
      <p:sp>
        <p:nvSpPr>
          <p:cNvPr id="6" name="Shape 4"/>
          <p:cNvSpPr/>
          <p:nvPr/>
        </p:nvSpPr>
        <p:spPr>
          <a:xfrm>
            <a:off x="793790" y="4800481"/>
            <a:ext cx="6422231" cy="22860"/>
          </a:xfrm>
          <a:prstGeom prst="rect">
            <a:avLst/>
          </a:prstGeom>
          <a:solidFill>
            <a:srgbClr val="E04F00"/>
          </a:solidFill>
          <a:ln/>
        </p:spPr>
      </p:sp>
      <p:sp>
        <p:nvSpPr>
          <p:cNvPr id="7" name="Text 5"/>
          <p:cNvSpPr/>
          <p:nvPr/>
        </p:nvSpPr>
        <p:spPr>
          <a:xfrm>
            <a:off x="793790" y="494538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Null Hypothesis</a:t>
            </a:r>
            <a:endParaRPr lang="en-US" sz="2050" dirty="0"/>
          </a:p>
        </p:txBody>
      </p:sp>
      <p:sp>
        <p:nvSpPr>
          <p:cNvPr id="8" name="Text 6"/>
          <p:cNvSpPr/>
          <p:nvPr/>
        </p:nvSpPr>
        <p:spPr>
          <a:xfrm>
            <a:off x="793790" y="5390078"/>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two samples come from the same population, meaning there's no difference in the distribution of values between groups.</a:t>
            </a:r>
            <a:endParaRPr lang="en-US" dirty="0"/>
          </a:p>
        </p:txBody>
      </p:sp>
      <p:sp>
        <p:nvSpPr>
          <p:cNvPr id="9" name="Text 7"/>
          <p:cNvSpPr/>
          <p:nvPr/>
        </p:nvSpPr>
        <p:spPr>
          <a:xfrm>
            <a:off x="7414379" y="4486156"/>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PT Serif Light" pitchFamily="34" charset="0"/>
                <a:ea typeface="PT Serif Light" pitchFamily="34" charset="-122"/>
                <a:cs typeface="PT Serif Light" pitchFamily="34" charset="-120"/>
              </a:rPr>
              <a:t>02</a:t>
            </a:r>
            <a:endParaRPr lang="en-US" sz="1550" dirty="0"/>
          </a:p>
        </p:txBody>
      </p:sp>
      <p:sp>
        <p:nvSpPr>
          <p:cNvPr id="10" name="Shape 8"/>
          <p:cNvSpPr/>
          <p:nvPr/>
        </p:nvSpPr>
        <p:spPr>
          <a:xfrm>
            <a:off x="7414379" y="4800481"/>
            <a:ext cx="6422231" cy="22860"/>
          </a:xfrm>
          <a:prstGeom prst="rect">
            <a:avLst/>
          </a:prstGeom>
          <a:solidFill>
            <a:srgbClr val="E04F00"/>
          </a:solidFill>
          <a:ln/>
        </p:spPr>
      </p:sp>
      <p:sp>
        <p:nvSpPr>
          <p:cNvPr id="11" name="Text 9"/>
          <p:cNvSpPr/>
          <p:nvPr/>
        </p:nvSpPr>
        <p:spPr>
          <a:xfrm>
            <a:off x="7414379" y="4945380"/>
            <a:ext cx="2660452"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Alternative Hypothesis</a:t>
            </a:r>
            <a:endParaRPr lang="en-US" sz="2050" dirty="0"/>
          </a:p>
        </p:txBody>
      </p:sp>
      <p:sp>
        <p:nvSpPr>
          <p:cNvPr id="12" name="Text 10"/>
          <p:cNvSpPr/>
          <p:nvPr/>
        </p:nvSpPr>
        <p:spPr>
          <a:xfrm>
            <a:off x="7414379" y="5390078"/>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two samples come from different populations, indicating a significant difference exists between the groups.(stochastic superiority)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44310"/>
            <a:ext cx="7064454"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Mann-Whitney Test Procedure</a:t>
            </a:r>
            <a:endParaRPr lang="en-US" sz="4100" dirty="0"/>
          </a:p>
        </p:txBody>
      </p:sp>
      <p:sp>
        <p:nvSpPr>
          <p:cNvPr id="3" name="Text 1"/>
          <p:cNvSpPr/>
          <p:nvPr/>
        </p:nvSpPr>
        <p:spPr>
          <a:xfrm>
            <a:off x="793790" y="2093238"/>
            <a:ext cx="3845004"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Step-by-Step Calculation Process</a:t>
            </a:r>
            <a:endParaRPr lang="en-US" sz="2050" dirty="0"/>
          </a:p>
        </p:txBody>
      </p:sp>
      <p:pic>
        <p:nvPicPr>
          <p:cNvPr id="4" name="Image 0" descr="preencoded.png"/>
          <p:cNvPicPr>
            <a:picLocks noChangeAspect="1"/>
          </p:cNvPicPr>
          <p:nvPr/>
        </p:nvPicPr>
        <p:blipFill>
          <a:blip r:embed="rId3"/>
          <a:stretch>
            <a:fillRect/>
          </a:stretch>
        </p:blipFill>
        <p:spPr>
          <a:xfrm>
            <a:off x="793790" y="3311843"/>
            <a:ext cx="4215289" cy="1143000"/>
          </a:xfrm>
          <a:prstGeom prst="rect">
            <a:avLst/>
          </a:prstGeom>
        </p:spPr>
      </p:pic>
      <p:sp>
        <p:nvSpPr>
          <p:cNvPr id="5" name="Text 2"/>
          <p:cNvSpPr/>
          <p:nvPr/>
        </p:nvSpPr>
        <p:spPr>
          <a:xfrm>
            <a:off x="992148" y="4105513"/>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Combine Samples</a:t>
            </a:r>
            <a:endParaRPr lang="en-US" sz="2050" dirty="0"/>
          </a:p>
        </p:txBody>
      </p:sp>
      <p:sp>
        <p:nvSpPr>
          <p:cNvPr id="6" name="Text 3"/>
          <p:cNvSpPr/>
          <p:nvPr/>
        </p:nvSpPr>
        <p:spPr>
          <a:xfrm>
            <a:off x="992148" y="4550212"/>
            <a:ext cx="381857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Merge observations from both groups into a single dataset while maintaining group identity labels.</a:t>
            </a:r>
            <a:endParaRPr lang="en-US" dirty="0"/>
          </a:p>
        </p:txBody>
      </p:sp>
      <p:pic>
        <p:nvPicPr>
          <p:cNvPr id="7" name="Image 1" descr="preencoded.png"/>
          <p:cNvPicPr>
            <a:picLocks noChangeAspect="1"/>
          </p:cNvPicPr>
          <p:nvPr/>
        </p:nvPicPr>
        <p:blipFill>
          <a:blip r:embed="rId4"/>
          <a:stretch>
            <a:fillRect/>
          </a:stretch>
        </p:blipFill>
        <p:spPr>
          <a:xfrm>
            <a:off x="5207437" y="3014186"/>
            <a:ext cx="4215408" cy="1143000"/>
          </a:xfrm>
          <a:prstGeom prst="rect">
            <a:avLst/>
          </a:prstGeom>
        </p:spPr>
      </p:pic>
      <p:sp>
        <p:nvSpPr>
          <p:cNvPr id="8" name="Text 4"/>
          <p:cNvSpPr/>
          <p:nvPr/>
        </p:nvSpPr>
        <p:spPr>
          <a:xfrm>
            <a:off x="5405795" y="380785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Rank All Observations</a:t>
            </a:r>
            <a:endParaRPr lang="en-US" sz="2050" dirty="0"/>
          </a:p>
        </p:txBody>
      </p:sp>
      <p:sp>
        <p:nvSpPr>
          <p:cNvPr id="9" name="Text 5"/>
          <p:cNvSpPr/>
          <p:nvPr/>
        </p:nvSpPr>
        <p:spPr>
          <a:xfrm>
            <a:off x="5405795" y="4252555"/>
            <a:ext cx="3818692"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Arrange all values from smallest to largest and assign ranks from 1 to n.</a:t>
            </a:r>
            <a:endParaRPr lang="en-US" dirty="0"/>
          </a:p>
        </p:txBody>
      </p:sp>
      <p:pic>
        <p:nvPicPr>
          <p:cNvPr id="10" name="Image 2" descr="preencoded.png"/>
          <p:cNvPicPr>
            <a:picLocks noChangeAspect="1"/>
          </p:cNvPicPr>
          <p:nvPr/>
        </p:nvPicPr>
        <p:blipFill>
          <a:blip r:embed="rId3"/>
          <a:stretch>
            <a:fillRect/>
          </a:stretch>
        </p:blipFill>
        <p:spPr>
          <a:xfrm>
            <a:off x="9621203" y="2716530"/>
            <a:ext cx="4215289" cy="1143000"/>
          </a:xfrm>
          <a:prstGeom prst="rect">
            <a:avLst/>
          </a:prstGeom>
        </p:spPr>
      </p:pic>
      <p:sp>
        <p:nvSpPr>
          <p:cNvPr id="11" name="Text 6"/>
          <p:cNvSpPr/>
          <p:nvPr/>
        </p:nvSpPr>
        <p:spPr>
          <a:xfrm>
            <a:off x="9819561" y="3510201"/>
            <a:ext cx="2932867"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Track Group Membership</a:t>
            </a:r>
            <a:endParaRPr lang="en-US" sz="2050" dirty="0"/>
          </a:p>
        </p:txBody>
      </p:sp>
      <p:sp>
        <p:nvSpPr>
          <p:cNvPr id="12" name="Text 7"/>
          <p:cNvSpPr/>
          <p:nvPr/>
        </p:nvSpPr>
        <p:spPr>
          <a:xfrm>
            <a:off x="9819561" y="3954899"/>
            <a:ext cx="3818573"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Keep careful records of which group each ranked observation belongs to throughout the process.</a:t>
            </a:r>
            <a:endParaRPr lang="en-US" dirty="0"/>
          </a:p>
        </p:txBody>
      </p:sp>
      <p:sp>
        <p:nvSpPr>
          <p:cNvPr id="13" name="Shape 8"/>
          <p:cNvSpPr/>
          <p:nvPr/>
        </p:nvSpPr>
        <p:spPr>
          <a:xfrm>
            <a:off x="793790" y="5924431"/>
            <a:ext cx="13042821" cy="1160740"/>
          </a:xfrm>
          <a:prstGeom prst="roundRect">
            <a:avLst>
              <a:gd name="adj" fmla="val 2565"/>
            </a:avLst>
          </a:prstGeom>
          <a:solidFill>
            <a:srgbClr val="FFCDB3"/>
          </a:solidFill>
          <a:ln/>
        </p:spPr>
      </p:sp>
      <p:pic>
        <p:nvPicPr>
          <p:cNvPr id="14" name="Image 3" descr="preencoded.png"/>
          <p:cNvPicPr>
            <a:picLocks noChangeAspect="1"/>
          </p:cNvPicPr>
          <p:nvPr/>
        </p:nvPicPr>
        <p:blipFill>
          <a:blip r:embed="rId5"/>
          <a:stretch>
            <a:fillRect/>
          </a:stretch>
        </p:blipFill>
        <p:spPr>
          <a:xfrm>
            <a:off x="992148" y="6219706"/>
            <a:ext cx="248007" cy="198358"/>
          </a:xfrm>
          <a:prstGeom prst="rect">
            <a:avLst/>
          </a:prstGeom>
        </p:spPr>
      </p:pic>
      <p:sp>
        <p:nvSpPr>
          <p:cNvPr id="15" name="Text 9"/>
          <p:cNvSpPr/>
          <p:nvPr/>
        </p:nvSpPr>
        <p:spPr>
          <a:xfrm>
            <a:off x="1438513" y="6172319"/>
            <a:ext cx="12199739" cy="635079"/>
          </a:xfrm>
          <a:prstGeom prst="rect">
            <a:avLst/>
          </a:prstGeom>
          <a:noFill/>
          <a:ln/>
        </p:spPr>
        <p:txBody>
          <a:bodyPr wrap="square" lIns="0" tIns="0" rIns="0" bIns="0" rtlCol="0" anchor="t"/>
          <a:lstStyle/>
          <a:p>
            <a:pPr marL="0" indent="0" algn="l">
              <a:lnSpc>
                <a:spcPts val="2500"/>
              </a:lnSpc>
              <a:buNone/>
            </a:pPr>
            <a:r>
              <a:rPr lang="en-US" b="1" dirty="0">
                <a:solidFill>
                  <a:srgbClr val="000000"/>
                </a:solidFill>
                <a:latin typeface="DM Sans" pitchFamily="34" charset="0"/>
                <a:ea typeface="DM Sans" pitchFamily="34" charset="-122"/>
                <a:cs typeface="DM Sans" pitchFamily="34" charset="-120"/>
              </a:rPr>
              <a:t>Important:</a:t>
            </a:r>
            <a:r>
              <a:rPr lang="en-US" dirty="0">
                <a:solidFill>
                  <a:srgbClr val="000000"/>
                </a:solidFill>
                <a:latin typeface="DM Sans" pitchFamily="34" charset="0"/>
                <a:ea typeface="DM Sans" pitchFamily="34" charset="-122"/>
                <a:cs typeface="DM Sans" pitchFamily="34" charset="-120"/>
              </a:rPr>
              <a:t> Tied observations receive a rank equal to the mean of the rank positions they occupy. For example, if two values tie for ranks 5 and 6, both receive rank 5.5.</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502456"/>
            <a:ext cx="6602968"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Computing the Test Statistic</a:t>
            </a:r>
            <a:endParaRPr lang="en-US" sz="4100" dirty="0"/>
          </a:p>
        </p:txBody>
      </p:sp>
      <p:sp>
        <p:nvSpPr>
          <p:cNvPr id="3" name="Shape 1"/>
          <p:cNvSpPr/>
          <p:nvPr/>
        </p:nvSpPr>
        <p:spPr>
          <a:xfrm>
            <a:off x="793790" y="3550563"/>
            <a:ext cx="4215289" cy="2176582"/>
          </a:xfrm>
          <a:prstGeom prst="roundRect">
            <a:avLst>
              <a:gd name="adj" fmla="val 1368"/>
            </a:avLst>
          </a:prstGeom>
          <a:solidFill>
            <a:srgbClr val="F2EEEE"/>
          </a:solidFill>
          <a:ln/>
        </p:spPr>
      </p:sp>
      <p:sp>
        <p:nvSpPr>
          <p:cNvPr id="4" name="Text 2"/>
          <p:cNvSpPr/>
          <p:nvPr/>
        </p:nvSpPr>
        <p:spPr>
          <a:xfrm>
            <a:off x="992148" y="3748921"/>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Calculate U Statistic</a:t>
            </a:r>
            <a:endParaRPr lang="en-US" sz="2450" dirty="0"/>
          </a:p>
        </p:txBody>
      </p:sp>
      <p:sp>
        <p:nvSpPr>
          <p:cNvPr id="5" name="Text 3"/>
          <p:cNvSpPr/>
          <p:nvPr/>
        </p:nvSpPr>
        <p:spPr>
          <a:xfrm>
            <a:off x="992148" y="4258628"/>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test statistic U is calculated using the formula that incorporates T (sum of ranks for the first sample), m (first sample size), and n (second sample size).</a:t>
            </a:r>
            <a:endParaRPr lang="en-US" sz="1550" dirty="0"/>
          </a:p>
        </p:txBody>
      </p:sp>
      <p:sp>
        <p:nvSpPr>
          <p:cNvPr id="6" name="Shape 4"/>
          <p:cNvSpPr/>
          <p:nvPr/>
        </p:nvSpPr>
        <p:spPr>
          <a:xfrm>
            <a:off x="5207437" y="3550563"/>
            <a:ext cx="4215408" cy="2176582"/>
          </a:xfrm>
          <a:prstGeom prst="roundRect">
            <a:avLst>
              <a:gd name="adj" fmla="val 1368"/>
            </a:avLst>
          </a:prstGeom>
          <a:solidFill>
            <a:srgbClr val="F2EEEE"/>
          </a:solidFill>
          <a:ln/>
        </p:spPr>
      </p:sp>
      <p:sp>
        <p:nvSpPr>
          <p:cNvPr id="7" name="Text 5"/>
          <p:cNvSpPr/>
          <p:nvPr/>
        </p:nvSpPr>
        <p:spPr>
          <a:xfrm>
            <a:off x="5405795" y="3748921"/>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Standardization</a:t>
            </a:r>
            <a:endParaRPr lang="en-US" sz="2450" dirty="0"/>
          </a:p>
        </p:txBody>
      </p:sp>
      <p:sp>
        <p:nvSpPr>
          <p:cNvPr id="8" name="Text 6"/>
          <p:cNvSpPr/>
          <p:nvPr/>
        </p:nvSpPr>
        <p:spPr>
          <a:xfrm>
            <a:off x="5405795" y="4258628"/>
            <a:ext cx="3818692"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standardized U statistic follows a normal distribution for moderate to large sample sizes, allowing use of z-tables for hypothesis testing.</a:t>
            </a:r>
            <a:endParaRPr lang="en-US" sz="1550" dirty="0"/>
          </a:p>
        </p:txBody>
      </p:sp>
      <p:sp>
        <p:nvSpPr>
          <p:cNvPr id="9" name="Shape 7"/>
          <p:cNvSpPr/>
          <p:nvPr/>
        </p:nvSpPr>
        <p:spPr>
          <a:xfrm>
            <a:off x="9621203" y="3550563"/>
            <a:ext cx="4215289" cy="2176582"/>
          </a:xfrm>
          <a:prstGeom prst="roundRect">
            <a:avLst>
              <a:gd name="adj" fmla="val 1368"/>
            </a:avLst>
          </a:prstGeom>
          <a:solidFill>
            <a:srgbClr val="F2EEEE"/>
          </a:solidFill>
          <a:ln/>
        </p:spPr>
      </p:sp>
      <p:sp>
        <p:nvSpPr>
          <p:cNvPr id="10" name="Text 8"/>
          <p:cNvSpPr/>
          <p:nvPr/>
        </p:nvSpPr>
        <p:spPr>
          <a:xfrm>
            <a:off x="9819561" y="3748921"/>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Decision Rule</a:t>
            </a:r>
            <a:endParaRPr lang="en-US" sz="2450" dirty="0"/>
          </a:p>
        </p:txBody>
      </p:sp>
      <p:sp>
        <p:nvSpPr>
          <p:cNvPr id="11" name="Text 9"/>
          <p:cNvSpPr/>
          <p:nvPr/>
        </p:nvSpPr>
        <p:spPr>
          <a:xfrm>
            <a:off x="9819561" y="4258628"/>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Compare the calculated p-value with your predetermined level of significance (typically α = 0.05) to make your statistical conclusion.</a:t>
            </a:r>
            <a:endParaRPr lang="en-US" sz="1550" dirty="0"/>
          </a:p>
        </p:txBody>
      </p:sp>
      <p:graphicFrame>
        <p:nvGraphicFramePr>
          <p:cNvPr id="12" name="Object 6">
            <a:extLst>
              <a:ext uri="{FF2B5EF4-FFF2-40B4-BE49-F238E27FC236}">
                <a16:creationId xmlns:a16="http://schemas.microsoft.com/office/drawing/2014/main" id="{946F2EB0-E02F-4D44-A1AC-6767C44B443E}"/>
              </a:ext>
            </a:extLst>
          </p:cNvPr>
          <p:cNvGraphicFramePr>
            <a:graphicFrameLocks noChangeAspect="1"/>
          </p:cNvGraphicFramePr>
          <p:nvPr>
            <p:extLst>
              <p:ext uri="{D42A27DB-BD31-4B8C-83A1-F6EECF244321}">
                <p14:modId xmlns:p14="http://schemas.microsoft.com/office/powerpoint/2010/main" val="1546593292"/>
              </p:ext>
            </p:extLst>
          </p:nvPr>
        </p:nvGraphicFramePr>
        <p:xfrm>
          <a:off x="1527968" y="6123980"/>
          <a:ext cx="2054225" cy="592138"/>
        </p:xfrm>
        <a:graphic>
          <a:graphicData uri="http://schemas.openxmlformats.org/presentationml/2006/ole">
            <mc:AlternateContent xmlns:mc="http://schemas.openxmlformats.org/markup-compatibility/2006">
              <mc:Choice xmlns:v="urn:schemas-microsoft-com:vml" Requires="v">
                <p:oleObj spid="_x0000_s1061" name="Equation" r:id="rId4" imgW="850531" imgH="317362" progId="Equation.3">
                  <p:embed/>
                </p:oleObj>
              </mc:Choice>
              <mc:Fallback>
                <p:oleObj name="Equation" r:id="rId4" imgW="850531" imgH="317362" progId="Equation.3">
                  <p:embed/>
                  <p:pic>
                    <p:nvPicPr>
                      <p:cNvPr id="102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7968" y="6123980"/>
                        <a:ext cx="2054225" cy="592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8">
            <a:extLst>
              <a:ext uri="{FF2B5EF4-FFF2-40B4-BE49-F238E27FC236}">
                <a16:creationId xmlns:a16="http://schemas.microsoft.com/office/drawing/2014/main" id="{2674307D-CF10-2848-9A76-EAEE78DF91E9}"/>
              </a:ext>
            </a:extLst>
          </p:cNvPr>
          <p:cNvGraphicFramePr>
            <a:graphicFrameLocks noChangeAspect="1"/>
          </p:cNvGraphicFramePr>
          <p:nvPr>
            <p:extLst>
              <p:ext uri="{D42A27DB-BD31-4B8C-83A1-F6EECF244321}">
                <p14:modId xmlns:p14="http://schemas.microsoft.com/office/powerpoint/2010/main" val="1685882489"/>
              </p:ext>
            </p:extLst>
          </p:nvPr>
        </p:nvGraphicFramePr>
        <p:xfrm>
          <a:off x="5781822" y="6001346"/>
          <a:ext cx="1752600" cy="695325"/>
        </p:xfrm>
        <a:graphic>
          <a:graphicData uri="http://schemas.openxmlformats.org/presentationml/2006/ole">
            <mc:AlternateContent xmlns:mc="http://schemas.openxmlformats.org/markup-compatibility/2006">
              <mc:Choice xmlns:v="urn:schemas-microsoft-com:vml" Requires="v">
                <p:oleObj spid="_x0000_s1062" name="Equation" r:id="rId6" imgW="748975" imgH="393529" progId="Equation.3">
                  <p:embed/>
                </p:oleObj>
              </mc:Choice>
              <mc:Fallback>
                <p:oleObj name="Equation" r:id="rId6" imgW="748975" imgH="393529" progId="Equation.3">
                  <p:embed/>
                  <p:pic>
                    <p:nvPicPr>
                      <p:cNvPr id="1026"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81822" y="6001346"/>
                        <a:ext cx="1752600" cy="69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0">
            <a:extLst>
              <a:ext uri="{FF2B5EF4-FFF2-40B4-BE49-F238E27FC236}">
                <a16:creationId xmlns:a16="http://schemas.microsoft.com/office/drawing/2014/main" id="{30FC688D-9D51-C241-8D01-853B04CB8AF2}"/>
              </a:ext>
            </a:extLst>
          </p:cNvPr>
          <p:cNvGraphicFramePr>
            <a:graphicFrameLocks noChangeAspect="1"/>
          </p:cNvGraphicFramePr>
          <p:nvPr>
            <p:extLst>
              <p:ext uri="{D42A27DB-BD31-4B8C-83A1-F6EECF244321}">
                <p14:modId xmlns:p14="http://schemas.microsoft.com/office/powerpoint/2010/main" val="1590848377"/>
              </p:ext>
            </p:extLst>
          </p:nvPr>
        </p:nvGraphicFramePr>
        <p:xfrm>
          <a:off x="5781822" y="6716118"/>
          <a:ext cx="3003550" cy="722313"/>
        </p:xfrm>
        <a:graphic>
          <a:graphicData uri="http://schemas.openxmlformats.org/presentationml/2006/ole">
            <mc:AlternateContent xmlns:mc="http://schemas.openxmlformats.org/markup-compatibility/2006">
              <mc:Choice xmlns:v="urn:schemas-microsoft-com:vml" Requires="v">
                <p:oleObj spid="_x0000_s1063" name="Equation" r:id="rId8" imgW="875920" imgH="253890" progId="Equation.3">
                  <p:embed/>
                </p:oleObj>
              </mc:Choice>
              <mc:Fallback>
                <p:oleObj name="Equation" r:id="rId8" imgW="875920" imgH="253890" progId="Equation.3">
                  <p:embed/>
                  <p:pic>
                    <p:nvPicPr>
                      <p:cNvPr id="1027"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81822" y="6716118"/>
                        <a:ext cx="3003550" cy="722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6505" y="457530"/>
            <a:ext cx="6578560" cy="488394"/>
          </a:xfrm>
          <a:prstGeom prst="rect">
            <a:avLst/>
          </a:prstGeom>
          <a:noFill/>
          <a:ln/>
        </p:spPr>
        <p:txBody>
          <a:bodyPr wrap="none" lIns="0" tIns="0" rIns="0" bIns="0" rtlCol="0" anchor="t"/>
          <a:lstStyle/>
          <a:p>
            <a:pPr marL="0" indent="0" algn="l">
              <a:lnSpc>
                <a:spcPts val="3800"/>
              </a:lnSpc>
              <a:buNone/>
            </a:pPr>
            <a:r>
              <a:rPr lang="en-US" sz="3050" dirty="0">
                <a:solidFill>
                  <a:srgbClr val="020202"/>
                </a:solidFill>
                <a:latin typeface="PT Serif" pitchFamily="34" charset="0"/>
                <a:ea typeface="PT Serif" pitchFamily="34" charset="-122"/>
                <a:cs typeface="PT Serif" pitchFamily="34" charset="-120"/>
              </a:rPr>
              <a:t>Mann-Whitney Test: Worked Example</a:t>
            </a:r>
            <a:endParaRPr lang="en-US" sz="3050" dirty="0"/>
          </a:p>
        </p:txBody>
      </p:sp>
      <p:sp>
        <p:nvSpPr>
          <p:cNvPr id="3" name="Text 1"/>
          <p:cNvSpPr/>
          <p:nvPr/>
        </p:nvSpPr>
        <p:spPr>
          <a:xfrm>
            <a:off x="793790" y="1560552"/>
            <a:ext cx="1953697" cy="244197"/>
          </a:xfrm>
          <a:prstGeom prst="rect">
            <a:avLst/>
          </a:prstGeom>
          <a:noFill/>
          <a:ln/>
        </p:spPr>
        <p:txBody>
          <a:bodyPr wrap="none" lIns="0" tIns="0" rIns="0" bIns="0" rtlCol="0" anchor="t"/>
          <a:lstStyle/>
          <a:p>
            <a:pPr marL="0" indent="0" algn="l">
              <a:lnSpc>
                <a:spcPts val="1900"/>
              </a:lnSpc>
              <a:buNone/>
            </a:pPr>
            <a:r>
              <a:rPr lang="en-US" dirty="0">
                <a:solidFill>
                  <a:srgbClr val="020202"/>
                </a:solidFill>
                <a:latin typeface="PT Serif" pitchFamily="34" charset="0"/>
                <a:ea typeface="PT Serif" pitchFamily="34" charset="-122"/>
                <a:cs typeface="PT Serif" pitchFamily="34" charset="-120"/>
              </a:rPr>
              <a:t>Sample Data</a:t>
            </a:r>
            <a:endParaRPr lang="en-US" dirty="0"/>
          </a:p>
        </p:txBody>
      </p:sp>
      <p:pic>
        <p:nvPicPr>
          <p:cNvPr id="4" name="Image 0" descr="preencoded.png"/>
          <p:cNvPicPr>
            <a:picLocks noChangeAspect="1"/>
          </p:cNvPicPr>
          <p:nvPr/>
        </p:nvPicPr>
        <p:blipFill>
          <a:blip r:embed="rId3"/>
          <a:stretch>
            <a:fillRect/>
          </a:stretch>
        </p:blipFill>
        <p:spPr>
          <a:xfrm>
            <a:off x="793789" y="1972151"/>
            <a:ext cx="1953697" cy="2438189"/>
          </a:xfrm>
          <a:prstGeom prst="rect">
            <a:avLst/>
          </a:prstGeom>
        </p:spPr>
      </p:pic>
      <p:sp>
        <p:nvSpPr>
          <p:cNvPr id="5" name="Text 2"/>
          <p:cNvSpPr/>
          <p:nvPr/>
        </p:nvSpPr>
        <p:spPr>
          <a:xfrm>
            <a:off x="7436217" y="2772919"/>
            <a:ext cx="4999196" cy="814343"/>
          </a:xfrm>
          <a:prstGeom prst="rect">
            <a:avLst/>
          </a:prstGeom>
          <a:noFill/>
          <a:ln/>
        </p:spPr>
        <p:txBody>
          <a:bodyPr wrap="none" lIns="0" tIns="0" rIns="0" bIns="0" rtlCol="0" anchor="t"/>
          <a:lstStyle/>
          <a:p>
            <a:pPr marL="0" indent="0" algn="l">
              <a:lnSpc>
                <a:spcPts val="1850"/>
              </a:lnSpc>
              <a:buNone/>
            </a:pPr>
            <a:r>
              <a:rPr lang="en-US" dirty="0">
                <a:solidFill>
                  <a:srgbClr val="383838"/>
                </a:solidFill>
                <a:latin typeface="DM Sans" pitchFamily="34" charset="0"/>
                <a:ea typeface="DM Sans" pitchFamily="34" charset="-122"/>
                <a:cs typeface="DM Sans" pitchFamily="34" charset="-120"/>
              </a:rPr>
              <a:t>Two independent samples with different sizes</a:t>
            </a:r>
          </a:p>
          <a:p>
            <a:pPr marL="0" indent="0" algn="l">
              <a:lnSpc>
                <a:spcPts val="1850"/>
              </a:lnSpc>
              <a:buNone/>
            </a:pPr>
            <a:r>
              <a:rPr lang="en-US" dirty="0">
                <a:solidFill>
                  <a:srgbClr val="383838"/>
                </a:solidFill>
                <a:latin typeface="DM Sans" pitchFamily="34" charset="0"/>
                <a:ea typeface="DM Sans" pitchFamily="34" charset="-122"/>
                <a:cs typeface="DM Sans" pitchFamily="34" charset="-120"/>
              </a:rPr>
              <a:t> are combined and ranked.</a:t>
            </a:r>
            <a:endParaRPr lang="en-US" dirty="0"/>
          </a:p>
        </p:txBody>
      </p:sp>
      <p:sp>
        <p:nvSpPr>
          <p:cNvPr id="6" name="Text 3"/>
          <p:cNvSpPr/>
          <p:nvPr/>
        </p:nvSpPr>
        <p:spPr>
          <a:xfrm>
            <a:off x="5017413" y="1316355"/>
            <a:ext cx="1953697" cy="244197"/>
          </a:xfrm>
          <a:prstGeom prst="rect">
            <a:avLst/>
          </a:prstGeom>
          <a:noFill/>
          <a:ln/>
        </p:spPr>
        <p:txBody>
          <a:bodyPr wrap="none" lIns="0" tIns="0" rIns="0" bIns="0" rtlCol="0" anchor="t"/>
          <a:lstStyle/>
          <a:p>
            <a:pPr marL="0" indent="0" algn="l">
              <a:lnSpc>
                <a:spcPts val="1900"/>
              </a:lnSpc>
              <a:buNone/>
            </a:pPr>
            <a:r>
              <a:rPr lang="en-US" dirty="0">
                <a:solidFill>
                  <a:srgbClr val="020202"/>
                </a:solidFill>
                <a:latin typeface="PT Serif" pitchFamily="34" charset="0"/>
                <a:ea typeface="PT Serif" pitchFamily="34" charset="-122"/>
                <a:cs typeface="PT Serif" pitchFamily="34" charset="-120"/>
              </a:rPr>
              <a:t>Ranked Data</a:t>
            </a:r>
            <a:endParaRPr lang="en-US" dirty="0"/>
          </a:p>
        </p:txBody>
      </p:sp>
      <p:pic>
        <p:nvPicPr>
          <p:cNvPr id="7" name="Image 1" descr="preencoded.png"/>
          <p:cNvPicPr>
            <a:picLocks noChangeAspect="1"/>
          </p:cNvPicPr>
          <p:nvPr/>
        </p:nvPicPr>
        <p:blipFill>
          <a:blip r:embed="rId4"/>
          <a:stretch>
            <a:fillRect/>
          </a:stretch>
        </p:blipFill>
        <p:spPr>
          <a:xfrm>
            <a:off x="3882390" y="1766741"/>
            <a:ext cx="3302675" cy="3899297"/>
          </a:xfrm>
          <a:prstGeom prst="rect">
            <a:avLst/>
          </a:prstGeom>
        </p:spPr>
      </p:pic>
      <p:sp>
        <p:nvSpPr>
          <p:cNvPr id="8" name="Text 4"/>
          <p:cNvSpPr/>
          <p:nvPr/>
        </p:nvSpPr>
        <p:spPr>
          <a:xfrm>
            <a:off x="793790" y="6280666"/>
            <a:ext cx="4223623" cy="491133"/>
          </a:xfrm>
          <a:prstGeom prst="rect">
            <a:avLst/>
          </a:prstGeom>
          <a:noFill/>
          <a:ln/>
        </p:spPr>
        <p:txBody>
          <a:bodyPr wrap="none" lIns="0" tIns="0" rIns="0" bIns="0" rtlCol="0" anchor="t"/>
          <a:lstStyle/>
          <a:p>
            <a:pPr marL="0" indent="0" algn="ctr">
              <a:lnSpc>
                <a:spcPts val="3850"/>
              </a:lnSpc>
              <a:buNone/>
            </a:pPr>
            <a:r>
              <a:rPr lang="en-US" sz="3850" dirty="0">
                <a:solidFill>
                  <a:srgbClr val="383838"/>
                </a:solidFill>
                <a:latin typeface="PT Serif" pitchFamily="34" charset="0"/>
                <a:ea typeface="PT Serif" pitchFamily="34" charset="-122"/>
                <a:cs typeface="PT Serif" pitchFamily="34" charset="-120"/>
              </a:rPr>
              <a:t>39</a:t>
            </a:r>
            <a:endParaRPr lang="en-US" sz="3850" dirty="0"/>
          </a:p>
        </p:txBody>
      </p:sp>
      <p:sp>
        <p:nvSpPr>
          <p:cNvPr id="9" name="Text 5"/>
          <p:cNvSpPr/>
          <p:nvPr/>
        </p:nvSpPr>
        <p:spPr>
          <a:xfrm>
            <a:off x="1928693" y="6957774"/>
            <a:ext cx="1953697" cy="244197"/>
          </a:xfrm>
          <a:prstGeom prst="rect">
            <a:avLst/>
          </a:prstGeom>
          <a:noFill/>
          <a:ln/>
        </p:spPr>
        <p:txBody>
          <a:bodyPr wrap="none" lIns="0" tIns="0" rIns="0" bIns="0" rtlCol="0" anchor="t"/>
          <a:lstStyle/>
          <a:p>
            <a:pPr marL="0" indent="0" algn="ctr">
              <a:lnSpc>
                <a:spcPts val="1900"/>
              </a:lnSpc>
              <a:buNone/>
            </a:pPr>
            <a:r>
              <a:rPr lang="en-US" dirty="0">
                <a:solidFill>
                  <a:srgbClr val="383838"/>
                </a:solidFill>
                <a:latin typeface="PT Serif" pitchFamily="34" charset="0"/>
                <a:ea typeface="PT Serif" pitchFamily="34" charset="-122"/>
                <a:cs typeface="PT Serif" pitchFamily="34" charset="-120"/>
              </a:rPr>
              <a:t>T Value</a:t>
            </a:r>
            <a:endParaRPr lang="en-US" dirty="0"/>
          </a:p>
        </p:txBody>
      </p:sp>
      <p:sp>
        <p:nvSpPr>
          <p:cNvPr id="10" name="Text 6"/>
          <p:cNvSpPr/>
          <p:nvPr/>
        </p:nvSpPr>
        <p:spPr>
          <a:xfrm>
            <a:off x="793790" y="7291268"/>
            <a:ext cx="4223623" cy="238125"/>
          </a:xfrm>
          <a:prstGeom prst="rect">
            <a:avLst/>
          </a:prstGeom>
          <a:noFill/>
          <a:ln/>
        </p:spPr>
        <p:txBody>
          <a:bodyPr wrap="none" lIns="0" tIns="0" rIns="0" bIns="0" rtlCol="0" anchor="t"/>
          <a:lstStyle/>
          <a:p>
            <a:pPr marL="0" indent="0" algn="ctr">
              <a:lnSpc>
                <a:spcPts val="1850"/>
              </a:lnSpc>
              <a:buNone/>
            </a:pPr>
            <a:r>
              <a:rPr lang="en-US" dirty="0">
                <a:solidFill>
                  <a:srgbClr val="383838"/>
                </a:solidFill>
                <a:latin typeface="DM Sans" pitchFamily="34" charset="0"/>
                <a:ea typeface="DM Sans" pitchFamily="34" charset="-122"/>
                <a:cs typeface="DM Sans" pitchFamily="34" charset="-120"/>
              </a:rPr>
              <a:t>Sum of ranks for first sample</a:t>
            </a:r>
            <a:endParaRPr lang="en-US" dirty="0"/>
          </a:p>
        </p:txBody>
      </p:sp>
      <p:sp>
        <p:nvSpPr>
          <p:cNvPr id="11" name="Text 7"/>
          <p:cNvSpPr/>
          <p:nvPr/>
        </p:nvSpPr>
        <p:spPr>
          <a:xfrm>
            <a:off x="5203388" y="6280666"/>
            <a:ext cx="4223623" cy="491133"/>
          </a:xfrm>
          <a:prstGeom prst="rect">
            <a:avLst/>
          </a:prstGeom>
          <a:noFill/>
          <a:ln/>
        </p:spPr>
        <p:txBody>
          <a:bodyPr wrap="none" lIns="0" tIns="0" rIns="0" bIns="0" rtlCol="0" anchor="t"/>
          <a:lstStyle/>
          <a:p>
            <a:pPr marL="0" indent="0" algn="ctr">
              <a:lnSpc>
                <a:spcPts val="3850"/>
              </a:lnSpc>
              <a:buNone/>
            </a:pPr>
            <a:r>
              <a:rPr lang="en-US" sz="3850" dirty="0">
                <a:solidFill>
                  <a:srgbClr val="383838"/>
                </a:solidFill>
                <a:latin typeface="PT Serif" pitchFamily="34" charset="0"/>
                <a:ea typeface="PT Serif" pitchFamily="34" charset="-122"/>
                <a:cs typeface="PT Serif" pitchFamily="34" charset="-120"/>
              </a:rPr>
              <a:t>6</a:t>
            </a:r>
            <a:endParaRPr lang="en-US" sz="3850" dirty="0"/>
          </a:p>
        </p:txBody>
      </p:sp>
      <p:sp>
        <p:nvSpPr>
          <p:cNvPr id="12" name="Text 8"/>
          <p:cNvSpPr/>
          <p:nvPr/>
        </p:nvSpPr>
        <p:spPr>
          <a:xfrm>
            <a:off x="6338292" y="6957774"/>
            <a:ext cx="1953697" cy="244197"/>
          </a:xfrm>
          <a:prstGeom prst="rect">
            <a:avLst/>
          </a:prstGeom>
          <a:noFill/>
          <a:ln/>
        </p:spPr>
        <p:txBody>
          <a:bodyPr wrap="none" lIns="0" tIns="0" rIns="0" bIns="0" rtlCol="0" anchor="t"/>
          <a:lstStyle/>
          <a:p>
            <a:pPr marL="0" indent="0" algn="ctr">
              <a:lnSpc>
                <a:spcPts val="1900"/>
              </a:lnSpc>
              <a:buNone/>
            </a:pPr>
            <a:r>
              <a:rPr lang="en-US" dirty="0">
                <a:solidFill>
                  <a:srgbClr val="383838"/>
                </a:solidFill>
                <a:latin typeface="PT Serif" pitchFamily="34" charset="0"/>
                <a:ea typeface="PT Serif" pitchFamily="34" charset="-122"/>
                <a:cs typeface="PT Serif" pitchFamily="34" charset="-120"/>
              </a:rPr>
              <a:t>m</a:t>
            </a:r>
            <a:endParaRPr lang="en-US" dirty="0"/>
          </a:p>
        </p:txBody>
      </p:sp>
      <p:sp>
        <p:nvSpPr>
          <p:cNvPr id="13" name="Text 9"/>
          <p:cNvSpPr/>
          <p:nvPr/>
        </p:nvSpPr>
        <p:spPr>
          <a:xfrm>
            <a:off x="5203388" y="7291268"/>
            <a:ext cx="4223623" cy="238125"/>
          </a:xfrm>
          <a:prstGeom prst="rect">
            <a:avLst/>
          </a:prstGeom>
          <a:noFill/>
          <a:ln/>
        </p:spPr>
        <p:txBody>
          <a:bodyPr wrap="none" lIns="0" tIns="0" rIns="0" bIns="0" rtlCol="0" anchor="t"/>
          <a:lstStyle/>
          <a:p>
            <a:pPr marL="0" indent="0" algn="ctr">
              <a:lnSpc>
                <a:spcPts val="1850"/>
              </a:lnSpc>
              <a:buNone/>
            </a:pPr>
            <a:r>
              <a:rPr lang="en-US" dirty="0">
                <a:solidFill>
                  <a:srgbClr val="383838"/>
                </a:solidFill>
                <a:latin typeface="DM Sans" pitchFamily="34" charset="0"/>
                <a:ea typeface="DM Sans" pitchFamily="34" charset="-122"/>
                <a:cs typeface="DM Sans" pitchFamily="34" charset="-120"/>
              </a:rPr>
              <a:t>First sample size</a:t>
            </a:r>
            <a:endParaRPr lang="en-US" dirty="0"/>
          </a:p>
        </p:txBody>
      </p:sp>
      <p:sp>
        <p:nvSpPr>
          <p:cNvPr id="14" name="Text 10"/>
          <p:cNvSpPr/>
          <p:nvPr/>
        </p:nvSpPr>
        <p:spPr>
          <a:xfrm>
            <a:off x="9612987" y="6280666"/>
            <a:ext cx="4223623" cy="491133"/>
          </a:xfrm>
          <a:prstGeom prst="rect">
            <a:avLst/>
          </a:prstGeom>
          <a:noFill/>
          <a:ln/>
        </p:spPr>
        <p:txBody>
          <a:bodyPr wrap="none" lIns="0" tIns="0" rIns="0" bIns="0" rtlCol="0" anchor="t"/>
          <a:lstStyle/>
          <a:p>
            <a:pPr marL="0" indent="0" algn="ctr">
              <a:lnSpc>
                <a:spcPts val="3850"/>
              </a:lnSpc>
              <a:buNone/>
            </a:pPr>
            <a:r>
              <a:rPr lang="en-US" sz="3850" dirty="0">
                <a:solidFill>
                  <a:srgbClr val="383838"/>
                </a:solidFill>
                <a:latin typeface="PT Serif" pitchFamily="34" charset="0"/>
                <a:ea typeface="PT Serif" pitchFamily="34" charset="-122"/>
                <a:cs typeface="PT Serif" pitchFamily="34" charset="-120"/>
              </a:rPr>
              <a:t>7</a:t>
            </a:r>
            <a:endParaRPr lang="en-US" sz="3850" dirty="0"/>
          </a:p>
        </p:txBody>
      </p:sp>
      <p:sp>
        <p:nvSpPr>
          <p:cNvPr id="15" name="Text 11"/>
          <p:cNvSpPr/>
          <p:nvPr/>
        </p:nvSpPr>
        <p:spPr>
          <a:xfrm>
            <a:off x="10747891" y="6957774"/>
            <a:ext cx="1953697" cy="244197"/>
          </a:xfrm>
          <a:prstGeom prst="rect">
            <a:avLst/>
          </a:prstGeom>
          <a:noFill/>
          <a:ln/>
        </p:spPr>
        <p:txBody>
          <a:bodyPr wrap="none" lIns="0" tIns="0" rIns="0" bIns="0" rtlCol="0" anchor="t"/>
          <a:lstStyle/>
          <a:p>
            <a:pPr marL="0" indent="0" algn="ctr">
              <a:lnSpc>
                <a:spcPts val="1900"/>
              </a:lnSpc>
              <a:buNone/>
            </a:pPr>
            <a:r>
              <a:rPr lang="en-US" dirty="0">
                <a:solidFill>
                  <a:srgbClr val="383838"/>
                </a:solidFill>
                <a:latin typeface="PT Serif" pitchFamily="34" charset="0"/>
                <a:ea typeface="PT Serif" pitchFamily="34" charset="-122"/>
                <a:cs typeface="PT Serif" pitchFamily="34" charset="-120"/>
              </a:rPr>
              <a:t>n</a:t>
            </a:r>
            <a:endParaRPr lang="en-US" dirty="0"/>
          </a:p>
        </p:txBody>
      </p:sp>
      <p:sp>
        <p:nvSpPr>
          <p:cNvPr id="16" name="Text 12"/>
          <p:cNvSpPr/>
          <p:nvPr/>
        </p:nvSpPr>
        <p:spPr>
          <a:xfrm>
            <a:off x="9612987" y="7291268"/>
            <a:ext cx="4223623" cy="238125"/>
          </a:xfrm>
          <a:prstGeom prst="rect">
            <a:avLst/>
          </a:prstGeom>
          <a:noFill/>
          <a:ln/>
        </p:spPr>
        <p:txBody>
          <a:bodyPr wrap="none" lIns="0" tIns="0" rIns="0" bIns="0" rtlCol="0" anchor="t"/>
          <a:lstStyle/>
          <a:p>
            <a:pPr marL="0" indent="0" algn="ctr">
              <a:lnSpc>
                <a:spcPts val="1850"/>
              </a:lnSpc>
              <a:buNone/>
            </a:pPr>
            <a:r>
              <a:rPr lang="en-US" dirty="0">
                <a:solidFill>
                  <a:srgbClr val="383838"/>
                </a:solidFill>
                <a:latin typeface="DM Sans" pitchFamily="34" charset="0"/>
                <a:ea typeface="DM Sans" pitchFamily="34" charset="-122"/>
                <a:cs typeface="DM Sans" pitchFamily="34" charset="-120"/>
              </a:rPr>
              <a:t>Second sample size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52738"/>
            <a:ext cx="734579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Example: Statistical Conclusion</a:t>
            </a:r>
            <a:endParaRPr lang="en-US" sz="4100" dirty="0"/>
          </a:p>
        </p:txBody>
      </p:sp>
      <p:sp>
        <p:nvSpPr>
          <p:cNvPr id="3" name="Shape 1"/>
          <p:cNvSpPr/>
          <p:nvPr/>
        </p:nvSpPr>
        <p:spPr>
          <a:xfrm>
            <a:off x="793790" y="2000845"/>
            <a:ext cx="4215289" cy="3208377"/>
          </a:xfrm>
          <a:prstGeom prst="roundRect">
            <a:avLst>
              <a:gd name="adj" fmla="val 928"/>
            </a:avLst>
          </a:prstGeom>
          <a:solidFill>
            <a:srgbClr val="F2EEEE"/>
          </a:solidFill>
          <a:ln/>
        </p:spPr>
      </p:sp>
      <p:sp>
        <p:nvSpPr>
          <p:cNvPr id="4" name="Shape 2"/>
          <p:cNvSpPr/>
          <p:nvPr/>
        </p:nvSpPr>
        <p:spPr>
          <a:xfrm>
            <a:off x="992148" y="2199203"/>
            <a:ext cx="595313" cy="595313"/>
          </a:xfrm>
          <a:prstGeom prst="roundRect">
            <a:avLst>
              <a:gd name="adj" fmla="val 15358451"/>
            </a:avLst>
          </a:prstGeom>
          <a:solidFill>
            <a:srgbClr val="E04F00"/>
          </a:solidFill>
          <a:ln/>
        </p:spPr>
      </p:sp>
      <p:pic>
        <p:nvPicPr>
          <p:cNvPr id="5" name="Image 0" descr="preencoded.png"/>
          <p:cNvPicPr>
            <a:picLocks noChangeAspect="1"/>
          </p:cNvPicPr>
          <p:nvPr/>
        </p:nvPicPr>
        <p:blipFill>
          <a:blip r:embed="rId3"/>
          <a:stretch>
            <a:fillRect/>
          </a:stretch>
        </p:blipFill>
        <p:spPr>
          <a:xfrm>
            <a:off x="1155859" y="2329339"/>
            <a:ext cx="267891" cy="334923"/>
          </a:xfrm>
          <a:prstGeom prst="rect">
            <a:avLst/>
          </a:prstGeom>
        </p:spPr>
      </p:pic>
      <p:sp>
        <p:nvSpPr>
          <p:cNvPr id="6" name="Text 3"/>
          <p:cNvSpPr/>
          <p:nvPr/>
        </p:nvSpPr>
        <p:spPr>
          <a:xfrm>
            <a:off x="992148" y="2992874"/>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Test Statistic</a:t>
            </a:r>
            <a:endParaRPr lang="en-US" sz="2450" dirty="0"/>
          </a:p>
        </p:txBody>
      </p:sp>
      <p:sp>
        <p:nvSpPr>
          <p:cNvPr id="7" name="Text 4"/>
          <p:cNvSpPr/>
          <p:nvPr/>
        </p:nvSpPr>
        <p:spPr>
          <a:xfrm>
            <a:off x="992148" y="3502581"/>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U = 18</a:t>
            </a:r>
            <a:endParaRPr lang="en-US" sz="1550" dirty="0"/>
          </a:p>
        </p:txBody>
      </p:sp>
      <p:sp>
        <p:nvSpPr>
          <p:cNvPr id="8" name="Text 5"/>
          <p:cNvSpPr/>
          <p:nvPr/>
        </p:nvSpPr>
        <p:spPr>
          <a:xfrm>
            <a:off x="992148" y="3939183"/>
            <a:ext cx="3818573"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Calculated from the rank sums and sample sizes</a:t>
            </a:r>
            <a:endParaRPr lang="en-US" dirty="0"/>
          </a:p>
        </p:txBody>
      </p:sp>
      <p:sp>
        <p:nvSpPr>
          <p:cNvPr id="9" name="Shape 6"/>
          <p:cNvSpPr/>
          <p:nvPr/>
        </p:nvSpPr>
        <p:spPr>
          <a:xfrm>
            <a:off x="5207437" y="2000845"/>
            <a:ext cx="4215408" cy="3208377"/>
          </a:xfrm>
          <a:prstGeom prst="roundRect">
            <a:avLst>
              <a:gd name="adj" fmla="val 928"/>
            </a:avLst>
          </a:prstGeom>
          <a:solidFill>
            <a:srgbClr val="F2EEEE"/>
          </a:solidFill>
          <a:ln/>
        </p:spPr>
      </p:sp>
      <p:sp>
        <p:nvSpPr>
          <p:cNvPr id="10" name="Shape 7"/>
          <p:cNvSpPr/>
          <p:nvPr/>
        </p:nvSpPr>
        <p:spPr>
          <a:xfrm>
            <a:off x="5405795" y="2199203"/>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5569506" y="2329339"/>
            <a:ext cx="267891" cy="334923"/>
          </a:xfrm>
          <a:prstGeom prst="rect">
            <a:avLst/>
          </a:prstGeom>
        </p:spPr>
      </p:pic>
      <p:sp>
        <p:nvSpPr>
          <p:cNvPr id="12" name="Text 8"/>
          <p:cNvSpPr/>
          <p:nvPr/>
        </p:nvSpPr>
        <p:spPr>
          <a:xfrm>
            <a:off x="5405795" y="2992874"/>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Expected Values</a:t>
            </a:r>
            <a:endParaRPr lang="en-US" sz="2450" dirty="0"/>
          </a:p>
        </p:txBody>
      </p:sp>
      <p:sp>
        <p:nvSpPr>
          <p:cNvPr id="13" name="Text 9"/>
          <p:cNvSpPr/>
          <p:nvPr/>
        </p:nvSpPr>
        <p:spPr>
          <a:xfrm>
            <a:off x="5405795" y="3502581"/>
            <a:ext cx="3818692"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E(U) = 21</a:t>
            </a:r>
            <a:endParaRPr lang="en-US" sz="1550" dirty="0"/>
          </a:p>
        </p:txBody>
      </p:sp>
      <p:sp>
        <p:nvSpPr>
          <p:cNvPr id="14" name="Text 10"/>
          <p:cNvSpPr/>
          <p:nvPr/>
        </p:nvSpPr>
        <p:spPr>
          <a:xfrm>
            <a:off x="5405795" y="3939183"/>
            <a:ext cx="3818692"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V(U) = 49</a:t>
            </a:r>
            <a:endParaRPr lang="en-US" sz="1550" dirty="0"/>
          </a:p>
        </p:txBody>
      </p:sp>
      <p:sp>
        <p:nvSpPr>
          <p:cNvPr id="15" name="Text 11"/>
          <p:cNvSpPr/>
          <p:nvPr/>
        </p:nvSpPr>
        <p:spPr>
          <a:xfrm>
            <a:off x="5405795" y="4375785"/>
            <a:ext cx="3818692"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Theoretical mean and variance under null hypothesis</a:t>
            </a:r>
            <a:endParaRPr lang="en-US" dirty="0"/>
          </a:p>
        </p:txBody>
      </p:sp>
      <p:sp>
        <p:nvSpPr>
          <p:cNvPr id="16" name="Shape 12"/>
          <p:cNvSpPr/>
          <p:nvPr/>
        </p:nvSpPr>
        <p:spPr>
          <a:xfrm>
            <a:off x="9621203" y="2000845"/>
            <a:ext cx="4215289" cy="3208377"/>
          </a:xfrm>
          <a:prstGeom prst="roundRect">
            <a:avLst>
              <a:gd name="adj" fmla="val 928"/>
            </a:avLst>
          </a:prstGeom>
          <a:solidFill>
            <a:srgbClr val="F2EEEE"/>
          </a:solidFill>
          <a:ln/>
        </p:spPr>
      </p:sp>
      <p:sp>
        <p:nvSpPr>
          <p:cNvPr id="17" name="Shape 13"/>
          <p:cNvSpPr/>
          <p:nvPr/>
        </p:nvSpPr>
        <p:spPr>
          <a:xfrm>
            <a:off x="9819561" y="2199203"/>
            <a:ext cx="595313" cy="595313"/>
          </a:xfrm>
          <a:prstGeom prst="roundRect">
            <a:avLst>
              <a:gd name="adj" fmla="val 15358451"/>
            </a:avLst>
          </a:prstGeom>
          <a:solidFill>
            <a:srgbClr val="E04F00"/>
          </a:solidFill>
          <a:ln/>
        </p:spPr>
      </p:sp>
      <p:pic>
        <p:nvPicPr>
          <p:cNvPr id="18" name="Image 2" descr="preencoded.png"/>
          <p:cNvPicPr>
            <a:picLocks noChangeAspect="1"/>
          </p:cNvPicPr>
          <p:nvPr/>
        </p:nvPicPr>
        <p:blipFill>
          <a:blip r:embed="rId5"/>
          <a:stretch>
            <a:fillRect/>
          </a:stretch>
        </p:blipFill>
        <p:spPr>
          <a:xfrm>
            <a:off x="9983272" y="2329339"/>
            <a:ext cx="267891" cy="334923"/>
          </a:xfrm>
          <a:prstGeom prst="rect">
            <a:avLst/>
          </a:prstGeom>
        </p:spPr>
      </p:pic>
      <p:sp>
        <p:nvSpPr>
          <p:cNvPr id="19" name="Text 14"/>
          <p:cNvSpPr/>
          <p:nvPr/>
        </p:nvSpPr>
        <p:spPr>
          <a:xfrm>
            <a:off x="9819561" y="2992874"/>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P-Value</a:t>
            </a:r>
            <a:endParaRPr lang="en-US" sz="2450" dirty="0"/>
          </a:p>
        </p:txBody>
      </p:sp>
      <p:sp>
        <p:nvSpPr>
          <p:cNvPr id="20" name="Text 15"/>
          <p:cNvSpPr/>
          <p:nvPr/>
        </p:nvSpPr>
        <p:spPr>
          <a:xfrm>
            <a:off x="9819561" y="3502581"/>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p = 0.7308</a:t>
            </a:r>
            <a:endParaRPr lang="en-US" sz="1550" dirty="0"/>
          </a:p>
        </p:txBody>
      </p:sp>
      <p:sp>
        <p:nvSpPr>
          <p:cNvPr id="21" name="Text 16"/>
          <p:cNvSpPr/>
          <p:nvPr/>
        </p:nvSpPr>
        <p:spPr>
          <a:xfrm>
            <a:off x="9819561" y="3939183"/>
            <a:ext cx="3818573"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Exact probability calculated in Python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software</a:t>
            </a:r>
            <a:endParaRPr lang="en-US" dirty="0"/>
          </a:p>
        </p:txBody>
      </p:sp>
      <p:sp>
        <p:nvSpPr>
          <p:cNvPr id="22" name="Text 17"/>
          <p:cNvSpPr/>
          <p:nvPr/>
        </p:nvSpPr>
        <p:spPr>
          <a:xfrm>
            <a:off x="1091446" y="5730121"/>
            <a:ext cx="4068604"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Conclusion: Do Not Reject H₀</a:t>
            </a:r>
            <a:endParaRPr lang="en-US" sz="2450" dirty="0"/>
          </a:p>
        </p:txBody>
      </p:sp>
      <p:sp>
        <p:nvSpPr>
          <p:cNvPr id="23" name="Text 18"/>
          <p:cNvSpPr/>
          <p:nvPr/>
        </p:nvSpPr>
        <p:spPr>
          <a:xfrm>
            <a:off x="1091446" y="6418421"/>
            <a:ext cx="12745164"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Since p-value (0.7308) exceeds the typical significance level of 0.05, we fail to reject the null hypothesis. There is insufficient evidence to conclude that the two samples come from different populations.</a:t>
            </a:r>
            <a:endParaRPr lang="en-US" dirty="0"/>
          </a:p>
        </p:txBody>
      </p:sp>
      <p:sp>
        <p:nvSpPr>
          <p:cNvPr id="24" name="Shape 19"/>
          <p:cNvSpPr/>
          <p:nvPr/>
        </p:nvSpPr>
        <p:spPr>
          <a:xfrm>
            <a:off x="793790" y="5432465"/>
            <a:ext cx="22860" cy="1844278"/>
          </a:xfrm>
          <a:prstGeom prst="rect">
            <a:avLst/>
          </a:prstGeom>
          <a:solidFill>
            <a:srgbClr val="E04F00"/>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534597"/>
            <a:ext cx="9577268"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Application: Mobile Consumer Behaviour</a:t>
            </a:r>
            <a:endParaRPr lang="en-US" sz="4100" dirty="0"/>
          </a:p>
        </p:txBody>
      </p:sp>
      <p:sp>
        <p:nvSpPr>
          <p:cNvPr id="3" name="Text 1"/>
          <p:cNvSpPr/>
          <p:nvPr/>
        </p:nvSpPr>
        <p:spPr>
          <a:xfrm>
            <a:off x="793790" y="248352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Research Context</a:t>
            </a:r>
            <a:endParaRPr lang="en-US" sz="2050" dirty="0"/>
          </a:p>
        </p:txBody>
      </p:sp>
      <p:sp>
        <p:nvSpPr>
          <p:cNvPr id="4" name="Text 2"/>
          <p:cNvSpPr/>
          <p:nvPr/>
        </p:nvSpPr>
        <p:spPr>
          <a:xfrm>
            <a:off x="793790" y="3106817"/>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Understanding the factors that drive purchasing decisions among potential mobile phone customers is crucial for marketing strategy. One key factor under investigation is the importance consumers place on </a:t>
            </a:r>
            <a:r>
              <a:rPr lang="en-US" b="1" dirty="0">
                <a:solidFill>
                  <a:srgbClr val="383838"/>
                </a:solidFill>
                <a:latin typeface="DM Sans" pitchFamily="34" charset="0"/>
                <a:ea typeface="DM Sans" pitchFamily="34" charset="-122"/>
                <a:cs typeface="DM Sans" pitchFamily="34" charset="-120"/>
              </a:rPr>
              <a:t>mobile phone color</a:t>
            </a:r>
            <a:r>
              <a:rPr lang="en-US" dirty="0">
                <a:solidFill>
                  <a:srgbClr val="383838"/>
                </a:solidFill>
                <a:latin typeface="DM Sans" pitchFamily="34" charset="0"/>
                <a:ea typeface="DM Sans" pitchFamily="34" charset="-122"/>
                <a:cs typeface="DM Sans" pitchFamily="34" charset="-120"/>
              </a:rPr>
              <a:t> when making purchase decisions.</a:t>
            </a:r>
            <a:endParaRPr lang="en-US" dirty="0"/>
          </a:p>
        </p:txBody>
      </p:sp>
      <p:sp>
        <p:nvSpPr>
          <p:cNvPr id="5" name="Shape 3"/>
          <p:cNvSpPr/>
          <p:nvPr/>
        </p:nvSpPr>
        <p:spPr>
          <a:xfrm>
            <a:off x="793790" y="4262795"/>
            <a:ext cx="4215289" cy="2432209"/>
          </a:xfrm>
          <a:prstGeom prst="roundRect">
            <a:avLst>
              <a:gd name="adj" fmla="val 4511"/>
            </a:avLst>
          </a:prstGeom>
          <a:solidFill>
            <a:srgbClr val="FFFFFF"/>
          </a:solidFill>
          <a:ln/>
        </p:spPr>
      </p:sp>
      <p:sp>
        <p:nvSpPr>
          <p:cNvPr id="6" name="Shape 4"/>
          <p:cNvSpPr/>
          <p:nvPr/>
        </p:nvSpPr>
        <p:spPr>
          <a:xfrm>
            <a:off x="793790" y="4239935"/>
            <a:ext cx="4215289" cy="91440"/>
          </a:xfrm>
          <a:prstGeom prst="roundRect">
            <a:avLst>
              <a:gd name="adj" fmla="val 32558"/>
            </a:avLst>
          </a:prstGeom>
          <a:solidFill>
            <a:srgbClr val="E04F00"/>
          </a:solidFill>
          <a:ln/>
        </p:spPr>
      </p:sp>
      <p:sp>
        <p:nvSpPr>
          <p:cNvPr id="7" name="Shape 5"/>
          <p:cNvSpPr/>
          <p:nvPr/>
        </p:nvSpPr>
        <p:spPr>
          <a:xfrm>
            <a:off x="2603778" y="3965138"/>
            <a:ext cx="595313" cy="595313"/>
          </a:xfrm>
          <a:prstGeom prst="roundRect">
            <a:avLst>
              <a:gd name="adj" fmla="val 153600"/>
            </a:avLst>
          </a:prstGeom>
          <a:solidFill>
            <a:srgbClr val="E04F00"/>
          </a:solidFill>
          <a:ln/>
        </p:spPr>
      </p:sp>
      <p:pic>
        <p:nvPicPr>
          <p:cNvPr id="8" name="Image 0" descr="preencoded.png"/>
          <p:cNvPicPr>
            <a:picLocks noChangeAspect="1"/>
          </p:cNvPicPr>
          <p:nvPr/>
        </p:nvPicPr>
        <p:blipFill>
          <a:blip r:embed="rId3"/>
          <a:stretch>
            <a:fillRect/>
          </a:stretch>
        </p:blipFill>
        <p:spPr>
          <a:xfrm>
            <a:off x="2782372" y="4113967"/>
            <a:ext cx="238125" cy="297656"/>
          </a:xfrm>
          <a:prstGeom prst="rect">
            <a:avLst/>
          </a:prstGeom>
        </p:spPr>
      </p:pic>
      <p:sp>
        <p:nvSpPr>
          <p:cNvPr id="9" name="Text 6"/>
          <p:cNvSpPr/>
          <p:nvPr/>
        </p:nvSpPr>
        <p:spPr>
          <a:xfrm>
            <a:off x="1015008" y="475892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Measurement Scale</a:t>
            </a:r>
            <a:endParaRPr lang="en-US" sz="2050" dirty="0"/>
          </a:p>
        </p:txBody>
      </p:sp>
      <p:sp>
        <p:nvSpPr>
          <p:cNvPr id="10" name="Text 7"/>
          <p:cNvSpPr/>
          <p:nvPr/>
        </p:nvSpPr>
        <p:spPr>
          <a:xfrm>
            <a:off x="1015008" y="5203627"/>
            <a:ext cx="3772853"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Consumer preferences measured using a 5-point Likert scale where 1 represents "Least Important" and 5 represents "Most Important."</a:t>
            </a:r>
            <a:endParaRPr lang="en-US" dirty="0"/>
          </a:p>
        </p:txBody>
      </p:sp>
      <p:sp>
        <p:nvSpPr>
          <p:cNvPr id="11" name="Shape 8"/>
          <p:cNvSpPr/>
          <p:nvPr/>
        </p:nvSpPr>
        <p:spPr>
          <a:xfrm>
            <a:off x="5207437" y="4262795"/>
            <a:ext cx="4215408" cy="2432209"/>
          </a:xfrm>
          <a:prstGeom prst="roundRect">
            <a:avLst>
              <a:gd name="adj" fmla="val 4511"/>
            </a:avLst>
          </a:prstGeom>
          <a:solidFill>
            <a:srgbClr val="FFFFFF"/>
          </a:solidFill>
          <a:ln/>
        </p:spPr>
      </p:sp>
      <p:sp>
        <p:nvSpPr>
          <p:cNvPr id="12" name="Shape 9"/>
          <p:cNvSpPr/>
          <p:nvPr/>
        </p:nvSpPr>
        <p:spPr>
          <a:xfrm>
            <a:off x="5207437" y="4239935"/>
            <a:ext cx="4215408" cy="91440"/>
          </a:xfrm>
          <a:prstGeom prst="roundRect">
            <a:avLst>
              <a:gd name="adj" fmla="val 32558"/>
            </a:avLst>
          </a:prstGeom>
          <a:solidFill>
            <a:srgbClr val="E04F00"/>
          </a:solidFill>
          <a:ln/>
        </p:spPr>
      </p:sp>
      <p:sp>
        <p:nvSpPr>
          <p:cNvPr id="13" name="Shape 10"/>
          <p:cNvSpPr/>
          <p:nvPr/>
        </p:nvSpPr>
        <p:spPr>
          <a:xfrm>
            <a:off x="7017425" y="3965138"/>
            <a:ext cx="595313" cy="595313"/>
          </a:xfrm>
          <a:prstGeom prst="roundRect">
            <a:avLst>
              <a:gd name="adj" fmla="val 153600"/>
            </a:avLst>
          </a:prstGeom>
          <a:solidFill>
            <a:srgbClr val="E04F00"/>
          </a:solidFill>
          <a:ln/>
        </p:spPr>
      </p:sp>
      <p:pic>
        <p:nvPicPr>
          <p:cNvPr id="14" name="Image 1" descr="preencoded.png"/>
          <p:cNvPicPr>
            <a:picLocks noChangeAspect="1"/>
          </p:cNvPicPr>
          <p:nvPr/>
        </p:nvPicPr>
        <p:blipFill>
          <a:blip r:embed="rId4"/>
          <a:stretch>
            <a:fillRect/>
          </a:stretch>
        </p:blipFill>
        <p:spPr>
          <a:xfrm>
            <a:off x="7196018" y="4113967"/>
            <a:ext cx="238125" cy="297656"/>
          </a:xfrm>
          <a:prstGeom prst="rect">
            <a:avLst/>
          </a:prstGeom>
        </p:spPr>
      </p:pic>
      <p:sp>
        <p:nvSpPr>
          <p:cNvPr id="15" name="Text 11"/>
          <p:cNvSpPr/>
          <p:nvPr/>
        </p:nvSpPr>
        <p:spPr>
          <a:xfrm>
            <a:off x="5428655" y="475892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Feature: Color</a:t>
            </a:r>
            <a:endParaRPr lang="en-US" sz="2050" dirty="0"/>
          </a:p>
        </p:txBody>
      </p:sp>
      <p:sp>
        <p:nvSpPr>
          <p:cNvPr id="16" name="Text 12"/>
          <p:cNvSpPr/>
          <p:nvPr/>
        </p:nvSpPr>
        <p:spPr>
          <a:xfrm>
            <a:off x="5428655" y="5203627"/>
            <a:ext cx="3772972"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Ratings indicate the level of importance given to color aesthetics in the mobile phone buying decision process.</a:t>
            </a:r>
            <a:endParaRPr lang="en-US" dirty="0"/>
          </a:p>
        </p:txBody>
      </p:sp>
      <p:sp>
        <p:nvSpPr>
          <p:cNvPr id="17" name="Shape 13"/>
          <p:cNvSpPr/>
          <p:nvPr/>
        </p:nvSpPr>
        <p:spPr>
          <a:xfrm>
            <a:off x="9621203" y="4262795"/>
            <a:ext cx="4215289" cy="2432209"/>
          </a:xfrm>
          <a:prstGeom prst="roundRect">
            <a:avLst>
              <a:gd name="adj" fmla="val 4511"/>
            </a:avLst>
          </a:prstGeom>
          <a:solidFill>
            <a:srgbClr val="FFFFFF"/>
          </a:solidFill>
          <a:ln/>
        </p:spPr>
      </p:sp>
      <p:sp>
        <p:nvSpPr>
          <p:cNvPr id="18" name="Shape 14"/>
          <p:cNvSpPr/>
          <p:nvPr/>
        </p:nvSpPr>
        <p:spPr>
          <a:xfrm>
            <a:off x="9621203" y="4239935"/>
            <a:ext cx="4215289" cy="91440"/>
          </a:xfrm>
          <a:prstGeom prst="roundRect">
            <a:avLst>
              <a:gd name="adj" fmla="val 32558"/>
            </a:avLst>
          </a:prstGeom>
          <a:solidFill>
            <a:srgbClr val="E04F00"/>
          </a:solidFill>
          <a:ln/>
        </p:spPr>
      </p:sp>
      <p:sp>
        <p:nvSpPr>
          <p:cNvPr id="19" name="Shape 15"/>
          <p:cNvSpPr/>
          <p:nvPr/>
        </p:nvSpPr>
        <p:spPr>
          <a:xfrm>
            <a:off x="11431191" y="3965138"/>
            <a:ext cx="595313" cy="595313"/>
          </a:xfrm>
          <a:prstGeom prst="roundRect">
            <a:avLst>
              <a:gd name="adj" fmla="val 153600"/>
            </a:avLst>
          </a:prstGeom>
          <a:solidFill>
            <a:srgbClr val="E04F00"/>
          </a:solidFill>
          <a:ln/>
        </p:spPr>
      </p:sp>
      <p:pic>
        <p:nvPicPr>
          <p:cNvPr id="20" name="Image 2" descr="preencoded.png"/>
          <p:cNvPicPr>
            <a:picLocks noChangeAspect="1"/>
          </p:cNvPicPr>
          <p:nvPr/>
        </p:nvPicPr>
        <p:blipFill>
          <a:blip r:embed="rId5"/>
          <a:stretch>
            <a:fillRect/>
          </a:stretch>
        </p:blipFill>
        <p:spPr>
          <a:xfrm>
            <a:off x="11609784" y="4113967"/>
            <a:ext cx="238125" cy="297656"/>
          </a:xfrm>
          <a:prstGeom prst="rect">
            <a:avLst/>
          </a:prstGeom>
        </p:spPr>
      </p:pic>
      <p:sp>
        <p:nvSpPr>
          <p:cNvPr id="21" name="Text 16"/>
          <p:cNvSpPr/>
          <p:nvPr/>
        </p:nvSpPr>
        <p:spPr>
          <a:xfrm>
            <a:off x="9842421" y="475892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Research Question</a:t>
            </a:r>
            <a:endParaRPr lang="en-US" sz="2050" dirty="0"/>
          </a:p>
        </p:txBody>
      </p:sp>
      <p:sp>
        <p:nvSpPr>
          <p:cNvPr id="22" name="Text 17"/>
          <p:cNvSpPr/>
          <p:nvPr/>
        </p:nvSpPr>
        <p:spPr>
          <a:xfrm>
            <a:off x="9842421" y="5203627"/>
            <a:ext cx="3772853"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Is there a statistically significant difference between the color importance ratings given by male and female customers?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098953"/>
            <a:ext cx="6270665"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Wilcoxon Signed Rank Test</a:t>
            </a:r>
            <a:endParaRPr lang="en-US" sz="4100" dirty="0"/>
          </a:p>
        </p:txBody>
      </p:sp>
      <p:sp>
        <p:nvSpPr>
          <p:cNvPr id="3" name="Text 1"/>
          <p:cNvSpPr/>
          <p:nvPr/>
        </p:nvSpPr>
        <p:spPr>
          <a:xfrm>
            <a:off x="793790" y="3047881"/>
            <a:ext cx="4949547"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Nonparametric Alternative to Paired t-Test</a:t>
            </a:r>
            <a:endParaRPr lang="en-US" sz="2050" dirty="0"/>
          </a:p>
        </p:txBody>
      </p:sp>
      <p:sp>
        <p:nvSpPr>
          <p:cNvPr id="4" name="Text 2"/>
          <p:cNvSpPr/>
          <p:nvPr/>
        </p:nvSpPr>
        <p:spPr>
          <a:xfrm>
            <a:off x="793790" y="3671173"/>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Wilcoxon Signed Rank test is used to compare differences between two related or paired groups when the variable is either ordinal or continuous but not normally distributed. This test is ideal for before-after studies, matched pairs, or repeated measures designs.</a:t>
            </a:r>
            <a:endParaRPr lang="en-US" dirty="0"/>
          </a:p>
        </p:txBody>
      </p:sp>
      <p:sp>
        <p:nvSpPr>
          <p:cNvPr id="5" name="Text 3"/>
          <p:cNvSpPr/>
          <p:nvPr/>
        </p:nvSpPr>
        <p:spPr>
          <a:xfrm>
            <a:off x="793790" y="4727853"/>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Null Hypothesis</a:t>
            </a:r>
            <a:endParaRPr lang="en-US" sz="2450" dirty="0"/>
          </a:p>
        </p:txBody>
      </p:sp>
      <p:sp>
        <p:nvSpPr>
          <p:cNvPr id="6" name="Text 4"/>
          <p:cNvSpPr/>
          <p:nvPr/>
        </p:nvSpPr>
        <p:spPr>
          <a:xfrm>
            <a:off x="793790" y="5316855"/>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median of the differences in the population is zero, indicating no systematic change between paired observations. (assuming symmetry of paired differences)</a:t>
            </a:r>
            <a:endParaRPr lang="en-US" dirty="0"/>
          </a:p>
        </p:txBody>
      </p:sp>
      <p:sp>
        <p:nvSpPr>
          <p:cNvPr id="7" name="Text 5"/>
          <p:cNvSpPr/>
          <p:nvPr/>
        </p:nvSpPr>
        <p:spPr>
          <a:xfrm>
            <a:off x="7564874" y="4727853"/>
            <a:ext cx="3193256"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Alternative Hypothesis</a:t>
            </a:r>
            <a:endParaRPr lang="en-US" sz="2450" dirty="0"/>
          </a:p>
        </p:txBody>
      </p:sp>
      <p:sp>
        <p:nvSpPr>
          <p:cNvPr id="8" name="Text 6"/>
          <p:cNvSpPr/>
          <p:nvPr/>
        </p:nvSpPr>
        <p:spPr>
          <a:xfrm>
            <a:off x="7564874" y="5316855"/>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median of the differences is not zero, suggesting a significant change exists between the paired measurements.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06743"/>
            <a:ext cx="7865626" cy="586026"/>
          </a:xfrm>
          <a:prstGeom prst="rect">
            <a:avLst/>
          </a:prstGeom>
          <a:noFill/>
          <a:ln/>
        </p:spPr>
        <p:txBody>
          <a:bodyPr wrap="none" lIns="0" tIns="0" rIns="0" bIns="0" rtlCol="0" anchor="t"/>
          <a:lstStyle/>
          <a:p>
            <a:pPr marL="0" indent="0" algn="l">
              <a:lnSpc>
                <a:spcPts val="4600"/>
              </a:lnSpc>
              <a:buNone/>
            </a:pPr>
            <a:r>
              <a:rPr lang="en-US" sz="3650" dirty="0">
                <a:solidFill>
                  <a:srgbClr val="020202"/>
                </a:solidFill>
                <a:latin typeface="PT Serif" pitchFamily="34" charset="0"/>
                <a:ea typeface="PT Serif" pitchFamily="34" charset="-122"/>
                <a:cs typeface="PT Serif" pitchFamily="34" charset="-120"/>
              </a:rPr>
              <a:t>Wilcoxon Signed Rank Test Procedure</a:t>
            </a:r>
            <a:endParaRPr lang="en-US" sz="3650" dirty="0"/>
          </a:p>
        </p:txBody>
      </p:sp>
      <p:sp>
        <p:nvSpPr>
          <p:cNvPr id="3" name="Shape 1"/>
          <p:cNvSpPr/>
          <p:nvPr/>
        </p:nvSpPr>
        <p:spPr>
          <a:xfrm>
            <a:off x="793790" y="1549956"/>
            <a:ext cx="714494" cy="1071682"/>
          </a:xfrm>
          <a:prstGeom prst="roundRect">
            <a:avLst>
              <a:gd name="adj" fmla="val 360007"/>
            </a:avLst>
          </a:prstGeom>
          <a:solidFill>
            <a:srgbClr val="F2EEEE"/>
          </a:solidFill>
          <a:ln/>
        </p:spPr>
      </p:sp>
      <p:sp>
        <p:nvSpPr>
          <p:cNvPr id="4" name="Text 2"/>
          <p:cNvSpPr/>
          <p:nvPr/>
        </p:nvSpPr>
        <p:spPr>
          <a:xfrm>
            <a:off x="1017032" y="1918335"/>
            <a:ext cx="267891" cy="334923"/>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1</a:t>
            </a:r>
            <a:endParaRPr lang="en-US" sz="2100" dirty="0"/>
          </a:p>
        </p:txBody>
      </p:sp>
      <p:sp>
        <p:nvSpPr>
          <p:cNvPr id="5" name="Text 3"/>
          <p:cNvSpPr/>
          <p:nvPr/>
        </p:nvSpPr>
        <p:spPr>
          <a:xfrm>
            <a:off x="1686878" y="1728549"/>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Calculate Differences</a:t>
            </a:r>
            <a:endParaRPr lang="en-US" sz="1800" dirty="0"/>
          </a:p>
        </p:txBody>
      </p:sp>
      <p:sp>
        <p:nvSpPr>
          <p:cNvPr id="6" name="Text 4"/>
          <p:cNvSpPr/>
          <p:nvPr/>
        </p:nvSpPr>
        <p:spPr>
          <a:xfrm>
            <a:off x="1686878" y="2128718"/>
            <a:ext cx="12149733" cy="285750"/>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Define Di = Xi - Yi, representing the difference between paired values for each observation.</a:t>
            </a:r>
            <a:endParaRPr lang="en-US" dirty="0"/>
          </a:p>
        </p:txBody>
      </p:sp>
      <p:sp>
        <p:nvSpPr>
          <p:cNvPr id="7" name="Shape 5"/>
          <p:cNvSpPr/>
          <p:nvPr/>
        </p:nvSpPr>
        <p:spPr>
          <a:xfrm>
            <a:off x="793790" y="2800231"/>
            <a:ext cx="714494" cy="1071682"/>
          </a:xfrm>
          <a:prstGeom prst="roundRect">
            <a:avLst>
              <a:gd name="adj" fmla="val 360007"/>
            </a:avLst>
          </a:prstGeom>
          <a:solidFill>
            <a:srgbClr val="F2EEEE"/>
          </a:solidFill>
          <a:ln/>
        </p:spPr>
      </p:sp>
      <p:sp>
        <p:nvSpPr>
          <p:cNvPr id="8" name="Text 6"/>
          <p:cNvSpPr/>
          <p:nvPr/>
        </p:nvSpPr>
        <p:spPr>
          <a:xfrm>
            <a:off x="1017032" y="3168610"/>
            <a:ext cx="267891" cy="334923"/>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2</a:t>
            </a:r>
            <a:endParaRPr lang="en-US" sz="2100" dirty="0"/>
          </a:p>
        </p:txBody>
      </p:sp>
      <p:sp>
        <p:nvSpPr>
          <p:cNvPr id="9" name="Text 7"/>
          <p:cNvSpPr/>
          <p:nvPr/>
        </p:nvSpPr>
        <p:spPr>
          <a:xfrm>
            <a:off x="1686878" y="2978825"/>
            <a:ext cx="2428756"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Obtain Absolute Values</a:t>
            </a:r>
            <a:endParaRPr lang="en-US" sz="1800" dirty="0"/>
          </a:p>
        </p:txBody>
      </p:sp>
      <p:sp>
        <p:nvSpPr>
          <p:cNvPr id="10" name="Text 8"/>
          <p:cNvSpPr/>
          <p:nvPr/>
        </p:nvSpPr>
        <p:spPr>
          <a:xfrm>
            <a:off x="1686878" y="3378994"/>
            <a:ext cx="12149733" cy="285750"/>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Calculate |Di|, the absolute value of each difference, removing the sign while preserving magnitude.</a:t>
            </a:r>
            <a:endParaRPr lang="en-US" dirty="0"/>
          </a:p>
        </p:txBody>
      </p:sp>
      <p:sp>
        <p:nvSpPr>
          <p:cNvPr id="11" name="Shape 9"/>
          <p:cNvSpPr/>
          <p:nvPr/>
        </p:nvSpPr>
        <p:spPr>
          <a:xfrm>
            <a:off x="793790" y="4050506"/>
            <a:ext cx="714494" cy="1071682"/>
          </a:xfrm>
          <a:prstGeom prst="roundRect">
            <a:avLst>
              <a:gd name="adj" fmla="val 360007"/>
            </a:avLst>
          </a:prstGeom>
          <a:solidFill>
            <a:srgbClr val="F2EEEE"/>
          </a:solidFill>
          <a:ln/>
        </p:spPr>
      </p:sp>
      <p:sp>
        <p:nvSpPr>
          <p:cNvPr id="12" name="Text 10"/>
          <p:cNvSpPr/>
          <p:nvPr/>
        </p:nvSpPr>
        <p:spPr>
          <a:xfrm>
            <a:off x="1017032" y="4418886"/>
            <a:ext cx="267891" cy="334923"/>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3</a:t>
            </a:r>
            <a:endParaRPr lang="en-US" sz="2100" dirty="0"/>
          </a:p>
        </p:txBody>
      </p:sp>
      <p:sp>
        <p:nvSpPr>
          <p:cNvPr id="13" name="Text 11"/>
          <p:cNvSpPr/>
          <p:nvPr/>
        </p:nvSpPr>
        <p:spPr>
          <a:xfrm>
            <a:off x="1686878" y="4229100"/>
            <a:ext cx="2747367"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Rank Absolute Differences</a:t>
            </a:r>
            <a:endParaRPr lang="en-US" sz="1800" dirty="0"/>
          </a:p>
        </p:txBody>
      </p:sp>
      <p:sp>
        <p:nvSpPr>
          <p:cNvPr id="14" name="Text 12"/>
          <p:cNvSpPr/>
          <p:nvPr/>
        </p:nvSpPr>
        <p:spPr>
          <a:xfrm>
            <a:off x="1686878" y="4629269"/>
            <a:ext cx="12149733" cy="285750"/>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Arrange all |Di| values from smallest to largest and assign ranks accordingly.</a:t>
            </a:r>
            <a:endParaRPr lang="en-US" dirty="0"/>
          </a:p>
        </p:txBody>
      </p:sp>
      <p:sp>
        <p:nvSpPr>
          <p:cNvPr id="15" name="Shape 13"/>
          <p:cNvSpPr/>
          <p:nvPr/>
        </p:nvSpPr>
        <p:spPr>
          <a:xfrm>
            <a:off x="793790" y="5300782"/>
            <a:ext cx="714494" cy="1071682"/>
          </a:xfrm>
          <a:prstGeom prst="roundRect">
            <a:avLst>
              <a:gd name="adj" fmla="val 360007"/>
            </a:avLst>
          </a:prstGeom>
          <a:solidFill>
            <a:srgbClr val="F2EEEE"/>
          </a:solidFill>
          <a:ln/>
        </p:spPr>
      </p:sp>
      <p:sp>
        <p:nvSpPr>
          <p:cNvPr id="16" name="Text 14"/>
          <p:cNvSpPr/>
          <p:nvPr/>
        </p:nvSpPr>
        <p:spPr>
          <a:xfrm>
            <a:off x="1017032" y="5669161"/>
            <a:ext cx="267891" cy="334923"/>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4</a:t>
            </a:r>
            <a:endParaRPr lang="en-US" sz="2100" dirty="0"/>
          </a:p>
        </p:txBody>
      </p:sp>
      <p:sp>
        <p:nvSpPr>
          <p:cNvPr id="17" name="Text 15"/>
          <p:cNvSpPr/>
          <p:nvPr/>
        </p:nvSpPr>
        <p:spPr>
          <a:xfrm>
            <a:off x="1686878" y="5479375"/>
            <a:ext cx="2344460"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Assign Ranks</a:t>
            </a:r>
            <a:endParaRPr lang="en-US" sz="1800" dirty="0"/>
          </a:p>
        </p:txBody>
      </p:sp>
      <p:sp>
        <p:nvSpPr>
          <p:cNvPr id="18" name="Text 16"/>
          <p:cNvSpPr/>
          <p:nvPr/>
        </p:nvSpPr>
        <p:spPr>
          <a:xfrm>
            <a:off x="1686878" y="5879544"/>
            <a:ext cx="12149733" cy="285750"/>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Define Ri as the rank of |Di|, maintaining connection to original observations.</a:t>
            </a:r>
            <a:endParaRPr lang="en-US" dirty="0"/>
          </a:p>
        </p:txBody>
      </p:sp>
      <p:sp>
        <p:nvSpPr>
          <p:cNvPr id="19" name="Shape 17"/>
          <p:cNvSpPr/>
          <p:nvPr/>
        </p:nvSpPr>
        <p:spPr>
          <a:xfrm>
            <a:off x="793790" y="6551057"/>
            <a:ext cx="714494" cy="1071682"/>
          </a:xfrm>
          <a:prstGeom prst="roundRect">
            <a:avLst>
              <a:gd name="adj" fmla="val 360007"/>
            </a:avLst>
          </a:prstGeom>
          <a:solidFill>
            <a:srgbClr val="F2EEEE"/>
          </a:solidFill>
          <a:ln/>
        </p:spPr>
      </p:sp>
      <p:sp>
        <p:nvSpPr>
          <p:cNvPr id="20" name="Text 18"/>
          <p:cNvSpPr/>
          <p:nvPr/>
        </p:nvSpPr>
        <p:spPr>
          <a:xfrm>
            <a:off x="1017032" y="6919436"/>
            <a:ext cx="267891" cy="334923"/>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5</a:t>
            </a:r>
            <a:endParaRPr lang="en-US" sz="2100" dirty="0"/>
          </a:p>
        </p:txBody>
      </p:sp>
      <p:sp>
        <p:nvSpPr>
          <p:cNvPr id="21" name="Text 19"/>
          <p:cNvSpPr/>
          <p:nvPr/>
        </p:nvSpPr>
        <p:spPr>
          <a:xfrm>
            <a:off x="1686878" y="6729651"/>
            <a:ext cx="2383988" cy="293013"/>
          </a:xfrm>
          <a:prstGeom prst="rect">
            <a:avLst/>
          </a:prstGeom>
          <a:noFill/>
          <a:ln/>
        </p:spPr>
        <p:txBody>
          <a:bodyPr wrap="none" lIns="0" tIns="0" rIns="0" bIns="0" rtlCol="0" anchor="t"/>
          <a:lstStyle/>
          <a:p>
            <a:pPr marL="0" indent="0" algn="l">
              <a:lnSpc>
                <a:spcPts val="2300"/>
              </a:lnSpc>
              <a:buNone/>
            </a:pPr>
            <a:r>
              <a:rPr lang="en-US" sz="1800" dirty="0">
                <a:solidFill>
                  <a:srgbClr val="383838"/>
                </a:solidFill>
                <a:latin typeface="PT Serif" pitchFamily="34" charset="0"/>
                <a:ea typeface="PT Serif" pitchFamily="34" charset="-122"/>
                <a:cs typeface="PT Serif" pitchFamily="34" charset="-120"/>
              </a:rPr>
              <a:t>Calculate Test Statistic</a:t>
            </a:r>
            <a:endParaRPr lang="en-US" sz="1800" dirty="0"/>
          </a:p>
        </p:txBody>
      </p:sp>
      <p:sp>
        <p:nvSpPr>
          <p:cNvPr id="22" name="Text 20"/>
          <p:cNvSpPr/>
          <p:nvPr/>
        </p:nvSpPr>
        <p:spPr>
          <a:xfrm>
            <a:off x="1686878" y="7129820"/>
            <a:ext cx="12149733" cy="285750"/>
          </a:xfrm>
          <a:prstGeom prst="rect">
            <a:avLst/>
          </a:prstGeom>
          <a:noFill/>
          <a:ln/>
        </p:spPr>
        <p:txBody>
          <a:bodyPr wrap="none" lIns="0" tIns="0" rIns="0" bIns="0" rtlCol="0" anchor="t"/>
          <a:lstStyle/>
          <a:p>
            <a:pPr marL="0" indent="0" algn="l">
              <a:lnSpc>
                <a:spcPts val="2250"/>
              </a:lnSpc>
              <a:buNone/>
            </a:pPr>
            <a:r>
              <a:rPr lang="en-US" dirty="0">
                <a:solidFill>
                  <a:srgbClr val="383838"/>
                </a:solidFill>
                <a:latin typeface="DM Sans" pitchFamily="34" charset="0"/>
                <a:ea typeface="DM Sans" pitchFamily="34" charset="-122"/>
                <a:cs typeface="DM Sans" pitchFamily="34" charset="-120"/>
              </a:rPr>
              <a:t>Obtain W, which is the sum of ranks associated with positive Di values only.</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320766"/>
            <a:ext cx="780930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Computing the Wilcoxon Statistic</a:t>
            </a:r>
            <a:endParaRPr lang="en-US" sz="4100" dirty="0"/>
          </a:p>
        </p:txBody>
      </p:sp>
      <p:sp>
        <p:nvSpPr>
          <p:cNvPr id="3" name="Shape 1"/>
          <p:cNvSpPr/>
          <p:nvPr/>
        </p:nvSpPr>
        <p:spPr>
          <a:xfrm>
            <a:off x="793790" y="3368873"/>
            <a:ext cx="4215289" cy="2539841"/>
          </a:xfrm>
          <a:prstGeom prst="roundRect">
            <a:avLst>
              <a:gd name="adj" fmla="val 4320"/>
            </a:avLst>
          </a:prstGeom>
          <a:solidFill>
            <a:srgbClr val="FFFFFF"/>
          </a:solidFill>
          <a:ln w="22860">
            <a:solidFill>
              <a:srgbClr val="D8D4D4"/>
            </a:solidFill>
            <a:prstDash val="solid"/>
          </a:ln>
        </p:spPr>
      </p:sp>
      <p:sp>
        <p:nvSpPr>
          <p:cNvPr id="4" name="Shape 2"/>
          <p:cNvSpPr/>
          <p:nvPr/>
        </p:nvSpPr>
        <p:spPr>
          <a:xfrm>
            <a:off x="770930" y="3368873"/>
            <a:ext cx="91440" cy="2539841"/>
          </a:xfrm>
          <a:prstGeom prst="roundRect">
            <a:avLst>
              <a:gd name="adj" fmla="val 32558"/>
            </a:avLst>
          </a:prstGeom>
          <a:solidFill>
            <a:srgbClr val="E04F00"/>
          </a:solidFill>
          <a:ln/>
        </p:spPr>
      </p:sp>
      <p:sp>
        <p:nvSpPr>
          <p:cNvPr id="5" name="Text 3"/>
          <p:cNvSpPr/>
          <p:nvPr/>
        </p:nvSpPr>
        <p:spPr>
          <a:xfrm>
            <a:off x="1083588" y="3590092"/>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Test Statistic W</a:t>
            </a:r>
            <a:endParaRPr lang="en-US" sz="2450" dirty="0"/>
          </a:p>
        </p:txBody>
      </p:sp>
      <p:sp>
        <p:nvSpPr>
          <p:cNvPr id="6" name="Text 4"/>
          <p:cNvSpPr/>
          <p:nvPr/>
        </p:nvSpPr>
        <p:spPr>
          <a:xfrm>
            <a:off x="1083588" y="4099798"/>
            <a:ext cx="370427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W statistic equals the sum of ranks associated with positive differences. This captures the magnitude and direction of changes in the paired data.</a:t>
            </a:r>
            <a:endParaRPr lang="en-US" sz="1550" dirty="0"/>
          </a:p>
        </p:txBody>
      </p:sp>
      <p:sp>
        <p:nvSpPr>
          <p:cNvPr id="7" name="Shape 5"/>
          <p:cNvSpPr/>
          <p:nvPr/>
        </p:nvSpPr>
        <p:spPr>
          <a:xfrm>
            <a:off x="5207437" y="3368873"/>
            <a:ext cx="4215408" cy="2539841"/>
          </a:xfrm>
          <a:prstGeom prst="roundRect">
            <a:avLst>
              <a:gd name="adj" fmla="val 4320"/>
            </a:avLst>
          </a:prstGeom>
          <a:solidFill>
            <a:srgbClr val="FFFFFF"/>
          </a:solidFill>
          <a:ln w="22860">
            <a:solidFill>
              <a:srgbClr val="D8D4D4"/>
            </a:solidFill>
            <a:prstDash val="solid"/>
          </a:ln>
        </p:spPr>
      </p:sp>
      <p:sp>
        <p:nvSpPr>
          <p:cNvPr id="8" name="Shape 6"/>
          <p:cNvSpPr/>
          <p:nvPr/>
        </p:nvSpPr>
        <p:spPr>
          <a:xfrm>
            <a:off x="5184577" y="3368873"/>
            <a:ext cx="91440" cy="2539841"/>
          </a:xfrm>
          <a:prstGeom prst="roundRect">
            <a:avLst>
              <a:gd name="adj" fmla="val 32558"/>
            </a:avLst>
          </a:prstGeom>
          <a:solidFill>
            <a:srgbClr val="E04F00"/>
          </a:solidFill>
          <a:ln/>
        </p:spPr>
      </p:sp>
      <p:sp>
        <p:nvSpPr>
          <p:cNvPr id="9" name="Text 7"/>
          <p:cNvSpPr/>
          <p:nvPr/>
        </p:nvSpPr>
        <p:spPr>
          <a:xfrm>
            <a:off x="5497235" y="3590092"/>
            <a:ext cx="3222069"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Normal Approximation</a:t>
            </a:r>
            <a:endParaRPr lang="en-US" sz="2450" dirty="0"/>
          </a:p>
        </p:txBody>
      </p:sp>
      <p:sp>
        <p:nvSpPr>
          <p:cNvPr id="10" name="Text 8"/>
          <p:cNvSpPr/>
          <p:nvPr/>
        </p:nvSpPr>
        <p:spPr>
          <a:xfrm>
            <a:off x="5497235" y="4099798"/>
            <a:ext cx="3704392"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For larger sample sizes (typically n ≥ 10), the standardized W statistic follows an approximate normal distribution, enabling use of z-scores and normal probability tables.</a:t>
            </a:r>
            <a:endParaRPr lang="en-US" sz="1550" dirty="0"/>
          </a:p>
        </p:txBody>
      </p:sp>
      <p:sp>
        <p:nvSpPr>
          <p:cNvPr id="11" name="Shape 9"/>
          <p:cNvSpPr/>
          <p:nvPr/>
        </p:nvSpPr>
        <p:spPr>
          <a:xfrm>
            <a:off x="9621203" y="3368873"/>
            <a:ext cx="4215289" cy="2539841"/>
          </a:xfrm>
          <a:prstGeom prst="roundRect">
            <a:avLst>
              <a:gd name="adj" fmla="val 4320"/>
            </a:avLst>
          </a:prstGeom>
          <a:solidFill>
            <a:srgbClr val="FFFFFF"/>
          </a:solidFill>
          <a:ln w="22860">
            <a:solidFill>
              <a:srgbClr val="D8D4D4"/>
            </a:solidFill>
            <a:prstDash val="solid"/>
          </a:ln>
        </p:spPr>
      </p:sp>
      <p:sp>
        <p:nvSpPr>
          <p:cNvPr id="12" name="Shape 10"/>
          <p:cNvSpPr/>
          <p:nvPr/>
        </p:nvSpPr>
        <p:spPr>
          <a:xfrm>
            <a:off x="9598343" y="3368873"/>
            <a:ext cx="91440" cy="2539841"/>
          </a:xfrm>
          <a:prstGeom prst="roundRect">
            <a:avLst>
              <a:gd name="adj" fmla="val 32558"/>
            </a:avLst>
          </a:prstGeom>
          <a:solidFill>
            <a:srgbClr val="E04F00"/>
          </a:solidFill>
          <a:ln/>
        </p:spPr>
      </p:sp>
      <p:sp>
        <p:nvSpPr>
          <p:cNvPr id="13" name="Text 11"/>
          <p:cNvSpPr/>
          <p:nvPr/>
        </p:nvSpPr>
        <p:spPr>
          <a:xfrm>
            <a:off x="9911001" y="3590092"/>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Statistical Decision</a:t>
            </a:r>
            <a:endParaRPr lang="en-US" sz="2450" dirty="0"/>
          </a:p>
        </p:txBody>
      </p:sp>
      <p:sp>
        <p:nvSpPr>
          <p:cNvPr id="14" name="Text 12"/>
          <p:cNvSpPr/>
          <p:nvPr/>
        </p:nvSpPr>
        <p:spPr>
          <a:xfrm>
            <a:off x="9911001" y="4099798"/>
            <a:ext cx="3704273"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Compare the calculated p-value against your predetermined significance level (commonly α = 0.05) to determine whether to reject or fail to reject the null hypothesis.</a:t>
            </a:r>
            <a:endParaRPr lang="en-US" sz="1550" dirty="0"/>
          </a:p>
        </p:txBody>
      </p:sp>
      <p:graphicFrame>
        <p:nvGraphicFramePr>
          <p:cNvPr id="15" name="Object 4">
            <a:extLst>
              <a:ext uri="{FF2B5EF4-FFF2-40B4-BE49-F238E27FC236}">
                <a16:creationId xmlns:a16="http://schemas.microsoft.com/office/drawing/2014/main" id="{8091D423-CF4F-3E40-B188-B8FFD86A73B7}"/>
              </a:ext>
            </a:extLst>
          </p:cNvPr>
          <p:cNvGraphicFramePr>
            <a:graphicFrameLocks noChangeAspect="1"/>
          </p:cNvGraphicFramePr>
          <p:nvPr>
            <p:extLst>
              <p:ext uri="{D42A27DB-BD31-4B8C-83A1-F6EECF244321}">
                <p14:modId xmlns:p14="http://schemas.microsoft.com/office/powerpoint/2010/main" val="751572771"/>
              </p:ext>
            </p:extLst>
          </p:nvPr>
        </p:nvGraphicFramePr>
        <p:xfrm>
          <a:off x="5620227" y="6143597"/>
          <a:ext cx="3581400" cy="1711325"/>
        </p:xfrm>
        <a:graphic>
          <a:graphicData uri="http://schemas.openxmlformats.org/presentationml/2006/ole">
            <mc:AlternateContent xmlns:mc="http://schemas.openxmlformats.org/markup-compatibility/2006">
              <mc:Choice xmlns:v="urn:schemas-microsoft-com:vml" Requires="v">
                <p:oleObj spid="_x0000_s2061" name="Equation" r:id="rId4" imgW="1143000" imgH="622300" progId="Equation.3">
                  <p:embed/>
                </p:oleObj>
              </mc:Choice>
              <mc:Fallback>
                <p:oleObj name="Equation" r:id="rId4" imgW="1143000" imgH="622300" progId="Equation.3">
                  <p:embed/>
                  <p:pic>
                    <p:nvPicPr>
                      <p:cNvPr id="205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0227" y="6143597"/>
                        <a:ext cx="3581400" cy="171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588175"/>
            <a:ext cx="767345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Wilcoxon Test: Training Example</a:t>
            </a:r>
            <a:endParaRPr lang="en-US" sz="4100" dirty="0"/>
          </a:p>
        </p:txBody>
      </p:sp>
      <p:sp>
        <p:nvSpPr>
          <p:cNvPr id="3" name="Text 1"/>
          <p:cNvSpPr/>
          <p:nvPr/>
        </p:nvSpPr>
        <p:spPr>
          <a:xfrm>
            <a:off x="793790" y="2537103"/>
            <a:ext cx="5281017"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Scores Before and After Training Intervention</a:t>
            </a:r>
            <a:endParaRPr lang="en-US" sz="2050" dirty="0"/>
          </a:p>
        </p:txBody>
      </p:sp>
      <p:sp>
        <p:nvSpPr>
          <p:cNvPr id="4" name="Text 2"/>
          <p:cNvSpPr/>
          <p:nvPr/>
        </p:nvSpPr>
        <p:spPr>
          <a:xfrm>
            <a:off x="793790" y="316039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This example examines whether a training program produces significant changes in participant scores. Paired measurements are taken before and after the intervention to assess effectiveness.</a:t>
            </a:r>
            <a:endParaRPr lang="en-US" dirty="0"/>
          </a:p>
        </p:txBody>
      </p:sp>
      <p:sp>
        <p:nvSpPr>
          <p:cNvPr id="5" name="Text 3"/>
          <p:cNvSpPr/>
          <p:nvPr/>
        </p:nvSpPr>
        <p:spPr>
          <a:xfrm>
            <a:off x="793790" y="4117896"/>
            <a:ext cx="13042821" cy="654963"/>
          </a:xfrm>
          <a:prstGeom prst="rect">
            <a:avLst/>
          </a:prstGeom>
          <a:noFill/>
          <a:ln/>
        </p:spPr>
        <p:txBody>
          <a:bodyPr wrap="none" lIns="0" tIns="0" rIns="0" bIns="0" rtlCol="0" anchor="t"/>
          <a:lstStyle/>
          <a:p>
            <a:pPr marL="0" indent="0" algn="ctr">
              <a:lnSpc>
                <a:spcPts val="5150"/>
              </a:lnSpc>
              <a:buNone/>
            </a:pPr>
            <a:r>
              <a:rPr lang="en-US" sz="5150" dirty="0">
                <a:solidFill>
                  <a:srgbClr val="383838"/>
                </a:solidFill>
                <a:latin typeface="PT Serif" pitchFamily="34" charset="0"/>
                <a:ea typeface="PT Serif" pitchFamily="34" charset="-122"/>
                <a:cs typeface="PT Serif" pitchFamily="34" charset="-120"/>
              </a:rPr>
              <a:t>4</a:t>
            </a:r>
            <a:endParaRPr lang="en-US" sz="5150" dirty="0"/>
          </a:p>
        </p:txBody>
      </p:sp>
      <p:sp>
        <p:nvSpPr>
          <p:cNvPr id="6" name="Text 4"/>
          <p:cNvSpPr/>
          <p:nvPr/>
        </p:nvSpPr>
        <p:spPr>
          <a:xfrm>
            <a:off x="6012656" y="5020866"/>
            <a:ext cx="2604968" cy="325636"/>
          </a:xfrm>
          <a:prstGeom prst="rect">
            <a:avLst/>
          </a:prstGeom>
          <a:noFill/>
          <a:ln/>
        </p:spPr>
        <p:txBody>
          <a:bodyPr wrap="none" lIns="0" tIns="0" rIns="0" bIns="0" rtlCol="0" anchor="t"/>
          <a:lstStyle/>
          <a:p>
            <a:pPr marL="0" indent="0" algn="ctr">
              <a:lnSpc>
                <a:spcPts val="2550"/>
              </a:lnSpc>
              <a:buNone/>
            </a:pPr>
            <a:r>
              <a:rPr lang="en-US" sz="2050" dirty="0">
                <a:solidFill>
                  <a:srgbClr val="383838"/>
                </a:solidFill>
                <a:latin typeface="PT Serif" pitchFamily="34" charset="0"/>
                <a:ea typeface="PT Serif" pitchFamily="34" charset="-122"/>
                <a:cs typeface="PT Serif" pitchFamily="34" charset="-120"/>
              </a:rPr>
              <a:t>W Statistic</a:t>
            </a:r>
            <a:endParaRPr lang="en-US" sz="2050" dirty="0"/>
          </a:p>
        </p:txBody>
      </p:sp>
      <p:sp>
        <p:nvSpPr>
          <p:cNvPr id="7" name="Text 5"/>
          <p:cNvSpPr/>
          <p:nvPr/>
        </p:nvSpPr>
        <p:spPr>
          <a:xfrm>
            <a:off x="793790" y="5465564"/>
            <a:ext cx="13042821" cy="317540"/>
          </a:xfrm>
          <a:prstGeom prst="rect">
            <a:avLst/>
          </a:prstGeom>
          <a:noFill/>
          <a:ln/>
        </p:spPr>
        <p:txBody>
          <a:bodyPr wrap="none" lIns="0" tIns="0" rIns="0" bIns="0" rtlCol="0" anchor="t"/>
          <a:lstStyle/>
          <a:p>
            <a:pPr marL="0" indent="0" algn="ctr">
              <a:lnSpc>
                <a:spcPts val="2500"/>
              </a:lnSpc>
              <a:buNone/>
            </a:pPr>
            <a:r>
              <a:rPr lang="en-US" dirty="0">
                <a:solidFill>
                  <a:srgbClr val="383838"/>
                </a:solidFill>
                <a:latin typeface="DM Sans" pitchFamily="34" charset="0"/>
                <a:ea typeface="DM Sans" pitchFamily="34" charset="-122"/>
                <a:cs typeface="DM Sans" pitchFamily="34" charset="-120"/>
              </a:rPr>
              <a:t>Sum of ranks for positive differences</a:t>
            </a:r>
            <a:endParaRPr lang="en-US" dirty="0"/>
          </a:p>
        </p:txBody>
      </p:sp>
      <p:sp>
        <p:nvSpPr>
          <p:cNvPr id="8" name="Text 6"/>
          <p:cNvSpPr/>
          <p:nvPr/>
        </p:nvSpPr>
        <p:spPr>
          <a:xfrm>
            <a:off x="793790" y="600634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test statistic W represents the sum of ranks associated with positive</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 differences (Di &gt; 0), indicating participants who improved after training.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 small W value suggests most differences were negative, meaning scores </a:t>
            </a: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decreased after training.</a:t>
            </a:r>
            <a:endParaRPr lang="en-US" dirty="0"/>
          </a:p>
        </p:txBody>
      </p:sp>
      <p:pic>
        <p:nvPicPr>
          <p:cNvPr id="9" name="Picture 8">
            <a:extLst>
              <a:ext uri="{FF2B5EF4-FFF2-40B4-BE49-F238E27FC236}">
                <a16:creationId xmlns:a16="http://schemas.microsoft.com/office/drawing/2014/main" id="{A782EDEA-7FD3-9F41-A17D-88DCB6BDA823}"/>
              </a:ext>
            </a:extLst>
          </p:cNvPr>
          <p:cNvPicPr>
            <a:picLocks noChangeAspect="1"/>
          </p:cNvPicPr>
          <p:nvPr/>
        </p:nvPicPr>
        <p:blipFill>
          <a:blip r:embed="rId3"/>
          <a:stretch>
            <a:fillRect/>
          </a:stretch>
        </p:blipFill>
        <p:spPr>
          <a:xfrm>
            <a:off x="9637322" y="3893760"/>
            <a:ext cx="1981634" cy="3143607"/>
          </a:xfrm>
          <a:prstGeom prst="rect">
            <a:avLst/>
          </a:prstGeom>
          <a:ln>
            <a:solidFill>
              <a:schemeClr val="tx1"/>
            </a:solidFill>
          </a:ln>
        </p:spPr>
      </p:pic>
      <p:pic>
        <p:nvPicPr>
          <p:cNvPr id="10" name="Picture 9">
            <a:extLst>
              <a:ext uri="{FF2B5EF4-FFF2-40B4-BE49-F238E27FC236}">
                <a16:creationId xmlns:a16="http://schemas.microsoft.com/office/drawing/2014/main" id="{40E7B609-BB46-A743-8772-7DBAD8B7E971}"/>
              </a:ext>
            </a:extLst>
          </p:cNvPr>
          <p:cNvPicPr>
            <a:picLocks noChangeAspect="1"/>
          </p:cNvPicPr>
          <p:nvPr/>
        </p:nvPicPr>
        <p:blipFill>
          <a:blip r:embed="rId4"/>
          <a:stretch>
            <a:fillRect/>
          </a:stretch>
        </p:blipFill>
        <p:spPr>
          <a:xfrm>
            <a:off x="11966027" y="3627402"/>
            <a:ext cx="2380433" cy="3993863"/>
          </a:xfrm>
          <a:prstGeom prst="rect">
            <a:avLst/>
          </a:prstGeom>
          <a:ln>
            <a:solidFill>
              <a:schemeClr val="tx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617458"/>
            <a:ext cx="5779056" cy="618649"/>
          </a:xfrm>
          <a:prstGeom prst="rect">
            <a:avLst/>
          </a:prstGeom>
          <a:noFill/>
          <a:ln/>
        </p:spPr>
        <p:txBody>
          <a:bodyPr wrap="none" lIns="0" tIns="0" rIns="0" bIns="0" rtlCol="0" anchor="t"/>
          <a:lstStyle/>
          <a:p>
            <a:pPr marL="0" indent="0" algn="l">
              <a:lnSpc>
                <a:spcPts val="4850"/>
              </a:lnSpc>
              <a:buNone/>
            </a:pPr>
            <a:r>
              <a:rPr lang="en-US" sz="3850" dirty="0">
                <a:solidFill>
                  <a:srgbClr val="020202"/>
                </a:solidFill>
                <a:latin typeface="PT Serif" pitchFamily="34" charset="0"/>
                <a:ea typeface="PT Serif" pitchFamily="34" charset="-122"/>
                <a:cs typeface="PT Serif" pitchFamily="34" charset="-120"/>
              </a:rPr>
              <a:t>Training Example: Results</a:t>
            </a:r>
            <a:endParaRPr lang="en-US" sz="3850" dirty="0"/>
          </a:p>
        </p:txBody>
      </p:sp>
      <p:sp>
        <p:nvSpPr>
          <p:cNvPr id="3" name="Shape 1"/>
          <p:cNvSpPr/>
          <p:nvPr/>
        </p:nvSpPr>
        <p:spPr>
          <a:xfrm>
            <a:off x="793790" y="3492579"/>
            <a:ext cx="13042821" cy="22860"/>
          </a:xfrm>
          <a:prstGeom prst="roundRect">
            <a:avLst>
              <a:gd name="adj" fmla="val 123721"/>
            </a:avLst>
          </a:prstGeom>
          <a:solidFill>
            <a:srgbClr val="D8D4D4"/>
          </a:solidFill>
          <a:ln/>
        </p:spPr>
      </p:sp>
      <p:sp>
        <p:nvSpPr>
          <p:cNvPr id="4" name="Shape 2"/>
          <p:cNvSpPr/>
          <p:nvPr/>
        </p:nvSpPr>
        <p:spPr>
          <a:xfrm>
            <a:off x="793790" y="1613178"/>
            <a:ext cx="4190524" cy="1879402"/>
          </a:xfrm>
          <a:prstGeom prst="roundRect">
            <a:avLst>
              <a:gd name="adj" fmla="val 1505"/>
            </a:avLst>
          </a:prstGeom>
          <a:solidFill>
            <a:srgbClr val="F2EEEE"/>
          </a:solidFill>
          <a:ln/>
        </p:spPr>
      </p:sp>
      <p:sp>
        <p:nvSpPr>
          <p:cNvPr id="5" name="Text 3"/>
          <p:cNvSpPr/>
          <p:nvPr/>
        </p:nvSpPr>
        <p:spPr>
          <a:xfrm>
            <a:off x="1404223" y="1801654"/>
            <a:ext cx="2969657" cy="371118"/>
          </a:xfrm>
          <a:prstGeom prst="rect">
            <a:avLst/>
          </a:prstGeom>
          <a:noFill/>
          <a:ln/>
        </p:spPr>
        <p:txBody>
          <a:bodyPr wrap="none" lIns="0" tIns="0" rIns="0" bIns="0" rtlCol="0" anchor="t"/>
          <a:lstStyle/>
          <a:p>
            <a:pPr marL="0" indent="0" algn="ctr">
              <a:lnSpc>
                <a:spcPts val="2900"/>
              </a:lnSpc>
              <a:buNone/>
            </a:pPr>
            <a:r>
              <a:rPr lang="en-US" sz="2300" dirty="0">
                <a:solidFill>
                  <a:srgbClr val="383838"/>
                </a:solidFill>
                <a:latin typeface="PT Serif" pitchFamily="34" charset="0"/>
                <a:ea typeface="PT Serif" pitchFamily="34" charset="-122"/>
                <a:cs typeface="PT Serif" pitchFamily="34" charset="-120"/>
              </a:rPr>
              <a:t>Observed Statistic</a:t>
            </a:r>
            <a:endParaRPr lang="en-US" sz="2300" dirty="0"/>
          </a:p>
        </p:txBody>
      </p:sp>
      <p:sp>
        <p:nvSpPr>
          <p:cNvPr id="6" name="Text 4"/>
          <p:cNvSpPr/>
          <p:nvPr/>
        </p:nvSpPr>
        <p:spPr>
          <a:xfrm>
            <a:off x="982266" y="2285881"/>
            <a:ext cx="3813572" cy="301704"/>
          </a:xfrm>
          <a:prstGeom prst="rect">
            <a:avLst/>
          </a:prstGeom>
          <a:noFill/>
          <a:ln/>
        </p:spPr>
        <p:txBody>
          <a:bodyPr wrap="none" lIns="0" tIns="0" rIns="0" bIns="0" rtlCol="0" anchor="t"/>
          <a:lstStyle/>
          <a:p>
            <a:pPr marL="0" indent="0" algn="ctr">
              <a:lnSpc>
                <a:spcPts val="2350"/>
              </a:lnSpc>
              <a:buNone/>
            </a:pPr>
            <a:r>
              <a:rPr lang="en-US" sz="1450" b="1" dirty="0">
                <a:solidFill>
                  <a:srgbClr val="383838"/>
                </a:solidFill>
                <a:latin typeface="DM Sans" pitchFamily="34" charset="0"/>
                <a:ea typeface="DM Sans" pitchFamily="34" charset="-122"/>
                <a:cs typeface="DM Sans" pitchFamily="34" charset="-120"/>
              </a:rPr>
              <a:t>W = 4</a:t>
            </a:r>
            <a:endParaRPr lang="en-US" sz="1450" dirty="0"/>
          </a:p>
        </p:txBody>
      </p:sp>
      <p:sp>
        <p:nvSpPr>
          <p:cNvPr id="7" name="Text 5"/>
          <p:cNvSpPr/>
          <p:nvPr/>
        </p:nvSpPr>
        <p:spPr>
          <a:xfrm>
            <a:off x="982266" y="2700695"/>
            <a:ext cx="3813572" cy="603409"/>
          </a:xfrm>
          <a:prstGeom prst="rect">
            <a:avLst/>
          </a:prstGeom>
          <a:noFill/>
          <a:ln/>
        </p:spPr>
        <p:txBody>
          <a:bodyPr wrap="square" lIns="0" tIns="0" rIns="0" bIns="0" rtlCol="0" anchor="t"/>
          <a:lstStyle/>
          <a:p>
            <a:pPr marL="0" indent="0" algn="ctr">
              <a:lnSpc>
                <a:spcPts val="2350"/>
              </a:lnSpc>
              <a:buNone/>
            </a:pPr>
            <a:r>
              <a:rPr lang="en-US" dirty="0">
                <a:solidFill>
                  <a:srgbClr val="383838"/>
                </a:solidFill>
                <a:latin typeface="DM Sans" pitchFamily="34" charset="0"/>
                <a:ea typeface="DM Sans" pitchFamily="34" charset="-122"/>
                <a:cs typeface="DM Sans" pitchFamily="34" charset="-120"/>
              </a:rPr>
              <a:t>The sum of ranks for positive differences is notably small.</a:t>
            </a:r>
            <a:endParaRPr lang="en-US" dirty="0"/>
          </a:p>
        </p:txBody>
      </p:sp>
      <p:sp>
        <p:nvSpPr>
          <p:cNvPr id="8" name="Shape 6"/>
          <p:cNvSpPr/>
          <p:nvPr/>
        </p:nvSpPr>
        <p:spPr>
          <a:xfrm>
            <a:off x="5219938" y="3515439"/>
            <a:ext cx="4190524" cy="1879402"/>
          </a:xfrm>
          <a:prstGeom prst="rect">
            <a:avLst/>
          </a:prstGeom>
          <a:solidFill>
            <a:srgbClr val="F2EEEE"/>
          </a:solidFill>
          <a:ln/>
        </p:spPr>
      </p:sp>
      <p:sp>
        <p:nvSpPr>
          <p:cNvPr id="9" name="Text 7"/>
          <p:cNvSpPr/>
          <p:nvPr/>
        </p:nvSpPr>
        <p:spPr>
          <a:xfrm>
            <a:off x="5830372" y="3703915"/>
            <a:ext cx="2969657" cy="371118"/>
          </a:xfrm>
          <a:prstGeom prst="rect">
            <a:avLst/>
          </a:prstGeom>
          <a:noFill/>
          <a:ln/>
        </p:spPr>
        <p:txBody>
          <a:bodyPr wrap="none" lIns="0" tIns="0" rIns="0" bIns="0" rtlCol="0" anchor="t"/>
          <a:lstStyle/>
          <a:p>
            <a:pPr marL="0" indent="0" algn="ctr">
              <a:lnSpc>
                <a:spcPts val="2900"/>
              </a:lnSpc>
              <a:buNone/>
            </a:pPr>
            <a:r>
              <a:rPr lang="en-US" sz="2300" dirty="0">
                <a:solidFill>
                  <a:srgbClr val="383838"/>
                </a:solidFill>
                <a:latin typeface="PT Serif" pitchFamily="34" charset="0"/>
                <a:ea typeface="PT Serif" pitchFamily="34" charset="-122"/>
                <a:cs typeface="PT Serif" pitchFamily="34" charset="-120"/>
              </a:rPr>
              <a:t>Expected Value</a:t>
            </a:r>
            <a:endParaRPr lang="en-US" sz="2300" dirty="0"/>
          </a:p>
        </p:txBody>
      </p:sp>
      <p:sp>
        <p:nvSpPr>
          <p:cNvPr id="10" name="Text 8"/>
          <p:cNvSpPr/>
          <p:nvPr/>
        </p:nvSpPr>
        <p:spPr>
          <a:xfrm>
            <a:off x="5408414" y="4188143"/>
            <a:ext cx="3813572" cy="301704"/>
          </a:xfrm>
          <a:prstGeom prst="rect">
            <a:avLst/>
          </a:prstGeom>
          <a:noFill/>
          <a:ln/>
        </p:spPr>
        <p:txBody>
          <a:bodyPr wrap="none" lIns="0" tIns="0" rIns="0" bIns="0" rtlCol="0" anchor="t"/>
          <a:lstStyle/>
          <a:p>
            <a:pPr marL="0" indent="0" algn="ctr">
              <a:lnSpc>
                <a:spcPts val="2350"/>
              </a:lnSpc>
              <a:buNone/>
            </a:pPr>
            <a:r>
              <a:rPr lang="en-US" sz="1450" b="1" dirty="0">
                <a:solidFill>
                  <a:srgbClr val="383838"/>
                </a:solidFill>
                <a:latin typeface="DM Sans" pitchFamily="34" charset="0"/>
                <a:ea typeface="DM Sans" pitchFamily="34" charset="-122"/>
                <a:cs typeface="DM Sans" pitchFamily="34" charset="-120"/>
              </a:rPr>
              <a:t>E(W) = 39</a:t>
            </a:r>
            <a:endParaRPr lang="en-US" sz="1450" dirty="0"/>
          </a:p>
        </p:txBody>
      </p:sp>
      <p:sp>
        <p:nvSpPr>
          <p:cNvPr id="11" name="Text 9"/>
          <p:cNvSpPr/>
          <p:nvPr/>
        </p:nvSpPr>
        <p:spPr>
          <a:xfrm>
            <a:off x="5408414" y="4602956"/>
            <a:ext cx="3813572" cy="603409"/>
          </a:xfrm>
          <a:prstGeom prst="rect">
            <a:avLst/>
          </a:prstGeom>
          <a:noFill/>
          <a:ln/>
        </p:spPr>
        <p:txBody>
          <a:bodyPr wrap="square" lIns="0" tIns="0" rIns="0" bIns="0" rtlCol="0" anchor="t"/>
          <a:lstStyle/>
          <a:p>
            <a:pPr marL="0" indent="0" algn="ctr">
              <a:lnSpc>
                <a:spcPts val="2350"/>
              </a:lnSpc>
              <a:buNone/>
            </a:pPr>
            <a:r>
              <a:rPr lang="en-US" dirty="0">
                <a:solidFill>
                  <a:srgbClr val="383838"/>
                </a:solidFill>
                <a:latin typeface="DM Sans" pitchFamily="34" charset="0"/>
                <a:ea typeface="DM Sans" pitchFamily="34" charset="-122"/>
                <a:cs typeface="DM Sans" pitchFamily="34" charset="-120"/>
              </a:rPr>
              <a:t>Under the null hypothesis, we would expect W to be approximately 39.</a:t>
            </a:r>
            <a:endParaRPr lang="en-US" dirty="0"/>
          </a:p>
        </p:txBody>
      </p:sp>
      <p:sp>
        <p:nvSpPr>
          <p:cNvPr id="12" name="Shape 10"/>
          <p:cNvSpPr/>
          <p:nvPr/>
        </p:nvSpPr>
        <p:spPr>
          <a:xfrm>
            <a:off x="9646087" y="1613178"/>
            <a:ext cx="4190524" cy="1577697"/>
          </a:xfrm>
          <a:prstGeom prst="roundRect">
            <a:avLst>
              <a:gd name="adj" fmla="val 1793"/>
            </a:avLst>
          </a:prstGeom>
          <a:solidFill>
            <a:srgbClr val="F2EEEE"/>
          </a:solidFill>
          <a:ln/>
        </p:spPr>
      </p:sp>
      <p:sp>
        <p:nvSpPr>
          <p:cNvPr id="13" name="Text 11"/>
          <p:cNvSpPr/>
          <p:nvPr/>
        </p:nvSpPr>
        <p:spPr>
          <a:xfrm>
            <a:off x="10256520" y="1801654"/>
            <a:ext cx="2969657" cy="371118"/>
          </a:xfrm>
          <a:prstGeom prst="rect">
            <a:avLst/>
          </a:prstGeom>
          <a:noFill/>
          <a:ln/>
        </p:spPr>
        <p:txBody>
          <a:bodyPr wrap="none" lIns="0" tIns="0" rIns="0" bIns="0" rtlCol="0" anchor="t"/>
          <a:lstStyle/>
          <a:p>
            <a:pPr marL="0" indent="0" algn="ctr">
              <a:lnSpc>
                <a:spcPts val="2900"/>
              </a:lnSpc>
              <a:buNone/>
            </a:pPr>
            <a:r>
              <a:rPr lang="en-US" sz="2300" dirty="0">
                <a:solidFill>
                  <a:srgbClr val="383838"/>
                </a:solidFill>
                <a:latin typeface="PT Serif" pitchFamily="34" charset="0"/>
                <a:ea typeface="PT Serif" pitchFamily="34" charset="-122"/>
                <a:cs typeface="PT Serif" pitchFamily="34" charset="-120"/>
              </a:rPr>
              <a:t>Variance</a:t>
            </a:r>
            <a:endParaRPr lang="en-US" sz="2300" dirty="0"/>
          </a:p>
        </p:txBody>
      </p:sp>
      <p:sp>
        <p:nvSpPr>
          <p:cNvPr id="14" name="Text 12"/>
          <p:cNvSpPr/>
          <p:nvPr/>
        </p:nvSpPr>
        <p:spPr>
          <a:xfrm>
            <a:off x="9834562" y="2285881"/>
            <a:ext cx="3813572" cy="301704"/>
          </a:xfrm>
          <a:prstGeom prst="rect">
            <a:avLst/>
          </a:prstGeom>
          <a:noFill/>
          <a:ln/>
        </p:spPr>
        <p:txBody>
          <a:bodyPr wrap="none" lIns="0" tIns="0" rIns="0" bIns="0" rtlCol="0" anchor="t"/>
          <a:lstStyle/>
          <a:p>
            <a:pPr marL="0" indent="0" algn="ctr">
              <a:lnSpc>
                <a:spcPts val="2350"/>
              </a:lnSpc>
              <a:buNone/>
            </a:pPr>
            <a:r>
              <a:rPr lang="en-US" sz="1450" b="1" dirty="0">
                <a:solidFill>
                  <a:srgbClr val="383838"/>
                </a:solidFill>
                <a:latin typeface="DM Sans" pitchFamily="34" charset="0"/>
                <a:ea typeface="DM Sans" pitchFamily="34" charset="-122"/>
                <a:cs typeface="DM Sans" pitchFamily="34" charset="-120"/>
              </a:rPr>
              <a:t>V(W) = 162.5</a:t>
            </a:r>
            <a:endParaRPr lang="en-US" sz="1450" dirty="0"/>
          </a:p>
        </p:txBody>
      </p:sp>
      <p:sp>
        <p:nvSpPr>
          <p:cNvPr id="15" name="Text 13"/>
          <p:cNvSpPr/>
          <p:nvPr/>
        </p:nvSpPr>
        <p:spPr>
          <a:xfrm>
            <a:off x="9834562" y="2700695"/>
            <a:ext cx="3813572" cy="301704"/>
          </a:xfrm>
          <a:prstGeom prst="rect">
            <a:avLst/>
          </a:prstGeom>
          <a:noFill/>
          <a:ln/>
        </p:spPr>
        <p:txBody>
          <a:bodyPr wrap="none" lIns="0" tIns="0" rIns="0" bIns="0" rtlCol="0" anchor="t"/>
          <a:lstStyle/>
          <a:p>
            <a:pPr marL="0" indent="0" algn="ctr">
              <a:lnSpc>
                <a:spcPts val="2350"/>
              </a:lnSpc>
              <a:buNone/>
            </a:pPr>
            <a:r>
              <a:rPr lang="en-US" dirty="0">
                <a:solidFill>
                  <a:srgbClr val="383838"/>
                </a:solidFill>
                <a:latin typeface="DM Sans" pitchFamily="34" charset="0"/>
                <a:ea typeface="DM Sans" pitchFamily="34" charset="-122"/>
                <a:cs typeface="DM Sans" pitchFamily="34" charset="-120"/>
              </a:rPr>
              <a:t>Measure of variability in the W statistic.</a:t>
            </a:r>
            <a:endParaRPr lang="en-US" dirty="0"/>
          </a:p>
        </p:txBody>
      </p:sp>
      <p:sp>
        <p:nvSpPr>
          <p:cNvPr id="16" name="Shape 14"/>
          <p:cNvSpPr/>
          <p:nvPr/>
        </p:nvSpPr>
        <p:spPr>
          <a:xfrm>
            <a:off x="793790" y="5678199"/>
            <a:ext cx="13042821" cy="31075"/>
          </a:xfrm>
          <a:prstGeom prst="rect">
            <a:avLst/>
          </a:prstGeom>
          <a:solidFill>
            <a:srgbClr val="383838">
              <a:alpha val="50000"/>
            </a:srgbClr>
          </a:solidFill>
          <a:ln/>
        </p:spPr>
      </p:sp>
      <p:sp>
        <p:nvSpPr>
          <p:cNvPr id="17" name="Text 15"/>
          <p:cNvSpPr/>
          <p:nvPr/>
        </p:nvSpPr>
        <p:spPr>
          <a:xfrm>
            <a:off x="793790" y="6109692"/>
            <a:ext cx="2969657" cy="371118"/>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P-Value Analysis</a:t>
            </a:r>
            <a:endParaRPr lang="en-US" sz="2300" dirty="0"/>
          </a:p>
        </p:txBody>
      </p:sp>
      <p:sp>
        <p:nvSpPr>
          <p:cNvPr id="18" name="Text 16"/>
          <p:cNvSpPr/>
          <p:nvPr/>
        </p:nvSpPr>
        <p:spPr>
          <a:xfrm>
            <a:off x="793790" y="6669286"/>
            <a:ext cx="6291382" cy="301704"/>
          </a:xfrm>
          <a:prstGeom prst="rect">
            <a:avLst/>
          </a:prstGeom>
          <a:noFill/>
          <a:ln/>
        </p:spPr>
        <p:txBody>
          <a:bodyPr wrap="none" lIns="0" tIns="0" rIns="0" bIns="0" rtlCol="0" anchor="t"/>
          <a:lstStyle/>
          <a:p>
            <a:pPr marL="0" indent="0" algn="l">
              <a:lnSpc>
                <a:spcPts val="2350"/>
              </a:lnSpc>
              <a:buNone/>
            </a:pPr>
            <a:r>
              <a:rPr lang="en-US" sz="1450" b="1" dirty="0">
                <a:solidFill>
                  <a:srgbClr val="383838"/>
                </a:solidFill>
                <a:latin typeface="DM Sans" pitchFamily="34" charset="0"/>
                <a:ea typeface="DM Sans" pitchFamily="34" charset="-122"/>
                <a:cs typeface="DM Sans" pitchFamily="34" charset="-120"/>
              </a:rPr>
              <a:t>p = 0.001709</a:t>
            </a:r>
            <a:endParaRPr lang="en-US" sz="1450" dirty="0"/>
          </a:p>
        </p:txBody>
      </p:sp>
      <p:sp>
        <p:nvSpPr>
          <p:cNvPr id="19" name="Text 17"/>
          <p:cNvSpPr/>
          <p:nvPr/>
        </p:nvSpPr>
        <p:spPr>
          <a:xfrm>
            <a:off x="793790" y="7140654"/>
            <a:ext cx="6291382" cy="301704"/>
          </a:xfrm>
          <a:prstGeom prst="rect">
            <a:avLst/>
          </a:prstGeom>
          <a:noFill/>
          <a:ln/>
        </p:spPr>
        <p:txBody>
          <a:bodyPr wrap="none" lIns="0" tIns="0" rIns="0" bIns="0" rtlCol="0" anchor="t"/>
          <a:lstStyle/>
          <a:p>
            <a:pPr marL="0" indent="0" algn="l">
              <a:lnSpc>
                <a:spcPts val="2350"/>
              </a:lnSpc>
              <a:buNone/>
            </a:pPr>
            <a:r>
              <a:rPr lang="en-US" dirty="0">
                <a:solidFill>
                  <a:srgbClr val="383838"/>
                </a:solidFill>
                <a:latin typeface="DM Sans" pitchFamily="34" charset="0"/>
                <a:ea typeface="DM Sans" pitchFamily="34" charset="-122"/>
                <a:cs typeface="DM Sans" pitchFamily="34" charset="-120"/>
              </a:rPr>
              <a:t>One-tailed exact p-value indicates strong statistical significance</a:t>
            </a:r>
            <a:endParaRPr lang="en-US" dirty="0"/>
          </a:p>
        </p:txBody>
      </p:sp>
      <p:sp>
        <p:nvSpPr>
          <p:cNvPr id="20" name="Text 18"/>
          <p:cNvSpPr/>
          <p:nvPr/>
        </p:nvSpPr>
        <p:spPr>
          <a:xfrm>
            <a:off x="7835622" y="6133267"/>
            <a:ext cx="2969657" cy="371118"/>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Conclusion: Reject H₀</a:t>
            </a:r>
            <a:endParaRPr lang="en-US" sz="2300" dirty="0"/>
          </a:p>
        </p:txBody>
      </p:sp>
      <p:sp>
        <p:nvSpPr>
          <p:cNvPr id="21" name="Text 19"/>
          <p:cNvSpPr/>
          <p:nvPr/>
        </p:nvSpPr>
        <p:spPr>
          <a:xfrm>
            <a:off x="7835622" y="6692860"/>
            <a:ext cx="6008608" cy="603409"/>
          </a:xfrm>
          <a:prstGeom prst="rect">
            <a:avLst/>
          </a:prstGeom>
          <a:noFill/>
          <a:ln/>
        </p:spPr>
        <p:txBody>
          <a:bodyPr wrap="square" lIns="0" tIns="0" rIns="0" bIns="0" rtlCol="0" anchor="t"/>
          <a:lstStyle/>
          <a:p>
            <a:pPr marL="0" indent="0" algn="l">
              <a:lnSpc>
                <a:spcPts val="2350"/>
              </a:lnSpc>
              <a:buNone/>
            </a:pPr>
            <a:r>
              <a:rPr lang="en-US" dirty="0">
                <a:solidFill>
                  <a:srgbClr val="383838"/>
                </a:solidFill>
                <a:latin typeface="DM Sans" pitchFamily="34" charset="0"/>
                <a:ea typeface="DM Sans" pitchFamily="34" charset="-122"/>
                <a:cs typeface="DM Sans" pitchFamily="34" charset="-120"/>
              </a:rPr>
              <a:t>With p &lt; 0.05, we reject the null hypothesis. Training produced a statistically significant change in scores.</a:t>
            </a:r>
            <a:endParaRPr lang="en-US" dirty="0"/>
          </a:p>
        </p:txBody>
      </p:sp>
      <p:sp>
        <p:nvSpPr>
          <p:cNvPr id="22" name="Shape 20"/>
          <p:cNvSpPr/>
          <p:nvPr/>
        </p:nvSpPr>
        <p:spPr>
          <a:xfrm>
            <a:off x="7707594" y="6186633"/>
            <a:ext cx="22860" cy="1163003"/>
          </a:xfrm>
          <a:prstGeom prst="rect">
            <a:avLst/>
          </a:prstGeom>
          <a:solidFill>
            <a:srgbClr val="E04F00"/>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13686"/>
            <a:ext cx="11322844"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Application: Low Back Pain Patient's Assessment</a:t>
            </a:r>
            <a:endParaRPr lang="en-US" sz="4100" dirty="0"/>
          </a:p>
        </p:txBody>
      </p:sp>
      <p:sp>
        <p:nvSpPr>
          <p:cNvPr id="3" name="Text 1"/>
          <p:cNvSpPr/>
          <p:nvPr/>
        </p:nvSpPr>
        <p:spPr>
          <a:xfrm>
            <a:off x="793790" y="1961793"/>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Patient's assessment about pain level is measured twice: before treatment and after treatment. The patient's assessment is recorded on a 1-4 scale where 1 is no pain, 2 is mild pain, 3 is moderate pain, and 4 is severe pain.</a:t>
            </a:r>
            <a:endParaRPr lang="en-US" dirty="0"/>
          </a:p>
        </p:txBody>
      </p:sp>
      <p:sp>
        <p:nvSpPr>
          <p:cNvPr id="4" name="Shape 2"/>
          <p:cNvSpPr/>
          <p:nvPr/>
        </p:nvSpPr>
        <p:spPr>
          <a:xfrm>
            <a:off x="793790" y="2820114"/>
            <a:ext cx="6422231" cy="2319814"/>
          </a:xfrm>
          <a:prstGeom prst="roundRect">
            <a:avLst>
              <a:gd name="adj" fmla="val 1283"/>
            </a:avLst>
          </a:prstGeom>
          <a:solidFill>
            <a:srgbClr val="F2EEEE"/>
          </a:solidFill>
          <a:ln/>
        </p:spPr>
      </p:sp>
      <p:sp>
        <p:nvSpPr>
          <p:cNvPr id="5" name="Text 3"/>
          <p:cNvSpPr/>
          <p:nvPr/>
        </p:nvSpPr>
        <p:spPr>
          <a:xfrm>
            <a:off x="992148" y="3018473"/>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Measurement Scale</a:t>
            </a:r>
            <a:endParaRPr lang="en-US" sz="2050" dirty="0"/>
          </a:p>
        </p:txBody>
      </p:sp>
      <p:sp>
        <p:nvSpPr>
          <p:cNvPr id="6" name="Text 4"/>
          <p:cNvSpPr/>
          <p:nvPr/>
        </p:nvSpPr>
        <p:spPr>
          <a:xfrm>
            <a:off x="992148" y="3463171"/>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1: No pain</a:t>
            </a:r>
            <a:endParaRPr lang="en-US" sz="1550" dirty="0"/>
          </a:p>
        </p:txBody>
      </p:sp>
      <p:sp>
        <p:nvSpPr>
          <p:cNvPr id="7" name="Text 5"/>
          <p:cNvSpPr/>
          <p:nvPr/>
        </p:nvSpPr>
        <p:spPr>
          <a:xfrm>
            <a:off x="992148" y="3850124"/>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2: Mild pain</a:t>
            </a:r>
            <a:endParaRPr lang="en-US" sz="1550" dirty="0"/>
          </a:p>
        </p:txBody>
      </p:sp>
      <p:sp>
        <p:nvSpPr>
          <p:cNvPr id="8" name="Text 6"/>
          <p:cNvSpPr/>
          <p:nvPr/>
        </p:nvSpPr>
        <p:spPr>
          <a:xfrm>
            <a:off x="992148" y="4237077"/>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3: Moderate pain</a:t>
            </a:r>
            <a:endParaRPr lang="en-US" sz="1550" dirty="0"/>
          </a:p>
        </p:txBody>
      </p:sp>
      <p:sp>
        <p:nvSpPr>
          <p:cNvPr id="9" name="Text 7"/>
          <p:cNvSpPr/>
          <p:nvPr/>
        </p:nvSpPr>
        <p:spPr>
          <a:xfrm>
            <a:off x="992148" y="4624030"/>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4: Severe pain</a:t>
            </a:r>
            <a:endParaRPr lang="en-US" sz="1550" dirty="0"/>
          </a:p>
        </p:txBody>
      </p:sp>
      <p:sp>
        <p:nvSpPr>
          <p:cNvPr id="10" name="Shape 8"/>
          <p:cNvSpPr/>
          <p:nvPr/>
        </p:nvSpPr>
        <p:spPr>
          <a:xfrm>
            <a:off x="7414379" y="2820114"/>
            <a:ext cx="6422231" cy="2319814"/>
          </a:xfrm>
          <a:prstGeom prst="roundRect">
            <a:avLst>
              <a:gd name="adj" fmla="val 1283"/>
            </a:avLst>
          </a:prstGeom>
          <a:solidFill>
            <a:srgbClr val="F2EEEE"/>
          </a:solidFill>
          <a:ln/>
        </p:spPr>
      </p:sp>
      <p:sp>
        <p:nvSpPr>
          <p:cNvPr id="11" name="Text 9"/>
          <p:cNvSpPr/>
          <p:nvPr/>
        </p:nvSpPr>
        <p:spPr>
          <a:xfrm>
            <a:off x="7612737" y="3018473"/>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Study Objective</a:t>
            </a:r>
            <a:endParaRPr lang="en-US" sz="2050" dirty="0"/>
          </a:p>
        </p:txBody>
      </p:sp>
      <p:sp>
        <p:nvSpPr>
          <p:cNvPr id="12" name="Text 10"/>
          <p:cNvSpPr/>
          <p:nvPr/>
        </p:nvSpPr>
        <p:spPr>
          <a:xfrm>
            <a:off x="7612737" y="3463171"/>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Compare pain level before and after treatment to assess treatment effectiveness</a:t>
            </a:r>
            <a:endParaRPr lang="en-US" sz="1550" dirty="0"/>
          </a:p>
        </p:txBody>
      </p:sp>
      <p:pic>
        <p:nvPicPr>
          <p:cNvPr id="13" name="Image 0" descr="preencoded.png"/>
          <p:cNvPicPr>
            <a:picLocks noChangeAspect="1"/>
          </p:cNvPicPr>
          <p:nvPr/>
        </p:nvPicPr>
        <p:blipFill>
          <a:blip r:embed="rId3"/>
          <a:stretch>
            <a:fillRect/>
          </a:stretch>
        </p:blipFill>
        <p:spPr>
          <a:xfrm>
            <a:off x="793790" y="5363170"/>
            <a:ext cx="4347567" cy="793790"/>
          </a:xfrm>
          <a:prstGeom prst="rect">
            <a:avLst/>
          </a:prstGeom>
        </p:spPr>
      </p:pic>
      <p:sp>
        <p:nvSpPr>
          <p:cNvPr id="14" name="Text 11"/>
          <p:cNvSpPr/>
          <p:nvPr/>
        </p:nvSpPr>
        <p:spPr>
          <a:xfrm>
            <a:off x="992148" y="635531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Before Treatment</a:t>
            </a:r>
            <a:endParaRPr lang="en-US" sz="2050" dirty="0"/>
          </a:p>
        </p:txBody>
      </p:sp>
      <p:sp>
        <p:nvSpPr>
          <p:cNvPr id="15" name="Text 12"/>
          <p:cNvSpPr/>
          <p:nvPr/>
        </p:nvSpPr>
        <p:spPr>
          <a:xfrm>
            <a:off x="992148" y="6800017"/>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Initial pain assessment recorded</a:t>
            </a:r>
            <a:endParaRPr lang="en-US" sz="1550" dirty="0"/>
          </a:p>
        </p:txBody>
      </p:sp>
      <p:pic>
        <p:nvPicPr>
          <p:cNvPr id="16" name="Image 1" descr="preencoded.png"/>
          <p:cNvPicPr>
            <a:picLocks noChangeAspect="1"/>
          </p:cNvPicPr>
          <p:nvPr/>
        </p:nvPicPr>
        <p:blipFill>
          <a:blip r:embed="rId4"/>
          <a:stretch>
            <a:fillRect/>
          </a:stretch>
        </p:blipFill>
        <p:spPr>
          <a:xfrm>
            <a:off x="5141357" y="5363170"/>
            <a:ext cx="4347567" cy="793790"/>
          </a:xfrm>
          <a:prstGeom prst="rect">
            <a:avLst/>
          </a:prstGeom>
        </p:spPr>
      </p:pic>
      <p:sp>
        <p:nvSpPr>
          <p:cNvPr id="17" name="Text 13"/>
          <p:cNvSpPr/>
          <p:nvPr/>
        </p:nvSpPr>
        <p:spPr>
          <a:xfrm>
            <a:off x="5339715" y="635531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Treatment Phase</a:t>
            </a:r>
            <a:endParaRPr lang="en-US" sz="2050" dirty="0"/>
          </a:p>
        </p:txBody>
      </p:sp>
      <p:sp>
        <p:nvSpPr>
          <p:cNvPr id="18" name="Text 14"/>
          <p:cNvSpPr/>
          <p:nvPr/>
        </p:nvSpPr>
        <p:spPr>
          <a:xfrm>
            <a:off x="5339715" y="6800017"/>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Patient receives intervention</a:t>
            </a:r>
            <a:endParaRPr lang="en-US" sz="1550" dirty="0"/>
          </a:p>
        </p:txBody>
      </p:sp>
      <p:pic>
        <p:nvPicPr>
          <p:cNvPr id="19" name="Image 2" descr="preencoded.png"/>
          <p:cNvPicPr>
            <a:picLocks noChangeAspect="1"/>
          </p:cNvPicPr>
          <p:nvPr/>
        </p:nvPicPr>
        <p:blipFill>
          <a:blip r:embed="rId5"/>
          <a:stretch>
            <a:fillRect/>
          </a:stretch>
        </p:blipFill>
        <p:spPr>
          <a:xfrm>
            <a:off x="9488924" y="5363170"/>
            <a:ext cx="4347567" cy="793790"/>
          </a:xfrm>
          <a:prstGeom prst="rect">
            <a:avLst/>
          </a:prstGeom>
        </p:spPr>
      </p:pic>
      <p:sp>
        <p:nvSpPr>
          <p:cNvPr id="20" name="Text 15"/>
          <p:cNvSpPr/>
          <p:nvPr/>
        </p:nvSpPr>
        <p:spPr>
          <a:xfrm>
            <a:off x="9687282" y="635531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After Treatment</a:t>
            </a:r>
            <a:endParaRPr lang="en-US" sz="2050" dirty="0"/>
          </a:p>
        </p:txBody>
      </p:sp>
      <p:sp>
        <p:nvSpPr>
          <p:cNvPr id="21" name="Text 16"/>
          <p:cNvSpPr/>
          <p:nvPr/>
        </p:nvSpPr>
        <p:spPr>
          <a:xfrm>
            <a:off x="9687282" y="6800017"/>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Follow-up pain assessment recorded</a:t>
            </a:r>
            <a:endParaRPr lang="en-US" sz="1550" dirty="0"/>
          </a:p>
        </p:txBody>
      </p:sp>
    </p:spTree>
    <p:extLst>
      <p:ext uri="{BB962C8B-B14F-4D97-AF65-F5344CB8AC3E}">
        <p14:creationId xmlns:p14="http://schemas.microsoft.com/office/powerpoint/2010/main" val="1815068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652468"/>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Kruskal-Wallis Test</a:t>
            </a:r>
            <a:endParaRPr lang="en-US" sz="4100" dirty="0"/>
          </a:p>
        </p:txBody>
      </p:sp>
      <p:sp>
        <p:nvSpPr>
          <p:cNvPr id="3" name="Text 1"/>
          <p:cNvSpPr/>
          <p:nvPr/>
        </p:nvSpPr>
        <p:spPr>
          <a:xfrm>
            <a:off x="793790" y="2601397"/>
            <a:ext cx="548413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Nonparametric Alternative to One-Way ANOVA</a:t>
            </a:r>
            <a:endParaRPr lang="en-US" sz="2050" dirty="0"/>
          </a:p>
        </p:txBody>
      </p:sp>
      <p:sp>
        <p:nvSpPr>
          <p:cNvPr id="4" name="Text 2"/>
          <p:cNvSpPr/>
          <p:nvPr/>
        </p:nvSpPr>
        <p:spPr>
          <a:xfrm>
            <a:off x="793790" y="322468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The Kruskal-Wallis test extends nonparametric comparison to three or more independent groups. It's used when the dependent variable is ordinal or continuous but doesn't meet normality assumptions required for traditional ANOVA.</a:t>
            </a:r>
            <a:endParaRPr lang="en-US" sz="1550" dirty="0"/>
          </a:p>
        </p:txBody>
      </p:sp>
      <p:sp>
        <p:nvSpPr>
          <p:cNvPr id="5" name="Shape 3"/>
          <p:cNvSpPr/>
          <p:nvPr/>
        </p:nvSpPr>
        <p:spPr>
          <a:xfrm>
            <a:off x="793790" y="4083010"/>
            <a:ext cx="4215289" cy="2494121"/>
          </a:xfrm>
          <a:prstGeom prst="roundRect">
            <a:avLst>
              <a:gd name="adj" fmla="val 1194"/>
            </a:avLst>
          </a:prstGeom>
          <a:solidFill>
            <a:srgbClr val="F2EEEE"/>
          </a:solidFill>
          <a:ln/>
        </p:spPr>
      </p:sp>
      <p:sp>
        <p:nvSpPr>
          <p:cNvPr id="6" name="Text 4"/>
          <p:cNvSpPr/>
          <p:nvPr/>
        </p:nvSpPr>
        <p:spPr>
          <a:xfrm>
            <a:off x="992148" y="4281368"/>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When to Use</a:t>
            </a:r>
            <a:endParaRPr lang="en-US" sz="2450" dirty="0"/>
          </a:p>
        </p:txBody>
      </p:sp>
      <p:sp>
        <p:nvSpPr>
          <p:cNvPr id="7" name="Text 5"/>
          <p:cNvSpPr/>
          <p:nvPr/>
        </p:nvSpPr>
        <p:spPr>
          <a:xfrm>
            <a:off x="992148" y="4791075"/>
            <a:ext cx="3818573"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Apply this test when comparing multiple independent groups with ordinal or non-normal continuous data. It's particularly useful with small sample sizes or when normality cannot be assumed.</a:t>
            </a:r>
            <a:endParaRPr lang="en-US" sz="1550" dirty="0"/>
          </a:p>
        </p:txBody>
      </p:sp>
      <p:sp>
        <p:nvSpPr>
          <p:cNvPr id="8" name="Shape 6"/>
          <p:cNvSpPr/>
          <p:nvPr/>
        </p:nvSpPr>
        <p:spPr>
          <a:xfrm>
            <a:off x="5207437" y="4083010"/>
            <a:ext cx="4215408" cy="2494121"/>
          </a:xfrm>
          <a:prstGeom prst="roundRect">
            <a:avLst>
              <a:gd name="adj" fmla="val 1194"/>
            </a:avLst>
          </a:prstGeom>
          <a:solidFill>
            <a:srgbClr val="F2EEEE"/>
          </a:solidFill>
          <a:ln/>
        </p:spPr>
      </p:sp>
      <p:sp>
        <p:nvSpPr>
          <p:cNvPr id="9" name="Text 7"/>
          <p:cNvSpPr/>
          <p:nvPr/>
        </p:nvSpPr>
        <p:spPr>
          <a:xfrm>
            <a:off x="5405795" y="4281368"/>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Null Hypothesis</a:t>
            </a:r>
            <a:endParaRPr lang="en-US" sz="2450" dirty="0"/>
          </a:p>
        </p:txBody>
      </p:sp>
      <p:sp>
        <p:nvSpPr>
          <p:cNvPr id="10" name="Text 8"/>
          <p:cNvSpPr/>
          <p:nvPr/>
        </p:nvSpPr>
        <p:spPr>
          <a:xfrm>
            <a:off x="5405795" y="4791075"/>
            <a:ext cx="3818692"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All k samples come from the same population, meaning no significant differences exist among the groups being compared.</a:t>
            </a:r>
            <a:endParaRPr lang="en-US" sz="1550" dirty="0"/>
          </a:p>
        </p:txBody>
      </p:sp>
      <p:sp>
        <p:nvSpPr>
          <p:cNvPr id="11" name="Shape 9"/>
          <p:cNvSpPr/>
          <p:nvPr/>
        </p:nvSpPr>
        <p:spPr>
          <a:xfrm>
            <a:off x="9621203" y="4083010"/>
            <a:ext cx="4215289" cy="2494121"/>
          </a:xfrm>
          <a:prstGeom prst="roundRect">
            <a:avLst>
              <a:gd name="adj" fmla="val 1194"/>
            </a:avLst>
          </a:prstGeom>
          <a:solidFill>
            <a:srgbClr val="F2EEEE"/>
          </a:solidFill>
          <a:ln/>
        </p:spPr>
      </p:sp>
      <p:sp>
        <p:nvSpPr>
          <p:cNvPr id="12" name="Text 10"/>
          <p:cNvSpPr/>
          <p:nvPr/>
        </p:nvSpPr>
        <p:spPr>
          <a:xfrm>
            <a:off x="9819561" y="4281368"/>
            <a:ext cx="3193256"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Alternative Hypothesis</a:t>
            </a:r>
            <a:endParaRPr lang="en-US" sz="2450" dirty="0"/>
          </a:p>
        </p:txBody>
      </p:sp>
      <p:sp>
        <p:nvSpPr>
          <p:cNvPr id="13" name="Text 11"/>
          <p:cNvSpPr/>
          <p:nvPr/>
        </p:nvSpPr>
        <p:spPr>
          <a:xfrm>
            <a:off x="9819561" y="4791075"/>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At least one sample comes from a different population, indicating significant differences exist among the groups.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953333"/>
            <a:ext cx="6924913"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Kruskal-Wallis Test Procedure</a:t>
            </a:r>
            <a:endParaRPr lang="en-US" sz="4100" dirty="0"/>
          </a:p>
        </p:txBody>
      </p:sp>
      <p:sp>
        <p:nvSpPr>
          <p:cNvPr id="3" name="Shape 1"/>
          <p:cNvSpPr/>
          <p:nvPr/>
        </p:nvSpPr>
        <p:spPr>
          <a:xfrm>
            <a:off x="1091446" y="2497574"/>
            <a:ext cx="6124456" cy="198358"/>
          </a:xfrm>
          <a:prstGeom prst="roundRect">
            <a:avLst>
              <a:gd name="adj" fmla="val 15009"/>
            </a:avLst>
          </a:prstGeom>
          <a:solidFill>
            <a:srgbClr val="F2EEEE"/>
          </a:solidFill>
          <a:ln/>
        </p:spPr>
      </p:sp>
      <p:sp>
        <p:nvSpPr>
          <p:cNvPr id="4" name="Shape 2"/>
          <p:cNvSpPr/>
          <p:nvPr/>
        </p:nvSpPr>
        <p:spPr>
          <a:xfrm>
            <a:off x="793790" y="2299097"/>
            <a:ext cx="595313" cy="595313"/>
          </a:xfrm>
          <a:prstGeom prst="roundRect">
            <a:avLst>
              <a:gd name="adj" fmla="val 76800"/>
            </a:avLst>
          </a:prstGeom>
          <a:solidFill>
            <a:srgbClr val="F2EEEE"/>
          </a:solidFill>
          <a:ln/>
        </p:spPr>
      </p:sp>
      <p:pic>
        <p:nvPicPr>
          <p:cNvPr id="5" name="Image 0" descr="preencoded.png"/>
          <p:cNvPicPr>
            <a:picLocks noChangeAspect="1"/>
          </p:cNvPicPr>
          <p:nvPr/>
        </p:nvPicPr>
        <p:blipFill>
          <a:blip r:embed="rId4"/>
          <a:stretch>
            <a:fillRect/>
          </a:stretch>
        </p:blipFill>
        <p:spPr>
          <a:xfrm>
            <a:off x="942618" y="2410778"/>
            <a:ext cx="297656" cy="372070"/>
          </a:xfrm>
          <a:prstGeom prst="rect">
            <a:avLst/>
          </a:prstGeom>
        </p:spPr>
      </p:pic>
      <p:sp>
        <p:nvSpPr>
          <p:cNvPr id="6" name="Text 3"/>
          <p:cNvSpPr/>
          <p:nvPr/>
        </p:nvSpPr>
        <p:spPr>
          <a:xfrm>
            <a:off x="992148" y="309276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Combine and Rank</a:t>
            </a:r>
            <a:endParaRPr lang="en-US" sz="2050" dirty="0"/>
          </a:p>
        </p:txBody>
      </p:sp>
      <p:sp>
        <p:nvSpPr>
          <p:cNvPr id="7" name="Text 4"/>
          <p:cNvSpPr/>
          <p:nvPr/>
        </p:nvSpPr>
        <p:spPr>
          <a:xfrm>
            <a:off x="992148" y="3537466"/>
            <a:ext cx="602551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Merge all observations from k samples into a single dataset of size n. Arrange values in ascending order and assign ranks from 1 to n.</a:t>
            </a:r>
            <a:endParaRPr lang="en-US" sz="1700" dirty="0"/>
          </a:p>
        </p:txBody>
      </p:sp>
      <p:sp>
        <p:nvSpPr>
          <p:cNvPr id="8" name="Shape 5"/>
          <p:cNvSpPr/>
          <p:nvPr/>
        </p:nvSpPr>
        <p:spPr>
          <a:xfrm>
            <a:off x="7712035" y="2199918"/>
            <a:ext cx="6124456" cy="198358"/>
          </a:xfrm>
          <a:prstGeom prst="roundRect">
            <a:avLst>
              <a:gd name="adj" fmla="val 15009"/>
            </a:avLst>
          </a:prstGeom>
          <a:solidFill>
            <a:srgbClr val="F2EEEE"/>
          </a:solidFill>
          <a:ln/>
        </p:spPr>
      </p:sp>
      <p:sp>
        <p:nvSpPr>
          <p:cNvPr id="9" name="Shape 6"/>
          <p:cNvSpPr/>
          <p:nvPr/>
        </p:nvSpPr>
        <p:spPr>
          <a:xfrm>
            <a:off x="7414379" y="2001441"/>
            <a:ext cx="595313" cy="595313"/>
          </a:xfrm>
          <a:prstGeom prst="roundRect">
            <a:avLst>
              <a:gd name="adj" fmla="val 76800"/>
            </a:avLst>
          </a:prstGeom>
          <a:solidFill>
            <a:srgbClr val="F2EEEE"/>
          </a:solidFill>
          <a:ln/>
        </p:spPr>
      </p:sp>
      <p:pic>
        <p:nvPicPr>
          <p:cNvPr id="10" name="Image 1" descr="preencoded.png"/>
          <p:cNvPicPr>
            <a:picLocks noChangeAspect="1"/>
          </p:cNvPicPr>
          <p:nvPr/>
        </p:nvPicPr>
        <p:blipFill>
          <a:blip r:embed="rId5"/>
          <a:stretch>
            <a:fillRect/>
          </a:stretch>
        </p:blipFill>
        <p:spPr>
          <a:xfrm>
            <a:off x="7563207" y="2113121"/>
            <a:ext cx="297656" cy="372070"/>
          </a:xfrm>
          <a:prstGeom prst="rect">
            <a:avLst/>
          </a:prstGeom>
        </p:spPr>
      </p:pic>
      <p:sp>
        <p:nvSpPr>
          <p:cNvPr id="11" name="Text 7"/>
          <p:cNvSpPr/>
          <p:nvPr/>
        </p:nvSpPr>
        <p:spPr>
          <a:xfrm>
            <a:off x="7612737" y="2795111"/>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Handle Tied Values</a:t>
            </a:r>
            <a:endParaRPr lang="en-US" sz="2050" dirty="0"/>
          </a:p>
        </p:txBody>
      </p:sp>
      <p:sp>
        <p:nvSpPr>
          <p:cNvPr id="12" name="Text 8"/>
          <p:cNvSpPr/>
          <p:nvPr/>
        </p:nvSpPr>
        <p:spPr>
          <a:xfrm>
            <a:off x="7612737" y="3239810"/>
            <a:ext cx="602551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When multiple observations share the same value, assign each the mean of the ranks they occupy. For example, values tied at ranks 7, 8, and 9 each receive rank 8.</a:t>
            </a:r>
            <a:endParaRPr lang="en-US" sz="1700" dirty="0"/>
          </a:p>
        </p:txBody>
      </p:sp>
      <p:sp>
        <p:nvSpPr>
          <p:cNvPr id="13" name="Shape 9"/>
          <p:cNvSpPr/>
          <p:nvPr/>
        </p:nvSpPr>
        <p:spPr>
          <a:xfrm>
            <a:off x="1091446" y="5382935"/>
            <a:ext cx="6124456" cy="198358"/>
          </a:xfrm>
          <a:prstGeom prst="roundRect">
            <a:avLst>
              <a:gd name="adj" fmla="val 15009"/>
            </a:avLst>
          </a:prstGeom>
          <a:solidFill>
            <a:srgbClr val="F2EEEE"/>
          </a:solidFill>
          <a:ln/>
        </p:spPr>
      </p:sp>
      <p:sp>
        <p:nvSpPr>
          <p:cNvPr id="14" name="Shape 10"/>
          <p:cNvSpPr/>
          <p:nvPr/>
        </p:nvSpPr>
        <p:spPr>
          <a:xfrm>
            <a:off x="793790" y="5184458"/>
            <a:ext cx="595313" cy="595313"/>
          </a:xfrm>
          <a:prstGeom prst="roundRect">
            <a:avLst>
              <a:gd name="adj" fmla="val 76800"/>
            </a:avLst>
          </a:prstGeom>
          <a:solidFill>
            <a:srgbClr val="F2EEEE"/>
          </a:solidFill>
          <a:ln/>
        </p:spPr>
      </p:sp>
      <p:pic>
        <p:nvPicPr>
          <p:cNvPr id="15" name="Image 2" descr="preencoded.png"/>
          <p:cNvPicPr>
            <a:picLocks noChangeAspect="1"/>
          </p:cNvPicPr>
          <p:nvPr/>
        </p:nvPicPr>
        <p:blipFill>
          <a:blip r:embed="rId6"/>
          <a:stretch>
            <a:fillRect/>
          </a:stretch>
        </p:blipFill>
        <p:spPr>
          <a:xfrm>
            <a:off x="942618" y="5296138"/>
            <a:ext cx="297656" cy="372070"/>
          </a:xfrm>
          <a:prstGeom prst="rect">
            <a:avLst/>
          </a:prstGeom>
        </p:spPr>
      </p:pic>
      <p:sp>
        <p:nvSpPr>
          <p:cNvPr id="16" name="Text 11"/>
          <p:cNvSpPr/>
          <p:nvPr/>
        </p:nvSpPr>
        <p:spPr>
          <a:xfrm>
            <a:off x="992148" y="5978128"/>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Calculate Rank Sums</a:t>
            </a:r>
            <a:endParaRPr lang="en-US" sz="2050" dirty="0"/>
          </a:p>
        </p:txBody>
      </p:sp>
      <p:sp>
        <p:nvSpPr>
          <p:cNvPr id="17" name="Text 12"/>
          <p:cNvSpPr/>
          <p:nvPr/>
        </p:nvSpPr>
        <p:spPr>
          <a:xfrm>
            <a:off x="992148" y="6422827"/>
            <a:ext cx="6025515" cy="63507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Sum the ranks separately for each of the k groups to obtain k rank sums (R₁, R₂, ..., Rk).</a:t>
            </a:r>
            <a:endParaRPr lang="en-US" sz="1700" dirty="0"/>
          </a:p>
        </p:txBody>
      </p:sp>
      <p:sp>
        <p:nvSpPr>
          <p:cNvPr id="18" name="Shape 13"/>
          <p:cNvSpPr/>
          <p:nvPr/>
        </p:nvSpPr>
        <p:spPr>
          <a:xfrm>
            <a:off x="7712035" y="5085278"/>
            <a:ext cx="6124456" cy="198358"/>
          </a:xfrm>
          <a:prstGeom prst="roundRect">
            <a:avLst>
              <a:gd name="adj" fmla="val 15009"/>
            </a:avLst>
          </a:prstGeom>
          <a:solidFill>
            <a:srgbClr val="F2EEEE"/>
          </a:solidFill>
          <a:ln/>
        </p:spPr>
      </p:sp>
      <p:sp>
        <p:nvSpPr>
          <p:cNvPr id="19" name="Shape 14"/>
          <p:cNvSpPr/>
          <p:nvPr/>
        </p:nvSpPr>
        <p:spPr>
          <a:xfrm>
            <a:off x="7414379" y="4886801"/>
            <a:ext cx="595313" cy="595313"/>
          </a:xfrm>
          <a:prstGeom prst="roundRect">
            <a:avLst>
              <a:gd name="adj" fmla="val 76800"/>
            </a:avLst>
          </a:prstGeom>
          <a:solidFill>
            <a:srgbClr val="F2EEEE"/>
          </a:solidFill>
          <a:ln/>
        </p:spPr>
      </p:sp>
      <p:pic>
        <p:nvPicPr>
          <p:cNvPr id="20" name="Image 3" descr="preencoded.png"/>
          <p:cNvPicPr>
            <a:picLocks noChangeAspect="1"/>
          </p:cNvPicPr>
          <p:nvPr/>
        </p:nvPicPr>
        <p:blipFill>
          <a:blip r:embed="rId7"/>
          <a:stretch>
            <a:fillRect/>
          </a:stretch>
        </p:blipFill>
        <p:spPr>
          <a:xfrm>
            <a:off x="7563207" y="4998482"/>
            <a:ext cx="297656" cy="372070"/>
          </a:xfrm>
          <a:prstGeom prst="rect">
            <a:avLst/>
          </a:prstGeom>
        </p:spPr>
      </p:pic>
      <p:sp>
        <p:nvSpPr>
          <p:cNvPr id="21" name="Text 15"/>
          <p:cNvSpPr/>
          <p:nvPr/>
        </p:nvSpPr>
        <p:spPr>
          <a:xfrm>
            <a:off x="7612737" y="5680472"/>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Compute H Statistic</a:t>
            </a:r>
            <a:endParaRPr lang="en-US" sz="2050" dirty="0"/>
          </a:p>
        </p:txBody>
      </p:sp>
      <p:sp>
        <p:nvSpPr>
          <p:cNvPr id="22" name="Text 16"/>
          <p:cNvSpPr/>
          <p:nvPr/>
        </p:nvSpPr>
        <p:spPr>
          <a:xfrm>
            <a:off x="7612737" y="6125170"/>
            <a:ext cx="6525294"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Calculate the test statistic H using the formula that incorporates rank sums and sample sizes. The H statistic follows a chi-square distribution with k-1 degrees of freedom.</a:t>
            </a:r>
            <a:endParaRPr lang="en-US" sz="1700" dirty="0"/>
          </a:p>
        </p:txBody>
      </p:sp>
      <p:graphicFrame>
        <p:nvGraphicFramePr>
          <p:cNvPr id="23" name="Object 2">
            <a:extLst>
              <a:ext uri="{FF2B5EF4-FFF2-40B4-BE49-F238E27FC236}">
                <a16:creationId xmlns:a16="http://schemas.microsoft.com/office/drawing/2014/main" id="{A00FB5EF-FC88-684A-BD88-D745FD3D15DA}"/>
              </a:ext>
            </a:extLst>
          </p:cNvPr>
          <p:cNvGraphicFramePr>
            <a:graphicFrameLocks noChangeAspect="1"/>
          </p:cNvGraphicFramePr>
          <p:nvPr>
            <p:extLst>
              <p:ext uri="{D42A27DB-BD31-4B8C-83A1-F6EECF244321}">
                <p14:modId xmlns:p14="http://schemas.microsoft.com/office/powerpoint/2010/main" val="2601446589"/>
              </p:ext>
            </p:extLst>
          </p:nvPr>
        </p:nvGraphicFramePr>
        <p:xfrm>
          <a:off x="7612737" y="7373223"/>
          <a:ext cx="3429000" cy="1092200"/>
        </p:xfrm>
        <a:graphic>
          <a:graphicData uri="http://schemas.openxmlformats.org/presentationml/2006/ole">
            <mc:AlternateContent xmlns:mc="http://schemas.openxmlformats.org/markup-compatibility/2006">
              <mc:Choice xmlns:v="urn:schemas-microsoft-com:vml" Requires="v">
                <p:oleObj spid="_x0000_s3085" name="Equation" r:id="rId8" imgW="1778000" imgH="711200" progId="Equation.3">
                  <p:embed/>
                </p:oleObj>
              </mc:Choice>
              <mc:Fallback>
                <p:oleObj name="Equation" r:id="rId8" imgW="1778000" imgH="711200" progId="Equation.3">
                  <p:embed/>
                  <p:pic>
                    <p:nvPicPr>
                      <p:cNvPr id="6"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12737" y="7373223"/>
                        <a:ext cx="3429000" cy="109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578644"/>
            <a:ext cx="4726781" cy="455771"/>
          </a:xfrm>
          <a:prstGeom prst="rect">
            <a:avLst/>
          </a:prstGeom>
          <a:noFill/>
          <a:ln/>
        </p:spPr>
        <p:txBody>
          <a:bodyPr wrap="none" lIns="0" tIns="0" rIns="0" bIns="0" rtlCol="0" anchor="t"/>
          <a:lstStyle/>
          <a:p>
            <a:pPr marL="0" indent="0" algn="l">
              <a:lnSpc>
                <a:spcPts val="3550"/>
              </a:lnSpc>
              <a:buNone/>
            </a:pPr>
            <a:r>
              <a:rPr lang="en-US" sz="2850" dirty="0">
                <a:solidFill>
                  <a:srgbClr val="020202"/>
                </a:solidFill>
                <a:latin typeface="PT Serif" pitchFamily="34" charset="0"/>
                <a:ea typeface="PT Serif" pitchFamily="34" charset="-122"/>
                <a:cs typeface="PT Serif" pitchFamily="34" charset="-120"/>
              </a:rPr>
              <a:t>Kruskal-Wallis Test: Example</a:t>
            </a:r>
            <a:endParaRPr lang="en-US" sz="2850" dirty="0"/>
          </a:p>
        </p:txBody>
      </p:sp>
      <p:sp>
        <p:nvSpPr>
          <p:cNvPr id="3" name="Text 1"/>
          <p:cNvSpPr/>
          <p:nvPr/>
        </p:nvSpPr>
        <p:spPr>
          <a:xfrm>
            <a:off x="793790" y="1381601"/>
            <a:ext cx="2160508" cy="228005"/>
          </a:xfrm>
          <a:prstGeom prst="rect">
            <a:avLst/>
          </a:prstGeom>
          <a:noFill/>
          <a:ln/>
        </p:spPr>
        <p:txBody>
          <a:bodyPr wrap="none" lIns="0" tIns="0" rIns="0" bIns="0" rtlCol="0" anchor="t"/>
          <a:lstStyle/>
          <a:p>
            <a:pPr marL="0" indent="0" algn="l">
              <a:lnSpc>
                <a:spcPts val="1750"/>
              </a:lnSpc>
              <a:buNone/>
            </a:pPr>
            <a:r>
              <a:rPr lang="en-US" dirty="0">
                <a:solidFill>
                  <a:srgbClr val="020202"/>
                </a:solidFill>
                <a:latin typeface="PT Serif" pitchFamily="34" charset="0"/>
                <a:ea typeface="PT Serif" pitchFamily="34" charset="-122"/>
                <a:cs typeface="PT Serif" pitchFamily="34" charset="-120"/>
              </a:rPr>
              <a:t>Sample Data and Rankings</a:t>
            </a:r>
            <a:endParaRPr lang="en-US" dirty="0"/>
          </a:p>
        </p:txBody>
      </p:sp>
      <p:pic>
        <p:nvPicPr>
          <p:cNvPr id="4" name="Image 0" descr="preencoded.png"/>
          <p:cNvPicPr>
            <a:picLocks noChangeAspect="1"/>
          </p:cNvPicPr>
          <p:nvPr/>
        </p:nvPicPr>
        <p:blipFill>
          <a:blip r:embed="rId3"/>
          <a:stretch>
            <a:fillRect/>
          </a:stretch>
        </p:blipFill>
        <p:spPr>
          <a:xfrm>
            <a:off x="793790" y="1765816"/>
            <a:ext cx="3238738" cy="5728930"/>
          </a:xfrm>
          <a:prstGeom prst="rect">
            <a:avLst/>
          </a:prstGeom>
        </p:spPr>
      </p:pic>
      <p:sp>
        <p:nvSpPr>
          <p:cNvPr id="5" name="Text 2"/>
          <p:cNvSpPr/>
          <p:nvPr/>
        </p:nvSpPr>
        <p:spPr>
          <a:xfrm>
            <a:off x="6823115" y="1381601"/>
            <a:ext cx="1823442" cy="228005"/>
          </a:xfrm>
          <a:prstGeom prst="rect">
            <a:avLst/>
          </a:prstGeom>
          <a:noFill/>
          <a:ln/>
        </p:spPr>
        <p:txBody>
          <a:bodyPr wrap="none" lIns="0" tIns="0" rIns="0" bIns="0" rtlCol="0" anchor="t"/>
          <a:lstStyle/>
          <a:p>
            <a:pPr marL="0" indent="0" algn="l">
              <a:lnSpc>
                <a:spcPts val="1750"/>
              </a:lnSpc>
              <a:buNone/>
            </a:pPr>
            <a:r>
              <a:rPr lang="en-US" dirty="0">
                <a:solidFill>
                  <a:srgbClr val="020202"/>
                </a:solidFill>
                <a:latin typeface="PT Serif" pitchFamily="34" charset="0"/>
                <a:ea typeface="PT Serif" pitchFamily="34" charset="-122"/>
                <a:cs typeface="PT Serif" pitchFamily="34" charset="-120"/>
              </a:rPr>
              <a:t>Computed Values</a:t>
            </a:r>
            <a:endParaRPr lang="en-US" dirty="0"/>
          </a:p>
        </p:txBody>
      </p:sp>
      <p:sp>
        <p:nvSpPr>
          <p:cNvPr id="6" name="Shape 3"/>
          <p:cNvSpPr/>
          <p:nvPr/>
        </p:nvSpPr>
        <p:spPr>
          <a:xfrm>
            <a:off x="6823115" y="1765816"/>
            <a:ext cx="312539" cy="312539"/>
          </a:xfrm>
          <a:prstGeom prst="roundRect">
            <a:avLst>
              <a:gd name="adj" fmla="val 6668"/>
            </a:avLst>
          </a:prstGeom>
          <a:solidFill>
            <a:srgbClr val="F2EEEE"/>
          </a:solidFill>
          <a:ln/>
        </p:spPr>
      </p:sp>
      <p:sp>
        <p:nvSpPr>
          <p:cNvPr id="7" name="Text 4"/>
          <p:cNvSpPr/>
          <p:nvPr/>
        </p:nvSpPr>
        <p:spPr>
          <a:xfrm>
            <a:off x="7274481" y="1813560"/>
            <a:ext cx="1823442" cy="228005"/>
          </a:xfrm>
          <a:prstGeom prst="rect">
            <a:avLst/>
          </a:prstGeom>
          <a:noFill/>
          <a:ln/>
        </p:spPr>
        <p:txBody>
          <a:bodyPr wrap="none" lIns="0" tIns="0" rIns="0" bIns="0" rtlCol="0" anchor="t"/>
          <a:lstStyle/>
          <a:p>
            <a:pPr marL="0" indent="0" algn="l">
              <a:lnSpc>
                <a:spcPts val="1750"/>
              </a:lnSpc>
              <a:buNone/>
            </a:pPr>
            <a:r>
              <a:rPr lang="en-US" sz="1600" dirty="0">
                <a:solidFill>
                  <a:srgbClr val="383838"/>
                </a:solidFill>
                <a:latin typeface="PT Serif" pitchFamily="34" charset="0"/>
                <a:ea typeface="PT Serif" pitchFamily="34" charset="-122"/>
                <a:cs typeface="PT Serif" pitchFamily="34" charset="-120"/>
              </a:rPr>
              <a:t>Group 1</a:t>
            </a:r>
            <a:endParaRPr lang="en-US" sz="1600" dirty="0"/>
          </a:p>
        </p:txBody>
      </p:sp>
      <p:sp>
        <p:nvSpPr>
          <p:cNvPr id="8" name="Text 5"/>
          <p:cNvSpPr/>
          <p:nvPr/>
        </p:nvSpPr>
        <p:spPr>
          <a:xfrm>
            <a:off x="7274481" y="2180392"/>
            <a:ext cx="6569631" cy="222290"/>
          </a:xfrm>
          <a:prstGeom prst="rect">
            <a:avLst/>
          </a:prstGeom>
          <a:noFill/>
          <a:ln/>
        </p:spPr>
        <p:txBody>
          <a:bodyPr wrap="none" lIns="0" tIns="0" rIns="0" bIns="0" rtlCol="0" anchor="t"/>
          <a:lstStyle/>
          <a:p>
            <a:pPr marL="0" indent="0" algn="l">
              <a:lnSpc>
                <a:spcPts val="1750"/>
              </a:lnSpc>
              <a:buNone/>
            </a:pPr>
            <a:r>
              <a:rPr lang="en-US" sz="1600" dirty="0">
                <a:solidFill>
                  <a:srgbClr val="383838"/>
                </a:solidFill>
                <a:latin typeface="DM Sans" pitchFamily="34" charset="0"/>
                <a:ea typeface="DM Sans" pitchFamily="34" charset="-122"/>
                <a:cs typeface="DM Sans" pitchFamily="34" charset="-120"/>
              </a:rPr>
              <a:t>R₁ = 50, n₁ = 6</a:t>
            </a:r>
            <a:endParaRPr lang="en-US" sz="1600" dirty="0"/>
          </a:p>
        </p:txBody>
      </p:sp>
      <p:sp>
        <p:nvSpPr>
          <p:cNvPr id="9" name="Shape 6"/>
          <p:cNvSpPr/>
          <p:nvPr/>
        </p:nvSpPr>
        <p:spPr>
          <a:xfrm>
            <a:off x="6823115" y="2680454"/>
            <a:ext cx="312539" cy="312539"/>
          </a:xfrm>
          <a:prstGeom prst="roundRect">
            <a:avLst>
              <a:gd name="adj" fmla="val 6668"/>
            </a:avLst>
          </a:prstGeom>
          <a:solidFill>
            <a:srgbClr val="F2EEEE"/>
          </a:solidFill>
          <a:ln/>
        </p:spPr>
      </p:sp>
      <p:sp>
        <p:nvSpPr>
          <p:cNvPr id="10" name="Text 7"/>
          <p:cNvSpPr/>
          <p:nvPr/>
        </p:nvSpPr>
        <p:spPr>
          <a:xfrm>
            <a:off x="7274481" y="2728198"/>
            <a:ext cx="1823442" cy="228005"/>
          </a:xfrm>
          <a:prstGeom prst="rect">
            <a:avLst/>
          </a:prstGeom>
          <a:noFill/>
          <a:ln/>
        </p:spPr>
        <p:txBody>
          <a:bodyPr wrap="none" lIns="0" tIns="0" rIns="0" bIns="0" rtlCol="0" anchor="t"/>
          <a:lstStyle/>
          <a:p>
            <a:pPr marL="0" indent="0" algn="l">
              <a:lnSpc>
                <a:spcPts val="1750"/>
              </a:lnSpc>
              <a:buNone/>
            </a:pPr>
            <a:r>
              <a:rPr lang="en-US" sz="1600" dirty="0">
                <a:solidFill>
                  <a:srgbClr val="383838"/>
                </a:solidFill>
                <a:latin typeface="PT Serif" pitchFamily="34" charset="0"/>
                <a:ea typeface="PT Serif" pitchFamily="34" charset="-122"/>
                <a:cs typeface="PT Serif" pitchFamily="34" charset="-120"/>
              </a:rPr>
              <a:t>Group 2</a:t>
            </a:r>
            <a:endParaRPr lang="en-US" sz="1600" dirty="0"/>
          </a:p>
        </p:txBody>
      </p:sp>
      <p:sp>
        <p:nvSpPr>
          <p:cNvPr id="11" name="Text 8"/>
          <p:cNvSpPr/>
          <p:nvPr/>
        </p:nvSpPr>
        <p:spPr>
          <a:xfrm>
            <a:off x="7274481" y="3095030"/>
            <a:ext cx="6569631" cy="222290"/>
          </a:xfrm>
          <a:prstGeom prst="rect">
            <a:avLst/>
          </a:prstGeom>
          <a:noFill/>
          <a:ln/>
        </p:spPr>
        <p:txBody>
          <a:bodyPr wrap="none" lIns="0" tIns="0" rIns="0" bIns="0" rtlCol="0" anchor="t"/>
          <a:lstStyle/>
          <a:p>
            <a:pPr marL="0" indent="0" algn="l">
              <a:lnSpc>
                <a:spcPts val="1750"/>
              </a:lnSpc>
              <a:buNone/>
            </a:pPr>
            <a:r>
              <a:rPr lang="en-US" sz="1600" dirty="0">
                <a:solidFill>
                  <a:srgbClr val="383838"/>
                </a:solidFill>
                <a:latin typeface="DM Sans" pitchFamily="34" charset="0"/>
                <a:ea typeface="DM Sans" pitchFamily="34" charset="-122"/>
                <a:cs typeface="DM Sans" pitchFamily="34" charset="-120"/>
              </a:rPr>
              <a:t>R₂ = 68, n₂ = 7</a:t>
            </a:r>
            <a:endParaRPr lang="en-US" sz="1600" dirty="0"/>
          </a:p>
        </p:txBody>
      </p:sp>
      <p:sp>
        <p:nvSpPr>
          <p:cNvPr id="12" name="Shape 9"/>
          <p:cNvSpPr/>
          <p:nvPr/>
        </p:nvSpPr>
        <p:spPr>
          <a:xfrm>
            <a:off x="6823115" y="3595092"/>
            <a:ext cx="312539" cy="312539"/>
          </a:xfrm>
          <a:prstGeom prst="roundRect">
            <a:avLst>
              <a:gd name="adj" fmla="val 6668"/>
            </a:avLst>
          </a:prstGeom>
          <a:solidFill>
            <a:srgbClr val="F2EEEE"/>
          </a:solidFill>
          <a:ln/>
        </p:spPr>
      </p:sp>
      <p:sp>
        <p:nvSpPr>
          <p:cNvPr id="13" name="Text 10"/>
          <p:cNvSpPr/>
          <p:nvPr/>
        </p:nvSpPr>
        <p:spPr>
          <a:xfrm>
            <a:off x="7274481" y="3642836"/>
            <a:ext cx="1823442" cy="228005"/>
          </a:xfrm>
          <a:prstGeom prst="rect">
            <a:avLst/>
          </a:prstGeom>
          <a:noFill/>
          <a:ln/>
        </p:spPr>
        <p:txBody>
          <a:bodyPr wrap="none" lIns="0" tIns="0" rIns="0" bIns="0" rtlCol="0" anchor="t"/>
          <a:lstStyle/>
          <a:p>
            <a:pPr marL="0" indent="0" algn="l">
              <a:lnSpc>
                <a:spcPts val="1750"/>
              </a:lnSpc>
              <a:buNone/>
            </a:pPr>
            <a:r>
              <a:rPr lang="en-US" sz="1600" dirty="0">
                <a:solidFill>
                  <a:srgbClr val="383838"/>
                </a:solidFill>
                <a:latin typeface="PT Serif" pitchFamily="34" charset="0"/>
                <a:ea typeface="PT Serif" pitchFamily="34" charset="-122"/>
                <a:cs typeface="PT Serif" pitchFamily="34" charset="-120"/>
              </a:rPr>
              <a:t>Group 3</a:t>
            </a:r>
            <a:endParaRPr lang="en-US" sz="1600" dirty="0"/>
          </a:p>
        </p:txBody>
      </p:sp>
      <p:sp>
        <p:nvSpPr>
          <p:cNvPr id="14" name="Text 11"/>
          <p:cNvSpPr/>
          <p:nvPr/>
        </p:nvSpPr>
        <p:spPr>
          <a:xfrm>
            <a:off x="7274481" y="4009668"/>
            <a:ext cx="6569631" cy="222290"/>
          </a:xfrm>
          <a:prstGeom prst="rect">
            <a:avLst/>
          </a:prstGeom>
          <a:noFill/>
          <a:ln/>
        </p:spPr>
        <p:txBody>
          <a:bodyPr wrap="none" lIns="0" tIns="0" rIns="0" bIns="0" rtlCol="0" anchor="t"/>
          <a:lstStyle/>
          <a:p>
            <a:pPr marL="0" indent="0" algn="l">
              <a:lnSpc>
                <a:spcPts val="1750"/>
              </a:lnSpc>
              <a:buNone/>
            </a:pPr>
            <a:r>
              <a:rPr lang="en-US" sz="1600" dirty="0">
                <a:solidFill>
                  <a:srgbClr val="383838"/>
                </a:solidFill>
                <a:latin typeface="DM Sans" pitchFamily="34" charset="0"/>
                <a:ea typeface="DM Sans" pitchFamily="34" charset="-122"/>
                <a:cs typeface="DM Sans" pitchFamily="34" charset="-120"/>
              </a:rPr>
              <a:t>R₃ = 92, n₃ = 7</a:t>
            </a:r>
            <a:endParaRPr lang="en-US" sz="1600" dirty="0"/>
          </a:p>
        </p:txBody>
      </p:sp>
      <p:sp>
        <p:nvSpPr>
          <p:cNvPr id="16" name="Text 13"/>
          <p:cNvSpPr/>
          <p:nvPr/>
        </p:nvSpPr>
        <p:spPr>
          <a:xfrm>
            <a:off x="6823115" y="4800481"/>
            <a:ext cx="7020997" cy="222290"/>
          </a:xfrm>
          <a:prstGeom prst="rect">
            <a:avLst/>
          </a:prstGeom>
          <a:noFill/>
          <a:ln/>
        </p:spPr>
        <p:txBody>
          <a:bodyPr wrap="none" lIns="0" tIns="0" rIns="0" bIns="0" rtlCol="0" anchor="t"/>
          <a:lstStyle/>
          <a:p>
            <a:pPr marL="0" indent="0" algn="l">
              <a:lnSpc>
                <a:spcPts val="1750"/>
              </a:lnSpc>
              <a:buNone/>
            </a:pPr>
            <a:r>
              <a:rPr lang="en-US" b="1" dirty="0">
                <a:solidFill>
                  <a:srgbClr val="383838"/>
                </a:solidFill>
                <a:latin typeface="DM Sans" pitchFamily="34" charset="0"/>
                <a:ea typeface="DM Sans" pitchFamily="34" charset="-122"/>
                <a:cs typeface="DM Sans" pitchFamily="34" charset="-120"/>
              </a:rPr>
              <a:t>P-value = 0.3278</a:t>
            </a:r>
            <a:endParaRPr lang="en-US" dirty="0"/>
          </a:p>
        </p:txBody>
      </p:sp>
      <p:sp>
        <p:nvSpPr>
          <p:cNvPr id="17" name="Text 14"/>
          <p:cNvSpPr/>
          <p:nvPr/>
        </p:nvSpPr>
        <p:spPr>
          <a:xfrm>
            <a:off x="6823115" y="5404843"/>
            <a:ext cx="7020997" cy="222290"/>
          </a:xfrm>
          <a:prstGeom prst="rect">
            <a:avLst/>
          </a:prstGeom>
          <a:noFill/>
          <a:ln/>
        </p:spPr>
        <p:txBody>
          <a:bodyPr wrap="none" lIns="0" tIns="0" rIns="0" bIns="0" rtlCol="0" anchor="t"/>
          <a:lstStyle/>
          <a:p>
            <a:pPr marL="0" indent="0" algn="l">
              <a:lnSpc>
                <a:spcPts val="1750"/>
              </a:lnSpc>
              <a:buNone/>
            </a:pPr>
            <a:r>
              <a:rPr lang="en-US" sz="1050" dirty="0">
                <a:solidFill>
                  <a:srgbClr val="383838"/>
                </a:solidFill>
                <a:latin typeface="DM Sans" pitchFamily="34" charset="0"/>
                <a:ea typeface="DM Sans" pitchFamily="34" charset="-122"/>
                <a:cs typeface="DM Sans" pitchFamily="34" charset="-120"/>
              </a:rPr>
              <a:t>S</a:t>
            </a:r>
            <a:r>
              <a:rPr lang="en-US" dirty="0">
                <a:solidFill>
                  <a:srgbClr val="383838"/>
                </a:solidFill>
                <a:latin typeface="DM Sans" pitchFamily="34" charset="0"/>
                <a:ea typeface="DM Sans" pitchFamily="34" charset="-122"/>
                <a:cs typeface="DM Sans" pitchFamily="34" charset="-120"/>
              </a:rPr>
              <a:t>ince p &gt; 0.05, we fail to reject H₀. No significant </a:t>
            </a:r>
          </a:p>
          <a:p>
            <a:pPr marL="0" indent="0" algn="l">
              <a:lnSpc>
                <a:spcPts val="1750"/>
              </a:lnSpc>
              <a:buNone/>
            </a:pPr>
            <a:r>
              <a:rPr lang="en-US" dirty="0">
                <a:solidFill>
                  <a:srgbClr val="383838"/>
                </a:solidFill>
                <a:latin typeface="DM Sans" pitchFamily="34" charset="0"/>
                <a:ea typeface="DM Sans" pitchFamily="34" charset="-122"/>
                <a:cs typeface="DM Sans" pitchFamily="34" charset="-120"/>
              </a:rPr>
              <a:t>difference exists among the three groups.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266349"/>
            <a:ext cx="10549295"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Application: Performance Appraisal Feedback</a:t>
            </a:r>
            <a:endParaRPr lang="en-US" sz="4100" dirty="0"/>
          </a:p>
        </p:txBody>
      </p:sp>
      <p:sp>
        <p:nvSpPr>
          <p:cNvPr id="3" name="Text 1"/>
          <p:cNvSpPr/>
          <p:nvPr/>
        </p:nvSpPr>
        <p:spPr>
          <a:xfrm>
            <a:off x="793790" y="2215277"/>
            <a:ext cx="4958953"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Employee Satisfaction Across Departments</a:t>
            </a:r>
            <a:endParaRPr lang="en-US" sz="2050" dirty="0"/>
          </a:p>
        </p:txBody>
      </p:sp>
      <p:sp>
        <p:nvSpPr>
          <p:cNvPr id="4" name="Text 2"/>
          <p:cNvSpPr/>
          <p:nvPr/>
        </p:nvSpPr>
        <p:spPr>
          <a:xfrm>
            <a:off x="793790" y="283856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 large organization seeks to evaluate employee satisfaction with their performance appraisal process. The HR manager wants to determine if satisfaction levels differ significantly across three key functional areas.</a:t>
            </a:r>
            <a:endParaRPr lang="en-US" dirty="0"/>
          </a:p>
        </p:txBody>
      </p:sp>
      <p:pic>
        <p:nvPicPr>
          <p:cNvPr id="5" name="Image 0" descr="preencoded.png"/>
          <p:cNvPicPr>
            <a:picLocks noChangeAspect="1"/>
          </p:cNvPicPr>
          <p:nvPr/>
        </p:nvPicPr>
        <p:blipFill>
          <a:blip r:embed="rId3"/>
          <a:stretch>
            <a:fillRect/>
          </a:stretch>
        </p:blipFill>
        <p:spPr>
          <a:xfrm>
            <a:off x="793790" y="3696891"/>
            <a:ext cx="595313" cy="595313"/>
          </a:xfrm>
          <a:prstGeom prst="rect">
            <a:avLst/>
          </a:prstGeom>
        </p:spPr>
      </p:pic>
      <p:sp>
        <p:nvSpPr>
          <p:cNvPr id="6" name="Text 3"/>
          <p:cNvSpPr/>
          <p:nvPr/>
        </p:nvSpPr>
        <p:spPr>
          <a:xfrm>
            <a:off x="1637109" y="3864293"/>
            <a:ext cx="264723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Marketing Department</a:t>
            </a:r>
            <a:endParaRPr lang="en-US" sz="2050" dirty="0"/>
          </a:p>
        </p:txBody>
      </p:sp>
      <p:sp>
        <p:nvSpPr>
          <p:cNvPr id="7" name="Text 4"/>
          <p:cNvSpPr/>
          <p:nvPr/>
        </p:nvSpPr>
        <p:spPr>
          <a:xfrm>
            <a:off x="1637109" y="4308991"/>
            <a:ext cx="3338870"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Employees involved in brand management, advertising, market research, and customer engagement initiatives.</a:t>
            </a:r>
            <a:endParaRPr lang="en-US" sz="1550" dirty="0"/>
          </a:p>
        </p:txBody>
      </p:sp>
      <p:pic>
        <p:nvPicPr>
          <p:cNvPr id="8" name="Image 1" descr="preencoded.png"/>
          <p:cNvPicPr>
            <a:picLocks noChangeAspect="1"/>
          </p:cNvPicPr>
          <p:nvPr/>
        </p:nvPicPr>
        <p:blipFill>
          <a:blip r:embed="rId4"/>
          <a:stretch>
            <a:fillRect/>
          </a:stretch>
        </p:blipFill>
        <p:spPr>
          <a:xfrm>
            <a:off x="5223986" y="3696891"/>
            <a:ext cx="595313" cy="595313"/>
          </a:xfrm>
          <a:prstGeom prst="rect">
            <a:avLst/>
          </a:prstGeom>
        </p:spPr>
      </p:pic>
      <p:sp>
        <p:nvSpPr>
          <p:cNvPr id="9" name="Text 5"/>
          <p:cNvSpPr/>
          <p:nvPr/>
        </p:nvSpPr>
        <p:spPr>
          <a:xfrm>
            <a:off x="6067306" y="3864293"/>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Finance Department</a:t>
            </a:r>
            <a:endParaRPr lang="en-US" sz="2050" dirty="0"/>
          </a:p>
        </p:txBody>
      </p:sp>
      <p:sp>
        <p:nvSpPr>
          <p:cNvPr id="10" name="Text 6"/>
          <p:cNvSpPr/>
          <p:nvPr/>
        </p:nvSpPr>
        <p:spPr>
          <a:xfrm>
            <a:off x="6067306" y="4308991"/>
            <a:ext cx="3338989"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Staff handling accounting, financial analysis, budgeting, auditing, and fiscal planning activities.</a:t>
            </a:r>
            <a:endParaRPr lang="en-US" sz="1550" dirty="0"/>
          </a:p>
        </p:txBody>
      </p:sp>
      <p:pic>
        <p:nvPicPr>
          <p:cNvPr id="11" name="Image 2" descr="preencoded.png"/>
          <p:cNvPicPr>
            <a:picLocks noChangeAspect="1"/>
          </p:cNvPicPr>
          <p:nvPr/>
        </p:nvPicPr>
        <p:blipFill>
          <a:blip r:embed="rId5"/>
          <a:stretch>
            <a:fillRect/>
          </a:stretch>
        </p:blipFill>
        <p:spPr>
          <a:xfrm>
            <a:off x="9654302" y="3696891"/>
            <a:ext cx="595313" cy="595313"/>
          </a:xfrm>
          <a:prstGeom prst="rect">
            <a:avLst/>
          </a:prstGeom>
        </p:spPr>
      </p:pic>
      <p:sp>
        <p:nvSpPr>
          <p:cNvPr id="12" name="Text 7"/>
          <p:cNvSpPr/>
          <p:nvPr/>
        </p:nvSpPr>
        <p:spPr>
          <a:xfrm>
            <a:off x="10497622" y="3864293"/>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IT Department</a:t>
            </a:r>
            <a:endParaRPr lang="en-US" sz="2050" dirty="0"/>
          </a:p>
        </p:txBody>
      </p:sp>
      <p:sp>
        <p:nvSpPr>
          <p:cNvPr id="13" name="Text 8"/>
          <p:cNvSpPr/>
          <p:nvPr/>
        </p:nvSpPr>
        <p:spPr>
          <a:xfrm>
            <a:off x="10497622" y="4308991"/>
            <a:ext cx="3338989" cy="127015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Technical professionals managing systems, software development, infrastructure, and technology support.</a:t>
            </a:r>
            <a:endParaRPr lang="en-US" sz="1550" dirty="0"/>
          </a:p>
        </p:txBody>
      </p:sp>
      <p:sp>
        <p:nvSpPr>
          <p:cNvPr id="14" name="Shape 9"/>
          <p:cNvSpPr/>
          <p:nvPr/>
        </p:nvSpPr>
        <p:spPr>
          <a:xfrm>
            <a:off x="793790" y="5802392"/>
            <a:ext cx="13042821" cy="1160740"/>
          </a:xfrm>
          <a:prstGeom prst="roundRect">
            <a:avLst>
              <a:gd name="adj" fmla="val 2565"/>
            </a:avLst>
          </a:prstGeom>
          <a:solidFill>
            <a:srgbClr val="FFCDB3"/>
          </a:solidFill>
          <a:ln/>
        </p:spPr>
      </p:sp>
      <p:pic>
        <p:nvPicPr>
          <p:cNvPr id="15" name="Image 3" descr="preencoded.png"/>
          <p:cNvPicPr>
            <a:picLocks noChangeAspect="1"/>
          </p:cNvPicPr>
          <p:nvPr/>
        </p:nvPicPr>
        <p:blipFill>
          <a:blip r:embed="rId6"/>
          <a:stretch>
            <a:fillRect/>
          </a:stretch>
        </p:blipFill>
        <p:spPr>
          <a:xfrm>
            <a:off x="992148" y="6097667"/>
            <a:ext cx="248007" cy="198358"/>
          </a:xfrm>
          <a:prstGeom prst="rect">
            <a:avLst/>
          </a:prstGeom>
        </p:spPr>
      </p:pic>
      <p:sp>
        <p:nvSpPr>
          <p:cNvPr id="16" name="Text 10"/>
          <p:cNvSpPr/>
          <p:nvPr/>
        </p:nvSpPr>
        <p:spPr>
          <a:xfrm>
            <a:off x="1438513" y="6050280"/>
            <a:ext cx="12199739" cy="635079"/>
          </a:xfrm>
          <a:prstGeom prst="rect">
            <a:avLst/>
          </a:prstGeom>
          <a:noFill/>
          <a:ln/>
        </p:spPr>
        <p:txBody>
          <a:bodyPr wrap="square" lIns="0" tIns="0" rIns="0" bIns="0" rtlCol="0" anchor="t"/>
          <a:lstStyle/>
          <a:p>
            <a:pPr marL="0" indent="0" algn="l">
              <a:lnSpc>
                <a:spcPts val="2500"/>
              </a:lnSpc>
              <a:buNone/>
            </a:pPr>
            <a:r>
              <a:rPr lang="en-US" b="1" dirty="0">
                <a:solidFill>
                  <a:srgbClr val="000000"/>
                </a:solidFill>
                <a:latin typeface="DM Sans" pitchFamily="34" charset="0"/>
                <a:ea typeface="DM Sans" pitchFamily="34" charset="-122"/>
                <a:cs typeface="DM Sans" pitchFamily="34" charset="-120"/>
              </a:rPr>
              <a:t>Measurement Scale:</a:t>
            </a:r>
            <a:r>
              <a:rPr lang="en-US" dirty="0">
                <a:solidFill>
                  <a:srgbClr val="000000"/>
                </a:solidFill>
                <a:latin typeface="DM Sans" pitchFamily="34" charset="0"/>
                <a:ea typeface="DM Sans" pitchFamily="34" charset="-122"/>
                <a:cs typeface="DM Sans" pitchFamily="34" charset="-120"/>
              </a:rPr>
              <a:t> Employee feedback captured using a 5-point Likert scale ranging from 1 (Not satisfied at all) to 5 (Very satisfied) with the appraisal process.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897731"/>
            <a:ext cx="7690604"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Chi-Square Test of Independence</a:t>
            </a:r>
            <a:endParaRPr lang="en-US" sz="4100" dirty="0"/>
          </a:p>
        </p:txBody>
      </p:sp>
      <p:sp>
        <p:nvSpPr>
          <p:cNvPr id="3" name="Text 1"/>
          <p:cNvSpPr/>
          <p:nvPr/>
        </p:nvSpPr>
        <p:spPr>
          <a:xfrm>
            <a:off x="793790" y="1904236"/>
            <a:ext cx="5818465"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Testing Association Between Categorical Variables</a:t>
            </a:r>
            <a:endParaRPr lang="en-US" sz="2050" dirty="0"/>
          </a:p>
        </p:txBody>
      </p:sp>
      <p:sp>
        <p:nvSpPr>
          <p:cNvPr id="4" name="Text 2"/>
          <p:cNvSpPr/>
          <p:nvPr/>
        </p:nvSpPr>
        <p:spPr>
          <a:xfrm>
            <a:off x="793790" y="2598302"/>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chi-square test for independence, also known as Pearson's chi-square test or the chi-square test of association, examines whether a relationship exists between two categorical variables. Both variables can be measured at the nominal or ordinal level.</a:t>
            </a:r>
            <a:endParaRPr lang="en-US" dirty="0"/>
          </a:p>
        </p:txBody>
      </p:sp>
      <p:pic>
        <p:nvPicPr>
          <p:cNvPr id="5" name="Image 0" descr="preencoded.png"/>
          <p:cNvPicPr>
            <a:picLocks noChangeAspect="1"/>
          </p:cNvPicPr>
          <p:nvPr/>
        </p:nvPicPr>
        <p:blipFill>
          <a:blip r:embed="rId3"/>
          <a:stretch>
            <a:fillRect/>
          </a:stretch>
        </p:blipFill>
        <p:spPr>
          <a:xfrm>
            <a:off x="793790" y="3765709"/>
            <a:ext cx="6521410" cy="793790"/>
          </a:xfrm>
          <a:prstGeom prst="rect">
            <a:avLst/>
          </a:prstGeom>
        </p:spPr>
      </p:pic>
      <p:sp>
        <p:nvSpPr>
          <p:cNvPr id="6" name="Text 3"/>
          <p:cNvSpPr/>
          <p:nvPr/>
        </p:nvSpPr>
        <p:spPr>
          <a:xfrm>
            <a:off x="992148" y="4757857"/>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Null Hypothesis</a:t>
            </a:r>
            <a:endParaRPr lang="en-US" sz="2050" dirty="0"/>
          </a:p>
        </p:txBody>
      </p:sp>
      <p:sp>
        <p:nvSpPr>
          <p:cNvPr id="7" name="Text 4"/>
          <p:cNvSpPr/>
          <p:nvPr/>
        </p:nvSpPr>
        <p:spPr>
          <a:xfrm>
            <a:off x="992148" y="5202555"/>
            <a:ext cx="6124694"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two categorical attributes are independent, meaning no association exists between them.</a:t>
            </a:r>
            <a:endParaRPr lang="en-US" dirty="0"/>
          </a:p>
        </p:txBody>
      </p:sp>
      <p:pic>
        <p:nvPicPr>
          <p:cNvPr id="8" name="Image 1" descr="preencoded.png"/>
          <p:cNvPicPr>
            <a:picLocks noChangeAspect="1"/>
          </p:cNvPicPr>
          <p:nvPr/>
        </p:nvPicPr>
        <p:blipFill>
          <a:blip r:embed="rId4"/>
          <a:stretch>
            <a:fillRect/>
          </a:stretch>
        </p:blipFill>
        <p:spPr>
          <a:xfrm>
            <a:off x="7315200" y="3765709"/>
            <a:ext cx="6521410" cy="793790"/>
          </a:xfrm>
          <a:prstGeom prst="rect">
            <a:avLst/>
          </a:prstGeom>
        </p:spPr>
      </p:pic>
      <p:sp>
        <p:nvSpPr>
          <p:cNvPr id="9" name="Text 5"/>
          <p:cNvSpPr/>
          <p:nvPr/>
        </p:nvSpPr>
        <p:spPr>
          <a:xfrm>
            <a:off x="7513558" y="4757857"/>
            <a:ext cx="2660452"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Alternative Hypothesis</a:t>
            </a:r>
            <a:endParaRPr lang="en-US" sz="2050" dirty="0"/>
          </a:p>
        </p:txBody>
      </p:sp>
      <p:sp>
        <p:nvSpPr>
          <p:cNvPr id="10" name="Text 6"/>
          <p:cNvSpPr/>
          <p:nvPr/>
        </p:nvSpPr>
        <p:spPr>
          <a:xfrm>
            <a:off x="7513558" y="5202555"/>
            <a:ext cx="6124694"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attributes are not independent, indicating a significant association exists.</a:t>
            </a:r>
            <a:endParaRPr lang="en-US" dirty="0"/>
          </a:p>
        </p:txBody>
      </p:sp>
      <p:sp>
        <p:nvSpPr>
          <p:cNvPr id="11" name="Text 7"/>
          <p:cNvSpPr/>
          <p:nvPr/>
        </p:nvSpPr>
        <p:spPr>
          <a:xfrm>
            <a:off x="793790" y="625923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This test compares observed frequencies in a contingency table with expected frequencies calculated under the assumption of independence. Large discrepancies between observed and expected values provide evidence against the null hypothesis.</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nvSpPr>
        <p:spPr>
          <a:xfrm>
            <a:off x="793790" y="928330"/>
            <a:ext cx="6001822"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Chi-Square Test: Example</a:t>
            </a:r>
            <a:endParaRPr lang="en-US" sz="4100" dirty="0"/>
          </a:p>
        </p:txBody>
      </p:sp>
      <p:sp>
        <p:nvSpPr>
          <p:cNvPr id="4" name="Text 1"/>
          <p:cNvSpPr/>
          <p:nvPr/>
        </p:nvSpPr>
        <p:spPr>
          <a:xfrm>
            <a:off x="793790" y="1877258"/>
            <a:ext cx="55005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Comparing Observed and Expected Frequencies</a:t>
            </a:r>
            <a:endParaRPr lang="en-US" sz="2050" dirty="0"/>
          </a:p>
        </p:txBody>
      </p:sp>
      <p:sp>
        <p:nvSpPr>
          <p:cNvPr id="5" name="Text 2"/>
          <p:cNvSpPr/>
          <p:nvPr/>
        </p:nvSpPr>
        <p:spPr>
          <a:xfrm>
            <a:off x="793790" y="2698909"/>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Observed Frequencies</a:t>
            </a:r>
            <a:endParaRPr lang="en-US" sz="2450" dirty="0"/>
          </a:p>
        </p:txBody>
      </p:sp>
      <p:sp>
        <p:nvSpPr>
          <p:cNvPr id="6" name="Text 3"/>
          <p:cNvSpPr/>
          <p:nvPr/>
        </p:nvSpPr>
        <p:spPr>
          <a:xfrm>
            <a:off x="793790" y="3287911"/>
            <a:ext cx="3536156"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actual counts obtained from sample data, organized in a contingency table by row and column categories</a:t>
            </a:r>
            <a:r>
              <a:rPr lang="en-US" sz="1550" dirty="0">
                <a:solidFill>
                  <a:srgbClr val="383838"/>
                </a:solidFill>
                <a:latin typeface="DM Sans" pitchFamily="34" charset="0"/>
                <a:ea typeface="DM Sans" pitchFamily="34" charset="-122"/>
                <a:cs typeface="DM Sans" pitchFamily="34" charset="-120"/>
              </a:rPr>
              <a:t>.</a:t>
            </a:r>
            <a:endParaRPr lang="en-US" sz="1550" dirty="0"/>
          </a:p>
        </p:txBody>
      </p:sp>
      <p:sp>
        <p:nvSpPr>
          <p:cNvPr id="7" name="Text 4"/>
          <p:cNvSpPr/>
          <p:nvPr/>
        </p:nvSpPr>
        <p:spPr>
          <a:xfrm>
            <a:off x="4821674" y="2698909"/>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020202"/>
                </a:solidFill>
                <a:latin typeface="PT Serif" pitchFamily="34" charset="0"/>
                <a:ea typeface="PT Serif" pitchFamily="34" charset="-122"/>
                <a:cs typeface="PT Serif" pitchFamily="34" charset="-120"/>
              </a:rPr>
              <a:t>Expected Frequencies</a:t>
            </a:r>
            <a:endParaRPr lang="en-US" sz="2450" dirty="0"/>
          </a:p>
        </p:txBody>
      </p:sp>
      <p:sp>
        <p:nvSpPr>
          <p:cNvPr id="8" name="Text 5"/>
          <p:cNvSpPr/>
          <p:nvPr/>
        </p:nvSpPr>
        <p:spPr>
          <a:xfrm>
            <a:off x="4821674" y="3287911"/>
            <a:ext cx="3536156"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The frequencies we would expect if the null hypothesis of independence were true, calculated from marginal totals.</a:t>
            </a:r>
            <a:endParaRPr lang="en-US" dirty="0"/>
          </a:p>
        </p:txBody>
      </p:sp>
      <p:sp>
        <p:nvSpPr>
          <p:cNvPr id="9" name="Shape 6"/>
          <p:cNvSpPr/>
          <p:nvPr/>
        </p:nvSpPr>
        <p:spPr>
          <a:xfrm>
            <a:off x="793790" y="4959906"/>
            <a:ext cx="7556421" cy="2341364"/>
          </a:xfrm>
          <a:prstGeom prst="roundRect">
            <a:avLst>
              <a:gd name="adj" fmla="val 4686"/>
            </a:avLst>
          </a:prstGeom>
          <a:solidFill>
            <a:srgbClr val="FFFFFF"/>
          </a:solidFill>
          <a:ln w="22860">
            <a:solidFill>
              <a:srgbClr val="D8D4D4"/>
            </a:solidFill>
            <a:prstDash val="solid"/>
          </a:ln>
        </p:spPr>
      </p:sp>
      <p:sp>
        <p:nvSpPr>
          <p:cNvPr id="10" name="Shape 7"/>
          <p:cNvSpPr/>
          <p:nvPr/>
        </p:nvSpPr>
        <p:spPr>
          <a:xfrm>
            <a:off x="770930" y="4959906"/>
            <a:ext cx="91440" cy="2341364"/>
          </a:xfrm>
          <a:prstGeom prst="roundRect">
            <a:avLst>
              <a:gd name="adj" fmla="val 32558"/>
            </a:avLst>
          </a:prstGeom>
          <a:solidFill>
            <a:srgbClr val="E04F00"/>
          </a:solidFill>
          <a:ln/>
        </p:spPr>
      </p:sp>
      <p:sp>
        <p:nvSpPr>
          <p:cNvPr id="11" name="Text 8"/>
          <p:cNvSpPr/>
          <p:nvPr/>
        </p:nvSpPr>
        <p:spPr>
          <a:xfrm>
            <a:off x="1083588" y="5181124"/>
            <a:ext cx="312586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Degrees of Freedom</a:t>
            </a:r>
            <a:endParaRPr lang="en-US" sz="2450" dirty="0"/>
          </a:p>
        </p:txBody>
      </p:sp>
      <p:sp>
        <p:nvSpPr>
          <p:cNvPr id="12" name="Text 9"/>
          <p:cNvSpPr/>
          <p:nvPr/>
        </p:nvSpPr>
        <p:spPr>
          <a:xfrm>
            <a:off x="1083588" y="5690830"/>
            <a:ext cx="7045404"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df = (r - 1) × (c - 1)</a:t>
            </a:r>
            <a:endParaRPr lang="en-US" sz="1550" dirty="0"/>
          </a:p>
        </p:txBody>
      </p:sp>
      <p:sp>
        <p:nvSpPr>
          <p:cNvPr id="13" name="Text 10"/>
          <p:cNvSpPr/>
          <p:nvPr/>
        </p:nvSpPr>
        <p:spPr>
          <a:xfrm>
            <a:off x="981381" y="6127432"/>
            <a:ext cx="7147611" cy="952619"/>
          </a:xfrm>
          <a:prstGeom prst="rect">
            <a:avLst/>
          </a:prstGeom>
          <a:noFill/>
          <a:ln/>
        </p:spPr>
        <p:txBody>
          <a:bodyPr wrap="square" lIns="0" tIns="0" rIns="0" bIns="0" rtlCol="0" anchor="t"/>
          <a:lstStyle/>
          <a:p>
            <a:pPr marL="0" indent="0" algn="l">
              <a:lnSpc>
                <a:spcPts val="2500"/>
              </a:lnSpc>
              <a:buNone/>
            </a:pPr>
            <a:r>
              <a:rPr lang="en-US" sz="1600" dirty="0">
                <a:solidFill>
                  <a:srgbClr val="383838"/>
                </a:solidFill>
                <a:latin typeface="DM Sans" pitchFamily="34" charset="0"/>
                <a:ea typeface="DM Sans" pitchFamily="34" charset="-122"/>
                <a:cs typeface="DM Sans" pitchFamily="34" charset="-120"/>
              </a:rPr>
              <a:t>Where r represents the number of rows and c represents the number of columns in the contingency table. The degrees of freedom determine the appropriate chi-square distribution for hypothesis testing</a:t>
            </a:r>
            <a:r>
              <a:rPr lang="en-US" dirty="0">
                <a:solidFill>
                  <a:srgbClr val="383838"/>
                </a:solidFill>
                <a:latin typeface="DM Sans" pitchFamily="34" charset="0"/>
                <a:ea typeface="DM Sans" pitchFamily="34" charset="-122"/>
                <a:cs typeface="DM Sans" pitchFamily="34" charset="-120"/>
              </a:rPr>
              <a:t>.</a:t>
            </a:r>
            <a:endParaRPr lang="en-US" dirty="0"/>
          </a:p>
        </p:txBody>
      </p:sp>
      <p:pic>
        <p:nvPicPr>
          <p:cNvPr id="14" name="Picture 13">
            <a:extLst>
              <a:ext uri="{FF2B5EF4-FFF2-40B4-BE49-F238E27FC236}">
                <a16:creationId xmlns:a16="http://schemas.microsoft.com/office/drawing/2014/main" id="{FF9FDEDC-DB27-1944-BE54-2BC7C2015D6D}"/>
              </a:ext>
            </a:extLst>
          </p:cNvPr>
          <p:cNvPicPr>
            <a:picLocks noChangeAspect="1"/>
          </p:cNvPicPr>
          <p:nvPr/>
        </p:nvPicPr>
        <p:blipFill>
          <a:blip r:embed="rId3"/>
          <a:stretch>
            <a:fillRect/>
          </a:stretch>
        </p:blipFill>
        <p:spPr>
          <a:xfrm>
            <a:off x="8503920" y="1096878"/>
            <a:ext cx="4928680" cy="1549781"/>
          </a:xfrm>
          <a:prstGeom prst="rect">
            <a:avLst/>
          </a:prstGeom>
          <a:ln>
            <a:solidFill>
              <a:schemeClr val="tx1"/>
            </a:solidFill>
          </a:ln>
        </p:spPr>
      </p:pic>
      <p:pic>
        <p:nvPicPr>
          <p:cNvPr id="15" name="Picture 14">
            <a:extLst>
              <a:ext uri="{FF2B5EF4-FFF2-40B4-BE49-F238E27FC236}">
                <a16:creationId xmlns:a16="http://schemas.microsoft.com/office/drawing/2014/main" id="{6DD9A33C-989D-6543-8C5F-1B6A74B5A2B9}"/>
              </a:ext>
            </a:extLst>
          </p:cNvPr>
          <p:cNvPicPr>
            <a:picLocks noChangeAspect="1"/>
          </p:cNvPicPr>
          <p:nvPr/>
        </p:nvPicPr>
        <p:blipFill>
          <a:blip r:embed="rId4"/>
          <a:stretch>
            <a:fillRect/>
          </a:stretch>
        </p:blipFill>
        <p:spPr>
          <a:xfrm>
            <a:off x="8503920" y="3089553"/>
            <a:ext cx="5971735" cy="1549781"/>
          </a:xfrm>
          <a:prstGeom prst="rect">
            <a:avLst/>
          </a:prstGeom>
          <a:ln>
            <a:solidFill>
              <a:schemeClr val="tx1"/>
            </a:solidFill>
          </a:ln>
        </p:spPr>
      </p:pic>
      <p:pic>
        <p:nvPicPr>
          <p:cNvPr id="16" name="Picture 2" descr="http://www.geography-site.co.uk/pages/skills/fieldwork/statimage/chisqu.gif">
            <a:extLst>
              <a:ext uri="{FF2B5EF4-FFF2-40B4-BE49-F238E27FC236}">
                <a16:creationId xmlns:a16="http://schemas.microsoft.com/office/drawing/2014/main" id="{C1A8FB18-028D-A24B-99E6-BC8D6CAC2E81}"/>
              </a:ext>
            </a:extLst>
          </p:cNvPr>
          <p:cNvPicPr>
            <a:picLocks noChangeAspect="1" noChangeArrowheads="1"/>
          </p:cNvPicPr>
          <p:nvPr/>
        </p:nvPicPr>
        <p:blipFill>
          <a:blip r:embed="rId5"/>
          <a:srcRect/>
          <a:stretch>
            <a:fillRect/>
          </a:stretch>
        </p:blipFill>
        <p:spPr bwMode="auto">
          <a:xfrm>
            <a:off x="9489537" y="6303763"/>
            <a:ext cx="2000250" cy="1552576"/>
          </a:xfrm>
          <a:prstGeom prst="rect">
            <a:avLst/>
          </a:prstGeom>
          <a:noFill/>
        </p:spPr>
      </p:pic>
      <p:sp>
        <p:nvSpPr>
          <p:cNvPr id="19" name="Text 10">
            <a:extLst>
              <a:ext uri="{FF2B5EF4-FFF2-40B4-BE49-F238E27FC236}">
                <a16:creationId xmlns:a16="http://schemas.microsoft.com/office/drawing/2014/main" id="{D9327BD3-B3FE-794C-82B1-87D331FDC6FD}"/>
              </a:ext>
            </a:extLst>
          </p:cNvPr>
          <p:cNvSpPr/>
          <p:nvPr/>
        </p:nvSpPr>
        <p:spPr>
          <a:xfrm>
            <a:off x="8571430" y="4816629"/>
            <a:ext cx="5904226" cy="755140"/>
          </a:xfrm>
          <a:prstGeom prst="rect">
            <a:avLst/>
          </a:prstGeom>
          <a:noFill/>
          <a:ln>
            <a:solidFill>
              <a:schemeClr val="tx1"/>
            </a:solidFill>
          </a:ln>
        </p:spPr>
        <p:txBody>
          <a:bodyPr wrap="square" lIns="0" tIns="0" rIns="0" bIns="0" rtlCol="0" anchor="t"/>
          <a:lstStyle/>
          <a:p>
            <a:pPr>
              <a:lnSpc>
                <a:spcPts val="2500"/>
              </a:lnSpc>
            </a:pPr>
            <a:r>
              <a:rPr lang="en-US" sz="1600" dirty="0">
                <a:solidFill>
                  <a:srgbClr val="383838"/>
                </a:solidFill>
                <a:latin typeface="DM Sans" pitchFamily="34" charset="0"/>
                <a:ea typeface="DM Sans" pitchFamily="34" charset="-122"/>
                <a:cs typeface="DM Sans" pitchFamily="34" charset="-120"/>
              </a:rPr>
              <a:t> P value &lt;0.05, Reject Ho. Recruitment Source and</a:t>
            </a:r>
          </a:p>
          <a:p>
            <a:pPr>
              <a:lnSpc>
                <a:spcPts val="2500"/>
              </a:lnSpc>
            </a:pPr>
            <a:r>
              <a:rPr lang="en-US" sz="1600" dirty="0">
                <a:solidFill>
                  <a:srgbClr val="383838"/>
                </a:solidFill>
                <a:latin typeface="DM Sans" pitchFamily="34" charset="0"/>
                <a:ea typeface="DM Sans" pitchFamily="34" charset="-122"/>
                <a:cs typeface="DM Sans" pitchFamily="34" charset="-120"/>
              </a:rPr>
              <a:t>  Performance are associated. </a:t>
            </a:r>
          </a:p>
          <a:p>
            <a:pPr marL="0" indent="0" algn="l">
              <a:lnSpc>
                <a:spcPts val="2500"/>
              </a:lnSpc>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7818"/>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Takeaways</a:t>
            </a:r>
            <a:endParaRPr lang="en-US" sz="4100" dirty="0"/>
          </a:p>
        </p:txBody>
      </p:sp>
      <p:sp>
        <p:nvSpPr>
          <p:cNvPr id="4" name="Shape 2"/>
          <p:cNvSpPr/>
          <p:nvPr/>
        </p:nvSpPr>
        <p:spPr>
          <a:xfrm>
            <a:off x="793790" y="2405420"/>
            <a:ext cx="6422231" cy="2652713"/>
          </a:xfrm>
          <a:prstGeom prst="roundRect">
            <a:avLst>
              <a:gd name="adj" fmla="val 1122"/>
            </a:avLst>
          </a:prstGeom>
          <a:solidFill>
            <a:srgbClr val="F2EEEE"/>
          </a:solidFill>
          <a:ln/>
        </p:spPr>
      </p:sp>
      <p:sp>
        <p:nvSpPr>
          <p:cNvPr id="5" name="Shape 3"/>
          <p:cNvSpPr/>
          <p:nvPr/>
        </p:nvSpPr>
        <p:spPr>
          <a:xfrm>
            <a:off x="992148" y="2603778"/>
            <a:ext cx="595313" cy="595313"/>
          </a:xfrm>
          <a:prstGeom prst="roundRect">
            <a:avLst>
              <a:gd name="adj" fmla="val 15358451"/>
            </a:avLst>
          </a:prstGeom>
          <a:solidFill>
            <a:srgbClr val="E04F00"/>
          </a:solidFill>
          <a:ln/>
        </p:spPr>
      </p:sp>
      <p:pic>
        <p:nvPicPr>
          <p:cNvPr id="6" name="Image 0" descr="preencoded.png"/>
          <p:cNvPicPr>
            <a:picLocks noChangeAspect="1"/>
          </p:cNvPicPr>
          <p:nvPr/>
        </p:nvPicPr>
        <p:blipFill>
          <a:blip r:embed="rId3"/>
          <a:stretch>
            <a:fillRect/>
          </a:stretch>
        </p:blipFill>
        <p:spPr>
          <a:xfrm>
            <a:off x="1155859" y="2733913"/>
            <a:ext cx="267891" cy="334923"/>
          </a:xfrm>
          <a:prstGeom prst="rect">
            <a:avLst/>
          </a:prstGeom>
        </p:spPr>
      </p:pic>
      <p:sp>
        <p:nvSpPr>
          <p:cNvPr id="7" name="Text 4"/>
          <p:cNvSpPr/>
          <p:nvPr/>
        </p:nvSpPr>
        <p:spPr>
          <a:xfrm>
            <a:off x="992148" y="3397448"/>
            <a:ext cx="3757136"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rPr>
              <a:t>Mann Whitney Test</a:t>
            </a:r>
            <a:endParaRPr lang="en-US" sz="2450" dirty="0"/>
          </a:p>
        </p:txBody>
      </p:sp>
      <p:sp>
        <p:nvSpPr>
          <p:cNvPr id="8" name="Text 5"/>
          <p:cNvSpPr/>
          <p:nvPr/>
        </p:nvSpPr>
        <p:spPr>
          <a:xfrm>
            <a:off x="992148" y="3907155"/>
            <a:ext cx="6025515"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To test whether two samples are drawn from the same</a:t>
            </a:r>
          </a:p>
          <a:p>
            <a:pPr marL="0" indent="0" algn="l">
              <a:lnSpc>
                <a:spcPts val="2500"/>
              </a:lnSpc>
              <a:buNone/>
            </a:pPr>
            <a:r>
              <a:rPr lang="en-US" dirty="0">
                <a:solidFill>
                  <a:srgbClr val="383838"/>
                </a:solidFill>
                <a:latin typeface="DM Sans" pitchFamily="34" charset="0"/>
              </a:rPr>
              <a:t>Population</a:t>
            </a:r>
            <a:endParaRPr lang="en-US" dirty="0"/>
          </a:p>
        </p:txBody>
      </p:sp>
      <p:sp>
        <p:nvSpPr>
          <p:cNvPr id="9" name="Shape 6"/>
          <p:cNvSpPr/>
          <p:nvPr/>
        </p:nvSpPr>
        <p:spPr>
          <a:xfrm>
            <a:off x="7414379" y="2405420"/>
            <a:ext cx="6422231" cy="2652713"/>
          </a:xfrm>
          <a:prstGeom prst="roundRect">
            <a:avLst>
              <a:gd name="adj" fmla="val 1122"/>
            </a:avLst>
          </a:prstGeom>
          <a:solidFill>
            <a:srgbClr val="F2EEEE"/>
          </a:solidFill>
          <a:ln/>
        </p:spPr>
      </p:sp>
      <p:sp>
        <p:nvSpPr>
          <p:cNvPr id="10" name="Shape 7"/>
          <p:cNvSpPr/>
          <p:nvPr/>
        </p:nvSpPr>
        <p:spPr>
          <a:xfrm>
            <a:off x="7612737" y="2603778"/>
            <a:ext cx="595313" cy="595313"/>
          </a:xfrm>
          <a:prstGeom prst="roundRect">
            <a:avLst>
              <a:gd name="adj" fmla="val 15358451"/>
            </a:avLst>
          </a:prstGeom>
          <a:solidFill>
            <a:srgbClr val="E04F00"/>
          </a:solidFill>
          <a:ln/>
        </p:spPr>
      </p:sp>
      <p:pic>
        <p:nvPicPr>
          <p:cNvPr id="11" name="Image 1" descr="preencoded.png"/>
          <p:cNvPicPr>
            <a:picLocks noChangeAspect="1"/>
          </p:cNvPicPr>
          <p:nvPr/>
        </p:nvPicPr>
        <p:blipFill>
          <a:blip r:embed="rId4"/>
          <a:stretch>
            <a:fillRect/>
          </a:stretch>
        </p:blipFill>
        <p:spPr>
          <a:xfrm>
            <a:off x="7776448" y="2733913"/>
            <a:ext cx="267891" cy="334923"/>
          </a:xfrm>
          <a:prstGeom prst="rect">
            <a:avLst/>
          </a:prstGeom>
        </p:spPr>
      </p:pic>
      <p:sp>
        <p:nvSpPr>
          <p:cNvPr id="12" name="Text 8"/>
          <p:cNvSpPr/>
          <p:nvPr/>
        </p:nvSpPr>
        <p:spPr>
          <a:xfrm>
            <a:off x="7612737" y="3397448"/>
            <a:ext cx="3629263"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Wilcoxon Signed Rank Test</a:t>
            </a:r>
            <a:endParaRPr lang="en-US" sz="2450" dirty="0"/>
          </a:p>
        </p:txBody>
      </p:sp>
      <p:sp>
        <p:nvSpPr>
          <p:cNvPr id="13" name="Text 9"/>
          <p:cNvSpPr/>
          <p:nvPr/>
        </p:nvSpPr>
        <p:spPr>
          <a:xfrm>
            <a:off x="7612737" y="3907155"/>
            <a:ext cx="6025515"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rPr>
              <a:t>Alternative to paired t test</a:t>
            </a:r>
            <a:endParaRPr lang="en-US" dirty="0"/>
          </a:p>
        </p:txBody>
      </p:sp>
      <p:sp>
        <p:nvSpPr>
          <p:cNvPr id="14" name="Shape 10"/>
          <p:cNvSpPr/>
          <p:nvPr/>
        </p:nvSpPr>
        <p:spPr>
          <a:xfrm>
            <a:off x="793790" y="5256490"/>
            <a:ext cx="6422231" cy="2335173"/>
          </a:xfrm>
          <a:prstGeom prst="roundRect">
            <a:avLst>
              <a:gd name="adj" fmla="val 1275"/>
            </a:avLst>
          </a:prstGeom>
          <a:solidFill>
            <a:srgbClr val="F2EEEE"/>
          </a:solidFill>
          <a:ln/>
        </p:spPr>
      </p:sp>
      <p:sp>
        <p:nvSpPr>
          <p:cNvPr id="15" name="Shape 11"/>
          <p:cNvSpPr/>
          <p:nvPr/>
        </p:nvSpPr>
        <p:spPr>
          <a:xfrm>
            <a:off x="992148" y="5454848"/>
            <a:ext cx="595313" cy="595313"/>
          </a:xfrm>
          <a:prstGeom prst="roundRect">
            <a:avLst>
              <a:gd name="adj" fmla="val 15358451"/>
            </a:avLst>
          </a:prstGeom>
          <a:solidFill>
            <a:srgbClr val="E04F00"/>
          </a:solidFill>
          <a:ln/>
        </p:spPr>
      </p:sp>
      <p:pic>
        <p:nvPicPr>
          <p:cNvPr id="16" name="Image 2" descr="preencoded.png"/>
          <p:cNvPicPr>
            <a:picLocks noChangeAspect="1"/>
          </p:cNvPicPr>
          <p:nvPr/>
        </p:nvPicPr>
        <p:blipFill>
          <a:blip r:embed="rId5"/>
          <a:stretch>
            <a:fillRect/>
          </a:stretch>
        </p:blipFill>
        <p:spPr>
          <a:xfrm>
            <a:off x="1155859" y="5584984"/>
            <a:ext cx="267891" cy="334923"/>
          </a:xfrm>
          <a:prstGeom prst="rect">
            <a:avLst/>
          </a:prstGeom>
        </p:spPr>
      </p:pic>
      <p:sp>
        <p:nvSpPr>
          <p:cNvPr id="17" name="Text 12"/>
          <p:cNvSpPr/>
          <p:nvPr/>
        </p:nvSpPr>
        <p:spPr>
          <a:xfrm>
            <a:off x="992148" y="6248519"/>
            <a:ext cx="4097417"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Kruskal Wallis Test</a:t>
            </a:r>
            <a:endParaRPr lang="en-US" sz="2450" dirty="0"/>
          </a:p>
        </p:txBody>
      </p:sp>
      <p:sp>
        <p:nvSpPr>
          <p:cNvPr id="18" name="Text 13"/>
          <p:cNvSpPr/>
          <p:nvPr/>
        </p:nvSpPr>
        <p:spPr>
          <a:xfrm>
            <a:off x="992148" y="6758226"/>
            <a:ext cx="6025515" cy="635079"/>
          </a:xfrm>
          <a:prstGeom prst="rect">
            <a:avLst/>
          </a:prstGeom>
          <a:noFill/>
          <a:ln/>
        </p:spPr>
        <p:txBody>
          <a:bodyPr wrap="square" lIns="0" tIns="0" rIns="0" bIns="0" rtlCol="0" anchor="t"/>
          <a:lstStyle/>
          <a:p>
            <a:pPr>
              <a:lnSpc>
                <a:spcPts val="2500"/>
              </a:lnSpc>
            </a:pPr>
            <a:r>
              <a:rPr lang="en-US" sz="1600" dirty="0">
                <a:solidFill>
                  <a:srgbClr val="383838"/>
                </a:solidFill>
                <a:latin typeface="DM Sans" pitchFamily="34" charset="0"/>
              </a:rPr>
              <a:t>To test whether K samples are drawn from the same</a:t>
            </a:r>
          </a:p>
          <a:p>
            <a:pPr>
              <a:lnSpc>
                <a:spcPts val="2500"/>
              </a:lnSpc>
            </a:pPr>
            <a:r>
              <a:rPr lang="en-US" sz="1600" dirty="0">
                <a:solidFill>
                  <a:srgbClr val="383838"/>
                </a:solidFill>
                <a:latin typeface="DM Sans" pitchFamily="34" charset="0"/>
              </a:rPr>
              <a:t>Population</a:t>
            </a:r>
            <a:endParaRPr lang="en-US" sz="1600" dirty="0"/>
          </a:p>
        </p:txBody>
      </p:sp>
      <p:sp>
        <p:nvSpPr>
          <p:cNvPr id="19" name="Shape 14"/>
          <p:cNvSpPr/>
          <p:nvPr/>
        </p:nvSpPr>
        <p:spPr>
          <a:xfrm>
            <a:off x="7414379" y="5256490"/>
            <a:ext cx="6422231" cy="2335173"/>
          </a:xfrm>
          <a:prstGeom prst="roundRect">
            <a:avLst>
              <a:gd name="adj" fmla="val 1275"/>
            </a:avLst>
          </a:prstGeom>
          <a:solidFill>
            <a:srgbClr val="F2EEEE"/>
          </a:solidFill>
          <a:ln/>
        </p:spPr>
      </p:sp>
      <p:sp>
        <p:nvSpPr>
          <p:cNvPr id="20" name="Shape 15"/>
          <p:cNvSpPr/>
          <p:nvPr/>
        </p:nvSpPr>
        <p:spPr>
          <a:xfrm>
            <a:off x="7612737" y="5454848"/>
            <a:ext cx="595313" cy="595313"/>
          </a:xfrm>
          <a:prstGeom prst="roundRect">
            <a:avLst>
              <a:gd name="adj" fmla="val 15358451"/>
            </a:avLst>
          </a:prstGeom>
          <a:solidFill>
            <a:srgbClr val="E04F00"/>
          </a:solidFill>
          <a:ln/>
        </p:spPr>
      </p:sp>
      <p:pic>
        <p:nvPicPr>
          <p:cNvPr id="21" name="Image 3" descr="preencoded.png"/>
          <p:cNvPicPr>
            <a:picLocks noChangeAspect="1"/>
          </p:cNvPicPr>
          <p:nvPr/>
        </p:nvPicPr>
        <p:blipFill>
          <a:blip r:embed="rId6"/>
          <a:stretch>
            <a:fillRect/>
          </a:stretch>
        </p:blipFill>
        <p:spPr>
          <a:xfrm>
            <a:off x="7776448" y="5584984"/>
            <a:ext cx="267891" cy="334923"/>
          </a:xfrm>
          <a:prstGeom prst="rect">
            <a:avLst/>
          </a:prstGeom>
        </p:spPr>
      </p:pic>
      <p:sp>
        <p:nvSpPr>
          <p:cNvPr id="22" name="Text 16"/>
          <p:cNvSpPr/>
          <p:nvPr/>
        </p:nvSpPr>
        <p:spPr>
          <a:xfrm>
            <a:off x="7612737" y="6248519"/>
            <a:ext cx="3409831" cy="390644"/>
          </a:xfrm>
          <a:prstGeom prst="rect">
            <a:avLst/>
          </a:prstGeom>
          <a:noFill/>
          <a:ln/>
        </p:spPr>
        <p:txBody>
          <a:bodyPr wrap="none" lIns="0" tIns="0" rIns="0" bIns="0" rtlCol="0" anchor="t"/>
          <a:lstStyle/>
          <a:p>
            <a:pPr marL="0" indent="0" algn="l">
              <a:lnSpc>
                <a:spcPts val="3050"/>
              </a:lnSpc>
              <a:buNone/>
            </a:pPr>
            <a:r>
              <a:rPr lang="en-US" sz="2450" dirty="0">
                <a:solidFill>
                  <a:srgbClr val="383838"/>
                </a:solidFill>
                <a:latin typeface="PT Serif" pitchFamily="34" charset="0"/>
                <a:ea typeface="PT Serif" pitchFamily="34" charset="-122"/>
                <a:cs typeface="PT Serif" pitchFamily="34" charset="-120"/>
              </a:rPr>
              <a:t>Chi Square Test</a:t>
            </a:r>
            <a:endParaRPr lang="en-US" sz="2450" dirty="0"/>
          </a:p>
        </p:txBody>
      </p:sp>
      <p:sp>
        <p:nvSpPr>
          <p:cNvPr id="23" name="Text 17"/>
          <p:cNvSpPr/>
          <p:nvPr/>
        </p:nvSpPr>
        <p:spPr>
          <a:xfrm>
            <a:off x="7612737" y="6758226"/>
            <a:ext cx="6025515" cy="635079"/>
          </a:xfrm>
          <a:prstGeom prst="rect">
            <a:avLst/>
          </a:prstGeom>
          <a:noFill/>
          <a:ln/>
        </p:spPr>
        <p:txBody>
          <a:bodyPr wrap="square" lIns="0" tIns="0" rIns="0" bIns="0" rtlCol="0" anchor="t"/>
          <a:lstStyle/>
          <a:p>
            <a:pPr>
              <a:lnSpc>
                <a:spcPts val="2500"/>
              </a:lnSpc>
            </a:pPr>
            <a:r>
              <a:rPr lang="en-US" sz="1600" dirty="0">
                <a:solidFill>
                  <a:srgbClr val="383838"/>
                </a:solidFill>
                <a:latin typeface="DM Sans" pitchFamily="34" charset="0"/>
                <a:ea typeface="DM Sans" pitchFamily="34" charset="-122"/>
                <a:cs typeface="DM Sans" pitchFamily="34" charset="-120"/>
              </a:rPr>
              <a:t>To test the independence of two attributes</a:t>
            </a:r>
            <a:endParaRPr lang="en-US" sz="1600" dirty="0"/>
          </a:p>
        </p:txBody>
      </p:sp>
    </p:spTree>
    <p:extLst>
      <p:ext uri="{BB962C8B-B14F-4D97-AF65-F5344CB8AC3E}">
        <p14:creationId xmlns:p14="http://schemas.microsoft.com/office/powerpoint/2010/main" val="1383249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1951</Words>
  <Application>Microsoft Macintosh PowerPoint</Application>
  <PresentationFormat>Custom</PresentationFormat>
  <Paragraphs>246</Paragraphs>
  <Slides>22</Slides>
  <Notes>22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29" baseType="lpstr">
      <vt:lpstr>PT Serif</vt:lpstr>
      <vt:lpstr>DM Sans</vt:lpstr>
      <vt:lpstr>Calibri</vt:lpstr>
      <vt:lpstr>Arial</vt:lpstr>
      <vt:lpstr>PT Serif Light</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Vinayak Deshpande</cp:lastModifiedBy>
  <cp:revision>17</cp:revision>
  <dcterms:created xsi:type="dcterms:W3CDTF">2025-10-09T07:25:41Z</dcterms:created>
  <dcterms:modified xsi:type="dcterms:W3CDTF">2025-10-24T06:20:33Z</dcterms:modified>
</cp:coreProperties>
</file>