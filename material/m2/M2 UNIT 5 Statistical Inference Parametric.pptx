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9"/>
  </p:notesMasterIdLst>
  <p:sldIdLst>
    <p:sldId id="256" r:id="rId2"/>
    <p:sldId id="278" r:id="rId3"/>
    <p:sldId id="257" r:id="rId4"/>
    <p:sldId id="258" r:id="rId5"/>
    <p:sldId id="259" r:id="rId6"/>
    <p:sldId id="260" r:id="rId7"/>
    <p:sldId id="261" r:id="rId8"/>
    <p:sldId id="262" r:id="rId9"/>
    <p:sldId id="263" r:id="rId10"/>
    <p:sldId id="264" r:id="rId11"/>
    <p:sldId id="265" r:id="rId12"/>
    <p:sldId id="371" r:id="rId13"/>
    <p:sldId id="266" r:id="rId14"/>
    <p:sldId id="267" r:id="rId15"/>
    <p:sldId id="268" r:id="rId16"/>
    <p:sldId id="269" r:id="rId17"/>
    <p:sldId id="270" r:id="rId18"/>
    <p:sldId id="377" r:id="rId19"/>
    <p:sldId id="271" r:id="rId20"/>
    <p:sldId id="272" r:id="rId21"/>
    <p:sldId id="273" r:id="rId22"/>
    <p:sldId id="387" r:id="rId23"/>
    <p:sldId id="274" r:id="rId24"/>
    <p:sldId id="275" r:id="rId25"/>
    <p:sldId id="276" r:id="rId26"/>
    <p:sldId id="277" r:id="rId27"/>
    <p:sldId id="388" r:id="rId28"/>
  </p:sldIdLst>
  <p:sldSz cx="14630400" cy="8229600"/>
  <p:notesSz cx="8229600" cy="14630400"/>
  <p:embeddedFontLst>
    <p:embeddedFont>
      <p:font typeface="DM Sans" pitchFamily="2" charset="77"/>
      <p:regular r:id="rId30"/>
    </p:embeddedFont>
    <p:embeddedFont>
      <p:font typeface="PT Serif" panose="020A0603040505020204" pitchFamily="18" charset="77"/>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9067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41394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lumMod val="75000"/>
                  <a:lumOff val="25000"/>
                </a:schemeClr>
              </a:solidFill>
              <a:latin typeface="+mn-lt"/>
              <a:ea typeface="+mn-ea"/>
              <a:cs typeface="+mn-cs"/>
            </a:endParaRPr>
          </a:p>
        </p:txBody>
      </p:sp>
      <p:sp>
        <p:nvSpPr>
          <p:cNvPr id="4" name="Slide Number Placeholder 3"/>
          <p:cNvSpPr>
            <a:spLocks noGrp="1"/>
          </p:cNvSpPr>
          <p:nvPr>
            <p:ph type="sldNum" sz="quarter" idx="10"/>
          </p:nvPr>
        </p:nvSpPr>
        <p:spPr/>
        <p:txBody>
          <a:bodyPr/>
          <a:lstStyle/>
          <a:p>
            <a:fld id="{E4603AEC-A682-4293-84F7-94DEEB082DD9}"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17567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lumMod val="75000"/>
                  <a:lumOff val="25000"/>
                </a:schemeClr>
              </a:solidFill>
              <a:latin typeface="+mn-lt"/>
              <a:ea typeface="+mn-ea"/>
              <a:cs typeface="+mn-cs"/>
            </a:endParaRPr>
          </a:p>
        </p:txBody>
      </p:sp>
      <p:sp>
        <p:nvSpPr>
          <p:cNvPr id="4" name="Slide Number Placeholder 3"/>
          <p:cNvSpPr>
            <a:spLocks noGrp="1"/>
          </p:cNvSpPr>
          <p:nvPr>
            <p:ph type="sldNum" sz="quarter" idx="10"/>
          </p:nvPr>
        </p:nvSpPr>
        <p:spPr/>
        <p:txBody>
          <a:bodyPr/>
          <a:lstStyle/>
          <a:p>
            <a:fld id="{E4603AEC-A682-4293-84F7-94DEEB082DD9}"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3261204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lumMod val="75000"/>
                  <a:lumOff val="25000"/>
                </a:schemeClr>
              </a:solidFill>
              <a:latin typeface="+mn-lt"/>
              <a:ea typeface="+mn-ea"/>
              <a:cs typeface="+mn-cs"/>
            </a:endParaRPr>
          </a:p>
        </p:txBody>
      </p:sp>
      <p:sp>
        <p:nvSpPr>
          <p:cNvPr id="4" name="Slide Number Placeholder 3"/>
          <p:cNvSpPr>
            <a:spLocks noGrp="1"/>
          </p:cNvSpPr>
          <p:nvPr>
            <p:ph type="sldNum" sz="quarter" idx="10"/>
          </p:nvPr>
        </p:nvSpPr>
        <p:spPr/>
        <p:txBody>
          <a:bodyPr/>
          <a:lstStyle/>
          <a:p>
            <a:fld id="{E4603AEC-A682-4293-84F7-94DEEB082DD9}"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76817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111214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lvl1pPr algn="ctr" rtl="0" fontAlgn="base">
              <a:spcBef>
                <a:spcPct val="0"/>
              </a:spcBef>
              <a:spcAft>
                <a:spcPct val="0"/>
              </a:spcAft>
              <a:defRPr lang="en-US" sz="5280" dirty="0">
                <a:solidFill>
                  <a:schemeClr val="accent1"/>
                </a:solidFill>
                <a:latin typeface="Eras Demi ITC" pitchFamily="34" charset="0"/>
                <a:ea typeface="+mj-ea"/>
                <a:cs typeface="+mj-cs"/>
              </a:defRPr>
            </a:lvl1pPr>
          </a:lstStyle>
          <a:p>
            <a:r>
              <a:rPr lang="en-US" dirty="0"/>
              <a:t>Click to edit Master title style</a:t>
            </a:r>
          </a:p>
        </p:txBody>
      </p:sp>
      <p:sp>
        <p:nvSpPr>
          <p:cNvPr id="3" name="Content Placeholder 2"/>
          <p:cNvSpPr>
            <a:spLocks noGrp="1"/>
          </p:cNvSpPr>
          <p:nvPr>
            <p:ph idx="1"/>
            <p:custDataLst>
              <p:tags r:id="rId2"/>
            </p:custDataLst>
          </p:nvPr>
        </p:nvSpPr>
        <p:spPr/>
        <p:txBody>
          <a:bodyPr/>
          <a:lstStyle>
            <a:lvl1pPr>
              <a:defRPr lang="en-US" sz="2400" dirty="0" smtClean="0">
                <a:solidFill>
                  <a:schemeClr val="accent6">
                    <a:lumMod val="75000"/>
                  </a:schemeClr>
                </a:solidFill>
                <a:latin typeface="Eras Demi ITC" pitchFamily="34" charset="0"/>
                <a:ea typeface="+mn-ea"/>
                <a:cs typeface="+mn-cs"/>
              </a:defRPr>
            </a:lvl1pPr>
            <a:lvl2pPr>
              <a:defRPr lang="en-US" sz="2400" dirty="0" smtClean="0">
                <a:solidFill>
                  <a:schemeClr val="accent6">
                    <a:lumMod val="75000"/>
                  </a:schemeClr>
                </a:solidFill>
                <a:latin typeface="Eras Demi ITC" pitchFamily="34" charset="0"/>
                <a:ea typeface="+mn-ea"/>
                <a:cs typeface="+mn-cs"/>
              </a:defRPr>
            </a:lvl2pPr>
            <a:lvl3pPr>
              <a:defRPr lang="en-US" sz="2400" dirty="0" smtClean="0">
                <a:solidFill>
                  <a:schemeClr val="accent6">
                    <a:lumMod val="75000"/>
                  </a:schemeClr>
                </a:solidFill>
                <a:latin typeface="Eras Demi ITC" pitchFamily="34" charset="0"/>
                <a:ea typeface="+mn-ea"/>
                <a:cs typeface="+mn-cs"/>
              </a:defRPr>
            </a:lvl3pPr>
            <a:lvl4pPr>
              <a:defRPr lang="en-US" sz="2400" dirty="0" smtClean="0">
                <a:solidFill>
                  <a:schemeClr val="accent6">
                    <a:lumMod val="75000"/>
                  </a:schemeClr>
                </a:solidFill>
                <a:latin typeface="Eras Demi ITC" pitchFamily="34" charset="0"/>
                <a:ea typeface="+mn-ea"/>
                <a:cs typeface="+mn-cs"/>
              </a:defRPr>
            </a:lvl4pPr>
            <a:lvl5pPr>
              <a:defRPr lang="en-US" sz="2400" dirty="0">
                <a:solidFill>
                  <a:schemeClr val="accent6">
                    <a:lumMod val="75000"/>
                  </a:schemeClr>
                </a:solidFill>
                <a:latin typeface="Eras Demi ITC"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lvl1pPr>
              <a:defRPr lang="es-ES" sz="1920" dirty="0">
                <a:solidFill>
                  <a:schemeClr val="accent6">
                    <a:lumMod val="75000"/>
                  </a:schemeClr>
                </a:solidFill>
                <a:latin typeface="Eras Demi ITC" pitchFamily="34" charset="0"/>
                <a:ea typeface="+mn-ea"/>
                <a:cs typeface="+mn-cs"/>
              </a:defRPr>
            </a:lvl1pPr>
          </a:lstStyle>
          <a:p>
            <a:endParaRPr lang="en-US" dirty="0">
              <a:solidFill>
                <a:srgbClr val="475A8D">
                  <a:lumMod val="75000"/>
                </a:srgbClr>
              </a:solidFill>
            </a:endParaRPr>
          </a:p>
        </p:txBody>
      </p:sp>
      <p:sp>
        <p:nvSpPr>
          <p:cNvPr id="5" name="Footer Placeholder 4"/>
          <p:cNvSpPr>
            <a:spLocks noGrp="1"/>
          </p:cNvSpPr>
          <p:nvPr>
            <p:ph type="ftr" sz="quarter" idx="11"/>
            <p:custDataLst>
              <p:tags r:id="rId4"/>
            </p:custDataLst>
          </p:nvPr>
        </p:nvSpPr>
        <p:spPr/>
        <p:txBody>
          <a:bodyPr/>
          <a:lstStyle>
            <a:lvl1pPr algn="ctr" rtl="0" fontAlgn="base">
              <a:spcBef>
                <a:spcPct val="0"/>
              </a:spcBef>
              <a:spcAft>
                <a:spcPct val="0"/>
              </a:spcAft>
              <a:defRPr lang="es-ES" sz="1920" kern="1200" dirty="0">
                <a:solidFill>
                  <a:schemeClr val="accent6">
                    <a:lumMod val="75000"/>
                  </a:schemeClr>
                </a:solidFill>
                <a:latin typeface="Eras Demi ITC" pitchFamily="34" charset="0"/>
                <a:ea typeface="+mn-ea"/>
                <a:cs typeface="+mn-cs"/>
              </a:defRPr>
            </a:lvl1pPr>
          </a:lstStyle>
          <a:p>
            <a:endParaRPr lang="en-US" dirty="0">
              <a:solidFill>
                <a:srgbClr val="475A8D">
                  <a:lumMod val="75000"/>
                </a:srgbClr>
              </a:solidFill>
            </a:endParaRPr>
          </a:p>
        </p:txBody>
      </p:sp>
      <p:sp>
        <p:nvSpPr>
          <p:cNvPr id="6" name="Slide Number Placeholder 5"/>
          <p:cNvSpPr>
            <a:spLocks noGrp="1"/>
          </p:cNvSpPr>
          <p:nvPr>
            <p:ph type="sldNum" sz="quarter" idx="12"/>
            <p:custDataLst>
              <p:tags r:id="rId5"/>
            </p:custDataLst>
          </p:nvPr>
        </p:nvSpPr>
        <p:spPr/>
        <p:txBody>
          <a:bodyPr vert="horz" lIns="91440" tIns="45720" rIns="91440" bIns="45720" rtlCol="0" anchor="ctr"/>
          <a:lstStyle>
            <a:lvl1pPr>
              <a:defRPr lang="en-US" smtClean="0"/>
            </a:lvl1pPr>
          </a:lstStyle>
          <a:p>
            <a:pPr algn="r"/>
            <a:fld id="{A7003EEB-EF6C-48D9-B09B-CE4B15ADF563}" type="slidenum">
              <a:rPr lang="en-US" smtClean="0"/>
              <a:pPr algn="r"/>
              <a:t>‹#›</a:t>
            </a:fld>
            <a:endParaRPr lang="en-US" dirty="0"/>
          </a:p>
        </p:txBody>
      </p:sp>
    </p:spTree>
    <p:extLst>
      <p:ext uri="{BB962C8B-B14F-4D97-AF65-F5344CB8AC3E}">
        <p14:creationId xmlns:p14="http://schemas.microsoft.com/office/powerpoint/2010/main" val="3735882681"/>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4.xml"/><Relationship Id="rId5" Type="http://schemas.openxmlformats.org/officeDocument/2006/relationships/image" Target="../media/image20.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457395"/>
            <a:ext cx="10419874" cy="1302544"/>
          </a:xfrm>
          <a:prstGeom prst="rect">
            <a:avLst/>
          </a:prstGeom>
          <a:noFill/>
          <a:ln/>
        </p:spPr>
        <p:txBody>
          <a:bodyPr wrap="none" lIns="0" tIns="0" rIns="0" bIns="0" rtlCol="0" anchor="t"/>
          <a:lstStyle/>
          <a:p>
            <a:pPr marL="0" indent="0" algn="l">
              <a:lnSpc>
                <a:spcPts val="10250"/>
              </a:lnSpc>
              <a:buNone/>
            </a:pPr>
            <a:r>
              <a:rPr lang="en-US" sz="4100" dirty="0">
                <a:solidFill>
                  <a:srgbClr val="020202"/>
                </a:solidFill>
                <a:latin typeface="PT Serif" pitchFamily="34" charset="0"/>
                <a:ea typeface="PT Serif" pitchFamily="34" charset="-122"/>
                <a:cs typeface="PT Serif" pitchFamily="34" charset="-120"/>
              </a:rPr>
              <a:t>Statistical Inference</a:t>
            </a:r>
            <a:endParaRPr lang="en-US" sz="4100" dirty="0"/>
          </a:p>
        </p:txBody>
      </p:sp>
      <p:sp>
        <p:nvSpPr>
          <p:cNvPr id="3" name="Text 1"/>
          <p:cNvSpPr/>
          <p:nvPr/>
        </p:nvSpPr>
        <p:spPr>
          <a:xfrm>
            <a:off x="793790" y="3759939"/>
            <a:ext cx="7189708" cy="898684"/>
          </a:xfrm>
          <a:prstGeom prst="rect">
            <a:avLst/>
          </a:prstGeom>
          <a:noFill/>
          <a:ln/>
        </p:spPr>
        <p:txBody>
          <a:bodyPr wrap="none" lIns="0" tIns="0" rIns="0" bIns="0" rtlCol="0" anchor="t"/>
          <a:lstStyle/>
          <a:p>
            <a:pPr marL="0" indent="0" algn="l">
              <a:lnSpc>
                <a:spcPts val="7050"/>
              </a:lnSpc>
              <a:buNone/>
            </a:pPr>
            <a:r>
              <a:rPr lang="en-US" sz="2800" dirty="0">
                <a:solidFill>
                  <a:srgbClr val="020202"/>
                </a:solidFill>
                <a:latin typeface="PT Serif" pitchFamily="34" charset="0"/>
                <a:ea typeface="PT Serif" pitchFamily="34" charset="-122"/>
                <a:cs typeface="PT Serif" pitchFamily="34" charset="-120"/>
              </a:rPr>
              <a:t>Parametric Approach</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
        <p:nvSpPr>
          <p:cNvPr id="3" name="Text 1"/>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11266"/>
            <a:ext cx="6407944" cy="30480"/>
          </a:xfrm>
          <a:prstGeom prst="rect">
            <a:avLst/>
          </a:prstGeom>
          <a:solidFill>
            <a:srgbClr val="E04F00"/>
          </a:solidFill>
          <a:ln/>
        </p:spPr>
      </p:sp>
      <p:sp>
        <p:nvSpPr>
          <p:cNvPr id="5" name="Text 3"/>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What is Statistical Inference?</a:t>
            </a:r>
            <a:endParaRPr lang="en-US" sz="2300" dirty="0"/>
          </a:p>
        </p:txBody>
      </p:sp>
      <p:sp>
        <p:nvSpPr>
          <p:cNvPr id="6" name="Text 4"/>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11266"/>
            <a:ext cx="6408063" cy="30480"/>
          </a:xfrm>
          <a:prstGeom prst="rect">
            <a:avLst/>
          </a:prstGeom>
          <a:solidFill>
            <a:srgbClr val="E04F00"/>
          </a:solidFill>
          <a:ln/>
        </p:spPr>
      </p:sp>
      <p:sp>
        <p:nvSpPr>
          <p:cNvPr id="8" name="Text 6"/>
          <p:cNvSpPr/>
          <p:nvPr/>
        </p:nvSpPr>
        <p:spPr>
          <a:xfrm>
            <a:off x="7428548" y="2685574"/>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Parameter, Estimator and Estimate</a:t>
            </a:r>
            <a:endParaRPr lang="en-US" sz="2300" dirty="0"/>
          </a:p>
        </p:txBody>
      </p:sp>
      <p:sp>
        <p:nvSpPr>
          <p:cNvPr id="9" name="Text 7"/>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793790" y="3809524"/>
            <a:ext cx="6407944" cy="30480"/>
          </a:xfrm>
          <a:prstGeom prst="rect">
            <a:avLst/>
          </a:prstGeom>
          <a:solidFill>
            <a:srgbClr val="E04F00"/>
          </a:solidFill>
          <a:ln/>
        </p:spPr>
      </p:sp>
      <p:sp>
        <p:nvSpPr>
          <p:cNvPr id="11" name="Text 9"/>
          <p:cNvSpPr/>
          <p:nvPr/>
        </p:nvSpPr>
        <p:spPr>
          <a:xfrm>
            <a:off x="793790" y="3983831"/>
            <a:ext cx="3926681"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Testing of Hypothesis</a:t>
            </a:r>
            <a:endParaRPr lang="en-US" sz="2300" dirty="0"/>
          </a:p>
        </p:txBody>
      </p:sp>
      <p:sp>
        <p:nvSpPr>
          <p:cNvPr id="12" name="Text 10"/>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428548" y="3809524"/>
            <a:ext cx="6408063" cy="30480"/>
          </a:xfrm>
          <a:prstGeom prst="rect">
            <a:avLst/>
          </a:prstGeom>
          <a:solidFill>
            <a:srgbClr val="E04F00"/>
          </a:solidFill>
          <a:ln/>
        </p:spPr>
      </p:sp>
      <p:sp>
        <p:nvSpPr>
          <p:cNvPr id="14" name="Text 12"/>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One Sample t test</a:t>
            </a:r>
            <a:endParaRPr lang="en-US" sz="2300" dirty="0"/>
          </a:p>
        </p:txBody>
      </p:sp>
      <p:sp>
        <p:nvSpPr>
          <p:cNvPr id="15" name="Text 13"/>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793790" y="5107781"/>
            <a:ext cx="6407944" cy="30480"/>
          </a:xfrm>
          <a:prstGeom prst="rect">
            <a:avLst/>
          </a:prstGeom>
          <a:solidFill>
            <a:srgbClr val="E04F00"/>
          </a:solidFill>
          <a:ln/>
        </p:spPr>
      </p:sp>
      <p:sp>
        <p:nvSpPr>
          <p:cNvPr id="17" name="Text 15"/>
          <p:cNvSpPr/>
          <p:nvPr/>
        </p:nvSpPr>
        <p:spPr>
          <a:xfrm>
            <a:off x="793790"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Independent Samples and Paired t tests</a:t>
            </a:r>
            <a:endParaRPr lang="en-US" sz="2300" dirty="0"/>
          </a:p>
        </p:txBody>
      </p:sp>
      <p:sp>
        <p:nvSpPr>
          <p:cNvPr id="18" name="Text 16"/>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7428548" y="5107781"/>
            <a:ext cx="6408063" cy="30480"/>
          </a:xfrm>
          <a:prstGeom prst="rect">
            <a:avLst/>
          </a:prstGeom>
          <a:solidFill>
            <a:srgbClr val="E04F00"/>
          </a:solidFill>
          <a:ln/>
        </p:spPr>
      </p:sp>
      <p:sp>
        <p:nvSpPr>
          <p:cNvPr id="20" name="Text 18"/>
          <p:cNvSpPr/>
          <p:nvPr/>
        </p:nvSpPr>
        <p:spPr>
          <a:xfrm>
            <a:off x="7428548"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Analysis of Variance</a:t>
            </a:r>
            <a:endParaRPr lang="en-US" sz="2300" dirty="0"/>
          </a:p>
        </p:txBody>
      </p:sp>
    </p:spTree>
    <p:extLst>
      <p:ext uri="{BB962C8B-B14F-4D97-AF65-F5344CB8AC3E}">
        <p14:creationId xmlns:p14="http://schemas.microsoft.com/office/powerpoint/2010/main" val="2031638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9193" y="460011"/>
            <a:ext cx="6771203"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What is Statistical Inference?</a:t>
            </a:r>
            <a:endParaRPr lang="en-US" sz="3600" dirty="0"/>
          </a:p>
        </p:txBody>
      </p:sp>
      <p:sp>
        <p:nvSpPr>
          <p:cNvPr id="3" name="Text 1"/>
          <p:cNvSpPr/>
          <p:nvPr/>
        </p:nvSpPr>
        <p:spPr>
          <a:xfrm>
            <a:off x="389193" y="1950220"/>
            <a:ext cx="13042821" cy="1679245"/>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Statistical inference is the process of making probabilistic statements about unknown properties of a population based on sample data. </a:t>
            </a:r>
          </a:p>
          <a:p>
            <a:pPr marL="0" indent="0" algn="l">
              <a:lnSpc>
                <a:spcPts val="2500"/>
              </a:lnSpc>
              <a:buNone/>
            </a:pPr>
            <a:endParaRPr lang="en-US" dirty="0">
              <a:solidFill>
                <a:srgbClr val="383838"/>
              </a:solidFill>
              <a:latin typeface="DM Sans" pitchFamily="34" charset="0"/>
              <a:ea typeface="DM Sans" pitchFamily="34" charset="-122"/>
              <a:cs typeface="DM Sans" pitchFamily="34" charset="-120"/>
            </a:endParaRP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Rather than measuring every individual in a population, we collect a sample and use it to draw conclusions about the larger group.</a:t>
            </a:r>
            <a:endParaRPr lang="en-US" dirty="0"/>
          </a:p>
        </p:txBody>
      </p:sp>
      <p:sp>
        <p:nvSpPr>
          <p:cNvPr id="4" name="Shape 2"/>
          <p:cNvSpPr/>
          <p:nvPr/>
        </p:nvSpPr>
        <p:spPr>
          <a:xfrm>
            <a:off x="793790" y="4059317"/>
            <a:ext cx="4215289" cy="1476494"/>
          </a:xfrm>
          <a:prstGeom prst="roundRect">
            <a:avLst>
              <a:gd name="adj" fmla="val 2016"/>
            </a:avLst>
          </a:prstGeom>
          <a:solidFill>
            <a:srgbClr val="F2EEEE"/>
          </a:solidFill>
          <a:ln/>
        </p:spPr>
      </p:sp>
      <p:sp>
        <p:nvSpPr>
          <p:cNvPr id="5" name="Text 3"/>
          <p:cNvSpPr/>
          <p:nvPr/>
        </p:nvSpPr>
        <p:spPr>
          <a:xfrm>
            <a:off x="992148" y="425767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Population Mean</a:t>
            </a:r>
            <a:endParaRPr lang="en-US" sz="2050" dirty="0"/>
          </a:p>
        </p:txBody>
      </p:sp>
      <p:sp>
        <p:nvSpPr>
          <p:cNvPr id="6" name="Text 4"/>
          <p:cNvSpPr/>
          <p:nvPr/>
        </p:nvSpPr>
        <p:spPr>
          <a:xfrm>
            <a:off x="992148" y="4702373"/>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average value across all individuals in the population</a:t>
            </a:r>
            <a:endParaRPr lang="en-US" sz="1550" dirty="0"/>
          </a:p>
        </p:txBody>
      </p:sp>
      <p:sp>
        <p:nvSpPr>
          <p:cNvPr id="7" name="Shape 5"/>
          <p:cNvSpPr/>
          <p:nvPr/>
        </p:nvSpPr>
        <p:spPr>
          <a:xfrm>
            <a:off x="5207437" y="4059317"/>
            <a:ext cx="4215408" cy="1476494"/>
          </a:xfrm>
          <a:prstGeom prst="roundRect">
            <a:avLst>
              <a:gd name="adj" fmla="val 2016"/>
            </a:avLst>
          </a:prstGeom>
          <a:solidFill>
            <a:srgbClr val="F2EEEE"/>
          </a:solidFill>
          <a:ln/>
        </p:spPr>
      </p:sp>
      <p:sp>
        <p:nvSpPr>
          <p:cNvPr id="8" name="Text 6"/>
          <p:cNvSpPr/>
          <p:nvPr/>
        </p:nvSpPr>
        <p:spPr>
          <a:xfrm>
            <a:off x="5405795" y="425767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Population Proportion</a:t>
            </a:r>
            <a:endParaRPr lang="en-US" sz="2050" dirty="0"/>
          </a:p>
        </p:txBody>
      </p:sp>
      <p:sp>
        <p:nvSpPr>
          <p:cNvPr id="9" name="Text 7"/>
          <p:cNvSpPr/>
          <p:nvPr/>
        </p:nvSpPr>
        <p:spPr>
          <a:xfrm>
            <a:off x="5405795" y="4702373"/>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percentage of the population with a specific characteristic</a:t>
            </a:r>
            <a:endParaRPr lang="en-US" sz="1550" dirty="0"/>
          </a:p>
        </p:txBody>
      </p:sp>
      <p:sp>
        <p:nvSpPr>
          <p:cNvPr id="10" name="Shape 8"/>
          <p:cNvSpPr/>
          <p:nvPr/>
        </p:nvSpPr>
        <p:spPr>
          <a:xfrm>
            <a:off x="9621203" y="4059317"/>
            <a:ext cx="4215289" cy="1476494"/>
          </a:xfrm>
          <a:prstGeom prst="roundRect">
            <a:avLst>
              <a:gd name="adj" fmla="val 2016"/>
            </a:avLst>
          </a:prstGeom>
          <a:solidFill>
            <a:srgbClr val="F2EEEE"/>
          </a:solidFill>
          <a:ln/>
        </p:spPr>
      </p:sp>
      <p:sp>
        <p:nvSpPr>
          <p:cNvPr id="11" name="Text 9"/>
          <p:cNvSpPr/>
          <p:nvPr/>
        </p:nvSpPr>
        <p:spPr>
          <a:xfrm>
            <a:off x="9819561" y="425767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Population Variance</a:t>
            </a:r>
            <a:endParaRPr lang="en-US" sz="2050" dirty="0"/>
          </a:p>
        </p:txBody>
      </p:sp>
      <p:sp>
        <p:nvSpPr>
          <p:cNvPr id="12" name="Text 10"/>
          <p:cNvSpPr/>
          <p:nvPr/>
        </p:nvSpPr>
        <p:spPr>
          <a:xfrm>
            <a:off x="9819561" y="4702373"/>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spread or variability of values in the population</a:t>
            </a:r>
            <a:endParaRPr lang="en-US" sz="1550" dirty="0"/>
          </a:p>
        </p:txBody>
      </p:sp>
      <p:sp>
        <p:nvSpPr>
          <p:cNvPr id="13" name="Text 11"/>
          <p:cNvSpPr/>
          <p:nvPr/>
        </p:nvSpPr>
        <p:spPr>
          <a:xfrm>
            <a:off x="389193" y="6020096"/>
            <a:ext cx="13042821" cy="676125"/>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These unknown population properties are called </a:t>
            </a:r>
            <a:r>
              <a:rPr lang="en-US" b="1" dirty="0">
                <a:solidFill>
                  <a:srgbClr val="383838"/>
                </a:solidFill>
                <a:latin typeface="DM Sans" pitchFamily="34" charset="0"/>
                <a:ea typeface="DM Sans" pitchFamily="34" charset="-122"/>
                <a:cs typeface="DM Sans" pitchFamily="34" charset="-120"/>
              </a:rPr>
              <a:t>parameters</a:t>
            </a:r>
            <a:r>
              <a:rPr lang="en-US" dirty="0">
                <a:solidFill>
                  <a:srgbClr val="383838"/>
                </a:solidFill>
                <a:latin typeface="DM Sans" pitchFamily="34" charset="0"/>
                <a:ea typeface="DM Sans" pitchFamily="34" charset="-122"/>
                <a:cs typeface="DM Sans" pitchFamily="34" charset="-120"/>
              </a:rPr>
              <a:t>, and estimating them using sample data is the fundamental</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goal of statistical inference.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8368" y="432041"/>
            <a:ext cx="7354610"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Statistical Inference Framework</a:t>
            </a:r>
            <a:endParaRPr lang="en-US" sz="3600" dirty="0"/>
          </a:p>
        </p:txBody>
      </p:sp>
      <p:sp>
        <p:nvSpPr>
          <p:cNvPr id="3" name="Text 1"/>
          <p:cNvSpPr/>
          <p:nvPr/>
        </p:nvSpPr>
        <p:spPr>
          <a:xfrm>
            <a:off x="498368" y="1704242"/>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inferential process involves using sample data to make educated guesses about population parameters. This requires careful attention to sampling methods, measurement precision, and probability theory.</a:t>
            </a:r>
            <a:endParaRPr lang="en-US" dirty="0"/>
          </a:p>
        </p:txBody>
      </p:sp>
      <p:sp>
        <p:nvSpPr>
          <p:cNvPr id="4" name="Text 2"/>
          <p:cNvSpPr/>
          <p:nvPr/>
        </p:nvSpPr>
        <p:spPr>
          <a:xfrm>
            <a:off x="793790" y="32810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01</a:t>
            </a:r>
            <a:endParaRPr lang="en-US" sz="1550" dirty="0"/>
          </a:p>
        </p:txBody>
      </p:sp>
      <p:sp>
        <p:nvSpPr>
          <p:cNvPr id="5" name="Shape 3"/>
          <p:cNvSpPr/>
          <p:nvPr/>
        </p:nvSpPr>
        <p:spPr>
          <a:xfrm>
            <a:off x="793790" y="3595330"/>
            <a:ext cx="6422231" cy="22860"/>
          </a:xfrm>
          <a:prstGeom prst="rect">
            <a:avLst/>
          </a:prstGeom>
          <a:solidFill>
            <a:srgbClr val="E04F00"/>
          </a:solidFill>
          <a:ln/>
        </p:spPr>
      </p:sp>
      <p:sp>
        <p:nvSpPr>
          <p:cNvPr id="6" name="Text 4"/>
          <p:cNvSpPr/>
          <p:nvPr/>
        </p:nvSpPr>
        <p:spPr>
          <a:xfrm>
            <a:off x="793790" y="374022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Define the Population</a:t>
            </a:r>
            <a:endParaRPr lang="en-US" sz="2050" dirty="0"/>
          </a:p>
        </p:txBody>
      </p:sp>
      <p:sp>
        <p:nvSpPr>
          <p:cNvPr id="7" name="Text 5"/>
          <p:cNvSpPr/>
          <p:nvPr/>
        </p:nvSpPr>
        <p:spPr>
          <a:xfrm>
            <a:off x="793790" y="4184928"/>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Clearly identify the group you want to study and the parameter of interest</a:t>
            </a:r>
            <a:endParaRPr lang="en-US" dirty="0"/>
          </a:p>
        </p:txBody>
      </p:sp>
      <p:sp>
        <p:nvSpPr>
          <p:cNvPr id="8" name="Text 6"/>
          <p:cNvSpPr/>
          <p:nvPr/>
        </p:nvSpPr>
        <p:spPr>
          <a:xfrm>
            <a:off x="7414379" y="32810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02</a:t>
            </a:r>
            <a:endParaRPr lang="en-US" sz="1550" dirty="0"/>
          </a:p>
        </p:txBody>
      </p:sp>
      <p:sp>
        <p:nvSpPr>
          <p:cNvPr id="9" name="Shape 7"/>
          <p:cNvSpPr/>
          <p:nvPr/>
        </p:nvSpPr>
        <p:spPr>
          <a:xfrm>
            <a:off x="7414379" y="3595330"/>
            <a:ext cx="6422231" cy="22860"/>
          </a:xfrm>
          <a:prstGeom prst="rect">
            <a:avLst/>
          </a:prstGeom>
          <a:solidFill>
            <a:srgbClr val="E04F00"/>
          </a:solidFill>
          <a:ln/>
        </p:spPr>
      </p:sp>
      <p:sp>
        <p:nvSpPr>
          <p:cNvPr id="10" name="Text 8"/>
          <p:cNvSpPr/>
          <p:nvPr/>
        </p:nvSpPr>
        <p:spPr>
          <a:xfrm>
            <a:off x="7414379" y="374022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Collect Sample Data</a:t>
            </a:r>
            <a:endParaRPr lang="en-US" sz="2050" dirty="0"/>
          </a:p>
        </p:txBody>
      </p:sp>
      <p:sp>
        <p:nvSpPr>
          <p:cNvPr id="11" name="Text 9"/>
          <p:cNvSpPr/>
          <p:nvPr/>
        </p:nvSpPr>
        <p:spPr>
          <a:xfrm>
            <a:off x="7414379" y="4184928"/>
            <a:ext cx="642223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Gather observations using appropriate random sampling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techniques</a:t>
            </a:r>
            <a:endParaRPr lang="en-US" dirty="0"/>
          </a:p>
        </p:txBody>
      </p:sp>
      <p:sp>
        <p:nvSpPr>
          <p:cNvPr id="12" name="Text 10"/>
          <p:cNvSpPr/>
          <p:nvPr/>
        </p:nvSpPr>
        <p:spPr>
          <a:xfrm>
            <a:off x="793790" y="516719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03</a:t>
            </a:r>
            <a:endParaRPr lang="en-US" sz="1550" dirty="0"/>
          </a:p>
        </p:txBody>
      </p:sp>
      <p:sp>
        <p:nvSpPr>
          <p:cNvPr id="13" name="Shape 11"/>
          <p:cNvSpPr/>
          <p:nvPr/>
        </p:nvSpPr>
        <p:spPr>
          <a:xfrm>
            <a:off x="793790" y="5481518"/>
            <a:ext cx="6422231" cy="22860"/>
          </a:xfrm>
          <a:prstGeom prst="rect">
            <a:avLst/>
          </a:prstGeom>
          <a:solidFill>
            <a:srgbClr val="E04F00"/>
          </a:solidFill>
          <a:ln/>
        </p:spPr>
      </p:sp>
      <p:sp>
        <p:nvSpPr>
          <p:cNvPr id="14" name="Text 12"/>
          <p:cNvSpPr/>
          <p:nvPr/>
        </p:nvSpPr>
        <p:spPr>
          <a:xfrm>
            <a:off x="793790" y="5626418"/>
            <a:ext cx="312943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Calculate Sample Statistics</a:t>
            </a:r>
            <a:endParaRPr lang="en-US" sz="2050" dirty="0"/>
          </a:p>
        </p:txBody>
      </p:sp>
      <p:sp>
        <p:nvSpPr>
          <p:cNvPr id="15" name="Text 13"/>
          <p:cNvSpPr/>
          <p:nvPr/>
        </p:nvSpPr>
        <p:spPr>
          <a:xfrm>
            <a:off x="793790" y="6071116"/>
            <a:ext cx="642223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Compute relevant values from your sample data</a:t>
            </a:r>
            <a:endParaRPr lang="en-US" dirty="0"/>
          </a:p>
        </p:txBody>
      </p:sp>
      <p:sp>
        <p:nvSpPr>
          <p:cNvPr id="16" name="Text 14"/>
          <p:cNvSpPr/>
          <p:nvPr/>
        </p:nvSpPr>
        <p:spPr>
          <a:xfrm>
            <a:off x="7414379" y="516719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04</a:t>
            </a:r>
            <a:endParaRPr lang="en-US" sz="1550" dirty="0"/>
          </a:p>
        </p:txBody>
      </p:sp>
      <p:sp>
        <p:nvSpPr>
          <p:cNvPr id="17" name="Shape 15"/>
          <p:cNvSpPr/>
          <p:nvPr/>
        </p:nvSpPr>
        <p:spPr>
          <a:xfrm>
            <a:off x="7414379" y="5481518"/>
            <a:ext cx="6422231" cy="22860"/>
          </a:xfrm>
          <a:prstGeom prst="rect">
            <a:avLst/>
          </a:prstGeom>
          <a:solidFill>
            <a:srgbClr val="E04F00"/>
          </a:solidFill>
          <a:ln/>
        </p:spPr>
      </p:sp>
      <p:sp>
        <p:nvSpPr>
          <p:cNvPr id="18" name="Text 16"/>
          <p:cNvSpPr/>
          <p:nvPr/>
        </p:nvSpPr>
        <p:spPr>
          <a:xfrm>
            <a:off x="7414379" y="56264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Make Inferences</a:t>
            </a:r>
            <a:endParaRPr lang="en-US" sz="2050" dirty="0"/>
          </a:p>
        </p:txBody>
      </p:sp>
      <p:sp>
        <p:nvSpPr>
          <p:cNvPr id="19" name="Text 17"/>
          <p:cNvSpPr/>
          <p:nvPr/>
        </p:nvSpPr>
        <p:spPr>
          <a:xfrm>
            <a:off x="7414379" y="6071116"/>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Use statistical methods to draw conclusions about population parameters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4639" y="431382"/>
            <a:ext cx="8175069"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Parameter, Estimator, and Estimate</a:t>
            </a:r>
            <a:endParaRPr lang="en-US" sz="3600" dirty="0"/>
          </a:p>
        </p:txBody>
      </p:sp>
      <p:sp>
        <p:nvSpPr>
          <p:cNvPr id="3" name="Text 1"/>
          <p:cNvSpPr/>
          <p:nvPr/>
        </p:nvSpPr>
        <p:spPr>
          <a:xfrm>
            <a:off x="554639" y="161675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Understanding the distinction between these three concepts is crucial for proper statistical reasoning. Each plays a specific role in the inference process.</a:t>
            </a:r>
            <a:endParaRPr lang="en-US" dirty="0"/>
          </a:p>
        </p:txBody>
      </p:sp>
      <p:sp>
        <p:nvSpPr>
          <p:cNvPr id="4" name="Shape 2"/>
          <p:cNvSpPr/>
          <p:nvPr/>
        </p:nvSpPr>
        <p:spPr>
          <a:xfrm>
            <a:off x="793790" y="3421023"/>
            <a:ext cx="4215289" cy="3293983"/>
          </a:xfrm>
          <a:prstGeom prst="roundRect">
            <a:avLst>
              <a:gd name="adj" fmla="val 904"/>
            </a:avLst>
          </a:prstGeom>
          <a:solidFill>
            <a:srgbClr val="FFFFFF"/>
          </a:solidFill>
          <a:ln w="22860">
            <a:solidFill>
              <a:srgbClr val="D8D4D4"/>
            </a:solidFill>
            <a:prstDash val="solid"/>
          </a:ln>
        </p:spPr>
      </p:sp>
      <p:sp>
        <p:nvSpPr>
          <p:cNvPr id="5" name="Text 3"/>
          <p:cNvSpPr/>
          <p:nvPr/>
        </p:nvSpPr>
        <p:spPr>
          <a:xfrm>
            <a:off x="1015008" y="364224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Parameter</a:t>
            </a:r>
            <a:endParaRPr lang="en-US" sz="2450" dirty="0"/>
          </a:p>
        </p:txBody>
      </p:sp>
      <p:sp>
        <p:nvSpPr>
          <p:cNvPr id="6" name="Text 4"/>
          <p:cNvSpPr/>
          <p:nvPr/>
        </p:nvSpPr>
        <p:spPr>
          <a:xfrm>
            <a:off x="1015008" y="4151947"/>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An unknown property or characteristic of the population that we wish to learn about. Parameters are fixed values, though we don't know what they are.</a:t>
            </a:r>
            <a:endParaRPr lang="en-US" sz="1550" dirty="0"/>
          </a:p>
        </p:txBody>
      </p:sp>
      <p:sp>
        <p:nvSpPr>
          <p:cNvPr id="7" name="Text 5"/>
          <p:cNvSpPr/>
          <p:nvPr/>
        </p:nvSpPr>
        <p:spPr>
          <a:xfrm>
            <a:off x="1015008" y="5541169"/>
            <a:ext cx="3772853" cy="95261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Examples:</a:t>
            </a:r>
            <a:r>
              <a:rPr lang="en-US" sz="1550" dirty="0">
                <a:solidFill>
                  <a:srgbClr val="383838"/>
                </a:solidFill>
                <a:latin typeface="DM Sans" pitchFamily="34" charset="0"/>
                <a:ea typeface="DM Sans" pitchFamily="34" charset="-122"/>
                <a:cs typeface="DM Sans" pitchFamily="34" charset="-120"/>
              </a:rPr>
              <a:t> Population mean (μ), population variance (σ²), population proportion (p)</a:t>
            </a:r>
            <a:endParaRPr lang="en-US" sz="1550" dirty="0"/>
          </a:p>
        </p:txBody>
      </p:sp>
      <p:sp>
        <p:nvSpPr>
          <p:cNvPr id="8" name="Shape 6"/>
          <p:cNvSpPr/>
          <p:nvPr/>
        </p:nvSpPr>
        <p:spPr>
          <a:xfrm>
            <a:off x="5207437" y="3421023"/>
            <a:ext cx="4215408" cy="3293983"/>
          </a:xfrm>
          <a:prstGeom prst="roundRect">
            <a:avLst>
              <a:gd name="adj" fmla="val 904"/>
            </a:avLst>
          </a:prstGeom>
          <a:solidFill>
            <a:srgbClr val="FFFFFF"/>
          </a:solidFill>
          <a:ln w="22860">
            <a:solidFill>
              <a:srgbClr val="D8D4D4"/>
            </a:solidFill>
            <a:prstDash val="solid"/>
          </a:ln>
        </p:spPr>
      </p:sp>
      <p:sp>
        <p:nvSpPr>
          <p:cNvPr id="9" name="Text 7"/>
          <p:cNvSpPr/>
          <p:nvPr/>
        </p:nvSpPr>
        <p:spPr>
          <a:xfrm>
            <a:off x="5428655" y="364224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Estimator</a:t>
            </a:r>
            <a:endParaRPr lang="en-US" sz="2450" dirty="0"/>
          </a:p>
        </p:txBody>
      </p:sp>
      <p:sp>
        <p:nvSpPr>
          <p:cNvPr id="10" name="Text 8"/>
          <p:cNvSpPr/>
          <p:nvPr/>
        </p:nvSpPr>
        <p:spPr>
          <a:xfrm>
            <a:off x="5428655" y="4151947"/>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function or formula based on sample observations that is used to estimate the parameter. An estimator is a random variable with its own sampling distribution.</a:t>
            </a:r>
            <a:endParaRPr lang="en-US" sz="1550" dirty="0"/>
          </a:p>
        </p:txBody>
      </p:sp>
      <p:sp>
        <p:nvSpPr>
          <p:cNvPr id="11" name="Text 9"/>
          <p:cNvSpPr/>
          <p:nvPr/>
        </p:nvSpPr>
        <p:spPr>
          <a:xfrm>
            <a:off x="5428655" y="5858708"/>
            <a:ext cx="3772972"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Examples:</a:t>
            </a:r>
            <a:r>
              <a:rPr lang="en-US" sz="1550" dirty="0">
                <a:solidFill>
                  <a:srgbClr val="383838"/>
                </a:solidFill>
                <a:latin typeface="DM Sans" pitchFamily="34" charset="0"/>
                <a:ea typeface="DM Sans" pitchFamily="34" charset="-122"/>
                <a:cs typeface="DM Sans" pitchFamily="34" charset="-120"/>
              </a:rPr>
              <a:t> Sample mean (x̄), sample variance (s²), sample proportion (p̂)</a:t>
            </a:r>
            <a:endParaRPr lang="en-US" sz="1550" dirty="0"/>
          </a:p>
        </p:txBody>
      </p:sp>
      <p:sp>
        <p:nvSpPr>
          <p:cNvPr id="12" name="Shape 10"/>
          <p:cNvSpPr/>
          <p:nvPr/>
        </p:nvSpPr>
        <p:spPr>
          <a:xfrm>
            <a:off x="9621203" y="3421023"/>
            <a:ext cx="4215289" cy="3293983"/>
          </a:xfrm>
          <a:prstGeom prst="roundRect">
            <a:avLst>
              <a:gd name="adj" fmla="val 904"/>
            </a:avLst>
          </a:prstGeom>
          <a:solidFill>
            <a:srgbClr val="FFFFFF"/>
          </a:solidFill>
          <a:ln w="22860">
            <a:solidFill>
              <a:srgbClr val="D8D4D4"/>
            </a:solidFill>
            <a:prstDash val="solid"/>
          </a:ln>
        </p:spPr>
      </p:sp>
      <p:sp>
        <p:nvSpPr>
          <p:cNvPr id="13" name="Text 11"/>
          <p:cNvSpPr/>
          <p:nvPr/>
        </p:nvSpPr>
        <p:spPr>
          <a:xfrm>
            <a:off x="9842421" y="364224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Estimate</a:t>
            </a:r>
            <a:endParaRPr lang="en-US" sz="2450" dirty="0"/>
          </a:p>
        </p:txBody>
      </p:sp>
      <p:sp>
        <p:nvSpPr>
          <p:cNvPr id="14" name="Text 12"/>
          <p:cNvSpPr/>
          <p:nvPr/>
        </p:nvSpPr>
        <p:spPr>
          <a:xfrm>
            <a:off x="9842421" y="4151947"/>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particular numerical value obtained by substituting actual sample observations into an estimator formula. This is the concrete result from your specific sample.</a:t>
            </a:r>
            <a:endParaRPr lang="en-US" sz="1550" dirty="0"/>
          </a:p>
        </p:txBody>
      </p:sp>
      <p:sp>
        <p:nvSpPr>
          <p:cNvPr id="15" name="Text 13"/>
          <p:cNvSpPr/>
          <p:nvPr/>
        </p:nvSpPr>
        <p:spPr>
          <a:xfrm>
            <a:off x="9842421" y="5858708"/>
            <a:ext cx="3772853"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Example:</a:t>
            </a:r>
            <a:r>
              <a:rPr lang="en-US" sz="1550" dirty="0">
                <a:solidFill>
                  <a:srgbClr val="383838"/>
                </a:solidFill>
                <a:latin typeface="DM Sans" pitchFamily="34" charset="0"/>
                <a:ea typeface="DM Sans" pitchFamily="34" charset="-122"/>
                <a:cs typeface="DM Sans" pitchFamily="34" charset="-120"/>
              </a:rPr>
              <a:t> If your sample mean is 45.3, then 45.3 is the estimate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4300" y="423088"/>
            <a:ext cx="5209937"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Testing of Hypothesis</a:t>
            </a:r>
            <a:endParaRPr lang="en-US" sz="3600" dirty="0"/>
          </a:p>
        </p:txBody>
      </p:sp>
      <p:sp>
        <p:nvSpPr>
          <p:cNvPr id="3" name="Text 1"/>
          <p:cNvSpPr/>
          <p:nvPr/>
        </p:nvSpPr>
        <p:spPr>
          <a:xfrm>
            <a:off x="484300" y="1682204"/>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Hypothesis testing is a formal procedure for deciding whether a statement about a population parameter is supported by sample evidence. This approach allows researchers to test claims with controlled error rates.</a:t>
            </a:r>
            <a:endParaRPr lang="en-US" dirty="0"/>
          </a:p>
        </p:txBody>
      </p:sp>
      <p:sp>
        <p:nvSpPr>
          <p:cNvPr id="4" name="Shape 2"/>
          <p:cNvSpPr/>
          <p:nvPr/>
        </p:nvSpPr>
        <p:spPr>
          <a:xfrm>
            <a:off x="793790" y="3560207"/>
            <a:ext cx="4215289" cy="2157293"/>
          </a:xfrm>
          <a:prstGeom prst="roundRect">
            <a:avLst>
              <a:gd name="adj" fmla="val 5086"/>
            </a:avLst>
          </a:prstGeom>
          <a:solidFill>
            <a:srgbClr val="FFFFFF"/>
          </a:solidFill>
          <a:ln w="22860">
            <a:solidFill>
              <a:srgbClr val="D8D4D4"/>
            </a:solidFill>
            <a:prstDash val="solid"/>
          </a:ln>
        </p:spPr>
      </p:sp>
      <p:sp>
        <p:nvSpPr>
          <p:cNvPr id="5" name="Shape 3"/>
          <p:cNvSpPr/>
          <p:nvPr/>
        </p:nvSpPr>
        <p:spPr>
          <a:xfrm>
            <a:off x="770930" y="3560207"/>
            <a:ext cx="91440" cy="2157293"/>
          </a:xfrm>
          <a:prstGeom prst="roundRect">
            <a:avLst>
              <a:gd name="adj" fmla="val 32558"/>
            </a:avLst>
          </a:prstGeom>
          <a:solidFill>
            <a:srgbClr val="E04F00"/>
          </a:solidFill>
          <a:ln/>
        </p:spPr>
      </p:sp>
      <p:sp>
        <p:nvSpPr>
          <p:cNvPr id="6" name="Text 4"/>
          <p:cNvSpPr/>
          <p:nvPr/>
        </p:nvSpPr>
        <p:spPr>
          <a:xfrm>
            <a:off x="1083588" y="378142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Hypothesis</a:t>
            </a:r>
            <a:endParaRPr lang="en-US" sz="2050" dirty="0"/>
          </a:p>
        </p:txBody>
      </p:sp>
      <p:sp>
        <p:nvSpPr>
          <p:cNvPr id="7" name="Text 5"/>
          <p:cNvSpPr/>
          <p:nvPr/>
        </p:nvSpPr>
        <p:spPr>
          <a:xfrm>
            <a:off x="1083588" y="4226123"/>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An assertion about the distribution or parameter of one or more random variables</a:t>
            </a:r>
            <a:endParaRPr lang="en-US" sz="1550" dirty="0"/>
          </a:p>
        </p:txBody>
      </p:sp>
      <p:sp>
        <p:nvSpPr>
          <p:cNvPr id="8" name="Shape 6"/>
          <p:cNvSpPr/>
          <p:nvPr/>
        </p:nvSpPr>
        <p:spPr>
          <a:xfrm>
            <a:off x="5207437" y="3560207"/>
            <a:ext cx="4215408" cy="2157293"/>
          </a:xfrm>
          <a:prstGeom prst="roundRect">
            <a:avLst>
              <a:gd name="adj" fmla="val 5086"/>
            </a:avLst>
          </a:prstGeom>
          <a:solidFill>
            <a:srgbClr val="FFFFFF"/>
          </a:solidFill>
          <a:ln w="22860">
            <a:solidFill>
              <a:srgbClr val="D8D4D4"/>
            </a:solidFill>
            <a:prstDash val="solid"/>
          </a:ln>
        </p:spPr>
      </p:sp>
      <p:sp>
        <p:nvSpPr>
          <p:cNvPr id="9" name="Shape 7"/>
          <p:cNvSpPr/>
          <p:nvPr/>
        </p:nvSpPr>
        <p:spPr>
          <a:xfrm>
            <a:off x="5184577" y="3560207"/>
            <a:ext cx="91440" cy="2157293"/>
          </a:xfrm>
          <a:prstGeom prst="roundRect">
            <a:avLst>
              <a:gd name="adj" fmla="val 32558"/>
            </a:avLst>
          </a:prstGeom>
          <a:solidFill>
            <a:srgbClr val="E04F00"/>
          </a:solidFill>
          <a:ln/>
        </p:spPr>
      </p:sp>
      <p:sp>
        <p:nvSpPr>
          <p:cNvPr id="10" name="Text 8"/>
          <p:cNvSpPr/>
          <p:nvPr/>
        </p:nvSpPr>
        <p:spPr>
          <a:xfrm>
            <a:off x="5497235" y="378142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Null Hypothesis (H₀)</a:t>
            </a:r>
            <a:endParaRPr lang="en-US" sz="2050" dirty="0"/>
          </a:p>
        </p:txBody>
      </p:sp>
      <p:sp>
        <p:nvSpPr>
          <p:cNvPr id="11" name="Text 9"/>
          <p:cNvSpPr/>
          <p:nvPr/>
        </p:nvSpPr>
        <p:spPr>
          <a:xfrm>
            <a:off x="5497235" y="4226123"/>
            <a:ext cx="370439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statement generally believed to be true until the researcher rejects it with sufficient evidence. This represents the status quo or default position.</a:t>
            </a:r>
            <a:endParaRPr lang="en-US" sz="1550" dirty="0"/>
          </a:p>
        </p:txBody>
      </p:sp>
      <p:sp>
        <p:nvSpPr>
          <p:cNvPr id="12" name="Shape 10"/>
          <p:cNvSpPr/>
          <p:nvPr/>
        </p:nvSpPr>
        <p:spPr>
          <a:xfrm>
            <a:off x="9621203" y="3560207"/>
            <a:ext cx="4215289" cy="2157293"/>
          </a:xfrm>
          <a:prstGeom prst="roundRect">
            <a:avLst>
              <a:gd name="adj" fmla="val 5086"/>
            </a:avLst>
          </a:prstGeom>
          <a:solidFill>
            <a:srgbClr val="FFFFFF"/>
          </a:solidFill>
          <a:ln w="22860">
            <a:solidFill>
              <a:srgbClr val="D8D4D4"/>
            </a:solidFill>
            <a:prstDash val="solid"/>
          </a:ln>
        </p:spPr>
      </p:sp>
      <p:sp>
        <p:nvSpPr>
          <p:cNvPr id="13" name="Shape 11"/>
          <p:cNvSpPr/>
          <p:nvPr/>
        </p:nvSpPr>
        <p:spPr>
          <a:xfrm>
            <a:off x="9598343" y="3560207"/>
            <a:ext cx="91440" cy="2157293"/>
          </a:xfrm>
          <a:prstGeom prst="roundRect">
            <a:avLst>
              <a:gd name="adj" fmla="val 32558"/>
            </a:avLst>
          </a:prstGeom>
          <a:solidFill>
            <a:srgbClr val="E04F00"/>
          </a:solidFill>
          <a:ln/>
        </p:spPr>
      </p:sp>
      <p:sp>
        <p:nvSpPr>
          <p:cNvPr id="14" name="Text 12"/>
          <p:cNvSpPr/>
          <p:nvPr/>
        </p:nvSpPr>
        <p:spPr>
          <a:xfrm>
            <a:off x="9911001" y="3781425"/>
            <a:ext cx="3203853"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Alternative Hypothesis (H₁)</a:t>
            </a:r>
            <a:endParaRPr lang="en-US" sz="2050" dirty="0"/>
          </a:p>
        </p:txBody>
      </p:sp>
      <p:sp>
        <p:nvSpPr>
          <p:cNvPr id="15" name="Text 13"/>
          <p:cNvSpPr/>
          <p:nvPr/>
        </p:nvSpPr>
        <p:spPr>
          <a:xfrm>
            <a:off x="9911001" y="4226123"/>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researcher's claim that contradicts the null hypothesis. This is what you're trying to find evidence for.</a:t>
            </a:r>
            <a:endParaRPr lang="en-US" sz="1550" dirty="0"/>
          </a:p>
        </p:txBody>
      </p:sp>
      <p:sp>
        <p:nvSpPr>
          <p:cNvPr id="16" name="Text 14"/>
          <p:cNvSpPr/>
          <p:nvPr/>
        </p:nvSpPr>
        <p:spPr>
          <a:xfrm>
            <a:off x="572453" y="606587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 simple terms, hypothesis testing helps us decide whether a statement about a population parameter is true or false based on sample data and probability theory.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5428" y="407999"/>
            <a:ext cx="6561773"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Errors in Hypothesis Testing</a:t>
            </a:r>
            <a:endParaRPr lang="en-US" sz="3600" dirty="0"/>
          </a:p>
        </p:txBody>
      </p:sp>
      <p:sp>
        <p:nvSpPr>
          <p:cNvPr id="3" name="Text 1"/>
          <p:cNvSpPr/>
          <p:nvPr/>
        </p:nvSpPr>
        <p:spPr>
          <a:xfrm>
            <a:off x="615790" y="1539687"/>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When testing hypotheses, two types of errors can occur. Understanding these errors is essential for interpreting test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results correctly.</a:t>
            </a:r>
            <a:endParaRPr lang="en-US" dirty="0"/>
          </a:p>
        </p:txBody>
      </p:sp>
      <p:sp>
        <p:nvSpPr>
          <p:cNvPr id="4" name="Shape 2"/>
          <p:cNvSpPr/>
          <p:nvPr/>
        </p:nvSpPr>
        <p:spPr>
          <a:xfrm>
            <a:off x="793790" y="2475190"/>
            <a:ext cx="13042821" cy="1727954"/>
          </a:xfrm>
          <a:prstGeom prst="roundRect">
            <a:avLst>
              <a:gd name="adj" fmla="val 1723"/>
            </a:avLst>
          </a:prstGeom>
          <a:noFill/>
          <a:ln w="7620">
            <a:solidFill>
              <a:srgbClr val="000000">
                <a:alpha val="8000"/>
              </a:srgbClr>
            </a:solidFill>
            <a:prstDash val="solid"/>
          </a:ln>
        </p:spPr>
      </p:sp>
      <p:sp>
        <p:nvSpPr>
          <p:cNvPr id="5" name="Shape 3"/>
          <p:cNvSpPr/>
          <p:nvPr/>
        </p:nvSpPr>
        <p:spPr>
          <a:xfrm>
            <a:off x="801410" y="2482810"/>
            <a:ext cx="13027581" cy="570905"/>
          </a:xfrm>
          <a:prstGeom prst="rect">
            <a:avLst/>
          </a:prstGeom>
          <a:solidFill>
            <a:srgbClr val="FFFFFF">
              <a:alpha val="4000"/>
            </a:srgbClr>
          </a:solidFill>
          <a:ln/>
        </p:spPr>
      </p:sp>
      <p:sp>
        <p:nvSpPr>
          <p:cNvPr id="6" name="Text 4"/>
          <p:cNvSpPr/>
          <p:nvPr/>
        </p:nvSpPr>
        <p:spPr>
          <a:xfrm>
            <a:off x="1000006" y="2609493"/>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Reality ↓ Decision →</a:t>
            </a:r>
            <a:endParaRPr lang="en-US" sz="1550" dirty="0"/>
          </a:p>
        </p:txBody>
      </p:sp>
      <p:sp>
        <p:nvSpPr>
          <p:cNvPr id="7" name="Text 5"/>
          <p:cNvSpPr/>
          <p:nvPr/>
        </p:nvSpPr>
        <p:spPr>
          <a:xfrm>
            <a:off x="4260652" y="2609493"/>
            <a:ext cx="448091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Reject H₀</a:t>
            </a:r>
            <a:endParaRPr lang="en-US" sz="1550" dirty="0"/>
          </a:p>
        </p:txBody>
      </p:sp>
      <p:sp>
        <p:nvSpPr>
          <p:cNvPr id="8" name="Text 6"/>
          <p:cNvSpPr/>
          <p:nvPr/>
        </p:nvSpPr>
        <p:spPr>
          <a:xfrm>
            <a:off x="9145905" y="2609493"/>
            <a:ext cx="448472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Do Not Reject H₀</a:t>
            </a:r>
            <a:endParaRPr lang="en-US" sz="1550" dirty="0"/>
          </a:p>
        </p:txBody>
      </p:sp>
      <p:sp>
        <p:nvSpPr>
          <p:cNvPr id="9" name="Shape 7"/>
          <p:cNvSpPr/>
          <p:nvPr/>
        </p:nvSpPr>
        <p:spPr>
          <a:xfrm>
            <a:off x="801410" y="3053715"/>
            <a:ext cx="13027581" cy="570905"/>
          </a:xfrm>
          <a:prstGeom prst="rect">
            <a:avLst/>
          </a:prstGeom>
          <a:solidFill>
            <a:srgbClr val="000000">
              <a:alpha val="4000"/>
            </a:srgbClr>
          </a:solidFill>
          <a:ln/>
        </p:spPr>
      </p:sp>
      <p:sp>
        <p:nvSpPr>
          <p:cNvPr id="10" name="Text 8"/>
          <p:cNvSpPr/>
          <p:nvPr/>
        </p:nvSpPr>
        <p:spPr>
          <a:xfrm>
            <a:off x="1000006" y="3180398"/>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H₀ is True</a:t>
            </a:r>
            <a:endParaRPr lang="en-US" sz="1550" dirty="0"/>
          </a:p>
        </p:txBody>
      </p:sp>
      <p:sp>
        <p:nvSpPr>
          <p:cNvPr id="11" name="Text 9"/>
          <p:cNvSpPr/>
          <p:nvPr/>
        </p:nvSpPr>
        <p:spPr>
          <a:xfrm>
            <a:off x="4260652" y="3180398"/>
            <a:ext cx="4480917" cy="317540"/>
          </a:xfrm>
          <a:prstGeom prst="rect">
            <a:avLst/>
          </a:prstGeom>
          <a:noFill/>
          <a:ln/>
        </p:spPr>
        <p:txBody>
          <a:bodyPr wrap="none" lIns="0" tIns="0" rIns="0" bIns="0" rtlCol="0" anchor="t"/>
          <a:lstStyle/>
          <a:p>
            <a:pPr marL="0" indent="0" algn="l">
              <a:lnSpc>
                <a:spcPts val="2500"/>
              </a:lnSpc>
              <a:buNone/>
            </a:pPr>
            <a:r>
              <a:rPr lang="en-US" sz="1550" dirty="0">
                <a:solidFill>
                  <a:srgbClr val="E04F00"/>
                </a:solidFill>
                <a:latin typeface="DM Sans" pitchFamily="34" charset="0"/>
                <a:ea typeface="DM Sans" pitchFamily="34" charset="-122"/>
                <a:cs typeface="DM Sans" pitchFamily="34" charset="-120"/>
              </a:rPr>
              <a:t>Type I Error</a:t>
            </a:r>
            <a:endParaRPr lang="en-US" sz="1550" dirty="0"/>
          </a:p>
        </p:txBody>
      </p:sp>
      <p:sp>
        <p:nvSpPr>
          <p:cNvPr id="12" name="Text 10"/>
          <p:cNvSpPr/>
          <p:nvPr/>
        </p:nvSpPr>
        <p:spPr>
          <a:xfrm>
            <a:off x="9145905" y="3180398"/>
            <a:ext cx="448472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Correct Decision</a:t>
            </a:r>
            <a:endParaRPr lang="en-US" sz="1550" dirty="0"/>
          </a:p>
        </p:txBody>
      </p:sp>
      <p:sp>
        <p:nvSpPr>
          <p:cNvPr id="13" name="Shape 11"/>
          <p:cNvSpPr/>
          <p:nvPr/>
        </p:nvSpPr>
        <p:spPr>
          <a:xfrm>
            <a:off x="801410" y="3624620"/>
            <a:ext cx="13027581" cy="570905"/>
          </a:xfrm>
          <a:prstGeom prst="rect">
            <a:avLst/>
          </a:prstGeom>
          <a:solidFill>
            <a:srgbClr val="FFFFFF">
              <a:alpha val="4000"/>
            </a:srgbClr>
          </a:solidFill>
          <a:ln/>
        </p:spPr>
      </p:sp>
      <p:sp>
        <p:nvSpPr>
          <p:cNvPr id="14" name="Text 12"/>
          <p:cNvSpPr/>
          <p:nvPr/>
        </p:nvSpPr>
        <p:spPr>
          <a:xfrm>
            <a:off x="1000006" y="3751302"/>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H₀ is False</a:t>
            </a:r>
            <a:endParaRPr lang="en-US" sz="1550" dirty="0"/>
          </a:p>
        </p:txBody>
      </p:sp>
      <p:sp>
        <p:nvSpPr>
          <p:cNvPr id="15" name="Text 13"/>
          <p:cNvSpPr/>
          <p:nvPr/>
        </p:nvSpPr>
        <p:spPr>
          <a:xfrm>
            <a:off x="4260652" y="3751302"/>
            <a:ext cx="448091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Correct Decision</a:t>
            </a:r>
            <a:endParaRPr lang="en-US" sz="1550" dirty="0"/>
          </a:p>
        </p:txBody>
      </p:sp>
      <p:sp>
        <p:nvSpPr>
          <p:cNvPr id="16" name="Text 14"/>
          <p:cNvSpPr/>
          <p:nvPr/>
        </p:nvSpPr>
        <p:spPr>
          <a:xfrm>
            <a:off x="9145905" y="3751302"/>
            <a:ext cx="4484727" cy="317540"/>
          </a:xfrm>
          <a:prstGeom prst="rect">
            <a:avLst/>
          </a:prstGeom>
          <a:noFill/>
          <a:ln/>
        </p:spPr>
        <p:txBody>
          <a:bodyPr wrap="none" lIns="0" tIns="0" rIns="0" bIns="0" rtlCol="0" anchor="t"/>
          <a:lstStyle/>
          <a:p>
            <a:pPr marL="0" indent="0" algn="l">
              <a:lnSpc>
                <a:spcPts val="2500"/>
              </a:lnSpc>
              <a:buNone/>
            </a:pPr>
            <a:r>
              <a:rPr lang="en-US" sz="1550" dirty="0">
                <a:solidFill>
                  <a:srgbClr val="E04F00"/>
                </a:solidFill>
                <a:latin typeface="DM Sans" pitchFamily="34" charset="0"/>
                <a:ea typeface="DM Sans" pitchFamily="34" charset="-122"/>
                <a:cs typeface="DM Sans" pitchFamily="34" charset="-120"/>
              </a:rPr>
              <a:t>Type II Error</a:t>
            </a:r>
            <a:endParaRPr lang="en-US" sz="1550" dirty="0"/>
          </a:p>
        </p:txBody>
      </p:sp>
      <p:sp>
        <p:nvSpPr>
          <p:cNvPr id="17" name="Shape 15"/>
          <p:cNvSpPr/>
          <p:nvPr/>
        </p:nvSpPr>
        <p:spPr>
          <a:xfrm>
            <a:off x="793790" y="4426387"/>
            <a:ext cx="4215289" cy="2916793"/>
          </a:xfrm>
          <a:prstGeom prst="roundRect">
            <a:avLst>
              <a:gd name="adj" fmla="val 1021"/>
            </a:avLst>
          </a:prstGeom>
          <a:solidFill>
            <a:srgbClr val="FFFFFF"/>
          </a:solidFill>
          <a:ln w="22860">
            <a:solidFill>
              <a:srgbClr val="D8D4D4"/>
            </a:solidFill>
            <a:prstDash val="solid"/>
          </a:ln>
        </p:spPr>
      </p:sp>
      <p:sp>
        <p:nvSpPr>
          <p:cNvPr id="18" name="Text 16"/>
          <p:cNvSpPr/>
          <p:nvPr/>
        </p:nvSpPr>
        <p:spPr>
          <a:xfrm>
            <a:off x="1015008" y="46476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Type I Error (α)</a:t>
            </a:r>
            <a:endParaRPr lang="en-US" sz="2050" dirty="0"/>
          </a:p>
        </p:txBody>
      </p:sp>
      <p:sp>
        <p:nvSpPr>
          <p:cNvPr id="19" name="Text 17"/>
          <p:cNvSpPr/>
          <p:nvPr/>
        </p:nvSpPr>
        <p:spPr>
          <a:xfrm>
            <a:off x="1015008" y="5224343"/>
            <a:ext cx="3772853" cy="346948"/>
          </a:xfrm>
          <a:prstGeom prst="rect">
            <a:avLst/>
          </a:prstGeom>
          <a:noFill/>
          <a:ln/>
        </p:spPr>
        <p:txBody>
          <a:bodyPr wrap="none" lIns="0" tIns="0" rIns="0" bIns="0" rtlCol="0" anchor="t"/>
          <a:lstStyle/>
          <a:p>
            <a:pPr marL="0" indent="0" algn="l">
              <a:lnSpc>
                <a:spcPts val="2800"/>
              </a:lnSpc>
              <a:buNone/>
            </a:pPr>
            <a:endParaRPr lang="en-US" sz="1750" dirty="0"/>
          </a:p>
        </p:txBody>
      </p:sp>
      <p:pic>
        <p:nvPicPr>
          <p:cNvPr id="20" name="Image 0" descr="preencoded.png"/>
          <p:cNvPicPr>
            <a:picLocks noChangeAspect="1"/>
          </p:cNvPicPr>
          <p:nvPr/>
        </p:nvPicPr>
        <p:blipFill>
          <a:blip r:embed="rId3"/>
          <a:stretch>
            <a:fillRect/>
          </a:stretch>
        </p:blipFill>
        <p:spPr>
          <a:xfrm>
            <a:off x="1015008" y="5224343"/>
            <a:ext cx="3772853" cy="346948"/>
          </a:xfrm>
          <a:prstGeom prst="rect">
            <a:avLst/>
          </a:prstGeom>
        </p:spPr>
      </p:pic>
      <p:sp>
        <p:nvSpPr>
          <p:cNvPr id="21" name="Text 18"/>
          <p:cNvSpPr/>
          <p:nvPr/>
        </p:nvSpPr>
        <p:spPr>
          <a:xfrm>
            <a:off x="1015008" y="5822394"/>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Also called the </a:t>
            </a:r>
            <a:r>
              <a:rPr lang="en-US" sz="1550" b="1" dirty="0">
                <a:solidFill>
                  <a:srgbClr val="383838"/>
                </a:solidFill>
                <a:latin typeface="DM Sans" pitchFamily="34" charset="0"/>
                <a:ea typeface="DM Sans" pitchFamily="34" charset="-122"/>
                <a:cs typeface="DM Sans" pitchFamily="34" charset="-120"/>
              </a:rPr>
              <a:t>level of significance</a:t>
            </a:r>
            <a:r>
              <a:rPr lang="en-US" sz="1550" dirty="0">
                <a:solidFill>
                  <a:srgbClr val="383838"/>
                </a:solidFill>
                <a:latin typeface="DM Sans" pitchFamily="34" charset="0"/>
                <a:ea typeface="DM Sans" pitchFamily="34" charset="-122"/>
                <a:cs typeface="DM Sans" pitchFamily="34" charset="-120"/>
              </a:rPr>
              <a:t>. Typically set at 0.05 (5%). We reject H₀ if the p-value is less than α.</a:t>
            </a:r>
            <a:endParaRPr lang="en-US" sz="1550" dirty="0"/>
          </a:p>
        </p:txBody>
      </p:sp>
      <p:sp>
        <p:nvSpPr>
          <p:cNvPr id="22" name="Shape 19"/>
          <p:cNvSpPr/>
          <p:nvPr/>
        </p:nvSpPr>
        <p:spPr>
          <a:xfrm>
            <a:off x="5207437" y="4426387"/>
            <a:ext cx="4215408" cy="2916793"/>
          </a:xfrm>
          <a:prstGeom prst="roundRect">
            <a:avLst>
              <a:gd name="adj" fmla="val 1021"/>
            </a:avLst>
          </a:prstGeom>
          <a:solidFill>
            <a:srgbClr val="FFFFFF"/>
          </a:solidFill>
          <a:ln w="22860">
            <a:solidFill>
              <a:srgbClr val="D8D4D4"/>
            </a:solidFill>
            <a:prstDash val="solid"/>
          </a:ln>
        </p:spPr>
      </p:sp>
      <p:sp>
        <p:nvSpPr>
          <p:cNvPr id="23" name="Text 20"/>
          <p:cNvSpPr/>
          <p:nvPr/>
        </p:nvSpPr>
        <p:spPr>
          <a:xfrm>
            <a:off x="5428655" y="46476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Type II Error (β)</a:t>
            </a:r>
            <a:endParaRPr lang="en-US" sz="2050" dirty="0"/>
          </a:p>
        </p:txBody>
      </p:sp>
      <p:sp>
        <p:nvSpPr>
          <p:cNvPr id="24" name="Text 21"/>
          <p:cNvSpPr/>
          <p:nvPr/>
        </p:nvSpPr>
        <p:spPr>
          <a:xfrm>
            <a:off x="5428655" y="5224343"/>
            <a:ext cx="3772972" cy="693896"/>
          </a:xfrm>
          <a:prstGeom prst="rect">
            <a:avLst/>
          </a:prstGeom>
          <a:noFill/>
          <a:ln/>
        </p:spPr>
        <p:txBody>
          <a:bodyPr wrap="square" lIns="0" tIns="0" rIns="0" bIns="0" rtlCol="0" anchor="t"/>
          <a:lstStyle/>
          <a:p>
            <a:pPr marL="0" indent="0" algn="l">
              <a:lnSpc>
                <a:spcPts val="2800"/>
              </a:lnSpc>
              <a:buNone/>
            </a:pPr>
            <a:endParaRPr lang="en-US" sz="1750" dirty="0"/>
          </a:p>
        </p:txBody>
      </p:sp>
      <p:pic>
        <p:nvPicPr>
          <p:cNvPr id="25" name="Image 1" descr="preencoded.png"/>
          <p:cNvPicPr>
            <a:picLocks noChangeAspect="1"/>
          </p:cNvPicPr>
          <p:nvPr/>
        </p:nvPicPr>
        <p:blipFill>
          <a:blip r:embed="rId4"/>
          <a:stretch>
            <a:fillRect/>
          </a:stretch>
        </p:blipFill>
        <p:spPr>
          <a:xfrm>
            <a:off x="5428655" y="5128498"/>
            <a:ext cx="3772972" cy="693896"/>
          </a:xfrm>
          <a:prstGeom prst="rect">
            <a:avLst/>
          </a:prstGeom>
        </p:spPr>
      </p:pic>
      <p:sp>
        <p:nvSpPr>
          <p:cNvPr id="26" name="Text 22"/>
          <p:cNvSpPr/>
          <p:nvPr/>
        </p:nvSpPr>
        <p:spPr>
          <a:xfrm>
            <a:off x="5428655" y="6169343"/>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probability of failing to reject a false null hypothesis. More difficult to control than Type I error.</a:t>
            </a:r>
            <a:endParaRPr lang="en-US" sz="1550" dirty="0"/>
          </a:p>
        </p:txBody>
      </p:sp>
      <p:sp>
        <p:nvSpPr>
          <p:cNvPr id="27" name="Shape 23"/>
          <p:cNvSpPr/>
          <p:nvPr/>
        </p:nvSpPr>
        <p:spPr>
          <a:xfrm>
            <a:off x="9621203" y="4426387"/>
            <a:ext cx="4215289" cy="2916793"/>
          </a:xfrm>
          <a:prstGeom prst="roundRect">
            <a:avLst>
              <a:gd name="adj" fmla="val 1021"/>
            </a:avLst>
          </a:prstGeom>
          <a:solidFill>
            <a:srgbClr val="FFFFFF"/>
          </a:solidFill>
          <a:ln w="22860">
            <a:solidFill>
              <a:srgbClr val="D8D4D4"/>
            </a:solidFill>
            <a:prstDash val="solid"/>
          </a:ln>
        </p:spPr>
      </p:sp>
      <p:sp>
        <p:nvSpPr>
          <p:cNvPr id="28" name="Text 24"/>
          <p:cNvSpPr/>
          <p:nvPr/>
        </p:nvSpPr>
        <p:spPr>
          <a:xfrm>
            <a:off x="9842421" y="46476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Power of the Test</a:t>
            </a:r>
            <a:endParaRPr lang="en-US" sz="2050" dirty="0"/>
          </a:p>
        </p:txBody>
      </p:sp>
      <p:sp>
        <p:nvSpPr>
          <p:cNvPr id="29" name="Text 25"/>
          <p:cNvSpPr/>
          <p:nvPr/>
        </p:nvSpPr>
        <p:spPr>
          <a:xfrm>
            <a:off x="9842421" y="5224343"/>
            <a:ext cx="3772853" cy="346948"/>
          </a:xfrm>
          <a:prstGeom prst="rect">
            <a:avLst/>
          </a:prstGeom>
          <a:noFill/>
          <a:ln/>
        </p:spPr>
        <p:txBody>
          <a:bodyPr wrap="none" lIns="0" tIns="0" rIns="0" bIns="0" rtlCol="0" anchor="t"/>
          <a:lstStyle/>
          <a:p>
            <a:pPr marL="0" indent="0" algn="l">
              <a:lnSpc>
                <a:spcPts val="2800"/>
              </a:lnSpc>
              <a:buNone/>
            </a:pPr>
            <a:endParaRPr lang="en-US" sz="1750" dirty="0"/>
          </a:p>
        </p:txBody>
      </p:sp>
      <p:pic>
        <p:nvPicPr>
          <p:cNvPr id="30" name="Image 2" descr="preencoded.png"/>
          <p:cNvPicPr>
            <a:picLocks noChangeAspect="1"/>
          </p:cNvPicPr>
          <p:nvPr/>
        </p:nvPicPr>
        <p:blipFill>
          <a:blip r:embed="rId5"/>
          <a:stretch>
            <a:fillRect/>
          </a:stretch>
        </p:blipFill>
        <p:spPr>
          <a:xfrm>
            <a:off x="9842421" y="5224343"/>
            <a:ext cx="3772853" cy="346948"/>
          </a:xfrm>
          <a:prstGeom prst="rect">
            <a:avLst/>
          </a:prstGeom>
        </p:spPr>
      </p:pic>
      <p:sp>
        <p:nvSpPr>
          <p:cNvPr id="31" name="Text 26"/>
          <p:cNvSpPr/>
          <p:nvPr/>
        </p:nvSpPr>
        <p:spPr>
          <a:xfrm>
            <a:off x="9842421" y="5822394"/>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probability of correctly rejecting a false null hypothesis. Higher power is better for detecting true effects.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6146" y="409813"/>
            <a:ext cx="3912275" cy="488990"/>
          </a:xfrm>
          <a:prstGeom prst="rect">
            <a:avLst/>
          </a:prstGeom>
          <a:noFill/>
          <a:ln/>
        </p:spPr>
        <p:txBody>
          <a:bodyPr wrap="none" lIns="0" tIns="0" rIns="0" bIns="0" rtlCol="0" anchor="t"/>
          <a:lstStyle/>
          <a:p>
            <a:pPr marL="0" indent="0" algn="l">
              <a:lnSpc>
                <a:spcPts val="3850"/>
              </a:lnSpc>
              <a:buNone/>
            </a:pPr>
            <a:r>
              <a:rPr lang="en-US" sz="3600" dirty="0">
                <a:solidFill>
                  <a:srgbClr val="020202"/>
                </a:solidFill>
                <a:latin typeface="PT Serif" pitchFamily="34" charset="0"/>
                <a:ea typeface="PT Serif" pitchFamily="34" charset="-122"/>
                <a:cs typeface="PT Serif" pitchFamily="34" charset="-120"/>
              </a:rPr>
              <a:t>The t Distribution</a:t>
            </a:r>
            <a:endParaRPr lang="en-US" sz="3600" dirty="0"/>
          </a:p>
        </p:txBody>
      </p:sp>
      <p:sp>
        <p:nvSpPr>
          <p:cNvPr id="3" name="Text 1"/>
          <p:cNvSpPr/>
          <p:nvPr/>
        </p:nvSpPr>
        <p:spPr>
          <a:xfrm>
            <a:off x="596146" y="1196816"/>
            <a:ext cx="13438108" cy="476964"/>
          </a:xfrm>
          <a:prstGeom prst="rect">
            <a:avLst/>
          </a:prstGeom>
          <a:noFill/>
          <a:ln/>
        </p:spPr>
        <p:txBody>
          <a:bodyPr wrap="square" lIns="0" tIns="0" rIns="0" bIns="0" rtlCol="0" anchor="t"/>
          <a:lstStyle/>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The t distribution is a probability distribution used extensively in hypothesis testing, especially when sample sizes are small or population variance is unknown. It was discovered by William Sealy Gosset, who published under the pseudonym "Student."</a:t>
            </a:r>
            <a:endParaRPr lang="en-US" dirty="0"/>
          </a:p>
        </p:txBody>
      </p:sp>
      <p:sp>
        <p:nvSpPr>
          <p:cNvPr id="4" name="Text 2"/>
          <p:cNvSpPr/>
          <p:nvPr/>
        </p:nvSpPr>
        <p:spPr>
          <a:xfrm>
            <a:off x="596145" y="1990368"/>
            <a:ext cx="7506846" cy="1555909"/>
          </a:xfrm>
          <a:prstGeom prst="rect">
            <a:avLst/>
          </a:prstGeom>
          <a:noFill/>
          <a:ln/>
        </p:spPr>
        <p:txBody>
          <a:bodyPr wrap="none" lIns="0" tIns="0" rIns="0" bIns="0" rtlCol="0" anchor="t"/>
          <a:lstStyle/>
          <a:p>
            <a:pPr marL="0" indent="0" algn="l">
              <a:lnSpc>
                <a:spcPts val="1900"/>
              </a:lnSpc>
              <a:buNone/>
            </a:pPr>
            <a:r>
              <a:rPr lang="en-US" b="1" dirty="0">
                <a:solidFill>
                  <a:srgbClr val="020202"/>
                </a:solidFill>
                <a:latin typeface="PT Serif" pitchFamily="34" charset="0"/>
                <a:ea typeface="PT Serif" pitchFamily="34" charset="-122"/>
                <a:cs typeface="PT Serif" pitchFamily="34" charset="-120"/>
              </a:rPr>
              <a:t>Key Characteristics</a:t>
            </a:r>
          </a:p>
          <a:p>
            <a:pPr marL="0" indent="0" algn="l">
              <a:lnSpc>
                <a:spcPts val="1900"/>
              </a:lnSpc>
              <a:buNone/>
            </a:pPr>
            <a:endParaRPr lang="en-US" dirty="0">
              <a:solidFill>
                <a:srgbClr val="020202"/>
              </a:solidFill>
              <a:latin typeface="PT Serif" pitchFamily="34" charset="0"/>
              <a:ea typeface="PT Serif" pitchFamily="34" charset="-122"/>
              <a:cs typeface="PT Serif" pitchFamily="34" charset="-120"/>
            </a:endParaRPr>
          </a:p>
          <a:p>
            <a:pPr marL="285750" indent="-285750">
              <a:lnSpc>
                <a:spcPts val="1900"/>
              </a:lnSpc>
              <a:buFont typeface="Wingdings" pitchFamily="2" charset="2"/>
              <a:buChar char="ü"/>
            </a:pPr>
            <a:r>
              <a:rPr lang="en-US" dirty="0">
                <a:solidFill>
                  <a:srgbClr val="383838"/>
                </a:solidFill>
                <a:latin typeface="DM Sans" pitchFamily="34" charset="0"/>
                <a:ea typeface="DM Sans" pitchFamily="34" charset="-122"/>
                <a:cs typeface="DM Sans" pitchFamily="34" charset="-120"/>
              </a:rPr>
              <a:t>Symmetric and bell-shaped, similar to the normal distribution</a:t>
            </a:r>
          </a:p>
          <a:p>
            <a:pPr marL="285750" indent="-285750">
              <a:lnSpc>
                <a:spcPts val="1900"/>
              </a:lnSpc>
              <a:buFont typeface="Wingdings" pitchFamily="2" charset="2"/>
              <a:buChar char="ü"/>
            </a:pPr>
            <a:r>
              <a:rPr lang="en-US" dirty="0">
                <a:solidFill>
                  <a:srgbClr val="383838"/>
                </a:solidFill>
                <a:latin typeface="DM Sans" pitchFamily="34" charset="0"/>
                <a:ea typeface="DM Sans" pitchFamily="34" charset="-122"/>
                <a:cs typeface="DM Sans" pitchFamily="34" charset="-120"/>
              </a:rPr>
              <a:t>Lower peak and wider tails than the normal distribution</a:t>
            </a:r>
          </a:p>
          <a:p>
            <a:pPr marL="285750" indent="-285750">
              <a:lnSpc>
                <a:spcPts val="1900"/>
              </a:lnSpc>
              <a:buFont typeface="Wingdings" pitchFamily="2" charset="2"/>
              <a:buChar char="ü"/>
            </a:pPr>
            <a:r>
              <a:rPr lang="en-US" dirty="0">
                <a:solidFill>
                  <a:srgbClr val="383838"/>
                </a:solidFill>
                <a:latin typeface="DM Sans" pitchFamily="34" charset="0"/>
                <a:ea typeface="DM Sans" pitchFamily="34" charset="-122"/>
                <a:cs typeface="DM Sans" pitchFamily="34" charset="-120"/>
              </a:rPr>
              <a:t>Shape depends on degrees of freedom (</a:t>
            </a:r>
            <a:r>
              <a:rPr lang="en-US" dirty="0" err="1">
                <a:solidFill>
                  <a:srgbClr val="383838"/>
                </a:solidFill>
                <a:latin typeface="DM Sans" pitchFamily="34" charset="0"/>
                <a:ea typeface="DM Sans" pitchFamily="34" charset="-122"/>
                <a:cs typeface="DM Sans" pitchFamily="34" charset="-120"/>
              </a:rPr>
              <a:t>df</a:t>
            </a:r>
            <a:r>
              <a:rPr lang="en-US" dirty="0">
                <a:solidFill>
                  <a:srgbClr val="383838"/>
                </a:solidFill>
                <a:latin typeface="DM Sans" pitchFamily="34" charset="0"/>
                <a:ea typeface="DM Sans" pitchFamily="34" charset="-122"/>
                <a:cs typeface="DM Sans" pitchFamily="34" charset="-120"/>
              </a:rPr>
              <a:t>)</a:t>
            </a:r>
          </a:p>
          <a:p>
            <a:pPr marL="285750" indent="-285750">
              <a:lnSpc>
                <a:spcPts val="1900"/>
              </a:lnSpc>
              <a:buFont typeface="Wingdings" pitchFamily="2" charset="2"/>
              <a:buChar char="ü"/>
            </a:pPr>
            <a:r>
              <a:rPr lang="en-US" dirty="0">
                <a:solidFill>
                  <a:srgbClr val="383838"/>
                </a:solidFill>
                <a:latin typeface="DM Sans" pitchFamily="34" charset="0"/>
                <a:ea typeface="DM Sans" pitchFamily="34" charset="-122"/>
                <a:cs typeface="DM Sans" pitchFamily="34" charset="-120"/>
              </a:rPr>
              <a:t>As </a:t>
            </a:r>
            <a:r>
              <a:rPr lang="en-US" dirty="0" err="1">
                <a:solidFill>
                  <a:srgbClr val="383838"/>
                </a:solidFill>
                <a:latin typeface="DM Sans" pitchFamily="34" charset="0"/>
                <a:ea typeface="DM Sans" pitchFamily="34" charset="-122"/>
                <a:cs typeface="DM Sans" pitchFamily="34" charset="-120"/>
              </a:rPr>
              <a:t>df</a:t>
            </a:r>
            <a:r>
              <a:rPr lang="en-US" dirty="0">
                <a:solidFill>
                  <a:srgbClr val="383838"/>
                </a:solidFill>
                <a:latin typeface="DM Sans" pitchFamily="34" charset="0"/>
                <a:ea typeface="DM Sans" pitchFamily="34" charset="-122"/>
                <a:cs typeface="DM Sans" pitchFamily="34" charset="-120"/>
              </a:rPr>
              <a:t> increases, converges to standard normal distribution</a:t>
            </a:r>
            <a:endParaRPr lang="en-US" dirty="0"/>
          </a:p>
          <a:p>
            <a:pPr>
              <a:lnSpc>
                <a:spcPts val="1900"/>
              </a:lnSpc>
            </a:pPr>
            <a:endParaRPr lang="en-US" sz="1600" dirty="0"/>
          </a:p>
          <a:p>
            <a:pPr>
              <a:lnSpc>
                <a:spcPts val="1900"/>
              </a:lnSpc>
            </a:pPr>
            <a:endParaRPr lang="en-US" sz="1600" dirty="0"/>
          </a:p>
          <a:p>
            <a:pPr>
              <a:lnSpc>
                <a:spcPts val="1900"/>
              </a:lnSpc>
            </a:pPr>
            <a:endParaRPr lang="en-US" sz="1600" dirty="0"/>
          </a:p>
          <a:p>
            <a:pPr marL="0" indent="0" algn="l">
              <a:lnSpc>
                <a:spcPts val="1900"/>
              </a:lnSpc>
              <a:buNone/>
            </a:pPr>
            <a:endParaRPr lang="en-US" sz="1500" dirty="0"/>
          </a:p>
        </p:txBody>
      </p:sp>
      <p:sp>
        <p:nvSpPr>
          <p:cNvPr id="5" name="Text 3"/>
          <p:cNvSpPr/>
          <p:nvPr/>
        </p:nvSpPr>
        <p:spPr>
          <a:xfrm>
            <a:off x="596146" y="2383749"/>
            <a:ext cx="7917418" cy="1479115"/>
          </a:xfrm>
          <a:prstGeom prst="rect">
            <a:avLst/>
          </a:prstGeom>
          <a:noFill/>
          <a:ln/>
        </p:spPr>
        <p:txBody>
          <a:bodyPr wrap="none" lIns="0" tIns="0" rIns="0" bIns="0" rtlCol="0" anchor="t"/>
          <a:lstStyle/>
          <a:p>
            <a:pPr marL="342900" indent="-342900" algn="l">
              <a:lnSpc>
                <a:spcPts val="1850"/>
              </a:lnSpc>
              <a:buSzPct val="100000"/>
              <a:buChar char="•"/>
            </a:pPr>
            <a:endParaRPr lang="en-US" sz="1150" dirty="0"/>
          </a:p>
        </p:txBody>
      </p:sp>
      <p:sp>
        <p:nvSpPr>
          <p:cNvPr id="6" name="Text 4"/>
          <p:cNvSpPr/>
          <p:nvPr/>
        </p:nvSpPr>
        <p:spPr>
          <a:xfrm>
            <a:off x="596146" y="2674382"/>
            <a:ext cx="7917418" cy="238482"/>
          </a:xfrm>
          <a:prstGeom prst="rect">
            <a:avLst/>
          </a:prstGeom>
          <a:noFill/>
          <a:ln/>
        </p:spPr>
        <p:txBody>
          <a:bodyPr wrap="none" lIns="0" tIns="0" rIns="0" bIns="0" rtlCol="0" anchor="t"/>
          <a:lstStyle/>
          <a:p>
            <a:pPr marL="342900" indent="-342900" algn="l">
              <a:lnSpc>
                <a:spcPts val="1850"/>
              </a:lnSpc>
              <a:buSzPct val="100000"/>
              <a:buChar char="•"/>
            </a:pPr>
            <a:endParaRPr lang="en-US" sz="1150" dirty="0"/>
          </a:p>
        </p:txBody>
      </p:sp>
      <p:sp>
        <p:nvSpPr>
          <p:cNvPr id="7" name="Text 5"/>
          <p:cNvSpPr/>
          <p:nvPr/>
        </p:nvSpPr>
        <p:spPr>
          <a:xfrm>
            <a:off x="596146" y="2965013"/>
            <a:ext cx="7917418" cy="238482"/>
          </a:xfrm>
          <a:prstGeom prst="rect">
            <a:avLst/>
          </a:prstGeom>
          <a:noFill/>
          <a:ln/>
        </p:spPr>
        <p:txBody>
          <a:bodyPr wrap="none" lIns="0" tIns="0" rIns="0" bIns="0" rtlCol="0" anchor="t"/>
          <a:lstStyle/>
          <a:p>
            <a:pPr marL="342900" indent="-342900" algn="l">
              <a:lnSpc>
                <a:spcPts val="1850"/>
              </a:lnSpc>
              <a:buSzPct val="100000"/>
              <a:buChar char="•"/>
            </a:pPr>
            <a:endParaRPr lang="en-US" sz="1150" dirty="0"/>
          </a:p>
        </p:txBody>
      </p:sp>
      <p:sp>
        <p:nvSpPr>
          <p:cNvPr id="8" name="Text 6"/>
          <p:cNvSpPr/>
          <p:nvPr/>
        </p:nvSpPr>
        <p:spPr>
          <a:xfrm>
            <a:off x="596146" y="3255645"/>
            <a:ext cx="7917418" cy="238482"/>
          </a:xfrm>
          <a:prstGeom prst="rect">
            <a:avLst/>
          </a:prstGeom>
          <a:noFill/>
          <a:ln/>
        </p:spPr>
        <p:txBody>
          <a:bodyPr wrap="none" lIns="0" tIns="0" rIns="0" bIns="0" rtlCol="0" anchor="t"/>
          <a:lstStyle/>
          <a:p>
            <a:pPr marL="342900" indent="-342900" algn="l">
              <a:lnSpc>
                <a:spcPts val="1850"/>
              </a:lnSpc>
              <a:buSzPct val="100000"/>
              <a:buChar char="•"/>
            </a:pPr>
            <a:endParaRPr lang="en-US" sz="1150" dirty="0"/>
          </a:p>
        </p:txBody>
      </p:sp>
      <p:pic>
        <p:nvPicPr>
          <p:cNvPr id="11" name="Image 0" descr="preencoded.png"/>
          <p:cNvPicPr>
            <a:picLocks noChangeAspect="1"/>
          </p:cNvPicPr>
          <p:nvPr/>
        </p:nvPicPr>
        <p:blipFill>
          <a:blip r:embed="rId3"/>
          <a:stretch>
            <a:fillRect/>
          </a:stretch>
        </p:blipFill>
        <p:spPr>
          <a:xfrm>
            <a:off x="1248191" y="4256247"/>
            <a:ext cx="2608183" cy="2608183"/>
          </a:xfrm>
          <a:prstGeom prst="rect">
            <a:avLst/>
          </a:prstGeom>
        </p:spPr>
      </p:pic>
      <p:pic>
        <p:nvPicPr>
          <p:cNvPr id="12" name="Image 1" descr="preencoded.png"/>
          <p:cNvPicPr>
            <a:picLocks noChangeAspect="1"/>
          </p:cNvPicPr>
          <p:nvPr/>
        </p:nvPicPr>
        <p:blipFill>
          <a:blip r:embed="rId4"/>
          <a:stretch>
            <a:fillRect/>
          </a:stretch>
        </p:blipFill>
        <p:spPr>
          <a:xfrm>
            <a:off x="6915324" y="4153497"/>
            <a:ext cx="2869049" cy="2841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6166" y="423506"/>
            <a:ext cx="5209937"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One Sample t Test</a:t>
            </a:r>
            <a:endParaRPr lang="en-US" sz="3600" dirty="0"/>
          </a:p>
        </p:txBody>
      </p:sp>
      <p:sp>
        <p:nvSpPr>
          <p:cNvPr id="3" name="Text 1"/>
          <p:cNvSpPr/>
          <p:nvPr/>
        </p:nvSpPr>
        <p:spPr>
          <a:xfrm>
            <a:off x="502096" y="1677531"/>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one sample t test is used to determine whether a sample comes from a population with a specific mean. This test is appropriate when you want to compare your sample mean to a hypothesized population value.</a:t>
            </a:r>
            <a:endParaRPr lang="en-US" dirty="0"/>
          </a:p>
        </p:txBody>
      </p:sp>
      <p:sp>
        <p:nvSpPr>
          <p:cNvPr id="4" name="Shape 2"/>
          <p:cNvSpPr/>
          <p:nvPr/>
        </p:nvSpPr>
        <p:spPr>
          <a:xfrm>
            <a:off x="793790" y="3562826"/>
            <a:ext cx="446484" cy="446484"/>
          </a:xfrm>
          <a:prstGeom prst="roundRect">
            <a:avLst>
              <a:gd name="adj" fmla="val 6668"/>
            </a:avLst>
          </a:prstGeom>
          <a:solidFill>
            <a:srgbClr val="F2EEEE"/>
          </a:solidFill>
          <a:ln/>
        </p:spPr>
      </p:sp>
      <p:sp>
        <p:nvSpPr>
          <p:cNvPr id="5" name="Text 3"/>
          <p:cNvSpPr/>
          <p:nvPr/>
        </p:nvSpPr>
        <p:spPr>
          <a:xfrm>
            <a:off x="860762" y="3590746"/>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1</a:t>
            </a:r>
            <a:endParaRPr lang="en-US" sz="2450" dirty="0"/>
          </a:p>
        </p:txBody>
      </p:sp>
      <p:sp>
        <p:nvSpPr>
          <p:cNvPr id="6" name="Text 4"/>
          <p:cNvSpPr/>
          <p:nvPr/>
        </p:nvSpPr>
        <p:spPr>
          <a:xfrm>
            <a:off x="1438632" y="363104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Purpose</a:t>
            </a:r>
            <a:endParaRPr lang="en-US" sz="2050" dirty="0"/>
          </a:p>
        </p:txBody>
      </p:sp>
      <p:sp>
        <p:nvSpPr>
          <p:cNvPr id="7" name="Text 5"/>
          <p:cNvSpPr/>
          <p:nvPr/>
        </p:nvSpPr>
        <p:spPr>
          <a:xfrm>
            <a:off x="1438632" y="4075748"/>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Tests hypotheses about a single population mean when population standard deviation is unknown</a:t>
            </a:r>
            <a:endParaRPr lang="en-US" sz="1550" dirty="0"/>
          </a:p>
        </p:txBody>
      </p:sp>
      <p:sp>
        <p:nvSpPr>
          <p:cNvPr id="8" name="Shape 6"/>
          <p:cNvSpPr/>
          <p:nvPr/>
        </p:nvSpPr>
        <p:spPr>
          <a:xfrm>
            <a:off x="7439144" y="3562826"/>
            <a:ext cx="446484" cy="446484"/>
          </a:xfrm>
          <a:prstGeom prst="roundRect">
            <a:avLst>
              <a:gd name="adj" fmla="val 6668"/>
            </a:avLst>
          </a:prstGeom>
          <a:solidFill>
            <a:srgbClr val="F2EEEE"/>
          </a:solidFill>
          <a:ln/>
        </p:spPr>
      </p:sp>
      <p:sp>
        <p:nvSpPr>
          <p:cNvPr id="9" name="Text 7"/>
          <p:cNvSpPr/>
          <p:nvPr/>
        </p:nvSpPr>
        <p:spPr>
          <a:xfrm>
            <a:off x="7506117" y="3590746"/>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2</a:t>
            </a:r>
            <a:endParaRPr lang="en-US" sz="2450" dirty="0"/>
          </a:p>
        </p:txBody>
      </p:sp>
      <p:sp>
        <p:nvSpPr>
          <p:cNvPr id="10" name="Text 8"/>
          <p:cNvSpPr/>
          <p:nvPr/>
        </p:nvSpPr>
        <p:spPr>
          <a:xfrm>
            <a:off x="8083987" y="363104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Design</a:t>
            </a:r>
            <a:endParaRPr lang="en-US" sz="2050" dirty="0"/>
          </a:p>
        </p:txBody>
      </p:sp>
      <p:sp>
        <p:nvSpPr>
          <p:cNvPr id="11" name="Text 9"/>
          <p:cNvSpPr/>
          <p:nvPr/>
        </p:nvSpPr>
        <p:spPr>
          <a:xfrm>
            <a:off x="8083987" y="4075748"/>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One group of subjects is measured, and the sample statistic is compared to a hypothesized population parameter value</a:t>
            </a:r>
            <a:endParaRPr lang="en-US" sz="1550" dirty="0"/>
          </a:p>
        </p:txBody>
      </p:sp>
      <p:sp>
        <p:nvSpPr>
          <p:cNvPr id="12" name="Shape 10"/>
          <p:cNvSpPr/>
          <p:nvPr/>
        </p:nvSpPr>
        <p:spPr>
          <a:xfrm>
            <a:off x="793790" y="5107662"/>
            <a:ext cx="446484" cy="446484"/>
          </a:xfrm>
          <a:prstGeom prst="roundRect">
            <a:avLst>
              <a:gd name="adj" fmla="val 6668"/>
            </a:avLst>
          </a:prstGeom>
          <a:solidFill>
            <a:srgbClr val="F2EEEE"/>
          </a:solidFill>
          <a:ln/>
        </p:spPr>
      </p:sp>
      <p:sp>
        <p:nvSpPr>
          <p:cNvPr id="13" name="Text 11"/>
          <p:cNvSpPr/>
          <p:nvPr/>
        </p:nvSpPr>
        <p:spPr>
          <a:xfrm>
            <a:off x="860762" y="513558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3</a:t>
            </a:r>
            <a:endParaRPr lang="en-US" sz="2450" dirty="0"/>
          </a:p>
        </p:txBody>
      </p:sp>
      <p:sp>
        <p:nvSpPr>
          <p:cNvPr id="14" name="Text 12"/>
          <p:cNvSpPr/>
          <p:nvPr/>
        </p:nvSpPr>
        <p:spPr>
          <a:xfrm>
            <a:off x="1438632" y="51758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Assumptions</a:t>
            </a:r>
            <a:endParaRPr lang="en-US" sz="2050" dirty="0"/>
          </a:p>
        </p:txBody>
      </p:sp>
      <p:sp>
        <p:nvSpPr>
          <p:cNvPr id="15" name="Text 13"/>
          <p:cNvSpPr/>
          <p:nvPr/>
        </p:nvSpPr>
        <p:spPr>
          <a:xfrm>
            <a:off x="1438632" y="5620583"/>
            <a:ext cx="575250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Data is randomly sampled from a normally distributed population</a:t>
            </a:r>
            <a:endParaRPr lang="en-US" sz="1550" b="1" dirty="0">
              <a:solidFill>
                <a:srgbClr val="C00000"/>
              </a:solidFill>
            </a:endParaRPr>
          </a:p>
        </p:txBody>
      </p:sp>
      <p:sp>
        <p:nvSpPr>
          <p:cNvPr id="16" name="Shape 14"/>
          <p:cNvSpPr/>
          <p:nvPr/>
        </p:nvSpPr>
        <p:spPr>
          <a:xfrm>
            <a:off x="7439144" y="5107662"/>
            <a:ext cx="446484" cy="446484"/>
          </a:xfrm>
          <a:prstGeom prst="roundRect">
            <a:avLst>
              <a:gd name="adj" fmla="val 6668"/>
            </a:avLst>
          </a:prstGeom>
          <a:solidFill>
            <a:srgbClr val="F2EEEE"/>
          </a:solidFill>
          <a:ln/>
        </p:spPr>
      </p:sp>
      <p:sp>
        <p:nvSpPr>
          <p:cNvPr id="17" name="Text 15"/>
          <p:cNvSpPr/>
          <p:nvPr/>
        </p:nvSpPr>
        <p:spPr>
          <a:xfrm>
            <a:off x="7506117" y="513558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4</a:t>
            </a:r>
            <a:endParaRPr lang="en-US" sz="2450" dirty="0"/>
          </a:p>
        </p:txBody>
      </p:sp>
      <p:sp>
        <p:nvSpPr>
          <p:cNvPr id="18" name="Text 16"/>
          <p:cNvSpPr/>
          <p:nvPr/>
        </p:nvSpPr>
        <p:spPr>
          <a:xfrm>
            <a:off x="8083987" y="51758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Applications</a:t>
            </a:r>
            <a:endParaRPr lang="en-US" sz="2050" dirty="0"/>
          </a:p>
        </p:txBody>
      </p:sp>
      <p:sp>
        <p:nvSpPr>
          <p:cNvPr id="19" name="Text 17"/>
          <p:cNvSpPr/>
          <p:nvPr/>
        </p:nvSpPr>
        <p:spPr>
          <a:xfrm>
            <a:off x="8083987" y="5620583"/>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Can be applied to various subjects: patients, customers, retail stores, transactions, or any measurable units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57692" y="427255"/>
            <a:ext cx="5851446" cy="586026"/>
          </a:xfrm>
          <a:prstGeom prst="rect">
            <a:avLst/>
          </a:prstGeom>
          <a:noFill/>
          <a:ln/>
        </p:spPr>
        <p:txBody>
          <a:bodyPr wrap="none" lIns="0" tIns="0" rIns="0" bIns="0" rtlCol="0" anchor="t"/>
          <a:lstStyle/>
          <a:p>
            <a:pPr marL="0" indent="0" algn="l">
              <a:lnSpc>
                <a:spcPts val="4600"/>
              </a:lnSpc>
              <a:buNone/>
            </a:pPr>
            <a:r>
              <a:rPr lang="en-US" sz="3600" dirty="0">
                <a:solidFill>
                  <a:srgbClr val="020202"/>
                </a:solidFill>
                <a:latin typeface="PT Serif" pitchFamily="34" charset="0"/>
                <a:ea typeface="PT Serif" pitchFamily="34" charset="-122"/>
                <a:cs typeface="PT Serif" pitchFamily="34" charset="-120"/>
              </a:rPr>
              <a:t>One Sample t Test: Example</a:t>
            </a:r>
            <a:endParaRPr lang="en-US" sz="3600" dirty="0"/>
          </a:p>
        </p:txBody>
      </p:sp>
      <p:sp>
        <p:nvSpPr>
          <p:cNvPr id="3" name="Text 1"/>
          <p:cNvSpPr/>
          <p:nvPr/>
        </p:nvSpPr>
        <p:spPr>
          <a:xfrm>
            <a:off x="357692" y="1484822"/>
            <a:ext cx="14174234" cy="571500"/>
          </a:xfrm>
          <a:prstGeom prst="rect">
            <a:avLst/>
          </a:prstGeom>
          <a:noFill/>
          <a:ln/>
        </p:spPr>
        <p:txBody>
          <a:bodyPr wrap="squar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A large company is concerned about the time employees take to complete their weekly MIS reports. The general manager claims that the average time exceeds 90 minutes. To test this claim, the company randomly selects 12 employees and records their completion times.</a:t>
            </a:r>
            <a:endParaRPr lang="en-US" dirty="0"/>
          </a:p>
        </p:txBody>
      </p:sp>
      <p:sp>
        <p:nvSpPr>
          <p:cNvPr id="4" name="Text 2"/>
          <p:cNvSpPr/>
          <p:nvPr/>
        </p:nvSpPr>
        <p:spPr>
          <a:xfrm>
            <a:off x="444740" y="3061454"/>
            <a:ext cx="5677349" cy="1853069"/>
          </a:xfrm>
          <a:prstGeom prst="rect">
            <a:avLst/>
          </a:prstGeom>
          <a:noFill/>
          <a:ln/>
        </p:spPr>
        <p:txBody>
          <a:bodyPr wrap="none" lIns="0" tIns="0" rIns="0" bIns="0" rtlCol="0" anchor="t"/>
          <a:lstStyle/>
          <a:p>
            <a:pPr marL="0" indent="0" algn="l">
              <a:lnSpc>
                <a:spcPts val="2300"/>
              </a:lnSpc>
              <a:buNone/>
            </a:pPr>
            <a:r>
              <a:rPr lang="en-US" sz="2000" b="1" dirty="0">
                <a:solidFill>
                  <a:srgbClr val="020202"/>
                </a:solidFill>
                <a:latin typeface="PT Serif" pitchFamily="34" charset="0"/>
                <a:ea typeface="PT Serif" pitchFamily="34" charset="-122"/>
                <a:cs typeface="PT Serif" pitchFamily="34" charset="-120"/>
              </a:rPr>
              <a:t>Hypotheses</a:t>
            </a:r>
          </a:p>
          <a:p>
            <a:pPr marL="0" indent="0" algn="l">
              <a:lnSpc>
                <a:spcPts val="2300"/>
              </a:lnSpc>
              <a:buNone/>
            </a:pPr>
            <a:endParaRPr lang="en-US" sz="1800" dirty="0">
              <a:solidFill>
                <a:srgbClr val="020202"/>
              </a:solidFill>
              <a:latin typeface="PT Serif" pitchFamily="34" charset="0"/>
              <a:ea typeface="PT Serif" pitchFamily="34" charset="-122"/>
              <a:cs typeface="PT Serif" pitchFamily="34" charset="-120"/>
            </a:endParaRPr>
          </a:p>
          <a:p>
            <a:pPr>
              <a:lnSpc>
                <a:spcPts val="2300"/>
              </a:lnSpc>
            </a:pPr>
            <a:r>
              <a:rPr lang="en-US" dirty="0">
                <a:solidFill>
                  <a:srgbClr val="383838"/>
                </a:solidFill>
                <a:latin typeface="DM Sans" pitchFamily="34" charset="0"/>
                <a:ea typeface="DM Sans" pitchFamily="34" charset="-122"/>
                <a:cs typeface="DM Sans" pitchFamily="34" charset="-120"/>
              </a:rPr>
              <a:t>Null Hypothesis (H₀): </a:t>
            </a:r>
            <a:r>
              <a:rPr lang="en-US" dirty="0" err="1">
                <a:solidFill>
                  <a:srgbClr val="383838"/>
                </a:solidFill>
                <a:latin typeface="DM Sans" pitchFamily="34" charset="0"/>
                <a:ea typeface="DM Sans" pitchFamily="34" charset="-122"/>
                <a:cs typeface="DM Sans" pitchFamily="34" charset="-120"/>
              </a:rPr>
              <a:t>μ</a:t>
            </a:r>
            <a:r>
              <a:rPr lang="en-US" dirty="0">
                <a:solidFill>
                  <a:srgbClr val="383838"/>
                </a:solidFill>
                <a:latin typeface="DM Sans" pitchFamily="34" charset="0"/>
                <a:ea typeface="DM Sans" pitchFamily="34" charset="-122"/>
                <a:cs typeface="DM Sans" pitchFamily="34" charset="-120"/>
              </a:rPr>
              <a:t> = 90 minutes</a:t>
            </a:r>
          </a:p>
          <a:p>
            <a:pPr>
              <a:lnSpc>
                <a:spcPts val="2300"/>
              </a:lnSpc>
            </a:pPr>
            <a:endParaRPr lang="en-US" dirty="0">
              <a:solidFill>
                <a:srgbClr val="383838"/>
              </a:solidFill>
              <a:latin typeface="DM Sans" pitchFamily="34" charset="0"/>
              <a:ea typeface="DM Sans" pitchFamily="34" charset="-122"/>
              <a:cs typeface="DM Sans" pitchFamily="34" charset="-120"/>
            </a:endParaRPr>
          </a:p>
          <a:p>
            <a:pPr>
              <a:lnSpc>
                <a:spcPts val="2300"/>
              </a:lnSpc>
            </a:pPr>
            <a:r>
              <a:rPr lang="en-US" dirty="0">
                <a:solidFill>
                  <a:srgbClr val="383838"/>
                </a:solidFill>
                <a:latin typeface="DM Sans" pitchFamily="34" charset="0"/>
                <a:ea typeface="DM Sans" pitchFamily="34" charset="-122"/>
                <a:cs typeface="DM Sans" pitchFamily="34" charset="-120"/>
              </a:rPr>
              <a:t>Alternative Hypothesis (H₁): </a:t>
            </a:r>
            <a:r>
              <a:rPr lang="en-US" dirty="0" err="1">
                <a:solidFill>
                  <a:srgbClr val="383838"/>
                </a:solidFill>
                <a:latin typeface="DM Sans" pitchFamily="34" charset="0"/>
                <a:ea typeface="DM Sans" pitchFamily="34" charset="-122"/>
                <a:cs typeface="DM Sans" pitchFamily="34" charset="-120"/>
              </a:rPr>
              <a:t>μ</a:t>
            </a:r>
            <a:r>
              <a:rPr lang="en-US" dirty="0">
                <a:solidFill>
                  <a:srgbClr val="383838"/>
                </a:solidFill>
                <a:latin typeface="DM Sans" pitchFamily="34" charset="0"/>
                <a:ea typeface="DM Sans" pitchFamily="34" charset="-122"/>
                <a:cs typeface="DM Sans" pitchFamily="34" charset="-120"/>
              </a:rPr>
              <a:t> &gt; 90 minutes</a:t>
            </a:r>
            <a:endParaRPr lang="en-US" dirty="0"/>
          </a:p>
          <a:p>
            <a:pPr>
              <a:lnSpc>
                <a:spcPts val="2300"/>
              </a:lnSpc>
            </a:pPr>
            <a:endParaRPr lang="en-US" dirty="0"/>
          </a:p>
          <a:p>
            <a:pPr marL="0" indent="0" algn="l">
              <a:lnSpc>
                <a:spcPts val="2300"/>
              </a:lnSpc>
              <a:buNone/>
            </a:pPr>
            <a:endParaRPr lang="en-US" sz="1800" dirty="0"/>
          </a:p>
        </p:txBody>
      </p:sp>
      <p:sp>
        <p:nvSpPr>
          <p:cNvPr id="5" name="Text 3"/>
          <p:cNvSpPr/>
          <p:nvPr/>
        </p:nvSpPr>
        <p:spPr>
          <a:xfrm>
            <a:off x="793790" y="2918579"/>
            <a:ext cx="8325207" cy="285750"/>
          </a:xfrm>
          <a:prstGeom prst="rect">
            <a:avLst/>
          </a:prstGeom>
          <a:noFill/>
          <a:ln/>
        </p:spPr>
        <p:txBody>
          <a:bodyPr wrap="none" lIns="0" tIns="0" rIns="0" bIns="0" rtlCol="0" anchor="t"/>
          <a:lstStyle/>
          <a:p>
            <a:pPr marL="0" indent="0" algn="l">
              <a:lnSpc>
                <a:spcPts val="2250"/>
              </a:lnSpc>
              <a:buNone/>
            </a:pPr>
            <a:endParaRPr lang="en-US" sz="1400" dirty="0"/>
          </a:p>
        </p:txBody>
      </p:sp>
      <p:pic>
        <p:nvPicPr>
          <p:cNvPr id="10" name="Image 0" descr="preencoded.png"/>
          <p:cNvPicPr>
            <a:picLocks noChangeAspect="1"/>
          </p:cNvPicPr>
          <p:nvPr/>
        </p:nvPicPr>
        <p:blipFill>
          <a:blip r:embed="rId3"/>
          <a:stretch>
            <a:fillRect/>
          </a:stretch>
        </p:blipFill>
        <p:spPr>
          <a:xfrm>
            <a:off x="6869855" y="2527863"/>
            <a:ext cx="1598895" cy="4617244"/>
          </a:xfrm>
          <a:prstGeom prst="rect">
            <a:avLst/>
          </a:prstGeom>
        </p:spPr>
      </p:pic>
      <p:sp>
        <p:nvSpPr>
          <p:cNvPr id="11" name="Text 8"/>
          <p:cNvSpPr/>
          <p:nvPr/>
        </p:nvSpPr>
        <p:spPr>
          <a:xfrm>
            <a:off x="5528439" y="7449555"/>
            <a:ext cx="4281726" cy="228600"/>
          </a:xfrm>
          <a:prstGeom prst="rect">
            <a:avLst/>
          </a:prstGeom>
          <a:noFill/>
          <a:ln/>
        </p:spPr>
        <p:txBody>
          <a:bodyPr wrap="none" lIns="0" tIns="0" rIns="0" bIns="0" rtlCol="0" anchor="t"/>
          <a:lstStyle/>
          <a:p>
            <a:pPr marL="0" indent="0" algn="l">
              <a:lnSpc>
                <a:spcPts val="1800"/>
              </a:lnSpc>
              <a:buNone/>
            </a:pPr>
            <a:r>
              <a:rPr lang="en-US" dirty="0">
                <a:solidFill>
                  <a:srgbClr val="383838"/>
                </a:solidFill>
                <a:latin typeface="DM Sans" pitchFamily="34" charset="0"/>
                <a:ea typeface="DM Sans" pitchFamily="34" charset="-122"/>
                <a:cs typeface="DM Sans" pitchFamily="34" charset="-120"/>
              </a:rPr>
              <a:t>Sample data: Times recorded for 12 employees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374992" y="407371"/>
            <a:ext cx="6805017" cy="545902"/>
          </a:xfrm>
          <a:prstGeom prst="rect">
            <a:avLst/>
          </a:prstGeom>
          <a:noFill/>
          <a:ln/>
        </p:spPr>
        <p:txBody>
          <a:bodyPr wrap="none" lIns="0" tIns="0" rIns="0" bIns="0" rtlCol="0" anchor="t"/>
          <a:lstStyle/>
          <a:p>
            <a:pPr marL="0" indent="0" algn="l">
              <a:lnSpc>
                <a:spcPts val="4250"/>
              </a:lnSpc>
              <a:buNone/>
            </a:pPr>
            <a:r>
              <a:rPr lang="en-US" sz="3600" dirty="0">
                <a:solidFill>
                  <a:srgbClr val="020202"/>
                </a:solidFill>
                <a:latin typeface="PT Serif" pitchFamily="34" charset="0"/>
                <a:ea typeface="PT Serif" pitchFamily="34" charset="-122"/>
                <a:cs typeface="PT Serif" pitchFamily="34" charset="-120"/>
              </a:rPr>
              <a:t>Test Statistic for One Sample t Test</a:t>
            </a:r>
            <a:endParaRPr lang="en-US" sz="3600" dirty="0"/>
          </a:p>
        </p:txBody>
      </p:sp>
      <p:sp>
        <p:nvSpPr>
          <p:cNvPr id="4" name="Text 1"/>
          <p:cNvSpPr/>
          <p:nvPr/>
        </p:nvSpPr>
        <p:spPr>
          <a:xfrm>
            <a:off x="374992" y="1360526"/>
            <a:ext cx="11216787" cy="532448"/>
          </a:xfrm>
          <a:prstGeom prst="rect">
            <a:avLst/>
          </a:prstGeom>
          <a:noFill/>
          <a:ln/>
        </p:spPr>
        <p:txBody>
          <a:bodyPr wrap="square" lIns="0" tIns="0" rIns="0" bIns="0" rtlCol="0" anchor="t"/>
          <a:lstStyle/>
          <a:p>
            <a:pPr marL="0" indent="0" algn="l">
              <a:lnSpc>
                <a:spcPts val="2050"/>
              </a:lnSpc>
              <a:buNone/>
            </a:pPr>
            <a:r>
              <a:rPr lang="en-US" dirty="0">
                <a:solidFill>
                  <a:srgbClr val="383838"/>
                </a:solidFill>
                <a:latin typeface="DM Sans" pitchFamily="34" charset="0"/>
                <a:ea typeface="DM Sans" pitchFamily="34" charset="-122"/>
                <a:cs typeface="DM Sans" pitchFamily="34" charset="-120"/>
              </a:rPr>
              <a:t>The test statistic measures how many standard errors the sample mean is from the hypothesized population mean. A larger absolute value provides stronger evidence against the null hypothesis.</a:t>
            </a:r>
            <a:endParaRPr lang="en-US" dirty="0"/>
          </a:p>
        </p:txBody>
      </p:sp>
      <p:sp>
        <p:nvSpPr>
          <p:cNvPr id="5" name="Text 2"/>
          <p:cNvSpPr/>
          <p:nvPr/>
        </p:nvSpPr>
        <p:spPr>
          <a:xfrm>
            <a:off x="782955" y="2185154"/>
            <a:ext cx="166330" cy="207883"/>
          </a:xfrm>
          <a:prstGeom prst="rect">
            <a:avLst/>
          </a:prstGeom>
          <a:noFill/>
          <a:ln/>
        </p:spPr>
        <p:txBody>
          <a:bodyPr wrap="none" lIns="0" tIns="0" rIns="0" bIns="0" rtlCol="0" anchor="t"/>
          <a:lstStyle/>
          <a:p>
            <a:pPr marL="0" indent="0" algn="l">
              <a:lnSpc>
                <a:spcPts val="2050"/>
              </a:lnSpc>
              <a:buNone/>
            </a:pPr>
            <a:r>
              <a:rPr lang="en-US" sz="1300" dirty="0">
                <a:solidFill>
                  <a:srgbClr val="383838"/>
                </a:solidFill>
                <a:latin typeface="PT Serif Light" pitchFamily="34" charset="0"/>
                <a:ea typeface="PT Serif Light" pitchFamily="34" charset="-122"/>
                <a:cs typeface="PT Serif Light" pitchFamily="34" charset="-120"/>
              </a:rPr>
              <a:t>01</a:t>
            </a:r>
            <a:endParaRPr lang="en-US" sz="1300" dirty="0"/>
          </a:p>
        </p:txBody>
      </p:sp>
      <p:sp>
        <p:nvSpPr>
          <p:cNvPr id="6" name="Shape 3"/>
          <p:cNvSpPr/>
          <p:nvPr/>
        </p:nvSpPr>
        <p:spPr>
          <a:xfrm>
            <a:off x="782955" y="2444948"/>
            <a:ext cx="7578090" cy="22860"/>
          </a:xfrm>
          <a:prstGeom prst="rect">
            <a:avLst/>
          </a:prstGeom>
          <a:solidFill>
            <a:srgbClr val="E04F00"/>
          </a:solidFill>
          <a:ln/>
        </p:spPr>
      </p:sp>
      <p:sp>
        <p:nvSpPr>
          <p:cNvPr id="7" name="Text 4"/>
          <p:cNvSpPr/>
          <p:nvPr/>
        </p:nvSpPr>
        <p:spPr>
          <a:xfrm>
            <a:off x="782955" y="2573774"/>
            <a:ext cx="2587943" cy="27289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T Serif" pitchFamily="34" charset="0"/>
                <a:ea typeface="PT Serif" pitchFamily="34" charset="-122"/>
                <a:cs typeface="PT Serif" pitchFamily="34" charset="-120"/>
              </a:rPr>
              <a:t>Calculate Sample Mean (x̄)</a:t>
            </a:r>
            <a:endParaRPr lang="en-US" sz="1700" dirty="0"/>
          </a:p>
        </p:txBody>
      </p:sp>
      <p:sp>
        <p:nvSpPr>
          <p:cNvPr id="8" name="Text 5"/>
          <p:cNvSpPr/>
          <p:nvPr/>
        </p:nvSpPr>
        <p:spPr>
          <a:xfrm>
            <a:off x="782955" y="2946440"/>
            <a:ext cx="7578090" cy="266224"/>
          </a:xfrm>
          <a:prstGeom prst="rect">
            <a:avLst/>
          </a:prstGeom>
          <a:noFill/>
          <a:ln/>
        </p:spPr>
        <p:txBody>
          <a:bodyPr wrap="none" lIns="0" tIns="0" rIns="0" bIns="0" rtlCol="0" anchor="t"/>
          <a:lstStyle/>
          <a:p>
            <a:pPr marL="0" indent="0" algn="l">
              <a:lnSpc>
                <a:spcPts val="2050"/>
              </a:lnSpc>
              <a:buNone/>
            </a:pPr>
            <a:r>
              <a:rPr lang="en-US" dirty="0">
                <a:solidFill>
                  <a:srgbClr val="383838"/>
                </a:solidFill>
                <a:latin typeface="DM Sans" pitchFamily="34" charset="0"/>
                <a:ea typeface="DM Sans" pitchFamily="34" charset="-122"/>
                <a:cs typeface="DM Sans" pitchFamily="34" charset="-120"/>
              </a:rPr>
              <a:t>Find the average of all sample observations</a:t>
            </a:r>
            <a:endParaRPr lang="en-US" dirty="0"/>
          </a:p>
        </p:txBody>
      </p:sp>
      <p:sp>
        <p:nvSpPr>
          <p:cNvPr id="9" name="Text 6"/>
          <p:cNvSpPr/>
          <p:nvPr/>
        </p:nvSpPr>
        <p:spPr>
          <a:xfrm>
            <a:off x="782955" y="3503771"/>
            <a:ext cx="166330" cy="207883"/>
          </a:xfrm>
          <a:prstGeom prst="rect">
            <a:avLst/>
          </a:prstGeom>
          <a:noFill/>
          <a:ln/>
        </p:spPr>
        <p:txBody>
          <a:bodyPr wrap="none" lIns="0" tIns="0" rIns="0" bIns="0" rtlCol="0" anchor="t"/>
          <a:lstStyle/>
          <a:p>
            <a:pPr marL="0" indent="0" algn="l">
              <a:lnSpc>
                <a:spcPts val="2050"/>
              </a:lnSpc>
              <a:buNone/>
            </a:pPr>
            <a:r>
              <a:rPr lang="en-US" sz="1300" dirty="0">
                <a:solidFill>
                  <a:srgbClr val="383838"/>
                </a:solidFill>
                <a:latin typeface="PT Serif Light" pitchFamily="34" charset="0"/>
                <a:ea typeface="PT Serif Light" pitchFamily="34" charset="-122"/>
                <a:cs typeface="PT Serif Light" pitchFamily="34" charset="-120"/>
              </a:rPr>
              <a:t>02</a:t>
            </a:r>
            <a:endParaRPr lang="en-US" sz="1300" dirty="0"/>
          </a:p>
        </p:txBody>
      </p:sp>
      <p:sp>
        <p:nvSpPr>
          <p:cNvPr id="10" name="Shape 7"/>
          <p:cNvSpPr/>
          <p:nvPr/>
        </p:nvSpPr>
        <p:spPr>
          <a:xfrm>
            <a:off x="782955" y="3763566"/>
            <a:ext cx="7578090" cy="22860"/>
          </a:xfrm>
          <a:prstGeom prst="rect">
            <a:avLst/>
          </a:prstGeom>
          <a:solidFill>
            <a:srgbClr val="E04F00"/>
          </a:solidFill>
          <a:ln/>
        </p:spPr>
      </p:sp>
      <p:sp>
        <p:nvSpPr>
          <p:cNvPr id="11" name="Text 8"/>
          <p:cNvSpPr/>
          <p:nvPr/>
        </p:nvSpPr>
        <p:spPr>
          <a:xfrm>
            <a:off x="782955" y="3892391"/>
            <a:ext cx="3901083" cy="27289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T Serif" pitchFamily="34" charset="0"/>
                <a:ea typeface="PT Serif" pitchFamily="34" charset="-122"/>
                <a:cs typeface="PT Serif" pitchFamily="34" charset="-120"/>
              </a:rPr>
              <a:t>Calculate Sample Standard Deviation (s)</a:t>
            </a:r>
            <a:endParaRPr lang="en-US" sz="1700" dirty="0"/>
          </a:p>
        </p:txBody>
      </p:sp>
      <p:sp>
        <p:nvSpPr>
          <p:cNvPr id="12" name="Text 9"/>
          <p:cNvSpPr/>
          <p:nvPr/>
        </p:nvSpPr>
        <p:spPr>
          <a:xfrm>
            <a:off x="782955" y="4265057"/>
            <a:ext cx="7578090" cy="266224"/>
          </a:xfrm>
          <a:prstGeom prst="rect">
            <a:avLst/>
          </a:prstGeom>
          <a:noFill/>
          <a:ln/>
        </p:spPr>
        <p:txBody>
          <a:bodyPr wrap="none" lIns="0" tIns="0" rIns="0" bIns="0" rtlCol="0" anchor="t"/>
          <a:lstStyle/>
          <a:p>
            <a:pPr marL="0" indent="0" algn="l">
              <a:lnSpc>
                <a:spcPts val="2050"/>
              </a:lnSpc>
              <a:buNone/>
            </a:pPr>
            <a:r>
              <a:rPr lang="en-US" dirty="0">
                <a:solidFill>
                  <a:srgbClr val="383838"/>
                </a:solidFill>
                <a:latin typeface="DM Sans" pitchFamily="34" charset="0"/>
                <a:ea typeface="DM Sans" pitchFamily="34" charset="-122"/>
                <a:cs typeface="DM Sans" pitchFamily="34" charset="-120"/>
              </a:rPr>
              <a:t>Measure the variability in your sample data</a:t>
            </a:r>
            <a:endParaRPr lang="en-US" dirty="0"/>
          </a:p>
        </p:txBody>
      </p:sp>
      <p:sp>
        <p:nvSpPr>
          <p:cNvPr id="13" name="Text 10"/>
          <p:cNvSpPr/>
          <p:nvPr/>
        </p:nvSpPr>
        <p:spPr>
          <a:xfrm>
            <a:off x="782955" y="4822388"/>
            <a:ext cx="166330" cy="207883"/>
          </a:xfrm>
          <a:prstGeom prst="rect">
            <a:avLst/>
          </a:prstGeom>
          <a:noFill/>
          <a:ln/>
        </p:spPr>
        <p:txBody>
          <a:bodyPr wrap="none" lIns="0" tIns="0" rIns="0" bIns="0" rtlCol="0" anchor="t"/>
          <a:lstStyle/>
          <a:p>
            <a:pPr marL="0" indent="0" algn="l">
              <a:lnSpc>
                <a:spcPts val="2050"/>
              </a:lnSpc>
              <a:buNone/>
            </a:pPr>
            <a:r>
              <a:rPr lang="en-US" sz="1300" dirty="0">
                <a:solidFill>
                  <a:srgbClr val="383838"/>
                </a:solidFill>
                <a:latin typeface="PT Serif Light" pitchFamily="34" charset="0"/>
                <a:ea typeface="PT Serif Light" pitchFamily="34" charset="-122"/>
                <a:cs typeface="PT Serif Light" pitchFamily="34" charset="-120"/>
              </a:rPr>
              <a:t>03</a:t>
            </a:r>
            <a:endParaRPr lang="en-US" sz="1300" dirty="0"/>
          </a:p>
        </p:txBody>
      </p:sp>
      <p:sp>
        <p:nvSpPr>
          <p:cNvPr id="14" name="Shape 11"/>
          <p:cNvSpPr/>
          <p:nvPr/>
        </p:nvSpPr>
        <p:spPr>
          <a:xfrm>
            <a:off x="782955" y="5082183"/>
            <a:ext cx="7578090" cy="22860"/>
          </a:xfrm>
          <a:prstGeom prst="rect">
            <a:avLst/>
          </a:prstGeom>
          <a:solidFill>
            <a:srgbClr val="E04F00"/>
          </a:solidFill>
          <a:ln/>
        </p:spPr>
      </p:sp>
      <p:sp>
        <p:nvSpPr>
          <p:cNvPr id="15" name="Text 12"/>
          <p:cNvSpPr/>
          <p:nvPr/>
        </p:nvSpPr>
        <p:spPr>
          <a:xfrm>
            <a:off x="782955" y="5211008"/>
            <a:ext cx="2195513" cy="27289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T Serif" pitchFamily="34" charset="0"/>
                <a:ea typeface="PT Serif" pitchFamily="34" charset="-122"/>
                <a:cs typeface="PT Serif" pitchFamily="34" charset="-120"/>
              </a:rPr>
              <a:t>Compute Test Statistic</a:t>
            </a:r>
            <a:endParaRPr lang="en-US" sz="1700" dirty="0"/>
          </a:p>
        </p:txBody>
      </p:sp>
      <p:sp>
        <p:nvSpPr>
          <p:cNvPr id="16" name="Text 13"/>
          <p:cNvSpPr/>
          <p:nvPr/>
        </p:nvSpPr>
        <p:spPr>
          <a:xfrm>
            <a:off x="782955" y="5583674"/>
            <a:ext cx="7578090" cy="266224"/>
          </a:xfrm>
          <a:prstGeom prst="rect">
            <a:avLst/>
          </a:prstGeom>
          <a:noFill/>
          <a:ln/>
        </p:spPr>
        <p:txBody>
          <a:bodyPr wrap="none" lIns="0" tIns="0" rIns="0" bIns="0" rtlCol="0" anchor="t"/>
          <a:lstStyle/>
          <a:p>
            <a:pPr marL="0" indent="0" algn="l">
              <a:lnSpc>
                <a:spcPts val="2050"/>
              </a:lnSpc>
              <a:buNone/>
            </a:pPr>
            <a:r>
              <a:rPr lang="en-US" dirty="0">
                <a:solidFill>
                  <a:srgbClr val="383838"/>
                </a:solidFill>
                <a:latin typeface="DM Sans" pitchFamily="34" charset="0"/>
                <a:ea typeface="DM Sans" pitchFamily="34" charset="-122"/>
                <a:cs typeface="DM Sans" pitchFamily="34" charset="-120"/>
              </a:rPr>
              <a:t>Use the formula with n = sample size and μ₀ = hypothesized mean</a:t>
            </a:r>
            <a:endParaRPr lang="en-US" dirty="0"/>
          </a:p>
        </p:txBody>
      </p:sp>
      <p:sp>
        <p:nvSpPr>
          <p:cNvPr id="17" name="Text 14"/>
          <p:cNvSpPr/>
          <p:nvPr/>
        </p:nvSpPr>
        <p:spPr>
          <a:xfrm>
            <a:off x="782955" y="6141006"/>
            <a:ext cx="166330" cy="207883"/>
          </a:xfrm>
          <a:prstGeom prst="rect">
            <a:avLst/>
          </a:prstGeom>
          <a:noFill/>
          <a:ln/>
        </p:spPr>
        <p:txBody>
          <a:bodyPr wrap="none" lIns="0" tIns="0" rIns="0" bIns="0" rtlCol="0" anchor="t"/>
          <a:lstStyle/>
          <a:p>
            <a:pPr marL="0" indent="0" algn="l">
              <a:lnSpc>
                <a:spcPts val="2050"/>
              </a:lnSpc>
              <a:buNone/>
            </a:pPr>
            <a:r>
              <a:rPr lang="en-US" sz="1300" dirty="0">
                <a:solidFill>
                  <a:srgbClr val="383838"/>
                </a:solidFill>
                <a:latin typeface="PT Serif Light" pitchFamily="34" charset="0"/>
                <a:ea typeface="PT Serif Light" pitchFamily="34" charset="-122"/>
                <a:cs typeface="PT Serif Light" pitchFamily="34" charset="-120"/>
              </a:rPr>
              <a:t>04</a:t>
            </a:r>
            <a:endParaRPr lang="en-US" sz="1300" dirty="0"/>
          </a:p>
        </p:txBody>
      </p:sp>
      <p:sp>
        <p:nvSpPr>
          <p:cNvPr id="18" name="Shape 15"/>
          <p:cNvSpPr/>
          <p:nvPr/>
        </p:nvSpPr>
        <p:spPr>
          <a:xfrm>
            <a:off x="782955" y="6400800"/>
            <a:ext cx="7578090" cy="22860"/>
          </a:xfrm>
          <a:prstGeom prst="rect">
            <a:avLst/>
          </a:prstGeom>
          <a:solidFill>
            <a:srgbClr val="E04F00"/>
          </a:solidFill>
          <a:ln/>
        </p:spPr>
      </p:sp>
      <p:sp>
        <p:nvSpPr>
          <p:cNvPr id="19" name="Text 16"/>
          <p:cNvSpPr/>
          <p:nvPr/>
        </p:nvSpPr>
        <p:spPr>
          <a:xfrm>
            <a:off x="782955" y="6529626"/>
            <a:ext cx="2183844" cy="27289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T Serif" pitchFamily="34" charset="0"/>
                <a:ea typeface="PT Serif" pitchFamily="34" charset="-122"/>
                <a:cs typeface="PT Serif" pitchFamily="34" charset="-120"/>
              </a:rPr>
              <a:t>Find p-value</a:t>
            </a:r>
            <a:endParaRPr lang="en-US" sz="1700" dirty="0"/>
          </a:p>
        </p:txBody>
      </p:sp>
      <p:sp>
        <p:nvSpPr>
          <p:cNvPr id="20" name="Text 17"/>
          <p:cNvSpPr/>
          <p:nvPr/>
        </p:nvSpPr>
        <p:spPr>
          <a:xfrm>
            <a:off x="782955" y="6902291"/>
            <a:ext cx="7578090" cy="532448"/>
          </a:xfrm>
          <a:prstGeom prst="rect">
            <a:avLst/>
          </a:prstGeom>
          <a:noFill/>
          <a:ln/>
        </p:spPr>
        <p:txBody>
          <a:bodyPr wrap="square" lIns="0" tIns="0" rIns="0" bIns="0" rtlCol="0" anchor="t"/>
          <a:lstStyle/>
          <a:p>
            <a:pPr marL="0" indent="0" algn="l">
              <a:lnSpc>
                <a:spcPts val="2050"/>
              </a:lnSpc>
              <a:buNone/>
            </a:pPr>
            <a:r>
              <a:rPr lang="en-US" dirty="0">
                <a:solidFill>
                  <a:srgbClr val="383838"/>
                </a:solidFill>
                <a:latin typeface="DM Sans" pitchFamily="34" charset="0"/>
                <a:ea typeface="DM Sans" pitchFamily="34" charset="-122"/>
                <a:cs typeface="DM Sans" pitchFamily="34" charset="-120"/>
              </a:rPr>
              <a:t>Determine probability of observing your result if H₀ is true, using t-distribution with (n-1) degrees of freedom</a:t>
            </a:r>
            <a:endParaRPr lang="en-US" dirty="0"/>
          </a:p>
        </p:txBody>
      </p:sp>
      <p:pic>
        <p:nvPicPr>
          <p:cNvPr id="21" name="Picture 6">
            <a:extLst>
              <a:ext uri="{FF2B5EF4-FFF2-40B4-BE49-F238E27FC236}">
                <a16:creationId xmlns:a16="http://schemas.microsoft.com/office/drawing/2014/main" id="{CC74139F-0D60-E148-BFE5-A621CCC967A4}"/>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467250" y="3494933"/>
            <a:ext cx="2799778" cy="1669592"/>
          </a:xfrm>
          <a:prstGeom prst="rect">
            <a:avLst/>
          </a:prstGeom>
          <a:noFill/>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449E3A4-5E26-4D01-9FED-C8D50CA614E2}"/>
                  </a:ext>
                </a:extLst>
              </p:cNvPr>
              <p:cNvGraphicFramePr>
                <a:graphicFrameLocks noGrp="1"/>
              </p:cNvGraphicFramePr>
              <p:nvPr>
                <p:extLst>
                  <p:ext uri="{D42A27DB-BD31-4B8C-83A1-F6EECF244321}">
                    <p14:modId xmlns:p14="http://schemas.microsoft.com/office/powerpoint/2010/main" val="2539529112"/>
                  </p:ext>
                </p:extLst>
              </p:nvPr>
            </p:nvGraphicFramePr>
            <p:xfrm>
              <a:off x="2823210" y="2644726"/>
              <a:ext cx="7863840" cy="3785616"/>
            </p:xfrm>
            <a:graphic>
              <a:graphicData uri="http://schemas.openxmlformats.org/drawingml/2006/table">
                <a:tbl>
                  <a:tblPr firstRow="1" bandRow="1">
                    <a:tableStyleId>{5940675A-B579-460E-94D1-54222C63F5DA}</a:tableStyleId>
                  </a:tblPr>
                  <a:tblGrid>
                    <a:gridCol w="2850642">
                      <a:extLst>
                        <a:ext uri="{9D8B030D-6E8A-4147-A177-3AD203B41FA5}">
                          <a16:colId xmlns:a16="http://schemas.microsoft.com/office/drawing/2014/main" val="1387011879"/>
                        </a:ext>
                      </a:extLst>
                    </a:gridCol>
                    <a:gridCol w="2391918">
                      <a:extLst>
                        <a:ext uri="{9D8B030D-6E8A-4147-A177-3AD203B41FA5}">
                          <a16:colId xmlns:a16="http://schemas.microsoft.com/office/drawing/2014/main" val="3931526467"/>
                        </a:ext>
                      </a:extLst>
                    </a:gridCol>
                    <a:gridCol w="2621280">
                      <a:extLst>
                        <a:ext uri="{9D8B030D-6E8A-4147-A177-3AD203B41FA5}">
                          <a16:colId xmlns:a16="http://schemas.microsoft.com/office/drawing/2014/main" val="3169400577"/>
                        </a:ext>
                      </a:extLst>
                    </a:gridCol>
                  </a:tblGrid>
                  <a:tr h="445008">
                    <a:tc>
                      <a:txBody>
                        <a:bodyPr/>
                        <a:lstStyle/>
                        <a:p>
                          <a:endParaRPr lang="en-IN" sz="2200" dirty="0">
                            <a:latin typeface="+mj-lt"/>
                          </a:endParaRPr>
                        </a:p>
                      </a:txBody>
                      <a:tcPr marL="109728" marR="109728" marT="54864" marB="54864"/>
                    </a:tc>
                    <a:tc>
                      <a:txBody>
                        <a:bodyPr/>
                        <a:lstStyle/>
                        <a:p>
                          <a:r>
                            <a:rPr lang="en-IN" sz="2200" b="1" dirty="0">
                              <a:latin typeface="+mj-lt"/>
                            </a:rPr>
                            <a:t>Notation</a:t>
                          </a:r>
                        </a:p>
                      </a:txBody>
                      <a:tcPr marL="109728" marR="109728" marT="54864" marB="54864"/>
                    </a:tc>
                    <a:tc>
                      <a:txBody>
                        <a:bodyPr/>
                        <a:lstStyle/>
                        <a:p>
                          <a:r>
                            <a:rPr lang="en-IN" sz="2200" b="1" dirty="0">
                              <a:latin typeface="+mj-lt"/>
                            </a:rPr>
                            <a:t>Value</a:t>
                          </a:r>
                        </a:p>
                      </a:txBody>
                      <a:tcPr marL="109728" marR="109728" marT="54864" marB="54864"/>
                    </a:tc>
                    <a:extLst>
                      <a:ext uri="{0D108BD9-81ED-4DB2-BD59-A6C34878D82A}">
                        <a16:rowId xmlns:a16="http://schemas.microsoft.com/office/drawing/2014/main" val="1827217024"/>
                      </a:ext>
                    </a:extLst>
                  </a:tr>
                  <a:tr h="445008">
                    <a:tc>
                      <a:txBody>
                        <a:bodyPr/>
                        <a:lstStyle/>
                        <a:p>
                          <a:r>
                            <a:rPr lang="en-IN" sz="2200" dirty="0">
                              <a:latin typeface="+mj-lt"/>
                            </a:rPr>
                            <a:t>Sample Size</a:t>
                          </a:r>
                        </a:p>
                      </a:txBody>
                      <a:tcPr marL="109728" marR="109728" marT="54864" marB="54864"/>
                    </a:tc>
                    <a:tc>
                      <a:txBody>
                        <a:bodyPr/>
                        <a:lstStyle/>
                        <a:p>
                          <a:r>
                            <a:rPr lang="en-IN" sz="2200" dirty="0">
                              <a:latin typeface="+mj-lt"/>
                            </a:rPr>
                            <a:t>n</a:t>
                          </a:r>
                        </a:p>
                      </a:txBody>
                      <a:tcPr marL="109728" marR="109728" marT="54864" marB="54864"/>
                    </a:tc>
                    <a:tc>
                      <a:txBody>
                        <a:bodyPr/>
                        <a:lstStyle/>
                        <a:p>
                          <a:r>
                            <a:rPr lang="en-IN" sz="2200" dirty="0">
                              <a:latin typeface="+mj-lt"/>
                            </a:rPr>
                            <a:t>12</a:t>
                          </a:r>
                        </a:p>
                      </a:txBody>
                      <a:tcPr marL="109728" marR="109728" marT="54864" marB="54864"/>
                    </a:tc>
                    <a:extLst>
                      <a:ext uri="{0D108BD9-81ED-4DB2-BD59-A6C34878D82A}">
                        <a16:rowId xmlns:a16="http://schemas.microsoft.com/office/drawing/2014/main" val="776971259"/>
                      </a:ext>
                    </a:extLst>
                  </a:tr>
                  <a:tr h="445008">
                    <a:tc>
                      <a:txBody>
                        <a:bodyPr/>
                        <a:lstStyle/>
                        <a:p>
                          <a:r>
                            <a:rPr lang="en-IN" sz="2200" dirty="0">
                              <a:latin typeface="+mj-lt"/>
                            </a:rPr>
                            <a:t>Mean</a:t>
                          </a:r>
                        </a:p>
                      </a:txBody>
                      <a:tcPr marL="109728" marR="109728" marT="54864" marB="54864"/>
                    </a:tc>
                    <a:tc>
                      <a:txBody>
                        <a:bodyPr/>
                        <a:lstStyle/>
                        <a:p>
                          <a:pPr/>
                          <a14:m>
                            <m:oMathPara xmlns:m="http://schemas.openxmlformats.org/officeDocument/2006/math">
                              <m:oMathParaPr>
                                <m:jc m:val="left"/>
                              </m:oMathParaPr>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oMath>
                            </m:oMathPara>
                          </a14:m>
                          <a:endParaRPr lang="en-IN" sz="2200" dirty="0">
                            <a:latin typeface="+mj-lt"/>
                          </a:endParaRPr>
                        </a:p>
                      </a:txBody>
                      <a:tcPr marL="109728" marR="109728" marT="54864" marB="54864"/>
                    </a:tc>
                    <a:tc>
                      <a:txBody>
                        <a:bodyPr/>
                        <a:lstStyle/>
                        <a:p>
                          <a:r>
                            <a:rPr lang="en-IN" sz="2200" dirty="0">
                              <a:latin typeface="+mj-lt"/>
                            </a:rPr>
                            <a:t>93.5833</a:t>
                          </a:r>
                        </a:p>
                      </a:txBody>
                      <a:tcPr marL="109728" marR="109728" marT="54864" marB="54864"/>
                    </a:tc>
                    <a:extLst>
                      <a:ext uri="{0D108BD9-81ED-4DB2-BD59-A6C34878D82A}">
                        <a16:rowId xmlns:a16="http://schemas.microsoft.com/office/drawing/2014/main" val="2449912442"/>
                      </a:ext>
                    </a:extLst>
                  </a:tr>
                  <a:tr h="445008">
                    <a:tc>
                      <a:txBody>
                        <a:bodyPr/>
                        <a:lstStyle/>
                        <a:p>
                          <a:r>
                            <a:rPr lang="en-IN" sz="2200" dirty="0">
                              <a:latin typeface="+mj-lt"/>
                            </a:rPr>
                            <a:t>Standard Deviation</a:t>
                          </a:r>
                        </a:p>
                      </a:txBody>
                      <a:tcPr marL="109728" marR="109728" marT="54864" marB="54864"/>
                    </a:tc>
                    <a:tc>
                      <a:txBody>
                        <a:bodyPr/>
                        <a:lstStyle/>
                        <a:p>
                          <a:r>
                            <a:rPr lang="en-IN" sz="2200" dirty="0">
                              <a:latin typeface="+mj-lt"/>
                            </a:rPr>
                            <a:t>S</a:t>
                          </a:r>
                        </a:p>
                      </a:txBody>
                      <a:tcPr marL="109728" marR="109728" marT="54864" marB="54864"/>
                    </a:tc>
                    <a:tc>
                      <a:txBody>
                        <a:bodyPr/>
                        <a:lstStyle/>
                        <a:p>
                          <a:r>
                            <a:rPr lang="en-IN" sz="2200" dirty="0">
                              <a:latin typeface="+mj-lt"/>
                            </a:rPr>
                            <a:t>6.4731</a:t>
                          </a:r>
                        </a:p>
                      </a:txBody>
                      <a:tcPr marL="109728" marR="109728" marT="54864" marB="54864"/>
                    </a:tc>
                    <a:extLst>
                      <a:ext uri="{0D108BD9-81ED-4DB2-BD59-A6C34878D82A}">
                        <a16:rowId xmlns:a16="http://schemas.microsoft.com/office/drawing/2014/main" val="336765198"/>
                      </a:ext>
                    </a:extLst>
                  </a:tr>
                  <a:tr h="445008">
                    <a:tc>
                      <a:txBody>
                        <a:bodyPr/>
                        <a:lstStyle/>
                        <a:p>
                          <a:r>
                            <a:rPr lang="en-IN" sz="2200" dirty="0">
                              <a:latin typeface="+mj-lt"/>
                            </a:rPr>
                            <a:t>Standard Error</a:t>
                          </a:r>
                        </a:p>
                      </a:txBody>
                      <a:tcPr marL="109728" marR="109728" marT="54864" marB="54864"/>
                    </a:tc>
                    <a:tc>
                      <a:txBody>
                        <a:bodyPr/>
                        <a:lstStyle/>
                        <a:p>
                          <a:pPr marL="0" algn="l" defTabSz="914400" rtl="0" eaLnBrk="1" latinLnBrk="0" hangingPunct="1"/>
                          <a:r>
                            <a:rPr lang="en-IN" sz="2200" kern="1200" dirty="0">
                              <a:solidFill>
                                <a:schemeClr val="tx1"/>
                              </a:solidFill>
                              <a:latin typeface="+mj-lt"/>
                              <a:ea typeface="+mn-ea"/>
                              <a:cs typeface="+mn-cs"/>
                            </a:rPr>
                            <a:t>s/</a:t>
                          </a:r>
                          <a:r>
                            <a:rPr lang="en-US" sz="2200" kern="1200" dirty="0">
                              <a:solidFill>
                                <a:schemeClr val="tx1"/>
                              </a:solidFill>
                              <a:latin typeface="+mj-lt"/>
                              <a:ea typeface="+mn-ea"/>
                              <a:cs typeface="+mn-cs"/>
                              <a:sym typeface="Arial" pitchFamily="34" charset="0"/>
                            </a:rPr>
                            <a:t>√n</a:t>
                          </a:r>
                          <a:endParaRPr lang="en-IN" sz="2200" kern="1200" dirty="0">
                            <a:solidFill>
                              <a:schemeClr val="tx1"/>
                            </a:solidFill>
                            <a:latin typeface="+mj-lt"/>
                            <a:ea typeface="+mn-ea"/>
                            <a:cs typeface="+mn-cs"/>
                          </a:endParaRPr>
                        </a:p>
                      </a:txBody>
                      <a:tcPr marL="109728" marR="109728" marT="54864" marB="54864"/>
                    </a:tc>
                    <a:tc>
                      <a:txBody>
                        <a:bodyPr/>
                        <a:lstStyle/>
                        <a:p>
                          <a:r>
                            <a:rPr lang="en-IN" sz="2200" dirty="0">
                              <a:latin typeface="+mj-lt"/>
                            </a:rPr>
                            <a:t>1.8686</a:t>
                          </a:r>
                        </a:p>
                      </a:txBody>
                      <a:tcPr marL="109728" marR="109728" marT="54864" marB="54864"/>
                    </a:tc>
                    <a:extLst>
                      <a:ext uri="{0D108BD9-81ED-4DB2-BD59-A6C34878D82A}">
                        <a16:rowId xmlns:a16="http://schemas.microsoft.com/office/drawing/2014/main" val="3443673852"/>
                      </a:ext>
                    </a:extLst>
                  </a:tr>
                  <a:tr h="445008">
                    <a:tc>
                      <a:txBody>
                        <a:bodyPr/>
                        <a:lstStyle/>
                        <a:p>
                          <a:r>
                            <a:rPr lang="en-IN" sz="2200" dirty="0">
                              <a:latin typeface="+mj-lt"/>
                            </a:rPr>
                            <a:t>Difference</a:t>
                          </a:r>
                        </a:p>
                      </a:txBody>
                      <a:tcPr marL="109728" marR="109728" marT="54864" marB="54864"/>
                    </a:tc>
                    <a:tc>
                      <a:txBody>
                        <a:bodyPr/>
                        <a:lstStyle/>
                        <a:p>
                          <a14:m>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oMath>
                          </a14:m>
                          <a:r>
                            <a:rPr kumimoji="0" lang="en-US" sz="2200" u="none" strike="noStrike" cap="none" normalizeH="0" baseline="0" dirty="0">
                              <a:ln>
                                <a:noFill/>
                              </a:ln>
                              <a:effectLst/>
                              <a:latin typeface="Eras Demi ITC" pitchFamily="34" charset="0"/>
                              <a:sym typeface="Arial" pitchFamily="34" charset="0"/>
                            </a:rPr>
                            <a:t>-</a:t>
                          </a:r>
                          <a:r>
                            <a:rPr lang="el-GR" sz="2200" dirty="0">
                              <a:solidFill>
                                <a:schemeClr val="tx1"/>
                              </a:solidFill>
                            </a:rPr>
                            <a:t>μ</a:t>
                          </a:r>
                          <a:r>
                            <a:rPr lang="en-US" sz="2200" baseline="-25000" dirty="0">
                              <a:solidFill>
                                <a:schemeClr val="tx1"/>
                              </a:solidFill>
                            </a:rPr>
                            <a:t> 0</a:t>
                          </a:r>
                          <a:endParaRPr lang="en-IN" sz="2200" dirty="0">
                            <a:latin typeface="+mj-lt"/>
                          </a:endParaRPr>
                        </a:p>
                      </a:txBody>
                      <a:tcPr marL="109728" marR="109728" marT="54864" marB="54864"/>
                    </a:tc>
                    <a:tc>
                      <a:txBody>
                        <a:bodyPr/>
                        <a:lstStyle/>
                        <a:p>
                          <a:r>
                            <a:rPr lang="en-IN" sz="2200" dirty="0">
                              <a:latin typeface="+mj-lt"/>
                            </a:rPr>
                            <a:t>93.5833-90=3.5833</a:t>
                          </a:r>
                        </a:p>
                      </a:txBody>
                      <a:tcPr marL="109728" marR="109728" marT="54864" marB="54864"/>
                    </a:tc>
                    <a:extLst>
                      <a:ext uri="{0D108BD9-81ED-4DB2-BD59-A6C34878D82A}">
                        <a16:rowId xmlns:a16="http://schemas.microsoft.com/office/drawing/2014/main" val="1431710442"/>
                      </a:ext>
                    </a:extLst>
                  </a:tr>
                  <a:tr h="768096">
                    <a:tc>
                      <a:txBody>
                        <a:bodyPr/>
                        <a:lstStyle/>
                        <a:p>
                          <a:r>
                            <a:rPr lang="en-IN" sz="2200" dirty="0">
                              <a:latin typeface="+mj-lt"/>
                            </a:rPr>
                            <a:t>t</a:t>
                          </a:r>
                        </a:p>
                        <a:p>
                          <a:endParaRPr lang="en-IN" sz="2200" dirty="0">
                            <a:latin typeface="+mj-lt"/>
                          </a:endParaRPr>
                        </a:p>
                        <a:p>
                          <a:r>
                            <a:rPr lang="en-IN" sz="2200" dirty="0">
                              <a:latin typeface="+mj-lt"/>
                            </a:rPr>
                            <a:t>P value</a:t>
                          </a:r>
                        </a:p>
                      </a:txBody>
                      <a:tcPr marL="109728" marR="109728" marT="54864" marB="54864"/>
                    </a:tc>
                    <a:tc>
                      <a:txBody>
                        <a:bodyPr/>
                        <a:lstStyle/>
                        <a:p>
                          <a:endParaRPr lang="en-IN" sz="2200" dirty="0">
                            <a:latin typeface="+mj-lt"/>
                          </a:endParaRPr>
                        </a:p>
                      </a:txBody>
                      <a:tcPr marL="109728" marR="109728" marT="54864" marB="54864"/>
                    </a:tc>
                    <a:tc>
                      <a:txBody>
                        <a:bodyPr/>
                        <a:lstStyle/>
                        <a:p>
                          <a:r>
                            <a:rPr lang="en-IN" sz="2200" dirty="0">
                              <a:latin typeface="+mj-lt"/>
                            </a:rPr>
                            <a:t>1.9176</a:t>
                          </a:r>
                        </a:p>
                        <a:p>
                          <a:endParaRPr lang="en-IN" sz="2200" dirty="0">
                            <a:latin typeface="+mj-lt"/>
                          </a:endParaRPr>
                        </a:p>
                        <a:p>
                          <a:r>
                            <a:rPr lang="en-IN" sz="2200" dirty="0">
                              <a:latin typeface="+mj-lt"/>
                            </a:rPr>
                            <a:t>0.0407 (Reject H0)</a:t>
                          </a:r>
                        </a:p>
                      </a:txBody>
                      <a:tcPr marL="109728" marR="109728" marT="54864" marB="54864"/>
                    </a:tc>
                    <a:extLst>
                      <a:ext uri="{0D108BD9-81ED-4DB2-BD59-A6C34878D82A}">
                        <a16:rowId xmlns:a16="http://schemas.microsoft.com/office/drawing/2014/main" val="3978763456"/>
                      </a:ext>
                    </a:extLst>
                  </a:tr>
                </a:tbl>
              </a:graphicData>
            </a:graphic>
          </p:graphicFrame>
        </mc:Choice>
        <mc:Fallback xmlns="">
          <p:graphicFrame>
            <p:nvGraphicFramePr>
              <p:cNvPr id="4" name="Table 4">
                <a:extLst>
                  <a:ext uri="{FF2B5EF4-FFF2-40B4-BE49-F238E27FC236}">
                    <a16:creationId xmlns:a16="http://schemas.microsoft.com/office/drawing/2014/main" id="{8449E3A4-5E26-4D01-9FED-C8D50CA614E2}"/>
                  </a:ext>
                </a:extLst>
              </p:cNvPr>
              <p:cNvGraphicFramePr>
                <a:graphicFrameLocks noGrp="1"/>
              </p:cNvGraphicFramePr>
              <p:nvPr>
                <p:extLst>
                  <p:ext uri="{D42A27DB-BD31-4B8C-83A1-F6EECF244321}">
                    <p14:modId xmlns:p14="http://schemas.microsoft.com/office/powerpoint/2010/main" val="2539529112"/>
                  </p:ext>
                </p:extLst>
              </p:nvPr>
            </p:nvGraphicFramePr>
            <p:xfrm>
              <a:off x="2823210" y="2644726"/>
              <a:ext cx="7863840" cy="3785616"/>
            </p:xfrm>
            <a:graphic>
              <a:graphicData uri="http://schemas.openxmlformats.org/drawingml/2006/table">
                <a:tbl>
                  <a:tblPr firstRow="1" bandRow="1">
                    <a:tableStyleId>{5940675A-B579-460E-94D1-54222C63F5DA}</a:tableStyleId>
                  </a:tblPr>
                  <a:tblGrid>
                    <a:gridCol w="2850642">
                      <a:extLst>
                        <a:ext uri="{9D8B030D-6E8A-4147-A177-3AD203B41FA5}">
                          <a16:colId xmlns:a16="http://schemas.microsoft.com/office/drawing/2014/main" val="1387011879"/>
                        </a:ext>
                      </a:extLst>
                    </a:gridCol>
                    <a:gridCol w="2391918">
                      <a:extLst>
                        <a:ext uri="{9D8B030D-6E8A-4147-A177-3AD203B41FA5}">
                          <a16:colId xmlns:a16="http://schemas.microsoft.com/office/drawing/2014/main" val="3931526467"/>
                        </a:ext>
                      </a:extLst>
                    </a:gridCol>
                    <a:gridCol w="2621280">
                      <a:extLst>
                        <a:ext uri="{9D8B030D-6E8A-4147-A177-3AD203B41FA5}">
                          <a16:colId xmlns:a16="http://schemas.microsoft.com/office/drawing/2014/main" val="3169400577"/>
                        </a:ext>
                      </a:extLst>
                    </a:gridCol>
                  </a:tblGrid>
                  <a:tr h="445008">
                    <a:tc>
                      <a:txBody>
                        <a:bodyPr/>
                        <a:lstStyle/>
                        <a:p>
                          <a:endParaRPr lang="en-IN" sz="2200" dirty="0">
                            <a:latin typeface="+mj-lt"/>
                          </a:endParaRPr>
                        </a:p>
                      </a:txBody>
                      <a:tcPr marL="109728" marR="109728" marT="54864" marB="54864"/>
                    </a:tc>
                    <a:tc>
                      <a:txBody>
                        <a:bodyPr/>
                        <a:lstStyle/>
                        <a:p>
                          <a:r>
                            <a:rPr lang="en-IN" sz="2200" b="1" dirty="0">
                              <a:latin typeface="+mj-lt"/>
                            </a:rPr>
                            <a:t>Notation</a:t>
                          </a:r>
                        </a:p>
                      </a:txBody>
                      <a:tcPr marL="109728" marR="109728" marT="54864" marB="54864"/>
                    </a:tc>
                    <a:tc>
                      <a:txBody>
                        <a:bodyPr/>
                        <a:lstStyle/>
                        <a:p>
                          <a:r>
                            <a:rPr lang="en-IN" sz="2200" b="1" dirty="0">
                              <a:latin typeface="+mj-lt"/>
                            </a:rPr>
                            <a:t>Value</a:t>
                          </a:r>
                        </a:p>
                      </a:txBody>
                      <a:tcPr marL="109728" marR="109728" marT="54864" marB="54864"/>
                    </a:tc>
                    <a:extLst>
                      <a:ext uri="{0D108BD9-81ED-4DB2-BD59-A6C34878D82A}">
                        <a16:rowId xmlns:a16="http://schemas.microsoft.com/office/drawing/2014/main" val="1827217024"/>
                      </a:ext>
                    </a:extLst>
                  </a:tr>
                  <a:tr h="445008">
                    <a:tc>
                      <a:txBody>
                        <a:bodyPr/>
                        <a:lstStyle/>
                        <a:p>
                          <a:r>
                            <a:rPr lang="en-IN" sz="2200" dirty="0">
                              <a:latin typeface="+mj-lt"/>
                            </a:rPr>
                            <a:t>Sample Size</a:t>
                          </a:r>
                        </a:p>
                      </a:txBody>
                      <a:tcPr marL="109728" marR="109728" marT="54864" marB="54864"/>
                    </a:tc>
                    <a:tc>
                      <a:txBody>
                        <a:bodyPr/>
                        <a:lstStyle/>
                        <a:p>
                          <a:r>
                            <a:rPr lang="en-IN" sz="2200" dirty="0">
                              <a:latin typeface="+mj-lt"/>
                            </a:rPr>
                            <a:t>n</a:t>
                          </a:r>
                        </a:p>
                      </a:txBody>
                      <a:tcPr marL="109728" marR="109728" marT="54864" marB="54864"/>
                    </a:tc>
                    <a:tc>
                      <a:txBody>
                        <a:bodyPr/>
                        <a:lstStyle/>
                        <a:p>
                          <a:r>
                            <a:rPr lang="en-IN" sz="2200" dirty="0">
                              <a:latin typeface="+mj-lt"/>
                            </a:rPr>
                            <a:t>12</a:t>
                          </a:r>
                        </a:p>
                      </a:txBody>
                      <a:tcPr marL="109728" marR="109728" marT="54864" marB="54864"/>
                    </a:tc>
                    <a:extLst>
                      <a:ext uri="{0D108BD9-81ED-4DB2-BD59-A6C34878D82A}">
                        <a16:rowId xmlns:a16="http://schemas.microsoft.com/office/drawing/2014/main" val="776971259"/>
                      </a:ext>
                    </a:extLst>
                  </a:tr>
                  <a:tr h="445008">
                    <a:tc>
                      <a:txBody>
                        <a:bodyPr/>
                        <a:lstStyle/>
                        <a:p>
                          <a:r>
                            <a:rPr lang="en-IN" sz="2200" dirty="0">
                              <a:latin typeface="+mj-lt"/>
                            </a:rPr>
                            <a:t>Mean</a:t>
                          </a:r>
                        </a:p>
                      </a:txBody>
                      <a:tcPr marL="109728" marR="109728" marT="54864" marB="54864"/>
                    </a:tc>
                    <a:tc>
                      <a:txBody>
                        <a:bodyPr/>
                        <a:lstStyle/>
                        <a:p>
                          <a:endParaRPr lang="en-US"/>
                        </a:p>
                      </a:txBody>
                      <a:tcPr marL="109728" marR="109728" marT="54864" marB="54864">
                        <a:blipFill>
                          <a:blip r:embed="rId3"/>
                          <a:stretch>
                            <a:fillRect l="-120213" t="-208571" r="-110106" b="-577143"/>
                          </a:stretch>
                        </a:blipFill>
                      </a:tcPr>
                    </a:tc>
                    <a:tc>
                      <a:txBody>
                        <a:bodyPr/>
                        <a:lstStyle/>
                        <a:p>
                          <a:r>
                            <a:rPr lang="en-IN" sz="2200" dirty="0">
                              <a:latin typeface="+mj-lt"/>
                            </a:rPr>
                            <a:t>93.5833</a:t>
                          </a:r>
                        </a:p>
                      </a:txBody>
                      <a:tcPr marL="109728" marR="109728" marT="54864" marB="54864"/>
                    </a:tc>
                    <a:extLst>
                      <a:ext uri="{0D108BD9-81ED-4DB2-BD59-A6C34878D82A}">
                        <a16:rowId xmlns:a16="http://schemas.microsoft.com/office/drawing/2014/main" val="2449912442"/>
                      </a:ext>
                    </a:extLst>
                  </a:tr>
                  <a:tr h="445008">
                    <a:tc>
                      <a:txBody>
                        <a:bodyPr/>
                        <a:lstStyle/>
                        <a:p>
                          <a:r>
                            <a:rPr lang="en-IN" sz="2200" dirty="0">
                              <a:latin typeface="+mj-lt"/>
                            </a:rPr>
                            <a:t>Standard Deviation</a:t>
                          </a:r>
                        </a:p>
                      </a:txBody>
                      <a:tcPr marL="109728" marR="109728" marT="54864" marB="54864"/>
                    </a:tc>
                    <a:tc>
                      <a:txBody>
                        <a:bodyPr/>
                        <a:lstStyle/>
                        <a:p>
                          <a:r>
                            <a:rPr lang="en-IN" sz="2200" dirty="0">
                              <a:latin typeface="+mj-lt"/>
                            </a:rPr>
                            <a:t>S</a:t>
                          </a:r>
                        </a:p>
                      </a:txBody>
                      <a:tcPr marL="109728" marR="109728" marT="54864" marB="54864"/>
                    </a:tc>
                    <a:tc>
                      <a:txBody>
                        <a:bodyPr/>
                        <a:lstStyle/>
                        <a:p>
                          <a:r>
                            <a:rPr lang="en-IN" sz="2200" dirty="0">
                              <a:latin typeface="+mj-lt"/>
                            </a:rPr>
                            <a:t>6.4731</a:t>
                          </a:r>
                        </a:p>
                      </a:txBody>
                      <a:tcPr marL="109728" marR="109728" marT="54864" marB="54864"/>
                    </a:tc>
                    <a:extLst>
                      <a:ext uri="{0D108BD9-81ED-4DB2-BD59-A6C34878D82A}">
                        <a16:rowId xmlns:a16="http://schemas.microsoft.com/office/drawing/2014/main" val="336765198"/>
                      </a:ext>
                    </a:extLst>
                  </a:tr>
                  <a:tr h="445008">
                    <a:tc>
                      <a:txBody>
                        <a:bodyPr/>
                        <a:lstStyle/>
                        <a:p>
                          <a:r>
                            <a:rPr lang="en-IN" sz="2200" dirty="0">
                              <a:latin typeface="+mj-lt"/>
                            </a:rPr>
                            <a:t>Standard Error</a:t>
                          </a:r>
                        </a:p>
                      </a:txBody>
                      <a:tcPr marL="109728" marR="109728" marT="54864" marB="54864"/>
                    </a:tc>
                    <a:tc>
                      <a:txBody>
                        <a:bodyPr/>
                        <a:lstStyle/>
                        <a:p>
                          <a:pPr marL="0" algn="l" defTabSz="914400" rtl="0" eaLnBrk="1" latinLnBrk="0" hangingPunct="1"/>
                          <a:r>
                            <a:rPr lang="en-IN" sz="2200" kern="1200" dirty="0">
                              <a:solidFill>
                                <a:schemeClr val="tx1"/>
                              </a:solidFill>
                              <a:latin typeface="+mj-lt"/>
                              <a:ea typeface="+mn-ea"/>
                              <a:cs typeface="+mn-cs"/>
                            </a:rPr>
                            <a:t>s/</a:t>
                          </a:r>
                          <a:r>
                            <a:rPr lang="en-US" sz="2200" kern="1200" dirty="0">
                              <a:solidFill>
                                <a:schemeClr val="tx1"/>
                              </a:solidFill>
                              <a:latin typeface="+mj-lt"/>
                              <a:ea typeface="+mn-ea"/>
                              <a:cs typeface="+mn-cs"/>
                              <a:sym typeface="Arial" pitchFamily="34" charset="0"/>
                            </a:rPr>
                            <a:t>√n</a:t>
                          </a:r>
                          <a:endParaRPr lang="en-IN" sz="2200" kern="1200" dirty="0">
                            <a:solidFill>
                              <a:schemeClr val="tx1"/>
                            </a:solidFill>
                            <a:latin typeface="+mj-lt"/>
                            <a:ea typeface="+mn-ea"/>
                            <a:cs typeface="+mn-cs"/>
                          </a:endParaRPr>
                        </a:p>
                      </a:txBody>
                      <a:tcPr marL="109728" marR="109728" marT="54864" marB="54864"/>
                    </a:tc>
                    <a:tc>
                      <a:txBody>
                        <a:bodyPr/>
                        <a:lstStyle/>
                        <a:p>
                          <a:r>
                            <a:rPr lang="en-IN" sz="2200" dirty="0">
                              <a:latin typeface="+mj-lt"/>
                            </a:rPr>
                            <a:t>1.8686</a:t>
                          </a:r>
                        </a:p>
                      </a:txBody>
                      <a:tcPr marL="109728" marR="109728" marT="54864" marB="54864"/>
                    </a:tc>
                    <a:extLst>
                      <a:ext uri="{0D108BD9-81ED-4DB2-BD59-A6C34878D82A}">
                        <a16:rowId xmlns:a16="http://schemas.microsoft.com/office/drawing/2014/main" val="3443673852"/>
                      </a:ext>
                    </a:extLst>
                  </a:tr>
                  <a:tr h="445008">
                    <a:tc>
                      <a:txBody>
                        <a:bodyPr/>
                        <a:lstStyle/>
                        <a:p>
                          <a:r>
                            <a:rPr lang="en-IN" sz="2200" dirty="0">
                              <a:latin typeface="+mj-lt"/>
                            </a:rPr>
                            <a:t>Difference</a:t>
                          </a:r>
                        </a:p>
                      </a:txBody>
                      <a:tcPr marL="109728" marR="109728" marT="54864" marB="54864"/>
                    </a:tc>
                    <a:tc>
                      <a:txBody>
                        <a:bodyPr/>
                        <a:lstStyle/>
                        <a:p>
                          <a:endParaRPr lang="en-US"/>
                        </a:p>
                      </a:txBody>
                      <a:tcPr marL="109728" marR="109728" marT="54864" marB="54864">
                        <a:blipFill>
                          <a:blip r:embed="rId3"/>
                          <a:stretch>
                            <a:fillRect l="-120213" t="-511429" r="-110106" b="-274286"/>
                          </a:stretch>
                        </a:blipFill>
                      </a:tcPr>
                    </a:tc>
                    <a:tc>
                      <a:txBody>
                        <a:bodyPr/>
                        <a:lstStyle/>
                        <a:p>
                          <a:r>
                            <a:rPr lang="en-IN" sz="2200" dirty="0">
                              <a:latin typeface="+mj-lt"/>
                            </a:rPr>
                            <a:t>93.5833-90=3.5833</a:t>
                          </a:r>
                        </a:p>
                      </a:txBody>
                      <a:tcPr marL="109728" marR="109728" marT="54864" marB="54864"/>
                    </a:tc>
                    <a:extLst>
                      <a:ext uri="{0D108BD9-81ED-4DB2-BD59-A6C34878D82A}">
                        <a16:rowId xmlns:a16="http://schemas.microsoft.com/office/drawing/2014/main" val="1431710442"/>
                      </a:ext>
                    </a:extLst>
                  </a:tr>
                  <a:tr h="1115568">
                    <a:tc>
                      <a:txBody>
                        <a:bodyPr/>
                        <a:lstStyle/>
                        <a:p>
                          <a:r>
                            <a:rPr lang="en-IN" sz="2200" dirty="0">
                              <a:latin typeface="+mj-lt"/>
                            </a:rPr>
                            <a:t>t</a:t>
                          </a:r>
                        </a:p>
                        <a:p>
                          <a:endParaRPr lang="en-IN" sz="2200" dirty="0">
                            <a:latin typeface="+mj-lt"/>
                          </a:endParaRPr>
                        </a:p>
                        <a:p>
                          <a:r>
                            <a:rPr lang="en-IN" sz="2200" dirty="0">
                              <a:latin typeface="+mj-lt"/>
                            </a:rPr>
                            <a:t>P value</a:t>
                          </a:r>
                        </a:p>
                      </a:txBody>
                      <a:tcPr marL="109728" marR="109728" marT="54864" marB="54864"/>
                    </a:tc>
                    <a:tc>
                      <a:txBody>
                        <a:bodyPr/>
                        <a:lstStyle/>
                        <a:p>
                          <a:endParaRPr lang="en-IN" sz="2200" dirty="0">
                            <a:latin typeface="+mj-lt"/>
                          </a:endParaRPr>
                        </a:p>
                      </a:txBody>
                      <a:tcPr marL="109728" marR="109728" marT="54864" marB="54864"/>
                    </a:tc>
                    <a:tc>
                      <a:txBody>
                        <a:bodyPr/>
                        <a:lstStyle/>
                        <a:p>
                          <a:r>
                            <a:rPr lang="en-IN" sz="2200" dirty="0">
                              <a:latin typeface="+mj-lt"/>
                            </a:rPr>
                            <a:t>1.9176</a:t>
                          </a:r>
                        </a:p>
                        <a:p>
                          <a:endParaRPr lang="en-IN" sz="2200" dirty="0">
                            <a:latin typeface="+mj-lt"/>
                          </a:endParaRPr>
                        </a:p>
                        <a:p>
                          <a:r>
                            <a:rPr lang="en-IN" sz="2200" dirty="0">
                              <a:latin typeface="+mj-lt"/>
                            </a:rPr>
                            <a:t>0.0407 (Reject H0)</a:t>
                          </a:r>
                        </a:p>
                      </a:txBody>
                      <a:tcPr marL="109728" marR="109728" marT="54864" marB="54864"/>
                    </a:tc>
                    <a:extLst>
                      <a:ext uri="{0D108BD9-81ED-4DB2-BD59-A6C34878D82A}">
                        <a16:rowId xmlns:a16="http://schemas.microsoft.com/office/drawing/2014/main" val="3978763456"/>
                      </a:ext>
                    </a:extLst>
                  </a:tr>
                </a:tbl>
              </a:graphicData>
            </a:graphic>
          </p:graphicFrame>
        </mc:Fallback>
      </mc:AlternateContent>
      <p:pic>
        <p:nvPicPr>
          <p:cNvPr id="16" name="Picture 33">
            <a:extLst>
              <a:ext uri="{FF2B5EF4-FFF2-40B4-BE49-F238E27FC236}">
                <a16:creationId xmlns:a16="http://schemas.microsoft.com/office/drawing/2014/main" id="{04181037-F18B-47A3-816A-F8B45BB0368E}"/>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850401" y="5450353"/>
            <a:ext cx="571500" cy="514350"/>
          </a:xfrm>
          <a:prstGeom prst="rect">
            <a:avLst/>
          </a:prstGeom>
          <a:noFill/>
        </p:spPr>
      </p:pic>
      <p:sp>
        <p:nvSpPr>
          <p:cNvPr id="2" name="Slide Number Placeholder 1">
            <a:extLst>
              <a:ext uri="{FF2B5EF4-FFF2-40B4-BE49-F238E27FC236}">
                <a16:creationId xmlns:a16="http://schemas.microsoft.com/office/drawing/2014/main" id="{676AC922-0DE7-448E-8D54-F9F9FB804D27}"/>
              </a:ext>
            </a:extLst>
          </p:cNvPr>
          <p:cNvSpPr>
            <a:spLocks noGrp="1"/>
          </p:cNvSpPr>
          <p:nvPr>
            <p:ph type="sldNum" sz="quarter" idx="12"/>
          </p:nvPr>
        </p:nvSpPr>
        <p:spPr/>
        <p:txBody>
          <a:bodyPr/>
          <a:lstStyle/>
          <a:p>
            <a:pPr algn="r"/>
            <a:r>
              <a:rPr lang="en-US" dirty="0"/>
              <a:t> </a:t>
            </a:r>
          </a:p>
        </p:txBody>
      </p:sp>
      <p:sp>
        <p:nvSpPr>
          <p:cNvPr id="14" name="Text 0">
            <a:extLst>
              <a:ext uri="{FF2B5EF4-FFF2-40B4-BE49-F238E27FC236}">
                <a16:creationId xmlns:a16="http://schemas.microsoft.com/office/drawing/2014/main" id="{46462D85-0789-A341-B1BD-596C0DE52AC8}"/>
              </a:ext>
            </a:extLst>
          </p:cNvPr>
          <p:cNvSpPr/>
          <p:nvPr/>
        </p:nvSpPr>
        <p:spPr>
          <a:xfrm>
            <a:off x="353565" y="595596"/>
            <a:ext cx="8770977"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One Sample t Test Computation</a:t>
            </a:r>
            <a:endParaRPr lang="en-US" sz="3600" dirty="0"/>
          </a:p>
        </p:txBody>
      </p:sp>
      <p:sp>
        <p:nvSpPr>
          <p:cNvPr id="5" name="Title 4">
            <a:extLst>
              <a:ext uri="{FF2B5EF4-FFF2-40B4-BE49-F238E27FC236}">
                <a16:creationId xmlns:a16="http://schemas.microsoft.com/office/drawing/2014/main" id="{9AA3CF65-61D4-EB43-ABAF-463836627A3F}"/>
              </a:ext>
            </a:extLst>
          </p:cNvPr>
          <p:cNvSpPr>
            <a:spLocks noGrp="1"/>
          </p:cNvSpPr>
          <p:nvPr>
            <p:ph type="title"/>
          </p:nvPr>
        </p:nvSpPr>
        <p:spPr/>
        <p:txBody>
          <a:bodyPr>
            <a:normAutofit fontScale="90000"/>
          </a:bodyPr>
          <a:lstStyle/>
          <a:p>
            <a:endParaRPr lang="en-US" dirty="0"/>
          </a:p>
        </p:txBody>
      </p:sp>
    </p:spTree>
    <p:extLst>
      <p:ext uri="{BB962C8B-B14F-4D97-AF65-F5344CB8AC3E}">
        <p14:creationId xmlns:p14="http://schemas.microsoft.com/office/powerpoint/2010/main" val="3771974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28030" y="462915"/>
            <a:ext cx="8770977"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One Sample t Test</a:t>
            </a:r>
            <a:endParaRPr lang="en-US" sz="3600" dirty="0"/>
          </a:p>
        </p:txBody>
      </p:sp>
      <p:sp>
        <p:nvSpPr>
          <p:cNvPr id="3" name="Text 1"/>
          <p:cNvSpPr/>
          <p:nvPr/>
        </p:nvSpPr>
        <p:spPr>
          <a:xfrm>
            <a:off x="428030" y="150280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To make a decision, we compare the p-value to our predefined significance level (α). The p-value represents the probability of obtaining results as extreme as observed, assuming the null hypothesis is true.</a:t>
            </a:r>
            <a:endParaRPr lang="en-US" dirty="0"/>
          </a:p>
        </p:txBody>
      </p:sp>
      <p:sp>
        <p:nvSpPr>
          <p:cNvPr id="4" name="Shape 2"/>
          <p:cNvSpPr/>
          <p:nvPr/>
        </p:nvSpPr>
        <p:spPr>
          <a:xfrm>
            <a:off x="793790" y="3019544"/>
            <a:ext cx="6422231" cy="2712958"/>
          </a:xfrm>
          <a:prstGeom prst="roundRect">
            <a:avLst>
              <a:gd name="adj" fmla="val 4045"/>
            </a:avLst>
          </a:prstGeom>
          <a:solidFill>
            <a:srgbClr val="FFFFFF"/>
          </a:solidFill>
          <a:ln w="22860">
            <a:solidFill>
              <a:srgbClr val="D8D4D4"/>
            </a:solidFill>
            <a:prstDash val="solid"/>
          </a:ln>
        </p:spPr>
      </p:sp>
      <p:sp>
        <p:nvSpPr>
          <p:cNvPr id="5" name="Shape 3"/>
          <p:cNvSpPr/>
          <p:nvPr/>
        </p:nvSpPr>
        <p:spPr>
          <a:xfrm>
            <a:off x="770930" y="3019544"/>
            <a:ext cx="91440" cy="2712958"/>
          </a:xfrm>
          <a:prstGeom prst="roundRect">
            <a:avLst>
              <a:gd name="adj" fmla="val 32558"/>
            </a:avLst>
          </a:prstGeom>
          <a:solidFill>
            <a:srgbClr val="E04F00"/>
          </a:solidFill>
          <a:ln/>
        </p:spPr>
      </p:sp>
      <p:sp>
        <p:nvSpPr>
          <p:cNvPr id="6" name="Text 4"/>
          <p:cNvSpPr/>
          <p:nvPr/>
        </p:nvSpPr>
        <p:spPr>
          <a:xfrm>
            <a:off x="1083588" y="324076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Decision Rule</a:t>
            </a:r>
            <a:endParaRPr lang="en-US" sz="2050" dirty="0"/>
          </a:p>
        </p:txBody>
      </p:sp>
      <p:sp>
        <p:nvSpPr>
          <p:cNvPr id="7" name="Text 5"/>
          <p:cNvSpPr/>
          <p:nvPr/>
        </p:nvSpPr>
        <p:spPr>
          <a:xfrm>
            <a:off x="1083588" y="3685461"/>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p-value with level of significance α (typically 0.05 or 5%)</a:t>
            </a:r>
            <a:endParaRPr lang="en-US" sz="1550" dirty="0"/>
          </a:p>
        </p:txBody>
      </p:sp>
      <p:sp>
        <p:nvSpPr>
          <p:cNvPr id="8" name="Text 6"/>
          <p:cNvSpPr/>
          <p:nvPr/>
        </p:nvSpPr>
        <p:spPr>
          <a:xfrm>
            <a:off x="1083588" y="4439603"/>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If p-value &lt; α: Reject H₀</a:t>
            </a:r>
            <a:endParaRPr lang="en-US" sz="1550" dirty="0"/>
          </a:p>
        </p:txBody>
      </p:sp>
      <p:sp>
        <p:nvSpPr>
          <p:cNvPr id="9" name="Text 7"/>
          <p:cNvSpPr/>
          <p:nvPr/>
        </p:nvSpPr>
        <p:spPr>
          <a:xfrm>
            <a:off x="1083588" y="4826556"/>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If p-value ≥ α: Do not reject H₀</a:t>
            </a:r>
            <a:endParaRPr lang="en-US" sz="1550" dirty="0"/>
          </a:p>
        </p:txBody>
      </p:sp>
      <p:sp>
        <p:nvSpPr>
          <p:cNvPr id="10" name="Shape 8"/>
          <p:cNvSpPr/>
          <p:nvPr/>
        </p:nvSpPr>
        <p:spPr>
          <a:xfrm>
            <a:off x="7414379" y="3019544"/>
            <a:ext cx="6422231" cy="2712958"/>
          </a:xfrm>
          <a:prstGeom prst="roundRect">
            <a:avLst>
              <a:gd name="adj" fmla="val 4045"/>
            </a:avLst>
          </a:prstGeom>
          <a:solidFill>
            <a:srgbClr val="FFFFFF"/>
          </a:solidFill>
          <a:ln w="22860">
            <a:solidFill>
              <a:srgbClr val="D8D4D4"/>
            </a:solidFill>
            <a:prstDash val="solid"/>
          </a:ln>
        </p:spPr>
      </p:sp>
      <p:sp>
        <p:nvSpPr>
          <p:cNvPr id="11" name="Shape 9"/>
          <p:cNvSpPr/>
          <p:nvPr/>
        </p:nvSpPr>
        <p:spPr>
          <a:xfrm>
            <a:off x="7391519" y="3019544"/>
            <a:ext cx="91440" cy="2712958"/>
          </a:xfrm>
          <a:prstGeom prst="roundRect">
            <a:avLst>
              <a:gd name="adj" fmla="val 32558"/>
            </a:avLst>
          </a:prstGeom>
          <a:solidFill>
            <a:srgbClr val="E04F00"/>
          </a:solidFill>
          <a:ln/>
        </p:spPr>
      </p:sp>
      <p:sp>
        <p:nvSpPr>
          <p:cNvPr id="12" name="Text 10"/>
          <p:cNvSpPr/>
          <p:nvPr/>
        </p:nvSpPr>
        <p:spPr>
          <a:xfrm>
            <a:off x="7704177" y="324076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Conclusion</a:t>
            </a:r>
            <a:endParaRPr lang="en-US" sz="2050" dirty="0"/>
          </a:p>
        </p:txBody>
      </p:sp>
      <p:sp>
        <p:nvSpPr>
          <p:cNvPr id="13" name="Text 11"/>
          <p:cNvSpPr/>
          <p:nvPr/>
        </p:nvSpPr>
        <p:spPr>
          <a:xfrm>
            <a:off x="7704177" y="3685461"/>
            <a:ext cx="5911215" cy="317540"/>
          </a:xfrm>
          <a:prstGeom prst="rect">
            <a:avLst/>
          </a:prstGeom>
          <a:noFill/>
          <a:ln/>
        </p:spPr>
        <p:txBody>
          <a:bodyPr wrap="none" lIns="0" tIns="0" rIns="0" bIns="0" rtlCol="0" anchor="t"/>
          <a:lstStyle/>
          <a:p>
            <a:pPr marL="0" indent="0" algn="l">
              <a:lnSpc>
                <a:spcPts val="2500"/>
              </a:lnSpc>
              <a:buNone/>
            </a:pPr>
            <a:r>
              <a:rPr lang="en-US" sz="1550" b="1" dirty="0">
                <a:solidFill>
                  <a:srgbClr val="E04F00"/>
                </a:solidFill>
                <a:latin typeface="DM Sans" pitchFamily="34" charset="0"/>
                <a:ea typeface="DM Sans" pitchFamily="34" charset="-122"/>
                <a:cs typeface="DM Sans" pitchFamily="34" charset="-120"/>
              </a:rPr>
              <a:t>Reject H₀</a:t>
            </a:r>
            <a:endParaRPr lang="en-US" sz="1550" dirty="0"/>
          </a:p>
        </p:txBody>
      </p:sp>
      <p:sp>
        <p:nvSpPr>
          <p:cNvPr id="14" name="Text 12"/>
          <p:cNvSpPr/>
          <p:nvPr/>
        </p:nvSpPr>
        <p:spPr>
          <a:xfrm>
            <a:off x="7704177" y="4122063"/>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time taken to complete the MIS report is </a:t>
            </a:r>
            <a:r>
              <a:rPr lang="en-US" sz="1550" b="1" dirty="0">
                <a:solidFill>
                  <a:srgbClr val="383838"/>
                </a:solidFill>
                <a:latin typeface="DM Sans" pitchFamily="34" charset="0"/>
                <a:ea typeface="DM Sans" pitchFamily="34" charset="-122"/>
                <a:cs typeface="DM Sans" pitchFamily="34" charset="-120"/>
              </a:rPr>
              <a:t>significantly more than 90 minutes</a:t>
            </a: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15" name="Text 13"/>
          <p:cNvSpPr/>
          <p:nvPr/>
        </p:nvSpPr>
        <p:spPr>
          <a:xfrm>
            <a:off x="7704177" y="4876205"/>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evidence from our sample supports the general manager's claim at the 5% significance level.</a:t>
            </a:r>
            <a:endParaRPr lang="en-US" sz="1550" dirty="0"/>
          </a:p>
        </p:txBody>
      </p:sp>
      <p:sp>
        <p:nvSpPr>
          <p:cNvPr id="16" name="Shape 14"/>
          <p:cNvSpPr/>
          <p:nvPr/>
        </p:nvSpPr>
        <p:spPr>
          <a:xfrm>
            <a:off x="770930" y="6033789"/>
            <a:ext cx="13042821" cy="1160740"/>
          </a:xfrm>
          <a:prstGeom prst="roundRect">
            <a:avLst>
              <a:gd name="adj" fmla="val 2565"/>
            </a:avLst>
          </a:prstGeom>
          <a:solidFill>
            <a:srgbClr val="FFCDB3"/>
          </a:solidFill>
          <a:ln/>
        </p:spPr>
      </p:sp>
      <p:pic>
        <p:nvPicPr>
          <p:cNvPr id="17" name="Image 0" descr="preencoded.png"/>
          <p:cNvPicPr>
            <a:picLocks noChangeAspect="1"/>
          </p:cNvPicPr>
          <p:nvPr/>
        </p:nvPicPr>
        <p:blipFill>
          <a:blip r:embed="rId3"/>
          <a:stretch>
            <a:fillRect/>
          </a:stretch>
        </p:blipFill>
        <p:spPr>
          <a:xfrm>
            <a:off x="992148" y="6251019"/>
            <a:ext cx="248007" cy="198358"/>
          </a:xfrm>
          <a:prstGeom prst="rect">
            <a:avLst/>
          </a:prstGeom>
        </p:spPr>
      </p:pic>
      <p:sp>
        <p:nvSpPr>
          <p:cNvPr id="18" name="Text 15"/>
          <p:cNvSpPr/>
          <p:nvPr/>
        </p:nvSpPr>
        <p:spPr>
          <a:xfrm>
            <a:off x="1438513" y="6203632"/>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DM Sans" pitchFamily="34" charset="0"/>
                <a:ea typeface="DM Sans" pitchFamily="34" charset="-122"/>
                <a:cs typeface="DM Sans" pitchFamily="34" charset="-120"/>
              </a:rPr>
              <a:t>I</a:t>
            </a:r>
            <a:r>
              <a:rPr lang="en-US" b="1" dirty="0">
                <a:solidFill>
                  <a:srgbClr val="000000"/>
                </a:solidFill>
                <a:latin typeface="DM Sans" pitchFamily="34" charset="0"/>
                <a:ea typeface="DM Sans" pitchFamily="34" charset="-122"/>
                <a:cs typeface="DM Sans" pitchFamily="34" charset="-120"/>
              </a:rPr>
              <a:t>nterpretation Note:</a:t>
            </a:r>
            <a:r>
              <a:rPr lang="en-US" dirty="0">
                <a:solidFill>
                  <a:srgbClr val="000000"/>
                </a:solidFill>
                <a:latin typeface="DM Sans" pitchFamily="34" charset="0"/>
                <a:ea typeface="DM Sans" pitchFamily="34" charset="-122"/>
                <a:cs typeface="DM Sans" pitchFamily="34" charset="-120"/>
              </a:rPr>
              <a:t> "Significant" doesn't mean "important" in everyday language. It means we have sufficient statistical evidence to conclude the true mean exceeds 90 minutes, with our decision carrying no more than a 5% risk of Type I error.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00823" y="291123"/>
            <a:ext cx="6438305"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Independent Samples t Test</a:t>
            </a:r>
            <a:endParaRPr lang="en-US" sz="3600" dirty="0"/>
          </a:p>
        </p:txBody>
      </p:sp>
      <p:sp>
        <p:nvSpPr>
          <p:cNvPr id="3" name="Text 1"/>
          <p:cNvSpPr/>
          <p:nvPr/>
        </p:nvSpPr>
        <p:spPr>
          <a:xfrm>
            <a:off x="400823" y="137187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independent samples t test compares the means of two separate, unrelated groups on the same continuous variable. This is one of the most commonly used statistical tests in research and data analysis.</a:t>
            </a:r>
            <a:endParaRPr lang="en-US" dirty="0"/>
          </a:p>
        </p:txBody>
      </p:sp>
      <p:sp>
        <p:nvSpPr>
          <p:cNvPr id="4" name="Shape 2"/>
          <p:cNvSpPr/>
          <p:nvPr/>
        </p:nvSpPr>
        <p:spPr>
          <a:xfrm>
            <a:off x="793790" y="2619494"/>
            <a:ext cx="4215289" cy="2157293"/>
          </a:xfrm>
          <a:prstGeom prst="roundRect">
            <a:avLst>
              <a:gd name="adj" fmla="val 1380"/>
            </a:avLst>
          </a:prstGeom>
          <a:solidFill>
            <a:srgbClr val="FFFFFF"/>
          </a:solidFill>
          <a:ln w="22860">
            <a:solidFill>
              <a:srgbClr val="D8D4D4"/>
            </a:solidFill>
            <a:prstDash val="solid"/>
          </a:ln>
        </p:spPr>
      </p:sp>
      <p:sp>
        <p:nvSpPr>
          <p:cNvPr id="5" name="Text 3"/>
          <p:cNvSpPr/>
          <p:nvPr/>
        </p:nvSpPr>
        <p:spPr>
          <a:xfrm>
            <a:off x="1015008" y="284071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Purpose</a:t>
            </a:r>
            <a:endParaRPr lang="en-US" sz="2050" dirty="0"/>
          </a:p>
        </p:txBody>
      </p:sp>
      <p:sp>
        <p:nvSpPr>
          <p:cNvPr id="6" name="Text 4"/>
          <p:cNvSpPr/>
          <p:nvPr/>
        </p:nvSpPr>
        <p:spPr>
          <a:xfrm>
            <a:off x="1015008" y="328541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Determines whether two population means are significantly different from each other</a:t>
            </a:r>
            <a:endParaRPr lang="en-US" sz="1550" dirty="0"/>
          </a:p>
        </p:txBody>
      </p:sp>
      <p:sp>
        <p:nvSpPr>
          <p:cNvPr id="7" name="Shape 5"/>
          <p:cNvSpPr/>
          <p:nvPr/>
        </p:nvSpPr>
        <p:spPr>
          <a:xfrm>
            <a:off x="5207437" y="2619494"/>
            <a:ext cx="4215408" cy="2157293"/>
          </a:xfrm>
          <a:prstGeom prst="roundRect">
            <a:avLst>
              <a:gd name="adj" fmla="val 1380"/>
            </a:avLst>
          </a:prstGeom>
          <a:solidFill>
            <a:srgbClr val="FFFFFF"/>
          </a:solidFill>
          <a:ln w="22860">
            <a:solidFill>
              <a:srgbClr val="D8D4D4"/>
            </a:solidFill>
            <a:prstDash val="solid"/>
          </a:ln>
        </p:spPr>
      </p:sp>
      <p:sp>
        <p:nvSpPr>
          <p:cNvPr id="8" name="Text 6"/>
          <p:cNvSpPr/>
          <p:nvPr/>
        </p:nvSpPr>
        <p:spPr>
          <a:xfrm>
            <a:off x="5428655" y="284071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Key Requirement</a:t>
            </a:r>
            <a:endParaRPr lang="en-US" sz="2050" dirty="0"/>
          </a:p>
        </p:txBody>
      </p:sp>
      <p:sp>
        <p:nvSpPr>
          <p:cNvPr id="9" name="Text 7"/>
          <p:cNvSpPr/>
          <p:nvPr/>
        </p:nvSpPr>
        <p:spPr>
          <a:xfrm>
            <a:off x="5428655" y="3285411"/>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two groups must be </a:t>
            </a:r>
            <a:r>
              <a:rPr lang="en-US" sz="1550" b="1" dirty="0">
                <a:solidFill>
                  <a:srgbClr val="383838"/>
                </a:solidFill>
                <a:latin typeface="DM Sans" pitchFamily="34" charset="0"/>
                <a:ea typeface="DM Sans" pitchFamily="34" charset="-122"/>
                <a:cs typeface="DM Sans" pitchFamily="34" charset="-120"/>
              </a:rPr>
              <a:t>independent</a:t>
            </a:r>
            <a:r>
              <a:rPr lang="en-US" sz="1550" dirty="0">
                <a:solidFill>
                  <a:srgbClr val="383838"/>
                </a:solidFill>
                <a:latin typeface="DM Sans" pitchFamily="34" charset="0"/>
                <a:ea typeface="DM Sans" pitchFamily="34" charset="-122"/>
                <a:cs typeface="DM Sans" pitchFamily="34" charset="-120"/>
              </a:rPr>
              <a:t> — observations in one group should not influence observations in the other group</a:t>
            </a:r>
            <a:endParaRPr lang="en-US" sz="1550" dirty="0"/>
          </a:p>
        </p:txBody>
      </p:sp>
      <p:sp>
        <p:nvSpPr>
          <p:cNvPr id="10" name="Shape 8"/>
          <p:cNvSpPr/>
          <p:nvPr/>
        </p:nvSpPr>
        <p:spPr>
          <a:xfrm>
            <a:off x="9621203" y="2619494"/>
            <a:ext cx="4215289" cy="2157293"/>
          </a:xfrm>
          <a:prstGeom prst="roundRect">
            <a:avLst>
              <a:gd name="adj" fmla="val 1380"/>
            </a:avLst>
          </a:prstGeom>
          <a:solidFill>
            <a:srgbClr val="FFFFFF"/>
          </a:solidFill>
          <a:ln w="22860">
            <a:solidFill>
              <a:srgbClr val="D8D4D4"/>
            </a:solidFill>
            <a:prstDash val="solid"/>
          </a:ln>
        </p:spPr>
      </p:sp>
      <p:sp>
        <p:nvSpPr>
          <p:cNvPr id="11" name="Text 9"/>
          <p:cNvSpPr/>
          <p:nvPr/>
        </p:nvSpPr>
        <p:spPr>
          <a:xfrm>
            <a:off x="9842421" y="284071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Common Applications</a:t>
            </a:r>
            <a:endParaRPr lang="en-US" sz="2050" dirty="0"/>
          </a:p>
        </p:txBody>
      </p:sp>
      <p:sp>
        <p:nvSpPr>
          <p:cNvPr id="12" name="Text 10"/>
          <p:cNvSpPr/>
          <p:nvPr/>
        </p:nvSpPr>
        <p:spPr>
          <a:xfrm>
            <a:off x="9842421" y="328541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Treatment vs. control groups, male vs. female, different age groups, different geographic regions</a:t>
            </a:r>
            <a:endParaRPr lang="en-US" sz="1550" dirty="0"/>
          </a:p>
        </p:txBody>
      </p:sp>
      <p:sp>
        <p:nvSpPr>
          <p:cNvPr id="13" name="Shape 11"/>
          <p:cNvSpPr/>
          <p:nvPr/>
        </p:nvSpPr>
        <p:spPr>
          <a:xfrm>
            <a:off x="793790" y="5099178"/>
            <a:ext cx="13042821" cy="32385"/>
          </a:xfrm>
          <a:prstGeom prst="rect">
            <a:avLst/>
          </a:prstGeom>
          <a:solidFill>
            <a:srgbClr val="383838">
              <a:alpha val="50000"/>
            </a:srgbClr>
          </a:solidFill>
          <a:ln/>
        </p:spPr>
      </p:sp>
      <p:sp>
        <p:nvSpPr>
          <p:cNvPr id="14" name="Text 12"/>
          <p:cNvSpPr/>
          <p:nvPr/>
        </p:nvSpPr>
        <p:spPr>
          <a:xfrm>
            <a:off x="793790" y="542913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Hypotheses</a:t>
            </a:r>
            <a:endParaRPr lang="en-US" sz="2450" dirty="0"/>
          </a:p>
        </p:txBody>
      </p:sp>
      <p:sp>
        <p:nvSpPr>
          <p:cNvPr id="15" name="Text 13"/>
          <p:cNvSpPr/>
          <p:nvPr/>
        </p:nvSpPr>
        <p:spPr>
          <a:xfrm>
            <a:off x="793790" y="6117431"/>
            <a:ext cx="13042821"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H₀:</a:t>
            </a:r>
            <a:r>
              <a:rPr lang="en-US" dirty="0">
                <a:solidFill>
                  <a:srgbClr val="383838"/>
                </a:solidFill>
                <a:latin typeface="DM Sans" pitchFamily="34" charset="0"/>
                <a:ea typeface="DM Sans" pitchFamily="34" charset="-122"/>
                <a:cs typeface="DM Sans" pitchFamily="34" charset="-120"/>
              </a:rPr>
              <a:t> μ₁ = μ₂ (The two population means are equal)</a:t>
            </a:r>
            <a:endParaRPr lang="en-US" dirty="0"/>
          </a:p>
        </p:txBody>
      </p:sp>
      <p:sp>
        <p:nvSpPr>
          <p:cNvPr id="16" name="Text 14"/>
          <p:cNvSpPr/>
          <p:nvPr/>
        </p:nvSpPr>
        <p:spPr>
          <a:xfrm>
            <a:off x="793790" y="6658213"/>
            <a:ext cx="13042821"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H₁:</a:t>
            </a:r>
            <a:r>
              <a:rPr lang="en-US" dirty="0">
                <a:solidFill>
                  <a:srgbClr val="383838"/>
                </a:solidFill>
                <a:latin typeface="DM Sans" pitchFamily="34" charset="0"/>
                <a:ea typeface="DM Sans" pitchFamily="34" charset="-122"/>
                <a:cs typeface="DM Sans" pitchFamily="34" charset="-120"/>
              </a:rPr>
              <a:t> μ₁ ≠ μ₂ (The two population means are not equal)</a:t>
            </a:r>
            <a:endParaRPr lang="en-US" dirty="0"/>
          </a:p>
        </p:txBody>
      </p:sp>
      <p:sp>
        <p:nvSpPr>
          <p:cNvPr id="17" name="Text 15"/>
          <p:cNvSpPr/>
          <p:nvPr/>
        </p:nvSpPr>
        <p:spPr>
          <a:xfrm>
            <a:off x="793790" y="7198995"/>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This is typically a two-tailed test unless there's a specific directional hypothesis.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40650" y="446604"/>
            <a:ext cx="8735020"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Independent Samples t Test: Example</a:t>
            </a:r>
            <a:endParaRPr lang="en-US" sz="3600" dirty="0"/>
          </a:p>
        </p:txBody>
      </p:sp>
      <p:sp>
        <p:nvSpPr>
          <p:cNvPr id="3" name="Text 1"/>
          <p:cNvSpPr/>
          <p:nvPr/>
        </p:nvSpPr>
        <p:spPr>
          <a:xfrm>
            <a:off x="496252" y="139579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company wants to assess whether employee experience level affects the time required to complete MIS reports. They compare two groups of employees based on their years of experience.</a:t>
            </a:r>
            <a:endParaRPr lang="en-US" dirty="0"/>
          </a:p>
        </p:txBody>
      </p:sp>
      <p:sp>
        <p:nvSpPr>
          <p:cNvPr id="4" name="Shape 2"/>
          <p:cNvSpPr/>
          <p:nvPr/>
        </p:nvSpPr>
        <p:spPr>
          <a:xfrm>
            <a:off x="793790" y="2551509"/>
            <a:ext cx="6422231" cy="1660565"/>
          </a:xfrm>
          <a:prstGeom prst="roundRect">
            <a:avLst>
              <a:gd name="adj" fmla="val 1793"/>
            </a:avLst>
          </a:prstGeom>
          <a:solidFill>
            <a:srgbClr val="F2EEEE"/>
          </a:solidFill>
          <a:ln/>
        </p:spPr>
      </p:sp>
      <p:sp>
        <p:nvSpPr>
          <p:cNvPr id="5" name="Text 3"/>
          <p:cNvSpPr/>
          <p:nvPr/>
        </p:nvSpPr>
        <p:spPr>
          <a:xfrm>
            <a:off x="992148" y="2749868"/>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Group I</a:t>
            </a:r>
            <a:endParaRPr lang="en-US" sz="2450" dirty="0"/>
          </a:p>
        </p:txBody>
      </p:sp>
      <p:sp>
        <p:nvSpPr>
          <p:cNvPr id="6" name="Text 4"/>
          <p:cNvSpPr/>
          <p:nvPr/>
        </p:nvSpPr>
        <p:spPr>
          <a:xfrm>
            <a:off x="992148" y="3259574"/>
            <a:ext cx="602551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Experience: 0-1 years</a:t>
            </a:r>
            <a:endParaRPr lang="en-US" sz="1550" dirty="0"/>
          </a:p>
        </p:txBody>
      </p:sp>
      <p:sp>
        <p:nvSpPr>
          <p:cNvPr id="7" name="Text 5"/>
          <p:cNvSpPr/>
          <p:nvPr/>
        </p:nvSpPr>
        <p:spPr>
          <a:xfrm>
            <a:off x="992148" y="3696176"/>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New employees with limited experience completing MIS reports</a:t>
            </a:r>
            <a:endParaRPr lang="en-US" sz="1550" dirty="0"/>
          </a:p>
        </p:txBody>
      </p:sp>
      <p:sp>
        <p:nvSpPr>
          <p:cNvPr id="8" name="Shape 6"/>
          <p:cNvSpPr/>
          <p:nvPr/>
        </p:nvSpPr>
        <p:spPr>
          <a:xfrm>
            <a:off x="7414379" y="2551509"/>
            <a:ext cx="6422231" cy="1660565"/>
          </a:xfrm>
          <a:prstGeom prst="roundRect">
            <a:avLst>
              <a:gd name="adj" fmla="val 1793"/>
            </a:avLst>
          </a:prstGeom>
          <a:solidFill>
            <a:srgbClr val="F2EEEE"/>
          </a:solidFill>
          <a:ln/>
        </p:spPr>
      </p:sp>
      <p:sp>
        <p:nvSpPr>
          <p:cNvPr id="9" name="Text 7"/>
          <p:cNvSpPr/>
          <p:nvPr/>
        </p:nvSpPr>
        <p:spPr>
          <a:xfrm>
            <a:off x="7612737" y="2749868"/>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Group II</a:t>
            </a:r>
            <a:endParaRPr lang="en-US" sz="2450" dirty="0"/>
          </a:p>
        </p:txBody>
      </p:sp>
      <p:sp>
        <p:nvSpPr>
          <p:cNvPr id="10" name="Text 8"/>
          <p:cNvSpPr/>
          <p:nvPr/>
        </p:nvSpPr>
        <p:spPr>
          <a:xfrm>
            <a:off x="7612737" y="3259574"/>
            <a:ext cx="602551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Experience: 1-2 years</a:t>
            </a:r>
            <a:endParaRPr lang="en-US" sz="1550" dirty="0"/>
          </a:p>
        </p:txBody>
      </p:sp>
      <p:sp>
        <p:nvSpPr>
          <p:cNvPr id="11" name="Text 9"/>
          <p:cNvSpPr/>
          <p:nvPr/>
        </p:nvSpPr>
        <p:spPr>
          <a:xfrm>
            <a:off x="7612737" y="3696176"/>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More experienced employees familiar with the reporting process</a:t>
            </a:r>
            <a:endParaRPr lang="en-US" sz="1550" dirty="0"/>
          </a:p>
        </p:txBody>
      </p:sp>
      <p:sp>
        <p:nvSpPr>
          <p:cNvPr id="12" name="Shape 10"/>
          <p:cNvSpPr/>
          <p:nvPr/>
        </p:nvSpPr>
        <p:spPr>
          <a:xfrm>
            <a:off x="793790" y="4534465"/>
            <a:ext cx="13042821" cy="32385"/>
          </a:xfrm>
          <a:prstGeom prst="rect">
            <a:avLst/>
          </a:prstGeom>
          <a:solidFill>
            <a:srgbClr val="383838">
              <a:alpha val="50000"/>
            </a:srgbClr>
          </a:solidFill>
          <a:ln/>
        </p:spPr>
      </p:sp>
      <p:sp>
        <p:nvSpPr>
          <p:cNvPr id="13" name="Text 11"/>
          <p:cNvSpPr/>
          <p:nvPr/>
        </p:nvSpPr>
        <p:spPr>
          <a:xfrm>
            <a:off x="793790" y="48644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Research Question</a:t>
            </a:r>
            <a:endParaRPr lang="en-US" sz="2050" dirty="0"/>
          </a:p>
        </p:txBody>
      </p:sp>
      <p:sp>
        <p:nvSpPr>
          <p:cNvPr id="14" name="Text 12"/>
          <p:cNvSpPr/>
          <p:nvPr/>
        </p:nvSpPr>
        <p:spPr>
          <a:xfrm>
            <a:off x="793790" y="5487710"/>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Does experience level significantly affect the time required to complete MIS reports?</a:t>
            </a:r>
            <a:endParaRPr lang="en-US" dirty="0"/>
          </a:p>
        </p:txBody>
      </p:sp>
      <p:sp>
        <p:nvSpPr>
          <p:cNvPr id="15" name="Text 13"/>
          <p:cNvSpPr/>
          <p:nvPr/>
        </p:nvSpPr>
        <p:spPr>
          <a:xfrm>
            <a:off x="793790" y="610290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Hypotheses</a:t>
            </a:r>
            <a:endParaRPr lang="en-US" sz="2050" dirty="0"/>
          </a:p>
        </p:txBody>
      </p:sp>
      <p:sp>
        <p:nvSpPr>
          <p:cNvPr id="16" name="Text 14"/>
          <p:cNvSpPr/>
          <p:nvPr/>
        </p:nvSpPr>
        <p:spPr>
          <a:xfrm>
            <a:off x="793790" y="6726198"/>
            <a:ext cx="13042821"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Null Hypothesis (H₀):</a:t>
            </a:r>
            <a:r>
              <a:rPr lang="en-US" dirty="0">
                <a:solidFill>
                  <a:srgbClr val="383838"/>
                </a:solidFill>
                <a:latin typeface="DM Sans" pitchFamily="34" charset="0"/>
                <a:ea typeface="DM Sans" pitchFamily="34" charset="-122"/>
                <a:cs typeface="DM Sans" pitchFamily="34" charset="-120"/>
              </a:rPr>
              <a:t> Average completion time is equal for both groups (μ₁ = μ₂)</a:t>
            </a:r>
            <a:endParaRPr lang="en-US" dirty="0"/>
          </a:p>
        </p:txBody>
      </p:sp>
      <p:sp>
        <p:nvSpPr>
          <p:cNvPr id="17" name="Text 15"/>
          <p:cNvSpPr/>
          <p:nvPr/>
        </p:nvSpPr>
        <p:spPr>
          <a:xfrm>
            <a:off x="793790" y="7266980"/>
            <a:ext cx="13042821"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Alternative Hypothesis (H₁):</a:t>
            </a:r>
            <a:r>
              <a:rPr lang="en-US" dirty="0">
                <a:solidFill>
                  <a:srgbClr val="383838"/>
                </a:solidFill>
                <a:latin typeface="DM Sans" pitchFamily="34" charset="0"/>
                <a:ea typeface="DM Sans" pitchFamily="34" charset="-122"/>
                <a:cs typeface="DM Sans" pitchFamily="34" charset="-120"/>
              </a:rPr>
              <a:t> Average completion time differs between groups (μ₁ ≠ μ₂)</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399895" y="538428"/>
            <a:ext cx="8932426"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Test Statistic for Independent Samples</a:t>
            </a:r>
            <a:endParaRPr lang="en-US" sz="3600" dirty="0"/>
          </a:p>
        </p:txBody>
      </p:sp>
      <p:sp>
        <p:nvSpPr>
          <p:cNvPr id="4" name="Text 1"/>
          <p:cNvSpPr/>
          <p:nvPr/>
        </p:nvSpPr>
        <p:spPr>
          <a:xfrm>
            <a:off x="399895" y="1670236"/>
            <a:ext cx="13042821" cy="693135"/>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test statistic for independent samples t test compares the difference between sample means relative to the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variability within the groups.</a:t>
            </a:r>
            <a:endParaRPr lang="en-US" dirty="0"/>
          </a:p>
        </p:txBody>
      </p:sp>
      <p:sp>
        <p:nvSpPr>
          <p:cNvPr id="6" name="Text 2"/>
          <p:cNvSpPr/>
          <p:nvPr/>
        </p:nvSpPr>
        <p:spPr>
          <a:xfrm>
            <a:off x="810056" y="5085529"/>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Where x̄₁ and x̄₂ are sample means, s₁² and s₂² are sample variances, and n₁ and n₂ are sample sizes for groups 1 and 2 respectively.</a:t>
            </a:r>
            <a:endParaRPr lang="en-US" dirty="0"/>
          </a:p>
        </p:txBody>
      </p:sp>
      <p:sp>
        <p:nvSpPr>
          <p:cNvPr id="7" name="Shape 3"/>
          <p:cNvSpPr/>
          <p:nvPr/>
        </p:nvSpPr>
        <p:spPr>
          <a:xfrm>
            <a:off x="793790" y="6380559"/>
            <a:ext cx="13042821" cy="1160740"/>
          </a:xfrm>
          <a:prstGeom prst="roundRect">
            <a:avLst>
              <a:gd name="adj" fmla="val 2565"/>
            </a:avLst>
          </a:prstGeom>
          <a:solidFill>
            <a:srgbClr val="FFCDB3"/>
          </a:solidFill>
          <a:ln/>
        </p:spPr>
      </p:sp>
      <p:pic>
        <p:nvPicPr>
          <p:cNvPr id="8" name="Image 2" descr="preencoded.png"/>
          <p:cNvPicPr>
            <a:picLocks noChangeAspect="1"/>
          </p:cNvPicPr>
          <p:nvPr/>
        </p:nvPicPr>
        <p:blipFill>
          <a:blip r:embed="rId3"/>
          <a:stretch>
            <a:fillRect/>
          </a:stretch>
        </p:blipFill>
        <p:spPr>
          <a:xfrm>
            <a:off x="992148" y="6675834"/>
            <a:ext cx="248007" cy="198358"/>
          </a:xfrm>
          <a:prstGeom prst="rect">
            <a:avLst/>
          </a:prstGeom>
        </p:spPr>
      </p:pic>
      <p:sp>
        <p:nvSpPr>
          <p:cNvPr id="9" name="Text 4"/>
          <p:cNvSpPr/>
          <p:nvPr/>
        </p:nvSpPr>
        <p:spPr>
          <a:xfrm>
            <a:off x="1438513" y="6628448"/>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DM Sans" pitchFamily="34" charset="0"/>
                <a:ea typeface="DM Sans" pitchFamily="34" charset="-122"/>
                <a:cs typeface="DM Sans" pitchFamily="34" charset="-120"/>
              </a:rPr>
              <a:t>Pooled Variance Assumption:</a:t>
            </a:r>
            <a:r>
              <a:rPr lang="en-US" sz="1550" dirty="0">
                <a:solidFill>
                  <a:srgbClr val="000000"/>
                </a:solidFill>
                <a:latin typeface="DM Sans" pitchFamily="34" charset="0"/>
                <a:ea typeface="DM Sans" pitchFamily="34" charset="-122"/>
                <a:cs typeface="DM Sans" pitchFamily="34" charset="-120"/>
              </a:rPr>
              <a:t> This formula assumes equal population variances. If this assumption is violated, a modified version (Welch's t test) should be used, which adjusts the degrees of freedom calculation.</a:t>
            </a:r>
            <a:endParaRPr lang="en-US" sz="1550" dirty="0"/>
          </a:p>
        </p:txBody>
      </p:sp>
      <p:pic>
        <p:nvPicPr>
          <p:cNvPr id="10" name="Picture 1">
            <a:extLst>
              <a:ext uri="{FF2B5EF4-FFF2-40B4-BE49-F238E27FC236}">
                <a16:creationId xmlns:a16="http://schemas.microsoft.com/office/drawing/2014/main" id="{016AFAD4-71AE-F549-8B8A-D41755CC57B8}"/>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722257" y="3062100"/>
            <a:ext cx="2934149" cy="1459720"/>
          </a:xfrm>
          <a:prstGeom prst="rect">
            <a:avLst/>
          </a:prstGeom>
          <a:noFill/>
        </p:spPr>
      </p:pic>
      <p:pic>
        <p:nvPicPr>
          <p:cNvPr id="11" name="Picture 10">
            <a:extLst>
              <a:ext uri="{FF2B5EF4-FFF2-40B4-BE49-F238E27FC236}">
                <a16:creationId xmlns:a16="http://schemas.microsoft.com/office/drawing/2014/main" id="{614D60BE-4E60-C44E-8447-493AF58B8486}"/>
              </a:ext>
            </a:extLst>
          </p:cNvPr>
          <p:cNvPicPr>
            <a:picLocks noChangeAspect="1"/>
          </p:cNvPicPr>
          <p:nvPr/>
        </p:nvPicPr>
        <p:blipFill>
          <a:blip r:embed="rId5"/>
          <a:stretch>
            <a:fillRect/>
          </a:stretch>
        </p:blipFill>
        <p:spPr>
          <a:xfrm>
            <a:off x="7033492" y="2890519"/>
            <a:ext cx="3897608" cy="15350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96598" y="575877"/>
            <a:ext cx="9586674"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Independent Samples t test</a:t>
            </a:r>
            <a:endParaRPr lang="en-US" sz="3600" dirty="0"/>
          </a:p>
        </p:txBody>
      </p:sp>
      <p:sp>
        <p:nvSpPr>
          <p:cNvPr id="3" name="Text 1"/>
          <p:cNvSpPr/>
          <p:nvPr/>
        </p:nvSpPr>
        <p:spPr>
          <a:xfrm>
            <a:off x="396598" y="164167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After calculating the test statistic and obtaining the p-value, we compare it to our significance level to make a decision about the null hypothesis.</a:t>
            </a:r>
            <a:endParaRPr lang="en-US" dirty="0"/>
          </a:p>
        </p:txBody>
      </p:sp>
      <p:sp>
        <p:nvSpPr>
          <p:cNvPr id="4" name="Shape 2"/>
          <p:cNvSpPr/>
          <p:nvPr/>
        </p:nvSpPr>
        <p:spPr>
          <a:xfrm>
            <a:off x="793790" y="3326368"/>
            <a:ext cx="4215289" cy="2270165"/>
          </a:xfrm>
          <a:prstGeom prst="roundRect">
            <a:avLst>
              <a:gd name="adj" fmla="val 1311"/>
            </a:avLst>
          </a:prstGeom>
          <a:solidFill>
            <a:srgbClr val="F2EEEE"/>
          </a:solidFill>
          <a:ln/>
        </p:spPr>
      </p:sp>
      <p:sp>
        <p:nvSpPr>
          <p:cNvPr id="5" name="Shape 3"/>
          <p:cNvSpPr/>
          <p:nvPr/>
        </p:nvSpPr>
        <p:spPr>
          <a:xfrm>
            <a:off x="992148" y="3524726"/>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3654862"/>
            <a:ext cx="267891" cy="334923"/>
          </a:xfrm>
          <a:prstGeom prst="rect">
            <a:avLst/>
          </a:prstGeom>
        </p:spPr>
      </p:pic>
      <p:sp>
        <p:nvSpPr>
          <p:cNvPr id="7" name="Text 4"/>
          <p:cNvSpPr/>
          <p:nvPr/>
        </p:nvSpPr>
        <p:spPr>
          <a:xfrm>
            <a:off x="992148" y="4318397"/>
            <a:ext cx="2649260"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Calculate Test Statistic</a:t>
            </a:r>
            <a:endParaRPr lang="en-US" sz="2050" dirty="0"/>
          </a:p>
        </p:txBody>
      </p:sp>
      <p:sp>
        <p:nvSpPr>
          <p:cNvPr id="8" name="Text 5"/>
          <p:cNvSpPr/>
          <p:nvPr/>
        </p:nvSpPr>
        <p:spPr>
          <a:xfrm>
            <a:off x="992148" y="4763095"/>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Compute t-value using the formula with sample data from both groups</a:t>
            </a:r>
            <a:endParaRPr lang="en-US" sz="1550" dirty="0"/>
          </a:p>
        </p:txBody>
      </p:sp>
      <p:sp>
        <p:nvSpPr>
          <p:cNvPr id="9" name="Shape 6"/>
          <p:cNvSpPr/>
          <p:nvPr/>
        </p:nvSpPr>
        <p:spPr>
          <a:xfrm>
            <a:off x="5207437" y="3326368"/>
            <a:ext cx="4215408" cy="2270165"/>
          </a:xfrm>
          <a:prstGeom prst="roundRect">
            <a:avLst>
              <a:gd name="adj" fmla="val 1311"/>
            </a:avLst>
          </a:prstGeom>
          <a:solidFill>
            <a:srgbClr val="F2EEEE"/>
          </a:solidFill>
          <a:ln/>
        </p:spPr>
      </p:sp>
      <p:sp>
        <p:nvSpPr>
          <p:cNvPr id="10" name="Shape 7"/>
          <p:cNvSpPr/>
          <p:nvPr/>
        </p:nvSpPr>
        <p:spPr>
          <a:xfrm>
            <a:off x="5405795" y="3524726"/>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5569506" y="3654862"/>
            <a:ext cx="267891" cy="334923"/>
          </a:xfrm>
          <a:prstGeom prst="rect">
            <a:avLst/>
          </a:prstGeom>
        </p:spPr>
      </p:pic>
      <p:sp>
        <p:nvSpPr>
          <p:cNvPr id="12" name="Text 8"/>
          <p:cNvSpPr/>
          <p:nvPr/>
        </p:nvSpPr>
        <p:spPr>
          <a:xfrm>
            <a:off x="5405795" y="43183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Determine p-value</a:t>
            </a:r>
            <a:endParaRPr lang="en-US" sz="2050" dirty="0"/>
          </a:p>
        </p:txBody>
      </p:sp>
      <p:sp>
        <p:nvSpPr>
          <p:cNvPr id="13" name="Text 9"/>
          <p:cNvSpPr/>
          <p:nvPr/>
        </p:nvSpPr>
        <p:spPr>
          <a:xfrm>
            <a:off x="5405795" y="4763095"/>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Find probability using t-distribution with (n₁ + n₂ - 2) degrees of freedom</a:t>
            </a:r>
            <a:endParaRPr lang="en-US" sz="1550" dirty="0"/>
          </a:p>
        </p:txBody>
      </p:sp>
      <p:sp>
        <p:nvSpPr>
          <p:cNvPr id="14" name="Shape 10"/>
          <p:cNvSpPr/>
          <p:nvPr/>
        </p:nvSpPr>
        <p:spPr>
          <a:xfrm>
            <a:off x="9621203" y="3326368"/>
            <a:ext cx="4215289" cy="2270165"/>
          </a:xfrm>
          <a:prstGeom prst="roundRect">
            <a:avLst>
              <a:gd name="adj" fmla="val 1311"/>
            </a:avLst>
          </a:prstGeom>
          <a:solidFill>
            <a:srgbClr val="F2EEEE"/>
          </a:solidFill>
          <a:ln/>
        </p:spPr>
      </p:sp>
      <p:sp>
        <p:nvSpPr>
          <p:cNvPr id="15" name="Shape 11"/>
          <p:cNvSpPr/>
          <p:nvPr/>
        </p:nvSpPr>
        <p:spPr>
          <a:xfrm>
            <a:off x="9819561" y="3524726"/>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9983272" y="3654862"/>
            <a:ext cx="267891" cy="334923"/>
          </a:xfrm>
          <a:prstGeom prst="rect">
            <a:avLst/>
          </a:prstGeom>
        </p:spPr>
      </p:pic>
      <p:sp>
        <p:nvSpPr>
          <p:cNvPr id="17" name="Text 12"/>
          <p:cNvSpPr/>
          <p:nvPr/>
        </p:nvSpPr>
        <p:spPr>
          <a:xfrm>
            <a:off x="9819561" y="43183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Make Decision</a:t>
            </a:r>
            <a:endParaRPr lang="en-US" sz="2050" dirty="0"/>
          </a:p>
        </p:txBody>
      </p:sp>
      <p:sp>
        <p:nvSpPr>
          <p:cNvPr id="18" name="Text 13"/>
          <p:cNvSpPr/>
          <p:nvPr/>
        </p:nvSpPr>
        <p:spPr>
          <a:xfrm>
            <a:off x="9819561" y="4763095"/>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p-value to α = 0.05 and draw conclusion</a:t>
            </a:r>
            <a:endParaRPr lang="en-US" sz="1550" dirty="0"/>
          </a:p>
        </p:txBody>
      </p:sp>
      <p:sp>
        <p:nvSpPr>
          <p:cNvPr id="19" name="Shape 14"/>
          <p:cNvSpPr/>
          <p:nvPr/>
        </p:nvSpPr>
        <p:spPr>
          <a:xfrm>
            <a:off x="793790" y="5918923"/>
            <a:ext cx="13042821" cy="32385"/>
          </a:xfrm>
          <a:prstGeom prst="rect">
            <a:avLst/>
          </a:prstGeom>
          <a:solidFill>
            <a:srgbClr val="383838">
              <a:alpha val="50000"/>
            </a:srgbClr>
          </a:solidFill>
          <a:ln/>
        </p:spPr>
      </p:sp>
      <p:sp>
        <p:nvSpPr>
          <p:cNvPr id="20" name="Text 15"/>
          <p:cNvSpPr/>
          <p:nvPr/>
        </p:nvSpPr>
        <p:spPr>
          <a:xfrm>
            <a:off x="793790" y="6174462"/>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Based on the comparison of p-value with the significance level, we either reject or fail to reject the null hypothesis. The conclusion should be stated in the context of the research question, explaining what the result means for employee experience and MIS report completion times.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449E3A4-5E26-4D01-9FED-C8D50CA614E2}"/>
                  </a:ext>
                </a:extLst>
              </p:cNvPr>
              <p:cNvGraphicFramePr>
                <a:graphicFrameLocks noGrp="1"/>
              </p:cNvGraphicFramePr>
              <p:nvPr>
                <p:extLst>
                  <p:ext uri="{D42A27DB-BD31-4B8C-83A1-F6EECF244321}">
                    <p14:modId xmlns:p14="http://schemas.microsoft.com/office/powerpoint/2010/main" val="1994944183"/>
                  </p:ext>
                </p:extLst>
              </p:nvPr>
            </p:nvGraphicFramePr>
            <p:xfrm>
              <a:off x="3266783" y="2392915"/>
              <a:ext cx="7863840" cy="4120896"/>
            </p:xfrm>
            <a:graphic>
              <a:graphicData uri="http://schemas.openxmlformats.org/drawingml/2006/table">
                <a:tbl>
                  <a:tblPr firstRow="1" bandRow="1">
                    <a:tableStyleId>{5940675A-B579-460E-94D1-54222C63F5DA}</a:tableStyleId>
                  </a:tblPr>
                  <a:tblGrid>
                    <a:gridCol w="2850642">
                      <a:extLst>
                        <a:ext uri="{9D8B030D-6E8A-4147-A177-3AD203B41FA5}">
                          <a16:colId xmlns:a16="http://schemas.microsoft.com/office/drawing/2014/main" val="1387011879"/>
                        </a:ext>
                      </a:extLst>
                    </a:gridCol>
                    <a:gridCol w="2391918">
                      <a:extLst>
                        <a:ext uri="{9D8B030D-6E8A-4147-A177-3AD203B41FA5}">
                          <a16:colId xmlns:a16="http://schemas.microsoft.com/office/drawing/2014/main" val="3931526467"/>
                        </a:ext>
                      </a:extLst>
                    </a:gridCol>
                    <a:gridCol w="2621280">
                      <a:extLst>
                        <a:ext uri="{9D8B030D-6E8A-4147-A177-3AD203B41FA5}">
                          <a16:colId xmlns:a16="http://schemas.microsoft.com/office/drawing/2014/main" val="3169400577"/>
                        </a:ext>
                      </a:extLst>
                    </a:gridCol>
                  </a:tblGrid>
                  <a:tr h="445008">
                    <a:tc>
                      <a:txBody>
                        <a:bodyPr/>
                        <a:lstStyle/>
                        <a:p>
                          <a:endParaRPr lang="en-IN" sz="2200" dirty="0">
                            <a:latin typeface="+mj-lt"/>
                          </a:endParaRPr>
                        </a:p>
                      </a:txBody>
                      <a:tcPr marL="109728" marR="109728" marT="54864" marB="54864"/>
                    </a:tc>
                    <a:tc>
                      <a:txBody>
                        <a:bodyPr/>
                        <a:lstStyle/>
                        <a:p>
                          <a:r>
                            <a:rPr lang="en-IN" sz="2200" b="1" dirty="0">
                              <a:latin typeface="+mj-lt"/>
                            </a:rPr>
                            <a:t>Group I</a:t>
                          </a:r>
                        </a:p>
                      </a:txBody>
                      <a:tcPr marL="109728" marR="109728" marT="54864" marB="54864"/>
                    </a:tc>
                    <a:tc>
                      <a:txBody>
                        <a:bodyPr/>
                        <a:lstStyle/>
                        <a:p>
                          <a:r>
                            <a:rPr lang="en-IN" sz="2200" b="1" dirty="0">
                              <a:latin typeface="+mj-lt"/>
                            </a:rPr>
                            <a:t>Group II</a:t>
                          </a:r>
                        </a:p>
                      </a:txBody>
                      <a:tcPr marL="109728" marR="109728" marT="54864" marB="54864"/>
                    </a:tc>
                    <a:extLst>
                      <a:ext uri="{0D108BD9-81ED-4DB2-BD59-A6C34878D82A}">
                        <a16:rowId xmlns:a16="http://schemas.microsoft.com/office/drawing/2014/main" val="1827217024"/>
                      </a:ext>
                    </a:extLst>
                  </a:tr>
                  <a:tr h="445008">
                    <a:tc>
                      <a:txBody>
                        <a:bodyPr/>
                        <a:lstStyle/>
                        <a:p>
                          <a:r>
                            <a:rPr lang="en-IN" sz="2200" dirty="0">
                              <a:latin typeface="+mj-lt"/>
                            </a:rPr>
                            <a:t>Sample Size</a:t>
                          </a:r>
                        </a:p>
                      </a:txBody>
                      <a:tcPr marL="109728" marR="109728" marT="54864" marB="54864"/>
                    </a:tc>
                    <a:tc>
                      <a:txBody>
                        <a:bodyPr/>
                        <a:lstStyle/>
                        <a:p>
                          <a:r>
                            <a:rPr lang="en-IN" sz="2200" dirty="0">
                              <a:latin typeface="+mj-lt"/>
                            </a:rPr>
                            <a:t>n1=12</a:t>
                          </a:r>
                        </a:p>
                      </a:txBody>
                      <a:tcPr marL="109728" marR="109728" marT="54864" marB="54864"/>
                    </a:tc>
                    <a:tc>
                      <a:txBody>
                        <a:bodyPr/>
                        <a:lstStyle/>
                        <a:p>
                          <a:r>
                            <a:rPr lang="en-IN" sz="2200" dirty="0">
                              <a:latin typeface="+mj-lt"/>
                            </a:rPr>
                            <a:t>n2=14</a:t>
                          </a:r>
                        </a:p>
                      </a:txBody>
                      <a:tcPr marL="109728" marR="109728" marT="54864" marB="54864"/>
                    </a:tc>
                    <a:extLst>
                      <a:ext uri="{0D108BD9-81ED-4DB2-BD59-A6C34878D82A}">
                        <a16:rowId xmlns:a16="http://schemas.microsoft.com/office/drawing/2014/main" val="776971259"/>
                      </a:ext>
                    </a:extLst>
                  </a:tr>
                  <a:tr h="445008">
                    <a:tc>
                      <a:txBody>
                        <a:bodyPr/>
                        <a:lstStyle/>
                        <a:p>
                          <a:r>
                            <a:rPr lang="en-IN" sz="2200" dirty="0">
                              <a:latin typeface="+mj-lt"/>
                            </a:rPr>
                            <a:t>Mean</a:t>
                          </a:r>
                        </a:p>
                      </a:txBody>
                      <a:tcPr marL="109728" marR="109728" marT="54864" marB="54864"/>
                    </a:tc>
                    <a:tc>
                      <a:txBody>
                        <a:bodyPr/>
                        <a:lstStyle/>
                        <a:p>
                          <a:pPr/>
                          <a14:m>
                            <m:oMathPara xmlns:m="http://schemas.openxmlformats.org/officeDocument/2006/math">
                              <m:oMathParaPr>
                                <m:jc m:val="left"/>
                              </m:oMathParaPr>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r>
                                  <m:rPr>
                                    <m:nor/>
                                  </m:rPr>
                                  <a:rPr lang="en-US" sz="2200" baseline="-25000" dirty="0">
                                    <a:solidFill>
                                      <a:schemeClr val="tx1"/>
                                    </a:solidFill>
                                    <a:latin typeface="+mj-lt"/>
                                  </a:rPr>
                                  <m:t>1</m:t>
                                </m:r>
                                <m:r>
                                  <m:rPr>
                                    <m:nor/>
                                  </m:rPr>
                                  <a:rPr kumimoji="0" lang="en-US" sz="2200" u="none" strike="noStrike" cap="none" normalizeH="0" baseline="0" dirty="0">
                                    <a:ln>
                                      <a:noFill/>
                                    </a:ln>
                                    <a:effectLst/>
                                    <a:latin typeface="+mj-lt"/>
                                    <a:sym typeface="Arial" pitchFamily="34" charset="0"/>
                                  </a:rPr>
                                  <m:t>=</m:t>
                                </m:r>
                                <m:r>
                                  <m:rPr>
                                    <m:nor/>
                                  </m:rPr>
                                  <a:rPr kumimoji="0" lang="en-IN" sz="2200" b="0" i="0" u="none" strike="noStrike" cap="none" normalizeH="0" baseline="0" dirty="0" smtClean="0">
                                    <a:ln>
                                      <a:noFill/>
                                    </a:ln>
                                    <a:effectLst/>
                                    <a:latin typeface="+mj-lt"/>
                                    <a:sym typeface="Arial" pitchFamily="34" charset="0"/>
                                  </a:rPr>
                                  <m:t>93.5833</m:t>
                                </m:r>
                              </m:oMath>
                            </m:oMathPara>
                          </a14:m>
                          <a:endParaRPr lang="en-IN" sz="2200" b="0" dirty="0">
                            <a:latin typeface="+mj-lt"/>
                          </a:endParaRPr>
                        </a:p>
                      </a:txBody>
                      <a:tcPr marL="109728" marR="109728" marT="54864" marB="54864"/>
                    </a:tc>
                    <a:tc>
                      <a:txBody>
                        <a:bodyPr/>
                        <a:lstStyle/>
                        <a:p>
                          <a14:m>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oMath>
                          </a14:m>
                          <a:r>
                            <a:rPr lang="en-US" sz="2200" baseline="-25000" dirty="0">
                              <a:solidFill>
                                <a:schemeClr val="tx1"/>
                              </a:solidFill>
                              <a:latin typeface="+mj-lt"/>
                            </a:rPr>
                            <a:t>2</a:t>
                          </a:r>
                          <a:r>
                            <a:rPr kumimoji="0" lang="en-US" sz="2200" u="none" strike="noStrike" cap="none" normalizeH="0" baseline="0" dirty="0">
                              <a:ln>
                                <a:noFill/>
                              </a:ln>
                              <a:effectLst/>
                              <a:latin typeface="+mj-lt"/>
                              <a:sym typeface="Arial" pitchFamily="34" charset="0"/>
                            </a:rPr>
                            <a:t>= 93.071</a:t>
                          </a:r>
                          <a:endParaRPr lang="en-IN" sz="2200" dirty="0">
                            <a:latin typeface="+mj-lt"/>
                          </a:endParaRPr>
                        </a:p>
                      </a:txBody>
                      <a:tcPr marL="109728" marR="109728" marT="54864" marB="54864"/>
                    </a:tc>
                    <a:extLst>
                      <a:ext uri="{0D108BD9-81ED-4DB2-BD59-A6C34878D82A}">
                        <a16:rowId xmlns:a16="http://schemas.microsoft.com/office/drawing/2014/main" val="2449912442"/>
                      </a:ext>
                    </a:extLst>
                  </a:tr>
                  <a:tr h="445008">
                    <a:tc>
                      <a:txBody>
                        <a:bodyPr/>
                        <a:lstStyle/>
                        <a:p>
                          <a:r>
                            <a:rPr lang="en-IN" sz="2200" dirty="0">
                              <a:latin typeface="+mj-lt"/>
                            </a:rPr>
                            <a:t>Variance</a:t>
                          </a:r>
                        </a:p>
                      </a:txBody>
                      <a:tcPr marL="109728" marR="109728" marT="54864" marB="54864"/>
                    </a:tc>
                    <a:tc>
                      <a:txBody>
                        <a:bodyPr/>
                        <a:lstStyle/>
                        <a:p>
                          <a:r>
                            <a:rPr kumimoji="0" lang="en-US" sz="2200" u="none" strike="noStrike" cap="none" normalizeH="0" baseline="0" dirty="0">
                              <a:ln>
                                <a:noFill/>
                              </a:ln>
                              <a:effectLst/>
                              <a:latin typeface="+mj-lt"/>
                            </a:rPr>
                            <a:t>S</a:t>
                          </a:r>
                          <a:r>
                            <a:rPr kumimoji="0" lang="en-US" sz="2200" u="none" strike="noStrike" cap="none" normalizeH="0" baseline="0" dirty="0">
                              <a:ln>
                                <a:noFill/>
                              </a:ln>
                              <a:effectLst/>
                              <a:latin typeface="+mj-lt"/>
                              <a:sym typeface="Calibri" pitchFamily="34" charset="0"/>
                            </a:rPr>
                            <a:t>₁²=41.9015</a:t>
                          </a:r>
                          <a:endParaRPr lang="en-IN" sz="2200" dirty="0">
                            <a:latin typeface="+mj-lt"/>
                          </a:endParaRPr>
                        </a:p>
                      </a:txBody>
                      <a:tcPr marL="109728" marR="109728" marT="54864" marB="54864"/>
                    </a:tc>
                    <a:tc>
                      <a:txBody>
                        <a:bodyPr/>
                        <a:lstStyle/>
                        <a:p>
                          <a:r>
                            <a:rPr kumimoji="0" lang="en-US" sz="2200" u="none" strike="noStrike" cap="none" normalizeH="0" baseline="0" dirty="0">
                              <a:ln>
                                <a:noFill/>
                              </a:ln>
                              <a:effectLst/>
                              <a:latin typeface="+mj-lt"/>
                            </a:rPr>
                            <a:t>S</a:t>
                          </a:r>
                          <a:r>
                            <a:rPr kumimoji="0" lang="en-US" sz="2200" u="none" strike="noStrike" cap="none" normalizeH="0" baseline="0" dirty="0">
                              <a:ln>
                                <a:noFill/>
                              </a:ln>
                              <a:effectLst/>
                              <a:latin typeface="+mj-lt"/>
                              <a:sym typeface="Calibri" pitchFamily="34" charset="0"/>
                            </a:rPr>
                            <a:t>₂²=27.1483</a:t>
                          </a:r>
                          <a:endParaRPr lang="en-IN" sz="2200" dirty="0">
                            <a:latin typeface="+mj-lt"/>
                          </a:endParaRPr>
                        </a:p>
                      </a:txBody>
                      <a:tcPr marL="109728" marR="109728" marT="54864" marB="54864"/>
                    </a:tc>
                    <a:extLst>
                      <a:ext uri="{0D108BD9-81ED-4DB2-BD59-A6C34878D82A}">
                        <a16:rowId xmlns:a16="http://schemas.microsoft.com/office/drawing/2014/main" val="336765198"/>
                      </a:ext>
                    </a:extLst>
                  </a:tr>
                  <a:tr h="445008">
                    <a:tc>
                      <a:txBody>
                        <a:bodyPr/>
                        <a:lstStyle/>
                        <a:p>
                          <a:r>
                            <a:rPr lang="en-IN" sz="2200" dirty="0">
                              <a:latin typeface="+mj-lt"/>
                            </a:rPr>
                            <a:t>Pooled Variance</a:t>
                          </a:r>
                        </a:p>
                      </a:txBody>
                      <a:tcPr marL="109728" marR="109728" marT="54864" marB="54864"/>
                    </a:tc>
                    <a:tc gridSpan="2">
                      <a:txBody>
                        <a:bodyPr/>
                        <a:lstStyle/>
                        <a:p>
                          <a:pPr marL="0" algn="l" defTabSz="914400" rtl="0" eaLnBrk="1" latinLnBrk="0" hangingPunct="1"/>
                          <a:r>
                            <a:rPr kumimoji="0" lang="en-US" sz="2200" u="none" strike="noStrike" cap="none" normalizeH="0" baseline="0" dirty="0">
                              <a:ln>
                                <a:noFill/>
                              </a:ln>
                              <a:effectLst/>
                              <a:latin typeface="+mj-lt"/>
                            </a:rPr>
                            <a:t>Sp</a:t>
                          </a:r>
                          <a:r>
                            <a:rPr kumimoji="0" lang="en-US" sz="2200" u="none" strike="noStrike" cap="none" normalizeH="0" baseline="0" dirty="0">
                              <a:ln>
                                <a:noFill/>
                              </a:ln>
                              <a:effectLst/>
                              <a:latin typeface="+mj-lt"/>
                              <a:sym typeface="Calibri" pitchFamily="34" charset="0"/>
                            </a:rPr>
                            <a:t>²=</a:t>
                          </a:r>
                          <a:r>
                            <a:rPr lang="en-IN" sz="2200" dirty="0">
                              <a:latin typeface="+mj-lt"/>
                            </a:rPr>
                            <a:t>33.9102</a:t>
                          </a:r>
                        </a:p>
                      </a:txBody>
                      <a:tcPr marL="109728" marR="109728" marT="54864" marB="54864"/>
                    </a:tc>
                    <a:tc hMerge="1">
                      <a:txBody>
                        <a:bodyPr/>
                        <a:lstStyle/>
                        <a:p>
                          <a:endParaRPr lang="en-IN" sz="1800" dirty="0">
                            <a:latin typeface="+mj-lt"/>
                          </a:endParaRPr>
                        </a:p>
                      </a:txBody>
                      <a:tcPr/>
                    </a:tc>
                    <a:extLst>
                      <a:ext uri="{0D108BD9-81ED-4DB2-BD59-A6C34878D82A}">
                        <a16:rowId xmlns:a16="http://schemas.microsoft.com/office/drawing/2014/main" val="3443673852"/>
                      </a:ext>
                    </a:extLst>
                  </a:tr>
                  <a:tr h="445008">
                    <a:tc>
                      <a:txBody>
                        <a:bodyPr/>
                        <a:lstStyle/>
                        <a:p>
                          <a:r>
                            <a:rPr lang="en-IN" sz="2200" dirty="0">
                              <a:latin typeface="+mj-lt"/>
                            </a:rPr>
                            <a:t>Difference</a:t>
                          </a:r>
                        </a:p>
                      </a:txBody>
                      <a:tcPr marL="109728" marR="109728" marT="54864" marB="54864"/>
                    </a:tc>
                    <a:tc gridSpan="2">
                      <a:txBody>
                        <a:bodyPr/>
                        <a:lstStyle/>
                        <a:p>
                          <a14:m>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oMath>
                          </a14:m>
                          <a:r>
                            <a:rPr lang="en-US" sz="2200" baseline="-25000" dirty="0">
                              <a:solidFill>
                                <a:schemeClr val="tx1"/>
                              </a:solidFill>
                              <a:latin typeface="+mj-lt"/>
                            </a:rPr>
                            <a:t>1</a:t>
                          </a:r>
                          <a:r>
                            <a:rPr kumimoji="0" lang="en-US" sz="2200" u="none" strike="noStrike" cap="none" normalizeH="0" baseline="0" dirty="0">
                              <a:ln>
                                <a:noFill/>
                              </a:ln>
                              <a:effectLst/>
                              <a:latin typeface="+mj-lt"/>
                              <a:sym typeface="Arial" pitchFamily="34" charset="0"/>
                            </a:rPr>
                            <a:t>-</a:t>
                          </a:r>
                          <a14:m>
                            <m:oMath xmlns:m="http://schemas.openxmlformats.org/officeDocument/2006/math">
                              <m:acc>
                                <m:accPr>
                                  <m:chr m:val="̅"/>
                                  <m:ctrlPr>
                                    <a:rPr lang="ar-AE" sz="2200" i="1" dirty="0" smtClean="0">
                                      <a:solidFill>
                                        <a:schemeClr val="tx1"/>
                                      </a:solidFill>
                                      <a:latin typeface="Cambria Math" panose="02040503050406030204" pitchFamily="18" charset="0"/>
                                    </a:rPr>
                                  </m:ctrlPr>
                                </m:accPr>
                                <m:e>
                                  <m:r>
                                    <a:rPr lang="ar-AE" sz="2200" i="1" dirty="0">
                                      <a:solidFill>
                                        <a:schemeClr val="tx1"/>
                                      </a:solidFill>
                                      <a:latin typeface="Cambria Math" panose="02040503050406030204" pitchFamily="18" charset="0"/>
                                    </a:rPr>
                                    <m:t>𝑥</m:t>
                                  </m:r>
                                </m:e>
                              </m:acc>
                            </m:oMath>
                          </a14:m>
                          <a:r>
                            <a:rPr lang="en-US" sz="2200" baseline="-25000" dirty="0">
                              <a:solidFill>
                                <a:schemeClr val="tx1"/>
                              </a:solidFill>
                              <a:latin typeface="+mj-lt"/>
                            </a:rPr>
                            <a:t>2 </a:t>
                          </a:r>
                          <a:r>
                            <a:rPr kumimoji="0" lang="en-US" sz="2200" u="none" strike="noStrike" cap="none" normalizeH="0" baseline="0" dirty="0">
                              <a:ln>
                                <a:noFill/>
                              </a:ln>
                              <a:effectLst/>
                              <a:latin typeface="+mj-lt"/>
                              <a:sym typeface="Calibri" pitchFamily="34" charset="0"/>
                            </a:rPr>
                            <a:t> </a:t>
                          </a:r>
                          <a:r>
                            <a:rPr lang="en-IN" sz="2200" dirty="0">
                              <a:latin typeface="+mj-lt"/>
                            </a:rPr>
                            <a:t>=0.5119</a:t>
                          </a:r>
                        </a:p>
                      </a:txBody>
                      <a:tcPr marL="109728" marR="109728" marT="54864" marB="54864"/>
                    </a:tc>
                    <a:tc hMerge="1">
                      <a:txBody>
                        <a:bodyPr/>
                        <a:lstStyle/>
                        <a:p>
                          <a:endParaRPr lang="en-IN" sz="1800" dirty="0">
                            <a:latin typeface="+mj-lt"/>
                          </a:endParaRPr>
                        </a:p>
                      </a:txBody>
                      <a:tcPr/>
                    </a:tc>
                    <a:extLst>
                      <a:ext uri="{0D108BD9-81ED-4DB2-BD59-A6C34878D82A}">
                        <a16:rowId xmlns:a16="http://schemas.microsoft.com/office/drawing/2014/main" val="1431710442"/>
                      </a:ext>
                    </a:extLst>
                  </a:tr>
                  <a:tr h="768096">
                    <a:tc>
                      <a:txBody>
                        <a:bodyPr/>
                        <a:lstStyle/>
                        <a:p>
                          <a:r>
                            <a:rPr lang="en-IN" sz="2200" dirty="0">
                              <a:latin typeface="+mj-lt"/>
                            </a:rPr>
                            <a:t>t</a:t>
                          </a:r>
                        </a:p>
                        <a:p>
                          <a:endParaRPr lang="en-IN" sz="2200" dirty="0">
                            <a:latin typeface="+mj-lt"/>
                          </a:endParaRPr>
                        </a:p>
                        <a:p>
                          <a:r>
                            <a:rPr lang="en-IN" sz="2200" dirty="0">
                              <a:latin typeface="+mj-lt"/>
                            </a:rPr>
                            <a:t>P value</a:t>
                          </a:r>
                        </a:p>
                        <a:p>
                          <a:endParaRPr lang="en-IN" sz="2200" dirty="0">
                            <a:latin typeface="+mj-lt"/>
                          </a:endParaRPr>
                        </a:p>
                      </a:txBody>
                      <a:tcPr marL="109728" marR="109728" marT="54864" marB="54864"/>
                    </a:tc>
                    <a:tc gridSpan="2">
                      <a:txBody>
                        <a:bodyPr/>
                        <a:lstStyle/>
                        <a:p>
                          <a:r>
                            <a:rPr lang="en-IN" sz="2200" dirty="0">
                              <a:latin typeface="+mj-lt"/>
                            </a:rPr>
                            <a:t>                                            =0.22345</a:t>
                          </a:r>
                        </a:p>
                        <a:p>
                          <a:endParaRPr lang="en-IN" sz="2200" dirty="0">
                            <a:latin typeface="+mj-lt"/>
                          </a:endParaRPr>
                        </a:p>
                        <a:p>
                          <a:r>
                            <a:rPr lang="en-IN" sz="2200" dirty="0">
                              <a:latin typeface="+mj-lt"/>
                            </a:rPr>
                            <a:t>0.8251 ( Do not Reject H0)</a:t>
                          </a:r>
                        </a:p>
                      </a:txBody>
                      <a:tcPr marL="109728" marR="109728" marT="54864" marB="54864"/>
                    </a:tc>
                    <a:tc hMerge="1">
                      <a:txBody>
                        <a:bodyPr/>
                        <a:lstStyle/>
                        <a:p>
                          <a:endParaRPr lang="en-IN" sz="1800" dirty="0">
                            <a:latin typeface="+mj-lt"/>
                          </a:endParaRPr>
                        </a:p>
                      </a:txBody>
                      <a:tcPr/>
                    </a:tc>
                    <a:extLst>
                      <a:ext uri="{0D108BD9-81ED-4DB2-BD59-A6C34878D82A}">
                        <a16:rowId xmlns:a16="http://schemas.microsoft.com/office/drawing/2014/main" val="3978763456"/>
                      </a:ext>
                    </a:extLst>
                  </a:tr>
                </a:tbl>
              </a:graphicData>
            </a:graphic>
          </p:graphicFrame>
        </mc:Choice>
        <mc:Fallback xmlns="">
          <p:graphicFrame>
            <p:nvGraphicFramePr>
              <p:cNvPr id="4" name="Table 4">
                <a:extLst>
                  <a:ext uri="{FF2B5EF4-FFF2-40B4-BE49-F238E27FC236}">
                    <a16:creationId xmlns:a16="http://schemas.microsoft.com/office/drawing/2014/main" id="{8449E3A4-5E26-4D01-9FED-C8D50CA614E2}"/>
                  </a:ext>
                </a:extLst>
              </p:cNvPr>
              <p:cNvGraphicFramePr>
                <a:graphicFrameLocks noGrp="1"/>
              </p:cNvGraphicFramePr>
              <p:nvPr>
                <p:extLst>
                  <p:ext uri="{D42A27DB-BD31-4B8C-83A1-F6EECF244321}">
                    <p14:modId xmlns:p14="http://schemas.microsoft.com/office/powerpoint/2010/main" val="1994944183"/>
                  </p:ext>
                </p:extLst>
              </p:nvPr>
            </p:nvGraphicFramePr>
            <p:xfrm>
              <a:off x="3266783" y="2392915"/>
              <a:ext cx="7863840" cy="4120896"/>
            </p:xfrm>
            <a:graphic>
              <a:graphicData uri="http://schemas.openxmlformats.org/drawingml/2006/table">
                <a:tbl>
                  <a:tblPr firstRow="1" bandRow="1">
                    <a:tableStyleId>{5940675A-B579-460E-94D1-54222C63F5DA}</a:tableStyleId>
                  </a:tblPr>
                  <a:tblGrid>
                    <a:gridCol w="2850642">
                      <a:extLst>
                        <a:ext uri="{9D8B030D-6E8A-4147-A177-3AD203B41FA5}">
                          <a16:colId xmlns:a16="http://schemas.microsoft.com/office/drawing/2014/main" val="1387011879"/>
                        </a:ext>
                      </a:extLst>
                    </a:gridCol>
                    <a:gridCol w="2391918">
                      <a:extLst>
                        <a:ext uri="{9D8B030D-6E8A-4147-A177-3AD203B41FA5}">
                          <a16:colId xmlns:a16="http://schemas.microsoft.com/office/drawing/2014/main" val="3931526467"/>
                        </a:ext>
                      </a:extLst>
                    </a:gridCol>
                    <a:gridCol w="2621280">
                      <a:extLst>
                        <a:ext uri="{9D8B030D-6E8A-4147-A177-3AD203B41FA5}">
                          <a16:colId xmlns:a16="http://schemas.microsoft.com/office/drawing/2014/main" val="3169400577"/>
                        </a:ext>
                      </a:extLst>
                    </a:gridCol>
                  </a:tblGrid>
                  <a:tr h="445008">
                    <a:tc>
                      <a:txBody>
                        <a:bodyPr/>
                        <a:lstStyle/>
                        <a:p>
                          <a:endParaRPr lang="en-IN" sz="2200" dirty="0">
                            <a:latin typeface="+mj-lt"/>
                          </a:endParaRPr>
                        </a:p>
                      </a:txBody>
                      <a:tcPr marL="109728" marR="109728" marT="54864" marB="54864"/>
                    </a:tc>
                    <a:tc>
                      <a:txBody>
                        <a:bodyPr/>
                        <a:lstStyle/>
                        <a:p>
                          <a:r>
                            <a:rPr lang="en-IN" sz="2200" b="1" dirty="0">
                              <a:latin typeface="+mj-lt"/>
                            </a:rPr>
                            <a:t>Group I</a:t>
                          </a:r>
                        </a:p>
                      </a:txBody>
                      <a:tcPr marL="109728" marR="109728" marT="54864" marB="54864"/>
                    </a:tc>
                    <a:tc>
                      <a:txBody>
                        <a:bodyPr/>
                        <a:lstStyle/>
                        <a:p>
                          <a:r>
                            <a:rPr lang="en-IN" sz="2200" b="1" dirty="0">
                              <a:latin typeface="+mj-lt"/>
                            </a:rPr>
                            <a:t>Group II</a:t>
                          </a:r>
                        </a:p>
                      </a:txBody>
                      <a:tcPr marL="109728" marR="109728" marT="54864" marB="54864"/>
                    </a:tc>
                    <a:extLst>
                      <a:ext uri="{0D108BD9-81ED-4DB2-BD59-A6C34878D82A}">
                        <a16:rowId xmlns:a16="http://schemas.microsoft.com/office/drawing/2014/main" val="1827217024"/>
                      </a:ext>
                    </a:extLst>
                  </a:tr>
                  <a:tr h="445008">
                    <a:tc>
                      <a:txBody>
                        <a:bodyPr/>
                        <a:lstStyle/>
                        <a:p>
                          <a:r>
                            <a:rPr lang="en-IN" sz="2200" dirty="0">
                              <a:latin typeface="+mj-lt"/>
                            </a:rPr>
                            <a:t>Sample Size</a:t>
                          </a:r>
                        </a:p>
                      </a:txBody>
                      <a:tcPr marL="109728" marR="109728" marT="54864" marB="54864"/>
                    </a:tc>
                    <a:tc>
                      <a:txBody>
                        <a:bodyPr/>
                        <a:lstStyle/>
                        <a:p>
                          <a:r>
                            <a:rPr lang="en-IN" sz="2200" dirty="0">
                              <a:latin typeface="+mj-lt"/>
                            </a:rPr>
                            <a:t>n1=12</a:t>
                          </a:r>
                        </a:p>
                      </a:txBody>
                      <a:tcPr marL="109728" marR="109728" marT="54864" marB="54864"/>
                    </a:tc>
                    <a:tc>
                      <a:txBody>
                        <a:bodyPr/>
                        <a:lstStyle/>
                        <a:p>
                          <a:r>
                            <a:rPr lang="en-IN" sz="2200" dirty="0">
                              <a:latin typeface="+mj-lt"/>
                            </a:rPr>
                            <a:t>n2=14</a:t>
                          </a:r>
                        </a:p>
                      </a:txBody>
                      <a:tcPr marL="109728" marR="109728" marT="54864" marB="54864"/>
                    </a:tc>
                    <a:extLst>
                      <a:ext uri="{0D108BD9-81ED-4DB2-BD59-A6C34878D82A}">
                        <a16:rowId xmlns:a16="http://schemas.microsoft.com/office/drawing/2014/main" val="776971259"/>
                      </a:ext>
                    </a:extLst>
                  </a:tr>
                  <a:tr h="445008">
                    <a:tc>
                      <a:txBody>
                        <a:bodyPr/>
                        <a:lstStyle/>
                        <a:p>
                          <a:r>
                            <a:rPr lang="en-IN" sz="2200" dirty="0">
                              <a:latin typeface="+mj-lt"/>
                            </a:rPr>
                            <a:t>Mean</a:t>
                          </a:r>
                        </a:p>
                      </a:txBody>
                      <a:tcPr marL="109728" marR="109728" marT="54864" marB="54864"/>
                    </a:tc>
                    <a:tc>
                      <a:txBody>
                        <a:bodyPr/>
                        <a:lstStyle/>
                        <a:p>
                          <a:endParaRPr lang="en-US"/>
                        </a:p>
                      </a:txBody>
                      <a:tcPr marL="109728" marR="109728" marT="54864" marB="54864">
                        <a:blipFill>
                          <a:blip r:embed="rId3"/>
                          <a:stretch>
                            <a:fillRect l="-120213" t="-208571" r="-110106" b="-631429"/>
                          </a:stretch>
                        </a:blipFill>
                      </a:tcPr>
                    </a:tc>
                    <a:tc>
                      <a:txBody>
                        <a:bodyPr/>
                        <a:lstStyle/>
                        <a:p>
                          <a:endParaRPr lang="en-US"/>
                        </a:p>
                      </a:txBody>
                      <a:tcPr marL="109728" marR="109728" marT="54864" marB="54864">
                        <a:blipFill>
                          <a:blip r:embed="rId3"/>
                          <a:stretch>
                            <a:fillRect l="-200000" t="-208571" b="-631429"/>
                          </a:stretch>
                        </a:blipFill>
                      </a:tcPr>
                    </a:tc>
                    <a:extLst>
                      <a:ext uri="{0D108BD9-81ED-4DB2-BD59-A6C34878D82A}">
                        <a16:rowId xmlns:a16="http://schemas.microsoft.com/office/drawing/2014/main" val="2449912442"/>
                      </a:ext>
                    </a:extLst>
                  </a:tr>
                  <a:tr h="445008">
                    <a:tc>
                      <a:txBody>
                        <a:bodyPr/>
                        <a:lstStyle/>
                        <a:p>
                          <a:r>
                            <a:rPr lang="en-IN" sz="2200" dirty="0">
                              <a:latin typeface="+mj-lt"/>
                            </a:rPr>
                            <a:t>Variance</a:t>
                          </a:r>
                        </a:p>
                      </a:txBody>
                      <a:tcPr marL="109728" marR="109728" marT="54864" marB="54864"/>
                    </a:tc>
                    <a:tc>
                      <a:txBody>
                        <a:bodyPr/>
                        <a:lstStyle/>
                        <a:p>
                          <a:r>
                            <a:rPr kumimoji="0" lang="en-US" sz="2200" u="none" strike="noStrike" cap="none" normalizeH="0" baseline="0" dirty="0">
                              <a:ln>
                                <a:noFill/>
                              </a:ln>
                              <a:effectLst/>
                              <a:latin typeface="+mj-lt"/>
                            </a:rPr>
                            <a:t>S</a:t>
                          </a:r>
                          <a:r>
                            <a:rPr kumimoji="0" lang="en-US" sz="2200" u="none" strike="noStrike" cap="none" normalizeH="0" baseline="0" dirty="0">
                              <a:ln>
                                <a:noFill/>
                              </a:ln>
                              <a:effectLst/>
                              <a:latin typeface="+mj-lt"/>
                              <a:sym typeface="Calibri" pitchFamily="34" charset="0"/>
                            </a:rPr>
                            <a:t>₁²=41.9015</a:t>
                          </a:r>
                          <a:endParaRPr lang="en-IN" sz="2200" dirty="0">
                            <a:latin typeface="+mj-lt"/>
                          </a:endParaRPr>
                        </a:p>
                      </a:txBody>
                      <a:tcPr marL="109728" marR="109728" marT="54864" marB="54864"/>
                    </a:tc>
                    <a:tc>
                      <a:txBody>
                        <a:bodyPr/>
                        <a:lstStyle/>
                        <a:p>
                          <a:r>
                            <a:rPr kumimoji="0" lang="en-US" sz="2200" u="none" strike="noStrike" cap="none" normalizeH="0" baseline="0" dirty="0">
                              <a:ln>
                                <a:noFill/>
                              </a:ln>
                              <a:effectLst/>
                              <a:latin typeface="+mj-lt"/>
                            </a:rPr>
                            <a:t>S</a:t>
                          </a:r>
                          <a:r>
                            <a:rPr kumimoji="0" lang="en-US" sz="2200" u="none" strike="noStrike" cap="none" normalizeH="0" baseline="0" dirty="0">
                              <a:ln>
                                <a:noFill/>
                              </a:ln>
                              <a:effectLst/>
                              <a:latin typeface="+mj-lt"/>
                              <a:sym typeface="Calibri" pitchFamily="34" charset="0"/>
                            </a:rPr>
                            <a:t>₂²=27.1483</a:t>
                          </a:r>
                          <a:endParaRPr lang="en-IN" sz="2200" dirty="0">
                            <a:latin typeface="+mj-lt"/>
                          </a:endParaRPr>
                        </a:p>
                      </a:txBody>
                      <a:tcPr marL="109728" marR="109728" marT="54864" marB="54864"/>
                    </a:tc>
                    <a:extLst>
                      <a:ext uri="{0D108BD9-81ED-4DB2-BD59-A6C34878D82A}">
                        <a16:rowId xmlns:a16="http://schemas.microsoft.com/office/drawing/2014/main" val="336765198"/>
                      </a:ext>
                    </a:extLst>
                  </a:tr>
                  <a:tr h="445008">
                    <a:tc>
                      <a:txBody>
                        <a:bodyPr/>
                        <a:lstStyle/>
                        <a:p>
                          <a:r>
                            <a:rPr lang="en-IN" sz="2200" dirty="0">
                              <a:latin typeface="+mj-lt"/>
                            </a:rPr>
                            <a:t>Pooled Variance</a:t>
                          </a:r>
                        </a:p>
                      </a:txBody>
                      <a:tcPr marL="109728" marR="109728" marT="54864" marB="54864"/>
                    </a:tc>
                    <a:tc gridSpan="2">
                      <a:txBody>
                        <a:bodyPr/>
                        <a:lstStyle/>
                        <a:p>
                          <a:pPr marL="0" algn="l" defTabSz="914400" rtl="0" eaLnBrk="1" latinLnBrk="0" hangingPunct="1"/>
                          <a:r>
                            <a:rPr kumimoji="0" lang="en-US" sz="2200" u="none" strike="noStrike" cap="none" normalizeH="0" baseline="0" dirty="0">
                              <a:ln>
                                <a:noFill/>
                              </a:ln>
                              <a:effectLst/>
                              <a:latin typeface="+mj-lt"/>
                            </a:rPr>
                            <a:t>Sp</a:t>
                          </a:r>
                          <a:r>
                            <a:rPr kumimoji="0" lang="en-US" sz="2200" u="none" strike="noStrike" cap="none" normalizeH="0" baseline="0" dirty="0">
                              <a:ln>
                                <a:noFill/>
                              </a:ln>
                              <a:effectLst/>
                              <a:latin typeface="+mj-lt"/>
                              <a:sym typeface="Calibri" pitchFamily="34" charset="0"/>
                            </a:rPr>
                            <a:t>²=</a:t>
                          </a:r>
                          <a:r>
                            <a:rPr lang="en-IN" sz="2200" dirty="0">
                              <a:latin typeface="+mj-lt"/>
                            </a:rPr>
                            <a:t>33.9102</a:t>
                          </a:r>
                        </a:p>
                      </a:txBody>
                      <a:tcPr marL="109728" marR="109728" marT="54864" marB="54864"/>
                    </a:tc>
                    <a:tc hMerge="1">
                      <a:txBody>
                        <a:bodyPr/>
                        <a:lstStyle/>
                        <a:p>
                          <a:endParaRPr lang="en-IN" sz="1800" dirty="0">
                            <a:latin typeface="+mj-lt"/>
                          </a:endParaRPr>
                        </a:p>
                      </a:txBody>
                      <a:tcPr/>
                    </a:tc>
                    <a:extLst>
                      <a:ext uri="{0D108BD9-81ED-4DB2-BD59-A6C34878D82A}">
                        <a16:rowId xmlns:a16="http://schemas.microsoft.com/office/drawing/2014/main" val="3443673852"/>
                      </a:ext>
                    </a:extLst>
                  </a:tr>
                  <a:tr h="445008">
                    <a:tc>
                      <a:txBody>
                        <a:bodyPr/>
                        <a:lstStyle/>
                        <a:p>
                          <a:r>
                            <a:rPr lang="en-IN" sz="2200" dirty="0">
                              <a:latin typeface="+mj-lt"/>
                            </a:rPr>
                            <a:t>Difference</a:t>
                          </a:r>
                        </a:p>
                      </a:txBody>
                      <a:tcPr marL="109728" marR="109728" marT="54864" marB="54864"/>
                    </a:tc>
                    <a:tc gridSpan="2">
                      <a:txBody>
                        <a:bodyPr/>
                        <a:lstStyle/>
                        <a:p>
                          <a:endParaRPr lang="en-US"/>
                        </a:p>
                      </a:txBody>
                      <a:tcPr marL="109728" marR="109728" marT="54864" marB="54864">
                        <a:blipFill>
                          <a:blip r:embed="rId3"/>
                          <a:stretch>
                            <a:fillRect l="-57215" t="-494444" b="-319444"/>
                          </a:stretch>
                        </a:blipFill>
                      </a:tcPr>
                    </a:tc>
                    <a:tc hMerge="1">
                      <a:txBody>
                        <a:bodyPr/>
                        <a:lstStyle/>
                        <a:p>
                          <a:endParaRPr lang="en-IN" sz="1800" dirty="0">
                            <a:latin typeface="+mj-lt"/>
                          </a:endParaRPr>
                        </a:p>
                      </a:txBody>
                      <a:tcPr/>
                    </a:tc>
                    <a:extLst>
                      <a:ext uri="{0D108BD9-81ED-4DB2-BD59-A6C34878D82A}">
                        <a16:rowId xmlns:a16="http://schemas.microsoft.com/office/drawing/2014/main" val="1431710442"/>
                      </a:ext>
                    </a:extLst>
                  </a:tr>
                  <a:tr h="1450848">
                    <a:tc>
                      <a:txBody>
                        <a:bodyPr/>
                        <a:lstStyle/>
                        <a:p>
                          <a:r>
                            <a:rPr lang="en-IN" sz="2200" dirty="0">
                              <a:latin typeface="+mj-lt"/>
                            </a:rPr>
                            <a:t>t</a:t>
                          </a:r>
                        </a:p>
                        <a:p>
                          <a:endParaRPr lang="en-IN" sz="2200" dirty="0">
                            <a:latin typeface="+mj-lt"/>
                          </a:endParaRPr>
                        </a:p>
                        <a:p>
                          <a:r>
                            <a:rPr lang="en-IN" sz="2200" dirty="0">
                              <a:latin typeface="+mj-lt"/>
                            </a:rPr>
                            <a:t>P value</a:t>
                          </a:r>
                        </a:p>
                        <a:p>
                          <a:endParaRPr lang="en-IN" sz="2200" dirty="0">
                            <a:latin typeface="+mj-lt"/>
                          </a:endParaRPr>
                        </a:p>
                      </a:txBody>
                      <a:tcPr marL="109728" marR="109728" marT="54864" marB="54864"/>
                    </a:tc>
                    <a:tc gridSpan="2">
                      <a:txBody>
                        <a:bodyPr/>
                        <a:lstStyle/>
                        <a:p>
                          <a:r>
                            <a:rPr lang="en-IN" sz="2200" dirty="0">
                              <a:latin typeface="+mj-lt"/>
                            </a:rPr>
                            <a:t>                                            =0.22345</a:t>
                          </a:r>
                        </a:p>
                        <a:p>
                          <a:endParaRPr lang="en-IN" sz="2200" dirty="0">
                            <a:latin typeface="+mj-lt"/>
                          </a:endParaRPr>
                        </a:p>
                        <a:p>
                          <a:r>
                            <a:rPr lang="en-IN" sz="2200" dirty="0">
                              <a:latin typeface="+mj-lt"/>
                            </a:rPr>
                            <a:t>0.8251 ( Do not Reject H0)</a:t>
                          </a:r>
                        </a:p>
                      </a:txBody>
                      <a:tcPr marL="109728" marR="109728" marT="54864" marB="54864"/>
                    </a:tc>
                    <a:tc hMerge="1">
                      <a:txBody>
                        <a:bodyPr/>
                        <a:lstStyle/>
                        <a:p>
                          <a:endParaRPr lang="en-IN" sz="1800" dirty="0">
                            <a:latin typeface="+mj-lt"/>
                          </a:endParaRPr>
                        </a:p>
                      </a:txBody>
                      <a:tcPr/>
                    </a:tc>
                    <a:extLst>
                      <a:ext uri="{0D108BD9-81ED-4DB2-BD59-A6C34878D82A}">
                        <a16:rowId xmlns:a16="http://schemas.microsoft.com/office/drawing/2014/main" val="3978763456"/>
                      </a:ext>
                    </a:extLst>
                  </a:tr>
                </a:tbl>
              </a:graphicData>
            </a:graphic>
          </p:graphicFrame>
        </mc:Fallback>
      </mc:AlternateContent>
      <p:pic>
        <p:nvPicPr>
          <p:cNvPr id="14" name="Picture 1">
            <a:extLst>
              <a:ext uri="{FF2B5EF4-FFF2-40B4-BE49-F238E27FC236}">
                <a16:creationId xmlns:a16="http://schemas.microsoft.com/office/drawing/2014/main" id="{811F519E-2210-429B-A6F9-AD8E96FE7569}"/>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238143" y="5139864"/>
            <a:ext cx="2343150" cy="640081"/>
          </a:xfrm>
          <a:prstGeom prst="rect">
            <a:avLst/>
          </a:prstGeom>
          <a:noFill/>
        </p:spPr>
      </p:pic>
      <p:sp>
        <p:nvSpPr>
          <p:cNvPr id="2" name="Slide Number Placeholder 1">
            <a:extLst>
              <a:ext uri="{FF2B5EF4-FFF2-40B4-BE49-F238E27FC236}">
                <a16:creationId xmlns:a16="http://schemas.microsoft.com/office/drawing/2014/main" id="{251683C2-089B-99EB-9F36-10167F58FF6F}"/>
              </a:ext>
            </a:extLst>
          </p:cNvPr>
          <p:cNvSpPr>
            <a:spLocks noGrp="1"/>
          </p:cNvSpPr>
          <p:nvPr>
            <p:ph type="sldNum" sz="quarter" idx="12"/>
          </p:nvPr>
        </p:nvSpPr>
        <p:spPr/>
        <p:txBody>
          <a:bodyPr/>
          <a:lstStyle/>
          <a:p>
            <a:pPr algn="r"/>
            <a:r>
              <a:rPr lang="en-US" dirty="0"/>
              <a:t> </a:t>
            </a:r>
          </a:p>
        </p:txBody>
      </p:sp>
      <p:sp>
        <p:nvSpPr>
          <p:cNvPr id="15" name="Text 0">
            <a:extLst>
              <a:ext uri="{FF2B5EF4-FFF2-40B4-BE49-F238E27FC236}">
                <a16:creationId xmlns:a16="http://schemas.microsoft.com/office/drawing/2014/main" id="{9CC2DC97-4A3A-234A-8EFA-32795B2D3187}"/>
              </a:ext>
            </a:extLst>
          </p:cNvPr>
          <p:cNvSpPr/>
          <p:nvPr/>
        </p:nvSpPr>
        <p:spPr>
          <a:xfrm>
            <a:off x="234615" y="693805"/>
            <a:ext cx="9586674"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Independent Samples t test Computation</a:t>
            </a:r>
            <a:endParaRPr lang="en-US" sz="3600" dirty="0"/>
          </a:p>
        </p:txBody>
      </p:sp>
      <p:sp>
        <p:nvSpPr>
          <p:cNvPr id="5" name="Title 4">
            <a:extLst>
              <a:ext uri="{FF2B5EF4-FFF2-40B4-BE49-F238E27FC236}">
                <a16:creationId xmlns:a16="http://schemas.microsoft.com/office/drawing/2014/main" id="{E475FDE1-2DAC-294C-AD01-9C05530C744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039993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5528" y="481921"/>
            <a:ext cx="5209937"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Paired Sample t Test</a:t>
            </a:r>
            <a:endParaRPr lang="en-US" sz="3600" dirty="0"/>
          </a:p>
        </p:txBody>
      </p:sp>
      <p:sp>
        <p:nvSpPr>
          <p:cNvPr id="3" name="Text 1"/>
          <p:cNvSpPr/>
          <p:nvPr/>
        </p:nvSpPr>
        <p:spPr>
          <a:xfrm>
            <a:off x="467741" y="149123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paired sample t test (also called dependent samples t test) is used when observations are naturally paired or matched. This design is more powerful than independent samples because it controls for individual differences.</a:t>
            </a:r>
            <a:endParaRPr lang="en-US" dirty="0"/>
          </a:p>
        </p:txBody>
      </p:sp>
      <p:sp>
        <p:nvSpPr>
          <p:cNvPr id="4" name="Shape 2"/>
          <p:cNvSpPr/>
          <p:nvPr/>
        </p:nvSpPr>
        <p:spPr>
          <a:xfrm>
            <a:off x="793790" y="3394234"/>
            <a:ext cx="4215289" cy="2432209"/>
          </a:xfrm>
          <a:prstGeom prst="roundRect">
            <a:avLst>
              <a:gd name="adj" fmla="val 4511"/>
            </a:avLst>
          </a:prstGeom>
          <a:solidFill>
            <a:srgbClr val="FFFFFF"/>
          </a:solidFill>
          <a:ln/>
        </p:spPr>
      </p:sp>
      <p:sp>
        <p:nvSpPr>
          <p:cNvPr id="5" name="Shape 3"/>
          <p:cNvSpPr/>
          <p:nvPr/>
        </p:nvSpPr>
        <p:spPr>
          <a:xfrm>
            <a:off x="793790" y="3371374"/>
            <a:ext cx="4215289" cy="91440"/>
          </a:xfrm>
          <a:prstGeom prst="roundRect">
            <a:avLst>
              <a:gd name="adj" fmla="val 32558"/>
            </a:avLst>
          </a:prstGeom>
          <a:solidFill>
            <a:srgbClr val="E04F00"/>
          </a:solidFill>
          <a:ln/>
        </p:spPr>
      </p:sp>
      <p:sp>
        <p:nvSpPr>
          <p:cNvPr id="6" name="Shape 4"/>
          <p:cNvSpPr/>
          <p:nvPr/>
        </p:nvSpPr>
        <p:spPr>
          <a:xfrm>
            <a:off x="2603778" y="3096578"/>
            <a:ext cx="595313" cy="595313"/>
          </a:xfrm>
          <a:prstGeom prst="roundRect">
            <a:avLst>
              <a:gd name="adj" fmla="val 153600"/>
            </a:avLst>
          </a:prstGeom>
          <a:solidFill>
            <a:srgbClr val="E04F00"/>
          </a:solidFill>
          <a:ln/>
        </p:spPr>
      </p:sp>
      <p:sp>
        <p:nvSpPr>
          <p:cNvPr id="7" name="Text 5"/>
          <p:cNvSpPr/>
          <p:nvPr/>
        </p:nvSpPr>
        <p:spPr>
          <a:xfrm>
            <a:off x="2782372" y="3245406"/>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1</a:t>
            </a:r>
            <a:endParaRPr lang="en-US" sz="1850" dirty="0"/>
          </a:p>
        </p:txBody>
      </p:sp>
      <p:sp>
        <p:nvSpPr>
          <p:cNvPr id="8" name="Text 6"/>
          <p:cNvSpPr/>
          <p:nvPr/>
        </p:nvSpPr>
        <p:spPr>
          <a:xfrm>
            <a:off x="1015008" y="389036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When to Use</a:t>
            </a:r>
            <a:endParaRPr lang="en-US" sz="2050" dirty="0"/>
          </a:p>
        </p:txBody>
      </p:sp>
      <p:sp>
        <p:nvSpPr>
          <p:cNvPr id="9" name="Text 7"/>
          <p:cNvSpPr/>
          <p:nvPr/>
        </p:nvSpPr>
        <p:spPr>
          <a:xfrm>
            <a:off x="1015008" y="4335066"/>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Two measurements on the same subjects (repeated measures) or measurements on matched pairs of subjects</a:t>
            </a:r>
            <a:endParaRPr lang="en-US" sz="1550" dirty="0"/>
          </a:p>
        </p:txBody>
      </p:sp>
      <p:sp>
        <p:nvSpPr>
          <p:cNvPr id="10" name="Shape 8"/>
          <p:cNvSpPr/>
          <p:nvPr/>
        </p:nvSpPr>
        <p:spPr>
          <a:xfrm>
            <a:off x="5207437" y="3394234"/>
            <a:ext cx="4215408" cy="2432209"/>
          </a:xfrm>
          <a:prstGeom prst="roundRect">
            <a:avLst>
              <a:gd name="adj" fmla="val 4511"/>
            </a:avLst>
          </a:prstGeom>
          <a:solidFill>
            <a:srgbClr val="FFFFFF"/>
          </a:solidFill>
          <a:ln/>
        </p:spPr>
      </p:sp>
      <p:sp>
        <p:nvSpPr>
          <p:cNvPr id="11" name="Shape 9"/>
          <p:cNvSpPr/>
          <p:nvPr/>
        </p:nvSpPr>
        <p:spPr>
          <a:xfrm>
            <a:off x="5207437" y="3371374"/>
            <a:ext cx="4215408" cy="91440"/>
          </a:xfrm>
          <a:prstGeom prst="roundRect">
            <a:avLst>
              <a:gd name="adj" fmla="val 32558"/>
            </a:avLst>
          </a:prstGeom>
          <a:solidFill>
            <a:srgbClr val="E04F00"/>
          </a:solidFill>
          <a:ln/>
        </p:spPr>
      </p:sp>
      <p:sp>
        <p:nvSpPr>
          <p:cNvPr id="12" name="Shape 10"/>
          <p:cNvSpPr/>
          <p:nvPr/>
        </p:nvSpPr>
        <p:spPr>
          <a:xfrm>
            <a:off x="7017425" y="3096578"/>
            <a:ext cx="595313" cy="595313"/>
          </a:xfrm>
          <a:prstGeom prst="roundRect">
            <a:avLst>
              <a:gd name="adj" fmla="val 153600"/>
            </a:avLst>
          </a:prstGeom>
          <a:solidFill>
            <a:srgbClr val="E04F00"/>
          </a:solidFill>
          <a:ln/>
        </p:spPr>
      </p:sp>
      <p:sp>
        <p:nvSpPr>
          <p:cNvPr id="13" name="Text 11"/>
          <p:cNvSpPr/>
          <p:nvPr/>
        </p:nvSpPr>
        <p:spPr>
          <a:xfrm>
            <a:off x="7196018" y="3245406"/>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2</a:t>
            </a:r>
            <a:endParaRPr lang="en-US" sz="1850" dirty="0"/>
          </a:p>
        </p:txBody>
      </p:sp>
      <p:sp>
        <p:nvSpPr>
          <p:cNvPr id="14" name="Text 12"/>
          <p:cNvSpPr/>
          <p:nvPr/>
        </p:nvSpPr>
        <p:spPr>
          <a:xfrm>
            <a:off x="5428655" y="389036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Common Applications</a:t>
            </a:r>
            <a:endParaRPr lang="en-US" sz="2050" dirty="0"/>
          </a:p>
        </p:txBody>
      </p:sp>
      <p:sp>
        <p:nvSpPr>
          <p:cNvPr id="15" name="Text 13"/>
          <p:cNvSpPr/>
          <p:nvPr/>
        </p:nvSpPr>
        <p:spPr>
          <a:xfrm>
            <a:off x="5428655" y="4335066"/>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Before-and-after studies, pre-test and post-test designs, matched case-control studies</a:t>
            </a:r>
            <a:endParaRPr lang="en-US" sz="1550" dirty="0"/>
          </a:p>
        </p:txBody>
      </p:sp>
      <p:sp>
        <p:nvSpPr>
          <p:cNvPr id="16" name="Shape 14"/>
          <p:cNvSpPr/>
          <p:nvPr/>
        </p:nvSpPr>
        <p:spPr>
          <a:xfrm>
            <a:off x="9621203" y="3394234"/>
            <a:ext cx="4215289" cy="2432209"/>
          </a:xfrm>
          <a:prstGeom prst="roundRect">
            <a:avLst>
              <a:gd name="adj" fmla="val 4511"/>
            </a:avLst>
          </a:prstGeom>
          <a:solidFill>
            <a:srgbClr val="FFFFFF"/>
          </a:solidFill>
          <a:ln/>
        </p:spPr>
      </p:sp>
      <p:sp>
        <p:nvSpPr>
          <p:cNvPr id="17" name="Shape 15"/>
          <p:cNvSpPr/>
          <p:nvPr/>
        </p:nvSpPr>
        <p:spPr>
          <a:xfrm>
            <a:off x="9621203" y="3371374"/>
            <a:ext cx="4215289" cy="91440"/>
          </a:xfrm>
          <a:prstGeom prst="roundRect">
            <a:avLst>
              <a:gd name="adj" fmla="val 32558"/>
            </a:avLst>
          </a:prstGeom>
          <a:solidFill>
            <a:srgbClr val="E04F00"/>
          </a:solidFill>
          <a:ln/>
        </p:spPr>
      </p:sp>
      <p:sp>
        <p:nvSpPr>
          <p:cNvPr id="18" name="Shape 16"/>
          <p:cNvSpPr/>
          <p:nvPr/>
        </p:nvSpPr>
        <p:spPr>
          <a:xfrm>
            <a:off x="11431191" y="3096578"/>
            <a:ext cx="595313" cy="595313"/>
          </a:xfrm>
          <a:prstGeom prst="roundRect">
            <a:avLst>
              <a:gd name="adj" fmla="val 153600"/>
            </a:avLst>
          </a:prstGeom>
          <a:solidFill>
            <a:srgbClr val="E04F00"/>
          </a:solidFill>
          <a:ln/>
        </p:spPr>
      </p:sp>
      <p:sp>
        <p:nvSpPr>
          <p:cNvPr id="19" name="Text 17"/>
          <p:cNvSpPr/>
          <p:nvPr/>
        </p:nvSpPr>
        <p:spPr>
          <a:xfrm>
            <a:off x="11609784" y="3245406"/>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3</a:t>
            </a:r>
            <a:endParaRPr lang="en-US" sz="1850" dirty="0"/>
          </a:p>
        </p:txBody>
      </p:sp>
      <p:sp>
        <p:nvSpPr>
          <p:cNvPr id="20" name="Text 18"/>
          <p:cNvSpPr/>
          <p:nvPr/>
        </p:nvSpPr>
        <p:spPr>
          <a:xfrm>
            <a:off x="9842421" y="389036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Key Advantage</a:t>
            </a:r>
            <a:endParaRPr lang="en-US" sz="2050" dirty="0"/>
          </a:p>
        </p:txBody>
      </p:sp>
      <p:sp>
        <p:nvSpPr>
          <p:cNvPr id="21" name="Text 19"/>
          <p:cNvSpPr/>
          <p:nvPr/>
        </p:nvSpPr>
        <p:spPr>
          <a:xfrm>
            <a:off x="9842421" y="4335066"/>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Controls for individual variability by focusing on within-subject differences rather than between-subject differences</a:t>
            </a:r>
            <a:endParaRPr lang="en-US" sz="1550" dirty="0"/>
          </a:p>
        </p:txBody>
      </p:sp>
      <p:sp>
        <p:nvSpPr>
          <p:cNvPr id="22" name="Shape 20"/>
          <p:cNvSpPr/>
          <p:nvPr/>
        </p:nvSpPr>
        <p:spPr>
          <a:xfrm>
            <a:off x="793790" y="6148833"/>
            <a:ext cx="13042821" cy="32385"/>
          </a:xfrm>
          <a:prstGeom prst="rect">
            <a:avLst/>
          </a:prstGeom>
          <a:solidFill>
            <a:srgbClr val="383838">
              <a:alpha val="50000"/>
            </a:srgbClr>
          </a:solidFill>
          <a:ln/>
        </p:spPr>
      </p:sp>
      <p:sp>
        <p:nvSpPr>
          <p:cNvPr id="23" name="Text 21"/>
          <p:cNvSpPr/>
          <p:nvPr/>
        </p:nvSpPr>
        <p:spPr>
          <a:xfrm>
            <a:off x="793790" y="6404372"/>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This test is particularly useful for evaluating the effectiveness of an intervention or treatment. Rather than comparing two independent groups, we measure the same subjects twice and test whether the average change is significantly different from zero.</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0233" y="434213"/>
            <a:ext cx="6323052" cy="586026"/>
          </a:xfrm>
          <a:prstGeom prst="rect">
            <a:avLst/>
          </a:prstGeom>
          <a:noFill/>
          <a:ln/>
        </p:spPr>
        <p:txBody>
          <a:bodyPr wrap="none" lIns="0" tIns="0" rIns="0" bIns="0" rtlCol="0" anchor="t"/>
          <a:lstStyle/>
          <a:p>
            <a:pPr marL="0" indent="0" algn="l">
              <a:lnSpc>
                <a:spcPts val="4600"/>
              </a:lnSpc>
              <a:buNone/>
            </a:pPr>
            <a:r>
              <a:rPr lang="en-US" sz="3600" dirty="0">
                <a:solidFill>
                  <a:srgbClr val="020202"/>
                </a:solidFill>
                <a:latin typeface="PT Serif" pitchFamily="34" charset="0"/>
                <a:ea typeface="PT Serif" pitchFamily="34" charset="-122"/>
                <a:cs typeface="PT Serif" pitchFamily="34" charset="-120"/>
              </a:rPr>
              <a:t>Paired Sample t Test: Example</a:t>
            </a:r>
            <a:endParaRPr lang="en-US" sz="3600" dirty="0"/>
          </a:p>
        </p:txBody>
      </p:sp>
      <p:sp>
        <p:nvSpPr>
          <p:cNvPr id="3" name="Text 1"/>
          <p:cNvSpPr/>
          <p:nvPr/>
        </p:nvSpPr>
        <p:spPr>
          <a:xfrm>
            <a:off x="470233" y="1356650"/>
            <a:ext cx="13667798" cy="571500"/>
          </a:xfrm>
          <a:prstGeom prst="rect">
            <a:avLst/>
          </a:prstGeom>
          <a:noFill/>
          <a:ln/>
        </p:spPr>
        <p:txBody>
          <a:bodyPr wrap="squar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The company organized a training program designed to improve employee efficiency in completing MIS reports. To evaluate the program's effectiveness, they measured completion times for 15 employees both before and after the training.</a:t>
            </a:r>
            <a:endParaRPr lang="en-US" dirty="0"/>
          </a:p>
        </p:txBody>
      </p:sp>
      <p:pic>
        <p:nvPicPr>
          <p:cNvPr id="4" name="Image 0" descr="preencoded.png"/>
          <p:cNvPicPr>
            <a:picLocks noChangeAspect="1"/>
          </p:cNvPicPr>
          <p:nvPr/>
        </p:nvPicPr>
        <p:blipFill>
          <a:blip r:embed="rId3"/>
          <a:stretch>
            <a:fillRect/>
          </a:stretch>
        </p:blipFill>
        <p:spPr>
          <a:xfrm>
            <a:off x="793790" y="2261354"/>
            <a:ext cx="4347567" cy="714494"/>
          </a:xfrm>
          <a:prstGeom prst="rect">
            <a:avLst/>
          </a:prstGeom>
        </p:spPr>
      </p:pic>
      <p:sp>
        <p:nvSpPr>
          <p:cNvPr id="5" name="Text 2"/>
          <p:cNvSpPr/>
          <p:nvPr/>
        </p:nvSpPr>
        <p:spPr>
          <a:xfrm>
            <a:off x="972383" y="3154442"/>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Before Training</a:t>
            </a:r>
            <a:endParaRPr lang="en-US" sz="1800" dirty="0"/>
          </a:p>
        </p:txBody>
      </p:sp>
      <p:sp>
        <p:nvSpPr>
          <p:cNvPr id="6" name="Text 3"/>
          <p:cNvSpPr/>
          <p:nvPr/>
        </p:nvSpPr>
        <p:spPr>
          <a:xfrm>
            <a:off x="972383" y="3554611"/>
            <a:ext cx="3990380" cy="571500"/>
          </a:xfrm>
          <a:prstGeom prst="rect">
            <a:avLst/>
          </a:prstGeom>
          <a:noFill/>
          <a:ln/>
        </p:spPr>
        <p:txBody>
          <a:bodyPr wrap="squar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Baseline completion times recorded for 15 employees</a:t>
            </a:r>
            <a:endParaRPr lang="en-US" sz="1600" dirty="0"/>
          </a:p>
        </p:txBody>
      </p:sp>
      <p:pic>
        <p:nvPicPr>
          <p:cNvPr id="7" name="Image 1" descr="preencoded.png"/>
          <p:cNvPicPr>
            <a:picLocks noChangeAspect="1"/>
          </p:cNvPicPr>
          <p:nvPr/>
        </p:nvPicPr>
        <p:blipFill>
          <a:blip r:embed="rId4"/>
          <a:stretch>
            <a:fillRect/>
          </a:stretch>
        </p:blipFill>
        <p:spPr>
          <a:xfrm>
            <a:off x="5141357" y="2261354"/>
            <a:ext cx="4347567" cy="714494"/>
          </a:xfrm>
          <a:prstGeom prst="rect">
            <a:avLst/>
          </a:prstGeom>
        </p:spPr>
      </p:pic>
      <p:sp>
        <p:nvSpPr>
          <p:cNvPr id="8" name="Text 4"/>
          <p:cNvSpPr/>
          <p:nvPr/>
        </p:nvSpPr>
        <p:spPr>
          <a:xfrm>
            <a:off x="5319951" y="3154442"/>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Training Program</a:t>
            </a:r>
            <a:endParaRPr lang="en-US" sz="1800" dirty="0"/>
          </a:p>
        </p:txBody>
      </p:sp>
      <p:sp>
        <p:nvSpPr>
          <p:cNvPr id="9" name="Text 5"/>
          <p:cNvSpPr/>
          <p:nvPr/>
        </p:nvSpPr>
        <p:spPr>
          <a:xfrm>
            <a:off x="5319951" y="3554611"/>
            <a:ext cx="3990380" cy="571500"/>
          </a:xfrm>
          <a:prstGeom prst="rect">
            <a:avLst/>
          </a:prstGeom>
          <a:noFill/>
          <a:ln/>
        </p:spPr>
        <p:txBody>
          <a:bodyPr wrap="squar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Employees participate in efficiency improvement training</a:t>
            </a:r>
            <a:endParaRPr lang="en-US" sz="1600" dirty="0"/>
          </a:p>
        </p:txBody>
      </p:sp>
      <p:pic>
        <p:nvPicPr>
          <p:cNvPr id="10" name="Image 2" descr="preencoded.png"/>
          <p:cNvPicPr>
            <a:picLocks noChangeAspect="1"/>
          </p:cNvPicPr>
          <p:nvPr/>
        </p:nvPicPr>
        <p:blipFill>
          <a:blip r:embed="rId5"/>
          <a:stretch>
            <a:fillRect/>
          </a:stretch>
        </p:blipFill>
        <p:spPr>
          <a:xfrm>
            <a:off x="9488924" y="2261354"/>
            <a:ext cx="4347567" cy="714494"/>
          </a:xfrm>
          <a:prstGeom prst="rect">
            <a:avLst/>
          </a:prstGeom>
        </p:spPr>
      </p:pic>
      <p:sp>
        <p:nvSpPr>
          <p:cNvPr id="11" name="Text 6"/>
          <p:cNvSpPr/>
          <p:nvPr/>
        </p:nvSpPr>
        <p:spPr>
          <a:xfrm>
            <a:off x="9667518" y="3154442"/>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After Training</a:t>
            </a:r>
            <a:endParaRPr lang="en-US" sz="1800" dirty="0"/>
          </a:p>
        </p:txBody>
      </p:sp>
      <p:sp>
        <p:nvSpPr>
          <p:cNvPr id="12" name="Text 7"/>
          <p:cNvSpPr/>
          <p:nvPr/>
        </p:nvSpPr>
        <p:spPr>
          <a:xfrm>
            <a:off x="9667518" y="3554611"/>
            <a:ext cx="3990380" cy="285750"/>
          </a:xfrm>
          <a:prstGeom prst="rect">
            <a:avLst/>
          </a:prstGeom>
          <a:noFill/>
          <a:ln/>
        </p:spPr>
        <p:txBody>
          <a:bodyPr wrap="non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Same 15 employees measured again</a:t>
            </a:r>
            <a:endParaRPr lang="en-US" sz="1600" dirty="0"/>
          </a:p>
        </p:txBody>
      </p:sp>
      <p:sp>
        <p:nvSpPr>
          <p:cNvPr id="13" name="Shape 8"/>
          <p:cNvSpPr/>
          <p:nvPr/>
        </p:nvSpPr>
        <p:spPr>
          <a:xfrm>
            <a:off x="793790" y="4594868"/>
            <a:ext cx="13042821" cy="29885"/>
          </a:xfrm>
          <a:prstGeom prst="rect">
            <a:avLst/>
          </a:prstGeom>
          <a:solidFill>
            <a:srgbClr val="383838">
              <a:alpha val="50000"/>
            </a:srgbClr>
          </a:solidFill>
          <a:ln/>
        </p:spPr>
      </p:sp>
      <p:sp>
        <p:nvSpPr>
          <p:cNvPr id="14" name="Text 9"/>
          <p:cNvSpPr/>
          <p:nvPr/>
        </p:nvSpPr>
        <p:spPr>
          <a:xfrm>
            <a:off x="793790" y="4892635"/>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020202"/>
                </a:solidFill>
                <a:latin typeface="PT Serif" pitchFamily="34" charset="0"/>
                <a:ea typeface="PT Serif" pitchFamily="34" charset="-122"/>
                <a:cs typeface="PT Serif" pitchFamily="34" charset="-120"/>
              </a:rPr>
              <a:t>Hypotheses</a:t>
            </a:r>
            <a:endParaRPr lang="en-US" sz="1800" dirty="0"/>
          </a:p>
        </p:txBody>
      </p:sp>
      <p:sp>
        <p:nvSpPr>
          <p:cNvPr id="15" name="Text 10"/>
          <p:cNvSpPr/>
          <p:nvPr/>
        </p:nvSpPr>
        <p:spPr>
          <a:xfrm>
            <a:off x="793790" y="5453539"/>
            <a:ext cx="13042821" cy="285750"/>
          </a:xfrm>
          <a:prstGeom prst="rect">
            <a:avLst/>
          </a:prstGeom>
          <a:noFill/>
          <a:ln/>
        </p:spPr>
        <p:txBody>
          <a:bodyPr wrap="none" lIns="0" tIns="0" rIns="0" bIns="0" rtlCol="0" anchor="t"/>
          <a:lstStyle/>
          <a:p>
            <a:pPr marL="0" indent="0" algn="l">
              <a:lnSpc>
                <a:spcPts val="2250"/>
              </a:lnSpc>
              <a:buNone/>
            </a:pPr>
            <a:r>
              <a:rPr lang="en-US" sz="1600" b="1" dirty="0">
                <a:solidFill>
                  <a:srgbClr val="383838"/>
                </a:solidFill>
                <a:latin typeface="DM Sans" pitchFamily="34" charset="0"/>
                <a:ea typeface="DM Sans" pitchFamily="34" charset="-122"/>
                <a:cs typeface="DM Sans" pitchFamily="34" charset="-120"/>
              </a:rPr>
              <a:t>Null Hypothesis (H₀):</a:t>
            </a:r>
            <a:r>
              <a:rPr lang="en-US" sz="1600" dirty="0">
                <a:solidFill>
                  <a:srgbClr val="383838"/>
                </a:solidFill>
                <a:latin typeface="DM Sans" pitchFamily="34" charset="0"/>
                <a:ea typeface="DM Sans" pitchFamily="34" charset="-122"/>
                <a:cs typeface="DM Sans" pitchFamily="34" charset="-120"/>
              </a:rPr>
              <a:t> μ_before = μ_after</a:t>
            </a:r>
            <a:endParaRPr lang="en-US" sz="1600" dirty="0"/>
          </a:p>
        </p:txBody>
      </p:sp>
      <p:sp>
        <p:nvSpPr>
          <p:cNvPr id="16" name="Text 11"/>
          <p:cNvSpPr/>
          <p:nvPr/>
        </p:nvSpPr>
        <p:spPr>
          <a:xfrm>
            <a:off x="793790" y="5940147"/>
            <a:ext cx="13042821" cy="285750"/>
          </a:xfrm>
          <a:prstGeom prst="rect">
            <a:avLst/>
          </a:prstGeom>
          <a:noFill/>
          <a:ln/>
        </p:spPr>
        <p:txBody>
          <a:bodyPr wrap="non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Average completion time is the same before and after training (training has no effect)</a:t>
            </a:r>
            <a:endParaRPr lang="en-US" sz="1600" dirty="0"/>
          </a:p>
        </p:txBody>
      </p:sp>
      <p:sp>
        <p:nvSpPr>
          <p:cNvPr id="17" name="Text 12"/>
          <p:cNvSpPr/>
          <p:nvPr/>
        </p:nvSpPr>
        <p:spPr>
          <a:xfrm>
            <a:off x="793790" y="6426756"/>
            <a:ext cx="13042821" cy="285750"/>
          </a:xfrm>
          <a:prstGeom prst="rect">
            <a:avLst/>
          </a:prstGeom>
          <a:noFill/>
          <a:ln/>
        </p:spPr>
        <p:txBody>
          <a:bodyPr wrap="none" lIns="0" tIns="0" rIns="0" bIns="0" rtlCol="0" anchor="t"/>
          <a:lstStyle/>
          <a:p>
            <a:pPr marL="0" indent="0" algn="l">
              <a:lnSpc>
                <a:spcPts val="2250"/>
              </a:lnSpc>
              <a:buNone/>
            </a:pPr>
            <a:r>
              <a:rPr lang="en-US" sz="1600" b="1" dirty="0">
                <a:solidFill>
                  <a:srgbClr val="383838"/>
                </a:solidFill>
                <a:latin typeface="DM Sans" pitchFamily="34" charset="0"/>
                <a:ea typeface="DM Sans" pitchFamily="34" charset="-122"/>
                <a:cs typeface="DM Sans" pitchFamily="34" charset="-120"/>
              </a:rPr>
              <a:t>Alternative Hypothesis (H₁):</a:t>
            </a:r>
            <a:r>
              <a:rPr lang="en-US" sz="1600" dirty="0">
                <a:solidFill>
                  <a:srgbClr val="383838"/>
                </a:solidFill>
                <a:latin typeface="DM Sans" pitchFamily="34" charset="0"/>
                <a:ea typeface="DM Sans" pitchFamily="34" charset="-122"/>
                <a:cs typeface="DM Sans" pitchFamily="34" charset="-120"/>
              </a:rPr>
              <a:t> μ_after &lt; μ_before</a:t>
            </a:r>
            <a:endParaRPr lang="en-US" sz="1600" dirty="0"/>
          </a:p>
        </p:txBody>
      </p:sp>
      <p:sp>
        <p:nvSpPr>
          <p:cNvPr id="18" name="Text 13"/>
          <p:cNvSpPr/>
          <p:nvPr/>
        </p:nvSpPr>
        <p:spPr>
          <a:xfrm>
            <a:off x="793790" y="6913364"/>
            <a:ext cx="13042821" cy="285750"/>
          </a:xfrm>
          <a:prstGeom prst="rect">
            <a:avLst/>
          </a:prstGeom>
          <a:noFill/>
          <a:ln/>
        </p:spPr>
        <p:txBody>
          <a:bodyPr wrap="non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Average completion time after training is less than before (training is effective in reducing time)</a:t>
            </a:r>
            <a:endParaRPr lang="en-US" sz="1600" dirty="0"/>
          </a:p>
        </p:txBody>
      </p:sp>
      <p:sp>
        <p:nvSpPr>
          <p:cNvPr id="19" name="Text 14"/>
          <p:cNvSpPr/>
          <p:nvPr/>
        </p:nvSpPr>
        <p:spPr>
          <a:xfrm>
            <a:off x="793790" y="7399973"/>
            <a:ext cx="13042821" cy="285750"/>
          </a:xfrm>
          <a:prstGeom prst="rect">
            <a:avLst/>
          </a:prstGeom>
          <a:noFill/>
          <a:ln/>
        </p:spPr>
        <p:txBody>
          <a:bodyPr wrap="non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This is a one-tailed test because we have a directional hypothesis that training should reduce completion time.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6280190" y="757357"/>
            <a:ext cx="7345085" cy="553403"/>
          </a:xfrm>
          <a:prstGeom prst="rect">
            <a:avLst/>
          </a:prstGeom>
          <a:noFill/>
          <a:ln/>
        </p:spPr>
        <p:txBody>
          <a:bodyPr wrap="none" lIns="0" tIns="0" rIns="0" bIns="0" rtlCol="0" anchor="t"/>
          <a:lstStyle/>
          <a:p>
            <a:pPr marL="0" indent="0" algn="l">
              <a:lnSpc>
                <a:spcPts val="4350"/>
              </a:lnSpc>
              <a:buNone/>
            </a:pPr>
            <a:r>
              <a:rPr lang="en-US" sz="3450" dirty="0">
                <a:solidFill>
                  <a:srgbClr val="020202"/>
                </a:solidFill>
                <a:latin typeface="PT Serif" pitchFamily="34" charset="0"/>
                <a:ea typeface="PT Serif" pitchFamily="34" charset="-122"/>
                <a:cs typeface="PT Serif" pitchFamily="34" charset="-120"/>
              </a:rPr>
              <a:t>Test Statistic for Paired Sample t Test</a:t>
            </a:r>
            <a:endParaRPr lang="en-US" sz="3450" dirty="0"/>
          </a:p>
        </p:txBody>
      </p:sp>
      <p:sp>
        <p:nvSpPr>
          <p:cNvPr id="4" name="Text 1"/>
          <p:cNvSpPr/>
          <p:nvPr/>
        </p:nvSpPr>
        <p:spPr>
          <a:xfrm>
            <a:off x="6280190" y="1563767"/>
            <a:ext cx="7556421" cy="539829"/>
          </a:xfrm>
          <a:prstGeom prst="rect">
            <a:avLst/>
          </a:prstGeom>
          <a:noFill/>
          <a:ln/>
        </p:spPr>
        <p:txBody>
          <a:bodyPr wrap="squar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For paired samples, we calculate the difference for each pair, then test whether the mean difference is significantly different from zero.</a:t>
            </a:r>
            <a:endParaRPr lang="en-US" dirty="0"/>
          </a:p>
        </p:txBody>
      </p:sp>
      <p:sp>
        <p:nvSpPr>
          <p:cNvPr id="5" name="Text 2"/>
          <p:cNvSpPr/>
          <p:nvPr/>
        </p:nvSpPr>
        <p:spPr>
          <a:xfrm>
            <a:off x="6280190" y="2293382"/>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01</a:t>
            </a:r>
            <a:endParaRPr lang="en-US" sz="1300" dirty="0"/>
          </a:p>
        </p:txBody>
      </p:sp>
      <p:sp>
        <p:nvSpPr>
          <p:cNvPr id="6" name="Shape 3"/>
          <p:cNvSpPr/>
          <p:nvPr/>
        </p:nvSpPr>
        <p:spPr>
          <a:xfrm>
            <a:off x="6280190" y="2557224"/>
            <a:ext cx="7556421" cy="22860"/>
          </a:xfrm>
          <a:prstGeom prst="rect">
            <a:avLst/>
          </a:prstGeom>
          <a:solidFill>
            <a:srgbClr val="E04F00"/>
          </a:solidFill>
          <a:ln/>
        </p:spPr>
      </p:sp>
      <p:sp>
        <p:nvSpPr>
          <p:cNvPr id="7" name="Text 4"/>
          <p:cNvSpPr/>
          <p:nvPr/>
        </p:nvSpPr>
        <p:spPr>
          <a:xfrm>
            <a:off x="6280190" y="2687241"/>
            <a:ext cx="2214205"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Calculate Differences</a:t>
            </a:r>
            <a:endParaRPr lang="en-US" sz="1700" dirty="0"/>
          </a:p>
        </p:txBody>
      </p:sp>
      <p:sp>
        <p:nvSpPr>
          <p:cNvPr id="8" name="Text 5"/>
          <p:cNvSpPr/>
          <p:nvPr/>
        </p:nvSpPr>
        <p:spPr>
          <a:xfrm>
            <a:off x="6280190" y="3065264"/>
            <a:ext cx="7556421" cy="269915"/>
          </a:xfrm>
          <a:prstGeom prst="rect">
            <a:avLst/>
          </a:prstGeom>
          <a:noFill/>
          <a:ln/>
        </p:spPr>
        <p:txBody>
          <a:bodyPr wrap="non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For each pair, compute d = (Before - After). This gives you n difference scores.</a:t>
            </a:r>
            <a:endParaRPr lang="en-US" dirty="0"/>
          </a:p>
        </p:txBody>
      </p:sp>
      <p:sp>
        <p:nvSpPr>
          <p:cNvPr id="9" name="Text 6"/>
          <p:cNvSpPr/>
          <p:nvPr/>
        </p:nvSpPr>
        <p:spPr>
          <a:xfrm>
            <a:off x="6280190" y="3630216"/>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02</a:t>
            </a:r>
            <a:endParaRPr lang="en-US" sz="1300" dirty="0"/>
          </a:p>
        </p:txBody>
      </p:sp>
      <p:sp>
        <p:nvSpPr>
          <p:cNvPr id="10" name="Shape 7"/>
          <p:cNvSpPr/>
          <p:nvPr/>
        </p:nvSpPr>
        <p:spPr>
          <a:xfrm>
            <a:off x="6280190" y="3894058"/>
            <a:ext cx="7556421" cy="22860"/>
          </a:xfrm>
          <a:prstGeom prst="rect">
            <a:avLst/>
          </a:prstGeom>
          <a:solidFill>
            <a:srgbClr val="E04F00"/>
          </a:solidFill>
          <a:ln/>
        </p:spPr>
      </p:sp>
      <p:sp>
        <p:nvSpPr>
          <p:cNvPr id="11" name="Text 8"/>
          <p:cNvSpPr/>
          <p:nvPr/>
        </p:nvSpPr>
        <p:spPr>
          <a:xfrm>
            <a:off x="6280190" y="4024074"/>
            <a:ext cx="2214205"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Find Mean Difference</a:t>
            </a:r>
            <a:endParaRPr lang="en-US" sz="1700" dirty="0"/>
          </a:p>
        </p:txBody>
      </p:sp>
      <p:sp>
        <p:nvSpPr>
          <p:cNvPr id="12" name="Text 9"/>
          <p:cNvSpPr/>
          <p:nvPr/>
        </p:nvSpPr>
        <p:spPr>
          <a:xfrm>
            <a:off x="6280190" y="4402098"/>
            <a:ext cx="7556421" cy="269915"/>
          </a:xfrm>
          <a:prstGeom prst="rect">
            <a:avLst/>
          </a:prstGeom>
          <a:noFill/>
          <a:ln/>
        </p:spPr>
        <p:txBody>
          <a:bodyPr wrap="non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Calculate d̄, the average of all difference scores</a:t>
            </a:r>
            <a:endParaRPr lang="en-US" dirty="0"/>
          </a:p>
        </p:txBody>
      </p:sp>
      <p:sp>
        <p:nvSpPr>
          <p:cNvPr id="13" name="Text 10"/>
          <p:cNvSpPr/>
          <p:nvPr/>
        </p:nvSpPr>
        <p:spPr>
          <a:xfrm>
            <a:off x="6280190" y="4967049"/>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03</a:t>
            </a:r>
            <a:endParaRPr lang="en-US" sz="1300" dirty="0"/>
          </a:p>
        </p:txBody>
      </p:sp>
      <p:sp>
        <p:nvSpPr>
          <p:cNvPr id="14" name="Shape 11"/>
          <p:cNvSpPr/>
          <p:nvPr/>
        </p:nvSpPr>
        <p:spPr>
          <a:xfrm>
            <a:off x="6280190" y="5230892"/>
            <a:ext cx="7556421" cy="22860"/>
          </a:xfrm>
          <a:prstGeom prst="rect">
            <a:avLst/>
          </a:prstGeom>
          <a:solidFill>
            <a:srgbClr val="E04F00"/>
          </a:solidFill>
          <a:ln/>
        </p:spPr>
      </p:sp>
      <p:sp>
        <p:nvSpPr>
          <p:cNvPr id="15" name="Text 12"/>
          <p:cNvSpPr/>
          <p:nvPr/>
        </p:nvSpPr>
        <p:spPr>
          <a:xfrm>
            <a:off x="6280190" y="5360908"/>
            <a:ext cx="2874288"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Calculate Standard Deviation</a:t>
            </a:r>
            <a:endParaRPr lang="en-US" sz="1700" dirty="0"/>
          </a:p>
        </p:txBody>
      </p:sp>
      <p:sp>
        <p:nvSpPr>
          <p:cNvPr id="16" name="Text 13"/>
          <p:cNvSpPr/>
          <p:nvPr/>
        </p:nvSpPr>
        <p:spPr>
          <a:xfrm>
            <a:off x="6280190" y="5738932"/>
            <a:ext cx="7556421" cy="269915"/>
          </a:xfrm>
          <a:prstGeom prst="rect">
            <a:avLst/>
          </a:prstGeom>
          <a:noFill/>
          <a:ln/>
        </p:spPr>
        <p:txBody>
          <a:bodyPr wrap="non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Find Sd, the standard deviation of the difference scores</a:t>
            </a:r>
            <a:endParaRPr lang="en-US" dirty="0"/>
          </a:p>
        </p:txBody>
      </p:sp>
      <p:sp>
        <p:nvSpPr>
          <p:cNvPr id="17" name="Text 14"/>
          <p:cNvSpPr/>
          <p:nvPr/>
        </p:nvSpPr>
        <p:spPr>
          <a:xfrm>
            <a:off x="6280190" y="6303883"/>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04</a:t>
            </a:r>
            <a:endParaRPr lang="en-US" sz="1300" dirty="0"/>
          </a:p>
        </p:txBody>
      </p:sp>
      <p:sp>
        <p:nvSpPr>
          <p:cNvPr id="18" name="Shape 15"/>
          <p:cNvSpPr/>
          <p:nvPr/>
        </p:nvSpPr>
        <p:spPr>
          <a:xfrm>
            <a:off x="6280190" y="6567726"/>
            <a:ext cx="7556421" cy="22860"/>
          </a:xfrm>
          <a:prstGeom prst="rect">
            <a:avLst/>
          </a:prstGeom>
          <a:solidFill>
            <a:srgbClr val="E04F00"/>
          </a:solidFill>
          <a:ln/>
        </p:spPr>
      </p:sp>
      <p:sp>
        <p:nvSpPr>
          <p:cNvPr id="19" name="Text 16"/>
          <p:cNvSpPr/>
          <p:nvPr/>
        </p:nvSpPr>
        <p:spPr>
          <a:xfrm>
            <a:off x="6280190" y="6697742"/>
            <a:ext cx="2225397"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Compute Test Statistic</a:t>
            </a:r>
            <a:endParaRPr lang="en-US" sz="1700" dirty="0"/>
          </a:p>
        </p:txBody>
      </p:sp>
      <p:sp>
        <p:nvSpPr>
          <p:cNvPr id="20" name="Text 17"/>
          <p:cNvSpPr/>
          <p:nvPr/>
        </p:nvSpPr>
        <p:spPr>
          <a:xfrm>
            <a:off x="6280190" y="7075765"/>
            <a:ext cx="7556421" cy="269915"/>
          </a:xfrm>
          <a:prstGeom prst="rect">
            <a:avLst/>
          </a:prstGeom>
          <a:noFill/>
          <a:ln/>
        </p:spPr>
        <p:txBody>
          <a:bodyPr wrap="non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Use the formula where n is the number of pairs, with df = n - 1</a:t>
            </a:r>
            <a:endParaRPr lang="en-US" dirty="0"/>
          </a:p>
        </p:txBody>
      </p:sp>
      <p:pic>
        <p:nvPicPr>
          <p:cNvPr id="21" name="Picture 1">
            <a:extLst>
              <a:ext uri="{FF2B5EF4-FFF2-40B4-BE49-F238E27FC236}">
                <a16:creationId xmlns:a16="http://schemas.microsoft.com/office/drawing/2014/main" id="{3584BA97-14DA-2644-9846-212D4A3E31EF}"/>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349326" y="2504242"/>
            <a:ext cx="2364545" cy="2125434"/>
          </a:xfrm>
          <a:prstGeom prst="rect">
            <a:avLst/>
          </a:prstGeom>
          <a:noFill/>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449E3A4-5E26-4D01-9FED-C8D50CA614E2}"/>
              </a:ext>
            </a:extLst>
          </p:cNvPr>
          <p:cNvGraphicFramePr>
            <a:graphicFrameLocks noGrp="1"/>
          </p:cNvGraphicFramePr>
          <p:nvPr>
            <p:extLst>
              <p:ext uri="{D42A27DB-BD31-4B8C-83A1-F6EECF244321}">
                <p14:modId xmlns:p14="http://schemas.microsoft.com/office/powerpoint/2010/main" val="2788338231"/>
              </p:ext>
            </p:extLst>
          </p:nvPr>
        </p:nvGraphicFramePr>
        <p:xfrm>
          <a:off x="3474720" y="1737360"/>
          <a:ext cx="7863840" cy="3230880"/>
        </p:xfrm>
        <a:graphic>
          <a:graphicData uri="http://schemas.openxmlformats.org/drawingml/2006/table">
            <a:tbl>
              <a:tblPr firstRow="1" bandRow="1">
                <a:tableStyleId>{5940675A-B579-460E-94D1-54222C63F5DA}</a:tableStyleId>
              </a:tblPr>
              <a:tblGrid>
                <a:gridCol w="2850642">
                  <a:extLst>
                    <a:ext uri="{9D8B030D-6E8A-4147-A177-3AD203B41FA5}">
                      <a16:colId xmlns:a16="http://schemas.microsoft.com/office/drawing/2014/main" val="1387011879"/>
                    </a:ext>
                  </a:extLst>
                </a:gridCol>
                <a:gridCol w="2391918">
                  <a:extLst>
                    <a:ext uri="{9D8B030D-6E8A-4147-A177-3AD203B41FA5}">
                      <a16:colId xmlns:a16="http://schemas.microsoft.com/office/drawing/2014/main" val="3931526467"/>
                    </a:ext>
                  </a:extLst>
                </a:gridCol>
                <a:gridCol w="2621280">
                  <a:extLst>
                    <a:ext uri="{9D8B030D-6E8A-4147-A177-3AD203B41FA5}">
                      <a16:colId xmlns:a16="http://schemas.microsoft.com/office/drawing/2014/main" val="3169400577"/>
                    </a:ext>
                  </a:extLst>
                </a:gridCol>
              </a:tblGrid>
              <a:tr h="445008">
                <a:tc>
                  <a:txBody>
                    <a:bodyPr/>
                    <a:lstStyle/>
                    <a:p>
                      <a:endParaRPr lang="en-IN" sz="2200" dirty="0">
                        <a:latin typeface="+mj-lt"/>
                      </a:endParaRPr>
                    </a:p>
                  </a:txBody>
                  <a:tcPr marL="109728" marR="109728" marT="54864" marB="54864" anchor="ctr"/>
                </a:tc>
                <a:tc>
                  <a:txBody>
                    <a:bodyPr/>
                    <a:lstStyle/>
                    <a:p>
                      <a:r>
                        <a:rPr lang="en-IN" sz="2200" b="1" dirty="0">
                          <a:latin typeface="+mj-lt"/>
                        </a:rPr>
                        <a:t>Notation</a:t>
                      </a:r>
                    </a:p>
                  </a:txBody>
                  <a:tcPr marL="109728" marR="109728" marT="54864" marB="54864" anchor="ctr"/>
                </a:tc>
                <a:tc>
                  <a:txBody>
                    <a:bodyPr/>
                    <a:lstStyle/>
                    <a:p>
                      <a:r>
                        <a:rPr lang="en-IN" sz="2200" b="1" dirty="0">
                          <a:latin typeface="+mj-lt"/>
                        </a:rPr>
                        <a:t>Value</a:t>
                      </a:r>
                    </a:p>
                  </a:txBody>
                  <a:tcPr marL="109728" marR="109728" marT="54864" marB="54864" anchor="ctr"/>
                </a:tc>
                <a:extLst>
                  <a:ext uri="{0D108BD9-81ED-4DB2-BD59-A6C34878D82A}">
                    <a16:rowId xmlns:a16="http://schemas.microsoft.com/office/drawing/2014/main" val="1827217024"/>
                  </a:ext>
                </a:extLst>
              </a:tr>
              <a:tr h="445008">
                <a:tc>
                  <a:txBody>
                    <a:bodyPr/>
                    <a:lstStyle/>
                    <a:p>
                      <a:r>
                        <a:rPr lang="en-IN" sz="2200" dirty="0">
                          <a:latin typeface="+mj-lt"/>
                        </a:rPr>
                        <a:t>Sample Size</a:t>
                      </a:r>
                    </a:p>
                  </a:txBody>
                  <a:tcPr marL="109728" marR="109728" marT="54864" marB="54864" anchor="ctr"/>
                </a:tc>
                <a:tc>
                  <a:txBody>
                    <a:bodyPr/>
                    <a:lstStyle/>
                    <a:p>
                      <a:r>
                        <a:rPr lang="en-IN" sz="2200" dirty="0">
                          <a:latin typeface="+mj-lt"/>
                        </a:rPr>
                        <a:t>n</a:t>
                      </a:r>
                    </a:p>
                  </a:txBody>
                  <a:tcPr marL="109728" marR="109728" marT="54864" marB="54864" anchor="ctr"/>
                </a:tc>
                <a:tc>
                  <a:txBody>
                    <a:bodyPr/>
                    <a:lstStyle/>
                    <a:p>
                      <a:r>
                        <a:rPr lang="en-IN" sz="2200" dirty="0">
                          <a:latin typeface="+mj-lt"/>
                        </a:rPr>
                        <a:t>12</a:t>
                      </a:r>
                    </a:p>
                  </a:txBody>
                  <a:tcPr marL="109728" marR="109728" marT="54864" marB="54864" anchor="ctr"/>
                </a:tc>
                <a:extLst>
                  <a:ext uri="{0D108BD9-81ED-4DB2-BD59-A6C34878D82A}">
                    <a16:rowId xmlns:a16="http://schemas.microsoft.com/office/drawing/2014/main" val="776971259"/>
                  </a:ext>
                </a:extLst>
              </a:tr>
              <a:tr h="768096">
                <a:tc>
                  <a:txBody>
                    <a:bodyPr/>
                    <a:lstStyle/>
                    <a:p>
                      <a:r>
                        <a:rPr lang="en-IN" sz="2200" dirty="0">
                          <a:latin typeface="+mj-lt"/>
                        </a:rPr>
                        <a:t>Mean difference (before-after)</a:t>
                      </a:r>
                    </a:p>
                  </a:txBody>
                  <a:tcPr marL="109728" marR="109728" marT="54864" marB="54864" anchor="ctr"/>
                </a:tc>
                <a:tc>
                  <a:txBody>
                    <a:bodyPr/>
                    <a:lstStyle/>
                    <a:p>
                      <a:endParaRPr lang="en-IN" sz="2200" dirty="0">
                        <a:latin typeface="+mj-lt"/>
                      </a:endParaRPr>
                    </a:p>
                  </a:txBody>
                  <a:tcPr marL="109728" marR="109728" marT="54864" marB="54864" anchor="ctr"/>
                </a:tc>
                <a:tc>
                  <a:txBody>
                    <a:bodyPr/>
                    <a:lstStyle/>
                    <a:p>
                      <a:r>
                        <a:rPr lang="en-IN" sz="2200" dirty="0">
                          <a:latin typeface="+mj-lt"/>
                        </a:rPr>
                        <a:t>8.3333</a:t>
                      </a:r>
                    </a:p>
                  </a:txBody>
                  <a:tcPr marL="109728" marR="109728" marT="54864" marB="54864" anchor="ctr"/>
                </a:tc>
                <a:extLst>
                  <a:ext uri="{0D108BD9-81ED-4DB2-BD59-A6C34878D82A}">
                    <a16:rowId xmlns:a16="http://schemas.microsoft.com/office/drawing/2014/main" val="2449912442"/>
                  </a:ext>
                </a:extLst>
              </a:tr>
              <a:tr h="445008">
                <a:tc>
                  <a:txBody>
                    <a:bodyPr/>
                    <a:lstStyle/>
                    <a:p>
                      <a:r>
                        <a:rPr lang="en-IN" sz="2200" dirty="0">
                          <a:latin typeface="+mj-lt"/>
                        </a:rPr>
                        <a:t>Standard Deviation</a:t>
                      </a:r>
                    </a:p>
                  </a:txBody>
                  <a:tcPr marL="109728" marR="109728" marT="54864" marB="54864" anchor="ctr"/>
                </a:tc>
                <a:tc>
                  <a:txBody>
                    <a:bodyPr/>
                    <a:lstStyle/>
                    <a:p>
                      <a:endParaRPr lang="en-IN" sz="2200" dirty="0">
                        <a:latin typeface="+mj-lt"/>
                      </a:endParaRPr>
                    </a:p>
                  </a:txBody>
                  <a:tcPr marL="109728" marR="109728" marT="54864" marB="54864" anchor="ctr"/>
                </a:tc>
                <a:tc>
                  <a:txBody>
                    <a:bodyPr/>
                    <a:lstStyle/>
                    <a:p>
                      <a:r>
                        <a:rPr lang="en-IN" sz="2200" dirty="0">
                          <a:latin typeface="+mj-lt"/>
                        </a:rPr>
                        <a:t>3.9219</a:t>
                      </a:r>
                    </a:p>
                  </a:txBody>
                  <a:tcPr marL="109728" marR="109728" marT="54864" marB="54864" anchor="ctr"/>
                </a:tc>
                <a:extLst>
                  <a:ext uri="{0D108BD9-81ED-4DB2-BD59-A6C34878D82A}">
                    <a16:rowId xmlns:a16="http://schemas.microsoft.com/office/drawing/2014/main" val="336765198"/>
                  </a:ext>
                </a:extLst>
              </a:tr>
              <a:tr h="768096">
                <a:tc>
                  <a:txBody>
                    <a:bodyPr/>
                    <a:lstStyle/>
                    <a:p>
                      <a:r>
                        <a:rPr lang="en-IN" sz="2200" dirty="0">
                          <a:latin typeface="+mj-lt"/>
                        </a:rPr>
                        <a:t>t</a:t>
                      </a:r>
                    </a:p>
                    <a:p>
                      <a:endParaRPr lang="en-IN" sz="2200" dirty="0">
                        <a:latin typeface="+mj-lt"/>
                      </a:endParaRPr>
                    </a:p>
                    <a:p>
                      <a:r>
                        <a:rPr lang="en-IN" sz="2200" dirty="0">
                          <a:latin typeface="+mj-lt"/>
                        </a:rPr>
                        <a:t>P value</a:t>
                      </a:r>
                    </a:p>
                  </a:txBody>
                  <a:tcPr marL="109728" marR="109728" marT="54864" marB="54864" anchor="ctr"/>
                </a:tc>
                <a:tc>
                  <a:txBody>
                    <a:bodyPr/>
                    <a:lstStyle/>
                    <a:p>
                      <a:endParaRPr lang="en-IN" sz="2200" dirty="0">
                        <a:latin typeface="+mj-lt"/>
                      </a:endParaRPr>
                    </a:p>
                    <a:p>
                      <a:endParaRPr lang="en-IN" sz="2200" dirty="0">
                        <a:latin typeface="+mj-lt"/>
                      </a:endParaRPr>
                    </a:p>
                  </a:txBody>
                  <a:tcPr marL="109728" marR="109728" marT="54864" marB="54864" anchor="ctr"/>
                </a:tc>
                <a:tc>
                  <a:txBody>
                    <a:bodyPr/>
                    <a:lstStyle/>
                    <a:p>
                      <a:r>
                        <a:rPr lang="en-IN" sz="2200" dirty="0">
                          <a:latin typeface="+mj-lt"/>
                        </a:rPr>
                        <a:t>8.2295</a:t>
                      </a:r>
                    </a:p>
                    <a:p>
                      <a:endParaRPr lang="en-IN" sz="2200" dirty="0">
                        <a:latin typeface="+mj-lt"/>
                      </a:endParaRPr>
                    </a:p>
                    <a:p>
                      <a:r>
                        <a:rPr lang="en-IN" sz="2200" dirty="0">
                          <a:latin typeface="+mj-lt"/>
                        </a:rPr>
                        <a:t>&lt;0.05 (Reject H0)</a:t>
                      </a:r>
                    </a:p>
                  </a:txBody>
                  <a:tcPr marL="109728" marR="109728" marT="54864" marB="54864" anchor="ctr"/>
                </a:tc>
                <a:extLst>
                  <a:ext uri="{0D108BD9-81ED-4DB2-BD59-A6C34878D82A}">
                    <a16:rowId xmlns:a16="http://schemas.microsoft.com/office/drawing/2014/main" val="3978763456"/>
                  </a:ext>
                </a:extLst>
              </a:tr>
            </a:tbl>
          </a:graphicData>
        </a:graphic>
      </p:graphicFrame>
      <p:pic>
        <p:nvPicPr>
          <p:cNvPr id="14" name="Picture 3">
            <a:extLst>
              <a:ext uri="{FF2B5EF4-FFF2-40B4-BE49-F238E27FC236}">
                <a16:creationId xmlns:a16="http://schemas.microsoft.com/office/drawing/2014/main" id="{B8B31C6D-16B3-47B5-A6A7-4B9C4897D31C}"/>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492241" y="2756263"/>
            <a:ext cx="170821" cy="444137"/>
          </a:xfrm>
          <a:prstGeom prst="rect">
            <a:avLst/>
          </a:prstGeom>
          <a:noFill/>
        </p:spPr>
      </p:pic>
      <p:pic>
        <p:nvPicPr>
          <p:cNvPr id="15" name="Picture 14">
            <a:extLst>
              <a:ext uri="{FF2B5EF4-FFF2-40B4-BE49-F238E27FC236}">
                <a16:creationId xmlns:a16="http://schemas.microsoft.com/office/drawing/2014/main" id="{4E592A40-5203-461B-A073-9785EAA2ED03}"/>
              </a:ext>
            </a:extLst>
          </p:cNvPr>
          <p:cNvPicPr>
            <a:picLocks noChangeAspect="1"/>
          </p:cNvPicPr>
          <p:nvPr/>
        </p:nvPicPr>
        <p:blipFill>
          <a:blip r:embed="rId4"/>
          <a:stretch>
            <a:fillRect/>
          </a:stretch>
        </p:blipFill>
        <p:spPr>
          <a:xfrm>
            <a:off x="6492240" y="3452899"/>
            <a:ext cx="342900" cy="296141"/>
          </a:xfrm>
          <a:prstGeom prst="rect">
            <a:avLst/>
          </a:prstGeom>
        </p:spPr>
      </p:pic>
      <p:pic>
        <p:nvPicPr>
          <p:cNvPr id="17" name="Picture 1">
            <a:extLst>
              <a:ext uri="{FF2B5EF4-FFF2-40B4-BE49-F238E27FC236}">
                <a16:creationId xmlns:a16="http://schemas.microsoft.com/office/drawing/2014/main" id="{6505B4EC-5BC0-4A20-8888-1D0E5F7417D1}"/>
              </a:ext>
            </a:extLst>
          </p:cNvPr>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492241" y="3931920"/>
            <a:ext cx="1017270" cy="719328"/>
          </a:xfrm>
          <a:prstGeom prst="rect">
            <a:avLst/>
          </a:prstGeom>
          <a:noFill/>
        </p:spPr>
      </p:pic>
      <p:sp>
        <p:nvSpPr>
          <p:cNvPr id="2" name="Slide Number Placeholder 1">
            <a:extLst>
              <a:ext uri="{FF2B5EF4-FFF2-40B4-BE49-F238E27FC236}">
                <a16:creationId xmlns:a16="http://schemas.microsoft.com/office/drawing/2014/main" id="{6F49947A-BF44-4AD4-12DF-200B54D3D66A}"/>
              </a:ext>
            </a:extLst>
          </p:cNvPr>
          <p:cNvSpPr>
            <a:spLocks noGrp="1"/>
          </p:cNvSpPr>
          <p:nvPr>
            <p:ph type="sldNum" sz="quarter" idx="12"/>
          </p:nvPr>
        </p:nvSpPr>
        <p:spPr/>
        <p:txBody>
          <a:bodyPr/>
          <a:lstStyle/>
          <a:p>
            <a:pPr algn="r"/>
            <a:r>
              <a:rPr lang="en-US" dirty="0"/>
              <a:t> </a:t>
            </a:r>
          </a:p>
        </p:txBody>
      </p:sp>
      <p:sp>
        <p:nvSpPr>
          <p:cNvPr id="3" name="Title 2">
            <a:extLst>
              <a:ext uri="{FF2B5EF4-FFF2-40B4-BE49-F238E27FC236}">
                <a16:creationId xmlns:a16="http://schemas.microsoft.com/office/drawing/2014/main" id="{E4CA56F2-D945-8048-994B-97B983A0B455}"/>
              </a:ext>
            </a:extLst>
          </p:cNvPr>
          <p:cNvSpPr>
            <a:spLocks noGrp="1"/>
          </p:cNvSpPr>
          <p:nvPr>
            <p:ph type="title"/>
          </p:nvPr>
        </p:nvSpPr>
        <p:spPr/>
        <p:txBody>
          <a:bodyPr/>
          <a:lstStyle/>
          <a:p>
            <a:endParaRPr lang="en-US" dirty="0"/>
          </a:p>
        </p:txBody>
      </p:sp>
      <p:sp>
        <p:nvSpPr>
          <p:cNvPr id="16" name="Text 0">
            <a:extLst>
              <a:ext uri="{FF2B5EF4-FFF2-40B4-BE49-F238E27FC236}">
                <a16:creationId xmlns:a16="http://schemas.microsoft.com/office/drawing/2014/main" id="{D66A317A-BB20-D040-9F49-6490EECA29BB}"/>
              </a:ext>
            </a:extLst>
          </p:cNvPr>
          <p:cNvSpPr/>
          <p:nvPr/>
        </p:nvSpPr>
        <p:spPr>
          <a:xfrm>
            <a:off x="547450" y="379479"/>
            <a:ext cx="9294971"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Paired Sample t Test Computation</a:t>
            </a:r>
            <a:endParaRPr lang="en-US" sz="3600" dirty="0"/>
          </a:p>
        </p:txBody>
      </p:sp>
    </p:spTree>
    <p:extLst>
      <p:ext uri="{BB962C8B-B14F-4D97-AF65-F5344CB8AC3E}">
        <p14:creationId xmlns:p14="http://schemas.microsoft.com/office/powerpoint/2010/main" val="3548699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7450" y="379479"/>
            <a:ext cx="9294971"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Drawing Inference: Paired Sample t Test</a:t>
            </a:r>
            <a:endParaRPr lang="en-US" sz="3600" dirty="0"/>
          </a:p>
        </p:txBody>
      </p:sp>
      <p:sp>
        <p:nvSpPr>
          <p:cNvPr id="3" name="Text 1"/>
          <p:cNvSpPr/>
          <p:nvPr/>
        </p:nvSpPr>
        <p:spPr>
          <a:xfrm>
            <a:off x="547450" y="1379127"/>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After calculating the test statistic for the paired samples, we determine the p-value and make our decision about the training program's effectiveness.</a:t>
            </a:r>
            <a:endParaRPr lang="en-US" dirty="0"/>
          </a:p>
        </p:txBody>
      </p:sp>
      <p:sp>
        <p:nvSpPr>
          <p:cNvPr id="4" name="Shape 2"/>
          <p:cNvSpPr/>
          <p:nvPr/>
        </p:nvSpPr>
        <p:spPr>
          <a:xfrm>
            <a:off x="793790" y="3453527"/>
            <a:ext cx="4215289" cy="3228975"/>
          </a:xfrm>
          <a:prstGeom prst="roundRect">
            <a:avLst>
              <a:gd name="adj" fmla="val 922"/>
            </a:avLst>
          </a:prstGeom>
          <a:solidFill>
            <a:srgbClr val="FFFFFF"/>
          </a:solidFill>
          <a:ln w="22860">
            <a:solidFill>
              <a:srgbClr val="D8D4D4"/>
            </a:solidFill>
            <a:prstDash val="solid"/>
          </a:ln>
        </p:spPr>
      </p:sp>
      <p:sp>
        <p:nvSpPr>
          <p:cNvPr id="5" name="Text 3"/>
          <p:cNvSpPr/>
          <p:nvPr/>
        </p:nvSpPr>
        <p:spPr>
          <a:xfrm>
            <a:off x="1015008" y="367474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Statistical Decision</a:t>
            </a:r>
            <a:endParaRPr lang="en-US" sz="2050" dirty="0"/>
          </a:p>
        </p:txBody>
      </p:sp>
      <p:sp>
        <p:nvSpPr>
          <p:cNvPr id="6" name="Text 4"/>
          <p:cNvSpPr/>
          <p:nvPr/>
        </p:nvSpPr>
        <p:spPr>
          <a:xfrm>
            <a:off x="1015008" y="4119443"/>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the calculated p-value with α = 0.05</a:t>
            </a:r>
            <a:endParaRPr lang="en-US" sz="1550" dirty="0"/>
          </a:p>
        </p:txBody>
      </p:sp>
      <p:sp>
        <p:nvSpPr>
          <p:cNvPr id="7" name="Text 5"/>
          <p:cNvSpPr/>
          <p:nvPr/>
        </p:nvSpPr>
        <p:spPr>
          <a:xfrm>
            <a:off x="1015008" y="4873585"/>
            <a:ext cx="3772853"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If p-value &lt; 0.05: Reject H₀</a:t>
            </a:r>
            <a:endParaRPr lang="en-US" sz="1550" dirty="0"/>
          </a:p>
        </p:txBody>
      </p:sp>
      <p:sp>
        <p:nvSpPr>
          <p:cNvPr id="8" name="Text 6"/>
          <p:cNvSpPr/>
          <p:nvPr/>
        </p:nvSpPr>
        <p:spPr>
          <a:xfrm>
            <a:off x="1015008" y="5310188"/>
            <a:ext cx="3772853"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If p-value ≥ 0.05: Do not reject H₀</a:t>
            </a:r>
            <a:endParaRPr lang="en-US" sz="1550" dirty="0"/>
          </a:p>
        </p:txBody>
      </p:sp>
      <p:sp>
        <p:nvSpPr>
          <p:cNvPr id="9" name="Shape 7"/>
          <p:cNvSpPr/>
          <p:nvPr/>
        </p:nvSpPr>
        <p:spPr>
          <a:xfrm>
            <a:off x="5207437" y="3453527"/>
            <a:ext cx="4215408" cy="3228975"/>
          </a:xfrm>
          <a:prstGeom prst="roundRect">
            <a:avLst>
              <a:gd name="adj" fmla="val 922"/>
            </a:avLst>
          </a:prstGeom>
          <a:solidFill>
            <a:srgbClr val="FFFFFF"/>
          </a:solidFill>
          <a:ln w="22860">
            <a:solidFill>
              <a:srgbClr val="D8D4D4"/>
            </a:solidFill>
            <a:prstDash val="solid"/>
          </a:ln>
        </p:spPr>
      </p:sp>
      <p:sp>
        <p:nvSpPr>
          <p:cNvPr id="10" name="Text 8"/>
          <p:cNvSpPr/>
          <p:nvPr/>
        </p:nvSpPr>
        <p:spPr>
          <a:xfrm>
            <a:off x="5428655" y="3674745"/>
            <a:ext cx="273105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Practical Interpretation</a:t>
            </a:r>
            <a:endParaRPr lang="en-US" sz="2050" dirty="0"/>
          </a:p>
        </p:txBody>
      </p:sp>
      <p:sp>
        <p:nvSpPr>
          <p:cNvPr id="11" name="Text 9"/>
          <p:cNvSpPr/>
          <p:nvPr/>
        </p:nvSpPr>
        <p:spPr>
          <a:xfrm>
            <a:off x="5428655" y="4119443"/>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We reject H₀, we conclude that the training program </a:t>
            </a:r>
            <a:r>
              <a:rPr lang="en-US" sz="1550" b="1" dirty="0">
                <a:solidFill>
                  <a:srgbClr val="383838"/>
                </a:solidFill>
                <a:latin typeface="DM Sans" pitchFamily="34" charset="0"/>
                <a:ea typeface="DM Sans" pitchFamily="34" charset="-122"/>
                <a:cs typeface="DM Sans" pitchFamily="34" charset="-120"/>
              </a:rPr>
              <a:t>significantly reduced</a:t>
            </a:r>
            <a:r>
              <a:rPr lang="en-US" sz="1550" dirty="0">
                <a:solidFill>
                  <a:srgbClr val="383838"/>
                </a:solidFill>
                <a:latin typeface="DM Sans" pitchFamily="34" charset="0"/>
                <a:ea typeface="DM Sans" pitchFamily="34" charset="-122"/>
                <a:cs typeface="DM Sans" pitchFamily="34" charset="-120"/>
              </a:rPr>
              <a:t> the time required to complete MIS reports.</a:t>
            </a:r>
            <a:endParaRPr lang="en-US" sz="1550" dirty="0"/>
          </a:p>
        </p:txBody>
      </p:sp>
      <p:sp>
        <p:nvSpPr>
          <p:cNvPr id="13" name="Shape 11"/>
          <p:cNvSpPr/>
          <p:nvPr/>
        </p:nvSpPr>
        <p:spPr>
          <a:xfrm>
            <a:off x="9621203" y="3453527"/>
            <a:ext cx="4215289" cy="3228975"/>
          </a:xfrm>
          <a:prstGeom prst="roundRect">
            <a:avLst>
              <a:gd name="adj" fmla="val 922"/>
            </a:avLst>
          </a:prstGeom>
          <a:solidFill>
            <a:srgbClr val="FFFFFF"/>
          </a:solidFill>
          <a:ln w="22860">
            <a:solidFill>
              <a:srgbClr val="D8D4D4"/>
            </a:solidFill>
            <a:prstDash val="solid"/>
          </a:ln>
        </p:spPr>
      </p:sp>
      <p:sp>
        <p:nvSpPr>
          <p:cNvPr id="14" name="Text 12"/>
          <p:cNvSpPr/>
          <p:nvPr/>
        </p:nvSpPr>
        <p:spPr>
          <a:xfrm>
            <a:off x="9842421" y="367474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Effect Size</a:t>
            </a:r>
            <a:endParaRPr lang="en-US" sz="2050" dirty="0"/>
          </a:p>
        </p:txBody>
      </p:sp>
      <p:sp>
        <p:nvSpPr>
          <p:cNvPr id="15" name="Text 13"/>
          <p:cNvSpPr/>
          <p:nvPr/>
        </p:nvSpPr>
        <p:spPr>
          <a:xfrm>
            <a:off x="9842421" y="4119443"/>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Beyond statistical significance, examine the </a:t>
            </a:r>
            <a:r>
              <a:rPr lang="en-US" sz="1550" b="1" dirty="0">
                <a:solidFill>
                  <a:srgbClr val="383838"/>
                </a:solidFill>
                <a:latin typeface="DM Sans" pitchFamily="34" charset="0"/>
                <a:ea typeface="DM Sans" pitchFamily="34" charset="-122"/>
                <a:cs typeface="DM Sans" pitchFamily="34" charset="-120"/>
              </a:rPr>
              <a:t>magnitude</a:t>
            </a:r>
            <a:r>
              <a:rPr lang="en-US" sz="1550" dirty="0">
                <a:solidFill>
                  <a:srgbClr val="383838"/>
                </a:solidFill>
                <a:latin typeface="DM Sans" pitchFamily="34" charset="0"/>
                <a:ea typeface="DM Sans" pitchFamily="34" charset="-122"/>
                <a:cs typeface="DM Sans" pitchFamily="34" charset="-120"/>
              </a:rPr>
              <a:t> of the mean difference to assess practical importance.</a:t>
            </a:r>
            <a:endParaRPr lang="en-US" sz="1550" dirty="0"/>
          </a:p>
        </p:txBody>
      </p:sp>
      <p:sp>
        <p:nvSpPr>
          <p:cNvPr id="16" name="Text 14"/>
          <p:cNvSpPr/>
          <p:nvPr/>
        </p:nvSpPr>
        <p:spPr>
          <a:xfrm>
            <a:off x="9842421" y="5191125"/>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statistically significant result with a small difference may not be practically meaningful.</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13962" y="406104"/>
            <a:ext cx="6905625"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Analysis of Variance (ANOVA)</a:t>
            </a:r>
            <a:endParaRPr lang="en-US" sz="3600" dirty="0"/>
          </a:p>
        </p:txBody>
      </p:sp>
      <p:sp>
        <p:nvSpPr>
          <p:cNvPr id="3" name="Text 1"/>
          <p:cNvSpPr/>
          <p:nvPr/>
        </p:nvSpPr>
        <p:spPr>
          <a:xfrm>
            <a:off x="413962" y="1371243"/>
            <a:ext cx="8308300"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Analysis of Variance (ANOVA) is a statistical method for comparing means of three or more groups simultaneously. Developed by statistician and evolutionary biologist Ronald Fisher, this technique revolutionized experimental design and data analysis.</a:t>
            </a:r>
            <a:endParaRPr lang="en-US" dirty="0"/>
          </a:p>
        </p:txBody>
      </p:sp>
      <p:sp>
        <p:nvSpPr>
          <p:cNvPr id="4" name="Text 2"/>
          <p:cNvSpPr/>
          <p:nvPr/>
        </p:nvSpPr>
        <p:spPr>
          <a:xfrm>
            <a:off x="413962" y="3267373"/>
            <a:ext cx="4675584"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Why ANOVA Instead of Multiple t Tests?</a:t>
            </a:r>
            <a:endParaRPr lang="en-US" sz="2050" dirty="0"/>
          </a:p>
        </p:txBody>
      </p:sp>
      <p:sp>
        <p:nvSpPr>
          <p:cNvPr id="5" name="Text 3"/>
          <p:cNvSpPr/>
          <p:nvPr/>
        </p:nvSpPr>
        <p:spPr>
          <a:xfrm>
            <a:off x="413962" y="3872776"/>
            <a:ext cx="8308300"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When comparing multiple groups, conducting multiple t tests increases the risk of Type I error (false positives). ANOVA provides a single test that controls the overall error rate while testing all group comparisons simultaneously.</a:t>
            </a:r>
            <a:endParaRPr lang="en-US" dirty="0"/>
          </a:p>
        </p:txBody>
      </p:sp>
      <p:sp>
        <p:nvSpPr>
          <p:cNvPr id="6" name="Text 4"/>
          <p:cNvSpPr/>
          <p:nvPr/>
        </p:nvSpPr>
        <p:spPr>
          <a:xfrm>
            <a:off x="413962" y="559867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Core Concept</a:t>
            </a:r>
            <a:endParaRPr lang="en-US" sz="2050" dirty="0"/>
          </a:p>
        </p:txBody>
      </p:sp>
      <p:sp>
        <p:nvSpPr>
          <p:cNvPr id="7" name="Text 5"/>
          <p:cNvSpPr/>
          <p:nvPr/>
        </p:nvSpPr>
        <p:spPr>
          <a:xfrm>
            <a:off x="413962" y="6177796"/>
            <a:ext cx="8308300"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Despite its name, ANOVA analyzes </a:t>
            </a:r>
            <a:r>
              <a:rPr lang="en-US" i="1" dirty="0">
                <a:solidFill>
                  <a:srgbClr val="383838"/>
                </a:solidFill>
                <a:latin typeface="DM Sans" pitchFamily="34" charset="0"/>
                <a:ea typeface="DM Sans" pitchFamily="34" charset="-122"/>
                <a:cs typeface="DM Sans" pitchFamily="34" charset="-120"/>
              </a:rPr>
              <a:t>variance</a:t>
            </a:r>
            <a:r>
              <a:rPr lang="en-US" dirty="0">
                <a:solidFill>
                  <a:srgbClr val="383838"/>
                </a:solidFill>
                <a:latin typeface="DM Sans" pitchFamily="34" charset="0"/>
                <a:ea typeface="DM Sans" pitchFamily="34" charset="-122"/>
                <a:cs typeface="DM Sans" pitchFamily="34" charset="-120"/>
              </a:rPr>
              <a:t> to test differences in </a:t>
            </a:r>
            <a:r>
              <a:rPr lang="en-US" i="1" dirty="0">
                <a:solidFill>
                  <a:srgbClr val="383838"/>
                </a:solidFill>
                <a:latin typeface="DM Sans" pitchFamily="34" charset="0"/>
                <a:ea typeface="DM Sans" pitchFamily="34" charset="-122"/>
                <a:cs typeface="DM Sans" pitchFamily="34" charset="-120"/>
              </a:rPr>
              <a:t>means</a:t>
            </a:r>
            <a:r>
              <a:rPr lang="en-US" dirty="0">
                <a:solidFill>
                  <a:srgbClr val="383838"/>
                </a:solidFill>
                <a:latin typeface="DM Sans" pitchFamily="34" charset="0"/>
                <a:ea typeface="DM Sans" pitchFamily="34" charset="-122"/>
                <a:cs typeface="DM Sans" pitchFamily="34" charset="-120"/>
              </a:rPr>
              <a:t>. The method partitions total variance into components: variance between groups and variance within groups. If between-group variance is large relative to within-group variance, we conclude the groups have different means.</a:t>
            </a:r>
            <a:endParaRPr lang="en-US" dirty="0"/>
          </a:p>
        </p:txBody>
      </p:sp>
      <p:pic>
        <p:nvPicPr>
          <p:cNvPr id="8" name="Image 0" descr="preencoded.png"/>
          <p:cNvPicPr>
            <a:picLocks noChangeAspect="1"/>
          </p:cNvPicPr>
          <p:nvPr/>
        </p:nvPicPr>
        <p:blipFill>
          <a:blip r:embed="rId3"/>
          <a:stretch>
            <a:fillRect/>
          </a:stretch>
        </p:blipFill>
        <p:spPr>
          <a:xfrm>
            <a:off x="9593818" y="2323862"/>
            <a:ext cx="2840593" cy="36004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26504" y="444638"/>
            <a:ext cx="5359598" cy="553403"/>
          </a:xfrm>
          <a:prstGeom prst="rect">
            <a:avLst/>
          </a:prstGeom>
          <a:noFill/>
          <a:ln/>
        </p:spPr>
        <p:txBody>
          <a:bodyPr wrap="none" lIns="0" tIns="0" rIns="0" bIns="0" rtlCol="0" anchor="t"/>
          <a:lstStyle/>
          <a:p>
            <a:pPr marL="0" indent="0" algn="l">
              <a:lnSpc>
                <a:spcPts val="4350"/>
              </a:lnSpc>
              <a:buNone/>
            </a:pPr>
            <a:r>
              <a:rPr lang="en-US" sz="3600" dirty="0">
                <a:solidFill>
                  <a:srgbClr val="020202"/>
                </a:solidFill>
                <a:latin typeface="PT Serif" pitchFamily="34" charset="0"/>
                <a:ea typeface="PT Serif" pitchFamily="34" charset="-122"/>
                <a:cs typeface="PT Serif" pitchFamily="34" charset="-120"/>
              </a:rPr>
              <a:t>One-Way ANOVA: Example</a:t>
            </a:r>
            <a:endParaRPr lang="en-US" sz="3600" dirty="0"/>
          </a:p>
        </p:txBody>
      </p:sp>
      <p:sp>
        <p:nvSpPr>
          <p:cNvPr id="3" name="Text 1"/>
          <p:cNvSpPr/>
          <p:nvPr/>
        </p:nvSpPr>
        <p:spPr>
          <a:xfrm>
            <a:off x="526504" y="1467505"/>
            <a:ext cx="13042821" cy="539829"/>
          </a:xfrm>
          <a:prstGeom prst="rect">
            <a:avLst/>
          </a:prstGeom>
          <a:noFill/>
          <a:ln/>
        </p:spPr>
        <p:txBody>
          <a:bodyPr wrap="square" lIns="0" tIns="0" rIns="0" bIns="0" rtlCol="0" anchor="t"/>
          <a:lstStyle/>
          <a:p>
            <a:pPr marL="0" indent="0" algn="l">
              <a:lnSpc>
                <a:spcPts val="2100"/>
              </a:lnSpc>
              <a:buNone/>
            </a:pPr>
            <a:r>
              <a:rPr lang="en-US" dirty="0">
                <a:solidFill>
                  <a:srgbClr val="383838"/>
                </a:solidFill>
                <a:latin typeface="DM Sans" pitchFamily="34" charset="0"/>
                <a:ea typeface="DM Sans" pitchFamily="34" charset="-122"/>
                <a:cs typeface="DM Sans" pitchFamily="34" charset="-120"/>
              </a:rPr>
              <a:t>A large company wants to assess whether employee satisfaction differs across three departments: Finance, Marketing, and Client-Servicing. They measure the Satisfaction Index for 37 employees across these departments.</a:t>
            </a:r>
            <a:endParaRPr lang="en-US" dirty="0"/>
          </a:p>
        </p:txBody>
      </p:sp>
      <p:sp>
        <p:nvSpPr>
          <p:cNvPr id="4" name="Text 2"/>
          <p:cNvSpPr/>
          <p:nvPr/>
        </p:nvSpPr>
        <p:spPr>
          <a:xfrm>
            <a:off x="526504" y="2436971"/>
            <a:ext cx="4495662" cy="1718668"/>
          </a:xfrm>
          <a:prstGeom prst="rect">
            <a:avLst/>
          </a:prstGeom>
          <a:noFill/>
          <a:ln/>
        </p:spPr>
        <p:txBody>
          <a:bodyPr wrap="none" lIns="0" tIns="0" rIns="0" bIns="0" rtlCol="0" anchor="t"/>
          <a:lstStyle/>
          <a:p>
            <a:pPr marL="0" indent="0" algn="l">
              <a:lnSpc>
                <a:spcPts val="2150"/>
              </a:lnSpc>
              <a:buNone/>
            </a:pPr>
            <a:r>
              <a:rPr lang="en-US" b="1" dirty="0">
                <a:solidFill>
                  <a:srgbClr val="020202"/>
                </a:solidFill>
                <a:latin typeface="PT Serif" pitchFamily="34" charset="0"/>
                <a:ea typeface="PT Serif" pitchFamily="34" charset="-122"/>
                <a:cs typeface="PT Serif" pitchFamily="34" charset="-120"/>
              </a:rPr>
              <a:t>Sample Composition:</a:t>
            </a:r>
          </a:p>
          <a:p>
            <a:pPr marL="0" indent="0" algn="l">
              <a:lnSpc>
                <a:spcPts val="2150"/>
              </a:lnSpc>
              <a:buNone/>
            </a:pPr>
            <a:endParaRPr lang="en-US" dirty="0">
              <a:solidFill>
                <a:srgbClr val="020202"/>
              </a:solidFill>
              <a:latin typeface="PT Serif" pitchFamily="34" charset="0"/>
              <a:ea typeface="PT Serif" pitchFamily="34" charset="-122"/>
              <a:cs typeface="PT Serif" pitchFamily="34" charset="-120"/>
            </a:endParaRPr>
          </a:p>
          <a:p>
            <a:pPr>
              <a:lnSpc>
                <a:spcPts val="2150"/>
              </a:lnSpc>
            </a:pPr>
            <a:r>
              <a:rPr lang="en-US" dirty="0">
                <a:solidFill>
                  <a:srgbClr val="383838"/>
                </a:solidFill>
                <a:latin typeface="DM Sans" pitchFamily="34" charset="0"/>
                <a:ea typeface="DM Sans" pitchFamily="34" charset="-122"/>
                <a:cs typeface="DM Sans" pitchFamily="34" charset="-120"/>
              </a:rPr>
              <a:t>Finance: n₁ = 12 employees</a:t>
            </a:r>
          </a:p>
          <a:p>
            <a:pPr>
              <a:lnSpc>
                <a:spcPts val="2150"/>
              </a:lnSpc>
            </a:pPr>
            <a:r>
              <a:rPr lang="en-US" dirty="0">
                <a:solidFill>
                  <a:srgbClr val="383838"/>
                </a:solidFill>
                <a:latin typeface="DM Sans" pitchFamily="34" charset="0"/>
                <a:ea typeface="DM Sans" pitchFamily="34" charset="-122"/>
                <a:cs typeface="DM Sans" pitchFamily="34" charset="-120"/>
              </a:rPr>
              <a:t>Marketing: n₂ = 12 employees</a:t>
            </a:r>
          </a:p>
          <a:p>
            <a:pPr>
              <a:lnSpc>
                <a:spcPts val="2150"/>
              </a:lnSpc>
            </a:pPr>
            <a:r>
              <a:rPr lang="en-US" dirty="0">
                <a:solidFill>
                  <a:srgbClr val="383838"/>
                </a:solidFill>
                <a:latin typeface="DM Sans" pitchFamily="34" charset="0"/>
                <a:ea typeface="DM Sans" pitchFamily="34" charset="-122"/>
                <a:cs typeface="DM Sans" pitchFamily="34" charset="-120"/>
              </a:rPr>
              <a:t>Client-Servicing: n₃ = 13 employees</a:t>
            </a:r>
          </a:p>
          <a:p>
            <a:pPr>
              <a:lnSpc>
                <a:spcPts val="2150"/>
              </a:lnSpc>
            </a:pPr>
            <a:r>
              <a:rPr lang="en-US" dirty="0">
                <a:solidFill>
                  <a:srgbClr val="383838"/>
                </a:solidFill>
                <a:latin typeface="DM Sans" pitchFamily="34" charset="0"/>
                <a:ea typeface="DM Sans" pitchFamily="34" charset="-122"/>
                <a:cs typeface="DM Sans" pitchFamily="34" charset="-120"/>
              </a:rPr>
              <a:t>Total: N = 37 employees</a:t>
            </a:r>
            <a:endParaRPr lang="en-US" dirty="0"/>
          </a:p>
          <a:p>
            <a:pPr>
              <a:lnSpc>
                <a:spcPts val="2150"/>
              </a:lnSpc>
            </a:pPr>
            <a:endParaRPr lang="en-US" dirty="0"/>
          </a:p>
          <a:p>
            <a:pPr>
              <a:lnSpc>
                <a:spcPts val="2150"/>
              </a:lnSpc>
            </a:pPr>
            <a:endParaRPr lang="en-US" dirty="0"/>
          </a:p>
          <a:p>
            <a:pPr>
              <a:lnSpc>
                <a:spcPts val="2150"/>
              </a:lnSpc>
            </a:pPr>
            <a:endParaRPr lang="en-US" dirty="0"/>
          </a:p>
          <a:p>
            <a:pPr marL="0" indent="0" algn="l">
              <a:lnSpc>
                <a:spcPts val="2150"/>
              </a:lnSpc>
              <a:buNone/>
            </a:pPr>
            <a:endParaRPr lang="en-US" b="1" dirty="0"/>
          </a:p>
        </p:txBody>
      </p:sp>
      <p:sp>
        <p:nvSpPr>
          <p:cNvPr id="5" name="Text 3"/>
          <p:cNvSpPr/>
          <p:nvPr/>
        </p:nvSpPr>
        <p:spPr>
          <a:xfrm>
            <a:off x="253218" y="2476798"/>
            <a:ext cx="8201649" cy="1932563"/>
          </a:xfrm>
          <a:prstGeom prst="rect">
            <a:avLst/>
          </a:prstGeom>
          <a:noFill/>
          <a:ln/>
        </p:spPr>
        <p:txBody>
          <a:bodyPr wrap="none" lIns="0" tIns="0" rIns="0" bIns="0" rtlCol="0" anchor="t"/>
          <a:lstStyle/>
          <a:p>
            <a:pPr marL="342900" indent="-342900" algn="l">
              <a:lnSpc>
                <a:spcPts val="2100"/>
              </a:lnSpc>
              <a:buSzPct val="100000"/>
              <a:buChar char="•"/>
            </a:pPr>
            <a:endParaRPr lang="en-US" sz="1500" dirty="0"/>
          </a:p>
        </p:txBody>
      </p:sp>
      <p:sp>
        <p:nvSpPr>
          <p:cNvPr id="6" name="Text 4"/>
          <p:cNvSpPr/>
          <p:nvPr/>
        </p:nvSpPr>
        <p:spPr>
          <a:xfrm>
            <a:off x="793790" y="3328868"/>
            <a:ext cx="7661077" cy="269915"/>
          </a:xfrm>
          <a:prstGeom prst="rect">
            <a:avLst/>
          </a:prstGeom>
          <a:noFill/>
          <a:ln/>
        </p:spPr>
        <p:txBody>
          <a:bodyPr wrap="none" lIns="0" tIns="0" rIns="0" bIns="0" rtlCol="0" anchor="t"/>
          <a:lstStyle/>
          <a:p>
            <a:pPr marL="342900" indent="-342900" algn="l">
              <a:lnSpc>
                <a:spcPts val="2100"/>
              </a:lnSpc>
              <a:buSzPct val="100000"/>
              <a:buChar char="•"/>
            </a:pPr>
            <a:endParaRPr lang="en-US" sz="1500" dirty="0"/>
          </a:p>
        </p:txBody>
      </p:sp>
      <p:sp>
        <p:nvSpPr>
          <p:cNvPr id="7" name="Text 5"/>
          <p:cNvSpPr/>
          <p:nvPr/>
        </p:nvSpPr>
        <p:spPr>
          <a:xfrm>
            <a:off x="793790" y="3657719"/>
            <a:ext cx="7661077" cy="269915"/>
          </a:xfrm>
          <a:prstGeom prst="rect">
            <a:avLst/>
          </a:prstGeom>
          <a:noFill/>
          <a:ln/>
        </p:spPr>
        <p:txBody>
          <a:bodyPr wrap="none" lIns="0" tIns="0" rIns="0" bIns="0" rtlCol="0" anchor="t"/>
          <a:lstStyle/>
          <a:p>
            <a:pPr marL="342900" indent="-342900" algn="l">
              <a:lnSpc>
                <a:spcPts val="2100"/>
              </a:lnSpc>
              <a:buSzPct val="100000"/>
              <a:buChar char="•"/>
            </a:pPr>
            <a:endParaRPr lang="en-US" sz="1500" dirty="0"/>
          </a:p>
        </p:txBody>
      </p:sp>
      <p:sp>
        <p:nvSpPr>
          <p:cNvPr id="8" name="Text 6"/>
          <p:cNvSpPr/>
          <p:nvPr/>
        </p:nvSpPr>
        <p:spPr>
          <a:xfrm>
            <a:off x="793790" y="3986570"/>
            <a:ext cx="7661077" cy="269915"/>
          </a:xfrm>
          <a:prstGeom prst="rect">
            <a:avLst/>
          </a:prstGeom>
          <a:noFill/>
          <a:ln/>
        </p:spPr>
        <p:txBody>
          <a:bodyPr wrap="none" lIns="0" tIns="0" rIns="0" bIns="0" rtlCol="0" anchor="t"/>
          <a:lstStyle/>
          <a:p>
            <a:pPr marL="342900" indent="-342900" algn="l">
              <a:lnSpc>
                <a:spcPts val="2100"/>
              </a:lnSpc>
              <a:buSzPct val="100000"/>
              <a:buChar char="•"/>
            </a:pPr>
            <a:endParaRPr lang="en-US" sz="1500" dirty="0"/>
          </a:p>
        </p:txBody>
      </p:sp>
      <p:sp>
        <p:nvSpPr>
          <p:cNvPr id="9" name="Text 7"/>
          <p:cNvSpPr/>
          <p:nvPr/>
        </p:nvSpPr>
        <p:spPr>
          <a:xfrm>
            <a:off x="489703" y="4328398"/>
            <a:ext cx="8105657" cy="2089904"/>
          </a:xfrm>
          <a:prstGeom prst="rect">
            <a:avLst/>
          </a:prstGeom>
          <a:noFill/>
          <a:ln/>
        </p:spPr>
        <p:txBody>
          <a:bodyPr wrap="none" lIns="0" tIns="0" rIns="0" bIns="0" rtlCol="0" anchor="t"/>
          <a:lstStyle/>
          <a:p>
            <a:pPr marL="0" indent="0" algn="l">
              <a:lnSpc>
                <a:spcPts val="2150"/>
              </a:lnSpc>
              <a:buNone/>
            </a:pPr>
            <a:r>
              <a:rPr lang="en-US" sz="1700" dirty="0">
                <a:solidFill>
                  <a:srgbClr val="020202"/>
                </a:solidFill>
                <a:latin typeface="PT Serif" pitchFamily="34" charset="0"/>
                <a:ea typeface="PT Serif" pitchFamily="34" charset="-122"/>
                <a:cs typeface="PT Serif" pitchFamily="34" charset="-120"/>
              </a:rPr>
              <a:t>Hypotheses</a:t>
            </a:r>
          </a:p>
          <a:p>
            <a:pPr marL="0" indent="0" algn="l">
              <a:lnSpc>
                <a:spcPts val="2150"/>
              </a:lnSpc>
              <a:buNone/>
            </a:pPr>
            <a:endParaRPr lang="en-US" sz="1700" dirty="0">
              <a:solidFill>
                <a:srgbClr val="020202"/>
              </a:solidFill>
              <a:latin typeface="PT Serif" pitchFamily="34" charset="0"/>
              <a:ea typeface="PT Serif" pitchFamily="34" charset="-122"/>
              <a:cs typeface="PT Serif" pitchFamily="34" charset="-120"/>
            </a:endParaRPr>
          </a:p>
          <a:p>
            <a:pPr>
              <a:lnSpc>
                <a:spcPts val="2150"/>
              </a:lnSpc>
            </a:pPr>
            <a:r>
              <a:rPr lang="en-US" b="1" dirty="0">
                <a:solidFill>
                  <a:srgbClr val="383838"/>
                </a:solidFill>
                <a:latin typeface="DM Sans" pitchFamily="34" charset="0"/>
                <a:ea typeface="DM Sans" pitchFamily="34" charset="-122"/>
                <a:cs typeface="DM Sans" pitchFamily="34" charset="-120"/>
              </a:rPr>
              <a:t>Null Hypothesis (H₀):</a:t>
            </a:r>
            <a:r>
              <a:rPr lang="en-US" dirty="0">
                <a:solidFill>
                  <a:srgbClr val="383838"/>
                </a:solidFill>
                <a:latin typeface="DM Sans" pitchFamily="34" charset="0"/>
                <a:ea typeface="DM Sans" pitchFamily="34" charset="-122"/>
                <a:cs typeface="DM Sans" pitchFamily="34" charset="-120"/>
              </a:rPr>
              <a:t> </a:t>
            </a:r>
            <a:r>
              <a:rPr lang="en-US" dirty="0" err="1">
                <a:solidFill>
                  <a:srgbClr val="383838"/>
                </a:solidFill>
                <a:latin typeface="DM Sans" pitchFamily="34" charset="0"/>
                <a:ea typeface="DM Sans" pitchFamily="34" charset="-122"/>
                <a:cs typeface="DM Sans" pitchFamily="34" charset="-120"/>
              </a:rPr>
              <a:t>μ</a:t>
            </a:r>
            <a:r>
              <a:rPr lang="en-US" dirty="0">
                <a:solidFill>
                  <a:srgbClr val="383838"/>
                </a:solidFill>
                <a:latin typeface="DM Sans" pitchFamily="34" charset="0"/>
                <a:ea typeface="DM Sans" pitchFamily="34" charset="-122"/>
                <a:cs typeface="DM Sans" pitchFamily="34" charset="-120"/>
              </a:rPr>
              <a:t>₁ = </a:t>
            </a:r>
            <a:r>
              <a:rPr lang="en-US" dirty="0" err="1">
                <a:solidFill>
                  <a:srgbClr val="383838"/>
                </a:solidFill>
                <a:latin typeface="DM Sans" pitchFamily="34" charset="0"/>
                <a:ea typeface="DM Sans" pitchFamily="34" charset="-122"/>
                <a:cs typeface="DM Sans" pitchFamily="34" charset="-120"/>
              </a:rPr>
              <a:t>μ</a:t>
            </a:r>
            <a:r>
              <a:rPr lang="en-US" dirty="0">
                <a:solidFill>
                  <a:srgbClr val="383838"/>
                </a:solidFill>
                <a:latin typeface="DM Sans" pitchFamily="34" charset="0"/>
                <a:ea typeface="DM Sans" pitchFamily="34" charset="-122"/>
                <a:cs typeface="DM Sans" pitchFamily="34" charset="-120"/>
              </a:rPr>
              <a:t>₂ = </a:t>
            </a:r>
            <a:r>
              <a:rPr lang="en-US" dirty="0" err="1">
                <a:solidFill>
                  <a:srgbClr val="383838"/>
                </a:solidFill>
                <a:latin typeface="DM Sans" pitchFamily="34" charset="0"/>
                <a:ea typeface="DM Sans" pitchFamily="34" charset="-122"/>
                <a:cs typeface="DM Sans" pitchFamily="34" charset="-120"/>
              </a:rPr>
              <a:t>μ</a:t>
            </a:r>
            <a:r>
              <a:rPr lang="en-US" dirty="0">
                <a:solidFill>
                  <a:srgbClr val="383838"/>
                </a:solidFill>
                <a:latin typeface="DM Sans" pitchFamily="34" charset="0"/>
                <a:ea typeface="DM Sans" pitchFamily="34" charset="-122"/>
                <a:cs typeface="DM Sans" pitchFamily="34" charset="-120"/>
              </a:rPr>
              <a:t>₃</a:t>
            </a:r>
          </a:p>
          <a:p>
            <a:pPr>
              <a:lnSpc>
                <a:spcPts val="2150"/>
              </a:lnSpc>
            </a:pPr>
            <a:r>
              <a:rPr lang="en-US" dirty="0">
                <a:solidFill>
                  <a:srgbClr val="383838"/>
                </a:solidFill>
                <a:latin typeface="DM Sans" pitchFamily="34" charset="0"/>
                <a:ea typeface="DM Sans" pitchFamily="34" charset="-122"/>
                <a:cs typeface="DM Sans" pitchFamily="34" charset="-120"/>
              </a:rPr>
              <a:t>All three departments have the same average satisfaction index</a:t>
            </a:r>
          </a:p>
          <a:p>
            <a:pPr>
              <a:lnSpc>
                <a:spcPts val="2150"/>
              </a:lnSpc>
            </a:pPr>
            <a:endParaRPr lang="en-US" dirty="0">
              <a:solidFill>
                <a:srgbClr val="383838"/>
              </a:solidFill>
              <a:latin typeface="DM Sans" pitchFamily="34" charset="0"/>
              <a:ea typeface="DM Sans" pitchFamily="34" charset="-122"/>
              <a:cs typeface="DM Sans" pitchFamily="34" charset="-120"/>
            </a:endParaRPr>
          </a:p>
          <a:p>
            <a:pPr>
              <a:lnSpc>
                <a:spcPts val="2150"/>
              </a:lnSpc>
            </a:pPr>
            <a:r>
              <a:rPr lang="en-US" b="1" dirty="0">
                <a:solidFill>
                  <a:srgbClr val="383838"/>
                </a:solidFill>
                <a:latin typeface="DM Sans" pitchFamily="34" charset="0"/>
                <a:ea typeface="DM Sans" pitchFamily="34" charset="-122"/>
                <a:cs typeface="DM Sans" pitchFamily="34" charset="-120"/>
              </a:rPr>
              <a:t>Alternative Hypothesis (H₁):</a:t>
            </a:r>
            <a:r>
              <a:rPr lang="en-US" dirty="0">
                <a:solidFill>
                  <a:srgbClr val="383838"/>
                </a:solidFill>
                <a:latin typeface="DM Sans" pitchFamily="34" charset="0"/>
                <a:ea typeface="DM Sans" pitchFamily="34" charset="-122"/>
                <a:cs typeface="DM Sans" pitchFamily="34" charset="-120"/>
              </a:rPr>
              <a:t> Not all means are equal</a:t>
            </a:r>
          </a:p>
          <a:p>
            <a:pPr>
              <a:lnSpc>
                <a:spcPts val="2150"/>
              </a:lnSpc>
            </a:pPr>
            <a:r>
              <a:rPr lang="en-US" dirty="0">
                <a:solidFill>
                  <a:srgbClr val="383838"/>
                </a:solidFill>
                <a:latin typeface="DM Sans" pitchFamily="34" charset="0"/>
                <a:ea typeface="DM Sans" pitchFamily="34" charset="-122"/>
                <a:cs typeface="DM Sans" pitchFamily="34" charset="-120"/>
              </a:rPr>
              <a:t>At least one department differs in average satisfaction from the others</a:t>
            </a:r>
            <a:endParaRPr lang="en-US" dirty="0"/>
          </a:p>
          <a:p>
            <a:pPr>
              <a:lnSpc>
                <a:spcPts val="2150"/>
              </a:lnSpc>
            </a:pPr>
            <a:endParaRPr lang="en-US" dirty="0"/>
          </a:p>
          <a:p>
            <a:pPr>
              <a:lnSpc>
                <a:spcPts val="2150"/>
              </a:lnSpc>
            </a:pPr>
            <a:endParaRPr lang="en-US" dirty="0"/>
          </a:p>
          <a:p>
            <a:pPr>
              <a:lnSpc>
                <a:spcPts val="2150"/>
              </a:lnSpc>
            </a:pPr>
            <a:endParaRPr lang="en-US" dirty="0"/>
          </a:p>
          <a:p>
            <a:pPr marL="0" indent="0" algn="l">
              <a:lnSpc>
                <a:spcPts val="2150"/>
              </a:lnSpc>
              <a:buNone/>
            </a:pPr>
            <a:endParaRPr lang="en-US" sz="1700" dirty="0"/>
          </a:p>
        </p:txBody>
      </p:sp>
      <p:sp>
        <p:nvSpPr>
          <p:cNvPr id="10" name="Text 8"/>
          <p:cNvSpPr/>
          <p:nvPr/>
        </p:nvSpPr>
        <p:spPr>
          <a:xfrm>
            <a:off x="793790" y="4870490"/>
            <a:ext cx="7661077" cy="269915"/>
          </a:xfrm>
          <a:prstGeom prst="rect">
            <a:avLst/>
          </a:prstGeom>
          <a:noFill/>
          <a:ln/>
        </p:spPr>
        <p:txBody>
          <a:bodyPr wrap="none" lIns="0" tIns="0" rIns="0" bIns="0" rtlCol="0" anchor="t"/>
          <a:lstStyle/>
          <a:p>
            <a:pPr marL="0" indent="0" algn="l">
              <a:lnSpc>
                <a:spcPts val="2100"/>
              </a:lnSpc>
              <a:buNone/>
            </a:pPr>
            <a:endParaRPr lang="en-US" sz="1300" dirty="0"/>
          </a:p>
        </p:txBody>
      </p:sp>
      <p:sp>
        <p:nvSpPr>
          <p:cNvPr id="11" name="Text 9"/>
          <p:cNvSpPr/>
          <p:nvPr/>
        </p:nvSpPr>
        <p:spPr>
          <a:xfrm>
            <a:off x="793790" y="5292209"/>
            <a:ext cx="7661077" cy="269915"/>
          </a:xfrm>
          <a:prstGeom prst="rect">
            <a:avLst/>
          </a:prstGeom>
          <a:noFill/>
          <a:ln/>
        </p:spPr>
        <p:txBody>
          <a:bodyPr wrap="none" lIns="0" tIns="0" rIns="0" bIns="0" rtlCol="0" anchor="t"/>
          <a:lstStyle/>
          <a:p>
            <a:pPr marL="0" indent="0" algn="l">
              <a:lnSpc>
                <a:spcPts val="2100"/>
              </a:lnSpc>
              <a:buNone/>
            </a:pPr>
            <a:endParaRPr lang="en-US" sz="1300" dirty="0"/>
          </a:p>
        </p:txBody>
      </p:sp>
      <p:sp>
        <p:nvSpPr>
          <p:cNvPr id="12" name="Text 10"/>
          <p:cNvSpPr/>
          <p:nvPr/>
        </p:nvSpPr>
        <p:spPr>
          <a:xfrm>
            <a:off x="793790" y="5713928"/>
            <a:ext cx="7661077" cy="269915"/>
          </a:xfrm>
          <a:prstGeom prst="rect">
            <a:avLst/>
          </a:prstGeom>
          <a:noFill/>
          <a:ln/>
        </p:spPr>
        <p:txBody>
          <a:bodyPr wrap="none" lIns="0" tIns="0" rIns="0" bIns="0" rtlCol="0" anchor="t"/>
          <a:lstStyle/>
          <a:p>
            <a:pPr marL="0" indent="0" algn="l">
              <a:lnSpc>
                <a:spcPts val="2100"/>
              </a:lnSpc>
              <a:buNone/>
            </a:pPr>
            <a:endParaRPr lang="en-US" sz="1300" dirty="0"/>
          </a:p>
        </p:txBody>
      </p:sp>
      <p:sp>
        <p:nvSpPr>
          <p:cNvPr id="13" name="Text 11"/>
          <p:cNvSpPr/>
          <p:nvPr/>
        </p:nvSpPr>
        <p:spPr>
          <a:xfrm>
            <a:off x="793790" y="6135648"/>
            <a:ext cx="7661077" cy="269915"/>
          </a:xfrm>
          <a:prstGeom prst="rect">
            <a:avLst/>
          </a:prstGeom>
          <a:noFill/>
          <a:ln/>
        </p:spPr>
        <p:txBody>
          <a:bodyPr wrap="none" lIns="0" tIns="0" rIns="0" bIns="0" rtlCol="0" anchor="t"/>
          <a:lstStyle/>
          <a:p>
            <a:pPr marL="0" indent="0" algn="l">
              <a:lnSpc>
                <a:spcPts val="2100"/>
              </a:lnSpc>
              <a:buNone/>
            </a:pPr>
            <a:endParaRPr lang="en-US" sz="1300" dirty="0"/>
          </a:p>
        </p:txBody>
      </p:sp>
      <p:pic>
        <p:nvPicPr>
          <p:cNvPr id="14" name="Image 0" descr="preencoded.png"/>
          <p:cNvPicPr>
            <a:picLocks noChangeAspect="1"/>
          </p:cNvPicPr>
          <p:nvPr/>
        </p:nvPicPr>
        <p:blipFill>
          <a:blip r:embed="rId3"/>
          <a:stretch>
            <a:fillRect/>
          </a:stretch>
        </p:blipFill>
        <p:spPr>
          <a:xfrm>
            <a:off x="8595361" y="2377698"/>
            <a:ext cx="2949828" cy="3454003"/>
          </a:xfrm>
          <a:prstGeom prst="rect">
            <a:avLst/>
          </a:prstGeom>
        </p:spPr>
      </p:pic>
      <p:sp>
        <p:nvSpPr>
          <p:cNvPr id="15" name="Shape 12"/>
          <p:cNvSpPr/>
          <p:nvPr/>
        </p:nvSpPr>
        <p:spPr>
          <a:xfrm>
            <a:off x="793790" y="6747153"/>
            <a:ext cx="13042821" cy="716756"/>
          </a:xfrm>
          <a:prstGeom prst="roundRect">
            <a:avLst>
              <a:gd name="adj" fmla="val 3531"/>
            </a:avLst>
          </a:prstGeom>
          <a:solidFill>
            <a:srgbClr val="FFCDB3"/>
          </a:solidFill>
          <a:ln/>
        </p:spPr>
      </p:sp>
      <p:pic>
        <p:nvPicPr>
          <p:cNvPr id="16" name="Image 1" descr="preencoded.png"/>
          <p:cNvPicPr>
            <a:picLocks noChangeAspect="1"/>
          </p:cNvPicPr>
          <p:nvPr/>
        </p:nvPicPr>
        <p:blipFill>
          <a:blip r:embed="rId4"/>
          <a:stretch>
            <a:fillRect/>
          </a:stretch>
        </p:blipFill>
        <p:spPr>
          <a:xfrm>
            <a:off x="962382" y="7000875"/>
            <a:ext cx="210860" cy="168593"/>
          </a:xfrm>
          <a:prstGeom prst="rect">
            <a:avLst/>
          </a:prstGeom>
        </p:spPr>
      </p:pic>
      <p:sp>
        <p:nvSpPr>
          <p:cNvPr id="17" name="Text 13"/>
          <p:cNvSpPr/>
          <p:nvPr/>
        </p:nvSpPr>
        <p:spPr>
          <a:xfrm>
            <a:off x="1243142" y="6860821"/>
            <a:ext cx="12326183" cy="269915"/>
          </a:xfrm>
          <a:prstGeom prst="rect">
            <a:avLst/>
          </a:prstGeom>
          <a:noFill/>
          <a:ln/>
        </p:spPr>
        <p:txBody>
          <a:bodyPr wrap="none" lIns="0" tIns="0" rIns="0" bIns="0" rtlCol="0" anchor="t"/>
          <a:lstStyle/>
          <a:p>
            <a:pPr marL="0" indent="0" algn="l">
              <a:lnSpc>
                <a:spcPts val="2100"/>
              </a:lnSpc>
              <a:buNone/>
            </a:pPr>
            <a:r>
              <a:rPr lang="en-US" b="1" dirty="0">
                <a:solidFill>
                  <a:srgbClr val="000000"/>
                </a:solidFill>
                <a:latin typeface="DM Sans" pitchFamily="34" charset="0"/>
                <a:ea typeface="DM Sans" pitchFamily="34" charset="-122"/>
                <a:cs typeface="DM Sans" pitchFamily="34" charset="-120"/>
              </a:rPr>
              <a:t>Note:</a:t>
            </a:r>
            <a:r>
              <a:rPr lang="en-US" dirty="0">
                <a:solidFill>
                  <a:srgbClr val="000000"/>
                </a:solidFill>
                <a:latin typeface="DM Sans" pitchFamily="34" charset="0"/>
                <a:ea typeface="DM Sans" pitchFamily="34" charset="-122"/>
                <a:cs typeface="DM Sans" pitchFamily="34" charset="-120"/>
              </a:rPr>
              <a:t> The alternative hypothesis does NOT specify which groups differ. If ANOVA is significant, post-hoc tests are </a:t>
            </a:r>
          </a:p>
          <a:p>
            <a:pPr marL="0" indent="0" algn="l">
              <a:lnSpc>
                <a:spcPts val="2100"/>
              </a:lnSpc>
              <a:buNone/>
            </a:pPr>
            <a:r>
              <a:rPr lang="en-US" dirty="0">
                <a:solidFill>
                  <a:srgbClr val="000000"/>
                </a:solidFill>
                <a:latin typeface="DM Sans" pitchFamily="34" charset="0"/>
                <a:ea typeface="DM Sans" pitchFamily="34" charset="-122"/>
                <a:cs typeface="DM Sans" pitchFamily="34" charset="-120"/>
              </a:rPr>
              <a:t>needed to identify specific differences.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343624" y="387667"/>
            <a:ext cx="6545699" cy="586026"/>
          </a:xfrm>
          <a:prstGeom prst="rect">
            <a:avLst/>
          </a:prstGeom>
          <a:noFill/>
          <a:ln/>
        </p:spPr>
        <p:txBody>
          <a:bodyPr wrap="none" lIns="0" tIns="0" rIns="0" bIns="0" rtlCol="0" anchor="t"/>
          <a:lstStyle/>
          <a:p>
            <a:pPr marL="0" indent="0" algn="l">
              <a:lnSpc>
                <a:spcPts val="4600"/>
              </a:lnSpc>
              <a:buNone/>
            </a:pPr>
            <a:r>
              <a:rPr lang="en-US" sz="3600" dirty="0">
                <a:solidFill>
                  <a:srgbClr val="020202"/>
                </a:solidFill>
                <a:latin typeface="PT Serif" pitchFamily="34" charset="0"/>
                <a:ea typeface="PT Serif" pitchFamily="34" charset="-122"/>
                <a:cs typeface="PT Serif" pitchFamily="34" charset="-120"/>
              </a:rPr>
              <a:t>ANOVA Results and Conclusion</a:t>
            </a:r>
            <a:endParaRPr lang="en-US" sz="3600" dirty="0"/>
          </a:p>
        </p:txBody>
      </p:sp>
      <p:sp>
        <p:nvSpPr>
          <p:cNvPr id="3" name="Text 1"/>
          <p:cNvSpPr/>
          <p:nvPr/>
        </p:nvSpPr>
        <p:spPr>
          <a:xfrm>
            <a:off x="343624" y="1294150"/>
            <a:ext cx="13042821"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The ANOVA table partitions the total variation in satisfaction scores into variation between departments and variation</a:t>
            </a:r>
          </a:p>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 within departments.</a:t>
            </a:r>
            <a:endParaRPr lang="en-US" dirty="0"/>
          </a:p>
        </p:txBody>
      </p:sp>
      <p:sp>
        <p:nvSpPr>
          <p:cNvPr id="4" name="Shape 2"/>
          <p:cNvSpPr/>
          <p:nvPr/>
        </p:nvSpPr>
        <p:spPr>
          <a:xfrm>
            <a:off x="793790" y="1975604"/>
            <a:ext cx="13042821" cy="2076450"/>
          </a:xfrm>
          <a:prstGeom prst="roundRect">
            <a:avLst>
              <a:gd name="adj" fmla="val 1290"/>
            </a:avLst>
          </a:prstGeom>
          <a:noFill/>
          <a:ln w="7620">
            <a:solidFill>
              <a:srgbClr val="000000">
                <a:alpha val="8000"/>
              </a:srgbClr>
            </a:solidFill>
            <a:prstDash val="solid"/>
          </a:ln>
        </p:spPr>
      </p:sp>
      <p:sp>
        <p:nvSpPr>
          <p:cNvPr id="5" name="Shape 3"/>
          <p:cNvSpPr/>
          <p:nvPr/>
        </p:nvSpPr>
        <p:spPr>
          <a:xfrm>
            <a:off x="801410" y="1983224"/>
            <a:ext cx="13027581" cy="515303"/>
          </a:xfrm>
          <a:prstGeom prst="rect">
            <a:avLst/>
          </a:prstGeom>
          <a:solidFill>
            <a:srgbClr val="FFFFFF">
              <a:alpha val="4000"/>
            </a:srgbClr>
          </a:solidFill>
          <a:ln/>
        </p:spPr>
      </p:sp>
      <p:sp>
        <p:nvSpPr>
          <p:cNvPr id="6" name="Text 4"/>
          <p:cNvSpPr/>
          <p:nvPr/>
        </p:nvSpPr>
        <p:spPr>
          <a:xfrm>
            <a:off x="980361" y="2098000"/>
            <a:ext cx="2504956"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Source</a:t>
            </a:r>
            <a:endParaRPr lang="en-US" sz="1400" dirty="0"/>
          </a:p>
        </p:txBody>
      </p:sp>
      <p:sp>
        <p:nvSpPr>
          <p:cNvPr id="7" name="Text 5"/>
          <p:cNvSpPr/>
          <p:nvPr/>
        </p:nvSpPr>
        <p:spPr>
          <a:xfrm>
            <a:off x="3850124" y="2098000"/>
            <a:ext cx="1849874"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df</a:t>
            </a:r>
            <a:endParaRPr lang="en-US" sz="1400" dirty="0"/>
          </a:p>
        </p:txBody>
      </p:sp>
      <p:sp>
        <p:nvSpPr>
          <p:cNvPr id="8" name="Text 6"/>
          <p:cNvSpPr/>
          <p:nvPr/>
        </p:nvSpPr>
        <p:spPr>
          <a:xfrm>
            <a:off x="6064806" y="2098000"/>
            <a:ext cx="2501146"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Sum of Squares</a:t>
            </a:r>
            <a:endParaRPr lang="en-US" sz="1400" dirty="0"/>
          </a:p>
        </p:txBody>
      </p:sp>
      <p:sp>
        <p:nvSpPr>
          <p:cNvPr id="9" name="Text 7"/>
          <p:cNvSpPr/>
          <p:nvPr/>
        </p:nvSpPr>
        <p:spPr>
          <a:xfrm>
            <a:off x="8930759" y="2098000"/>
            <a:ext cx="2501146"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Mean Square</a:t>
            </a:r>
            <a:endParaRPr lang="en-US" sz="1400" dirty="0"/>
          </a:p>
        </p:txBody>
      </p:sp>
      <p:sp>
        <p:nvSpPr>
          <p:cNvPr id="10" name="Text 8"/>
          <p:cNvSpPr/>
          <p:nvPr/>
        </p:nvSpPr>
        <p:spPr>
          <a:xfrm>
            <a:off x="11796713" y="2098000"/>
            <a:ext cx="1853684"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F-value</a:t>
            </a:r>
            <a:endParaRPr lang="en-US" sz="1400" dirty="0"/>
          </a:p>
        </p:txBody>
      </p:sp>
      <p:sp>
        <p:nvSpPr>
          <p:cNvPr id="11" name="Shape 9"/>
          <p:cNvSpPr/>
          <p:nvPr/>
        </p:nvSpPr>
        <p:spPr>
          <a:xfrm>
            <a:off x="801410" y="2498527"/>
            <a:ext cx="13027581" cy="515303"/>
          </a:xfrm>
          <a:prstGeom prst="rect">
            <a:avLst/>
          </a:prstGeom>
          <a:solidFill>
            <a:srgbClr val="000000">
              <a:alpha val="4000"/>
            </a:srgbClr>
          </a:solidFill>
          <a:ln/>
        </p:spPr>
      </p:sp>
      <p:sp>
        <p:nvSpPr>
          <p:cNvPr id="12" name="Text 10"/>
          <p:cNvSpPr/>
          <p:nvPr/>
        </p:nvSpPr>
        <p:spPr>
          <a:xfrm>
            <a:off x="980361" y="2613303"/>
            <a:ext cx="250495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Between Groups</a:t>
            </a:r>
            <a:endParaRPr lang="en-US" sz="1400" dirty="0"/>
          </a:p>
        </p:txBody>
      </p:sp>
      <p:sp>
        <p:nvSpPr>
          <p:cNvPr id="13" name="Text 11"/>
          <p:cNvSpPr/>
          <p:nvPr/>
        </p:nvSpPr>
        <p:spPr>
          <a:xfrm>
            <a:off x="3850124" y="2613303"/>
            <a:ext cx="1849874"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a:t>
            </a:r>
            <a:endParaRPr lang="en-US" sz="1400" dirty="0"/>
          </a:p>
        </p:txBody>
      </p:sp>
      <p:sp>
        <p:nvSpPr>
          <p:cNvPr id="14" name="Text 12"/>
          <p:cNvSpPr/>
          <p:nvPr/>
        </p:nvSpPr>
        <p:spPr>
          <a:xfrm>
            <a:off x="6064806" y="2613303"/>
            <a:ext cx="250114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220.06</a:t>
            </a:r>
            <a:endParaRPr lang="en-US" sz="1400" dirty="0"/>
          </a:p>
        </p:txBody>
      </p:sp>
      <p:sp>
        <p:nvSpPr>
          <p:cNvPr id="15" name="Text 13"/>
          <p:cNvSpPr/>
          <p:nvPr/>
        </p:nvSpPr>
        <p:spPr>
          <a:xfrm>
            <a:off x="8930759" y="2613303"/>
            <a:ext cx="250114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110.03</a:t>
            </a:r>
            <a:endParaRPr lang="en-US" sz="1400" dirty="0"/>
          </a:p>
        </p:txBody>
      </p:sp>
      <p:sp>
        <p:nvSpPr>
          <p:cNvPr id="16" name="Text 14"/>
          <p:cNvSpPr/>
          <p:nvPr/>
        </p:nvSpPr>
        <p:spPr>
          <a:xfrm>
            <a:off x="11796713" y="2613303"/>
            <a:ext cx="1853684"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2.308</a:t>
            </a:r>
            <a:endParaRPr lang="en-US" sz="1400" dirty="0"/>
          </a:p>
        </p:txBody>
      </p:sp>
      <p:sp>
        <p:nvSpPr>
          <p:cNvPr id="17" name="Shape 15"/>
          <p:cNvSpPr/>
          <p:nvPr/>
        </p:nvSpPr>
        <p:spPr>
          <a:xfrm>
            <a:off x="801410" y="3013829"/>
            <a:ext cx="13027581" cy="515303"/>
          </a:xfrm>
          <a:prstGeom prst="rect">
            <a:avLst/>
          </a:prstGeom>
          <a:solidFill>
            <a:srgbClr val="FFFFFF">
              <a:alpha val="4000"/>
            </a:srgbClr>
          </a:solidFill>
          <a:ln/>
        </p:spPr>
      </p:sp>
      <p:sp>
        <p:nvSpPr>
          <p:cNvPr id="18" name="Text 16"/>
          <p:cNvSpPr/>
          <p:nvPr/>
        </p:nvSpPr>
        <p:spPr>
          <a:xfrm>
            <a:off x="980361" y="3128605"/>
            <a:ext cx="250495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Within Groups</a:t>
            </a:r>
            <a:endParaRPr lang="en-US" sz="1400" dirty="0"/>
          </a:p>
        </p:txBody>
      </p:sp>
      <p:sp>
        <p:nvSpPr>
          <p:cNvPr id="19" name="Text 17"/>
          <p:cNvSpPr/>
          <p:nvPr/>
        </p:nvSpPr>
        <p:spPr>
          <a:xfrm>
            <a:off x="3850124" y="3128605"/>
            <a:ext cx="1849874"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34</a:t>
            </a:r>
            <a:endParaRPr lang="en-US" sz="1400" dirty="0"/>
          </a:p>
        </p:txBody>
      </p:sp>
      <p:sp>
        <p:nvSpPr>
          <p:cNvPr id="20" name="Text 18"/>
          <p:cNvSpPr/>
          <p:nvPr/>
        </p:nvSpPr>
        <p:spPr>
          <a:xfrm>
            <a:off x="6064806" y="3128605"/>
            <a:ext cx="250114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1,620.86</a:t>
            </a:r>
            <a:endParaRPr lang="en-US" sz="1400" dirty="0"/>
          </a:p>
        </p:txBody>
      </p:sp>
      <p:sp>
        <p:nvSpPr>
          <p:cNvPr id="21" name="Text 19"/>
          <p:cNvSpPr/>
          <p:nvPr/>
        </p:nvSpPr>
        <p:spPr>
          <a:xfrm>
            <a:off x="8930759" y="3128605"/>
            <a:ext cx="2501146"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47.67</a:t>
            </a:r>
            <a:endParaRPr lang="en-US" sz="1400" dirty="0"/>
          </a:p>
        </p:txBody>
      </p:sp>
      <p:sp>
        <p:nvSpPr>
          <p:cNvPr id="22" name="Text 20"/>
          <p:cNvSpPr/>
          <p:nvPr/>
        </p:nvSpPr>
        <p:spPr>
          <a:xfrm>
            <a:off x="11796713" y="3128605"/>
            <a:ext cx="1853684" cy="285750"/>
          </a:xfrm>
          <a:prstGeom prst="rect">
            <a:avLst/>
          </a:prstGeom>
          <a:noFill/>
          <a:ln/>
        </p:spPr>
        <p:txBody>
          <a:bodyPr wrap="none" lIns="0" tIns="0" rIns="0" bIns="0" rtlCol="0" anchor="t"/>
          <a:lstStyle/>
          <a:p>
            <a:pPr marL="0" indent="0" algn="l">
              <a:lnSpc>
                <a:spcPts val="2250"/>
              </a:lnSpc>
              <a:buNone/>
            </a:pPr>
            <a:endParaRPr lang="en-US" sz="1400" dirty="0"/>
          </a:p>
        </p:txBody>
      </p:sp>
      <p:sp>
        <p:nvSpPr>
          <p:cNvPr id="23" name="Shape 21"/>
          <p:cNvSpPr/>
          <p:nvPr/>
        </p:nvSpPr>
        <p:spPr>
          <a:xfrm>
            <a:off x="801410" y="3529132"/>
            <a:ext cx="13027581" cy="515303"/>
          </a:xfrm>
          <a:prstGeom prst="rect">
            <a:avLst/>
          </a:prstGeom>
          <a:solidFill>
            <a:srgbClr val="000000">
              <a:alpha val="4000"/>
            </a:srgbClr>
          </a:solidFill>
          <a:ln/>
        </p:spPr>
      </p:sp>
      <p:sp>
        <p:nvSpPr>
          <p:cNvPr id="24" name="Text 22"/>
          <p:cNvSpPr/>
          <p:nvPr/>
        </p:nvSpPr>
        <p:spPr>
          <a:xfrm>
            <a:off x="980361" y="3643908"/>
            <a:ext cx="2504956"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Total</a:t>
            </a:r>
            <a:endParaRPr lang="en-US" sz="1400" dirty="0"/>
          </a:p>
        </p:txBody>
      </p:sp>
      <p:sp>
        <p:nvSpPr>
          <p:cNvPr id="25" name="Text 23"/>
          <p:cNvSpPr/>
          <p:nvPr/>
        </p:nvSpPr>
        <p:spPr>
          <a:xfrm>
            <a:off x="3850124" y="3643908"/>
            <a:ext cx="1849874"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36</a:t>
            </a:r>
            <a:endParaRPr lang="en-US" sz="1400" dirty="0"/>
          </a:p>
        </p:txBody>
      </p:sp>
      <p:sp>
        <p:nvSpPr>
          <p:cNvPr id="26" name="Text 24"/>
          <p:cNvSpPr/>
          <p:nvPr/>
        </p:nvSpPr>
        <p:spPr>
          <a:xfrm>
            <a:off x="6064806" y="3643908"/>
            <a:ext cx="2501146"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1,840.92</a:t>
            </a:r>
            <a:endParaRPr lang="en-US" sz="1400" dirty="0"/>
          </a:p>
        </p:txBody>
      </p:sp>
      <p:sp>
        <p:nvSpPr>
          <p:cNvPr id="27" name="Text 25"/>
          <p:cNvSpPr/>
          <p:nvPr/>
        </p:nvSpPr>
        <p:spPr>
          <a:xfrm>
            <a:off x="8930759" y="3643908"/>
            <a:ext cx="2501146" cy="285750"/>
          </a:xfrm>
          <a:prstGeom prst="rect">
            <a:avLst/>
          </a:prstGeom>
          <a:noFill/>
          <a:ln/>
        </p:spPr>
        <p:txBody>
          <a:bodyPr wrap="none" lIns="0" tIns="0" rIns="0" bIns="0" rtlCol="0" anchor="t"/>
          <a:lstStyle/>
          <a:p>
            <a:pPr marL="0" indent="0" algn="l">
              <a:lnSpc>
                <a:spcPts val="2250"/>
              </a:lnSpc>
              <a:buNone/>
            </a:pPr>
            <a:endParaRPr lang="en-US" sz="1400" dirty="0"/>
          </a:p>
        </p:txBody>
      </p:sp>
      <p:sp>
        <p:nvSpPr>
          <p:cNvPr id="28" name="Text 26"/>
          <p:cNvSpPr/>
          <p:nvPr/>
        </p:nvSpPr>
        <p:spPr>
          <a:xfrm>
            <a:off x="11796713" y="3643908"/>
            <a:ext cx="1853684" cy="285750"/>
          </a:xfrm>
          <a:prstGeom prst="rect">
            <a:avLst/>
          </a:prstGeom>
          <a:noFill/>
          <a:ln/>
        </p:spPr>
        <p:txBody>
          <a:bodyPr wrap="none" lIns="0" tIns="0" rIns="0" bIns="0" rtlCol="0" anchor="t"/>
          <a:lstStyle/>
          <a:p>
            <a:pPr marL="0" indent="0" algn="l">
              <a:lnSpc>
                <a:spcPts val="2250"/>
              </a:lnSpc>
              <a:buNone/>
            </a:pPr>
            <a:endParaRPr lang="en-US" sz="1400" dirty="0"/>
          </a:p>
        </p:txBody>
      </p:sp>
      <p:sp>
        <p:nvSpPr>
          <p:cNvPr id="29" name="Text 27"/>
          <p:cNvSpPr/>
          <p:nvPr/>
        </p:nvSpPr>
        <p:spPr>
          <a:xfrm>
            <a:off x="793790" y="4252913"/>
            <a:ext cx="13042821"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p-value = 0.1148</a:t>
            </a:r>
            <a:endParaRPr lang="en-US" sz="1400" dirty="0"/>
          </a:p>
        </p:txBody>
      </p:sp>
      <p:sp>
        <p:nvSpPr>
          <p:cNvPr id="30" name="Shape 28"/>
          <p:cNvSpPr/>
          <p:nvPr/>
        </p:nvSpPr>
        <p:spPr>
          <a:xfrm>
            <a:off x="793790" y="4828826"/>
            <a:ext cx="13042821" cy="29885"/>
          </a:xfrm>
          <a:prstGeom prst="rect">
            <a:avLst/>
          </a:prstGeom>
          <a:solidFill>
            <a:srgbClr val="383838">
              <a:alpha val="50000"/>
            </a:srgbClr>
          </a:solidFill>
          <a:ln/>
        </p:spPr>
      </p:sp>
      <p:sp>
        <p:nvSpPr>
          <p:cNvPr id="31" name="Shape 29"/>
          <p:cNvSpPr/>
          <p:nvPr/>
        </p:nvSpPr>
        <p:spPr>
          <a:xfrm>
            <a:off x="793790" y="5059561"/>
            <a:ext cx="6432113" cy="2624733"/>
          </a:xfrm>
          <a:prstGeom prst="roundRect">
            <a:avLst>
              <a:gd name="adj" fmla="val 4181"/>
            </a:avLst>
          </a:prstGeom>
          <a:solidFill>
            <a:srgbClr val="FFFFFF"/>
          </a:solidFill>
          <a:ln w="22860">
            <a:solidFill>
              <a:srgbClr val="D8D4D4"/>
            </a:solidFill>
            <a:prstDash val="solid"/>
          </a:ln>
        </p:spPr>
      </p:sp>
      <p:sp>
        <p:nvSpPr>
          <p:cNvPr id="32" name="Shape 30"/>
          <p:cNvSpPr/>
          <p:nvPr/>
        </p:nvSpPr>
        <p:spPr>
          <a:xfrm>
            <a:off x="770930" y="5059561"/>
            <a:ext cx="91440" cy="2624733"/>
          </a:xfrm>
          <a:prstGeom prst="roundRect">
            <a:avLst>
              <a:gd name="adj" fmla="val 29302"/>
            </a:avLst>
          </a:prstGeom>
          <a:solidFill>
            <a:srgbClr val="E04F00"/>
          </a:solidFill>
          <a:ln/>
        </p:spPr>
      </p:sp>
      <p:sp>
        <p:nvSpPr>
          <p:cNvPr id="33" name="Text 31"/>
          <p:cNvSpPr/>
          <p:nvPr/>
        </p:nvSpPr>
        <p:spPr>
          <a:xfrm>
            <a:off x="1063823" y="5261015"/>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Decision</a:t>
            </a:r>
            <a:endParaRPr lang="en-US" sz="1800" dirty="0"/>
          </a:p>
        </p:txBody>
      </p:sp>
      <p:sp>
        <p:nvSpPr>
          <p:cNvPr id="34" name="Text 32"/>
          <p:cNvSpPr/>
          <p:nvPr/>
        </p:nvSpPr>
        <p:spPr>
          <a:xfrm>
            <a:off x="1063823" y="5661184"/>
            <a:ext cx="5960626" cy="285750"/>
          </a:xfrm>
          <a:prstGeom prst="rect">
            <a:avLst/>
          </a:prstGeom>
          <a:noFill/>
          <a:ln/>
        </p:spPr>
        <p:txBody>
          <a:bodyPr wrap="none" lIns="0" tIns="0" rIns="0" bIns="0" rtlCol="0" anchor="t"/>
          <a:lstStyle/>
          <a:p>
            <a:pPr marL="0" indent="0" algn="l">
              <a:lnSpc>
                <a:spcPts val="2250"/>
              </a:lnSpc>
              <a:buNone/>
            </a:pPr>
            <a:r>
              <a:rPr lang="en-US" sz="1600" b="1" dirty="0">
                <a:solidFill>
                  <a:srgbClr val="E04F00"/>
                </a:solidFill>
                <a:latin typeface="DM Sans" pitchFamily="34" charset="0"/>
                <a:ea typeface="DM Sans" pitchFamily="34" charset="-122"/>
                <a:cs typeface="DM Sans" pitchFamily="34" charset="-120"/>
              </a:rPr>
              <a:t>Do not reject H₀</a:t>
            </a:r>
            <a:endParaRPr lang="en-US" sz="1600" dirty="0"/>
          </a:p>
        </p:txBody>
      </p:sp>
      <p:sp>
        <p:nvSpPr>
          <p:cNvPr id="35" name="Text 33"/>
          <p:cNvSpPr/>
          <p:nvPr/>
        </p:nvSpPr>
        <p:spPr>
          <a:xfrm>
            <a:off x="1063823" y="6054090"/>
            <a:ext cx="5960626" cy="285750"/>
          </a:xfrm>
          <a:prstGeom prst="rect">
            <a:avLst/>
          </a:prstGeom>
          <a:noFill/>
          <a:ln/>
        </p:spPr>
        <p:txBody>
          <a:bodyPr wrap="non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Since p-value (0.1148) &gt; α (0.05), we fail to reject the null</a:t>
            </a:r>
          </a:p>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 hypothesis</a:t>
            </a:r>
            <a:endParaRPr lang="en-US" sz="1600" dirty="0"/>
          </a:p>
        </p:txBody>
      </p:sp>
      <p:sp>
        <p:nvSpPr>
          <p:cNvPr id="36" name="Shape 34"/>
          <p:cNvSpPr/>
          <p:nvPr/>
        </p:nvSpPr>
        <p:spPr>
          <a:xfrm>
            <a:off x="7404497" y="5059561"/>
            <a:ext cx="6432113" cy="2624733"/>
          </a:xfrm>
          <a:prstGeom prst="roundRect">
            <a:avLst>
              <a:gd name="adj" fmla="val 4181"/>
            </a:avLst>
          </a:prstGeom>
          <a:solidFill>
            <a:srgbClr val="FFFFFF"/>
          </a:solidFill>
          <a:ln w="22860">
            <a:solidFill>
              <a:srgbClr val="D8D4D4"/>
            </a:solidFill>
            <a:prstDash val="solid"/>
          </a:ln>
        </p:spPr>
      </p:sp>
      <p:sp>
        <p:nvSpPr>
          <p:cNvPr id="37" name="Shape 35"/>
          <p:cNvSpPr/>
          <p:nvPr/>
        </p:nvSpPr>
        <p:spPr>
          <a:xfrm>
            <a:off x="7381637" y="5059561"/>
            <a:ext cx="91440" cy="2624733"/>
          </a:xfrm>
          <a:prstGeom prst="roundRect">
            <a:avLst>
              <a:gd name="adj" fmla="val 29302"/>
            </a:avLst>
          </a:prstGeom>
          <a:solidFill>
            <a:srgbClr val="E04F00"/>
          </a:solidFill>
          <a:ln/>
        </p:spPr>
      </p:sp>
      <p:sp>
        <p:nvSpPr>
          <p:cNvPr id="38" name="Text 36"/>
          <p:cNvSpPr/>
          <p:nvPr/>
        </p:nvSpPr>
        <p:spPr>
          <a:xfrm>
            <a:off x="7674531" y="5261015"/>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Conclusion</a:t>
            </a:r>
            <a:endParaRPr lang="en-US" sz="1800" dirty="0"/>
          </a:p>
        </p:txBody>
      </p:sp>
      <p:sp>
        <p:nvSpPr>
          <p:cNvPr id="39" name="Text 37"/>
          <p:cNvSpPr/>
          <p:nvPr/>
        </p:nvSpPr>
        <p:spPr>
          <a:xfrm>
            <a:off x="7674531" y="5661184"/>
            <a:ext cx="5960626" cy="857250"/>
          </a:xfrm>
          <a:prstGeom prst="rect">
            <a:avLst/>
          </a:prstGeom>
          <a:noFill/>
          <a:ln/>
        </p:spPr>
        <p:txBody>
          <a:bodyPr wrap="squar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There is </a:t>
            </a:r>
            <a:r>
              <a:rPr lang="en-US" sz="1600" b="1" dirty="0">
                <a:solidFill>
                  <a:srgbClr val="383838"/>
                </a:solidFill>
                <a:latin typeface="DM Sans" pitchFamily="34" charset="0"/>
                <a:ea typeface="DM Sans" pitchFamily="34" charset="-122"/>
                <a:cs typeface="DM Sans" pitchFamily="34" charset="-120"/>
              </a:rPr>
              <a:t>insufficient evidence</a:t>
            </a:r>
            <a:r>
              <a:rPr lang="en-US" sz="1600" dirty="0">
                <a:solidFill>
                  <a:srgbClr val="383838"/>
                </a:solidFill>
                <a:latin typeface="DM Sans" pitchFamily="34" charset="0"/>
                <a:ea typeface="DM Sans" pitchFamily="34" charset="-122"/>
                <a:cs typeface="DM Sans" pitchFamily="34" charset="-120"/>
              </a:rPr>
              <a:t> to conclude that average satisfaction index differs among the three departments (Finance, Marketing, and Client-Servicing).</a:t>
            </a:r>
            <a:endParaRPr lang="en-US" sz="1600" dirty="0"/>
          </a:p>
        </p:txBody>
      </p:sp>
      <p:sp>
        <p:nvSpPr>
          <p:cNvPr id="40" name="Text 38"/>
          <p:cNvSpPr/>
          <p:nvPr/>
        </p:nvSpPr>
        <p:spPr>
          <a:xfrm>
            <a:off x="7674531" y="6625590"/>
            <a:ext cx="5960626" cy="857250"/>
          </a:xfrm>
          <a:prstGeom prst="rect">
            <a:avLst/>
          </a:prstGeom>
          <a:noFill/>
          <a:ln/>
        </p:spPr>
        <p:txBody>
          <a:bodyPr wrap="square" lIns="0" tIns="0" rIns="0" bIns="0" rtlCol="0" anchor="t"/>
          <a:lstStyle/>
          <a:p>
            <a:pPr marL="0" indent="0" algn="l">
              <a:lnSpc>
                <a:spcPts val="2250"/>
              </a:lnSpc>
              <a:buNone/>
            </a:pPr>
            <a:r>
              <a:rPr lang="en-US" sz="1600" dirty="0">
                <a:solidFill>
                  <a:srgbClr val="383838"/>
                </a:solidFill>
                <a:latin typeface="DM Sans" pitchFamily="34" charset="0"/>
                <a:ea typeface="DM Sans" pitchFamily="34" charset="-122"/>
                <a:cs typeface="DM Sans" pitchFamily="34" charset="-120"/>
              </a:rPr>
              <a:t>The observed differences in sample means could reasonably be attributed to random sampling variation rather than true population differences.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781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4" name="Shape 2"/>
          <p:cNvSpPr/>
          <p:nvPr/>
        </p:nvSpPr>
        <p:spPr>
          <a:xfrm>
            <a:off x="793790" y="2405420"/>
            <a:ext cx="6422231" cy="2652713"/>
          </a:xfrm>
          <a:prstGeom prst="roundRect">
            <a:avLst>
              <a:gd name="adj" fmla="val 1122"/>
            </a:avLst>
          </a:prstGeom>
          <a:solidFill>
            <a:srgbClr val="F2EEEE"/>
          </a:solidFill>
          <a:ln/>
        </p:spPr>
      </p:sp>
      <p:sp>
        <p:nvSpPr>
          <p:cNvPr id="5" name="Shape 3"/>
          <p:cNvSpPr/>
          <p:nvPr/>
        </p:nvSpPr>
        <p:spPr>
          <a:xfrm>
            <a:off x="992148" y="260377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2733913"/>
            <a:ext cx="267891" cy="334923"/>
          </a:xfrm>
          <a:prstGeom prst="rect">
            <a:avLst/>
          </a:prstGeom>
        </p:spPr>
      </p:pic>
      <p:sp>
        <p:nvSpPr>
          <p:cNvPr id="7" name="Text 4"/>
          <p:cNvSpPr/>
          <p:nvPr/>
        </p:nvSpPr>
        <p:spPr>
          <a:xfrm>
            <a:off x="992148" y="3397448"/>
            <a:ext cx="375713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One Sample t Test</a:t>
            </a:r>
            <a:endParaRPr lang="en-US" sz="2450" dirty="0"/>
          </a:p>
        </p:txBody>
      </p:sp>
      <p:sp>
        <p:nvSpPr>
          <p:cNvPr id="8" name="Text 5"/>
          <p:cNvSpPr/>
          <p:nvPr/>
        </p:nvSpPr>
        <p:spPr>
          <a:xfrm>
            <a:off x="992148" y="3907155"/>
            <a:ext cx="602551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To test whether the population mean is equal to the specified mean</a:t>
            </a:r>
            <a:endParaRPr lang="en-US" dirty="0"/>
          </a:p>
        </p:txBody>
      </p:sp>
      <p:sp>
        <p:nvSpPr>
          <p:cNvPr id="9" name="Shape 6"/>
          <p:cNvSpPr/>
          <p:nvPr/>
        </p:nvSpPr>
        <p:spPr>
          <a:xfrm>
            <a:off x="7414379" y="2405420"/>
            <a:ext cx="6422231" cy="2652713"/>
          </a:xfrm>
          <a:prstGeom prst="roundRect">
            <a:avLst>
              <a:gd name="adj" fmla="val 1122"/>
            </a:avLst>
          </a:prstGeom>
          <a:solidFill>
            <a:srgbClr val="F2EEEE"/>
          </a:solidFill>
          <a:ln/>
        </p:spPr>
      </p:sp>
      <p:sp>
        <p:nvSpPr>
          <p:cNvPr id="10" name="Shape 7"/>
          <p:cNvSpPr/>
          <p:nvPr/>
        </p:nvSpPr>
        <p:spPr>
          <a:xfrm>
            <a:off x="7612737" y="260377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2733913"/>
            <a:ext cx="267891" cy="334923"/>
          </a:xfrm>
          <a:prstGeom prst="rect">
            <a:avLst/>
          </a:prstGeom>
        </p:spPr>
      </p:pic>
      <p:sp>
        <p:nvSpPr>
          <p:cNvPr id="12" name="Text 8"/>
          <p:cNvSpPr/>
          <p:nvPr/>
        </p:nvSpPr>
        <p:spPr>
          <a:xfrm>
            <a:off x="7612737" y="3397448"/>
            <a:ext cx="3629263"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Independent Samples t Test</a:t>
            </a:r>
            <a:endParaRPr lang="en-US" sz="2450" dirty="0"/>
          </a:p>
        </p:txBody>
      </p:sp>
      <p:sp>
        <p:nvSpPr>
          <p:cNvPr id="13" name="Text 9"/>
          <p:cNvSpPr/>
          <p:nvPr/>
        </p:nvSpPr>
        <p:spPr>
          <a:xfrm>
            <a:off x="7612737" y="390715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To test the equality of two population means</a:t>
            </a:r>
            <a:endParaRPr lang="en-US" dirty="0"/>
          </a:p>
        </p:txBody>
      </p:sp>
      <p:sp>
        <p:nvSpPr>
          <p:cNvPr id="14" name="Shape 10"/>
          <p:cNvSpPr/>
          <p:nvPr/>
        </p:nvSpPr>
        <p:spPr>
          <a:xfrm>
            <a:off x="793790" y="5256490"/>
            <a:ext cx="6422231" cy="2335173"/>
          </a:xfrm>
          <a:prstGeom prst="roundRect">
            <a:avLst>
              <a:gd name="adj" fmla="val 1275"/>
            </a:avLst>
          </a:prstGeom>
          <a:solidFill>
            <a:srgbClr val="F2EEEE"/>
          </a:solidFill>
          <a:ln/>
        </p:spPr>
      </p:sp>
      <p:sp>
        <p:nvSpPr>
          <p:cNvPr id="15" name="Shape 11"/>
          <p:cNvSpPr/>
          <p:nvPr/>
        </p:nvSpPr>
        <p:spPr>
          <a:xfrm>
            <a:off x="992148" y="5454848"/>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1155859" y="5584984"/>
            <a:ext cx="267891" cy="334923"/>
          </a:xfrm>
          <a:prstGeom prst="rect">
            <a:avLst/>
          </a:prstGeom>
        </p:spPr>
      </p:pic>
      <p:sp>
        <p:nvSpPr>
          <p:cNvPr id="17" name="Text 12"/>
          <p:cNvSpPr/>
          <p:nvPr/>
        </p:nvSpPr>
        <p:spPr>
          <a:xfrm>
            <a:off x="992148" y="6248519"/>
            <a:ext cx="409741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Paired t Test</a:t>
            </a:r>
            <a:endParaRPr lang="en-US" sz="2450" dirty="0"/>
          </a:p>
        </p:txBody>
      </p:sp>
      <p:sp>
        <p:nvSpPr>
          <p:cNvPr id="18" name="Text 13"/>
          <p:cNvSpPr/>
          <p:nvPr/>
        </p:nvSpPr>
        <p:spPr>
          <a:xfrm>
            <a:off x="992148" y="6758226"/>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To test whether the mean difference is zero in a before-after design</a:t>
            </a:r>
            <a:endParaRPr lang="en-US" sz="1550" dirty="0"/>
          </a:p>
        </p:txBody>
      </p:sp>
      <p:sp>
        <p:nvSpPr>
          <p:cNvPr id="19" name="Shape 14"/>
          <p:cNvSpPr/>
          <p:nvPr/>
        </p:nvSpPr>
        <p:spPr>
          <a:xfrm>
            <a:off x="7414379" y="5256490"/>
            <a:ext cx="6422231" cy="2335173"/>
          </a:xfrm>
          <a:prstGeom prst="roundRect">
            <a:avLst>
              <a:gd name="adj" fmla="val 1275"/>
            </a:avLst>
          </a:prstGeom>
          <a:solidFill>
            <a:srgbClr val="F2EEEE"/>
          </a:solidFill>
          <a:ln/>
        </p:spPr>
      </p:sp>
      <p:sp>
        <p:nvSpPr>
          <p:cNvPr id="20" name="Shape 15"/>
          <p:cNvSpPr/>
          <p:nvPr/>
        </p:nvSpPr>
        <p:spPr>
          <a:xfrm>
            <a:off x="7612737" y="5454848"/>
            <a:ext cx="595313" cy="595313"/>
          </a:xfrm>
          <a:prstGeom prst="roundRect">
            <a:avLst>
              <a:gd name="adj" fmla="val 15358451"/>
            </a:avLst>
          </a:prstGeom>
          <a:solidFill>
            <a:srgbClr val="E04F00"/>
          </a:solidFill>
          <a:ln/>
        </p:spPr>
      </p:sp>
      <p:pic>
        <p:nvPicPr>
          <p:cNvPr id="21" name="Image 3" descr="preencoded.png"/>
          <p:cNvPicPr>
            <a:picLocks noChangeAspect="1"/>
          </p:cNvPicPr>
          <p:nvPr/>
        </p:nvPicPr>
        <p:blipFill>
          <a:blip r:embed="rId6"/>
          <a:stretch>
            <a:fillRect/>
          </a:stretch>
        </p:blipFill>
        <p:spPr>
          <a:xfrm>
            <a:off x="7776448" y="5584984"/>
            <a:ext cx="267891" cy="334923"/>
          </a:xfrm>
          <a:prstGeom prst="rect">
            <a:avLst/>
          </a:prstGeom>
        </p:spPr>
      </p:pic>
      <p:sp>
        <p:nvSpPr>
          <p:cNvPr id="22" name="Text 16"/>
          <p:cNvSpPr/>
          <p:nvPr/>
        </p:nvSpPr>
        <p:spPr>
          <a:xfrm>
            <a:off x="7612737" y="6248519"/>
            <a:ext cx="3409831"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One Way </a:t>
            </a:r>
            <a:r>
              <a:rPr lang="en-US" sz="2450" dirty="0" err="1">
                <a:solidFill>
                  <a:srgbClr val="383838"/>
                </a:solidFill>
                <a:latin typeface="PT Serif" pitchFamily="34" charset="0"/>
                <a:ea typeface="PT Serif" pitchFamily="34" charset="-122"/>
                <a:cs typeface="PT Serif" pitchFamily="34" charset="-120"/>
              </a:rPr>
              <a:t>Anova</a:t>
            </a:r>
            <a:endParaRPr lang="en-US" sz="2450" dirty="0"/>
          </a:p>
        </p:txBody>
      </p:sp>
      <p:sp>
        <p:nvSpPr>
          <p:cNvPr id="23" name="Text 17"/>
          <p:cNvSpPr/>
          <p:nvPr/>
        </p:nvSpPr>
        <p:spPr>
          <a:xfrm>
            <a:off x="7612737" y="6758226"/>
            <a:ext cx="6025515" cy="635079"/>
          </a:xfrm>
          <a:prstGeom prst="rect">
            <a:avLst/>
          </a:prstGeom>
          <a:noFill/>
          <a:ln/>
        </p:spPr>
        <p:txBody>
          <a:bodyPr wrap="square" lIns="0" tIns="0" rIns="0" bIns="0" rtlCol="0" anchor="t"/>
          <a:lstStyle/>
          <a:p>
            <a:pPr>
              <a:lnSpc>
                <a:spcPts val="2500"/>
              </a:lnSpc>
            </a:pPr>
            <a:r>
              <a:rPr lang="en-US" sz="1600" dirty="0">
                <a:solidFill>
                  <a:srgbClr val="383838"/>
                </a:solidFill>
                <a:latin typeface="DM Sans" pitchFamily="34" charset="0"/>
                <a:ea typeface="DM Sans" pitchFamily="34" charset="-122"/>
                <a:cs typeface="DM Sans" pitchFamily="34" charset="-120"/>
              </a:rPr>
              <a:t>To test the equality of K population means</a:t>
            </a:r>
            <a:endParaRPr lang="en-US" sz="1600" dirty="0"/>
          </a:p>
        </p:txBody>
      </p:sp>
    </p:spTree>
    <p:extLst>
      <p:ext uri="{BB962C8B-B14F-4D97-AF65-F5344CB8AC3E}">
        <p14:creationId xmlns:p14="http://schemas.microsoft.com/office/powerpoint/2010/main" val="11144856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2797</Words>
  <Application>Microsoft Macintosh PowerPoint</Application>
  <PresentationFormat>Custom</PresentationFormat>
  <Paragraphs>383</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PT Serif</vt:lpstr>
      <vt:lpstr>DM Sans</vt:lpstr>
      <vt:lpstr>Calibri</vt:lpstr>
      <vt:lpstr>Cambria Math</vt:lpstr>
      <vt:lpstr>Wingdings</vt:lpstr>
      <vt:lpstr>Arial</vt:lpstr>
      <vt:lpstr>PT Serif Light</vt:lpstr>
      <vt:lpstr>Eras Demi ITC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21</cp:revision>
  <dcterms:created xsi:type="dcterms:W3CDTF">2025-10-09T05:03:26Z</dcterms:created>
  <dcterms:modified xsi:type="dcterms:W3CDTF">2025-10-24T05:59:28Z</dcterms:modified>
</cp:coreProperties>
</file>