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9"/>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388" r:id="rId18"/>
  </p:sldIdLst>
  <p:sldSz cx="14630400" cy="8229600"/>
  <p:notesSz cx="8229600" cy="14630400"/>
  <p:embeddedFontLst>
    <p:embeddedFont>
      <p:font typeface="DM Sans" pitchFamily="2" charset="77"/>
      <p:regular r:id="rId20"/>
      <p:bold r:id="rId21"/>
      <p:italic r:id="rId22"/>
      <p:boldItalic r:id="rId23"/>
    </p:embeddedFont>
    <p:embeddedFont>
      <p:font typeface="PT Serif" panose="020A0603040505020204" pitchFamily="18" charset="77"/>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91" d="100"/>
          <a:sy n="91"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0084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740731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92703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789753"/>
            <a:ext cx="8593812" cy="898684"/>
          </a:xfrm>
          <a:prstGeom prst="rect">
            <a:avLst/>
          </a:prstGeom>
          <a:noFill/>
          <a:ln/>
        </p:spPr>
        <p:txBody>
          <a:bodyPr wrap="none" lIns="0" tIns="0" rIns="0" bIns="0" rtlCol="0" anchor="t"/>
          <a:lstStyle/>
          <a:p>
            <a:pPr marL="0" indent="0" algn="l">
              <a:lnSpc>
                <a:spcPts val="7050"/>
              </a:lnSpc>
              <a:buNone/>
            </a:pPr>
            <a:r>
              <a:rPr lang="en-US" sz="5650" dirty="0">
                <a:solidFill>
                  <a:srgbClr val="020202"/>
                </a:solidFill>
                <a:latin typeface="PT Serif" pitchFamily="34" charset="0"/>
                <a:ea typeface="PT Serif" pitchFamily="34" charset="-122"/>
                <a:cs typeface="PT Serif" pitchFamily="34" charset="-120"/>
              </a:rPr>
              <a:t>Multiple Linear Regression</a:t>
            </a:r>
            <a:endParaRPr lang="en-US" sz="5650" dirty="0"/>
          </a:p>
        </p:txBody>
      </p:sp>
      <p:sp>
        <p:nvSpPr>
          <p:cNvPr id="3" name="Text 1"/>
          <p:cNvSpPr/>
          <p:nvPr/>
        </p:nvSpPr>
        <p:spPr>
          <a:xfrm>
            <a:off x="793790" y="3986093"/>
            <a:ext cx="7993975"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Part 2: Multicollinearity and Residual Analysis </a:t>
            </a:r>
            <a:endParaRPr lang="en-US" sz="3250" dirty="0"/>
          </a:p>
        </p:txBody>
      </p:sp>
      <p:sp>
        <p:nvSpPr>
          <p:cNvPr id="4" name="Text 2"/>
          <p:cNvSpPr/>
          <p:nvPr/>
        </p:nvSpPr>
        <p:spPr>
          <a:xfrm>
            <a:off x="793790" y="480476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 </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Contents</a:t>
            </a:r>
            <a:endParaRPr lang="en-US" sz="3750" dirty="0"/>
          </a:p>
        </p:txBody>
      </p:sp>
      <p:sp>
        <p:nvSpPr>
          <p:cNvPr id="3" name="Text 1"/>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11266"/>
            <a:ext cx="6407944" cy="30480"/>
          </a:xfrm>
          <a:prstGeom prst="rect">
            <a:avLst/>
          </a:prstGeom>
          <a:solidFill>
            <a:srgbClr val="E04F00"/>
          </a:solidFill>
          <a:ln/>
        </p:spPr>
      </p:sp>
      <p:sp>
        <p:nvSpPr>
          <p:cNvPr id="5" name="Text 3"/>
          <p:cNvSpPr/>
          <p:nvPr/>
        </p:nvSpPr>
        <p:spPr>
          <a:xfrm>
            <a:off x="793790" y="2685574"/>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Partial Regression Coefficients</a:t>
            </a:r>
            <a:endParaRPr lang="en-US" sz="2300" dirty="0"/>
          </a:p>
        </p:txBody>
      </p:sp>
      <p:sp>
        <p:nvSpPr>
          <p:cNvPr id="6" name="Text 4"/>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11266"/>
            <a:ext cx="6408063" cy="30480"/>
          </a:xfrm>
          <a:prstGeom prst="rect">
            <a:avLst/>
          </a:prstGeom>
          <a:solidFill>
            <a:srgbClr val="E04F00"/>
          </a:solidFill>
          <a:ln/>
        </p:spPr>
      </p:sp>
      <p:sp>
        <p:nvSpPr>
          <p:cNvPr id="8" name="Text 6"/>
          <p:cNvSpPr/>
          <p:nvPr/>
        </p:nvSpPr>
        <p:spPr>
          <a:xfrm>
            <a:off x="7428548" y="2685574"/>
            <a:ext cx="383321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R Squared and Adjusted R Squared</a:t>
            </a:r>
            <a:endParaRPr lang="en-US" sz="2300" dirty="0"/>
          </a:p>
        </p:txBody>
      </p:sp>
      <p:sp>
        <p:nvSpPr>
          <p:cNvPr id="9" name="Text 7"/>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p:cNvSpPr/>
          <p:nvPr/>
        </p:nvSpPr>
        <p:spPr>
          <a:xfrm>
            <a:off x="793790" y="3809524"/>
            <a:ext cx="6407944" cy="30480"/>
          </a:xfrm>
          <a:prstGeom prst="rect">
            <a:avLst/>
          </a:prstGeom>
          <a:solidFill>
            <a:srgbClr val="E04F00"/>
          </a:solidFill>
          <a:ln/>
        </p:spPr>
      </p:sp>
      <p:sp>
        <p:nvSpPr>
          <p:cNvPr id="11" name="Text 9"/>
          <p:cNvSpPr/>
          <p:nvPr/>
        </p:nvSpPr>
        <p:spPr>
          <a:xfrm>
            <a:off x="793790" y="3983831"/>
            <a:ext cx="3926681"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Predicted Values and Residuals</a:t>
            </a:r>
            <a:endParaRPr lang="en-US" sz="2300" dirty="0"/>
          </a:p>
        </p:txBody>
      </p:sp>
      <p:sp>
        <p:nvSpPr>
          <p:cNvPr id="12" name="Text 10"/>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p:cNvSpPr/>
          <p:nvPr/>
        </p:nvSpPr>
        <p:spPr>
          <a:xfrm>
            <a:off x="7428548" y="3809524"/>
            <a:ext cx="6408063" cy="30480"/>
          </a:xfrm>
          <a:prstGeom prst="rect">
            <a:avLst/>
          </a:prstGeom>
          <a:solidFill>
            <a:srgbClr val="E04F00"/>
          </a:solidFill>
          <a:ln/>
        </p:spPr>
      </p:sp>
      <p:sp>
        <p:nvSpPr>
          <p:cNvPr id="14" name="Text 12"/>
          <p:cNvSpPr/>
          <p:nvPr/>
        </p:nvSpPr>
        <p:spPr>
          <a:xfrm>
            <a:off x="7428548" y="3983831"/>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Multicollinearity</a:t>
            </a:r>
            <a:endParaRPr lang="en-US" sz="2300" dirty="0"/>
          </a:p>
        </p:txBody>
      </p:sp>
      <p:sp>
        <p:nvSpPr>
          <p:cNvPr id="15" name="Text 13"/>
          <p:cNvSpPr/>
          <p:nvPr/>
        </p:nvSpPr>
        <p:spPr>
          <a:xfrm>
            <a:off x="793790"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p:cNvSpPr/>
          <p:nvPr/>
        </p:nvSpPr>
        <p:spPr>
          <a:xfrm>
            <a:off x="793790" y="5107781"/>
            <a:ext cx="6407944" cy="30480"/>
          </a:xfrm>
          <a:prstGeom prst="rect">
            <a:avLst/>
          </a:prstGeom>
          <a:solidFill>
            <a:srgbClr val="E04F00"/>
          </a:solidFill>
          <a:ln/>
        </p:spPr>
      </p:sp>
      <p:sp>
        <p:nvSpPr>
          <p:cNvPr id="17" name="Text 15"/>
          <p:cNvSpPr/>
          <p:nvPr/>
        </p:nvSpPr>
        <p:spPr>
          <a:xfrm>
            <a:off x="793790"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Residual Analysis</a:t>
            </a:r>
            <a:endParaRPr lang="en-US" sz="2300" dirty="0"/>
          </a:p>
        </p:txBody>
      </p:sp>
      <p:sp>
        <p:nvSpPr>
          <p:cNvPr id="18" name="Text 16"/>
          <p:cNvSpPr/>
          <p:nvPr/>
        </p:nvSpPr>
        <p:spPr>
          <a:xfrm>
            <a:off x="7428548"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19" name="Shape 17"/>
          <p:cNvSpPr/>
          <p:nvPr/>
        </p:nvSpPr>
        <p:spPr>
          <a:xfrm>
            <a:off x="7428548" y="5107781"/>
            <a:ext cx="6408063" cy="30480"/>
          </a:xfrm>
          <a:prstGeom prst="rect">
            <a:avLst/>
          </a:prstGeom>
          <a:solidFill>
            <a:srgbClr val="E04F00"/>
          </a:solidFill>
          <a:ln/>
        </p:spPr>
      </p:sp>
      <p:sp>
        <p:nvSpPr>
          <p:cNvPr id="20" name="Text 18"/>
          <p:cNvSpPr/>
          <p:nvPr/>
        </p:nvSpPr>
        <p:spPr>
          <a:xfrm>
            <a:off x="7428548"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Cross Validation</a:t>
            </a:r>
            <a:endParaRPr lang="en-US" sz="2300" dirty="0"/>
          </a:p>
        </p:txBody>
      </p:sp>
    </p:spTree>
    <p:extLst>
      <p:ext uri="{BB962C8B-B14F-4D97-AF65-F5344CB8AC3E}">
        <p14:creationId xmlns:p14="http://schemas.microsoft.com/office/powerpoint/2010/main" val="3408323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87604"/>
            <a:ext cx="11125438"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Interpretation of Partial Regression Coefficients</a:t>
            </a:r>
            <a:endParaRPr lang="en-US" sz="4100" dirty="0"/>
          </a:p>
        </p:txBody>
      </p:sp>
      <p:sp>
        <p:nvSpPr>
          <p:cNvPr id="3" name="Shape 1"/>
          <p:cNvSpPr/>
          <p:nvPr/>
        </p:nvSpPr>
        <p:spPr>
          <a:xfrm>
            <a:off x="793790" y="2835712"/>
            <a:ext cx="6422231" cy="2539841"/>
          </a:xfrm>
          <a:prstGeom prst="roundRect">
            <a:avLst>
              <a:gd name="adj" fmla="val 4320"/>
            </a:avLst>
          </a:prstGeom>
          <a:solidFill>
            <a:srgbClr val="FFFFFF"/>
          </a:solidFill>
          <a:ln w="22860">
            <a:solidFill>
              <a:srgbClr val="D8D4D4"/>
            </a:solidFill>
            <a:prstDash val="solid"/>
          </a:ln>
        </p:spPr>
      </p:sp>
      <p:sp>
        <p:nvSpPr>
          <p:cNvPr id="4" name="Shape 2"/>
          <p:cNvSpPr/>
          <p:nvPr/>
        </p:nvSpPr>
        <p:spPr>
          <a:xfrm>
            <a:off x="770930" y="2835712"/>
            <a:ext cx="91440" cy="2539841"/>
          </a:xfrm>
          <a:prstGeom prst="roundRect">
            <a:avLst>
              <a:gd name="adj" fmla="val 32558"/>
            </a:avLst>
          </a:prstGeom>
          <a:solidFill>
            <a:srgbClr val="E04F00"/>
          </a:solidFill>
          <a:ln/>
        </p:spPr>
      </p:sp>
      <p:sp>
        <p:nvSpPr>
          <p:cNvPr id="5" name="Text 3"/>
          <p:cNvSpPr/>
          <p:nvPr/>
        </p:nvSpPr>
        <p:spPr>
          <a:xfrm>
            <a:off x="1083588" y="3056930"/>
            <a:ext cx="3853934"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General Interpretation Rule</a:t>
            </a:r>
            <a:endParaRPr lang="en-US" sz="2450" dirty="0"/>
          </a:p>
        </p:txBody>
      </p:sp>
      <p:sp>
        <p:nvSpPr>
          <p:cNvPr id="6" name="Text 4"/>
          <p:cNvSpPr/>
          <p:nvPr/>
        </p:nvSpPr>
        <p:spPr>
          <a:xfrm>
            <a:off x="1083588" y="3566636"/>
            <a:ext cx="5911215"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For every unit increase in the independent variable, the dependent variable (Y) will change by the corresponding parameter estimate, keeping all other variables constant. This is the essence of </a:t>
            </a:r>
            <a:r>
              <a:rPr lang="en-US" sz="1550" i="1" dirty="0">
                <a:solidFill>
                  <a:srgbClr val="383838"/>
                </a:solidFill>
                <a:latin typeface="DM Sans" pitchFamily="34" charset="0"/>
                <a:ea typeface="DM Sans" pitchFamily="34" charset="-122"/>
                <a:cs typeface="DM Sans" pitchFamily="34" charset="-120"/>
              </a:rPr>
              <a:t>partial</a:t>
            </a:r>
            <a:r>
              <a:rPr lang="en-US" sz="1550" dirty="0">
                <a:solidFill>
                  <a:srgbClr val="383838"/>
                </a:solidFill>
                <a:latin typeface="DM Sans" pitchFamily="34" charset="0"/>
                <a:ea typeface="DM Sans" pitchFamily="34" charset="-122"/>
                <a:cs typeface="DM Sans" pitchFamily="34" charset="-120"/>
              </a:rPr>
              <a:t> regression coefficients.</a:t>
            </a:r>
            <a:endParaRPr lang="en-US" sz="1550" dirty="0"/>
          </a:p>
        </p:txBody>
      </p:sp>
      <p:sp>
        <p:nvSpPr>
          <p:cNvPr id="7" name="Shape 5"/>
          <p:cNvSpPr/>
          <p:nvPr/>
        </p:nvSpPr>
        <p:spPr>
          <a:xfrm>
            <a:off x="7414379" y="2835712"/>
            <a:ext cx="6422231" cy="2539841"/>
          </a:xfrm>
          <a:prstGeom prst="roundRect">
            <a:avLst>
              <a:gd name="adj" fmla="val 4320"/>
            </a:avLst>
          </a:prstGeom>
          <a:solidFill>
            <a:srgbClr val="FFFFFF"/>
          </a:solidFill>
          <a:ln w="22860">
            <a:solidFill>
              <a:srgbClr val="D8D4D4"/>
            </a:solidFill>
            <a:prstDash val="solid"/>
          </a:ln>
        </p:spPr>
      </p:sp>
      <p:sp>
        <p:nvSpPr>
          <p:cNvPr id="8" name="Shape 6"/>
          <p:cNvSpPr/>
          <p:nvPr/>
        </p:nvSpPr>
        <p:spPr>
          <a:xfrm>
            <a:off x="7391519" y="2835712"/>
            <a:ext cx="91440" cy="2539841"/>
          </a:xfrm>
          <a:prstGeom prst="roundRect">
            <a:avLst>
              <a:gd name="adj" fmla="val 32558"/>
            </a:avLst>
          </a:prstGeom>
          <a:solidFill>
            <a:srgbClr val="E04F00"/>
          </a:solidFill>
          <a:ln/>
        </p:spPr>
      </p:sp>
      <p:sp>
        <p:nvSpPr>
          <p:cNvPr id="9" name="Text 7"/>
          <p:cNvSpPr/>
          <p:nvPr/>
        </p:nvSpPr>
        <p:spPr>
          <a:xfrm>
            <a:off x="7704177" y="3056930"/>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Practical Example</a:t>
            </a:r>
            <a:endParaRPr lang="en-US" sz="2450" dirty="0"/>
          </a:p>
        </p:txBody>
      </p:sp>
      <p:sp>
        <p:nvSpPr>
          <p:cNvPr id="10" name="Text 8"/>
          <p:cNvSpPr/>
          <p:nvPr/>
        </p:nvSpPr>
        <p:spPr>
          <a:xfrm>
            <a:off x="7704177" y="3566636"/>
            <a:ext cx="5911215"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From the parameter estimates table, we observe that the parameter estimate for Aptitude Test is </a:t>
            </a:r>
            <a:r>
              <a:rPr lang="en-US" sz="1550" b="1" dirty="0">
                <a:solidFill>
                  <a:srgbClr val="383838"/>
                </a:solidFill>
                <a:latin typeface="DM Sans" pitchFamily="34" charset="0"/>
                <a:ea typeface="DM Sans" pitchFamily="34" charset="-122"/>
                <a:cs typeface="DM Sans" pitchFamily="34" charset="-120"/>
              </a:rPr>
              <a:t>0.3236</a:t>
            </a:r>
            <a:r>
              <a:rPr lang="en-US" sz="1550" dirty="0">
                <a:solidFill>
                  <a:srgbClr val="383838"/>
                </a:solidFill>
                <a:latin typeface="DM Sans" pitchFamily="34" charset="0"/>
                <a:ea typeface="DM Sans" pitchFamily="34" charset="-122"/>
                <a:cs typeface="DM Sans" pitchFamily="34" charset="-120"/>
              </a:rPr>
              <a:t>. This means for one unit increase in aptitude test score, the job performance index will increase by 0.3236 units, holding all other predictors constant.</a:t>
            </a:r>
            <a:endParaRPr lang="en-US" sz="1550" dirty="0"/>
          </a:p>
        </p:txBody>
      </p:sp>
      <p:sp>
        <p:nvSpPr>
          <p:cNvPr id="11" name="Shape 9"/>
          <p:cNvSpPr/>
          <p:nvPr/>
        </p:nvSpPr>
        <p:spPr>
          <a:xfrm>
            <a:off x="793790" y="5598795"/>
            <a:ext cx="13042821" cy="843201"/>
          </a:xfrm>
          <a:prstGeom prst="roundRect">
            <a:avLst>
              <a:gd name="adj" fmla="val 3531"/>
            </a:avLst>
          </a:prstGeom>
          <a:solidFill>
            <a:srgbClr val="FFCDB3"/>
          </a:solidFill>
          <a:ln/>
        </p:spPr>
      </p:sp>
      <p:pic>
        <p:nvPicPr>
          <p:cNvPr id="12" name="Image 0" descr="preencoded.png"/>
          <p:cNvPicPr>
            <a:picLocks noChangeAspect="1"/>
          </p:cNvPicPr>
          <p:nvPr/>
        </p:nvPicPr>
        <p:blipFill>
          <a:blip r:embed="rId3"/>
          <a:stretch>
            <a:fillRect/>
          </a:stretch>
        </p:blipFill>
        <p:spPr>
          <a:xfrm>
            <a:off x="992148" y="5894070"/>
            <a:ext cx="248007" cy="198358"/>
          </a:xfrm>
          <a:prstGeom prst="rect">
            <a:avLst/>
          </a:prstGeom>
        </p:spPr>
      </p:pic>
      <p:sp>
        <p:nvSpPr>
          <p:cNvPr id="13" name="Text 10"/>
          <p:cNvSpPr/>
          <p:nvPr/>
        </p:nvSpPr>
        <p:spPr>
          <a:xfrm>
            <a:off x="1438513" y="5846683"/>
            <a:ext cx="1219973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DM Sans" pitchFamily="34" charset="0"/>
                <a:ea typeface="DM Sans" pitchFamily="34" charset="-122"/>
                <a:cs typeface="DM Sans" pitchFamily="34" charset="-120"/>
              </a:rPr>
              <a:t>The "all else constant" qualifier is crucial—it distinguishes multiple regression from simple bivariate correlation.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87410"/>
            <a:ext cx="7134820"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Measure of Goodness of Fit: R²</a:t>
            </a:r>
            <a:endParaRPr lang="en-US" sz="4100" dirty="0"/>
          </a:p>
        </p:txBody>
      </p:sp>
      <p:sp>
        <p:nvSpPr>
          <p:cNvPr id="3" name="Text 1"/>
          <p:cNvSpPr/>
          <p:nvPr/>
        </p:nvSpPr>
        <p:spPr>
          <a:xfrm>
            <a:off x="793790" y="2334697"/>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Understanding R²</a:t>
            </a:r>
            <a:endParaRPr lang="en-US" sz="2450" dirty="0"/>
          </a:p>
        </p:txBody>
      </p:sp>
      <p:sp>
        <p:nvSpPr>
          <p:cNvPr id="4" name="Text 2"/>
          <p:cNvSpPr/>
          <p:nvPr/>
        </p:nvSpPr>
        <p:spPr>
          <a:xfrm>
            <a:off x="793790" y="2923699"/>
            <a:ext cx="6955631"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R² represents the </a:t>
            </a:r>
            <a:r>
              <a:rPr lang="en-US" sz="1550" b="1" dirty="0">
                <a:solidFill>
                  <a:srgbClr val="383838"/>
                </a:solidFill>
                <a:latin typeface="DM Sans" pitchFamily="34" charset="0"/>
                <a:ea typeface="DM Sans" pitchFamily="34" charset="-122"/>
                <a:cs typeface="DM Sans" pitchFamily="34" charset="-120"/>
              </a:rPr>
              <a:t>proportion of variation in the dependent variable</a:t>
            </a:r>
            <a:r>
              <a:rPr lang="en-US" sz="1550" dirty="0">
                <a:solidFill>
                  <a:srgbClr val="383838"/>
                </a:solidFill>
                <a:latin typeface="DM Sans" pitchFamily="34" charset="0"/>
                <a:ea typeface="DM Sans" pitchFamily="34" charset="-122"/>
                <a:cs typeface="DM Sans" pitchFamily="34" charset="-120"/>
              </a:rPr>
              <a:t> that is explained by the independent variables in the model. It ranges from 0 to 1, with higher values indicating better fit.</a:t>
            </a:r>
            <a:endParaRPr lang="en-US" sz="1550" dirty="0"/>
          </a:p>
        </p:txBody>
      </p:sp>
      <p:sp>
        <p:nvSpPr>
          <p:cNvPr id="5" name="Text 3"/>
          <p:cNvSpPr/>
          <p:nvPr/>
        </p:nvSpPr>
        <p:spPr>
          <a:xfrm>
            <a:off x="793790" y="4054912"/>
            <a:ext cx="69556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Important: R² always increases when variables are added to the model, even if those variables don't meaningfully improve predictions.</a:t>
            </a:r>
            <a:endParaRPr lang="en-US" sz="1550" dirty="0"/>
          </a:p>
        </p:txBody>
      </p:sp>
      <p:sp>
        <p:nvSpPr>
          <p:cNvPr id="6" name="Text 4"/>
          <p:cNvSpPr/>
          <p:nvPr/>
        </p:nvSpPr>
        <p:spPr>
          <a:xfrm>
            <a:off x="8241149" y="2334697"/>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Adjusted R²</a:t>
            </a:r>
            <a:endParaRPr lang="en-US" sz="2450" dirty="0"/>
          </a:p>
        </p:txBody>
      </p:sp>
      <p:sp>
        <p:nvSpPr>
          <p:cNvPr id="7" name="Text 5"/>
          <p:cNvSpPr/>
          <p:nvPr/>
        </p:nvSpPr>
        <p:spPr>
          <a:xfrm>
            <a:off x="8241149" y="2923699"/>
            <a:ext cx="560296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Adjusted R² is a modified version that accounts for the number of predictors. It penalizes unnecessary complexity and can decrease when irrelevant variables are added.</a:t>
            </a:r>
            <a:endParaRPr lang="en-US" sz="1550" dirty="0"/>
          </a:p>
        </p:txBody>
      </p:sp>
      <p:sp>
        <p:nvSpPr>
          <p:cNvPr id="8" name="Text 6"/>
          <p:cNvSpPr/>
          <p:nvPr/>
        </p:nvSpPr>
        <p:spPr>
          <a:xfrm>
            <a:off x="8241149" y="4054912"/>
            <a:ext cx="5602962"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This makes adjusted R² more appropriate for comparing models with different numbers of predictors.</a:t>
            </a:r>
            <a:endParaRPr lang="en-US" sz="1550" dirty="0"/>
          </a:p>
        </p:txBody>
      </p:sp>
      <p:sp>
        <p:nvSpPr>
          <p:cNvPr id="9" name="Shape 7"/>
          <p:cNvSpPr/>
          <p:nvPr/>
        </p:nvSpPr>
        <p:spPr>
          <a:xfrm>
            <a:off x="793790" y="5190975"/>
            <a:ext cx="13042821" cy="32385"/>
          </a:xfrm>
          <a:prstGeom prst="rect">
            <a:avLst/>
          </a:prstGeom>
          <a:solidFill>
            <a:srgbClr val="383838">
              <a:alpha val="50000"/>
            </a:srgbClr>
          </a:solidFill>
          <a:ln/>
        </p:spPr>
      </p:sp>
      <p:sp>
        <p:nvSpPr>
          <p:cNvPr id="10" name="Shape 8"/>
          <p:cNvSpPr/>
          <p:nvPr/>
        </p:nvSpPr>
        <p:spPr>
          <a:xfrm>
            <a:off x="793790" y="5446514"/>
            <a:ext cx="13042821" cy="1595557"/>
          </a:xfrm>
          <a:prstGeom prst="roundRect">
            <a:avLst>
              <a:gd name="adj" fmla="val 1866"/>
            </a:avLst>
          </a:prstGeom>
          <a:solidFill>
            <a:srgbClr val="F2EEEE"/>
          </a:solidFill>
          <a:ln/>
        </p:spPr>
      </p:sp>
      <p:sp>
        <p:nvSpPr>
          <p:cNvPr id="11" name="Text 9"/>
          <p:cNvSpPr/>
          <p:nvPr/>
        </p:nvSpPr>
        <p:spPr>
          <a:xfrm>
            <a:off x="992148" y="564487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Formula</a:t>
            </a:r>
            <a:endParaRPr lang="en-US" sz="2050" dirty="0"/>
          </a:p>
        </p:txBody>
      </p:sp>
      <p:sp>
        <p:nvSpPr>
          <p:cNvPr id="12" name="Text 10"/>
          <p:cNvSpPr/>
          <p:nvPr/>
        </p:nvSpPr>
        <p:spPr>
          <a:xfrm>
            <a:off x="992148" y="6089570"/>
            <a:ext cx="4486568" cy="325635"/>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R² = Explained Variation / Total Variation</a:t>
            </a:r>
            <a:endParaRPr lang="en-US" sz="1550" dirty="0"/>
          </a:p>
        </p:txBody>
      </p:sp>
      <p:sp>
        <p:nvSpPr>
          <p:cNvPr id="13" name="Text 11"/>
          <p:cNvSpPr/>
          <p:nvPr/>
        </p:nvSpPr>
        <p:spPr>
          <a:xfrm>
            <a:off x="992148" y="6526173"/>
            <a:ext cx="12646104"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R² = Σ(Ŷᵢ - Ȳ)² / Σ(Yᵢ - Ȳ)²</a:t>
            </a:r>
            <a:endParaRPr lang="en-US" sz="1550" dirty="0"/>
          </a:p>
        </p:txBody>
      </p:sp>
      <p:sp>
        <p:nvSpPr>
          <p:cNvPr id="14" name="Text 9">
            <a:extLst>
              <a:ext uri="{FF2B5EF4-FFF2-40B4-BE49-F238E27FC236}">
                <a16:creationId xmlns:a16="http://schemas.microsoft.com/office/drawing/2014/main" id="{F341B079-A90C-B788-178F-A99CB9766657}"/>
              </a:ext>
            </a:extLst>
          </p:cNvPr>
          <p:cNvSpPr/>
          <p:nvPr/>
        </p:nvSpPr>
        <p:spPr>
          <a:xfrm>
            <a:off x="8437662" y="5599824"/>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Formula</a:t>
            </a:r>
            <a:endParaRPr lang="en-US" sz="2050" dirty="0"/>
          </a:p>
        </p:txBody>
      </p:sp>
      <p:sp>
        <p:nvSpPr>
          <p:cNvPr id="17" name="Text 10">
            <a:extLst>
              <a:ext uri="{FF2B5EF4-FFF2-40B4-BE49-F238E27FC236}">
                <a16:creationId xmlns:a16="http://schemas.microsoft.com/office/drawing/2014/main" id="{BE9F0455-B55A-76D4-0E63-2EAC3B626444}"/>
              </a:ext>
            </a:extLst>
          </p:cNvPr>
          <p:cNvSpPr/>
          <p:nvPr/>
        </p:nvSpPr>
        <p:spPr>
          <a:xfrm>
            <a:off x="8437662" y="6219309"/>
            <a:ext cx="4486568" cy="325635"/>
          </a:xfrm>
          <a:prstGeom prst="rect">
            <a:avLst/>
          </a:prstGeom>
          <a:noFill/>
          <a:ln/>
        </p:spPr>
        <p:txBody>
          <a:bodyPr wrap="none" lIns="0" tIns="0" rIns="0" bIns="0" rtlCol="0" anchor="t"/>
          <a:lstStyle/>
          <a:p>
            <a:r>
              <a:rPr lang="pt-BR" sz="1600" dirty="0">
                <a:latin typeface="DM Sans" pitchFamily="2" charset="0"/>
              </a:rPr>
              <a:t>R²ₐ = 1 - (n - 1)/(n - p - 1) × (1 - R²)</a:t>
            </a:r>
          </a:p>
        </p:txBody>
      </p:sp>
      <p:sp>
        <p:nvSpPr>
          <p:cNvPr id="15" name="Rectangle 14">
            <a:extLst>
              <a:ext uri="{FF2B5EF4-FFF2-40B4-BE49-F238E27FC236}">
                <a16:creationId xmlns:a16="http://schemas.microsoft.com/office/drawing/2014/main" id="{2A09633F-1B45-3247-9D61-E459DC4968B7}"/>
              </a:ext>
            </a:extLst>
          </p:cNvPr>
          <p:cNvSpPr/>
          <p:nvPr/>
        </p:nvSpPr>
        <p:spPr>
          <a:xfrm>
            <a:off x="773072" y="7283679"/>
            <a:ext cx="11465820" cy="1034899"/>
          </a:xfrm>
          <a:prstGeom prst="rect">
            <a:avLst/>
          </a:prstGeom>
        </p:spPr>
        <p:txBody>
          <a:bodyPr wrap="square">
            <a:spAutoFit/>
          </a:bodyPr>
          <a:lstStyle/>
          <a:p>
            <a:pPr>
              <a:lnSpc>
                <a:spcPts val="2500"/>
              </a:lnSpc>
            </a:pPr>
            <a:r>
              <a:rPr lang="en-US" dirty="0">
                <a:solidFill>
                  <a:srgbClr val="383838"/>
                </a:solidFill>
                <a:latin typeface="DM Sans" pitchFamily="34" charset="0"/>
                <a:ea typeface="DM Sans" pitchFamily="34" charset="-122"/>
                <a:cs typeface="DM Sans" pitchFamily="34" charset="-120"/>
              </a:rPr>
              <a:t>R² value for the case study is 0.88.  Therefore, 88% of the variation in job performance index is explained by the model and 12% is unexplained variation.</a:t>
            </a:r>
            <a:r>
              <a:rPr lang="en-US" dirty="0">
                <a:solidFill>
                  <a:prstClr val="black">
                    <a:lumMod val="75000"/>
                    <a:lumOff val="25000"/>
                  </a:prstClr>
                </a:solidFill>
                <a:latin typeface="Ebrima"/>
                <a:cs typeface="Arial"/>
              </a:rPr>
              <a:t> </a:t>
            </a:r>
          </a:p>
          <a:p>
            <a:pPr>
              <a:lnSpc>
                <a:spcPts val="2500"/>
              </a:lnSpc>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374577"/>
            <a:ext cx="715089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Predicted Values and Residuals</a:t>
            </a:r>
            <a:endParaRPr lang="en-US" sz="4100" dirty="0"/>
          </a:p>
        </p:txBody>
      </p:sp>
      <p:sp>
        <p:nvSpPr>
          <p:cNvPr id="3" name="Text 1"/>
          <p:cNvSpPr/>
          <p:nvPr/>
        </p:nvSpPr>
        <p:spPr>
          <a:xfrm>
            <a:off x="793790" y="242268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Predicted values are calculated using estimated model parameters by substituting values of predictors into the regression equation. Residuals measure the difference between observed and predicted values.</a:t>
            </a:r>
            <a:endParaRPr lang="en-US" sz="1550" dirty="0"/>
          </a:p>
        </p:txBody>
      </p:sp>
      <p:sp>
        <p:nvSpPr>
          <p:cNvPr id="4" name="Text 2"/>
          <p:cNvSpPr/>
          <p:nvPr/>
        </p:nvSpPr>
        <p:spPr>
          <a:xfrm>
            <a:off x="793790" y="32810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01</a:t>
            </a:r>
            <a:endParaRPr lang="en-US" sz="1550" dirty="0"/>
          </a:p>
        </p:txBody>
      </p:sp>
      <p:sp>
        <p:nvSpPr>
          <p:cNvPr id="5" name="Shape 3"/>
          <p:cNvSpPr/>
          <p:nvPr/>
        </p:nvSpPr>
        <p:spPr>
          <a:xfrm>
            <a:off x="793790" y="3595330"/>
            <a:ext cx="6422231" cy="22860"/>
          </a:xfrm>
          <a:prstGeom prst="rect">
            <a:avLst/>
          </a:prstGeom>
          <a:solidFill>
            <a:srgbClr val="E04F00"/>
          </a:solidFill>
          <a:ln/>
        </p:spPr>
      </p:sp>
      <p:sp>
        <p:nvSpPr>
          <p:cNvPr id="6" name="Text 4"/>
          <p:cNvSpPr/>
          <p:nvPr/>
        </p:nvSpPr>
        <p:spPr>
          <a:xfrm>
            <a:off x="793790" y="3740229"/>
            <a:ext cx="3066693"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Estimated Model Equation</a:t>
            </a:r>
            <a:endParaRPr lang="en-US" sz="2050" dirty="0"/>
          </a:p>
        </p:txBody>
      </p:sp>
      <p:sp>
        <p:nvSpPr>
          <p:cNvPr id="7" name="Text 5"/>
          <p:cNvSpPr/>
          <p:nvPr/>
        </p:nvSpPr>
        <p:spPr>
          <a:xfrm>
            <a:off x="793790" y="4184928"/>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jpi = -54.28225 + 0.32356 × aptitude + 0.03337 × tol + 1.09547 × technical + 0.53683 × general</a:t>
            </a:r>
            <a:endParaRPr lang="en-US" sz="1550" dirty="0"/>
          </a:p>
        </p:txBody>
      </p:sp>
      <p:sp>
        <p:nvSpPr>
          <p:cNvPr id="8" name="Text 6"/>
          <p:cNvSpPr/>
          <p:nvPr/>
        </p:nvSpPr>
        <p:spPr>
          <a:xfrm>
            <a:off x="7414379" y="328100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02</a:t>
            </a:r>
            <a:endParaRPr lang="en-US" sz="1550" dirty="0"/>
          </a:p>
        </p:txBody>
      </p:sp>
      <p:sp>
        <p:nvSpPr>
          <p:cNvPr id="9" name="Shape 7"/>
          <p:cNvSpPr/>
          <p:nvPr/>
        </p:nvSpPr>
        <p:spPr>
          <a:xfrm>
            <a:off x="7414379" y="3595330"/>
            <a:ext cx="6422231" cy="22860"/>
          </a:xfrm>
          <a:prstGeom prst="rect">
            <a:avLst/>
          </a:prstGeom>
          <a:solidFill>
            <a:srgbClr val="E04F00"/>
          </a:solidFill>
          <a:ln/>
        </p:spPr>
      </p:sp>
      <p:sp>
        <p:nvSpPr>
          <p:cNvPr id="10" name="Text 8"/>
          <p:cNvSpPr/>
          <p:nvPr/>
        </p:nvSpPr>
        <p:spPr>
          <a:xfrm>
            <a:off x="7414379" y="3740229"/>
            <a:ext cx="3141940"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Substitute Predictor Values</a:t>
            </a:r>
            <a:endParaRPr lang="en-US" sz="2050" dirty="0"/>
          </a:p>
        </p:txBody>
      </p:sp>
      <p:sp>
        <p:nvSpPr>
          <p:cNvPr id="11" name="Text 9"/>
          <p:cNvSpPr/>
          <p:nvPr/>
        </p:nvSpPr>
        <p:spPr>
          <a:xfrm>
            <a:off x="7414379" y="4184928"/>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For the first employee: aptitude = 43.83, tol = 55.92, technical = 51.82, general = 43.58</a:t>
            </a:r>
            <a:endParaRPr lang="en-US" sz="1550" dirty="0"/>
          </a:p>
        </p:txBody>
      </p:sp>
      <p:sp>
        <p:nvSpPr>
          <p:cNvPr id="12" name="Text 10"/>
          <p:cNvSpPr/>
          <p:nvPr/>
        </p:nvSpPr>
        <p:spPr>
          <a:xfrm>
            <a:off x="793790" y="516719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03</a:t>
            </a:r>
            <a:endParaRPr lang="en-US" sz="1550" dirty="0"/>
          </a:p>
        </p:txBody>
      </p:sp>
      <p:sp>
        <p:nvSpPr>
          <p:cNvPr id="13" name="Shape 11"/>
          <p:cNvSpPr/>
          <p:nvPr/>
        </p:nvSpPr>
        <p:spPr>
          <a:xfrm>
            <a:off x="793790" y="5481518"/>
            <a:ext cx="6422231" cy="22860"/>
          </a:xfrm>
          <a:prstGeom prst="rect">
            <a:avLst/>
          </a:prstGeom>
          <a:solidFill>
            <a:srgbClr val="E04F00"/>
          </a:solidFill>
          <a:ln/>
        </p:spPr>
      </p:sp>
      <p:sp>
        <p:nvSpPr>
          <p:cNvPr id="14" name="Text 12"/>
          <p:cNvSpPr/>
          <p:nvPr/>
        </p:nvSpPr>
        <p:spPr>
          <a:xfrm>
            <a:off x="793790" y="562641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Calculate Prediction</a:t>
            </a:r>
            <a:endParaRPr lang="en-US" sz="2050" dirty="0"/>
          </a:p>
        </p:txBody>
      </p:sp>
      <p:sp>
        <p:nvSpPr>
          <p:cNvPr id="15" name="Text 13"/>
          <p:cNvSpPr/>
          <p:nvPr/>
        </p:nvSpPr>
        <p:spPr>
          <a:xfrm>
            <a:off x="793790" y="6071116"/>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Predicted jpi = -54.28225 + 0.32356(43.83) + 0.03337(55.92) + 1.09547(51.82) + 0.53683(43.58) = </a:t>
            </a:r>
            <a:r>
              <a:rPr lang="en-US" sz="1550" b="1" dirty="0">
                <a:solidFill>
                  <a:srgbClr val="383838"/>
                </a:solidFill>
                <a:latin typeface="DM Sans" pitchFamily="34" charset="0"/>
                <a:ea typeface="DM Sans" pitchFamily="34" charset="-122"/>
                <a:cs typeface="DM Sans" pitchFamily="34" charset="-120"/>
              </a:rPr>
              <a:t>41.92796</a:t>
            </a:r>
            <a:endParaRPr lang="en-US" sz="1550" dirty="0"/>
          </a:p>
        </p:txBody>
      </p:sp>
      <p:sp>
        <p:nvSpPr>
          <p:cNvPr id="16" name="Text 14"/>
          <p:cNvSpPr/>
          <p:nvPr/>
        </p:nvSpPr>
        <p:spPr>
          <a:xfrm>
            <a:off x="7414379" y="516719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04</a:t>
            </a:r>
            <a:endParaRPr lang="en-US" sz="1550" dirty="0"/>
          </a:p>
        </p:txBody>
      </p:sp>
      <p:sp>
        <p:nvSpPr>
          <p:cNvPr id="17" name="Shape 15"/>
          <p:cNvSpPr/>
          <p:nvPr/>
        </p:nvSpPr>
        <p:spPr>
          <a:xfrm>
            <a:off x="7414379" y="5481518"/>
            <a:ext cx="6422231" cy="22860"/>
          </a:xfrm>
          <a:prstGeom prst="rect">
            <a:avLst/>
          </a:prstGeom>
          <a:solidFill>
            <a:srgbClr val="E04F00"/>
          </a:solidFill>
          <a:ln/>
        </p:spPr>
      </p:sp>
      <p:sp>
        <p:nvSpPr>
          <p:cNvPr id="18" name="Text 16"/>
          <p:cNvSpPr/>
          <p:nvPr/>
        </p:nvSpPr>
        <p:spPr>
          <a:xfrm>
            <a:off x="7414379" y="562641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Compute Residual</a:t>
            </a:r>
            <a:endParaRPr lang="en-US" sz="2050" dirty="0"/>
          </a:p>
        </p:txBody>
      </p:sp>
      <p:sp>
        <p:nvSpPr>
          <p:cNvPr id="19" name="Text 17"/>
          <p:cNvSpPr/>
          <p:nvPr/>
        </p:nvSpPr>
        <p:spPr>
          <a:xfrm>
            <a:off x="7414379" y="6071116"/>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Residual = Observed jpi − Predicted jpi = 45.52 − 41.92796 = 3.59204</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459706"/>
            <a:ext cx="6565940"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Problem of Multicollinearity</a:t>
            </a:r>
            <a:endParaRPr lang="en-US" sz="4100" dirty="0"/>
          </a:p>
        </p:txBody>
      </p:sp>
      <p:sp>
        <p:nvSpPr>
          <p:cNvPr id="3" name="Text 1"/>
          <p:cNvSpPr/>
          <p:nvPr/>
        </p:nvSpPr>
        <p:spPr>
          <a:xfrm>
            <a:off x="1091446" y="2731056"/>
            <a:ext cx="12745164"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Multicollinearity occurs when there is a </a:t>
            </a:r>
            <a:r>
              <a:rPr lang="en-US" sz="1550" b="1" dirty="0">
                <a:solidFill>
                  <a:srgbClr val="383838"/>
                </a:solidFill>
                <a:latin typeface="DM Sans" pitchFamily="34" charset="0"/>
                <a:ea typeface="DM Sans" pitchFamily="34" charset="-122"/>
                <a:cs typeface="DM Sans" pitchFamily="34" charset="-120"/>
              </a:rPr>
              <a:t>strong linear relationship among the independent variables</a:t>
            </a:r>
            <a:r>
              <a:rPr lang="en-US" sz="1550" dirty="0">
                <a:solidFill>
                  <a:srgbClr val="383838"/>
                </a:solidFill>
                <a:latin typeface="DM Sans" pitchFamily="34" charset="0"/>
                <a:ea typeface="DM Sans" pitchFamily="34" charset="-122"/>
                <a:cs typeface="DM Sans" pitchFamily="34" charset="-120"/>
              </a:rPr>
              <a:t> in a regression model. This violates the assumption of predictor independence.</a:t>
            </a:r>
            <a:endParaRPr lang="en-US" sz="1550" dirty="0"/>
          </a:p>
        </p:txBody>
      </p:sp>
      <p:sp>
        <p:nvSpPr>
          <p:cNvPr id="4" name="Shape 2"/>
          <p:cNvSpPr/>
          <p:nvPr/>
        </p:nvSpPr>
        <p:spPr>
          <a:xfrm>
            <a:off x="793790" y="2507813"/>
            <a:ext cx="22860" cy="1081564"/>
          </a:xfrm>
          <a:prstGeom prst="rect">
            <a:avLst/>
          </a:prstGeom>
          <a:solidFill>
            <a:srgbClr val="E04F00"/>
          </a:solidFill>
          <a:ln/>
        </p:spPr>
      </p:sp>
      <p:sp>
        <p:nvSpPr>
          <p:cNvPr id="5" name="Shape 3"/>
          <p:cNvSpPr/>
          <p:nvPr/>
        </p:nvSpPr>
        <p:spPr>
          <a:xfrm>
            <a:off x="793790" y="3911768"/>
            <a:ext cx="13042821" cy="32385"/>
          </a:xfrm>
          <a:prstGeom prst="rect">
            <a:avLst/>
          </a:prstGeom>
          <a:solidFill>
            <a:srgbClr val="383838">
              <a:alpha val="50000"/>
            </a:srgbClr>
          </a:solidFill>
          <a:ln/>
        </p:spPr>
      </p:sp>
      <p:sp>
        <p:nvSpPr>
          <p:cNvPr id="6" name="Text 4"/>
          <p:cNvSpPr/>
          <p:nvPr/>
        </p:nvSpPr>
        <p:spPr>
          <a:xfrm>
            <a:off x="793790" y="4241721"/>
            <a:ext cx="4740354"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Consequences of Multicollinearity</a:t>
            </a:r>
            <a:endParaRPr lang="en-US" sz="2450" dirty="0"/>
          </a:p>
        </p:txBody>
      </p:sp>
      <p:sp>
        <p:nvSpPr>
          <p:cNvPr id="7" name="Shape 5"/>
          <p:cNvSpPr/>
          <p:nvPr/>
        </p:nvSpPr>
        <p:spPr>
          <a:xfrm>
            <a:off x="793790" y="4930021"/>
            <a:ext cx="6422231" cy="1839754"/>
          </a:xfrm>
          <a:prstGeom prst="roundRect">
            <a:avLst>
              <a:gd name="adj" fmla="val 1618"/>
            </a:avLst>
          </a:prstGeom>
          <a:solidFill>
            <a:srgbClr val="FFFFFF"/>
          </a:solidFill>
          <a:ln w="22860">
            <a:solidFill>
              <a:srgbClr val="D8D4D4"/>
            </a:solidFill>
            <a:prstDash val="solid"/>
          </a:ln>
        </p:spPr>
      </p:sp>
      <p:sp>
        <p:nvSpPr>
          <p:cNvPr id="8" name="Text 6"/>
          <p:cNvSpPr/>
          <p:nvPr/>
        </p:nvSpPr>
        <p:spPr>
          <a:xfrm>
            <a:off x="1015008" y="5151239"/>
            <a:ext cx="3485317"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Unstable Parameter Estimates</a:t>
            </a:r>
            <a:endParaRPr lang="en-US" sz="2050" dirty="0"/>
          </a:p>
        </p:txBody>
      </p:sp>
      <p:sp>
        <p:nvSpPr>
          <p:cNvPr id="9" name="Text 7"/>
          <p:cNvSpPr/>
          <p:nvPr/>
        </p:nvSpPr>
        <p:spPr>
          <a:xfrm>
            <a:off x="1015008" y="5595938"/>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Parameters of the model become highly unstable as standard errors of their estimates are inflated. Small changes in the data can lead to large changes in coefficient estimates.</a:t>
            </a:r>
            <a:endParaRPr lang="en-US" sz="1550" dirty="0"/>
          </a:p>
        </p:txBody>
      </p:sp>
      <p:sp>
        <p:nvSpPr>
          <p:cNvPr id="10" name="Shape 8"/>
          <p:cNvSpPr/>
          <p:nvPr/>
        </p:nvSpPr>
        <p:spPr>
          <a:xfrm>
            <a:off x="7414379" y="4930021"/>
            <a:ext cx="6422231" cy="1839754"/>
          </a:xfrm>
          <a:prstGeom prst="roundRect">
            <a:avLst>
              <a:gd name="adj" fmla="val 1618"/>
            </a:avLst>
          </a:prstGeom>
          <a:solidFill>
            <a:srgbClr val="FFFFFF"/>
          </a:solidFill>
          <a:ln w="22860">
            <a:solidFill>
              <a:srgbClr val="D8D4D4"/>
            </a:solidFill>
            <a:prstDash val="solid"/>
          </a:ln>
        </p:spPr>
      </p:sp>
      <p:sp>
        <p:nvSpPr>
          <p:cNvPr id="11" name="Text 9"/>
          <p:cNvSpPr/>
          <p:nvPr/>
        </p:nvSpPr>
        <p:spPr>
          <a:xfrm>
            <a:off x="7635597" y="5151239"/>
            <a:ext cx="3852267"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Poor Out-of-Sample Performance</a:t>
            </a:r>
            <a:endParaRPr lang="en-US" sz="2050" dirty="0"/>
          </a:p>
        </p:txBody>
      </p:sp>
      <p:sp>
        <p:nvSpPr>
          <p:cNvPr id="12" name="Text 10"/>
          <p:cNvSpPr/>
          <p:nvPr/>
        </p:nvSpPr>
        <p:spPr>
          <a:xfrm>
            <a:off x="7635597" y="5595938"/>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model may appear ideal for a given sample but fails to predict accurately for out-of-sample data. This limits the model's generalizability and practical utility.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030135"/>
            <a:ext cx="628471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Detecting Multicollinearity</a:t>
            </a:r>
            <a:endParaRPr lang="en-US" sz="4100" dirty="0"/>
          </a:p>
        </p:txBody>
      </p:sp>
      <p:sp>
        <p:nvSpPr>
          <p:cNvPr id="3" name="Text 1"/>
          <p:cNvSpPr/>
          <p:nvPr/>
        </p:nvSpPr>
        <p:spPr>
          <a:xfrm>
            <a:off x="793790" y="2979063"/>
            <a:ext cx="3704868"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Indications of the Problem</a:t>
            </a:r>
            <a:endParaRPr lang="en-US" sz="2450" dirty="0"/>
          </a:p>
        </p:txBody>
      </p:sp>
      <p:sp>
        <p:nvSpPr>
          <p:cNvPr id="4" name="Shape 2"/>
          <p:cNvSpPr/>
          <p:nvPr/>
        </p:nvSpPr>
        <p:spPr>
          <a:xfrm>
            <a:off x="793790" y="3667363"/>
            <a:ext cx="446484" cy="446484"/>
          </a:xfrm>
          <a:prstGeom prst="roundRect">
            <a:avLst>
              <a:gd name="adj" fmla="val 6668"/>
            </a:avLst>
          </a:prstGeom>
          <a:solidFill>
            <a:srgbClr val="F2EEEE"/>
          </a:solidFill>
          <a:ln/>
        </p:spPr>
      </p:sp>
      <p:sp>
        <p:nvSpPr>
          <p:cNvPr id="5" name="Text 3"/>
          <p:cNvSpPr/>
          <p:nvPr/>
        </p:nvSpPr>
        <p:spPr>
          <a:xfrm>
            <a:off x="1438632" y="3735586"/>
            <a:ext cx="3096339"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High Pairwise Correlations</a:t>
            </a:r>
            <a:endParaRPr lang="en-US" sz="2050" dirty="0"/>
          </a:p>
        </p:txBody>
      </p:sp>
      <p:sp>
        <p:nvSpPr>
          <p:cNvPr id="6" name="Text 4"/>
          <p:cNvSpPr/>
          <p:nvPr/>
        </p:nvSpPr>
        <p:spPr>
          <a:xfrm>
            <a:off x="1438632" y="4180284"/>
            <a:ext cx="575250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Examine the correlation matrix of independent variables. Correlations above 0.80 or 0.90 suggest potential multicollinearity between variable pairs.</a:t>
            </a:r>
            <a:endParaRPr lang="en-US" sz="1550" dirty="0"/>
          </a:p>
        </p:txBody>
      </p:sp>
      <p:sp>
        <p:nvSpPr>
          <p:cNvPr id="7" name="Shape 5"/>
          <p:cNvSpPr/>
          <p:nvPr/>
        </p:nvSpPr>
        <p:spPr>
          <a:xfrm>
            <a:off x="7439144" y="3667363"/>
            <a:ext cx="446484" cy="446484"/>
          </a:xfrm>
          <a:prstGeom prst="roundRect">
            <a:avLst>
              <a:gd name="adj" fmla="val 6668"/>
            </a:avLst>
          </a:prstGeom>
          <a:solidFill>
            <a:srgbClr val="F2EEEE"/>
          </a:solidFill>
          <a:ln/>
        </p:spPr>
      </p:sp>
      <p:sp>
        <p:nvSpPr>
          <p:cNvPr id="8" name="Text 6"/>
          <p:cNvSpPr/>
          <p:nvPr/>
        </p:nvSpPr>
        <p:spPr>
          <a:xfrm>
            <a:off x="8083987" y="3735586"/>
            <a:ext cx="3743682"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Contradictory Significance Tests</a:t>
            </a:r>
            <a:endParaRPr lang="en-US" sz="2050" dirty="0"/>
          </a:p>
        </p:txBody>
      </p:sp>
      <p:sp>
        <p:nvSpPr>
          <p:cNvPr id="9" name="Text 7"/>
          <p:cNvSpPr/>
          <p:nvPr/>
        </p:nvSpPr>
        <p:spPr>
          <a:xfrm>
            <a:off x="8083987" y="4180284"/>
            <a:ext cx="5752624"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overall F-test indicates the model is significant (based on ANOVA), but very few individual t-tests for coefficients are significant. This paradox often signals multicollinearity.</a:t>
            </a:r>
            <a:endParaRPr lang="en-US" sz="1550" dirty="0"/>
          </a:p>
        </p:txBody>
      </p:sp>
      <p:sp>
        <p:nvSpPr>
          <p:cNvPr id="10" name="Shape 8"/>
          <p:cNvSpPr/>
          <p:nvPr/>
        </p:nvSpPr>
        <p:spPr>
          <a:xfrm>
            <a:off x="793790" y="5356146"/>
            <a:ext cx="13042821" cy="843201"/>
          </a:xfrm>
          <a:prstGeom prst="roundRect">
            <a:avLst>
              <a:gd name="adj" fmla="val 3531"/>
            </a:avLst>
          </a:prstGeom>
          <a:solidFill>
            <a:srgbClr val="FFCDB3"/>
          </a:solidFill>
          <a:ln/>
        </p:spPr>
      </p:sp>
      <p:pic>
        <p:nvPicPr>
          <p:cNvPr id="11" name="Image 0" descr="preencoded.png"/>
          <p:cNvPicPr>
            <a:picLocks noChangeAspect="1"/>
          </p:cNvPicPr>
          <p:nvPr/>
        </p:nvPicPr>
        <p:blipFill>
          <a:blip r:embed="rId3"/>
          <a:stretch>
            <a:fillRect/>
          </a:stretch>
        </p:blipFill>
        <p:spPr>
          <a:xfrm>
            <a:off x="992148" y="5651421"/>
            <a:ext cx="248007" cy="198358"/>
          </a:xfrm>
          <a:prstGeom prst="rect">
            <a:avLst/>
          </a:prstGeom>
        </p:spPr>
      </p:pic>
      <p:sp>
        <p:nvSpPr>
          <p:cNvPr id="12" name="Text 9"/>
          <p:cNvSpPr/>
          <p:nvPr/>
        </p:nvSpPr>
        <p:spPr>
          <a:xfrm>
            <a:off x="1438513" y="5604034"/>
            <a:ext cx="1219973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DM Sans" pitchFamily="34" charset="0"/>
                <a:ea typeface="DM Sans" pitchFamily="34" charset="-122"/>
                <a:cs typeface="DM Sans" pitchFamily="34" charset="-120"/>
              </a:rPr>
              <a:t>These symptoms indicate the need for formal diagnostic procedures like VIF calculation.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35606"/>
            <a:ext cx="8610481"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Detecting Multicollinearity using VIF</a:t>
            </a:r>
            <a:endParaRPr lang="en-US" sz="4100" dirty="0"/>
          </a:p>
        </p:txBody>
      </p:sp>
      <p:sp>
        <p:nvSpPr>
          <p:cNvPr id="3" name="Text 1"/>
          <p:cNvSpPr/>
          <p:nvPr/>
        </p:nvSpPr>
        <p:spPr>
          <a:xfrm>
            <a:off x="793790" y="208371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Variance Inflation Factor (VIF) quantifies how much the variance of a regression coefficient is inflated due to multicollinearity. Calculate VIF for each predictor by regressing it on all other predictors.</a:t>
            </a:r>
            <a:endParaRPr lang="en-US" sz="1550" dirty="0"/>
          </a:p>
        </p:txBody>
      </p:sp>
      <p:sp>
        <p:nvSpPr>
          <p:cNvPr id="4" name="Shape 2"/>
          <p:cNvSpPr/>
          <p:nvPr/>
        </p:nvSpPr>
        <p:spPr>
          <a:xfrm>
            <a:off x="793790" y="2942034"/>
            <a:ext cx="13042821" cy="2869763"/>
          </a:xfrm>
          <a:prstGeom prst="roundRect">
            <a:avLst>
              <a:gd name="adj" fmla="val 1037"/>
            </a:avLst>
          </a:prstGeom>
          <a:noFill/>
          <a:ln w="7620">
            <a:solidFill>
              <a:srgbClr val="000000">
                <a:alpha val="8000"/>
              </a:srgbClr>
            </a:solidFill>
            <a:prstDash val="solid"/>
          </a:ln>
        </p:spPr>
      </p:sp>
      <p:sp>
        <p:nvSpPr>
          <p:cNvPr id="5" name="Shape 3"/>
          <p:cNvSpPr/>
          <p:nvPr/>
        </p:nvSpPr>
        <p:spPr>
          <a:xfrm>
            <a:off x="801410" y="2949654"/>
            <a:ext cx="13027581" cy="570905"/>
          </a:xfrm>
          <a:prstGeom prst="rect">
            <a:avLst/>
          </a:prstGeom>
          <a:solidFill>
            <a:srgbClr val="FFFFFF">
              <a:alpha val="4000"/>
            </a:srgbClr>
          </a:solidFill>
          <a:ln/>
        </p:spPr>
      </p:sp>
      <p:sp>
        <p:nvSpPr>
          <p:cNvPr id="6" name="Text 4"/>
          <p:cNvSpPr/>
          <p:nvPr/>
        </p:nvSpPr>
        <p:spPr>
          <a:xfrm>
            <a:off x="1000006" y="3076337"/>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Dependent Variable</a:t>
            </a:r>
            <a:endParaRPr lang="en-US" sz="1550" dirty="0"/>
          </a:p>
        </p:txBody>
      </p:sp>
      <p:sp>
        <p:nvSpPr>
          <p:cNvPr id="7" name="Text 5"/>
          <p:cNvSpPr/>
          <p:nvPr/>
        </p:nvSpPr>
        <p:spPr>
          <a:xfrm>
            <a:off x="4260652" y="3076337"/>
            <a:ext cx="4155281"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Independent Variables</a:t>
            </a:r>
            <a:endParaRPr lang="en-US" sz="1550" dirty="0"/>
          </a:p>
        </p:txBody>
      </p:sp>
      <p:sp>
        <p:nvSpPr>
          <p:cNvPr id="8" name="Text 6"/>
          <p:cNvSpPr/>
          <p:nvPr/>
        </p:nvSpPr>
        <p:spPr>
          <a:xfrm>
            <a:off x="8820269" y="3076337"/>
            <a:ext cx="1549717"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R²</a:t>
            </a:r>
            <a:endParaRPr lang="en-US" sz="1550" dirty="0"/>
          </a:p>
        </p:txBody>
      </p:sp>
      <p:sp>
        <p:nvSpPr>
          <p:cNvPr id="9" name="Text 7"/>
          <p:cNvSpPr/>
          <p:nvPr/>
        </p:nvSpPr>
        <p:spPr>
          <a:xfrm>
            <a:off x="10774323" y="3076337"/>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VIF Calculation</a:t>
            </a:r>
            <a:endParaRPr lang="en-US" sz="1550" dirty="0"/>
          </a:p>
        </p:txBody>
      </p:sp>
      <p:sp>
        <p:nvSpPr>
          <p:cNvPr id="10" name="Shape 8"/>
          <p:cNvSpPr/>
          <p:nvPr/>
        </p:nvSpPr>
        <p:spPr>
          <a:xfrm>
            <a:off x="801410" y="3520559"/>
            <a:ext cx="13027581" cy="570905"/>
          </a:xfrm>
          <a:prstGeom prst="rect">
            <a:avLst/>
          </a:prstGeom>
          <a:solidFill>
            <a:srgbClr val="000000">
              <a:alpha val="4000"/>
            </a:srgbClr>
          </a:solidFill>
          <a:ln/>
        </p:spPr>
      </p:sp>
      <p:sp>
        <p:nvSpPr>
          <p:cNvPr id="11" name="Text 9"/>
          <p:cNvSpPr/>
          <p:nvPr/>
        </p:nvSpPr>
        <p:spPr>
          <a:xfrm>
            <a:off x="1000006" y="3647242"/>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X₁</a:t>
            </a:r>
            <a:endParaRPr lang="en-US" sz="1550" dirty="0"/>
          </a:p>
        </p:txBody>
      </p:sp>
      <p:sp>
        <p:nvSpPr>
          <p:cNvPr id="12" name="Text 10"/>
          <p:cNvSpPr/>
          <p:nvPr/>
        </p:nvSpPr>
        <p:spPr>
          <a:xfrm>
            <a:off x="4260652" y="3647242"/>
            <a:ext cx="415528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X₂, X₃, X₄</a:t>
            </a:r>
            <a:endParaRPr lang="en-US" sz="1550" dirty="0"/>
          </a:p>
        </p:txBody>
      </p:sp>
      <p:sp>
        <p:nvSpPr>
          <p:cNvPr id="13" name="Text 11"/>
          <p:cNvSpPr/>
          <p:nvPr/>
        </p:nvSpPr>
        <p:spPr>
          <a:xfrm>
            <a:off x="8820269" y="3647242"/>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R₁²</a:t>
            </a:r>
            <a:endParaRPr lang="en-US" sz="1550" dirty="0"/>
          </a:p>
        </p:txBody>
      </p:sp>
      <p:sp>
        <p:nvSpPr>
          <p:cNvPr id="14" name="Text 12"/>
          <p:cNvSpPr/>
          <p:nvPr/>
        </p:nvSpPr>
        <p:spPr>
          <a:xfrm>
            <a:off x="10774323" y="3647242"/>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 / (1 − R₁²)</a:t>
            </a:r>
            <a:endParaRPr lang="en-US" sz="1550" dirty="0"/>
          </a:p>
        </p:txBody>
      </p:sp>
      <p:sp>
        <p:nvSpPr>
          <p:cNvPr id="15" name="Shape 13"/>
          <p:cNvSpPr/>
          <p:nvPr/>
        </p:nvSpPr>
        <p:spPr>
          <a:xfrm>
            <a:off x="801410" y="4091464"/>
            <a:ext cx="13027581" cy="570905"/>
          </a:xfrm>
          <a:prstGeom prst="rect">
            <a:avLst/>
          </a:prstGeom>
          <a:solidFill>
            <a:srgbClr val="FFFFFF">
              <a:alpha val="4000"/>
            </a:srgbClr>
          </a:solidFill>
          <a:ln/>
        </p:spPr>
      </p:sp>
      <p:sp>
        <p:nvSpPr>
          <p:cNvPr id="16" name="Text 14"/>
          <p:cNvSpPr/>
          <p:nvPr/>
        </p:nvSpPr>
        <p:spPr>
          <a:xfrm>
            <a:off x="1000006" y="4218146"/>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X₂</a:t>
            </a:r>
            <a:endParaRPr lang="en-US" sz="1550" dirty="0"/>
          </a:p>
        </p:txBody>
      </p:sp>
      <p:sp>
        <p:nvSpPr>
          <p:cNvPr id="17" name="Text 15"/>
          <p:cNvSpPr/>
          <p:nvPr/>
        </p:nvSpPr>
        <p:spPr>
          <a:xfrm>
            <a:off x="4260652" y="4218146"/>
            <a:ext cx="415528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X₁, X₃, X₄</a:t>
            </a:r>
            <a:endParaRPr lang="en-US" sz="1550" dirty="0"/>
          </a:p>
        </p:txBody>
      </p:sp>
      <p:sp>
        <p:nvSpPr>
          <p:cNvPr id="18" name="Text 16"/>
          <p:cNvSpPr/>
          <p:nvPr/>
        </p:nvSpPr>
        <p:spPr>
          <a:xfrm>
            <a:off x="8820269" y="4218146"/>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R₂²</a:t>
            </a:r>
            <a:endParaRPr lang="en-US" sz="1550" dirty="0"/>
          </a:p>
        </p:txBody>
      </p:sp>
      <p:sp>
        <p:nvSpPr>
          <p:cNvPr id="19" name="Text 17"/>
          <p:cNvSpPr/>
          <p:nvPr/>
        </p:nvSpPr>
        <p:spPr>
          <a:xfrm>
            <a:off x="10774323" y="4218146"/>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 / (1 − R₂²)</a:t>
            </a:r>
            <a:endParaRPr lang="en-US" sz="1550" dirty="0"/>
          </a:p>
        </p:txBody>
      </p:sp>
      <p:sp>
        <p:nvSpPr>
          <p:cNvPr id="20" name="Shape 18"/>
          <p:cNvSpPr/>
          <p:nvPr/>
        </p:nvSpPr>
        <p:spPr>
          <a:xfrm>
            <a:off x="801410" y="4662368"/>
            <a:ext cx="13027581" cy="570905"/>
          </a:xfrm>
          <a:prstGeom prst="rect">
            <a:avLst/>
          </a:prstGeom>
          <a:solidFill>
            <a:srgbClr val="000000">
              <a:alpha val="4000"/>
            </a:srgbClr>
          </a:solidFill>
          <a:ln/>
        </p:spPr>
      </p:sp>
      <p:sp>
        <p:nvSpPr>
          <p:cNvPr id="21" name="Text 19"/>
          <p:cNvSpPr/>
          <p:nvPr/>
        </p:nvSpPr>
        <p:spPr>
          <a:xfrm>
            <a:off x="1000006" y="4789051"/>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X₃</a:t>
            </a:r>
            <a:endParaRPr lang="en-US" sz="1550" dirty="0"/>
          </a:p>
        </p:txBody>
      </p:sp>
      <p:sp>
        <p:nvSpPr>
          <p:cNvPr id="22" name="Text 20"/>
          <p:cNvSpPr/>
          <p:nvPr/>
        </p:nvSpPr>
        <p:spPr>
          <a:xfrm>
            <a:off x="4260652" y="4789051"/>
            <a:ext cx="415528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X₁, X₂, X₄</a:t>
            </a:r>
            <a:endParaRPr lang="en-US" sz="1550" dirty="0"/>
          </a:p>
        </p:txBody>
      </p:sp>
      <p:sp>
        <p:nvSpPr>
          <p:cNvPr id="23" name="Text 21"/>
          <p:cNvSpPr/>
          <p:nvPr/>
        </p:nvSpPr>
        <p:spPr>
          <a:xfrm>
            <a:off x="8820269" y="4789051"/>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R₃²</a:t>
            </a:r>
            <a:endParaRPr lang="en-US" sz="1550" dirty="0"/>
          </a:p>
        </p:txBody>
      </p:sp>
      <p:sp>
        <p:nvSpPr>
          <p:cNvPr id="24" name="Text 22"/>
          <p:cNvSpPr/>
          <p:nvPr/>
        </p:nvSpPr>
        <p:spPr>
          <a:xfrm>
            <a:off x="10774323" y="4789051"/>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 / (1 − R₃²)</a:t>
            </a:r>
            <a:endParaRPr lang="en-US" sz="1550" dirty="0"/>
          </a:p>
        </p:txBody>
      </p:sp>
      <p:sp>
        <p:nvSpPr>
          <p:cNvPr id="25" name="Shape 23"/>
          <p:cNvSpPr/>
          <p:nvPr/>
        </p:nvSpPr>
        <p:spPr>
          <a:xfrm>
            <a:off x="801410" y="5233273"/>
            <a:ext cx="13027581" cy="570905"/>
          </a:xfrm>
          <a:prstGeom prst="rect">
            <a:avLst/>
          </a:prstGeom>
          <a:solidFill>
            <a:srgbClr val="FFFFFF">
              <a:alpha val="4000"/>
            </a:srgbClr>
          </a:solidFill>
          <a:ln/>
        </p:spPr>
      </p:sp>
      <p:sp>
        <p:nvSpPr>
          <p:cNvPr id="26" name="Text 24"/>
          <p:cNvSpPr/>
          <p:nvPr/>
        </p:nvSpPr>
        <p:spPr>
          <a:xfrm>
            <a:off x="1000006" y="5359956"/>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X₄</a:t>
            </a:r>
            <a:endParaRPr lang="en-US" sz="1550" dirty="0"/>
          </a:p>
        </p:txBody>
      </p:sp>
      <p:sp>
        <p:nvSpPr>
          <p:cNvPr id="27" name="Text 25"/>
          <p:cNvSpPr/>
          <p:nvPr/>
        </p:nvSpPr>
        <p:spPr>
          <a:xfrm>
            <a:off x="4260652" y="5359956"/>
            <a:ext cx="415528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X₁, X₂, X₃</a:t>
            </a:r>
            <a:endParaRPr lang="en-US" sz="1550" dirty="0"/>
          </a:p>
        </p:txBody>
      </p:sp>
      <p:sp>
        <p:nvSpPr>
          <p:cNvPr id="28" name="Text 26"/>
          <p:cNvSpPr/>
          <p:nvPr/>
        </p:nvSpPr>
        <p:spPr>
          <a:xfrm>
            <a:off x="8820269" y="5359956"/>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R₄²</a:t>
            </a:r>
            <a:endParaRPr lang="en-US" sz="1550" dirty="0"/>
          </a:p>
        </p:txBody>
      </p:sp>
      <p:sp>
        <p:nvSpPr>
          <p:cNvPr id="29" name="Text 27"/>
          <p:cNvSpPr/>
          <p:nvPr/>
        </p:nvSpPr>
        <p:spPr>
          <a:xfrm>
            <a:off x="10774323" y="5359956"/>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1 / (1 − R₄²)</a:t>
            </a:r>
            <a:endParaRPr lang="en-US" sz="1550" dirty="0"/>
          </a:p>
        </p:txBody>
      </p:sp>
      <p:sp>
        <p:nvSpPr>
          <p:cNvPr id="30" name="Shape 28"/>
          <p:cNvSpPr/>
          <p:nvPr/>
        </p:nvSpPr>
        <p:spPr>
          <a:xfrm>
            <a:off x="793790" y="6035040"/>
            <a:ext cx="13042821" cy="1158954"/>
          </a:xfrm>
          <a:prstGeom prst="roundRect">
            <a:avLst>
              <a:gd name="adj" fmla="val 2569"/>
            </a:avLst>
          </a:prstGeom>
          <a:solidFill>
            <a:srgbClr val="E04F00"/>
          </a:solidFill>
          <a:ln/>
        </p:spPr>
      </p:sp>
      <p:sp>
        <p:nvSpPr>
          <p:cNvPr id="31" name="Text 29"/>
          <p:cNvSpPr/>
          <p:nvPr/>
        </p:nvSpPr>
        <p:spPr>
          <a:xfrm>
            <a:off x="992148" y="615773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FFFFFF"/>
                </a:solidFill>
                <a:latin typeface="PT Serif" pitchFamily="34" charset="0"/>
                <a:ea typeface="PT Serif" pitchFamily="34" charset="-122"/>
                <a:cs typeface="PT Serif" pitchFamily="34" charset="-120"/>
              </a:rPr>
              <a:t>Decision Rule</a:t>
            </a:r>
            <a:endParaRPr lang="en-US" sz="2050" dirty="0"/>
          </a:p>
        </p:txBody>
      </p:sp>
      <p:sp>
        <p:nvSpPr>
          <p:cNvPr id="32" name="Text 30"/>
          <p:cNvSpPr/>
          <p:nvPr/>
        </p:nvSpPr>
        <p:spPr>
          <a:xfrm>
            <a:off x="984528" y="6521142"/>
            <a:ext cx="12646104" cy="540840"/>
          </a:xfrm>
          <a:prstGeom prst="rect">
            <a:avLst/>
          </a:prstGeom>
          <a:noFill/>
          <a:ln/>
        </p:spPr>
        <p:txBody>
          <a:bodyPr wrap="none" lIns="0" tIns="0" rIns="0" bIns="0" rtlCol="0" anchor="t"/>
          <a:lstStyle/>
          <a:p>
            <a:pPr marL="0" indent="0" algn="l">
              <a:lnSpc>
                <a:spcPts val="2500"/>
              </a:lnSpc>
              <a:buNone/>
            </a:pPr>
            <a:r>
              <a:rPr lang="en-US" sz="1550" b="1" dirty="0">
                <a:solidFill>
                  <a:srgbClr val="FFFFFF"/>
                </a:solidFill>
                <a:latin typeface="DM Sans" pitchFamily="34" charset="0"/>
                <a:ea typeface="DM Sans" pitchFamily="34" charset="-122"/>
                <a:cs typeface="DM Sans" pitchFamily="34" charset="-120"/>
              </a:rPr>
              <a:t>Any VIF &gt; 5 indicates presence of multicollinearity</a:t>
            </a:r>
            <a:r>
              <a:rPr lang="en-US" sz="1550" dirty="0">
                <a:solidFill>
                  <a:srgbClr val="FFFFFF"/>
                </a:solidFill>
                <a:latin typeface="DM Sans" pitchFamily="34" charset="0"/>
                <a:ea typeface="DM Sans" pitchFamily="34" charset="-122"/>
                <a:cs typeface="DM Sans" pitchFamily="34" charset="-120"/>
              </a:rPr>
              <a:t> requiring remedial action. Some researchers use VIF &gt; 10 as the threshold</a:t>
            </a:r>
          </a:p>
          <a:p>
            <a:pPr marL="0" indent="0" algn="l">
              <a:lnSpc>
                <a:spcPts val="2500"/>
              </a:lnSpc>
              <a:buNone/>
            </a:pPr>
            <a:r>
              <a:rPr lang="en-US" sz="1550" b="1" dirty="0">
                <a:solidFill>
                  <a:srgbClr val="FFFFFF"/>
                </a:solidFill>
                <a:latin typeface="DM Sans" pitchFamily="34" charset="0"/>
                <a:ea typeface="DM Sans" pitchFamily="34" charset="-122"/>
                <a:cs typeface="DM Sans" pitchFamily="34" charset="-120"/>
              </a:rPr>
              <a:t>In the case study, all VIF values are &lt; 5 indicating absence of Multicollinearity..</a:t>
            </a:r>
            <a:endParaRPr lang="en-US" sz="155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84014"/>
            <a:ext cx="8669893"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Multicollinearity: Remedial Measures</a:t>
            </a:r>
            <a:endParaRPr lang="en-US" sz="4100" dirty="0"/>
          </a:p>
        </p:txBody>
      </p:sp>
      <p:pic>
        <p:nvPicPr>
          <p:cNvPr id="3" name="Image 0" descr="preencoded.png"/>
          <p:cNvPicPr>
            <a:picLocks noChangeAspect="1"/>
          </p:cNvPicPr>
          <p:nvPr/>
        </p:nvPicPr>
        <p:blipFill>
          <a:blip r:embed="rId3"/>
          <a:stretch>
            <a:fillRect/>
          </a:stretch>
        </p:blipFill>
        <p:spPr>
          <a:xfrm>
            <a:off x="793790" y="1732121"/>
            <a:ext cx="992267" cy="1476494"/>
          </a:xfrm>
          <a:prstGeom prst="rect">
            <a:avLst/>
          </a:prstGeom>
        </p:spPr>
      </p:pic>
      <p:sp>
        <p:nvSpPr>
          <p:cNvPr id="4" name="Text 1"/>
          <p:cNvSpPr/>
          <p:nvPr/>
        </p:nvSpPr>
        <p:spPr>
          <a:xfrm>
            <a:off x="1984415" y="1930479"/>
            <a:ext cx="2975491"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Drop Correlated Variables</a:t>
            </a:r>
            <a:endParaRPr lang="en-US" sz="2050" dirty="0"/>
          </a:p>
        </p:txBody>
      </p:sp>
      <p:sp>
        <p:nvSpPr>
          <p:cNvPr id="5" name="Text 2"/>
          <p:cNvSpPr/>
          <p:nvPr/>
        </p:nvSpPr>
        <p:spPr>
          <a:xfrm>
            <a:off x="1984415" y="2375178"/>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Remove one of the independent variables that is highly explained by others. Choose based on theory or practical importance rather than statistical criteria alone.</a:t>
            </a:r>
            <a:endParaRPr lang="en-US" sz="1550" dirty="0"/>
          </a:p>
        </p:txBody>
      </p:sp>
      <p:pic>
        <p:nvPicPr>
          <p:cNvPr id="6" name="Image 1" descr="preencoded.png"/>
          <p:cNvPicPr>
            <a:picLocks noChangeAspect="1"/>
          </p:cNvPicPr>
          <p:nvPr/>
        </p:nvPicPr>
        <p:blipFill>
          <a:blip r:embed="rId4"/>
          <a:stretch>
            <a:fillRect/>
          </a:stretch>
        </p:blipFill>
        <p:spPr>
          <a:xfrm>
            <a:off x="793790" y="3208615"/>
            <a:ext cx="992267" cy="1476494"/>
          </a:xfrm>
          <a:prstGeom prst="rect">
            <a:avLst/>
          </a:prstGeom>
        </p:spPr>
      </p:pic>
      <p:sp>
        <p:nvSpPr>
          <p:cNvPr id="7" name="Text 3"/>
          <p:cNvSpPr/>
          <p:nvPr/>
        </p:nvSpPr>
        <p:spPr>
          <a:xfrm>
            <a:off x="1984415" y="3406973"/>
            <a:ext cx="3792379"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Principal Component Regression</a:t>
            </a:r>
            <a:endParaRPr lang="en-US" sz="2050" dirty="0"/>
          </a:p>
        </p:txBody>
      </p:sp>
      <p:sp>
        <p:nvSpPr>
          <p:cNvPr id="8" name="Text 4"/>
          <p:cNvSpPr/>
          <p:nvPr/>
        </p:nvSpPr>
        <p:spPr>
          <a:xfrm>
            <a:off x="1984415" y="3851672"/>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Use Principal Component Regression (PCR) in cases of severe multicollinearity. This technique transforms correlated predictors into uncorrelated components.</a:t>
            </a:r>
            <a:endParaRPr lang="en-US" sz="1550" dirty="0"/>
          </a:p>
        </p:txBody>
      </p:sp>
      <p:pic>
        <p:nvPicPr>
          <p:cNvPr id="9" name="Image 2" descr="preencoded.png"/>
          <p:cNvPicPr>
            <a:picLocks noChangeAspect="1"/>
          </p:cNvPicPr>
          <p:nvPr/>
        </p:nvPicPr>
        <p:blipFill>
          <a:blip r:embed="rId5"/>
          <a:stretch>
            <a:fillRect/>
          </a:stretch>
        </p:blipFill>
        <p:spPr>
          <a:xfrm>
            <a:off x="793790" y="4685109"/>
            <a:ext cx="992267" cy="1476494"/>
          </a:xfrm>
          <a:prstGeom prst="rect">
            <a:avLst/>
          </a:prstGeom>
        </p:spPr>
      </p:pic>
      <p:sp>
        <p:nvSpPr>
          <p:cNvPr id="10" name="Text 5"/>
          <p:cNvSpPr/>
          <p:nvPr/>
        </p:nvSpPr>
        <p:spPr>
          <a:xfrm>
            <a:off x="1984415" y="488346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Ridge Regression</a:t>
            </a:r>
            <a:endParaRPr lang="en-US" sz="2050" dirty="0"/>
          </a:p>
        </p:txBody>
      </p:sp>
      <p:sp>
        <p:nvSpPr>
          <p:cNvPr id="11" name="Text 6"/>
          <p:cNvSpPr/>
          <p:nvPr/>
        </p:nvSpPr>
        <p:spPr>
          <a:xfrm>
            <a:off x="1984415" y="5328166"/>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Apply Ridge Regression, which adds a penalty term to shrink coefficients. This method trades some bias for reduced variance in coefficient estimates.</a:t>
            </a:r>
            <a:endParaRPr lang="en-US" sz="1550" dirty="0"/>
          </a:p>
        </p:txBody>
      </p:sp>
      <p:sp>
        <p:nvSpPr>
          <p:cNvPr id="12" name="Shape 7"/>
          <p:cNvSpPr/>
          <p:nvPr/>
        </p:nvSpPr>
        <p:spPr>
          <a:xfrm>
            <a:off x="793790" y="6384846"/>
            <a:ext cx="13042821" cy="1160740"/>
          </a:xfrm>
          <a:prstGeom prst="roundRect">
            <a:avLst>
              <a:gd name="adj" fmla="val 2565"/>
            </a:avLst>
          </a:prstGeom>
          <a:solidFill>
            <a:srgbClr val="FFCDB3"/>
          </a:solidFill>
          <a:ln/>
        </p:spPr>
      </p:sp>
      <p:pic>
        <p:nvPicPr>
          <p:cNvPr id="13" name="Image 3" descr="preencoded.png"/>
          <p:cNvPicPr>
            <a:picLocks noChangeAspect="1"/>
          </p:cNvPicPr>
          <p:nvPr/>
        </p:nvPicPr>
        <p:blipFill>
          <a:blip r:embed="rId6"/>
          <a:stretch>
            <a:fillRect/>
          </a:stretch>
        </p:blipFill>
        <p:spPr>
          <a:xfrm>
            <a:off x="992148" y="6680121"/>
            <a:ext cx="248007" cy="198358"/>
          </a:xfrm>
          <a:prstGeom prst="rect">
            <a:avLst/>
          </a:prstGeom>
        </p:spPr>
      </p:pic>
      <p:sp>
        <p:nvSpPr>
          <p:cNvPr id="14" name="Text 8"/>
          <p:cNvSpPr/>
          <p:nvPr/>
        </p:nvSpPr>
        <p:spPr>
          <a:xfrm>
            <a:off x="1438513" y="6632734"/>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DM Sans" pitchFamily="34" charset="0"/>
                <a:ea typeface="DM Sans" pitchFamily="34" charset="-122"/>
                <a:cs typeface="DM Sans" pitchFamily="34" charset="-120"/>
              </a:rPr>
              <a:t>Important:</a:t>
            </a:r>
            <a:r>
              <a:rPr lang="en-US" sz="1550" dirty="0">
                <a:solidFill>
                  <a:srgbClr val="000000"/>
                </a:solidFill>
                <a:latin typeface="DM Sans" pitchFamily="34" charset="0"/>
                <a:ea typeface="DM Sans" pitchFamily="34" charset="-122"/>
                <a:cs typeface="DM Sans" pitchFamily="34" charset="-120"/>
              </a:rPr>
              <a:t> Dropping a variable may not be advisable if many VIFs are large, as this suggests a systemic problem requiring more sophisticated solutions.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5316" y="862805"/>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Residual Analysis</a:t>
            </a:r>
            <a:endParaRPr lang="en-US" sz="4100" dirty="0"/>
          </a:p>
        </p:txBody>
      </p:sp>
      <p:sp>
        <p:nvSpPr>
          <p:cNvPr id="3" name="Text 1"/>
          <p:cNvSpPr/>
          <p:nvPr/>
        </p:nvSpPr>
        <p:spPr>
          <a:xfrm>
            <a:off x="793790" y="1943397"/>
            <a:ext cx="13042821" cy="63507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Residual analysis is essential for validating regression assumptions and identifying potential problems with model specification. Using the model equation, we predict the dependent variable for all cases, then examine the differences between observed and predicted values.</a:t>
            </a:r>
            <a:endParaRPr lang="en-US" sz="1700" dirty="0"/>
          </a:p>
        </p:txBody>
      </p:sp>
      <p:sp>
        <p:nvSpPr>
          <p:cNvPr id="4" name="Text 2"/>
          <p:cNvSpPr/>
          <p:nvPr/>
        </p:nvSpPr>
        <p:spPr>
          <a:xfrm>
            <a:off x="793790" y="3187422"/>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Key Definition</a:t>
            </a:r>
            <a:endParaRPr lang="en-US" sz="2450" dirty="0"/>
          </a:p>
        </p:txBody>
      </p:sp>
      <p:sp>
        <p:nvSpPr>
          <p:cNvPr id="5" name="Text 3"/>
          <p:cNvSpPr/>
          <p:nvPr/>
        </p:nvSpPr>
        <p:spPr>
          <a:xfrm>
            <a:off x="1091446" y="4098965"/>
            <a:ext cx="12745164" cy="317540"/>
          </a:xfrm>
          <a:prstGeom prst="rect">
            <a:avLst/>
          </a:prstGeom>
          <a:noFill/>
          <a:ln/>
        </p:spPr>
        <p:txBody>
          <a:bodyPr wrap="none" lIns="0" tIns="0" rIns="0" bIns="0" rtlCol="0" anchor="t"/>
          <a:lstStyle/>
          <a:p>
            <a:pPr marL="0" indent="0" algn="l">
              <a:lnSpc>
                <a:spcPts val="2500"/>
              </a:lnSpc>
              <a:buNone/>
            </a:pPr>
            <a:r>
              <a:rPr lang="en-US" b="1" dirty="0">
                <a:solidFill>
                  <a:srgbClr val="383838"/>
                </a:solidFill>
                <a:latin typeface="DM Sans" pitchFamily="34" charset="0"/>
                <a:ea typeface="DM Sans" pitchFamily="34" charset="-122"/>
                <a:cs typeface="DM Sans" pitchFamily="34" charset="-120"/>
              </a:rPr>
              <a:t>Residual = Observed Value − Predicted Value</a:t>
            </a:r>
            <a:endParaRPr lang="en-US" dirty="0"/>
          </a:p>
        </p:txBody>
      </p:sp>
      <p:sp>
        <p:nvSpPr>
          <p:cNvPr id="6" name="Shape 4"/>
          <p:cNvSpPr/>
          <p:nvPr/>
        </p:nvSpPr>
        <p:spPr>
          <a:xfrm>
            <a:off x="793790" y="3875723"/>
            <a:ext cx="22860" cy="764024"/>
          </a:xfrm>
          <a:prstGeom prst="rect">
            <a:avLst/>
          </a:prstGeom>
          <a:solidFill>
            <a:srgbClr val="E04F00"/>
          </a:solidFill>
          <a:ln/>
        </p:spPr>
      </p:sp>
      <p:sp>
        <p:nvSpPr>
          <p:cNvPr id="7" name="Text 5"/>
          <p:cNvSpPr/>
          <p:nvPr/>
        </p:nvSpPr>
        <p:spPr>
          <a:xfrm>
            <a:off x="793790" y="4937403"/>
            <a:ext cx="6171128"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Recommended Residual Analysis Procedures</a:t>
            </a:r>
            <a:endParaRPr lang="en-US" sz="2450" dirty="0"/>
          </a:p>
        </p:txBody>
      </p:sp>
      <p:sp>
        <p:nvSpPr>
          <p:cNvPr id="8" name="Shape 6"/>
          <p:cNvSpPr/>
          <p:nvPr/>
        </p:nvSpPr>
        <p:spPr>
          <a:xfrm>
            <a:off x="793790" y="5731133"/>
            <a:ext cx="99179" cy="99179"/>
          </a:xfrm>
          <a:prstGeom prst="roundRect">
            <a:avLst>
              <a:gd name="adj" fmla="val 460985"/>
            </a:avLst>
          </a:prstGeom>
          <a:solidFill>
            <a:srgbClr val="E04F00"/>
          </a:solidFill>
          <a:ln/>
        </p:spPr>
      </p:sp>
      <p:sp>
        <p:nvSpPr>
          <p:cNvPr id="9" name="Text 7"/>
          <p:cNvSpPr/>
          <p:nvPr/>
        </p:nvSpPr>
        <p:spPr>
          <a:xfrm>
            <a:off x="1091327" y="5625703"/>
            <a:ext cx="3985617"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Plot Residuals vs. Predicted Values</a:t>
            </a:r>
            <a:endParaRPr lang="en-US" sz="2050" dirty="0"/>
          </a:p>
        </p:txBody>
      </p:sp>
      <p:sp>
        <p:nvSpPr>
          <p:cNvPr id="10" name="Text 8"/>
          <p:cNvSpPr/>
          <p:nvPr/>
        </p:nvSpPr>
        <p:spPr>
          <a:xfrm>
            <a:off x="1091327" y="6070402"/>
            <a:ext cx="6099810"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Examine the scatter plot for patterns. Ideally, residuals should be randomly scattered around zero with constant variance (homoscedasticity).</a:t>
            </a:r>
            <a:endParaRPr lang="en-US" sz="1550" dirty="0"/>
          </a:p>
        </p:txBody>
      </p:sp>
      <p:sp>
        <p:nvSpPr>
          <p:cNvPr id="11" name="Shape 9"/>
          <p:cNvSpPr/>
          <p:nvPr/>
        </p:nvSpPr>
        <p:spPr>
          <a:xfrm>
            <a:off x="7439144" y="5731133"/>
            <a:ext cx="99179" cy="99179"/>
          </a:xfrm>
          <a:prstGeom prst="roundRect">
            <a:avLst>
              <a:gd name="adj" fmla="val 460985"/>
            </a:avLst>
          </a:prstGeom>
          <a:solidFill>
            <a:srgbClr val="E04F00"/>
          </a:solidFill>
          <a:ln/>
        </p:spPr>
      </p:sp>
      <p:sp>
        <p:nvSpPr>
          <p:cNvPr id="12" name="Text 10"/>
          <p:cNvSpPr/>
          <p:nvPr/>
        </p:nvSpPr>
        <p:spPr>
          <a:xfrm>
            <a:off x="7736681" y="5625703"/>
            <a:ext cx="3013829"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Check Normality of Errors</a:t>
            </a:r>
            <a:endParaRPr lang="en-US" sz="2050" dirty="0"/>
          </a:p>
        </p:txBody>
      </p:sp>
      <p:sp>
        <p:nvSpPr>
          <p:cNvPr id="13" name="Text 11"/>
          <p:cNvSpPr/>
          <p:nvPr/>
        </p:nvSpPr>
        <p:spPr>
          <a:xfrm>
            <a:off x="7736681" y="6070402"/>
            <a:ext cx="6099929"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Use Q-Q plots of residuals for visual assessment and statistical tests (Kolmogorov-Smirnov Test and Shapiro-Wilk Test) for formal evaluation of the normality assumption.</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58654"/>
            <a:ext cx="5868353" cy="553403"/>
          </a:xfrm>
          <a:prstGeom prst="rect">
            <a:avLst/>
          </a:prstGeom>
          <a:noFill/>
          <a:ln/>
        </p:spPr>
        <p:txBody>
          <a:bodyPr wrap="none" lIns="0" tIns="0" rIns="0" bIns="0" rtlCol="0" anchor="t"/>
          <a:lstStyle/>
          <a:p>
            <a:pPr marL="0" indent="0" algn="l">
              <a:lnSpc>
                <a:spcPts val="4350"/>
              </a:lnSpc>
              <a:buNone/>
            </a:pPr>
            <a:r>
              <a:rPr lang="en-US" sz="3450" dirty="0">
                <a:solidFill>
                  <a:srgbClr val="020202"/>
                </a:solidFill>
                <a:latin typeface="PT Serif" pitchFamily="34" charset="0"/>
                <a:ea typeface="PT Serif" pitchFamily="34" charset="-122"/>
                <a:cs typeface="PT Serif" pitchFamily="34" charset="-120"/>
              </a:rPr>
              <a:t>Residuals vs. Predicted Values</a:t>
            </a:r>
            <a:endParaRPr lang="en-US" sz="3450" dirty="0"/>
          </a:p>
        </p:txBody>
      </p:sp>
      <p:sp>
        <p:nvSpPr>
          <p:cNvPr id="3" name="Text 1"/>
          <p:cNvSpPr/>
          <p:nvPr/>
        </p:nvSpPr>
        <p:spPr>
          <a:xfrm>
            <a:off x="793790" y="1633657"/>
            <a:ext cx="2656999" cy="332184"/>
          </a:xfrm>
          <a:prstGeom prst="rect">
            <a:avLst/>
          </a:prstGeom>
          <a:noFill/>
          <a:ln/>
        </p:spPr>
        <p:txBody>
          <a:bodyPr wrap="none" lIns="0" tIns="0" rIns="0" bIns="0" rtlCol="0" anchor="t"/>
          <a:lstStyle/>
          <a:p>
            <a:pPr marL="0" indent="0" algn="l">
              <a:lnSpc>
                <a:spcPts val="2600"/>
              </a:lnSpc>
              <a:buNone/>
            </a:pPr>
            <a:r>
              <a:rPr lang="en-US" sz="2050" dirty="0">
                <a:solidFill>
                  <a:srgbClr val="020202"/>
                </a:solidFill>
                <a:latin typeface="PT Serif" pitchFamily="34" charset="0"/>
                <a:ea typeface="PT Serif" pitchFamily="34" charset="-122"/>
                <a:cs typeface="PT Serif" pitchFamily="34" charset="-120"/>
              </a:rPr>
              <a:t>Interpreting the Plot</a:t>
            </a:r>
            <a:endParaRPr lang="en-US" sz="2050" dirty="0"/>
          </a:p>
        </p:txBody>
      </p:sp>
      <p:sp>
        <p:nvSpPr>
          <p:cNvPr id="4" name="Text 2"/>
          <p:cNvSpPr/>
          <p:nvPr/>
        </p:nvSpPr>
        <p:spPr>
          <a:xfrm>
            <a:off x="793790" y="2134433"/>
            <a:ext cx="7435810" cy="539829"/>
          </a:xfrm>
          <a:prstGeom prst="rect">
            <a:avLst/>
          </a:prstGeom>
          <a:noFill/>
          <a:ln/>
        </p:spPr>
        <p:txBody>
          <a:bodyPr wrap="square" lIns="0" tIns="0" rIns="0" bIns="0" rtlCol="0" anchor="t"/>
          <a:lstStyle/>
          <a:p>
            <a:pPr marL="0" indent="0" algn="l">
              <a:lnSpc>
                <a:spcPts val="2100"/>
              </a:lnSpc>
              <a:buNone/>
            </a:pPr>
            <a:r>
              <a:rPr lang="en-US" sz="1600" dirty="0">
                <a:solidFill>
                  <a:srgbClr val="383838"/>
                </a:solidFill>
                <a:latin typeface="DM Sans" pitchFamily="34" charset="0"/>
                <a:ea typeface="DM Sans" pitchFamily="34" charset="-122"/>
                <a:cs typeface="DM Sans" pitchFamily="34" charset="-120"/>
              </a:rPr>
              <a:t>The residual plot displays residuals on the y-axis against predicted values on the x-axis. This diagnostic tool reveals violations of regression assumptions.</a:t>
            </a:r>
            <a:endParaRPr lang="en-US" sz="1600" dirty="0"/>
          </a:p>
        </p:txBody>
      </p:sp>
      <p:sp>
        <p:nvSpPr>
          <p:cNvPr id="5" name="Text 3"/>
          <p:cNvSpPr/>
          <p:nvPr/>
        </p:nvSpPr>
        <p:spPr>
          <a:xfrm>
            <a:off x="793790" y="2826068"/>
            <a:ext cx="6315670" cy="539829"/>
          </a:xfrm>
          <a:prstGeom prst="rect">
            <a:avLst/>
          </a:prstGeom>
          <a:noFill/>
          <a:ln/>
        </p:spPr>
        <p:txBody>
          <a:bodyPr wrap="square" lIns="0" tIns="0" rIns="0" bIns="0" rtlCol="0" anchor="t"/>
          <a:lstStyle/>
          <a:p>
            <a:pPr marL="0" indent="0" algn="l">
              <a:lnSpc>
                <a:spcPts val="2100"/>
              </a:lnSpc>
              <a:buNone/>
            </a:pPr>
            <a:r>
              <a:rPr lang="en-US" sz="1600" b="1" dirty="0">
                <a:solidFill>
                  <a:srgbClr val="383838"/>
                </a:solidFill>
                <a:latin typeface="DM Sans" pitchFamily="34" charset="0"/>
                <a:ea typeface="DM Sans" pitchFamily="34" charset="-122"/>
                <a:cs typeface="DM Sans" pitchFamily="34" charset="-120"/>
              </a:rPr>
              <a:t>Ideal Pattern:</a:t>
            </a:r>
            <a:r>
              <a:rPr lang="en-US" sz="1600" dirty="0">
                <a:solidFill>
                  <a:srgbClr val="383838"/>
                </a:solidFill>
                <a:latin typeface="DM Sans" pitchFamily="34" charset="0"/>
                <a:ea typeface="DM Sans" pitchFamily="34" charset="-122"/>
                <a:cs typeface="DM Sans" pitchFamily="34" charset="-120"/>
              </a:rPr>
              <a:t> Random scatter with no discernible pattern, suggesting the model assumptions are met.</a:t>
            </a:r>
            <a:endParaRPr lang="en-US" sz="1600" dirty="0"/>
          </a:p>
        </p:txBody>
      </p:sp>
      <p:sp>
        <p:nvSpPr>
          <p:cNvPr id="6" name="Text 4"/>
          <p:cNvSpPr/>
          <p:nvPr/>
        </p:nvSpPr>
        <p:spPr>
          <a:xfrm>
            <a:off x="793790" y="3534489"/>
            <a:ext cx="2214205" cy="276820"/>
          </a:xfrm>
          <a:prstGeom prst="rect">
            <a:avLst/>
          </a:prstGeom>
          <a:noFill/>
          <a:ln/>
        </p:spPr>
        <p:txBody>
          <a:bodyPr wrap="none" lIns="0" tIns="0" rIns="0" bIns="0" rtlCol="0" anchor="t"/>
          <a:lstStyle/>
          <a:p>
            <a:pPr marL="0" indent="0" algn="l">
              <a:lnSpc>
                <a:spcPts val="2150"/>
              </a:lnSpc>
              <a:buNone/>
            </a:pPr>
            <a:r>
              <a:rPr lang="en-US" sz="1700" dirty="0">
                <a:solidFill>
                  <a:srgbClr val="020202"/>
                </a:solidFill>
                <a:latin typeface="PT Serif" pitchFamily="34" charset="0"/>
                <a:ea typeface="PT Serif" pitchFamily="34" charset="-122"/>
                <a:cs typeface="PT Serif" pitchFamily="34" charset="-120"/>
              </a:rPr>
              <a:t>Warning Signs:</a:t>
            </a:r>
            <a:endParaRPr lang="en-US" sz="1700" dirty="0"/>
          </a:p>
        </p:txBody>
      </p:sp>
      <p:sp>
        <p:nvSpPr>
          <p:cNvPr id="7" name="Text 5"/>
          <p:cNvSpPr/>
          <p:nvPr/>
        </p:nvSpPr>
        <p:spPr>
          <a:xfrm>
            <a:off x="793790" y="3979902"/>
            <a:ext cx="6315670" cy="269915"/>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383838"/>
                </a:solidFill>
                <a:latin typeface="DM Sans" pitchFamily="34" charset="0"/>
                <a:ea typeface="DM Sans" pitchFamily="34" charset="-122"/>
                <a:cs typeface="DM Sans" pitchFamily="34" charset="-120"/>
              </a:rPr>
              <a:t>Funnel shape indicates heteroscedasticity</a:t>
            </a:r>
            <a:endParaRPr lang="en-US" sz="1600" dirty="0"/>
          </a:p>
        </p:txBody>
      </p:sp>
      <p:sp>
        <p:nvSpPr>
          <p:cNvPr id="8" name="Text 6"/>
          <p:cNvSpPr/>
          <p:nvPr/>
        </p:nvSpPr>
        <p:spPr>
          <a:xfrm>
            <a:off x="793790" y="4308753"/>
            <a:ext cx="6315670" cy="269915"/>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383838"/>
                </a:solidFill>
                <a:latin typeface="DM Sans" pitchFamily="34" charset="0"/>
                <a:ea typeface="DM Sans" pitchFamily="34" charset="-122"/>
                <a:cs typeface="DM Sans" pitchFamily="34" charset="-120"/>
              </a:rPr>
              <a:t>Curved pattern suggests non-linearity</a:t>
            </a:r>
            <a:endParaRPr lang="en-US" sz="1600" dirty="0"/>
          </a:p>
        </p:txBody>
      </p:sp>
      <p:sp>
        <p:nvSpPr>
          <p:cNvPr id="9" name="Text 7"/>
          <p:cNvSpPr/>
          <p:nvPr/>
        </p:nvSpPr>
        <p:spPr>
          <a:xfrm>
            <a:off x="793790" y="4637603"/>
            <a:ext cx="6315670" cy="269915"/>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383838"/>
                </a:solidFill>
                <a:latin typeface="DM Sans" pitchFamily="34" charset="0"/>
                <a:ea typeface="DM Sans" pitchFamily="34" charset="-122"/>
                <a:cs typeface="DM Sans" pitchFamily="34" charset="-120"/>
              </a:rPr>
              <a:t>Outliers appear as extreme points</a:t>
            </a:r>
            <a:endParaRPr lang="en-US" sz="1600" dirty="0"/>
          </a:p>
        </p:txBody>
      </p:sp>
      <p:sp>
        <p:nvSpPr>
          <p:cNvPr id="10" name="Text 8"/>
          <p:cNvSpPr/>
          <p:nvPr/>
        </p:nvSpPr>
        <p:spPr>
          <a:xfrm>
            <a:off x="793790" y="4966454"/>
            <a:ext cx="6315670" cy="269915"/>
          </a:xfrm>
          <a:prstGeom prst="rect">
            <a:avLst/>
          </a:prstGeom>
          <a:noFill/>
          <a:ln/>
        </p:spPr>
        <p:txBody>
          <a:bodyPr wrap="none" lIns="0" tIns="0" rIns="0" bIns="0" rtlCol="0" anchor="t"/>
          <a:lstStyle/>
          <a:p>
            <a:pPr marL="342900" indent="-342900" algn="l">
              <a:lnSpc>
                <a:spcPts val="2100"/>
              </a:lnSpc>
              <a:buSzPct val="100000"/>
              <a:buChar char="•"/>
            </a:pPr>
            <a:r>
              <a:rPr lang="en-US" sz="1600" dirty="0">
                <a:solidFill>
                  <a:srgbClr val="383838"/>
                </a:solidFill>
                <a:latin typeface="DM Sans" pitchFamily="34" charset="0"/>
                <a:ea typeface="DM Sans" pitchFamily="34" charset="-122"/>
                <a:cs typeface="DM Sans" pitchFamily="34" charset="-120"/>
              </a:rPr>
              <a:t>Clustering reveals omitted variables</a:t>
            </a:r>
            <a:endParaRPr lang="en-US" sz="1600" dirty="0"/>
          </a:p>
        </p:txBody>
      </p:sp>
      <p:pic>
        <p:nvPicPr>
          <p:cNvPr id="11" name="Image 0" descr="preencoded.png"/>
          <p:cNvPicPr>
            <a:picLocks noChangeAspect="1"/>
          </p:cNvPicPr>
          <p:nvPr/>
        </p:nvPicPr>
        <p:blipFill>
          <a:blip r:embed="rId3"/>
          <a:stretch>
            <a:fillRect/>
          </a:stretch>
        </p:blipFill>
        <p:spPr>
          <a:xfrm>
            <a:off x="7528560" y="1654850"/>
            <a:ext cx="5368290" cy="5358527"/>
          </a:xfrm>
          <a:prstGeom prst="rect">
            <a:avLst/>
          </a:prstGeom>
        </p:spPr>
      </p:pic>
      <p:sp>
        <p:nvSpPr>
          <p:cNvPr id="12" name="Text 9"/>
          <p:cNvSpPr/>
          <p:nvPr/>
        </p:nvSpPr>
        <p:spPr>
          <a:xfrm>
            <a:off x="6662143" y="6949204"/>
            <a:ext cx="6315670" cy="215979"/>
          </a:xfrm>
          <a:prstGeom prst="rect">
            <a:avLst/>
          </a:prstGeom>
          <a:noFill/>
          <a:ln/>
        </p:spPr>
        <p:txBody>
          <a:bodyPr wrap="none" lIns="0" tIns="0" rIns="0" bIns="0" rtlCol="0" anchor="t"/>
          <a:lstStyle/>
          <a:p>
            <a:pPr marL="0" indent="0" algn="l">
              <a:lnSpc>
                <a:spcPts val="1700"/>
              </a:lnSpc>
              <a:buNone/>
            </a:pPr>
            <a:r>
              <a:rPr lang="en-US" sz="1550" dirty="0">
                <a:solidFill>
                  <a:srgbClr val="383838"/>
                </a:solidFill>
                <a:latin typeface="DM Sans" pitchFamily="34" charset="0"/>
                <a:ea typeface="DM Sans" pitchFamily="34" charset="-122"/>
                <a:cs typeface="DM Sans" pitchFamily="34" charset="-120"/>
              </a:rPr>
              <a:t>Random pattern of residuals indicates good model fit and satisfied assumptions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90205"/>
            <a:ext cx="7538918" cy="586026"/>
          </a:xfrm>
          <a:prstGeom prst="rect">
            <a:avLst/>
          </a:prstGeom>
          <a:noFill/>
          <a:ln/>
        </p:spPr>
        <p:txBody>
          <a:bodyPr wrap="none" lIns="0" tIns="0" rIns="0" bIns="0" rtlCol="0" anchor="t"/>
          <a:lstStyle/>
          <a:p>
            <a:pPr marL="0" indent="0" algn="l">
              <a:lnSpc>
                <a:spcPts val="4600"/>
              </a:lnSpc>
              <a:buNone/>
            </a:pPr>
            <a:r>
              <a:rPr lang="en-US" sz="3650" dirty="0">
                <a:solidFill>
                  <a:srgbClr val="020202"/>
                </a:solidFill>
                <a:latin typeface="PT Serif" pitchFamily="34" charset="0"/>
                <a:ea typeface="PT Serif" pitchFamily="34" charset="-122"/>
                <a:cs typeface="PT Serif" pitchFamily="34" charset="-120"/>
              </a:rPr>
              <a:t>Q-Q Plot and Shapiro-Wilk Test in R</a:t>
            </a:r>
            <a:endParaRPr lang="en-US" sz="3650" dirty="0"/>
          </a:p>
        </p:txBody>
      </p:sp>
      <p:pic>
        <p:nvPicPr>
          <p:cNvPr id="3" name="Image 0" descr="preencoded.png"/>
          <p:cNvPicPr>
            <a:picLocks noChangeAspect="1"/>
          </p:cNvPicPr>
          <p:nvPr/>
        </p:nvPicPr>
        <p:blipFill>
          <a:blip r:embed="rId3"/>
          <a:stretch>
            <a:fillRect/>
          </a:stretch>
        </p:blipFill>
        <p:spPr>
          <a:xfrm>
            <a:off x="793790" y="1744980"/>
            <a:ext cx="5213628" cy="5204103"/>
          </a:xfrm>
          <a:prstGeom prst="rect">
            <a:avLst/>
          </a:prstGeom>
        </p:spPr>
      </p:pic>
      <p:sp>
        <p:nvSpPr>
          <p:cNvPr id="4" name="Text 1"/>
          <p:cNvSpPr/>
          <p:nvPr/>
        </p:nvSpPr>
        <p:spPr>
          <a:xfrm>
            <a:off x="793790" y="7149941"/>
            <a:ext cx="6303526" cy="228600"/>
          </a:xfrm>
          <a:prstGeom prst="rect">
            <a:avLst/>
          </a:prstGeom>
          <a:noFill/>
          <a:ln/>
        </p:spPr>
        <p:txBody>
          <a:bodyPr wrap="none" lIns="0" tIns="0" rIns="0" bIns="0" rtlCol="0" anchor="t"/>
          <a:lstStyle/>
          <a:p>
            <a:pPr marL="0" indent="0" algn="l">
              <a:lnSpc>
                <a:spcPts val="1800"/>
              </a:lnSpc>
              <a:buNone/>
            </a:pPr>
            <a:r>
              <a:rPr lang="en-US" sz="1100" i="1" dirty="0">
                <a:solidFill>
                  <a:srgbClr val="383838"/>
                </a:solidFill>
                <a:latin typeface="DM Sans" pitchFamily="34" charset="0"/>
                <a:ea typeface="DM Sans" pitchFamily="34" charset="-122"/>
                <a:cs typeface="DM Sans" pitchFamily="34" charset="-120"/>
              </a:rPr>
              <a:t>Q-Q plot shows residuals closely following the diagonal line</a:t>
            </a:r>
            <a:endParaRPr lang="en-US" sz="1100" dirty="0"/>
          </a:p>
        </p:txBody>
      </p:sp>
      <p:sp>
        <p:nvSpPr>
          <p:cNvPr id="5" name="Text 2"/>
          <p:cNvSpPr/>
          <p:nvPr/>
        </p:nvSpPr>
        <p:spPr>
          <a:xfrm>
            <a:off x="7540704" y="1722715"/>
            <a:ext cx="2813328" cy="351592"/>
          </a:xfrm>
          <a:prstGeom prst="rect">
            <a:avLst/>
          </a:prstGeom>
          <a:noFill/>
          <a:ln/>
        </p:spPr>
        <p:txBody>
          <a:bodyPr wrap="none" lIns="0" tIns="0" rIns="0" bIns="0" rtlCol="0" anchor="t"/>
          <a:lstStyle/>
          <a:p>
            <a:pPr marL="0" indent="0" algn="l">
              <a:lnSpc>
                <a:spcPts val="2750"/>
              </a:lnSpc>
              <a:buNone/>
            </a:pPr>
            <a:r>
              <a:rPr lang="en-US" sz="2200" dirty="0">
                <a:solidFill>
                  <a:srgbClr val="020202"/>
                </a:solidFill>
                <a:latin typeface="PT Serif" pitchFamily="34" charset="0"/>
                <a:ea typeface="PT Serif" pitchFamily="34" charset="-122"/>
                <a:cs typeface="PT Serif" pitchFamily="34" charset="-120"/>
              </a:rPr>
              <a:t>Assessing Normality</a:t>
            </a:r>
            <a:endParaRPr lang="en-US" sz="2200" dirty="0"/>
          </a:p>
        </p:txBody>
      </p:sp>
      <p:sp>
        <p:nvSpPr>
          <p:cNvPr id="6" name="Text 3"/>
          <p:cNvSpPr/>
          <p:nvPr/>
        </p:nvSpPr>
        <p:spPr>
          <a:xfrm>
            <a:off x="7540704" y="2252901"/>
            <a:ext cx="6303526" cy="857250"/>
          </a:xfrm>
          <a:prstGeom prst="rect">
            <a:avLst/>
          </a:prstGeom>
          <a:noFill/>
          <a:ln/>
        </p:spPr>
        <p:txBody>
          <a:bodyPr wrap="squar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The Q-Q (quantile-quantile) plot compares the distribution of residuals to a theoretical normal distribution. Points falling along the diagonal line indicate normality.</a:t>
            </a:r>
            <a:endParaRPr lang="en-US" sz="1400" dirty="0"/>
          </a:p>
        </p:txBody>
      </p:sp>
      <p:sp>
        <p:nvSpPr>
          <p:cNvPr id="7" name="Text 4"/>
          <p:cNvSpPr/>
          <p:nvPr/>
        </p:nvSpPr>
        <p:spPr>
          <a:xfrm>
            <a:off x="7540704" y="3288744"/>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020202"/>
                </a:solidFill>
                <a:latin typeface="PT Serif" pitchFamily="34" charset="0"/>
                <a:ea typeface="PT Serif" pitchFamily="34" charset="-122"/>
                <a:cs typeface="PT Serif" pitchFamily="34" charset="-120"/>
              </a:rPr>
              <a:t>Shapiro-Wilk Test</a:t>
            </a:r>
            <a:endParaRPr lang="en-US" sz="1800" dirty="0"/>
          </a:p>
        </p:txBody>
      </p:sp>
      <p:sp>
        <p:nvSpPr>
          <p:cNvPr id="8" name="Text 5"/>
          <p:cNvSpPr/>
          <p:nvPr/>
        </p:nvSpPr>
        <p:spPr>
          <a:xfrm>
            <a:off x="7540704" y="3760351"/>
            <a:ext cx="6303526" cy="571500"/>
          </a:xfrm>
          <a:prstGeom prst="rect">
            <a:avLst/>
          </a:prstGeom>
          <a:noFill/>
          <a:ln/>
        </p:spPr>
        <p:txBody>
          <a:bodyPr wrap="squar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This formal statistical test evaluates the null hypothesis that residuals follow a normal distribution. A p-value &gt; 0.05 suggests we fail to reject normality.</a:t>
            </a:r>
            <a:endParaRPr lang="en-US" sz="1400" dirty="0"/>
          </a:p>
        </p:txBody>
      </p:sp>
      <p:sp>
        <p:nvSpPr>
          <p:cNvPr id="9" name="Text 6"/>
          <p:cNvSpPr/>
          <p:nvPr/>
        </p:nvSpPr>
        <p:spPr>
          <a:xfrm>
            <a:off x="7540704" y="4492585"/>
            <a:ext cx="6303526" cy="571500"/>
          </a:xfrm>
          <a:prstGeom prst="rect">
            <a:avLst/>
          </a:prstGeom>
          <a:noFill/>
          <a:ln/>
        </p:spPr>
        <p:txBody>
          <a:bodyPr wrap="squar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Conclusion:</a:t>
            </a:r>
            <a:r>
              <a:rPr lang="en-US" sz="1400" dirty="0">
                <a:solidFill>
                  <a:srgbClr val="383838"/>
                </a:solidFill>
                <a:latin typeface="DM Sans" pitchFamily="34" charset="0"/>
                <a:ea typeface="DM Sans" pitchFamily="34" charset="-122"/>
                <a:cs typeface="DM Sans" pitchFamily="34" charset="-120"/>
              </a:rPr>
              <a:t> Based on the Q-Q plot and statistical test results, errors can be assumed to follow a Normal distribution.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73192"/>
            <a:ext cx="940486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Using Categorical Independent Variables</a:t>
            </a:r>
            <a:endParaRPr lang="en-US" sz="4100" dirty="0"/>
          </a:p>
        </p:txBody>
      </p:sp>
      <p:sp>
        <p:nvSpPr>
          <p:cNvPr id="3" name="Text 1"/>
          <p:cNvSpPr/>
          <p:nvPr/>
        </p:nvSpPr>
        <p:spPr>
          <a:xfrm>
            <a:off x="793790" y="1722120"/>
            <a:ext cx="9265325"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Multiple Linear Regression with Dummy Variables</a:t>
            </a:r>
            <a:endParaRPr lang="en-US" sz="3250" dirty="0"/>
          </a:p>
        </p:txBody>
      </p:sp>
      <p:sp>
        <p:nvSpPr>
          <p:cNvPr id="4" name="Text 2"/>
          <p:cNvSpPr/>
          <p:nvPr/>
        </p:nvSpPr>
        <p:spPr>
          <a:xfrm>
            <a:off x="793790" y="254079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Categorical variables must be converted into numerical form for regression analysis. This is accomplished using dummy (binary) variables that indicate category membership.</a:t>
            </a:r>
            <a:endParaRPr lang="en-US" sz="1550" dirty="0"/>
          </a:p>
        </p:txBody>
      </p:sp>
      <p:sp>
        <p:nvSpPr>
          <p:cNvPr id="5" name="Shape 3"/>
          <p:cNvSpPr/>
          <p:nvPr/>
        </p:nvSpPr>
        <p:spPr>
          <a:xfrm>
            <a:off x="793790" y="3399115"/>
            <a:ext cx="6422231" cy="2990731"/>
          </a:xfrm>
          <a:prstGeom prst="roundRect">
            <a:avLst>
              <a:gd name="adj" fmla="val 995"/>
            </a:avLst>
          </a:prstGeom>
          <a:solidFill>
            <a:srgbClr val="FFFFFF"/>
          </a:solidFill>
          <a:ln w="22860">
            <a:solidFill>
              <a:srgbClr val="D8D4D4"/>
            </a:solidFill>
            <a:prstDash val="solid"/>
          </a:ln>
        </p:spPr>
      </p:sp>
      <p:sp>
        <p:nvSpPr>
          <p:cNvPr id="6" name="Shape 4"/>
          <p:cNvSpPr/>
          <p:nvPr/>
        </p:nvSpPr>
        <p:spPr>
          <a:xfrm>
            <a:off x="816650" y="3421975"/>
            <a:ext cx="6376511" cy="595313"/>
          </a:xfrm>
          <a:prstGeom prst="roundRect">
            <a:avLst>
              <a:gd name="adj" fmla="val 393"/>
            </a:avLst>
          </a:prstGeom>
          <a:solidFill>
            <a:srgbClr val="F2EEEE"/>
          </a:solidFill>
          <a:ln/>
        </p:spPr>
      </p:sp>
      <p:sp>
        <p:nvSpPr>
          <p:cNvPr id="7" name="Text 5"/>
          <p:cNvSpPr/>
          <p:nvPr/>
        </p:nvSpPr>
        <p:spPr>
          <a:xfrm>
            <a:off x="3856077" y="3533537"/>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383838"/>
                </a:solidFill>
                <a:latin typeface="PT Serif" pitchFamily="34" charset="0"/>
                <a:ea typeface="PT Serif" pitchFamily="34" charset="-122"/>
                <a:cs typeface="PT Serif" pitchFamily="34" charset="-120"/>
              </a:rPr>
              <a:t>1</a:t>
            </a:r>
            <a:endParaRPr lang="en-US" sz="2300" dirty="0"/>
          </a:p>
        </p:txBody>
      </p:sp>
      <p:sp>
        <p:nvSpPr>
          <p:cNvPr id="8" name="Text 6"/>
          <p:cNvSpPr/>
          <p:nvPr/>
        </p:nvSpPr>
        <p:spPr>
          <a:xfrm>
            <a:off x="1015008" y="421564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The K−1 Rule</a:t>
            </a:r>
            <a:endParaRPr lang="en-US" sz="2050" dirty="0"/>
          </a:p>
        </p:txBody>
      </p:sp>
      <p:sp>
        <p:nvSpPr>
          <p:cNvPr id="9" name="Text 7"/>
          <p:cNvSpPr/>
          <p:nvPr/>
        </p:nvSpPr>
        <p:spPr>
          <a:xfrm>
            <a:off x="1015008" y="4660344"/>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If a categorical independent variable has K categories, we must define only </a:t>
            </a:r>
            <a:r>
              <a:rPr lang="en-US" sz="1550" b="1" dirty="0">
                <a:solidFill>
                  <a:srgbClr val="383838"/>
                </a:solidFill>
                <a:latin typeface="DM Sans" pitchFamily="34" charset="0"/>
                <a:ea typeface="DM Sans" pitchFamily="34" charset="-122"/>
                <a:cs typeface="DM Sans" pitchFamily="34" charset="-120"/>
              </a:rPr>
              <a:t>K − 1 dummy variables</a:t>
            </a:r>
            <a:r>
              <a:rPr lang="en-US" sz="1550" dirty="0">
                <a:solidFill>
                  <a:srgbClr val="383838"/>
                </a:solidFill>
                <a:latin typeface="DM Sans" pitchFamily="34" charset="0"/>
                <a:ea typeface="DM Sans" pitchFamily="34" charset="-122"/>
                <a:cs typeface="DM Sans" pitchFamily="34" charset="-120"/>
              </a:rPr>
              <a:t>. The omitted category serves as the reference group.</a:t>
            </a:r>
            <a:endParaRPr lang="en-US" sz="1550" dirty="0"/>
          </a:p>
        </p:txBody>
      </p:sp>
      <p:sp>
        <p:nvSpPr>
          <p:cNvPr id="10" name="Shape 8"/>
          <p:cNvSpPr/>
          <p:nvPr/>
        </p:nvSpPr>
        <p:spPr>
          <a:xfrm>
            <a:off x="7414379" y="3399115"/>
            <a:ext cx="6422231" cy="2990731"/>
          </a:xfrm>
          <a:prstGeom prst="roundRect">
            <a:avLst>
              <a:gd name="adj" fmla="val 995"/>
            </a:avLst>
          </a:prstGeom>
          <a:solidFill>
            <a:srgbClr val="FFFFFF"/>
          </a:solidFill>
          <a:ln w="22860">
            <a:solidFill>
              <a:srgbClr val="D8D4D4"/>
            </a:solidFill>
            <a:prstDash val="solid"/>
          </a:ln>
        </p:spPr>
      </p:sp>
      <p:sp>
        <p:nvSpPr>
          <p:cNvPr id="11" name="Shape 9"/>
          <p:cNvSpPr/>
          <p:nvPr/>
        </p:nvSpPr>
        <p:spPr>
          <a:xfrm>
            <a:off x="7437239" y="3421975"/>
            <a:ext cx="6376511" cy="595313"/>
          </a:xfrm>
          <a:prstGeom prst="roundRect">
            <a:avLst>
              <a:gd name="adj" fmla="val 393"/>
            </a:avLst>
          </a:prstGeom>
          <a:solidFill>
            <a:srgbClr val="F2EEEE"/>
          </a:solidFill>
          <a:ln/>
        </p:spPr>
      </p:sp>
      <p:sp>
        <p:nvSpPr>
          <p:cNvPr id="12" name="Text 10"/>
          <p:cNvSpPr/>
          <p:nvPr/>
        </p:nvSpPr>
        <p:spPr>
          <a:xfrm>
            <a:off x="10476667" y="3533537"/>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383838"/>
                </a:solidFill>
                <a:latin typeface="PT Serif" pitchFamily="34" charset="0"/>
                <a:ea typeface="PT Serif" pitchFamily="34" charset="-122"/>
                <a:cs typeface="PT Serif" pitchFamily="34" charset="-120"/>
              </a:rPr>
              <a:t>2</a:t>
            </a:r>
            <a:endParaRPr lang="en-US" sz="2300" dirty="0"/>
          </a:p>
        </p:txBody>
      </p:sp>
      <p:sp>
        <p:nvSpPr>
          <p:cNvPr id="13" name="Text 11"/>
          <p:cNvSpPr/>
          <p:nvPr/>
        </p:nvSpPr>
        <p:spPr>
          <a:xfrm>
            <a:off x="7635597" y="421564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Example Application</a:t>
            </a:r>
            <a:endParaRPr lang="en-US" sz="2050" dirty="0"/>
          </a:p>
        </p:txBody>
      </p:sp>
      <p:sp>
        <p:nvSpPr>
          <p:cNvPr id="14" name="Text 12"/>
          <p:cNvSpPr/>
          <p:nvPr/>
        </p:nvSpPr>
        <p:spPr>
          <a:xfrm>
            <a:off x="7635597" y="4660344"/>
            <a:ext cx="5979795"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Dependent Variable:</a:t>
            </a:r>
            <a:r>
              <a:rPr lang="en-US" sz="1550" dirty="0">
                <a:solidFill>
                  <a:srgbClr val="383838"/>
                </a:solidFill>
                <a:latin typeface="DM Sans" pitchFamily="34" charset="0"/>
                <a:ea typeface="DM Sans" pitchFamily="34" charset="-122"/>
                <a:cs typeface="DM Sans" pitchFamily="34" charset="-120"/>
              </a:rPr>
              <a:t> Sales of a restaurant</a:t>
            </a:r>
            <a:endParaRPr lang="en-US" sz="1550" dirty="0"/>
          </a:p>
        </p:txBody>
      </p:sp>
      <p:sp>
        <p:nvSpPr>
          <p:cNvPr id="15" name="Text 13"/>
          <p:cNvSpPr/>
          <p:nvPr/>
        </p:nvSpPr>
        <p:spPr>
          <a:xfrm>
            <a:off x="7635597" y="5096947"/>
            <a:ext cx="5979795"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Independent Variables:</a:t>
            </a:r>
            <a:r>
              <a:rPr lang="en-US" sz="1550" dirty="0">
                <a:solidFill>
                  <a:srgbClr val="383838"/>
                </a:solidFill>
                <a:latin typeface="DM Sans" pitchFamily="34" charset="0"/>
                <a:ea typeface="DM Sans" pitchFamily="34" charset="-122"/>
                <a:cs typeface="DM Sans" pitchFamily="34" charset="-120"/>
              </a:rPr>
              <a:t> Location of restaurant (categorical) and number of households in the area (continuous)</a:t>
            </a:r>
            <a:endParaRPr lang="en-US" sz="1550" dirty="0"/>
          </a:p>
        </p:txBody>
      </p:sp>
      <p:sp>
        <p:nvSpPr>
          <p:cNvPr id="16" name="Text 14"/>
          <p:cNvSpPr/>
          <p:nvPr/>
        </p:nvSpPr>
        <p:spPr>
          <a:xfrm>
            <a:off x="7635597" y="5851088"/>
            <a:ext cx="5979795"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Location has 3 categories: Mall, Street, Highway</a:t>
            </a:r>
            <a:endParaRPr lang="en-US" sz="1550" dirty="0"/>
          </a:p>
        </p:txBody>
      </p:sp>
      <p:sp>
        <p:nvSpPr>
          <p:cNvPr id="17" name="Shape 15"/>
          <p:cNvSpPr/>
          <p:nvPr/>
        </p:nvSpPr>
        <p:spPr>
          <a:xfrm>
            <a:off x="793790" y="6613088"/>
            <a:ext cx="13042821" cy="843201"/>
          </a:xfrm>
          <a:prstGeom prst="roundRect">
            <a:avLst>
              <a:gd name="adj" fmla="val 3531"/>
            </a:avLst>
          </a:prstGeom>
          <a:solidFill>
            <a:srgbClr val="FFCDB3"/>
          </a:solidFill>
          <a:ln/>
        </p:spPr>
      </p:sp>
      <p:pic>
        <p:nvPicPr>
          <p:cNvPr id="18" name="Image 0" descr="preencoded.png"/>
          <p:cNvPicPr>
            <a:picLocks noChangeAspect="1"/>
          </p:cNvPicPr>
          <p:nvPr/>
        </p:nvPicPr>
        <p:blipFill>
          <a:blip r:embed="rId3"/>
          <a:stretch>
            <a:fillRect/>
          </a:stretch>
        </p:blipFill>
        <p:spPr>
          <a:xfrm>
            <a:off x="992148" y="6908363"/>
            <a:ext cx="248007" cy="198358"/>
          </a:xfrm>
          <a:prstGeom prst="rect">
            <a:avLst/>
          </a:prstGeom>
        </p:spPr>
      </p:pic>
      <p:sp>
        <p:nvSpPr>
          <p:cNvPr id="19" name="Text 16"/>
          <p:cNvSpPr/>
          <p:nvPr/>
        </p:nvSpPr>
        <p:spPr>
          <a:xfrm>
            <a:off x="1438513" y="6860977"/>
            <a:ext cx="1219973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DM Sans" pitchFamily="34" charset="0"/>
                <a:ea typeface="DM Sans" pitchFamily="34" charset="-122"/>
                <a:cs typeface="DM Sans" pitchFamily="34" charset="-120"/>
              </a:rPr>
              <a:t>We create 2 dummy variables (3 − 1 = 2), with "Highway" serving as the reference category.</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1647" y="544235"/>
            <a:ext cx="8785622" cy="616982"/>
          </a:xfrm>
          <a:prstGeom prst="rect">
            <a:avLst/>
          </a:prstGeom>
          <a:noFill/>
          <a:ln/>
        </p:spPr>
        <p:txBody>
          <a:bodyPr wrap="none" lIns="0" tIns="0" rIns="0" bIns="0" rtlCol="0" anchor="t"/>
          <a:lstStyle/>
          <a:p>
            <a:pPr marL="0" indent="0" algn="l">
              <a:lnSpc>
                <a:spcPts val="4850"/>
              </a:lnSpc>
              <a:buNone/>
            </a:pPr>
            <a:r>
              <a:rPr lang="en-US" sz="3850" dirty="0">
                <a:solidFill>
                  <a:srgbClr val="020202"/>
                </a:solidFill>
                <a:latin typeface="PT Serif" pitchFamily="34" charset="0"/>
                <a:ea typeface="PT Serif" pitchFamily="34" charset="-122"/>
                <a:cs typeface="PT Serif" pitchFamily="34" charset="-120"/>
              </a:rPr>
              <a:t>Data Snapshot: Dummy Variable Coding</a:t>
            </a:r>
            <a:endParaRPr lang="en-US" sz="3850" dirty="0"/>
          </a:p>
        </p:txBody>
      </p:sp>
      <p:sp>
        <p:nvSpPr>
          <p:cNvPr id="3" name="Text 1"/>
          <p:cNvSpPr/>
          <p:nvPr/>
        </p:nvSpPr>
        <p:spPr>
          <a:xfrm>
            <a:off x="791647" y="1537216"/>
            <a:ext cx="13047107" cy="601504"/>
          </a:xfrm>
          <a:prstGeom prst="rect">
            <a:avLst/>
          </a:prstGeom>
          <a:noFill/>
          <a:ln/>
        </p:spPr>
        <p:txBody>
          <a:bodyPr wrap="square" lIns="0" tIns="0" rIns="0" bIns="0" rtlCol="0" anchor="t"/>
          <a:lstStyle/>
          <a:p>
            <a:pPr marL="0" indent="0" algn="l">
              <a:lnSpc>
                <a:spcPts val="2350"/>
              </a:lnSpc>
              <a:buNone/>
            </a:pPr>
            <a:r>
              <a:rPr lang="en-US" dirty="0">
                <a:solidFill>
                  <a:srgbClr val="383838"/>
                </a:solidFill>
                <a:latin typeface="DM Sans" pitchFamily="34" charset="0"/>
                <a:ea typeface="DM Sans" pitchFamily="34" charset="-122"/>
                <a:cs typeface="DM Sans" pitchFamily="34" charset="-120"/>
              </a:rPr>
              <a:t>The table demonstrates how categorical variables are encoded for regression analysis. Each row represents one restaurant, with dummy variables indicating location type.</a:t>
            </a:r>
            <a:endParaRPr lang="en-US" dirty="0"/>
          </a:p>
        </p:txBody>
      </p:sp>
      <p:sp>
        <p:nvSpPr>
          <p:cNvPr id="4" name="Shape 2"/>
          <p:cNvSpPr/>
          <p:nvPr/>
        </p:nvSpPr>
        <p:spPr>
          <a:xfrm>
            <a:off x="791647" y="2350175"/>
            <a:ext cx="13047107" cy="3805714"/>
          </a:xfrm>
          <a:prstGeom prst="roundRect">
            <a:avLst>
              <a:gd name="adj" fmla="val 741"/>
            </a:avLst>
          </a:prstGeom>
          <a:noFill/>
          <a:ln w="7620">
            <a:solidFill>
              <a:srgbClr val="000000">
                <a:alpha val="8000"/>
              </a:srgbClr>
            </a:solidFill>
            <a:prstDash val="solid"/>
          </a:ln>
        </p:spPr>
      </p:sp>
      <p:sp>
        <p:nvSpPr>
          <p:cNvPr id="5" name="Shape 3"/>
          <p:cNvSpPr/>
          <p:nvPr/>
        </p:nvSpPr>
        <p:spPr>
          <a:xfrm>
            <a:off x="799267" y="2357795"/>
            <a:ext cx="13031867" cy="541496"/>
          </a:xfrm>
          <a:prstGeom prst="rect">
            <a:avLst/>
          </a:prstGeom>
          <a:solidFill>
            <a:srgbClr val="FFFFFF">
              <a:alpha val="4000"/>
            </a:srgbClr>
          </a:solidFill>
          <a:ln/>
        </p:spPr>
      </p:sp>
      <p:sp>
        <p:nvSpPr>
          <p:cNvPr id="6" name="Text 4"/>
          <p:cNvSpPr/>
          <p:nvPr/>
        </p:nvSpPr>
        <p:spPr>
          <a:xfrm>
            <a:off x="987504" y="2478167"/>
            <a:ext cx="1574959" cy="300752"/>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Restaurant</a:t>
            </a:r>
            <a:endParaRPr lang="en-US" sz="1450" dirty="0"/>
          </a:p>
        </p:txBody>
      </p:sp>
      <p:sp>
        <p:nvSpPr>
          <p:cNvPr id="7" name="Text 5"/>
          <p:cNvSpPr/>
          <p:nvPr/>
        </p:nvSpPr>
        <p:spPr>
          <a:xfrm>
            <a:off x="2946083" y="2478167"/>
            <a:ext cx="1571149" cy="300752"/>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NOH</a:t>
            </a:r>
            <a:endParaRPr lang="en-US" sz="1450" dirty="0"/>
          </a:p>
        </p:txBody>
      </p:sp>
      <p:sp>
        <p:nvSpPr>
          <p:cNvPr id="8" name="Text 6"/>
          <p:cNvSpPr/>
          <p:nvPr/>
        </p:nvSpPr>
        <p:spPr>
          <a:xfrm>
            <a:off x="4900851" y="2478167"/>
            <a:ext cx="1571149" cy="300752"/>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Location</a:t>
            </a:r>
            <a:endParaRPr lang="en-US" sz="1450" dirty="0"/>
          </a:p>
        </p:txBody>
      </p:sp>
      <p:sp>
        <p:nvSpPr>
          <p:cNvPr id="9" name="Text 7"/>
          <p:cNvSpPr/>
          <p:nvPr/>
        </p:nvSpPr>
        <p:spPr>
          <a:xfrm>
            <a:off x="6855619" y="2478167"/>
            <a:ext cx="1571149" cy="300752"/>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Sales</a:t>
            </a:r>
            <a:endParaRPr lang="en-US" sz="1450" dirty="0"/>
          </a:p>
        </p:txBody>
      </p:sp>
      <p:sp>
        <p:nvSpPr>
          <p:cNvPr id="10" name="Text 8"/>
          <p:cNvSpPr/>
          <p:nvPr/>
        </p:nvSpPr>
        <p:spPr>
          <a:xfrm>
            <a:off x="8810387" y="2478167"/>
            <a:ext cx="1180148" cy="300752"/>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Mall</a:t>
            </a:r>
            <a:endParaRPr lang="en-US" sz="1450" dirty="0"/>
          </a:p>
        </p:txBody>
      </p:sp>
      <p:sp>
        <p:nvSpPr>
          <p:cNvPr id="11" name="Text 9"/>
          <p:cNvSpPr/>
          <p:nvPr/>
        </p:nvSpPr>
        <p:spPr>
          <a:xfrm>
            <a:off x="10374154" y="2478167"/>
            <a:ext cx="1180148" cy="300752"/>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Street</a:t>
            </a:r>
            <a:endParaRPr lang="en-US" sz="1450" dirty="0"/>
          </a:p>
        </p:txBody>
      </p:sp>
      <p:sp>
        <p:nvSpPr>
          <p:cNvPr id="12" name="Text 10"/>
          <p:cNvSpPr/>
          <p:nvPr/>
        </p:nvSpPr>
        <p:spPr>
          <a:xfrm>
            <a:off x="11937921" y="2478167"/>
            <a:ext cx="1705213" cy="300752"/>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Interpretation</a:t>
            </a:r>
            <a:endParaRPr lang="en-US" sz="1450" dirty="0"/>
          </a:p>
        </p:txBody>
      </p:sp>
      <p:sp>
        <p:nvSpPr>
          <p:cNvPr id="13" name="Shape 11"/>
          <p:cNvSpPr/>
          <p:nvPr/>
        </p:nvSpPr>
        <p:spPr>
          <a:xfrm>
            <a:off x="799267" y="2899291"/>
            <a:ext cx="13031867" cy="541496"/>
          </a:xfrm>
          <a:prstGeom prst="rect">
            <a:avLst/>
          </a:prstGeom>
          <a:solidFill>
            <a:srgbClr val="000000">
              <a:alpha val="4000"/>
            </a:srgbClr>
          </a:solidFill>
          <a:ln/>
        </p:spPr>
      </p:sp>
      <p:sp>
        <p:nvSpPr>
          <p:cNvPr id="14" name="Text 12"/>
          <p:cNvSpPr/>
          <p:nvPr/>
        </p:nvSpPr>
        <p:spPr>
          <a:xfrm>
            <a:off x="987504" y="3019663"/>
            <a:ext cx="157495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a:t>
            </a:r>
            <a:endParaRPr lang="en-US" sz="1450" dirty="0"/>
          </a:p>
        </p:txBody>
      </p:sp>
      <p:sp>
        <p:nvSpPr>
          <p:cNvPr id="15" name="Text 13"/>
          <p:cNvSpPr/>
          <p:nvPr/>
        </p:nvSpPr>
        <p:spPr>
          <a:xfrm>
            <a:off x="2946083" y="3019663"/>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155</a:t>
            </a:r>
            <a:endParaRPr lang="en-US" sz="1450" dirty="0"/>
          </a:p>
        </p:txBody>
      </p:sp>
      <p:sp>
        <p:nvSpPr>
          <p:cNvPr id="16" name="Text 14"/>
          <p:cNvSpPr/>
          <p:nvPr/>
        </p:nvSpPr>
        <p:spPr>
          <a:xfrm>
            <a:off x="4900851" y="3019663"/>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highway</a:t>
            </a:r>
            <a:endParaRPr lang="en-US" sz="1450" dirty="0"/>
          </a:p>
        </p:txBody>
      </p:sp>
      <p:sp>
        <p:nvSpPr>
          <p:cNvPr id="17" name="Text 15"/>
          <p:cNvSpPr/>
          <p:nvPr/>
        </p:nvSpPr>
        <p:spPr>
          <a:xfrm>
            <a:off x="6855619" y="3019663"/>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135.27</a:t>
            </a:r>
            <a:endParaRPr lang="en-US" sz="1450" dirty="0"/>
          </a:p>
        </p:txBody>
      </p:sp>
      <p:sp>
        <p:nvSpPr>
          <p:cNvPr id="18" name="Text 16"/>
          <p:cNvSpPr/>
          <p:nvPr/>
        </p:nvSpPr>
        <p:spPr>
          <a:xfrm>
            <a:off x="8810387" y="3019663"/>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19" name="Text 17"/>
          <p:cNvSpPr/>
          <p:nvPr/>
        </p:nvSpPr>
        <p:spPr>
          <a:xfrm>
            <a:off x="10374154" y="3019663"/>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20" name="Text 18"/>
          <p:cNvSpPr/>
          <p:nvPr/>
        </p:nvSpPr>
        <p:spPr>
          <a:xfrm>
            <a:off x="11937921" y="3019663"/>
            <a:ext cx="1705213"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Reference</a:t>
            </a:r>
            <a:endParaRPr lang="en-US" sz="1450" dirty="0"/>
          </a:p>
        </p:txBody>
      </p:sp>
      <p:sp>
        <p:nvSpPr>
          <p:cNvPr id="21" name="Shape 19"/>
          <p:cNvSpPr/>
          <p:nvPr/>
        </p:nvSpPr>
        <p:spPr>
          <a:xfrm>
            <a:off x="799267" y="3440787"/>
            <a:ext cx="13031867" cy="541496"/>
          </a:xfrm>
          <a:prstGeom prst="rect">
            <a:avLst/>
          </a:prstGeom>
          <a:solidFill>
            <a:srgbClr val="FFFFFF">
              <a:alpha val="4000"/>
            </a:srgbClr>
          </a:solidFill>
          <a:ln/>
        </p:spPr>
      </p:sp>
      <p:sp>
        <p:nvSpPr>
          <p:cNvPr id="22" name="Text 20"/>
          <p:cNvSpPr/>
          <p:nvPr/>
        </p:nvSpPr>
        <p:spPr>
          <a:xfrm>
            <a:off x="987504" y="3561159"/>
            <a:ext cx="157495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2</a:t>
            </a:r>
            <a:endParaRPr lang="en-US" sz="1450" dirty="0"/>
          </a:p>
        </p:txBody>
      </p:sp>
      <p:sp>
        <p:nvSpPr>
          <p:cNvPr id="23" name="Text 21"/>
          <p:cNvSpPr/>
          <p:nvPr/>
        </p:nvSpPr>
        <p:spPr>
          <a:xfrm>
            <a:off x="2946083" y="3561159"/>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93</a:t>
            </a:r>
            <a:endParaRPr lang="en-US" sz="1450" dirty="0"/>
          </a:p>
        </p:txBody>
      </p:sp>
      <p:sp>
        <p:nvSpPr>
          <p:cNvPr id="24" name="Text 22"/>
          <p:cNvSpPr/>
          <p:nvPr/>
        </p:nvSpPr>
        <p:spPr>
          <a:xfrm>
            <a:off x="4900851" y="3561159"/>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highway</a:t>
            </a:r>
            <a:endParaRPr lang="en-US" sz="1450" dirty="0"/>
          </a:p>
        </p:txBody>
      </p:sp>
      <p:sp>
        <p:nvSpPr>
          <p:cNvPr id="25" name="Text 23"/>
          <p:cNvSpPr/>
          <p:nvPr/>
        </p:nvSpPr>
        <p:spPr>
          <a:xfrm>
            <a:off x="6855619" y="3561159"/>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72.74</a:t>
            </a:r>
            <a:endParaRPr lang="en-US" sz="1450" dirty="0"/>
          </a:p>
        </p:txBody>
      </p:sp>
      <p:sp>
        <p:nvSpPr>
          <p:cNvPr id="26" name="Text 24"/>
          <p:cNvSpPr/>
          <p:nvPr/>
        </p:nvSpPr>
        <p:spPr>
          <a:xfrm>
            <a:off x="8810387" y="3561159"/>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27" name="Text 25"/>
          <p:cNvSpPr/>
          <p:nvPr/>
        </p:nvSpPr>
        <p:spPr>
          <a:xfrm>
            <a:off x="10374154" y="3561159"/>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28" name="Text 26"/>
          <p:cNvSpPr/>
          <p:nvPr/>
        </p:nvSpPr>
        <p:spPr>
          <a:xfrm>
            <a:off x="11937921" y="3561159"/>
            <a:ext cx="1705213"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Reference</a:t>
            </a:r>
            <a:endParaRPr lang="en-US" sz="1450" dirty="0"/>
          </a:p>
        </p:txBody>
      </p:sp>
      <p:sp>
        <p:nvSpPr>
          <p:cNvPr id="29" name="Shape 27"/>
          <p:cNvSpPr/>
          <p:nvPr/>
        </p:nvSpPr>
        <p:spPr>
          <a:xfrm>
            <a:off x="799267" y="3982283"/>
            <a:ext cx="13031867" cy="541496"/>
          </a:xfrm>
          <a:prstGeom prst="rect">
            <a:avLst/>
          </a:prstGeom>
          <a:solidFill>
            <a:srgbClr val="000000">
              <a:alpha val="4000"/>
            </a:srgbClr>
          </a:solidFill>
          <a:ln/>
        </p:spPr>
      </p:sp>
      <p:sp>
        <p:nvSpPr>
          <p:cNvPr id="30" name="Text 28"/>
          <p:cNvSpPr/>
          <p:nvPr/>
        </p:nvSpPr>
        <p:spPr>
          <a:xfrm>
            <a:off x="987504" y="4102656"/>
            <a:ext cx="157495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7</a:t>
            </a:r>
            <a:endParaRPr lang="en-US" sz="1450" dirty="0"/>
          </a:p>
        </p:txBody>
      </p:sp>
      <p:sp>
        <p:nvSpPr>
          <p:cNvPr id="31" name="Text 29"/>
          <p:cNvSpPr/>
          <p:nvPr/>
        </p:nvSpPr>
        <p:spPr>
          <a:xfrm>
            <a:off x="2946083" y="4102656"/>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178</a:t>
            </a:r>
            <a:endParaRPr lang="en-US" sz="1450" dirty="0"/>
          </a:p>
        </p:txBody>
      </p:sp>
      <p:sp>
        <p:nvSpPr>
          <p:cNvPr id="32" name="Text 30"/>
          <p:cNvSpPr/>
          <p:nvPr/>
        </p:nvSpPr>
        <p:spPr>
          <a:xfrm>
            <a:off x="4900851" y="4102656"/>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mall</a:t>
            </a:r>
            <a:endParaRPr lang="en-US" sz="1450" dirty="0"/>
          </a:p>
        </p:txBody>
      </p:sp>
      <p:sp>
        <p:nvSpPr>
          <p:cNvPr id="33" name="Text 31"/>
          <p:cNvSpPr/>
          <p:nvPr/>
        </p:nvSpPr>
        <p:spPr>
          <a:xfrm>
            <a:off x="6855619" y="4102656"/>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179.86</a:t>
            </a:r>
            <a:endParaRPr lang="en-US" sz="1450" dirty="0"/>
          </a:p>
        </p:txBody>
      </p:sp>
      <p:sp>
        <p:nvSpPr>
          <p:cNvPr id="34" name="Text 32"/>
          <p:cNvSpPr/>
          <p:nvPr/>
        </p:nvSpPr>
        <p:spPr>
          <a:xfrm>
            <a:off x="8810387" y="4102656"/>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a:t>
            </a:r>
            <a:endParaRPr lang="en-US" sz="1450" dirty="0"/>
          </a:p>
        </p:txBody>
      </p:sp>
      <p:sp>
        <p:nvSpPr>
          <p:cNvPr id="35" name="Text 33"/>
          <p:cNvSpPr/>
          <p:nvPr/>
        </p:nvSpPr>
        <p:spPr>
          <a:xfrm>
            <a:off x="10374154" y="4102656"/>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36" name="Text 34"/>
          <p:cNvSpPr/>
          <p:nvPr/>
        </p:nvSpPr>
        <p:spPr>
          <a:xfrm>
            <a:off x="11937921" y="4102656"/>
            <a:ext cx="1705213"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Mall coded</a:t>
            </a:r>
            <a:endParaRPr lang="en-US" sz="1450" dirty="0"/>
          </a:p>
        </p:txBody>
      </p:sp>
      <p:sp>
        <p:nvSpPr>
          <p:cNvPr id="37" name="Shape 35"/>
          <p:cNvSpPr/>
          <p:nvPr/>
        </p:nvSpPr>
        <p:spPr>
          <a:xfrm>
            <a:off x="799267" y="4523780"/>
            <a:ext cx="13031867" cy="541496"/>
          </a:xfrm>
          <a:prstGeom prst="rect">
            <a:avLst/>
          </a:prstGeom>
          <a:solidFill>
            <a:srgbClr val="FFFFFF">
              <a:alpha val="4000"/>
            </a:srgbClr>
          </a:solidFill>
          <a:ln/>
        </p:spPr>
      </p:sp>
      <p:sp>
        <p:nvSpPr>
          <p:cNvPr id="38" name="Text 36"/>
          <p:cNvSpPr/>
          <p:nvPr/>
        </p:nvSpPr>
        <p:spPr>
          <a:xfrm>
            <a:off x="987504" y="4644152"/>
            <a:ext cx="157495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8</a:t>
            </a:r>
            <a:endParaRPr lang="en-US" sz="1450" dirty="0"/>
          </a:p>
        </p:txBody>
      </p:sp>
      <p:sp>
        <p:nvSpPr>
          <p:cNvPr id="39" name="Text 37"/>
          <p:cNvSpPr/>
          <p:nvPr/>
        </p:nvSpPr>
        <p:spPr>
          <a:xfrm>
            <a:off x="2946083" y="4644152"/>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215</a:t>
            </a:r>
            <a:endParaRPr lang="en-US" sz="1450" dirty="0"/>
          </a:p>
        </p:txBody>
      </p:sp>
      <p:sp>
        <p:nvSpPr>
          <p:cNvPr id="40" name="Text 38"/>
          <p:cNvSpPr/>
          <p:nvPr/>
        </p:nvSpPr>
        <p:spPr>
          <a:xfrm>
            <a:off x="4900851" y="4644152"/>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mall</a:t>
            </a:r>
            <a:endParaRPr lang="en-US" sz="1450" dirty="0"/>
          </a:p>
        </p:txBody>
      </p:sp>
      <p:sp>
        <p:nvSpPr>
          <p:cNvPr id="41" name="Text 39"/>
          <p:cNvSpPr/>
          <p:nvPr/>
        </p:nvSpPr>
        <p:spPr>
          <a:xfrm>
            <a:off x="6855619" y="4644152"/>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220.14</a:t>
            </a:r>
            <a:endParaRPr lang="en-US" sz="1450" dirty="0"/>
          </a:p>
        </p:txBody>
      </p:sp>
      <p:sp>
        <p:nvSpPr>
          <p:cNvPr id="42" name="Text 40"/>
          <p:cNvSpPr/>
          <p:nvPr/>
        </p:nvSpPr>
        <p:spPr>
          <a:xfrm>
            <a:off x="8810387" y="4644152"/>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a:t>
            </a:r>
            <a:endParaRPr lang="en-US" sz="1450" dirty="0"/>
          </a:p>
        </p:txBody>
      </p:sp>
      <p:sp>
        <p:nvSpPr>
          <p:cNvPr id="43" name="Text 41"/>
          <p:cNvSpPr/>
          <p:nvPr/>
        </p:nvSpPr>
        <p:spPr>
          <a:xfrm>
            <a:off x="10374154" y="4644152"/>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44" name="Text 42"/>
          <p:cNvSpPr/>
          <p:nvPr/>
        </p:nvSpPr>
        <p:spPr>
          <a:xfrm>
            <a:off x="11937921" y="4644152"/>
            <a:ext cx="1705213"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Mall coded</a:t>
            </a:r>
            <a:endParaRPr lang="en-US" sz="1450" dirty="0"/>
          </a:p>
        </p:txBody>
      </p:sp>
      <p:sp>
        <p:nvSpPr>
          <p:cNvPr id="45" name="Shape 43"/>
          <p:cNvSpPr/>
          <p:nvPr/>
        </p:nvSpPr>
        <p:spPr>
          <a:xfrm>
            <a:off x="799267" y="5065276"/>
            <a:ext cx="13031867" cy="541496"/>
          </a:xfrm>
          <a:prstGeom prst="rect">
            <a:avLst/>
          </a:prstGeom>
          <a:solidFill>
            <a:srgbClr val="000000">
              <a:alpha val="4000"/>
            </a:srgbClr>
          </a:solidFill>
          <a:ln/>
        </p:spPr>
      </p:sp>
      <p:sp>
        <p:nvSpPr>
          <p:cNvPr id="46" name="Text 44"/>
          <p:cNvSpPr/>
          <p:nvPr/>
        </p:nvSpPr>
        <p:spPr>
          <a:xfrm>
            <a:off x="987504" y="5185648"/>
            <a:ext cx="157495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13</a:t>
            </a:r>
            <a:endParaRPr lang="en-US" sz="1450" dirty="0"/>
          </a:p>
        </p:txBody>
      </p:sp>
      <p:sp>
        <p:nvSpPr>
          <p:cNvPr id="47" name="Text 45"/>
          <p:cNvSpPr/>
          <p:nvPr/>
        </p:nvSpPr>
        <p:spPr>
          <a:xfrm>
            <a:off x="2946083" y="5185648"/>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224</a:t>
            </a:r>
            <a:endParaRPr lang="en-US" sz="1450" dirty="0"/>
          </a:p>
        </p:txBody>
      </p:sp>
      <p:sp>
        <p:nvSpPr>
          <p:cNvPr id="48" name="Text 46"/>
          <p:cNvSpPr/>
          <p:nvPr/>
        </p:nvSpPr>
        <p:spPr>
          <a:xfrm>
            <a:off x="4900851" y="5185648"/>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street</a:t>
            </a:r>
            <a:endParaRPr lang="en-US" sz="1450" dirty="0"/>
          </a:p>
        </p:txBody>
      </p:sp>
      <p:sp>
        <p:nvSpPr>
          <p:cNvPr id="49" name="Text 47"/>
          <p:cNvSpPr/>
          <p:nvPr/>
        </p:nvSpPr>
        <p:spPr>
          <a:xfrm>
            <a:off x="6855619" y="5185648"/>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203.98</a:t>
            </a:r>
            <a:endParaRPr lang="en-US" sz="1450" dirty="0"/>
          </a:p>
        </p:txBody>
      </p:sp>
      <p:sp>
        <p:nvSpPr>
          <p:cNvPr id="50" name="Text 48"/>
          <p:cNvSpPr/>
          <p:nvPr/>
        </p:nvSpPr>
        <p:spPr>
          <a:xfrm>
            <a:off x="8810387" y="5185648"/>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51" name="Text 49"/>
          <p:cNvSpPr/>
          <p:nvPr/>
        </p:nvSpPr>
        <p:spPr>
          <a:xfrm>
            <a:off x="10374154" y="5185648"/>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a:t>
            </a:r>
            <a:endParaRPr lang="en-US" sz="1450" dirty="0"/>
          </a:p>
        </p:txBody>
      </p:sp>
      <p:sp>
        <p:nvSpPr>
          <p:cNvPr id="52" name="Text 50"/>
          <p:cNvSpPr/>
          <p:nvPr/>
        </p:nvSpPr>
        <p:spPr>
          <a:xfrm>
            <a:off x="11937921" y="5185648"/>
            <a:ext cx="1705213"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Street coded</a:t>
            </a:r>
            <a:endParaRPr lang="en-US" sz="1450" dirty="0"/>
          </a:p>
        </p:txBody>
      </p:sp>
      <p:sp>
        <p:nvSpPr>
          <p:cNvPr id="53" name="Shape 51"/>
          <p:cNvSpPr/>
          <p:nvPr/>
        </p:nvSpPr>
        <p:spPr>
          <a:xfrm>
            <a:off x="799267" y="5606772"/>
            <a:ext cx="13031867" cy="541496"/>
          </a:xfrm>
          <a:prstGeom prst="rect">
            <a:avLst/>
          </a:prstGeom>
          <a:solidFill>
            <a:srgbClr val="FFFFFF">
              <a:alpha val="4000"/>
            </a:srgbClr>
          </a:solidFill>
          <a:ln/>
        </p:spPr>
      </p:sp>
      <p:sp>
        <p:nvSpPr>
          <p:cNvPr id="54" name="Text 52"/>
          <p:cNvSpPr/>
          <p:nvPr/>
        </p:nvSpPr>
        <p:spPr>
          <a:xfrm>
            <a:off x="987504" y="5727144"/>
            <a:ext cx="157495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14</a:t>
            </a:r>
            <a:endParaRPr lang="en-US" sz="1450" dirty="0"/>
          </a:p>
        </p:txBody>
      </p:sp>
      <p:sp>
        <p:nvSpPr>
          <p:cNvPr id="55" name="Text 53"/>
          <p:cNvSpPr/>
          <p:nvPr/>
        </p:nvSpPr>
        <p:spPr>
          <a:xfrm>
            <a:off x="2946083" y="5727144"/>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199</a:t>
            </a:r>
            <a:endParaRPr lang="en-US" sz="1450" dirty="0"/>
          </a:p>
        </p:txBody>
      </p:sp>
      <p:sp>
        <p:nvSpPr>
          <p:cNvPr id="56" name="Text 54"/>
          <p:cNvSpPr/>
          <p:nvPr/>
        </p:nvSpPr>
        <p:spPr>
          <a:xfrm>
            <a:off x="4900851" y="5727144"/>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street</a:t>
            </a:r>
            <a:endParaRPr lang="en-US" sz="1450" dirty="0"/>
          </a:p>
        </p:txBody>
      </p:sp>
      <p:sp>
        <p:nvSpPr>
          <p:cNvPr id="57" name="Text 55"/>
          <p:cNvSpPr/>
          <p:nvPr/>
        </p:nvSpPr>
        <p:spPr>
          <a:xfrm>
            <a:off x="6855619" y="5727144"/>
            <a:ext cx="1571149"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174.48</a:t>
            </a:r>
            <a:endParaRPr lang="en-US" sz="1450" dirty="0"/>
          </a:p>
        </p:txBody>
      </p:sp>
      <p:sp>
        <p:nvSpPr>
          <p:cNvPr id="58" name="Text 56"/>
          <p:cNvSpPr/>
          <p:nvPr/>
        </p:nvSpPr>
        <p:spPr>
          <a:xfrm>
            <a:off x="8810387" y="5727144"/>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0</a:t>
            </a:r>
            <a:endParaRPr lang="en-US" sz="1450" dirty="0"/>
          </a:p>
        </p:txBody>
      </p:sp>
      <p:sp>
        <p:nvSpPr>
          <p:cNvPr id="59" name="Text 57"/>
          <p:cNvSpPr/>
          <p:nvPr/>
        </p:nvSpPr>
        <p:spPr>
          <a:xfrm>
            <a:off x="10374154" y="5727144"/>
            <a:ext cx="1180148"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1</a:t>
            </a:r>
            <a:endParaRPr lang="en-US" sz="1450" dirty="0"/>
          </a:p>
        </p:txBody>
      </p:sp>
      <p:sp>
        <p:nvSpPr>
          <p:cNvPr id="60" name="Text 58"/>
          <p:cNvSpPr/>
          <p:nvPr/>
        </p:nvSpPr>
        <p:spPr>
          <a:xfrm>
            <a:off x="11937921" y="5727144"/>
            <a:ext cx="1705213" cy="300752"/>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Street coded</a:t>
            </a:r>
            <a:endParaRPr lang="en-US" sz="1450" dirty="0"/>
          </a:p>
        </p:txBody>
      </p:sp>
      <p:sp>
        <p:nvSpPr>
          <p:cNvPr id="61" name="Text 59"/>
          <p:cNvSpPr/>
          <p:nvPr/>
        </p:nvSpPr>
        <p:spPr>
          <a:xfrm>
            <a:off x="791647" y="6367343"/>
            <a:ext cx="13047107" cy="300752"/>
          </a:xfrm>
          <a:prstGeom prst="rect">
            <a:avLst/>
          </a:prstGeom>
          <a:noFill/>
          <a:ln/>
        </p:spPr>
        <p:txBody>
          <a:bodyPr wrap="none" lIns="0" tIns="0" rIns="0" bIns="0" rtlCol="0" anchor="t"/>
          <a:lstStyle/>
          <a:p>
            <a:pPr marL="0" indent="0" algn="l">
              <a:lnSpc>
                <a:spcPts val="2350"/>
              </a:lnSpc>
              <a:buNone/>
            </a:pPr>
            <a:r>
              <a:rPr lang="en-US" b="1" dirty="0">
                <a:solidFill>
                  <a:srgbClr val="383838"/>
                </a:solidFill>
                <a:latin typeface="DM Sans" pitchFamily="34" charset="0"/>
                <a:ea typeface="DM Sans" pitchFamily="34" charset="-122"/>
                <a:cs typeface="DM Sans" pitchFamily="34" charset="-120"/>
              </a:rPr>
              <a:t>Variable Definitions:</a:t>
            </a:r>
            <a:r>
              <a:rPr lang="en-US" dirty="0">
                <a:solidFill>
                  <a:srgbClr val="383838"/>
                </a:solidFill>
                <a:latin typeface="DM Sans" pitchFamily="34" charset="0"/>
                <a:ea typeface="DM Sans" pitchFamily="34" charset="-122"/>
                <a:cs typeface="DM Sans" pitchFamily="34" charset="-120"/>
              </a:rPr>
              <a:t> Y = Sales | X₁ = Number of Households | X₂ = 1 if Mall, 0 otherwise | X₃ = 1 if Street, 0 otherwise</a:t>
            </a:r>
            <a:endParaRPr lang="en-US" dirty="0"/>
          </a:p>
        </p:txBody>
      </p:sp>
      <p:pic>
        <p:nvPicPr>
          <p:cNvPr id="63" name="Image 0" descr="preencoded.png"/>
          <p:cNvPicPr>
            <a:picLocks noChangeAspect="1"/>
          </p:cNvPicPr>
          <p:nvPr/>
        </p:nvPicPr>
        <p:blipFill>
          <a:blip r:embed="rId3"/>
          <a:stretch>
            <a:fillRect/>
          </a:stretch>
        </p:blipFill>
        <p:spPr>
          <a:xfrm>
            <a:off x="979646" y="7155656"/>
            <a:ext cx="235029" cy="18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215271"/>
            <a:ext cx="921841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Cross-Validation in Predictive Modeling</a:t>
            </a:r>
            <a:endParaRPr lang="en-US" sz="4100" dirty="0"/>
          </a:p>
        </p:txBody>
      </p:sp>
      <p:sp>
        <p:nvSpPr>
          <p:cNvPr id="3" name="Text 1"/>
          <p:cNvSpPr/>
          <p:nvPr/>
        </p:nvSpPr>
        <p:spPr>
          <a:xfrm>
            <a:off x="793790" y="226337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Cross-validation is a critical process for evaluating model performance on data that wasn't used during model development. This addresses a fundamental problem in predictive modeling: overfitting.</a:t>
            </a:r>
            <a:endParaRPr lang="en-US" sz="1550" dirty="0"/>
          </a:p>
        </p:txBody>
      </p:sp>
      <p:sp>
        <p:nvSpPr>
          <p:cNvPr id="4" name="Shape 2"/>
          <p:cNvSpPr/>
          <p:nvPr/>
        </p:nvSpPr>
        <p:spPr>
          <a:xfrm>
            <a:off x="793790" y="3121700"/>
            <a:ext cx="6422231" cy="2587704"/>
          </a:xfrm>
          <a:prstGeom prst="roundRect">
            <a:avLst>
              <a:gd name="adj" fmla="val 1150"/>
            </a:avLst>
          </a:prstGeom>
          <a:solidFill>
            <a:srgbClr val="F2EEEE"/>
          </a:solidFill>
          <a:ln/>
        </p:spPr>
      </p:sp>
      <p:sp>
        <p:nvSpPr>
          <p:cNvPr id="5" name="Shape 3"/>
          <p:cNvSpPr/>
          <p:nvPr/>
        </p:nvSpPr>
        <p:spPr>
          <a:xfrm>
            <a:off x="992148" y="3320058"/>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3450193"/>
            <a:ext cx="267891" cy="334923"/>
          </a:xfrm>
          <a:prstGeom prst="rect">
            <a:avLst/>
          </a:prstGeom>
        </p:spPr>
      </p:pic>
      <p:sp>
        <p:nvSpPr>
          <p:cNvPr id="7" name="Text 4"/>
          <p:cNvSpPr/>
          <p:nvPr/>
        </p:nvSpPr>
        <p:spPr>
          <a:xfrm>
            <a:off x="992148" y="4113728"/>
            <a:ext cx="2827853"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The Overfitting Problem</a:t>
            </a:r>
            <a:endParaRPr lang="en-US" sz="2050" dirty="0"/>
          </a:p>
        </p:txBody>
      </p:sp>
      <p:sp>
        <p:nvSpPr>
          <p:cNvPr id="8" name="Text 5"/>
          <p:cNvSpPr/>
          <p:nvPr/>
        </p:nvSpPr>
        <p:spPr>
          <a:xfrm>
            <a:off x="992148" y="4558427"/>
            <a:ext cx="602551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Model performance measures such as R² or Root Mean Squared Error (RMSE) tend to be overly optimistic on in-sample data. Models can memorize training data patterns that don't generalize.</a:t>
            </a:r>
            <a:endParaRPr lang="en-US" sz="1550" dirty="0"/>
          </a:p>
        </p:txBody>
      </p:sp>
      <p:sp>
        <p:nvSpPr>
          <p:cNvPr id="9" name="Shape 6"/>
          <p:cNvSpPr/>
          <p:nvPr/>
        </p:nvSpPr>
        <p:spPr>
          <a:xfrm>
            <a:off x="7414379" y="3121700"/>
            <a:ext cx="6422231" cy="2587704"/>
          </a:xfrm>
          <a:prstGeom prst="roundRect">
            <a:avLst>
              <a:gd name="adj" fmla="val 1150"/>
            </a:avLst>
          </a:prstGeom>
          <a:solidFill>
            <a:srgbClr val="F2EEEE"/>
          </a:solidFill>
          <a:ln/>
        </p:spPr>
      </p:sp>
      <p:sp>
        <p:nvSpPr>
          <p:cNvPr id="10" name="Shape 7"/>
          <p:cNvSpPr/>
          <p:nvPr/>
        </p:nvSpPr>
        <p:spPr>
          <a:xfrm>
            <a:off x="7612737" y="3320058"/>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7776448" y="3450193"/>
            <a:ext cx="267891" cy="334923"/>
          </a:xfrm>
          <a:prstGeom prst="rect">
            <a:avLst/>
          </a:prstGeom>
        </p:spPr>
      </p:pic>
      <p:sp>
        <p:nvSpPr>
          <p:cNvPr id="12" name="Text 8"/>
          <p:cNvSpPr/>
          <p:nvPr/>
        </p:nvSpPr>
        <p:spPr>
          <a:xfrm>
            <a:off x="7612737" y="4113728"/>
            <a:ext cx="3036451"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Out-of-Sample Evaluation</a:t>
            </a:r>
            <a:endParaRPr lang="en-US" sz="2050" dirty="0"/>
          </a:p>
        </p:txBody>
      </p:sp>
      <p:sp>
        <p:nvSpPr>
          <p:cNvPr id="13" name="Text 9"/>
          <p:cNvSpPr/>
          <p:nvPr/>
        </p:nvSpPr>
        <p:spPr>
          <a:xfrm>
            <a:off x="7612737" y="4558427"/>
            <a:ext cx="6025515"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More realistic measures of model performance are calculated using "out-of-sample" data—observations the model has never seen. This provides an honest assessment of predictive accuracy.</a:t>
            </a:r>
            <a:endParaRPr lang="en-US" sz="1550" dirty="0"/>
          </a:p>
        </p:txBody>
      </p:sp>
      <p:sp>
        <p:nvSpPr>
          <p:cNvPr id="14" name="Text 10"/>
          <p:cNvSpPr/>
          <p:nvPr/>
        </p:nvSpPr>
        <p:spPr>
          <a:xfrm>
            <a:off x="1091446" y="6155888"/>
            <a:ext cx="12745164"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Cross-validation is a procedure for assessing model performance using out-of-sample data, providing a more accurate estimate of how the model will perform in practice.</a:t>
            </a:r>
            <a:endParaRPr lang="en-US" sz="1550" dirty="0"/>
          </a:p>
        </p:txBody>
      </p:sp>
      <p:sp>
        <p:nvSpPr>
          <p:cNvPr id="15" name="Shape 11"/>
          <p:cNvSpPr/>
          <p:nvPr/>
        </p:nvSpPr>
        <p:spPr>
          <a:xfrm>
            <a:off x="793790" y="5932646"/>
            <a:ext cx="22860" cy="1081564"/>
          </a:xfrm>
          <a:prstGeom prst="rect">
            <a:avLst/>
          </a:prstGeom>
          <a:solidFill>
            <a:srgbClr val="E04F00"/>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80812" y="536853"/>
            <a:ext cx="7332940" cy="576501"/>
          </a:xfrm>
          <a:prstGeom prst="rect">
            <a:avLst/>
          </a:prstGeom>
          <a:noFill/>
          <a:ln/>
        </p:spPr>
        <p:txBody>
          <a:bodyPr wrap="none" lIns="0" tIns="0" rIns="0" bIns="0" rtlCol="0" anchor="t"/>
          <a:lstStyle/>
          <a:p>
            <a:pPr marL="0" indent="0" algn="l">
              <a:lnSpc>
                <a:spcPts val="4500"/>
              </a:lnSpc>
              <a:buNone/>
            </a:pPr>
            <a:r>
              <a:rPr lang="en-US" sz="3600" dirty="0">
                <a:solidFill>
                  <a:srgbClr val="020202"/>
                </a:solidFill>
                <a:latin typeface="PT Serif" pitchFamily="34" charset="0"/>
                <a:ea typeface="PT Serif" pitchFamily="34" charset="-122"/>
                <a:cs typeface="PT Serif" pitchFamily="34" charset="-120"/>
              </a:rPr>
              <a:t>Cross-Validation: Hold-Out Method</a:t>
            </a:r>
            <a:endParaRPr lang="en-US" sz="3600" dirty="0"/>
          </a:p>
        </p:txBody>
      </p:sp>
      <p:sp>
        <p:nvSpPr>
          <p:cNvPr id="3" name="Text 1"/>
          <p:cNvSpPr/>
          <p:nvPr/>
        </p:nvSpPr>
        <p:spPr>
          <a:xfrm>
            <a:off x="780812" y="1464707"/>
            <a:ext cx="13068776" cy="562213"/>
          </a:xfrm>
          <a:prstGeom prst="rect">
            <a:avLst/>
          </a:prstGeom>
          <a:noFill/>
          <a:ln/>
        </p:spPr>
        <p:txBody>
          <a:bodyPr wrap="square" lIns="0" tIns="0" rIns="0" bIns="0" rtlCol="0" anchor="t"/>
          <a:lstStyle/>
          <a:p>
            <a:pPr marL="0" indent="0" algn="l">
              <a:lnSpc>
                <a:spcPts val="2200"/>
              </a:lnSpc>
              <a:buNone/>
            </a:pPr>
            <a:r>
              <a:rPr lang="en-US" sz="1550" dirty="0">
                <a:solidFill>
                  <a:srgbClr val="383838"/>
                </a:solidFill>
                <a:latin typeface="DM Sans" pitchFamily="34" charset="0"/>
                <a:ea typeface="DM Sans" pitchFamily="34" charset="-122"/>
                <a:cs typeface="DM Sans" pitchFamily="34" charset="-120"/>
              </a:rPr>
              <a:t>The hold-out validation method is the simplest form of cross-validation. It provides a straightforward way to assess how well your model generalizes to new data.</a:t>
            </a:r>
            <a:endParaRPr lang="en-US" sz="1550" dirty="0"/>
          </a:p>
        </p:txBody>
      </p:sp>
      <p:sp>
        <p:nvSpPr>
          <p:cNvPr id="4" name="Shape 2"/>
          <p:cNvSpPr/>
          <p:nvPr/>
        </p:nvSpPr>
        <p:spPr>
          <a:xfrm>
            <a:off x="780812" y="4164211"/>
            <a:ext cx="13068776" cy="22860"/>
          </a:xfrm>
          <a:prstGeom prst="roundRect">
            <a:avLst>
              <a:gd name="adj" fmla="val 115288"/>
            </a:avLst>
          </a:prstGeom>
          <a:solidFill>
            <a:srgbClr val="D8D4D4"/>
          </a:solidFill>
          <a:ln/>
        </p:spPr>
      </p:sp>
      <p:sp>
        <p:nvSpPr>
          <p:cNvPr id="5" name="Shape 3"/>
          <p:cNvSpPr/>
          <p:nvPr/>
        </p:nvSpPr>
        <p:spPr>
          <a:xfrm>
            <a:off x="3981688" y="3637121"/>
            <a:ext cx="22860" cy="527090"/>
          </a:xfrm>
          <a:prstGeom prst="roundRect">
            <a:avLst>
              <a:gd name="adj" fmla="val 115288"/>
            </a:avLst>
          </a:prstGeom>
          <a:solidFill>
            <a:srgbClr val="D8D4D4"/>
          </a:solidFill>
          <a:ln/>
        </p:spPr>
      </p:sp>
      <p:sp>
        <p:nvSpPr>
          <p:cNvPr id="6" name="Shape 4"/>
          <p:cNvSpPr/>
          <p:nvPr/>
        </p:nvSpPr>
        <p:spPr>
          <a:xfrm>
            <a:off x="3795474" y="3966567"/>
            <a:ext cx="395287" cy="395288"/>
          </a:xfrm>
          <a:prstGeom prst="roundRect">
            <a:avLst>
              <a:gd name="adj" fmla="val 6667"/>
            </a:avLst>
          </a:prstGeom>
          <a:solidFill>
            <a:srgbClr val="F2EEEE"/>
          </a:solidFill>
          <a:ln/>
        </p:spPr>
      </p:sp>
      <p:sp>
        <p:nvSpPr>
          <p:cNvPr id="7" name="Text 5"/>
          <p:cNvSpPr/>
          <p:nvPr/>
        </p:nvSpPr>
        <p:spPr>
          <a:xfrm>
            <a:off x="3854768" y="3991273"/>
            <a:ext cx="276701" cy="345877"/>
          </a:xfrm>
          <a:prstGeom prst="rect">
            <a:avLst/>
          </a:prstGeom>
          <a:noFill/>
          <a:ln/>
        </p:spPr>
        <p:txBody>
          <a:bodyPr wrap="none" lIns="0" tIns="0" rIns="0" bIns="0" rtlCol="0" anchor="t"/>
          <a:lstStyle/>
          <a:p>
            <a:pPr marL="0" indent="0" algn="ctr">
              <a:lnSpc>
                <a:spcPts val="2150"/>
              </a:lnSpc>
              <a:buNone/>
            </a:pPr>
            <a:r>
              <a:rPr lang="en-US" sz="2150" dirty="0">
                <a:solidFill>
                  <a:srgbClr val="383838"/>
                </a:solidFill>
                <a:latin typeface="PT Serif" pitchFamily="34" charset="0"/>
                <a:ea typeface="PT Serif" pitchFamily="34" charset="-122"/>
                <a:cs typeface="PT Serif" pitchFamily="34" charset="-120"/>
              </a:rPr>
              <a:t>1</a:t>
            </a:r>
            <a:endParaRPr lang="en-US" sz="2150" dirty="0"/>
          </a:p>
        </p:txBody>
      </p:sp>
      <p:sp>
        <p:nvSpPr>
          <p:cNvPr id="8" name="Text 6"/>
          <p:cNvSpPr/>
          <p:nvPr/>
        </p:nvSpPr>
        <p:spPr>
          <a:xfrm>
            <a:off x="2840117" y="2224564"/>
            <a:ext cx="2306003" cy="288250"/>
          </a:xfrm>
          <a:prstGeom prst="rect">
            <a:avLst/>
          </a:prstGeom>
          <a:noFill/>
          <a:ln/>
        </p:spPr>
        <p:txBody>
          <a:bodyPr wrap="none" lIns="0" tIns="0" rIns="0" bIns="0" rtlCol="0" anchor="t"/>
          <a:lstStyle/>
          <a:p>
            <a:pPr marL="0" indent="0" algn="ctr">
              <a:lnSpc>
                <a:spcPts val="2250"/>
              </a:lnSpc>
              <a:buNone/>
            </a:pPr>
            <a:r>
              <a:rPr lang="en-US" sz="1800" dirty="0">
                <a:solidFill>
                  <a:srgbClr val="383838"/>
                </a:solidFill>
                <a:latin typeface="PT Serif" pitchFamily="34" charset="0"/>
                <a:ea typeface="PT Serif" pitchFamily="34" charset="-122"/>
                <a:cs typeface="PT Serif" pitchFamily="34" charset="-120"/>
              </a:rPr>
              <a:t>Split the Data</a:t>
            </a:r>
            <a:endParaRPr lang="en-US" sz="1800" dirty="0"/>
          </a:p>
        </p:txBody>
      </p:sp>
      <p:sp>
        <p:nvSpPr>
          <p:cNvPr id="9" name="Text 7"/>
          <p:cNvSpPr/>
          <p:nvPr/>
        </p:nvSpPr>
        <p:spPr>
          <a:xfrm>
            <a:off x="956429" y="2618184"/>
            <a:ext cx="6073378" cy="843320"/>
          </a:xfrm>
          <a:prstGeom prst="rect">
            <a:avLst/>
          </a:prstGeom>
          <a:noFill/>
          <a:ln/>
        </p:spPr>
        <p:txBody>
          <a:bodyPr wrap="square" lIns="0" tIns="0" rIns="0" bIns="0" rtlCol="0" anchor="t"/>
          <a:lstStyle/>
          <a:p>
            <a:pPr marL="0" indent="0" algn="ctr">
              <a:lnSpc>
                <a:spcPts val="2200"/>
              </a:lnSpc>
              <a:buNone/>
            </a:pPr>
            <a:r>
              <a:rPr lang="en-US" sz="1550" dirty="0">
                <a:solidFill>
                  <a:srgbClr val="383838"/>
                </a:solidFill>
                <a:latin typeface="DM Sans" pitchFamily="34" charset="0"/>
                <a:ea typeface="DM Sans" pitchFamily="34" charset="-122"/>
                <a:cs typeface="DM Sans" pitchFamily="34" charset="-120"/>
              </a:rPr>
              <a:t>Available data is divided into two non-overlapping parts: training data and testing data. The split is typically 70-80% for training and 20-30% for testing.</a:t>
            </a:r>
            <a:endParaRPr lang="en-US" sz="1550" dirty="0"/>
          </a:p>
        </p:txBody>
      </p:sp>
      <p:sp>
        <p:nvSpPr>
          <p:cNvPr id="10" name="Shape 8"/>
          <p:cNvSpPr/>
          <p:nvPr/>
        </p:nvSpPr>
        <p:spPr>
          <a:xfrm>
            <a:off x="7303770" y="4164211"/>
            <a:ext cx="22860" cy="527090"/>
          </a:xfrm>
          <a:prstGeom prst="roundRect">
            <a:avLst>
              <a:gd name="adj" fmla="val 115288"/>
            </a:avLst>
          </a:prstGeom>
          <a:solidFill>
            <a:srgbClr val="D8D4D4"/>
          </a:solidFill>
          <a:ln/>
        </p:spPr>
      </p:sp>
      <p:sp>
        <p:nvSpPr>
          <p:cNvPr id="11" name="Shape 9"/>
          <p:cNvSpPr/>
          <p:nvPr/>
        </p:nvSpPr>
        <p:spPr>
          <a:xfrm>
            <a:off x="7117556" y="3966567"/>
            <a:ext cx="395287" cy="395288"/>
          </a:xfrm>
          <a:prstGeom prst="roundRect">
            <a:avLst>
              <a:gd name="adj" fmla="val 6667"/>
            </a:avLst>
          </a:prstGeom>
          <a:solidFill>
            <a:srgbClr val="F2EEEE"/>
          </a:solidFill>
          <a:ln/>
        </p:spPr>
      </p:sp>
      <p:sp>
        <p:nvSpPr>
          <p:cNvPr id="12" name="Text 10"/>
          <p:cNvSpPr/>
          <p:nvPr/>
        </p:nvSpPr>
        <p:spPr>
          <a:xfrm>
            <a:off x="7176849" y="3991273"/>
            <a:ext cx="276701" cy="345877"/>
          </a:xfrm>
          <a:prstGeom prst="rect">
            <a:avLst/>
          </a:prstGeom>
          <a:noFill/>
          <a:ln/>
        </p:spPr>
        <p:txBody>
          <a:bodyPr wrap="none" lIns="0" tIns="0" rIns="0" bIns="0" rtlCol="0" anchor="t"/>
          <a:lstStyle/>
          <a:p>
            <a:pPr marL="0" indent="0" algn="ctr">
              <a:lnSpc>
                <a:spcPts val="2150"/>
              </a:lnSpc>
              <a:buNone/>
            </a:pPr>
            <a:r>
              <a:rPr lang="en-US" sz="2150" dirty="0">
                <a:solidFill>
                  <a:srgbClr val="383838"/>
                </a:solidFill>
                <a:latin typeface="PT Serif" pitchFamily="34" charset="0"/>
                <a:ea typeface="PT Serif" pitchFamily="34" charset="-122"/>
                <a:cs typeface="PT Serif" pitchFamily="34" charset="-120"/>
              </a:rPr>
              <a:t>2</a:t>
            </a:r>
            <a:endParaRPr lang="en-US" sz="2150" dirty="0"/>
          </a:p>
        </p:txBody>
      </p:sp>
      <p:sp>
        <p:nvSpPr>
          <p:cNvPr id="13" name="Text 11"/>
          <p:cNvSpPr/>
          <p:nvPr/>
        </p:nvSpPr>
        <p:spPr>
          <a:xfrm>
            <a:off x="6162199" y="4866918"/>
            <a:ext cx="2306003" cy="288250"/>
          </a:xfrm>
          <a:prstGeom prst="rect">
            <a:avLst/>
          </a:prstGeom>
          <a:noFill/>
          <a:ln/>
        </p:spPr>
        <p:txBody>
          <a:bodyPr wrap="none" lIns="0" tIns="0" rIns="0" bIns="0" rtlCol="0" anchor="t"/>
          <a:lstStyle/>
          <a:p>
            <a:pPr marL="0" indent="0" algn="ctr">
              <a:lnSpc>
                <a:spcPts val="2250"/>
              </a:lnSpc>
              <a:buNone/>
            </a:pPr>
            <a:r>
              <a:rPr lang="en-US" sz="1800" dirty="0">
                <a:solidFill>
                  <a:srgbClr val="383838"/>
                </a:solidFill>
                <a:latin typeface="PT Serif" pitchFamily="34" charset="0"/>
                <a:ea typeface="PT Serif" pitchFamily="34" charset="-122"/>
                <a:cs typeface="PT Serif" pitchFamily="34" charset="-120"/>
              </a:rPr>
              <a:t>Develop Model</a:t>
            </a:r>
            <a:endParaRPr lang="en-US" sz="1800" dirty="0"/>
          </a:p>
        </p:txBody>
      </p:sp>
      <p:sp>
        <p:nvSpPr>
          <p:cNvPr id="14" name="Text 12"/>
          <p:cNvSpPr/>
          <p:nvPr/>
        </p:nvSpPr>
        <p:spPr>
          <a:xfrm>
            <a:off x="4278511" y="5260538"/>
            <a:ext cx="6073378" cy="562213"/>
          </a:xfrm>
          <a:prstGeom prst="rect">
            <a:avLst/>
          </a:prstGeom>
          <a:noFill/>
          <a:ln/>
        </p:spPr>
        <p:txBody>
          <a:bodyPr wrap="square" lIns="0" tIns="0" rIns="0" bIns="0" rtlCol="0" anchor="t"/>
          <a:lstStyle/>
          <a:p>
            <a:pPr marL="0" indent="0" algn="ctr">
              <a:lnSpc>
                <a:spcPts val="2200"/>
              </a:lnSpc>
              <a:buNone/>
            </a:pPr>
            <a:r>
              <a:rPr lang="en-US" sz="1550" dirty="0">
                <a:solidFill>
                  <a:srgbClr val="383838"/>
                </a:solidFill>
                <a:latin typeface="DM Sans" pitchFamily="34" charset="0"/>
                <a:ea typeface="DM Sans" pitchFamily="34" charset="-122"/>
                <a:cs typeface="DM Sans" pitchFamily="34" charset="-120"/>
              </a:rPr>
              <a:t>The model is fitted using only the training data. All parameter estimation and model refinement occurs on this subset.</a:t>
            </a:r>
            <a:endParaRPr lang="en-US" sz="1550" dirty="0"/>
          </a:p>
        </p:txBody>
      </p:sp>
      <p:sp>
        <p:nvSpPr>
          <p:cNvPr id="15" name="Shape 13"/>
          <p:cNvSpPr/>
          <p:nvPr/>
        </p:nvSpPr>
        <p:spPr>
          <a:xfrm>
            <a:off x="10625852" y="3637121"/>
            <a:ext cx="22860" cy="527090"/>
          </a:xfrm>
          <a:prstGeom prst="roundRect">
            <a:avLst>
              <a:gd name="adj" fmla="val 115288"/>
            </a:avLst>
          </a:prstGeom>
          <a:solidFill>
            <a:srgbClr val="D8D4D4"/>
          </a:solidFill>
          <a:ln/>
        </p:spPr>
      </p:sp>
      <p:sp>
        <p:nvSpPr>
          <p:cNvPr id="16" name="Shape 14"/>
          <p:cNvSpPr/>
          <p:nvPr/>
        </p:nvSpPr>
        <p:spPr>
          <a:xfrm>
            <a:off x="10439638" y="3966567"/>
            <a:ext cx="395287" cy="395288"/>
          </a:xfrm>
          <a:prstGeom prst="roundRect">
            <a:avLst>
              <a:gd name="adj" fmla="val 6667"/>
            </a:avLst>
          </a:prstGeom>
          <a:solidFill>
            <a:srgbClr val="F2EEEE"/>
          </a:solidFill>
          <a:ln/>
        </p:spPr>
      </p:sp>
      <p:sp>
        <p:nvSpPr>
          <p:cNvPr id="17" name="Text 15"/>
          <p:cNvSpPr/>
          <p:nvPr/>
        </p:nvSpPr>
        <p:spPr>
          <a:xfrm>
            <a:off x="10498931" y="3991273"/>
            <a:ext cx="276701" cy="345877"/>
          </a:xfrm>
          <a:prstGeom prst="rect">
            <a:avLst/>
          </a:prstGeom>
          <a:noFill/>
          <a:ln/>
        </p:spPr>
        <p:txBody>
          <a:bodyPr wrap="none" lIns="0" tIns="0" rIns="0" bIns="0" rtlCol="0" anchor="t"/>
          <a:lstStyle/>
          <a:p>
            <a:pPr marL="0" indent="0" algn="ctr">
              <a:lnSpc>
                <a:spcPts val="2150"/>
              </a:lnSpc>
              <a:buNone/>
            </a:pPr>
            <a:r>
              <a:rPr lang="en-US" sz="2150" dirty="0">
                <a:solidFill>
                  <a:srgbClr val="383838"/>
                </a:solidFill>
                <a:latin typeface="PT Serif" pitchFamily="34" charset="0"/>
                <a:ea typeface="PT Serif" pitchFamily="34" charset="-122"/>
                <a:cs typeface="PT Serif" pitchFamily="34" charset="-120"/>
              </a:rPr>
              <a:t>3</a:t>
            </a:r>
            <a:endParaRPr lang="en-US" sz="2150" dirty="0"/>
          </a:p>
        </p:txBody>
      </p:sp>
      <p:sp>
        <p:nvSpPr>
          <p:cNvPr id="18" name="Text 16"/>
          <p:cNvSpPr/>
          <p:nvPr/>
        </p:nvSpPr>
        <p:spPr>
          <a:xfrm>
            <a:off x="9484281" y="2224564"/>
            <a:ext cx="2306003" cy="288250"/>
          </a:xfrm>
          <a:prstGeom prst="rect">
            <a:avLst/>
          </a:prstGeom>
          <a:noFill/>
          <a:ln/>
        </p:spPr>
        <p:txBody>
          <a:bodyPr wrap="none" lIns="0" tIns="0" rIns="0" bIns="0" rtlCol="0" anchor="t"/>
          <a:lstStyle/>
          <a:p>
            <a:pPr marL="0" indent="0" algn="ctr">
              <a:lnSpc>
                <a:spcPts val="2250"/>
              </a:lnSpc>
              <a:buNone/>
            </a:pPr>
            <a:r>
              <a:rPr lang="en-US" sz="1800" dirty="0">
                <a:solidFill>
                  <a:srgbClr val="383838"/>
                </a:solidFill>
                <a:latin typeface="PT Serif" pitchFamily="34" charset="0"/>
                <a:ea typeface="PT Serif" pitchFamily="34" charset="-122"/>
                <a:cs typeface="PT Serif" pitchFamily="34" charset="-120"/>
              </a:rPr>
              <a:t>Evaluate Performance</a:t>
            </a:r>
            <a:endParaRPr lang="en-US" sz="1800" dirty="0"/>
          </a:p>
        </p:txBody>
      </p:sp>
      <p:sp>
        <p:nvSpPr>
          <p:cNvPr id="19" name="Text 17"/>
          <p:cNvSpPr/>
          <p:nvPr/>
        </p:nvSpPr>
        <p:spPr>
          <a:xfrm>
            <a:off x="7600593" y="2618184"/>
            <a:ext cx="6073378" cy="562213"/>
          </a:xfrm>
          <a:prstGeom prst="rect">
            <a:avLst/>
          </a:prstGeom>
          <a:noFill/>
          <a:ln/>
        </p:spPr>
        <p:txBody>
          <a:bodyPr wrap="square" lIns="0" tIns="0" rIns="0" bIns="0" rtlCol="0" anchor="t"/>
          <a:lstStyle/>
          <a:p>
            <a:pPr marL="0" indent="0" algn="ctr">
              <a:lnSpc>
                <a:spcPts val="2200"/>
              </a:lnSpc>
              <a:buNone/>
            </a:pPr>
            <a:r>
              <a:rPr lang="en-US" sz="1550" dirty="0">
                <a:solidFill>
                  <a:srgbClr val="383838"/>
                </a:solidFill>
                <a:latin typeface="DM Sans" pitchFamily="34" charset="0"/>
                <a:ea typeface="DM Sans" pitchFamily="34" charset="-122"/>
                <a:cs typeface="DM Sans" pitchFamily="34" charset="-120"/>
              </a:rPr>
              <a:t>The fitted model is evaluated using the testing data, which provides an unbiased assessment of predictive accuracy.</a:t>
            </a:r>
            <a:endParaRPr lang="en-US" sz="1550" dirty="0"/>
          </a:p>
        </p:txBody>
      </p:sp>
      <p:sp>
        <p:nvSpPr>
          <p:cNvPr id="20" name="Shape 18"/>
          <p:cNvSpPr/>
          <p:nvPr/>
        </p:nvSpPr>
        <p:spPr>
          <a:xfrm>
            <a:off x="780812" y="6108135"/>
            <a:ext cx="13068776" cy="29528"/>
          </a:xfrm>
          <a:prstGeom prst="rect">
            <a:avLst/>
          </a:prstGeom>
          <a:solidFill>
            <a:srgbClr val="383838">
              <a:alpha val="50000"/>
            </a:srgbClr>
          </a:solidFill>
          <a:ln/>
        </p:spPr>
      </p:sp>
      <p:sp>
        <p:nvSpPr>
          <p:cNvPr id="21" name="Text 19"/>
          <p:cNvSpPr/>
          <p:nvPr/>
        </p:nvSpPr>
        <p:spPr>
          <a:xfrm>
            <a:off x="780812" y="6510814"/>
            <a:ext cx="2306003" cy="288250"/>
          </a:xfrm>
          <a:prstGeom prst="rect">
            <a:avLst/>
          </a:prstGeom>
          <a:noFill/>
          <a:ln/>
        </p:spPr>
        <p:txBody>
          <a:bodyPr wrap="none" lIns="0" tIns="0" rIns="0" bIns="0" rtlCol="0" anchor="t"/>
          <a:lstStyle/>
          <a:p>
            <a:pPr marL="0" indent="0" algn="l">
              <a:lnSpc>
                <a:spcPts val="2250"/>
              </a:lnSpc>
              <a:buNone/>
            </a:pPr>
            <a:r>
              <a:rPr lang="en-US" sz="1800" dirty="0">
                <a:solidFill>
                  <a:srgbClr val="020202"/>
                </a:solidFill>
                <a:latin typeface="PT Serif" pitchFamily="34" charset="0"/>
                <a:ea typeface="PT Serif" pitchFamily="34" charset="-122"/>
                <a:cs typeface="PT Serif" pitchFamily="34" charset="-120"/>
              </a:rPr>
              <a:t>Training Data</a:t>
            </a:r>
            <a:endParaRPr lang="en-US" sz="1800" dirty="0"/>
          </a:p>
        </p:txBody>
      </p:sp>
      <p:sp>
        <p:nvSpPr>
          <p:cNvPr id="22" name="Text 20"/>
          <p:cNvSpPr/>
          <p:nvPr/>
        </p:nvSpPr>
        <p:spPr>
          <a:xfrm>
            <a:off x="780812" y="6974681"/>
            <a:ext cx="6320076" cy="562213"/>
          </a:xfrm>
          <a:prstGeom prst="rect">
            <a:avLst/>
          </a:prstGeom>
          <a:noFill/>
          <a:ln/>
        </p:spPr>
        <p:txBody>
          <a:bodyPr wrap="square" lIns="0" tIns="0" rIns="0" bIns="0" rtlCol="0" anchor="t"/>
          <a:lstStyle/>
          <a:p>
            <a:pPr marL="0" indent="0" algn="l">
              <a:lnSpc>
                <a:spcPts val="2200"/>
              </a:lnSpc>
              <a:buNone/>
            </a:pPr>
            <a:r>
              <a:rPr lang="en-US" sz="1550" dirty="0">
                <a:solidFill>
                  <a:srgbClr val="383838"/>
                </a:solidFill>
                <a:latin typeface="DM Sans" pitchFamily="34" charset="0"/>
                <a:ea typeface="DM Sans" pitchFamily="34" charset="-122"/>
                <a:cs typeface="DM Sans" pitchFamily="34" charset="-120"/>
              </a:rPr>
              <a:t>Data used to fit the model, estimate parameters, and make decisions about model structure and complexity.</a:t>
            </a:r>
            <a:endParaRPr lang="en-US" sz="1550" dirty="0"/>
          </a:p>
        </p:txBody>
      </p:sp>
      <p:sp>
        <p:nvSpPr>
          <p:cNvPr id="23" name="Text 21"/>
          <p:cNvSpPr/>
          <p:nvPr/>
        </p:nvSpPr>
        <p:spPr>
          <a:xfrm>
            <a:off x="7537133" y="6510814"/>
            <a:ext cx="2306003" cy="288250"/>
          </a:xfrm>
          <a:prstGeom prst="rect">
            <a:avLst/>
          </a:prstGeom>
          <a:noFill/>
          <a:ln/>
        </p:spPr>
        <p:txBody>
          <a:bodyPr wrap="none" lIns="0" tIns="0" rIns="0" bIns="0" rtlCol="0" anchor="t"/>
          <a:lstStyle/>
          <a:p>
            <a:pPr marL="0" indent="0" algn="l">
              <a:lnSpc>
                <a:spcPts val="2250"/>
              </a:lnSpc>
              <a:buNone/>
            </a:pPr>
            <a:r>
              <a:rPr lang="en-US" sz="1800" dirty="0">
                <a:solidFill>
                  <a:srgbClr val="020202"/>
                </a:solidFill>
                <a:latin typeface="PT Serif" pitchFamily="34" charset="0"/>
                <a:ea typeface="PT Serif" pitchFamily="34" charset="-122"/>
                <a:cs typeface="PT Serif" pitchFamily="34" charset="-120"/>
              </a:rPr>
              <a:t>Testing Data</a:t>
            </a:r>
            <a:endParaRPr lang="en-US" sz="1800" dirty="0"/>
          </a:p>
        </p:txBody>
      </p:sp>
      <p:sp>
        <p:nvSpPr>
          <p:cNvPr id="24" name="Text 22"/>
          <p:cNvSpPr/>
          <p:nvPr/>
        </p:nvSpPr>
        <p:spPr>
          <a:xfrm>
            <a:off x="7537133" y="6974681"/>
            <a:ext cx="6320076" cy="562213"/>
          </a:xfrm>
          <a:prstGeom prst="rect">
            <a:avLst/>
          </a:prstGeom>
          <a:noFill/>
          <a:ln/>
        </p:spPr>
        <p:txBody>
          <a:bodyPr wrap="square" lIns="0" tIns="0" rIns="0" bIns="0" rtlCol="0" anchor="t"/>
          <a:lstStyle/>
          <a:p>
            <a:pPr marL="0" indent="0" algn="l">
              <a:lnSpc>
                <a:spcPts val="2200"/>
              </a:lnSpc>
              <a:buNone/>
            </a:pPr>
            <a:r>
              <a:rPr lang="en-US" sz="1350" dirty="0">
                <a:solidFill>
                  <a:srgbClr val="383838"/>
                </a:solidFill>
                <a:latin typeface="DM Sans" pitchFamily="34" charset="0"/>
                <a:ea typeface="DM Sans" pitchFamily="34" charset="-122"/>
                <a:cs typeface="DM Sans" pitchFamily="34" charset="-120"/>
              </a:rPr>
              <a:t>"</a:t>
            </a:r>
            <a:r>
              <a:rPr lang="en-US" sz="1550" dirty="0">
                <a:solidFill>
                  <a:srgbClr val="383838"/>
                </a:solidFill>
                <a:latin typeface="DM Sans" pitchFamily="34" charset="0"/>
                <a:ea typeface="DM Sans" pitchFamily="34" charset="-122"/>
                <a:cs typeface="DM Sans" pitchFamily="34" charset="-120"/>
              </a:rPr>
              <a:t>Fresh" data used exclusively to evaluate model performance. Never used during model development to ensure unbiased assessment.</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7818"/>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4" name="Shape 2"/>
          <p:cNvSpPr/>
          <p:nvPr/>
        </p:nvSpPr>
        <p:spPr>
          <a:xfrm>
            <a:off x="793790" y="2405420"/>
            <a:ext cx="6422231" cy="2652713"/>
          </a:xfrm>
          <a:prstGeom prst="roundRect">
            <a:avLst>
              <a:gd name="adj" fmla="val 1122"/>
            </a:avLst>
          </a:prstGeom>
          <a:solidFill>
            <a:srgbClr val="F2EEEE"/>
          </a:solidFill>
          <a:ln/>
        </p:spPr>
      </p:sp>
      <p:sp>
        <p:nvSpPr>
          <p:cNvPr id="5" name="Shape 3"/>
          <p:cNvSpPr/>
          <p:nvPr/>
        </p:nvSpPr>
        <p:spPr>
          <a:xfrm>
            <a:off x="992148" y="2603778"/>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2733913"/>
            <a:ext cx="267891" cy="334923"/>
          </a:xfrm>
          <a:prstGeom prst="rect">
            <a:avLst/>
          </a:prstGeom>
        </p:spPr>
      </p:pic>
      <p:sp>
        <p:nvSpPr>
          <p:cNvPr id="7" name="Text 4"/>
          <p:cNvSpPr/>
          <p:nvPr/>
        </p:nvSpPr>
        <p:spPr>
          <a:xfrm>
            <a:off x="992148" y="3397448"/>
            <a:ext cx="3757136"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rPr>
              <a:t>Multiple Linear Regression</a:t>
            </a:r>
            <a:endParaRPr lang="en-US" sz="2450" dirty="0"/>
          </a:p>
        </p:txBody>
      </p:sp>
      <p:sp>
        <p:nvSpPr>
          <p:cNvPr id="8" name="Text 5"/>
          <p:cNvSpPr/>
          <p:nvPr/>
        </p:nvSpPr>
        <p:spPr>
          <a:xfrm>
            <a:off x="992148" y="3907155"/>
            <a:ext cx="6025515"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Used to model continuous dependent variable.</a:t>
            </a:r>
          </a:p>
          <a:p>
            <a:pPr marL="0" indent="0" algn="l">
              <a:lnSpc>
                <a:spcPts val="2500"/>
              </a:lnSpc>
              <a:buNone/>
            </a:pPr>
            <a:r>
              <a:rPr lang="en-US" dirty="0">
                <a:solidFill>
                  <a:srgbClr val="383838"/>
                </a:solidFill>
                <a:latin typeface="DM Sans" pitchFamily="34" charset="0"/>
              </a:rPr>
              <a:t>Independent variables can be continuous or categorical.</a:t>
            </a:r>
            <a:endParaRPr lang="en-US" dirty="0"/>
          </a:p>
        </p:txBody>
      </p:sp>
      <p:sp>
        <p:nvSpPr>
          <p:cNvPr id="9" name="Shape 6"/>
          <p:cNvSpPr/>
          <p:nvPr/>
        </p:nvSpPr>
        <p:spPr>
          <a:xfrm>
            <a:off x="7414379" y="2405420"/>
            <a:ext cx="6422231" cy="2652713"/>
          </a:xfrm>
          <a:prstGeom prst="roundRect">
            <a:avLst>
              <a:gd name="adj" fmla="val 1122"/>
            </a:avLst>
          </a:prstGeom>
          <a:solidFill>
            <a:srgbClr val="F2EEEE"/>
          </a:solidFill>
          <a:ln/>
        </p:spPr>
      </p:sp>
      <p:sp>
        <p:nvSpPr>
          <p:cNvPr id="10" name="Shape 7"/>
          <p:cNvSpPr/>
          <p:nvPr/>
        </p:nvSpPr>
        <p:spPr>
          <a:xfrm>
            <a:off x="7612737" y="2603778"/>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7776448" y="2733913"/>
            <a:ext cx="267891" cy="334923"/>
          </a:xfrm>
          <a:prstGeom prst="rect">
            <a:avLst/>
          </a:prstGeom>
        </p:spPr>
      </p:pic>
      <p:sp>
        <p:nvSpPr>
          <p:cNvPr id="12" name="Text 8"/>
          <p:cNvSpPr/>
          <p:nvPr/>
        </p:nvSpPr>
        <p:spPr>
          <a:xfrm>
            <a:off x="7612737" y="3397448"/>
            <a:ext cx="3629263"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Estimation and Hypothesis Testing</a:t>
            </a:r>
            <a:endParaRPr lang="en-US" sz="2450" dirty="0"/>
          </a:p>
        </p:txBody>
      </p:sp>
      <p:sp>
        <p:nvSpPr>
          <p:cNvPr id="13" name="Text 9"/>
          <p:cNvSpPr/>
          <p:nvPr/>
        </p:nvSpPr>
        <p:spPr>
          <a:xfrm>
            <a:off x="7612737" y="3907155"/>
            <a:ext cx="602551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Parameter Estimation by Least Square Method.</a:t>
            </a:r>
          </a:p>
          <a:p>
            <a:pPr marL="0" indent="0" algn="l">
              <a:lnSpc>
                <a:spcPts val="2500"/>
              </a:lnSpc>
              <a:buNone/>
            </a:pPr>
            <a:r>
              <a:rPr lang="en-US" dirty="0">
                <a:solidFill>
                  <a:srgbClr val="383838"/>
                </a:solidFill>
                <a:latin typeface="DM Sans" pitchFamily="34" charset="0"/>
              </a:rPr>
              <a:t>Hypothesis Testing is performed to assess significance of predictors.</a:t>
            </a:r>
            <a:endParaRPr lang="en-US" dirty="0"/>
          </a:p>
        </p:txBody>
      </p:sp>
      <p:sp>
        <p:nvSpPr>
          <p:cNvPr id="14" name="Shape 10"/>
          <p:cNvSpPr/>
          <p:nvPr/>
        </p:nvSpPr>
        <p:spPr>
          <a:xfrm>
            <a:off x="793790" y="5256490"/>
            <a:ext cx="6422231" cy="2335173"/>
          </a:xfrm>
          <a:prstGeom prst="roundRect">
            <a:avLst>
              <a:gd name="adj" fmla="val 1275"/>
            </a:avLst>
          </a:prstGeom>
          <a:solidFill>
            <a:srgbClr val="F2EEEE"/>
          </a:solidFill>
          <a:ln/>
        </p:spPr>
      </p:sp>
      <p:sp>
        <p:nvSpPr>
          <p:cNvPr id="15" name="Shape 11"/>
          <p:cNvSpPr/>
          <p:nvPr/>
        </p:nvSpPr>
        <p:spPr>
          <a:xfrm>
            <a:off x="992148" y="5454848"/>
            <a:ext cx="595313" cy="595313"/>
          </a:xfrm>
          <a:prstGeom prst="roundRect">
            <a:avLst>
              <a:gd name="adj" fmla="val 15358451"/>
            </a:avLst>
          </a:prstGeom>
          <a:solidFill>
            <a:srgbClr val="E04F00"/>
          </a:solidFill>
          <a:ln/>
        </p:spPr>
      </p:sp>
      <p:pic>
        <p:nvPicPr>
          <p:cNvPr id="16" name="Image 2" descr="preencoded.png"/>
          <p:cNvPicPr>
            <a:picLocks noChangeAspect="1"/>
          </p:cNvPicPr>
          <p:nvPr/>
        </p:nvPicPr>
        <p:blipFill>
          <a:blip r:embed="rId5"/>
          <a:stretch>
            <a:fillRect/>
          </a:stretch>
        </p:blipFill>
        <p:spPr>
          <a:xfrm>
            <a:off x="1155859" y="5584984"/>
            <a:ext cx="267891" cy="334923"/>
          </a:xfrm>
          <a:prstGeom prst="rect">
            <a:avLst/>
          </a:prstGeom>
        </p:spPr>
      </p:pic>
      <p:sp>
        <p:nvSpPr>
          <p:cNvPr id="17" name="Text 12"/>
          <p:cNvSpPr/>
          <p:nvPr/>
        </p:nvSpPr>
        <p:spPr>
          <a:xfrm>
            <a:off x="992148" y="6248519"/>
            <a:ext cx="409741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R Squared and Adjusted R Squared</a:t>
            </a:r>
            <a:endParaRPr lang="en-US" sz="2450" dirty="0"/>
          </a:p>
        </p:txBody>
      </p:sp>
      <p:sp>
        <p:nvSpPr>
          <p:cNvPr id="18" name="Text 13"/>
          <p:cNvSpPr/>
          <p:nvPr/>
        </p:nvSpPr>
        <p:spPr>
          <a:xfrm>
            <a:off x="992148" y="6758226"/>
            <a:ext cx="6025515" cy="635079"/>
          </a:xfrm>
          <a:prstGeom prst="rect">
            <a:avLst/>
          </a:prstGeom>
          <a:noFill/>
          <a:ln/>
        </p:spPr>
        <p:txBody>
          <a:bodyPr wrap="square" lIns="0" tIns="0" rIns="0" bIns="0" rtlCol="0" anchor="t"/>
          <a:lstStyle/>
          <a:p>
            <a:pPr>
              <a:lnSpc>
                <a:spcPts val="2500"/>
              </a:lnSpc>
            </a:pPr>
            <a:r>
              <a:rPr lang="en-US" dirty="0">
                <a:solidFill>
                  <a:srgbClr val="383838"/>
                </a:solidFill>
                <a:latin typeface="DM Sans" pitchFamily="34" charset="0"/>
              </a:rPr>
              <a:t>Measures of goodness of model fit</a:t>
            </a:r>
            <a:endParaRPr lang="en-US" dirty="0"/>
          </a:p>
        </p:txBody>
      </p:sp>
      <p:sp>
        <p:nvSpPr>
          <p:cNvPr id="19" name="Shape 14"/>
          <p:cNvSpPr/>
          <p:nvPr/>
        </p:nvSpPr>
        <p:spPr>
          <a:xfrm>
            <a:off x="7414379" y="5256490"/>
            <a:ext cx="6422231" cy="2335173"/>
          </a:xfrm>
          <a:prstGeom prst="roundRect">
            <a:avLst>
              <a:gd name="adj" fmla="val 1275"/>
            </a:avLst>
          </a:prstGeom>
          <a:solidFill>
            <a:srgbClr val="F2EEEE"/>
          </a:solidFill>
          <a:ln/>
        </p:spPr>
      </p:sp>
      <p:sp>
        <p:nvSpPr>
          <p:cNvPr id="20" name="Shape 15"/>
          <p:cNvSpPr/>
          <p:nvPr/>
        </p:nvSpPr>
        <p:spPr>
          <a:xfrm>
            <a:off x="7612737" y="5454848"/>
            <a:ext cx="595313" cy="595313"/>
          </a:xfrm>
          <a:prstGeom prst="roundRect">
            <a:avLst>
              <a:gd name="adj" fmla="val 15358451"/>
            </a:avLst>
          </a:prstGeom>
          <a:solidFill>
            <a:srgbClr val="E04F00"/>
          </a:solidFill>
          <a:ln/>
        </p:spPr>
      </p:sp>
      <p:pic>
        <p:nvPicPr>
          <p:cNvPr id="21" name="Image 3" descr="preencoded.png"/>
          <p:cNvPicPr>
            <a:picLocks noChangeAspect="1"/>
          </p:cNvPicPr>
          <p:nvPr/>
        </p:nvPicPr>
        <p:blipFill>
          <a:blip r:embed="rId6"/>
          <a:stretch>
            <a:fillRect/>
          </a:stretch>
        </p:blipFill>
        <p:spPr>
          <a:xfrm>
            <a:off x="7776448" y="5584984"/>
            <a:ext cx="267891" cy="334923"/>
          </a:xfrm>
          <a:prstGeom prst="rect">
            <a:avLst/>
          </a:prstGeom>
        </p:spPr>
      </p:pic>
      <p:sp>
        <p:nvSpPr>
          <p:cNvPr id="22" name="Text 16"/>
          <p:cNvSpPr/>
          <p:nvPr/>
        </p:nvSpPr>
        <p:spPr>
          <a:xfrm>
            <a:off x="7612737" y="6248519"/>
            <a:ext cx="3409831"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rPr>
              <a:t>Multicollinearity and Residual Analysis </a:t>
            </a:r>
            <a:endParaRPr lang="en-US" sz="2450" dirty="0"/>
          </a:p>
        </p:txBody>
      </p:sp>
      <p:sp>
        <p:nvSpPr>
          <p:cNvPr id="23" name="Text 17"/>
          <p:cNvSpPr/>
          <p:nvPr/>
        </p:nvSpPr>
        <p:spPr>
          <a:xfrm>
            <a:off x="7612737" y="6758226"/>
            <a:ext cx="6223873" cy="635079"/>
          </a:xfrm>
          <a:prstGeom prst="rect">
            <a:avLst/>
          </a:prstGeom>
          <a:noFill/>
          <a:ln/>
        </p:spPr>
        <p:txBody>
          <a:bodyPr wrap="square" lIns="0" tIns="0" rIns="0" bIns="0" rtlCol="0" anchor="t"/>
          <a:lstStyle/>
          <a:p>
            <a:pPr>
              <a:lnSpc>
                <a:spcPts val="2500"/>
              </a:lnSpc>
            </a:pPr>
            <a:r>
              <a:rPr lang="en-US" sz="1600" dirty="0">
                <a:solidFill>
                  <a:srgbClr val="000000"/>
                </a:solidFill>
                <a:latin typeface="DM Sans" pitchFamily="34" charset="0"/>
                <a:ea typeface="DM Sans" pitchFamily="34" charset="-122"/>
                <a:cs typeface="DM Sans" pitchFamily="34" charset="-120"/>
              </a:rPr>
              <a:t>Independent variables should not be linear dependent on each other. Residual analysis helps to assess model misspecifications.</a:t>
            </a:r>
            <a:endParaRPr lang="en-US" sz="1600" dirty="0"/>
          </a:p>
        </p:txBody>
      </p:sp>
    </p:spTree>
    <p:extLst>
      <p:ext uri="{BB962C8B-B14F-4D97-AF65-F5344CB8AC3E}">
        <p14:creationId xmlns:p14="http://schemas.microsoft.com/office/powerpoint/2010/main" val="3810547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1820</Words>
  <Application>Microsoft Macintosh PowerPoint</Application>
  <PresentationFormat>Custom</PresentationFormat>
  <Paragraphs>236</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PT Serif</vt:lpstr>
      <vt:lpstr>Ebrima</vt:lpstr>
      <vt:lpstr>DM Sans</vt:lpstr>
      <vt:lpstr>Calibri</vt:lpstr>
      <vt:lpstr>Arial</vt:lpstr>
      <vt:lpstr>PT Serif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Vinayak Deshpande</cp:lastModifiedBy>
  <cp:revision>12</cp:revision>
  <dcterms:created xsi:type="dcterms:W3CDTF">2025-10-07T04:39:42Z</dcterms:created>
  <dcterms:modified xsi:type="dcterms:W3CDTF">2025-10-24T07:05:33Z</dcterms:modified>
</cp:coreProperties>
</file>