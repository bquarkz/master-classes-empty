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8" r:id="rId14"/>
    <p:sldId id="280" r:id="rId15"/>
    <p:sldId id="279" r:id="rId16"/>
    <p:sldId id="281" r:id="rId17"/>
    <p:sldId id="282" r:id="rId18"/>
    <p:sldId id="273" r:id="rId19"/>
    <p:sldId id="274" r:id="rId20"/>
    <p:sldId id="268" r:id="rId21"/>
    <p:sldId id="269" r:id="rId22"/>
  </p:sldIdLst>
  <p:sldSz cx="14630400" cy="8229600"/>
  <p:notesSz cx="8229600" cy="14630400"/>
  <p:embeddedFontLst>
    <p:embeddedFont>
      <p:font typeface="Cambria Math" panose="02040503050406030204" pitchFamily="18" charset="0"/>
      <p:regular r:id="rId24"/>
    </p:embeddedFont>
    <p:embeddedFont>
      <p:font typeface="DM Sans" pitchFamily="2" charset="77"/>
      <p:regular r:id="rId25"/>
      <p:bold r:id="rId26"/>
      <p:italic r:id="rId27"/>
      <p:boldItalic r:id="rId28"/>
    </p:embeddedFont>
    <p:embeddedFont>
      <p:font typeface="PT Serif" panose="020A0603040505020204" pitchFamily="18" charset="77"/>
      <p:regular r:id="rId29"/>
      <p:bold r:id="rId30"/>
      <p:italic r:id="rId31"/>
      <p:boldItalic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6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8202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1426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4A218-E142-7206-5768-FF9B9AB8C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17279B-2A7D-0DEC-5DCF-B7ADABB154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A85778-CC44-A9DF-D043-9509E87B1F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62D227-1F22-5C27-1743-737BD1630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5821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16738126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4457957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1679936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6" r:id="rId16"/>
    <p:sldLayoutId id="2147483667" r:id="rId17"/>
    <p:sldLayoutId id="2147483668" r:id="rId1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2746891"/>
            <a:ext cx="11892549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Survival Analysis and Cox Regression</a:t>
            </a:r>
          </a:p>
          <a:p>
            <a:pPr marL="0" indent="0" algn="l">
              <a:lnSpc>
                <a:spcPts val="585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PT Serif" pitchFamily="34" charset="0"/>
              </a:rPr>
              <a:t>Modeling Time to Event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07162"/>
            <a:ext cx="476333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Contents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215622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511266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685574"/>
            <a:ext cx="437030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Introduction to Survival Analysis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428548" y="215622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511266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8" name="Text 6"/>
          <p:cNvSpPr/>
          <p:nvPr/>
        </p:nvSpPr>
        <p:spPr>
          <a:xfrm>
            <a:off x="7428548" y="2685574"/>
            <a:ext cx="383321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Time to Event and Censoring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93790" y="345447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3790" y="3809524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1" name="Text 9"/>
          <p:cNvSpPr/>
          <p:nvPr/>
        </p:nvSpPr>
        <p:spPr>
          <a:xfrm>
            <a:off x="793790" y="3983831"/>
            <a:ext cx="3926681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Objective of Survival Analysis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7428548" y="345447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428548" y="3809524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4" name="Text 12"/>
          <p:cNvSpPr/>
          <p:nvPr/>
        </p:nvSpPr>
        <p:spPr>
          <a:xfrm>
            <a:off x="7428548" y="3983831"/>
            <a:ext cx="383702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Concept of Survival Function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793790" y="475273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107781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28208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Hazard Function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7428548" y="475273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06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428548" y="5107781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0" name="Text 18"/>
          <p:cNvSpPr/>
          <p:nvPr/>
        </p:nvSpPr>
        <p:spPr>
          <a:xfrm>
            <a:off x="7428548" y="528208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Cox Regression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793790" y="605099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07</a:t>
            </a:r>
            <a:endParaRPr lang="en-US" sz="1750" dirty="0"/>
          </a:p>
        </p:txBody>
      </p:sp>
      <p:sp>
        <p:nvSpPr>
          <p:cNvPr id="22" name="Shape 20"/>
          <p:cNvSpPr/>
          <p:nvPr/>
        </p:nvSpPr>
        <p:spPr>
          <a:xfrm>
            <a:off x="793790" y="6406039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3" name="Text 21"/>
          <p:cNvSpPr/>
          <p:nvPr/>
        </p:nvSpPr>
        <p:spPr>
          <a:xfrm>
            <a:off x="793790" y="658034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Statistical Model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7428548" y="605099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08</a:t>
            </a:r>
            <a:endParaRPr lang="en-US" sz="1750" dirty="0"/>
          </a:p>
        </p:txBody>
      </p:sp>
      <p:sp>
        <p:nvSpPr>
          <p:cNvPr id="25" name="Shape 23"/>
          <p:cNvSpPr/>
          <p:nvPr/>
        </p:nvSpPr>
        <p:spPr>
          <a:xfrm>
            <a:off x="7428548" y="6406039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6" name="Text 24"/>
          <p:cNvSpPr/>
          <p:nvPr/>
        </p:nvSpPr>
        <p:spPr>
          <a:xfrm>
            <a:off x="7428548" y="6580346"/>
            <a:ext cx="398311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Case Study for Cox Regression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6869"/>
            <a:ext cx="5945981" cy="506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Introduction to Survival Analysis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1558528"/>
            <a:ext cx="13042821" cy="771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Survival analysis is the study of time taken for an event to occur.</a:t>
            </a:r>
            <a:r>
              <a:rPr lang="en-US" sz="1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This powerful statistical method allows researchers to analyze time-to-event data, accounting for incomplete observations.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793790" y="2546390"/>
            <a:ext cx="13042821" cy="1156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</a:t>
            </a:r>
            <a:r>
              <a:rPr lang="en-US" sz="18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analysis variable</a:t>
            </a:r>
            <a:r>
              <a:rPr lang="en-US" sz="1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represents the time between a </a:t>
            </a:r>
            <a:r>
              <a:rPr lang="en-US" sz="185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 origin and an end point</a:t>
            </a:r>
            <a:r>
              <a:rPr lang="en-US" sz="1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The end point is either the occurrence of the event of interest, referred to as a death or failure, or the end of the subject's participation in the study.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93790" y="3919776"/>
            <a:ext cx="13042821" cy="771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Two functions are of fundamental </a:t>
            </a:r>
            <a:r>
              <a:rPr lang="en-US" sz="185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interest—the survival function and the hazard function</a:t>
            </a:r>
            <a:r>
              <a:rPr lang="en-US" sz="1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which together provide a complete description of the time-to-event distribution.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793790" y="4907637"/>
            <a:ext cx="13042821" cy="1281708"/>
          </a:xfrm>
          <a:prstGeom prst="roundRect">
            <a:avLst>
              <a:gd name="adj" fmla="val 2256"/>
            </a:avLst>
          </a:prstGeom>
          <a:solidFill>
            <a:srgbClr val="FFCDB3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552" y="5204341"/>
            <a:ext cx="301228" cy="24098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80542" y="5148501"/>
            <a:ext cx="12163306" cy="771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of the earliest applications of survival analysis was by Christiaan Huygens in 1669, demonstrating how many out of 100 people survive until 86 years of age.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793790" y="6406158"/>
            <a:ext cx="13042821" cy="1156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IN" sz="1850" dirty="0">
                <a:solidFill>
                  <a:srgbClr val="383838"/>
                </a:solidFill>
                <a:latin typeface="DM Sans" pitchFamily="34" charset="0"/>
              </a:rPr>
              <a:t>The name ‘survival’ analysis stems from the usage of this method for </a:t>
            </a:r>
            <a:r>
              <a:rPr lang="en-IN" sz="1850" dirty="0" err="1">
                <a:solidFill>
                  <a:srgbClr val="383838"/>
                </a:solidFill>
                <a:latin typeface="DM Sans" pitchFamily="34" charset="0"/>
              </a:rPr>
              <a:t>modeling</a:t>
            </a:r>
            <a:r>
              <a:rPr lang="en-IN" sz="1850" dirty="0">
                <a:solidFill>
                  <a:srgbClr val="383838"/>
                </a:solidFill>
                <a:latin typeface="DM Sans" pitchFamily="34" charset="0"/>
              </a:rPr>
              <a:t> ‘time to death’; however the concept can be extended to several different areas and event can be defined as occurrence of a disease,  lapse of a policy, etc.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5098" y="617577"/>
            <a:ext cx="4551045" cy="441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Time to Event and Censoring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85098" y="1395770"/>
            <a:ext cx="13060204" cy="672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Consider that </a:t>
            </a:r>
            <a:r>
              <a:rPr lang="en-US" sz="16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 to occurrence of an event T is a random variable</a:t>
            </a: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In order to define time-to-event, the following terms must be clearly defined: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85098" y="2257663"/>
            <a:ext cx="4241244" cy="2541627"/>
          </a:xfrm>
          <a:prstGeom prst="roundRect">
            <a:avLst>
              <a:gd name="adj" fmla="val 99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6193" y="2448758"/>
            <a:ext cx="2208252" cy="275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Time Origin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76193" y="2825591"/>
            <a:ext cx="3859054" cy="1009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time origin must be specified such that individuals are as much as possible on an equal footing.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76193" y="3935492"/>
            <a:ext cx="3859054" cy="672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Example: time point when treatment starts for a particular disease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194578" y="2257663"/>
            <a:ext cx="4241244" cy="2541627"/>
          </a:xfrm>
          <a:prstGeom prst="roundRect">
            <a:avLst>
              <a:gd name="adj" fmla="val 99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85673" y="2448758"/>
            <a:ext cx="2208252" cy="275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Time Scale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385673" y="2825591"/>
            <a:ext cx="3859054" cy="1009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Usually, observation time is used as the time scale for both clinical and observational studies.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85673" y="3935492"/>
            <a:ext cx="3859054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Example: months, years, age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9604058" y="2257663"/>
            <a:ext cx="4241244" cy="2541627"/>
          </a:xfrm>
          <a:prstGeom prst="roundRect">
            <a:avLst>
              <a:gd name="adj" fmla="val 99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95153" y="2448758"/>
            <a:ext cx="2208252" cy="275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Definition of an Event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795153" y="2825591"/>
            <a:ext cx="3859054" cy="672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Based on the study objective, the event should be clearly defined.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795153" y="3599140"/>
            <a:ext cx="3859054" cy="672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Example: death, disease occurrence, relapse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785098" y="4988481"/>
            <a:ext cx="13060204" cy="782003"/>
          </a:xfrm>
          <a:prstGeom prst="roundRect">
            <a:avLst>
              <a:gd name="adj" fmla="val 3227"/>
            </a:avLst>
          </a:prstGeom>
          <a:solidFill>
            <a:srgbClr val="FFCDB3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333" y="5250894"/>
            <a:ext cx="262890" cy="21026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384459" y="5198745"/>
            <a:ext cx="12292608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Relationship:</a:t>
            </a:r>
            <a:r>
              <a:rPr lang="en-US" sz="16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If rate of occurrence of an event is λ then the expected time-to-event is 1/λ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785098" y="5959673"/>
            <a:ext cx="13060204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Subjects are said to be </a:t>
            </a:r>
            <a:r>
              <a:rPr lang="en-US" sz="165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censored</a:t>
            </a: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 case of either of the following outcomes: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785098" y="6485215"/>
            <a:ext cx="13060204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If they are lost to follow up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85098" y="6880384"/>
            <a:ext cx="13060204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If they drop out of the study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85098" y="7275552"/>
            <a:ext cx="13060204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If the study ends before they have an outcome of interest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03183"/>
            <a:ext cx="4048839" cy="506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Concept of Censoring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1594842"/>
            <a:ext cx="13042821" cy="771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Censoring is a unique feature of survival data that distinguishes it from other statistical analyses. The outcome is represented by two variables: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745123" y="2913900"/>
            <a:ext cx="6424970" cy="1549718"/>
          </a:xfrm>
          <a:prstGeom prst="roundRect">
            <a:avLst>
              <a:gd name="adj" fmla="val 1866"/>
            </a:avLst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1031439" y="3167282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Time Variable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31439" y="3672869"/>
            <a:ext cx="6039445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 = time at event, is a random variable having probability distribution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8000" y="4782265"/>
            <a:ext cx="6425089" cy="1549718"/>
          </a:xfrm>
          <a:prstGeom prst="roundRect">
            <a:avLst>
              <a:gd name="adj" fmla="val 1866"/>
            </a:avLst>
          </a:prstGeom>
          <a:solidFill>
            <a:srgbClr val="E04F00"/>
          </a:solidFill>
          <a:ln/>
        </p:spPr>
      </p:sp>
      <p:grpSp>
        <p:nvGrpSpPr>
          <p:cNvPr id="32" name="Group 13">
            <a:extLst>
              <a:ext uri="{FF2B5EF4-FFF2-40B4-BE49-F238E27FC236}">
                <a16:creationId xmlns:a16="http://schemas.microsoft.com/office/drawing/2014/main" id="{8E877350-FF06-5DA9-B13F-39B96E38FACF}"/>
              </a:ext>
            </a:extLst>
          </p:cNvPr>
          <p:cNvGrpSpPr/>
          <p:nvPr/>
        </p:nvGrpSpPr>
        <p:grpSpPr>
          <a:xfrm>
            <a:off x="8869501" y="2365891"/>
            <a:ext cx="4114800" cy="4329918"/>
            <a:chOff x="3886200" y="1905000"/>
            <a:chExt cx="4114800" cy="4329918"/>
          </a:xfrm>
        </p:grpSpPr>
        <p:grpSp>
          <p:nvGrpSpPr>
            <p:cNvPr id="33" name="Group 15">
              <a:extLst>
                <a:ext uri="{FF2B5EF4-FFF2-40B4-BE49-F238E27FC236}">
                  <a16:creationId xmlns:a16="http://schemas.microsoft.com/office/drawing/2014/main" id="{307F5042-AA78-661F-E6F7-DC7DA4CF82D2}"/>
                </a:ext>
              </a:extLst>
            </p:cNvPr>
            <p:cNvGrpSpPr/>
            <p:nvPr/>
          </p:nvGrpSpPr>
          <p:grpSpPr>
            <a:xfrm>
              <a:off x="4572000" y="1905000"/>
              <a:ext cx="2895600" cy="2590800"/>
              <a:chOff x="4572000" y="1905000"/>
              <a:chExt cx="2895600" cy="2590800"/>
            </a:xfrm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7F4CD8FF-29BB-216C-89FB-52863E09DEBA}"/>
                  </a:ext>
                </a:extLst>
              </p:cNvPr>
              <p:cNvCxnSpPr/>
              <p:nvPr/>
            </p:nvCxnSpPr>
            <p:spPr>
              <a:xfrm>
                <a:off x="4572000" y="1905000"/>
                <a:ext cx="0" cy="259080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D5416CDF-F414-784F-67EE-0877811D206B}"/>
                  </a:ext>
                </a:extLst>
              </p:cNvPr>
              <p:cNvCxnSpPr/>
              <p:nvPr/>
            </p:nvCxnSpPr>
            <p:spPr>
              <a:xfrm>
                <a:off x="7315200" y="1905000"/>
                <a:ext cx="0" cy="259080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5DD6637F-81AA-D323-1463-925C3CF06E14}"/>
                  </a:ext>
                </a:extLst>
              </p:cNvPr>
              <p:cNvCxnSpPr/>
              <p:nvPr/>
            </p:nvCxnSpPr>
            <p:spPr>
              <a:xfrm>
                <a:off x="4572000" y="2324100"/>
                <a:ext cx="914400" cy="0"/>
              </a:xfrm>
              <a:prstGeom prst="line">
                <a:avLst/>
              </a:prstGeom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01D6E71D-8267-5238-A78B-72BF65CE830F}"/>
                  </a:ext>
                </a:extLst>
              </p:cNvPr>
              <p:cNvSpPr/>
              <p:nvPr/>
            </p:nvSpPr>
            <p:spPr>
              <a:xfrm>
                <a:off x="5486400" y="2209800"/>
                <a:ext cx="228600" cy="228600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90503D52-B246-1064-77EA-0539FFFB965C}"/>
                  </a:ext>
                </a:extLst>
              </p:cNvPr>
              <p:cNvCxnSpPr/>
              <p:nvPr/>
            </p:nvCxnSpPr>
            <p:spPr>
              <a:xfrm flipV="1">
                <a:off x="4572000" y="2705100"/>
                <a:ext cx="1447800" cy="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D14DABEC-85C4-623A-AF06-C9919FA7E9EA}"/>
                  </a:ext>
                </a:extLst>
              </p:cNvPr>
              <p:cNvSpPr/>
              <p:nvPr/>
            </p:nvSpPr>
            <p:spPr>
              <a:xfrm>
                <a:off x="6019800" y="2590800"/>
                <a:ext cx="228600" cy="228600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grpSp>
            <p:nvGrpSpPr>
              <p:cNvPr id="46" name="Group 30">
                <a:extLst>
                  <a:ext uri="{FF2B5EF4-FFF2-40B4-BE49-F238E27FC236}">
                    <a16:creationId xmlns:a16="http://schemas.microsoft.com/office/drawing/2014/main" id="{184F8004-A37B-3D26-B2E5-3FEDC0A5D2BA}"/>
                  </a:ext>
                </a:extLst>
              </p:cNvPr>
              <p:cNvGrpSpPr/>
              <p:nvPr/>
            </p:nvGrpSpPr>
            <p:grpSpPr>
              <a:xfrm>
                <a:off x="4572000" y="3124200"/>
                <a:ext cx="2895600" cy="228600"/>
                <a:chOff x="4572000" y="3124200"/>
                <a:chExt cx="2895600" cy="228600"/>
              </a:xfrm>
            </p:grpSpPr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8685D4FC-8E23-5811-9D23-559459E5C396}"/>
                    </a:ext>
                  </a:extLst>
                </p:cNvPr>
                <p:cNvCxnSpPr>
                  <a:endCxn id="51" idx="2"/>
                </p:cNvCxnSpPr>
                <p:nvPr/>
              </p:nvCxnSpPr>
              <p:spPr>
                <a:xfrm>
                  <a:off x="4572000" y="3238500"/>
                  <a:ext cx="2667000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98789DF4-B9E3-7F92-A9DF-675A42C43AC3}"/>
                    </a:ext>
                  </a:extLst>
                </p:cNvPr>
                <p:cNvSpPr/>
                <p:nvPr/>
              </p:nvSpPr>
              <p:spPr>
                <a:xfrm>
                  <a:off x="7239000" y="3124200"/>
                  <a:ext cx="228600" cy="228600"/>
                </a:xfrm>
                <a:prstGeom prst="ellipse">
                  <a:avLst/>
                </a:prstGeom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7" name="Group 31">
                <a:extLst>
                  <a:ext uri="{FF2B5EF4-FFF2-40B4-BE49-F238E27FC236}">
                    <a16:creationId xmlns:a16="http://schemas.microsoft.com/office/drawing/2014/main" id="{513B7796-1883-9D6D-4107-02922D5CE6B6}"/>
                  </a:ext>
                </a:extLst>
              </p:cNvPr>
              <p:cNvGrpSpPr/>
              <p:nvPr/>
            </p:nvGrpSpPr>
            <p:grpSpPr>
              <a:xfrm>
                <a:off x="4572000" y="3962400"/>
                <a:ext cx="1143000" cy="228600"/>
                <a:chOff x="4800600" y="2400300"/>
                <a:chExt cx="1143000" cy="228600"/>
              </a:xfrm>
            </p:grpSpPr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4117DA6C-8FA7-16A5-CC4A-44F0770B3292}"/>
                    </a:ext>
                  </a:extLst>
                </p:cNvPr>
                <p:cNvCxnSpPr/>
                <p:nvPr/>
              </p:nvCxnSpPr>
              <p:spPr>
                <a:xfrm>
                  <a:off x="4800600" y="2514600"/>
                  <a:ext cx="914400" cy="0"/>
                </a:xfrm>
                <a:prstGeom prst="line">
                  <a:avLst/>
                </a:prstGeom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A8AF613E-B9F4-C368-B779-83E3D6BB0B31}"/>
                    </a:ext>
                  </a:extLst>
                </p:cNvPr>
                <p:cNvSpPr/>
                <p:nvPr/>
              </p:nvSpPr>
              <p:spPr>
                <a:xfrm>
                  <a:off x="5715000" y="2400300"/>
                  <a:ext cx="228600" cy="228600"/>
                </a:xfrm>
                <a:prstGeom prst="ellipse">
                  <a:avLst/>
                </a:prstGeom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sp>
          <p:nvSpPr>
            <p:cNvPr id="34" name="Rounded Rectangle 18">
              <a:extLst>
                <a:ext uri="{FF2B5EF4-FFF2-40B4-BE49-F238E27FC236}">
                  <a16:creationId xmlns:a16="http://schemas.microsoft.com/office/drawing/2014/main" id="{DA84FEC8-5506-9189-1024-108834BA5BCE}"/>
                </a:ext>
              </a:extLst>
            </p:cNvPr>
            <p:cNvSpPr/>
            <p:nvPr/>
          </p:nvSpPr>
          <p:spPr>
            <a:xfrm>
              <a:off x="3886200" y="4495799"/>
              <a:ext cx="1371600" cy="495299"/>
            </a:xfrm>
            <a:prstGeom prst="round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Study Opens</a:t>
              </a:r>
            </a:p>
          </p:txBody>
        </p:sp>
        <p:sp>
          <p:nvSpPr>
            <p:cNvPr id="35" name="Rounded Rectangle 19">
              <a:extLst>
                <a:ext uri="{FF2B5EF4-FFF2-40B4-BE49-F238E27FC236}">
                  <a16:creationId xmlns:a16="http://schemas.microsoft.com/office/drawing/2014/main" id="{B1CB5EB7-4E84-6D27-99A8-2B66993CE278}"/>
                </a:ext>
              </a:extLst>
            </p:cNvPr>
            <p:cNvSpPr/>
            <p:nvPr/>
          </p:nvSpPr>
          <p:spPr>
            <a:xfrm>
              <a:off x="6629400" y="4495800"/>
              <a:ext cx="1371600" cy="495299"/>
            </a:xfrm>
            <a:prstGeom prst="round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Study Closes</a:t>
              </a:r>
            </a:p>
          </p:txBody>
        </p:sp>
        <p:grpSp>
          <p:nvGrpSpPr>
            <p:cNvPr id="36" name="Group 20">
              <a:extLst>
                <a:ext uri="{FF2B5EF4-FFF2-40B4-BE49-F238E27FC236}">
                  <a16:creationId xmlns:a16="http://schemas.microsoft.com/office/drawing/2014/main" id="{EB7648CD-AEE4-AD55-66AE-4C127A028239}"/>
                </a:ext>
              </a:extLst>
            </p:cNvPr>
            <p:cNvGrpSpPr/>
            <p:nvPr/>
          </p:nvGrpSpPr>
          <p:grpSpPr>
            <a:xfrm>
              <a:off x="4495800" y="5311588"/>
              <a:ext cx="2998260" cy="923330"/>
              <a:chOff x="4459406" y="5325070"/>
              <a:chExt cx="2998260" cy="923330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2BA6A7FE-6EC5-A02C-0944-F567A6665365}"/>
                  </a:ext>
                </a:extLst>
              </p:cNvPr>
              <p:cNvSpPr/>
              <p:nvPr/>
            </p:nvSpPr>
            <p:spPr>
              <a:xfrm>
                <a:off x="4459406" y="5467350"/>
                <a:ext cx="228600" cy="228600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781F43C7-37AE-5BAB-B378-06482FAC3E5F}"/>
                  </a:ext>
                </a:extLst>
              </p:cNvPr>
              <p:cNvSpPr/>
              <p:nvPr/>
            </p:nvSpPr>
            <p:spPr>
              <a:xfrm>
                <a:off x="4459406" y="5905500"/>
                <a:ext cx="228600" cy="228600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2A71E8C-61E6-A3E7-8FC9-8BD20920C7AC}"/>
                  </a:ext>
                </a:extLst>
              </p:cNvPr>
              <p:cNvSpPr txBox="1"/>
              <p:nvPr/>
            </p:nvSpPr>
            <p:spPr>
              <a:xfrm>
                <a:off x="5052840" y="5325070"/>
                <a:ext cx="2404826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N" dirty="0"/>
                  <a:t>Event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dirty="0"/>
                  <a:t>Censored observation</a:t>
                </a:r>
              </a:p>
            </p:txBody>
          </p:sp>
        </p:grpSp>
      </p:grpSp>
      <p:sp>
        <p:nvSpPr>
          <p:cNvPr id="52" name="Text 6"/>
          <p:cNvSpPr/>
          <p:nvPr/>
        </p:nvSpPr>
        <p:spPr>
          <a:xfrm>
            <a:off x="7604284" y="2775466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Status Variable</a:t>
            </a:r>
            <a:endParaRPr lang="en-US" sz="1950" dirty="0"/>
          </a:p>
        </p:txBody>
      </p:sp>
      <p:sp>
        <p:nvSpPr>
          <p:cNvPr id="53" name="Text 7"/>
          <p:cNvSpPr/>
          <p:nvPr/>
        </p:nvSpPr>
        <p:spPr>
          <a:xfrm>
            <a:off x="7604284" y="3207306"/>
            <a:ext cx="6039564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 = 1 if event occurred</a:t>
            </a:r>
            <a:endParaRPr lang="en-US" sz="1500" dirty="0"/>
          </a:p>
        </p:txBody>
      </p:sp>
      <p:sp>
        <p:nvSpPr>
          <p:cNvPr id="54" name="Text 8"/>
          <p:cNvSpPr/>
          <p:nvPr/>
        </p:nvSpPr>
        <p:spPr>
          <a:xfrm>
            <a:off x="7604284" y="3631287"/>
            <a:ext cx="6039564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 = 0 if no event by time t (Censored)</a:t>
            </a:r>
            <a:endParaRPr lang="en-US" sz="1500" dirty="0"/>
          </a:p>
        </p:txBody>
      </p:sp>
      <p:sp>
        <p:nvSpPr>
          <p:cNvPr id="55" name="Text 6">
            <a:extLst>
              <a:ext uri="{FF2B5EF4-FFF2-40B4-BE49-F238E27FC236}">
                <a16:creationId xmlns:a16="http://schemas.microsoft.com/office/drawing/2014/main" id="{D81CF44E-DBBE-DF82-6630-EA1C85A30E6E}"/>
              </a:ext>
            </a:extLst>
          </p:cNvPr>
          <p:cNvSpPr/>
          <p:nvPr/>
        </p:nvSpPr>
        <p:spPr>
          <a:xfrm>
            <a:off x="986551" y="4974194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dirty="0">
                <a:solidFill>
                  <a:schemeClr val="bg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Status Variable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6" name="Text 7">
            <a:extLst>
              <a:ext uri="{FF2B5EF4-FFF2-40B4-BE49-F238E27FC236}">
                <a16:creationId xmlns:a16="http://schemas.microsoft.com/office/drawing/2014/main" id="{1BBEFA6F-CAC4-BC16-5A37-08C0798A47D9}"/>
              </a:ext>
            </a:extLst>
          </p:cNvPr>
          <p:cNvSpPr/>
          <p:nvPr/>
        </p:nvSpPr>
        <p:spPr>
          <a:xfrm>
            <a:off x="986552" y="5355969"/>
            <a:ext cx="6039564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 = 1 if event occurred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F1752752-43DD-9290-18D6-4557C179F5C1}"/>
              </a:ext>
            </a:extLst>
          </p:cNvPr>
          <p:cNvSpPr/>
          <p:nvPr/>
        </p:nvSpPr>
        <p:spPr>
          <a:xfrm>
            <a:off x="986552" y="5754878"/>
            <a:ext cx="6039564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 = 0 if no event by time t (Censored)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30379"/>
            <a:ext cx="6491288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Objectives of Survival Analysis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2179439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Survival analysis serves two primary purposes in statistical research: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93790" y="2888099"/>
            <a:ext cx="6407944" cy="4211122"/>
          </a:xfrm>
          <a:prstGeom prst="roundRect">
            <a:avLst>
              <a:gd name="adj" fmla="val 808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1020604" y="311491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04F0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770" y="3263741"/>
            <a:ext cx="306110" cy="3826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76260" y="3263741"/>
            <a:ext cx="3572470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Statistical Modeling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20603" y="4005499"/>
            <a:ext cx="5954316" cy="2267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550"/>
              </a:lnSpc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</a:rPr>
              <a:t>1. To estimate time-to-event for a group of individuals.</a:t>
            </a:r>
          </a:p>
          <a:p>
            <a:pPr>
              <a:lnSpc>
                <a:spcPts val="3550"/>
              </a:lnSpc>
            </a:pPr>
            <a:r>
              <a:rPr lang="en-US" dirty="0" err="1">
                <a:solidFill>
                  <a:srgbClr val="383838"/>
                </a:solidFill>
                <a:latin typeface="DM Sans" pitchFamily="34" charset="0"/>
              </a:rPr>
              <a:t>Eg.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</a:rPr>
              <a:t> Time until recovery from low back pain</a:t>
            </a:r>
          </a:p>
          <a:p>
            <a:pPr>
              <a:lnSpc>
                <a:spcPts val="3550"/>
              </a:lnSpc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</a:rPr>
              <a:t>2. To assess the impact of factors/covariates on time-to-event</a:t>
            </a:r>
          </a:p>
          <a:p>
            <a:pPr>
              <a:lnSpc>
                <a:spcPts val="3550"/>
              </a:lnSpc>
            </a:pPr>
            <a:r>
              <a:rPr lang="en-US" dirty="0" err="1">
                <a:solidFill>
                  <a:srgbClr val="383838"/>
                </a:solidFill>
                <a:latin typeface="DM Sans" pitchFamily="34" charset="0"/>
              </a:rPr>
              <a:t>Eg.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</a:rPr>
              <a:t> Age, Gender, Occupation and treatment </a:t>
            </a:r>
          </a:p>
          <a:p>
            <a:pPr>
              <a:lnSpc>
                <a:spcPts val="3550"/>
              </a:lnSpc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ts val="3550"/>
              </a:lnSpc>
            </a:pPr>
            <a:endParaRPr lang="en-US" dirty="0"/>
          </a:p>
          <a:p>
            <a:pPr marL="342900" indent="-342900" algn="l">
              <a:lnSpc>
                <a:spcPts val="355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7428548" y="2888099"/>
            <a:ext cx="6408063" cy="4211122"/>
          </a:xfrm>
          <a:prstGeom prst="roundRect">
            <a:avLst>
              <a:gd name="adj" fmla="val 808"/>
            </a:avLst>
          </a:prstGeom>
          <a:solidFill>
            <a:srgbClr val="F2EEEE"/>
          </a:solidFill>
          <a:ln/>
        </p:spPr>
      </p:sp>
      <p:sp>
        <p:nvSpPr>
          <p:cNvPr id="10" name="Shape 7"/>
          <p:cNvSpPr/>
          <p:nvPr/>
        </p:nvSpPr>
        <p:spPr>
          <a:xfrm>
            <a:off x="7655362" y="311491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04F0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2528" y="3263741"/>
            <a:ext cx="306110" cy="3826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92707" y="3263741"/>
            <a:ext cx="3572470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Statistical Inference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7655362" y="4114800"/>
            <a:ext cx="5954435" cy="2267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lvl="0" indent="-342900">
              <a:buAutoNum type="arabicPeriod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</a:rPr>
              <a:t>To compare time-to-event between two or more groups</a:t>
            </a:r>
          </a:p>
          <a:p>
            <a:pPr lvl="0"/>
            <a:endParaRPr lang="en-US" dirty="0">
              <a:solidFill>
                <a:srgbClr val="383838"/>
              </a:solidFill>
              <a:latin typeface="DM Sans" pitchFamily="34" charset="0"/>
            </a:endParaRPr>
          </a:p>
          <a:p>
            <a:r>
              <a:rPr lang="en-US" dirty="0" err="1">
                <a:solidFill>
                  <a:srgbClr val="383838"/>
                </a:solidFill>
                <a:latin typeface="DM Sans" pitchFamily="34" charset="0"/>
              </a:rPr>
              <a:t>Eg.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</a:rPr>
              <a:t> Time until recovery from low back pain in active vs. placebo groups</a:t>
            </a:r>
          </a:p>
          <a:p>
            <a:pPr lvl="0"/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3905"/>
            <a:ext cx="5527596" cy="53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Concept of Survival Function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1708071"/>
            <a:ext cx="13042821" cy="408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goal of survival analysis is to estimate and compare </a:t>
            </a:r>
            <a:r>
              <a:rPr lang="en-US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survival experiences of different groups.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93790" y="2345769"/>
            <a:ext cx="13042821" cy="408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Survival experience is described by the cumulative survival function: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93790" y="2983469"/>
            <a:ext cx="12115386" cy="2492218"/>
          </a:xfrm>
          <a:prstGeom prst="roundRect">
            <a:avLst>
              <a:gd name="adj" fmla="val 4860"/>
            </a:avLst>
          </a:prstGeom>
          <a:solidFill>
            <a:srgbClr val="FFFFFF"/>
          </a:solidFill>
          <a:ln w="22860">
            <a:solidFill>
              <a:srgbClr val="E04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0930" y="2983469"/>
            <a:ext cx="166522" cy="2492218"/>
          </a:xfrm>
          <a:prstGeom prst="roundRect">
            <a:avLst>
              <a:gd name="adj" fmla="val 33488"/>
            </a:avLst>
          </a:prstGeom>
          <a:solidFill>
            <a:srgbClr val="E04F00"/>
          </a:solidFill>
          <a:ln/>
        </p:spPr>
      </p:sp>
      <p:sp>
        <p:nvSpPr>
          <p:cNvPr id="7" name="Text 5"/>
          <p:cNvSpPr/>
          <p:nvPr/>
        </p:nvSpPr>
        <p:spPr>
          <a:xfrm>
            <a:off x="1089303" y="3210401"/>
            <a:ext cx="2679383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Survival Function S(t)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89303" y="3667601"/>
            <a:ext cx="5896928" cy="408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S(t) = P(T &gt; t) </a:t>
            </a:r>
          </a:p>
          <a:p>
            <a:pPr>
              <a:lnSpc>
                <a:spcPts val="3200"/>
              </a:lnSpc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    = 1 - P(T &gt; t) </a:t>
            </a:r>
          </a:p>
          <a:p>
            <a:pPr>
              <a:lnSpc>
                <a:spcPts val="3200"/>
              </a:lnSpc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    = 1 - F(t)       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57588" y="4483187"/>
            <a:ext cx="5896928" cy="408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F(t) is the Cumulative Distribution Function (CDF)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770931" y="5702619"/>
            <a:ext cx="12576236" cy="1357074"/>
          </a:xfrm>
          <a:prstGeom prst="roundRect">
            <a:avLst>
              <a:gd name="adj" fmla="val 2256"/>
            </a:avLst>
          </a:prstGeom>
          <a:solidFill>
            <a:srgbClr val="FFCDB3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63" y="6085650"/>
            <a:ext cx="318968" cy="255151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40861" y="6034516"/>
            <a:ext cx="12111633" cy="816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Example:</a:t>
            </a: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If t = 40 years, S(t=40) represents the probability of surviving beyond 40 years. This is the </a:t>
            </a:r>
          </a:p>
          <a:p>
            <a:pPr marL="0" indent="0" algn="l">
              <a:lnSpc>
                <a:spcPts val="32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proportion of the population expected to survive past age 40.</a:t>
            </a:r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245959C-702B-C45E-CC00-834F97DE3206}"/>
              </a:ext>
            </a:extLst>
          </p:cNvPr>
          <p:cNvCxnSpPr/>
          <p:nvPr/>
        </p:nvCxnSpPr>
        <p:spPr>
          <a:xfrm>
            <a:off x="2589519" y="4687260"/>
            <a:ext cx="86829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97825"/>
            <a:ext cx="4286964" cy="53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Hazard Function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1641991"/>
            <a:ext cx="13042821" cy="408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Hazard Function (Instantaneous Failure Rate)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93790" y="2279690"/>
            <a:ext cx="13042821" cy="816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is the ratio of conditional probability that the failure/death will occur in the interval t+Δt given that it has not occurred before time t, and width of the interval (Δt).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93790" y="3325535"/>
            <a:ext cx="13042821" cy="408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Hazard function where T is a random variable denoting </a:t>
            </a:r>
            <a:r>
              <a:rPr lang="en-US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'Survival Time'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</a:t>
            </a: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684" y="3974852"/>
            <a:ext cx="3785893" cy="625673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514" y="4792349"/>
            <a:ext cx="2425820" cy="61405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8514" y="5608642"/>
            <a:ext cx="623705" cy="6140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20829"/>
            <a:ext cx="4664988" cy="476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Hazard vs Density Function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176010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Understanding the distinction between hazard and density functions is crucial for proper interpretation of survival analysis results.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689979"/>
            <a:ext cx="907256" cy="16040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82497" y="2871430"/>
            <a:ext cx="4434364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Probability Density (Marginal Probability)</a:t>
            </a:r>
            <a:endParaRPr lang="en-US" b="1" dirty="0"/>
          </a:p>
        </p:txBody>
      </p:sp>
      <p:sp>
        <p:nvSpPr>
          <p:cNvPr id="6" name="Text 3"/>
          <p:cNvSpPr/>
          <p:nvPr/>
        </p:nvSpPr>
        <p:spPr>
          <a:xfrm>
            <a:off x="1882497" y="3277910"/>
            <a:ext cx="1195411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When one is born, there exists a certain probability of dying at any age; that is the probability density.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882497" y="3749635"/>
            <a:ext cx="1195411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Example: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 baby girl born today has, say, a 1% chance of dying at 80 years.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293989"/>
            <a:ext cx="907256" cy="160401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82497" y="4475440"/>
            <a:ext cx="445984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Hazard Function (Conditional Probability)</a:t>
            </a:r>
            <a:endParaRPr lang="en-US" b="1" dirty="0"/>
          </a:p>
        </p:txBody>
      </p:sp>
      <p:sp>
        <p:nvSpPr>
          <p:cNvPr id="10" name="Text 6"/>
          <p:cNvSpPr/>
          <p:nvPr/>
        </p:nvSpPr>
        <p:spPr>
          <a:xfrm>
            <a:off x="1882497" y="4881920"/>
            <a:ext cx="1195411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However, as one survives for a while, the probabilities keep changing based on having survived to that point.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882497" y="5353645"/>
            <a:ext cx="1195411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Example: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 woman who is 79 today has, say, a 5% chance of dying at 80 years.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793790" y="6102072"/>
            <a:ext cx="13042821" cy="1206579"/>
          </a:xfrm>
          <a:prstGeom prst="roundRect">
            <a:avLst>
              <a:gd name="adj" fmla="val 2256"/>
            </a:avLst>
          </a:prstGeom>
          <a:solidFill>
            <a:srgbClr val="FFCDB3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241" y="6389489"/>
            <a:ext cx="283488" cy="22681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40180" y="6328886"/>
            <a:ext cx="1221497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hazard function adjusts for survival experience up to time t, while the density function represents unconditional probabilities from the beginning of observation.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0080"/>
            <a:ext cx="476333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Cox Regression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1689140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Cox regression, also known as Cox proportional hazards regression, is a method for investigating the effect of several variables upon the time a specified event takes to happen.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93790" y="3078123"/>
            <a:ext cx="3835122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000" dirty="0">
                <a:solidFill>
                  <a:schemeClr val="accent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DEPENDENT VARIABLE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3751540"/>
            <a:ext cx="624470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 to Event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93790" y="4409122"/>
            <a:ext cx="6244709" cy="1360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 variable must be quantitative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85767" y="3039106"/>
            <a:ext cx="4413766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000" dirty="0">
                <a:solidFill>
                  <a:srgbClr val="92D05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INDEPENDENT VARIABLES</a:t>
            </a:r>
            <a:endParaRPr lang="en-US" sz="2000" dirty="0">
              <a:solidFill>
                <a:srgbClr val="92D05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085767" y="3661291"/>
            <a:ext cx="624470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Categorical or Continuous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85767" y="4409122"/>
            <a:ext cx="6244709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Predictor variables that may influence the time to event (covariates)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01409" y="5759088"/>
            <a:ext cx="13042821" cy="1360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55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Cox regression produces a survival function that predicts the probability of survival until time t for given values of the predictor variables. 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9503" y="620316"/>
            <a:ext cx="3789640" cy="473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Statistical Model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89503" y="1454825"/>
            <a:ext cx="13051393" cy="360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Cox proportional hazards model is expressed mathematically as follows: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504" y="2018825"/>
            <a:ext cx="4520164" cy="318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9503" y="2489121"/>
            <a:ext cx="13051393" cy="360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where: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503" y="2886710"/>
            <a:ext cx="3789640" cy="668708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503" y="3792954"/>
            <a:ext cx="6179915" cy="358680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504" y="4314035"/>
            <a:ext cx="4320379" cy="359975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503" y="4836411"/>
            <a:ext cx="5403828" cy="337025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789503" y="5953292"/>
            <a:ext cx="10667391" cy="963526"/>
          </a:xfrm>
          <a:prstGeom prst="roundRect">
            <a:avLst>
              <a:gd name="adj" fmla="val 1987"/>
            </a:avLst>
          </a:prstGeom>
          <a:solidFill>
            <a:srgbClr val="FFCDB3"/>
          </a:solidFill>
          <a:ln/>
        </p:spPr>
      </p:sp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9883" y="6098023"/>
            <a:ext cx="281940" cy="225504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1432203" y="5963722"/>
            <a:ext cx="12228314" cy="360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Cox Regression model is semi-parametric method</a:t>
            </a:r>
            <a:endParaRPr lang="en-US" sz="1750" dirty="0"/>
          </a:p>
        </p:txBody>
      </p:sp>
      <p:sp>
        <p:nvSpPr>
          <p:cNvPr id="13" name="Text 5"/>
          <p:cNvSpPr/>
          <p:nvPr/>
        </p:nvSpPr>
        <p:spPr>
          <a:xfrm>
            <a:off x="1415858" y="6393179"/>
            <a:ext cx="12228314" cy="360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(No assumption about specific distribution but parametric form of the model)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1299"/>
            <a:ext cx="4174927" cy="416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Proportional Hazards Model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1605677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proportional hazards assumption is the cornerstone of the Cox regression model. It states that the hazard ratio comparing any two individuals is constant over time.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93791" y="2419350"/>
            <a:ext cx="13444724" cy="1036320"/>
          </a:xfrm>
          <a:prstGeom prst="roundRect">
            <a:avLst>
              <a:gd name="adj" fmla="val 229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6650" y="2442210"/>
            <a:ext cx="635079" cy="990600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1015127" y="2788682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610439" y="2600920"/>
            <a:ext cx="2094786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Constant Hazard Ratio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610439" y="2956560"/>
            <a:ext cx="1220331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any two cases, the ratio of hazard functions at any time point remains constant throughout the observation period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1" y="3614380"/>
            <a:ext cx="13444724" cy="1132882"/>
          </a:xfrm>
          <a:prstGeom prst="roundRect">
            <a:avLst>
              <a:gd name="adj" fmla="val 229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6650" y="3637240"/>
            <a:ext cx="635079" cy="1110022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1015127" y="3983712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1610439" y="3795951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Multiplicative Effect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610439" y="4151590"/>
            <a:ext cx="1220331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Covariates have a multiplicative effect on the hazard function, meaning they scale the baseline hazard by a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constant factor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93791" y="4871559"/>
            <a:ext cx="13444724" cy="1353860"/>
          </a:xfrm>
          <a:prstGeom prst="roundRect">
            <a:avLst>
              <a:gd name="adj" fmla="val 1759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6650" y="4895577"/>
            <a:ext cx="635079" cy="1308140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1015127" y="5337453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1610439" y="4990981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Model Interpretation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610439" y="5346621"/>
            <a:ext cx="1220331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exponential of regression coefficients (exp(β)) represents hazard ratios, indicating how risk changes with one-unit increases in predictors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93790" y="6321981"/>
            <a:ext cx="13444724" cy="1154584"/>
          </a:xfrm>
          <a:prstGeom prst="roundRect">
            <a:avLst>
              <a:gd name="adj" fmla="val 229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6650" y="6329685"/>
            <a:ext cx="635079" cy="1154584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1015127" y="6691313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1610439" y="6503551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Testing Assumptions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610439" y="6859191"/>
            <a:ext cx="1220331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proportional hazards assumption should be verified using statistical tests and graphical methods before final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interpretation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3962" y="775739"/>
            <a:ext cx="6123265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100"/>
              </a:lnSpc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Case Study: Predicting Loan Defaulters</a:t>
            </a:r>
            <a:endParaRPr lang="en-US" sz="37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29A6E7-70F0-944E-8DE1-112EB757F9CC}"/>
              </a:ext>
            </a:extLst>
          </p:cNvPr>
          <p:cNvSpPr/>
          <p:nvPr/>
        </p:nvSpPr>
        <p:spPr>
          <a:xfrm>
            <a:off x="413961" y="1829654"/>
            <a:ext cx="13163725" cy="452431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lvl="0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</a:rPr>
              <a:t>To predict whether the customer applying for the loan will be a defaulter and to identify early defaulters.</a:t>
            </a:r>
          </a:p>
          <a:p>
            <a:pPr lvl="0"/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DM Sans" pitchFamily="2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</a:rPr>
              <a:t>Sample size is 700</a:t>
            </a:r>
          </a:p>
          <a:p>
            <a:pPr lvl="0"/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DM Sans" pitchFamily="2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</a:rPr>
              <a:t>Independent Variables: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</a:rPr>
              <a:t>Age group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</a:rPr>
              <a:t>Years at current address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</a:rPr>
              <a:t>Years at current employer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</a:rPr>
              <a:t>Debt to Income Ratio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</a:rPr>
              <a:t>Credit Card Debts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</a:rPr>
              <a:t>Other Debts</a:t>
            </a:r>
          </a:p>
          <a:p>
            <a:pPr lvl="1"/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DM Sans" pitchFamily="2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</a:rPr>
              <a:t>Status and Time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</a:rPr>
              <a:t>are used to create survival objects. Status =1 if customer defaulted before 36 months, and 0 if no default was observed in 36 months</a:t>
            </a:r>
          </a:p>
          <a:p>
            <a:pPr lvl="0"/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960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31C66CB-F4D5-CFB4-F131-CABA2B93589A}"/>
              </a:ext>
            </a:extLst>
          </p:cNvPr>
          <p:cNvSpPr/>
          <p:nvPr/>
        </p:nvSpPr>
        <p:spPr>
          <a:xfrm>
            <a:off x="681249" y="468689"/>
            <a:ext cx="3870246" cy="483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Snapshot</a:t>
            </a:r>
            <a:endParaRPr lang="en-US" sz="37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43F339D-E9F5-8978-1D42-EA3AE3FC9847}"/>
              </a:ext>
            </a:extLst>
          </p:cNvPr>
          <p:cNvSpPr/>
          <p:nvPr/>
        </p:nvSpPr>
        <p:spPr>
          <a:xfrm>
            <a:off x="681249" y="1206877"/>
            <a:ext cx="2322076" cy="29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BANK LOAN (COX)</a:t>
            </a:r>
            <a:endParaRPr lang="en-US" sz="18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9B448D8-F83E-47A4-A6E6-15FFE93294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260409"/>
              </p:ext>
            </p:extLst>
          </p:nvPr>
        </p:nvGraphicFramePr>
        <p:xfrm>
          <a:off x="681248" y="2215988"/>
          <a:ext cx="13080852" cy="420786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453428">
                  <a:extLst>
                    <a:ext uri="{9D8B030D-6E8A-4147-A177-3AD203B41FA5}">
                      <a16:colId xmlns:a16="http://schemas.microsoft.com/office/drawing/2014/main" val="2574175839"/>
                    </a:ext>
                  </a:extLst>
                </a:gridCol>
                <a:gridCol w="1453428">
                  <a:extLst>
                    <a:ext uri="{9D8B030D-6E8A-4147-A177-3AD203B41FA5}">
                      <a16:colId xmlns:a16="http://schemas.microsoft.com/office/drawing/2014/main" val="1860866006"/>
                    </a:ext>
                  </a:extLst>
                </a:gridCol>
                <a:gridCol w="1453428">
                  <a:extLst>
                    <a:ext uri="{9D8B030D-6E8A-4147-A177-3AD203B41FA5}">
                      <a16:colId xmlns:a16="http://schemas.microsoft.com/office/drawing/2014/main" val="3554417842"/>
                    </a:ext>
                  </a:extLst>
                </a:gridCol>
                <a:gridCol w="1453428">
                  <a:extLst>
                    <a:ext uri="{9D8B030D-6E8A-4147-A177-3AD203B41FA5}">
                      <a16:colId xmlns:a16="http://schemas.microsoft.com/office/drawing/2014/main" val="244399347"/>
                    </a:ext>
                  </a:extLst>
                </a:gridCol>
                <a:gridCol w="1453428">
                  <a:extLst>
                    <a:ext uri="{9D8B030D-6E8A-4147-A177-3AD203B41FA5}">
                      <a16:colId xmlns:a16="http://schemas.microsoft.com/office/drawing/2014/main" val="1543581689"/>
                    </a:ext>
                  </a:extLst>
                </a:gridCol>
                <a:gridCol w="1453428">
                  <a:extLst>
                    <a:ext uri="{9D8B030D-6E8A-4147-A177-3AD203B41FA5}">
                      <a16:colId xmlns:a16="http://schemas.microsoft.com/office/drawing/2014/main" val="2166495125"/>
                    </a:ext>
                  </a:extLst>
                </a:gridCol>
                <a:gridCol w="1453428">
                  <a:extLst>
                    <a:ext uri="{9D8B030D-6E8A-4147-A177-3AD203B41FA5}">
                      <a16:colId xmlns:a16="http://schemas.microsoft.com/office/drawing/2014/main" val="139076264"/>
                    </a:ext>
                  </a:extLst>
                </a:gridCol>
                <a:gridCol w="1453428">
                  <a:extLst>
                    <a:ext uri="{9D8B030D-6E8A-4147-A177-3AD203B41FA5}">
                      <a16:colId xmlns:a16="http://schemas.microsoft.com/office/drawing/2014/main" val="1407827419"/>
                    </a:ext>
                  </a:extLst>
                </a:gridCol>
                <a:gridCol w="1453428">
                  <a:extLst>
                    <a:ext uri="{9D8B030D-6E8A-4147-A177-3AD203B41FA5}">
                      <a16:colId xmlns:a16="http://schemas.microsoft.com/office/drawing/2014/main" val="2282183708"/>
                    </a:ext>
                  </a:extLst>
                </a:gridCol>
              </a:tblGrid>
              <a:tr h="60112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SN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AGE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EMPLOY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ADDRESS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DEBTINC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CREDDEBT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OTHDEBT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STATUS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TIME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604167545"/>
                  </a:ext>
                </a:extLst>
              </a:tr>
              <a:tr h="60112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17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12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9.3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11.36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5.01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12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858087918"/>
                  </a:ext>
                </a:extLst>
              </a:tr>
              <a:tr h="60112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10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17.3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1.36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36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749473786"/>
                  </a:ext>
                </a:extLst>
              </a:tr>
              <a:tr h="60112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15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14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5.5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0.86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2.17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36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470500083"/>
                  </a:ext>
                </a:extLst>
              </a:tr>
              <a:tr h="60112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15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14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2.9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2.66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0.82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36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650975616"/>
                  </a:ext>
                </a:extLst>
              </a:tr>
              <a:tr h="60112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17.3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1.79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3.06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14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708955987"/>
                  </a:ext>
                </a:extLst>
              </a:tr>
              <a:tr h="60112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10.2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0.39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2.16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36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312562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8504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C2F5A-C0EC-C81C-B6C8-8F3DBA51C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6BD4FD3-7E29-EC39-162D-662402F5EF7B}"/>
              </a:ext>
            </a:extLst>
          </p:cNvPr>
          <p:cNvSpPr/>
          <p:nvPr/>
        </p:nvSpPr>
        <p:spPr>
          <a:xfrm>
            <a:off x="681249" y="468689"/>
            <a:ext cx="3870246" cy="483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Description</a:t>
            </a:r>
            <a:endParaRPr lang="en-US" sz="37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D5174D4-10C6-39C6-D68E-CAA6D8EFEEED}"/>
              </a:ext>
            </a:extLst>
          </p:cNvPr>
          <p:cNvSpPr/>
          <p:nvPr/>
        </p:nvSpPr>
        <p:spPr>
          <a:xfrm>
            <a:off x="681249" y="1206877"/>
            <a:ext cx="2322076" cy="29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BANK LOAN (COX)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C706D05-332A-6F22-2138-6DD471050D4B}"/>
              </a:ext>
            </a:extLst>
          </p:cNvPr>
          <p:cNvSpPr/>
          <p:nvPr/>
        </p:nvSpPr>
        <p:spPr>
          <a:xfrm>
            <a:off x="793790" y="1919407"/>
            <a:ext cx="1304282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Independent variables and Survival objects</a:t>
            </a:r>
            <a:endParaRPr lang="en-US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0761382-35AB-758A-EE67-1749168A1083}"/>
              </a:ext>
            </a:extLst>
          </p:cNvPr>
          <p:cNvSpPr/>
          <p:nvPr/>
        </p:nvSpPr>
        <p:spPr>
          <a:xfrm>
            <a:off x="793790" y="2321004"/>
            <a:ext cx="13042821" cy="5043011"/>
          </a:xfrm>
          <a:prstGeom prst="roundRect">
            <a:avLst>
              <a:gd name="adj" fmla="val 43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F7403A9-E9B2-5BCF-B6BD-CBA20472B172}"/>
              </a:ext>
            </a:extLst>
          </p:cNvPr>
          <p:cNvSpPr/>
          <p:nvPr/>
        </p:nvSpPr>
        <p:spPr>
          <a:xfrm>
            <a:off x="801410" y="2328624"/>
            <a:ext cx="13027581" cy="4276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68FBDF2-579A-5843-8BD0-186FA47A2D03}"/>
              </a:ext>
            </a:extLst>
          </p:cNvPr>
          <p:cNvSpPr/>
          <p:nvPr/>
        </p:nvSpPr>
        <p:spPr>
          <a:xfrm>
            <a:off x="949166" y="2424589"/>
            <a:ext cx="230683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Columns</a:t>
            </a:r>
            <a:endParaRPr lang="en-US" sz="13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314FD85-FE3D-72A5-937B-9845011A0EC6}"/>
              </a:ext>
            </a:extLst>
          </p:cNvPr>
          <p:cNvSpPr/>
          <p:nvPr/>
        </p:nvSpPr>
        <p:spPr>
          <a:xfrm>
            <a:off x="3558421" y="2424589"/>
            <a:ext cx="230302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Description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2F3AC25-C798-3004-0E57-F4B6F3B15B0F}"/>
              </a:ext>
            </a:extLst>
          </p:cNvPr>
          <p:cNvSpPr/>
          <p:nvPr/>
        </p:nvSpPr>
        <p:spPr>
          <a:xfrm>
            <a:off x="6163866" y="2424589"/>
            <a:ext cx="230302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Type</a:t>
            </a:r>
            <a:endParaRPr lang="en-US" sz="13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94A61B0-DC70-24D1-0D08-6D6618BB83B8}"/>
              </a:ext>
            </a:extLst>
          </p:cNvPr>
          <p:cNvSpPr/>
          <p:nvPr/>
        </p:nvSpPr>
        <p:spPr>
          <a:xfrm>
            <a:off x="8769310" y="2424589"/>
            <a:ext cx="230302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Measurement</a:t>
            </a:r>
            <a:endParaRPr lang="en-US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4306630-27BE-B71C-A21E-9722A6125D5B}"/>
              </a:ext>
            </a:extLst>
          </p:cNvPr>
          <p:cNvSpPr/>
          <p:nvPr/>
        </p:nvSpPr>
        <p:spPr>
          <a:xfrm>
            <a:off x="11374755" y="2424589"/>
            <a:ext cx="230683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Possible values</a:t>
            </a:r>
            <a:endParaRPr lang="en-US" sz="13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19F1F81-8C63-64EF-D0B2-A6E337C3F471}"/>
              </a:ext>
            </a:extLst>
          </p:cNvPr>
          <p:cNvSpPr/>
          <p:nvPr/>
        </p:nvSpPr>
        <p:spPr>
          <a:xfrm>
            <a:off x="801410" y="2756297"/>
            <a:ext cx="13027581" cy="66341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2A9CA2F-F138-FE18-0646-C3918E5E8FC3}"/>
              </a:ext>
            </a:extLst>
          </p:cNvPr>
          <p:cNvSpPr/>
          <p:nvPr/>
        </p:nvSpPr>
        <p:spPr>
          <a:xfrm>
            <a:off x="949166" y="2852261"/>
            <a:ext cx="230683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</a:t>
            </a:r>
            <a:endParaRPr lang="en-US" sz="13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FF23013-95C7-B99D-5473-DA171919A23E}"/>
              </a:ext>
            </a:extLst>
          </p:cNvPr>
          <p:cNvSpPr/>
          <p:nvPr/>
        </p:nvSpPr>
        <p:spPr>
          <a:xfrm>
            <a:off x="3558421" y="2852261"/>
            <a:ext cx="230302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 Groups 1 (&lt;28 years), 2(28-40 years), 3 (&gt;40 years)</a:t>
            </a:r>
            <a:endParaRPr lang="en-US" sz="13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45F98A0-DAFC-5E5E-5501-767FABC322CA}"/>
              </a:ext>
            </a:extLst>
          </p:cNvPr>
          <p:cNvSpPr/>
          <p:nvPr/>
        </p:nvSpPr>
        <p:spPr>
          <a:xfrm>
            <a:off x="6163866" y="2852261"/>
            <a:ext cx="230302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Factor</a:t>
            </a:r>
            <a:endParaRPr lang="en-US" sz="13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C7EF7DC-5224-952F-C3D5-D1F4B8AE1C6D}"/>
              </a:ext>
            </a:extLst>
          </p:cNvPr>
          <p:cNvSpPr/>
          <p:nvPr/>
        </p:nvSpPr>
        <p:spPr>
          <a:xfrm>
            <a:off x="8769310" y="2852261"/>
            <a:ext cx="230302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1,2,3</a:t>
            </a:r>
            <a:endParaRPr lang="en-US" sz="13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7755414-E7D3-0C17-1AC6-CE3458EEDF05}"/>
              </a:ext>
            </a:extLst>
          </p:cNvPr>
          <p:cNvSpPr/>
          <p:nvPr/>
        </p:nvSpPr>
        <p:spPr>
          <a:xfrm>
            <a:off x="11374755" y="2852261"/>
            <a:ext cx="230683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6EB1D443-1325-0635-2789-7F542F3E3838}"/>
              </a:ext>
            </a:extLst>
          </p:cNvPr>
          <p:cNvSpPr/>
          <p:nvPr/>
        </p:nvSpPr>
        <p:spPr>
          <a:xfrm>
            <a:off x="801410" y="3419713"/>
            <a:ext cx="13027581" cy="66341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2769E65-5CC1-4153-7DA7-26A44EA5EA6D}"/>
              </a:ext>
            </a:extLst>
          </p:cNvPr>
          <p:cNvSpPr/>
          <p:nvPr/>
        </p:nvSpPr>
        <p:spPr>
          <a:xfrm>
            <a:off x="949166" y="3515677"/>
            <a:ext cx="230683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EMPLOY</a:t>
            </a:r>
            <a:endParaRPr lang="en-US" sz="13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266E64F-E0B1-DC4A-34BF-C80B831F162B}"/>
              </a:ext>
            </a:extLst>
          </p:cNvPr>
          <p:cNvSpPr/>
          <p:nvPr/>
        </p:nvSpPr>
        <p:spPr>
          <a:xfrm>
            <a:off x="3558421" y="3515677"/>
            <a:ext cx="230302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No. of Years the Customer is Employed</a:t>
            </a:r>
            <a:endParaRPr lang="en-US" sz="13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EE58BC6-54C5-8336-16C2-38F2B08BE2F8}"/>
              </a:ext>
            </a:extLst>
          </p:cNvPr>
          <p:cNvSpPr/>
          <p:nvPr/>
        </p:nvSpPr>
        <p:spPr>
          <a:xfrm>
            <a:off x="6163866" y="3515677"/>
            <a:ext cx="230302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Numerical</a:t>
            </a:r>
            <a:endParaRPr lang="en-US" sz="13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8C25BF2-B6B9-9E4B-3380-8DE5F31BCF5F}"/>
              </a:ext>
            </a:extLst>
          </p:cNvPr>
          <p:cNvSpPr/>
          <p:nvPr/>
        </p:nvSpPr>
        <p:spPr>
          <a:xfrm>
            <a:off x="8769310" y="3515677"/>
            <a:ext cx="230302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</a:t>
            </a: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ears</a:t>
            </a:r>
            <a:endParaRPr lang="en-US" sz="13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D52D825-A4D9-D202-34A7-1C0EDD2C02A9}"/>
              </a:ext>
            </a:extLst>
          </p:cNvPr>
          <p:cNvSpPr/>
          <p:nvPr/>
        </p:nvSpPr>
        <p:spPr>
          <a:xfrm>
            <a:off x="11374755" y="3515677"/>
            <a:ext cx="230683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positive value</a:t>
            </a:r>
            <a:endParaRPr lang="en-US" sz="13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C06D1314-A51A-6C8A-6C0B-79B5B9B6F8CA}"/>
              </a:ext>
            </a:extLst>
          </p:cNvPr>
          <p:cNvSpPr/>
          <p:nvPr/>
        </p:nvSpPr>
        <p:spPr>
          <a:xfrm>
            <a:off x="801410" y="4083129"/>
            <a:ext cx="13027581" cy="66341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152F225-730A-5007-23A6-886886C6C344}"/>
              </a:ext>
            </a:extLst>
          </p:cNvPr>
          <p:cNvSpPr/>
          <p:nvPr/>
        </p:nvSpPr>
        <p:spPr>
          <a:xfrm>
            <a:off x="949166" y="4179094"/>
            <a:ext cx="230683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ADDRESS</a:t>
            </a:r>
            <a:endParaRPr lang="en-US" sz="13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225193E-30A9-3648-7C51-87425B5FD8F7}"/>
              </a:ext>
            </a:extLst>
          </p:cNvPr>
          <p:cNvSpPr/>
          <p:nvPr/>
        </p:nvSpPr>
        <p:spPr>
          <a:xfrm>
            <a:off x="3558421" y="4179094"/>
            <a:ext cx="230302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No. of Years the Customer is Staying at their Current Address</a:t>
            </a:r>
            <a:endParaRPr lang="en-US" sz="12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A4C94E2E-31BA-1352-73C0-3BAA8F42C2BF}"/>
              </a:ext>
            </a:extLst>
          </p:cNvPr>
          <p:cNvSpPr/>
          <p:nvPr/>
        </p:nvSpPr>
        <p:spPr>
          <a:xfrm>
            <a:off x="6163866" y="4179094"/>
            <a:ext cx="230302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Numerical</a:t>
            </a:r>
            <a:endParaRPr lang="en-US" sz="13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8F53C0C2-1626-2088-C826-E4D4EC17C187}"/>
              </a:ext>
            </a:extLst>
          </p:cNvPr>
          <p:cNvSpPr/>
          <p:nvPr/>
        </p:nvSpPr>
        <p:spPr>
          <a:xfrm>
            <a:off x="8769310" y="4179094"/>
            <a:ext cx="230302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Years</a:t>
            </a:r>
            <a:endParaRPr lang="en-US" sz="13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848571CE-F77E-1322-C945-4313A0B34DDB}"/>
              </a:ext>
            </a:extLst>
          </p:cNvPr>
          <p:cNvSpPr/>
          <p:nvPr/>
        </p:nvSpPr>
        <p:spPr>
          <a:xfrm>
            <a:off x="11374755" y="4179094"/>
            <a:ext cx="230683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positive value</a:t>
            </a:r>
            <a:endParaRPr lang="en-US" sz="13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ED85EBD7-3334-6DAC-CEBA-85DBDE7986AF}"/>
              </a:ext>
            </a:extLst>
          </p:cNvPr>
          <p:cNvSpPr/>
          <p:nvPr/>
        </p:nvSpPr>
        <p:spPr>
          <a:xfrm>
            <a:off x="801410" y="4746546"/>
            <a:ext cx="13027581" cy="4276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39943FEC-152C-B0D6-CF54-FCD19D308667}"/>
              </a:ext>
            </a:extLst>
          </p:cNvPr>
          <p:cNvSpPr/>
          <p:nvPr/>
        </p:nvSpPr>
        <p:spPr>
          <a:xfrm>
            <a:off x="949166" y="4842510"/>
            <a:ext cx="230683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DEBTINC</a:t>
            </a:r>
            <a:endParaRPr lang="en-US" sz="13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9E60FE0C-3333-BD35-324E-EF052983BED4}"/>
              </a:ext>
            </a:extLst>
          </p:cNvPr>
          <p:cNvSpPr/>
          <p:nvPr/>
        </p:nvSpPr>
        <p:spPr>
          <a:xfrm>
            <a:off x="3558421" y="4842510"/>
            <a:ext cx="230302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Debt to Income Ratio</a:t>
            </a:r>
            <a:endParaRPr lang="en-US" sz="13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2A9DC67F-11BB-4DE9-49E9-8D7DF54F900F}"/>
              </a:ext>
            </a:extLst>
          </p:cNvPr>
          <p:cNvSpPr/>
          <p:nvPr/>
        </p:nvSpPr>
        <p:spPr>
          <a:xfrm>
            <a:off x="6163866" y="4842510"/>
            <a:ext cx="230302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Numerical</a:t>
            </a:r>
            <a:endParaRPr lang="en-US" sz="13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8172DD29-9F14-FAD4-AFB3-D53B3ADAF36B}"/>
              </a:ext>
            </a:extLst>
          </p:cNvPr>
          <p:cNvSpPr/>
          <p:nvPr/>
        </p:nvSpPr>
        <p:spPr>
          <a:xfrm>
            <a:off x="8769310" y="4842510"/>
            <a:ext cx="230302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</a:t>
            </a:r>
            <a:endParaRPr lang="en-US" sz="115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068F7166-2F73-1284-EC5F-371D468D3A12}"/>
              </a:ext>
            </a:extLst>
          </p:cNvPr>
          <p:cNvSpPr/>
          <p:nvPr/>
        </p:nvSpPr>
        <p:spPr>
          <a:xfrm>
            <a:off x="11374755" y="4842510"/>
            <a:ext cx="230683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positive value</a:t>
            </a:r>
            <a:endParaRPr lang="en-US" sz="13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CA7B4624-710B-8F61-A803-AC89BC42BA34}"/>
              </a:ext>
            </a:extLst>
          </p:cNvPr>
          <p:cNvSpPr/>
          <p:nvPr/>
        </p:nvSpPr>
        <p:spPr>
          <a:xfrm>
            <a:off x="801410" y="5174218"/>
            <a:ext cx="13027581" cy="4276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E0BE3A9A-57EA-5F48-058E-0092B984C36F}"/>
              </a:ext>
            </a:extLst>
          </p:cNvPr>
          <p:cNvSpPr/>
          <p:nvPr/>
        </p:nvSpPr>
        <p:spPr>
          <a:xfrm>
            <a:off x="949166" y="5270182"/>
            <a:ext cx="230683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CREDDEBT</a:t>
            </a:r>
            <a:endParaRPr lang="en-US" sz="13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88783272-3EA7-39A5-5A48-F60780874BF7}"/>
              </a:ext>
            </a:extLst>
          </p:cNvPr>
          <p:cNvSpPr/>
          <p:nvPr/>
        </p:nvSpPr>
        <p:spPr>
          <a:xfrm>
            <a:off x="3558421" y="5270182"/>
            <a:ext cx="230302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Credit to Debt Ratio</a:t>
            </a:r>
            <a:endParaRPr lang="en-US" sz="13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A8648460-817F-3021-CB35-193938C59C7B}"/>
              </a:ext>
            </a:extLst>
          </p:cNvPr>
          <p:cNvSpPr/>
          <p:nvPr/>
        </p:nvSpPr>
        <p:spPr>
          <a:xfrm>
            <a:off x="6163866" y="5270182"/>
            <a:ext cx="230302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Numerical</a:t>
            </a:r>
            <a:endParaRPr lang="en-US" sz="13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640EB03F-6EBB-ECBC-B017-09F076F77C73}"/>
              </a:ext>
            </a:extLst>
          </p:cNvPr>
          <p:cNvSpPr/>
          <p:nvPr/>
        </p:nvSpPr>
        <p:spPr>
          <a:xfrm>
            <a:off x="8769310" y="5270182"/>
            <a:ext cx="230302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</a:t>
            </a:r>
            <a:endParaRPr lang="en-US" sz="115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1AE75504-E40E-90B0-117F-48EDC61B8BB8}"/>
              </a:ext>
            </a:extLst>
          </p:cNvPr>
          <p:cNvSpPr/>
          <p:nvPr/>
        </p:nvSpPr>
        <p:spPr>
          <a:xfrm>
            <a:off x="11374755" y="5270182"/>
            <a:ext cx="230683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positive values</a:t>
            </a:r>
            <a:endParaRPr lang="en-US" sz="13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3E3A0717-9984-DC38-DB4D-A143C61621CE}"/>
              </a:ext>
            </a:extLst>
          </p:cNvPr>
          <p:cNvSpPr/>
          <p:nvPr/>
        </p:nvSpPr>
        <p:spPr>
          <a:xfrm>
            <a:off x="801410" y="5601891"/>
            <a:ext cx="13027581" cy="4276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2342E8E7-F334-D701-6936-0CE20964F7A7}"/>
              </a:ext>
            </a:extLst>
          </p:cNvPr>
          <p:cNvSpPr/>
          <p:nvPr/>
        </p:nvSpPr>
        <p:spPr>
          <a:xfrm>
            <a:off x="949166" y="5697855"/>
            <a:ext cx="230683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OTHERDEBT</a:t>
            </a:r>
            <a:endParaRPr lang="en-US" sz="13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3244F34C-491C-6F69-23A5-D1237AAF9F4B}"/>
              </a:ext>
            </a:extLst>
          </p:cNvPr>
          <p:cNvSpPr/>
          <p:nvPr/>
        </p:nvSpPr>
        <p:spPr>
          <a:xfrm>
            <a:off x="3558421" y="5697855"/>
            <a:ext cx="230302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Other Debt</a:t>
            </a:r>
            <a:endParaRPr lang="en-US" sz="13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C19A4BE2-6349-01E2-1914-4E476E2A4BD5}"/>
              </a:ext>
            </a:extLst>
          </p:cNvPr>
          <p:cNvSpPr/>
          <p:nvPr/>
        </p:nvSpPr>
        <p:spPr>
          <a:xfrm>
            <a:off x="6163866" y="5697855"/>
            <a:ext cx="230302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Numerical</a:t>
            </a:r>
            <a:endParaRPr lang="en-US" sz="13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0F20BE21-8A3A-7925-7414-5163BAEA8FA2}"/>
              </a:ext>
            </a:extLst>
          </p:cNvPr>
          <p:cNvSpPr/>
          <p:nvPr/>
        </p:nvSpPr>
        <p:spPr>
          <a:xfrm>
            <a:off x="8769310" y="5697855"/>
            <a:ext cx="230302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</a:t>
            </a:r>
            <a:endParaRPr lang="en-US" sz="115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4FDEA821-9B13-6F6D-6CEB-8AD380B70A20}"/>
              </a:ext>
            </a:extLst>
          </p:cNvPr>
          <p:cNvSpPr/>
          <p:nvPr/>
        </p:nvSpPr>
        <p:spPr>
          <a:xfrm>
            <a:off x="11374755" y="5697855"/>
            <a:ext cx="230683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Positive value</a:t>
            </a:r>
            <a:endParaRPr lang="en-US" sz="130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D57E8468-DF1A-7CF8-BB4C-DA11DADE98F3}"/>
              </a:ext>
            </a:extLst>
          </p:cNvPr>
          <p:cNvSpPr/>
          <p:nvPr/>
        </p:nvSpPr>
        <p:spPr>
          <a:xfrm>
            <a:off x="801410" y="6029563"/>
            <a:ext cx="13027581" cy="89916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D809E61F-8EBC-FA94-3991-84433222823E}"/>
              </a:ext>
            </a:extLst>
          </p:cNvPr>
          <p:cNvSpPr/>
          <p:nvPr/>
        </p:nvSpPr>
        <p:spPr>
          <a:xfrm>
            <a:off x="949166" y="6125527"/>
            <a:ext cx="230683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STATUS</a:t>
            </a:r>
            <a:endParaRPr lang="en-US" sz="13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87673394-A11A-6040-B047-EBF0A42ED2BB}"/>
              </a:ext>
            </a:extLst>
          </p:cNvPr>
          <p:cNvSpPr/>
          <p:nvPr/>
        </p:nvSpPr>
        <p:spPr>
          <a:xfrm>
            <a:off x="3558421" y="6125527"/>
            <a:ext cx="2303026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Whether the Customer Defaulted on the Loan (1) or 0 (Censored at 36 Months)</a:t>
            </a:r>
            <a:endParaRPr lang="en-US" sz="1300" dirty="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0D7B9829-1004-0D74-5F5E-8AEBA713CD9E}"/>
              </a:ext>
            </a:extLst>
          </p:cNvPr>
          <p:cNvSpPr/>
          <p:nvPr/>
        </p:nvSpPr>
        <p:spPr>
          <a:xfrm>
            <a:off x="6163866" y="6125527"/>
            <a:ext cx="230302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Binary</a:t>
            </a:r>
            <a:endParaRPr lang="en-US" sz="1300" dirty="0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40A546FE-75EA-18B8-F2F8-681C3CCBE89B}"/>
              </a:ext>
            </a:extLst>
          </p:cNvPr>
          <p:cNvSpPr/>
          <p:nvPr/>
        </p:nvSpPr>
        <p:spPr>
          <a:xfrm>
            <a:off x="8769310" y="6125527"/>
            <a:ext cx="230302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0,1</a:t>
            </a:r>
            <a:endParaRPr lang="en-US" sz="1300" dirty="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B9967F2C-958A-25D2-3789-E6209700E78D}"/>
              </a:ext>
            </a:extLst>
          </p:cNvPr>
          <p:cNvSpPr/>
          <p:nvPr/>
        </p:nvSpPr>
        <p:spPr>
          <a:xfrm>
            <a:off x="11374755" y="6125527"/>
            <a:ext cx="230683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3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A670242D-70F0-731A-9FBC-38B4C930061A}"/>
              </a:ext>
            </a:extLst>
          </p:cNvPr>
          <p:cNvSpPr/>
          <p:nvPr/>
        </p:nvSpPr>
        <p:spPr>
          <a:xfrm>
            <a:off x="801410" y="6928723"/>
            <a:ext cx="13027581" cy="4276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853F203A-AA5A-BF5B-E45E-105057B064C6}"/>
              </a:ext>
            </a:extLst>
          </p:cNvPr>
          <p:cNvSpPr/>
          <p:nvPr/>
        </p:nvSpPr>
        <p:spPr>
          <a:xfrm>
            <a:off x="949166" y="7024688"/>
            <a:ext cx="230683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</a:t>
            </a:r>
            <a:endParaRPr lang="en-US" sz="1300" dirty="0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5B376A0E-9E73-DD5D-6FB5-A2E0D4D653CA}"/>
              </a:ext>
            </a:extLst>
          </p:cNvPr>
          <p:cNvSpPr/>
          <p:nvPr/>
        </p:nvSpPr>
        <p:spPr>
          <a:xfrm>
            <a:off x="3558421" y="7024688"/>
            <a:ext cx="230302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</a:t>
            </a: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ndicates Time of 'Default'</a:t>
            </a:r>
            <a:endParaRPr lang="en-US" sz="1300" dirty="0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07A9F324-95EF-1837-7043-A3496E48223C}"/>
              </a:ext>
            </a:extLst>
          </p:cNvPr>
          <p:cNvSpPr/>
          <p:nvPr/>
        </p:nvSpPr>
        <p:spPr>
          <a:xfrm>
            <a:off x="6163866" y="7024688"/>
            <a:ext cx="230302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Numerical</a:t>
            </a:r>
            <a:endParaRPr lang="en-US" sz="13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AB95213B-C35B-631E-23E0-C6A8CE812F97}"/>
              </a:ext>
            </a:extLst>
          </p:cNvPr>
          <p:cNvSpPr/>
          <p:nvPr/>
        </p:nvSpPr>
        <p:spPr>
          <a:xfrm>
            <a:off x="8769310" y="7024688"/>
            <a:ext cx="230302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</a:t>
            </a: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 months</a:t>
            </a:r>
            <a:endParaRPr lang="en-US" sz="1300" dirty="0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1D483F81-A884-73D5-B5F5-02A004B49971}"/>
              </a:ext>
            </a:extLst>
          </p:cNvPr>
          <p:cNvSpPr/>
          <p:nvPr/>
        </p:nvSpPr>
        <p:spPr>
          <a:xfrm>
            <a:off x="11374755" y="7024688"/>
            <a:ext cx="230683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positive value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477070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940B6D9-1299-7319-0C4F-7E85D21F29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423102"/>
              </p:ext>
            </p:extLst>
          </p:nvPr>
        </p:nvGraphicFramePr>
        <p:xfrm>
          <a:off x="1377713" y="3136933"/>
          <a:ext cx="12314946" cy="39880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52491">
                  <a:extLst>
                    <a:ext uri="{9D8B030D-6E8A-4147-A177-3AD203B41FA5}">
                      <a16:colId xmlns:a16="http://schemas.microsoft.com/office/drawing/2014/main" val="3246224822"/>
                    </a:ext>
                  </a:extLst>
                </a:gridCol>
                <a:gridCol w="2052491">
                  <a:extLst>
                    <a:ext uri="{9D8B030D-6E8A-4147-A177-3AD203B41FA5}">
                      <a16:colId xmlns:a16="http://schemas.microsoft.com/office/drawing/2014/main" val="821737109"/>
                    </a:ext>
                  </a:extLst>
                </a:gridCol>
                <a:gridCol w="2052491">
                  <a:extLst>
                    <a:ext uri="{9D8B030D-6E8A-4147-A177-3AD203B41FA5}">
                      <a16:colId xmlns:a16="http://schemas.microsoft.com/office/drawing/2014/main" val="189868180"/>
                    </a:ext>
                  </a:extLst>
                </a:gridCol>
                <a:gridCol w="2052491">
                  <a:extLst>
                    <a:ext uri="{9D8B030D-6E8A-4147-A177-3AD203B41FA5}">
                      <a16:colId xmlns:a16="http://schemas.microsoft.com/office/drawing/2014/main" val="514019006"/>
                    </a:ext>
                  </a:extLst>
                </a:gridCol>
                <a:gridCol w="2052491">
                  <a:extLst>
                    <a:ext uri="{9D8B030D-6E8A-4147-A177-3AD203B41FA5}">
                      <a16:colId xmlns:a16="http://schemas.microsoft.com/office/drawing/2014/main" val="2769649398"/>
                    </a:ext>
                  </a:extLst>
                </a:gridCol>
                <a:gridCol w="2052491">
                  <a:extLst>
                    <a:ext uri="{9D8B030D-6E8A-4147-A177-3AD203B41FA5}">
                      <a16:colId xmlns:a16="http://schemas.microsoft.com/office/drawing/2014/main" val="2329112620"/>
                    </a:ext>
                  </a:extLst>
                </a:gridCol>
              </a:tblGrid>
              <a:tr h="4985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FFFFFF"/>
                          </a:solidFill>
                          <a:effectLst/>
                        </a:rPr>
                        <a:t>Variable</a:t>
                      </a: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rgbClr val="FFFFFF"/>
                          </a:solidFill>
                          <a:effectLst/>
                        </a:rPr>
                        <a:t>Coef</a:t>
                      </a: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rgbClr val="FFFFFF"/>
                          </a:solidFill>
                          <a:effectLst/>
                        </a:rPr>
                        <a:t>Exp(Coef)</a:t>
                      </a: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rgbClr val="FFFFFF"/>
                          </a:solidFill>
                          <a:effectLst/>
                        </a:rPr>
                        <a:t>SE(Coef)</a:t>
                      </a: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rgbClr val="FFFFFF"/>
                          </a:solidFill>
                          <a:effectLst/>
                        </a:rPr>
                        <a:t>Z</a:t>
                      </a: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rgbClr val="FFFFFF"/>
                          </a:solidFill>
                          <a:effectLst/>
                        </a:rPr>
                        <a:t>Pr(&gt;|z|)</a:t>
                      </a:r>
                    </a:p>
                  </a:txBody>
                  <a:tcPr marL="57150" marR="57150" marT="57150" marB="57150" anchor="ctr"/>
                </a:tc>
                <a:extLst>
                  <a:ext uri="{0D108BD9-81ED-4DB2-BD59-A6C34878D82A}">
                    <a16:rowId xmlns:a16="http://schemas.microsoft.com/office/drawing/2014/main" val="3925204378"/>
                  </a:ext>
                </a:extLst>
              </a:tr>
              <a:tr h="4985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AGE2</a:t>
                      </a: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0.30668</a:t>
                      </a: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1.35891</a:t>
                      </a: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0.18701</a:t>
                      </a: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1.640</a:t>
                      </a: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0.1010</a:t>
                      </a:r>
                    </a:p>
                  </a:txBody>
                  <a:tcPr marL="57150" marR="57150" marT="57150" marB="57150" anchor="ctr"/>
                </a:tc>
                <a:extLst>
                  <a:ext uri="{0D108BD9-81ED-4DB2-BD59-A6C34878D82A}">
                    <a16:rowId xmlns:a16="http://schemas.microsoft.com/office/drawing/2014/main" val="924016898"/>
                  </a:ext>
                </a:extLst>
              </a:tr>
              <a:tr h="4985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AGE3</a:t>
                      </a: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0.54006</a:t>
                      </a: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1.71611</a:t>
                      </a: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0.25293</a:t>
                      </a: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2.135</a:t>
                      </a: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0.0327</a:t>
                      </a:r>
                    </a:p>
                  </a:txBody>
                  <a:tcPr marL="57150" marR="57150" marT="57150" marB="57150" anchor="ctr"/>
                </a:tc>
                <a:extLst>
                  <a:ext uri="{0D108BD9-81ED-4DB2-BD59-A6C34878D82A}">
                    <a16:rowId xmlns:a16="http://schemas.microsoft.com/office/drawing/2014/main" val="1951709290"/>
                  </a:ext>
                </a:extLst>
              </a:tr>
              <a:tr h="4985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EMPLOY</a:t>
                      </a: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-0.24177</a:t>
                      </a: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0.78524</a:t>
                      </a: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0.02238</a:t>
                      </a: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-10.803</a:t>
                      </a: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&lt; 2e-16</a:t>
                      </a:r>
                    </a:p>
                  </a:txBody>
                  <a:tcPr marL="57150" marR="57150" marT="57150" marB="57150" anchor="ctr"/>
                </a:tc>
                <a:extLst>
                  <a:ext uri="{0D108BD9-81ED-4DB2-BD59-A6C34878D82A}">
                    <a16:rowId xmlns:a16="http://schemas.microsoft.com/office/drawing/2014/main" val="728880581"/>
                  </a:ext>
                </a:extLst>
              </a:tr>
              <a:tr h="4985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ADDRESS</a:t>
                      </a: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-0.09825</a:t>
                      </a: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0.90643</a:t>
                      </a: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0.01634</a:t>
                      </a: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-6.011</a:t>
                      </a: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1.84e-09</a:t>
                      </a:r>
                    </a:p>
                  </a:txBody>
                  <a:tcPr marL="57150" marR="57150" marT="57150" marB="57150" anchor="ctr"/>
                </a:tc>
                <a:extLst>
                  <a:ext uri="{0D108BD9-81ED-4DB2-BD59-A6C34878D82A}">
                    <a16:rowId xmlns:a16="http://schemas.microsoft.com/office/drawing/2014/main" val="1187928494"/>
                  </a:ext>
                </a:extLst>
              </a:tr>
              <a:tr h="4985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DEBTINC</a:t>
                      </a: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0.05859</a:t>
                      </a: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1.06034</a:t>
                      </a: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0.01308</a:t>
                      </a: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4.478</a:t>
                      </a: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7.53e-06</a:t>
                      </a:r>
                    </a:p>
                  </a:txBody>
                  <a:tcPr marL="57150" marR="57150" marT="57150" marB="57150" anchor="ctr"/>
                </a:tc>
                <a:extLst>
                  <a:ext uri="{0D108BD9-81ED-4DB2-BD59-A6C34878D82A}">
                    <a16:rowId xmlns:a16="http://schemas.microsoft.com/office/drawing/2014/main" val="3733430729"/>
                  </a:ext>
                </a:extLst>
              </a:tr>
              <a:tr h="4985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CREDEBT</a:t>
                      </a: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0.58482</a:t>
                      </a: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1.79468</a:t>
                      </a: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0.05020</a:t>
                      </a: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11.649</a:t>
                      </a: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&lt; 2e-16</a:t>
                      </a:r>
                    </a:p>
                  </a:txBody>
                  <a:tcPr marL="57150" marR="57150" marT="57150" marB="57150" anchor="ctr"/>
                </a:tc>
                <a:extLst>
                  <a:ext uri="{0D108BD9-81ED-4DB2-BD59-A6C34878D82A}">
                    <a16:rowId xmlns:a16="http://schemas.microsoft.com/office/drawing/2014/main" val="1077435695"/>
                  </a:ext>
                </a:extLst>
              </a:tr>
              <a:tr h="4985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OTHDEBT</a:t>
                      </a: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0.06465</a:t>
                      </a: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1.06679</a:t>
                      </a: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0.03166</a:t>
                      </a: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2.042</a:t>
                      </a: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0.0411</a:t>
                      </a:r>
                    </a:p>
                  </a:txBody>
                  <a:tcPr marL="57150" marR="57150" marT="57150" marB="57150" anchor="ctr"/>
                </a:tc>
                <a:extLst>
                  <a:ext uri="{0D108BD9-81ED-4DB2-BD59-A6C34878D82A}">
                    <a16:rowId xmlns:a16="http://schemas.microsoft.com/office/drawing/2014/main" val="2125861250"/>
                  </a:ext>
                </a:extLst>
              </a:tr>
            </a:tbl>
          </a:graphicData>
        </a:graphic>
      </p:graphicFrame>
      <p:sp>
        <p:nvSpPr>
          <p:cNvPr id="3" name="Text 0">
            <a:extLst>
              <a:ext uri="{FF2B5EF4-FFF2-40B4-BE49-F238E27FC236}">
                <a16:creationId xmlns:a16="http://schemas.microsoft.com/office/drawing/2014/main" id="{7C7893D4-0EC4-0528-F6BE-6104CD3A05F0}"/>
              </a:ext>
            </a:extLst>
          </p:cNvPr>
          <p:cNvSpPr/>
          <p:nvPr/>
        </p:nvSpPr>
        <p:spPr>
          <a:xfrm>
            <a:off x="1270200" y="711637"/>
            <a:ext cx="5358765" cy="669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Model Fitting</a:t>
            </a:r>
            <a:endParaRPr lang="en-US" sz="37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969C82C-8D4C-10AE-9AD5-09E469A19284}"/>
              </a:ext>
            </a:extLst>
          </p:cNvPr>
          <p:cNvSpPr/>
          <p:nvPr/>
        </p:nvSpPr>
        <p:spPr>
          <a:xfrm>
            <a:off x="1377713" y="1593134"/>
            <a:ext cx="3215283" cy="401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0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Interpretation:</a:t>
            </a:r>
            <a:endParaRPr lang="en-US" sz="20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94FC981-12F7-63DC-E574-9B96026CF132}"/>
              </a:ext>
            </a:extLst>
          </p:cNvPr>
          <p:cNvSpPr/>
          <p:nvPr/>
        </p:nvSpPr>
        <p:spPr>
          <a:xfrm>
            <a:off x="1377713" y="2055135"/>
            <a:ext cx="13042821" cy="408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coef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column gives the estimates of the parameters in the model.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2973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AC46958-7C4A-FDED-BBB4-735E353BF1B3}"/>
              </a:ext>
            </a:extLst>
          </p:cNvPr>
          <p:cNvSpPr/>
          <p:nvPr/>
        </p:nvSpPr>
        <p:spPr>
          <a:xfrm>
            <a:off x="793790" y="919877"/>
            <a:ext cx="480536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Individual Testing </a:t>
            </a:r>
            <a:endParaRPr lang="en-US" sz="37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BEB9E11-F3CD-ED4D-E3B6-737B2E63F84C}"/>
              </a:ext>
            </a:extLst>
          </p:cNvPr>
          <p:cNvSpPr/>
          <p:nvPr/>
        </p:nvSpPr>
        <p:spPr>
          <a:xfrm>
            <a:off x="793790" y="1587818"/>
            <a:ext cx="2857976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Interpretation:</a:t>
            </a:r>
            <a:endParaRPr lang="en-US" sz="2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CE2FC69-B85C-6C6F-EB57-2FAC3AAFC5CB}"/>
              </a:ext>
            </a:extLst>
          </p:cNvPr>
          <p:cNvSpPr/>
          <p:nvPr/>
        </p:nvSpPr>
        <p:spPr>
          <a:xfrm>
            <a:off x="793790" y="221718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Except AGE2, all variables are significant and have an impact on time taken by a customer to default (p-values &lt;0.05)</a:t>
            </a:r>
            <a:endParaRPr lang="en-US" sz="1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64EB5A5-AAAB-0B3F-FF2B-2153D6153881}"/>
              </a:ext>
            </a:extLst>
          </p:cNvPr>
          <p:cNvSpPr/>
          <p:nvPr/>
        </p:nvSpPr>
        <p:spPr>
          <a:xfrm>
            <a:off x="793790" y="2784158"/>
            <a:ext cx="130428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Higher the number of years spent at one address or employed, lesser is the probability to default (as the coefficients are negative)</a:t>
            </a: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729AA98-5A95-91E2-4879-6292CAD6769A}"/>
              </a:ext>
            </a:extLst>
          </p:cNvPr>
          <p:cNvSpPr/>
          <p:nvPr/>
        </p:nvSpPr>
        <p:spPr>
          <a:xfrm>
            <a:off x="793790" y="3137892"/>
            <a:ext cx="130428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Higher the amount of liabilities, higher is the probability to default (as the coefficients are positive)</a:t>
            </a:r>
            <a:endParaRPr lang="en-US" sz="16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71699A-4D9E-8454-3F0A-9E23DFEC6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762541"/>
              </p:ext>
            </p:extLst>
          </p:nvPr>
        </p:nvGraphicFramePr>
        <p:xfrm>
          <a:off x="1078099" y="3965703"/>
          <a:ext cx="11001204" cy="31375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833534">
                  <a:extLst>
                    <a:ext uri="{9D8B030D-6E8A-4147-A177-3AD203B41FA5}">
                      <a16:colId xmlns:a16="http://schemas.microsoft.com/office/drawing/2014/main" val="494602742"/>
                    </a:ext>
                  </a:extLst>
                </a:gridCol>
                <a:gridCol w="1833534">
                  <a:extLst>
                    <a:ext uri="{9D8B030D-6E8A-4147-A177-3AD203B41FA5}">
                      <a16:colId xmlns:a16="http://schemas.microsoft.com/office/drawing/2014/main" val="1673620322"/>
                    </a:ext>
                  </a:extLst>
                </a:gridCol>
                <a:gridCol w="1833534">
                  <a:extLst>
                    <a:ext uri="{9D8B030D-6E8A-4147-A177-3AD203B41FA5}">
                      <a16:colId xmlns:a16="http://schemas.microsoft.com/office/drawing/2014/main" val="245864294"/>
                    </a:ext>
                  </a:extLst>
                </a:gridCol>
                <a:gridCol w="1833534">
                  <a:extLst>
                    <a:ext uri="{9D8B030D-6E8A-4147-A177-3AD203B41FA5}">
                      <a16:colId xmlns:a16="http://schemas.microsoft.com/office/drawing/2014/main" val="1517086616"/>
                    </a:ext>
                  </a:extLst>
                </a:gridCol>
                <a:gridCol w="1833534">
                  <a:extLst>
                    <a:ext uri="{9D8B030D-6E8A-4147-A177-3AD203B41FA5}">
                      <a16:colId xmlns:a16="http://schemas.microsoft.com/office/drawing/2014/main" val="2909311522"/>
                    </a:ext>
                  </a:extLst>
                </a:gridCol>
                <a:gridCol w="1833534">
                  <a:extLst>
                    <a:ext uri="{9D8B030D-6E8A-4147-A177-3AD203B41FA5}">
                      <a16:colId xmlns:a16="http://schemas.microsoft.com/office/drawing/2014/main" val="22963511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>
                          <a:solidFill>
                            <a:srgbClr val="FFFFFF"/>
                          </a:solidFill>
                          <a:effectLst/>
                        </a:rPr>
                        <a:t>Variable</a:t>
                      </a:r>
                    </a:p>
                  </a:txBody>
                  <a:tcPr marL="71438" marR="71438" marT="71438" marB="71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solidFill>
                            <a:srgbClr val="FFFFFF"/>
                          </a:solidFill>
                          <a:effectLst/>
                        </a:rPr>
                        <a:t>Coef</a:t>
                      </a:r>
                    </a:p>
                  </a:txBody>
                  <a:tcPr marL="71438" marR="71438" marT="71438" marB="71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solidFill>
                            <a:srgbClr val="FFFFFF"/>
                          </a:solidFill>
                          <a:effectLst/>
                        </a:rPr>
                        <a:t>Exp(Coef)</a:t>
                      </a:r>
                    </a:p>
                  </a:txBody>
                  <a:tcPr marL="71438" marR="71438" marT="71438" marB="71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solidFill>
                            <a:srgbClr val="FFFFFF"/>
                          </a:solidFill>
                          <a:effectLst/>
                        </a:rPr>
                        <a:t>SE(Coef)</a:t>
                      </a:r>
                    </a:p>
                  </a:txBody>
                  <a:tcPr marL="71438" marR="71438" marT="71438" marB="71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solidFill>
                            <a:srgbClr val="FFFFFF"/>
                          </a:solidFill>
                          <a:effectLst/>
                        </a:rPr>
                        <a:t>Z</a:t>
                      </a:r>
                    </a:p>
                  </a:txBody>
                  <a:tcPr marL="71438" marR="71438" marT="71438" marB="71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solidFill>
                            <a:srgbClr val="FFFFFF"/>
                          </a:solidFill>
                          <a:effectLst/>
                        </a:rPr>
                        <a:t>Pr(&gt;|z|)</a:t>
                      </a:r>
                    </a:p>
                  </a:txBody>
                  <a:tcPr marL="71438" marR="71438" marT="71438" marB="71438" anchor="ctr"/>
                </a:tc>
                <a:extLst>
                  <a:ext uri="{0D108BD9-81ED-4DB2-BD59-A6C34878D82A}">
                    <a16:rowId xmlns:a16="http://schemas.microsoft.com/office/drawing/2014/main" val="3320772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>
                          <a:solidFill>
                            <a:srgbClr val="333333"/>
                          </a:solidFill>
                          <a:effectLst/>
                        </a:rPr>
                        <a:t>AGE2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effectLst/>
                        </a:rPr>
                        <a:t>0.30668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effectLst/>
                        </a:rPr>
                        <a:t>1.35891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effectLst/>
                        </a:rPr>
                        <a:t>0.18701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effectLst/>
                        </a:rPr>
                        <a:t>1.640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effectLst/>
                        </a:rPr>
                        <a:t>0.1010</a:t>
                      </a:r>
                    </a:p>
                  </a:txBody>
                  <a:tcPr marL="71438" marR="71438" marT="57150" marB="57150" anchor="ctr"/>
                </a:tc>
                <a:extLst>
                  <a:ext uri="{0D108BD9-81ED-4DB2-BD59-A6C34878D82A}">
                    <a16:rowId xmlns:a16="http://schemas.microsoft.com/office/drawing/2014/main" val="1987853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solidFill>
                            <a:srgbClr val="333333"/>
                          </a:solidFill>
                          <a:effectLst/>
                        </a:rPr>
                        <a:t>AGE3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effectLst/>
                        </a:rPr>
                        <a:t>0.54006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effectLst/>
                        </a:rPr>
                        <a:t>1.71611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effectLst/>
                        </a:rPr>
                        <a:t>0.25293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effectLst/>
                        </a:rPr>
                        <a:t>2.135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effectLst/>
                        </a:rPr>
                        <a:t>0.0327</a:t>
                      </a:r>
                    </a:p>
                  </a:txBody>
                  <a:tcPr marL="71438" marR="71438" marT="57150" marB="57150" anchor="ctr"/>
                </a:tc>
                <a:extLst>
                  <a:ext uri="{0D108BD9-81ED-4DB2-BD59-A6C34878D82A}">
                    <a16:rowId xmlns:a16="http://schemas.microsoft.com/office/drawing/2014/main" val="58590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solidFill>
                            <a:srgbClr val="333333"/>
                          </a:solidFill>
                          <a:effectLst/>
                        </a:rPr>
                        <a:t>EMPLOY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effectLst/>
                        </a:rPr>
                        <a:t>-0.24177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effectLst/>
                        </a:rPr>
                        <a:t>0.78524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effectLst/>
                        </a:rPr>
                        <a:t>0.02238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effectLst/>
                        </a:rPr>
                        <a:t>-10.803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effectLst/>
                        </a:rPr>
                        <a:t>&lt; 2e-16</a:t>
                      </a:r>
                    </a:p>
                  </a:txBody>
                  <a:tcPr marL="71438" marR="71438" marT="57150" marB="57150" anchor="ctr"/>
                </a:tc>
                <a:extLst>
                  <a:ext uri="{0D108BD9-81ED-4DB2-BD59-A6C34878D82A}">
                    <a16:rowId xmlns:a16="http://schemas.microsoft.com/office/drawing/2014/main" val="3817605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solidFill>
                            <a:srgbClr val="333333"/>
                          </a:solidFill>
                          <a:effectLst/>
                        </a:rPr>
                        <a:t>ADDRESS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effectLst/>
                        </a:rPr>
                        <a:t>-0.09825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effectLst/>
                        </a:rPr>
                        <a:t>0.90643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effectLst/>
                        </a:rPr>
                        <a:t>0.01634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effectLst/>
                        </a:rPr>
                        <a:t>-6.011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effectLst/>
                        </a:rPr>
                        <a:t>1.84e-09</a:t>
                      </a:r>
                    </a:p>
                  </a:txBody>
                  <a:tcPr marL="71438" marR="71438" marT="57150" marB="57150" anchor="ctr"/>
                </a:tc>
                <a:extLst>
                  <a:ext uri="{0D108BD9-81ED-4DB2-BD59-A6C34878D82A}">
                    <a16:rowId xmlns:a16="http://schemas.microsoft.com/office/drawing/2014/main" val="1525690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solidFill>
                            <a:srgbClr val="333333"/>
                          </a:solidFill>
                          <a:effectLst/>
                        </a:rPr>
                        <a:t>DEBTINC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effectLst/>
                        </a:rPr>
                        <a:t>0.05859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effectLst/>
                        </a:rPr>
                        <a:t>1.06034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effectLst/>
                        </a:rPr>
                        <a:t>0.01308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effectLst/>
                        </a:rPr>
                        <a:t>4.478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effectLst/>
                        </a:rPr>
                        <a:t>7.53e-06</a:t>
                      </a:r>
                    </a:p>
                  </a:txBody>
                  <a:tcPr marL="71438" marR="71438" marT="57150" marB="57150" anchor="ctr"/>
                </a:tc>
                <a:extLst>
                  <a:ext uri="{0D108BD9-81ED-4DB2-BD59-A6C34878D82A}">
                    <a16:rowId xmlns:a16="http://schemas.microsoft.com/office/drawing/2014/main" val="1708549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solidFill>
                            <a:srgbClr val="333333"/>
                          </a:solidFill>
                          <a:effectLst/>
                        </a:rPr>
                        <a:t>CREDEBT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effectLst/>
                        </a:rPr>
                        <a:t>0.58482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effectLst/>
                        </a:rPr>
                        <a:t>1.79468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effectLst/>
                        </a:rPr>
                        <a:t>0.05020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effectLst/>
                        </a:rPr>
                        <a:t>11.649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effectLst/>
                        </a:rPr>
                        <a:t>&lt; 2e-16</a:t>
                      </a:r>
                    </a:p>
                  </a:txBody>
                  <a:tcPr marL="71438" marR="71438" marT="57150" marB="57150" anchor="ctr"/>
                </a:tc>
                <a:extLst>
                  <a:ext uri="{0D108BD9-81ED-4DB2-BD59-A6C34878D82A}">
                    <a16:rowId xmlns:a16="http://schemas.microsoft.com/office/drawing/2014/main" val="250212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solidFill>
                            <a:srgbClr val="333333"/>
                          </a:solidFill>
                          <a:effectLst/>
                        </a:rPr>
                        <a:t>OTHDEBT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>
                          <a:effectLst/>
                        </a:rPr>
                        <a:t>0.06465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effectLst/>
                        </a:rPr>
                        <a:t>1.06679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effectLst/>
                        </a:rPr>
                        <a:t>0.03166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effectLst/>
                        </a:rPr>
                        <a:t>2.042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>
                          <a:effectLst/>
                        </a:rPr>
                        <a:t>0.0411</a:t>
                      </a:r>
                    </a:p>
                  </a:txBody>
                  <a:tcPr marL="71438" marR="71438" marT="57150" marB="57150" anchor="ctr"/>
                </a:tc>
                <a:extLst>
                  <a:ext uri="{0D108BD9-81ED-4DB2-BD59-A6C34878D82A}">
                    <a16:rowId xmlns:a16="http://schemas.microsoft.com/office/drawing/2014/main" val="16373536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02877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5798"/>
            <a:ext cx="7221736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Predicted Probabilities</a:t>
            </a:r>
          </a:p>
          <a:p>
            <a:pPr marL="0" indent="0" algn="l">
              <a:lnSpc>
                <a:spcPts val="5850"/>
              </a:lnSpc>
              <a:buNone/>
            </a:pP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1344573"/>
            <a:ext cx="3572470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0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Interpretation: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1410" y="2018287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Predicted probabilities that the customer will default before 24 months</a:t>
            </a:r>
            <a:endParaRPr lang="en-US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D7961ACB-A35E-FBE0-0E88-86804CCE4291}"/>
              </a:ext>
            </a:extLst>
          </p:cNvPr>
          <p:cNvGraphicFramePr>
            <a:graphicFrameLocks noGrp="1"/>
          </p:cNvGraphicFramePr>
          <p:nvPr/>
        </p:nvGraphicFramePr>
        <p:xfrm>
          <a:off x="801410" y="2869132"/>
          <a:ext cx="10617061" cy="343946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16723">
                  <a:extLst>
                    <a:ext uri="{9D8B030D-6E8A-4147-A177-3AD203B41FA5}">
                      <a16:colId xmlns:a16="http://schemas.microsoft.com/office/drawing/2014/main" val="824354952"/>
                    </a:ext>
                  </a:extLst>
                </a:gridCol>
                <a:gridCol w="1516723">
                  <a:extLst>
                    <a:ext uri="{9D8B030D-6E8A-4147-A177-3AD203B41FA5}">
                      <a16:colId xmlns:a16="http://schemas.microsoft.com/office/drawing/2014/main" val="1182883776"/>
                    </a:ext>
                  </a:extLst>
                </a:gridCol>
                <a:gridCol w="1516723">
                  <a:extLst>
                    <a:ext uri="{9D8B030D-6E8A-4147-A177-3AD203B41FA5}">
                      <a16:colId xmlns:a16="http://schemas.microsoft.com/office/drawing/2014/main" val="396640549"/>
                    </a:ext>
                  </a:extLst>
                </a:gridCol>
                <a:gridCol w="1516723">
                  <a:extLst>
                    <a:ext uri="{9D8B030D-6E8A-4147-A177-3AD203B41FA5}">
                      <a16:colId xmlns:a16="http://schemas.microsoft.com/office/drawing/2014/main" val="1814824086"/>
                    </a:ext>
                  </a:extLst>
                </a:gridCol>
                <a:gridCol w="1516723">
                  <a:extLst>
                    <a:ext uri="{9D8B030D-6E8A-4147-A177-3AD203B41FA5}">
                      <a16:colId xmlns:a16="http://schemas.microsoft.com/office/drawing/2014/main" val="1475818469"/>
                    </a:ext>
                  </a:extLst>
                </a:gridCol>
                <a:gridCol w="1516723">
                  <a:extLst>
                    <a:ext uri="{9D8B030D-6E8A-4147-A177-3AD203B41FA5}">
                      <a16:colId xmlns:a16="http://schemas.microsoft.com/office/drawing/2014/main" val="2950297491"/>
                    </a:ext>
                  </a:extLst>
                </a:gridCol>
                <a:gridCol w="1516723">
                  <a:extLst>
                    <a:ext uri="{9D8B030D-6E8A-4147-A177-3AD203B41FA5}">
                      <a16:colId xmlns:a16="http://schemas.microsoft.com/office/drawing/2014/main" val="1202979466"/>
                    </a:ext>
                  </a:extLst>
                </a:gridCol>
              </a:tblGrid>
              <a:tr h="5219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FFFFFF"/>
                          </a:solidFill>
                          <a:effectLst/>
                        </a:rPr>
                        <a:t>AGE</a:t>
                      </a:r>
                    </a:p>
                  </a:txBody>
                  <a:tcPr marL="71438" marR="71438" marT="71438" marB="71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FFFFFF"/>
                          </a:solidFill>
                          <a:effectLst/>
                        </a:rPr>
                        <a:t>EMPLOY</a:t>
                      </a:r>
                    </a:p>
                  </a:txBody>
                  <a:tcPr marL="71438" marR="71438" marT="71438" marB="71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FFFFFF"/>
                          </a:solidFill>
                          <a:effectLst/>
                        </a:rPr>
                        <a:t>ADDRESS</a:t>
                      </a:r>
                    </a:p>
                  </a:txBody>
                  <a:tcPr marL="71438" marR="71438" marT="71438" marB="71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FFFFFF"/>
                          </a:solidFill>
                          <a:effectLst/>
                        </a:rPr>
                        <a:t>DEBTINC</a:t>
                      </a:r>
                    </a:p>
                  </a:txBody>
                  <a:tcPr marL="71438" marR="71438" marT="71438" marB="71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FFFFFF"/>
                          </a:solidFill>
                          <a:effectLst/>
                        </a:rPr>
                        <a:t>CREDEBT</a:t>
                      </a:r>
                    </a:p>
                  </a:txBody>
                  <a:tcPr marL="71438" marR="71438" marT="71438" marB="71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FFFFFF"/>
                          </a:solidFill>
                          <a:effectLst/>
                        </a:rPr>
                        <a:t>OTHDEBT</a:t>
                      </a:r>
                    </a:p>
                  </a:txBody>
                  <a:tcPr marL="71438" marR="71438" marT="71438" marB="71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FFFFFF"/>
                          </a:solidFill>
                          <a:effectLst/>
                        </a:rPr>
                        <a:t>Prob24</a:t>
                      </a:r>
                    </a:p>
                  </a:txBody>
                  <a:tcPr marL="71438" marR="71438" marT="71438" marB="71438" anchor="ctr"/>
                </a:tc>
                <a:extLst>
                  <a:ext uri="{0D108BD9-81ED-4DB2-BD59-A6C34878D82A}">
                    <a16:rowId xmlns:a16="http://schemas.microsoft.com/office/drawing/2014/main" val="1283812528"/>
                  </a:ext>
                </a:extLst>
              </a:tr>
              <a:tr h="4862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3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17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12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9.4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11.38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5.01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</a:rPr>
                        <a:t>0.1262493</a:t>
                      </a:r>
                    </a:p>
                  </a:txBody>
                  <a:tcPr marL="71438" marR="71438" marT="57150" marB="57150" anchor="ctr"/>
                </a:tc>
                <a:extLst>
                  <a:ext uri="{0D108BD9-81ED-4DB2-BD59-A6C34878D82A}">
                    <a16:rowId xmlns:a16="http://schemas.microsoft.com/office/drawing/2014/main" val="3485760407"/>
                  </a:ext>
                </a:extLst>
              </a:tr>
              <a:tr h="4862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2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10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6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17.3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1.36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4.00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</a:rPr>
                        <a:t>0.9341567</a:t>
                      </a:r>
                    </a:p>
                  </a:txBody>
                  <a:tcPr marL="71438" marR="71438" marT="57150" marB="57150" anchor="ctr"/>
                </a:tc>
                <a:extLst>
                  <a:ext uri="{0D108BD9-81ED-4DB2-BD59-A6C34878D82A}">
                    <a16:rowId xmlns:a16="http://schemas.microsoft.com/office/drawing/2014/main" val="1806904036"/>
                  </a:ext>
                </a:extLst>
              </a:tr>
              <a:tr h="4862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3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15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13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5.5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0.86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2.17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</a:rPr>
                        <a:t>0.9957209</a:t>
                      </a:r>
                    </a:p>
                  </a:txBody>
                  <a:tcPr marL="71438" marR="71438" marT="57150" marB="57150" anchor="ctr"/>
                </a:tc>
                <a:extLst>
                  <a:ext uri="{0D108BD9-81ED-4DB2-BD59-A6C34878D82A}">
                    <a16:rowId xmlns:a16="http://schemas.microsoft.com/office/drawing/2014/main" val="2165681356"/>
                  </a:ext>
                </a:extLst>
              </a:tr>
              <a:tr h="4862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2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15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14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2.9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2.66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0.82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</a:rPr>
                        <a:t>0.9930838</a:t>
                      </a:r>
                    </a:p>
                  </a:txBody>
                  <a:tcPr marL="71438" marR="71438" marT="57150" marB="57150" anchor="ctr"/>
                </a:tc>
                <a:extLst>
                  <a:ext uri="{0D108BD9-81ED-4DB2-BD59-A6C34878D82A}">
                    <a16:rowId xmlns:a16="http://schemas.microsoft.com/office/drawing/2014/main" val="2093077059"/>
                  </a:ext>
                </a:extLst>
              </a:tr>
              <a:tr h="4862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2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17.6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1.79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3.06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</a:rPr>
                        <a:t>0.4630305</a:t>
                      </a:r>
                    </a:p>
                  </a:txBody>
                  <a:tcPr marL="71438" marR="71438" marT="57150" marB="57150" anchor="ctr"/>
                </a:tc>
                <a:extLst>
                  <a:ext uri="{0D108BD9-81ED-4DB2-BD59-A6C34878D82A}">
                    <a16:rowId xmlns:a16="http://schemas.microsoft.com/office/drawing/2014/main" val="2552410372"/>
                  </a:ext>
                </a:extLst>
              </a:tr>
              <a:tr h="4862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1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5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5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10.2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0.35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2.16</a:t>
                      </a:r>
                    </a:p>
                  </a:txBody>
                  <a:tcPr marL="71438" marR="71438" marT="57150" marB="571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</a:rPr>
                        <a:t>0.9416758</a:t>
                      </a:r>
                    </a:p>
                  </a:txBody>
                  <a:tcPr marL="71438" marR="71438" marT="57150" marB="57150" anchor="ctr"/>
                </a:tc>
                <a:extLst>
                  <a:ext uri="{0D108BD9-81ED-4DB2-BD59-A6C34878D82A}">
                    <a16:rowId xmlns:a16="http://schemas.microsoft.com/office/drawing/2014/main" val="45375446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75216" y="611267"/>
            <a:ext cx="6915388" cy="690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Proportional Hazards Model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775216" y="1939916"/>
            <a:ext cx="13079968" cy="420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</a:rPr>
              <a:t>For any two cases, the ratio of hazard function at any time point is constant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</a:rPr>
              <a:t>Consider simple example in which only independent variable is X=1 for  group 1 and X=0 for group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4"/>
              <p:cNvSpPr/>
              <p:nvPr/>
            </p:nvSpPr>
            <p:spPr>
              <a:xfrm>
                <a:off x="1550432" y="3546788"/>
                <a:ext cx="13079968" cy="38809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50000"/>
                  </a:lnSpc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DM Sans" pitchFamily="2" charset="0"/>
                  </a:rPr>
                  <a:t>For X=1,hazrad function is       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DM Sans" pitchFamily="2" charset="0"/>
                    <a:ea typeface="Cambria Math" pitchFamily="18" charset="0"/>
                  </a:rPr>
                  <a:t>h(</a:t>
                </a:r>
                <a:r>
                  <a:rPr lang="en-US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DM Sans" pitchFamily="2" charset="0"/>
                    <a:ea typeface="Cambria Math" pitchFamily="18" charset="0"/>
                  </a:rPr>
                  <a:t>t|x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DM Sans" pitchFamily="2" charset="0"/>
                    <a:ea typeface="Cambria Math" pitchFamily="18" charset="0"/>
                  </a:rPr>
                  <a:t>)=h</a:t>
                </a:r>
                <a:r>
                  <a:rPr lang="en-US" baseline="-25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DM Sans" pitchFamily="2" charset="0"/>
                    <a:ea typeface="Cambria Math" pitchFamily="18" charset="0"/>
                  </a:rPr>
                  <a:t>0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DM Sans" pitchFamily="2" charset="0"/>
                    <a:ea typeface="Cambria Math" pitchFamily="18" charset="0"/>
                  </a:rPr>
                  <a:t>(t)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/>
                            <a:ea typeface="Cambria Math" pitchFamily="18" charset="0"/>
                          </a:rPr>
                          <m:t>exp</m:t>
                        </m:r>
                      </m:e>
                      <m:sup>
                        <m:r>
                          <a:rPr lang="en-US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/>
                            <a:ea typeface="Cambria Math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/>
                                <a:ea typeface="Cambria Math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/>
                                <a:ea typeface="Cambria Math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/>
                            <a:ea typeface="Cambria Math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baseline="30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DM Sans" pitchFamily="2" charset="0"/>
                  <a:ea typeface="Cambria Math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DM Sans" pitchFamily="2" charset="0"/>
                  </a:rPr>
                  <a:t>For X=0,hazrad function is        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DM Sans" pitchFamily="2" charset="0"/>
                    <a:ea typeface="Cambria Math" pitchFamily="18" charset="0"/>
                  </a:rPr>
                  <a:t>h(</a:t>
                </a:r>
                <a:r>
                  <a:rPr lang="en-US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DM Sans" pitchFamily="2" charset="0"/>
                    <a:ea typeface="Cambria Math" pitchFamily="18" charset="0"/>
                  </a:rPr>
                  <a:t>t|x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DM Sans" pitchFamily="2" charset="0"/>
                    <a:ea typeface="Cambria Math" pitchFamily="18" charset="0"/>
                  </a:rPr>
                  <a:t>)=h</a:t>
                </a:r>
                <a:r>
                  <a:rPr lang="en-US" baseline="-25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DM Sans" pitchFamily="2" charset="0"/>
                    <a:ea typeface="Cambria Math" pitchFamily="18" charset="0"/>
                  </a:rPr>
                  <a:t>0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DM Sans" pitchFamily="2" charset="0"/>
                    <a:ea typeface="Cambria Math" pitchFamily="18" charset="0"/>
                  </a:rPr>
                  <a:t>(t)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DM Sans" pitchFamily="2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DM Sans" pitchFamily="2" charset="0"/>
                  </a:rPr>
                  <a:t>Therefore, hazard ratio is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/>
                            <a:ea typeface="Cambria Math" pitchFamily="18" charset="0"/>
                          </a:rPr>
                          <m:t>exp</m:t>
                        </m:r>
                      </m:e>
                      <m:sup>
                        <m:r>
                          <a:rPr lang="en-US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/>
                            <a:ea typeface="Cambria Math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/>
                                <a:ea typeface="Cambria Math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/>
                                <a:ea typeface="Cambria Math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/>
                            <a:ea typeface="Cambria Math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DM Sans" pitchFamily="2" charset="0"/>
                    <a:ea typeface="Cambria Math" pitchFamily="18" charset="0"/>
                  </a:rPr>
                  <a:t> = Constant</a:t>
                </a:r>
                <a:endParaRPr lang="en-US" sz="1650" b="1" dirty="0">
                  <a:latin typeface="DM Sans" pitchFamily="2" charset="0"/>
                </a:endParaRPr>
              </a:p>
            </p:txBody>
          </p:sp>
        </mc:Choice>
        <mc:Fallback xmlns="">
          <p:sp>
            <p:nvSpPr>
              <p:cNvPr id="8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0432" y="3546788"/>
                <a:ext cx="13079968" cy="3880954"/>
              </a:xfrm>
              <a:prstGeom prst="rect">
                <a:avLst/>
              </a:prstGeom>
              <a:blipFill>
                <a:blip r:embed="rId3"/>
                <a:stretch>
                  <a:fillRect l="-106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1880"/>
            <a:ext cx="3572470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Quick Recap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793790" y="1538645"/>
            <a:ext cx="382667" cy="382667"/>
          </a:xfrm>
          <a:prstGeom prst="roundRect">
            <a:avLst>
              <a:gd name="adj" fmla="val 6669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1346478" y="1597104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Survival Analysis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1346478" y="1978104"/>
            <a:ext cx="1249013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Survival analysis is the study of time taken for an event to occur, accounting for censoring and incomplete observations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93790" y="2658428"/>
            <a:ext cx="382667" cy="382667"/>
          </a:xfrm>
          <a:prstGeom prst="roundRect">
            <a:avLst>
              <a:gd name="adj" fmla="val 6669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1346478" y="2716887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Cox Regression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346478" y="3097887"/>
            <a:ext cx="1249013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Cox regression is used to model "Time to Event" variable while incorporating multiple predictor variables simultaneously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93790" y="3778210"/>
            <a:ext cx="382667" cy="382667"/>
          </a:xfrm>
          <a:prstGeom prst="roundRect">
            <a:avLst>
              <a:gd name="adj" fmla="val 6669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1346478" y="3836670"/>
            <a:ext cx="2911793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Cox Regression Model Fitting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346478" y="4217670"/>
            <a:ext cx="12490133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coxph()</a:t>
            </a: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from package </a:t>
            </a:r>
            <a:r>
              <a:rPr lang="en-US" sz="16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survival</a:t>
            </a: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fits a Cox regression. Survival Object is the response variable in </a:t>
            </a:r>
            <a:r>
              <a:rPr lang="en-US" sz="16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coxph()</a:t>
            </a: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</a:t>
            </a:r>
            <a:r>
              <a:rPr lang="en-US" sz="16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summary()</a:t>
            </a: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of </a:t>
            </a:r>
            <a:r>
              <a:rPr lang="en-US" sz="16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coxph()</a:t>
            </a: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object returns Likelihood Ratio test results and p-values for checking variable significance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93790" y="5238155"/>
            <a:ext cx="382667" cy="382667"/>
          </a:xfrm>
          <a:prstGeom prst="roundRect">
            <a:avLst>
              <a:gd name="adj" fmla="val 6669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1346478" y="5296614"/>
            <a:ext cx="2451735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Predictions on New Data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346478" y="5677614"/>
            <a:ext cx="1249013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predictSurvProb()</a:t>
            </a: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from package </a:t>
            </a:r>
            <a:r>
              <a:rPr lang="en-US" sz="16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pec</a:t>
            </a: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generates predicted probabilities for new observations based on the fitted Cox model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93790" y="6357938"/>
            <a:ext cx="382667" cy="382667"/>
          </a:xfrm>
          <a:prstGeom prst="roundRect">
            <a:avLst>
              <a:gd name="adj" fmla="val 6669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1346478" y="6416397"/>
            <a:ext cx="2795707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Proportional Hazards Model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346478" y="6797397"/>
            <a:ext cx="12490133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any two cases, the ratio of hazard function at any time point is constant, which is the fundamental assumption of Cox regression</a:t>
            </a:r>
            <a:endParaRPr lang="en-US" sz="16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2973705"/>
            <a:ext cx="7556421" cy="1488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700"/>
              </a:lnSpc>
              <a:buNone/>
            </a:pPr>
            <a:r>
              <a:rPr lang="en-US" sz="9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THANK YOU!</a:t>
            </a:r>
            <a:endParaRPr lang="en-US" sz="9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1929</Words>
  <Application>Microsoft Macintosh PowerPoint</Application>
  <PresentationFormat>Custom</PresentationFormat>
  <Paragraphs>442</Paragraphs>
  <Slides>21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PT Serif</vt:lpstr>
      <vt:lpstr>DM Sans</vt:lpstr>
      <vt:lpstr>Calibri</vt:lpstr>
      <vt:lpstr>Cambria Math</vt:lpstr>
      <vt:lpstr>Arial</vt:lpstr>
      <vt:lpstr>Wingdings</vt:lpstr>
      <vt:lpstr>PT Serif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Fimran</dc:creator>
  <cp:lastModifiedBy>Vinayak Deshpande</cp:lastModifiedBy>
  <cp:revision>49</cp:revision>
  <dcterms:created xsi:type="dcterms:W3CDTF">2025-10-14T05:31:09Z</dcterms:created>
  <dcterms:modified xsi:type="dcterms:W3CDTF">2025-10-24T08:42:33Z</dcterms:modified>
</cp:coreProperties>
</file>