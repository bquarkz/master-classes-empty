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DM Sans" pitchFamily="2" charset="77"/>
      <p:regular r:id="rId19"/>
    </p:embeddedFont>
    <p:embeddedFont>
      <p:font typeface="PT Serif" panose="020A0603040505020204" pitchFamily="18" charset="77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93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64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3108"/>
            <a:ext cx="12048411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Sampling Theory and its Relevance in the AI/ML Era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401121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Bridging Classical Statistics and Modern Machine Learning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Sampling in AI/ML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2685574"/>
            <a:ext cx="38332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Simple Random Sampling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3983831"/>
            <a:ext cx="39266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Stratified Random Sampling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Cluster Sampling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3790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0778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Two-Stage Sampling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8548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10778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Sampling Methods in Machine Learning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7721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5912"/>
            <a:ext cx="9222581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Sampling Theory Matters in AI/ML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63402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Sampling Theory provides the mathematical framework for drawing representative subsets from populations. Even in our big data era, sampling remains central to fairness, efficiency, and generalization in machine learning systems.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492341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69069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Limitations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92148" y="4135398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may still be limited, costly, or confidential despite technological advances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492341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612737" y="369069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Bias Prevention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612737" y="4135398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Ensures unbiased, representative training data for robust model performance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5167193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92148" y="536555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Evaluation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92148" y="581025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for cross-validation, bootstrapping, and performance assessment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5167193"/>
            <a:ext cx="642223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612737" y="5365552"/>
            <a:ext cx="294822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Computational Efficiency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12737" y="581025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processing speed and resource utilization in large-scale applications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7280"/>
            <a:ext cx="996017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Random Sampling: The Foundation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Random Sampling (SRS) ensures each member of the population has an equal chance of selection, minimizing selection bias and working optimally when populations are homogeneous.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39537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268033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41293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Population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93790" y="4857631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Clearly identify and define the target population for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07437" y="39537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4268033"/>
            <a:ext cx="42154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207437" y="441293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Assign Numbers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207437" y="4857631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Systematically number each unit within the defined population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21203" y="39537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4268033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621203" y="441293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Selection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621203" y="4857631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random number generators to select samples without bias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3790" y="58647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method forms the basis for more complex sampling strategies and remains fundamental to statistical inference.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2937"/>
            <a:ext cx="854690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Random Sampling in Practice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778528"/>
            <a:ext cx="13042821" cy="625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 random sampling finds applications across diverse fields, from traditional market research to modern machine learning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workflows.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830598"/>
            <a:ext cx="4215289" cy="2157293"/>
          </a:xfrm>
          <a:prstGeom prst="roundRect">
            <a:avLst>
              <a:gd name="adj" fmla="val 13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008" y="405181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Research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15008" y="4496514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Randomly selecting 500 customers from a database of 10,000 for survey participation ensures representative feedback without systematic bias.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07437" y="3830598"/>
            <a:ext cx="4215408" cy="2157293"/>
          </a:xfrm>
          <a:prstGeom prst="roundRect">
            <a:avLst>
              <a:gd name="adj" fmla="val 13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8655" y="405181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Auditing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428655" y="4496514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Auditors randomly select 50 transactions from thousands in a ledger to assess compliance and detect irregularities efficiently.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21203" y="3830598"/>
            <a:ext cx="4215289" cy="2157293"/>
          </a:xfrm>
          <a:prstGeom prst="roundRect">
            <a:avLst>
              <a:gd name="adj" fmla="val 138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2421" y="405181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AI/ML Training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842421" y="4496514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Randomly selecting data rows for training sets prevents model bias and ensures generalizability across diverse scenarios.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8648"/>
            <a:ext cx="12581811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Stratified Random Sampling: Ensuring Representation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6567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Stratified sampling divides populations into homogeneous subgroups (strata) before random sampling, ensuring representation of all key demographic, geographic, or categorical segments.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30028" y="304192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Demographics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93790" y="3486626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 groups, gender, income levels, education backgrounds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6766" y="3482161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895284" y="320075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Geographic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895284" y="3645456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Regions, cities, urban vs rural populations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96335" y="3482161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895284" y="547330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Categories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9895284" y="5918002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brackets, business sectors, transaction volumes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96335" y="5741730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2130028" y="547330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Behavioral Patterns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793790" y="5918002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Usage frequency, purchase history, engagement levels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36766" y="5741730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4"/>
          <p:cNvSpPr/>
          <p:nvPr/>
        </p:nvSpPr>
        <p:spPr>
          <a:xfrm>
            <a:off x="793790" y="730329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approach guarantees that minority groups aren't underrepresented in the final sample.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7263"/>
            <a:ext cx="7536418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Stratified Sampling Applications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96537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Stratified sampling ensures balanced representation across critical subgroups, making it invaluable for comprehensive analysis and fair model training.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402205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Research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93790" y="4546044"/>
            <a:ext cx="39796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Banks survey customer satisfaction by stratifying respondents into age groups (18-30, 31-50, 51+) to capture generational differences in service preferences and digital adoption patterns.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65182" y="402205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Auditing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265182" y="4546044"/>
            <a:ext cx="39796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Auditors sample transactions from high, medium, and low-volume branches proportionally, ensuring comprehensive risk assessment across different operational scales.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36574" y="4022050"/>
            <a:ext cx="267628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AI/ML Implementation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736574" y="4546044"/>
            <a:ext cx="411503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Creating balanced train-test splits by stratifying data across target classes, preventing model bias toward majority classes in classification tasks.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7243"/>
            <a:ext cx="13042821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Cluster Sampling: Geographic and Organizational Efficiency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345662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sampling divides populations into naturally occurring groups (clusters) and randomly selects entire clusters for study. This method proves particularly useful for geographically dispersed populations.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4314944"/>
            <a:ext cx="4215289" cy="2157293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4314944"/>
            <a:ext cx="91440" cy="2157293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4536162"/>
            <a:ext cx="280606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Cost-Effective Approach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83588" y="4980861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travel and administrative costs by concentrating data collection efforts in selected geographic or organizational clusters.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07437" y="4314944"/>
            <a:ext cx="4215408" cy="2157293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4314944"/>
            <a:ext cx="91440" cy="2157293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453616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Natural Groupings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497235" y="4980861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Leverages existing organizational structures like schools, hospitals, or business districts as sampling units.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21203" y="4314944"/>
            <a:ext cx="4215289" cy="2157293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4314944"/>
            <a:ext cx="91440" cy="2157293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453616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Increased Variability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911001" y="4980861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introduce higher sampling error due to potential homogeneity within clusters, requiring careful cluster selection.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614"/>
            <a:ext cx="6218515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Cluster Sampling in Action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15372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sampling demonstrates its value across research domains, from traditional surveys to modern distributed computing scenarios.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94503"/>
            <a:ext cx="992267" cy="14764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84415" y="2892862"/>
            <a:ext cx="298358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Research Example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984415" y="3337560"/>
            <a:ext cx="118521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Researchers select 10 villages randomly from a district and survey all households within those villages, reducing logistical complexity while maintaining statistical validity.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170998"/>
            <a:ext cx="992267" cy="14764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84415" y="4369356"/>
            <a:ext cx="283856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Audit Example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1984415" y="4814054"/>
            <a:ext cx="118521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Auditors select 3 regional offices randomly and examine all transactions within those offices, ensuring comprehensive coverage while managing resources efficiently.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47492"/>
            <a:ext cx="992267" cy="14764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84415" y="5845850"/>
            <a:ext cx="303621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AI/ML Federated Learning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984415" y="6290548"/>
            <a:ext cx="118521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remains distributed across clusters (hospitals, banks, devices), with models trained locally and aggregated centrally, preserving privacy while enabling collaborative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7693"/>
            <a:ext cx="10070068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Two-Stage Sampling: Combining Strategies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59580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Two-stage sampling combines cluster and random sampling methods, first selecting clusters randomly, then sampling units within chosen clusters. This hybrid approach balances efficiency with precision.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51778"/>
            <a:ext cx="6422231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4545449"/>
            <a:ext cx="295989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Stage 1: Cluster Selection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92148" y="4990148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Randomly select 5 bank branches from all available locations, establishing the primary sampling frame.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79" y="3454122"/>
            <a:ext cx="6422231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2737" y="4247793"/>
            <a:ext cx="262866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Stage 2: Unit Selection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612737" y="4692491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Within each selected branch, randomly choose 20 customer accounts for detailed analysis.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93790" y="604682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AI/ML applications include hierarchical data structures like user-session-event relationships, where sampling occurs at multiple levels to maintain data integrity while reducing computational load.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8648"/>
            <a:ext cx="1060299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Bootstrapping: Resampling with Replacement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6567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Bootstrapping creates multiple samples by drawing observations with replacement from the original dataset. This powerful technique estimates variability and confidence intervals without requiring additional data collection.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30028" y="3200757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Original Sample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93790" y="3645456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available dataset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4626" y="3464540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895284" y="27954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Resample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895284" y="3240167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 with replacement</a:t>
            </a: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14144" y="3199864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994463" y="441638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Calculate Statistic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9994463" y="4861084"/>
            <a:ext cx="38421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desired metric</a:t>
            </a: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40557" y="4886623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9895284" y="603730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Repeat Process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95284" y="6482001"/>
            <a:ext cx="394132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multiple bootstrap samples</a:t>
            </a:r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91698" y="6193691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4"/>
          <p:cNvSpPr/>
          <p:nvPr/>
        </p:nvSpPr>
        <p:spPr>
          <a:xfrm>
            <a:off x="2130028" y="563201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Estimate Distribution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793790" y="6076712"/>
            <a:ext cx="394120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sampling distribution</a:t>
            </a: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515076"/>
            <a:ext cx="4564975" cy="45649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31728" y="5314890"/>
            <a:ext cx="296942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300" dirty="0"/>
          </a:p>
        </p:txBody>
      </p:sp>
      <p:sp>
        <p:nvSpPr>
          <p:cNvPr id="24" name="Text 17"/>
          <p:cNvSpPr/>
          <p:nvPr/>
        </p:nvSpPr>
        <p:spPr>
          <a:xfrm>
            <a:off x="793790" y="730329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key insight: simulate repeated sampling from the population using only available data.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3413"/>
            <a:ext cx="819376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Bootstrapping in Machine Learning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68152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Bootstrapping forms the foundation of several powerful machine learning techniques, particularly ensemble methods that combine multiple models for improved performance and stability. (ex- Random Forest Method)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539841"/>
            <a:ext cx="6422231" cy="2587704"/>
          </a:xfrm>
          <a:prstGeom prst="roundRect">
            <a:avLst>
              <a:gd name="adj" fmla="val 115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92148" y="273819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55859" y="2868335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92148" y="353187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Bagging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92148" y="3976568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 Aggregating creates multiple training subsets with replacement, training separate models on each subset and averaging predictions.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14379" y="2539841"/>
            <a:ext cx="6422231" cy="2587704"/>
          </a:xfrm>
          <a:prstGeom prst="roundRect">
            <a:avLst>
              <a:gd name="adj" fmla="val 1150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612737" y="273819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6448" y="2868335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612737" y="353187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Random Forests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7612737" y="3976568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bootstrapping with random feature selection, creating diverse decision trees that collectively provide robust predictions.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3790" y="5325904"/>
            <a:ext cx="6422231" cy="2270165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148" y="552426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55859" y="5654397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92148" y="631793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Variance Reduction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992148" y="6762631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Averaging multiple bootstrap-trained models reduces prediction variance.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414379" y="5325904"/>
            <a:ext cx="6422231" cy="2270165"/>
          </a:xfrm>
          <a:prstGeom prst="roundRect">
            <a:avLst>
              <a:gd name="adj" fmla="val 1311"/>
            </a:avLst>
          </a:prstGeom>
          <a:solidFill>
            <a:srgbClr val="F2EE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2737" y="552426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6448" y="5654397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612737" y="631793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Stability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7612737" y="6762631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 methods create more stable models less sensitive to individual data points or outliers.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6053"/>
            <a:ext cx="1276052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Addressing Class Imbalance: Over and Under-Sampling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80416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 imbalance poses significant challenges in machine learning classification tasks. Over-sampling increases minority class representation, while under-sampling reduces majority class dominance.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3860840"/>
            <a:ext cx="312527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Over-Sampling Techniques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93790" y="438483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SMOTE (Synthetic Minority Oversampling)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77178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over-sampling with replacement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15874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Adaptive synthetic sampling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5456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Borderline-SMOTE variations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860840"/>
            <a:ext cx="296799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Under-Sampling Methods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564874" y="438483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under-sampling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77178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Tomek links removal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515874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Edited nearest neighbors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55456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Condensed nearest neighbor rule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1558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hese techniques ensure balanced training data, preventing models from being biased toward majority classes.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5034"/>
            <a:ext cx="10772180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Sampling Applications in Imbalanced Datasets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2731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applications demonstrate how sampling techniques address class imbalance challenges across diverse domains, from market research to critical AI applications.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03770" y="3131463"/>
            <a:ext cx="22860" cy="387298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519505" y="3343275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091958" y="313146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158930" y="3159383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3717965" y="319968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Research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93790" y="3644384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Over-sampling high-income respondents ensures adequate representation in luxury product surveys, despite their small population percentage.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15582" y="4533900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7091958" y="4322088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158930" y="4350008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8307467" y="439031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Fraud Detection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8307467" y="4835009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SMOTE generates synthetic fraudulent transactions to balance datasets where legitimate transactions vastly outnumber fraudulent ones.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519505" y="5560219"/>
            <a:ext cx="595313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091958" y="5348407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158930" y="5376327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3717965" y="5416629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 Diagnosis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793790" y="5861328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Rare disease prediction models use over-sampling to ensure sufficient positive cases for effective pattern recognition and diagnosis.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5348"/>
            <a:ext cx="11546800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Cross-Validation: Sampling for Model Assessment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88345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Cross-validation partitions data into folds for iterative training and testing, providing robust model performance estimates while maximizing data utilization. This technique relies fundamentally on sampling principles.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741777"/>
            <a:ext cx="13042821" cy="179403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741777"/>
            <a:ext cx="4347567" cy="179403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92148" y="3940135"/>
            <a:ext cx="276665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K-Fold Cross-Validation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92148" y="4384834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Divides data randomly into k equal folds, using k-1 folds for training and 1 for testing, rotating through all combinations.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141357" y="3741777"/>
            <a:ext cx="4347567" cy="179403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5141357" y="3741777"/>
            <a:ext cx="22860" cy="179403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5339715" y="394013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Stratified K-Fold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339715" y="4384834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Maintains class proportions within each fold, ensuring representative training and testing sets.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488924" y="3741777"/>
            <a:ext cx="4347567" cy="179403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8924" y="3741777"/>
            <a:ext cx="22860" cy="179403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9687282" y="394013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Leave-One-Out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687282" y="4384834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Extreme case where k equals sample size, providing maximum data utilization but high computational cost.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75905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Benefits include reduced overfitting, better performance estimates, and more reliable model selection across different algorithms and hyperparameters.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007" y="787182"/>
            <a:ext cx="1179159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Takeaways: Sampling Theory in Modern AI/ML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89333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Sampling theory bridges classical statistics and modern artificial intelligence, remaining vital for developing fair, efficient, and generalizable machine learning systems.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75165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438632" y="2819876"/>
            <a:ext cx="382393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Ensures Data Representativeness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438632" y="3264575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Proper sampling techniques guarantee that training data accurately reflects the target population, leading to more reliable model predictions.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2751653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083987" y="2819876"/>
            <a:ext cx="308824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Controls Bias and Variance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8083987" y="3264575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sampling reduces systematic biases while managing prediction variance, creating more robust and trustworthy AI systems.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61402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438632" y="4682252"/>
            <a:ext cx="408551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Improves Computational Efficiency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1438632" y="5126950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sampling strategies reduce computational requirements while maintaining statistical validity, enabling scalable AI solutions.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39144" y="461402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083987" y="4682252"/>
            <a:ext cx="433661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Supports Fairness and Generalization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8083987" y="5126950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Thoughtful sampling promotes algorithmic fairness and ensures models generalize effectively across diverse populations and scenarios.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91446" y="6526054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Sampling theory provides the mathematical foundation that ensures AI/ML systems remain statistically sound, ethically responsible, and practically effective in our data-driven world.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93790" y="6302812"/>
            <a:ext cx="22860" cy="108156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1427</Words>
  <Application>Microsoft Macintosh PowerPoint</Application>
  <PresentationFormat>Custom</PresentationFormat>
  <Paragraphs>184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PT Serif</vt:lpstr>
      <vt:lpstr>DM Sans</vt:lpstr>
      <vt:lpstr>Calibri</vt:lpstr>
      <vt:lpstr>Arial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12</cp:revision>
  <dcterms:created xsi:type="dcterms:W3CDTF">2025-10-06T05:34:13Z</dcterms:created>
  <dcterms:modified xsi:type="dcterms:W3CDTF">2025-10-17T08:33:47Z</dcterms:modified>
</cp:coreProperties>
</file>