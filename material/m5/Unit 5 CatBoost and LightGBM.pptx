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74" r:id="rId2"/>
    <p:sldId id="275" r:id="rId3"/>
    <p:sldId id="379" r:id="rId4"/>
    <p:sldId id="300" r:id="rId5"/>
    <p:sldId id="377" r:id="rId6"/>
    <p:sldId id="380" r:id="rId7"/>
    <p:sldId id="386" r:id="rId8"/>
    <p:sldId id="376" r:id="rId9"/>
    <p:sldId id="387" r:id="rId10"/>
    <p:sldId id="390" r:id="rId11"/>
    <p:sldId id="391" r:id="rId12"/>
    <p:sldId id="396" r:id="rId13"/>
    <p:sldId id="381" r:id="rId14"/>
    <p:sldId id="398" r:id="rId15"/>
    <p:sldId id="394" r:id="rId16"/>
    <p:sldId id="393" r:id="rId17"/>
    <p:sldId id="397" r:id="rId18"/>
    <p:sldId id="382" r:id="rId19"/>
    <p:sldId id="328" r:id="rId20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00A79D-7FEB-7377-6F03-BFB90D5705B8}" v="125" dt="2026-03-04T09:01:43.23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2891" autoAdjust="0"/>
  </p:normalViewPr>
  <p:slideViewPr>
    <p:cSldViewPr>
      <p:cViewPr varScale="1">
        <p:scale>
          <a:sx n="58" d="100"/>
          <a:sy n="58" d="100"/>
        </p:scale>
        <p:origin x="519" y="3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097FF-D63A-4701-9D59-A7186DD4FFE5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E45C9-D4C9-4BB9-AC1A-6D12C248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C471-F21A-8034-1182-7EC20A46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DEB8-E147-4787-5FDF-AACC13D35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F521C-0896-D5EA-62D4-7B080E31F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12D4-651F-022F-E212-0668CF912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3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5D64-14C4-F16C-5619-287C7EA2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13F94-501F-3960-9E11-DE7F03BD9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30D1C-21CC-DCF2-1302-0D6A57E7F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C2F6F-17C8-6775-A32C-6E7DBAEA8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23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665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0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840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89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860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483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001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85DC-158A-6A4D-AEC5-3C4D0AA39301}" type="datetime1">
              <a:rPr lang="en-IN" smtClean="0"/>
              <a:t>04-03-2026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0CBE1-E654-804F-8DD3-1999B1EAA43E}" type="datetime1">
              <a:rPr lang="en-IN" smtClean="0"/>
              <a:t>04-03-2026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E4A29-2FA4-5F43-8886-1C2CFE02D9AE}" type="datetime1">
              <a:rPr lang="en-IN" smtClean="0"/>
              <a:t>04-03-2026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1625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9609" y="3090163"/>
            <a:ext cx="73812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C385-8D9F-4541-81D3-BBF55B3B60AF}" type="datetime1">
              <a:rPr lang="en-IN" smtClean="0"/>
              <a:t>04-03-2026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lvl1pPr>
        <a:defRPr>
          <a:latin typeface="PT Serif" panose="020A0603040505020204" pitchFamily="18" charset="0"/>
          <a:ea typeface="+mj-ea"/>
          <a:cs typeface="+mj-cs"/>
        </a:defRPr>
      </a:lvl1pPr>
    </p:titleStyle>
    <p:bodyStyle>
      <a:lvl1pPr marL="0">
        <a:defRPr>
          <a:latin typeface="PT Serif" panose="020A0603040505020204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8BBC-7E6C-F114-F782-376A30F0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F82AA0A4-B4C8-BFF7-1622-4303CB7DF1F3}"/>
              </a:ext>
            </a:extLst>
          </p:cNvPr>
          <p:cNvSpPr/>
          <p:nvPr/>
        </p:nvSpPr>
        <p:spPr>
          <a:xfrm>
            <a:off x="1295400" y="2209800"/>
            <a:ext cx="1358213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1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LightGBM and CatBoost Methods</a:t>
            </a:r>
            <a:endParaRPr lang="en-US" sz="41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A8D49-1B61-4101-77B3-D68D40457217}"/>
              </a:ext>
            </a:extLst>
          </p:cNvPr>
          <p:cNvSpPr txBox="1"/>
          <p:nvPr/>
        </p:nvSpPr>
        <p:spPr>
          <a:xfrm>
            <a:off x="1312984" y="3189033"/>
            <a:ext cx="12022016" cy="813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</a:rPr>
              <a:t>LightGBM and CatBoost are powerful gradient boosting algorithms for fast and accurate predictive modeling.</a:t>
            </a:r>
          </a:p>
        </p:txBody>
      </p:sp>
    </p:spTree>
    <p:extLst>
      <p:ext uri="{BB962C8B-B14F-4D97-AF65-F5344CB8AC3E}">
        <p14:creationId xmlns:p14="http://schemas.microsoft.com/office/powerpoint/2010/main" val="424820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79A3-6285-EA7B-A2B4-F0C9DCE1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EF8EC6-F255-C70E-3023-DC7EAEC5B16D}"/>
              </a:ext>
            </a:extLst>
          </p:cNvPr>
          <p:cNvSpPr/>
          <p:nvPr/>
        </p:nvSpPr>
        <p:spPr>
          <a:xfrm>
            <a:off x="793790" y="327886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36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0CCEE3-6042-A6A9-3891-B76B33DC9098}"/>
              </a:ext>
            </a:extLst>
          </p:cNvPr>
          <p:cNvSpPr/>
          <p:nvPr/>
        </p:nvSpPr>
        <p:spPr>
          <a:xfrm>
            <a:off x="793790" y="120146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9D6074-985D-ECFD-41A9-CC64CE8CCED8}"/>
              </a:ext>
            </a:extLst>
          </p:cNvPr>
          <p:cNvSpPr/>
          <p:nvPr/>
        </p:nvSpPr>
        <p:spPr>
          <a:xfrm>
            <a:off x="793790" y="155650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BB4AFD-62D3-1AAB-C8B6-84BCFD0B3499}"/>
              </a:ext>
            </a:extLst>
          </p:cNvPr>
          <p:cNvSpPr/>
          <p:nvPr/>
        </p:nvSpPr>
        <p:spPr>
          <a:xfrm>
            <a:off x="793790" y="1730812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LightGBM?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95C41F2-E8AE-183D-B7D2-B584B66A5047}"/>
              </a:ext>
            </a:extLst>
          </p:cNvPr>
          <p:cNvSpPr/>
          <p:nvPr/>
        </p:nvSpPr>
        <p:spPr>
          <a:xfrm>
            <a:off x="7428548" y="120146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20FFCDF-EFCF-D95B-39BF-71DEE8C305CC}"/>
              </a:ext>
            </a:extLst>
          </p:cNvPr>
          <p:cNvSpPr/>
          <p:nvPr/>
        </p:nvSpPr>
        <p:spPr>
          <a:xfrm>
            <a:off x="7428548" y="155650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5C44485-ABDB-D8CB-78F7-9276AAADB0B2}"/>
              </a:ext>
            </a:extLst>
          </p:cNvPr>
          <p:cNvSpPr/>
          <p:nvPr/>
        </p:nvSpPr>
        <p:spPr>
          <a:xfrm>
            <a:off x="7428548" y="1688306"/>
            <a:ext cx="4915852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Level-Wise vs Leaf-Wise Split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49AA9FB-4CAF-BC7C-90F0-1D48BD93C205}"/>
              </a:ext>
            </a:extLst>
          </p:cNvPr>
          <p:cNvSpPr/>
          <p:nvPr/>
        </p:nvSpPr>
        <p:spPr>
          <a:xfrm>
            <a:off x="793790" y="249971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735EFEC-254C-A190-497E-54797BC377D7}"/>
              </a:ext>
            </a:extLst>
          </p:cNvPr>
          <p:cNvSpPr/>
          <p:nvPr/>
        </p:nvSpPr>
        <p:spPr>
          <a:xfrm>
            <a:off x="793790" y="2854762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C6FBEA-485A-7F7D-47FB-5FEB6466C2AF}"/>
              </a:ext>
            </a:extLst>
          </p:cNvPr>
          <p:cNvSpPr/>
          <p:nvPr/>
        </p:nvSpPr>
        <p:spPr>
          <a:xfrm>
            <a:off x="793790" y="3029068"/>
            <a:ext cx="5607010" cy="378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Continuous Variables Are Treated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B65B506-59D4-7376-A944-4C46A5D3D0DA}"/>
              </a:ext>
            </a:extLst>
          </p:cNvPr>
          <p:cNvSpPr/>
          <p:nvPr/>
        </p:nvSpPr>
        <p:spPr>
          <a:xfrm>
            <a:off x="7428548" y="249971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64D1A4C-2B9B-4174-ACD2-FF1592E30587}"/>
              </a:ext>
            </a:extLst>
          </p:cNvPr>
          <p:cNvSpPr/>
          <p:nvPr/>
        </p:nvSpPr>
        <p:spPr>
          <a:xfrm>
            <a:off x="7428548" y="2854762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2CEF56-AF19-B00B-757E-9F9AA779999A}"/>
              </a:ext>
            </a:extLst>
          </p:cNvPr>
          <p:cNvSpPr/>
          <p:nvPr/>
        </p:nvSpPr>
        <p:spPr>
          <a:xfrm>
            <a:off x="7428548" y="3029069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26178CF-9339-DE4A-28C3-77F3A415D7BD}"/>
              </a:ext>
            </a:extLst>
          </p:cNvPr>
          <p:cNvSpPr/>
          <p:nvPr/>
        </p:nvSpPr>
        <p:spPr>
          <a:xfrm>
            <a:off x="793790" y="399823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1EAC6A6-8C3F-4954-512B-A2B54B6C5FB6}"/>
              </a:ext>
            </a:extLst>
          </p:cNvPr>
          <p:cNvSpPr/>
          <p:nvPr/>
        </p:nvSpPr>
        <p:spPr>
          <a:xfrm>
            <a:off x="793790" y="4353282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B97DF43-3297-7260-5B91-2DAB55D3B09B}"/>
              </a:ext>
            </a:extLst>
          </p:cNvPr>
          <p:cNvSpPr/>
          <p:nvPr/>
        </p:nvSpPr>
        <p:spPr>
          <a:xfrm>
            <a:off x="793790" y="4527590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LightGBM Works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7E44A9EB-37D4-D3CC-6CA9-BE886EEF64E4}"/>
              </a:ext>
            </a:extLst>
          </p:cNvPr>
          <p:cNvSpPr/>
          <p:nvPr/>
        </p:nvSpPr>
        <p:spPr>
          <a:xfrm>
            <a:off x="7428548" y="3041586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GBM vs LightGBM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6DFA16B1-6A6D-E449-B2C3-5B3B26C2C568}"/>
              </a:ext>
            </a:extLst>
          </p:cNvPr>
          <p:cNvSpPr/>
          <p:nvPr/>
        </p:nvSpPr>
        <p:spPr>
          <a:xfrm>
            <a:off x="7428547" y="4338042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B399EC45-7608-BF4F-96F3-D57F5F5EACFF}"/>
              </a:ext>
            </a:extLst>
          </p:cNvPr>
          <p:cNvSpPr/>
          <p:nvPr/>
        </p:nvSpPr>
        <p:spPr>
          <a:xfrm>
            <a:off x="7428547" y="4582968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LightGBM Parameters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5F7B4E8E-7E63-124E-A4D0-9C605AEF0532}"/>
              </a:ext>
            </a:extLst>
          </p:cNvPr>
          <p:cNvSpPr/>
          <p:nvPr/>
        </p:nvSpPr>
        <p:spPr>
          <a:xfrm>
            <a:off x="7428548" y="401127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61A48F65-9960-09D7-F7AD-889530E219FC}"/>
              </a:ext>
            </a:extLst>
          </p:cNvPr>
          <p:cNvSpPr/>
          <p:nvPr/>
        </p:nvSpPr>
        <p:spPr>
          <a:xfrm>
            <a:off x="838200" y="526969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07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C24968C1-ABDF-15B0-CF88-81F295185DD3}"/>
              </a:ext>
            </a:extLst>
          </p:cNvPr>
          <p:cNvSpPr/>
          <p:nvPr/>
        </p:nvSpPr>
        <p:spPr>
          <a:xfrm>
            <a:off x="838200" y="5624736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4B70E2BD-41DE-2DA2-5201-454012CC1AC3}"/>
              </a:ext>
            </a:extLst>
          </p:cNvPr>
          <p:cNvSpPr/>
          <p:nvPr/>
        </p:nvSpPr>
        <p:spPr>
          <a:xfrm>
            <a:off x="838200" y="5799044"/>
            <a:ext cx="5378410" cy="50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CatBoost?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F8CFB441-D47D-6E29-1615-14152B7D26C7}"/>
              </a:ext>
            </a:extLst>
          </p:cNvPr>
          <p:cNvSpPr/>
          <p:nvPr/>
        </p:nvSpPr>
        <p:spPr>
          <a:xfrm>
            <a:off x="7467600" y="562040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8FA6D861-81F3-D849-70BE-33A381A31ACD}"/>
              </a:ext>
            </a:extLst>
          </p:cNvPr>
          <p:cNvSpPr/>
          <p:nvPr/>
        </p:nvSpPr>
        <p:spPr>
          <a:xfrm>
            <a:off x="7451993" y="5849174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CatBoost Works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32BC5D34-A8B6-F853-8ECE-5244C512672C}"/>
              </a:ext>
            </a:extLst>
          </p:cNvPr>
          <p:cNvSpPr/>
          <p:nvPr/>
        </p:nvSpPr>
        <p:spPr>
          <a:xfrm>
            <a:off x="7467601" y="529363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08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CE1CA0B4-DE24-7250-0001-BBFB105C8941}"/>
              </a:ext>
            </a:extLst>
          </p:cNvPr>
          <p:cNvSpPr/>
          <p:nvPr/>
        </p:nvSpPr>
        <p:spPr>
          <a:xfrm>
            <a:off x="838200" y="65532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09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FBAE634A-B9F4-0A1C-56B2-4CD3ED381F51}"/>
              </a:ext>
            </a:extLst>
          </p:cNvPr>
          <p:cNvSpPr/>
          <p:nvPr/>
        </p:nvSpPr>
        <p:spPr>
          <a:xfrm>
            <a:off x="838200" y="690824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2108593E-AD7B-BBD7-B473-DE4212724716}"/>
              </a:ext>
            </a:extLst>
          </p:cNvPr>
          <p:cNvSpPr/>
          <p:nvPr/>
        </p:nvSpPr>
        <p:spPr>
          <a:xfrm>
            <a:off x="838200" y="7082552"/>
            <a:ext cx="5378410" cy="50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CatBoost Parameters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0652B9B8-64F7-80EC-39AB-3DFB837C7665}"/>
              </a:ext>
            </a:extLst>
          </p:cNvPr>
          <p:cNvSpPr/>
          <p:nvPr/>
        </p:nvSpPr>
        <p:spPr>
          <a:xfrm>
            <a:off x="7483207" y="688521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B0E8D343-A9B2-2FE3-0119-070FDA260FED}"/>
              </a:ext>
            </a:extLst>
          </p:cNvPr>
          <p:cNvSpPr/>
          <p:nvPr/>
        </p:nvSpPr>
        <p:spPr>
          <a:xfrm>
            <a:off x="7467600" y="7113984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LightGBM vs CatBoost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B03A235D-E9B4-ED75-AA34-AA89531831FE}"/>
              </a:ext>
            </a:extLst>
          </p:cNvPr>
          <p:cNvSpPr/>
          <p:nvPr/>
        </p:nvSpPr>
        <p:spPr>
          <a:xfrm>
            <a:off x="7483208" y="65584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</a:rPr>
              <a:t>10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296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9347FB-508F-2935-5FA1-C5A74B83056C}"/>
              </a:ext>
            </a:extLst>
          </p:cNvPr>
          <p:cNvSpPr/>
          <p:nvPr/>
        </p:nvSpPr>
        <p:spPr>
          <a:xfrm>
            <a:off x="8035442" y="3133201"/>
            <a:ext cx="4650230" cy="26800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endParaRPr lang="en-IN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5EAB96-6E3B-9932-193F-7345AC5A21A3}"/>
              </a:ext>
            </a:extLst>
          </p:cNvPr>
          <p:cNvSpPr/>
          <p:nvPr/>
        </p:nvSpPr>
        <p:spPr>
          <a:xfrm>
            <a:off x="1441702" y="3112200"/>
            <a:ext cx="4650230" cy="26800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endParaRPr lang="en-IN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463124"/>
            <a:ext cx="13656055" cy="777008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LightGBM and CatBoost Methods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702210" y="3074099"/>
            <a:ext cx="4165190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LightGBM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Microsoft's high-speed framework for large tabular datasets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8277962" y="2997898"/>
            <a:ext cx="4165190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CatBoost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Yandex's solution for automatic categorical feature handling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1F7FDA-9129-4E18-4428-013C082D35B3}"/>
              </a:ext>
            </a:extLst>
          </p:cNvPr>
          <p:cNvSpPr txBox="1"/>
          <p:nvPr/>
        </p:nvSpPr>
        <p:spPr>
          <a:xfrm>
            <a:off x="1295400" y="1501038"/>
            <a:ext cx="11430000" cy="123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000" dirty="0" err="1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LightGBM</a:t>
            </a: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sz="2000" dirty="0" err="1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CatBoost</a:t>
            </a: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are modern gradient boosting frameworks built to solve speed, scalability, and preprocessing issues in machine learning systems.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437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8215" y="389804"/>
            <a:ext cx="13656055" cy="997761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Why Not Just Traditional GBM?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9508" y="2273738"/>
            <a:ext cx="4164095" cy="328886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64334" y="2325320"/>
            <a:ext cx="397682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High Memory Usage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Memory consumption becomes prohibitive as data scales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4084724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232665" y="2247789"/>
            <a:ext cx="3818573" cy="3241385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68258" y="2308907"/>
            <a:ext cx="3441986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Manual Categorical </a:t>
            </a:r>
          </a:p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Variables Handling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Requires extensive preprocessing for categorical features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997332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701985" y="2247789"/>
            <a:ext cx="3976821" cy="328886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>
              <a:lnSpc>
                <a:spcPct val="200000"/>
              </a:lnSpc>
            </a:pPr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933843" y="2273738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Slow Training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Traditional GBM struggles with large datasets, requiring excessive computation time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</a:rPr>
              <a:t>	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8B5496-1E87-3A00-3344-76EF57664C5E}"/>
              </a:ext>
            </a:extLst>
          </p:cNvPr>
          <p:cNvSpPr txBox="1"/>
          <p:nvPr/>
        </p:nvSpPr>
        <p:spPr>
          <a:xfrm>
            <a:off x="685800" y="6125523"/>
            <a:ext cx="12344400" cy="619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These limitations drove the development of optimized frameworks like LightGBM and CatBoost.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163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9">
            <a:extLst>
              <a:ext uri="{FF2B5EF4-FFF2-40B4-BE49-F238E27FC236}">
                <a16:creationId xmlns:a16="http://schemas.microsoft.com/office/drawing/2014/main" id="{DA3798E6-00C3-6C11-AEB4-B888691CB7D9}"/>
              </a:ext>
            </a:extLst>
          </p:cNvPr>
          <p:cNvSpPr/>
          <p:nvPr/>
        </p:nvSpPr>
        <p:spPr>
          <a:xfrm>
            <a:off x="8001000" y="2151184"/>
            <a:ext cx="5152529" cy="2057400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9978" y="717128"/>
            <a:ext cx="13656055" cy="777008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What is LightGBM?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429978" y="2133598"/>
            <a:ext cx="5838329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b="1" u="sng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Light Gradient Boosting Machine</a:t>
            </a:r>
            <a:endParaRPr lang="en-US" sz="2400" b="1" u="sng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3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IN" sz="2000" dirty="0"/>
              <a:t>Developed by Microsoft, </a:t>
            </a:r>
            <a:r>
              <a:rPr lang="en-IN" sz="2000" dirty="0" err="1"/>
              <a:t>LightGBM</a:t>
            </a:r>
            <a:r>
              <a:rPr lang="en-IN" sz="2000" dirty="0"/>
              <a:t> is designed for high speed and low memory consumption. It works best for large tabular datasets where traditional GBM methods become slow and require significant processing time.</a:t>
            </a: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8258006" y="2133599"/>
            <a:ext cx="4650230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Key Advantage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Dramatically faster training with minimal accuracy trade-off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836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985" y="574834"/>
            <a:ext cx="13656055" cy="997761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Core Idea of LightGBM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9508" y="2322138"/>
            <a:ext cx="4164095" cy="217366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64334" y="2373720"/>
            <a:ext cx="397682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Faster Learning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Achieves better accuracy with fewer iterations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4133124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05113" y="2296190"/>
            <a:ext cx="3946125" cy="2142284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327264" y="2306436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Overfitting Risk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Requires careful depth control to prevent overfitting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3045732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701985" y="2296189"/>
            <a:ext cx="4170839" cy="217366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 algn="l">
              <a:lnSpc>
                <a:spcPct val="200000"/>
              </a:lnSpc>
            </a:pPr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75817" y="2275956"/>
            <a:ext cx="3997007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Leaf-Wise Tree Growth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Instead of growing entire levels, grows only the most important leaf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7B7903-C463-B549-A7F5-66FFBF6B3774}"/>
              </a:ext>
            </a:extLst>
          </p:cNvPr>
          <p:cNvSpPr txBox="1"/>
          <p:nvPr/>
        </p:nvSpPr>
        <p:spPr>
          <a:xfrm>
            <a:off x="671505" y="5230356"/>
            <a:ext cx="152542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latin typeface="PT Serif" panose="020A0603040505020204" pitchFamily="18" charset="0"/>
              </a:rPr>
              <a:t>LightGBM</a:t>
            </a:r>
            <a:r>
              <a:rPr lang="en-IN" sz="2000" dirty="0">
                <a:latin typeface="PT Serif" panose="020A0603040505020204" pitchFamily="18" charset="0"/>
              </a:rPr>
              <a:t> builds decision trees using a </a:t>
            </a:r>
            <a:r>
              <a:rPr lang="en-IN" sz="2000" b="1" dirty="0">
                <a:latin typeface="PT Serif" panose="020A0603040505020204" pitchFamily="18" charset="0"/>
              </a:rPr>
              <a:t>leaf-wise growth strategy</a:t>
            </a:r>
            <a:r>
              <a:rPr lang="en-IN" sz="2000" dirty="0">
                <a:latin typeface="PT Serif" panose="020A0603040505020204" pitchFamily="18" charset="0"/>
              </a:rPr>
              <a:t>, splitting the leaf </a:t>
            </a:r>
          </a:p>
          <a:p>
            <a:endParaRPr lang="en-IN" sz="2000" dirty="0">
              <a:latin typeface="PT Serif" panose="020A0603040505020204" pitchFamily="18" charset="0"/>
            </a:endParaRPr>
          </a:p>
          <a:p>
            <a:r>
              <a:rPr lang="en-IN" sz="2000" dirty="0">
                <a:latin typeface="PT Serif" panose="020A0603040505020204" pitchFamily="18" charset="0"/>
              </a:rPr>
              <a:t>with the highest loss reduction to improve accuracy and training speed on large datasets.</a:t>
            </a:r>
            <a:endParaRPr lang="en-US" sz="20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487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B2E10-1AD9-CE39-ED14-72D4F819D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990600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Level-Wise vs Leaf-Wise Split</a:t>
            </a:r>
            <a:br>
              <a:rPr lang="en-US" sz="3600" dirty="0">
                <a:solidFill>
                  <a:schemeClr val="tx1"/>
                </a:solidFill>
              </a:rPr>
            </a:br>
            <a:endParaRPr lang="en-IN" sz="36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63B3E9B0-B0C1-DF1A-2A9C-29C9B01A1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586922"/>
              </p:ext>
            </p:extLst>
          </p:nvPr>
        </p:nvGraphicFramePr>
        <p:xfrm>
          <a:off x="1219200" y="2561351"/>
          <a:ext cx="12039600" cy="370681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019800">
                  <a:extLst>
                    <a:ext uri="{9D8B030D-6E8A-4147-A177-3AD203B41FA5}">
                      <a16:colId xmlns:a16="http://schemas.microsoft.com/office/drawing/2014/main" val="246711799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1487091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20202"/>
                          </a:solidFill>
                          <a:latin typeface="PT Serif" panose="020A0603040505020204" pitchFamily="18" charset="0"/>
                        </a:rPr>
                        <a:t>Level-Wise (GBM)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20202"/>
                          </a:solidFill>
                          <a:latin typeface="PT Serif" panose="020A0603040505020204" pitchFamily="18" charset="0"/>
                        </a:rPr>
                        <a:t>Leaf-Wise (LightGBM)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316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PT Serif" panose="020A0603040505020204" pitchFamily="18" charset="0"/>
                        </a:rPr>
                        <a:t>Grows trees level-wise by splitting all nodes at each level.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latin typeface="PT Serif" panose="020A0603040505020204" pitchFamily="18" charset="0"/>
                        </a:rPr>
                        <a:t>splits the leaf that gives the maximum reduction in loss (highest information gain).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31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Creates balanced trees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Creates unbalanced trees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291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SzPct val="100000"/>
                        <a:buNone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Slower but more stable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Faster convergence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972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2647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A69ED-B926-16DB-CF50-616BE4491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9209"/>
            <a:ext cx="13656055" cy="687048"/>
          </a:xfrm>
        </p:spPr>
        <p:txBody>
          <a:bodyPr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b="1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Visual Comparison</a:t>
            </a:r>
            <a:endParaRPr lang="en-US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D7E90F-852D-B7FB-AA40-6D03F55B29F3}"/>
              </a:ext>
            </a:extLst>
          </p:cNvPr>
          <p:cNvSpPr txBox="1"/>
          <p:nvPr/>
        </p:nvSpPr>
        <p:spPr>
          <a:xfrm>
            <a:off x="838200" y="4648200"/>
            <a:ext cx="12039600" cy="3372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PT Serif" panose="020A0603040505020204" pitchFamily="18" charset="0"/>
              </a:rPr>
              <a:t>(a) Level-wise (GBM): All nodes at the same depth are split together, creating balanced trees. It is stable but slower because even less important nodes are expanded.</a:t>
            </a:r>
          </a:p>
          <a:p>
            <a:pPr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PT Serif" panose="020A0603040505020204" pitchFamily="18" charset="0"/>
              </a:rPr>
              <a:t>(b) Leaf-wise (LightGBM): Only the leaf with highest reduction in loss is split each time, growing the tree vertically. This learns faster and can be more accurate, but may overfit if not controlled.</a:t>
            </a:r>
          </a:p>
          <a:p>
            <a:pPr>
              <a:lnSpc>
                <a:spcPct val="15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PT Serif" panose="020A0603040505020204" pitchFamily="18" charset="0"/>
              </a:rPr>
              <a:t>(c) Histogram Binning (LightGBM): Continuous values are grouped into bins instead of checking every exact value, which greatly reduces memory usage and speeds up training with minimal accuracy loss.</a:t>
            </a:r>
            <a:endParaRPr lang="en-IN" dirty="0">
              <a:latin typeface="PT Serif" panose="020A060304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D124E6-18BA-1AD8-AB78-BC0C0ECD0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862" y="228600"/>
            <a:ext cx="8234132" cy="431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266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985" y="762000"/>
            <a:ext cx="13656055" cy="997761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How Continuous Variables Are Treated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9508" y="2509304"/>
            <a:ext cx="4164095" cy="217366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64334" y="2560886"/>
            <a:ext cx="397682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Example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Age → 18–25, 26–35, 36–50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4320290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232665" y="2483356"/>
            <a:ext cx="3818573" cy="2142284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68258" y="2544473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Result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Reduced memory and faster training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3232898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701985" y="2483355"/>
            <a:ext cx="3976821" cy="217366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pPr algn="l">
              <a:lnSpc>
                <a:spcPct val="200000"/>
              </a:lnSpc>
            </a:pPr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933843" y="2509304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Histogram Binning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Converts continuous values into discrete bins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B41876-924C-4340-B0DE-C364B5015D49}"/>
              </a:ext>
            </a:extLst>
          </p:cNvPr>
          <p:cNvSpPr txBox="1"/>
          <p:nvPr/>
        </p:nvSpPr>
        <p:spPr>
          <a:xfrm>
            <a:off x="671505" y="5120431"/>
            <a:ext cx="1344631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PT Serif" panose="020A0603040505020204" pitchFamily="18" charset="0"/>
              </a:rPr>
              <a:t>Continuous features are converted into </a:t>
            </a:r>
            <a:r>
              <a:rPr lang="en-IN" sz="2000" b="1" dirty="0">
                <a:latin typeface="PT Serif" panose="020A0603040505020204" pitchFamily="18" charset="0"/>
              </a:rPr>
              <a:t>discrete bins</a:t>
            </a:r>
            <a:r>
              <a:rPr lang="en-IN" sz="2000" dirty="0">
                <a:latin typeface="PT Serif" panose="020A0603040505020204" pitchFamily="18" charset="0"/>
              </a:rPr>
              <a:t>, which greatly reduces computation during split finding.</a:t>
            </a:r>
          </a:p>
          <a:p>
            <a:endParaRPr lang="en-IN" sz="2000" dirty="0">
              <a:latin typeface="PT Serif" panose="020A0603040505020204" pitchFamily="18" charset="0"/>
            </a:endParaRPr>
          </a:p>
          <a:p>
            <a:r>
              <a:rPr lang="en-IN" sz="2000" dirty="0">
                <a:latin typeface="PT Serif" panose="020A0603040505020204" pitchFamily="18" charset="0"/>
              </a:rPr>
              <a:t>This significantly </a:t>
            </a:r>
            <a:r>
              <a:rPr lang="en-IN" sz="2000" b="1" dirty="0">
                <a:latin typeface="PT Serif" panose="020A0603040505020204" pitchFamily="18" charset="0"/>
              </a:rPr>
              <a:t>speeds up training and reduces memory usage</a:t>
            </a:r>
            <a:r>
              <a:rPr lang="en-IN" sz="2000" dirty="0">
                <a:latin typeface="PT Serif" panose="020A0603040505020204" pitchFamily="18" charset="0"/>
              </a:rPr>
              <a:t>, making </a:t>
            </a:r>
            <a:r>
              <a:rPr lang="en-IN" sz="2000" dirty="0" err="1">
                <a:latin typeface="PT Serif" panose="020A0603040505020204" pitchFamily="18" charset="0"/>
              </a:rPr>
              <a:t>LightGBM</a:t>
            </a:r>
            <a:r>
              <a:rPr lang="en-IN" sz="2000" dirty="0">
                <a:latin typeface="PT Serif" panose="020A0603040505020204" pitchFamily="18" charset="0"/>
              </a:rPr>
              <a:t> efficient for large datasets.</a:t>
            </a:r>
          </a:p>
          <a:p>
            <a:endParaRPr lang="en-IN" sz="2000" dirty="0">
              <a:latin typeface="PT Serif" panose="020A0603040505020204" pitchFamily="18" charset="0"/>
            </a:endParaRPr>
          </a:p>
          <a:p>
            <a:r>
              <a:rPr lang="en-IN" sz="2000" b="1" dirty="0">
                <a:latin typeface="PT Serif" panose="020A0603040505020204" pitchFamily="18" charset="0"/>
              </a:rPr>
              <a:t>In GBM method:</a:t>
            </a:r>
          </a:p>
          <a:p>
            <a:br>
              <a:rPr lang="en-IN" sz="2000" dirty="0">
                <a:latin typeface="PT Serif" panose="020A0603040505020204" pitchFamily="18" charset="0"/>
              </a:rPr>
            </a:br>
            <a:r>
              <a:rPr lang="en-IN" sz="2000" dirty="0">
                <a:latin typeface="PT Serif" panose="020A0603040505020204" pitchFamily="18" charset="0"/>
              </a:rPr>
              <a:t>Split points are searched by </a:t>
            </a:r>
            <a:r>
              <a:rPr lang="en-IN" sz="2000" b="1" dirty="0">
                <a:latin typeface="PT Serif" panose="020A0603040505020204" pitchFamily="18" charset="0"/>
              </a:rPr>
              <a:t>evaluating many possible threshold values of continuous features</a:t>
            </a:r>
            <a:r>
              <a:rPr lang="en-IN" sz="2000" dirty="0">
                <a:latin typeface="PT Serif" panose="020A0603040505020204" pitchFamily="18" charset="0"/>
              </a:rPr>
              <a:t>, which increases</a:t>
            </a:r>
          </a:p>
          <a:p>
            <a:r>
              <a:rPr lang="en-IN" sz="2000" dirty="0">
                <a:latin typeface="PT Serif" panose="020A0603040505020204" pitchFamily="18" charset="0"/>
              </a:rPr>
              <a:t> </a:t>
            </a:r>
          </a:p>
          <a:p>
            <a:r>
              <a:rPr lang="en-IN" sz="2000" dirty="0">
                <a:latin typeface="PT Serif" panose="020A0603040505020204" pitchFamily="18" charset="0"/>
              </a:rPr>
              <a:t>computational cost and training time.</a:t>
            </a:r>
          </a:p>
          <a:p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957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61564-48A6-43F5-90D7-3B82EC5DE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98585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LightGBM Works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31C8F-28AF-D540-ACF0-0FDDB062A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464369"/>
            <a:ext cx="12039600" cy="5401479"/>
          </a:xfrm>
        </p:spPr>
        <p:txBody>
          <a:bodyPr/>
          <a:lstStyle/>
          <a:p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IN" sz="1800" b="1" dirty="0"/>
              <a:t>01 – Start with Base Prediction</a:t>
            </a:r>
            <a:br>
              <a:rPr lang="en-IN" sz="1800" dirty="0"/>
            </a:br>
            <a:r>
              <a:rPr lang="en-IN" sz="1800" dirty="0"/>
              <a:t>Initialize model with mean (regression) or log-odds (classification).</a:t>
            </a:r>
          </a:p>
          <a:p>
            <a:endParaRPr lang="en-IN" sz="1800" dirty="0"/>
          </a:p>
          <a:p>
            <a:r>
              <a:rPr lang="en-IN" sz="1800" b="1" dirty="0"/>
              <a:t>02 – Convert Continuous Features into Bins (Histogram Binning)</a:t>
            </a:r>
            <a:br>
              <a:rPr lang="en-IN" sz="1800" dirty="0"/>
            </a:br>
            <a:r>
              <a:rPr lang="en-IN" sz="1800" dirty="0"/>
              <a:t>Discretize numeric features into fixed bins to reduce computation and memory.</a:t>
            </a:r>
          </a:p>
          <a:p>
            <a:endParaRPr lang="en-IN" sz="1800" dirty="0"/>
          </a:p>
          <a:p>
            <a:r>
              <a:rPr lang="en-IN" sz="1800" b="1" dirty="0"/>
              <a:t>03 – Calculate Residual Errors</a:t>
            </a:r>
            <a:br>
              <a:rPr lang="en-IN" sz="1800" dirty="0"/>
            </a:br>
            <a:r>
              <a:rPr lang="en-IN" sz="1800" dirty="0"/>
              <a:t>Compute gradients (errors) between actual and predicted values.</a:t>
            </a:r>
          </a:p>
          <a:p>
            <a:endParaRPr lang="en-IN" sz="1800" dirty="0"/>
          </a:p>
          <a:p>
            <a:r>
              <a:rPr lang="en-IN" sz="1800" b="1" dirty="0"/>
              <a:t>04 – Find Best Split Using Histogram Statistics</a:t>
            </a:r>
            <a:br>
              <a:rPr lang="en-IN" sz="1800" dirty="0"/>
            </a:br>
            <a:r>
              <a:rPr lang="en-IN" sz="1800" dirty="0"/>
              <a:t>Evaluate split gains using aggregated gradient statistics in each bin.</a:t>
            </a:r>
          </a:p>
          <a:p>
            <a:endParaRPr lang="en-IN" sz="1800" dirty="0"/>
          </a:p>
          <a:p>
            <a:r>
              <a:rPr lang="en-IN" sz="1800" b="1" dirty="0"/>
              <a:t>05 – Split Leaf with Maximum Gain (Leaf-Wise Growth)</a:t>
            </a:r>
            <a:br>
              <a:rPr lang="en-IN" sz="1800" dirty="0"/>
            </a:br>
            <a:r>
              <a:rPr lang="en-IN" sz="1800" dirty="0"/>
              <a:t>Expand the leaf that gives the highest reduction in loss.</a:t>
            </a:r>
          </a:p>
          <a:p>
            <a:endParaRPr lang="en-IN" sz="1800" dirty="0"/>
          </a:p>
          <a:p>
            <a:r>
              <a:rPr lang="en-IN" sz="1800" b="1" dirty="0"/>
              <a:t>06 – Update Predictions and Repeat</a:t>
            </a:r>
            <a:br>
              <a:rPr lang="en-IN" sz="1800" dirty="0"/>
            </a:br>
            <a:r>
              <a:rPr lang="en-IN" sz="1800" dirty="0"/>
              <a:t>Add tree output to predictions and iterate for the next tree.</a:t>
            </a:r>
          </a:p>
          <a:p>
            <a:pPr>
              <a:lnSpc>
                <a:spcPct val="15000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794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object 13">
            <a:extLst>
              <a:ext uri="{FF2B5EF4-FFF2-40B4-BE49-F238E27FC236}">
                <a16:creationId xmlns:a16="http://schemas.microsoft.com/office/drawing/2014/main" id="{3F04B697-473D-669D-9C8F-C9DE89AB5E4F}"/>
              </a:ext>
            </a:extLst>
          </p:cNvPr>
          <p:cNvGrpSpPr/>
          <p:nvPr/>
        </p:nvGrpSpPr>
        <p:grpSpPr>
          <a:xfrm>
            <a:off x="7362717" y="5253110"/>
            <a:ext cx="5606582" cy="2106857"/>
            <a:chOff x="793788" y="4631308"/>
            <a:chExt cx="6437630" cy="2974340"/>
          </a:xfrm>
        </p:grpSpPr>
        <p:sp>
          <p:nvSpPr>
            <p:cNvPr id="36" name="object 14">
              <a:extLst>
                <a:ext uri="{FF2B5EF4-FFF2-40B4-BE49-F238E27FC236}">
                  <a16:creationId xmlns:a16="http://schemas.microsoft.com/office/drawing/2014/main" id="{32F01402-69CE-FD7F-E22D-7E23D4488693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7" name="object 15">
              <a:extLst>
                <a:ext uri="{FF2B5EF4-FFF2-40B4-BE49-F238E27FC236}">
                  <a16:creationId xmlns:a16="http://schemas.microsoft.com/office/drawing/2014/main" id="{4B7E94B8-8438-BEC4-B884-F0B4F3969A3F}"/>
                </a:ext>
              </a:extLst>
            </p:cNvPr>
            <p:cNvSpPr/>
            <p:nvPr/>
          </p:nvSpPr>
          <p:spPr>
            <a:xfrm>
              <a:off x="816648" y="4654164"/>
              <a:ext cx="6391910" cy="118430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32" name="object 13">
            <a:extLst>
              <a:ext uri="{FF2B5EF4-FFF2-40B4-BE49-F238E27FC236}">
                <a16:creationId xmlns:a16="http://schemas.microsoft.com/office/drawing/2014/main" id="{B6CE0EED-ED13-A0D4-5601-FBCB943237BF}"/>
              </a:ext>
            </a:extLst>
          </p:cNvPr>
          <p:cNvGrpSpPr/>
          <p:nvPr/>
        </p:nvGrpSpPr>
        <p:grpSpPr>
          <a:xfrm>
            <a:off x="965916" y="5313806"/>
            <a:ext cx="5606582" cy="1956317"/>
            <a:chOff x="793788" y="4631308"/>
            <a:chExt cx="6437630" cy="2974340"/>
          </a:xfrm>
        </p:grpSpPr>
        <p:sp>
          <p:nvSpPr>
            <p:cNvPr id="33" name="object 14">
              <a:extLst>
                <a:ext uri="{FF2B5EF4-FFF2-40B4-BE49-F238E27FC236}">
                  <a16:creationId xmlns:a16="http://schemas.microsoft.com/office/drawing/2014/main" id="{3DB9D33C-ABD1-3B2A-1A8B-EEF38D5203F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4" name="object 15">
              <a:extLst>
                <a:ext uri="{FF2B5EF4-FFF2-40B4-BE49-F238E27FC236}">
                  <a16:creationId xmlns:a16="http://schemas.microsoft.com/office/drawing/2014/main" id="{857A84F6-63C8-59A6-5091-73BF0328F99A}"/>
                </a:ext>
              </a:extLst>
            </p:cNvPr>
            <p:cNvSpPr/>
            <p:nvPr/>
          </p:nvSpPr>
          <p:spPr>
            <a:xfrm>
              <a:off x="816648" y="4654164"/>
              <a:ext cx="6391910" cy="118430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6" name="object 13">
            <a:extLst>
              <a:ext uri="{FF2B5EF4-FFF2-40B4-BE49-F238E27FC236}">
                <a16:creationId xmlns:a16="http://schemas.microsoft.com/office/drawing/2014/main" id="{B7C91B19-2669-5848-F6EF-302DD70AD79E}"/>
              </a:ext>
            </a:extLst>
          </p:cNvPr>
          <p:cNvGrpSpPr/>
          <p:nvPr/>
        </p:nvGrpSpPr>
        <p:grpSpPr>
          <a:xfrm>
            <a:off x="9920824" y="1847577"/>
            <a:ext cx="4246124" cy="2566499"/>
            <a:chOff x="793788" y="4631308"/>
            <a:chExt cx="6437630" cy="2974340"/>
          </a:xfrm>
        </p:grpSpPr>
        <p:sp>
          <p:nvSpPr>
            <p:cNvPr id="27" name="object 14">
              <a:extLst>
                <a:ext uri="{FF2B5EF4-FFF2-40B4-BE49-F238E27FC236}">
                  <a16:creationId xmlns:a16="http://schemas.microsoft.com/office/drawing/2014/main" id="{6273988E-570B-6FEA-9AF5-4A38882E3570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8" name="object 15">
              <a:extLst>
                <a:ext uri="{FF2B5EF4-FFF2-40B4-BE49-F238E27FC236}">
                  <a16:creationId xmlns:a16="http://schemas.microsoft.com/office/drawing/2014/main" id="{92A7C6C3-C862-08B2-A2F0-79354B9480A5}"/>
                </a:ext>
              </a:extLst>
            </p:cNvPr>
            <p:cNvSpPr/>
            <p:nvPr/>
          </p:nvSpPr>
          <p:spPr>
            <a:xfrm>
              <a:off x="816648" y="4654164"/>
              <a:ext cx="6391910" cy="118430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0" name="object 13">
            <a:extLst>
              <a:ext uri="{FF2B5EF4-FFF2-40B4-BE49-F238E27FC236}">
                <a16:creationId xmlns:a16="http://schemas.microsoft.com/office/drawing/2014/main" id="{2DB218D0-A26E-A49E-F576-DEC2CE02D702}"/>
              </a:ext>
            </a:extLst>
          </p:cNvPr>
          <p:cNvGrpSpPr/>
          <p:nvPr/>
        </p:nvGrpSpPr>
        <p:grpSpPr>
          <a:xfrm>
            <a:off x="5076446" y="1866354"/>
            <a:ext cx="4502204" cy="2566499"/>
            <a:chOff x="793788" y="4631308"/>
            <a:chExt cx="6437630" cy="2974340"/>
          </a:xfrm>
        </p:grpSpPr>
        <p:sp>
          <p:nvSpPr>
            <p:cNvPr id="21" name="object 14">
              <a:extLst>
                <a:ext uri="{FF2B5EF4-FFF2-40B4-BE49-F238E27FC236}">
                  <a16:creationId xmlns:a16="http://schemas.microsoft.com/office/drawing/2014/main" id="{43B07B8E-BE07-2CE5-97C3-2FAAA3B06929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4" name="object 15">
              <a:extLst>
                <a:ext uri="{FF2B5EF4-FFF2-40B4-BE49-F238E27FC236}">
                  <a16:creationId xmlns:a16="http://schemas.microsoft.com/office/drawing/2014/main" id="{D83463B3-B40E-E2EE-2426-47CBDAE9CF3C}"/>
                </a:ext>
              </a:extLst>
            </p:cNvPr>
            <p:cNvSpPr/>
            <p:nvPr/>
          </p:nvSpPr>
          <p:spPr>
            <a:xfrm>
              <a:off x="816648" y="4654164"/>
              <a:ext cx="6391910" cy="118430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FF103E19-A9C3-618F-EC24-214C933E6ABB}"/>
              </a:ext>
            </a:extLst>
          </p:cNvPr>
          <p:cNvGrpSpPr/>
          <p:nvPr/>
        </p:nvGrpSpPr>
        <p:grpSpPr>
          <a:xfrm>
            <a:off x="362191" y="1853683"/>
            <a:ext cx="4246124" cy="2579170"/>
            <a:chOff x="793788" y="4631308"/>
            <a:chExt cx="6437630" cy="2974340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5458F2A0-BD49-9250-8D98-B24A05CE824E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9" name="object 15">
              <a:extLst>
                <a:ext uri="{FF2B5EF4-FFF2-40B4-BE49-F238E27FC236}">
                  <a16:creationId xmlns:a16="http://schemas.microsoft.com/office/drawing/2014/main" id="{F5166431-6B27-7A5A-DD4A-745D33D2AA2D}"/>
                </a:ext>
              </a:extLst>
            </p:cNvPr>
            <p:cNvSpPr/>
            <p:nvPr/>
          </p:nvSpPr>
          <p:spPr>
            <a:xfrm>
              <a:off x="816648" y="4654164"/>
              <a:ext cx="6391910" cy="118430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3695" y="186919"/>
            <a:ext cx="13656055" cy="997761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Key LightGBM Parameters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239655" y="1949406"/>
            <a:ext cx="4246125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max_depth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IN" dirty="0"/>
              <a:t>max_depth is an optional parameter that limits how deep the tree can grow 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152270" y="1937635"/>
            <a:ext cx="3818573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learning_rate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IN" dirty="0">
                <a:latin typeface="PT Serif" panose="020A0603040505020204" pitchFamily="18" charset="0"/>
              </a:rPr>
              <a:t>Learning rate controls how much each new tree contributes to updating the model’s predictions.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3216717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659557" y="1937635"/>
            <a:ext cx="3683843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num_leaves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Maximum number of terminal 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leaves in one tree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3DCBC250-CD01-2E79-92CE-66C8490F3F70}"/>
              </a:ext>
            </a:extLst>
          </p:cNvPr>
          <p:cNvSpPr/>
          <p:nvPr/>
        </p:nvSpPr>
        <p:spPr>
          <a:xfrm>
            <a:off x="1182390" y="5351361"/>
            <a:ext cx="5791200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feature_fraction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Fraction of features for each iteration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E3294D3C-0418-C801-8DB9-F254AEFAC6F0}"/>
              </a:ext>
            </a:extLst>
          </p:cNvPr>
          <p:cNvSpPr/>
          <p:nvPr/>
        </p:nvSpPr>
        <p:spPr>
          <a:xfrm>
            <a:off x="7636217" y="5253110"/>
            <a:ext cx="5427250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 err="1">
                <a:solidFill>
                  <a:schemeClr val="tx1"/>
                </a:solidFill>
                <a:latin typeface="PT Serif" panose="020A0603040505020204" pitchFamily="18" charset="0"/>
              </a:rPr>
              <a:t>n_estimators</a:t>
            </a: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 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IN" dirty="0">
                <a:latin typeface="PT Serif" panose="020A0603040505020204" pitchFamily="18" charset="0"/>
              </a:rPr>
              <a:t>specifies the total number of boosting trees built sequentially in the model. 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137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B908-92DF-94F6-19DC-BFE74B65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63604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LightGBM Python Implementation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DE70BA-5D10-9114-7C7F-00E84FB6BCAD}"/>
              </a:ext>
            </a:extLst>
          </p:cNvPr>
          <p:cNvSpPr/>
          <p:nvPr/>
        </p:nvSpPr>
        <p:spPr>
          <a:xfrm>
            <a:off x="1447800" y="1509518"/>
            <a:ext cx="8229600" cy="61866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D9678-DBE1-9CA4-44A6-E932B0B7C71F}"/>
              </a:ext>
            </a:extLst>
          </p:cNvPr>
          <p:cNvSpPr txBox="1"/>
          <p:nvPr/>
        </p:nvSpPr>
        <p:spPr>
          <a:xfrm>
            <a:off x="1676400" y="1371600"/>
            <a:ext cx="7315200" cy="49996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from lightgbm import </a:t>
            </a:r>
            <a:r>
              <a:rPr lang="en-US" dirty="0" err="1">
                <a:solidFill>
                  <a:schemeClr val="tx1"/>
                </a:solidFill>
                <a:latin typeface="PT Serif" panose="020A0603040505020204" pitchFamily="18" charset="0"/>
              </a:rPr>
              <a:t>LGBMClassifier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/>
            <a:endParaRPr lang="en-US" dirty="0">
              <a:solidFill>
                <a:schemeClr val="tx1"/>
              </a:solidFill>
              <a:latin typeface="PT Serif"/>
            </a:endParaRPr>
          </a:p>
          <a:p>
            <a:pPr algn="l">
              <a:buNone/>
            </a:pPr>
            <a:r>
              <a:rPr lang="en-US" dirty="0" err="1">
                <a:solidFill>
                  <a:schemeClr val="tx1"/>
                </a:solidFill>
                <a:latin typeface="PT Serif"/>
              </a:rPr>
              <a:t>lgbm</a:t>
            </a:r>
            <a:r>
              <a:rPr lang="en-US" dirty="0">
                <a:solidFill>
                  <a:schemeClr val="tx1"/>
                </a:solidFill>
                <a:latin typeface="PT Serif"/>
              </a:rPr>
              <a:t> = </a:t>
            </a:r>
            <a:r>
              <a:rPr lang="en-US" dirty="0" err="1">
                <a:solidFill>
                  <a:schemeClr val="tx1"/>
                </a:solidFill>
                <a:latin typeface="PT Serif"/>
              </a:rPr>
              <a:t>LGBMClassifier</a:t>
            </a:r>
            <a:r>
              <a:rPr lang="en-US" dirty="0">
                <a:solidFill>
                  <a:schemeClr val="tx1"/>
                </a:solidFill>
                <a:latin typeface="PT Serif"/>
              </a:rPr>
              <a:t>(</a:t>
            </a:r>
            <a:endParaRPr lang="en-US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  <a:latin typeface="PT Serif"/>
            </a:endParaRPr>
          </a:p>
          <a:p>
            <a:pPr algn="l"/>
            <a:r>
              <a:rPr lang="en-US" dirty="0">
                <a:solidFill>
                  <a:schemeClr val="tx1"/>
                </a:solidFill>
                <a:latin typeface="PT Serif"/>
              </a:rPr>
              <a:t>    </a:t>
            </a:r>
            <a:r>
              <a:rPr lang="en-US" dirty="0" err="1">
                <a:solidFill>
                  <a:schemeClr val="tx1"/>
                </a:solidFill>
                <a:latin typeface="PT Serif"/>
              </a:rPr>
              <a:t>n_estimators</a:t>
            </a:r>
            <a:r>
              <a:rPr lang="en-US" dirty="0">
                <a:solidFill>
                  <a:schemeClr val="tx1"/>
                </a:solidFill>
                <a:latin typeface="PT Serif"/>
              </a:rPr>
              <a:t>=100,</a:t>
            </a:r>
          </a:p>
          <a:p>
            <a:pPr algn="l"/>
            <a:endParaRPr lang="en-US" dirty="0">
              <a:solidFill>
                <a:schemeClr val="tx1"/>
              </a:solidFill>
              <a:latin typeface="PT Serif"/>
            </a:endParaRPr>
          </a:p>
          <a:p>
            <a:pPr algn="l"/>
            <a:r>
              <a:rPr lang="en-US" dirty="0">
                <a:solidFill>
                  <a:schemeClr val="tx1"/>
                </a:solidFill>
                <a:latin typeface="PT Serif"/>
              </a:rPr>
              <a:t>    </a:t>
            </a:r>
            <a:r>
              <a:rPr lang="en-US" dirty="0" err="1">
                <a:solidFill>
                  <a:schemeClr val="tx1"/>
                </a:solidFill>
                <a:latin typeface="PT Serif"/>
              </a:rPr>
              <a:t>learning_rate</a:t>
            </a:r>
            <a:r>
              <a:rPr lang="en-US" dirty="0">
                <a:solidFill>
                  <a:schemeClr val="tx1"/>
                </a:solidFill>
                <a:latin typeface="PT Serif"/>
              </a:rPr>
              <a:t>=0.1,</a:t>
            </a:r>
          </a:p>
          <a:p>
            <a:pPr algn="l"/>
            <a:endParaRPr lang="en-US" dirty="0">
              <a:solidFill>
                <a:schemeClr val="tx1"/>
              </a:solidFill>
              <a:latin typeface="PT Serif"/>
            </a:endParaRPr>
          </a:p>
          <a:p>
            <a:pPr algn="l"/>
            <a:r>
              <a:rPr lang="en-US" dirty="0">
                <a:solidFill>
                  <a:schemeClr val="tx1"/>
                </a:solidFill>
                <a:latin typeface="PT Serif"/>
              </a:rPr>
              <a:t>    </a:t>
            </a:r>
            <a:r>
              <a:rPr lang="en-US" dirty="0" err="1">
                <a:solidFill>
                  <a:schemeClr val="tx1"/>
                </a:solidFill>
                <a:latin typeface="PT Serif"/>
              </a:rPr>
              <a:t>random_state</a:t>
            </a:r>
            <a:r>
              <a:rPr lang="en-US" dirty="0">
                <a:solidFill>
                  <a:schemeClr val="tx1"/>
                </a:solidFill>
                <a:latin typeface="PT Serif"/>
              </a:rPr>
              <a:t>=42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/>
              </a:rPr>
              <a:t>)</a:t>
            </a: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lgbm.fit(X_train, y_train)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predictions = lgbm.predict(X_test)</a:t>
            </a:r>
          </a:p>
        </p:txBody>
      </p:sp>
    </p:spTree>
    <p:extLst>
      <p:ext uri="{BB962C8B-B14F-4D97-AF65-F5344CB8AC3E}">
        <p14:creationId xmlns:p14="http://schemas.microsoft.com/office/powerpoint/2010/main" val="1547407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9347FB-508F-2935-5FA1-C5A74B83056C}"/>
              </a:ext>
            </a:extLst>
          </p:cNvPr>
          <p:cNvSpPr/>
          <p:nvPr/>
        </p:nvSpPr>
        <p:spPr>
          <a:xfrm>
            <a:off x="8035442" y="2225775"/>
            <a:ext cx="4650230" cy="36416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endParaRPr lang="en-IN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5EAB96-6E3B-9932-193F-7345AC5A21A3}"/>
              </a:ext>
            </a:extLst>
          </p:cNvPr>
          <p:cNvSpPr/>
          <p:nvPr/>
        </p:nvSpPr>
        <p:spPr>
          <a:xfrm>
            <a:off x="1441702" y="2204774"/>
            <a:ext cx="4650230" cy="36626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endParaRPr lang="en-IN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1702" y="633068"/>
            <a:ext cx="13656055" cy="777008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What is CatBoost?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702210" y="2090473"/>
            <a:ext cx="4165190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Categorical Boosting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Developed by Yandex for automatic categorical feature handling.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IN" dirty="0">
                <a:latin typeface="PT Serif" panose="020A0603040505020204" pitchFamily="18" charset="0"/>
              </a:rPr>
              <a:t>Introduces ordered boosting to reduce prediction shift and overfitting compared to traditional GBM.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8277962" y="2065423"/>
            <a:ext cx="4165190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Minimal Preprocessing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IN" dirty="0">
                <a:latin typeface="PT Serif" panose="020A0603040505020204" pitchFamily="18" charset="0"/>
              </a:rPr>
              <a:t>It </a:t>
            </a:r>
            <a:r>
              <a:rPr lang="en-IN" b="1" dirty="0">
                <a:latin typeface="PT Serif" panose="020A0603040505020204" pitchFamily="18" charset="0"/>
              </a:rPr>
              <a:t>converts categorical variables into numerical form internally </a:t>
            </a:r>
            <a:r>
              <a:rPr lang="en-IN" dirty="0">
                <a:latin typeface="PT Serif" panose="020A0603040505020204" pitchFamily="18" charset="0"/>
              </a:rPr>
              <a:t> eliminating the need for manual encoding.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306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2EA27-65A0-8E43-9096-3A5D1E42F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615553"/>
          </a:xfrm>
        </p:spPr>
        <p:txBody>
          <a:bodyPr/>
          <a:lstStyle/>
          <a:p>
            <a:r>
              <a:rPr lang="en-IN" sz="4000" b="1" dirty="0"/>
              <a:t>Ordered Boosting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5B5F3-2C04-F844-9E96-8F25C3C35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11460480" cy="5355312"/>
          </a:xfrm>
        </p:spPr>
        <p:txBody>
          <a:bodyPr/>
          <a:lstStyle/>
          <a:p>
            <a:r>
              <a:rPr lang="en-IN" sz="2000" b="1" dirty="0"/>
              <a:t>How Ordered Boosting Works in </a:t>
            </a:r>
            <a:r>
              <a:rPr lang="en-IN" sz="2000" b="1" dirty="0" err="1"/>
              <a:t>CatBoost</a:t>
            </a:r>
            <a:endParaRPr lang="en-IN" sz="2000" b="1" dirty="0"/>
          </a:p>
          <a:p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CatBoost</a:t>
            </a:r>
            <a:r>
              <a:rPr lang="en-IN" sz="2000" dirty="0"/>
              <a:t> randomly shuffles the dataset and creates a permutation of observations.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This shuffled order is treated as a pseudo-sequence during training.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For any observation </a:t>
            </a:r>
            <a:r>
              <a:rPr lang="en-IN" sz="2000" i="1" dirty="0" err="1"/>
              <a:t>i</a:t>
            </a:r>
            <a:r>
              <a:rPr lang="en-IN" sz="2000" dirty="0"/>
              <a:t>, the model is trained using only observations appearing before </a:t>
            </a:r>
            <a:r>
              <a:rPr lang="en-IN" sz="2000" i="1" dirty="0" err="1"/>
              <a:t>i</a:t>
            </a:r>
            <a:r>
              <a:rPr lang="en-IN" sz="2000" dirty="0"/>
              <a:t> in that permutation.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Thus, “past” simply means earlier in the random order, not earlier in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What Happens in Traditional GBM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 GBM, all observations are used simultaneously to compute residuals and update trees.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This means an observation’s own target value indirectly influences its prediction, which can cause prediction shift (target leakage).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289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1E68-44BF-5F74-2874-85C9376A4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0830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How CatBoost Works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DF5014-5D37-984C-10AB-94920B93FCF0}"/>
              </a:ext>
            </a:extLst>
          </p:cNvPr>
          <p:cNvSpPr txBox="1"/>
          <p:nvPr/>
        </p:nvSpPr>
        <p:spPr>
          <a:xfrm>
            <a:off x="1600200" y="1882346"/>
            <a:ext cx="11658600" cy="5773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Detect categorical features automatically</a:t>
            </a:r>
          </a:p>
          <a:p>
            <a:pPr marL="342900" indent="-342900" algn="l">
              <a:lnSpc>
                <a:spcPct val="200000"/>
              </a:lnSpc>
              <a:buFontTx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Apply ordered boosting (no leakage)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200000"/>
              </a:lnSpc>
              <a:buFontTx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Build symmetric trees (balanced splits)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200000"/>
              </a:lnSpc>
              <a:buFontTx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Learn from residual errors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200000"/>
              </a:lnSpc>
              <a:buFontTx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Apply internal regularization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200000"/>
              </a:lnSpc>
              <a:buFontTx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Repeat for given iterations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2000" b="1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Key Idea: Smart encoding + leakage prevention + balanced trees</a:t>
            </a:r>
            <a:endParaRPr lang="en-US" sz="2000" b="1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9E4DE522-DF57-74FC-0257-20E03490E24F}"/>
              </a:ext>
            </a:extLst>
          </p:cNvPr>
          <p:cNvSpPr/>
          <p:nvPr/>
        </p:nvSpPr>
        <p:spPr>
          <a:xfrm>
            <a:off x="838200" y="1905000"/>
            <a:ext cx="533400" cy="3962400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97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B908-92DF-94F6-19DC-BFE74B65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769" y="323443"/>
            <a:ext cx="13656055" cy="687048"/>
          </a:xfrm>
        </p:spPr>
        <p:txBody>
          <a:bodyPr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CatBoost Python Implementation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DE70BA-5D10-9114-7C7F-00E84FB6BCAD}"/>
              </a:ext>
            </a:extLst>
          </p:cNvPr>
          <p:cNvSpPr/>
          <p:nvPr/>
        </p:nvSpPr>
        <p:spPr>
          <a:xfrm>
            <a:off x="990600" y="1219200"/>
            <a:ext cx="8229600" cy="533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D9678-DBE1-9CA4-44A6-E932B0B7C71F}"/>
              </a:ext>
            </a:extLst>
          </p:cNvPr>
          <p:cNvSpPr txBox="1"/>
          <p:nvPr/>
        </p:nvSpPr>
        <p:spPr>
          <a:xfrm>
            <a:off x="1447800" y="1524000"/>
            <a:ext cx="7315200" cy="39262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from catboost import CatBoostClassifier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/>
            <a:r>
              <a:rPr lang="en-US">
                <a:solidFill>
                  <a:schemeClr val="tx1"/>
                </a:solidFill>
                <a:latin typeface="PT Serif"/>
              </a:rPr>
              <a:t>model = </a:t>
            </a:r>
            <a:r>
              <a:rPr lang="en-US" err="1">
                <a:solidFill>
                  <a:schemeClr val="tx1"/>
                </a:solidFill>
                <a:latin typeface="PT Serif"/>
              </a:rPr>
              <a:t>CatBoostClassifier</a:t>
            </a:r>
            <a:r>
              <a:rPr lang="en-US">
                <a:solidFill>
                  <a:schemeClr val="tx1"/>
                </a:solidFill>
                <a:latin typeface="PT Serif"/>
              </a:rPr>
              <a:t>(</a:t>
            </a:r>
            <a:endParaRPr lang="en-US" dirty="0">
              <a:solidFill>
                <a:schemeClr val="tx1"/>
              </a:solidFill>
              <a:latin typeface="PT Serif"/>
            </a:endParaRPr>
          </a:p>
          <a:p>
            <a:pPr algn="l"/>
            <a:r>
              <a:rPr lang="en-US" dirty="0">
                <a:solidFill>
                  <a:schemeClr val="tx1"/>
                </a:solidFill>
                <a:latin typeface="PT Serif"/>
              </a:rPr>
              <a:t>    </a:t>
            </a:r>
            <a:r>
              <a:rPr lang="en-US" err="1">
                <a:solidFill>
                  <a:schemeClr val="tx1"/>
                </a:solidFill>
                <a:latin typeface="PT Serif"/>
              </a:rPr>
              <a:t>n_estimators</a:t>
            </a:r>
            <a:r>
              <a:rPr lang="en-US">
                <a:solidFill>
                  <a:schemeClr val="tx1"/>
                </a:solidFill>
                <a:latin typeface="PT Serif"/>
              </a:rPr>
              <a:t>=100,</a:t>
            </a:r>
            <a:endParaRPr lang="en-US" dirty="0">
              <a:solidFill>
                <a:schemeClr val="tx1"/>
              </a:solidFill>
              <a:latin typeface="PT Serif"/>
            </a:endParaRPr>
          </a:p>
          <a:p>
            <a:pPr algn="l"/>
            <a:r>
              <a:rPr lang="en-US" dirty="0">
                <a:solidFill>
                  <a:schemeClr val="tx1"/>
                </a:solidFill>
                <a:latin typeface="PT Serif"/>
              </a:rPr>
              <a:t>    </a:t>
            </a:r>
            <a:r>
              <a:rPr lang="en-US" err="1">
                <a:solidFill>
                  <a:schemeClr val="tx1"/>
                </a:solidFill>
                <a:latin typeface="PT Serif"/>
              </a:rPr>
              <a:t>learning_rate</a:t>
            </a:r>
            <a:r>
              <a:rPr lang="en-US" dirty="0">
                <a:solidFill>
                  <a:schemeClr val="tx1"/>
                </a:solidFill>
                <a:latin typeface="PT Serif"/>
              </a:rPr>
              <a:t>=0.1,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PT Serif"/>
              </a:rPr>
              <a:t>    </a:t>
            </a:r>
            <a:r>
              <a:rPr lang="en-US" err="1">
                <a:solidFill>
                  <a:schemeClr val="tx1"/>
                </a:solidFill>
                <a:latin typeface="PT Serif"/>
              </a:rPr>
              <a:t>random_state</a:t>
            </a:r>
            <a:r>
              <a:rPr lang="en-US" dirty="0">
                <a:solidFill>
                  <a:schemeClr val="tx1"/>
                </a:solidFill>
                <a:latin typeface="PT Serif"/>
              </a:rPr>
              <a:t>=42,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PT Serif"/>
              </a:rPr>
              <a:t>    verbose=0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/>
              </a:rPr>
              <a:t>)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cat.fit(X_train, y_train, cat_features=[0,2])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</a:rPr>
              <a:t>predictions = cat.predict(X_test)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B607F1-9ED3-3A4C-9338-3905C001B024}"/>
              </a:ext>
            </a:extLst>
          </p:cNvPr>
          <p:cNvSpPr txBox="1"/>
          <p:nvPr/>
        </p:nvSpPr>
        <p:spPr>
          <a:xfrm>
            <a:off x="838200" y="6732474"/>
            <a:ext cx="13792200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dirty="0" err="1">
                <a:latin typeface="PT Serif"/>
              </a:rPr>
              <a:t>CatBoostClassifier</a:t>
            </a:r>
            <a:r>
              <a:rPr lang="en-IN" dirty="0">
                <a:latin typeface="PT Serif"/>
              </a:rPr>
              <a:t> creates a gradient boosting  ,</a:t>
            </a:r>
            <a:r>
              <a:rPr lang="en-IN" dirty="0" err="1">
                <a:latin typeface="PT Serif"/>
              </a:rPr>
              <a:t>n_estimators</a:t>
            </a:r>
            <a:r>
              <a:rPr lang="en-IN" dirty="0">
                <a:latin typeface="PT Serif"/>
              </a:rPr>
              <a:t>=100 specifies the number of boosting trees to be built,  </a:t>
            </a:r>
            <a:r>
              <a:rPr lang="en-IN" dirty="0" err="1">
                <a:latin typeface="PT Serif"/>
              </a:rPr>
              <a:t>learning_rate</a:t>
            </a:r>
            <a:r>
              <a:rPr lang="en-IN" dirty="0">
                <a:latin typeface="PT Serif"/>
              </a:rPr>
              <a:t>=0.1 controls how much each tree contributes to the model,  </a:t>
            </a:r>
            <a:r>
              <a:rPr lang="en-IN" dirty="0" err="1">
                <a:latin typeface="PT Serif"/>
              </a:rPr>
              <a:t>random_state</a:t>
            </a:r>
            <a:r>
              <a:rPr lang="en-IN" dirty="0">
                <a:latin typeface="PT Serif"/>
              </a:rPr>
              <a:t>=42 ensures reproducible results,  and verbose=0 controls how much training information is printed.</a:t>
            </a:r>
            <a:endParaRPr lang="en-IN" dirty="0">
              <a:solidFill>
                <a:srgbClr val="000000"/>
              </a:solidFill>
              <a:latin typeface="PT Serif"/>
            </a:endParaRPr>
          </a:p>
          <a:p>
            <a:endParaRPr lang="en-IN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561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89436-B938-9FA7-153F-6A68B398C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930" y="499066"/>
            <a:ext cx="13656055" cy="687048"/>
          </a:xfrm>
        </p:spPr>
        <p:txBody>
          <a:bodyPr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LightGBM vs </a:t>
            </a:r>
            <a:r>
              <a:rPr lang="en-US" sz="360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CatBoost</a:t>
            </a: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: Comparison</a:t>
            </a:r>
            <a:endParaRPr lang="en-US" sz="3600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81F1E50-10B0-781F-B723-3DD7D4A31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471507"/>
              </p:ext>
            </p:extLst>
          </p:nvPr>
        </p:nvGraphicFramePr>
        <p:xfrm>
          <a:off x="2133600" y="1927794"/>
          <a:ext cx="9753600" cy="574395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251200">
                  <a:extLst>
                    <a:ext uri="{9D8B030D-6E8A-4147-A177-3AD203B41FA5}">
                      <a16:colId xmlns:a16="http://schemas.microsoft.com/office/drawing/2014/main" val="35328425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2205484658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27542278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Aspect</a:t>
                      </a:r>
                      <a:endParaRPr lang="en-US" sz="20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LightGBM</a:t>
                      </a:r>
                      <a:endParaRPr lang="en-US" sz="20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CatBoost</a:t>
                      </a:r>
                      <a:endParaRPr lang="en-US" sz="20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912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Speed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Very Fast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Fast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466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Categorical Handling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Manual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Automatic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416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Tree Type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Leaf-wise</a:t>
                      </a:r>
                    </a:p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Symmetric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242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Preprocessing Need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High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Minimal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964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Best Use Case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Large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PT Serif" panose="020A0603040505020204" pitchFamily="18" charset="0"/>
                        </a:rPr>
                        <a:t>Many Categories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solidFill>
                          <a:schemeClr val="tx1"/>
                        </a:solidFill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055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3307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9347FB-508F-2935-5FA1-C5A74B83056C}"/>
              </a:ext>
            </a:extLst>
          </p:cNvPr>
          <p:cNvSpPr/>
          <p:nvPr/>
        </p:nvSpPr>
        <p:spPr>
          <a:xfrm>
            <a:off x="8035442" y="1837801"/>
            <a:ext cx="4650230" cy="31082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endParaRPr lang="en-IN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5EAB96-6E3B-9932-193F-7345AC5A21A3}"/>
              </a:ext>
            </a:extLst>
          </p:cNvPr>
          <p:cNvSpPr/>
          <p:nvPr/>
        </p:nvSpPr>
        <p:spPr>
          <a:xfrm>
            <a:off x="1441702" y="1816800"/>
            <a:ext cx="4650230" cy="31292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endParaRPr lang="en-IN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1702" y="477689"/>
            <a:ext cx="13656055" cy="777008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Choosing the Right Framework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666397" y="1884570"/>
            <a:ext cx="4165190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Use LightGBM When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You have massive datasets, need maximum speed, and can handle manual preprocessing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8277962" y="1816800"/>
            <a:ext cx="4165190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Use CatBoost When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You have many categorical features, want minimal preprocessing, and need stable probability estimates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9629B0-8306-33D4-370A-7D623F4F82BF}"/>
              </a:ext>
            </a:extLst>
          </p:cNvPr>
          <p:cNvSpPr txBox="1"/>
          <p:nvPr/>
        </p:nvSpPr>
        <p:spPr>
          <a:xfrm>
            <a:off x="1447564" y="5529130"/>
            <a:ext cx="11480626" cy="123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Both frameworks offer significant advantages over traditional GBM and are production-ready for real-world ML systems.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903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object 13">
            <a:extLst>
              <a:ext uri="{FF2B5EF4-FFF2-40B4-BE49-F238E27FC236}">
                <a16:creationId xmlns:a16="http://schemas.microsoft.com/office/drawing/2014/main" id="{3F04B697-473D-669D-9C8F-C9DE89AB5E4F}"/>
              </a:ext>
            </a:extLst>
          </p:cNvPr>
          <p:cNvGrpSpPr/>
          <p:nvPr/>
        </p:nvGrpSpPr>
        <p:grpSpPr>
          <a:xfrm>
            <a:off x="7924800" y="4740298"/>
            <a:ext cx="5606582" cy="2270102"/>
            <a:chOff x="793788" y="4631308"/>
            <a:chExt cx="6437630" cy="2974340"/>
          </a:xfrm>
        </p:grpSpPr>
        <p:sp>
          <p:nvSpPr>
            <p:cNvPr id="36" name="object 14">
              <a:extLst>
                <a:ext uri="{FF2B5EF4-FFF2-40B4-BE49-F238E27FC236}">
                  <a16:creationId xmlns:a16="http://schemas.microsoft.com/office/drawing/2014/main" id="{32F01402-69CE-FD7F-E22D-7E23D4488693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7" name="object 15">
              <a:extLst>
                <a:ext uri="{FF2B5EF4-FFF2-40B4-BE49-F238E27FC236}">
                  <a16:creationId xmlns:a16="http://schemas.microsoft.com/office/drawing/2014/main" id="{4B7E94B8-8438-BEC4-B884-F0B4F3969A3F}"/>
                </a:ext>
              </a:extLst>
            </p:cNvPr>
            <p:cNvSpPr/>
            <p:nvPr/>
          </p:nvSpPr>
          <p:spPr>
            <a:xfrm>
              <a:off x="816648" y="4654164"/>
              <a:ext cx="6391910" cy="118430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32" name="object 13">
            <a:extLst>
              <a:ext uri="{FF2B5EF4-FFF2-40B4-BE49-F238E27FC236}">
                <a16:creationId xmlns:a16="http://schemas.microsoft.com/office/drawing/2014/main" id="{B6CE0EED-ED13-A0D4-5601-FBCB943237BF}"/>
              </a:ext>
            </a:extLst>
          </p:cNvPr>
          <p:cNvGrpSpPr/>
          <p:nvPr/>
        </p:nvGrpSpPr>
        <p:grpSpPr>
          <a:xfrm>
            <a:off x="919687" y="4707829"/>
            <a:ext cx="5606582" cy="2270102"/>
            <a:chOff x="793788" y="4631308"/>
            <a:chExt cx="6437630" cy="2974340"/>
          </a:xfrm>
        </p:grpSpPr>
        <p:sp>
          <p:nvSpPr>
            <p:cNvPr id="33" name="object 14">
              <a:extLst>
                <a:ext uri="{FF2B5EF4-FFF2-40B4-BE49-F238E27FC236}">
                  <a16:creationId xmlns:a16="http://schemas.microsoft.com/office/drawing/2014/main" id="{3DB9D33C-ABD1-3B2A-1A8B-EEF38D5203F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4" name="object 15">
              <a:extLst>
                <a:ext uri="{FF2B5EF4-FFF2-40B4-BE49-F238E27FC236}">
                  <a16:creationId xmlns:a16="http://schemas.microsoft.com/office/drawing/2014/main" id="{857A84F6-63C8-59A6-5091-73BF0328F99A}"/>
                </a:ext>
              </a:extLst>
            </p:cNvPr>
            <p:cNvSpPr/>
            <p:nvPr/>
          </p:nvSpPr>
          <p:spPr>
            <a:xfrm>
              <a:off x="816648" y="4654164"/>
              <a:ext cx="6391910" cy="118430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6" name="object 13">
            <a:extLst>
              <a:ext uri="{FF2B5EF4-FFF2-40B4-BE49-F238E27FC236}">
                <a16:creationId xmlns:a16="http://schemas.microsoft.com/office/drawing/2014/main" id="{B7C91B19-2669-5848-F6EF-302DD70AD79E}"/>
              </a:ext>
            </a:extLst>
          </p:cNvPr>
          <p:cNvGrpSpPr/>
          <p:nvPr/>
        </p:nvGrpSpPr>
        <p:grpSpPr>
          <a:xfrm>
            <a:off x="9525000" y="1828800"/>
            <a:ext cx="4939058" cy="2270102"/>
            <a:chOff x="793788" y="4631308"/>
            <a:chExt cx="6437630" cy="2974340"/>
          </a:xfrm>
        </p:grpSpPr>
        <p:sp>
          <p:nvSpPr>
            <p:cNvPr id="27" name="object 14">
              <a:extLst>
                <a:ext uri="{FF2B5EF4-FFF2-40B4-BE49-F238E27FC236}">
                  <a16:creationId xmlns:a16="http://schemas.microsoft.com/office/drawing/2014/main" id="{6273988E-570B-6FEA-9AF5-4A38882E3570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8" name="object 15">
              <a:extLst>
                <a:ext uri="{FF2B5EF4-FFF2-40B4-BE49-F238E27FC236}">
                  <a16:creationId xmlns:a16="http://schemas.microsoft.com/office/drawing/2014/main" id="{92A7C6C3-C862-08B2-A2F0-79354B9480A5}"/>
                </a:ext>
              </a:extLst>
            </p:cNvPr>
            <p:cNvSpPr/>
            <p:nvPr/>
          </p:nvSpPr>
          <p:spPr>
            <a:xfrm>
              <a:off x="816648" y="4654164"/>
              <a:ext cx="6391910" cy="118430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0" name="object 13">
            <a:extLst>
              <a:ext uri="{FF2B5EF4-FFF2-40B4-BE49-F238E27FC236}">
                <a16:creationId xmlns:a16="http://schemas.microsoft.com/office/drawing/2014/main" id="{2DB218D0-A26E-A49E-F576-DEC2CE02D702}"/>
              </a:ext>
            </a:extLst>
          </p:cNvPr>
          <p:cNvGrpSpPr/>
          <p:nvPr/>
        </p:nvGrpSpPr>
        <p:grpSpPr>
          <a:xfrm>
            <a:off x="4542351" y="1828800"/>
            <a:ext cx="4906449" cy="2270102"/>
            <a:chOff x="793788" y="4631308"/>
            <a:chExt cx="6437630" cy="2974340"/>
          </a:xfrm>
        </p:grpSpPr>
        <p:sp>
          <p:nvSpPr>
            <p:cNvPr id="21" name="object 14">
              <a:extLst>
                <a:ext uri="{FF2B5EF4-FFF2-40B4-BE49-F238E27FC236}">
                  <a16:creationId xmlns:a16="http://schemas.microsoft.com/office/drawing/2014/main" id="{43B07B8E-BE07-2CE5-97C3-2FAAA3B06929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4" name="object 15">
              <a:extLst>
                <a:ext uri="{FF2B5EF4-FFF2-40B4-BE49-F238E27FC236}">
                  <a16:creationId xmlns:a16="http://schemas.microsoft.com/office/drawing/2014/main" id="{D83463B3-B40E-E2EE-2426-47CBDAE9CF3C}"/>
                </a:ext>
              </a:extLst>
            </p:cNvPr>
            <p:cNvSpPr/>
            <p:nvPr/>
          </p:nvSpPr>
          <p:spPr>
            <a:xfrm>
              <a:off x="816648" y="4654164"/>
              <a:ext cx="6391910" cy="118430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FF103E19-A9C3-618F-EC24-214C933E6ABB}"/>
              </a:ext>
            </a:extLst>
          </p:cNvPr>
          <p:cNvGrpSpPr/>
          <p:nvPr/>
        </p:nvGrpSpPr>
        <p:grpSpPr>
          <a:xfrm>
            <a:off x="160535" y="1853683"/>
            <a:ext cx="4246124" cy="2270102"/>
            <a:chOff x="793788" y="4631308"/>
            <a:chExt cx="6437630" cy="2974340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5458F2A0-BD49-9250-8D98-B24A05CE824E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9" name="object 15">
              <a:extLst>
                <a:ext uri="{FF2B5EF4-FFF2-40B4-BE49-F238E27FC236}">
                  <a16:creationId xmlns:a16="http://schemas.microsoft.com/office/drawing/2014/main" id="{F5166431-6B27-7A5A-DD4A-745D33D2AA2D}"/>
                </a:ext>
              </a:extLst>
            </p:cNvPr>
            <p:cNvSpPr/>
            <p:nvPr/>
          </p:nvSpPr>
          <p:spPr>
            <a:xfrm>
              <a:off x="816648" y="4654164"/>
              <a:ext cx="6391910" cy="118430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3695" y="186919"/>
            <a:ext cx="13656055" cy="997761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Key Takeaways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4681851" y="1990389"/>
            <a:ext cx="4710458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CatBoost for Categorical Features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Ideal when working with many categorical variables in the model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9753600" y="1966238"/>
            <a:ext cx="4710458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Both Outperform Traditional GBM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Superior efficiency compared to classic gradient boosting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3216717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283327" y="1938828"/>
            <a:ext cx="4246124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LightGBM for Speed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Best for large datasets requiring fast training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3DCBC250-CD01-2E79-92CE-66C8490F3F70}"/>
              </a:ext>
            </a:extLst>
          </p:cNvPr>
          <p:cNvSpPr/>
          <p:nvPr/>
        </p:nvSpPr>
        <p:spPr>
          <a:xfrm>
            <a:off x="1090080" y="4794050"/>
            <a:ext cx="5791200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Choice Depends on Data Type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Select based on your data characteristics and preprocessing effort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E3294D3C-0418-C801-8DB9-F254AEFAC6F0}"/>
              </a:ext>
            </a:extLst>
          </p:cNvPr>
          <p:cNvSpPr/>
          <p:nvPr/>
        </p:nvSpPr>
        <p:spPr>
          <a:xfrm>
            <a:off x="8104132" y="4794050"/>
            <a:ext cx="5427250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Powerful Tabular ML Alternatives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Strong options before considering deep learning for tabular data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526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1270</TotalTime>
  <Words>1278</Words>
  <Application>Microsoft Office PowerPoint</Application>
  <PresentationFormat>Custom</PresentationFormat>
  <Paragraphs>213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Lucida Sans Unicode</vt:lpstr>
      <vt:lpstr>PT Serif</vt:lpstr>
      <vt:lpstr>Office Theme</vt:lpstr>
      <vt:lpstr>PowerPoint Presentation</vt:lpstr>
      <vt:lpstr>PowerPoint Presentation</vt:lpstr>
      <vt:lpstr>LightGBM and CatBoost Methods</vt:lpstr>
      <vt:lpstr>Why Not Just Traditional GBM?</vt:lpstr>
      <vt:lpstr>What is LightGBM?</vt:lpstr>
      <vt:lpstr>Core Idea of LightGBM</vt:lpstr>
      <vt:lpstr>Level-Wise vs Leaf-Wise Split </vt:lpstr>
      <vt:lpstr>Visual Comparison</vt:lpstr>
      <vt:lpstr>How Continuous Variables Are Treated</vt:lpstr>
      <vt:lpstr>How LightGBM Works </vt:lpstr>
      <vt:lpstr>Key LightGBM Parameters</vt:lpstr>
      <vt:lpstr>LightGBM Python Implementation </vt:lpstr>
      <vt:lpstr>What is CatBoost?</vt:lpstr>
      <vt:lpstr>Ordered Boosting</vt:lpstr>
      <vt:lpstr>How CatBoost Works </vt:lpstr>
      <vt:lpstr>CatBoost Python Implementation</vt:lpstr>
      <vt:lpstr>LightGBM vs CatBoost: Comparison</vt:lpstr>
      <vt:lpstr>Choosing the Right Framework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Fimran Sanghvi</cp:lastModifiedBy>
  <cp:revision>421</cp:revision>
  <dcterms:created xsi:type="dcterms:W3CDTF">2025-08-01T06:43:07Z</dcterms:created>
  <dcterms:modified xsi:type="dcterms:W3CDTF">2026-03-04T09:12:50Z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2025-08-01T00:00:00Z</vt:filetime>
  </property>
  <property fmtid="{D5CDD505-2E9C-101B-9397-08002B2CF9AE}" pid="5" name="Producer">
    <vt:lpwstr>Microsoft® PowerPoint® 2021</vt:lpwstr>
  </property>
</Properties>
</file>