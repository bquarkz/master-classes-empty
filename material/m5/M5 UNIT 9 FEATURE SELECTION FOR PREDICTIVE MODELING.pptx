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74" r:id="rId2"/>
    <p:sldId id="275" r:id="rId3"/>
    <p:sldId id="300" r:id="rId4"/>
    <p:sldId id="342" r:id="rId5"/>
    <p:sldId id="266" r:id="rId6"/>
    <p:sldId id="344" r:id="rId7"/>
    <p:sldId id="328" r:id="rId8"/>
    <p:sldId id="345" r:id="rId9"/>
    <p:sldId id="346" r:id="rId10"/>
    <p:sldId id="347" r:id="rId11"/>
    <p:sldId id="348" r:id="rId12"/>
    <p:sldId id="349" r:id="rId13"/>
    <p:sldId id="341" r:id="rId14"/>
    <p:sldId id="350" r:id="rId15"/>
    <p:sldId id="351" r:id="rId16"/>
    <p:sldId id="352" r:id="rId17"/>
    <p:sldId id="353" r:id="rId18"/>
    <p:sldId id="354" r:id="rId19"/>
    <p:sldId id="355" r:id="rId20"/>
    <p:sldId id="356" r:id="rId21"/>
    <p:sldId id="357" r:id="rId22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48891F-FB35-E1C6-2832-95F5AEC01C35}" v="1" dt="2025-11-06T07:40:41.12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2891" autoAdjust="0"/>
  </p:normalViewPr>
  <p:slideViewPr>
    <p:cSldViewPr>
      <p:cViewPr varScale="1">
        <p:scale>
          <a:sx n="84" d="100"/>
          <a:sy n="84" d="100"/>
        </p:scale>
        <p:origin x="1000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DD48891F-FB35-E1C6-2832-95F5AEC01C35}"/>
    <pc:docChg chg="modSld">
      <pc:chgData name="Guest User" userId="" providerId="Windows Live" clId="Web-{DD48891F-FB35-E1C6-2832-95F5AEC01C35}" dt="2025-11-06T07:40:41.129" v="0" actId="1076"/>
      <pc:docMkLst>
        <pc:docMk/>
      </pc:docMkLst>
      <pc:sldChg chg="modSp">
        <pc:chgData name="Guest User" userId="" providerId="Windows Live" clId="Web-{DD48891F-FB35-E1C6-2832-95F5AEC01C35}" dt="2025-11-06T07:40:41.129" v="0" actId="1076"/>
        <pc:sldMkLst>
          <pc:docMk/>
          <pc:sldMk cId="0" sldId="260"/>
        </pc:sldMkLst>
        <pc:spChg chg="mod">
          <ac:chgData name="Guest User" userId="" providerId="Windows Live" clId="Web-{DD48891F-FB35-E1C6-2832-95F5AEC01C35}" dt="2025-11-06T07:40:41.129" v="0" actId="1076"/>
          <ac:spMkLst>
            <pc:docMk/>
            <pc:sldMk cId="0" sldId="260"/>
            <ac:spMk id="11" creationId="{1729E060-4A6E-E272-7665-9392F1B6E4F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828675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E097FF-D63A-4701-9D59-A7186DD4FFE5}" type="datetimeFigureOut">
              <a:rPr lang="en-IN" smtClean="0"/>
              <a:t>28/01/26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45050" y="1028700"/>
            <a:ext cx="4940300" cy="2778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463675" y="3960813"/>
            <a:ext cx="11703050" cy="32400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828675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6E45C9-D4C9-4BB9-AC1A-6D12C2483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676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FC471-F21A-8034-1182-7EC20A462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2DEB8-E147-4787-5FDF-AACC13D35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F521C-0896-D5EA-62D4-7B080E31F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912D4-651F-022F-E212-0668CF9122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438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B5D64-14C4-F16C-5619-287C7EA27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713F94-501F-3960-9E11-DE7F03BD9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E30D1C-21CC-DCF2-1302-0D6A57E7F9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C2F6F-17C8-6775-A32C-6E7DBAEA8A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6238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2942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A85DC-158A-6A4D-AEC5-3C4D0AA39301}" type="datetime1">
              <a:rPr lang="en-IN" smtClean="0"/>
              <a:t>28/01/26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PT Serif" panose="020A0603040505020204" pitchFamily="18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PT Serif" panose="020A0603040505020204" pitchFamily="18" charset="0"/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0CBE1-E654-804F-8DD3-1999B1EAA43E}" type="datetime1">
              <a:rPr lang="en-IN" smtClean="0"/>
              <a:t>28/01/26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E4A29-2FA4-5F43-8886-1C2CFE02D9AE}" type="datetime1">
              <a:rPr lang="en-IN" smtClean="0"/>
              <a:t>28/01/26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416254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5693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272C45"/>
                </a:solidFill>
                <a:latin typeface="Lucida Sans Unicode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69609" y="3090163"/>
            <a:ext cx="738124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72C45"/>
                </a:solidFill>
                <a:latin typeface="Lucida Sans Unicode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7C385-8D9F-4541-81D3-BBF55B3B60AF}" type="datetime1">
              <a:rPr lang="en-IN" smtClean="0"/>
              <a:t>28/01/26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hf sldNum="0" hdr="0" ftr="0" dt="0"/>
  <p:txStyles>
    <p:titleStyle>
      <a:lvl1pPr>
        <a:defRPr>
          <a:latin typeface="PT Serif" panose="020A0603040505020204" pitchFamily="18" charset="0"/>
          <a:ea typeface="+mj-ea"/>
          <a:cs typeface="+mj-cs"/>
        </a:defRPr>
      </a:lvl1pPr>
    </p:titleStyle>
    <p:bodyStyle>
      <a:lvl1pPr marL="0">
        <a:defRPr>
          <a:latin typeface="PT Serif" panose="020A0603040505020204" pitchFamily="18" charset="0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48BBC-7E6C-F114-F782-376A30F06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>
            <a:extLst>
              <a:ext uri="{FF2B5EF4-FFF2-40B4-BE49-F238E27FC236}">
                <a16:creationId xmlns:a16="http://schemas.microsoft.com/office/drawing/2014/main" id="{F82AA0A4-B4C8-BFF7-1622-4303CB7DF1F3}"/>
              </a:ext>
            </a:extLst>
          </p:cNvPr>
          <p:cNvSpPr/>
          <p:nvPr/>
        </p:nvSpPr>
        <p:spPr>
          <a:xfrm>
            <a:off x="743468" y="2133600"/>
            <a:ext cx="10381732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Feature Selection for Predictive Modeling</a:t>
            </a:r>
            <a:endParaRPr lang="en-US" sz="4100" dirty="0">
              <a:latin typeface="PT Serif" panose="020A0603040505020204" pitchFamily="18" charset="0"/>
            </a:endParaRPr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34E7B785-51DF-6028-E343-20904A09A941}"/>
              </a:ext>
            </a:extLst>
          </p:cNvPr>
          <p:cNvSpPr/>
          <p:nvPr/>
        </p:nvSpPr>
        <p:spPr>
          <a:xfrm>
            <a:off x="743468" y="3789164"/>
            <a:ext cx="11296132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Identifying the right variables to build better, faster, and more interpretable models</a:t>
            </a:r>
            <a:endParaRPr lang="en-US" sz="20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201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D79A3-6285-EA7B-A2B4-F0C9DCE16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EF8EC6-F255-C70E-3023-DC7EAEC5B16D}"/>
              </a:ext>
            </a:extLst>
          </p:cNvPr>
          <p:cNvSpPr/>
          <p:nvPr/>
        </p:nvSpPr>
        <p:spPr>
          <a:xfrm>
            <a:off x="793790" y="986194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6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36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30CCEE3-6042-A6A9-3891-B76B33DC9098}"/>
              </a:ext>
            </a:extLst>
          </p:cNvPr>
          <p:cNvSpPr/>
          <p:nvPr/>
        </p:nvSpPr>
        <p:spPr>
          <a:xfrm>
            <a:off x="793790" y="203525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09D6074-985D-ECFD-41A9-CC64CE8CCED8}"/>
              </a:ext>
            </a:extLst>
          </p:cNvPr>
          <p:cNvSpPr/>
          <p:nvPr/>
        </p:nvSpPr>
        <p:spPr>
          <a:xfrm>
            <a:off x="793790" y="2390298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8BB4AFD-62D3-1AAB-C8B6-84BCFD0B3499}"/>
              </a:ext>
            </a:extLst>
          </p:cNvPr>
          <p:cNvSpPr/>
          <p:nvPr/>
        </p:nvSpPr>
        <p:spPr>
          <a:xfrm>
            <a:off x="793790" y="2564606"/>
            <a:ext cx="437030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Introduction to Feature Selection</a:t>
            </a:r>
            <a:endParaRPr lang="en-US" sz="2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95C41F2-E8AE-183D-B7D2-B584B66A5047}"/>
              </a:ext>
            </a:extLst>
          </p:cNvPr>
          <p:cNvSpPr/>
          <p:nvPr/>
        </p:nvSpPr>
        <p:spPr>
          <a:xfrm>
            <a:off x="7428548" y="203525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20FFCDF-EFCF-D95B-39BF-71DEE8C305CC}"/>
              </a:ext>
            </a:extLst>
          </p:cNvPr>
          <p:cNvSpPr/>
          <p:nvPr/>
        </p:nvSpPr>
        <p:spPr>
          <a:xfrm>
            <a:off x="7428548" y="2390298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5C44485-ABDB-D8CB-78F7-9276AAADB0B2}"/>
              </a:ext>
            </a:extLst>
          </p:cNvPr>
          <p:cNvSpPr/>
          <p:nvPr/>
        </p:nvSpPr>
        <p:spPr>
          <a:xfrm>
            <a:off x="7428548" y="2522100"/>
            <a:ext cx="4915852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Feature Selection vs Feature Engineering</a:t>
            </a:r>
            <a:endParaRPr lang="en-US" sz="2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49AA9FB-4CAF-BC7C-90F0-1D48BD93C205}"/>
              </a:ext>
            </a:extLst>
          </p:cNvPr>
          <p:cNvSpPr/>
          <p:nvPr/>
        </p:nvSpPr>
        <p:spPr>
          <a:xfrm>
            <a:off x="793790" y="33335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735EFEC-254C-A190-497E-54797BC377D7}"/>
              </a:ext>
            </a:extLst>
          </p:cNvPr>
          <p:cNvSpPr/>
          <p:nvPr/>
        </p:nvSpPr>
        <p:spPr>
          <a:xfrm>
            <a:off x="793790" y="3688556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AC6FBEA-485A-7F7D-47FB-5FEB6466C2AF}"/>
              </a:ext>
            </a:extLst>
          </p:cNvPr>
          <p:cNvSpPr/>
          <p:nvPr/>
        </p:nvSpPr>
        <p:spPr>
          <a:xfrm>
            <a:off x="793790" y="3862863"/>
            <a:ext cx="5683210" cy="224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When Feature Selection is NOT Required</a:t>
            </a:r>
            <a:endParaRPr lang="en-US" sz="2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B65B506-59D4-7376-A944-4C46A5D3D0DA}"/>
              </a:ext>
            </a:extLst>
          </p:cNvPr>
          <p:cNvSpPr/>
          <p:nvPr/>
        </p:nvSpPr>
        <p:spPr>
          <a:xfrm>
            <a:off x="7428548" y="33335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64D1A4C-2B9B-4174-ACD2-FF1592E30587}"/>
              </a:ext>
            </a:extLst>
          </p:cNvPr>
          <p:cNvSpPr/>
          <p:nvPr/>
        </p:nvSpPr>
        <p:spPr>
          <a:xfrm>
            <a:off x="7428548" y="3688556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B2CEF56-AF19-B00B-757E-9F9AA779999A}"/>
              </a:ext>
            </a:extLst>
          </p:cNvPr>
          <p:cNvSpPr/>
          <p:nvPr/>
        </p:nvSpPr>
        <p:spPr>
          <a:xfrm>
            <a:off x="7428548" y="3862863"/>
            <a:ext cx="383702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endParaRPr lang="en-US" sz="2400" dirty="0">
              <a:latin typeface="PT Serif" panose="020A0603040505020204" pitchFamily="18" charset="0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26178CF-9339-DE4A-28C3-77F3A415D7BD}"/>
              </a:ext>
            </a:extLst>
          </p:cNvPr>
          <p:cNvSpPr/>
          <p:nvPr/>
        </p:nvSpPr>
        <p:spPr>
          <a:xfrm>
            <a:off x="793790" y="483203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1EAC6A6-8C3F-4954-512B-A2B54B6C5FB6}"/>
              </a:ext>
            </a:extLst>
          </p:cNvPr>
          <p:cNvSpPr/>
          <p:nvPr/>
        </p:nvSpPr>
        <p:spPr>
          <a:xfrm>
            <a:off x="793790" y="5187076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B97DF43-3297-7260-5B91-2DAB55D3B09B}"/>
              </a:ext>
            </a:extLst>
          </p:cNvPr>
          <p:cNvSpPr/>
          <p:nvPr/>
        </p:nvSpPr>
        <p:spPr>
          <a:xfrm>
            <a:off x="793790" y="5361384"/>
            <a:ext cx="5378410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Wrapper Methods</a:t>
            </a:r>
            <a:endParaRPr lang="en-US" sz="2400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7E44A9EB-37D4-D3CC-6CA9-BE886EEF64E4}"/>
              </a:ext>
            </a:extLst>
          </p:cNvPr>
          <p:cNvSpPr/>
          <p:nvPr/>
        </p:nvSpPr>
        <p:spPr>
          <a:xfrm>
            <a:off x="7428548" y="3875380"/>
            <a:ext cx="5149810" cy="341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Filter Methods</a:t>
            </a:r>
            <a:endParaRPr lang="en-US" sz="2400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5B9F5E8B-045A-3A25-2933-25E0399D6449}"/>
              </a:ext>
            </a:extLst>
          </p:cNvPr>
          <p:cNvSpPr/>
          <p:nvPr/>
        </p:nvSpPr>
        <p:spPr>
          <a:xfrm>
            <a:off x="7391400" y="48629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EC1DCEC7-625C-4004-BE4E-377DFDBDBFBA}"/>
              </a:ext>
            </a:extLst>
          </p:cNvPr>
          <p:cNvSpPr/>
          <p:nvPr/>
        </p:nvSpPr>
        <p:spPr>
          <a:xfrm>
            <a:off x="7391400" y="5218018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D78A8F84-E258-6237-EABC-99F514D623A1}"/>
              </a:ext>
            </a:extLst>
          </p:cNvPr>
          <p:cNvSpPr/>
          <p:nvPr/>
        </p:nvSpPr>
        <p:spPr>
          <a:xfrm>
            <a:off x="7391400" y="5404842"/>
            <a:ext cx="5149810" cy="341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Embedded Methods</a:t>
            </a:r>
            <a:endParaRPr lang="en-US" sz="2400" dirty="0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095E4F4F-C448-2636-8417-EBA22A219960}"/>
              </a:ext>
            </a:extLst>
          </p:cNvPr>
          <p:cNvSpPr/>
          <p:nvPr/>
        </p:nvSpPr>
        <p:spPr>
          <a:xfrm>
            <a:off x="793790" y="483249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1AFCEA35-CF83-E408-A568-74542A05F043}"/>
              </a:ext>
            </a:extLst>
          </p:cNvPr>
          <p:cNvSpPr/>
          <p:nvPr/>
        </p:nvSpPr>
        <p:spPr>
          <a:xfrm>
            <a:off x="793790" y="5187538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</p:spTree>
    <p:extLst>
      <p:ext uri="{BB962C8B-B14F-4D97-AF65-F5344CB8AC3E}">
        <p14:creationId xmlns:p14="http://schemas.microsoft.com/office/powerpoint/2010/main" val="2416296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717" y="81713"/>
            <a:ext cx="13656055" cy="1053866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What is Feature Selection?</a:t>
            </a:r>
            <a:endParaRPr lang="en-US" sz="360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E7C49C67-C298-4068-CA76-A4C08A84BF5C}"/>
              </a:ext>
            </a:extLst>
          </p:cNvPr>
          <p:cNvSpPr/>
          <p:nvPr/>
        </p:nvSpPr>
        <p:spPr>
          <a:xfrm>
            <a:off x="5233152" y="3352715"/>
            <a:ext cx="4164095" cy="2476442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EBCEDAE-A091-212D-F1FD-EBC293DAA8C5}"/>
              </a:ext>
            </a:extLst>
          </p:cNvPr>
          <p:cNvSpPr/>
          <p:nvPr/>
        </p:nvSpPr>
        <p:spPr>
          <a:xfrm>
            <a:off x="5502404" y="3440520"/>
            <a:ext cx="3892901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Improve Interpretability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Simpler models are easier to explain and validate</a:t>
            </a:r>
            <a:endParaRPr lang="en-US" sz="1800" dirty="0">
              <a:latin typeface="PT Serif" panose="020A0603040505020204" pitchFamily="18" charset="0"/>
            </a:endParaRPr>
          </a:p>
          <a:p>
            <a:pPr>
              <a:lnSpc>
                <a:spcPct val="150000"/>
              </a:lnSpc>
            </a:pP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10198113" y="3408214"/>
            <a:ext cx="3892901" cy="2440693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433706" y="3383136"/>
            <a:ext cx="3347385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Reduce Cost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Fewer features mean faster training and prediction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5FE26A02-BF48-BE3A-0BC6-D1E3F1CF2B05}"/>
              </a:ext>
            </a:extLst>
          </p:cNvPr>
          <p:cNvSpPr/>
          <p:nvPr/>
        </p:nvSpPr>
        <p:spPr>
          <a:xfrm>
            <a:off x="724717" y="3375860"/>
            <a:ext cx="3976821" cy="2476442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14E2EBE4-A5A4-AC65-201B-5D66F292BE53}"/>
              </a:ext>
            </a:extLst>
          </p:cNvPr>
          <p:cNvSpPr/>
          <p:nvPr/>
        </p:nvSpPr>
        <p:spPr>
          <a:xfrm>
            <a:off x="899728" y="3396719"/>
            <a:ext cx="3626798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Reduce Overfitting</a:t>
            </a:r>
            <a:endParaRPr lang="en-US" sz="24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Remove noise and irrelevant features that hurt generalization</a:t>
            </a:r>
            <a:endParaRPr lang="en-US" sz="1800" dirty="0">
              <a:latin typeface="PT Serif" panose="020A06030405050202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7B3384-1B2F-CA17-FE35-2DB170AA8A89}"/>
              </a:ext>
            </a:extLst>
          </p:cNvPr>
          <p:cNvSpPr txBox="1"/>
          <p:nvPr/>
        </p:nvSpPr>
        <p:spPr>
          <a:xfrm>
            <a:off x="660998" y="1423160"/>
            <a:ext cx="13308404" cy="1294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Feature selection is the process of identifying a subset of relevant variables from available predictors for use in model building. Given a dataset with predictors X = {X₁, X₂, …, Xₚ} and outcome Y, the goal is to find an optimal subset X* ⊂ X that maximizes predictive performance on unseen data.</a:t>
            </a: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163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89FA7-9ED6-B184-C211-DA85110F5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570606"/>
            <a:ext cx="13656055" cy="1123384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Feature Selection vs Feature Engineering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D72D4E-BAEA-DAC0-C499-95A8B454D23A}"/>
              </a:ext>
            </a:extLst>
          </p:cNvPr>
          <p:cNvSpPr txBox="1"/>
          <p:nvPr/>
        </p:nvSpPr>
        <p:spPr>
          <a:xfrm>
            <a:off x="914399" y="1703345"/>
            <a:ext cx="12573000" cy="3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While both improve model performance, they serve fundamentally different purposes in the modeling pipeline.</a:t>
            </a:r>
            <a:endParaRPr lang="en-US" sz="1800" dirty="0">
              <a:latin typeface="PT Serif" panose="020A0603040505020204" pitchFamily="18" charset="0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CE317D51-236C-F88F-6B03-BDF9A727CF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588066"/>
              </p:ext>
            </p:extLst>
          </p:nvPr>
        </p:nvGraphicFramePr>
        <p:xfrm>
          <a:off x="1196086" y="2667000"/>
          <a:ext cx="12009627" cy="35052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57401">
                  <a:extLst>
                    <a:ext uri="{9D8B030D-6E8A-4147-A177-3AD203B41FA5}">
                      <a16:colId xmlns:a16="http://schemas.microsoft.com/office/drawing/2014/main" val="559313193"/>
                    </a:ext>
                  </a:extLst>
                </a:gridCol>
                <a:gridCol w="4388017">
                  <a:extLst>
                    <a:ext uri="{9D8B030D-6E8A-4147-A177-3AD203B41FA5}">
                      <a16:colId xmlns:a16="http://schemas.microsoft.com/office/drawing/2014/main" val="607674414"/>
                    </a:ext>
                  </a:extLst>
                </a:gridCol>
                <a:gridCol w="5564209">
                  <a:extLst>
                    <a:ext uri="{9D8B030D-6E8A-4147-A177-3AD203B41FA5}">
                      <a16:colId xmlns:a16="http://schemas.microsoft.com/office/drawing/2014/main" val="9321954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Aspect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Feature Selection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Feature Engineering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36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Purpose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Remove irrelevant variables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Create new variables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494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Output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Subset of original features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Transformed or derived features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739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Example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Drop weak predictors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Log transforms, ratios, interactions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7282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When Applied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After feature engineering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Before feature selection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362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7563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object 13">
            <a:extLst>
              <a:ext uri="{FF2B5EF4-FFF2-40B4-BE49-F238E27FC236}">
                <a16:creationId xmlns:a16="http://schemas.microsoft.com/office/drawing/2014/main" id="{08594056-6FC8-8A51-7296-4D720D249565}"/>
              </a:ext>
            </a:extLst>
          </p:cNvPr>
          <p:cNvGrpSpPr/>
          <p:nvPr/>
        </p:nvGrpSpPr>
        <p:grpSpPr>
          <a:xfrm>
            <a:off x="1331347" y="4114800"/>
            <a:ext cx="5530189" cy="2677279"/>
            <a:chOff x="793788" y="4631308"/>
            <a:chExt cx="6437630" cy="2974340"/>
          </a:xfrm>
        </p:grpSpPr>
        <p:sp>
          <p:nvSpPr>
            <p:cNvPr id="20" name="object 14">
              <a:extLst>
                <a:ext uri="{FF2B5EF4-FFF2-40B4-BE49-F238E27FC236}">
                  <a16:creationId xmlns:a16="http://schemas.microsoft.com/office/drawing/2014/main" id="{121ED2A8-8C97-BF3B-157D-B705A7451D73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21" name="object 15">
              <a:extLst>
                <a:ext uri="{FF2B5EF4-FFF2-40B4-BE49-F238E27FC236}">
                  <a16:creationId xmlns:a16="http://schemas.microsoft.com/office/drawing/2014/main" id="{0CF38DA9-15DF-173E-DEF4-FD93E148342B}"/>
                </a:ext>
              </a:extLst>
            </p:cNvPr>
            <p:cNvSpPr/>
            <p:nvPr/>
          </p:nvSpPr>
          <p:spPr>
            <a:xfrm>
              <a:off x="816648" y="4654167"/>
              <a:ext cx="6391910" cy="529159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22" name="object 13">
            <a:extLst>
              <a:ext uri="{FF2B5EF4-FFF2-40B4-BE49-F238E27FC236}">
                <a16:creationId xmlns:a16="http://schemas.microsoft.com/office/drawing/2014/main" id="{2B63B66D-F2E2-475F-EAC5-5BC7235C3868}"/>
              </a:ext>
            </a:extLst>
          </p:cNvPr>
          <p:cNvGrpSpPr/>
          <p:nvPr/>
        </p:nvGrpSpPr>
        <p:grpSpPr>
          <a:xfrm>
            <a:off x="1331347" y="1066800"/>
            <a:ext cx="5530189" cy="2677279"/>
            <a:chOff x="793788" y="4631308"/>
            <a:chExt cx="6437630" cy="2974340"/>
          </a:xfrm>
        </p:grpSpPr>
        <p:sp>
          <p:nvSpPr>
            <p:cNvPr id="23" name="object 14">
              <a:extLst>
                <a:ext uri="{FF2B5EF4-FFF2-40B4-BE49-F238E27FC236}">
                  <a16:creationId xmlns:a16="http://schemas.microsoft.com/office/drawing/2014/main" id="{C32A6DB6-32F7-2C99-C4A3-881458A35482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24" name="object 15">
              <a:extLst>
                <a:ext uri="{FF2B5EF4-FFF2-40B4-BE49-F238E27FC236}">
                  <a16:creationId xmlns:a16="http://schemas.microsoft.com/office/drawing/2014/main" id="{0CEDF316-8F9B-19A3-E100-AE8C8BD554E0}"/>
                </a:ext>
              </a:extLst>
            </p:cNvPr>
            <p:cNvSpPr/>
            <p:nvPr/>
          </p:nvSpPr>
          <p:spPr>
            <a:xfrm>
              <a:off x="816648" y="4654167"/>
              <a:ext cx="6391910" cy="529159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9F7141B0-0A0C-147C-5747-2556F8136E50}"/>
              </a:ext>
            </a:extLst>
          </p:cNvPr>
          <p:cNvGrpSpPr/>
          <p:nvPr/>
        </p:nvGrpSpPr>
        <p:grpSpPr>
          <a:xfrm>
            <a:off x="7576211" y="4114800"/>
            <a:ext cx="5530189" cy="2667000"/>
            <a:chOff x="793788" y="4631308"/>
            <a:chExt cx="6437630" cy="2974340"/>
          </a:xfrm>
        </p:grpSpPr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48ABF6FF-20E4-341E-BB53-942A6E20816B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9170B451-2172-F004-CD0D-C5AF25ABAB1C}"/>
                </a:ext>
              </a:extLst>
            </p:cNvPr>
            <p:cNvSpPr/>
            <p:nvPr/>
          </p:nvSpPr>
          <p:spPr>
            <a:xfrm>
              <a:off x="816648" y="4654168"/>
              <a:ext cx="6391910" cy="519823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sp>
        <p:nvSpPr>
          <p:cNvPr id="12" name="Shape 13">
            <a:extLst>
              <a:ext uri="{FF2B5EF4-FFF2-40B4-BE49-F238E27FC236}">
                <a16:creationId xmlns:a16="http://schemas.microsoft.com/office/drawing/2014/main" id="{955FBED2-321E-36F1-D040-B65B14B72F0C}"/>
              </a:ext>
            </a:extLst>
          </p:cNvPr>
          <p:cNvSpPr/>
          <p:nvPr/>
        </p:nvSpPr>
        <p:spPr>
          <a:xfrm>
            <a:off x="685800" y="7233999"/>
            <a:ext cx="13042821" cy="843201"/>
          </a:xfrm>
          <a:prstGeom prst="roundRect">
            <a:avLst>
              <a:gd name="adj" fmla="val 3531"/>
            </a:avLst>
          </a:prstGeom>
          <a:solidFill>
            <a:srgbClr val="FFCDB3"/>
          </a:solidFill>
          <a:ln/>
        </p:spPr>
      </p:sp>
      <p:grpSp>
        <p:nvGrpSpPr>
          <p:cNvPr id="31" name="object 13">
            <a:extLst>
              <a:ext uri="{FF2B5EF4-FFF2-40B4-BE49-F238E27FC236}">
                <a16:creationId xmlns:a16="http://schemas.microsoft.com/office/drawing/2014/main" id="{3A7BD985-4F33-92C4-8CA6-B96C8FF5B89E}"/>
              </a:ext>
            </a:extLst>
          </p:cNvPr>
          <p:cNvGrpSpPr/>
          <p:nvPr/>
        </p:nvGrpSpPr>
        <p:grpSpPr>
          <a:xfrm>
            <a:off x="7576211" y="1085717"/>
            <a:ext cx="5530189" cy="2667000"/>
            <a:chOff x="793788" y="4631308"/>
            <a:chExt cx="6437630" cy="2974340"/>
          </a:xfrm>
        </p:grpSpPr>
        <p:sp>
          <p:nvSpPr>
            <p:cNvPr id="32" name="object 14">
              <a:extLst>
                <a:ext uri="{FF2B5EF4-FFF2-40B4-BE49-F238E27FC236}">
                  <a16:creationId xmlns:a16="http://schemas.microsoft.com/office/drawing/2014/main" id="{EF009A0C-E269-9B9B-724D-1EA47701A745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33" name="object 15">
              <a:extLst>
                <a:ext uri="{FF2B5EF4-FFF2-40B4-BE49-F238E27FC236}">
                  <a16:creationId xmlns:a16="http://schemas.microsoft.com/office/drawing/2014/main" id="{854AAF6B-CF3B-8A7E-D12F-750BEE487628}"/>
                </a:ext>
              </a:extLst>
            </p:cNvPr>
            <p:cNvSpPr/>
            <p:nvPr/>
          </p:nvSpPr>
          <p:spPr>
            <a:xfrm>
              <a:off x="816648" y="4654168"/>
              <a:ext cx="6391910" cy="519823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1865" y="-125450"/>
            <a:ext cx="13656055" cy="833113"/>
          </a:xfrm>
          <a:prstGeom prst="rect">
            <a:avLst/>
          </a:prstGeom>
          <a:noFill/>
        </p:spPr>
        <p:txBody>
          <a:bodyPr vert="horz" wrap="square" lIns="0" tIns="220853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When Feature Selection is NOT Required</a:t>
            </a:r>
            <a:endParaRPr lang="en-US" sz="36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A0D38183-3593-0CD5-9F87-5CFCC2BA96CD}"/>
              </a:ext>
            </a:extLst>
          </p:cNvPr>
          <p:cNvSpPr/>
          <p:nvPr/>
        </p:nvSpPr>
        <p:spPr>
          <a:xfrm>
            <a:off x="1473441" y="1049215"/>
            <a:ext cx="5246003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Very Small Number of Predictors</a:t>
            </a:r>
            <a:endParaRPr lang="en-US" sz="24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When </a:t>
            </a:r>
            <a:r>
              <a:rPr lang="en-US" sz="1800" i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p </a:t>
            </a:r>
            <a:r>
              <a:rPr lang="en-US" i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&lt;=</a:t>
            </a:r>
            <a:r>
              <a:rPr lang="en-US" sz="1800" i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5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,  complex feature selection methods are generally not required.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sz="1800" dirty="0">
              <a:latin typeface="PT Serif" panose="020A06030405050202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Strong Regularization Already Used</a:t>
            </a:r>
          </a:p>
          <a:p>
            <a:pPr algn="l">
              <a:lnSpc>
                <a:spcPct val="150000"/>
              </a:lnSpc>
            </a:pPr>
            <a:endParaRPr lang="en-US" sz="24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Models like 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Lasso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regression or Elastic Net automatically control coefficient magnitudes, providing implicit feature selection through shrinkage.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7C25592-1A5D-94A2-1249-6AAE7946F079}"/>
              </a:ext>
            </a:extLst>
          </p:cNvPr>
          <p:cNvSpPr/>
          <p:nvPr/>
        </p:nvSpPr>
        <p:spPr>
          <a:xfrm>
            <a:off x="7784330" y="1049215"/>
            <a:ext cx="5175148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Strong Theoretical Justification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Variables mandated by clinical protocols, regulatory guidelines, or established domain theory should generally be retained regardless of statistical measures.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  <a:p>
            <a:pPr lvl="1" algn="ctr">
              <a:lnSpc>
                <a:spcPct val="150000"/>
              </a:lnSpc>
              <a:buSzPct val="100000"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Prediction-Only Use Case</a:t>
            </a:r>
          </a:p>
          <a:p>
            <a:pPr lvl="1" algn="l">
              <a:lnSpc>
                <a:spcPct val="150000"/>
              </a:lnSpc>
              <a:buSzPct val="100000"/>
            </a:pPr>
            <a:endParaRPr lang="en-US" sz="2400" dirty="0">
              <a:latin typeface="PT Serif" panose="020A0603040505020204" pitchFamily="18" charset="0"/>
            </a:endParaRPr>
          </a:p>
          <a:p>
            <a:pPr lvl="1" algn="l">
              <a:lnSpc>
                <a:spcPct val="150000"/>
              </a:lnSpc>
              <a:buSzPct val="100000"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When interpretability is not required and computational cost is not a concern, feature selection may be less critical.</a:t>
            </a:r>
            <a:endParaRPr lang="en-US" sz="1800" dirty="0">
              <a:latin typeface="PT Serif" panose="020A0603040505020204" pitchFamily="18" charset="0"/>
            </a:endParaRPr>
          </a:p>
          <a:p>
            <a:pPr lvl="1">
              <a:lnSpc>
                <a:spcPct val="150000"/>
              </a:lnSpc>
              <a:buSzPct val="100000"/>
            </a:pPr>
            <a:endParaRPr lang="en-US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43F1EE-D911-93FE-0ECE-2F302D7CE145}"/>
              </a:ext>
            </a:extLst>
          </p:cNvPr>
          <p:cNvSpPr txBox="1"/>
          <p:nvPr/>
        </p:nvSpPr>
        <p:spPr>
          <a:xfrm>
            <a:off x="1053494" y="7286196"/>
            <a:ext cx="11958046" cy="716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⚠️ Important: Even in these scenarios, redundant features may still degrade model performance or introduce multicollinearity issues.</a:t>
            </a:r>
            <a:endParaRPr lang="en-US" sz="1800" dirty="0">
              <a:latin typeface="PT Serif" panose="020A06030405050202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5A3CB-1AEA-BDEC-D414-FD53CEE2C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2058"/>
            <a:ext cx="13656055" cy="1123384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Three Categories of Feature Selection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9DDD0F-CAE6-9C88-8DDE-A86959118F12}"/>
              </a:ext>
            </a:extLst>
          </p:cNvPr>
          <p:cNvSpPr txBox="1"/>
          <p:nvPr/>
        </p:nvSpPr>
        <p:spPr>
          <a:xfrm>
            <a:off x="1181099" y="1609908"/>
            <a:ext cx="12268200" cy="6107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Feature selection methods fall into three main approaches, each with distinct trade-offs between speed, accuracy, and computational cost.</a:t>
            </a: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  <a:ea typeface="DM Sans" pitchFamily="34" charset="-122"/>
              <a:cs typeface="DM Sans" pitchFamily="34" charset="-120"/>
            </a:endParaRPr>
          </a:p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</a:rPr>
              <a:t>1. </a:t>
            </a: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Filter Methods</a:t>
            </a:r>
            <a:endParaRPr lang="en-US" sz="24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Statistical tests independent of any model. Fast but ignore feature interactions.</a:t>
            </a: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</a:rPr>
              <a:t>2. </a:t>
            </a: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Wrapper Methods</a:t>
            </a:r>
            <a:endParaRPr lang="en-US" sz="24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Evaluate feature subsets using model performance. Capture interactions but computationally expensive.</a:t>
            </a: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</a:rPr>
              <a:t>3. </a:t>
            </a: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Embedded Methods</a:t>
            </a:r>
            <a:endParaRPr lang="en-US" sz="24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Feature selection built into model training. Balance speed and accuracy.</a:t>
            </a:r>
            <a:endParaRPr lang="en-US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39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C7C62A2-74B9-E72B-F12E-2A7F146457EE}"/>
              </a:ext>
            </a:extLst>
          </p:cNvPr>
          <p:cNvSpPr/>
          <p:nvPr/>
        </p:nvSpPr>
        <p:spPr>
          <a:xfrm>
            <a:off x="8001000" y="2285999"/>
            <a:ext cx="5727429" cy="37689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E9ADA4-F48B-80A8-B205-9F62BD1C4E73}"/>
              </a:ext>
            </a:extLst>
          </p:cNvPr>
          <p:cNvSpPr/>
          <p:nvPr/>
        </p:nvSpPr>
        <p:spPr>
          <a:xfrm>
            <a:off x="1077817" y="2273635"/>
            <a:ext cx="5727429" cy="37689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35C7C7-AFD6-B295-A986-8B144481C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966" y="381000"/>
            <a:ext cx="13656055" cy="610103"/>
          </a:xfrm>
        </p:spPr>
        <p:txBody>
          <a:bodyPr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Filter Methods: Core Concept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3F597-D59A-2043-4182-0A3CE75AAB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41121" y="2329395"/>
            <a:ext cx="5288280" cy="3833935"/>
          </a:xfrm>
        </p:spPr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Key Advantages</a:t>
            </a:r>
            <a:endParaRPr lang="en-US" sz="24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8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Speed:</a:t>
            </a: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 Extremely fast computation</a:t>
            </a:r>
            <a:endParaRPr lang="en-US" sz="18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Scalability:</a:t>
            </a: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 Handles high-dimensional data efficiently</a:t>
            </a:r>
            <a:endParaRPr lang="en-US" sz="18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Model-agnostic:</a:t>
            </a: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 Works with any modeling approach</a:t>
            </a:r>
            <a:endParaRPr lang="en-US" sz="18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Stability:</a:t>
            </a: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 Results don't vary across different models</a:t>
            </a:r>
            <a:endParaRPr lang="en-US" sz="1800" dirty="0"/>
          </a:p>
          <a:p>
            <a:pPr algn="l">
              <a:lnSpc>
                <a:spcPct val="150000"/>
              </a:lnSpc>
            </a:pP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14062-FAD7-D748-08B3-90627B172E04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8232885" y="2329395"/>
            <a:ext cx="5495544" cy="3418436"/>
          </a:xfrm>
        </p:spPr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Important Limitations</a:t>
            </a:r>
            <a:endParaRPr lang="en-US" sz="24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8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Independence assumption:</a:t>
            </a: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 Ignores interactions between features</a:t>
            </a:r>
            <a:endParaRPr lang="en-US" sz="18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Redundancy:</a:t>
            </a: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 May retain multiple correlated variables</a:t>
            </a:r>
            <a:endParaRPr lang="en-US" sz="18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Context-blind:</a:t>
            </a: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 Doesn't consider how features work together in the model</a:t>
            </a:r>
            <a:endParaRPr lang="en-US" sz="1800" dirty="0"/>
          </a:p>
          <a:p>
            <a:pPr algn="ctr">
              <a:lnSpc>
                <a:spcPct val="150000"/>
              </a:lnSpc>
            </a:pP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4A1C6A-8873-A4AB-B7E6-3CCD89A24C9C}"/>
              </a:ext>
            </a:extLst>
          </p:cNvPr>
          <p:cNvSpPr txBox="1"/>
          <p:nvPr/>
        </p:nvSpPr>
        <p:spPr>
          <a:xfrm>
            <a:off x="778412" y="1295400"/>
            <a:ext cx="12649200" cy="87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Filter methods evaluate each feature independently of the predictive model, relying instead on statistical properties and associations with the target variable. These methods are applied before model training begins.</a:t>
            </a: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10" name="Shape 11">
            <a:extLst>
              <a:ext uri="{FF2B5EF4-FFF2-40B4-BE49-F238E27FC236}">
                <a16:creationId xmlns:a16="http://schemas.microsoft.com/office/drawing/2014/main" id="{09AF44BF-5168-8F79-66A9-B9E54D98E3CC}"/>
              </a:ext>
            </a:extLst>
          </p:cNvPr>
          <p:cNvSpPr/>
          <p:nvPr/>
        </p:nvSpPr>
        <p:spPr>
          <a:xfrm>
            <a:off x="793790" y="6687860"/>
            <a:ext cx="13042821" cy="1160740"/>
          </a:xfrm>
          <a:prstGeom prst="roundRect">
            <a:avLst>
              <a:gd name="adj" fmla="val 2565"/>
            </a:avLst>
          </a:prstGeom>
          <a:solidFill>
            <a:srgbClr val="FFCDB3"/>
          </a:solidFill>
          <a:ln/>
        </p:spPr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7A09F057-BAD0-356C-D4C2-66E1A2A65ADC}"/>
              </a:ext>
            </a:extLst>
          </p:cNvPr>
          <p:cNvSpPr/>
          <p:nvPr/>
        </p:nvSpPr>
        <p:spPr>
          <a:xfrm>
            <a:off x="1438513" y="6935748"/>
            <a:ext cx="121997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Filter methods are typically the first step in feature selection pipelines, especially when dealing with datasets containing hundreds or thousands of variables.</a:t>
            </a:r>
            <a:endParaRPr lang="en-US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7470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0301D-56CD-CB92-CD83-449F4B46A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53016"/>
            <a:ext cx="13656055" cy="1123384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Variance Threshold/ Correlation Threshold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864E95-81FA-6657-34F9-827AEA7C2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676400"/>
            <a:ext cx="12954000" cy="5461303"/>
          </a:xfrm>
        </p:spPr>
        <p:txBody>
          <a:bodyPr/>
          <a:lstStyle/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Variance thresholding removes predictors with very low variance across observations. Variables with near-zero variance carry little discriminatory information and can be safely removed.</a:t>
            </a:r>
            <a:endParaRPr lang="en-US" sz="1800" dirty="0"/>
          </a:p>
          <a:p>
            <a:pPr algn="l">
              <a:lnSpc>
                <a:spcPct val="200000"/>
              </a:lnSpc>
            </a:pPr>
            <a:r>
              <a:rPr lang="en-US" sz="18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Mathematical Intuition:</a:t>
            </a:r>
          </a:p>
          <a:p>
            <a:pPr algn="l">
              <a:lnSpc>
                <a:spcPct val="200000"/>
              </a:lnSpc>
            </a:pPr>
            <a:endParaRPr lang="en-US" sz="1800" b="1" dirty="0">
              <a:solidFill>
                <a:srgbClr val="383838"/>
              </a:solidFill>
            </a:endParaRPr>
          </a:p>
          <a:p>
            <a:pPr algn="l">
              <a:lnSpc>
                <a:spcPct val="200000"/>
              </a:lnSpc>
            </a:pPr>
            <a:endParaRPr lang="en-US" sz="18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This simple univariate method is often the first filter applied. It is fast, model-agnostic, and helps eliminate constant or near-constant features that provide no predictive value.</a:t>
            </a: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solidFill>
                <a:srgbClr val="383838"/>
              </a:solidFill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</a:rPr>
              <a:t>Similarly, variables with very high correlation ( say &gt; 0.90) can be considered for elimination of one of the variables.</a:t>
            </a:r>
            <a:endParaRPr lang="en-US" sz="1800" dirty="0"/>
          </a:p>
          <a:p>
            <a:pPr>
              <a:lnSpc>
                <a:spcPct val="200000"/>
              </a:lnSpc>
            </a:pPr>
            <a:r>
              <a:rPr lang="en-IN" sz="1800" dirty="0"/>
              <a:t>	</a:t>
            </a: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A70CCE95-9470-88A8-9B1A-0EA446B574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381000" y="3581400"/>
            <a:ext cx="12745164" cy="346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399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C072A-38A2-8031-6C08-71F318074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345" y="581308"/>
            <a:ext cx="13656055" cy="1123384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Filter Method: Chi-Square Test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8E874-9A6B-1973-0D74-D6CD025B8D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9514" y="3211090"/>
            <a:ext cx="6364224" cy="3983976"/>
          </a:xfrm>
        </p:spPr>
        <p:txBody>
          <a:bodyPr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Hypothesis Testing Framework</a:t>
            </a:r>
            <a:endParaRPr lang="en-US" sz="2400" dirty="0"/>
          </a:p>
          <a:p>
            <a:pPr algn="l">
              <a:lnSpc>
                <a:spcPct val="200000"/>
              </a:lnSpc>
            </a:pPr>
            <a:r>
              <a:rPr lang="en-US" sz="18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Null Hypothesis (H₀):</a:t>
            </a: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 Feature and target are independent</a:t>
            </a:r>
            <a:endParaRPr lang="en-US" sz="1800" dirty="0"/>
          </a:p>
          <a:p>
            <a:pPr algn="l">
              <a:lnSpc>
                <a:spcPct val="200000"/>
              </a:lnSpc>
            </a:pPr>
            <a:r>
              <a:rPr lang="en-US" sz="18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Alternative Hypothesis (H₁):</a:t>
            </a: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 Feature and target are associated</a:t>
            </a:r>
            <a:endParaRPr lang="en-US" sz="1800" dirty="0"/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Features are ranked by their chi-square statistic. A low p-value (typically &lt; 0.05) indicates strong association with the target.</a:t>
            </a:r>
            <a:endParaRPr lang="en-US" sz="1800" dirty="0"/>
          </a:p>
          <a:p>
            <a:pPr>
              <a:lnSpc>
                <a:spcPct val="200000"/>
              </a:lnSpc>
            </a:pPr>
            <a:endParaRPr lang="en-IN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2174FE-56B4-6D70-F4C6-3939CCA489AD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8534400" y="3211090"/>
            <a:ext cx="6364224" cy="3429978"/>
          </a:xfrm>
        </p:spPr>
        <p:txBody>
          <a:bodyPr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Common Applications</a:t>
            </a:r>
            <a:endParaRPr lang="en-US" sz="2400" dirty="0"/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Gender vs Purchase Decision (Yes/No)</a:t>
            </a:r>
            <a:endParaRPr lang="en-US" sz="1800" dirty="0"/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Geographic Region vs Disease Status</a:t>
            </a:r>
            <a:endParaRPr lang="en-US" sz="1800" dirty="0"/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Product Category vs Customer Churn</a:t>
            </a:r>
            <a:endParaRPr lang="en-US" sz="1800" dirty="0"/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Education Level vs Loan Default</a:t>
            </a:r>
            <a:endParaRPr lang="en-US" sz="1800" dirty="0"/>
          </a:p>
          <a:p>
            <a:pPr>
              <a:lnSpc>
                <a:spcPct val="200000"/>
              </a:lnSpc>
            </a:pPr>
            <a:endParaRPr lang="en-IN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E50CA8-E73D-0E08-1DE1-CF2ACF6B368F}"/>
              </a:ext>
            </a:extLst>
          </p:cNvPr>
          <p:cNvSpPr txBox="1"/>
          <p:nvPr/>
        </p:nvSpPr>
        <p:spPr>
          <a:xfrm>
            <a:off x="974345" y="1402592"/>
            <a:ext cx="12681710" cy="112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 chi-square test evaluates the statistical dependence between categorical features and a categorical target variable. It's one of the most commonly used filter methods for classification problems with categorical predictors.</a:t>
            </a: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835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0301D-56CD-CB92-CD83-449F4B46A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2138" y="553016"/>
            <a:ext cx="13656055" cy="610103"/>
          </a:xfrm>
        </p:spPr>
        <p:txBody>
          <a:bodyPr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ANOVA and F-Test</a:t>
            </a:r>
            <a:endParaRPr lang="en-US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864E95-81FA-6657-34F9-827AEA7C2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227" y="1626114"/>
            <a:ext cx="12039601" cy="4537974"/>
          </a:xfrm>
        </p:spPr>
        <p:txBody>
          <a:bodyPr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ANOVA (Analysis of Variance) and F-tests evaluate whether numeric predictors differ significantly across categorical outcome groups.</a:t>
            </a:r>
            <a:endParaRPr lang="en-US" sz="1800" dirty="0">
              <a:solidFill>
                <a:srgbClr val="383838"/>
              </a:solidFill>
            </a:endParaRPr>
          </a:p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F-Statistic Formula</a:t>
            </a:r>
            <a:endParaRPr lang="en-US" sz="2400" dirty="0"/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solidFill>
                <a:srgbClr val="383838"/>
              </a:solidFill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solidFill>
                <a:srgbClr val="383838"/>
              </a:solidFill>
            </a:endParaRPr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A high F-statistic indicates that the predictor's means differ across groups more than would be expected by chance. This method is particularly useful for multi-class classification with continuous features.</a:t>
            </a:r>
            <a:endParaRPr lang="en-US" sz="1800" dirty="0"/>
          </a:p>
          <a:p>
            <a:pPr marL="0" indent="0" algn="l">
              <a:lnSpc>
                <a:spcPct val="200000"/>
              </a:lnSpc>
              <a:buNone/>
            </a:pPr>
            <a:endParaRPr lang="en-US" sz="180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6F284CEE-8E4A-4961-C29B-18D967A74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09486"/>
            <a:ext cx="12745164" cy="605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555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13">
            <a:extLst>
              <a:ext uri="{FF2B5EF4-FFF2-40B4-BE49-F238E27FC236}">
                <a16:creationId xmlns:a16="http://schemas.microsoft.com/office/drawing/2014/main" id="{ACBD2469-B546-A7F6-09BA-234742D4A5B8}"/>
              </a:ext>
            </a:extLst>
          </p:cNvPr>
          <p:cNvGrpSpPr/>
          <p:nvPr/>
        </p:nvGrpSpPr>
        <p:grpSpPr>
          <a:xfrm>
            <a:off x="7696200" y="6172200"/>
            <a:ext cx="6324600" cy="1804494"/>
            <a:chOff x="793788" y="4631308"/>
            <a:chExt cx="6437630" cy="2974340"/>
          </a:xfrm>
        </p:grpSpPr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3BFFE626-25F0-9CBE-8866-9599780F5298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EDF02437-99A7-A021-0F97-8DAA694CF046}"/>
                </a:ext>
              </a:extLst>
            </p:cNvPr>
            <p:cNvSpPr/>
            <p:nvPr/>
          </p:nvSpPr>
          <p:spPr>
            <a:xfrm>
              <a:off x="816648" y="4654167"/>
              <a:ext cx="6391910" cy="816279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10" name="object 13">
            <a:extLst>
              <a:ext uri="{FF2B5EF4-FFF2-40B4-BE49-F238E27FC236}">
                <a16:creationId xmlns:a16="http://schemas.microsoft.com/office/drawing/2014/main" id="{B989FD71-0F53-07DF-5F24-9B778921F2B5}"/>
              </a:ext>
            </a:extLst>
          </p:cNvPr>
          <p:cNvGrpSpPr/>
          <p:nvPr/>
        </p:nvGrpSpPr>
        <p:grpSpPr>
          <a:xfrm>
            <a:off x="990600" y="6195898"/>
            <a:ext cx="6324600" cy="1804494"/>
            <a:chOff x="793788" y="4631308"/>
            <a:chExt cx="6437630" cy="2974340"/>
          </a:xfrm>
        </p:grpSpPr>
        <p:sp>
          <p:nvSpPr>
            <p:cNvPr id="11" name="object 14">
              <a:extLst>
                <a:ext uri="{FF2B5EF4-FFF2-40B4-BE49-F238E27FC236}">
                  <a16:creationId xmlns:a16="http://schemas.microsoft.com/office/drawing/2014/main" id="{368CE717-B7DC-0708-9808-B62475CB6B18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12" name="object 15">
              <a:extLst>
                <a:ext uri="{FF2B5EF4-FFF2-40B4-BE49-F238E27FC236}">
                  <a16:creationId xmlns:a16="http://schemas.microsoft.com/office/drawing/2014/main" id="{E31F6F2C-4415-934A-5C4C-216496740E14}"/>
                </a:ext>
              </a:extLst>
            </p:cNvPr>
            <p:cNvSpPr/>
            <p:nvPr/>
          </p:nvSpPr>
          <p:spPr>
            <a:xfrm>
              <a:off x="816648" y="4654167"/>
              <a:ext cx="6391910" cy="816279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E80301D-56CD-CB92-CD83-449F4B46A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0207" y="76200"/>
            <a:ext cx="13656055" cy="610103"/>
          </a:xfrm>
        </p:spPr>
        <p:txBody>
          <a:bodyPr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Filter Method: Information Value (IV)</a:t>
            </a:r>
            <a:endParaRPr lang="en-US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864E95-81FA-6657-34F9-827AEA7C2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2622" y="949821"/>
            <a:ext cx="13362978" cy="2275816"/>
          </a:xfrm>
        </p:spPr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Information Value is particularly popular in credit scoring, risk modeling, and marketing analytics. It measures the predictive power of a variable based on Weight of Evidence (</a:t>
            </a:r>
            <a:r>
              <a:rPr lang="en-US" sz="1800" dirty="0" err="1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WoE</a:t>
            </a: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), providing a business-friendly interpretation of feature importance.</a:t>
            </a:r>
          </a:p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IV Interpretation Guidelines</a:t>
            </a:r>
            <a:endParaRPr lang="en-US" sz="2400" dirty="0"/>
          </a:p>
          <a:p>
            <a:pPr marL="0" indent="0" algn="l">
              <a:lnSpc>
                <a:spcPct val="200000"/>
              </a:lnSpc>
              <a:buNone/>
            </a:pPr>
            <a:endParaRPr lang="en-US" sz="1800" dirty="0"/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4E3133CB-04D2-4144-F00C-2976E126FE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9179420"/>
              </p:ext>
            </p:extLst>
          </p:nvPr>
        </p:nvGraphicFramePr>
        <p:xfrm>
          <a:off x="2209800" y="2473821"/>
          <a:ext cx="9753600" cy="35052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413071538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12135028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83838"/>
                          </a:solidFill>
                          <a:effectLst/>
                          <a:uLnTx/>
                          <a:uFillTx/>
                          <a:latin typeface="PT Serif" panose="020A0603040505020204" pitchFamily="18" charset="0"/>
                        </a:rPr>
                        <a:t>IV Range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T Serif" panose="020A0603040505020204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Predictive Power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pPr algn="ctr"/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319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5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&lt; 0.02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Not useful for prediction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pPr algn="ctr"/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7941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0.02 – 0.1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pPr algn="ctr"/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Weak predictive power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pPr algn="ctr"/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626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0.1 – 0.3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pPr algn="ctr"/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Medium predictive power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pPr algn="ctr"/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77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&gt; 0.3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pPr algn="ctr"/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Strong predictive power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pPr algn="ctr"/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384631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4656C3E-0CDE-63D6-ED2D-CBC3ECC7C799}"/>
              </a:ext>
            </a:extLst>
          </p:cNvPr>
          <p:cNvSpPr txBox="1"/>
          <p:nvPr/>
        </p:nvSpPr>
        <p:spPr>
          <a:xfrm>
            <a:off x="1219200" y="6096000"/>
            <a:ext cx="6096000" cy="2264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Key Advantages</a:t>
            </a: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Handles monotonic relationships effectively and provides interpretations that business stakeholders can easily understand and communicate.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2E5E91-08E0-74C8-F186-EEA7C9D81B75}"/>
              </a:ext>
            </a:extLst>
          </p:cNvPr>
          <p:cNvSpPr txBox="1"/>
          <p:nvPr/>
        </p:nvSpPr>
        <p:spPr>
          <a:xfrm>
            <a:off x="7837542" y="6090390"/>
            <a:ext cx="6096000" cy="2264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Important Considerations</a:t>
            </a: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Results are sensitive to binning strategy choices. Additionally, improper implementation can lead to data leakage if binning is performed before train-test splitting.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13">
            <a:extLst>
              <a:ext uri="{FF2B5EF4-FFF2-40B4-BE49-F238E27FC236}">
                <a16:creationId xmlns:a16="http://schemas.microsoft.com/office/drawing/2014/main" id="{0AB7932B-6480-23A8-CAD1-F1FD61308DF7}"/>
              </a:ext>
            </a:extLst>
          </p:cNvPr>
          <p:cNvGrpSpPr/>
          <p:nvPr/>
        </p:nvGrpSpPr>
        <p:grpSpPr>
          <a:xfrm>
            <a:off x="7848600" y="3352800"/>
            <a:ext cx="5562600" cy="2393325"/>
            <a:chOff x="793788" y="4631308"/>
            <a:chExt cx="6437630" cy="2974340"/>
          </a:xfrm>
        </p:grpSpPr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ACBA293A-74E3-BFA7-0E38-952A3D1E59B1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FB37415D-AFE2-E291-8804-591766146C71}"/>
                </a:ext>
              </a:extLst>
            </p:cNvPr>
            <p:cNvSpPr/>
            <p:nvPr/>
          </p:nvSpPr>
          <p:spPr>
            <a:xfrm>
              <a:off x="816648" y="4654167"/>
              <a:ext cx="6391910" cy="816279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10" name="object 13">
            <a:extLst>
              <a:ext uri="{FF2B5EF4-FFF2-40B4-BE49-F238E27FC236}">
                <a16:creationId xmlns:a16="http://schemas.microsoft.com/office/drawing/2014/main" id="{2CB51E62-3613-0E0E-DE8C-5C6D6BE71469}"/>
              </a:ext>
            </a:extLst>
          </p:cNvPr>
          <p:cNvGrpSpPr/>
          <p:nvPr/>
        </p:nvGrpSpPr>
        <p:grpSpPr>
          <a:xfrm>
            <a:off x="990600" y="3371534"/>
            <a:ext cx="5562600" cy="2393325"/>
            <a:chOff x="793788" y="4631308"/>
            <a:chExt cx="6437630" cy="2974340"/>
          </a:xfrm>
        </p:grpSpPr>
        <p:sp>
          <p:nvSpPr>
            <p:cNvPr id="11" name="object 14">
              <a:extLst>
                <a:ext uri="{FF2B5EF4-FFF2-40B4-BE49-F238E27FC236}">
                  <a16:creationId xmlns:a16="http://schemas.microsoft.com/office/drawing/2014/main" id="{9960B855-FA6E-CC18-0BE0-0EEDAA1DFF55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12" name="object 15">
              <a:extLst>
                <a:ext uri="{FF2B5EF4-FFF2-40B4-BE49-F238E27FC236}">
                  <a16:creationId xmlns:a16="http://schemas.microsoft.com/office/drawing/2014/main" id="{91A31CE3-E9BD-4D4C-1735-3E80A8647DB0}"/>
                </a:ext>
              </a:extLst>
            </p:cNvPr>
            <p:cNvSpPr/>
            <p:nvPr/>
          </p:nvSpPr>
          <p:spPr>
            <a:xfrm>
              <a:off x="816648" y="4654167"/>
              <a:ext cx="6391910" cy="816279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A786A24-34A1-95DC-CDF1-A177D961F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628" y="681603"/>
            <a:ext cx="13656055" cy="1123384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Wrapper Methods Overview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E1807-4612-4DB7-28A6-FA12D634D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28800" y="3297060"/>
            <a:ext cx="3886200" cy="2875980"/>
          </a:xfrm>
        </p:spPr>
        <p:txBody>
          <a:bodyPr/>
          <a:lstStyle/>
          <a:p>
            <a:pPr algn="ctr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Advantages</a:t>
            </a:r>
            <a:endParaRPr lang="en-US" sz="2400" dirty="0"/>
          </a:p>
          <a:p>
            <a:pPr marL="457200" indent="-4572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Account for feature interactions</a:t>
            </a:r>
            <a:endParaRPr lang="en-US" sz="1800" dirty="0"/>
          </a:p>
          <a:p>
            <a:pPr marL="457200" indent="-4572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Optimize for model performance</a:t>
            </a:r>
            <a:endParaRPr lang="en-US" sz="1800" dirty="0"/>
          </a:p>
          <a:p>
            <a:pPr marL="457200" indent="-4572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Tailored to specific algorithm</a:t>
            </a:r>
            <a:endParaRPr lang="en-US" sz="1800" dirty="0"/>
          </a:p>
          <a:p>
            <a:pPr>
              <a:lnSpc>
                <a:spcPct val="200000"/>
              </a:lnSpc>
            </a:pPr>
            <a:endParaRPr lang="en-IN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67D2B2-CF11-F615-F4F4-3006EA0533DC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8606028" y="3296220"/>
            <a:ext cx="4047744" cy="2875980"/>
          </a:xfrm>
        </p:spPr>
        <p:txBody>
          <a:bodyPr/>
          <a:lstStyle/>
          <a:p>
            <a:pPr algn="ctr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Disadvantages</a:t>
            </a:r>
            <a:endParaRPr lang="en-US" sz="2400" dirty="0"/>
          </a:p>
          <a:p>
            <a:pPr marL="457200" indent="-4572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Computationally expensive</a:t>
            </a:r>
            <a:endParaRPr lang="en-US" sz="1800" dirty="0"/>
          </a:p>
          <a:p>
            <a:pPr marL="457200" indent="-4572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Risk of overfitting to validation set</a:t>
            </a:r>
            <a:endParaRPr lang="en-US" sz="1800" dirty="0"/>
          </a:p>
          <a:p>
            <a:pPr marL="457200" indent="-4572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May not generalize across models</a:t>
            </a:r>
            <a:endParaRPr lang="en-US" sz="1800" dirty="0"/>
          </a:p>
          <a:p>
            <a:pPr>
              <a:lnSpc>
                <a:spcPct val="200000"/>
              </a:lnSpc>
            </a:pPr>
            <a:endParaRPr lang="en-IN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127E52-54E0-C39A-DE8B-99EEB7AF6687}"/>
              </a:ext>
            </a:extLst>
          </p:cNvPr>
          <p:cNvSpPr txBox="1"/>
          <p:nvPr/>
        </p:nvSpPr>
        <p:spPr>
          <a:xfrm>
            <a:off x="706628" y="1651476"/>
            <a:ext cx="13217144" cy="112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Wrapper methods evaluate subsets of features by training and testing a predictive model. Unlike filters, they capture feature interactions and dependencies.</a:t>
            </a: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740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717" y="0"/>
            <a:ext cx="13656055" cy="1053866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Stepwise Selection</a:t>
            </a:r>
            <a:endParaRPr lang="en-US" sz="360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E7C49C67-C298-4068-CA76-A4C08A84BF5C}"/>
              </a:ext>
            </a:extLst>
          </p:cNvPr>
          <p:cNvSpPr/>
          <p:nvPr/>
        </p:nvSpPr>
        <p:spPr>
          <a:xfrm>
            <a:off x="5249508" y="2858283"/>
            <a:ext cx="4164095" cy="3694917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EBCEDAE-A091-212D-F1FD-EBC293DAA8C5}"/>
              </a:ext>
            </a:extLst>
          </p:cNvPr>
          <p:cNvSpPr/>
          <p:nvPr/>
        </p:nvSpPr>
        <p:spPr>
          <a:xfrm>
            <a:off x="5482872" y="2830920"/>
            <a:ext cx="3892901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2. Backward Elimination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Start with all features. Remove one feature at a time, dropping the one that hurts performance least.</a:t>
            </a:r>
            <a:endParaRPr lang="en-US" sz="1800" dirty="0"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4669270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10198113" y="2909866"/>
            <a:ext cx="3818573" cy="3641578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433706" y="2884788"/>
            <a:ext cx="3582980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3. Bidirectional Selection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Combine forward and backward. Add and remove features iteratively until no improvement is found.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5FE26A02-BF48-BE3A-0BC6-D1E3F1CF2B05}"/>
              </a:ext>
            </a:extLst>
          </p:cNvPr>
          <p:cNvSpPr/>
          <p:nvPr/>
        </p:nvSpPr>
        <p:spPr>
          <a:xfrm>
            <a:off x="724717" y="2877511"/>
            <a:ext cx="3976821" cy="3694917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14E2EBE4-A5A4-AC65-201B-5D66F292BE53}"/>
              </a:ext>
            </a:extLst>
          </p:cNvPr>
          <p:cNvSpPr/>
          <p:nvPr/>
        </p:nvSpPr>
        <p:spPr>
          <a:xfrm>
            <a:off x="899728" y="2898371"/>
            <a:ext cx="3626798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1. Forward Selection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Start with no features. Add one feature at a time, keeping the one that improves performance most.</a:t>
            </a:r>
            <a:endParaRPr lang="en-US" sz="1800" dirty="0"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7B3384-1B2F-CA17-FE35-2DB170AA8A89}"/>
              </a:ext>
            </a:extLst>
          </p:cNvPr>
          <p:cNvSpPr txBox="1"/>
          <p:nvPr/>
        </p:nvSpPr>
        <p:spPr>
          <a:xfrm>
            <a:off x="677353" y="1194309"/>
            <a:ext cx="12429047" cy="112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Stepwise methods iteratively add or remove features based on model performance metrics such as AIC, BIC, or cross-validation score.</a:t>
            </a: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8715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33890-A50D-07DD-A3CF-8B0BB5761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316" y="762000"/>
            <a:ext cx="9866884" cy="1107996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Recursive Feature Elimination (RFE)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E217A-2C98-93C3-81DD-B0C4A1F77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8120" y="3472486"/>
            <a:ext cx="2840736" cy="1446550"/>
          </a:xfrm>
        </p:spPr>
        <p:txBody>
          <a:bodyPr/>
          <a:lstStyle/>
          <a:p>
            <a:pPr algn="l"/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Step 1</a:t>
            </a:r>
          </a:p>
          <a:p>
            <a:pPr algn="l"/>
            <a:endParaRPr lang="en-US" sz="2400" dirty="0"/>
          </a:p>
          <a:p>
            <a:pPr algn="l"/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Train model on all features</a:t>
            </a:r>
            <a:endParaRPr lang="en-US" sz="1800" dirty="0"/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C1F6D0-DF5A-4621-6057-F5F15D4BBBCE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4138480" y="3472486"/>
            <a:ext cx="3081880" cy="1446550"/>
          </a:xfrm>
        </p:spPr>
        <p:txBody>
          <a:bodyPr/>
          <a:lstStyle/>
          <a:p>
            <a:pPr algn="l"/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Step 2</a:t>
            </a:r>
          </a:p>
          <a:p>
            <a:pPr algn="l"/>
            <a:endParaRPr lang="en-US" sz="2400" dirty="0"/>
          </a:p>
          <a:p>
            <a:pPr algn="l"/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Rank features by importance</a:t>
            </a:r>
            <a:endParaRPr lang="en-US" sz="1800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BD8B54-CBAB-16F5-10D3-94F14E86075F}"/>
              </a:ext>
            </a:extLst>
          </p:cNvPr>
          <p:cNvSpPr txBox="1"/>
          <p:nvPr/>
        </p:nvSpPr>
        <p:spPr>
          <a:xfrm>
            <a:off x="785648" y="1660624"/>
            <a:ext cx="13539951" cy="112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RFE iteratively removes the least important features based on model coefficients or feature importance scores. It is model-agnostic and widely used with linear models and tree ensembles.</a:t>
            </a: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372296-3429-5A42-55E7-77FBFAE163A6}"/>
              </a:ext>
            </a:extLst>
          </p:cNvPr>
          <p:cNvSpPr txBox="1"/>
          <p:nvPr/>
        </p:nvSpPr>
        <p:spPr>
          <a:xfrm>
            <a:off x="7789984" y="3472486"/>
            <a:ext cx="3081880" cy="140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Step 3</a:t>
            </a:r>
          </a:p>
          <a:p>
            <a:pPr marL="0" indent="0" algn="l">
              <a:lnSpc>
                <a:spcPts val="255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algn="l">
              <a:lnSpc>
                <a:spcPts val="255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Remove weakest feature(s)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ts val="255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53A0D6-F743-C1D9-DDEE-A944D615894F}"/>
              </a:ext>
            </a:extLst>
          </p:cNvPr>
          <p:cNvSpPr txBox="1"/>
          <p:nvPr/>
        </p:nvSpPr>
        <p:spPr>
          <a:xfrm>
            <a:off x="11201400" y="3472486"/>
            <a:ext cx="2895600" cy="140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Step 4</a:t>
            </a:r>
          </a:p>
          <a:p>
            <a:pPr marL="0" indent="0" algn="l">
              <a:lnSpc>
                <a:spcPts val="255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algn="l">
              <a:lnSpc>
                <a:spcPts val="255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Repeat until desired count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ts val="255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C8AC3887-C0B6-FAEE-AC0E-4A0C02DB5E8C}"/>
              </a:ext>
            </a:extLst>
          </p:cNvPr>
          <p:cNvSpPr/>
          <p:nvPr/>
        </p:nvSpPr>
        <p:spPr>
          <a:xfrm>
            <a:off x="698949" y="5609244"/>
            <a:ext cx="13042821" cy="1644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200000"/>
              </a:lnSpc>
            </a:pPr>
            <a:r>
              <a:rPr lang="en-IN" b="1" dirty="0">
                <a:latin typeface="PT Serif" panose="020A0603040505020204" pitchFamily="18" charset="77"/>
              </a:rPr>
              <a:t>RFECV (Recursive Feature Elimination with Cross-Validation)</a:t>
            </a:r>
            <a:r>
              <a:rPr lang="en-IN" dirty="0">
                <a:latin typeface="PT Serif" panose="020A0603040505020204" pitchFamily="18" charset="77"/>
              </a:rPr>
              <a:t> in Python is a </a:t>
            </a:r>
            <a:r>
              <a:rPr lang="en-IN" dirty="0" err="1">
                <a:latin typeface="PT Serif" panose="020A0603040505020204" pitchFamily="18" charset="77"/>
              </a:rPr>
              <a:t>scikit</a:t>
            </a:r>
            <a:r>
              <a:rPr lang="en-IN" dirty="0">
                <a:latin typeface="PT Serif" panose="020A0603040505020204" pitchFamily="18" charset="77"/>
              </a:rPr>
              <a:t>-learn utility that recursively removes </a:t>
            </a:r>
          </a:p>
          <a:p>
            <a:pPr>
              <a:lnSpc>
                <a:spcPct val="200000"/>
              </a:lnSpc>
            </a:pPr>
            <a:r>
              <a:rPr lang="en-IN" dirty="0">
                <a:latin typeface="PT Serif" panose="020A0603040505020204" pitchFamily="18" charset="77"/>
              </a:rPr>
              <a:t>the least important features based on a model’s feature importance or coefficients.</a:t>
            </a:r>
          </a:p>
          <a:p>
            <a:br>
              <a:rPr lang="en-IN" dirty="0">
                <a:latin typeface="PT Serif" panose="020A0603040505020204" pitchFamily="18" charset="77"/>
              </a:rPr>
            </a:br>
            <a:r>
              <a:rPr lang="en-IN" dirty="0">
                <a:latin typeface="PT Serif" panose="020A0603040505020204" pitchFamily="18" charset="77"/>
              </a:rPr>
              <a:t>At each step, it evaluates model performance using cross-validation for different feature subsets.</a:t>
            </a:r>
          </a:p>
          <a:p>
            <a:br>
              <a:rPr lang="en-IN" dirty="0">
                <a:latin typeface="PT Serif" panose="020A0603040505020204" pitchFamily="18" charset="77"/>
              </a:rPr>
            </a:br>
            <a:r>
              <a:rPr lang="en-IN" dirty="0">
                <a:latin typeface="PT Serif" panose="020A0603040505020204" pitchFamily="18" charset="77"/>
              </a:rPr>
              <a:t>The number of features that gives the best cross-validated score is automatically selected as optimal.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22CFABBD-03E4-4FDD-7D09-71A1F39D506A}"/>
              </a:ext>
            </a:extLst>
          </p:cNvPr>
          <p:cNvSpPr/>
          <p:nvPr/>
        </p:nvSpPr>
        <p:spPr>
          <a:xfrm>
            <a:off x="2819400" y="4874986"/>
            <a:ext cx="1828800" cy="382814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7EEAC67B-6A36-9A38-E60F-95C5913CDAB5}"/>
              </a:ext>
            </a:extLst>
          </p:cNvPr>
          <p:cNvSpPr/>
          <p:nvPr/>
        </p:nvSpPr>
        <p:spPr>
          <a:xfrm>
            <a:off x="6553200" y="4876800"/>
            <a:ext cx="1828800" cy="382814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F97CE30A-9DEC-256D-33A3-6AEF581F540F}"/>
              </a:ext>
            </a:extLst>
          </p:cNvPr>
          <p:cNvSpPr/>
          <p:nvPr/>
        </p:nvSpPr>
        <p:spPr>
          <a:xfrm>
            <a:off x="10058400" y="4876800"/>
            <a:ext cx="1828800" cy="382814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3237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3CB13-DB79-C3FE-CF26-2D8FC59D7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05" y="430400"/>
            <a:ext cx="13656055" cy="1107996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Hybrid Feature Selection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4CE40-5E92-5486-D9AD-4033F64BD9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0284" y="2655332"/>
            <a:ext cx="5217864" cy="2321982"/>
          </a:xfrm>
        </p:spPr>
        <p:txBody>
          <a:bodyPr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Stage 1: Filter</a:t>
            </a:r>
            <a:endParaRPr lang="en-US" sz="2400" dirty="0"/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Apply a fast statistical test to eliminate clearly irrelevant features and reduce dimensionality.</a:t>
            </a:r>
            <a:endParaRPr lang="en-US" sz="1800" dirty="0"/>
          </a:p>
          <a:p>
            <a:pPr>
              <a:lnSpc>
                <a:spcPct val="200000"/>
              </a:lnSpc>
            </a:pPr>
            <a:endParaRPr lang="en-IN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14A78B-7CBE-B0F1-98DF-424E8E942A52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8408806" y="2655332"/>
            <a:ext cx="5217864" cy="2321982"/>
          </a:xfrm>
        </p:spPr>
        <p:txBody>
          <a:bodyPr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Stage 2: Wrapper</a:t>
            </a:r>
            <a:endParaRPr lang="en-US" sz="2400" dirty="0"/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Use RFE or stepwise selection on the reduced feature set to capture interactions and optimize performance.</a:t>
            </a:r>
            <a:endParaRPr lang="en-US" sz="1800" dirty="0"/>
          </a:p>
          <a:p>
            <a:pPr>
              <a:lnSpc>
                <a:spcPct val="200000"/>
              </a:lnSpc>
            </a:pPr>
            <a:endParaRPr lang="en-IN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0FA959-AD6B-DCDF-5A0F-9A122535A7AB}"/>
              </a:ext>
            </a:extLst>
          </p:cNvPr>
          <p:cNvSpPr txBox="1"/>
          <p:nvPr/>
        </p:nvSpPr>
        <p:spPr>
          <a:xfrm>
            <a:off x="749105" y="1307707"/>
            <a:ext cx="12509695" cy="6107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Hybrid approaches combine the speed of filter methods with the accuracy of wrapper methods. This two-stage process reduces computational cost while maintaining predictive performance.</a:t>
            </a: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This strategy is especially valuable for high-dimensional datasets where pure wrapper methods would be prohibitively slow.</a:t>
            </a:r>
            <a:endParaRPr lang="en-US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9852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717" y="-76200"/>
            <a:ext cx="13656055" cy="1053866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Feature Selection in Tree-Based Models</a:t>
            </a:r>
            <a:endParaRPr lang="en-US" sz="360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E7C49C67-C298-4068-CA76-A4C08A84BF5C}"/>
              </a:ext>
            </a:extLst>
          </p:cNvPr>
          <p:cNvSpPr/>
          <p:nvPr/>
        </p:nvSpPr>
        <p:spPr>
          <a:xfrm>
            <a:off x="5249508" y="2782083"/>
            <a:ext cx="4164095" cy="3694917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EBCEDAE-A091-212D-F1FD-EBC293DAA8C5}"/>
              </a:ext>
            </a:extLst>
          </p:cNvPr>
          <p:cNvSpPr/>
          <p:nvPr/>
        </p:nvSpPr>
        <p:spPr>
          <a:xfrm>
            <a:off x="5482872" y="2754720"/>
            <a:ext cx="3892901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When Selection Helps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Removing weak features can reduce training time and improve interpretability</a:t>
            </a:r>
            <a:endParaRPr lang="en-US" sz="1800" dirty="0"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4593070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10198113" y="2833666"/>
            <a:ext cx="3818573" cy="3641578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433706" y="2808588"/>
            <a:ext cx="3582980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Correlation Issues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Highly correlated features dilute importance scores and complicate interpretation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5FE26A02-BF48-BE3A-0BC6-D1E3F1CF2B05}"/>
              </a:ext>
            </a:extLst>
          </p:cNvPr>
          <p:cNvSpPr/>
          <p:nvPr/>
        </p:nvSpPr>
        <p:spPr>
          <a:xfrm>
            <a:off x="724717" y="2801311"/>
            <a:ext cx="3976821" cy="3694917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14E2EBE4-A5A4-AC65-201B-5D66F292BE53}"/>
              </a:ext>
            </a:extLst>
          </p:cNvPr>
          <p:cNvSpPr/>
          <p:nvPr/>
        </p:nvSpPr>
        <p:spPr>
          <a:xfrm>
            <a:off x="899728" y="2822171"/>
            <a:ext cx="3626798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Built-In Importance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Trees provide feature importance scores based on split quality or permutation tests</a:t>
            </a:r>
            <a:endParaRPr lang="en-US" sz="1800" dirty="0"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7B3384-1B2F-CA17-FE35-2DB170AA8A89}"/>
              </a:ext>
            </a:extLst>
          </p:cNvPr>
          <p:cNvSpPr txBox="1"/>
          <p:nvPr/>
        </p:nvSpPr>
        <p:spPr>
          <a:xfrm>
            <a:off x="677353" y="1118109"/>
            <a:ext cx="12429047" cy="112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Tree-based models like Random Forests and Gradient Boosting Machines can handle many features and learn non-linear relationships. However, they are still affected by noise, redundancy, and correlated predictors.</a:t>
            </a: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12471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object 13">
            <a:extLst>
              <a:ext uri="{FF2B5EF4-FFF2-40B4-BE49-F238E27FC236}">
                <a16:creationId xmlns:a16="http://schemas.microsoft.com/office/drawing/2014/main" id="{7C126948-5B8D-7ED5-D7C7-71AF61722F9A}"/>
              </a:ext>
            </a:extLst>
          </p:cNvPr>
          <p:cNvGrpSpPr/>
          <p:nvPr/>
        </p:nvGrpSpPr>
        <p:grpSpPr>
          <a:xfrm>
            <a:off x="7848599" y="6172200"/>
            <a:ext cx="6294627" cy="1848776"/>
            <a:chOff x="793788" y="4631308"/>
            <a:chExt cx="6437630" cy="2974340"/>
          </a:xfrm>
        </p:grpSpPr>
        <p:sp>
          <p:nvSpPr>
            <p:cNvPr id="29" name="object 14">
              <a:extLst>
                <a:ext uri="{FF2B5EF4-FFF2-40B4-BE49-F238E27FC236}">
                  <a16:creationId xmlns:a16="http://schemas.microsoft.com/office/drawing/2014/main" id="{FA3798F1-4CFE-A67D-AA9B-A0A2145A8A02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30" name="object 15">
              <a:extLst>
                <a:ext uri="{FF2B5EF4-FFF2-40B4-BE49-F238E27FC236}">
                  <a16:creationId xmlns:a16="http://schemas.microsoft.com/office/drawing/2014/main" id="{5073FA25-837C-4BC3-271B-7495196032C6}"/>
                </a:ext>
              </a:extLst>
            </p:cNvPr>
            <p:cNvSpPr/>
            <p:nvPr/>
          </p:nvSpPr>
          <p:spPr>
            <a:xfrm>
              <a:off x="816648" y="4654167"/>
              <a:ext cx="6391910" cy="816279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25" name="object 13">
            <a:extLst>
              <a:ext uri="{FF2B5EF4-FFF2-40B4-BE49-F238E27FC236}">
                <a16:creationId xmlns:a16="http://schemas.microsoft.com/office/drawing/2014/main" id="{3E5A3EBB-25E7-1EE6-4BEB-CF45413C9B0A}"/>
              </a:ext>
            </a:extLst>
          </p:cNvPr>
          <p:cNvGrpSpPr/>
          <p:nvPr/>
        </p:nvGrpSpPr>
        <p:grpSpPr>
          <a:xfrm>
            <a:off x="457200" y="6196262"/>
            <a:ext cx="6294626" cy="1848776"/>
            <a:chOff x="793788" y="4631308"/>
            <a:chExt cx="6437630" cy="2974340"/>
          </a:xfrm>
        </p:grpSpPr>
        <p:sp>
          <p:nvSpPr>
            <p:cNvPr id="26" name="object 14">
              <a:extLst>
                <a:ext uri="{FF2B5EF4-FFF2-40B4-BE49-F238E27FC236}">
                  <a16:creationId xmlns:a16="http://schemas.microsoft.com/office/drawing/2014/main" id="{1837C67F-1C1E-6B60-667A-FC886C2B8900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27" name="object 15">
              <a:extLst>
                <a:ext uri="{FF2B5EF4-FFF2-40B4-BE49-F238E27FC236}">
                  <a16:creationId xmlns:a16="http://schemas.microsoft.com/office/drawing/2014/main" id="{D4F1E9C0-43CF-460F-01BD-334473BEDA16}"/>
                </a:ext>
              </a:extLst>
            </p:cNvPr>
            <p:cNvSpPr/>
            <p:nvPr/>
          </p:nvSpPr>
          <p:spPr>
            <a:xfrm>
              <a:off x="816648" y="4654167"/>
              <a:ext cx="6391910" cy="816279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172" y="-267387"/>
            <a:ext cx="13656055" cy="1053866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Embedded Methods: Integration with Learning</a:t>
            </a:r>
            <a:endParaRPr lang="en-US" sz="360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E7C49C67-C298-4068-CA76-A4C08A84BF5C}"/>
              </a:ext>
            </a:extLst>
          </p:cNvPr>
          <p:cNvSpPr/>
          <p:nvPr/>
        </p:nvSpPr>
        <p:spPr>
          <a:xfrm>
            <a:off x="5249508" y="2232021"/>
            <a:ext cx="4164095" cy="3406779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EBCEDAE-A091-212D-F1FD-EBC293DAA8C5}"/>
              </a:ext>
            </a:extLst>
          </p:cNvPr>
          <p:cNvSpPr/>
          <p:nvPr/>
        </p:nvSpPr>
        <p:spPr>
          <a:xfrm>
            <a:off x="5482872" y="2204657"/>
            <a:ext cx="3892901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Elastic Net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Combines L1 and L2 penalties, balancing feature selection with handling of correlated predictors better than Lasso alone.</a:t>
            </a:r>
            <a:endParaRPr lang="en-US" sz="1800" dirty="0">
              <a:latin typeface="PT Serif" panose="020A0603040505020204" pitchFamily="18" charset="0"/>
            </a:endParaRPr>
          </a:p>
          <a:p>
            <a:pPr>
              <a:lnSpc>
                <a:spcPct val="150000"/>
              </a:lnSpc>
            </a:pP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4593070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10198113" y="2283604"/>
            <a:ext cx="3818573" cy="3357600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433706" y="2258525"/>
            <a:ext cx="3582980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Tree-Based Split Criteria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Decision trees and ensemble methods naturally embed feature selection through their splitting mechanisms and importance scores.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7B3384-1B2F-CA17-FE35-2DB170AA8A89}"/>
              </a:ext>
            </a:extLst>
          </p:cNvPr>
          <p:cNvSpPr txBox="1"/>
          <p:nvPr/>
        </p:nvSpPr>
        <p:spPr>
          <a:xfrm>
            <a:off x="440864" y="688418"/>
            <a:ext cx="12429047" cy="112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Embedded methods perform feature selection as an integral part of the model training process, offering a middle ground between filter and wrapper approaches.</a:t>
            </a: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E0A92B9E-597F-FF75-CF9E-D84E2F0FE811}"/>
              </a:ext>
            </a:extLst>
          </p:cNvPr>
          <p:cNvSpPr/>
          <p:nvPr/>
        </p:nvSpPr>
        <p:spPr>
          <a:xfrm>
            <a:off x="711750" y="2248684"/>
            <a:ext cx="3976821" cy="3406779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541082D0-F8AF-029F-85BB-000EE0294EE3}"/>
              </a:ext>
            </a:extLst>
          </p:cNvPr>
          <p:cNvSpPr/>
          <p:nvPr/>
        </p:nvSpPr>
        <p:spPr>
          <a:xfrm>
            <a:off x="886761" y="2269543"/>
            <a:ext cx="3626798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Lasso (L1 Regularization)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Adds a penalty term equal to the absolute value of coefficients. Drives some coefficients exactly to zero, effectively performing feature selection.</a:t>
            </a:r>
            <a:endParaRPr lang="en-US" sz="1800" dirty="0">
              <a:latin typeface="PT Serif" panose="020A06030405050202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pic>
        <p:nvPicPr>
          <p:cNvPr id="19" name="Image 0" descr="preencoded.png">
            <a:extLst>
              <a:ext uri="{FF2B5EF4-FFF2-40B4-BE49-F238E27FC236}">
                <a16:creationId xmlns:a16="http://schemas.microsoft.com/office/drawing/2014/main" id="{28369315-A691-40DC-5848-F8CD67C19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51" y="4890204"/>
            <a:ext cx="3892391" cy="48708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942C10A-1796-E3F9-7E8C-88611C0A3886}"/>
              </a:ext>
            </a:extLst>
          </p:cNvPr>
          <p:cNvSpPr txBox="1"/>
          <p:nvPr/>
        </p:nvSpPr>
        <p:spPr>
          <a:xfrm>
            <a:off x="553536" y="6172200"/>
            <a:ext cx="4359647" cy="1848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Key Advantages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Computationally efficient</a:t>
            </a:r>
            <a:endParaRPr lang="en-US" sz="1800" dirty="0">
              <a:latin typeface="PT Serif" panose="020A0603040505020204" pitchFamily="18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Balances bias-variance tradeoff</a:t>
            </a:r>
            <a:endParaRPr lang="en-US" sz="1800" dirty="0">
              <a:latin typeface="PT Serif" panose="020A0603040505020204" pitchFamily="18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No separate selection step needed</a:t>
            </a: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CC3A76-361B-40DE-263D-6E7991F6400A}"/>
              </a:ext>
            </a:extLst>
          </p:cNvPr>
          <p:cNvSpPr txBox="1"/>
          <p:nvPr/>
        </p:nvSpPr>
        <p:spPr>
          <a:xfrm>
            <a:off x="7908553" y="6090200"/>
            <a:ext cx="6721847" cy="1848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Limitations</a:t>
            </a:r>
            <a:endParaRPr lang="en-US" sz="2400" dirty="0">
              <a:latin typeface="PT Serif" panose="020A0603040505020204" pitchFamily="18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Model-specific (not transferable)</a:t>
            </a:r>
            <a:endParaRPr lang="en-US" dirty="0">
              <a:latin typeface="PT Serif" panose="020A0603040505020204" pitchFamily="18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Less transparent than filter methods</a:t>
            </a:r>
            <a:endParaRPr lang="en-US" dirty="0">
              <a:latin typeface="PT Serif" panose="020A0603040505020204" pitchFamily="18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May require careful tuning of regularization parameters</a:t>
            </a:r>
            <a:endParaRPr lang="en-US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1928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object 13">
            <a:extLst>
              <a:ext uri="{FF2B5EF4-FFF2-40B4-BE49-F238E27FC236}">
                <a16:creationId xmlns:a16="http://schemas.microsoft.com/office/drawing/2014/main" id="{BB73459B-6469-E48E-523F-49DE8DF5997B}"/>
              </a:ext>
            </a:extLst>
          </p:cNvPr>
          <p:cNvGrpSpPr/>
          <p:nvPr/>
        </p:nvGrpSpPr>
        <p:grpSpPr>
          <a:xfrm>
            <a:off x="371387" y="4343400"/>
            <a:ext cx="6791413" cy="1964084"/>
            <a:chOff x="793788" y="4631308"/>
            <a:chExt cx="6437630" cy="2974340"/>
          </a:xfrm>
        </p:grpSpPr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71616C5E-65C8-6E58-8FBA-B20C0EDC16E8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16" name="object 15">
              <a:extLst>
                <a:ext uri="{FF2B5EF4-FFF2-40B4-BE49-F238E27FC236}">
                  <a16:creationId xmlns:a16="http://schemas.microsoft.com/office/drawing/2014/main" id="{92C0E4B8-3324-4A15-E5FB-5927AF9E1041}"/>
                </a:ext>
              </a:extLst>
            </p:cNvPr>
            <p:cNvSpPr/>
            <p:nvPr/>
          </p:nvSpPr>
          <p:spPr>
            <a:xfrm>
              <a:off x="816648" y="4654166"/>
              <a:ext cx="6391910" cy="1105167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11" name="object 13">
            <a:extLst>
              <a:ext uri="{FF2B5EF4-FFF2-40B4-BE49-F238E27FC236}">
                <a16:creationId xmlns:a16="http://schemas.microsoft.com/office/drawing/2014/main" id="{7EC27F32-5AE2-A457-BF6B-4E11B04E7022}"/>
              </a:ext>
            </a:extLst>
          </p:cNvPr>
          <p:cNvGrpSpPr/>
          <p:nvPr/>
        </p:nvGrpSpPr>
        <p:grpSpPr>
          <a:xfrm>
            <a:off x="7416285" y="4360516"/>
            <a:ext cx="6791413" cy="1964084"/>
            <a:chOff x="793788" y="4631308"/>
            <a:chExt cx="6437630" cy="2974340"/>
          </a:xfrm>
        </p:grpSpPr>
        <p:sp>
          <p:nvSpPr>
            <p:cNvPr id="12" name="object 14">
              <a:extLst>
                <a:ext uri="{FF2B5EF4-FFF2-40B4-BE49-F238E27FC236}">
                  <a16:creationId xmlns:a16="http://schemas.microsoft.com/office/drawing/2014/main" id="{914ADF9D-302C-11BE-1737-EC93DB200849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13" name="object 15">
              <a:extLst>
                <a:ext uri="{FF2B5EF4-FFF2-40B4-BE49-F238E27FC236}">
                  <a16:creationId xmlns:a16="http://schemas.microsoft.com/office/drawing/2014/main" id="{A8A7E959-E8B3-A90E-735F-57A80005DA27}"/>
                </a:ext>
              </a:extLst>
            </p:cNvPr>
            <p:cNvSpPr/>
            <p:nvPr/>
          </p:nvSpPr>
          <p:spPr>
            <a:xfrm>
              <a:off x="816648" y="4654166"/>
              <a:ext cx="6391910" cy="1105167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8" name="object 13">
            <a:extLst>
              <a:ext uri="{FF2B5EF4-FFF2-40B4-BE49-F238E27FC236}">
                <a16:creationId xmlns:a16="http://schemas.microsoft.com/office/drawing/2014/main" id="{8C1FE014-3026-6862-3720-9E77AE2730D2}"/>
              </a:ext>
            </a:extLst>
          </p:cNvPr>
          <p:cNvGrpSpPr/>
          <p:nvPr/>
        </p:nvGrpSpPr>
        <p:grpSpPr>
          <a:xfrm>
            <a:off x="7457987" y="1905000"/>
            <a:ext cx="6791413" cy="1964084"/>
            <a:chOff x="793788" y="4631308"/>
            <a:chExt cx="6437630" cy="2974340"/>
          </a:xfrm>
        </p:grpSpPr>
        <p:sp>
          <p:nvSpPr>
            <p:cNvPr id="9" name="object 14">
              <a:extLst>
                <a:ext uri="{FF2B5EF4-FFF2-40B4-BE49-F238E27FC236}">
                  <a16:creationId xmlns:a16="http://schemas.microsoft.com/office/drawing/2014/main" id="{579AC416-E9EC-951C-0C59-953A86086D25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10" name="object 15">
              <a:extLst>
                <a:ext uri="{FF2B5EF4-FFF2-40B4-BE49-F238E27FC236}">
                  <a16:creationId xmlns:a16="http://schemas.microsoft.com/office/drawing/2014/main" id="{9B115779-7710-6EDD-DFF1-D0FB2943E089}"/>
                </a:ext>
              </a:extLst>
            </p:cNvPr>
            <p:cNvSpPr/>
            <p:nvPr/>
          </p:nvSpPr>
          <p:spPr>
            <a:xfrm>
              <a:off x="816648" y="4654166"/>
              <a:ext cx="6391910" cy="1105167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5" name="object 13">
            <a:extLst>
              <a:ext uri="{FF2B5EF4-FFF2-40B4-BE49-F238E27FC236}">
                <a16:creationId xmlns:a16="http://schemas.microsoft.com/office/drawing/2014/main" id="{8A10505B-9623-8692-6E01-754220E5E1A5}"/>
              </a:ext>
            </a:extLst>
          </p:cNvPr>
          <p:cNvGrpSpPr/>
          <p:nvPr/>
        </p:nvGrpSpPr>
        <p:grpSpPr>
          <a:xfrm>
            <a:off x="304330" y="1922116"/>
            <a:ext cx="6791413" cy="1964084"/>
            <a:chOff x="793788" y="4631308"/>
            <a:chExt cx="6437630" cy="2974340"/>
          </a:xfrm>
        </p:grpSpPr>
        <p:sp>
          <p:nvSpPr>
            <p:cNvPr id="6" name="object 14">
              <a:extLst>
                <a:ext uri="{FF2B5EF4-FFF2-40B4-BE49-F238E27FC236}">
                  <a16:creationId xmlns:a16="http://schemas.microsoft.com/office/drawing/2014/main" id="{CCC4CF37-751F-54B7-DF88-A67DF0F558E8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7" name="object 15">
              <a:extLst>
                <a:ext uri="{FF2B5EF4-FFF2-40B4-BE49-F238E27FC236}">
                  <a16:creationId xmlns:a16="http://schemas.microsoft.com/office/drawing/2014/main" id="{78A747FC-C403-4EA4-6231-4399095DDD25}"/>
                </a:ext>
              </a:extLst>
            </p:cNvPr>
            <p:cNvSpPr/>
            <p:nvPr/>
          </p:nvSpPr>
          <p:spPr>
            <a:xfrm>
              <a:off x="816648" y="4654166"/>
              <a:ext cx="6391910" cy="1105167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AF5101B-081F-A0A0-283B-952EF957F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1123384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Feature Selection Best Practices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0CAFA-D3A1-D9BB-F761-32F74583D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4722639"/>
          </a:xfrm>
        </p:spPr>
        <p:txBody>
          <a:bodyPr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Perform selection within cross-validation</a:t>
            </a:r>
            <a:endParaRPr lang="en-US" sz="2400" dirty="0"/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Avoid data leakage by selecting features independently for each fold</a:t>
            </a:r>
          </a:p>
          <a:p>
            <a:pPr algn="l">
              <a:lnSpc>
                <a:spcPct val="200000"/>
              </a:lnSpc>
            </a:pPr>
            <a:endParaRPr lang="en-US" sz="1800" dirty="0"/>
          </a:p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Reassess after feature engineering</a:t>
            </a:r>
            <a:endParaRPr lang="en-US" sz="2400" dirty="0"/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New derived features may change which original features are most important</a:t>
            </a:r>
            <a:endParaRPr lang="en-US" sz="1800" dirty="0"/>
          </a:p>
          <a:p>
            <a:pPr>
              <a:lnSpc>
                <a:spcPct val="200000"/>
              </a:lnSpc>
            </a:pPr>
            <a:endParaRPr lang="en-IN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CC7E2B-A810-56BD-EE5C-66DF6AEC3FED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4722639"/>
          </a:xfrm>
        </p:spPr>
        <p:txBody>
          <a:bodyPr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Combine domain knowledge with statistics</a:t>
            </a:r>
            <a:endParaRPr lang="en-US" sz="2400" dirty="0"/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Use subject-matter expertise to validate or override automated methods</a:t>
            </a:r>
          </a:p>
          <a:p>
            <a:pPr algn="l">
              <a:lnSpc>
                <a:spcPct val="200000"/>
              </a:lnSpc>
            </a:pPr>
            <a:endParaRPr lang="en-US" sz="1800" dirty="0"/>
          </a:p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Document your selection process</a:t>
            </a:r>
            <a:endParaRPr lang="en-US" sz="2400" dirty="0"/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Maintain transparency and reproducibility for future model iterations</a:t>
            </a:r>
            <a:endParaRPr lang="en-US" sz="1800" dirty="0"/>
          </a:p>
          <a:p>
            <a:pPr>
              <a:lnSpc>
                <a:spcPct val="200000"/>
              </a:lnSpc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1394277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243B4-9BAE-457B-B72B-ED13993D6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345" y="629216"/>
            <a:ext cx="13656055" cy="1123384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Avoiding Data Leakage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97C11F-6A35-81F1-D1AC-F1ECA7DE5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7800" y="1447800"/>
            <a:ext cx="10820400" cy="5645969"/>
          </a:xfrm>
        </p:spPr>
        <p:txBody>
          <a:bodyPr/>
          <a:lstStyle/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Data leakage occurs when information from the test set influences feature selection, leading to overly optimistic performance estimates.</a:t>
            </a:r>
          </a:p>
          <a:p>
            <a:pPr algn="l">
              <a:lnSpc>
                <a:spcPct val="200000"/>
              </a:lnSpc>
            </a:pPr>
            <a:endParaRPr lang="en-US" sz="1800" dirty="0"/>
          </a:p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Critical Rule</a:t>
            </a:r>
            <a:endParaRPr lang="en-US" sz="2400" dirty="0"/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Feature selection must be performed </a:t>
            </a:r>
            <a:r>
              <a:rPr lang="en-US" sz="18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independently</a:t>
            </a: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 within each cross-validation fold, not on the entire dataset before splitting.</a:t>
            </a:r>
          </a:p>
          <a:p>
            <a:pPr algn="l">
              <a:lnSpc>
                <a:spcPct val="200000"/>
              </a:lnSpc>
            </a:pPr>
            <a:endParaRPr lang="en-US" sz="1800" dirty="0"/>
          </a:p>
          <a:p>
            <a:pPr algn="l">
              <a:lnSpc>
                <a:spcPct val="200000"/>
              </a:lnSpc>
            </a:pPr>
            <a:r>
              <a:rPr lang="en-US" sz="1800" b="1" dirty="0">
                <a:solidFill>
                  <a:srgbClr val="000000"/>
                </a:solidFill>
                <a:ea typeface="DM Sans" pitchFamily="34" charset="-122"/>
                <a:cs typeface="DM Sans" pitchFamily="34" charset="-120"/>
              </a:rPr>
              <a:t>Example of Leakage:</a:t>
            </a:r>
            <a:r>
              <a:rPr lang="en-US" sz="1800" dirty="0">
                <a:solidFill>
                  <a:srgbClr val="000000"/>
                </a:solidFill>
                <a:ea typeface="DM Sans" pitchFamily="34" charset="-122"/>
                <a:cs typeface="DM Sans" pitchFamily="34" charset="-120"/>
              </a:rPr>
              <a:t> Selecting features using the full dataset, then splitting into train/test. The test set influenced which features were chosen, biasing performance estimates upward.</a:t>
            </a:r>
            <a:endParaRPr lang="en-US" sz="1800" dirty="0"/>
          </a:p>
          <a:p>
            <a:pPr>
              <a:lnSpc>
                <a:spcPct val="200000"/>
              </a:lnSpc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7163328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object 13">
            <a:extLst>
              <a:ext uri="{FF2B5EF4-FFF2-40B4-BE49-F238E27FC236}">
                <a16:creationId xmlns:a16="http://schemas.microsoft.com/office/drawing/2014/main" id="{BB73459B-6469-E48E-523F-49DE8DF5997B}"/>
              </a:ext>
            </a:extLst>
          </p:cNvPr>
          <p:cNvGrpSpPr/>
          <p:nvPr/>
        </p:nvGrpSpPr>
        <p:grpSpPr>
          <a:xfrm>
            <a:off x="371387" y="4343400"/>
            <a:ext cx="6791413" cy="1964084"/>
            <a:chOff x="793788" y="4631308"/>
            <a:chExt cx="6437630" cy="2974340"/>
          </a:xfrm>
        </p:grpSpPr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71616C5E-65C8-6E58-8FBA-B20C0EDC16E8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16" name="object 15">
              <a:extLst>
                <a:ext uri="{FF2B5EF4-FFF2-40B4-BE49-F238E27FC236}">
                  <a16:creationId xmlns:a16="http://schemas.microsoft.com/office/drawing/2014/main" id="{92C0E4B8-3324-4A15-E5FB-5927AF9E1041}"/>
                </a:ext>
              </a:extLst>
            </p:cNvPr>
            <p:cNvSpPr/>
            <p:nvPr/>
          </p:nvSpPr>
          <p:spPr>
            <a:xfrm>
              <a:off x="816648" y="4654166"/>
              <a:ext cx="6391910" cy="1105167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11" name="object 13">
            <a:extLst>
              <a:ext uri="{FF2B5EF4-FFF2-40B4-BE49-F238E27FC236}">
                <a16:creationId xmlns:a16="http://schemas.microsoft.com/office/drawing/2014/main" id="{7EC27F32-5AE2-A457-BF6B-4E11B04E7022}"/>
              </a:ext>
            </a:extLst>
          </p:cNvPr>
          <p:cNvGrpSpPr/>
          <p:nvPr/>
        </p:nvGrpSpPr>
        <p:grpSpPr>
          <a:xfrm>
            <a:off x="7416285" y="4360516"/>
            <a:ext cx="6791413" cy="1964084"/>
            <a:chOff x="793788" y="4631308"/>
            <a:chExt cx="6437630" cy="2974340"/>
          </a:xfrm>
        </p:grpSpPr>
        <p:sp>
          <p:nvSpPr>
            <p:cNvPr id="12" name="object 14">
              <a:extLst>
                <a:ext uri="{FF2B5EF4-FFF2-40B4-BE49-F238E27FC236}">
                  <a16:creationId xmlns:a16="http://schemas.microsoft.com/office/drawing/2014/main" id="{914ADF9D-302C-11BE-1737-EC93DB200849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13" name="object 15">
              <a:extLst>
                <a:ext uri="{FF2B5EF4-FFF2-40B4-BE49-F238E27FC236}">
                  <a16:creationId xmlns:a16="http://schemas.microsoft.com/office/drawing/2014/main" id="{A8A7E959-E8B3-A90E-735F-57A80005DA27}"/>
                </a:ext>
              </a:extLst>
            </p:cNvPr>
            <p:cNvSpPr/>
            <p:nvPr/>
          </p:nvSpPr>
          <p:spPr>
            <a:xfrm>
              <a:off x="816648" y="4654166"/>
              <a:ext cx="6391910" cy="1105167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8" name="object 13">
            <a:extLst>
              <a:ext uri="{FF2B5EF4-FFF2-40B4-BE49-F238E27FC236}">
                <a16:creationId xmlns:a16="http://schemas.microsoft.com/office/drawing/2014/main" id="{8C1FE014-3026-6862-3720-9E77AE2730D2}"/>
              </a:ext>
            </a:extLst>
          </p:cNvPr>
          <p:cNvGrpSpPr/>
          <p:nvPr/>
        </p:nvGrpSpPr>
        <p:grpSpPr>
          <a:xfrm>
            <a:off x="7457987" y="1905000"/>
            <a:ext cx="6791413" cy="1964084"/>
            <a:chOff x="793788" y="4631308"/>
            <a:chExt cx="6437630" cy="2974340"/>
          </a:xfrm>
        </p:grpSpPr>
        <p:sp>
          <p:nvSpPr>
            <p:cNvPr id="9" name="object 14">
              <a:extLst>
                <a:ext uri="{FF2B5EF4-FFF2-40B4-BE49-F238E27FC236}">
                  <a16:creationId xmlns:a16="http://schemas.microsoft.com/office/drawing/2014/main" id="{579AC416-E9EC-951C-0C59-953A86086D25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10" name="object 15">
              <a:extLst>
                <a:ext uri="{FF2B5EF4-FFF2-40B4-BE49-F238E27FC236}">
                  <a16:creationId xmlns:a16="http://schemas.microsoft.com/office/drawing/2014/main" id="{9B115779-7710-6EDD-DFF1-D0FB2943E089}"/>
                </a:ext>
              </a:extLst>
            </p:cNvPr>
            <p:cNvSpPr/>
            <p:nvPr/>
          </p:nvSpPr>
          <p:spPr>
            <a:xfrm>
              <a:off x="816648" y="4654166"/>
              <a:ext cx="6391910" cy="1105167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5" name="object 13">
            <a:extLst>
              <a:ext uri="{FF2B5EF4-FFF2-40B4-BE49-F238E27FC236}">
                <a16:creationId xmlns:a16="http://schemas.microsoft.com/office/drawing/2014/main" id="{8A10505B-9623-8692-6E01-754220E5E1A5}"/>
              </a:ext>
            </a:extLst>
          </p:cNvPr>
          <p:cNvGrpSpPr/>
          <p:nvPr/>
        </p:nvGrpSpPr>
        <p:grpSpPr>
          <a:xfrm>
            <a:off x="304330" y="1922116"/>
            <a:ext cx="6791413" cy="1964084"/>
            <a:chOff x="793788" y="4631308"/>
            <a:chExt cx="6437630" cy="2974340"/>
          </a:xfrm>
        </p:grpSpPr>
        <p:sp>
          <p:nvSpPr>
            <p:cNvPr id="6" name="object 14">
              <a:extLst>
                <a:ext uri="{FF2B5EF4-FFF2-40B4-BE49-F238E27FC236}">
                  <a16:creationId xmlns:a16="http://schemas.microsoft.com/office/drawing/2014/main" id="{CCC4CF37-751F-54B7-DF88-A67DF0F558E8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7" name="object 15">
              <a:extLst>
                <a:ext uri="{FF2B5EF4-FFF2-40B4-BE49-F238E27FC236}">
                  <a16:creationId xmlns:a16="http://schemas.microsoft.com/office/drawing/2014/main" id="{78A747FC-C403-4EA4-6231-4399095DDD25}"/>
                </a:ext>
              </a:extLst>
            </p:cNvPr>
            <p:cNvSpPr/>
            <p:nvPr/>
          </p:nvSpPr>
          <p:spPr>
            <a:xfrm>
              <a:off x="816648" y="4654166"/>
              <a:ext cx="6391910" cy="1105167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AF5101B-081F-A0A0-283B-952EF957F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610103"/>
          </a:xfrm>
        </p:spPr>
        <p:txBody>
          <a:bodyPr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Common Pitfalls to Avoid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0CAFA-D3A1-D9BB-F761-32F74583D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4168642"/>
          </a:xfrm>
        </p:spPr>
        <p:txBody>
          <a:bodyPr/>
          <a:lstStyle/>
          <a:p>
            <a:pPr marL="457200" indent="-457200" algn="ctr">
              <a:lnSpc>
                <a:spcPct val="200000"/>
              </a:lnSpc>
              <a:buAutoNum type="arabicPeriod"/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Selecting features before splitting data</a:t>
            </a:r>
            <a:endParaRPr lang="en-US" sz="24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Causes leakage and inflates performance metrics</a:t>
            </a:r>
            <a:endParaRPr lang="en-US" sz="1800" dirty="0"/>
          </a:p>
          <a:p>
            <a:pPr algn="l">
              <a:lnSpc>
                <a:spcPct val="200000"/>
              </a:lnSpc>
            </a:pPr>
            <a:endParaRPr lang="en-US" sz="1800" dirty="0"/>
          </a:p>
          <a:p>
            <a:pPr algn="l">
              <a:lnSpc>
                <a:spcPct val="200000"/>
              </a:lnSpc>
            </a:pPr>
            <a:endParaRPr lang="en-US" sz="1800" dirty="0"/>
          </a:p>
          <a:p>
            <a:pPr algn="ctr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3. Ignoring multicollinearity</a:t>
            </a:r>
            <a:endParaRPr lang="en-US" sz="24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Highly correlated features confuse importance rankings</a:t>
            </a:r>
            <a:endParaRPr lang="en-US" sz="1800" dirty="0"/>
          </a:p>
          <a:p>
            <a:pPr>
              <a:lnSpc>
                <a:spcPct val="200000"/>
              </a:lnSpc>
            </a:pPr>
            <a:endParaRPr lang="en-IN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CC7E2B-A810-56BD-EE5C-66DF6AEC3FED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7550200" y="1937210"/>
            <a:ext cx="6364224" cy="4168642"/>
          </a:xfrm>
        </p:spPr>
        <p:txBody>
          <a:bodyPr/>
          <a:lstStyle/>
          <a:p>
            <a:pPr algn="ctr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2. Using wrapper methods on huge datasets</a:t>
            </a:r>
            <a:endParaRPr lang="en-US" sz="24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Computationally infeasible without dimension reduction first</a:t>
            </a:r>
            <a:endParaRPr lang="en-US" sz="1800" dirty="0"/>
          </a:p>
          <a:p>
            <a:pPr algn="l">
              <a:lnSpc>
                <a:spcPct val="200000"/>
              </a:lnSpc>
            </a:pPr>
            <a:endParaRPr lang="en-US" sz="1800" dirty="0"/>
          </a:p>
          <a:p>
            <a:pPr algn="l">
              <a:lnSpc>
                <a:spcPct val="200000"/>
              </a:lnSpc>
            </a:pPr>
            <a:endParaRPr lang="en-US" sz="1800" dirty="0"/>
          </a:p>
          <a:p>
            <a:pPr algn="ctr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4. Over-relying on automated methods</a:t>
            </a:r>
            <a:endParaRPr lang="en-US" sz="24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Domain expertise should validate statistical findings</a:t>
            </a:r>
            <a:endParaRPr lang="en-US" sz="1800" dirty="0"/>
          </a:p>
          <a:p>
            <a:pPr>
              <a:lnSpc>
                <a:spcPct val="200000"/>
              </a:lnSpc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8375926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object 13">
            <a:extLst>
              <a:ext uri="{FF2B5EF4-FFF2-40B4-BE49-F238E27FC236}">
                <a16:creationId xmlns:a16="http://schemas.microsoft.com/office/drawing/2014/main" id="{BB73459B-6469-E48E-523F-49DE8DF5997B}"/>
              </a:ext>
            </a:extLst>
          </p:cNvPr>
          <p:cNvGrpSpPr/>
          <p:nvPr/>
        </p:nvGrpSpPr>
        <p:grpSpPr>
          <a:xfrm>
            <a:off x="371387" y="4343400"/>
            <a:ext cx="6791413" cy="1964084"/>
            <a:chOff x="793788" y="4631308"/>
            <a:chExt cx="6437630" cy="2974340"/>
          </a:xfrm>
        </p:grpSpPr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71616C5E-65C8-6E58-8FBA-B20C0EDC16E8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16" name="object 15">
              <a:extLst>
                <a:ext uri="{FF2B5EF4-FFF2-40B4-BE49-F238E27FC236}">
                  <a16:creationId xmlns:a16="http://schemas.microsoft.com/office/drawing/2014/main" id="{92C0E4B8-3324-4A15-E5FB-5927AF9E1041}"/>
                </a:ext>
              </a:extLst>
            </p:cNvPr>
            <p:cNvSpPr/>
            <p:nvPr/>
          </p:nvSpPr>
          <p:spPr>
            <a:xfrm>
              <a:off x="816648" y="4654166"/>
              <a:ext cx="6391910" cy="1105167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11" name="object 13">
            <a:extLst>
              <a:ext uri="{FF2B5EF4-FFF2-40B4-BE49-F238E27FC236}">
                <a16:creationId xmlns:a16="http://schemas.microsoft.com/office/drawing/2014/main" id="{7EC27F32-5AE2-A457-BF6B-4E11B04E7022}"/>
              </a:ext>
            </a:extLst>
          </p:cNvPr>
          <p:cNvGrpSpPr/>
          <p:nvPr/>
        </p:nvGrpSpPr>
        <p:grpSpPr>
          <a:xfrm>
            <a:off x="7416285" y="4360516"/>
            <a:ext cx="6791413" cy="1964084"/>
            <a:chOff x="793788" y="4631308"/>
            <a:chExt cx="6437630" cy="2974340"/>
          </a:xfrm>
        </p:grpSpPr>
        <p:sp>
          <p:nvSpPr>
            <p:cNvPr id="12" name="object 14">
              <a:extLst>
                <a:ext uri="{FF2B5EF4-FFF2-40B4-BE49-F238E27FC236}">
                  <a16:creationId xmlns:a16="http://schemas.microsoft.com/office/drawing/2014/main" id="{914ADF9D-302C-11BE-1737-EC93DB200849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13" name="object 15">
              <a:extLst>
                <a:ext uri="{FF2B5EF4-FFF2-40B4-BE49-F238E27FC236}">
                  <a16:creationId xmlns:a16="http://schemas.microsoft.com/office/drawing/2014/main" id="{A8A7E959-E8B3-A90E-735F-57A80005DA27}"/>
                </a:ext>
              </a:extLst>
            </p:cNvPr>
            <p:cNvSpPr/>
            <p:nvPr/>
          </p:nvSpPr>
          <p:spPr>
            <a:xfrm>
              <a:off x="816648" y="4654166"/>
              <a:ext cx="6391910" cy="1105167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8" name="object 13">
            <a:extLst>
              <a:ext uri="{FF2B5EF4-FFF2-40B4-BE49-F238E27FC236}">
                <a16:creationId xmlns:a16="http://schemas.microsoft.com/office/drawing/2014/main" id="{8C1FE014-3026-6862-3720-9E77AE2730D2}"/>
              </a:ext>
            </a:extLst>
          </p:cNvPr>
          <p:cNvGrpSpPr/>
          <p:nvPr/>
        </p:nvGrpSpPr>
        <p:grpSpPr>
          <a:xfrm>
            <a:off x="7457987" y="1905000"/>
            <a:ext cx="6791413" cy="1964084"/>
            <a:chOff x="793788" y="4631308"/>
            <a:chExt cx="6437630" cy="2974340"/>
          </a:xfrm>
        </p:grpSpPr>
        <p:sp>
          <p:nvSpPr>
            <p:cNvPr id="9" name="object 14">
              <a:extLst>
                <a:ext uri="{FF2B5EF4-FFF2-40B4-BE49-F238E27FC236}">
                  <a16:creationId xmlns:a16="http://schemas.microsoft.com/office/drawing/2014/main" id="{579AC416-E9EC-951C-0C59-953A86086D25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10" name="object 15">
              <a:extLst>
                <a:ext uri="{FF2B5EF4-FFF2-40B4-BE49-F238E27FC236}">
                  <a16:creationId xmlns:a16="http://schemas.microsoft.com/office/drawing/2014/main" id="{9B115779-7710-6EDD-DFF1-D0FB2943E089}"/>
                </a:ext>
              </a:extLst>
            </p:cNvPr>
            <p:cNvSpPr/>
            <p:nvPr/>
          </p:nvSpPr>
          <p:spPr>
            <a:xfrm>
              <a:off x="816648" y="4654166"/>
              <a:ext cx="6391910" cy="1105167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5" name="object 13">
            <a:extLst>
              <a:ext uri="{FF2B5EF4-FFF2-40B4-BE49-F238E27FC236}">
                <a16:creationId xmlns:a16="http://schemas.microsoft.com/office/drawing/2014/main" id="{8A10505B-9623-8692-6E01-754220E5E1A5}"/>
              </a:ext>
            </a:extLst>
          </p:cNvPr>
          <p:cNvGrpSpPr/>
          <p:nvPr/>
        </p:nvGrpSpPr>
        <p:grpSpPr>
          <a:xfrm>
            <a:off x="304330" y="1922116"/>
            <a:ext cx="6791413" cy="1964084"/>
            <a:chOff x="793788" y="4631308"/>
            <a:chExt cx="6437630" cy="2974340"/>
          </a:xfrm>
        </p:grpSpPr>
        <p:sp>
          <p:nvSpPr>
            <p:cNvPr id="6" name="object 14">
              <a:extLst>
                <a:ext uri="{FF2B5EF4-FFF2-40B4-BE49-F238E27FC236}">
                  <a16:creationId xmlns:a16="http://schemas.microsoft.com/office/drawing/2014/main" id="{CCC4CF37-751F-54B7-DF88-A67DF0F558E8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7" name="object 15">
              <a:extLst>
                <a:ext uri="{FF2B5EF4-FFF2-40B4-BE49-F238E27FC236}">
                  <a16:creationId xmlns:a16="http://schemas.microsoft.com/office/drawing/2014/main" id="{78A747FC-C403-4EA4-6231-4399095DDD25}"/>
                </a:ext>
              </a:extLst>
            </p:cNvPr>
            <p:cNvSpPr/>
            <p:nvPr/>
          </p:nvSpPr>
          <p:spPr>
            <a:xfrm>
              <a:off x="816648" y="4654166"/>
              <a:ext cx="6391910" cy="1105167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AF5101B-081F-A0A0-283B-952EF957F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570187"/>
            <a:ext cx="13656055" cy="610103"/>
          </a:xfrm>
        </p:spPr>
        <p:txBody>
          <a:bodyPr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0CAFA-D3A1-D9BB-F761-32F74583D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6454" y="1875692"/>
            <a:ext cx="6599288" cy="4168642"/>
          </a:xfrm>
        </p:spPr>
        <p:txBody>
          <a:bodyPr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1. No Universal Best Method</a:t>
            </a:r>
            <a:endParaRPr lang="en-US" sz="24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Choice depends on dataset size, model type, and interpretability needs</a:t>
            </a:r>
            <a:endParaRPr lang="en-US" sz="1800" dirty="0"/>
          </a:p>
          <a:p>
            <a:pPr algn="l">
              <a:lnSpc>
                <a:spcPct val="200000"/>
              </a:lnSpc>
            </a:pPr>
            <a:endParaRPr lang="en-US" sz="1800" dirty="0"/>
          </a:p>
          <a:p>
            <a:pPr algn="ctr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3. Avoid Data Leakage</a:t>
            </a:r>
            <a:endParaRPr lang="en-US" sz="24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Always perform selection within cross-validation loops</a:t>
            </a:r>
            <a:endParaRPr lang="en-US" sz="1800" dirty="0"/>
          </a:p>
          <a:p>
            <a:pPr>
              <a:lnSpc>
                <a:spcPct val="200000"/>
              </a:lnSpc>
            </a:pPr>
            <a:endParaRPr lang="en-IN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CC7E2B-A810-56BD-EE5C-66DF6AEC3FED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7671581" y="1937210"/>
            <a:ext cx="6364224" cy="4168642"/>
          </a:xfrm>
        </p:spPr>
        <p:txBody>
          <a:bodyPr/>
          <a:lstStyle/>
          <a:p>
            <a:pPr algn="ctr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2. Feature Selection is Critical</a:t>
            </a:r>
            <a:endParaRPr lang="en-US" sz="24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It improves generalization, reduces overfitting, and speeds up training</a:t>
            </a:r>
            <a:endParaRPr lang="en-US" sz="1800" dirty="0"/>
          </a:p>
          <a:p>
            <a:pPr algn="l">
              <a:lnSpc>
                <a:spcPct val="200000"/>
              </a:lnSpc>
            </a:pPr>
            <a:endParaRPr lang="en-US" sz="1800" dirty="0"/>
          </a:p>
          <a:p>
            <a:pPr algn="ctr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4. Balance Speed and Accuracy</a:t>
            </a:r>
            <a:endParaRPr lang="en-US" sz="24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Hybrid methods often provide the best trade-off</a:t>
            </a:r>
            <a:endParaRPr lang="en-US" sz="1800" dirty="0"/>
          </a:p>
          <a:p>
            <a:pPr>
              <a:lnSpc>
                <a:spcPct val="200000"/>
              </a:lnSpc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769295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889</TotalTime>
  <Words>1713</Words>
  <Application>Microsoft Macintosh PowerPoint</Application>
  <PresentationFormat>Custom</PresentationFormat>
  <Paragraphs>248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DM Sans</vt:lpstr>
      <vt:lpstr>Lucida Sans Unicode</vt:lpstr>
      <vt:lpstr>PT Serif</vt:lpstr>
      <vt:lpstr>PT Serif Light</vt:lpstr>
      <vt:lpstr>Office Theme</vt:lpstr>
      <vt:lpstr>PowerPoint Presentation</vt:lpstr>
      <vt:lpstr>PowerPoint Presentation</vt:lpstr>
      <vt:lpstr>What is Feature Selection?</vt:lpstr>
      <vt:lpstr>Feature Selection vs Feature Engineering </vt:lpstr>
      <vt:lpstr>When Feature Selection is NOT Required</vt:lpstr>
      <vt:lpstr>Three Categories of Feature Selection </vt:lpstr>
      <vt:lpstr>Filter Methods: Core Concept</vt:lpstr>
      <vt:lpstr>Variance Threshold/ Correlation Threshold </vt:lpstr>
      <vt:lpstr>Filter Method: Chi-Square Test </vt:lpstr>
      <vt:lpstr>ANOVA and F-Test</vt:lpstr>
      <vt:lpstr>Filter Method: Information Value (IV)</vt:lpstr>
      <vt:lpstr>Wrapper Methods Overview </vt:lpstr>
      <vt:lpstr>Stepwise Selection</vt:lpstr>
      <vt:lpstr>Recursive Feature Elimination (RFE) </vt:lpstr>
      <vt:lpstr>Hybrid Feature Selection </vt:lpstr>
      <vt:lpstr>Feature Selection in Tree-Based Models</vt:lpstr>
      <vt:lpstr>Embedded Methods: Integration with Learning</vt:lpstr>
      <vt:lpstr>Feature Selection Best Practices </vt:lpstr>
      <vt:lpstr>Avoiding Data Leakage </vt:lpstr>
      <vt:lpstr>Common Pitfalls to Avoid</vt:lpstr>
      <vt:lpstr>Key Takeaways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Vinayak Deshpande</cp:lastModifiedBy>
  <cp:revision>289</cp:revision>
  <dcterms:created xsi:type="dcterms:W3CDTF">2025-08-01T06:43:07Z</dcterms:created>
  <dcterms:modified xsi:type="dcterms:W3CDTF">2026-01-28T09:45:02Z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2025-08-01T00:00:00Z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2025-08-01T00:00:00Z</vt:filetime>
  </property>
  <property fmtid="{D5CDD505-2E9C-101B-9397-08002B2CF9AE}" pid="5" name="Producer">
    <vt:lpwstr>Microsoft® PowerPoint® 2021</vt:lpwstr>
  </property>
</Properties>
</file>