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74" r:id="rId2"/>
    <p:sldId id="275" r:id="rId3"/>
    <p:sldId id="328" r:id="rId4"/>
    <p:sldId id="292" r:id="rId5"/>
    <p:sldId id="329" r:id="rId6"/>
    <p:sldId id="330" r:id="rId7"/>
    <p:sldId id="331" r:id="rId8"/>
    <p:sldId id="300" r:id="rId9"/>
    <p:sldId id="332" r:id="rId10"/>
    <p:sldId id="315" r:id="rId11"/>
    <p:sldId id="333" r:id="rId12"/>
    <p:sldId id="334" r:id="rId13"/>
    <p:sldId id="335" r:id="rId14"/>
    <p:sldId id="336" r:id="rId15"/>
    <p:sldId id="337" r:id="rId16"/>
    <p:sldId id="342" r:id="rId17"/>
    <p:sldId id="345" r:id="rId18"/>
    <p:sldId id="338" r:id="rId19"/>
    <p:sldId id="339" r:id="rId20"/>
    <p:sldId id="346" r:id="rId21"/>
    <p:sldId id="340" r:id="rId22"/>
    <p:sldId id="341" r:id="rId23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2891" autoAdjust="0"/>
  </p:normalViewPr>
  <p:slideViewPr>
    <p:cSldViewPr>
      <p:cViewPr varScale="1">
        <p:scale>
          <a:sx n="58" d="100"/>
          <a:sy n="58" d="100"/>
        </p:scale>
        <p:origin x="519" y="3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42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29-01-2026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29-01-2026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29-01-2026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29-01-2026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43468" y="2133600"/>
            <a:ext cx="8074166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s-ES" sz="4100" dirty="0">
                <a:solidFill>
                  <a:schemeClr val="tx1"/>
                </a:solidFill>
                <a:latin typeface="PT Serif" panose="020A0603040505020204" pitchFamily="18" charset="0"/>
              </a:rPr>
              <a:t>Factor </a:t>
            </a:r>
            <a:r>
              <a:rPr lang="es-ES" sz="4100" dirty="0" err="1">
                <a:solidFill>
                  <a:schemeClr val="tx1"/>
                </a:solidFill>
                <a:latin typeface="PT Serif" panose="020A0603040505020204" pitchFamily="18" charset="0"/>
              </a:rPr>
              <a:t>Analysis</a:t>
            </a:r>
            <a:endParaRPr lang="en-IN" sz="41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43468" y="3789164"/>
            <a:ext cx="8074166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s-ES" sz="2000" dirty="0" err="1">
                <a:solidFill>
                  <a:schemeClr val="tx1"/>
                </a:solidFill>
                <a:latin typeface="PT Serif" panose="020A0603040505020204" pitchFamily="18" charset="0"/>
              </a:rPr>
              <a:t>Extracting</a:t>
            </a:r>
            <a:r>
              <a:rPr lang="es-ES" sz="2000" dirty="0">
                <a:solidFill>
                  <a:schemeClr val="tx1"/>
                </a:solidFill>
                <a:latin typeface="PT Serif" panose="020A0603040505020204" pitchFamily="18" charset="0"/>
              </a:rPr>
              <a:t> </a:t>
            </a:r>
            <a:r>
              <a:rPr lang="es-ES" sz="2000" dirty="0" err="1">
                <a:solidFill>
                  <a:schemeClr val="tx1"/>
                </a:solidFill>
                <a:latin typeface="PT Serif" panose="020A0603040505020204" pitchFamily="18" charset="0"/>
              </a:rPr>
              <a:t>Hidden</a:t>
            </a:r>
            <a:r>
              <a:rPr lang="es-ES" sz="2000" dirty="0">
                <a:solidFill>
                  <a:schemeClr val="tx1"/>
                </a:solidFill>
                <a:latin typeface="PT Serif" panose="020A0603040505020204" pitchFamily="18" charset="0"/>
              </a:rPr>
              <a:t> </a:t>
            </a:r>
            <a:r>
              <a:rPr lang="es-ES" sz="2000" dirty="0" err="1">
                <a:solidFill>
                  <a:schemeClr val="tx1"/>
                </a:solidFill>
                <a:latin typeface="PT Serif" panose="020A0603040505020204" pitchFamily="18" charset="0"/>
              </a:rPr>
              <a:t>Factors</a:t>
            </a:r>
            <a:r>
              <a:rPr lang="es-ES" sz="2000" dirty="0">
                <a:solidFill>
                  <a:schemeClr val="tx1"/>
                </a:solidFill>
                <a:latin typeface="PT Serif" panose="020A0603040505020204" pitchFamily="18" charset="0"/>
              </a:rPr>
              <a:t> in </a:t>
            </a:r>
            <a:r>
              <a:rPr lang="es-ES" sz="2000" dirty="0" err="1">
                <a:solidFill>
                  <a:schemeClr val="tx1"/>
                </a:solidFill>
                <a:latin typeface="PT Serif" panose="020A0603040505020204" pitchFamily="18" charset="0"/>
              </a:rPr>
              <a:t>Multivariate</a:t>
            </a:r>
            <a:r>
              <a:rPr lang="es-ES" sz="2000" dirty="0">
                <a:solidFill>
                  <a:schemeClr val="tx1"/>
                </a:solidFill>
                <a:latin typeface="PT Serif" panose="020A0603040505020204" pitchFamily="18" charset="0"/>
              </a:rPr>
              <a:t> Data</a:t>
            </a:r>
            <a:endParaRPr lang="en-IN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381000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14300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178510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1959412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What is Factor Analysis 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14300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178510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1916906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Factor Analysis – Statistical Model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272831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08336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257669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Common Factor and Unique Factor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272831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08336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257669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42268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1EAC6A6-8C3F-4954-512B-A2B54B6C5FB6}"/>
              </a:ext>
            </a:extLst>
          </p:cNvPr>
          <p:cNvSpPr/>
          <p:nvPr/>
        </p:nvSpPr>
        <p:spPr>
          <a:xfrm>
            <a:off x="793790" y="458188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4756190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Estimation of Factor Loadings</a:t>
            </a: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270186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Factor Analysis Assumptions</a:t>
            </a: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B9F5E8B-045A-3A25-2933-25E0399D6449}"/>
              </a:ext>
            </a:extLst>
          </p:cNvPr>
          <p:cNvSpPr/>
          <p:nvPr/>
        </p:nvSpPr>
        <p:spPr>
          <a:xfrm>
            <a:off x="7391400" y="42577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EC1DCEC7-625C-4004-BE4E-377DFDBDBFBA}"/>
              </a:ext>
            </a:extLst>
          </p:cNvPr>
          <p:cNvSpPr/>
          <p:nvPr/>
        </p:nvSpPr>
        <p:spPr>
          <a:xfrm>
            <a:off x="7391400" y="46128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78A8F84-E258-6237-EABC-99F514D623A1}"/>
              </a:ext>
            </a:extLst>
          </p:cNvPr>
          <p:cNvSpPr/>
          <p:nvPr/>
        </p:nvSpPr>
        <p:spPr>
          <a:xfrm>
            <a:off x="7391400" y="4799648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Interpretation of Factor Loadings</a:t>
            </a: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95E4F4F-C448-2636-8417-EBA22A219960}"/>
              </a:ext>
            </a:extLst>
          </p:cNvPr>
          <p:cNvSpPr/>
          <p:nvPr/>
        </p:nvSpPr>
        <p:spPr>
          <a:xfrm>
            <a:off x="793790" y="42273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AFCEA35-CF83-E408-A568-74542A05F043}"/>
              </a:ext>
            </a:extLst>
          </p:cNvPr>
          <p:cNvSpPr/>
          <p:nvPr/>
        </p:nvSpPr>
        <p:spPr>
          <a:xfrm>
            <a:off x="793790" y="45823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11237D99-F851-554C-067E-0A05C0B43E1A}"/>
              </a:ext>
            </a:extLst>
          </p:cNvPr>
          <p:cNvSpPr/>
          <p:nvPr/>
        </p:nvSpPr>
        <p:spPr>
          <a:xfrm>
            <a:off x="838200" y="6006822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Rotation of Factors</a:t>
            </a: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2AD7E0AE-D160-05C6-CB98-AF233D2BAC15}"/>
              </a:ext>
            </a:extLst>
          </p:cNvPr>
          <p:cNvSpPr/>
          <p:nvPr/>
        </p:nvSpPr>
        <p:spPr>
          <a:xfrm>
            <a:off x="7435810" y="5508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</a:rPr>
              <a:t>08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E299BDC1-D66E-A5BC-1131-209D7C072942}"/>
              </a:ext>
            </a:extLst>
          </p:cNvPr>
          <p:cNvSpPr/>
          <p:nvPr/>
        </p:nvSpPr>
        <p:spPr>
          <a:xfrm>
            <a:off x="7435810" y="586345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9F338BF6-A68D-87E7-5B17-B5AECF51C619}"/>
              </a:ext>
            </a:extLst>
          </p:cNvPr>
          <p:cNvSpPr/>
          <p:nvPr/>
        </p:nvSpPr>
        <p:spPr>
          <a:xfrm>
            <a:off x="7435810" y="605028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Factor Scores</a:t>
            </a: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C66E7397-F944-19C0-89C6-22B5F501B1D4}"/>
              </a:ext>
            </a:extLst>
          </p:cNvPr>
          <p:cNvSpPr/>
          <p:nvPr/>
        </p:nvSpPr>
        <p:spPr>
          <a:xfrm>
            <a:off x="838200" y="547793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</a:rPr>
              <a:t>07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40F08956-2F99-922D-36E4-51622B9D201A}"/>
              </a:ext>
            </a:extLst>
          </p:cNvPr>
          <p:cNvSpPr/>
          <p:nvPr/>
        </p:nvSpPr>
        <p:spPr>
          <a:xfrm>
            <a:off x="838200" y="583297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2E97ABC3-D8C1-C0DF-DF82-19E36E263CCC}"/>
              </a:ext>
            </a:extLst>
          </p:cNvPr>
          <p:cNvSpPr/>
          <p:nvPr/>
        </p:nvSpPr>
        <p:spPr>
          <a:xfrm>
            <a:off x="838200" y="7386890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Factor Analysis in Python</a:t>
            </a: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88A7EB39-8269-E07E-3B59-E5BC302F9F36}"/>
              </a:ext>
            </a:extLst>
          </p:cNvPr>
          <p:cNvSpPr/>
          <p:nvPr/>
        </p:nvSpPr>
        <p:spPr>
          <a:xfrm>
            <a:off x="838200" y="6858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09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A44E8BFB-46C2-1C1A-76D2-329875A22F5F}"/>
              </a:ext>
            </a:extLst>
          </p:cNvPr>
          <p:cNvSpPr/>
          <p:nvPr/>
        </p:nvSpPr>
        <p:spPr>
          <a:xfrm>
            <a:off x="838200" y="72130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7C62A2-74B9-E72B-F12E-2A7F146457EE}"/>
              </a:ext>
            </a:extLst>
          </p:cNvPr>
          <p:cNvSpPr/>
          <p:nvPr/>
        </p:nvSpPr>
        <p:spPr>
          <a:xfrm>
            <a:off x="8001000" y="2286000"/>
            <a:ext cx="5727429" cy="3365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9ADA4-F48B-80A8-B205-9F62BD1C4E73}"/>
              </a:ext>
            </a:extLst>
          </p:cNvPr>
          <p:cNvSpPr/>
          <p:nvPr/>
        </p:nvSpPr>
        <p:spPr>
          <a:xfrm>
            <a:off x="1054371" y="2273636"/>
            <a:ext cx="5727429" cy="3365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5C7C7-AFD6-B295-A986-8B144481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66" y="381000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Factor Analysis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3F597-D59A-2043-4182-0A3CE75AA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1637" y="2470252"/>
            <a:ext cx="5288280" cy="2875980"/>
          </a:xfrm>
        </p:spPr>
        <p:txBody>
          <a:bodyPr/>
          <a:lstStyle/>
          <a:p>
            <a:pPr algn="ctr" rtl="0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Data Reduction</a:t>
            </a:r>
            <a:endParaRPr lang="en-IN" sz="2400" kern="0" dirty="0">
              <a:solidFill>
                <a:schemeClr val="tx1"/>
              </a:solidFill>
              <a:cs typeface="+mn-cs"/>
            </a:endParaRPr>
          </a:p>
          <a:p>
            <a:pPr algn="ctr" rtl="0">
              <a:lnSpc>
                <a:spcPct val="200000"/>
              </a:lnSpc>
            </a:pPr>
            <a:r>
              <a:rPr lang="en-IN" sz="1800" kern="0" dirty="0">
                <a:solidFill>
                  <a:schemeClr val="tx1"/>
                </a:solidFill>
                <a:cs typeface="+mn-cs"/>
              </a:rPr>
              <a:t>The purpose of data reduction is to replace original variables with a smaller number of uncorrelated variables</a:t>
            </a:r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14062-FAD7-D748-08B3-90627B172E0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80485" y="2470252"/>
            <a:ext cx="5495544" cy="2875980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Structure Detection</a:t>
            </a:r>
            <a:endParaRPr lang="en-IN" sz="24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en-IN" sz="1800" dirty="0">
                <a:solidFill>
                  <a:schemeClr val="tx1"/>
                </a:solidFill>
              </a:rPr>
              <a:t>The purpose of structure detection is </a:t>
            </a:r>
            <a:r>
              <a:rPr lang="en-IN" sz="1800" b="1" dirty="0">
                <a:solidFill>
                  <a:schemeClr val="tx1"/>
                </a:solidFill>
              </a:rPr>
              <a:t>to examine the underlying (or latent) relationships between the variables</a:t>
            </a:r>
            <a:endParaRPr lang="en-US" sz="1800" b="1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A1C6A-8873-A4AB-B7E6-3CCD89A24C9C}"/>
              </a:ext>
            </a:extLst>
          </p:cNvPr>
          <p:cNvSpPr txBox="1"/>
          <p:nvPr/>
        </p:nvSpPr>
        <p:spPr>
          <a:xfrm>
            <a:off x="778412" y="1295400"/>
            <a:ext cx="12649200" cy="998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</a:rPr>
              <a:t>Factor Analysis is primarily used for,</a:t>
            </a: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</a:rPr>
              <a:t>It is an interdependence technique: </a:t>
            </a:r>
            <a:r>
              <a:rPr lang="en-US" sz="1800" b="1" dirty="0">
                <a:solidFill>
                  <a:schemeClr val="tx1"/>
                </a:solidFill>
                <a:latin typeface="PT Serif" panose="020A0603040505020204" pitchFamily="18" charset="0"/>
              </a:rPr>
              <a:t>No distinction between dependent and independent variables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</a:rPr>
              <a:t> (Also called as Unsupervised Method)</a:t>
            </a: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800" b="1" dirty="0" err="1">
                <a:solidFill>
                  <a:schemeClr val="tx1"/>
                </a:solidFill>
                <a:latin typeface="PT Serif" panose="020A0603040505020204" pitchFamily="18" charset="0"/>
              </a:rPr>
              <a:t>ysis</a:t>
            </a: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5BE38-C6E8-5739-FFD8-B78B952849CC}"/>
              </a:ext>
            </a:extLst>
          </p:cNvPr>
          <p:cNvSpPr txBox="1"/>
          <p:nvPr/>
        </p:nvSpPr>
        <p:spPr>
          <a:xfrm>
            <a:off x="7010400" y="2662535"/>
            <a:ext cx="473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PT Serif" panose="020A0603040505020204" pitchFamily="18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48747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92F190-E210-E0AF-30D3-AFC6BF4C66AF}"/>
              </a:ext>
            </a:extLst>
          </p:cNvPr>
          <p:cNvSpPr/>
          <p:nvPr/>
        </p:nvSpPr>
        <p:spPr>
          <a:xfrm>
            <a:off x="1586820" y="2971800"/>
            <a:ext cx="9144000" cy="388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653" y="254436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IN" sz="3600" dirty="0">
                <a:solidFill>
                  <a:schemeClr val="tx1"/>
                </a:solidFill>
              </a:rPr>
              <a:t>Statistical Model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1795292" y="1176785"/>
            <a:ext cx="10383328" cy="666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Each variable is expressed as a linear combination of factors </a:t>
            </a: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The factors are some common factors plus a unique factor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      The factor model is represented as:</a:t>
            </a:r>
          </a:p>
          <a:p>
            <a:pPr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X</a:t>
            </a:r>
            <a:r>
              <a:rPr lang="en-US" sz="2000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i</a:t>
            </a:r>
            <a:r>
              <a:rPr lang="en-US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=l</a:t>
            </a:r>
            <a:r>
              <a:rPr lang="en-US" sz="2000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i1</a:t>
            </a:r>
            <a:r>
              <a:rPr lang="en-US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z="2000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</a:t>
            </a:r>
            <a:r>
              <a:rPr lang="en-US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l</a:t>
            </a:r>
            <a:r>
              <a:rPr lang="en-US" sz="2000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i2</a:t>
            </a:r>
            <a:r>
              <a:rPr lang="en-US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z="2000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</a:t>
            </a:r>
            <a:r>
              <a:rPr lang="de-DE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</a:t>
            </a:r>
            <a:r>
              <a:rPr lang="en-US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l</a:t>
            </a:r>
            <a:r>
              <a:rPr lang="en-US" sz="2000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i3</a:t>
            </a:r>
            <a:r>
              <a:rPr lang="en-US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z="2000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3</a:t>
            </a:r>
            <a:r>
              <a:rPr lang="de-DE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- - - - + </a:t>
            </a:r>
            <a:r>
              <a:rPr lang="en-US" sz="2000" spc="300" dirty="0" err="1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l</a:t>
            </a:r>
            <a:r>
              <a:rPr lang="en-US" sz="2000" spc="300" baseline="-25000" dirty="0" err="1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im</a:t>
            </a:r>
            <a:r>
              <a:rPr lang="en-US" sz="2000" spc="300" dirty="0" err="1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z="2000" spc="300" baseline="-25000" dirty="0" err="1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m</a:t>
            </a:r>
            <a:r>
              <a:rPr lang="de-DE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u</a:t>
            </a:r>
            <a:r>
              <a:rPr lang="de-DE" sz="2000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i </a:t>
            </a:r>
            <a:r>
              <a:rPr lang="de-DE" sz="2000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+ e</a:t>
            </a:r>
            <a:r>
              <a:rPr lang="de-DE" sz="2000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i </a:t>
            </a:r>
            <a:endParaRPr lang="de-DE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dirty="0">
                <a:solidFill>
                  <a:schemeClr val="tx1"/>
                </a:solidFill>
                <a:latin typeface="PT Serif" panose="020A0603040505020204" pitchFamily="18" charset="0"/>
              </a:rPr>
              <a:t>where,</a:t>
            </a:r>
          </a:p>
          <a:p>
            <a:pPr lvl="3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chemeClr val="tx1"/>
                </a:solidFill>
                <a:latin typeface="PT Serif" panose="020A0603040505020204" pitchFamily="18" charset="0"/>
              </a:rPr>
              <a:t>l</a:t>
            </a:r>
            <a:r>
              <a:rPr lang="en-US" baseline="-25000" dirty="0" err="1">
                <a:solidFill>
                  <a:schemeClr val="tx1"/>
                </a:solidFill>
                <a:latin typeface="PT Serif" panose="020A0603040505020204" pitchFamily="18" charset="0"/>
              </a:rPr>
              <a:t>ij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:      Loading of variable </a:t>
            </a:r>
            <a:r>
              <a:rPr lang="en-US" dirty="0" err="1">
                <a:solidFill>
                  <a:schemeClr val="tx1"/>
                </a:solidFill>
                <a:latin typeface="PT Serif" panose="020A06030405050202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  on common factor j</a:t>
            </a:r>
          </a:p>
          <a:p>
            <a:pPr lvl="3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PT Serif" panose="020A0603040505020204" pitchFamily="18" charset="0"/>
              </a:rPr>
              <a:t>j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:      Common factor j</a:t>
            </a:r>
          </a:p>
          <a:p>
            <a:pPr lvl="3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chemeClr val="tx1"/>
                </a:solidFill>
                <a:latin typeface="PT Serif" panose="020A0603040505020204" pitchFamily="18" charset="0"/>
              </a:rPr>
              <a:t>u</a:t>
            </a:r>
            <a:r>
              <a:rPr lang="en-US" baseline="-25000" dirty="0" err="1">
                <a:solidFill>
                  <a:schemeClr val="tx1"/>
                </a:solidFill>
                <a:latin typeface="PT Serif" panose="020A06030405050202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 	:      Mean of variable </a:t>
            </a:r>
            <a:r>
              <a:rPr lang="en-US" dirty="0" err="1">
                <a:solidFill>
                  <a:schemeClr val="tx1"/>
                </a:solidFill>
                <a:latin typeface="PT Serif" panose="020A0603040505020204" pitchFamily="18" charset="0"/>
              </a:rPr>
              <a:t>i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lvl="3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m 	:      Number of common factors</a:t>
            </a:r>
          </a:p>
          <a:p>
            <a:pPr lvl="3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chemeClr val="tx1"/>
                </a:solidFill>
                <a:latin typeface="PT Serif" panose="020A0603040505020204" pitchFamily="18" charset="0"/>
              </a:rPr>
              <a:t>e</a:t>
            </a:r>
            <a:r>
              <a:rPr lang="en-US" baseline="-25000" dirty="0" err="1">
                <a:solidFill>
                  <a:schemeClr val="tx1"/>
                </a:solidFill>
                <a:latin typeface="PT Serif" panose="020A06030405050202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 	:      Specific factor</a:t>
            </a:r>
          </a:p>
          <a:p>
            <a:pPr algn="l">
              <a:lnSpc>
                <a:spcPct val="200000"/>
              </a:lnSpc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The model looks similar to linear regression but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</a:rPr>
              <a:t>factors are unobservable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en-US" dirty="0">
              <a:solidFill>
                <a:schemeClr val="tx1"/>
              </a:solidFill>
              <a:latin typeface="PT Serif" panose="020A060304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14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92F190-E210-E0AF-30D3-AFC6BF4C66AF}"/>
              </a:ext>
            </a:extLst>
          </p:cNvPr>
          <p:cNvSpPr/>
          <p:nvPr/>
        </p:nvSpPr>
        <p:spPr>
          <a:xfrm>
            <a:off x="1565031" y="2362200"/>
            <a:ext cx="10287000" cy="2743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653" y="254436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Statistical Model – Five Variables and Two Common Factors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1600200" y="1176785"/>
            <a:ext cx="10383328" cy="610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Each variable is expressed as a linear combination of  </a:t>
            </a:r>
            <a:r>
              <a:rPr lang="en-US" altLang="en-US" b="1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two 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factors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      The factor model is represented as:</a:t>
            </a:r>
          </a:p>
          <a:p>
            <a:pPr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X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–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u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 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=l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12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e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</a:t>
            </a:r>
          </a:p>
          <a:p>
            <a:pPr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X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–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u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 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=l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22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e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 </a:t>
            </a:r>
          </a:p>
          <a:p>
            <a:pPr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X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3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–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u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3 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=l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31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32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e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3</a:t>
            </a:r>
          </a:p>
          <a:p>
            <a:pPr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X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4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–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u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4 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=l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41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42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e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4</a:t>
            </a:r>
          </a:p>
          <a:p>
            <a:pPr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X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5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–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u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5  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=l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51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1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l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52</a:t>
            </a:r>
            <a:r>
              <a:rPr lang="en-US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F</a:t>
            </a:r>
            <a:r>
              <a:rPr lang="en-US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2</a:t>
            </a:r>
            <a:r>
              <a:rPr lang="de-DE" spc="3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 + e</a:t>
            </a:r>
            <a:r>
              <a:rPr lang="de-DE" spc="300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</a:rPr>
              <a:t>5</a:t>
            </a:r>
            <a:endParaRPr lang="de-DE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F</a:t>
            </a:r>
            <a:r>
              <a:rPr lang="en-US" baseline="-25000" dirty="0">
                <a:solidFill>
                  <a:schemeClr val="tx1"/>
                </a:solidFill>
                <a:latin typeface="PT Serif" panose="020A06030405050202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 and F</a:t>
            </a:r>
            <a:r>
              <a:rPr lang="en-US" baseline="-25000" dirty="0">
                <a:solidFill>
                  <a:schemeClr val="tx1"/>
                </a:solidFill>
                <a:latin typeface="PT Serif" panose="020A06030405050202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  are common factors</a:t>
            </a: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/>
              </a:rPr>
              <a:t>e's are specific factors</a:t>
            </a: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/>
              </a:rPr>
              <a:t>Each variable loads on two common factors</a:t>
            </a:r>
            <a:endParaRPr lang="en-US" altLang="en-US" dirty="0">
              <a:solidFill>
                <a:schemeClr val="tx1"/>
              </a:solidFill>
              <a:latin typeface="PT Serif" panose="020A060304050502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en-US" dirty="0">
              <a:solidFill>
                <a:schemeClr val="tx1"/>
              </a:solidFill>
              <a:latin typeface="PT Serif" panose="020A060304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53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92F190-E210-E0AF-30D3-AFC6BF4C66AF}"/>
              </a:ext>
            </a:extLst>
          </p:cNvPr>
          <p:cNvSpPr/>
          <p:nvPr/>
        </p:nvSpPr>
        <p:spPr>
          <a:xfrm>
            <a:off x="1600200" y="2413712"/>
            <a:ext cx="10287000" cy="3200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653" y="305948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</a:rPr>
              <a:t>Statistical Model – Five Variables and Two Common Factors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1752600" y="1204828"/>
            <a:ext cx="10383328" cy="481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The common factors themselves can be expressed as linear combinations of the observed variables.</a:t>
            </a:r>
          </a:p>
          <a:p>
            <a:pPr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 = W</a:t>
            </a:r>
            <a:r>
              <a:rPr lang="en-US" alt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i1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 + W</a:t>
            </a:r>
            <a:r>
              <a:rPr lang="en-US" alt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i2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 + W</a:t>
            </a:r>
            <a:r>
              <a:rPr lang="en-US" alt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i3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 + . . . + W</a:t>
            </a:r>
            <a:r>
              <a:rPr lang="en-US" alt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ik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Cambria Math" pitchFamily="18" charset="0"/>
                <a:cs typeface="Times New Roman" panose="02020603050405020304" pitchFamily="18" charset="0"/>
              </a:rPr>
              <a:t>k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baseline="-25000" dirty="0">
              <a:solidFill>
                <a:schemeClr val="tx1"/>
              </a:solidFill>
              <a:latin typeface="PT Serif" panose="020A0603040505020204" pitchFamily="18" charset="0"/>
              <a:ea typeface="Cambria Math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dirty="0">
                <a:solidFill>
                  <a:schemeClr val="tx1"/>
                </a:solidFill>
                <a:latin typeface="PT Serif" panose="020A0603040505020204" pitchFamily="18" charset="0"/>
              </a:rPr>
              <a:t>where,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     F</a:t>
            </a:r>
            <a:r>
              <a:rPr lang="en-US" baseline="-25000" dirty="0">
                <a:solidFill>
                  <a:schemeClr val="tx1"/>
                </a:solidFill>
                <a:latin typeface="PT Serif" panose="020A0603040505020204" pitchFamily="18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 	: Estimated score of </a:t>
            </a:r>
            <a:r>
              <a:rPr lang="en-US" dirty="0" err="1">
                <a:solidFill>
                  <a:schemeClr val="tx1"/>
                </a:solidFill>
                <a:latin typeface="PT Serif" panose="020A0603040505020204" pitchFamily="18" charset="0"/>
              </a:rPr>
              <a:t>i</a:t>
            </a:r>
            <a:r>
              <a:rPr lang="en-US" baseline="30000" dirty="0" err="1">
                <a:solidFill>
                  <a:schemeClr val="tx1"/>
                </a:solidFill>
                <a:latin typeface="PT Serif" panose="020A0603040505020204" pitchFamily="18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 factor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     W</a:t>
            </a:r>
            <a:r>
              <a:rPr lang="en-US" baseline="-25000" dirty="0">
                <a:solidFill>
                  <a:schemeClr val="tx1"/>
                </a:solidFill>
                <a:latin typeface="PT Serif" panose="020A0603040505020204" pitchFamily="18" charset="0"/>
              </a:rPr>
              <a:t>i	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: Weight or factor score coefficient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     k  	: Number of variables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en-US" dirty="0">
              <a:solidFill>
                <a:schemeClr val="tx1"/>
              </a:solidFill>
              <a:latin typeface="PT Serif" panose="020A060304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16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6108-9910-0950-D911-B6D9CCD9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609600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Common Factor and Unique Factor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169-3301-73AD-2CB3-96B929DA6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600200"/>
            <a:ext cx="6364224" cy="6199967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Common Factor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 pitchFamily="34" charset="0"/>
              </a:rPr>
              <a:t>It is an abstraction, a hypothetical construct that affects some or all observed variables</a:t>
            </a:r>
          </a:p>
          <a:p>
            <a:pPr marL="285750" indent="-285750"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 pitchFamily="34" charset="0"/>
              </a:rPr>
              <a:t>We want to estimate the common factors that contribute to the variance in our variables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endParaRPr lang="en-US" sz="18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 pitchFamily="34" charset="0"/>
              </a:rPr>
              <a:t>Example: Athletics performance can be thought of as combination of 'speed' and ‘stamina'</a:t>
            </a:r>
          </a:p>
          <a:p>
            <a:pPr algn="ctr"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cs typeface="Arial" pitchFamily="34" charset="0"/>
            </a:endParaRPr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C2BE2-4C46-890E-15DE-A1F54A9137C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759953" y="1600200"/>
            <a:ext cx="6364224" cy="6199967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cs typeface="Arial" pitchFamily="34" charset="0"/>
              </a:rPr>
              <a:t>Unique Factor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 pitchFamily="34" charset="0"/>
              </a:rPr>
              <a:t>It is a factor that contributes to the variance of only one variable </a:t>
            </a: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 pitchFamily="34" charset="0"/>
              </a:rPr>
              <a:t>We want to exclude these unique factors from our solution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endParaRPr lang="en-US" sz="18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endParaRPr lang="en-US" sz="18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cs typeface="Arial" pitchFamily="34" charset="0"/>
              </a:rPr>
              <a:t>The unique factors are unrelated to one another and unrelated to the common factors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endParaRPr lang="en-US" sz="1800" dirty="0">
              <a:solidFill>
                <a:schemeClr val="tx1"/>
              </a:solidFill>
              <a:cs typeface="Arial" pitchFamily="34" charset="0"/>
            </a:endParaRPr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2009C7-3C92-FA9B-2A5B-EF06C7EC3081}"/>
              </a:ext>
            </a:extLst>
          </p:cNvPr>
          <p:cNvCxnSpPr/>
          <p:nvPr/>
        </p:nvCxnSpPr>
        <p:spPr>
          <a:xfrm>
            <a:off x="7315199" y="1447800"/>
            <a:ext cx="0" cy="655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074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7">
            <a:extLst>
              <a:ext uri="{FF2B5EF4-FFF2-40B4-BE49-F238E27FC236}">
                <a16:creationId xmlns:a16="http://schemas.microsoft.com/office/drawing/2014/main" id="{E5F147A3-661B-826C-D7BF-51C97FDF40E7}"/>
              </a:ext>
            </a:extLst>
          </p:cNvPr>
          <p:cNvSpPr/>
          <p:nvPr/>
        </p:nvSpPr>
        <p:spPr>
          <a:xfrm>
            <a:off x="744230" y="7012942"/>
            <a:ext cx="13272456" cy="112667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138045"/>
            <a:ext cx="13656055" cy="871124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>
              <a:lnSpc>
                <a:spcPts val="3188"/>
              </a:lnSpc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Factor Analysis Assumptions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349937"/>
            <a:ext cx="4164095" cy="448258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482872" y="2322574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Assumption 2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Factor Properties: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E(Fj) = 0, </a:t>
            </a:r>
            <a:r>
              <a:rPr lang="en-US" sz="18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Cov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(Fj, </a:t>
            </a:r>
            <a:r>
              <a:rPr lang="en-US" sz="18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Fk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) = 0 for j ≠ k, and V(Fj) = 1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Common factors have zero mean, are uncorrelated with each other, and have unit variance. This standardization simplifies interpretation and ensures orthogonality.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1609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401520"/>
            <a:ext cx="3818573" cy="441787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33706" y="2376442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Assumption 3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Unique Factor Properties: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E(</a:t>
            </a:r>
            <a:r>
              <a:rPr lang="en-US" sz="18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ei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) = 0 and </a:t>
            </a:r>
            <a:r>
              <a:rPr lang="en-US" sz="18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Cov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(</a:t>
            </a:r>
            <a:r>
              <a:rPr lang="en-US" sz="18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ej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ek) = 0 for j ≠ k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Unique factors have zero mean and are uncorrelated with each other. Each variable's unique variance is independent of every other variable's unique variance.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369165"/>
            <a:ext cx="3976821" cy="4482583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390025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Assumption 1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Independence: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Fj and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ei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are independent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common factors and unique factors must be uncorrelated with each other. This ensures that the variance in our variables can be cleanly partitioned between common and unique sources.</a:t>
            </a: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14DF559-2BDA-E0F3-0E1D-9D8211E0EE08}"/>
              </a:ext>
            </a:extLst>
          </p:cNvPr>
          <p:cNvSpPr/>
          <p:nvPr/>
        </p:nvSpPr>
        <p:spPr>
          <a:xfrm>
            <a:off x="784666" y="715006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Why These Assumptions Matter:</a:t>
            </a:r>
            <a:r>
              <a:rPr lang="en-US" sz="1800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These conditions ensure that our factor solution is mathematically identifiable and that the factors represent distinct, interpretable dimensions rather than arbitrary rotations of the data.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B3384-1B2F-CA17-FE35-2DB170AA8A89}"/>
              </a:ext>
            </a:extLst>
          </p:cNvPr>
          <p:cNvSpPr txBox="1"/>
          <p:nvPr/>
        </p:nvSpPr>
        <p:spPr>
          <a:xfrm>
            <a:off x="601840" y="1085375"/>
            <a:ext cx="13308404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For the factor analysis model to be valid and produce interpretable results, certain statistical assumptions must be satisfied. When these conditions hold, we have what's called an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Orthogonal Factor Model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2">
            <a:extLst>
              <a:ext uri="{FF2B5EF4-FFF2-40B4-BE49-F238E27FC236}">
                <a16:creationId xmlns:a16="http://schemas.microsoft.com/office/drawing/2014/main" id="{CD36A319-7246-FDE7-063A-3045345D3B7E}"/>
              </a:ext>
            </a:extLst>
          </p:cNvPr>
          <p:cNvSpPr/>
          <p:nvPr/>
        </p:nvSpPr>
        <p:spPr>
          <a:xfrm>
            <a:off x="7817835" y="6172201"/>
            <a:ext cx="5821965" cy="1655878"/>
          </a:xfrm>
          <a:prstGeom prst="roundRect">
            <a:avLst>
              <a:gd name="adj" fmla="val 1267"/>
            </a:avLst>
          </a:prstGeom>
          <a:solidFill>
            <a:srgbClr val="F2EEEE"/>
          </a:solidFill>
          <a:ln/>
        </p:spPr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EA47E3CD-F4D3-9F23-5891-2E23445F6FE1}"/>
              </a:ext>
            </a:extLst>
          </p:cNvPr>
          <p:cNvSpPr/>
          <p:nvPr/>
        </p:nvSpPr>
        <p:spPr>
          <a:xfrm>
            <a:off x="807434" y="6225419"/>
            <a:ext cx="5821965" cy="1602660"/>
          </a:xfrm>
          <a:prstGeom prst="roundRect">
            <a:avLst>
              <a:gd name="adj" fmla="val 1267"/>
            </a:avLst>
          </a:prstGeom>
          <a:solidFill>
            <a:srgbClr val="F2EEEE"/>
          </a:solidFill>
          <a:ln/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DA0B368-E19F-60CB-21C7-7A63340286B9}"/>
              </a:ext>
            </a:extLst>
          </p:cNvPr>
          <p:cNvSpPr/>
          <p:nvPr/>
        </p:nvSpPr>
        <p:spPr>
          <a:xfrm>
            <a:off x="7665435" y="2209800"/>
            <a:ext cx="5821965" cy="2267951"/>
          </a:xfrm>
          <a:prstGeom prst="roundRect">
            <a:avLst>
              <a:gd name="adj" fmla="val 1267"/>
            </a:avLst>
          </a:prstGeom>
          <a:solidFill>
            <a:srgbClr val="F2EEEE"/>
          </a:solidFill>
          <a:ln/>
        </p:spPr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BA1FBF5D-026D-8C8C-21CA-E11B7678EF77}"/>
              </a:ext>
            </a:extLst>
          </p:cNvPr>
          <p:cNvSpPr/>
          <p:nvPr/>
        </p:nvSpPr>
        <p:spPr>
          <a:xfrm>
            <a:off x="655034" y="2227848"/>
            <a:ext cx="5821965" cy="2267951"/>
          </a:xfrm>
          <a:prstGeom prst="roundRect">
            <a:avLst>
              <a:gd name="adj" fmla="val 1267"/>
            </a:avLst>
          </a:prstGeom>
          <a:solidFill>
            <a:srgbClr val="F2EEEE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78293-CBAE-84EB-2D4E-6E8EECD0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Estimation of Factor Loadings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19519-314F-D7A3-EC9F-E0AB53E37882}"/>
              </a:ext>
            </a:extLst>
          </p:cNvPr>
          <p:cNvSpPr txBox="1"/>
          <p:nvPr/>
        </p:nvSpPr>
        <p:spPr>
          <a:xfrm>
            <a:off x="807434" y="848618"/>
            <a:ext cx="13480874" cy="573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Estimating factor loadings—correlations between variables and factors—is the core computational challenge. Two primary methods are commonly employed.</a:t>
            </a: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Determining the Number of Factors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Retain factors until capturing sufficient variance—typically 70-90% depending on field.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B62480-5DE2-5481-F650-56B508881028}"/>
              </a:ext>
            </a:extLst>
          </p:cNvPr>
          <p:cNvSpPr txBox="1"/>
          <p:nvPr/>
        </p:nvSpPr>
        <p:spPr>
          <a:xfrm>
            <a:off x="1066800" y="2018045"/>
            <a:ext cx="5410200" cy="296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Principal Component Method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Treats factors as weighted combinations capturing maximum variance. Computationally simpler, no distributional assumptions required.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394E1-A7B1-3B53-D34F-35A45B189890}"/>
              </a:ext>
            </a:extLst>
          </p:cNvPr>
          <p:cNvSpPr txBox="1"/>
          <p:nvPr/>
        </p:nvSpPr>
        <p:spPr>
          <a:xfrm>
            <a:off x="7848600" y="2018269"/>
            <a:ext cx="5410200" cy="296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Maximum Likelihood Method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Assumes normal distributions for factors. Provides statistical tests and standard errors but requires stronger assumptions.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1285F-FF01-C98B-0A58-EBBD94A78C1C}"/>
              </a:ext>
            </a:extLst>
          </p:cNvPr>
          <p:cNvSpPr txBox="1"/>
          <p:nvPr/>
        </p:nvSpPr>
        <p:spPr>
          <a:xfrm>
            <a:off x="1096108" y="5926019"/>
            <a:ext cx="5410200" cy="186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Communality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Variance contributed by m common factors. High communality means the variable is well-explained.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861FBA-0E3E-D9C0-1A5A-32F120C63927}"/>
              </a:ext>
            </a:extLst>
          </p:cNvPr>
          <p:cNvSpPr txBox="1"/>
          <p:nvPr/>
        </p:nvSpPr>
        <p:spPr>
          <a:xfrm>
            <a:off x="8124094" y="5926019"/>
            <a:ext cx="5410200" cy="186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Uniqueness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Variance due to specific factor. High uniqueness suggests poor fit with other variables.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93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00BC-8DD2-3217-0BBF-ADA14E55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457200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Interpretation of Factor Loadings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C7CD4-7060-39F3-BEA0-D27818FA4DCE}"/>
              </a:ext>
            </a:extLst>
          </p:cNvPr>
          <p:cNvSpPr txBox="1"/>
          <p:nvPr/>
        </p:nvSpPr>
        <p:spPr>
          <a:xfrm>
            <a:off x="1600200" y="1600200"/>
            <a:ext cx="11430000" cy="527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100000"/>
              </a:spcBef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A factor can be interpreted in terms of the variables that load high on it</a:t>
            </a:r>
          </a:p>
          <a:p>
            <a:pPr marL="285750" indent="-285750">
              <a:lnSpc>
                <a:spcPct val="200000"/>
              </a:lnSpc>
              <a:spcBef>
                <a:spcPct val="100000"/>
              </a:spcBef>
              <a:buFont typeface="Arial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Factor loadings are correlations between the variables and the factors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. So, when factor loadings are high on a variable or a group of variable, it means that the factor represents the group of variables.</a:t>
            </a:r>
          </a:p>
          <a:p>
            <a:pPr marL="285750" indent="-285750">
              <a:lnSpc>
                <a:spcPct val="200000"/>
              </a:lnSpc>
              <a:spcBef>
                <a:spcPct val="100000"/>
              </a:spcBef>
              <a:buFont typeface="Arial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Another useful aid in interpretation is to </a:t>
            </a:r>
            <a:r>
              <a:rPr lang="en-US" altLang="en-US" b="1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plot the variables, using the factor loadings as coordinates</a:t>
            </a:r>
            <a:r>
              <a:rPr lang="en-US" altLang="en-US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.  Variables at the end of an axis are those that have high loadings on only that factor, and hence describe the factor.</a:t>
            </a:r>
          </a:p>
          <a:p>
            <a:pPr>
              <a:lnSpc>
                <a:spcPct val="200000"/>
              </a:lnSpc>
              <a:spcBef>
                <a:spcPct val="100000"/>
              </a:spcBef>
            </a:pPr>
            <a:r>
              <a:rPr lang="en-US" altLang="en-US" b="1" dirty="0">
                <a:solidFill>
                  <a:schemeClr val="tx1"/>
                </a:solidFill>
                <a:latin typeface="PT Serif" panose="020A0603040505020204" pitchFamily="18" charset="0"/>
                <a:cs typeface="Times New Roman" panose="02020603050405020304" pitchFamily="18" charset="0"/>
              </a:rPr>
              <a:t>Ideally we should like to see a pattern of loading such that each variable loads highly  on a single factor and has small to moderate loading on the remaining factors.</a:t>
            </a:r>
          </a:p>
        </p:txBody>
      </p:sp>
    </p:spTree>
    <p:extLst>
      <p:ext uri="{BB962C8B-B14F-4D97-AF65-F5344CB8AC3E}">
        <p14:creationId xmlns:p14="http://schemas.microsoft.com/office/powerpoint/2010/main" val="392109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00BC-8DD2-3217-0BBF-ADA14E55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457200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Interpretation of Factor Loadings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C7CD4-7060-39F3-BEA0-D27818FA4DCE}"/>
              </a:ext>
            </a:extLst>
          </p:cNvPr>
          <p:cNvSpPr txBox="1"/>
          <p:nvPr/>
        </p:nvSpPr>
        <p:spPr>
          <a:xfrm>
            <a:off x="1106743" y="1617622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4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Factors Underlying Selected Psychographics and Lifestyles </a:t>
            </a:r>
            <a:endParaRPr lang="en-US" sz="2400" u="sng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4B412D-E461-385B-E538-0E2F2F64DEEB}"/>
              </a:ext>
            </a:extLst>
          </p:cNvPr>
          <p:cNvGrpSpPr/>
          <p:nvPr/>
        </p:nvGrpSpPr>
        <p:grpSpPr>
          <a:xfrm>
            <a:off x="3113054" y="2286000"/>
            <a:ext cx="8069659" cy="4637504"/>
            <a:chOff x="560354" y="1642646"/>
            <a:chExt cx="8069659" cy="46375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16440F9-48F0-75F3-3EA2-1EEE8911F7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354" y="2362200"/>
              <a:ext cx="8069659" cy="3917950"/>
              <a:chOff x="76" y="1566"/>
              <a:chExt cx="5728" cy="246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3223B56-C6B9-AC1A-72A5-2E08F8CCC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8" y="1566"/>
                <a:ext cx="72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200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Factor 2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8615F5-99AA-700A-C881-9978D5CE5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2" y="1566"/>
                <a:ext cx="25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b="1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 </a:t>
                </a:r>
                <a:endParaRPr lang="en-US" altLang="en-US" sz="2000" dirty="0">
                  <a:solidFill>
                    <a:srgbClr val="CC0000"/>
                  </a:solidFill>
                  <a:latin typeface="PT Serif" panose="020A06030405050202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4DD8C41-2402-DC99-4EFD-9E2253A40F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2" y="1997"/>
                <a:ext cx="73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200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Football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4B67DB2-D06C-FE9E-A35C-DF05F0286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9" y="1927"/>
                <a:ext cx="25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b="1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 </a:t>
                </a:r>
                <a:endParaRPr lang="en-US" altLang="en-US" sz="2000" dirty="0">
                  <a:solidFill>
                    <a:srgbClr val="CC0000"/>
                  </a:solidFill>
                  <a:latin typeface="PT Serif" panose="020A0603040505020204" pitchFamily="18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68BC858-B6C2-0C32-3534-68C20F85B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0" y="1949"/>
                <a:ext cx="74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200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Baseball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06452F0-4137-27F3-3B5B-2916E89F6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" y="1927"/>
                <a:ext cx="25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b="1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 </a:t>
                </a:r>
                <a:endParaRPr lang="en-US" altLang="en-US" sz="2000" dirty="0">
                  <a:solidFill>
                    <a:srgbClr val="CC0000"/>
                  </a:solidFill>
                  <a:latin typeface="PT Serif" panose="020A06030405050202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16FE0BE-092F-5D35-1680-DEBE640E1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5" y="2429"/>
                <a:ext cx="149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200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Evening at home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30202A-1B37-72FF-E305-C420AC7EB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" y="2529"/>
                <a:ext cx="25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b="1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 </a:t>
                </a:r>
                <a:endParaRPr lang="en-US" altLang="en-US" sz="2000" dirty="0">
                  <a:solidFill>
                    <a:srgbClr val="CC0000"/>
                  </a:solidFill>
                  <a:latin typeface="PT Serif" panose="020A0603040505020204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CB48C6A-900C-9F43-E79F-00A05E79BA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5" y="2736"/>
                <a:ext cx="72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200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Factor 1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0DF3CE8-ECE1-AFE5-808C-42BF40F9B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7" y="2828"/>
                <a:ext cx="25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b="1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 </a:t>
                </a:r>
                <a:endParaRPr lang="en-US" altLang="en-US" sz="2000" dirty="0">
                  <a:solidFill>
                    <a:srgbClr val="CC0000"/>
                  </a:solidFill>
                  <a:latin typeface="PT Serif" panose="020A0603040505020204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2062563-8333-2A62-329C-1A2E7CEBE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7" y="3149"/>
                <a:ext cx="166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200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Home is best place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0B366D5-EABC-5EB8-E476-F5E26B8D2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6" y="3129"/>
                <a:ext cx="25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b="1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 </a:t>
                </a:r>
                <a:endParaRPr lang="en-US" altLang="en-US" sz="2000" dirty="0">
                  <a:solidFill>
                    <a:srgbClr val="CC0000"/>
                  </a:solidFill>
                  <a:latin typeface="PT Serif" panose="020A0603040505020204" pitchFamily="18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8E95D56-89F0-1517-4A8D-1B230333C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" y="2957"/>
                <a:ext cx="114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200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Go to a party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DE70A6-D90F-64B9-A08F-48767C4698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4" y="3131"/>
                <a:ext cx="25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b="1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 </a:t>
                </a:r>
                <a:endParaRPr lang="en-US" altLang="en-US" sz="2000" dirty="0">
                  <a:solidFill>
                    <a:srgbClr val="CC0000"/>
                  </a:solidFill>
                  <a:latin typeface="PT Serif" panose="020A0603040505020204" pitchFamily="18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F192100-B33C-1F50-4B7F-169619BB7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3677"/>
                <a:ext cx="46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200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Plays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B2DF02C-D1A3-DA7A-19EA-5C89F6FD5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6" y="3793"/>
                <a:ext cx="25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b="1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 </a:t>
                </a:r>
                <a:endParaRPr lang="en-US" altLang="en-US" sz="2000" dirty="0">
                  <a:solidFill>
                    <a:srgbClr val="CC0000"/>
                  </a:solidFill>
                  <a:latin typeface="PT Serif" panose="020A0603040505020204" pitchFamily="18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BDFEE0A-5771-AB8C-3EC9-17165E37C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8" y="3821"/>
                <a:ext cx="63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200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Movies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B6685EA-FE9A-B330-1B48-3018F61BD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4" y="3913"/>
                <a:ext cx="25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000" b="1" dirty="0">
                    <a:solidFill>
                      <a:srgbClr val="CC0000"/>
                    </a:solidFill>
                    <a:latin typeface="PT Serif" panose="020A0603040505020204" pitchFamily="18" charset="0"/>
                  </a:rPr>
                  <a:t> </a:t>
                </a:r>
                <a:endParaRPr lang="en-US" altLang="en-US" sz="2000" dirty="0">
                  <a:solidFill>
                    <a:srgbClr val="CC0000"/>
                  </a:solidFill>
                  <a:latin typeface="PT Serif" panose="020A0603040505020204" pitchFamily="18" charset="0"/>
                </a:endParaRPr>
              </a:p>
            </p:txBody>
          </p:sp>
          <p:sp>
            <p:nvSpPr>
              <p:cNvPr id="26" name="Freeform 30">
                <a:extLst>
                  <a:ext uri="{FF2B5EF4-FFF2-40B4-BE49-F238E27FC236}">
                    <a16:creationId xmlns:a16="http://schemas.microsoft.com/office/drawing/2014/main" id="{CC7E2778-9639-3376-7AF4-B5C8F86568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90" y="2138"/>
                <a:ext cx="1903" cy="1564"/>
              </a:xfrm>
              <a:custGeom>
                <a:avLst/>
                <a:gdLst>
                  <a:gd name="T0" fmla="*/ 208 w 15000"/>
                  <a:gd name="T1" fmla="*/ 15333 h 15596"/>
                  <a:gd name="T2" fmla="*/ 14745 w 15000"/>
                  <a:gd name="T3" fmla="*/ 217 h 15596"/>
                  <a:gd name="T4" fmla="*/ 14793 w 15000"/>
                  <a:gd name="T5" fmla="*/ 216 h 15596"/>
                  <a:gd name="T6" fmla="*/ 14793 w 15000"/>
                  <a:gd name="T7" fmla="*/ 263 h 15596"/>
                  <a:gd name="T8" fmla="*/ 256 w 15000"/>
                  <a:gd name="T9" fmla="*/ 15379 h 15596"/>
                  <a:gd name="T10" fmla="*/ 208 w 15000"/>
                  <a:gd name="T11" fmla="*/ 15380 h 15596"/>
                  <a:gd name="T12" fmla="*/ 208 w 15000"/>
                  <a:gd name="T13" fmla="*/ 15333 h 15596"/>
                  <a:gd name="T14" fmla="*/ 422 w 15000"/>
                  <a:gd name="T15" fmla="*/ 15447 h 15596"/>
                  <a:gd name="T16" fmla="*/ 0 w 15000"/>
                  <a:gd name="T17" fmla="*/ 15596 h 15596"/>
                  <a:gd name="T18" fmla="*/ 134 w 15000"/>
                  <a:gd name="T19" fmla="*/ 15170 h 15596"/>
                  <a:gd name="T20" fmla="*/ 422 w 15000"/>
                  <a:gd name="T21" fmla="*/ 15447 h 15596"/>
                  <a:gd name="T22" fmla="*/ 14579 w 15000"/>
                  <a:gd name="T23" fmla="*/ 149 h 15596"/>
                  <a:gd name="T24" fmla="*/ 15000 w 15000"/>
                  <a:gd name="T25" fmla="*/ 0 h 15596"/>
                  <a:gd name="T26" fmla="*/ 14867 w 15000"/>
                  <a:gd name="T27" fmla="*/ 427 h 15596"/>
                  <a:gd name="T28" fmla="*/ 14579 w 15000"/>
                  <a:gd name="T29" fmla="*/ 149 h 1559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5000"/>
                  <a:gd name="T46" fmla="*/ 0 h 15596"/>
                  <a:gd name="T47" fmla="*/ 15000 w 15000"/>
                  <a:gd name="T48" fmla="*/ 15596 h 1559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5000" h="15596">
                    <a:moveTo>
                      <a:pt x="208" y="15333"/>
                    </a:moveTo>
                    <a:lnTo>
                      <a:pt x="14745" y="217"/>
                    </a:lnTo>
                    <a:cubicBezTo>
                      <a:pt x="14758" y="204"/>
                      <a:pt x="14779" y="203"/>
                      <a:pt x="14793" y="216"/>
                    </a:cubicBezTo>
                    <a:cubicBezTo>
                      <a:pt x="14806" y="229"/>
                      <a:pt x="14806" y="250"/>
                      <a:pt x="14793" y="263"/>
                    </a:cubicBezTo>
                    <a:lnTo>
                      <a:pt x="256" y="15379"/>
                    </a:lnTo>
                    <a:cubicBezTo>
                      <a:pt x="243" y="15393"/>
                      <a:pt x="222" y="15393"/>
                      <a:pt x="208" y="15380"/>
                    </a:cubicBezTo>
                    <a:cubicBezTo>
                      <a:pt x="195" y="15367"/>
                      <a:pt x="195" y="15346"/>
                      <a:pt x="208" y="15333"/>
                    </a:cubicBezTo>
                    <a:close/>
                    <a:moveTo>
                      <a:pt x="422" y="15447"/>
                    </a:moveTo>
                    <a:lnTo>
                      <a:pt x="0" y="15596"/>
                    </a:lnTo>
                    <a:lnTo>
                      <a:pt x="134" y="15170"/>
                    </a:lnTo>
                    <a:lnTo>
                      <a:pt x="422" y="15447"/>
                    </a:lnTo>
                    <a:close/>
                    <a:moveTo>
                      <a:pt x="14579" y="149"/>
                    </a:moveTo>
                    <a:lnTo>
                      <a:pt x="15000" y="0"/>
                    </a:lnTo>
                    <a:lnTo>
                      <a:pt x="14867" y="427"/>
                    </a:lnTo>
                    <a:lnTo>
                      <a:pt x="14579" y="149"/>
                    </a:lnTo>
                    <a:close/>
                  </a:path>
                </a:pathLst>
              </a:custGeom>
              <a:solidFill>
                <a:srgbClr val="CC0000"/>
              </a:solidFill>
              <a:ln w="1588">
                <a:solidFill>
                  <a:srgbClr val="CC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 dirty="0">
                  <a:latin typeface="PT Serif" panose="020A0603040505020204" pitchFamily="18" charset="0"/>
                </a:endParaRPr>
              </a:p>
            </p:txBody>
          </p:sp>
          <p:sp>
            <p:nvSpPr>
              <p:cNvPr id="27" name="Freeform 31">
                <a:extLst>
                  <a:ext uri="{FF2B5EF4-FFF2-40B4-BE49-F238E27FC236}">
                    <a16:creationId xmlns:a16="http://schemas.microsoft.com/office/drawing/2014/main" id="{9A6B5AC6-3570-1E17-0153-866A40442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18" y="2198"/>
                <a:ext cx="2055" cy="1624"/>
              </a:xfrm>
              <a:custGeom>
                <a:avLst/>
                <a:gdLst>
                  <a:gd name="T0" fmla="*/ 15941 w 16200"/>
                  <a:gd name="T1" fmla="*/ 15982 h 16194"/>
                  <a:gd name="T2" fmla="*/ 213 w 16200"/>
                  <a:gd name="T3" fmla="*/ 260 h 16194"/>
                  <a:gd name="T4" fmla="*/ 213 w 16200"/>
                  <a:gd name="T5" fmla="*/ 213 h 16194"/>
                  <a:gd name="T6" fmla="*/ 260 w 16200"/>
                  <a:gd name="T7" fmla="*/ 213 h 16194"/>
                  <a:gd name="T8" fmla="*/ 15988 w 16200"/>
                  <a:gd name="T9" fmla="*/ 15935 h 16194"/>
                  <a:gd name="T10" fmla="*/ 15988 w 16200"/>
                  <a:gd name="T11" fmla="*/ 15982 h 16194"/>
                  <a:gd name="T12" fmla="*/ 15941 w 16200"/>
                  <a:gd name="T13" fmla="*/ 15982 h 16194"/>
                  <a:gd name="T14" fmla="*/ 16059 w 16200"/>
                  <a:gd name="T15" fmla="*/ 15770 h 16194"/>
                  <a:gd name="T16" fmla="*/ 16200 w 16200"/>
                  <a:gd name="T17" fmla="*/ 16194 h 16194"/>
                  <a:gd name="T18" fmla="*/ 15776 w 16200"/>
                  <a:gd name="T19" fmla="*/ 16052 h 16194"/>
                  <a:gd name="T20" fmla="*/ 16059 w 16200"/>
                  <a:gd name="T21" fmla="*/ 15770 h 16194"/>
                  <a:gd name="T22" fmla="*/ 142 w 16200"/>
                  <a:gd name="T23" fmla="*/ 425 h 16194"/>
                  <a:gd name="T24" fmla="*/ 0 w 16200"/>
                  <a:gd name="T25" fmla="*/ 0 h 16194"/>
                  <a:gd name="T26" fmla="*/ 425 w 16200"/>
                  <a:gd name="T27" fmla="*/ 142 h 16194"/>
                  <a:gd name="T28" fmla="*/ 142 w 16200"/>
                  <a:gd name="T29" fmla="*/ 425 h 1619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6200"/>
                  <a:gd name="T46" fmla="*/ 0 h 16194"/>
                  <a:gd name="T47" fmla="*/ 16200 w 16200"/>
                  <a:gd name="T48" fmla="*/ 16194 h 1619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6200" h="16194">
                    <a:moveTo>
                      <a:pt x="15941" y="15982"/>
                    </a:moveTo>
                    <a:lnTo>
                      <a:pt x="213" y="260"/>
                    </a:lnTo>
                    <a:cubicBezTo>
                      <a:pt x="200" y="247"/>
                      <a:pt x="200" y="226"/>
                      <a:pt x="213" y="213"/>
                    </a:cubicBezTo>
                    <a:cubicBezTo>
                      <a:pt x="226" y="200"/>
                      <a:pt x="247" y="200"/>
                      <a:pt x="260" y="213"/>
                    </a:cubicBezTo>
                    <a:lnTo>
                      <a:pt x="15988" y="15935"/>
                    </a:lnTo>
                    <a:cubicBezTo>
                      <a:pt x="16001" y="15948"/>
                      <a:pt x="16001" y="15969"/>
                      <a:pt x="15988" y="15982"/>
                    </a:cubicBezTo>
                    <a:cubicBezTo>
                      <a:pt x="15975" y="15995"/>
                      <a:pt x="15954" y="15995"/>
                      <a:pt x="15941" y="15982"/>
                    </a:cubicBezTo>
                    <a:close/>
                    <a:moveTo>
                      <a:pt x="16059" y="15770"/>
                    </a:moveTo>
                    <a:lnTo>
                      <a:pt x="16200" y="16194"/>
                    </a:lnTo>
                    <a:lnTo>
                      <a:pt x="15776" y="16052"/>
                    </a:lnTo>
                    <a:lnTo>
                      <a:pt x="16059" y="15770"/>
                    </a:lnTo>
                    <a:close/>
                    <a:moveTo>
                      <a:pt x="142" y="425"/>
                    </a:moveTo>
                    <a:lnTo>
                      <a:pt x="0" y="0"/>
                    </a:lnTo>
                    <a:lnTo>
                      <a:pt x="425" y="142"/>
                    </a:lnTo>
                    <a:lnTo>
                      <a:pt x="142" y="425"/>
                    </a:lnTo>
                    <a:close/>
                  </a:path>
                </a:pathLst>
              </a:custGeom>
              <a:solidFill>
                <a:srgbClr val="CC0000"/>
              </a:solidFill>
              <a:ln w="1588">
                <a:solidFill>
                  <a:srgbClr val="CC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 dirty="0">
                  <a:latin typeface="PT Serif" panose="020A0603040505020204" pitchFamily="18" charset="0"/>
                </a:endParaRPr>
              </a:p>
            </p:txBody>
          </p:sp>
          <p:sp>
            <p:nvSpPr>
              <p:cNvPr id="28" name="Freeform 32">
                <a:extLst>
                  <a:ext uri="{FF2B5EF4-FFF2-40B4-BE49-F238E27FC236}">
                    <a16:creationId xmlns:a16="http://schemas.microsoft.com/office/drawing/2014/main" id="{CA547F36-08B4-283E-1154-25C7CA495A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30" y="1777"/>
                <a:ext cx="51" cy="2170"/>
              </a:xfrm>
              <a:custGeom>
                <a:avLst/>
                <a:gdLst>
                  <a:gd name="T0" fmla="*/ 167 w 400"/>
                  <a:gd name="T1" fmla="*/ 21600 h 21634"/>
                  <a:gd name="T2" fmla="*/ 167 w 400"/>
                  <a:gd name="T3" fmla="*/ 334 h 21634"/>
                  <a:gd name="T4" fmla="*/ 200 w 400"/>
                  <a:gd name="T5" fmla="*/ 300 h 21634"/>
                  <a:gd name="T6" fmla="*/ 234 w 400"/>
                  <a:gd name="T7" fmla="*/ 334 h 21634"/>
                  <a:gd name="T8" fmla="*/ 234 w 400"/>
                  <a:gd name="T9" fmla="*/ 21600 h 21634"/>
                  <a:gd name="T10" fmla="*/ 200 w 400"/>
                  <a:gd name="T11" fmla="*/ 21634 h 21634"/>
                  <a:gd name="T12" fmla="*/ 167 w 400"/>
                  <a:gd name="T13" fmla="*/ 21600 h 21634"/>
                  <a:gd name="T14" fmla="*/ 0 w 400"/>
                  <a:gd name="T15" fmla="*/ 400 h 21634"/>
                  <a:gd name="T16" fmla="*/ 200 w 400"/>
                  <a:gd name="T17" fmla="*/ 0 h 21634"/>
                  <a:gd name="T18" fmla="*/ 400 w 400"/>
                  <a:gd name="T19" fmla="*/ 400 h 21634"/>
                  <a:gd name="T20" fmla="*/ 0 w 400"/>
                  <a:gd name="T21" fmla="*/ 400 h 2163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00"/>
                  <a:gd name="T34" fmla="*/ 0 h 21634"/>
                  <a:gd name="T35" fmla="*/ 400 w 400"/>
                  <a:gd name="T36" fmla="*/ 21634 h 2163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00" h="21634">
                    <a:moveTo>
                      <a:pt x="167" y="21600"/>
                    </a:moveTo>
                    <a:lnTo>
                      <a:pt x="167" y="334"/>
                    </a:lnTo>
                    <a:cubicBezTo>
                      <a:pt x="167" y="315"/>
                      <a:pt x="182" y="300"/>
                      <a:pt x="200" y="300"/>
                    </a:cubicBezTo>
                    <a:cubicBezTo>
                      <a:pt x="219" y="300"/>
                      <a:pt x="234" y="315"/>
                      <a:pt x="234" y="334"/>
                    </a:cubicBezTo>
                    <a:lnTo>
                      <a:pt x="234" y="21600"/>
                    </a:lnTo>
                    <a:cubicBezTo>
                      <a:pt x="234" y="21619"/>
                      <a:pt x="219" y="21634"/>
                      <a:pt x="200" y="21634"/>
                    </a:cubicBezTo>
                    <a:cubicBezTo>
                      <a:pt x="182" y="21634"/>
                      <a:pt x="167" y="21619"/>
                      <a:pt x="167" y="21600"/>
                    </a:cubicBezTo>
                    <a:close/>
                    <a:moveTo>
                      <a:pt x="0" y="400"/>
                    </a:moveTo>
                    <a:lnTo>
                      <a:pt x="200" y="0"/>
                    </a:lnTo>
                    <a:lnTo>
                      <a:pt x="40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rgbClr val="CC0000"/>
              </a:solidFill>
              <a:ln w="1588">
                <a:solidFill>
                  <a:srgbClr val="CC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 dirty="0">
                  <a:latin typeface="PT Serif" panose="020A0603040505020204" pitchFamily="18" charset="0"/>
                </a:endParaRPr>
              </a:p>
            </p:txBody>
          </p:sp>
          <p:sp>
            <p:nvSpPr>
              <p:cNvPr id="29" name="Freeform 33">
                <a:extLst>
                  <a:ext uri="{FF2B5EF4-FFF2-40B4-BE49-F238E27FC236}">
                    <a16:creationId xmlns:a16="http://schemas.microsoft.com/office/drawing/2014/main" id="{16ACE3A6-5943-5341-1BE9-DE43FDB1D2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77" y="2841"/>
                <a:ext cx="3277" cy="40"/>
              </a:xfrm>
              <a:custGeom>
                <a:avLst/>
                <a:gdLst>
                  <a:gd name="T0" fmla="*/ 16 w 12916"/>
                  <a:gd name="T1" fmla="*/ 80 h 200"/>
                  <a:gd name="T2" fmla="*/ 12750 w 12916"/>
                  <a:gd name="T3" fmla="*/ 83 h 200"/>
                  <a:gd name="T4" fmla="*/ 12766 w 12916"/>
                  <a:gd name="T5" fmla="*/ 100 h 200"/>
                  <a:gd name="T6" fmla="*/ 12750 w 12916"/>
                  <a:gd name="T7" fmla="*/ 117 h 200"/>
                  <a:gd name="T8" fmla="*/ 16 w 12916"/>
                  <a:gd name="T9" fmla="*/ 113 h 200"/>
                  <a:gd name="T10" fmla="*/ 0 w 12916"/>
                  <a:gd name="T11" fmla="*/ 97 h 200"/>
                  <a:gd name="T12" fmla="*/ 16 w 12916"/>
                  <a:gd name="T13" fmla="*/ 80 h 200"/>
                  <a:gd name="T14" fmla="*/ 12716 w 12916"/>
                  <a:gd name="T15" fmla="*/ 0 h 200"/>
                  <a:gd name="T16" fmla="*/ 12916 w 12916"/>
                  <a:gd name="T17" fmla="*/ 100 h 200"/>
                  <a:gd name="T18" fmla="*/ 12716 w 12916"/>
                  <a:gd name="T19" fmla="*/ 200 h 200"/>
                  <a:gd name="T20" fmla="*/ 12716 w 12916"/>
                  <a:gd name="T21" fmla="*/ 0 h 2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16"/>
                  <a:gd name="T34" fmla="*/ 0 h 200"/>
                  <a:gd name="T35" fmla="*/ 12916 w 12916"/>
                  <a:gd name="T36" fmla="*/ 200 h 2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16" h="200">
                    <a:moveTo>
                      <a:pt x="16" y="80"/>
                    </a:moveTo>
                    <a:lnTo>
                      <a:pt x="12750" y="83"/>
                    </a:lnTo>
                    <a:cubicBezTo>
                      <a:pt x="12759" y="83"/>
                      <a:pt x="12766" y="91"/>
                      <a:pt x="12766" y="100"/>
                    </a:cubicBezTo>
                    <a:cubicBezTo>
                      <a:pt x="12766" y="109"/>
                      <a:pt x="12759" y="117"/>
                      <a:pt x="12750" y="117"/>
                    </a:cubicBezTo>
                    <a:lnTo>
                      <a:pt x="16" y="113"/>
                    </a:lnTo>
                    <a:cubicBezTo>
                      <a:pt x="7" y="113"/>
                      <a:pt x="0" y="106"/>
                      <a:pt x="0" y="97"/>
                    </a:cubicBezTo>
                    <a:cubicBezTo>
                      <a:pt x="0" y="88"/>
                      <a:pt x="7" y="80"/>
                      <a:pt x="16" y="80"/>
                    </a:cubicBezTo>
                    <a:close/>
                    <a:moveTo>
                      <a:pt x="12716" y="0"/>
                    </a:moveTo>
                    <a:lnTo>
                      <a:pt x="12916" y="100"/>
                    </a:lnTo>
                    <a:lnTo>
                      <a:pt x="12716" y="200"/>
                    </a:lnTo>
                    <a:lnTo>
                      <a:pt x="12716" y="0"/>
                    </a:lnTo>
                    <a:close/>
                  </a:path>
                </a:pathLst>
              </a:custGeom>
              <a:solidFill>
                <a:srgbClr val="CC0000"/>
              </a:solidFill>
              <a:ln w="1588">
                <a:solidFill>
                  <a:srgbClr val="CC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 dirty="0">
                  <a:latin typeface="PT Serif" panose="020A0603040505020204" pitchFamily="18" charset="0"/>
                </a:endParaRPr>
              </a:p>
            </p:txBody>
          </p:sp>
          <p:sp>
            <p:nvSpPr>
              <p:cNvPr id="30" name="Freeform 34">
                <a:extLst>
                  <a:ext uri="{FF2B5EF4-FFF2-40B4-BE49-F238E27FC236}">
                    <a16:creationId xmlns:a16="http://schemas.microsoft.com/office/drawing/2014/main" id="{09ACAAD3-99C9-3EDB-108F-C54385690A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51" y="2856"/>
                <a:ext cx="1573" cy="317"/>
              </a:xfrm>
              <a:custGeom>
                <a:avLst/>
                <a:gdLst>
                  <a:gd name="T0" fmla="*/ 22 w 6918"/>
                  <a:gd name="T1" fmla="*/ 2 h 1578"/>
                  <a:gd name="T2" fmla="*/ 6759 w 6918"/>
                  <a:gd name="T3" fmla="*/ 1471 h 1578"/>
                  <a:gd name="T4" fmla="*/ 6772 w 6918"/>
                  <a:gd name="T5" fmla="*/ 1491 h 1578"/>
                  <a:gd name="T6" fmla="*/ 6752 w 6918"/>
                  <a:gd name="T7" fmla="*/ 1504 h 1578"/>
                  <a:gd name="T8" fmla="*/ 15 w 6918"/>
                  <a:gd name="T9" fmla="*/ 34 h 1578"/>
                  <a:gd name="T10" fmla="*/ 2 w 6918"/>
                  <a:gd name="T11" fmla="*/ 14 h 1578"/>
                  <a:gd name="T12" fmla="*/ 22 w 6918"/>
                  <a:gd name="T13" fmla="*/ 2 h 1578"/>
                  <a:gd name="T14" fmla="*/ 6744 w 6918"/>
                  <a:gd name="T15" fmla="*/ 1382 h 1578"/>
                  <a:gd name="T16" fmla="*/ 6918 w 6918"/>
                  <a:gd name="T17" fmla="*/ 1523 h 1578"/>
                  <a:gd name="T18" fmla="*/ 6702 w 6918"/>
                  <a:gd name="T19" fmla="*/ 1578 h 1578"/>
                  <a:gd name="T20" fmla="*/ 6744 w 6918"/>
                  <a:gd name="T21" fmla="*/ 1382 h 157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918"/>
                  <a:gd name="T34" fmla="*/ 0 h 1578"/>
                  <a:gd name="T35" fmla="*/ 6918 w 6918"/>
                  <a:gd name="T36" fmla="*/ 1578 h 157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918" h="1578">
                    <a:moveTo>
                      <a:pt x="22" y="2"/>
                    </a:moveTo>
                    <a:lnTo>
                      <a:pt x="6759" y="1471"/>
                    </a:lnTo>
                    <a:cubicBezTo>
                      <a:pt x="6768" y="1473"/>
                      <a:pt x="6774" y="1482"/>
                      <a:pt x="6772" y="1491"/>
                    </a:cubicBezTo>
                    <a:cubicBezTo>
                      <a:pt x="6770" y="1500"/>
                      <a:pt x="6761" y="1506"/>
                      <a:pt x="6752" y="1504"/>
                    </a:cubicBezTo>
                    <a:lnTo>
                      <a:pt x="15" y="34"/>
                    </a:lnTo>
                    <a:cubicBezTo>
                      <a:pt x="6" y="32"/>
                      <a:pt x="0" y="23"/>
                      <a:pt x="2" y="14"/>
                    </a:cubicBezTo>
                    <a:cubicBezTo>
                      <a:pt x="4" y="5"/>
                      <a:pt x="13" y="0"/>
                      <a:pt x="22" y="2"/>
                    </a:cubicBezTo>
                    <a:close/>
                    <a:moveTo>
                      <a:pt x="6744" y="1382"/>
                    </a:moveTo>
                    <a:lnTo>
                      <a:pt x="6918" y="1523"/>
                    </a:lnTo>
                    <a:lnTo>
                      <a:pt x="6702" y="1578"/>
                    </a:lnTo>
                    <a:lnTo>
                      <a:pt x="6744" y="1382"/>
                    </a:lnTo>
                    <a:close/>
                  </a:path>
                </a:pathLst>
              </a:custGeom>
              <a:solidFill>
                <a:srgbClr val="CC0000"/>
              </a:solidFill>
              <a:ln w="1588">
                <a:solidFill>
                  <a:srgbClr val="CC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 dirty="0">
                  <a:latin typeface="PT Serif" panose="020A0603040505020204" pitchFamily="18" charset="0"/>
                </a:endParaRPr>
              </a:p>
            </p:txBody>
          </p:sp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77775541-CCBE-7AEB-46BA-DE31E3D6A4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2" y="2544"/>
                <a:ext cx="3120" cy="576"/>
              </a:xfrm>
              <a:custGeom>
                <a:avLst/>
                <a:gdLst>
                  <a:gd name="T0" fmla="*/ 160 w 13800"/>
                  <a:gd name="T1" fmla="*/ 3005 h 3112"/>
                  <a:gd name="T2" fmla="*/ 13634 w 13800"/>
                  <a:gd name="T3" fmla="*/ 75 h 3112"/>
                  <a:gd name="T4" fmla="*/ 13654 w 13800"/>
                  <a:gd name="T5" fmla="*/ 87 h 3112"/>
                  <a:gd name="T6" fmla="*/ 13641 w 13800"/>
                  <a:gd name="T7" fmla="*/ 107 h 3112"/>
                  <a:gd name="T8" fmla="*/ 167 w 13800"/>
                  <a:gd name="T9" fmla="*/ 3038 h 3112"/>
                  <a:gd name="T10" fmla="*/ 147 w 13800"/>
                  <a:gd name="T11" fmla="*/ 3025 h 3112"/>
                  <a:gd name="T12" fmla="*/ 160 w 13800"/>
                  <a:gd name="T13" fmla="*/ 3005 h 3112"/>
                  <a:gd name="T14" fmla="*/ 217 w 13800"/>
                  <a:gd name="T15" fmla="*/ 3112 h 3112"/>
                  <a:gd name="T16" fmla="*/ 0 w 13800"/>
                  <a:gd name="T17" fmla="*/ 3057 h 3112"/>
                  <a:gd name="T18" fmla="*/ 175 w 13800"/>
                  <a:gd name="T19" fmla="*/ 2917 h 3112"/>
                  <a:gd name="T20" fmla="*/ 217 w 13800"/>
                  <a:gd name="T21" fmla="*/ 3112 h 3112"/>
                  <a:gd name="T22" fmla="*/ 13584 w 13800"/>
                  <a:gd name="T23" fmla="*/ 0 h 3112"/>
                  <a:gd name="T24" fmla="*/ 13800 w 13800"/>
                  <a:gd name="T25" fmla="*/ 55 h 3112"/>
                  <a:gd name="T26" fmla="*/ 13626 w 13800"/>
                  <a:gd name="T27" fmla="*/ 196 h 3112"/>
                  <a:gd name="T28" fmla="*/ 13584 w 13800"/>
                  <a:gd name="T29" fmla="*/ 0 h 311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3800"/>
                  <a:gd name="T46" fmla="*/ 0 h 3112"/>
                  <a:gd name="T47" fmla="*/ 13800 w 13800"/>
                  <a:gd name="T48" fmla="*/ 3112 h 311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3800" h="3112">
                    <a:moveTo>
                      <a:pt x="160" y="3005"/>
                    </a:moveTo>
                    <a:lnTo>
                      <a:pt x="13634" y="75"/>
                    </a:lnTo>
                    <a:cubicBezTo>
                      <a:pt x="13643" y="73"/>
                      <a:pt x="13652" y="78"/>
                      <a:pt x="13654" y="87"/>
                    </a:cubicBezTo>
                    <a:cubicBezTo>
                      <a:pt x="13656" y="96"/>
                      <a:pt x="13650" y="105"/>
                      <a:pt x="13641" y="107"/>
                    </a:cubicBezTo>
                    <a:lnTo>
                      <a:pt x="167" y="3038"/>
                    </a:lnTo>
                    <a:cubicBezTo>
                      <a:pt x="158" y="3040"/>
                      <a:pt x="149" y="3034"/>
                      <a:pt x="147" y="3025"/>
                    </a:cubicBezTo>
                    <a:cubicBezTo>
                      <a:pt x="145" y="3016"/>
                      <a:pt x="151" y="3007"/>
                      <a:pt x="160" y="3005"/>
                    </a:cubicBezTo>
                    <a:close/>
                    <a:moveTo>
                      <a:pt x="217" y="3112"/>
                    </a:moveTo>
                    <a:lnTo>
                      <a:pt x="0" y="3057"/>
                    </a:lnTo>
                    <a:lnTo>
                      <a:pt x="175" y="2917"/>
                    </a:lnTo>
                    <a:lnTo>
                      <a:pt x="217" y="3112"/>
                    </a:lnTo>
                    <a:close/>
                    <a:moveTo>
                      <a:pt x="13584" y="0"/>
                    </a:moveTo>
                    <a:lnTo>
                      <a:pt x="13800" y="55"/>
                    </a:lnTo>
                    <a:lnTo>
                      <a:pt x="13626" y="196"/>
                    </a:lnTo>
                    <a:lnTo>
                      <a:pt x="13584" y="0"/>
                    </a:lnTo>
                    <a:close/>
                  </a:path>
                </a:pathLst>
              </a:custGeom>
              <a:solidFill>
                <a:srgbClr val="CC0000"/>
              </a:solidFill>
              <a:ln w="1588">
                <a:solidFill>
                  <a:srgbClr val="CC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 dirty="0">
                  <a:latin typeface="PT Serif" panose="020A0603040505020204" pitchFamily="18" charset="0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AA7FC1-5E33-C015-FBD5-F896F87B0122}"/>
                </a:ext>
              </a:extLst>
            </p:cNvPr>
            <p:cNvSpPr/>
            <p:nvPr/>
          </p:nvSpPr>
          <p:spPr>
            <a:xfrm>
              <a:off x="1225068" y="1642646"/>
              <a:ext cx="6693865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Bef>
                  <a:spcPct val="40000"/>
                </a:spcBef>
              </a:pPr>
              <a:endParaRPr lang="en-US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PT Serif" panose="020A060304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9629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3900E6-4CF3-197F-D2C1-1D44919FA257}"/>
              </a:ext>
            </a:extLst>
          </p:cNvPr>
          <p:cNvSpPr/>
          <p:nvPr/>
        </p:nvSpPr>
        <p:spPr>
          <a:xfrm>
            <a:off x="1676400" y="3581400"/>
            <a:ext cx="3657600" cy="14555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C6799A-74B7-19B8-7A5A-7CF8E38FBAF0}"/>
              </a:ext>
            </a:extLst>
          </p:cNvPr>
          <p:cNvSpPr/>
          <p:nvPr/>
        </p:nvSpPr>
        <p:spPr>
          <a:xfrm>
            <a:off x="6934200" y="3573690"/>
            <a:ext cx="4876800" cy="14555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E60A85-F71A-09E7-6AEC-879280A19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Rotation of Factors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DDBA2-D798-EC11-68C0-8FC76C81A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2312649" cy="553997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spcBef>
                <a:spcPct val="100000"/>
              </a:spcBef>
              <a:buFont typeface="Arial" pitchFamily="34" charset="0"/>
              <a:buChar char="•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Factor rotation is simply </a:t>
            </a:r>
            <a:r>
              <a:rPr lang="en-US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changing the “viewing angle” of the factor space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100000"/>
              </a:spcBef>
              <a:buFont typeface="Arial" pitchFamily="34" charset="0"/>
              <a:buChar char="•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Through rotation the </a:t>
            </a:r>
            <a:r>
              <a:rPr lang="en-US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loading matrix is transformed into a simpler one that is easier to interpret</a:t>
            </a:r>
          </a:p>
          <a:p>
            <a:pPr marL="285750" indent="-285750">
              <a:lnSpc>
                <a:spcPct val="150000"/>
              </a:lnSpc>
              <a:spcBef>
                <a:spcPct val="100000"/>
              </a:spcBef>
              <a:buFont typeface="Arial" pitchFamily="34" charset="0"/>
              <a:buChar char="•"/>
            </a:pPr>
            <a:r>
              <a:rPr lang="en-US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After rotation:</a:t>
            </a:r>
          </a:p>
          <a:p>
            <a:pPr marL="285750" indent="-285750">
              <a:lnSpc>
                <a:spcPct val="150000"/>
              </a:lnSpc>
              <a:spcBef>
                <a:spcPct val="100000"/>
              </a:spcBef>
              <a:buFont typeface="Arial" pitchFamily="34" charset="0"/>
              <a:buChar char="•"/>
            </a:pPr>
            <a:endPara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100000"/>
              </a:spcBef>
              <a:buFont typeface="Arial" pitchFamily="34" charset="0"/>
              <a:buChar char="•"/>
            </a:pPr>
            <a:endPara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100000"/>
              </a:spcBef>
              <a:buFont typeface="Arial" pitchFamily="34" charset="0"/>
              <a:buChar char="•"/>
            </a:pPr>
            <a:endPara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100000"/>
              </a:spcBef>
              <a:buFont typeface="Arial" pitchFamily="34" charset="0"/>
              <a:buChar char="•"/>
            </a:pP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100000"/>
              </a:spcBef>
              <a:buFont typeface="Arial" pitchFamily="34" charset="0"/>
              <a:buChar char="•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The rotation is called </a:t>
            </a:r>
            <a:r>
              <a:rPr lang="en-US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Orthogonal Rotation if the axes are maintained at right angles</a:t>
            </a:r>
          </a:p>
          <a:p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D431E-ED95-CAFF-5041-F8F8CFF6EB9B}"/>
              </a:ext>
            </a:extLst>
          </p:cNvPr>
          <p:cNvSpPr txBox="1"/>
          <p:nvPr/>
        </p:nvSpPr>
        <p:spPr>
          <a:xfrm>
            <a:off x="1981200" y="3989189"/>
            <a:ext cx="7315200" cy="46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PT Serif" panose="020A0603040505020204" pitchFamily="18" charset="0"/>
              </a:rPr>
              <a:t>Factors can</a:t>
            </a:r>
            <a:r>
              <a:rPr lang="en-US" sz="18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PT Serif" panose="020A0603040505020204" pitchFamily="18" charset="0"/>
              </a:rPr>
              <a:t> be interpreted if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PT Serif" panose="020A06030405050202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9FC2B-4620-BD18-77C4-620B0CD2745E}"/>
              </a:ext>
            </a:extLst>
          </p:cNvPr>
          <p:cNvSpPr txBox="1"/>
          <p:nvPr/>
        </p:nvSpPr>
        <p:spPr>
          <a:xfrm>
            <a:off x="7052285" y="3573690"/>
            <a:ext cx="4488230" cy="1294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PT Serif" panose="020A0603040505020204" pitchFamily="18" charset="0"/>
              </a:rPr>
              <a:t>Each variable has high loading on only one factor and</a:t>
            </a:r>
            <a:r>
              <a:rPr lang="en-US" sz="18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PT Serif" panose="020A0603040505020204" pitchFamily="18" charset="0"/>
              </a:rPr>
              <a:t> moderate/low loadings on other factors.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PT Serif" panose="020A0603040505020204" pitchFamily="18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C83B40B-2636-B078-0A6E-EF7749B1555F}"/>
              </a:ext>
            </a:extLst>
          </p:cNvPr>
          <p:cNvSpPr/>
          <p:nvPr/>
        </p:nvSpPr>
        <p:spPr>
          <a:xfrm>
            <a:off x="5638800" y="4114800"/>
            <a:ext cx="1066800" cy="338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83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402D-FD8D-CFC6-EC77-8C160D0A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24968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Rotation of Factors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0EAC6-3E4C-E553-94E4-39106759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0200" y="1556768"/>
            <a:ext cx="11734800" cy="3706977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ct val="100000"/>
              </a:spcBef>
            </a:pPr>
            <a:r>
              <a:rPr lang="en-US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Varimax Procedure:</a:t>
            </a:r>
          </a:p>
          <a:p>
            <a:pPr marL="285750" indent="-285750">
              <a:lnSpc>
                <a:spcPct val="200000"/>
              </a:lnSpc>
              <a:spcBef>
                <a:spcPct val="100000"/>
              </a:spcBef>
              <a:buFont typeface="Arial" pitchFamily="34" charset="0"/>
              <a:buChar char="•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Axes maintained at right angles</a:t>
            </a:r>
          </a:p>
          <a:p>
            <a:pPr marL="285750" indent="-285750">
              <a:lnSpc>
                <a:spcPct val="200000"/>
              </a:lnSpc>
              <a:spcBef>
                <a:spcPct val="100000"/>
              </a:spcBef>
              <a:buFont typeface="Arial" pitchFamily="34" charset="0"/>
              <a:buChar char="•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An orthogonal method of rotation that minimizes the number of variables with high loadings on a factor</a:t>
            </a:r>
          </a:p>
          <a:p>
            <a:pPr marL="285750" indent="-285750">
              <a:lnSpc>
                <a:spcPct val="200000"/>
              </a:lnSpc>
              <a:spcBef>
                <a:spcPct val="100000"/>
              </a:spcBef>
              <a:buFont typeface="Arial" pitchFamily="34" charset="0"/>
              <a:buChar char="•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Orthogonal rotation results in uncorrelated factors</a:t>
            </a:r>
            <a:endPara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83160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F64616-3315-5412-C82A-1AB89E085794}"/>
              </a:ext>
            </a:extLst>
          </p:cNvPr>
          <p:cNvSpPr/>
          <p:nvPr/>
        </p:nvSpPr>
        <p:spPr>
          <a:xfrm>
            <a:off x="4419600" y="2971800"/>
            <a:ext cx="5791200" cy="685800"/>
          </a:xfrm>
          <a:prstGeom prst="rect">
            <a:avLst/>
          </a:prstGeom>
          <a:solidFill>
            <a:srgbClr val="F7FBEF"/>
          </a:solidFill>
          <a:ln w="3175" cap="flat" cmpd="sng" algn="ctr">
            <a:solidFill>
              <a:schemeClr val="accent4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aseline="-25000" dirty="0">
              <a:solidFill>
                <a:schemeClr val="tx1">
                  <a:lumMod val="75000"/>
                  <a:lumOff val="25000"/>
                </a:schemeClr>
              </a:solidFill>
              <a:latin typeface="PT Serif" panose="020A0603040505020204" pitchFamily="18" charset="0"/>
              <a:ea typeface="Cambria Math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CF402D-FD8D-CFC6-EC77-8C160D0A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Factor Scores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0EAC6-3E4C-E553-94E4-39106759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1828800"/>
            <a:ext cx="11734800" cy="4968861"/>
          </a:xfrm>
        </p:spPr>
        <p:txBody>
          <a:bodyPr/>
          <a:lstStyle/>
          <a:p>
            <a:pPr marL="0" indent="0">
              <a:lnSpc>
                <a:spcPct val="200000"/>
              </a:lnSpc>
              <a:buFontTx/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factor scores for the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1800" baseline="30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factor may be estimated as follows:</a:t>
            </a:r>
          </a:p>
          <a:p>
            <a:pPr>
              <a:lnSpc>
                <a:spcPct val="200000"/>
              </a:lnSpc>
            </a:pP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ea typeface="Cambria Math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</a:pP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000" baseline="-25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 = W</a:t>
            </a:r>
            <a:r>
              <a:rPr lang="en-US" altLang="en-US" sz="2000" baseline="-25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i1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000" baseline="-25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 + W</a:t>
            </a:r>
            <a:r>
              <a:rPr lang="en-US" altLang="en-US" sz="2000" baseline="-25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i2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000" baseline="-25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 + W</a:t>
            </a:r>
            <a:r>
              <a:rPr lang="en-US" altLang="en-US" sz="2000" baseline="-25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i3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000" baseline="-25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 + . . . + W</a:t>
            </a:r>
            <a:r>
              <a:rPr lang="en-US" altLang="en-US" sz="2000" baseline="-25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ik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000" baseline="-250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k</a:t>
            </a:r>
          </a:p>
          <a:p>
            <a:pPr>
              <a:lnSpc>
                <a:spcPct val="200000"/>
              </a:lnSpc>
            </a:pP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ea typeface="Cambria Math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ea typeface="Cambria Math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Intuitively, </a:t>
            </a:r>
            <a:r>
              <a:rPr lang="en-US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factors are latent variables that underlie the scores in observed variables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. Factor scores would therefore represent the score of each person on the underlying latent variable.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interpretation of each of these factors is based on the content of the original variables 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a typeface="Cambria Math" pitchFamily="18" charset="0"/>
                <a:cs typeface="Times New Roman" panose="02020603050405020304" pitchFamily="18" charset="0"/>
              </a:rPr>
              <a:t>so that each factor is interpreted as whatever the attributes with high loadings for this particular factor have in common.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637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AAD28-751E-2818-F86C-127F9854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Example: Consumer Psychographic Factors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CF30E-DDD1-88B2-02A5-0179E983D759}"/>
              </a:ext>
            </a:extLst>
          </p:cNvPr>
          <p:cNvSpPr txBox="1"/>
          <p:nvPr/>
        </p:nvSpPr>
        <p:spPr>
          <a:xfrm>
            <a:off x="914400" y="1143000"/>
            <a:ext cx="12801600" cy="721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 study examining consumer lifestyles reveals two primary factors through analysis of purchasing behaviors and attitudes.</a:t>
            </a:r>
          </a:p>
          <a:p>
            <a:pPr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Interpretation: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Factor 1 represents value-seeking behavior, while Factor 2 captures wellness orientation. Notice how each variable loads primarily on one factor, demonstrating clean simple structure.</a:t>
            </a: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2B37406-C1B0-7CCD-DBFA-B8C89FB44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557807"/>
              </p:ext>
            </p:extLst>
          </p:nvPr>
        </p:nvGraphicFramePr>
        <p:xfrm>
          <a:off x="2247899" y="1874520"/>
          <a:ext cx="10134600" cy="4480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648200">
                  <a:extLst>
                    <a:ext uri="{9D8B030D-6E8A-4147-A177-3AD203B41FA5}">
                      <a16:colId xmlns:a16="http://schemas.microsoft.com/office/drawing/2014/main" val="121670005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611707675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630104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Variable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Price Consciousness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Health Consciousness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09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I compare prices before purchasing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E04F00"/>
                          </a:solidFill>
                          <a:latin typeface="PT Serif" panose="020A0603040505020204" pitchFamily="18" charset="0"/>
                        </a:rPr>
                        <a:t>0.82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0.12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28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I look for discounts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E04F00"/>
                          </a:solidFill>
                          <a:latin typeface="PT Serif" panose="020A0603040505020204" pitchFamily="18" charset="0"/>
                        </a:rPr>
                        <a:t>0.78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0.08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982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I look for loyalty points I can redeem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E04F00"/>
                          </a:solidFill>
                          <a:latin typeface="PT Serif" panose="020A0603040505020204" pitchFamily="18" charset="0"/>
                        </a:rPr>
                        <a:t>0.71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0.15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410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I read nutrition labels carefully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0.11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E04F00"/>
                          </a:solidFill>
                          <a:latin typeface="PT Serif" panose="020A0603040505020204" pitchFamily="18" charset="0"/>
                        </a:rPr>
                        <a:t>0.85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35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I avoid refined sugar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0.06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E04F00"/>
                          </a:solidFill>
                          <a:latin typeface="PT Serif" panose="020A0603040505020204" pitchFamily="18" charset="0"/>
                        </a:rPr>
                        <a:t>0.76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966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Organic products are worth the premium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-0.18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E04F00"/>
                          </a:solidFill>
                          <a:latin typeface="PT Serif" panose="020A0603040505020204" pitchFamily="18" charset="0"/>
                        </a:rPr>
                        <a:t>0.69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/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961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470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DEED-8F5C-5B30-FA32-BD7D1C939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04469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Case Study – Athletics Records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E7D0B-0F46-C18B-F2E3-A9904E6C3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1828800"/>
            <a:ext cx="12725400" cy="5712013"/>
          </a:xfrm>
        </p:spPr>
        <p:txBody>
          <a:bodyPr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Background</a:t>
            </a:r>
          </a:p>
          <a:p>
            <a:pPr algn="l">
              <a:lnSpc>
                <a:spcPts val="41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Data on national athletics records for various countries is available.</a:t>
            </a:r>
          </a:p>
          <a:p>
            <a:pPr algn="l">
              <a:lnSpc>
                <a:spcPts val="41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41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Objective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ts val="41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To achieve data reduction and understand the hidden factors related to athletics performance..</a:t>
            </a:r>
          </a:p>
          <a:p>
            <a:pPr algn="l">
              <a:lnSpc>
                <a:spcPts val="41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41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Available Information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ts val="41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Data Source: Applied Multivariate Statistical Analysis by Richard A. Johnson, Dean W. Wichern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41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Sample size is 55 countries athletics.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ts val="41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Records for 8 different athletics events – 100 meters to Marathon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ts val="410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145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9741C-5F63-98E1-5559-3C6C4B89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Athletics Data Snapshot</a:t>
            </a:r>
            <a:endParaRPr lang="en-IN" sz="36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5D48CBE-1ACB-E96B-94D3-67074728DC03}"/>
              </a:ext>
            </a:extLst>
          </p:cNvPr>
          <p:cNvGraphicFramePr>
            <a:graphicFrameLocks noGrp="1"/>
          </p:cNvGraphicFramePr>
          <p:nvPr/>
        </p:nvGraphicFramePr>
        <p:xfrm>
          <a:off x="237725" y="1219200"/>
          <a:ext cx="14154948" cy="6096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2772">
                  <a:extLst>
                    <a:ext uri="{9D8B030D-6E8A-4147-A177-3AD203B41FA5}">
                      <a16:colId xmlns:a16="http://schemas.microsoft.com/office/drawing/2014/main" val="574674097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1506899633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892562424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3019448326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2846669256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1750152398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4227061776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2112978804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136698938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Country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100m_s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200m_s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400m_s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800m_min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1500m_min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5000m_min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10000m_min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Marathon_min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336566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Argentina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10.39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46.84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14.04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29.36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137.72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537196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Australia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10.31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20.06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44.84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3.57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27.66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128.3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181229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Austria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10.44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46.82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27.72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135.9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117002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Belgium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10.34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20.68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45.04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27.45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129.95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5822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Bermuda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20.58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45.91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14.68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30.55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146.62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88573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Brazil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20.43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45.21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3.66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13.62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28.62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133.13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803092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Burma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10.64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21.52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48.3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3.85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14.45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30.28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139.95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877082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Canada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10.17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45.68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3.63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13.55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28.09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130.15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520774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Chile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10.34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46.2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13.61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29.3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134.03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43462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China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10.51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21.04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47.3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29.13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133.53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62169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Colombia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10.43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21.05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46.1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13.49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27.88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131.35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2873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898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7E1815-3587-198D-E873-4DB8E479A61D}"/>
              </a:ext>
            </a:extLst>
          </p:cNvPr>
          <p:cNvSpPr/>
          <p:nvPr/>
        </p:nvSpPr>
        <p:spPr>
          <a:xfrm>
            <a:off x="8607336" y="3352800"/>
            <a:ext cx="5410200" cy="3733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FF539-3209-9F94-1889-ADB0622B4F2F}"/>
              </a:ext>
            </a:extLst>
          </p:cNvPr>
          <p:cNvSpPr/>
          <p:nvPr/>
        </p:nvSpPr>
        <p:spPr>
          <a:xfrm>
            <a:off x="487171" y="2209800"/>
            <a:ext cx="5535893" cy="594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D3109-7FCA-E453-D1C5-2940BAFD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228600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Factor Analysis in Python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4BFA77-1EE0-6EFD-F19A-2653DDC01A84}"/>
              </a:ext>
            </a:extLst>
          </p:cNvPr>
          <p:cNvSpPr txBox="1"/>
          <p:nvPr/>
        </p:nvSpPr>
        <p:spPr>
          <a:xfrm>
            <a:off x="642172" y="782598"/>
            <a:ext cx="13381227" cy="7758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Data for various countries' national athletics records is available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We'll analyze athletics performance data to uncover latent factors underlying different track and field events. This real-world example demonstrates the complete Factor Analysis workflow in Python.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</a:rPr>
              <a:t># Import the data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
import pandas as pd
from factor_analyzer import FactorAnalyzer
data = pd.read_csv("Athleticsdata.csv")
</a:t>
            </a: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</a:rPr>
              <a:t># Exclude Country column for factor analysis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
athletics = data.drop(columns=["Country"])
athletics.head()
</a:t>
            </a: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</a:rPr>
              <a:t># Perform factor analysis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
fa = FactorAnalyzer(
    n_factors=2,
    rotation="varimax",
    method="ml"     # Maximum Likelihood
)
fa.fit(athletics)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12FCD-9346-7687-CEBC-268FEA1FFC14}"/>
              </a:ext>
            </a:extLst>
          </p:cNvPr>
          <p:cNvSpPr txBox="1"/>
          <p:nvPr/>
        </p:nvSpPr>
        <p:spPr>
          <a:xfrm>
            <a:off x="8607336" y="3223651"/>
            <a:ext cx="5410200" cy="333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factor_analyzer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package provides a clean interface for Factor Analysis. We specify 2 factors based on domain knowledge (endurance vs. speed), use Varimax rotation for interpretability, and employ maximum likelihood estimation for statistical rigor.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680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E499BC-9CFB-BB4C-4F6B-CAEC03D23A71}"/>
              </a:ext>
            </a:extLst>
          </p:cNvPr>
          <p:cNvSpPr/>
          <p:nvPr/>
        </p:nvSpPr>
        <p:spPr>
          <a:xfrm>
            <a:off x="762000" y="1464414"/>
            <a:ext cx="6477000" cy="3336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7D13C-61CB-2927-F108-C7E968C2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247397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Explained Variance Output and Interpretation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BC2C6-FEAD-D275-C36B-13FDDB529DFB}"/>
              </a:ext>
            </a:extLst>
          </p:cNvPr>
          <p:cNvSpPr txBox="1"/>
          <p:nvPr/>
        </p:nvSpPr>
        <p:spPr>
          <a:xfrm>
            <a:off x="838200" y="1586462"/>
            <a:ext cx="6705600" cy="503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ev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,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prop_var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,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cum_var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=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fa.get_factor_variance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variance_df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=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pd.DataFrame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"Eigenvalue":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ev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"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Proportion_Variance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":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prop_var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"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Cumulative_Variance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":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cum_var</a:t>
            </a: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}, index=[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f"Factor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{i+1}" for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i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in range(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len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ev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))])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Interpretation: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Two factors explain 92% of common variance. </a:t>
            </a:r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
</a:t>
            </a:r>
            <a:endParaRPr lang="en-US" dirty="0">
              <a:latin typeface="PT Serif" panose="020A060304050502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2541DC-9157-AA2C-CCB4-82BB803EB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205029"/>
              </p:ext>
            </p:extLst>
          </p:nvPr>
        </p:nvGraphicFramePr>
        <p:xfrm>
          <a:off x="7543800" y="2576246"/>
          <a:ext cx="6934200" cy="169095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1176223049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4010986077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728080280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3325129189"/>
                    </a:ext>
                  </a:extLst>
                </a:gridCol>
              </a:tblGrid>
              <a:tr h="5636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Factor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Eigenvalue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Proportion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Variance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Cumulative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Variance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883252"/>
                  </a:ext>
                </a:extLst>
              </a:tr>
              <a:tr h="5636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Factor1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4.071385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0.508923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0.508923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157937294"/>
                  </a:ext>
                </a:extLst>
              </a:tr>
              <a:tr h="5636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Factor2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3.26756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0.408445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0.917368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108794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891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6BB4-5A35-452A-8972-F6AC7AC7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A05FC6-4097-57BB-9DA0-4E2EDDFF8489}"/>
              </a:ext>
            </a:extLst>
          </p:cNvPr>
          <p:cNvSpPr/>
          <p:nvPr/>
        </p:nvSpPr>
        <p:spPr>
          <a:xfrm>
            <a:off x="762000" y="1464414"/>
            <a:ext cx="4038600" cy="3290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7F4E4-4414-02DB-06BE-C21BC71B8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247397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Loadings Output and Interpretation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3B638-422E-233A-9CB0-33BFF069CB76}"/>
              </a:ext>
            </a:extLst>
          </p:cNvPr>
          <p:cNvSpPr txBox="1"/>
          <p:nvPr/>
        </p:nvSpPr>
        <p:spPr>
          <a:xfrm>
            <a:off x="838200" y="1586462"/>
            <a:ext cx="6705600" cy="6280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# Extract loadings
loadings = pd.DataFrame(
    fa.loadings_,
    index=athletics.columns,
    columns=["Factor1", "Factor2"]
)
print(loadings)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383838"/>
              </a:solidFill>
              <a:highlight>
                <a:srgbClr val="F2F2F2"/>
              </a:highlight>
              <a:latin typeface="PT Serif" panose="020A0603040505020204" pitchFamily="18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Interpretation: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Factor 1 represents Stamina as it shows consistently high loadings for middle-to-long distance events, while Factor 2 represents Speed with very high loadings for sprint events.</a:t>
            </a: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
</a:t>
            </a: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8222-12C6-AB34-3C83-652F885673C9}"/>
              </a:ext>
            </a:extLst>
          </p:cNvPr>
          <p:cNvSpPr txBox="1"/>
          <p:nvPr/>
        </p:nvSpPr>
        <p:spPr>
          <a:xfrm>
            <a:off x="8001000" y="1331396"/>
            <a:ext cx="7315200" cy="26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19"/>
              </a:lnSpc>
            </a:pPr>
            <a:r>
              <a:rPr lang="en-US" sz="18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Factor Loading Matrix:</a:t>
            </a:r>
            <a:endParaRPr lang="en-US" sz="1800" dirty="0">
              <a:latin typeface="PT Serif" panose="020A0603040505020204" pitchFamily="18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AED1F67-A69D-B8D1-210F-BF46AB342F6B}"/>
              </a:ext>
            </a:extLst>
          </p:cNvPr>
          <p:cNvGraphicFramePr>
            <a:graphicFrameLocks noGrp="1"/>
          </p:cNvGraphicFramePr>
          <p:nvPr/>
        </p:nvGraphicFramePr>
        <p:xfrm>
          <a:off x="8001000" y="1752600"/>
          <a:ext cx="5181600" cy="5867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8902154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56941438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46665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Event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sz="18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Factor 1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sz="18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Factor 2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endParaRPr lang="en-IN" sz="18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5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100m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0.08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0.91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923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200m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0.14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0.89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7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400m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0.42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0.76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50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800m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0.78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0.38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85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1500m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0.89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0.19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536321"/>
                  </a:ext>
                </a:extLst>
              </a:tr>
              <a:tr h="503176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5000m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0.93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0.07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37546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10000m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0.94</a:t>
                      </a:r>
                    </a:p>
                    <a:p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0.05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solidFill>
                          <a:srgbClr val="383838"/>
                        </a:solidFill>
                        <a:latin typeface="PT Serif" panose="020A060304050502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8131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Marathon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+mn-ea"/>
                          <a:cs typeface="+mn-cs"/>
                        </a:rPr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193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299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29ECAA75-94E0-F20B-A185-E85C960A8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330" y="493374"/>
            <a:ext cx="7884970" cy="77362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1388BF-6BA0-6719-D180-D3DB8DC722B5}"/>
              </a:ext>
            </a:extLst>
          </p:cNvPr>
          <p:cNvSpPr/>
          <p:nvPr/>
        </p:nvSpPr>
        <p:spPr>
          <a:xfrm>
            <a:off x="525272" y="2286000"/>
            <a:ext cx="4427728" cy="3276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E1EA8-C685-E51E-86BC-8DBF55B6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Factor Scores and Visualization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B4B31-D85C-8230-110F-734306F3CFED}"/>
              </a:ext>
            </a:extLst>
          </p:cNvPr>
          <p:cNvSpPr txBox="1"/>
          <p:nvPr/>
        </p:nvSpPr>
        <p:spPr>
          <a:xfrm>
            <a:off x="525272" y="1371600"/>
            <a:ext cx="7315200" cy="5184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Adding Factor Scores to Data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# Calculate factor scores
factor_scores = fa.transform(athletics)
# Add to original dataframe
data["stamina"] = factor_scores[:, 0]
data["speed"] = factor_scores[:, 1]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963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092F42F-4D6A-81E2-9DF7-0F1AE835B23B}"/>
              </a:ext>
            </a:extLst>
          </p:cNvPr>
          <p:cNvSpPr/>
          <p:nvPr/>
        </p:nvSpPr>
        <p:spPr>
          <a:xfrm>
            <a:off x="7696200" y="2971800"/>
            <a:ext cx="5703071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8BF4CB-2549-3C41-BDAC-6E2AF1E6F98D}"/>
              </a:ext>
            </a:extLst>
          </p:cNvPr>
          <p:cNvSpPr/>
          <p:nvPr/>
        </p:nvSpPr>
        <p:spPr>
          <a:xfrm>
            <a:off x="7708129" y="4648200"/>
            <a:ext cx="5703071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EDE04E-AF9F-45F0-578D-4C04CFF6394F}"/>
              </a:ext>
            </a:extLst>
          </p:cNvPr>
          <p:cNvSpPr/>
          <p:nvPr/>
        </p:nvSpPr>
        <p:spPr>
          <a:xfrm>
            <a:off x="1219200" y="4648200"/>
            <a:ext cx="5703071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7124B2-0EB6-CA0E-B2C6-C4DC59837822}"/>
              </a:ext>
            </a:extLst>
          </p:cNvPr>
          <p:cNvSpPr/>
          <p:nvPr/>
        </p:nvSpPr>
        <p:spPr>
          <a:xfrm>
            <a:off x="1244906" y="2971800"/>
            <a:ext cx="5703071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277" y="156288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473441" y="2971800"/>
            <a:ext cx="5246003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Identify latent constructs underlying observed variables</a:t>
            </a:r>
          </a:p>
          <a:p>
            <a:pPr marL="214313" indent="-214313">
              <a:lnSpc>
                <a:spcPct val="150000"/>
              </a:lnSpc>
              <a:buSzPct val="100000"/>
              <a:buChar char="•"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214313" indent="-214313" algn="l">
              <a:lnSpc>
                <a:spcPct val="1500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 data complexity while retaining essential information</a:t>
            </a:r>
          </a:p>
          <a:p>
            <a:pPr marL="214313" indent="-214313">
              <a:lnSpc>
                <a:spcPct val="150000"/>
              </a:lnSpc>
              <a:buSzPct val="100000"/>
              <a:buChar char="•"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38324" y="2971800"/>
            <a:ext cx="5175148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Rotation improves interpretability through simple structure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Factor scores enable further analysis in reduced dimensions</a:t>
            </a:r>
            <a:endParaRPr lang="en-US" sz="2400" dirty="0">
              <a:latin typeface="PT Serif" panose="020A06030405050202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83838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43F1EE-D911-93FE-0ECE-2F302D7CE145}"/>
              </a:ext>
            </a:extLst>
          </p:cNvPr>
          <p:cNvSpPr txBox="1"/>
          <p:nvPr/>
        </p:nvSpPr>
        <p:spPr>
          <a:xfrm>
            <a:off x="1143000" y="1394229"/>
            <a:ext cx="11958046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Factor Analysis provides a powerful framework for understanding complex multivariate relationships and reducing dimensionality while preserving meaningful structure.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</TotalTime>
  <Words>1974</Words>
  <Application>Microsoft Office PowerPoint</Application>
  <PresentationFormat>Custom</PresentationFormat>
  <Paragraphs>404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 Math</vt:lpstr>
      <vt:lpstr>DM Sans</vt:lpstr>
      <vt:lpstr>Lucida Sans Unicode</vt:lpstr>
      <vt:lpstr>PT Serif</vt:lpstr>
      <vt:lpstr>Times New Roman</vt:lpstr>
      <vt:lpstr>Office Theme</vt:lpstr>
      <vt:lpstr>PowerPoint Presentation</vt:lpstr>
      <vt:lpstr>PowerPoint Presentation</vt:lpstr>
      <vt:lpstr>Factor Analysis</vt:lpstr>
      <vt:lpstr>Statistical Model</vt:lpstr>
      <vt:lpstr>Statistical Model – Five Variables and Two Common Factors</vt:lpstr>
      <vt:lpstr>Statistical Model – Five Variables and Two Common Factors</vt:lpstr>
      <vt:lpstr>Common Factor and Unique Factor</vt:lpstr>
      <vt:lpstr>Factor Analysis Assumptions</vt:lpstr>
      <vt:lpstr>Estimation of Factor Loadings </vt:lpstr>
      <vt:lpstr>Interpretation of Factor Loadings</vt:lpstr>
      <vt:lpstr>Interpretation of Factor Loadings</vt:lpstr>
      <vt:lpstr>Rotation of Factors</vt:lpstr>
      <vt:lpstr>Rotation of Factors</vt:lpstr>
      <vt:lpstr>Factor Scores</vt:lpstr>
      <vt:lpstr>Example: Consumer Psychographic Factors </vt:lpstr>
      <vt:lpstr>Case Study – Athletics Records</vt:lpstr>
      <vt:lpstr>Athletics Data Snapshot</vt:lpstr>
      <vt:lpstr>Factor Analysis in Python </vt:lpstr>
      <vt:lpstr>Explained Variance Output and Interpretation </vt:lpstr>
      <vt:lpstr>Loadings Output and Interpretation </vt:lpstr>
      <vt:lpstr>Factor Scores and Visualization 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Fimran Sanghvi</cp:lastModifiedBy>
  <cp:revision>261</cp:revision>
  <dcterms:created xsi:type="dcterms:W3CDTF">2025-08-01T06:43:07Z</dcterms:created>
  <dcterms:modified xsi:type="dcterms:W3CDTF">2026-01-29T06:01:47Z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