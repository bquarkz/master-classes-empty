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74" r:id="rId2"/>
    <p:sldId id="315" r:id="rId3"/>
    <p:sldId id="300" r:id="rId4"/>
    <p:sldId id="350" r:id="rId5"/>
    <p:sldId id="351" r:id="rId6"/>
    <p:sldId id="347" r:id="rId7"/>
    <p:sldId id="352" r:id="rId8"/>
    <p:sldId id="304" r:id="rId9"/>
    <p:sldId id="333" r:id="rId10"/>
    <p:sldId id="353" r:id="rId11"/>
    <p:sldId id="354" r:id="rId12"/>
    <p:sldId id="335" r:id="rId13"/>
    <p:sldId id="334" r:id="rId14"/>
    <p:sldId id="355" r:id="rId15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48891F-FB35-E1C6-2832-95F5AEC01C35}" v="1" dt="2025-11-06T07:40:41.12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2575" autoAdjust="0"/>
  </p:normalViewPr>
  <p:slideViewPr>
    <p:cSldViewPr>
      <p:cViewPr varScale="1">
        <p:scale>
          <a:sx n="84" d="100"/>
          <a:sy n="84" d="100"/>
        </p:scale>
        <p:origin x="1000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D48891F-FB35-E1C6-2832-95F5AEC01C35}"/>
    <pc:docChg chg="modSld">
      <pc:chgData name="Guest User" userId="" providerId="Windows Live" clId="Web-{DD48891F-FB35-E1C6-2832-95F5AEC01C35}" dt="2025-11-06T07:40:41.129" v="0" actId="1076"/>
      <pc:docMkLst>
        <pc:docMk/>
      </pc:docMkLst>
      <pc:sldChg chg="modSp">
        <pc:chgData name="Guest User" userId="" providerId="Windows Live" clId="Web-{DD48891F-FB35-E1C6-2832-95F5AEC01C35}" dt="2025-11-06T07:40:41.129" v="0" actId="1076"/>
        <pc:sldMkLst>
          <pc:docMk/>
          <pc:sldMk cId="0" sldId="260"/>
        </pc:sldMkLst>
        <pc:spChg chg="mod">
          <ac:chgData name="Guest User" userId="" providerId="Windows Live" clId="Web-{DD48891F-FB35-E1C6-2832-95F5AEC01C35}" dt="2025-11-06T07:40:41.129" v="0" actId="1076"/>
          <ac:spMkLst>
            <pc:docMk/>
            <pc:sldMk cId="0" sldId="260"/>
            <ac:spMk id="11" creationId="{1729E060-4A6E-E272-7665-9392F1B6E4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097FF-D63A-4701-9D59-A7186DD4FFE5}" type="datetimeFigureOut">
              <a:rPr lang="en-IN" smtClean="0"/>
              <a:t>25/01/26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E45C9-D4C9-4BB9-AC1A-6D12C248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67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C471-F21A-8034-1182-7EC20A46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2DEB8-E147-4787-5FDF-AACC13D35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F521C-0896-D5EA-62D4-7B080E31F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912D4-651F-022F-E212-0668CF912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38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505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616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824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A85DC-158A-6A4D-AEC5-3C4D0AA39301}" type="datetime1">
              <a:rPr lang="en-IN" smtClean="0"/>
              <a:t>25/01/26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0CBE1-E654-804F-8DD3-1999B1EAA43E}" type="datetime1">
              <a:rPr lang="en-IN" smtClean="0"/>
              <a:t>25/01/26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E4A29-2FA4-5F43-8886-1C2CFE02D9AE}" type="datetime1">
              <a:rPr lang="en-IN" smtClean="0"/>
              <a:t>25/01/26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41625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69609" y="3090163"/>
            <a:ext cx="73812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7C385-8D9F-4541-81D3-BBF55B3B60AF}" type="datetime1">
              <a:rPr lang="en-IN" smtClean="0"/>
              <a:t>25/01/26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sldNum="0" hdr="0" ftr="0" dt="0"/>
  <p:txStyles>
    <p:titleStyle>
      <a:lvl1pPr>
        <a:defRPr>
          <a:latin typeface="PT Serif" panose="020A0603040505020204" pitchFamily="18" charset="0"/>
          <a:ea typeface="+mj-ea"/>
          <a:cs typeface="+mj-cs"/>
        </a:defRPr>
      </a:lvl1pPr>
    </p:titleStyle>
    <p:bodyStyle>
      <a:lvl1pPr marL="0">
        <a:defRPr>
          <a:latin typeface="PT Serif" panose="020A0603040505020204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8BBC-7E6C-F114-F782-376A30F0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>
            <a:extLst>
              <a:ext uri="{FF2B5EF4-FFF2-40B4-BE49-F238E27FC236}">
                <a16:creationId xmlns:a16="http://schemas.microsoft.com/office/drawing/2014/main" id="{F82AA0A4-B4C8-BFF7-1622-4303CB7DF1F3}"/>
              </a:ext>
            </a:extLst>
          </p:cNvPr>
          <p:cNvSpPr/>
          <p:nvPr/>
        </p:nvSpPr>
        <p:spPr>
          <a:xfrm>
            <a:off x="776536" y="2133600"/>
            <a:ext cx="7058739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Introduction to High-Dimensional Data</a:t>
            </a:r>
            <a:endParaRPr lang="en-US" sz="4100" dirty="0">
              <a:latin typeface="PT Serif" panose="020A0603040505020204" pitchFamily="18" charset="0"/>
            </a:endParaRP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34E7B785-51DF-6028-E343-20904A09A941}"/>
              </a:ext>
            </a:extLst>
          </p:cNvPr>
          <p:cNvSpPr/>
          <p:nvPr/>
        </p:nvSpPr>
        <p:spPr>
          <a:xfrm>
            <a:off x="776536" y="3470717"/>
            <a:ext cx="11567864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 comprehensive exploration of statistical methods and challenges in high-dimensional spaces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20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722AC495-E35E-7ED2-E96E-FD48ADFDB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19" y="533400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Contents</a:t>
            </a:r>
            <a:br>
              <a:rPr lang="en-US" sz="3600" dirty="0"/>
            </a:br>
            <a:endParaRPr lang="en-IN" dirty="0"/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016CBBA6-B9AB-B165-C2EF-2A9728A38D55}"/>
              </a:ext>
            </a:extLst>
          </p:cNvPr>
          <p:cNvSpPr/>
          <p:nvPr/>
        </p:nvSpPr>
        <p:spPr>
          <a:xfrm>
            <a:off x="793790" y="145506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7BC3F5DC-13B2-EF7D-1AFD-760FEE3BA591}"/>
              </a:ext>
            </a:extLst>
          </p:cNvPr>
          <p:cNvSpPr/>
          <p:nvPr/>
        </p:nvSpPr>
        <p:spPr>
          <a:xfrm>
            <a:off x="793790" y="1810107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E7C55DC6-75BF-FC3A-76DA-C052810AC8D0}"/>
              </a:ext>
            </a:extLst>
          </p:cNvPr>
          <p:cNvSpPr/>
          <p:nvPr/>
        </p:nvSpPr>
        <p:spPr>
          <a:xfrm>
            <a:off x="793790" y="1984415"/>
            <a:ext cx="43703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Definition of High-Dimensional Data</a:t>
            </a:r>
            <a:endParaRPr lang="en-US" sz="2400" dirty="0"/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20361C90-C835-AC84-275D-CE4BB4276942}"/>
              </a:ext>
            </a:extLst>
          </p:cNvPr>
          <p:cNvSpPr/>
          <p:nvPr/>
        </p:nvSpPr>
        <p:spPr>
          <a:xfrm>
            <a:off x="7428548" y="145506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41" name="Shape 5">
            <a:extLst>
              <a:ext uri="{FF2B5EF4-FFF2-40B4-BE49-F238E27FC236}">
                <a16:creationId xmlns:a16="http://schemas.microsoft.com/office/drawing/2014/main" id="{2E52F9A3-FE7C-0563-69FB-604CF6A26D07}"/>
              </a:ext>
            </a:extLst>
          </p:cNvPr>
          <p:cNvSpPr/>
          <p:nvPr/>
        </p:nvSpPr>
        <p:spPr>
          <a:xfrm>
            <a:off x="7428548" y="1810107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3D69420D-7CDA-0513-91D0-B27945DDFD35}"/>
              </a:ext>
            </a:extLst>
          </p:cNvPr>
          <p:cNvSpPr/>
          <p:nvPr/>
        </p:nvSpPr>
        <p:spPr>
          <a:xfrm>
            <a:off x="7428548" y="1984415"/>
            <a:ext cx="383321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Real-World Examples</a:t>
            </a:r>
            <a:endParaRPr lang="en-US" sz="2400" dirty="0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572B390E-AA64-55CE-4F93-867FA41B15A0}"/>
              </a:ext>
            </a:extLst>
          </p:cNvPr>
          <p:cNvSpPr/>
          <p:nvPr/>
        </p:nvSpPr>
        <p:spPr>
          <a:xfrm>
            <a:off x="793790" y="275332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44" name="Shape 8">
            <a:extLst>
              <a:ext uri="{FF2B5EF4-FFF2-40B4-BE49-F238E27FC236}">
                <a16:creationId xmlns:a16="http://schemas.microsoft.com/office/drawing/2014/main" id="{A57B1BEA-51F4-B2F0-261D-EE1F5A835AEE}"/>
              </a:ext>
            </a:extLst>
          </p:cNvPr>
          <p:cNvSpPr/>
          <p:nvPr/>
        </p:nvSpPr>
        <p:spPr>
          <a:xfrm>
            <a:off x="793790" y="3108365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D9492793-66A3-249D-AEBC-98E67CD9595D}"/>
              </a:ext>
            </a:extLst>
          </p:cNvPr>
          <p:cNvSpPr/>
          <p:nvPr/>
        </p:nvSpPr>
        <p:spPr>
          <a:xfrm>
            <a:off x="793790" y="3282672"/>
            <a:ext cx="392668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High n vs High p</a:t>
            </a:r>
            <a:endParaRPr lang="en-US" sz="2400" dirty="0"/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257D2B40-E3E1-20E4-2910-DF3A7602687A}"/>
              </a:ext>
            </a:extLst>
          </p:cNvPr>
          <p:cNvSpPr/>
          <p:nvPr/>
        </p:nvSpPr>
        <p:spPr>
          <a:xfrm>
            <a:off x="7428548" y="275332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47" name="Shape 11">
            <a:extLst>
              <a:ext uri="{FF2B5EF4-FFF2-40B4-BE49-F238E27FC236}">
                <a16:creationId xmlns:a16="http://schemas.microsoft.com/office/drawing/2014/main" id="{D5F3BEB8-2258-6D61-E349-D27CB8337AA6}"/>
              </a:ext>
            </a:extLst>
          </p:cNvPr>
          <p:cNvSpPr/>
          <p:nvPr/>
        </p:nvSpPr>
        <p:spPr>
          <a:xfrm>
            <a:off x="7428548" y="3108365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4F6C8DA7-AB62-C992-696F-8A1236E8EB39}"/>
              </a:ext>
            </a:extLst>
          </p:cNvPr>
          <p:cNvSpPr/>
          <p:nvPr/>
        </p:nvSpPr>
        <p:spPr>
          <a:xfrm>
            <a:off x="7428548" y="3282672"/>
            <a:ext cx="38370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Modeling Challenges</a:t>
            </a:r>
            <a:endParaRPr lang="en-US" sz="2400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7197A721-7FD3-3F63-F25B-C6958DC57722}"/>
              </a:ext>
            </a:extLst>
          </p:cNvPr>
          <p:cNvSpPr/>
          <p:nvPr/>
        </p:nvSpPr>
        <p:spPr>
          <a:xfrm>
            <a:off x="793790" y="405157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BD40A4AB-27E5-6A2C-4741-E0E4E6E3F084}"/>
              </a:ext>
            </a:extLst>
          </p:cNvPr>
          <p:cNvSpPr/>
          <p:nvPr/>
        </p:nvSpPr>
        <p:spPr>
          <a:xfrm>
            <a:off x="793790" y="4406622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1" name="Text 15">
            <a:extLst>
              <a:ext uri="{FF2B5EF4-FFF2-40B4-BE49-F238E27FC236}">
                <a16:creationId xmlns:a16="http://schemas.microsoft.com/office/drawing/2014/main" id="{B9947E46-7BAA-FAAB-FAB3-7CF49BB05E15}"/>
              </a:ext>
            </a:extLst>
          </p:cNvPr>
          <p:cNvSpPr/>
          <p:nvPr/>
        </p:nvSpPr>
        <p:spPr>
          <a:xfrm>
            <a:off x="793790" y="458093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Dimensionality Reduction</a:t>
            </a:r>
            <a:endParaRPr lang="en-US" sz="2400" dirty="0"/>
          </a:p>
        </p:txBody>
      </p:sp>
      <p:sp>
        <p:nvSpPr>
          <p:cNvPr id="52" name="Text 16">
            <a:extLst>
              <a:ext uri="{FF2B5EF4-FFF2-40B4-BE49-F238E27FC236}">
                <a16:creationId xmlns:a16="http://schemas.microsoft.com/office/drawing/2014/main" id="{DAA57C8E-9E59-C336-B74D-F543766EEB30}"/>
              </a:ext>
            </a:extLst>
          </p:cNvPr>
          <p:cNvSpPr/>
          <p:nvPr/>
        </p:nvSpPr>
        <p:spPr>
          <a:xfrm>
            <a:off x="7428548" y="405157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FF6D0CED-5474-980B-4F58-56AD6075DAC4}"/>
              </a:ext>
            </a:extLst>
          </p:cNvPr>
          <p:cNvSpPr/>
          <p:nvPr/>
        </p:nvSpPr>
        <p:spPr>
          <a:xfrm>
            <a:off x="7428548" y="4406622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243B9A85-0CD0-925E-FEC6-94C70484D8A3}"/>
              </a:ext>
            </a:extLst>
          </p:cNvPr>
          <p:cNvSpPr/>
          <p:nvPr/>
        </p:nvSpPr>
        <p:spPr>
          <a:xfrm>
            <a:off x="7428548" y="458093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Regularization Methods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81022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6924" y="-161051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What is High-Dimensional Data?</a:t>
            </a:r>
            <a:endParaRPr lang="en-US" sz="3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5278392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9893314" y="4161948"/>
            <a:ext cx="3818574" cy="2669414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108925" y="4418681"/>
            <a:ext cx="3602964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High-Dimensional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When p is large relative to n, creating unique challenges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4191000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E7F2EE5C-87C7-F16D-F9EF-EB811ED3C5B0}"/>
              </a:ext>
            </a:extLst>
          </p:cNvPr>
          <p:cNvSpPr/>
          <p:nvPr/>
        </p:nvSpPr>
        <p:spPr>
          <a:xfrm>
            <a:off x="533400" y="4126302"/>
            <a:ext cx="4114305" cy="2705059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0DC3D8C5-049C-DD26-3357-58E00F542DB1}"/>
              </a:ext>
            </a:extLst>
          </p:cNvPr>
          <p:cNvSpPr/>
          <p:nvPr/>
        </p:nvSpPr>
        <p:spPr>
          <a:xfrm>
            <a:off x="726760" y="4354920"/>
            <a:ext cx="3713225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Variables (p)</a:t>
            </a:r>
            <a:endParaRPr lang="en-US" sz="2400" dirty="0"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number of features or dimensions in your dataset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4C5EE8CA-E340-7264-83D8-CA41D716DE4C}"/>
              </a:ext>
            </a:extLst>
          </p:cNvPr>
          <p:cNvSpPr/>
          <p:nvPr/>
        </p:nvSpPr>
        <p:spPr>
          <a:xfrm>
            <a:off x="5257800" y="4114800"/>
            <a:ext cx="4114305" cy="2716561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385EE126-84A2-761A-9E6E-6FA9D141EFBC}"/>
              </a:ext>
            </a:extLst>
          </p:cNvPr>
          <p:cNvSpPr/>
          <p:nvPr/>
        </p:nvSpPr>
        <p:spPr>
          <a:xfrm>
            <a:off x="5445044" y="4354920"/>
            <a:ext cx="3604657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Observations (n)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number of samples or data points collected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45D1C2-A233-D347-B3AE-9F6C45D6BFFA}"/>
              </a:ext>
            </a:extLst>
          </p:cNvPr>
          <p:cNvSpPr txBox="1"/>
          <p:nvPr/>
        </p:nvSpPr>
        <p:spPr>
          <a:xfrm>
            <a:off x="457616" y="849037"/>
            <a:ext cx="13224964" cy="3649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Conceptual Understanding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020202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Dimensionality refers to the number of variables or features in a dataset, denoted as </a:t>
            </a: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. High-dimensional data arises when the number of variables </a:t>
            </a: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is large relative to the number of observations </a:t>
            </a: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n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This regime fundamentally changes how we approach statistical modeling and inference. Traditional methods that work well in low dimensions often fail or become computationally intractable when dimensionality increases.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163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709" y="-18447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Mathematical Framework</a:t>
            </a:r>
            <a:endParaRPr lang="en-US" sz="3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678192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9893314" y="2561748"/>
            <a:ext cx="3818574" cy="2669414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108925" y="2818481"/>
            <a:ext cx="3602964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Covariance Singularity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When p ≥ n, the covariance matrix becomes singular and non-invertible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590800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E7F2EE5C-87C7-F16D-F9EF-EB811ED3C5B0}"/>
              </a:ext>
            </a:extLst>
          </p:cNvPr>
          <p:cNvSpPr/>
          <p:nvPr/>
        </p:nvSpPr>
        <p:spPr>
          <a:xfrm>
            <a:off x="533400" y="2526102"/>
            <a:ext cx="4114305" cy="2705059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0DC3D8C5-049C-DD26-3357-58E00F542DB1}"/>
              </a:ext>
            </a:extLst>
          </p:cNvPr>
          <p:cNvSpPr/>
          <p:nvPr/>
        </p:nvSpPr>
        <p:spPr>
          <a:xfrm>
            <a:off x="726760" y="2754720"/>
            <a:ext cx="3713225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Data Matrix Structure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X ∈ </a:t>
            </a:r>
            <a:r>
              <a:rPr lang="en-US" sz="1800" dirty="0" err="1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ℝn×p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contains n observations across p dimensions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4C5EE8CA-E340-7264-83D8-CA41D716DE4C}"/>
              </a:ext>
            </a:extLst>
          </p:cNvPr>
          <p:cNvSpPr/>
          <p:nvPr/>
        </p:nvSpPr>
        <p:spPr>
          <a:xfrm>
            <a:off x="5257800" y="2514600"/>
            <a:ext cx="4114305" cy="2716561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385EE126-84A2-761A-9E6E-6FA9D141EFBC}"/>
              </a:ext>
            </a:extLst>
          </p:cNvPr>
          <p:cNvSpPr/>
          <p:nvPr/>
        </p:nvSpPr>
        <p:spPr>
          <a:xfrm>
            <a:off x="5445044" y="2754720"/>
            <a:ext cx="3604657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High-Dimensional Regime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Occurs when </a:t>
            </a: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 ≥ n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, fundamentally altering statistical properties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45D1C2-A233-D347-B3AE-9F6C45D6BFFA}"/>
              </a:ext>
            </a:extLst>
          </p:cNvPr>
          <p:cNvSpPr txBox="1"/>
          <p:nvPr/>
        </p:nvSpPr>
        <p:spPr>
          <a:xfrm>
            <a:off x="486924" y="1239220"/>
            <a:ext cx="13224964" cy="87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In mathematical terms, we represent data as a matrix </a:t>
            </a:r>
            <a:r>
              <a:rPr lang="en-US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X ∈ </a:t>
            </a:r>
            <a:r>
              <a:rPr lang="en-US" b="1" dirty="0" err="1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ℝn×p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, where each row corresponds to an observation and each column represents a variable.</a:t>
            </a: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83C312-DF79-812C-1144-30B765DAA717}"/>
              </a:ext>
            </a:extLst>
          </p:cNvPr>
          <p:cNvSpPr txBox="1"/>
          <p:nvPr/>
        </p:nvSpPr>
        <p:spPr>
          <a:xfrm>
            <a:off x="486924" y="5578811"/>
            <a:ext cx="12771876" cy="87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This singularity has profound implications for classical statistical methods that rely on matrix inversion, such as ordinary least squares regression and maximum likelihood estimation.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06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-223616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Real-World Applications</a:t>
            </a:r>
            <a:endParaRPr lang="en-US" sz="3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599631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9893313" y="1644987"/>
            <a:ext cx="4538091" cy="3598950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029556" y="1624173"/>
            <a:ext cx="4219844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Finance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Portfolio optimization with thousands of assets, technical indicators, and market features. High-frequency trading data adds temporal complexity to already high-dimensional spaces.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512239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4C5EE8CA-E340-7264-83D8-CA41D716DE4C}"/>
              </a:ext>
            </a:extLst>
          </p:cNvPr>
          <p:cNvSpPr/>
          <p:nvPr/>
        </p:nvSpPr>
        <p:spPr>
          <a:xfrm>
            <a:off x="5156867" y="1597839"/>
            <a:ext cx="4538092" cy="36460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385EE126-84A2-761A-9E6E-6FA9D141EFBC}"/>
              </a:ext>
            </a:extLst>
          </p:cNvPr>
          <p:cNvSpPr/>
          <p:nvPr/>
        </p:nvSpPr>
        <p:spPr>
          <a:xfrm>
            <a:off x="5297077" y="1597839"/>
            <a:ext cx="4397880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Medical Imaging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MRI and CT scans generate millions of pixels per image. Brain imaging studies may have p &gt; 100,000 voxels with n &lt; 100 subjects, presenting massive dimensionality challenges.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45D1C2-A233-D347-B3AE-9F6C45D6BFFA}"/>
              </a:ext>
            </a:extLst>
          </p:cNvPr>
          <p:cNvSpPr txBox="1"/>
          <p:nvPr/>
        </p:nvSpPr>
        <p:spPr>
          <a:xfrm>
            <a:off x="337565" y="970299"/>
            <a:ext cx="13224964" cy="42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Where High-Dimensional Data Emerges</a:t>
            </a: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8E093180-F5A8-2CBE-D953-BD7C41A162F8}"/>
              </a:ext>
            </a:extLst>
          </p:cNvPr>
          <p:cNvSpPr/>
          <p:nvPr/>
        </p:nvSpPr>
        <p:spPr>
          <a:xfrm>
            <a:off x="210997" y="1609341"/>
            <a:ext cx="4533480" cy="36460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F99D7DD5-9F01-FE6D-C4EE-95EF9624F0B6}"/>
              </a:ext>
            </a:extLst>
          </p:cNvPr>
          <p:cNvSpPr/>
          <p:nvPr/>
        </p:nvSpPr>
        <p:spPr>
          <a:xfrm>
            <a:off x="381000" y="1675258"/>
            <a:ext cx="4254706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Genomics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Gene expression studies measure thousands of genes (p ≈ 20,000) across hundreds of patients (n ≈ 100-500). Each gene represents a dimension, creating extreme high-dimensional scenarios.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CD15101D-B7AE-7826-FB47-B9A728207660}"/>
              </a:ext>
            </a:extLst>
          </p:cNvPr>
          <p:cNvSpPr/>
          <p:nvPr/>
        </p:nvSpPr>
        <p:spPr>
          <a:xfrm>
            <a:off x="152399" y="5495987"/>
            <a:ext cx="6982479" cy="2426451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48A21316-04EA-4C19-76AA-6933FBD4DED4}"/>
              </a:ext>
            </a:extLst>
          </p:cNvPr>
          <p:cNvSpPr/>
          <p:nvPr/>
        </p:nvSpPr>
        <p:spPr>
          <a:xfrm>
            <a:off x="355150" y="5594941"/>
            <a:ext cx="6649262" cy="283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Marketing Analytics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Customer behavior tracking across hundreds of touchpoints, demographic variables, and interaction features creates rich but high-dimensional customer profiles.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DDEEDA00-F9E4-69C2-586D-874BF5086B1C}"/>
              </a:ext>
            </a:extLst>
          </p:cNvPr>
          <p:cNvSpPr/>
          <p:nvPr/>
        </p:nvSpPr>
        <p:spPr>
          <a:xfrm>
            <a:off x="7315200" y="5484039"/>
            <a:ext cx="7205092" cy="2426451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B640D2E0-67DB-30FD-2B7C-6141D102B760}"/>
              </a:ext>
            </a:extLst>
          </p:cNvPr>
          <p:cNvSpPr/>
          <p:nvPr/>
        </p:nvSpPr>
        <p:spPr>
          <a:xfrm>
            <a:off x="7517949" y="5582993"/>
            <a:ext cx="6913455" cy="283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Text Mining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Document-term matrices where each unique word is a dimension. A corpus may contain p = 10,000+ words with n = 1,000 documents, creating sparse high-dimensional representations.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014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48C09-CE38-9CD5-DAA8-E72E0453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185" y="304800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High n vs High p</a:t>
            </a: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12921-A7EA-F4FB-A06F-7D9BD9DB3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7185" y="1175174"/>
            <a:ext cx="7381240" cy="333425"/>
          </a:xfrm>
        </p:spPr>
        <p:txBody>
          <a:bodyPr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Understanding the Distinction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44A4CD-48BF-DAE8-1E85-C70A249D3EB9}"/>
              </a:ext>
            </a:extLst>
          </p:cNvPr>
          <p:cNvSpPr txBox="1"/>
          <p:nvPr/>
        </p:nvSpPr>
        <p:spPr>
          <a:xfrm>
            <a:off x="7772402" y="1981200"/>
            <a:ext cx="6510838" cy="5527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High p (Many Variables)</a:t>
            </a:r>
          </a:p>
          <a:p>
            <a:pPr algn="l">
              <a:lnSpc>
                <a:spcPct val="20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Increasing the number of variables </a:t>
            </a:r>
            <a:r>
              <a:rPr lang="en-US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increases dimensionality and introduces fundamental challenges:</a:t>
            </a:r>
            <a:endParaRPr lang="en-US" dirty="0"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Exponential growth in volume</a:t>
            </a:r>
            <a:endParaRPr lang="en-US" dirty="0"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Sparsity of data points</a:t>
            </a:r>
            <a:endParaRPr lang="en-US" dirty="0"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Distance metrics become less meaningful</a:t>
            </a:r>
            <a:endParaRPr lang="en-US" dirty="0"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Computational complexity increases</a:t>
            </a: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curse of dimensionality depends on </a:t>
            </a:r>
            <a:r>
              <a:rPr lang="en-US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, not </a:t>
            </a:r>
            <a:r>
              <a:rPr lang="en-US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n</a:t>
            </a: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.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EAE387-6439-73F3-C270-3D7B06448993}"/>
              </a:ext>
            </a:extLst>
          </p:cNvPr>
          <p:cNvSpPr txBox="1"/>
          <p:nvPr/>
        </p:nvSpPr>
        <p:spPr>
          <a:xfrm>
            <a:off x="627185" y="1981200"/>
            <a:ext cx="6230815" cy="6292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High n (Many Observations)</a:t>
            </a: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Increasing the number of observations </a:t>
            </a: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n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generally improves statistical estimation and inference. More data points lead to:</a:t>
            </a:r>
            <a:endParaRPr lang="en-US" dirty="0">
              <a:solidFill>
                <a:srgbClr val="020202"/>
              </a:solidFill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Better parameter estimates</a:t>
            </a:r>
            <a:endParaRPr lang="en-US" sz="1800" dirty="0"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Reduced variance</a:t>
            </a:r>
            <a:endParaRPr lang="en-US" sz="1800" dirty="0"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More reliable confidence intervals</a:t>
            </a:r>
            <a:endParaRPr lang="en-US" sz="1800" dirty="0"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Improved generalization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This is the traditional "big data" scenario where more samples help.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039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709" y="-18447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The Modern Machine Learning Regime</a:t>
            </a:r>
            <a:endParaRPr lang="en-US" sz="3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678192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049825" y="3095148"/>
            <a:ext cx="3818574" cy="2669414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265436" y="3351881"/>
            <a:ext cx="3602964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3. Solution Approaches</a:t>
            </a:r>
            <a:endParaRPr lang="en-US" sz="2400" dirty="0"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ct val="150000"/>
              </a:lnSpc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Requires regularization techniques and scalable optimization algorithms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590800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E7F2EE5C-87C7-F16D-F9EF-EB811ED3C5B0}"/>
              </a:ext>
            </a:extLst>
          </p:cNvPr>
          <p:cNvSpPr/>
          <p:nvPr/>
        </p:nvSpPr>
        <p:spPr>
          <a:xfrm>
            <a:off x="304801" y="3059502"/>
            <a:ext cx="4499416" cy="2705059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0DC3D8C5-049C-DD26-3357-58E00F542DB1}"/>
              </a:ext>
            </a:extLst>
          </p:cNvPr>
          <p:cNvSpPr/>
          <p:nvPr/>
        </p:nvSpPr>
        <p:spPr>
          <a:xfrm>
            <a:off x="533401" y="3288120"/>
            <a:ext cx="4063096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1. Computational Challenges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Processing large matrices requires efficient algorithms and distributed computing infrastructure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4C5EE8CA-E340-7264-83D8-CA41D716DE4C}"/>
              </a:ext>
            </a:extLst>
          </p:cNvPr>
          <p:cNvSpPr/>
          <p:nvPr/>
        </p:nvSpPr>
        <p:spPr>
          <a:xfrm>
            <a:off x="5414311" y="3048000"/>
            <a:ext cx="4114305" cy="2716561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385EE126-84A2-761A-9E6E-6FA9D141EFBC}"/>
              </a:ext>
            </a:extLst>
          </p:cNvPr>
          <p:cNvSpPr/>
          <p:nvPr/>
        </p:nvSpPr>
        <p:spPr>
          <a:xfrm>
            <a:off x="5601555" y="3288120"/>
            <a:ext cx="3604657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2. Statistical Challenges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Even with large n, high p can lead to overfitting and spurious correlations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45D1C2-A233-D347-B3AE-9F6C45D6BFFA}"/>
              </a:ext>
            </a:extLst>
          </p:cNvPr>
          <p:cNvSpPr txBox="1"/>
          <p:nvPr/>
        </p:nvSpPr>
        <p:spPr>
          <a:xfrm>
            <a:off x="533400" y="1245161"/>
            <a:ext cx="13224964" cy="1728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When Both n and p Are Large</a:t>
            </a:r>
          </a:p>
          <a:p>
            <a:pPr marL="0" indent="0" algn="l">
              <a:lnSpc>
                <a:spcPts val="2550"/>
              </a:lnSpc>
              <a:buNone/>
            </a:pPr>
            <a:endParaRPr lang="en-US" dirty="0">
              <a:solidFill>
                <a:srgbClr val="020202"/>
              </a:solidFill>
              <a:latin typeface="PT Serif" panose="020A0603040505020204" pitchFamily="18" charset="0"/>
            </a:endParaRPr>
          </a:p>
          <a:p>
            <a:pPr algn="l">
              <a:lnSpc>
                <a:spcPts val="255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Contemporary machine learning often operates in scenarios where both the number of observations </a:t>
            </a: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n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and the number of features </a:t>
            </a: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are large. This creates a unique set of opportunities and challenges.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ts val="255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83C312-DF79-812C-1144-30B765DAA717}"/>
              </a:ext>
            </a:extLst>
          </p:cNvPr>
          <p:cNvSpPr txBox="1"/>
          <p:nvPr/>
        </p:nvSpPr>
        <p:spPr>
          <a:xfrm>
            <a:off x="533400" y="6167467"/>
            <a:ext cx="12771876" cy="716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Deep learning exemplifies this regime, with millions of parameters trained on millions of examples. Success requires careful regularization, dropout, and architectural choices to prevent overfitting despite large sample sizes.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760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object 13">
            <a:extLst>
              <a:ext uri="{FF2B5EF4-FFF2-40B4-BE49-F238E27FC236}">
                <a16:creationId xmlns:a16="http://schemas.microsoft.com/office/drawing/2014/main" id="{9EDED71C-1B31-D97D-38B2-DAFD66018FF9}"/>
              </a:ext>
            </a:extLst>
          </p:cNvPr>
          <p:cNvGrpSpPr/>
          <p:nvPr/>
        </p:nvGrpSpPr>
        <p:grpSpPr>
          <a:xfrm>
            <a:off x="1295400" y="973009"/>
            <a:ext cx="5865583" cy="3141791"/>
            <a:chOff x="793788" y="4631308"/>
            <a:chExt cx="6437630" cy="2974340"/>
          </a:xfrm>
        </p:grpSpPr>
        <p:sp>
          <p:nvSpPr>
            <p:cNvPr id="25" name="object 14">
              <a:extLst>
                <a:ext uri="{FF2B5EF4-FFF2-40B4-BE49-F238E27FC236}">
                  <a16:creationId xmlns:a16="http://schemas.microsoft.com/office/drawing/2014/main" id="{35293503-1DBD-8E87-3BE0-DDA71A76F25C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26" name="object 15">
              <a:extLst>
                <a:ext uri="{FF2B5EF4-FFF2-40B4-BE49-F238E27FC236}">
                  <a16:creationId xmlns:a16="http://schemas.microsoft.com/office/drawing/2014/main" id="{222A1FF6-5464-B670-5D90-F39A5749423F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21" name="object 13">
            <a:extLst>
              <a:ext uri="{FF2B5EF4-FFF2-40B4-BE49-F238E27FC236}">
                <a16:creationId xmlns:a16="http://schemas.microsoft.com/office/drawing/2014/main" id="{5D4C71A9-44DE-C30C-23FB-01ADE60A16CF}"/>
              </a:ext>
            </a:extLst>
          </p:cNvPr>
          <p:cNvGrpSpPr/>
          <p:nvPr/>
        </p:nvGrpSpPr>
        <p:grpSpPr>
          <a:xfrm>
            <a:off x="1295400" y="4383094"/>
            <a:ext cx="5885221" cy="3141791"/>
            <a:chOff x="793788" y="4631308"/>
            <a:chExt cx="6437630" cy="2974340"/>
          </a:xfrm>
        </p:grpSpPr>
        <p:sp>
          <p:nvSpPr>
            <p:cNvPr id="22" name="object 14">
              <a:extLst>
                <a:ext uri="{FF2B5EF4-FFF2-40B4-BE49-F238E27FC236}">
                  <a16:creationId xmlns:a16="http://schemas.microsoft.com/office/drawing/2014/main" id="{3AACB49F-E75F-EA46-C29E-950076399A38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23" name="object 15">
              <a:extLst>
                <a:ext uri="{FF2B5EF4-FFF2-40B4-BE49-F238E27FC236}">
                  <a16:creationId xmlns:a16="http://schemas.microsoft.com/office/drawing/2014/main" id="{6237666D-DF67-98DC-05C9-F9F742175B69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15" name="object 13">
            <a:extLst>
              <a:ext uri="{FF2B5EF4-FFF2-40B4-BE49-F238E27FC236}">
                <a16:creationId xmlns:a16="http://schemas.microsoft.com/office/drawing/2014/main" id="{E03DB111-066A-1466-380E-B1A5D264D147}"/>
              </a:ext>
            </a:extLst>
          </p:cNvPr>
          <p:cNvGrpSpPr/>
          <p:nvPr/>
        </p:nvGrpSpPr>
        <p:grpSpPr>
          <a:xfrm>
            <a:off x="7602178" y="4402009"/>
            <a:ext cx="5885221" cy="3141791"/>
            <a:chOff x="793788" y="4631308"/>
            <a:chExt cx="6437630" cy="2974340"/>
          </a:xfrm>
        </p:grpSpPr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692C152D-7A07-F647-B072-3F50C547CA6A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834CABA1-B7A9-4D1F-38E0-F9624839AD97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ECB50A61-AEB7-0B14-8AE8-E898A2B99D8F}"/>
              </a:ext>
            </a:extLst>
          </p:cNvPr>
          <p:cNvGrpSpPr/>
          <p:nvPr/>
        </p:nvGrpSpPr>
        <p:grpSpPr>
          <a:xfrm>
            <a:off x="7621816" y="991926"/>
            <a:ext cx="5865583" cy="3122874"/>
            <a:chOff x="793788" y="4631308"/>
            <a:chExt cx="6437630" cy="2974340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594874B8-2992-7984-EADD-99110A13FC67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AC59F4FA-A558-F930-8313-B0B11B9AD525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4617" y="-211477"/>
            <a:ext cx="13656055" cy="833113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Challenges in High-Dimensional Modeling</a:t>
            </a:r>
            <a:endParaRPr lang="en-US" sz="36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728722" y="961992"/>
            <a:ext cx="5188384" cy="8639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Curse of Dimensionality</a:t>
            </a:r>
            <a:endParaRPr lang="en-US" sz="2400" dirty="0">
              <a:latin typeface="PT Serif" panose="020A0603040505020204" pitchFamily="18" charset="0"/>
            </a:endParaRPr>
          </a:p>
          <a:p>
            <a:pPr algn="ctr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As dimensions increase, data becomes increasingly sparse. The volume of the space grows exponentially, requiring exponentially more data to maintain the same density.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Multicollinearity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High-dimensional data often contains correlated features, making it difficult to isolate individual variable effects and leading to unstable parameter estimates.</a:t>
            </a: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7865693" y="1015927"/>
            <a:ext cx="5476301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Overfitting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With many variables relative to observations, models can perfectly fit training data by capturing noise rather than true patterns, leading to poor generalization.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Visualization Limits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Humans can only visualize 2-3 dimensions effectively. Understanding patterns and relationships in high-dimensional spaces requires specialized techniques.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921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-76200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Principal Component Analysis (PCA)</a:t>
            </a:r>
            <a:endParaRPr lang="en-US" sz="3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466880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9664714" y="3188635"/>
            <a:ext cx="3818574" cy="3217951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9880325" y="3445369"/>
            <a:ext cx="3602964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Dimensionality Reduction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Retain top k components that explain most variance, reducing from p to k dimensions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379488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E7F2EE5C-87C7-F16D-F9EF-EB811ED3C5B0}"/>
              </a:ext>
            </a:extLst>
          </p:cNvPr>
          <p:cNvSpPr/>
          <p:nvPr/>
        </p:nvSpPr>
        <p:spPr>
          <a:xfrm>
            <a:off x="762000" y="3152990"/>
            <a:ext cx="3713225" cy="32650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0DC3D8C5-049C-DD26-3357-58E00F542DB1}"/>
              </a:ext>
            </a:extLst>
          </p:cNvPr>
          <p:cNvSpPr/>
          <p:nvPr/>
        </p:nvSpPr>
        <p:spPr>
          <a:xfrm>
            <a:off x="955361" y="3381608"/>
            <a:ext cx="3388040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Orthogonal Transformation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PCA finds orthogonal directions (principal components) in the feature space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4C5EE8CA-E340-7264-83D8-CA41D716DE4C}"/>
              </a:ext>
            </a:extLst>
          </p:cNvPr>
          <p:cNvSpPr/>
          <p:nvPr/>
        </p:nvSpPr>
        <p:spPr>
          <a:xfrm>
            <a:off x="5029200" y="3141488"/>
            <a:ext cx="4114305" cy="32650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385EE126-84A2-761A-9E6E-6FA9D141EFBC}"/>
              </a:ext>
            </a:extLst>
          </p:cNvPr>
          <p:cNvSpPr/>
          <p:nvPr/>
        </p:nvSpPr>
        <p:spPr>
          <a:xfrm>
            <a:off x="5216444" y="3381608"/>
            <a:ext cx="3604657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Variance Maximization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Each component captures maximum remaining variance in the data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62C82E-A3A1-371A-DFC0-1C970F7016E9}"/>
              </a:ext>
            </a:extLst>
          </p:cNvPr>
          <p:cNvSpPr txBox="1"/>
          <p:nvPr/>
        </p:nvSpPr>
        <p:spPr>
          <a:xfrm>
            <a:off x="732692" y="1047687"/>
            <a:ext cx="12534539" cy="1848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Linear Dimensionality Reduction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PCA is a fundamental technique for reducing dimensionality while preserving as much variance as possible. It transforms the original variables into a new set of uncorrelated variables called principal components.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58B137-1F92-AD58-AEA8-EBA23DA9660B}"/>
              </a:ext>
            </a:extLst>
          </p:cNvPr>
          <p:cNvSpPr txBox="1"/>
          <p:nvPr/>
        </p:nvSpPr>
        <p:spPr>
          <a:xfrm>
            <a:off x="533400" y="6693103"/>
            <a:ext cx="13178488" cy="1294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first principal component accounts for the largest possible variance, the second component accounts for the next largest variance orthogonal to the first, and so on. This creates a ranked set of components where the first few often capture most of the data's structure.</a:t>
            </a: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CF22C2CD-38F7-A7C0-F670-77D5CFD09682}"/>
              </a:ext>
            </a:extLst>
          </p:cNvPr>
          <p:cNvSpPr/>
          <p:nvPr/>
        </p:nvSpPr>
        <p:spPr>
          <a:xfrm>
            <a:off x="1295400" y="2590800"/>
            <a:ext cx="2514600" cy="395781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CA6C983-4CF1-8C7B-ACBF-D0D855C28A58}"/>
              </a:ext>
            </a:extLst>
          </p:cNvPr>
          <p:cNvSpPr/>
          <p:nvPr/>
        </p:nvSpPr>
        <p:spPr>
          <a:xfrm>
            <a:off x="5791200" y="2590800"/>
            <a:ext cx="2514600" cy="395781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821D2D4D-510D-BE97-C83D-C9EE0000C2F3}"/>
              </a:ext>
            </a:extLst>
          </p:cNvPr>
          <p:cNvSpPr/>
          <p:nvPr/>
        </p:nvSpPr>
        <p:spPr>
          <a:xfrm>
            <a:off x="10363200" y="2590800"/>
            <a:ext cx="2514600" cy="395781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13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8">
            <a:extLst>
              <a:ext uri="{FF2B5EF4-FFF2-40B4-BE49-F238E27FC236}">
                <a16:creationId xmlns:a16="http://schemas.microsoft.com/office/drawing/2014/main" id="{4CF020FE-7F4C-AE7B-8AAB-FB15AF5163EA}"/>
              </a:ext>
            </a:extLst>
          </p:cNvPr>
          <p:cNvSpPr/>
          <p:nvPr/>
        </p:nvSpPr>
        <p:spPr>
          <a:xfrm>
            <a:off x="8991600" y="3063699"/>
            <a:ext cx="4800600" cy="3372270"/>
          </a:xfrm>
          <a:prstGeom prst="roundRect">
            <a:avLst>
              <a:gd name="adj" fmla="val 1129"/>
            </a:avLst>
          </a:prstGeom>
          <a:solidFill>
            <a:srgbClr val="FFCDB3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890A5D-9E12-DC47-92F0-C11F150D4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1522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t-Distributed Stochastic Neighbor Embedding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533BAB-9EA2-7EB2-E633-FB9BFAB9E96B}"/>
              </a:ext>
            </a:extLst>
          </p:cNvPr>
          <p:cNvSpPr txBox="1"/>
          <p:nvPr/>
        </p:nvSpPr>
        <p:spPr>
          <a:xfrm>
            <a:off x="674077" y="1139067"/>
            <a:ext cx="13667778" cy="2264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Non-Linear Visualization Method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rgbClr val="020202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t-SNE is a powerful technique for visualizing high-dimensional data in 2 or 3 dimensions. Unlike PCA, it uses non-linear transformations to preserve local structure and reveal clusters.</a:t>
            </a: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F2C7C7-9F6F-C846-B2E8-520D89B834B9}"/>
              </a:ext>
            </a:extLst>
          </p:cNvPr>
          <p:cNvSpPr txBox="1"/>
          <p:nvPr/>
        </p:nvSpPr>
        <p:spPr>
          <a:xfrm>
            <a:off x="9173308" y="3104730"/>
            <a:ext cx="4572000" cy="3510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Important Note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rgbClr val="000000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t-SNE is computationally intensive and results can vary with different parameter settings. It's excellent for visualization but should not be used as a preprocessing step for predictive models.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887E4B-E299-8600-516C-8189DA7D73DC}"/>
              </a:ext>
            </a:extLst>
          </p:cNvPr>
          <p:cNvSpPr txBox="1"/>
          <p:nvPr/>
        </p:nvSpPr>
        <p:spPr>
          <a:xfrm>
            <a:off x="709246" y="3110592"/>
            <a:ext cx="7315200" cy="4480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Key Characteristics</a:t>
            </a:r>
          </a:p>
          <a:p>
            <a:pPr algn="l">
              <a:lnSpc>
                <a:spcPct val="150000"/>
              </a:lnSpc>
            </a:pPr>
            <a:endParaRPr lang="en-US" sz="2400" dirty="0">
              <a:solidFill>
                <a:srgbClr val="020202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Local Structure Preservation: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Maintains relationships between nearby points in high-dimensional space</a:t>
            </a:r>
            <a:endParaRPr lang="en-US" dirty="0"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Non-Linear Mapping: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Can capture complex, non-linear relationships that PCA misses</a:t>
            </a:r>
            <a:endParaRPr lang="en-US" dirty="0"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Visualization Focus: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Primarily used for exploratory data analysis and visualization</a:t>
            </a:r>
            <a:endParaRPr lang="en-US" dirty="0"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Not for Prediction: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Cannot be used for predictive modeling or transforming new data points</a:t>
            </a: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67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4150" y="-123738"/>
            <a:ext cx="13656055" cy="833113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Regularization: Ridge Regression</a:t>
            </a:r>
            <a:endParaRPr lang="en-US" sz="3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818E79-D86C-7C1A-5B53-D4FABE41A162}"/>
              </a:ext>
            </a:extLst>
          </p:cNvPr>
          <p:cNvSpPr txBox="1"/>
          <p:nvPr/>
        </p:nvSpPr>
        <p:spPr>
          <a:xfrm>
            <a:off x="698616" y="938747"/>
            <a:ext cx="12922212" cy="2125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L2 Penalty for Coefficient Shrinkage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050" dirty="0">
              <a:solidFill>
                <a:srgbClr val="020202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Ridge regression addresses high-dimensional challenges by adding an L2 penalty term to the loss function, shrinking coefficient estimates toward zero without eliminating any variables entirely.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46" name="Shape 2">
            <a:extLst>
              <a:ext uri="{FF2B5EF4-FFF2-40B4-BE49-F238E27FC236}">
                <a16:creationId xmlns:a16="http://schemas.microsoft.com/office/drawing/2014/main" id="{2113E014-C62D-741E-CD50-3F65B4A2A058}"/>
              </a:ext>
            </a:extLst>
          </p:cNvPr>
          <p:cNvSpPr/>
          <p:nvPr/>
        </p:nvSpPr>
        <p:spPr>
          <a:xfrm>
            <a:off x="10896600" y="2972697"/>
            <a:ext cx="3248349" cy="4586149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pPr algn="l"/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47" name="Text 3">
            <a:extLst>
              <a:ext uri="{FF2B5EF4-FFF2-40B4-BE49-F238E27FC236}">
                <a16:creationId xmlns:a16="http://schemas.microsoft.com/office/drawing/2014/main" id="{8626CF47-485A-63FA-C040-FF751DA3E465}"/>
              </a:ext>
            </a:extLst>
          </p:cNvPr>
          <p:cNvSpPr/>
          <p:nvPr/>
        </p:nvSpPr>
        <p:spPr>
          <a:xfrm>
            <a:off x="11030289" y="3064522"/>
            <a:ext cx="3054988" cy="4004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All Variables Retained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Unlike Lasso, Ridge keeps all variables in the model with non-zero coefficients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48" name="Shape 2">
            <a:extLst>
              <a:ext uri="{FF2B5EF4-FFF2-40B4-BE49-F238E27FC236}">
                <a16:creationId xmlns:a16="http://schemas.microsoft.com/office/drawing/2014/main" id="{224AA335-3E49-4B54-10D6-2C7D0760D9E7}"/>
              </a:ext>
            </a:extLst>
          </p:cNvPr>
          <p:cNvSpPr/>
          <p:nvPr/>
        </p:nvSpPr>
        <p:spPr>
          <a:xfrm>
            <a:off x="533400" y="2957651"/>
            <a:ext cx="3248349" cy="4586149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pPr algn="l"/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49" name="Text 3">
            <a:extLst>
              <a:ext uri="{FF2B5EF4-FFF2-40B4-BE49-F238E27FC236}">
                <a16:creationId xmlns:a16="http://schemas.microsoft.com/office/drawing/2014/main" id="{04C81FA7-8209-6F02-0E13-8649E978A7F0}"/>
              </a:ext>
            </a:extLst>
          </p:cNvPr>
          <p:cNvSpPr/>
          <p:nvPr/>
        </p:nvSpPr>
        <p:spPr>
          <a:xfrm>
            <a:off x="714301" y="3162747"/>
            <a:ext cx="3054988" cy="4004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Penalty Term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Adds λ∑βj2 to the loss function, where λ controls shrinkage strength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50" name="Shape 2">
            <a:extLst>
              <a:ext uri="{FF2B5EF4-FFF2-40B4-BE49-F238E27FC236}">
                <a16:creationId xmlns:a16="http://schemas.microsoft.com/office/drawing/2014/main" id="{17864F51-4E51-29CD-CDC1-EE875A013BF1}"/>
              </a:ext>
            </a:extLst>
          </p:cNvPr>
          <p:cNvSpPr/>
          <p:nvPr/>
        </p:nvSpPr>
        <p:spPr>
          <a:xfrm>
            <a:off x="3929420" y="2957650"/>
            <a:ext cx="3248349" cy="4586149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pPr algn="l"/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D0E0B377-71E9-8C93-A097-BF560085A3CD}"/>
              </a:ext>
            </a:extLst>
          </p:cNvPr>
          <p:cNvSpPr/>
          <p:nvPr/>
        </p:nvSpPr>
        <p:spPr>
          <a:xfrm>
            <a:off x="4073206" y="3162747"/>
            <a:ext cx="3054988" cy="4004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Coefficient Shrinkage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All coefficients are shrunk proportionally toward zero, reducing variance at the cost of some bias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52" name="Shape 2">
            <a:extLst>
              <a:ext uri="{FF2B5EF4-FFF2-40B4-BE49-F238E27FC236}">
                <a16:creationId xmlns:a16="http://schemas.microsoft.com/office/drawing/2014/main" id="{0EA380D1-D42E-0A5E-7A7D-EC9C893A5934}"/>
              </a:ext>
            </a:extLst>
          </p:cNvPr>
          <p:cNvSpPr/>
          <p:nvPr/>
        </p:nvSpPr>
        <p:spPr>
          <a:xfrm>
            <a:off x="7419651" y="2971628"/>
            <a:ext cx="3248349" cy="4586149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pPr algn="l"/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9DF4AF22-70A4-14DD-BB60-7A67465F16FA}"/>
              </a:ext>
            </a:extLst>
          </p:cNvPr>
          <p:cNvSpPr/>
          <p:nvPr/>
        </p:nvSpPr>
        <p:spPr>
          <a:xfrm>
            <a:off x="7583021" y="3162747"/>
            <a:ext cx="3054988" cy="4004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Multicollinearity Handling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Particularly effective when predictors are correlated, stabilizing coefficient estimates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415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-44196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Regularization: Lasso Regression</a:t>
            </a:r>
            <a:endParaRPr lang="en-US" sz="36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968228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E7F2EE5C-87C7-F16D-F9EF-EB811ED3C5B0}"/>
              </a:ext>
            </a:extLst>
          </p:cNvPr>
          <p:cNvSpPr/>
          <p:nvPr/>
        </p:nvSpPr>
        <p:spPr>
          <a:xfrm>
            <a:off x="533400" y="3226137"/>
            <a:ext cx="3248349" cy="2836025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pPr algn="l"/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0DC3D8C5-049C-DD26-3357-58E00F542DB1}"/>
              </a:ext>
            </a:extLst>
          </p:cNvPr>
          <p:cNvSpPr/>
          <p:nvPr/>
        </p:nvSpPr>
        <p:spPr>
          <a:xfrm>
            <a:off x="644892" y="3164086"/>
            <a:ext cx="305498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1. L1 Penalty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Adds λ∑|βj| to the loss function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2A6C95-3BCC-A2DB-9BA6-7EC86CDC6A14}"/>
              </a:ext>
            </a:extLst>
          </p:cNvPr>
          <p:cNvSpPr txBox="1"/>
          <p:nvPr/>
        </p:nvSpPr>
        <p:spPr>
          <a:xfrm>
            <a:off x="509954" y="1093682"/>
            <a:ext cx="13400290" cy="2264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L1 Penalty for Sparsity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rgbClr val="020202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Lasso (Least Absolute Shrinkage and Selection Operator) uses an L1 penalty that can shrink some coefficients exactly to zero, performing automatic variable selection alongside regularization.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3C0E5E34-2D1D-4755-FE37-189B4FE0459F}"/>
              </a:ext>
            </a:extLst>
          </p:cNvPr>
          <p:cNvSpPr/>
          <p:nvPr/>
        </p:nvSpPr>
        <p:spPr>
          <a:xfrm>
            <a:off x="533400" y="6548212"/>
            <a:ext cx="1266586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Lasso is particularly valuable in high-dimensional settings where we believe only a subset of variables are truly relevant. The sparsity property makes models more interpretable and computationally efficient.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612CE150-3246-45EB-8EBD-804E883B9582}"/>
              </a:ext>
            </a:extLst>
          </p:cNvPr>
          <p:cNvSpPr/>
          <p:nvPr/>
        </p:nvSpPr>
        <p:spPr>
          <a:xfrm>
            <a:off x="533400" y="3244902"/>
            <a:ext cx="3248349" cy="2836025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pPr algn="l"/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A98E7AF2-81B5-1D46-542F-DE9C3530D6D4}"/>
              </a:ext>
            </a:extLst>
          </p:cNvPr>
          <p:cNvSpPr/>
          <p:nvPr/>
        </p:nvSpPr>
        <p:spPr>
          <a:xfrm>
            <a:off x="644892" y="3182851"/>
            <a:ext cx="305498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1. L1 Penalty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Adds λ∑|βj| to the loss function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B94945F4-B56D-F053-26AE-A8ECE96A4F2B}"/>
              </a:ext>
            </a:extLst>
          </p:cNvPr>
          <p:cNvSpPr/>
          <p:nvPr/>
        </p:nvSpPr>
        <p:spPr>
          <a:xfrm>
            <a:off x="3962400" y="3258879"/>
            <a:ext cx="3248349" cy="2836025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pPr algn="l"/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32B54AFD-BE49-EED2-A233-49AAFDD44C1C}"/>
              </a:ext>
            </a:extLst>
          </p:cNvPr>
          <p:cNvSpPr/>
          <p:nvPr/>
        </p:nvSpPr>
        <p:spPr>
          <a:xfrm>
            <a:off x="4073892" y="3196828"/>
            <a:ext cx="305498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2. Sparsity Induction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Forces some coefficients to exactly zero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4D6F918F-711F-BADD-086D-2B5277BC0D8B}"/>
              </a:ext>
            </a:extLst>
          </p:cNvPr>
          <p:cNvSpPr/>
          <p:nvPr/>
        </p:nvSpPr>
        <p:spPr>
          <a:xfrm>
            <a:off x="7419651" y="3258879"/>
            <a:ext cx="3248349" cy="2836025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pPr algn="l"/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B9287D6C-FC3F-E45A-9A1E-36D58C2343D3}"/>
              </a:ext>
            </a:extLst>
          </p:cNvPr>
          <p:cNvSpPr/>
          <p:nvPr/>
        </p:nvSpPr>
        <p:spPr>
          <a:xfrm>
            <a:off x="7531143" y="3196828"/>
            <a:ext cx="305498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3. Variable Selection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Automatically selects relevant features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F6F73D7F-890A-0AE8-AB60-5F886C1C1D4F}"/>
              </a:ext>
            </a:extLst>
          </p:cNvPr>
          <p:cNvSpPr/>
          <p:nvPr/>
        </p:nvSpPr>
        <p:spPr>
          <a:xfrm>
            <a:off x="10896600" y="3258879"/>
            <a:ext cx="3248349" cy="2836025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pPr algn="l"/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DA691E21-6358-547C-7FB3-D56AACF71102}"/>
              </a:ext>
            </a:extLst>
          </p:cNvPr>
          <p:cNvSpPr/>
          <p:nvPr/>
        </p:nvSpPr>
        <p:spPr>
          <a:xfrm>
            <a:off x="11008092" y="3196828"/>
            <a:ext cx="305498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4. Interpretability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Creates simpler, more interpretable models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D8EE0470-177F-BA66-8886-4EFEE1A1FA45}"/>
              </a:ext>
            </a:extLst>
          </p:cNvPr>
          <p:cNvSpPr/>
          <p:nvPr/>
        </p:nvSpPr>
        <p:spPr>
          <a:xfrm>
            <a:off x="533400" y="3243833"/>
            <a:ext cx="3248349" cy="2836025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pPr algn="l"/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C2857D19-C3EF-A16B-E1DC-624AA246FB6C}"/>
              </a:ext>
            </a:extLst>
          </p:cNvPr>
          <p:cNvSpPr/>
          <p:nvPr/>
        </p:nvSpPr>
        <p:spPr>
          <a:xfrm>
            <a:off x="644892" y="3181782"/>
            <a:ext cx="305498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1. L1 Penalty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Adds λ∑|βj| to the loss function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33" name="Shape 2">
            <a:extLst>
              <a:ext uri="{FF2B5EF4-FFF2-40B4-BE49-F238E27FC236}">
                <a16:creationId xmlns:a16="http://schemas.microsoft.com/office/drawing/2014/main" id="{5EA0BDB3-3C74-503E-1679-070ACDE407F3}"/>
              </a:ext>
            </a:extLst>
          </p:cNvPr>
          <p:cNvSpPr/>
          <p:nvPr/>
        </p:nvSpPr>
        <p:spPr>
          <a:xfrm>
            <a:off x="3962400" y="3257810"/>
            <a:ext cx="3248349" cy="2836025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pPr algn="l"/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C3852FB2-6AD7-0106-5835-3990B4B780DE}"/>
              </a:ext>
            </a:extLst>
          </p:cNvPr>
          <p:cNvSpPr/>
          <p:nvPr/>
        </p:nvSpPr>
        <p:spPr>
          <a:xfrm>
            <a:off x="4073892" y="3195759"/>
            <a:ext cx="305498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2. Sparsity Induction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Forces some coefficients to exactly zero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AD98D1B9-506A-F360-C959-B3C3D5E4369B}"/>
              </a:ext>
            </a:extLst>
          </p:cNvPr>
          <p:cNvSpPr/>
          <p:nvPr/>
        </p:nvSpPr>
        <p:spPr>
          <a:xfrm>
            <a:off x="7419651" y="3257810"/>
            <a:ext cx="3248349" cy="2836025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pPr algn="l"/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0B4098E8-31D3-C353-9C1C-29F8BC76824A}"/>
              </a:ext>
            </a:extLst>
          </p:cNvPr>
          <p:cNvSpPr/>
          <p:nvPr/>
        </p:nvSpPr>
        <p:spPr>
          <a:xfrm>
            <a:off x="7531143" y="3195759"/>
            <a:ext cx="305498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3. Variable Selection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Automatically selects relevant features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662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5ECCF-503B-13BE-5208-0E240B43D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6384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Comparing Regularization Approaches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06BB0-73BB-A4EF-12A8-CD00208FE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7523" y="1191381"/>
            <a:ext cx="6289431" cy="6727676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Ridge Regression (L2)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rgbClr val="020202"/>
              </a:solidFill>
              <a:ea typeface="PT Serif" pitchFamily="34" charset="-122"/>
              <a:cs typeface="PT Serif" pitchFamily="34" charset="-12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Shrinks all coefficients</a:t>
            </a:r>
            <a:endParaRPr lang="en-US" sz="24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     Proportional reduction toward zero</a:t>
            </a:r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Retains all variables</a:t>
            </a:r>
            <a:endParaRPr lang="en-US" sz="24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     No automatic feature selection</a:t>
            </a:r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Better with correlated predictors</a:t>
            </a:r>
            <a:endParaRPr lang="en-US" sz="24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     Handles multicollinearity well</a:t>
            </a:r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Computationally efficient</a:t>
            </a:r>
            <a:endParaRPr lang="en-US" sz="24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     Closed-form solution available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FF0058-1B20-2EAA-E6D5-7C77BC728A93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309338" y="1191381"/>
            <a:ext cx="7321062" cy="6866175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Lasso Regression (L1)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2000" dirty="0">
              <a:solidFill>
                <a:srgbClr val="020202"/>
              </a:solidFill>
              <a:ea typeface="PT Serif" pitchFamily="34" charset="-122"/>
              <a:cs typeface="PT Serif" pitchFamily="34" charset="-12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Shrinks some to exactly zero</a:t>
            </a:r>
            <a:endParaRPr lang="en-US" sz="2400" dirty="0">
              <a:solidFill>
                <a:srgbClr val="020202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     Creates sparse solutions</a:t>
            </a:r>
          </a:p>
          <a:p>
            <a:pPr algn="l">
              <a:lnSpc>
                <a:spcPct val="150000"/>
              </a:lnSpc>
            </a:pPr>
            <a:endParaRPr lang="en-US" sz="2000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Performs variable selection</a:t>
            </a:r>
            <a:endParaRPr lang="en-US" sz="24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     Automatic feature elimination</a:t>
            </a:r>
          </a:p>
          <a:p>
            <a:pPr algn="l">
              <a:lnSpc>
                <a:spcPct val="150000"/>
              </a:lnSpc>
            </a:pPr>
            <a:endParaRPr lang="en-US" sz="2000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Selects one from correlated group</a:t>
            </a:r>
            <a:endParaRPr lang="en-US" sz="24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     May arbitrarily choose among correlated features</a:t>
            </a:r>
          </a:p>
          <a:p>
            <a:pPr algn="l">
              <a:lnSpc>
                <a:spcPct val="150000"/>
              </a:lnSpc>
            </a:pPr>
            <a:endParaRPr lang="en-US" sz="2000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Requires iterative algorithms</a:t>
            </a:r>
            <a:endParaRPr lang="en-US" sz="24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     No closed-form solution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12692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object 13">
            <a:extLst>
              <a:ext uri="{FF2B5EF4-FFF2-40B4-BE49-F238E27FC236}">
                <a16:creationId xmlns:a16="http://schemas.microsoft.com/office/drawing/2014/main" id="{9EDED71C-1B31-D97D-38B2-DAFD66018FF9}"/>
              </a:ext>
            </a:extLst>
          </p:cNvPr>
          <p:cNvGrpSpPr/>
          <p:nvPr/>
        </p:nvGrpSpPr>
        <p:grpSpPr>
          <a:xfrm>
            <a:off x="1147183" y="1373078"/>
            <a:ext cx="5865583" cy="2971800"/>
            <a:chOff x="793788" y="4631308"/>
            <a:chExt cx="6437630" cy="2974340"/>
          </a:xfrm>
        </p:grpSpPr>
        <p:sp>
          <p:nvSpPr>
            <p:cNvPr id="25" name="object 14">
              <a:extLst>
                <a:ext uri="{FF2B5EF4-FFF2-40B4-BE49-F238E27FC236}">
                  <a16:creationId xmlns:a16="http://schemas.microsoft.com/office/drawing/2014/main" id="{35293503-1DBD-8E87-3BE0-DDA71A76F25C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26" name="object 15">
              <a:extLst>
                <a:ext uri="{FF2B5EF4-FFF2-40B4-BE49-F238E27FC236}">
                  <a16:creationId xmlns:a16="http://schemas.microsoft.com/office/drawing/2014/main" id="{222A1FF6-5464-B670-5D90-F39A5749423F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ECB50A61-AEB7-0B14-8AE8-E898A2B99D8F}"/>
              </a:ext>
            </a:extLst>
          </p:cNvPr>
          <p:cNvGrpSpPr/>
          <p:nvPr/>
        </p:nvGrpSpPr>
        <p:grpSpPr>
          <a:xfrm>
            <a:off x="7559330" y="1371600"/>
            <a:ext cx="5865583" cy="2971800"/>
            <a:chOff x="793788" y="4631308"/>
            <a:chExt cx="6437630" cy="2974340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594874B8-2992-7984-EADD-99110A13FC67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AC59F4FA-A558-F930-8313-B0B11B9AD525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4345" y="172974"/>
            <a:ext cx="13656055" cy="833113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638811" y="1495392"/>
            <a:ext cx="5188384" cy="8639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Dimensionality Driven by p</a:t>
            </a:r>
            <a:endParaRPr lang="en-US" sz="2400" dirty="0">
              <a:latin typeface="PT Serif" panose="020A0603040505020204" pitchFamily="18" charset="0"/>
            </a:endParaRPr>
          </a:p>
          <a:p>
            <a:pPr algn="ctr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High-dimensional challenges arise from the number of variables (p), not observations (n). The curse of dimensionality depends fundamentally on feature space size.</a:t>
            </a: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7803207" y="1395601"/>
            <a:ext cx="5476301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Multiple Solution Strategies</a:t>
            </a:r>
            <a:endParaRPr lang="en-US" sz="2400" dirty="0"/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Combat high dimensionality through dimensionality reduction (PCA, t-SNE) and regularization (Ridge, Lasso). Each approach serves different purposes and contexts.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PT Serif" panose="020A0603040505020204" pitchFamily="18" charset="0"/>
            </a:endParaRPr>
          </a:p>
        </p:txBody>
      </p:sp>
      <p:grpSp>
        <p:nvGrpSpPr>
          <p:cNvPr id="28" name="object 13">
            <a:extLst>
              <a:ext uri="{FF2B5EF4-FFF2-40B4-BE49-F238E27FC236}">
                <a16:creationId xmlns:a16="http://schemas.microsoft.com/office/drawing/2014/main" id="{5D3B6672-EC57-FF09-9B07-2A6344A334CB}"/>
              </a:ext>
            </a:extLst>
          </p:cNvPr>
          <p:cNvGrpSpPr/>
          <p:nvPr/>
        </p:nvGrpSpPr>
        <p:grpSpPr>
          <a:xfrm>
            <a:off x="4345217" y="4724400"/>
            <a:ext cx="5865583" cy="2971800"/>
            <a:chOff x="793788" y="4631308"/>
            <a:chExt cx="6437630" cy="2974340"/>
          </a:xfrm>
        </p:grpSpPr>
        <p:sp>
          <p:nvSpPr>
            <p:cNvPr id="29" name="object 14">
              <a:extLst>
                <a:ext uri="{FF2B5EF4-FFF2-40B4-BE49-F238E27FC236}">
                  <a16:creationId xmlns:a16="http://schemas.microsoft.com/office/drawing/2014/main" id="{BE61E374-4C36-3055-2FBB-62DD8DAFD52D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30" name="object 15">
              <a:extLst>
                <a:ext uri="{FF2B5EF4-FFF2-40B4-BE49-F238E27FC236}">
                  <a16:creationId xmlns:a16="http://schemas.microsoft.com/office/drawing/2014/main" id="{F7805851-5E9F-9209-C7EC-FB2BCEF303DD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sp>
        <p:nvSpPr>
          <p:cNvPr id="31" name="Text 3">
            <a:extLst>
              <a:ext uri="{FF2B5EF4-FFF2-40B4-BE49-F238E27FC236}">
                <a16:creationId xmlns:a16="http://schemas.microsoft.com/office/drawing/2014/main" id="{1817E2A5-559A-3E17-94FB-4BA1FA693253}"/>
              </a:ext>
            </a:extLst>
          </p:cNvPr>
          <p:cNvSpPr/>
          <p:nvPr/>
        </p:nvSpPr>
        <p:spPr>
          <a:xfrm>
            <a:off x="4836845" y="4846714"/>
            <a:ext cx="5188384" cy="8639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Trade-offs Are Inevitable</a:t>
            </a:r>
            <a:endParaRPr lang="en-US" sz="2400" dirty="0">
              <a:latin typeface="PT Serif" panose="020A0603040505020204" pitchFamily="18" charset="0"/>
            </a:endParaRPr>
          </a:p>
          <a:p>
            <a:pPr algn="ctr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All methods involve trade-offs between bias and variance, interpretability and performance, computational cost and accuracy. Choose based on your specific goals.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760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843</TotalTime>
  <Words>1411</Words>
  <Application>Microsoft Macintosh PowerPoint</Application>
  <PresentationFormat>Custom</PresentationFormat>
  <Paragraphs>211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DM Sans</vt:lpstr>
      <vt:lpstr>Lucida Sans Unicode</vt:lpstr>
      <vt:lpstr>PT Serif</vt:lpstr>
      <vt:lpstr>PT Serif Light</vt:lpstr>
      <vt:lpstr>Office Theme</vt:lpstr>
      <vt:lpstr>PowerPoint Presentation</vt:lpstr>
      <vt:lpstr>Contents </vt:lpstr>
      <vt:lpstr>What is High-Dimensional Data?</vt:lpstr>
      <vt:lpstr>Mathematical Framework</vt:lpstr>
      <vt:lpstr>Real-World Applications</vt:lpstr>
      <vt:lpstr>High n vs High p</vt:lpstr>
      <vt:lpstr>The Modern Machine Learning Regime</vt:lpstr>
      <vt:lpstr>Challenges in High-Dimensional Modeling</vt:lpstr>
      <vt:lpstr>Principal Component Analysis (PCA)</vt:lpstr>
      <vt:lpstr>t-Distributed Stochastic Neighbor Embedding </vt:lpstr>
      <vt:lpstr>Regularization: Ridge Regression</vt:lpstr>
      <vt:lpstr>Regularization: Lasso Regression</vt:lpstr>
      <vt:lpstr>Comparing Regularization Approaches</vt:lpstr>
      <vt:lpstr>Key Takeaways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Vinayak Deshpande</cp:lastModifiedBy>
  <cp:revision>296</cp:revision>
  <dcterms:created xsi:type="dcterms:W3CDTF">2025-08-01T06:43:07Z</dcterms:created>
  <dcterms:modified xsi:type="dcterms:W3CDTF">2026-01-25T16:40:46Z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2025-08-01T00:00:00Z</vt:filetime>
  </property>
  <property fmtid="{D5CDD505-2E9C-101B-9397-08002B2CF9AE}" pid="5" name="Producer">
    <vt:lpwstr>Microsoft® PowerPoint® 2021</vt:lpwstr>
  </property>
</Properties>
</file>