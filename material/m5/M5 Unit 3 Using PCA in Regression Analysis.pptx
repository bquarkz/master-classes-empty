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74" r:id="rId2"/>
    <p:sldId id="275" r:id="rId3"/>
    <p:sldId id="328" r:id="rId4"/>
    <p:sldId id="345" r:id="rId5"/>
    <p:sldId id="346" r:id="rId6"/>
    <p:sldId id="348" r:id="rId7"/>
    <p:sldId id="300" r:id="rId8"/>
    <p:sldId id="349" r:id="rId9"/>
    <p:sldId id="350" r:id="rId10"/>
    <p:sldId id="329" r:id="rId11"/>
    <p:sldId id="351" r:id="rId12"/>
    <p:sldId id="330" r:id="rId13"/>
    <p:sldId id="352" r:id="rId14"/>
    <p:sldId id="353" r:id="rId15"/>
    <p:sldId id="331" r:id="rId16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8891F-FB35-E1C6-2832-95F5AEC01C35}" v="1" dt="2025-11-06T07:40:41.12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2891" autoAdjust="0"/>
  </p:normalViewPr>
  <p:slideViewPr>
    <p:cSldViewPr>
      <p:cViewPr varScale="1">
        <p:scale>
          <a:sx n="84" d="100"/>
          <a:sy n="84" d="100"/>
        </p:scale>
        <p:origin x="1000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27/01/26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5D64-14C4-F16C-5619-287C7EA2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13F94-501F-3960-9E11-DE7F03BD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30D1C-21CC-DCF2-1302-0D6A57E7F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C2F6F-17C8-6775-A32C-6E7DBAEA8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3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27/01/26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27/01/26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27/01/26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27/01/26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743468" y="1524000"/>
            <a:ext cx="1137233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Principal Component Regression (PCR)</a:t>
            </a:r>
            <a:endParaRPr lang="en-US" sz="41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4E7B785-51DF-6028-E343-20904A09A941}"/>
              </a:ext>
            </a:extLst>
          </p:cNvPr>
          <p:cNvSpPr/>
          <p:nvPr/>
        </p:nvSpPr>
        <p:spPr>
          <a:xfrm>
            <a:off x="743468" y="2743200"/>
            <a:ext cx="1137233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Understanding and implementing PCR for handling multicollinearity in regression analysis</a:t>
            </a:r>
            <a:endParaRPr lang="en-US" sz="20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79A3-6285-EA7B-A2B4-F0C9DCE1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EF8EC6-F255-C70E-3023-DC7EAEC5B16D}"/>
              </a:ext>
            </a:extLst>
          </p:cNvPr>
          <p:cNvSpPr/>
          <p:nvPr/>
        </p:nvSpPr>
        <p:spPr>
          <a:xfrm>
            <a:off x="793790" y="1107162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600" dirty="0">
              <a:latin typeface="PT Serif" panose="020A060304050502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0CCEE3-6042-A6A9-3891-B76B33DC9098}"/>
              </a:ext>
            </a:extLst>
          </p:cNvPr>
          <p:cNvSpPr/>
          <p:nvPr/>
        </p:nvSpPr>
        <p:spPr>
          <a:xfrm>
            <a:off x="793790" y="2156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9D6074-985D-ECFD-41A9-CC64CE8CCED8}"/>
              </a:ext>
            </a:extLst>
          </p:cNvPr>
          <p:cNvSpPr/>
          <p:nvPr/>
        </p:nvSpPr>
        <p:spPr>
          <a:xfrm>
            <a:off x="793790" y="251126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BB4AFD-62D3-1AAB-C8B6-84BCFD0B3499}"/>
              </a:ext>
            </a:extLst>
          </p:cNvPr>
          <p:cNvSpPr/>
          <p:nvPr/>
        </p:nvSpPr>
        <p:spPr>
          <a:xfrm>
            <a:off x="793790" y="2685574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Multiple Linear Regression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5C41F2-E8AE-183D-B7D2-B584B66A5047}"/>
              </a:ext>
            </a:extLst>
          </p:cNvPr>
          <p:cNvSpPr/>
          <p:nvPr/>
        </p:nvSpPr>
        <p:spPr>
          <a:xfrm>
            <a:off x="7428548" y="2156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0FFCDF-EFCF-D95B-39BF-71DEE8C305CC}"/>
              </a:ext>
            </a:extLst>
          </p:cNvPr>
          <p:cNvSpPr/>
          <p:nvPr/>
        </p:nvSpPr>
        <p:spPr>
          <a:xfrm>
            <a:off x="7428548" y="251126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C44485-ABDB-D8CB-78F7-9276AAADB0B2}"/>
              </a:ext>
            </a:extLst>
          </p:cNvPr>
          <p:cNvSpPr/>
          <p:nvPr/>
        </p:nvSpPr>
        <p:spPr>
          <a:xfrm>
            <a:off x="7428548" y="2643068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Problem of Multicollinearity</a:t>
            </a: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9AA9FB-4CAF-BC7C-90F0-1D48BD93C205}"/>
              </a:ext>
            </a:extLst>
          </p:cNvPr>
          <p:cNvSpPr/>
          <p:nvPr/>
        </p:nvSpPr>
        <p:spPr>
          <a:xfrm>
            <a:off x="793790" y="34544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35EFEC-254C-A190-497E-54797BC377D7}"/>
              </a:ext>
            </a:extLst>
          </p:cNvPr>
          <p:cNvSpPr/>
          <p:nvPr/>
        </p:nvSpPr>
        <p:spPr>
          <a:xfrm>
            <a:off x="793790" y="380952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C6FBEA-485A-7F7D-47FB-5FEB6466C2AF}"/>
              </a:ext>
            </a:extLst>
          </p:cNvPr>
          <p:cNvSpPr/>
          <p:nvPr/>
        </p:nvSpPr>
        <p:spPr>
          <a:xfrm>
            <a:off x="793790" y="3983831"/>
            <a:ext cx="5149810" cy="3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Principal Component Analysis</a:t>
            </a:r>
            <a:endParaRPr lang="en-US" sz="2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65B506-59D4-7376-A944-4C46A5D3D0DA}"/>
              </a:ext>
            </a:extLst>
          </p:cNvPr>
          <p:cNvSpPr/>
          <p:nvPr/>
        </p:nvSpPr>
        <p:spPr>
          <a:xfrm>
            <a:off x="7428548" y="34544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4D1A4C-2B9B-4174-ACD2-FF1592E30587}"/>
              </a:ext>
            </a:extLst>
          </p:cNvPr>
          <p:cNvSpPr/>
          <p:nvPr/>
        </p:nvSpPr>
        <p:spPr>
          <a:xfrm>
            <a:off x="7428548" y="380952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2CEF56-AF19-B00B-757E-9F9AA779999A}"/>
              </a:ext>
            </a:extLst>
          </p:cNvPr>
          <p:cNvSpPr/>
          <p:nvPr/>
        </p:nvSpPr>
        <p:spPr>
          <a:xfrm>
            <a:off x="7428548" y="3983831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7E44A9EB-37D4-D3CC-6CA9-BE886EEF64E4}"/>
              </a:ext>
            </a:extLst>
          </p:cNvPr>
          <p:cNvSpPr/>
          <p:nvPr/>
        </p:nvSpPr>
        <p:spPr>
          <a:xfrm>
            <a:off x="7428548" y="3996348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Principal Component Regression</a:t>
            </a:r>
            <a:endParaRPr lang="en-US" sz="24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4B55EC5F-054B-E182-537D-7907A3206677}"/>
              </a:ext>
            </a:extLst>
          </p:cNvPr>
          <p:cNvSpPr/>
          <p:nvPr/>
        </p:nvSpPr>
        <p:spPr>
          <a:xfrm>
            <a:off x="838200" y="47678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10A038C5-A66B-6F9E-E6B5-9741E0CB4949}"/>
              </a:ext>
            </a:extLst>
          </p:cNvPr>
          <p:cNvSpPr/>
          <p:nvPr/>
        </p:nvSpPr>
        <p:spPr>
          <a:xfrm>
            <a:off x="838200" y="5122903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5E46FC74-C752-26DF-B798-5D7D60102961}"/>
              </a:ext>
            </a:extLst>
          </p:cNvPr>
          <p:cNvSpPr/>
          <p:nvPr/>
        </p:nvSpPr>
        <p:spPr>
          <a:xfrm>
            <a:off x="838200" y="5297210"/>
            <a:ext cx="5149810" cy="3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PCR in Python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629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2046-9F2B-0214-888F-41697EF9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985" y="457200"/>
            <a:ext cx="13648262" cy="553998"/>
          </a:xfrm>
        </p:spPr>
        <p:txBody>
          <a:bodyPr/>
          <a:lstStyle/>
          <a:p>
            <a:r>
              <a:rPr lang="en-US" sz="3600" dirty="0"/>
              <a:t>Multiple Linear Regression: Statistical Model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191F2-0D39-3AA9-C4C2-1C56A5F42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1499" y="2743200"/>
            <a:ext cx="12307402" cy="3693319"/>
          </a:xfrm>
        </p:spPr>
        <p:txBody>
          <a:bodyPr/>
          <a:lstStyle/>
          <a:p>
            <a:pPr>
              <a:buClr>
                <a:srgbClr val="000000"/>
              </a:buClr>
              <a:buSzPts val="1200"/>
            </a:pPr>
            <a:endParaRPr lang="en-IN" sz="2400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>
              <a:buClr>
                <a:srgbClr val="000000"/>
              </a:buClr>
              <a:buSzPts val="1200"/>
            </a:pPr>
            <a:endParaRPr lang="en-IN" sz="2400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>
              <a:buClr>
                <a:srgbClr val="000000"/>
              </a:buClr>
              <a:buSzPts val="1500"/>
            </a:pPr>
            <a:r>
              <a:rPr lang="en-IN" sz="24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Where,</a:t>
            </a:r>
            <a:endParaRPr lang="en-IN" sz="2400" dirty="0">
              <a:solidFill>
                <a:schemeClr val="tx1"/>
              </a:solidFill>
              <a:ea typeface="Arial"/>
              <a:cs typeface="Arial"/>
              <a:sym typeface="Arial"/>
            </a:endParaRPr>
          </a:p>
          <a:p>
            <a:pPr marL="0" lvl="3">
              <a:buClr>
                <a:srgbClr val="000000"/>
              </a:buClr>
              <a:buSzPts val="1500"/>
            </a:pPr>
            <a:r>
              <a:rPr lang="en-IN" sz="24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	Y	  	:  Dependent Variable</a:t>
            </a:r>
            <a:endParaRPr lang="en-IN" sz="2400" dirty="0">
              <a:solidFill>
                <a:schemeClr val="tx1"/>
              </a:solidFill>
              <a:latin typeface="PT Serif" panose="020A0603040505020204" pitchFamily="18" charset="0"/>
              <a:ea typeface="Arial"/>
              <a:cs typeface="Arial"/>
              <a:sym typeface="Arial"/>
            </a:endParaRPr>
          </a:p>
          <a:p>
            <a:pPr marL="0" lvl="3">
              <a:buClr>
                <a:srgbClr val="000000"/>
              </a:buClr>
              <a:buSzPts val="1500"/>
            </a:pPr>
            <a:r>
              <a:rPr lang="en-IN" sz="24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	X</a:t>
            </a:r>
            <a:r>
              <a:rPr lang="en-IN" sz="2400" baseline="-250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1</a:t>
            </a:r>
            <a:r>
              <a:rPr lang="en-IN" sz="24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, X</a:t>
            </a:r>
            <a:r>
              <a:rPr lang="en-IN" sz="2400" baseline="-250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2 </a:t>
            </a:r>
            <a:r>
              <a:rPr lang="en-IN" sz="24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,…, X</a:t>
            </a:r>
            <a:r>
              <a:rPr lang="en-IN" sz="2400" baseline="-250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p</a:t>
            </a:r>
            <a:r>
              <a:rPr lang="en-IN" sz="24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	:  Independent Variables</a:t>
            </a:r>
            <a:endParaRPr lang="en-IN" sz="2400" dirty="0">
              <a:solidFill>
                <a:schemeClr val="tx1"/>
              </a:solidFill>
              <a:latin typeface="PT Serif" panose="020A0603040505020204" pitchFamily="18" charset="0"/>
              <a:ea typeface="Arial"/>
              <a:cs typeface="Arial"/>
              <a:sym typeface="Arial"/>
            </a:endParaRPr>
          </a:p>
          <a:p>
            <a:pPr marL="0" lvl="3">
              <a:buClr>
                <a:srgbClr val="000000"/>
              </a:buClr>
              <a:buSzPts val="1500"/>
            </a:pPr>
            <a:r>
              <a:rPr lang="en-IN" sz="24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	b</a:t>
            </a:r>
            <a:r>
              <a:rPr lang="en-IN" sz="2400" baseline="-250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0</a:t>
            </a:r>
            <a:r>
              <a:rPr lang="en-IN" sz="24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, b</a:t>
            </a:r>
            <a:r>
              <a:rPr lang="en-IN" sz="2400" baseline="-250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1 </a:t>
            </a:r>
            <a:r>
              <a:rPr lang="en-IN" sz="24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,…, b</a:t>
            </a:r>
            <a:r>
              <a:rPr lang="en-IN" sz="2400" baseline="-250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p </a:t>
            </a:r>
            <a:r>
              <a:rPr lang="en-IN" sz="24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	:  Parameters of Model</a:t>
            </a:r>
            <a:endParaRPr lang="en-IN" sz="2400" dirty="0">
              <a:solidFill>
                <a:schemeClr val="tx1"/>
              </a:solidFill>
              <a:latin typeface="PT Serif" panose="020A0603040505020204" pitchFamily="18" charset="0"/>
              <a:ea typeface="Arial"/>
              <a:cs typeface="Arial"/>
              <a:sym typeface="Arial"/>
            </a:endParaRPr>
          </a:p>
          <a:p>
            <a:pPr marL="0" lvl="3">
              <a:buClr>
                <a:srgbClr val="000000"/>
              </a:buClr>
              <a:buSzPts val="1500"/>
            </a:pPr>
            <a:r>
              <a:rPr lang="en-IN" sz="2400" i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	</a:t>
            </a:r>
            <a:r>
              <a:rPr lang="en-IN" sz="24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e</a:t>
            </a:r>
            <a:r>
              <a:rPr lang="en-IN" sz="2400" b="1" i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		</a:t>
            </a:r>
            <a:r>
              <a:rPr lang="en-IN" sz="24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:  Random Error Component </a:t>
            </a:r>
            <a:endParaRPr lang="en-IN" sz="2400" dirty="0">
              <a:solidFill>
                <a:schemeClr val="tx1"/>
              </a:solidFill>
              <a:latin typeface="PT Serif" panose="020A0603040505020204" pitchFamily="18" charset="0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200"/>
            </a:pPr>
            <a:endParaRPr lang="en-IN" sz="2400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 algn="ctr">
              <a:buClr>
                <a:srgbClr val="000000"/>
              </a:buClr>
              <a:buSzPts val="1200"/>
            </a:pPr>
            <a:r>
              <a:rPr lang="en-US" sz="24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Independent variables can either be </a:t>
            </a:r>
            <a:r>
              <a:rPr lang="en-US" sz="2400" b="1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Continuous or Categorical</a:t>
            </a:r>
            <a:endParaRPr lang="en-US" sz="2400" dirty="0">
              <a:solidFill>
                <a:schemeClr val="tx1"/>
              </a:solidFill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200"/>
            </a:pPr>
            <a:endParaRPr lang="en-IN" sz="2400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" name="Google Shape;1149;p112">
            <a:extLst>
              <a:ext uri="{FF2B5EF4-FFF2-40B4-BE49-F238E27FC236}">
                <a16:creationId xmlns:a16="http://schemas.microsoft.com/office/drawing/2014/main" id="{8427310C-03D9-6C0F-C065-1420D42B30F4}"/>
              </a:ext>
            </a:extLst>
          </p:cNvPr>
          <p:cNvSpPr/>
          <p:nvPr/>
        </p:nvSpPr>
        <p:spPr>
          <a:xfrm>
            <a:off x="3810000" y="1981200"/>
            <a:ext cx="5564160" cy="567360"/>
          </a:xfrm>
          <a:prstGeom prst="roundRect">
            <a:avLst>
              <a:gd name="adj" fmla="val 16667"/>
            </a:avLst>
          </a:prstGeom>
          <a:blipFill rotWithShape="1"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20" tIns="54840" rIns="109720" bIns="5484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sz="2880">
                <a:solidFill>
                  <a:srgbClr val="000000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 sz="1760">
              <a:solidFill>
                <a:srgbClr val="000000"/>
              </a:solidFill>
              <a:latin typeface="PT Serif" panose="020A0603040505020204" pitchFamily="18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2918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2046-9F2B-0214-888F-41697EF9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8" y="588898"/>
            <a:ext cx="13648262" cy="553998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Problem of Multicollinearity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2A2A12-8365-AE5C-47D4-E58B4675C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830" y="5145670"/>
            <a:ext cx="13172440" cy="2354491"/>
          </a:xfrm>
        </p:spPr>
        <p:txBody>
          <a:bodyPr/>
          <a:lstStyle/>
          <a:p>
            <a:pPr algn="ctr">
              <a:lnSpc>
                <a:spcPct val="150000"/>
              </a:lnSpc>
              <a:buClr>
                <a:srgbClr val="000000"/>
              </a:buClr>
              <a:buSzPts val="1200"/>
            </a:pPr>
            <a:r>
              <a:rPr lang="en-US" sz="18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Multicollinearity is detected using Variance Inflation Factor, VIF</a:t>
            </a:r>
            <a:endParaRPr lang="en-US" sz="1800" dirty="0">
              <a:solidFill>
                <a:schemeClr val="tx1"/>
              </a:solidFill>
              <a:ea typeface="Arial"/>
              <a:cs typeface="Arial"/>
              <a:sym typeface="Arial"/>
            </a:endParaRPr>
          </a:p>
          <a:p>
            <a:pPr algn="ctr">
              <a:lnSpc>
                <a:spcPct val="150000"/>
              </a:lnSpc>
              <a:buClr>
                <a:srgbClr val="000000"/>
              </a:buClr>
              <a:buSzPts val="1200"/>
            </a:pPr>
            <a:r>
              <a:rPr lang="en-US" sz="1800" b="1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Tolerance = 1- R</a:t>
            </a:r>
            <a:r>
              <a:rPr lang="en-US" sz="1800" b="1" baseline="-250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i</a:t>
            </a:r>
            <a:r>
              <a:rPr lang="en-US" sz="1800" b="1" baseline="300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2</a:t>
            </a:r>
            <a:r>
              <a:rPr lang="en-US" sz="1800" b="1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 </a:t>
            </a:r>
            <a:endParaRPr lang="en-US" sz="1800" dirty="0">
              <a:solidFill>
                <a:schemeClr val="tx1"/>
              </a:solidFill>
              <a:ea typeface="Arial"/>
              <a:cs typeface="Arial"/>
              <a:sym typeface="Arial"/>
            </a:endParaRPr>
          </a:p>
          <a:p>
            <a:pPr algn="ctr">
              <a:lnSpc>
                <a:spcPct val="150000"/>
              </a:lnSpc>
              <a:buClr>
                <a:srgbClr val="000000"/>
              </a:buClr>
              <a:buSzPts val="1200"/>
            </a:pPr>
            <a:r>
              <a:rPr lang="en-US" sz="1800" b="1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VIF = 1/Tolerance</a:t>
            </a:r>
            <a:endParaRPr lang="en-US" sz="1800" dirty="0">
              <a:solidFill>
                <a:schemeClr val="tx1"/>
              </a:solidFill>
              <a:ea typeface="Arial"/>
              <a:cs typeface="Arial"/>
              <a:sym typeface="Arial"/>
            </a:endParaRPr>
          </a:p>
          <a:p>
            <a:pPr algn="ctr">
              <a:lnSpc>
                <a:spcPct val="150000"/>
              </a:lnSpc>
              <a:buClr>
                <a:srgbClr val="000000"/>
              </a:buClr>
              <a:buSzPts val="1200"/>
            </a:pPr>
            <a:r>
              <a:rPr lang="en-US" sz="18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where R</a:t>
            </a:r>
            <a:r>
              <a:rPr lang="en-US" sz="1800" baseline="-250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i</a:t>
            </a:r>
            <a:r>
              <a:rPr lang="en-US" sz="1800" baseline="300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2</a:t>
            </a:r>
            <a:r>
              <a:rPr lang="en-US" sz="18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 (R Squared) is obtained using regression of  Xi on other independent variables</a:t>
            </a:r>
            <a:endParaRPr lang="en-US" sz="1800" dirty="0">
              <a:solidFill>
                <a:schemeClr val="tx1"/>
              </a:solidFill>
              <a:ea typeface="Arial"/>
              <a:cs typeface="Arial"/>
              <a:sym typeface="Arial"/>
            </a:endParaRPr>
          </a:p>
          <a:p>
            <a:pPr algn="ctr">
              <a:lnSpc>
                <a:spcPct val="150000"/>
              </a:lnSpc>
              <a:buClr>
                <a:srgbClr val="000000"/>
              </a:buClr>
              <a:buSzPts val="1200"/>
            </a:pPr>
            <a:r>
              <a:rPr lang="en-US" sz="1800" b="1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Any VIF &gt; 5, indicates presence of multicollinearity</a:t>
            </a:r>
            <a:endParaRPr lang="en-US" sz="1800" dirty="0">
              <a:solidFill>
                <a:schemeClr val="tx1"/>
              </a:solidFill>
              <a:ea typeface="Arial"/>
              <a:cs typeface="Arial"/>
              <a:sym typeface="Arial"/>
            </a:endParaRPr>
          </a:p>
          <a:p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1" name="Google Shape;1156;p113">
            <a:extLst>
              <a:ext uri="{FF2B5EF4-FFF2-40B4-BE49-F238E27FC236}">
                <a16:creationId xmlns:a16="http://schemas.microsoft.com/office/drawing/2014/main" id="{DFA08694-E781-849E-D40C-43F7E5CC842A}"/>
              </a:ext>
            </a:extLst>
          </p:cNvPr>
          <p:cNvSpPr/>
          <p:nvPr/>
        </p:nvSpPr>
        <p:spPr>
          <a:xfrm>
            <a:off x="6246826" y="1341120"/>
            <a:ext cx="5640480" cy="10972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9720" tIns="54840" rIns="109720" bIns="54840" anchor="ctr" anchorCtr="0">
            <a:noAutofit/>
          </a:bodyPr>
          <a:lstStyle/>
          <a:p>
            <a:pPr>
              <a:lnSpc>
                <a:spcPct val="150000"/>
              </a:lnSpc>
              <a:buClr>
                <a:srgbClr val="807E84"/>
              </a:buClr>
              <a:buSzPts val="1200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if there is a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strong linear relationship among  independent variables.</a:t>
            </a:r>
            <a:endParaRPr dirty="0">
              <a:solidFill>
                <a:schemeClr val="tx1"/>
              </a:solidFill>
              <a:latin typeface="PT Serif" panose="020A06030405050202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157;p113">
            <a:extLst>
              <a:ext uri="{FF2B5EF4-FFF2-40B4-BE49-F238E27FC236}">
                <a16:creationId xmlns:a16="http://schemas.microsoft.com/office/drawing/2014/main" id="{AF90D5F1-695A-A26A-B2DC-089A78EF03B4}"/>
              </a:ext>
            </a:extLst>
          </p:cNvPr>
          <p:cNvSpPr/>
          <p:nvPr/>
        </p:nvSpPr>
        <p:spPr>
          <a:xfrm>
            <a:off x="2926337" y="1612763"/>
            <a:ext cx="3200160" cy="55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54840" rIns="109720" bIns="54840" anchor="ctr" anchorCtr="0">
            <a:noAutofit/>
          </a:bodyPr>
          <a:lstStyle/>
          <a:p>
            <a:pPr>
              <a:lnSpc>
                <a:spcPct val="150000"/>
              </a:lnSpc>
              <a:buClr>
                <a:srgbClr val="807E84"/>
              </a:buClr>
              <a:buSzPts val="1200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Multicollinearity exists </a:t>
            </a:r>
            <a:endParaRPr b="1" u="sng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3" name="Google Shape;1158;p113">
            <a:extLst>
              <a:ext uri="{FF2B5EF4-FFF2-40B4-BE49-F238E27FC236}">
                <a16:creationId xmlns:a16="http://schemas.microsoft.com/office/drawing/2014/main" id="{26A22FCE-2FD9-D310-45EF-950FD848BB88}"/>
              </a:ext>
            </a:extLst>
          </p:cNvPr>
          <p:cNvSpPr/>
          <p:nvPr/>
        </p:nvSpPr>
        <p:spPr>
          <a:xfrm rot="5400000">
            <a:off x="5709093" y="1834608"/>
            <a:ext cx="252000" cy="14832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20" tIns="54840" rIns="109720" bIns="5484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88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4" name="Google Shape;1159;p113">
            <a:extLst>
              <a:ext uri="{FF2B5EF4-FFF2-40B4-BE49-F238E27FC236}">
                <a16:creationId xmlns:a16="http://schemas.microsoft.com/office/drawing/2014/main" id="{8F3EF60C-4E23-3178-CCC4-518A8172A733}"/>
              </a:ext>
            </a:extLst>
          </p:cNvPr>
          <p:cNvSpPr/>
          <p:nvPr/>
        </p:nvSpPr>
        <p:spPr>
          <a:xfrm>
            <a:off x="2931362" y="3112478"/>
            <a:ext cx="2466318" cy="925998"/>
          </a:xfrm>
          <a:custGeom>
            <a:avLst/>
            <a:gdLst/>
            <a:ahLst/>
            <a:cxnLst/>
            <a:rect l="l" t="t" r="r" b="b"/>
            <a:pathLst>
              <a:path w="2258533" h="1129266" extrusionOk="0">
                <a:moveTo>
                  <a:pt x="0" y="112927"/>
                </a:moveTo>
                <a:cubicBezTo>
                  <a:pt x="0" y="50559"/>
                  <a:pt x="50559" y="0"/>
                  <a:pt x="112927" y="0"/>
                </a:cubicBezTo>
                <a:lnTo>
                  <a:pt x="2145606" y="0"/>
                </a:lnTo>
                <a:cubicBezTo>
                  <a:pt x="2207974" y="0"/>
                  <a:pt x="2258533" y="50559"/>
                  <a:pt x="2258533" y="112927"/>
                </a:cubicBezTo>
                <a:lnTo>
                  <a:pt x="2258533" y="1016339"/>
                </a:lnTo>
                <a:cubicBezTo>
                  <a:pt x="2258533" y="1078707"/>
                  <a:pt x="2207974" y="1129266"/>
                  <a:pt x="2145606" y="1129266"/>
                </a:cubicBezTo>
                <a:lnTo>
                  <a:pt x="112927" y="1129266"/>
                </a:lnTo>
                <a:cubicBezTo>
                  <a:pt x="50559" y="1129266"/>
                  <a:pt x="0" y="1078707"/>
                  <a:pt x="0" y="1016339"/>
                </a:cubicBezTo>
                <a:lnTo>
                  <a:pt x="0" y="112927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920" tIns="54920" rIns="54920" bIns="5492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000000"/>
              </a:buClr>
              <a:buSzPts val="1200"/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Consequences</a:t>
            </a:r>
            <a:endParaRPr dirty="0">
              <a:solidFill>
                <a:schemeClr val="tx1"/>
              </a:solidFill>
              <a:latin typeface="PT Serif" panose="020A06030405050202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160;p113">
            <a:extLst>
              <a:ext uri="{FF2B5EF4-FFF2-40B4-BE49-F238E27FC236}">
                <a16:creationId xmlns:a16="http://schemas.microsoft.com/office/drawing/2014/main" id="{CC021F65-72C4-93AF-4877-BD7A4A65B4CB}"/>
              </a:ext>
            </a:extLst>
          </p:cNvPr>
          <p:cNvSpPr/>
          <p:nvPr/>
        </p:nvSpPr>
        <p:spPr>
          <a:xfrm rot="-1246335">
            <a:off x="5466457" y="3291967"/>
            <a:ext cx="1002085" cy="87971"/>
          </a:xfrm>
          <a:custGeom>
            <a:avLst/>
            <a:gdLst/>
            <a:ahLst/>
            <a:cxnLst/>
            <a:rect l="l" t="t" r="r" b="b"/>
            <a:pathLst>
              <a:path w="1346188" h="73229" extrusionOk="0">
                <a:moveTo>
                  <a:pt x="0" y="36614"/>
                </a:moveTo>
                <a:lnTo>
                  <a:pt x="1346188" y="36614"/>
                </a:lnTo>
              </a:path>
            </a:pathLst>
          </a:custGeom>
          <a:noFill/>
          <a:ln w="25400" cap="flat" cmpd="sng">
            <a:solidFill>
              <a:srgbClr val="807E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2560" tIns="3560" rIns="782560" bIns="356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000000"/>
              </a:buClr>
              <a:buSzPts val="400"/>
            </a:pPr>
            <a:endParaRPr sz="64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6" name="Google Shape;1161;p113">
            <a:extLst>
              <a:ext uri="{FF2B5EF4-FFF2-40B4-BE49-F238E27FC236}">
                <a16:creationId xmlns:a16="http://schemas.microsoft.com/office/drawing/2014/main" id="{0AEA551E-3F27-CA7A-22AF-FC20113886C9}"/>
              </a:ext>
            </a:extLst>
          </p:cNvPr>
          <p:cNvSpPr/>
          <p:nvPr/>
        </p:nvSpPr>
        <p:spPr>
          <a:xfrm>
            <a:off x="6600573" y="2538800"/>
            <a:ext cx="6218880" cy="925440"/>
          </a:xfrm>
          <a:prstGeom prst="rect">
            <a:avLst/>
          </a:prstGeom>
          <a:solidFill>
            <a:srgbClr val="F7FBE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09720" tIns="54840" rIns="109720" bIns="54840" anchor="ctr" anchorCtr="0">
            <a:noAutofit/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ts val="1200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Highly Unstable Model Parameters</a:t>
            </a:r>
            <a:b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</a:b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As standard errors of their estimates are inflated</a:t>
            </a:r>
            <a:endParaRPr dirty="0">
              <a:solidFill>
                <a:schemeClr val="tx1"/>
              </a:solidFill>
              <a:latin typeface="PT Serif" panose="020A0603040505020204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162;p113">
            <a:extLst>
              <a:ext uri="{FF2B5EF4-FFF2-40B4-BE49-F238E27FC236}">
                <a16:creationId xmlns:a16="http://schemas.microsoft.com/office/drawing/2014/main" id="{92A13F89-C678-5DF5-EA72-6D4FB7FEBC5C}"/>
              </a:ext>
            </a:extLst>
          </p:cNvPr>
          <p:cNvSpPr/>
          <p:nvPr/>
        </p:nvSpPr>
        <p:spPr>
          <a:xfrm rot="1246335">
            <a:off x="5466480" y="3720432"/>
            <a:ext cx="1002085" cy="87971"/>
          </a:xfrm>
          <a:custGeom>
            <a:avLst/>
            <a:gdLst/>
            <a:ahLst/>
            <a:cxnLst/>
            <a:rect l="l" t="t" r="r" b="b"/>
            <a:pathLst>
              <a:path w="1346188" h="73229" extrusionOk="0">
                <a:moveTo>
                  <a:pt x="0" y="36614"/>
                </a:moveTo>
                <a:lnTo>
                  <a:pt x="1346188" y="36614"/>
                </a:lnTo>
              </a:path>
            </a:pathLst>
          </a:custGeom>
          <a:noFill/>
          <a:ln w="25400" cap="flat" cmpd="sng">
            <a:solidFill>
              <a:srgbClr val="807E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2560" tIns="3560" rIns="782560" bIns="356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000000"/>
              </a:buClr>
              <a:buSzPts val="400"/>
            </a:pPr>
            <a:endParaRPr sz="64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" name="Google Shape;1163;p113">
            <a:extLst>
              <a:ext uri="{FF2B5EF4-FFF2-40B4-BE49-F238E27FC236}">
                <a16:creationId xmlns:a16="http://schemas.microsoft.com/office/drawing/2014/main" id="{7BA031F8-E35F-AB7E-DD16-152450E37E9B}"/>
              </a:ext>
            </a:extLst>
          </p:cNvPr>
          <p:cNvSpPr/>
          <p:nvPr/>
        </p:nvSpPr>
        <p:spPr>
          <a:xfrm>
            <a:off x="6600581" y="3638365"/>
            <a:ext cx="5483040" cy="925440"/>
          </a:xfrm>
          <a:prstGeom prst="rect">
            <a:avLst/>
          </a:prstGeom>
          <a:solidFill>
            <a:srgbClr val="F7FBE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09720" tIns="54840" rIns="109720" bIns="54840" anchor="ctr" anchorCtr="0">
            <a:noAutofit/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ts val="1200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Model Fails to predict accurately out of sample Data</a:t>
            </a:r>
            <a:endParaRPr dirty="0">
              <a:solidFill>
                <a:schemeClr val="tx1"/>
              </a:solidFill>
              <a:latin typeface="PT Serif" panose="020A0603040505020204" pitchFamily="18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2181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2046-9F2B-0214-888F-41697EF9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985" y="457200"/>
            <a:ext cx="13648262" cy="553998"/>
          </a:xfrm>
        </p:spPr>
        <p:txBody>
          <a:bodyPr/>
          <a:lstStyle/>
          <a:p>
            <a:r>
              <a:rPr lang="en-US" sz="3600" dirty="0"/>
              <a:t>Multicollinearity – Remedial Measures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191F2-0D39-3AA9-C4C2-1C56A5F42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9708" y="1569876"/>
            <a:ext cx="12307402" cy="369332"/>
          </a:xfrm>
        </p:spPr>
        <p:txBody>
          <a:bodyPr/>
          <a:lstStyle/>
          <a:p>
            <a:pPr>
              <a:buClr>
                <a:srgbClr val="000000"/>
              </a:buClr>
              <a:buSzPts val="1200"/>
            </a:pPr>
            <a:r>
              <a:rPr lang="en-US" sz="24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The problem of Multicollinearity can be solved by different approaches:</a:t>
            </a:r>
            <a:endParaRPr lang="en-US" sz="2000" dirty="0">
              <a:solidFill>
                <a:schemeClr val="tx1"/>
              </a:solidFill>
              <a:ea typeface="Arial"/>
              <a:cs typeface="Arial"/>
              <a:sym typeface="Arial"/>
            </a:endParaRPr>
          </a:p>
        </p:txBody>
      </p:sp>
      <p:grpSp>
        <p:nvGrpSpPr>
          <p:cNvPr id="5" name="Google Shape;1172;p114">
            <a:extLst>
              <a:ext uri="{FF2B5EF4-FFF2-40B4-BE49-F238E27FC236}">
                <a16:creationId xmlns:a16="http://schemas.microsoft.com/office/drawing/2014/main" id="{17A71960-7D4F-B846-4946-0B19C5EAA763}"/>
              </a:ext>
            </a:extLst>
          </p:cNvPr>
          <p:cNvGrpSpPr/>
          <p:nvPr/>
        </p:nvGrpSpPr>
        <p:grpSpPr>
          <a:xfrm>
            <a:off x="2819400" y="2651906"/>
            <a:ext cx="8046720" cy="4025403"/>
            <a:chOff x="0" y="37248"/>
            <a:chExt cx="6705600" cy="3354503"/>
          </a:xfrm>
        </p:grpSpPr>
        <p:sp>
          <p:nvSpPr>
            <p:cNvPr id="6" name="Google Shape;1173;p114">
              <a:extLst>
                <a:ext uri="{FF2B5EF4-FFF2-40B4-BE49-F238E27FC236}">
                  <a16:creationId xmlns:a16="http://schemas.microsoft.com/office/drawing/2014/main" id="{6D2FA961-54BE-D132-28BF-308848A5697A}"/>
                </a:ext>
              </a:extLst>
            </p:cNvPr>
            <p:cNvSpPr/>
            <p:nvPr/>
          </p:nvSpPr>
          <p:spPr>
            <a:xfrm>
              <a:off x="0" y="519316"/>
              <a:ext cx="6705600" cy="5796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w="25400" cap="flat" cmpd="sng">
              <a:solidFill>
                <a:srgbClr val="1D99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9720" tIns="109720" rIns="109720" bIns="10972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2240">
                <a:solidFill>
                  <a:srgbClr val="000000"/>
                </a:solidFill>
                <a:latin typeface="PT Serif" panose="020A0603040505020204" pitchFamily="18" charset="0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174;p114">
              <a:extLst>
                <a:ext uri="{FF2B5EF4-FFF2-40B4-BE49-F238E27FC236}">
                  <a16:creationId xmlns:a16="http://schemas.microsoft.com/office/drawing/2014/main" id="{9CA64A8C-01AA-315D-D3E2-E006B23E5B8D}"/>
                </a:ext>
              </a:extLst>
            </p:cNvPr>
            <p:cNvSpPr/>
            <p:nvPr/>
          </p:nvSpPr>
          <p:spPr>
            <a:xfrm>
              <a:off x="335280" y="37248"/>
              <a:ext cx="5679643" cy="821548"/>
            </a:xfrm>
            <a:prstGeom prst="roundRect">
              <a:avLst>
                <a:gd name="adj" fmla="val 16667"/>
              </a:avLst>
            </a:prstGeom>
            <a:solidFill>
              <a:srgbClr val="1D99D8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9720" tIns="109720" rIns="109720" bIns="10972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2240">
                <a:solidFill>
                  <a:srgbClr val="000000"/>
                </a:solidFill>
                <a:latin typeface="PT Serif" panose="020A0603040505020204" pitchFamily="18" charset="0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75;p114">
              <a:extLst>
                <a:ext uri="{FF2B5EF4-FFF2-40B4-BE49-F238E27FC236}">
                  <a16:creationId xmlns:a16="http://schemas.microsoft.com/office/drawing/2014/main" id="{A27346AD-BBE1-07B5-96E6-E9C7101C3019}"/>
                </a:ext>
              </a:extLst>
            </p:cNvPr>
            <p:cNvSpPr txBox="1"/>
            <p:nvPr/>
          </p:nvSpPr>
          <p:spPr>
            <a:xfrm>
              <a:off x="375385" y="77353"/>
              <a:ext cx="5599433" cy="7413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2880" tIns="0" rIns="212880" bIns="0" anchor="ctr" anchorCtr="0">
              <a:noAutofit/>
            </a:bodyPr>
            <a:lstStyle/>
            <a:p>
              <a:pPr>
                <a:lnSpc>
                  <a:spcPct val="150000"/>
                </a:lnSpc>
                <a:buClr>
                  <a:srgbClr val="000000"/>
                </a:buClr>
                <a:buSzPts val="1200"/>
              </a:pPr>
              <a:r>
                <a:rPr lang="en-US" dirty="0">
                  <a:solidFill>
                    <a:schemeClr val="lt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Drop one of the independent variables, which is explained by others</a:t>
              </a:r>
              <a:endParaRPr dirty="0">
                <a:solidFill>
                  <a:srgbClr val="000000"/>
                </a:solidFill>
                <a:latin typeface="PT Serif" panose="020A0603040505020204" pitchFamily="18" charset="0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176;p114">
              <a:extLst>
                <a:ext uri="{FF2B5EF4-FFF2-40B4-BE49-F238E27FC236}">
                  <a16:creationId xmlns:a16="http://schemas.microsoft.com/office/drawing/2014/main" id="{8F52CA18-F370-9F9F-E447-9B3D4DE887C2}"/>
                </a:ext>
              </a:extLst>
            </p:cNvPr>
            <p:cNvSpPr/>
            <p:nvPr/>
          </p:nvSpPr>
          <p:spPr>
            <a:xfrm>
              <a:off x="0" y="1705185"/>
              <a:ext cx="6705600" cy="5796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9720" tIns="109720" rIns="109720" bIns="10972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2240">
                <a:solidFill>
                  <a:srgbClr val="000000"/>
                </a:solidFill>
                <a:latin typeface="PT Serif" panose="020A0603040505020204" pitchFamily="18" charset="0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177;p114">
              <a:extLst>
                <a:ext uri="{FF2B5EF4-FFF2-40B4-BE49-F238E27FC236}">
                  <a16:creationId xmlns:a16="http://schemas.microsoft.com/office/drawing/2014/main" id="{F467F3AD-793E-8971-7ED6-242B6C8B683C}"/>
                </a:ext>
              </a:extLst>
            </p:cNvPr>
            <p:cNvSpPr/>
            <p:nvPr/>
          </p:nvSpPr>
          <p:spPr>
            <a:xfrm>
              <a:off x="335280" y="1223116"/>
              <a:ext cx="5679643" cy="821548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9720" tIns="109720" rIns="109720" bIns="10972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2240">
                <a:solidFill>
                  <a:srgbClr val="000000"/>
                </a:solidFill>
                <a:latin typeface="PT Serif" panose="020A0603040505020204" pitchFamily="18" charset="0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78;p114">
              <a:extLst>
                <a:ext uri="{FF2B5EF4-FFF2-40B4-BE49-F238E27FC236}">
                  <a16:creationId xmlns:a16="http://schemas.microsoft.com/office/drawing/2014/main" id="{E8D88D69-7D61-DF39-4959-22969A6D6E62}"/>
                </a:ext>
              </a:extLst>
            </p:cNvPr>
            <p:cNvSpPr txBox="1"/>
            <p:nvPr/>
          </p:nvSpPr>
          <p:spPr>
            <a:xfrm>
              <a:off x="375385" y="1263221"/>
              <a:ext cx="5599433" cy="7413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2880" tIns="0" rIns="212880" bIns="0" anchor="ctr" anchorCtr="0">
              <a:noAutofit/>
            </a:bodyPr>
            <a:lstStyle/>
            <a:p>
              <a:pPr>
                <a:lnSpc>
                  <a:spcPct val="150000"/>
                </a:lnSpc>
                <a:buClr>
                  <a:srgbClr val="000000"/>
                </a:buClr>
                <a:buSzPts val="1200"/>
              </a:pPr>
              <a:r>
                <a:rPr lang="en-US" dirty="0">
                  <a:solidFill>
                    <a:schemeClr val="lt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Use Principal Component Regression in case of severe Multicollinearity</a:t>
              </a:r>
              <a:endParaRPr dirty="0">
                <a:solidFill>
                  <a:srgbClr val="000000"/>
                </a:solidFill>
                <a:latin typeface="PT Serif" panose="020A0603040505020204" pitchFamily="18" charset="0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179;p114">
              <a:extLst>
                <a:ext uri="{FF2B5EF4-FFF2-40B4-BE49-F238E27FC236}">
                  <a16:creationId xmlns:a16="http://schemas.microsoft.com/office/drawing/2014/main" id="{6D0C245E-06EB-5AAD-F80B-641AC39B6CA9}"/>
                </a:ext>
              </a:extLst>
            </p:cNvPr>
            <p:cNvSpPr/>
            <p:nvPr/>
          </p:nvSpPr>
          <p:spPr>
            <a:xfrm>
              <a:off x="0" y="2812151"/>
              <a:ext cx="6705600" cy="5796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w="25400" cap="flat" cmpd="sng">
              <a:solidFill>
                <a:srgbClr val="9BD7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9720" tIns="109720" rIns="109720" bIns="10972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2240">
                <a:solidFill>
                  <a:srgbClr val="000000"/>
                </a:solidFill>
                <a:latin typeface="PT Serif" panose="020A0603040505020204" pitchFamily="18" charset="0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180;p114">
              <a:extLst>
                <a:ext uri="{FF2B5EF4-FFF2-40B4-BE49-F238E27FC236}">
                  <a16:creationId xmlns:a16="http://schemas.microsoft.com/office/drawing/2014/main" id="{A63B01FF-B734-4F6F-3DC2-24AEFDEAD1D3}"/>
                </a:ext>
              </a:extLst>
            </p:cNvPr>
            <p:cNvSpPr/>
            <p:nvPr/>
          </p:nvSpPr>
          <p:spPr>
            <a:xfrm>
              <a:off x="335280" y="2408985"/>
              <a:ext cx="5679643" cy="742646"/>
            </a:xfrm>
            <a:prstGeom prst="roundRect">
              <a:avLst>
                <a:gd name="adj" fmla="val 16667"/>
              </a:avLst>
            </a:prstGeom>
            <a:solidFill>
              <a:srgbClr val="9BD7AC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9720" tIns="109720" rIns="109720" bIns="10972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2240">
                <a:solidFill>
                  <a:srgbClr val="000000"/>
                </a:solidFill>
                <a:latin typeface="PT Serif" panose="020A0603040505020204" pitchFamily="18" charset="0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181;p114">
              <a:extLst>
                <a:ext uri="{FF2B5EF4-FFF2-40B4-BE49-F238E27FC236}">
                  <a16:creationId xmlns:a16="http://schemas.microsoft.com/office/drawing/2014/main" id="{70343E8B-D200-0B88-AE47-4DFCB1409D3A}"/>
                </a:ext>
              </a:extLst>
            </p:cNvPr>
            <p:cNvSpPr txBox="1"/>
            <p:nvPr/>
          </p:nvSpPr>
          <p:spPr>
            <a:xfrm>
              <a:off x="371533" y="2445238"/>
              <a:ext cx="5607137" cy="670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2880" tIns="0" rIns="212880" bIns="0" anchor="ctr" anchorCtr="0">
              <a:noAutofit/>
            </a:bodyPr>
            <a:lstStyle/>
            <a:p>
              <a:pPr>
                <a:lnSpc>
                  <a:spcPct val="150000"/>
                </a:lnSpc>
                <a:buClr>
                  <a:srgbClr val="000000"/>
                </a:buClr>
                <a:buSzPts val="1200"/>
              </a:pPr>
              <a:r>
                <a:rPr lang="en-US" dirty="0">
                  <a:solidFill>
                    <a:schemeClr val="lt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Use Ridge Regression</a:t>
              </a:r>
              <a:endParaRPr dirty="0">
                <a:solidFill>
                  <a:srgbClr val="000000"/>
                </a:solidFill>
                <a:latin typeface="PT Serif" panose="020A0603040505020204" pitchFamily="18" charset="0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5835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2046-9F2B-0214-888F-41697EF9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985" y="457200"/>
            <a:ext cx="13648262" cy="553998"/>
          </a:xfrm>
        </p:spPr>
        <p:txBody>
          <a:bodyPr/>
          <a:lstStyle/>
          <a:p>
            <a:r>
              <a:rPr lang="en-US" sz="3600" dirty="0"/>
              <a:t>Principal Component Regression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191F2-0D39-3AA9-C4C2-1C56A5F42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9708" y="1692968"/>
            <a:ext cx="12307402" cy="4353308"/>
          </a:xfrm>
        </p:spPr>
        <p:txBody>
          <a:bodyPr/>
          <a:lstStyle/>
          <a:p>
            <a:pPr marL="0" indent="0">
              <a:lnSpc>
                <a:spcPct val="200000"/>
              </a:lnSpc>
              <a:spcBef>
                <a:spcPts val="0"/>
              </a:spcBef>
              <a:buSzPts val="1200"/>
              <a:buNone/>
            </a:pPr>
            <a:r>
              <a:rPr lang="en-US" sz="1800" dirty="0">
                <a:solidFill>
                  <a:schemeClr val="tx1"/>
                </a:solidFill>
              </a:rPr>
              <a:t>In Principal Component Regression,</a:t>
            </a:r>
          </a:p>
          <a:p>
            <a:pPr marL="0" indent="0">
              <a:lnSpc>
                <a:spcPct val="200000"/>
              </a:lnSpc>
              <a:buSzPts val="1200"/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lnSpc>
                <a:spcPct val="200000"/>
              </a:lnSpc>
              <a:buSzPts val="1200"/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lnSpc>
                <a:spcPct val="200000"/>
              </a:lnSpc>
              <a:buSzPts val="1200"/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lnSpc>
                <a:spcPct val="200000"/>
              </a:lnSpc>
              <a:buSzPts val="1200"/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lnSpc>
                <a:spcPct val="200000"/>
              </a:lnSpc>
              <a:buSzPts val="1200"/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SzPts val="1200"/>
            </a:pPr>
            <a:r>
              <a:rPr lang="en-US" sz="1800" dirty="0">
                <a:solidFill>
                  <a:schemeClr val="tx1"/>
                </a:solidFill>
              </a:rPr>
              <a:t>Each Principal Component is a linear combination of all X variables</a:t>
            </a:r>
          </a:p>
          <a:p>
            <a:pPr>
              <a:lnSpc>
                <a:spcPct val="200000"/>
              </a:lnSpc>
              <a:buSzPts val="1200"/>
            </a:pPr>
            <a:r>
              <a:rPr lang="en-US" sz="1800" dirty="0">
                <a:solidFill>
                  <a:schemeClr val="tx1"/>
                </a:solidFill>
              </a:rPr>
              <a:t>Final model is expressed in terms of original independent variables for ease of interpretation</a:t>
            </a:r>
          </a:p>
        </p:txBody>
      </p:sp>
      <p:sp>
        <p:nvSpPr>
          <p:cNvPr id="15" name="Google Shape;1189;p115">
            <a:extLst>
              <a:ext uri="{FF2B5EF4-FFF2-40B4-BE49-F238E27FC236}">
                <a16:creationId xmlns:a16="http://schemas.microsoft.com/office/drawing/2014/main" id="{F3C748B2-804F-6475-FA7B-FCEB00922157}"/>
              </a:ext>
            </a:extLst>
          </p:cNvPr>
          <p:cNvSpPr/>
          <p:nvPr/>
        </p:nvSpPr>
        <p:spPr>
          <a:xfrm>
            <a:off x="3124200" y="2514600"/>
            <a:ext cx="7620000" cy="2002360"/>
          </a:xfrm>
          <a:prstGeom prst="rect">
            <a:avLst/>
          </a:prstGeom>
          <a:solidFill>
            <a:srgbClr val="F7FBE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09720" tIns="54840" rIns="109720" bIns="54840" anchor="ctr" anchorCtr="0">
            <a:noAutofit/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ts val="1200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First k principal components are used as independent variables instead of original X variables  </a:t>
            </a:r>
            <a:endParaRPr sz="2400" dirty="0">
              <a:solidFill>
                <a:schemeClr val="tx1"/>
              </a:solidFill>
              <a:latin typeface="PT Serif" panose="020A0603040505020204" pitchFamily="18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5295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717" y="42382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Three-Step PCR Process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5046" y="1712369"/>
            <a:ext cx="4164095" cy="529802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20702" y="1960317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Regression Analysis</a:t>
            </a:r>
            <a:b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</a:b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After elimination of the least important principal components, a multiple regression analysis of the response variable against the reduced set of principal components is performed using Ordinary Least Squares (OLS) estimation.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518921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74050" y="1712369"/>
            <a:ext cx="3818573" cy="525088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09645" y="1960317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Back Transformation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model equation is back-transformed in terms of original variables for interpretability.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This step is optional in machine learning approaches but valuable for understanding variable relationships.</a:t>
            </a:r>
            <a:endParaRPr lang="en-US" sz="1800" b="1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431529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685800" y="1712369"/>
            <a:ext cx="3976821" cy="529802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38201" y="1960317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Transformation into Principal Components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original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variables are transformed into a new set of orthogonal or uncorrelated variables called "Principal Components." These components capture the maximum variance in the data.  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163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397BA-FA10-FA5D-323E-6359249BE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13977"/>
            <a:ext cx="13656055" cy="569387"/>
          </a:xfrm>
        </p:spPr>
        <p:txBody>
          <a:bodyPr/>
          <a:lstStyle/>
          <a:p>
            <a:r>
              <a:rPr lang="en-US" sz="3600" dirty="0"/>
              <a:t>PCR-Statistical Model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41238-95E6-0FA9-B3A0-F86CB8873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78479" y="2083474"/>
            <a:ext cx="7381240" cy="4062651"/>
          </a:xfrm>
        </p:spPr>
        <p:txBody>
          <a:bodyPr/>
          <a:lstStyle/>
          <a:p>
            <a:pPr>
              <a:buClr>
                <a:srgbClr val="000000"/>
              </a:buClr>
              <a:buSzPts val="1200"/>
            </a:pPr>
            <a:r>
              <a:rPr lang="en-US" sz="24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Model in terms of original X variables:</a:t>
            </a:r>
            <a:endParaRPr lang="en-US" sz="2400" dirty="0">
              <a:solidFill>
                <a:schemeClr val="tx1"/>
              </a:solidFill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500"/>
            </a:pPr>
            <a:endParaRPr lang="en-US" sz="2400" i="1" dirty="0">
              <a:solidFill>
                <a:schemeClr val="tx1"/>
              </a:solidFill>
              <a:ea typeface="Cambria Math"/>
              <a:cs typeface="Cambria Math"/>
              <a:sym typeface="Cambria Math"/>
            </a:endParaRPr>
          </a:p>
          <a:p>
            <a:pPr algn="ctr">
              <a:buClr>
                <a:srgbClr val="000000"/>
              </a:buClr>
              <a:buSzPts val="1500"/>
            </a:pPr>
            <a:endParaRPr lang="en-US" sz="2400" i="1" dirty="0">
              <a:solidFill>
                <a:schemeClr val="tx1"/>
              </a:solidFill>
              <a:ea typeface="Cambria Math"/>
              <a:cs typeface="Cambria Math"/>
              <a:sym typeface="Cambria Math"/>
            </a:endParaRPr>
          </a:p>
          <a:p>
            <a:pPr algn="ctr">
              <a:buClr>
                <a:srgbClr val="000000"/>
              </a:buClr>
              <a:buSzPts val="1500"/>
            </a:pPr>
            <a:endParaRPr lang="en-US" sz="2400" i="1" dirty="0">
              <a:solidFill>
                <a:schemeClr val="tx1"/>
              </a:solidFill>
              <a:ea typeface="Cambria Math"/>
              <a:cs typeface="Cambria Math"/>
              <a:sym typeface="Cambria Math"/>
            </a:endParaRPr>
          </a:p>
          <a:p>
            <a:pPr>
              <a:buClr>
                <a:srgbClr val="000000"/>
              </a:buClr>
              <a:buSzPts val="1500"/>
            </a:pPr>
            <a:endParaRPr lang="en-US" sz="2400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>
              <a:buClr>
                <a:srgbClr val="000000"/>
              </a:buClr>
              <a:buSzPts val="1500"/>
            </a:pPr>
            <a:endParaRPr lang="en-US" sz="2400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>
              <a:buClr>
                <a:srgbClr val="000000"/>
              </a:buClr>
              <a:buSzPts val="1200"/>
            </a:pPr>
            <a:r>
              <a:rPr lang="en-US" sz="24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Model in terms of Principal Components:</a:t>
            </a:r>
            <a:endParaRPr lang="en-US" sz="2400" dirty="0">
              <a:solidFill>
                <a:schemeClr val="tx1"/>
              </a:solidFill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500"/>
            </a:pPr>
            <a:endParaRPr lang="en-US" sz="2400" i="1" dirty="0">
              <a:solidFill>
                <a:schemeClr val="tx1"/>
              </a:solidFill>
              <a:ea typeface="Cambria Math"/>
              <a:cs typeface="Cambria Math"/>
              <a:sym typeface="Cambria Math"/>
            </a:endParaRPr>
          </a:p>
          <a:p>
            <a:pPr algn="ctr">
              <a:buClr>
                <a:srgbClr val="000000"/>
              </a:buClr>
              <a:buSzPts val="1800"/>
            </a:pPr>
            <a:endParaRPr lang="en-US" sz="2400" dirty="0">
              <a:solidFill>
                <a:schemeClr val="tx1"/>
              </a:solidFill>
              <a:ea typeface="Cambria Math"/>
              <a:cs typeface="Cambria Math"/>
              <a:sym typeface="Cambria Math"/>
            </a:endParaRPr>
          </a:p>
          <a:p>
            <a:pPr>
              <a:buClr>
                <a:srgbClr val="000000"/>
              </a:buClr>
              <a:buSzPts val="1500"/>
            </a:pPr>
            <a:endParaRPr lang="en-US" sz="2400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" name="Google Shape;1214;p117">
            <a:extLst>
              <a:ext uri="{FF2B5EF4-FFF2-40B4-BE49-F238E27FC236}">
                <a16:creationId xmlns:a16="http://schemas.microsoft.com/office/drawing/2014/main" id="{24D40D87-E9AD-3FC6-A4E3-5FD1C947A1BC}"/>
              </a:ext>
            </a:extLst>
          </p:cNvPr>
          <p:cNvSpPr/>
          <p:nvPr/>
        </p:nvSpPr>
        <p:spPr>
          <a:xfrm>
            <a:off x="3858816" y="2895600"/>
            <a:ext cx="6826560" cy="777600"/>
          </a:xfrm>
          <a:prstGeom prst="roundRect">
            <a:avLst>
              <a:gd name="adj" fmla="val 22546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20" tIns="54840" rIns="109720" bIns="5484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000000"/>
              </a:buClr>
              <a:buSzPts val="1200"/>
            </a:pPr>
            <a:endParaRPr sz="1920" b="1">
              <a:solidFill>
                <a:srgbClr val="807E84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algn="ctr">
              <a:lnSpc>
                <a:spcPct val="90000"/>
              </a:lnSpc>
              <a:spcBef>
                <a:spcPts val="640"/>
              </a:spcBef>
              <a:buClr>
                <a:srgbClr val="000000"/>
              </a:buClr>
              <a:buSzPts val="1200"/>
            </a:pPr>
            <a:endParaRPr sz="1920" b="1">
              <a:solidFill>
                <a:srgbClr val="807E84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" name="Google Shape;1215;p117">
            <a:extLst>
              <a:ext uri="{FF2B5EF4-FFF2-40B4-BE49-F238E27FC236}">
                <a16:creationId xmlns:a16="http://schemas.microsoft.com/office/drawing/2014/main" id="{4F9D9AC5-66E9-6092-D2CE-872E2D60C15A}"/>
              </a:ext>
            </a:extLst>
          </p:cNvPr>
          <p:cNvSpPr/>
          <p:nvPr/>
        </p:nvSpPr>
        <p:spPr>
          <a:xfrm>
            <a:off x="3858816" y="5228660"/>
            <a:ext cx="6912960" cy="777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20" tIns="54840" rIns="109720" bIns="5484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000000"/>
              </a:buClr>
              <a:buSzPts val="1200"/>
            </a:pPr>
            <a:endParaRPr sz="1920" b="1">
              <a:solidFill>
                <a:srgbClr val="807E84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algn="ctr">
              <a:lnSpc>
                <a:spcPct val="90000"/>
              </a:lnSpc>
              <a:spcBef>
                <a:spcPts val="640"/>
              </a:spcBef>
              <a:buClr>
                <a:srgbClr val="000000"/>
              </a:buClr>
              <a:buSzPts val="1200"/>
            </a:pPr>
            <a:endParaRPr sz="1920" b="1">
              <a:solidFill>
                <a:srgbClr val="807E84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6" name="Google Shape;1217;p117">
            <a:extLst>
              <a:ext uri="{FF2B5EF4-FFF2-40B4-BE49-F238E27FC236}">
                <a16:creationId xmlns:a16="http://schemas.microsoft.com/office/drawing/2014/main" id="{5FFE80A5-E1B4-50C5-3180-BC9B22CEA8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50094" y="3068420"/>
            <a:ext cx="489204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20;p117">
            <a:extLst>
              <a:ext uri="{FF2B5EF4-FFF2-40B4-BE49-F238E27FC236}">
                <a16:creationId xmlns:a16="http://schemas.microsoft.com/office/drawing/2014/main" id="{10A276C7-5F4A-2634-E50F-4826582051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0095" y="5401480"/>
            <a:ext cx="5497830" cy="411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3467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C283-39F9-9E01-E047-3659E6E6A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093" y="536872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Case Study: Sales Prediction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3425C-67E9-2D5B-F320-79948F33877B}"/>
              </a:ext>
            </a:extLst>
          </p:cNvPr>
          <p:cNvSpPr txBox="1"/>
          <p:nvPr/>
        </p:nvSpPr>
        <p:spPr>
          <a:xfrm>
            <a:off x="885093" y="1219200"/>
            <a:ext cx="5791200" cy="3095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Background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 company periodically records data for sales and expenses across 143 micro business zones. The company wishes to model the relationship between its sales and sales-related expenses to obtain accurate predictions.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06FC3-72F6-C4D3-D9F0-CA3ADFCDBEA9}"/>
              </a:ext>
            </a:extLst>
          </p:cNvPr>
          <p:cNvSpPr txBox="1"/>
          <p:nvPr/>
        </p:nvSpPr>
        <p:spPr>
          <a:xfrm>
            <a:off x="8191501" y="1236785"/>
            <a:ext cx="5791200" cy="226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Objective</a:t>
            </a:r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Predict incremental sales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based on planned sales-related expenses for strategic decision-making and resource allocation.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C22355-E501-BFB4-0EFA-C6CE03477660}"/>
              </a:ext>
            </a:extLst>
          </p:cNvPr>
          <p:cNvSpPr txBox="1"/>
          <p:nvPr/>
        </p:nvSpPr>
        <p:spPr>
          <a:xfrm>
            <a:off x="876301" y="4343400"/>
            <a:ext cx="7315200" cy="468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Available Information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FA62C7C-B692-7125-1036-3BF55EC8803E}"/>
              </a:ext>
            </a:extLst>
          </p:cNvPr>
          <p:cNvSpPr/>
          <p:nvPr/>
        </p:nvSpPr>
        <p:spPr>
          <a:xfrm>
            <a:off x="5245046" y="5029200"/>
            <a:ext cx="4164095" cy="207587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9BEDE5D-E9FF-7988-2A74-014C50AACA77}"/>
              </a:ext>
            </a:extLst>
          </p:cNvPr>
          <p:cNvSpPr/>
          <p:nvPr/>
        </p:nvSpPr>
        <p:spPr>
          <a:xfrm>
            <a:off x="5432320" y="5039047"/>
            <a:ext cx="3976821" cy="16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Dependent Variable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SALES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— Incremental sales (target variable)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6909363-C103-18FE-03CF-6F420C1470F4}"/>
              </a:ext>
            </a:extLst>
          </p:cNvPr>
          <p:cNvSpPr/>
          <p:nvPr/>
        </p:nvSpPr>
        <p:spPr>
          <a:xfrm>
            <a:off x="10174050" y="5029200"/>
            <a:ext cx="3818573" cy="205740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D73BB5A-569F-47FB-7B41-F7240CBF1FB0}"/>
              </a:ext>
            </a:extLst>
          </p:cNvPr>
          <p:cNvSpPr/>
          <p:nvPr/>
        </p:nvSpPr>
        <p:spPr>
          <a:xfrm>
            <a:off x="10392060" y="5029200"/>
            <a:ext cx="3347385" cy="78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Predictors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Expenditure towards advertisements and promotions in current and previous months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279380DF-AA3C-A257-9325-31EADA22C421}"/>
              </a:ext>
            </a:extLst>
          </p:cNvPr>
          <p:cNvSpPr/>
          <p:nvPr/>
        </p:nvSpPr>
        <p:spPr>
          <a:xfrm>
            <a:off x="685800" y="5029200"/>
            <a:ext cx="3976821" cy="207587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841C6362-C16D-4C23-FB77-C09B3F8CDCCF}"/>
              </a:ext>
            </a:extLst>
          </p:cNvPr>
          <p:cNvSpPr/>
          <p:nvPr/>
        </p:nvSpPr>
        <p:spPr>
          <a:xfrm>
            <a:off x="853339" y="5066171"/>
            <a:ext cx="3626798" cy="836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Sample Size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Data available for 143 micro business zones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439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2046-9F2B-0214-888F-41697EF9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Snapshot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191F2-0D39-3AA9-C4C2-1C56A5F42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96400" y="1752600"/>
            <a:ext cx="4785616" cy="5091971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Variable Descriptions</a:t>
            </a:r>
          </a:p>
          <a:p>
            <a:pPr algn="l">
              <a:lnSpc>
                <a:spcPct val="200000"/>
              </a:lnSpc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SALES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: Incremental Sales (INR Million)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AD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: Current Advertising Expenses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PRO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: Current Promotional Expenses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SALEXP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: Misc. Sales Expenses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ADPRE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: Previous Period's Advertising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PROPRE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: Previous Period's Promotions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All financial variables measured in INR Million with positive values only.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80DD9EA-0F1E-BC38-96E0-7801D6D56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933366"/>
              </p:ext>
            </p:extLst>
          </p:nvPr>
        </p:nvGraphicFramePr>
        <p:xfrm>
          <a:off x="363417" y="925732"/>
          <a:ext cx="8628183" cy="704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365">
                  <a:extLst>
                    <a:ext uri="{9D8B030D-6E8A-4147-A177-3AD203B41FA5}">
                      <a16:colId xmlns:a16="http://schemas.microsoft.com/office/drawing/2014/main" val="1347073107"/>
                    </a:ext>
                  </a:extLst>
                </a:gridCol>
                <a:gridCol w="1242303">
                  <a:extLst>
                    <a:ext uri="{9D8B030D-6E8A-4147-A177-3AD203B41FA5}">
                      <a16:colId xmlns:a16="http://schemas.microsoft.com/office/drawing/2014/main" val="3466436463"/>
                    </a:ext>
                  </a:extLst>
                </a:gridCol>
                <a:gridCol w="1242303">
                  <a:extLst>
                    <a:ext uri="{9D8B030D-6E8A-4147-A177-3AD203B41FA5}">
                      <a16:colId xmlns:a16="http://schemas.microsoft.com/office/drawing/2014/main" val="201548069"/>
                    </a:ext>
                  </a:extLst>
                </a:gridCol>
                <a:gridCol w="1242303">
                  <a:extLst>
                    <a:ext uri="{9D8B030D-6E8A-4147-A177-3AD203B41FA5}">
                      <a16:colId xmlns:a16="http://schemas.microsoft.com/office/drawing/2014/main" val="1748330349"/>
                    </a:ext>
                  </a:extLst>
                </a:gridCol>
                <a:gridCol w="1242303">
                  <a:extLst>
                    <a:ext uri="{9D8B030D-6E8A-4147-A177-3AD203B41FA5}">
                      <a16:colId xmlns:a16="http://schemas.microsoft.com/office/drawing/2014/main" val="3200084828"/>
                    </a:ext>
                  </a:extLst>
                </a:gridCol>
                <a:gridCol w="1242303">
                  <a:extLst>
                    <a:ext uri="{9D8B030D-6E8A-4147-A177-3AD203B41FA5}">
                      <a16:colId xmlns:a16="http://schemas.microsoft.com/office/drawing/2014/main" val="3056612511"/>
                    </a:ext>
                  </a:extLst>
                </a:gridCol>
                <a:gridCol w="1242303">
                  <a:extLst>
                    <a:ext uri="{9D8B030D-6E8A-4147-A177-3AD203B41FA5}">
                      <a16:colId xmlns:a16="http://schemas.microsoft.com/office/drawing/2014/main" val="3435935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SRNO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SALES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AD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PRO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SALEXP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ADPRE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PROPRE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5775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1.98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2.02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03550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15.1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1.94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21682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18.68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9363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16.05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9564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21.3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3364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17.85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1.74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4584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18.89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2.07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1.74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29133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21.27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2.07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28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20.48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2.02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87726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20.54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2.02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8573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26.18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67958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21.72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1.88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19541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28.7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2.27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1.88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3870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25.84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2.27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0320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29.32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6622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24.22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0.96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0014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26.59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0.62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0.96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6698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22.24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1.97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0.6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63312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012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596A9-B287-FE41-09BF-81AF3F483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Linear Regression with Original Variables</a:t>
            </a:r>
            <a:br>
              <a:rPr lang="en-US" sz="3600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F20B0-8789-1C17-2C47-F936FA77AF89}"/>
              </a:ext>
            </a:extLst>
          </p:cNvPr>
          <p:cNvSpPr txBox="1"/>
          <p:nvPr/>
        </p:nvSpPr>
        <p:spPr>
          <a:xfrm>
            <a:off x="487172" y="1105274"/>
            <a:ext cx="7315200" cy="7250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Model Fit Results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Interpretation: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Multiple R-Squared is 0.909, showing the model explains 91% of variance—apparently a good fit.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57B09-50EC-2A15-43CE-C1185B1CC74C}"/>
              </a:ext>
            </a:extLst>
          </p:cNvPr>
          <p:cNvSpPr txBox="1"/>
          <p:nvPr/>
        </p:nvSpPr>
        <p:spPr>
          <a:xfrm>
            <a:off x="8991600" y="1013411"/>
            <a:ext cx="5271627" cy="475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Multicollinearity Check (VIF)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Interpretation: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VIF values </a:t>
            </a:r>
            <a:r>
              <a:rPr lang="en-US" dirty="0"/>
              <a:t>are very high (&gt;5, except for SALEXP), 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indicating severe multicollinearity. Despite good R², the model is unreliable for prediction.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5BDF0ED5-6958-BE98-F944-8F543944C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7172" y="1731652"/>
            <a:ext cx="6939174" cy="5126347"/>
          </a:xfrm>
          <a:prstGeom prst="rect">
            <a:avLst/>
          </a:prstGeom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96A565E6-8D51-35B3-25CD-7D80A9BCF4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44000" y="1967124"/>
            <a:ext cx="2510076" cy="16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93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2046-9F2B-0214-888F-41697EF9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399" y="7620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/>
              <a:t>PCA to check number of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191F2-0D39-3AA9-C4C2-1C56A5F42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7984" y="1713084"/>
            <a:ext cx="12314429" cy="5218929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r>
              <a:rPr lang="en-US" sz="2400" dirty="0">
                <a:solidFill>
                  <a:schemeClr val="tx1"/>
                </a:solidFill>
                <a:ea typeface="Consolas"/>
                <a:cs typeface="Consolas"/>
                <a:sym typeface="Consolas"/>
              </a:rPr>
              <a:t># Output 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500"/>
            </a:pPr>
            <a:r>
              <a:rPr lang="en-US" sz="2400" b="1" dirty="0">
                <a:solidFill>
                  <a:schemeClr val="tx1"/>
                </a:solidFill>
                <a:ea typeface="Arial"/>
                <a:cs typeface="Arial"/>
                <a:sym typeface="Arial"/>
              </a:rPr>
              <a:t>Interpretation:</a:t>
            </a:r>
            <a:endParaRPr lang="en-US" sz="2400" dirty="0">
              <a:solidFill>
                <a:schemeClr val="tx1"/>
              </a:solidFill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500"/>
            </a:pPr>
            <a:r>
              <a:rPr lang="en-US" sz="1800" dirty="0">
                <a:solidFill>
                  <a:schemeClr val="tx1"/>
                </a:solidFill>
                <a:ea typeface="Arial"/>
                <a:cs typeface="Arial"/>
                <a:sym typeface="Arial"/>
              </a:rPr>
              <a:t>The first three principal components explain 82% of the variation in the data. Therefore, we will use 3 components in PCR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Arial"/>
            </a:endParaRPr>
          </a:p>
        </p:txBody>
      </p:sp>
      <p:pic>
        <p:nvPicPr>
          <p:cNvPr id="4" name="Google Shape;1314;p124">
            <a:extLst>
              <a:ext uri="{FF2B5EF4-FFF2-40B4-BE49-F238E27FC236}">
                <a16:creationId xmlns:a16="http://schemas.microsoft.com/office/drawing/2014/main" id="{5FD5ABE2-D2B5-08B0-99D1-9162014EBFA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05000" y="2667000"/>
            <a:ext cx="8229600" cy="1981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194A63-6138-C1CD-447E-14478D61C0FE}"/>
              </a:ext>
            </a:extLst>
          </p:cNvPr>
          <p:cNvSpPr/>
          <p:nvPr/>
        </p:nvSpPr>
        <p:spPr>
          <a:xfrm>
            <a:off x="9067800" y="3581400"/>
            <a:ext cx="990600" cy="3810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611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2046-9F2B-0214-888F-41697EF9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399" y="7620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/>
              <a:t>Predictions using PCR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191F2-0D39-3AA9-C4C2-1C56A5F42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7984" y="1713084"/>
            <a:ext cx="12314429" cy="4110934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r>
              <a:rPr lang="en-US" sz="2400" dirty="0">
                <a:solidFill>
                  <a:schemeClr val="tx1"/>
                </a:solidFill>
                <a:ea typeface="Consolas"/>
                <a:cs typeface="Consolas"/>
                <a:sym typeface="Consolas"/>
              </a:rPr>
              <a:t># Output 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buClr>
                <a:srgbClr val="000000"/>
              </a:buClr>
              <a:buSzPts val="1800"/>
            </a:pPr>
            <a:r>
              <a:rPr lang="en-US" sz="1800" b="1" dirty="0">
                <a:solidFill>
                  <a:srgbClr val="3F3F3F"/>
                </a:solidFill>
                <a:ea typeface="Arial"/>
                <a:cs typeface="Arial"/>
                <a:sym typeface="Arial"/>
              </a:rPr>
              <a:t>pcrpred </a:t>
            </a:r>
            <a:r>
              <a:rPr lang="en-US" sz="1800" dirty="0">
                <a:solidFill>
                  <a:srgbClr val="3F3F3F"/>
                </a:solidFill>
                <a:ea typeface="Arial"/>
                <a:cs typeface="Arial"/>
                <a:sym typeface="Arial"/>
              </a:rPr>
              <a:t>column gives the predicted values of SALES using PCR.</a:t>
            </a:r>
            <a:endParaRPr lang="en-US" sz="18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Arial"/>
            </a:endParaRPr>
          </a:p>
        </p:txBody>
      </p:sp>
      <p:pic>
        <p:nvPicPr>
          <p:cNvPr id="5" name="Google Shape;1339;p126">
            <a:extLst>
              <a:ext uri="{FF2B5EF4-FFF2-40B4-BE49-F238E27FC236}">
                <a16:creationId xmlns:a16="http://schemas.microsoft.com/office/drawing/2014/main" id="{ECDCD5FD-706D-10D4-BF89-10CF7EBDB73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2362200"/>
            <a:ext cx="8499117" cy="239163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244623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2046-9F2B-0214-888F-41697EF9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/>
              <a:t>Comparing Linear Regression Model and PCR model on Test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191F2-0D39-3AA9-C4C2-1C56A5F42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7984" y="1451188"/>
            <a:ext cx="12314429" cy="6880153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r>
              <a:rPr lang="en-US" sz="2400" dirty="0">
                <a:solidFill>
                  <a:schemeClr val="tx1"/>
                </a:solidFill>
                <a:ea typeface="Consolas"/>
                <a:cs typeface="Consolas"/>
                <a:sym typeface="Consolas"/>
              </a:rPr>
              <a:t># Output 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onsolas"/>
              <a:buNone/>
            </a:pPr>
            <a:endParaRPr lang="en-US" sz="1800" u="none" strike="noStrike" cap="none" dirty="0">
              <a:solidFill>
                <a:schemeClr val="tx1"/>
              </a:solidFill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onsolas"/>
              <a:buNone/>
            </a:pPr>
            <a:r>
              <a:rPr lang="en-US" sz="1800" b="1" u="none" strike="noStrike" cap="none" dirty="0">
                <a:solidFill>
                  <a:schemeClr val="tx1"/>
                </a:solidFill>
                <a:ea typeface="Consolas"/>
                <a:cs typeface="Consolas"/>
                <a:sym typeface="Consolas"/>
              </a:rPr>
              <a:t>RMSE</a:t>
            </a:r>
            <a:r>
              <a:rPr lang="en-US" sz="1800" b="1" dirty="0">
                <a:solidFill>
                  <a:schemeClr val="tx1"/>
                </a:solidFill>
                <a:ea typeface="Consolas"/>
                <a:cs typeface="Consolas"/>
                <a:sym typeface="Consolas"/>
              </a:rPr>
              <a:t> Using Linear Regression (OLS) : 9.112</a:t>
            </a:r>
            <a:endParaRPr lang="en-US" sz="1800" b="1" u="none" strike="noStrike" cap="none"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800" b="1" u="none" strike="noStrike" cap="none" dirty="0">
                <a:solidFill>
                  <a:schemeClr val="tx1"/>
                </a:solidFill>
                <a:ea typeface="Consolas"/>
                <a:cs typeface="Consolas"/>
                <a:sym typeface="Consolas"/>
              </a:rPr>
              <a:t>RMSE</a:t>
            </a:r>
            <a:r>
              <a:rPr lang="en-US" sz="1800" b="1" dirty="0">
                <a:solidFill>
                  <a:schemeClr val="tx1"/>
                </a:solidFill>
                <a:ea typeface="Consolas"/>
                <a:cs typeface="Consolas"/>
                <a:sym typeface="Consolas"/>
              </a:rPr>
              <a:t> Using PCR: 2.851</a:t>
            </a:r>
            <a:endParaRPr lang="en-US" sz="1800" b="1" u="none" strike="noStrike" cap="none"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US" sz="1800" b="0" dirty="0">
              <a:solidFill>
                <a:schemeClr val="tx1"/>
              </a:solidFill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Consolas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3F3F3F"/>
                </a:solidFill>
                <a:ea typeface="Arial"/>
                <a:cs typeface="Arial"/>
                <a:sym typeface="Arial"/>
              </a:rPr>
              <a:t>Interpretation:</a:t>
            </a:r>
            <a:endParaRPr lang="en-US" sz="24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406400" indent="-375920">
              <a:lnSpc>
                <a:spcPct val="150000"/>
              </a:lnSpc>
              <a:buClr>
                <a:srgbClr val="3F3F3F"/>
              </a:buClr>
              <a:buSzPts val="700"/>
              <a:buFont typeface="Noto Sans Symbols"/>
              <a:buChar char="⮚"/>
            </a:pPr>
            <a:r>
              <a:rPr lang="en-US" sz="1800" b="1" dirty="0">
                <a:solidFill>
                  <a:srgbClr val="3F3F3F"/>
                </a:solidFill>
                <a:ea typeface="Arial"/>
                <a:cs typeface="Arial"/>
                <a:sym typeface="Arial"/>
              </a:rPr>
              <a:t>RMSE using PCR is less than RMSE using linear regression</a:t>
            </a:r>
            <a:r>
              <a:rPr lang="en-US" sz="1800" dirty="0">
                <a:solidFill>
                  <a:srgbClr val="3F3F3F"/>
                </a:solidFill>
                <a:ea typeface="Arial"/>
                <a:cs typeface="Arial"/>
                <a:sym typeface="Arial"/>
              </a:rPr>
              <a:t>, we may conclude that PCR model predicts SALES better than linear regression model when multicollinearity exists. </a:t>
            </a:r>
            <a:endParaRPr lang="en-US" sz="18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sz="1800" dirty="0">
              <a:solidFill>
                <a:schemeClr val="tx1"/>
              </a:solidFill>
              <a:ea typeface="Arial"/>
              <a:cs typeface="Arial"/>
              <a:sym typeface="Arial"/>
            </a:endParaRPr>
          </a:p>
        </p:txBody>
      </p:sp>
      <p:pic>
        <p:nvPicPr>
          <p:cNvPr id="6" name="Google Shape;1366;p128">
            <a:extLst>
              <a:ext uri="{FF2B5EF4-FFF2-40B4-BE49-F238E27FC236}">
                <a16:creationId xmlns:a16="http://schemas.microsoft.com/office/drawing/2014/main" id="{CEC2DA3A-ED1F-1DFD-8388-E75DA98B4B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62200" y="2328904"/>
            <a:ext cx="9640050" cy="188458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101144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object 13">
            <a:extLst>
              <a:ext uri="{FF2B5EF4-FFF2-40B4-BE49-F238E27FC236}">
                <a16:creationId xmlns:a16="http://schemas.microsoft.com/office/drawing/2014/main" id="{B4F0F297-A88D-E6DC-EBDF-D63B02F59349}"/>
              </a:ext>
            </a:extLst>
          </p:cNvPr>
          <p:cNvGrpSpPr/>
          <p:nvPr/>
        </p:nvGrpSpPr>
        <p:grpSpPr>
          <a:xfrm>
            <a:off x="9906000" y="1600200"/>
            <a:ext cx="4382591" cy="5130720"/>
            <a:chOff x="793788" y="4631308"/>
            <a:chExt cx="6437630" cy="2974340"/>
          </a:xfrm>
        </p:grpSpPr>
        <p:sp>
          <p:nvSpPr>
            <p:cNvPr id="26" name="object 14">
              <a:extLst>
                <a:ext uri="{FF2B5EF4-FFF2-40B4-BE49-F238E27FC236}">
                  <a16:creationId xmlns:a16="http://schemas.microsoft.com/office/drawing/2014/main" id="{BFEBDE31-101F-9F08-4ECC-4892A37615E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7" name="object 15">
              <a:extLst>
                <a:ext uri="{FF2B5EF4-FFF2-40B4-BE49-F238E27FC236}">
                  <a16:creationId xmlns:a16="http://schemas.microsoft.com/office/drawing/2014/main" id="{AF4368CE-1CDB-4FEF-1D34-8E3904CA7F11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20" name="object 13">
            <a:extLst>
              <a:ext uri="{FF2B5EF4-FFF2-40B4-BE49-F238E27FC236}">
                <a16:creationId xmlns:a16="http://schemas.microsoft.com/office/drawing/2014/main" id="{1B90B499-03B9-1E2B-6527-3AACFA375AE1}"/>
              </a:ext>
            </a:extLst>
          </p:cNvPr>
          <p:cNvGrpSpPr/>
          <p:nvPr/>
        </p:nvGrpSpPr>
        <p:grpSpPr>
          <a:xfrm>
            <a:off x="5257800" y="1600200"/>
            <a:ext cx="4382591" cy="5130720"/>
            <a:chOff x="793788" y="4631308"/>
            <a:chExt cx="6437630" cy="2974340"/>
          </a:xfrm>
        </p:grpSpPr>
        <p:sp>
          <p:nvSpPr>
            <p:cNvPr id="23" name="object 14">
              <a:extLst>
                <a:ext uri="{FF2B5EF4-FFF2-40B4-BE49-F238E27FC236}">
                  <a16:creationId xmlns:a16="http://schemas.microsoft.com/office/drawing/2014/main" id="{42FDAD71-5FCC-5C8E-2973-6B089149CAF6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4" name="object 15">
              <a:extLst>
                <a:ext uri="{FF2B5EF4-FFF2-40B4-BE49-F238E27FC236}">
                  <a16:creationId xmlns:a16="http://schemas.microsoft.com/office/drawing/2014/main" id="{104E1FDE-F230-8D48-5A4B-5299B8D8D72C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11" name="object 13">
            <a:extLst>
              <a:ext uri="{FF2B5EF4-FFF2-40B4-BE49-F238E27FC236}">
                <a16:creationId xmlns:a16="http://schemas.microsoft.com/office/drawing/2014/main" id="{6EC089C0-5BB4-E3E9-8698-C87698AD5F14}"/>
              </a:ext>
            </a:extLst>
          </p:cNvPr>
          <p:cNvGrpSpPr/>
          <p:nvPr/>
        </p:nvGrpSpPr>
        <p:grpSpPr>
          <a:xfrm>
            <a:off x="480117" y="1574880"/>
            <a:ext cx="4382591" cy="5130720"/>
            <a:chOff x="793788" y="4631308"/>
            <a:chExt cx="6437630" cy="2974340"/>
          </a:xfrm>
        </p:grpSpPr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275B7AB5-027C-C52D-8FE7-5616C6CCFFB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19" name="object 15">
              <a:extLst>
                <a:ext uri="{FF2B5EF4-FFF2-40B4-BE49-F238E27FC236}">
                  <a16:creationId xmlns:a16="http://schemas.microsoft.com/office/drawing/2014/main" id="{46B193B5-F674-7CD7-682C-F0497C4856B6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680" y="-157636"/>
            <a:ext cx="13656055" cy="1067138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20703" y="1579317"/>
            <a:ext cx="3699498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PCR Solution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Principal Component Regression combines PCA with regression: transform to uncorrelated components, build the model, then back-transform for interpretation—effective for severe multicollinearity.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137921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15506" y="1579317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Python Implementation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Use </a:t>
            </a:r>
            <a:r>
              <a:rPr lang="en-US" sz="1800" b="1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pcr.nipalsPCR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()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function in the </a:t>
            </a:r>
            <a:r>
              <a:rPr lang="en-US" sz="1800" b="1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hoggorm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library to perform PCR efficiently. The method produces more stable and accurate predictions than standard regression under multicollinearity.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050529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49111" y="1574880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Multicollinearity Challenge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Highly correlated predictor variables violate regression assumptions and create unstable models—a frequent problem in real-world analytics that must be addressed.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213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819</TotalTime>
  <Words>911</Words>
  <Application>Microsoft Macintosh PowerPoint</Application>
  <PresentationFormat>Custom</PresentationFormat>
  <Paragraphs>293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Calibri</vt:lpstr>
      <vt:lpstr>Cambria Math</vt:lpstr>
      <vt:lpstr>Consolas</vt:lpstr>
      <vt:lpstr>DM Sans</vt:lpstr>
      <vt:lpstr>Lucida Sans Unicode</vt:lpstr>
      <vt:lpstr>Noto Sans Symbols</vt:lpstr>
      <vt:lpstr>Open Sans Light</vt:lpstr>
      <vt:lpstr>PT Serif</vt:lpstr>
      <vt:lpstr>PT Serif Light</vt:lpstr>
      <vt:lpstr>Office Theme</vt:lpstr>
      <vt:lpstr>PowerPoint Presentation</vt:lpstr>
      <vt:lpstr>PowerPoint Presentation</vt:lpstr>
      <vt:lpstr>Multiple Linear Regression: Statistical Model</vt:lpstr>
      <vt:lpstr>Problem of Multicollinearity</vt:lpstr>
      <vt:lpstr>Multicollinearity – Remedial Measures</vt:lpstr>
      <vt:lpstr>Principal Component Regression</vt:lpstr>
      <vt:lpstr>Three-Step PCR Process</vt:lpstr>
      <vt:lpstr>PCR-Statistical Model</vt:lpstr>
      <vt:lpstr>Case Study: Sales Prediction </vt:lpstr>
      <vt:lpstr>Data Snapshot</vt:lpstr>
      <vt:lpstr>Linear Regression with Original Variables </vt:lpstr>
      <vt:lpstr>PCA to check number of components</vt:lpstr>
      <vt:lpstr>Predictions using PCR </vt:lpstr>
      <vt:lpstr>Comparing Linear Regression Model and PCR model on Test data</vt:lpstr>
      <vt:lpstr>Key Takeaways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Vinayak Deshpande</cp:lastModifiedBy>
  <cp:revision>271</cp:revision>
  <dcterms:created xsi:type="dcterms:W3CDTF">2025-08-01T06:43:07Z</dcterms:created>
  <dcterms:modified xsi:type="dcterms:W3CDTF">2026-01-27T06:13:03Z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