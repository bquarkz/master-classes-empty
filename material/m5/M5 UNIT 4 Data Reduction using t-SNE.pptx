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74" r:id="rId2"/>
    <p:sldId id="275" r:id="rId3"/>
    <p:sldId id="300" r:id="rId4"/>
    <p:sldId id="345" r:id="rId5"/>
    <p:sldId id="358" r:id="rId6"/>
    <p:sldId id="266" r:id="rId7"/>
    <p:sldId id="359" r:id="rId8"/>
    <p:sldId id="360" r:id="rId9"/>
    <p:sldId id="361" r:id="rId10"/>
    <p:sldId id="362" r:id="rId11"/>
    <p:sldId id="363" r:id="rId12"/>
    <p:sldId id="328" r:id="rId13"/>
    <p:sldId id="364" r:id="rId14"/>
    <p:sldId id="365" r:id="rId15"/>
    <p:sldId id="366" r:id="rId16"/>
    <p:sldId id="367" r:id="rId17"/>
    <p:sldId id="368" r:id="rId18"/>
    <p:sldId id="369" r:id="rId19"/>
    <p:sldId id="341" r:id="rId20"/>
    <p:sldId id="370" r:id="rId21"/>
    <p:sldId id="354" r:id="rId22"/>
    <p:sldId id="371" r:id="rId23"/>
    <p:sldId id="372" r:id="rId24"/>
    <p:sldId id="373" r:id="rId25"/>
    <p:sldId id="357" r:id="rId26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8891F-FB35-E1C6-2832-95F5AEC01C35}" v="1" dt="2025-11-06T07:40:41.1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19" autoAdjust="0"/>
    <p:restoredTop sz="92891" autoAdjust="0"/>
  </p:normalViewPr>
  <p:slideViewPr>
    <p:cSldViewPr>
      <p:cViewPr varScale="1">
        <p:scale>
          <a:sx n="84" d="100"/>
          <a:sy n="84" d="100"/>
        </p:scale>
        <p:origin x="992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30/01/26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942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444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30/01/26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30/01/26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30/01/26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30/01/26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43468" y="2133600"/>
            <a:ext cx="103817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100"/>
              </a:lnSpc>
            </a:pPr>
            <a:r>
              <a:rPr lang="en-US" sz="4100" dirty="0">
                <a:latin typeface="PT Serif" panose="020A0603040505020204" pitchFamily="18" charset="0"/>
              </a:rPr>
              <a:t>Data Reduction using t-SNE</a:t>
            </a:r>
            <a:r>
              <a:rPr lang="en-IN" sz="4100" dirty="0">
                <a:latin typeface="PT Serif" panose="020A0603040505020204" pitchFamily="18" charset="0"/>
              </a:rPr>
              <a:t> </a:t>
            </a:r>
            <a:endParaRPr lang="en-US" sz="4100" dirty="0">
              <a:latin typeface="PT Serif" panose="020A0603040505020204" pitchFamily="18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43468" y="3789164"/>
            <a:ext cx="112961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t-Distributed Stochastic Neighbor Embedding</a:t>
            </a:r>
            <a:endParaRPr lang="en-US" sz="20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62000" y="347487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12732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1628298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1802606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and Why t-SNE is Used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12732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162829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1760100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1: Data Standardization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25715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292655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100863"/>
            <a:ext cx="5683210" cy="22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2: Pairwise Distance Matrix</a:t>
            </a:r>
            <a:endParaRPr lang="en-US" sz="2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25715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292655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3100863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6178CF-9339-DE4A-28C3-77F3A415D7BD}"/>
              </a:ext>
            </a:extLst>
          </p:cNvPr>
          <p:cNvSpPr/>
          <p:nvPr/>
        </p:nvSpPr>
        <p:spPr>
          <a:xfrm>
            <a:off x="793790" y="407003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97DF43-3297-7260-5B91-2DAB55D3B09B}"/>
              </a:ext>
            </a:extLst>
          </p:cNvPr>
          <p:cNvSpPr/>
          <p:nvPr/>
        </p:nvSpPr>
        <p:spPr>
          <a:xfrm>
            <a:off x="793790" y="4339352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4: Symmetric Joint Probabilities</a:t>
            </a:r>
            <a:endParaRPr lang="en-US" sz="24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113380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3: Conditional Probabilities</a:t>
            </a:r>
            <a:endParaRPr lang="en-US" sz="24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B9F5E8B-045A-3A25-2933-25E0399D6449}"/>
              </a:ext>
            </a:extLst>
          </p:cNvPr>
          <p:cNvSpPr/>
          <p:nvPr/>
        </p:nvSpPr>
        <p:spPr>
          <a:xfrm>
            <a:off x="7391400" y="38409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EC1DCEC7-625C-4004-BE4E-377DFDBDBFBA}"/>
              </a:ext>
            </a:extLst>
          </p:cNvPr>
          <p:cNvSpPr/>
          <p:nvPr/>
        </p:nvSpPr>
        <p:spPr>
          <a:xfrm>
            <a:off x="7391400" y="419598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D78A8F84-E258-6237-EABC-99F514D623A1}"/>
              </a:ext>
            </a:extLst>
          </p:cNvPr>
          <p:cNvSpPr/>
          <p:nvPr/>
        </p:nvSpPr>
        <p:spPr>
          <a:xfrm>
            <a:off x="7391400" y="4382810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5: Low-Dimensional Initialization</a:t>
            </a:r>
            <a:endParaRPr lang="en-US" sz="24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4DBD175A-6995-075B-E177-BFF3D1602B48}"/>
              </a:ext>
            </a:extLst>
          </p:cNvPr>
          <p:cNvSpPr/>
          <p:nvPr/>
        </p:nvSpPr>
        <p:spPr>
          <a:xfrm>
            <a:off x="762000" y="5450458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t-SNE Preserves (and What It Does Not)</a:t>
            </a:r>
            <a:endParaRPr lang="en-US" sz="24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3EA9804B-335C-F6C0-443D-D4E06262E182}"/>
              </a:ext>
            </a:extLst>
          </p:cNvPr>
          <p:cNvSpPr/>
          <p:nvPr/>
        </p:nvSpPr>
        <p:spPr>
          <a:xfrm>
            <a:off x="7359610" y="495204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45ED9308-B924-878E-9DC8-D39DF900E95D}"/>
              </a:ext>
            </a:extLst>
          </p:cNvPr>
          <p:cNvSpPr/>
          <p:nvPr/>
        </p:nvSpPr>
        <p:spPr>
          <a:xfrm>
            <a:off x="7359610" y="530709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9A35273B-E2FA-4A53-50E8-C2D277C1E0C8}"/>
              </a:ext>
            </a:extLst>
          </p:cNvPr>
          <p:cNvSpPr/>
          <p:nvPr/>
        </p:nvSpPr>
        <p:spPr>
          <a:xfrm>
            <a:off x="7359610" y="5493916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Implementation</a:t>
            </a:r>
            <a:endParaRPr lang="en-US" sz="24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BA71D4D9-776E-A65E-5348-1D063FA3E99C}"/>
              </a:ext>
            </a:extLst>
          </p:cNvPr>
          <p:cNvSpPr/>
          <p:nvPr/>
        </p:nvSpPr>
        <p:spPr>
          <a:xfrm>
            <a:off x="762000" y="492156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33FCE14C-6327-5C94-C458-A3570CA5D7C0}"/>
              </a:ext>
            </a:extLst>
          </p:cNvPr>
          <p:cNvSpPr/>
          <p:nvPr/>
        </p:nvSpPr>
        <p:spPr>
          <a:xfrm>
            <a:off x="762000" y="527661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F84949FC-F4CF-8D24-8654-8895E3672A15}"/>
              </a:ext>
            </a:extLst>
          </p:cNvPr>
          <p:cNvSpPr/>
          <p:nvPr/>
        </p:nvSpPr>
        <p:spPr>
          <a:xfrm>
            <a:off x="762000" y="6549152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400" dirty="0"/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6D9639B8-7315-1E5F-E7B3-8A2C2C5FEBA8}"/>
              </a:ext>
            </a:extLst>
          </p:cNvPr>
          <p:cNvSpPr/>
          <p:nvPr/>
        </p:nvSpPr>
        <p:spPr>
          <a:xfrm>
            <a:off x="793790" y="3810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latin typeface="PT Serif" panose="020A0603040505020204" pitchFamily="18" charset="0"/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9BB72F5D-8E0D-705D-88B7-FDB66D4AF612}"/>
              </a:ext>
            </a:extLst>
          </p:cNvPr>
          <p:cNvSpPr/>
          <p:nvPr/>
        </p:nvSpPr>
        <p:spPr>
          <a:xfrm>
            <a:off x="793790" y="416504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163" y="228600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When and Why t-SNE is Used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33152" y="2128002"/>
            <a:ext cx="4164095" cy="39679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02404" y="2215807"/>
            <a:ext cx="389290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Local Structure Focus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Preserves neighborhood relationships rather than global distances between observations.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2183501"/>
            <a:ext cx="3892901" cy="391071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33706" y="2158423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Common Domains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Genomics, image features, text embeddings, single-cell RNA-seq, and general exploratory data analysis.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24717" y="2151147"/>
            <a:ext cx="3976821" cy="39679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99728" y="2172006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Visualization Purpose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Reduces high-dimensional data to 2D or 3D for human interpretation and exploratory analysis.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9741C-5F63-98E1-5559-3C6C4B899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Athletics Data Snapshot</a:t>
            </a:r>
            <a:endParaRPr lang="en-IN" sz="36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5D48CBE-1ACB-E96B-94D3-67074728DC0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37725" y="1219200"/>
          <a:ext cx="14154948" cy="6096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72772">
                  <a:extLst>
                    <a:ext uri="{9D8B030D-6E8A-4147-A177-3AD203B41FA5}">
                      <a16:colId xmlns:a16="http://schemas.microsoft.com/office/drawing/2014/main" val="574674097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1506899633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892562424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3019448326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2846669256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1750152398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4227061776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2112978804"/>
                    </a:ext>
                  </a:extLst>
                </a:gridCol>
                <a:gridCol w="1572772">
                  <a:extLst>
                    <a:ext uri="{9D8B030D-6E8A-4147-A177-3AD203B41FA5}">
                      <a16:colId xmlns:a16="http://schemas.microsoft.com/office/drawing/2014/main" val="136698938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Country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100m_s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200m_s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400m_s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800m_min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1500m_min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5000m_min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10000m_min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just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Marathon_min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336566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Argentina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10.39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46.84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14.04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29.36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137.72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537196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Australia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10.31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20.06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44.84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3.57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13.28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27.66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128.3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181229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Austria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10.44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46.82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13.26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27.72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135.9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117002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Belgium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10.34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20.68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45.04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13.22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27.45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129.95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5822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Bermuda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10.28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20.58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45.91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3.75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14.68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30.55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146.62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885734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Brazil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10.22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20.43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45.21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3.66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13.62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28.62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133.13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803092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Burma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10.64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21.52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48.3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3.85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14.45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30.28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139.95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877082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Canada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10.17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20.22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45.68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3.63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13.55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28.09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130.15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520774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Chile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10.34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20.8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46.2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1.79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3.71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13.61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29.3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134.03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434626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China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10.51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21.04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47.3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1.81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3.73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29.13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133.53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2621691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Colombia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10.43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21.05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46.1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1.82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3.74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13.49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27.88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  <a:latin typeface="PT Serif" panose="020A0603040505020204" pitchFamily="18" charset="0"/>
                        </a:rPr>
                        <a:t>131.35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PT Serif" panose="020A06030405050202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2873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538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1C0F-F24E-159C-E6B0-D4C07143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628" y="784812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Problem Setup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84553-E1E2-710B-AAC9-112858F1C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3935" y="1916254"/>
            <a:ext cx="6364224" cy="2875980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Data Structure</a:t>
            </a:r>
            <a:endParaRPr lang="en-US" sz="24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Data matrix: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n = 55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observations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Feature space: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p = 8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variables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Target: 2-dimensional embedding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2DA94-3EB7-1664-9254-28401F9D3F79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34655" y="1916254"/>
            <a:ext cx="6364224" cy="4353308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Core Objective</a:t>
            </a:r>
            <a:endParaRPr lang="en-US" sz="24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Map 8-dimensional data into 2-dimensional space while preserving the neighborhood structure that exists in the original high-dimensional space.</a:t>
            </a:r>
          </a:p>
          <a:p>
            <a:pPr algn="l">
              <a:lnSpc>
                <a:spcPct val="200000"/>
              </a:lnSpc>
            </a:pPr>
            <a:endParaRPr lang="en-US" sz="9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All pairwise distances are computed in the original 8-D space and remain fixed throughout.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85261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object 13">
            <a:extLst>
              <a:ext uri="{FF2B5EF4-FFF2-40B4-BE49-F238E27FC236}">
                <a16:creationId xmlns:a16="http://schemas.microsoft.com/office/drawing/2014/main" id="{2B63B66D-F2E2-475F-EAC5-5BC7235C3868}"/>
              </a:ext>
            </a:extLst>
          </p:cNvPr>
          <p:cNvGrpSpPr/>
          <p:nvPr/>
        </p:nvGrpSpPr>
        <p:grpSpPr>
          <a:xfrm>
            <a:off x="1331347" y="2253484"/>
            <a:ext cx="5530189" cy="3613916"/>
            <a:chOff x="793788" y="4631308"/>
            <a:chExt cx="6437630" cy="2974340"/>
          </a:xfrm>
        </p:grpSpPr>
        <p:sp>
          <p:nvSpPr>
            <p:cNvPr id="23" name="object 14">
              <a:extLst>
                <a:ext uri="{FF2B5EF4-FFF2-40B4-BE49-F238E27FC236}">
                  <a16:creationId xmlns:a16="http://schemas.microsoft.com/office/drawing/2014/main" id="{C32A6DB6-32F7-2C99-C4A3-881458A35482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4" name="object 15">
              <a:extLst>
                <a:ext uri="{FF2B5EF4-FFF2-40B4-BE49-F238E27FC236}">
                  <a16:creationId xmlns:a16="http://schemas.microsoft.com/office/drawing/2014/main" id="{0CEDF316-8F9B-19A3-E100-AE8C8BD554E0}"/>
                </a:ext>
              </a:extLst>
            </p:cNvPr>
            <p:cNvSpPr/>
            <p:nvPr/>
          </p:nvSpPr>
          <p:spPr>
            <a:xfrm>
              <a:off x="816648" y="4654167"/>
              <a:ext cx="6391910" cy="52915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31" name="object 13">
            <a:extLst>
              <a:ext uri="{FF2B5EF4-FFF2-40B4-BE49-F238E27FC236}">
                <a16:creationId xmlns:a16="http://schemas.microsoft.com/office/drawing/2014/main" id="{3A7BD985-4F33-92C4-8CA6-B96C8FF5B89E}"/>
              </a:ext>
            </a:extLst>
          </p:cNvPr>
          <p:cNvGrpSpPr/>
          <p:nvPr/>
        </p:nvGrpSpPr>
        <p:grpSpPr>
          <a:xfrm>
            <a:off x="7576211" y="2272400"/>
            <a:ext cx="5530189" cy="3613915"/>
            <a:chOff x="793788" y="4631308"/>
            <a:chExt cx="6437630" cy="2974340"/>
          </a:xfrm>
        </p:grpSpPr>
        <p:sp>
          <p:nvSpPr>
            <p:cNvPr id="32" name="object 14">
              <a:extLst>
                <a:ext uri="{FF2B5EF4-FFF2-40B4-BE49-F238E27FC236}">
                  <a16:creationId xmlns:a16="http://schemas.microsoft.com/office/drawing/2014/main" id="{EF009A0C-E269-9B9B-724D-1EA47701A74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33" name="object 15">
              <a:extLst>
                <a:ext uri="{FF2B5EF4-FFF2-40B4-BE49-F238E27FC236}">
                  <a16:creationId xmlns:a16="http://schemas.microsoft.com/office/drawing/2014/main" id="{854AAF6B-CF3B-8A7E-D12F-750BEE487628}"/>
                </a:ext>
              </a:extLst>
            </p:cNvPr>
            <p:cNvSpPr/>
            <p:nvPr/>
          </p:nvSpPr>
          <p:spPr>
            <a:xfrm>
              <a:off x="816648" y="4654168"/>
              <a:ext cx="6391910" cy="519823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821" y="462287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1: Data Standardization</a:t>
            </a:r>
            <a:endParaRPr lang="en-US" sz="3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0D38183-3593-0CD5-9F87-5CFCC2BA96CD}"/>
              </a:ext>
            </a:extLst>
          </p:cNvPr>
          <p:cNvSpPr/>
          <p:nvPr/>
        </p:nvSpPr>
        <p:spPr>
          <a:xfrm>
            <a:off x="1473441" y="2235899"/>
            <a:ext cx="5246003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Standardization Formula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Each variable is centered to mean zero and scaled to unit variance.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25592-1A5D-94A2-1249-6AAE7946F079}"/>
              </a:ext>
            </a:extLst>
          </p:cNvPr>
          <p:cNvSpPr/>
          <p:nvPr/>
        </p:nvSpPr>
        <p:spPr>
          <a:xfrm>
            <a:off x="7784330" y="2235899"/>
            <a:ext cx="5175148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Critical Importance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Euclidean distance is highly sensitive to variable scale. Without standardization, high-variance variables dominate distance calculations, distorting neighborhood structure.</a:t>
            </a:r>
            <a:endParaRPr lang="en-US" sz="1800" dirty="0">
              <a:latin typeface="PT Serif" panose="020A0603040505020204" pitchFamily="18" charset="0"/>
            </a:endParaRPr>
          </a:p>
          <a:p>
            <a:pPr lvl="1">
              <a:lnSpc>
                <a:spcPct val="200000"/>
              </a:lnSpc>
              <a:buSzPct val="100000"/>
            </a:pP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CD0CA5E3-5A07-EFEA-5201-64C636E46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99" y="3141642"/>
            <a:ext cx="5911215" cy="525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331FBEE1-6833-308C-A239-CDF386B05EA2}"/>
              </a:ext>
            </a:extLst>
          </p:cNvPr>
          <p:cNvSpPr/>
          <p:nvPr/>
        </p:nvSpPr>
        <p:spPr>
          <a:xfrm>
            <a:off x="498896" y="5234268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00DE5-2664-8D32-C966-43F65B3A6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821" y="619484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2: Pairwise Distance Matrix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3D8997-5115-1FFE-89A0-60CA7EA0DCCF}"/>
              </a:ext>
            </a:extLst>
          </p:cNvPr>
          <p:cNvSpPr txBox="1"/>
          <p:nvPr/>
        </p:nvSpPr>
        <p:spPr>
          <a:xfrm>
            <a:off x="1100406" y="1834592"/>
            <a:ext cx="11887200" cy="456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Compute Euclidean distances between all observation pairs in the standardized 8-dimensional space: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ts val="25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This produces a symmetric </a:t>
            </a: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55 × 55 distance matrix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. These distances form the foundation of the algorithm and remain constant throughout optimization.</a:t>
            </a:r>
          </a:p>
          <a:p>
            <a:pPr algn="l">
              <a:lnSpc>
                <a:spcPts val="2500"/>
              </a:lnSpc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ts val="25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ts val="2500"/>
              </a:lnSpc>
            </a:pPr>
            <a:r>
              <a:rPr lang="en-US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distance matrix captures the geometric structure of the original high-dimensional data that t-SNE aims to preserve in lower dimensions.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FBA995A-3883-59B6-DCA2-6380054E6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593124"/>
            <a:ext cx="13042821" cy="89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29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object 13">
            <a:extLst>
              <a:ext uri="{FF2B5EF4-FFF2-40B4-BE49-F238E27FC236}">
                <a16:creationId xmlns:a16="http://schemas.microsoft.com/office/drawing/2014/main" id="{C5B2DBE8-B933-7DC9-EF15-FD2988B1EAEA}"/>
              </a:ext>
            </a:extLst>
          </p:cNvPr>
          <p:cNvGrpSpPr/>
          <p:nvPr/>
        </p:nvGrpSpPr>
        <p:grpSpPr>
          <a:xfrm>
            <a:off x="7773517" y="3352800"/>
            <a:ext cx="5530189" cy="1400914"/>
            <a:chOff x="816648" y="4654167"/>
            <a:chExt cx="6437630" cy="2974340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002D164-7D78-CD98-6B25-C5943C8C11D0}"/>
                </a:ext>
              </a:extLst>
            </p:cNvPr>
            <p:cNvSpPr/>
            <p:nvPr/>
          </p:nvSpPr>
          <p:spPr>
            <a:xfrm>
              <a:off x="816648" y="4654167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6467820-106A-EC8A-5841-541FD3EAA4D8}"/>
                </a:ext>
              </a:extLst>
            </p:cNvPr>
            <p:cNvSpPr/>
            <p:nvPr/>
          </p:nvSpPr>
          <p:spPr>
            <a:xfrm>
              <a:off x="816648" y="4654167"/>
              <a:ext cx="6391910" cy="1194722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0" name="object 13">
            <a:extLst>
              <a:ext uri="{FF2B5EF4-FFF2-40B4-BE49-F238E27FC236}">
                <a16:creationId xmlns:a16="http://schemas.microsoft.com/office/drawing/2014/main" id="{7526A0AF-5279-5FDE-C0CE-AAD49B637671}"/>
              </a:ext>
            </a:extLst>
          </p:cNvPr>
          <p:cNvGrpSpPr/>
          <p:nvPr/>
        </p:nvGrpSpPr>
        <p:grpSpPr>
          <a:xfrm>
            <a:off x="1371600" y="3398848"/>
            <a:ext cx="5530189" cy="1400914"/>
            <a:chOff x="816648" y="4654167"/>
            <a:chExt cx="6437630" cy="2974340"/>
          </a:xfrm>
        </p:grpSpPr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0BDA2866-BC9B-B791-F350-D16FC16C8271}"/>
                </a:ext>
              </a:extLst>
            </p:cNvPr>
            <p:cNvSpPr/>
            <p:nvPr/>
          </p:nvSpPr>
          <p:spPr>
            <a:xfrm>
              <a:off x="816648" y="4654167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2" name="object 15">
              <a:extLst>
                <a:ext uri="{FF2B5EF4-FFF2-40B4-BE49-F238E27FC236}">
                  <a16:creationId xmlns:a16="http://schemas.microsoft.com/office/drawing/2014/main" id="{50A5A5A2-1F3E-86CE-3E4A-3B9D61EC26DB}"/>
                </a:ext>
              </a:extLst>
            </p:cNvPr>
            <p:cNvSpPr/>
            <p:nvPr/>
          </p:nvSpPr>
          <p:spPr>
            <a:xfrm>
              <a:off x="816648" y="4654167"/>
              <a:ext cx="6391910" cy="1194722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1D049F-FF8B-3A71-5EFB-9CD011C57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828" y="671097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Step 3: Conditional Probabilities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68F7F-8890-A715-6018-6A290B70A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47037" y="3510453"/>
            <a:ext cx="5059680" cy="1938992"/>
          </a:xfrm>
        </p:spPr>
        <p:txBody>
          <a:bodyPr/>
          <a:lstStyle/>
          <a:p>
            <a:pPr marL="514350" indent="-514350" algn="ctr">
              <a:buAutoNum type="arabicPeriod"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Nearby Points</a:t>
            </a:r>
          </a:p>
          <a:p>
            <a:pPr marL="514350" indent="-514350" algn="l">
              <a:buAutoNum type="arabicPeriod"/>
            </a:pPr>
            <a:endParaRPr lang="en-US" dirty="0">
              <a:solidFill>
                <a:srgbClr val="383838"/>
              </a:solidFill>
            </a:endParaRPr>
          </a:p>
          <a:p>
            <a:pPr algn="l"/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Small distances yield probabilities close to 1</a:t>
            </a:r>
            <a:endParaRPr lang="en-US" sz="1800" dirty="0"/>
          </a:p>
          <a:p>
            <a:pPr marL="514350" indent="-514350" algn="l">
              <a:buAutoNum type="arabicPeriod"/>
            </a:pPr>
            <a:endParaRPr lang="en-US" sz="2800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C5793-C258-060A-198C-324990A606B4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450173" y="3510453"/>
            <a:ext cx="4428744" cy="1938992"/>
          </a:xfrm>
        </p:spPr>
        <p:txBody>
          <a:bodyPr/>
          <a:lstStyle/>
          <a:p>
            <a:pPr algn="ctr"/>
            <a:r>
              <a:rPr lang="en-IN" sz="2400" dirty="0"/>
              <a:t>2. </a:t>
            </a: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Distant Points</a:t>
            </a:r>
          </a:p>
          <a:p>
            <a:pPr algn="l"/>
            <a:endParaRPr lang="en-US" dirty="0">
              <a:solidFill>
                <a:srgbClr val="383838"/>
              </a:solidFill>
            </a:endParaRPr>
          </a:p>
          <a:p>
            <a:pPr algn="l"/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Large distances yield probabilities near 0</a:t>
            </a:r>
            <a:endParaRPr lang="en-US" sz="1800" dirty="0"/>
          </a:p>
          <a:p>
            <a:pPr algn="l"/>
            <a:endParaRPr lang="en-US" sz="2800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2A8E8-7CBA-8EC4-B0C0-E162E377955C}"/>
              </a:ext>
            </a:extLst>
          </p:cNvPr>
          <p:cNvSpPr txBox="1"/>
          <p:nvPr/>
        </p:nvSpPr>
        <p:spPr>
          <a:xfrm>
            <a:off x="760828" y="1734735"/>
            <a:ext cx="10897772" cy="3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Distances are transformed into conditional probabilities that represent similarity relationships: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483B4-6983-BAF1-F281-A633FD560576}"/>
              </a:ext>
            </a:extLst>
          </p:cNvPr>
          <p:cNvSpPr txBox="1"/>
          <p:nvPr/>
        </p:nvSpPr>
        <p:spPr>
          <a:xfrm>
            <a:off x="772550" y="5550992"/>
            <a:ext cx="10886049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This Gaussian kernel transforms geometric distances into probabilistic similarities. 	</a:t>
            </a:r>
            <a:endParaRPr lang="en-US" sz="1800" dirty="0">
              <a:latin typeface="PT Serif" panose="020A0603040505020204" pitchFamily="18" charset="0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0E47714-65CB-5F3A-2088-66EC29266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5235" y="2315758"/>
            <a:ext cx="13042821" cy="73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39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1C0F-F24E-159C-E6B0-D4C07143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627" y="635496"/>
            <a:ext cx="13656055" cy="607026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Role of Sigma (σᵢ)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84553-E1E2-710B-AAC9-112858F1C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3935" y="3256671"/>
            <a:ext cx="6364224" cy="3773021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Small σᵢ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Narrow Gaussian kernel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Very localized neighborhood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Only immediate neighbors have high probability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2DA94-3EB7-1664-9254-28401F9D3F79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34655" y="3256671"/>
            <a:ext cx="6364224" cy="3034357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Large σᵢ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Wide Gaussian kernel</a:t>
            </a:r>
            <a:endParaRPr lang="en-US" sz="1800" dirty="0">
              <a:solidFill>
                <a:srgbClr val="020202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Broader neighborhood influence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More distant points retain significant probability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F9D4F6D-B6FA-D070-D129-F98B1907ED55}"/>
              </a:ext>
            </a:extLst>
          </p:cNvPr>
          <p:cNvSpPr/>
          <p:nvPr/>
        </p:nvSpPr>
        <p:spPr>
          <a:xfrm>
            <a:off x="708073" y="173382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bandwidth parameter σᵢ controls the rate of probability decay with distance. Critically, </a:t>
            </a: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each point has its own σᵢ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, enabling local adaptivity to varying data densities.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990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5">
            <a:extLst>
              <a:ext uri="{FF2B5EF4-FFF2-40B4-BE49-F238E27FC236}">
                <a16:creationId xmlns:a16="http://schemas.microsoft.com/office/drawing/2014/main" id="{B636DEC5-2958-8465-BB40-795FB38CF7C7}"/>
              </a:ext>
            </a:extLst>
          </p:cNvPr>
          <p:cNvSpPr/>
          <p:nvPr/>
        </p:nvSpPr>
        <p:spPr>
          <a:xfrm>
            <a:off x="624957" y="5906704"/>
            <a:ext cx="13042821" cy="1160740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8A5195-8307-B1B2-3A0E-48819C65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838200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Perplexity: Effective Number of Neighbors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C4E26-34FF-883A-297C-0969D60D2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2323" y="1946196"/>
            <a:ext cx="12665455" cy="6015301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Perplexity quantifies the effective number of neighbors each point considers:</a:t>
            </a:r>
          </a:p>
          <a:p>
            <a:pPr algn="l">
              <a:lnSpc>
                <a:spcPct val="200000"/>
              </a:lnSpc>
            </a:pP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200000"/>
              </a:lnSpc>
            </a:pP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where the Shannon entropy is defined as: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200000"/>
              </a:lnSpc>
            </a:pP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200000"/>
              </a:lnSpc>
            </a:pP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000000"/>
                </a:solidFill>
                <a:ea typeface="DM Sans" pitchFamily="34" charset="-122"/>
                <a:cs typeface="DM Sans" pitchFamily="34" charset="-120"/>
              </a:rPr>
              <a:t>Perplexity provides an intuitive, scale-free way to specify neighborhood size. A perplexity of 30 means each point effectively considers about 30 neighbors, regardless of dataset density.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B877314-7DB7-DA1D-053A-37D7A4B8F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1" y="2875955"/>
            <a:ext cx="13042821" cy="356473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CE50D255-DF28-012C-ED43-535BFEB01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6" y="4340424"/>
            <a:ext cx="13042821" cy="6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698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16484EE-2E37-2E1C-7B5E-F3248522EB51}"/>
              </a:ext>
            </a:extLst>
          </p:cNvPr>
          <p:cNvSpPr/>
          <p:nvPr/>
        </p:nvSpPr>
        <p:spPr>
          <a:xfrm>
            <a:off x="992029" y="2998662"/>
            <a:ext cx="3632479" cy="21696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81787-D24A-0533-A5BE-A7ECF19C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39" y="603742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How σᵢ is Determined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3B63B2D-79F2-6157-52F6-C9041CD7686B}"/>
              </a:ext>
            </a:extLst>
          </p:cNvPr>
          <p:cNvSpPr/>
          <p:nvPr/>
        </p:nvSpPr>
        <p:spPr>
          <a:xfrm>
            <a:off x="974444" y="172227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For each point i, σᵢ is chosen so that the entropy of its probability distribution matches the target:</a:t>
            </a:r>
            <a:endParaRPr lang="en-US" dirty="0">
              <a:latin typeface="PT Serif" panose="020A0603040505020204" pitchFamily="18" charset="0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D258BD7F-EC8C-D75F-BA63-CF75C4F44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37" y="2305957"/>
            <a:ext cx="13042821" cy="346948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196371B6-592A-46D1-E662-5098E85BD0BD}"/>
              </a:ext>
            </a:extLst>
          </p:cNvPr>
          <p:cNvSpPr/>
          <p:nvPr/>
        </p:nvSpPr>
        <p:spPr>
          <a:xfrm>
            <a:off x="1253135" y="3150920"/>
            <a:ext cx="3371373" cy="1760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200000"/>
              </a:lnSpc>
              <a:buAutoNum type="arabicPeriod"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Initialize σᵢ</a:t>
            </a: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Start with an initial bandwidth estimate</a:t>
            </a:r>
            <a:endParaRPr lang="en-US" dirty="0">
              <a:latin typeface="PT Serif" panose="020A0603040505020204" pitchFamily="18" charset="0"/>
            </a:endParaRPr>
          </a:p>
          <a:p>
            <a:pPr marL="457200" indent="-457200" algn="l">
              <a:lnSpc>
                <a:spcPct val="200000"/>
              </a:lnSpc>
              <a:buAutoNum type="arabicPeriod"/>
            </a:pPr>
            <a:endParaRPr lang="en-US" sz="2050" dirty="0">
              <a:latin typeface="PT Serif" panose="020A06030405050202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78357F-97C3-C805-45E9-594AA0176D9C}"/>
              </a:ext>
            </a:extLst>
          </p:cNvPr>
          <p:cNvSpPr/>
          <p:nvPr/>
        </p:nvSpPr>
        <p:spPr>
          <a:xfrm>
            <a:off x="5435321" y="3007898"/>
            <a:ext cx="3632479" cy="21696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54F22B42-477B-C202-D8F9-ED4573E0DE62}"/>
              </a:ext>
            </a:extLst>
          </p:cNvPr>
          <p:cNvSpPr/>
          <p:nvPr/>
        </p:nvSpPr>
        <p:spPr>
          <a:xfrm>
            <a:off x="5600502" y="3159703"/>
            <a:ext cx="3371373" cy="1760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2.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Compute probabilities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Calculate p</a:t>
            </a:r>
            <a:r>
              <a:rPr lang="en-US" sz="1800" baseline="-25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(</a:t>
            </a:r>
            <a:r>
              <a:rPr lang="en-US" sz="1800" baseline="-25000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j|i</a:t>
            </a:r>
            <a:r>
              <a:rPr lang="en-US" sz="1800" baseline="-25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) 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for all j using current σᵢ</a:t>
            </a:r>
            <a:endParaRPr lang="en-US" sz="1800" dirty="0">
              <a:latin typeface="PT Serif" panose="020A0603040505020204" pitchFamily="18" charset="0"/>
            </a:endParaRPr>
          </a:p>
          <a:p>
            <a:pPr marL="457200" indent="-457200" algn="l">
              <a:lnSpc>
                <a:spcPct val="200000"/>
              </a:lnSpc>
              <a:buAutoNum type="arabicPeriod"/>
            </a:pPr>
            <a:endParaRPr lang="en-US" sz="2050" dirty="0">
              <a:latin typeface="PT Serif" panose="020A06030405050202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E04E7F-1838-810D-25F2-E6D164DEEF3E}"/>
              </a:ext>
            </a:extLst>
          </p:cNvPr>
          <p:cNvSpPr/>
          <p:nvPr/>
        </p:nvSpPr>
        <p:spPr>
          <a:xfrm>
            <a:off x="9778721" y="3011759"/>
            <a:ext cx="3632479" cy="21696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75AD5939-F840-5FDA-2DCC-080A7FB6C868}"/>
              </a:ext>
            </a:extLst>
          </p:cNvPr>
          <p:cNvSpPr/>
          <p:nvPr/>
        </p:nvSpPr>
        <p:spPr>
          <a:xfrm>
            <a:off x="10039827" y="3164017"/>
            <a:ext cx="3371373" cy="1760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Measure entropy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Evaluate H(Pᵢ) for the current distribution</a:t>
            </a:r>
            <a:endParaRPr lang="en-US" sz="1800" dirty="0">
              <a:latin typeface="PT Serif" panose="020A0603040505020204" pitchFamily="18" charset="0"/>
            </a:endParaRPr>
          </a:p>
          <a:p>
            <a:pPr marL="457200" indent="-457200" algn="l">
              <a:lnSpc>
                <a:spcPct val="200000"/>
              </a:lnSpc>
              <a:buAutoNum type="arabicPeriod"/>
            </a:pPr>
            <a:endParaRPr lang="en-US" sz="2050" dirty="0">
              <a:latin typeface="PT Serif" panose="020A0603040505020204" pitchFamily="18" charset="0"/>
            </a:endParaRPr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9FB7AACF-55D5-5D39-A452-3A660ABD3927}"/>
              </a:ext>
            </a:extLst>
          </p:cNvPr>
          <p:cNvSpPr/>
          <p:nvPr/>
        </p:nvSpPr>
        <p:spPr>
          <a:xfrm>
            <a:off x="793789" y="7848361"/>
            <a:ext cx="2779752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2050" dirty="0">
              <a:latin typeface="PT Serif" panose="020A0603040505020204" pitchFamily="18" charset="0"/>
            </a:endParaRPr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D2EACB90-E48C-8B0E-B8A8-3B997BA7483B}"/>
              </a:ext>
            </a:extLst>
          </p:cNvPr>
          <p:cNvSpPr/>
          <p:nvPr/>
        </p:nvSpPr>
        <p:spPr>
          <a:xfrm>
            <a:off x="793789" y="8293060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>
              <a:latin typeface="PT Serif" panose="020A0603040505020204" pitchFamily="18" charset="0"/>
            </a:endParaRPr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8BD04BF2-9234-FF87-5DF7-60916FC80881}"/>
              </a:ext>
            </a:extLst>
          </p:cNvPr>
          <p:cNvSpPr/>
          <p:nvPr/>
        </p:nvSpPr>
        <p:spPr>
          <a:xfrm>
            <a:off x="2612834" y="5602417"/>
            <a:ext cx="4220045" cy="1760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4.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Adjust via binary search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Increase or decrease σᵢ based on entropy gap</a:t>
            </a:r>
            <a:endParaRPr lang="en-US" sz="1800" dirty="0">
              <a:latin typeface="PT Serif" panose="020A0603040505020204" pitchFamily="18" charset="0"/>
            </a:endParaRPr>
          </a:p>
          <a:p>
            <a:pPr marL="457200" indent="-457200" algn="l">
              <a:lnSpc>
                <a:spcPct val="200000"/>
              </a:lnSpc>
              <a:buAutoNum type="arabicPeriod"/>
            </a:pPr>
            <a:endParaRPr lang="en-US" sz="2050" dirty="0">
              <a:latin typeface="PT Serif" panose="020A06030405050202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518EFA-BA45-A4FE-9274-A67E9720228A}"/>
              </a:ext>
            </a:extLst>
          </p:cNvPr>
          <p:cNvSpPr/>
          <p:nvPr/>
        </p:nvSpPr>
        <p:spPr>
          <a:xfrm>
            <a:off x="2187651" y="5395584"/>
            <a:ext cx="4546879" cy="21696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1AB8E7B9-CF53-72B2-9915-D8BA3A20F79A}"/>
              </a:ext>
            </a:extLst>
          </p:cNvPr>
          <p:cNvSpPr/>
          <p:nvPr/>
        </p:nvSpPr>
        <p:spPr>
          <a:xfrm>
            <a:off x="2514485" y="5547842"/>
            <a:ext cx="4220045" cy="1760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4.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Adjust via binary search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Increase or decrease σᵢ based on entropy gap</a:t>
            </a:r>
            <a:endParaRPr lang="en-US" sz="1800" dirty="0">
              <a:latin typeface="PT Serif" panose="020A0603040505020204" pitchFamily="18" charset="0"/>
            </a:endParaRPr>
          </a:p>
          <a:p>
            <a:pPr marL="457200" indent="-457200" algn="l">
              <a:lnSpc>
                <a:spcPct val="200000"/>
              </a:lnSpc>
              <a:buAutoNum type="arabicPeriod"/>
            </a:pPr>
            <a:endParaRPr lang="en-US" sz="2050" dirty="0">
              <a:latin typeface="PT Serif" panose="020A06030405050202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2498759-0BB5-784A-A2FF-A416DAA46C1F}"/>
              </a:ext>
            </a:extLst>
          </p:cNvPr>
          <p:cNvSpPr/>
          <p:nvPr/>
        </p:nvSpPr>
        <p:spPr>
          <a:xfrm>
            <a:off x="7264121" y="5409961"/>
            <a:ext cx="4546879" cy="21696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C62ACA91-45B3-E27D-A7B0-D99D21591E05}"/>
              </a:ext>
            </a:extLst>
          </p:cNvPr>
          <p:cNvSpPr/>
          <p:nvPr/>
        </p:nvSpPr>
        <p:spPr>
          <a:xfrm>
            <a:off x="7590955" y="5562219"/>
            <a:ext cx="4220045" cy="1760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5. </a:t>
            </a: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Iterate to convergence</a:t>
            </a:r>
            <a:endParaRPr lang="en-US" sz="24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Repeat until target entropy is achieved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430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7C62A2-74B9-E72B-F12E-2A7F146457EE}"/>
              </a:ext>
            </a:extLst>
          </p:cNvPr>
          <p:cNvSpPr/>
          <p:nvPr/>
        </p:nvSpPr>
        <p:spPr>
          <a:xfrm>
            <a:off x="8001000" y="2324175"/>
            <a:ext cx="5727429" cy="22601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9ADA4-F48B-80A8-B205-9F62BD1C4E73}"/>
              </a:ext>
            </a:extLst>
          </p:cNvPr>
          <p:cNvSpPr/>
          <p:nvPr/>
        </p:nvSpPr>
        <p:spPr>
          <a:xfrm>
            <a:off x="1077817" y="2311811"/>
            <a:ext cx="5727429" cy="22601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5C7C7-AFD6-B295-A986-8B144481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66" y="3810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Binary Search for σᵢ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3F597-D59A-2043-4182-0A3CE75AA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41121" y="2329395"/>
            <a:ext cx="5288280" cy="2480359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Entropy Too Low</a:t>
            </a:r>
            <a:endParaRPr lang="en-US" sz="2400" dirty="0">
              <a:solidFill>
                <a:srgbClr val="383838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Distribution is too concentrated</a:t>
            </a:r>
            <a:endParaRPr lang="en-US" sz="1800" dirty="0">
              <a:solidFill>
                <a:srgbClr val="383838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→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Increase σᵢ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14062-FAD7-D748-08B3-90627B172E04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232885" y="2329395"/>
            <a:ext cx="5495544" cy="2480359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Entropy Too High</a:t>
            </a: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Distribution is too spread out</a:t>
            </a:r>
            <a:endParaRPr lang="en-US" sz="1800" dirty="0"/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→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Decrease σᵢ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A1C6A-8873-A4AB-B7E6-3CCD89A24C9C}"/>
              </a:ext>
            </a:extLst>
          </p:cNvPr>
          <p:cNvSpPr txBox="1"/>
          <p:nvPr/>
        </p:nvSpPr>
        <p:spPr>
          <a:xfrm>
            <a:off x="778412" y="1295400"/>
            <a:ext cx="12649200" cy="395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search for σᵢ exploits a fundamental monotonicity property: </a:t>
            </a: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entropy increases strictly with σᵢ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.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7A09F057-BAD0-356C-D4C2-66E1A2A65ADC}"/>
              </a:ext>
            </a:extLst>
          </p:cNvPr>
          <p:cNvSpPr/>
          <p:nvPr/>
        </p:nvSpPr>
        <p:spPr>
          <a:xfrm>
            <a:off x="834187" y="5386837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Binary search guarantees logarithmic convergence, ensuring efficient computation even for large datasets. This adaptive procedure ensures each point achieves its target perplexity regardless of local density.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47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65A1-7EF8-0D11-CB9F-75B261E1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991168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4: Symmetric Joint Probabilities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0F58-DFA6-FC8A-176B-FDE910A556FC}"/>
              </a:ext>
            </a:extLst>
          </p:cNvPr>
          <p:cNvSpPr txBox="1"/>
          <p:nvPr/>
        </p:nvSpPr>
        <p:spPr>
          <a:xfrm>
            <a:off x="1219200" y="2158816"/>
            <a:ext cx="12039600" cy="4999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Conditional probabilities p</a:t>
            </a:r>
            <a:r>
              <a:rPr lang="en-US" baseline="-25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(</a:t>
            </a:r>
            <a:r>
              <a:rPr lang="en-US" baseline="-25000" dirty="0" err="1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j|i</a:t>
            </a:r>
            <a:r>
              <a:rPr lang="en-US" baseline="-25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) 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are asymmetric. To create a symmetric similarity matrix, we average forward and reverse conditional probabilities:</a:t>
            </a: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Division by 2n ensures probabilities sum to 1 across all pairs. This matrix </a:t>
            </a:r>
            <a:r>
              <a:rPr lang="en-US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represents the final high-dimensional similarity structure that t-SNE seeks to preserve in the low-dimensional embedding.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925E1285-EC18-8A64-1CD7-267C8954D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46" y="4070264"/>
            <a:ext cx="13042821" cy="57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30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65A1-7EF8-0D11-CB9F-75B261E1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875529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Step 5: Low-Dimensional Initialization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0F58-DFA6-FC8A-176B-FDE910A556FC}"/>
              </a:ext>
            </a:extLst>
          </p:cNvPr>
          <p:cNvSpPr txBox="1"/>
          <p:nvPr/>
        </p:nvSpPr>
        <p:spPr>
          <a:xfrm>
            <a:off x="1219200" y="2158816"/>
            <a:ext cx="12039600" cy="3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Initialize the 2-dimensional coordinates for each observation:</a:t>
            </a:r>
            <a:endParaRPr lang="en-US" sz="1800" dirty="0">
              <a:latin typeface="PT Serif" panose="020A0603040505020204" pitchFamily="18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677A627B-DE99-5286-87A8-6021B83C7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55" y="3285884"/>
            <a:ext cx="13042821" cy="3469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EC733-4259-B446-4570-B0C8FBBD5077}"/>
              </a:ext>
            </a:extLst>
          </p:cNvPr>
          <p:cNvSpPr txBox="1"/>
          <p:nvPr/>
        </p:nvSpPr>
        <p:spPr>
          <a:xfrm>
            <a:off x="1340225" y="4412652"/>
            <a:ext cx="5302210" cy="296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Random Initialization</a:t>
            </a: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Sample coordinates from a small Gaussian distribution centered at the origin.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sz="1800" i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Simpler but may require more iterations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8A901F-75DC-028C-C4AC-EDA04BE54288}"/>
              </a:ext>
            </a:extLst>
          </p:cNvPr>
          <p:cNvSpPr txBox="1"/>
          <p:nvPr/>
        </p:nvSpPr>
        <p:spPr>
          <a:xfrm>
            <a:off x="7987966" y="4412652"/>
            <a:ext cx="5302210" cy="296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PCA Initialization</a:t>
            </a: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Use the first two principal components as starting coordinates.</a:t>
            </a: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More stable convergence and reproducible results</a:t>
            </a:r>
            <a:endParaRPr lang="en-US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736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65A1-7EF8-0D11-CB9F-75B261E1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962164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Low-Dimensional Similarities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0F58-DFA6-FC8A-176B-FDE910A556FC}"/>
              </a:ext>
            </a:extLst>
          </p:cNvPr>
          <p:cNvSpPr txBox="1"/>
          <p:nvPr/>
        </p:nvSpPr>
        <p:spPr>
          <a:xfrm>
            <a:off x="1219200" y="2245451"/>
            <a:ext cx="12039600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 the 2-dimensional embedding space, similarities are defined using a Student-t distribution with one degree of freedom: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4EC733-4259-B446-4570-B0C8FBBD5077}"/>
              </a:ext>
            </a:extLst>
          </p:cNvPr>
          <p:cNvSpPr txBox="1"/>
          <p:nvPr/>
        </p:nvSpPr>
        <p:spPr>
          <a:xfrm>
            <a:off x="1340225" y="4499287"/>
            <a:ext cx="5302210" cy="296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Why Student-t?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Heavy tails prevent the "crowding problem" where moderate distances in high dimensions cannot be faithfully represented in low dimensions.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8A901F-75DC-028C-C4AC-EDA04BE54288}"/>
              </a:ext>
            </a:extLst>
          </p:cNvPr>
          <p:cNvSpPr txBox="1"/>
          <p:nvPr/>
        </p:nvSpPr>
        <p:spPr>
          <a:xfrm>
            <a:off x="7987966" y="4499287"/>
            <a:ext cx="5302210" cy="296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Geometric Implication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Distant points in 2D can remain far apart without incurring large penalties, while nearby points are tightly constrained.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3CC383D4-3EF4-263D-18D2-9969E2A20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26" y="3227274"/>
            <a:ext cx="13042821" cy="70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419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220A-86A3-3B07-924A-1B078B4B1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345" y="674504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Objective Function: KL Divergence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6ABF4-D1F8-2C07-C8EA-7A7F48A22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3499" y="1709880"/>
            <a:ext cx="11963400" cy="2137316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t-SNE minimizes the </a:t>
            </a:r>
            <a:r>
              <a:rPr lang="en-US" sz="1800" dirty="0" err="1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Kullback-Leibler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divergence between the high-dimensional probability distribution P and the low-dimensional distribution Q: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55DCB16-2BA2-DD0E-2C01-69901DBF2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" y="3318979"/>
            <a:ext cx="13042821" cy="687705"/>
          </a:xfrm>
          <a:prstGeom prst="rect">
            <a:avLst/>
          </a:prstGeom>
        </p:spPr>
      </p:pic>
      <p:sp>
        <p:nvSpPr>
          <p:cNvPr id="5" name="Shape 3">
            <a:extLst>
              <a:ext uri="{FF2B5EF4-FFF2-40B4-BE49-F238E27FC236}">
                <a16:creationId xmlns:a16="http://schemas.microsoft.com/office/drawing/2014/main" id="{4A14B3A5-8E38-0E5D-0655-5A9255694C67}"/>
              </a:ext>
            </a:extLst>
          </p:cNvPr>
          <p:cNvSpPr/>
          <p:nvPr/>
        </p:nvSpPr>
        <p:spPr>
          <a:xfrm>
            <a:off x="793790" y="4970978"/>
            <a:ext cx="13042821" cy="2137316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684AC6-6872-6FFB-6DFB-8EF5E865A19E}"/>
              </a:ext>
            </a:extLst>
          </p:cNvPr>
          <p:cNvSpPr/>
          <p:nvPr/>
        </p:nvSpPr>
        <p:spPr>
          <a:xfrm>
            <a:off x="1438513" y="5218867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asymmetric KL divergence imposes a </a:t>
            </a:r>
            <a:r>
              <a:rPr lang="en-US" b="1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strong penalty</a:t>
            </a:r>
            <a:r>
              <a:rPr lang="en-US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when points that are neighbors in high-dimensional space (large pᵢⱼ) are placed far apart in low-dimensional space (small qᵢⱼ). This asymmetry is crucial for preserving local structure.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772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7C62A2-74B9-E72B-F12E-2A7F146457EE}"/>
              </a:ext>
            </a:extLst>
          </p:cNvPr>
          <p:cNvSpPr/>
          <p:nvPr/>
        </p:nvSpPr>
        <p:spPr>
          <a:xfrm>
            <a:off x="8001000" y="3084059"/>
            <a:ext cx="5727429" cy="2728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9ADA4-F48B-80A8-B205-9F62BD1C4E73}"/>
              </a:ext>
            </a:extLst>
          </p:cNvPr>
          <p:cNvSpPr/>
          <p:nvPr/>
        </p:nvSpPr>
        <p:spPr>
          <a:xfrm>
            <a:off x="1077817" y="3071695"/>
            <a:ext cx="5727429" cy="27408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5C7C7-AFD6-B295-A986-8B144481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66" y="3810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Point Pulling: Core Intuition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3F597-D59A-2043-4182-0A3CE75AA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41121" y="3089279"/>
            <a:ext cx="5288280" cy="3034357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Attraction: p</a:t>
            </a:r>
            <a:r>
              <a:rPr lang="en-US" sz="2400" baseline="-250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ij </a:t>
            </a: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&gt; q</a:t>
            </a:r>
            <a:r>
              <a:rPr lang="en-US" sz="2400" baseline="-250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ij</a:t>
            </a:r>
            <a:endParaRPr lang="en-US" sz="2400" baseline="-250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Points are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too far apart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in 2D relative to their high-dimensional similarity. They are pulled together to increase qᵢⱼ.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14062-FAD7-D748-08B3-90627B172E04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232885" y="3089279"/>
            <a:ext cx="5495544" cy="2480359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Repulsion: q</a:t>
            </a:r>
            <a:r>
              <a:rPr lang="en-US" sz="2400" baseline="-250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ij</a:t>
            </a: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 &gt; p</a:t>
            </a:r>
            <a:r>
              <a:rPr lang="en-US" sz="2400" baseline="-250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ij</a:t>
            </a:r>
            <a:endParaRPr lang="en-US" sz="2400" baseline="-250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Points are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too close together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 in 2D relative to their dissimilarity. They are pushed apart to decrease qᵢⱼ.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A1C6A-8873-A4AB-B7E6-3CCD89A24C9C}"/>
              </a:ext>
            </a:extLst>
          </p:cNvPr>
          <p:cNvSpPr txBox="1"/>
          <p:nvPr/>
        </p:nvSpPr>
        <p:spPr>
          <a:xfrm>
            <a:off x="778412" y="1295400"/>
            <a:ext cx="12649200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Each pair of points exerts attractive or repulsive forces based on the mismatch between high-dimensional and low-dimensional probabilities:</a:t>
            </a:r>
            <a:endParaRPr lang="en-US" sz="1800" dirty="0">
              <a:latin typeface="PT Serif" panose="020A06030405050202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7A09F057-BAD0-356C-D4C2-66E1A2A65ADC}"/>
              </a:ext>
            </a:extLst>
          </p:cNvPr>
          <p:cNvSpPr/>
          <p:nvPr/>
        </p:nvSpPr>
        <p:spPr>
          <a:xfrm>
            <a:off x="778412" y="6479552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magnitude of these forces is proportional to the probability mismatch, creating a complex system of interactions that shapes the final embedding.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92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5534-AF6D-5C75-B44A-844757AA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3594"/>
            <a:ext cx="13656055" cy="1107996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How σᵢ Affects Point Pulling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58097-35F0-C8ED-AC9D-7876A887F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2589822"/>
            <a:ext cx="6364224" cy="3429978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Small σᵢ Effect</a:t>
            </a:r>
            <a:endParaRPr lang="en-US" sz="24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Few point pairs have large pᵢⱼ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Strong, focused attractive forces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Tight, well-separated local clusters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More sensitive to local density variations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7442D-3AF4-7891-9CD9-A2718FC1F52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34656" y="2589822"/>
            <a:ext cx="6364224" cy="3429978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Large σᵢ Effect</a:t>
            </a:r>
            <a:endParaRPr lang="en-US" sz="24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Many point pairs have moderate pᵢⱼ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Diffuse, distributed forces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Smoother global structure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Less emphasis on fine-scale patterns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71C1CD-4B36-E115-D6E9-767A1F9AA3C0}"/>
              </a:ext>
            </a:extLst>
          </p:cNvPr>
          <p:cNvSpPr txBox="1"/>
          <p:nvPr/>
        </p:nvSpPr>
        <p:spPr>
          <a:xfrm>
            <a:off x="731520" y="1509518"/>
            <a:ext cx="11917680" cy="566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The choice of σᵢ (controlled by perplexity) fundamentally determines which point pairs exert significant forces: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758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717" y="0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Gradient Descent Optimization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49508" y="2858283"/>
            <a:ext cx="4164095" cy="369491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482872" y="2830920"/>
            <a:ext cx="389290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Standard Optimization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After ~250 iterations, return to original pᵢⱼ values for fine-tuning of local structure.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36221D7B-8D1F-CF5A-6FD1-DA6DD3F7C3CC}"/>
              </a:ext>
            </a:extLst>
          </p:cNvPr>
          <p:cNvSpPr/>
          <p:nvPr/>
        </p:nvSpPr>
        <p:spPr>
          <a:xfrm>
            <a:off x="5643399" y="4669270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2909866"/>
            <a:ext cx="3818573" cy="364157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33706" y="2884788"/>
            <a:ext cx="3582980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Momentum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Gradient updates include momentum terms to accelerate convergence and escape poor local minima.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24717" y="2877511"/>
            <a:ext cx="3976821" cy="369491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99728" y="2898371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Early Exaggeration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Initial iterations multiply pᵢⱼ by 4–12 to amplify attractive forces and form clear cluster separation.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7B3384-1B2F-CA17-FE35-2DB170AA8A89}"/>
              </a:ext>
            </a:extLst>
          </p:cNvPr>
          <p:cNvSpPr txBox="1"/>
          <p:nvPr/>
        </p:nvSpPr>
        <p:spPr>
          <a:xfrm>
            <a:off x="677353" y="1194309"/>
            <a:ext cx="12429047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Coordinates are updated iteratively using gradient descent to minimize KL divergence. The gradient with respect to yᵢ incorporates both attractive and repulsive forces from all other points.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871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4">
            <a:extLst>
              <a:ext uri="{FF2B5EF4-FFF2-40B4-BE49-F238E27FC236}">
                <a16:creationId xmlns:a16="http://schemas.microsoft.com/office/drawing/2014/main" id="{5DA1DBA5-575C-0EE6-D635-DAA8523ED856}"/>
              </a:ext>
            </a:extLst>
          </p:cNvPr>
          <p:cNvSpPr/>
          <p:nvPr/>
        </p:nvSpPr>
        <p:spPr>
          <a:xfrm>
            <a:off x="770344" y="5834382"/>
            <a:ext cx="13042821" cy="1328418"/>
          </a:xfrm>
          <a:prstGeom prst="roundRect">
            <a:avLst>
              <a:gd name="adj" fmla="val 3531"/>
            </a:avLst>
          </a:prstGeom>
          <a:solidFill>
            <a:srgbClr val="FFCDB3"/>
          </a:solidFill>
          <a:ln/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7C62A2-74B9-E72B-F12E-2A7F146457EE}"/>
              </a:ext>
            </a:extLst>
          </p:cNvPr>
          <p:cNvSpPr/>
          <p:nvPr/>
        </p:nvSpPr>
        <p:spPr>
          <a:xfrm>
            <a:off x="8001000" y="1769831"/>
            <a:ext cx="5727429" cy="3181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9ADA4-F48B-80A8-B205-9F62BD1C4E73}"/>
              </a:ext>
            </a:extLst>
          </p:cNvPr>
          <p:cNvSpPr/>
          <p:nvPr/>
        </p:nvSpPr>
        <p:spPr>
          <a:xfrm>
            <a:off x="1077817" y="1757468"/>
            <a:ext cx="5727429" cy="31955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5C7C7-AFD6-B295-A986-8B144481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66" y="38100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What t-SNE Preserves (and What It Does Not)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3F597-D59A-2043-4182-0A3CE75AA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41121" y="1775052"/>
            <a:ext cx="5288280" cy="3034357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Preserved</a:t>
            </a:r>
            <a:endParaRPr lang="en-US" sz="2400" dirty="0"/>
          </a:p>
          <a:p>
            <a:pPr marL="285750" indent="-28575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Local neighborhood structure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Relative proximities within clusters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Manifold topology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14062-FAD7-D748-08B3-90627B172E04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232885" y="1775052"/>
            <a:ext cx="5495544" cy="3482748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Not Preserved</a:t>
            </a:r>
            <a:endParaRPr lang="en-US" sz="2400" dirty="0"/>
          </a:p>
          <a:p>
            <a:pPr marL="285750" indent="-285750" algn="l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Global distances between clusters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Cluster sizes and densities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Axis scales and directions</a:t>
            </a:r>
            <a:endParaRPr lang="en-US" sz="1800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Outlier distances</a:t>
            </a:r>
            <a:endParaRPr lang="en-US" sz="1800" dirty="0"/>
          </a:p>
          <a:p>
            <a:pPr marL="0" indent="0" algn="l">
              <a:lnSpc>
                <a:spcPct val="200000"/>
              </a:lnSpc>
              <a:buNone/>
            </a:pPr>
            <a:endParaRPr lang="en-US" sz="200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7A09F057-BAD0-356C-D4C2-66E1A2A65ADC}"/>
              </a:ext>
            </a:extLst>
          </p:cNvPr>
          <p:cNvSpPr/>
          <p:nvPr/>
        </p:nvSpPr>
        <p:spPr>
          <a:xfrm>
            <a:off x="1071955" y="5938442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t-SNE is fundamentally a local method. Inter-cluster distances in the embedding are not meaningful and should not be interpreted.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772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13">
            <a:extLst>
              <a:ext uri="{FF2B5EF4-FFF2-40B4-BE49-F238E27FC236}">
                <a16:creationId xmlns:a16="http://schemas.microsoft.com/office/drawing/2014/main" id="{BB73459B-6469-E48E-523F-49DE8DF5997B}"/>
              </a:ext>
            </a:extLst>
          </p:cNvPr>
          <p:cNvGrpSpPr/>
          <p:nvPr/>
        </p:nvGrpSpPr>
        <p:grpSpPr>
          <a:xfrm>
            <a:off x="371387" y="4953000"/>
            <a:ext cx="6791413" cy="2421284"/>
            <a:chOff x="793788" y="4631308"/>
            <a:chExt cx="6437630" cy="2974340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71616C5E-65C8-6E58-8FBA-B20C0EDC16E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92C0E4B8-3324-4A15-E5FB-5927AF9E1041}"/>
                </a:ext>
              </a:extLst>
            </p:cNvPr>
            <p:cNvSpPr/>
            <p:nvPr/>
          </p:nvSpPr>
          <p:spPr>
            <a:xfrm>
              <a:off x="816648" y="4654166"/>
              <a:ext cx="6391910" cy="725983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1" name="object 13">
            <a:extLst>
              <a:ext uri="{FF2B5EF4-FFF2-40B4-BE49-F238E27FC236}">
                <a16:creationId xmlns:a16="http://schemas.microsoft.com/office/drawing/2014/main" id="{7EC27F32-5AE2-A457-BF6B-4E11B04E7022}"/>
              </a:ext>
            </a:extLst>
          </p:cNvPr>
          <p:cNvGrpSpPr/>
          <p:nvPr/>
        </p:nvGrpSpPr>
        <p:grpSpPr>
          <a:xfrm>
            <a:off x="7416285" y="4970116"/>
            <a:ext cx="6791413" cy="2421284"/>
            <a:chOff x="793788" y="4631308"/>
            <a:chExt cx="6437630" cy="2974340"/>
          </a:xfrm>
        </p:grpSpPr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914ADF9D-302C-11BE-1737-EC93DB200849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A8A7E959-E8B3-A90E-735F-57A80005DA27}"/>
                </a:ext>
              </a:extLst>
            </p:cNvPr>
            <p:cNvSpPr/>
            <p:nvPr/>
          </p:nvSpPr>
          <p:spPr>
            <a:xfrm>
              <a:off x="816648" y="4654166"/>
              <a:ext cx="6391910" cy="70495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8" name="object 13">
            <a:extLst>
              <a:ext uri="{FF2B5EF4-FFF2-40B4-BE49-F238E27FC236}">
                <a16:creationId xmlns:a16="http://schemas.microsoft.com/office/drawing/2014/main" id="{8C1FE014-3026-6862-3720-9E77AE2730D2}"/>
              </a:ext>
            </a:extLst>
          </p:cNvPr>
          <p:cNvGrpSpPr/>
          <p:nvPr/>
        </p:nvGrpSpPr>
        <p:grpSpPr>
          <a:xfrm>
            <a:off x="7457987" y="1905000"/>
            <a:ext cx="6791413" cy="2438400"/>
            <a:chOff x="793788" y="4631308"/>
            <a:chExt cx="6437630" cy="2974340"/>
          </a:xfrm>
        </p:grpSpPr>
        <p:sp>
          <p:nvSpPr>
            <p:cNvPr id="9" name="object 14">
              <a:extLst>
                <a:ext uri="{FF2B5EF4-FFF2-40B4-BE49-F238E27FC236}">
                  <a16:creationId xmlns:a16="http://schemas.microsoft.com/office/drawing/2014/main" id="{579AC416-E9EC-951C-0C59-953A86086D2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9B115779-7710-6EDD-DFF1-D0FB2943E089}"/>
                </a:ext>
              </a:extLst>
            </p:cNvPr>
            <p:cNvSpPr/>
            <p:nvPr/>
          </p:nvSpPr>
          <p:spPr>
            <a:xfrm>
              <a:off x="816648" y="4654166"/>
              <a:ext cx="6391910" cy="906624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5" name="object 13">
            <a:extLst>
              <a:ext uri="{FF2B5EF4-FFF2-40B4-BE49-F238E27FC236}">
                <a16:creationId xmlns:a16="http://schemas.microsoft.com/office/drawing/2014/main" id="{8A10505B-9623-8692-6E01-754220E5E1A5}"/>
              </a:ext>
            </a:extLst>
          </p:cNvPr>
          <p:cNvGrpSpPr/>
          <p:nvPr/>
        </p:nvGrpSpPr>
        <p:grpSpPr>
          <a:xfrm>
            <a:off x="304330" y="1834193"/>
            <a:ext cx="6791413" cy="2421284"/>
            <a:chOff x="793788" y="4631308"/>
            <a:chExt cx="6437630" cy="2974340"/>
          </a:xfrm>
        </p:grpSpPr>
        <p:sp>
          <p:nvSpPr>
            <p:cNvPr id="6" name="object 14">
              <a:extLst>
                <a:ext uri="{FF2B5EF4-FFF2-40B4-BE49-F238E27FC236}">
                  <a16:creationId xmlns:a16="http://schemas.microsoft.com/office/drawing/2014/main" id="{CCC4CF37-751F-54B7-DF88-A67DF0F558E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7" name="object 15">
              <a:extLst>
                <a:ext uri="{FF2B5EF4-FFF2-40B4-BE49-F238E27FC236}">
                  <a16:creationId xmlns:a16="http://schemas.microsoft.com/office/drawing/2014/main" id="{78A747FC-C403-4EA4-6231-4399095DDD25}"/>
                </a:ext>
              </a:extLst>
            </p:cNvPr>
            <p:cNvSpPr/>
            <p:nvPr/>
          </p:nvSpPr>
          <p:spPr>
            <a:xfrm>
              <a:off x="816648" y="4654166"/>
              <a:ext cx="6391910" cy="89216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F5101B-081F-A0A0-283B-952EF957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Practical Guidance (n = 55, p = 8)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0CAFA-D3A1-D9BB-F761-32F74583D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276637"/>
          </a:xfrm>
        </p:spPr>
        <p:txBody>
          <a:bodyPr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Perplexity Selection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For n = 55, recommended range is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5–15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. Lower values emphasize very local structure; higher values incorporate more global context.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Multiple Random Seeds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t-SNE is non-convex and sensitive to initialization. Run multiple seeds and examine consistency of patterns.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C7E2B-A810-56BD-EE5C-66DF6AEC3FE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830635"/>
          </a:xfrm>
        </p:spPr>
        <p:txBody>
          <a:bodyPr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Always Standardize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Variable scaling directly affects distance calculations. Standardization is not optional.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Labels for Interpretation Only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Class labels can help interpret clusters but should never be used to validate the embedding quality or make statistical inferences.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39427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060351-615A-CD09-EFB9-6A4DBB9F38C6}"/>
              </a:ext>
            </a:extLst>
          </p:cNvPr>
          <p:cNvSpPr/>
          <p:nvPr/>
        </p:nvSpPr>
        <p:spPr>
          <a:xfrm>
            <a:off x="609600" y="1713970"/>
            <a:ext cx="9296400" cy="56012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8BC34-A904-43D1-A3A5-608BC619F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Python Implementation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6D5E1-E751-CA77-7C51-F9C54E6F3E81}"/>
              </a:ext>
            </a:extLst>
          </p:cNvPr>
          <p:cNvSpPr txBox="1"/>
          <p:nvPr/>
        </p:nvSpPr>
        <p:spPr>
          <a:xfrm>
            <a:off x="838200" y="914400"/>
            <a:ext cx="122682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Implementing t-SNE in Python using scikit-learn is straightforward. Here's a complete example for our n=55, p=8 dataset:</a:t>
            </a:r>
          </a:p>
          <a:p>
            <a:pPr marL="0" indent="0" algn="l"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/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from sklearn.manifold import TSNE
from sklearn.preprocessing import StandardScaler
import numpy as np
import matplotlib.pyplot as plt
# Step 1: Standardize the data
scaler = StandardScaler()
X_standardized = scaler.fit_transform(X)
# Step 2: Initialize and fit t-SNE
</a:t>
            </a:r>
          </a:p>
          <a:p>
            <a:pPr algn="l"/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tsne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= TSNE(</a:t>
            </a:r>
          </a:p>
          <a:p>
            <a:pPr algn="l"/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n_components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=2,</a:t>
            </a:r>
          </a:p>
          <a:p>
            <a:pPr algn="l"/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perplexity=30,</a:t>
            </a:r>
          </a:p>
          <a:p>
            <a:pPr algn="l"/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learning_rate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=200,</a:t>
            </a:r>
          </a:p>
          <a:p>
            <a:pPr algn="l"/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random_state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=42</a:t>
            </a:r>
          </a:p>
          <a:p>
            <a:pPr algn="l"/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)</a:t>
            </a:r>
          </a:p>
          <a:p>
            <a:pPr algn="l"/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algn="l"/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athletics_tsne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=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tsne.fit_transform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athletics_scaled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)</a:t>
            </a:r>
          </a:p>
          <a:p>
            <a:pPr algn="l"/>
            <a:r>
              <a:rPr lang="en-US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
</a:t>
            </a: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37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2ABAA4-D1BB-B12C-3261-5A44310754B0}"/>
              </a:ext>
            </a:extLst>
          </p:cNvPr>
          <p:cNvSpPr/>
          <p:nvPr/>
        </p:nvSpPr>
        <p:spPr>
          <a:xfrm>
            <a:off x="609600" y="1066800"/>
            <a:ext cx="10744200" cy="6324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8BC34-A904-43D1-A3A5-608BC619F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Python Implementation (continued)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6D5E1-E751-CA77-7C51-F9C54E6F3E81}"/>
              </a:ext>
            </a:extLst>
          </p:cNvPr>
          <p:cNvSpPr txBox="1"/>
          <p:nvPr/>
        </p:nvSpPr>
        <p:spPr>
          <a:xfrm>
            <a:off x="762000" y="1351718"/>
            <a:ext cx="122682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
# Step 3: Visualize the results
import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matplotlib.pyplot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as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plt</a:t>
            </a: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plt.figure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figsize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=(10, 7))</a:t>
            </a:r>
          </a:p>
          <a:p>
            <a:pPr marL="0" indent="0" algn="l">
              <a:buNone/>
            </a:pP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plt.scatter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tsne_df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['TSNE_1'],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tsne_df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['TSNE_2'])</a:t>
            </a:r>
          </a:p>
          <a:p>
            <a:pPr marL="0" indent="0" algn="l"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for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i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in range(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len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tsne_df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)):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plt.text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   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tsne_df.loc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[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i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, 'TSNE_1'],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   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tsne_df.loc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[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i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, 'TSNE_2'],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   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tsne_df.loc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[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i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, 'Country'],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    </a:t>
            </a: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fontsize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=8,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    alpha=0.8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    )</a:t>
            </a:r>
          </a:p>
          <a:p>
            <a:pPr marL="0" indent="0" algn="l">
              <a:buNone/>
            </a:pP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buNone/>
            </a:pP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plt.xlabel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('t-SNE Component 1')</a:t>
            </a:r>
          </a:p>
          <a:p>
            <a:pPr marL="0" indent="0" algn="l">
              <a:buNone/>
            </a:pP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plt.ylabel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('t-SNE Component 2')</a:t>
            </a:r>
          </a:p>
          <a:p>
            <a:pPr marL="0" indent="0" algn="l">
              <a:buNone/>
            </a:pP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plt.title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('t-SNE Visualization of Athletics Performance Data (Country-wise)')</a:t>
            </a:r>
          </a:p>
          <a:p>
            <a:pPr marL="0" indent="0" algn="l">
              <a:buNone/>
            </a:pPr>
            <a:r>
              <a:rPr lang="en-US" dirty="0" err="1">
                <a:solidFill>
                  <a:srgbClr val="383838"/>
                </a:solidFill>
                <a:latin typeface="PT Serif" panose="020A0603040505020204" pitchFamily="18" charset="0"/>
              </a:rPr>
              <a:t>plt.show</a:t>
            </a: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()</a:t>
            </a:r>
          </a:p>
          <a:p>
            <a:pPr marL="0" indent="0" algn="l">
              <a:buNone/>
            </a:pPr>
            <a:endParaRPr lang="en-US" dirty="0">
              <a:solidFill>
                <a:srgbClr val="383838"/>
              </a:solidFill>
              <a:highlight>
                <a:srgbClr val="F2F2F2"/>
              </a:highlight>
              <a:latin typeface="PT Serif" panose="020A0603040505020204" pitchFamily="18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en-US" sz="1800" dirty="0">
              <a:solidFill>
                <a:srgbClr val="383838"/>
              </a:solidFill>
              <a:highlight>
                <a:srgbClr val="F2F2F2"/>
              </a:highlight>
              <a:latin typeface="PT Serif" panose="020A0603040505020204" pitchFamily="18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buNone/>
            </a:pPr>
            <a:endParaRPr lang="en-US" sz="1800" dirty="0">
              <a:solidFill>
                <a:srgbClr val="383838"/>
              </a:solidFill>
              <a:highlight>
                <a:srgbClr val="F2F2F2"/>
              </a:highlight>
              <a:latin typeface="PT Serif" panose="020A0603040505020204" pitchFamily="18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39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C9C9F-BC83-FCF3-731C-9351610E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EEF63-8797-0664-3491-89E7A9B0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53998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Python Visualization</a:t>
            </a:r>
            <a:endParaRPr lang="en-IN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CD764B-F289-243F-8E7A-819BB5C61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447800"/>
            <a:ext cx="107442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84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object 13">
            <a:extLst>
              <a:ext uri="{FF2B5EF4-FFF2-40B4-BE49-F238E27FC236}">
                <a16:creationId xmlns:a16="http://schemas.microsoft.com/office/drawing/2014/main" id="{DA064208-13F6-D654-2322-D1A091C24DCD}"/>
              </a:ext>
            </a:extLst>
          </p:cNvPr>
          <p:cNvGrpSpPr/>
          <p:nvPr/>
        </p:nvGrpSpPr>
        <p:grpSpPr>
          <a:xfrm>
            <a:off x="434392" y="1231257"/>
            <a:ext cx="6791413" cy="2350143"/>
            <a:chOff x="793788" y="4631308"/>
            <a:chExt cx="6437630" cy="2974340"/>
          </a:xfrm>
        </p:grpSpPr>
        <p:sp>
          <p:nvSpPr>
            <p:cNvPr id="45" name="object 14">
              <a:extLst>
                <a:ext uri="{FF2B5EF4-FFF2-40B4-BE49-F238E27FC236}">
                  <a16:creationId xmlns:a16="http://schemas.microsoft.com/office/drawing/2014/main" id="{860AC52A-8BA2-4F8B-B741-A2888F747330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46" name="object 15">
              <a:extLst>
                <a:ext uri="{FF2B5EF4-FFF2-40B4-BE49-F238E27FC236}">
                  <a16:creationId xmlns:a16="http://schemas.microsoft.com/office/drawing/2014/main" id="{52BE6AC2-3F7D-2A6A-CF34-1AB8E342E0D4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25" name="object 13">
            <a:extLst>
              <a:ext uri="{FF2B5EF4-FFF2-40B4-BE49-F238E27FC236}">
                <a16:creationId xmlns:a16="http://schemas.microsoft.com/office/drawing/2014/main" id="{4504EE2A-8F4F-BE3B-4082-1D80B2E7FED5}"/>
              </a:ext>
            </a:extLst>
          </p:cNvPr>
          <p:cNvGrpSpPr/>
          <p:nvPr/>
        </p:nvGrpSpPr>
        <p:grpSpPr>
          <a:xfrm>
            <a:off x="367573" y="4114799"/>
            <a:ext cx="6791413" cy="2514599"/>
            <a:chOff x="793788" y="4631308"/>
            <a:chExt cx="6437630" cy="2974340"/>
          </a:xfrm>
        </p:grpSpPr>
        <p:sp>
          <p:nvSpPr>
            <p:cNvPr id="26" name="object 14">
              <a:extLst>
                <a:ext uri="{FF2B5EF4-FFF2-40B4-BE49-F238E27FC236}">
                  <a16:creationId xmlns:a16="http://schemas.microsoft.com/office/drawing/2014/main" id="{4FCD0BB2-564A-CB84-0D86-DFD0AC7E43D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7" name="object 15">
              <a:extLst>
                <a:ext uri="{FF2B5EF4-FFF2-40B4-BE49-F238E27FC236}">
                  <a16:creationId xmlns:a16="http://schemas.microsoft.com/office/drawing/2014/main" id="{5D5806E2-5D92-DF0E-828B-9E5FE6B2CC79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1" name="object 13">
            <a:extLst>
              <a:ext uri="{FF2B5EF4-FFF2-40B4-BE49-F238E27FC236}">
                <a16:creationId xmlns:a16="http://schemas.microsoft.com/office/drawing/2014/main" id="{7EC27F32-5AE2-A457-BF6B-4E11B04E7022}"/>
              </a:ext>
            </a:extLst>
          </p:cNvPr>
          <p:cNvGrpSpPr/>
          <p:nvPr/>
        </p:nvGrpSpPr>
        <p:grpSpPr>
          <a:xfrm>
            <a:off x="7447298" y="4075022"/>
            <a:ext cx="6791413" cy="2554377"/>
            <a:chOff x="793788" y="4631308"/>
            <a:chExt cx="6437630" cy="2974340"/>
          </a:xfrm>
        </p:grpSpPr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914ADF9D-302C-11BE-1737-EC93DB200849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A8A7E959-E8B3-A90E-735F-57A80005DA27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8" name="object 13">
            <a:extLst>
              <a:ext uri="{FF2B5EF4-FFF2-40B4-BE49-F238E27FC236}">
                <a16:creationId xmlns:a16="http://schemas.microsoft.com/office/drawing/2014/main" id="{8C1FE014-3026-6862-3720-9E77AE2730D2}"/>
              </a:ext>
            </a:extLst>
          </p:cNvPr>
          <p:cNvGrpSpPr/>
          <p:nvPr/>
        </p:nvGrpSpPr>
        <p:grpSpPr>
          <a:xfrm>
            <a:off x="7457987" y="1258612"/>
            <a:ext cx="6791413" cy="2350143"/>
            <a:chOff x="793788" y="4631308"/>
            <a:chExt cx="6437630" cy="2974340"/>
          </a:xfrm>
        </p:grpSpPr>
        <p:sp>
          <p:nvSpPr>
            <p:cNvPr id="9" name="object 14">
              <a:extLst>
                <a:ext uri="{FF2B5EF4-FFF2-40B4-BE49-F238E27FC236}">
                  <a16:creationId xmlns:a16="http://schemas.microsoft.com/office/drawing/2014/main" id="{579AC416-E9EC-951C-0C59-953A86086D2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9B115779-7710-6EDD-DFF1-D0FB2943E089}"/>
                </a:ext>
              </a:extLst>
            </p:cNvPr>
            <p:cNvSpPr/>
            <p:nvPr/>
          </p:nvSpPr>
          <p:spPr>
            <a:xfrm>
              <a:off x="816648" y="4654166"/>
              <a:ext cx="6391910" cy="110516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F5101B-081F-A0A0-283B-952EF957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2" y="223520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Practical Guidance and Key Takeaways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0CAFA-D3A1-D9BB-F761-32F74583D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6019" y="1219200"/>
            <a:ext cx="6599288" cy="5276637"/>
          </a:xfrm>
        </p:spPr>
        <p:txBody>
          <a:bodyPr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Perplexity Selection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For n = 55, recommended range is </a:t>
            </a:r>
            <a:r>
              <a:rPr lang="en-US" sz="1800" b="1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5–15</a:t>
            </a: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. Lower values emphasize very local structure; higher values incorporate more global context.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Multiple Random Seeds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t-SNE is non-convex and sensitive to initialization. Run multiple seeds and examine consistency of patterns across runs.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C7E2B-A810-56BD-EE5C-66DF6AEC3FE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671581" y="1290823"/>
            <a:ext cx="6364224" cy="5830635"/>
          </a:xfrm>
        </p:spPr>
        <p:txBody>
          <a:bodyPr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Always Standardize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Variable scaling directly affects distance calculations. Standardization is not optional—it's a critical preprocessing step.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Labels for Interpretation Only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Class labels can help interpret clusters but should never be used to validate the embedding quality or make statistical inferences.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B407A2-1384-0C84-D518-8AD4272894E0}"/>
              </a:ext>
            </a:extLst>
          </p:cNvPr>
          <p:cNvSpPr txBox="1"/>
          <p:nvPr/>
        </p:nvSpPr>
        <p:spPr>
          <a:xfrm>
            <a:off x="486019" y="7083810"/>
            <a:ext cx="13600708" cy="112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b="1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Remember:</a:t>
            </a: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 t-SNE reveals local structure brilliantly but cannot be used for measuring global distances, making predictions, or statistical testing. It's an exploratory visualization tool, not an inference method.</a:t>
            </a: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295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994</TotalTime>
  <Words>1860</Words>
  <Application>Microsoft Macintosh PowerPoint</Application>
  <PresentationFormat>Custom</PresentationFormat>
  <Paragraphs>347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Consolas</vt:lpstr>
      <vt:lpstr>DM Sans</vt:lpstr>
      <vt:lpstr>Lucida Sans Unicode</vt:lpstr>
      <vt:lpstr>PT Serif</vt:lpstr>
      <vt:lpstr>PT Serif Light</vt:lpstr>
      <vt:lpstr>Office Theme</vt:lpstr>
      <vt:lpstr>PowerPoint Presentation</vt:lpstr>
      <vt:lpstr>PowerPoint Presentation</vt:lpstr>
      <vt:lpstr>When and Why t-SNE is Used</vt:lpstr>
      <vt:lpstr>Athletics Data Snapshot</vt:lpstr>
      <vt:lpstr>Problem Setup </vt:lpstr>
      <vt:lpstr>Step 1: Data Standardization</vt:lpstr>
      <vt:lpstr>Step 2: Pairwise Distance Matrix </vt:lpstr>
      <vt:lpstr>Step 3: Conditional Probabilities </vt:lpstr>
      <vt:lpstr>Role of Sigma (σᵢ)</vt:lpstr>
      <vt:lpstr>Perplexity: Effective Number of Neighbors </vt:lpstr>
      <vt:lpstr>How σᵢ is Determined </vt:lpstr>
      <vt:lpstr>Binary Search for σᵢ</vt:lpstr>
      <vt:lpstr>Step 4: Symmetric Joint Probabilities </vt:lpstr>
      <vt:lpstr>Step 5: Low-Dimensional Initialization</vt:lpstr>
      <vt:lpstr>Low-Dimensional Similarities</vt:lpstr>
      <vt:lpstr>Objective Function: KL Divergence </vt:lpstr>
      <vt:lpstr>Point Pulling: Core Intuition</vt:lpstr>
      <vt:lpstr>How σᵢ Affects Point Pulling </vt:lpstr>
      <vt:lpstr>Gradient Descent Optimization</vt:lpstr>
      <vt:lpstr>What t-SNE Preserves (and What It Does Not)</vt:lpstr>
      <vt:lpstr>Practical Guidance (n = 55, p = 8)</vt:lpstr>
      <vt:lpstr>Python Implementation </vt:lpstr>
      <vt:lpstr>Python Implementation (continued) </vt:lpstr>
      <vt:lpstr>Python Visualization</vt:lpstr>
      <vt:lpstr>Practical Guidance and Key Takeaways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Deshpande</cp:lastModifiedBy>
  <cp:revision>332</cp:revision>
  <dcterms:created xsi:type="dcterms:W3CDTF">2025-08-01T06:43:07Z</dcterms:created>
  <dcterms:modified xsi:type="dcterms:W3CDTF">2026-01-30T02:52:09Z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