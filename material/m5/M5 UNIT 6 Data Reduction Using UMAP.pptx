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74" r:id="rId2"/>
    <p:sldId id="275" r:id="rId3"/>
    <p:sldId id="374" r:id="rId4"/>
    <p:sldId id="300" r:id="rId5"/>
    <p:sldId id="358" r:id="rId6"/>
    <p:sldId id="375" r:id="rId7"/>
    <p:sldId id="376" r:id="rId8"/>
    <p:sldId id="377" r:id="rId9"/>
    <p:sldId id="354" r:id="rId10"/>
    <p:sldId id="361" r:id="rId11"/>
    <p:sldId id="378" r:id="rId12"/>
    <p:sldId id="379" r:id="rId13"/>
    <p:sldId id="380" r:id="rId14"/>
    <p:sldId id="381" r:id="rId15"/>
    <p:sldId id="266" r:id="rId16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48891F-FB35-E1C6-2832-95F5AEC01C35}" v="1" dt="2025-11-06T07:40:41.12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19" autoAdjust="0"/>
    <p:restoredTop sz="92891" autoAdjust="0"/>
  </p:normalViewPr>
  <p:slideViewPr>
    <p:cSldViewPr>
      <p:cViewPr varScale="1">
        <p:scale>
          <a:sx n="84" d="100"/>
          <a:sy n="84" d="100"/>
        </p:scale>
        <p:origin x="992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DD48891F-FB35-E1C6-2832-95F5AEC01C35}"/>
    <pc:docChg chg="modSld">
      <pc:chgData name="Guest User" userId="" providerId="Windows Live" clId="Web-{DD48891F-FB35-E1C6-2832-95F5AEC01C35}" dt="2025-11-06T07:40:41.129" v="0" actId="1076"/>
      <pc:docMkLst>
        <pc:docMk/>
      </pc:docMkLst>
      <pc:sldChg chg="modSp">
        <pc:chgData name="Guest User" userId="" providerId="Windows Live" clId="Web-{DD48891F-FB35-E1C6-2832-95F5AEC01C35}" dt="2025-11-06T07:40:41.129" v="0" actId="1076"/>
        <pc:sldMkLst>
          <pc:docMk/>
          <pc:sldMk cId="0" sldId="260"/>
        </pc:sldMkLst>
        <pc:spChg chg="mod">
          <ac:chgData name="Guest User" userId="" providerId="Windows Live" clId="Web-{DD48891F-FB35-E1C6-2832-95F5AEC01C35}" dt="2025-11-06T07:40:41.129" v="0" actId="1076"/>
          <ac:spMkLst>
            <pc:docMk/>
            <pc:sldMk cId="0" sldId="260"/>
            <ac:spMk id="11" creationId="{1729E060-4A6E-E272-7665-9392F1B6E4F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6750" y="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E097FF-D63A-4701-9D59-A7186DD4FFE5}" type="datetimeFigureOut">
              <a:rPr lang="en-IN" smtClean="0"/>
              <a:t>30/01/26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5050" y="1028700"/>
            <a:ext cx="4940300" cy="2778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675" y="3960813"/>
            <a:ext cx="11703050" cy="32400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6750" y="7816850"/>
            <a:ext cx="6340475" cy="4127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E45C9-D4C9-4BB9-AC1A-6D12C2483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FC471-F21A-8034-1182-7EC20A46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2DEB8-E147-4787-5FDF-AACC13D35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F521C-0896-D5EA-62D4-7B080E31F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912D4-651F-022F-E212-0668CF9122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38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5D64-14C4-F16C-5619-287C7EA27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13F94-501F-3960-9E11-DE7F03BD9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30D1C-21CC-DCF2-1302-0D6A57E7F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C2F6F-17C8-6775-A32C-6E7DBAEA8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23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6E45C9-D4C9-4BB9-AC1A-6D12C2483BB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942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85DC-158A-6A4D-AEC5-3C4D0AA39301}" type="datetime1">
              <a:rPr lang="en-IN" smtClean="0"/>
              <a:t>30/01/26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PT Serif" panose="020A0603040505020204" pitchFamily="18" charset="0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0CBE1-E654-804F-8DD3-1999B1EAA43E}" type="datetime1">
              <a:rPr lang="en-IN" smtClean="0"/>
              <a:t>30/01/26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00" b="0" i="0">
                <a:solidFill>
                  <a:srgbClr val="272C45"/>
                </a:solidFill>
                <a:latin typeface="PT Serif" panose="020A0603040505020204" pitchFamily="18" charset="0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E4A29-2FA4-5F43-8886-1C2CFE02D9AE}" type="datetime1">
              <a:rPr lang="en-IN" smtClean="0"/>
              <a:t>30/01/26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1625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5693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9609" y="3090163"/>
            <a:ext cx="73812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72C45"/>
                </a:solidFill>
                <a:latin typeface="Lucida Sans Unicode"/>
                <a:cs typeface="Lucida Sans Unicode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C385-8D9F-4541-81D3-BBF55B3B60AF}" type="datetime1">
              <a:rPr lang="en-IN" smtClean="0"/>
              <a:t>30/01/26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hf sldNum="0" hdr="0" ftr="0" dt="0"/>
  <p:txStyles>
    <p:titleStyle>
      <a:lvl1pPr>
        <a:defRPr>
          <a:latin typeface="PT Serif" panose="020A0603040505020204" pitchFamily="18" charset="0"/>
          <a:ea typeface="+mj-ea"/>
          <a:cs typeface="+mj-cs"/>
        </a:defRPr>
      </a:lvl1pPr>
    </p:titleStyle>
    <p:bodyStyle>
      <a:lvl1pPr marL="0">
        <a:defRPr>
          <a:latin typeface="PT Serif" panose="020A0603040505020204" pitchFamily="18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48BBC-7E6C-F114-F782-376A30F0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>
            <a:extLst>
              <a:ext uri="{FF2B5EF4-FFF2-40B4-BE49-F238E27FC236}">
                <a16:creationId xmlns:a16="http://schemas.microsoft.com/office/drawing/2014/main" id="{F82AA0A4-B4C8-BFF7-1622-4303CB7DF1F3}"/>
              </a:ext>
            </a:extLst>
          </p:cNvPr>
          <p:cNvSpPr/>
          <p:nvPr/>
        </p:nvSpPr>
        <p:spPr>
          <a:xfrm>
            <a:off x="743468" y="2133600"/>
            <a:ext cx="1426793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UMAP: Uniform Manifold Approximation and Projection</a:t>
            </a:r>
            <a:endParaRPr lang="en-US" sz="4100" dirty="0">
              <a:latin typeface="PT Serif" panose="020A0603040505020204" pitchFamily="18" charset="0"/>
            </a:endParaRPr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34E7B785-51DF-6028-E343-20904A09A941}"/>
              </a:ext>
            </a:extLst>
          </p:cNvPr>
          <p:cNvSpPr/>
          <p:nvPr/>
        </p:nvSpPr>
        <p:spPr>
          <a:xfrm>
            <a:off x="743468" y="3789164"/>
            <a:ext cx="1552462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 Practical &amp; Intuitive Guide to Non-Linear Dimensionality Reduction</a:t>
            </a:r>
            <a:endParaRPr lang="en-US" sz="20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0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D79A3-6285-EA7B-A2B4-F0C9DCE1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6EF8EC6-F255-C70E-3023-DC7EAEC5B16D}"/>
              </a:ext>
            </a:extLst>
          </p:cNvPr>
          <p:cNvSpPr/>
          <p:nvPr/>
        </p:nvSpPr>
        <p:spPr>
          <a:xfrm>
            <a:off x="762000" y="347487"/>
            <a:ext cx="4763333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600" dirty="0">
                <a:solidFill>
                  <a:schemeClr val="tx1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36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0CCEE3-6042-A6A9-3891-B76B33DC9098}"/>
              </a:ext>
            </a:extLst>
          </p:cNvPr>
          <p:cNvSpPr/>
          <p:nvPr/>
        </p:nvSpPr>
        <p:spPr>
          <a:xfrm>
            <a:off x="793790" y="127325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9D6074-985D-ECFD-41A9-CC64CE8CCED8}"/>
              </a:ext>
            </a:extLst>
          </p:cNvPr>
          <p:cNvSpPr/>
          <p:nvPr/>
        </p:nvSpPr>
        <p:spPr>
          <a:xfrm>
            <a:off x="793790" y="1628298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BB4AFD-62D3-1AAB-C8B6-84BCFD0B3499}"/>
              </a:ext>
            </a:extLst>
          </p:cNvPr>
          <p:cNvSpPr/>
          <p:nvPr/>
        </p:nvSpPr>
        <p:spPr>
          <a:xfrm>
            <a:off x="793790" y="1802606"/>
            <a:ext cx="43703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Introduction to UMAP 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95C41F2-E8AE-183D-B7D2-B584B66A5047}"/>
              </a:ext>
            </a:extLst>
          </p:cNvPr>
          <p:cNvSpPr/>
          <p:nvPr/>
        </p:nvSpPr>
        <p:spPr>
          <a:xfrm>
            <a:off x="7428548" y="127325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20FFCDF-EFCF-D95B-39BF-71DEE8C305CC}"/>
              </a:ext>
            </a:extLst>
          </p:cNvPr>
          <p:cNvSpPr/>
          <p:nvPr/>
        </p:nvSpPr>
        <p:spPr>
          <a:xfrm>
            <a:off x="7428548" y="1628298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C44485-ABDB-D8CB-78F7-9276AAADB0B2}"/>
              </a:ext>
            </a:extLst>
          </p:cNvPr>
          <p:cNvSpPr/>
          <p:nvPr/>
        </p:nvSpPr>
        <p:spPr>
          <a:xfrm>
            <a:off x="7428548" y="1760100"/>
            <a:ext cx="4915852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UMAP Works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9AA9FB-4CAF-BC7C-90F0-1D48BD93C205}"/>
              </a:ext>
            </a:extLst>
          </p:cNvPr>
          <p:cNvSpPr/>
          <p:nvPr/>
        </p:nvSpPr>
        <p:spPr>
          <a:xfrm>
            <a:off x="793790" y="25715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735EFEC-254C-A190-497E-54797BC377D7}"/>
              </a:ext>
            </a:extLst>
          </p:cNvPr>
          <p:cNvSpPr/>
          <p:nvPr/>
        </p:nvSpPr>
        <p:spPr>
          <a:xfrm>
            <a:off x="793790" y="2926556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AC6FBEA-485A-7F7D-47FB-5FEB6466C2AF}"/>
              </a:ext>
            </a:extLst>
          </p:cNvPr>
          <p:cNvSpPr/>
          <p:nvPr/>
        </p:nvSpPr>
        <p:spPr>
          <a:xfrm>
            <a:off x="793790" y="3100863"/>
            <a:ext cx="5683210" cy="224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Local vs Global Structure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B65B506-59D4-7376-A944-4C46A5D3D0DA}"/>
              </a:ext>
            </a:extLst>
          </p:cNvPr>
          <p:cNvSpPr/>
          <p:nvPr/>
        </p:nvSpPr>
        <p:spPr>
          <a:xfrm>
            <a:off x="7428548" y="25715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64D1A4C-2B9B-4174-ACD2-FF1592E30587}"/>
              </a:ext>
            </a:extLst>
          </p:cNvPr>
          <p:cNvSpPr/>
          <p:nvPr/>
        </p:nvSpPr>
        <p:spPr>
          <a:xfrm>
            <a:off x="7428548" y="292655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B2CEF56-AF19-B00B-757E-9F9AA779999A}"/>
              </a:ext>
            </a:extLst>
          </p:cNvPr>
          <p:cNvSpPr/>
          <p:nvPr/>
        </p:nvSpPr>
        <p:spPr>
          <a:xfrm>
            <a:off x="7428548" y="3100863"/>
            <a:ext cx="383702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endParaRPr lang="en-US" sz="24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26178CF-9339-DE4A-28C3-77F3A415D7BD}"/>
              </a:ext>
            </a:extLst>
          </p:cNvPr>
          <p:cNvSpPr/>
          <p:nvPr/>
        </p:nvSpPr>
        <p:spPr>
          <a:xfrm>
            <a:off x="793790" y="407003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B97DF43-3297-7260-5B91-2DAB55D3B09B}"/>
              </a:ext>
            </a:extLst>
          </p:cNvPr>
          <p:cNvSpPr/>
          <p:nvPr/>
        </p:nvSpPr>
        <p:spPr>
          <a:xfrm>
            <a:off x="793790" y="4339352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UMAP vs PCA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7E44A9EB-37D4-D3CC-6CA9-BE886EEF64E4}"/>
              </a:ext>
            </a:extLst>
          </p:cNvPr>
          <p:cNvSpPr/>
          <p:nvPr/>
        </p:nvSpPr>
        <p:spPr>
          <a:xfrm>
            <a:off x="7428548" y="3113380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UMAP vs t-SNE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5B9F5E8B-045A-3A25-2933-25E0399D6449}"/>
              </a:ext>
            </a:extLst>
          </p:cNvPr>
          <p:cNvSpPr/>
          <p:nvPr/>
        </p:nvSpPr>
        <p:spPr>
          <a:xfrm>
            <a:off x="7391400" y="384094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EC1DCEC7-625C-4004-BE4E-377DFDBDBFBA}"/>
              </a:ext>
            </a:extLst>
          </p:cNvPr>
          <p:cNvSpPr/>
          <p:nvPr/>
        </p:nvSpPr>
        <p:spPr>
          <a:xfrm>
            <a:off x="7391400" y="4195986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D78A8F84-E258-6237-EABC-99F514D623A1}"/>
              </a:ext>
            </a:extLst>
          </p:cNvPr>
          <p:cNvSpPr/>
          <p:nvPr/>
        </p:nvSpPr>
        <p:spPr>
          <a:xfrm>
            <a:off x="7391400" y="4382810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When to Use UMAP Over t-SNE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4DBD175A-6995-075B-E177-BFF3D1602B48}"/>
              </a:ext>
            </a:extLst>
          </p:cNvPr>
          <p:cNvSpPr/>
          <p:nvPr/>
        </p:nvSpPr>
        <p:spPr>
          <a:xfrm>
            <a:off x="762000" y="5450458"/>
            <a:ext cx="5378410" cy="506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Basic Intuitive Mathematics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3EA9804B-335C-F6C0-443D-D4E06262E182}"/>
              </a:ext>
            </a:extLst>
          </p:cNvPr>
          <p:cNvSpPr/>
          <p:nvPr/>
        </p:nvSpPr>
        <p:spPr>
          <a:xfrm>
            <a:off x="7359610" y="495204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08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45ED9308-B924-878E-9DC8-D39DF900E95D}"/>
              </a:ext>
            </a:extLst>
          </p:cNvPr>
          <p:cNvSpPr/>
          <p:nvPr/>
        </p:nvSpPr>
        <p:spPr>
          <a:xfrm>
            <a:off x="7359610" y="5307092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9A35273B-E2FA-4A53-50E8-C2D277C1E0C8}"/>
              </a:ext>
            </a:extLst>
          </p:cNvPr>
          <p:cNvSpPr/>
          <p:nvPr/>
        </p:nvSpPr>
        <p:spPr>
          <a:xfrm>
            <a:off x="7359610" y="5493916"/>
            <a:ext cx="5149810" cy="341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 Implementation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BA71D4D9-776E-A65E-5348-1D063FA3E99C}"/>
              </a:ext>
            </a:extLst>
          </p:cNvPr>
          <p:cNvSpPr/>
          <p:nvPr/>
        </p:nvSpPr>
        <p:spPr>
          <a:xfrm>
            <a:off x="762000" y="492156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07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33FCE14C-6327-5C94-C458-A3570CA5D7C0}"/>
              </a:ext>
            </a:extLst>
          </p:cNvPr>
          <p:cNvSpPr/>
          <p:nvPr/>
        </p:nvSpPr>
        <p:spPr>
          <a:xfrm>
            <a:off x="762000" y="5276612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6D9639B8-7315-1E5F-E7B3-8A2C2C5FEBA8}"/>
              </a:ext>
            </a:extLst>
          </p:cNvPr>
          <p:cNvSpPr/>
          <p:nvPr/>
        </p:nvSpPr>
        <p:spPr>
          <a:xfrm>
            <a:off x="793790" y="3810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tx1"/>
                </a:solidFill>
                <a:latin typeface="PT Serif" panose="020A0603040505020204" pitchFamily="18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9BB72F5D-8E0D-705D-88B7-FDB66D4AF612}"/>
              </a:ext>
            </a:extLst>
          </p:cNvPr>
          <p:cNvSpPr/>
          <p:nvPr/>
        </p:nvSpPr>
        <p:spPr>
          <a:xfrm>
            <a:off x="793790" y="4165044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</p:spTree>
    <p:extLst>
      <p:ext uri="{BB962C8B-B14F-4D97-AF65-F5344CB8AC3E}">
        <p14:creationId xmlns:p14="http://schemas.microsoft.com/office/powerpoint/2010/main" val="2416296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B8816-50F5-4974-1308-EA56AEFD4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29216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What Is UMAP?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A3323-3145-E4BF-CA37-6E7C22D6E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11430000" cy="3799310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UMAP is a non-linear dimensionality reduction technique used for visualization, feature embedding, and preprocessing. It assumes that high-dimensional data lies on a lower-dimensional manifold and aims to preserve this structure when projecting to fewer dimensions.</a:t>
            </a:r>
          </a:p>
          <a:p>
            <a:pPr algn="l"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Unlike linear methods, UMAP captures complex, non-linear relationships in data while maintaining computational efficiency.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731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8163" y="228600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How UMAP Works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33152" y="2128002"/>
            <a:ext cx="4164095" cy="39679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02404" y="2215807"/>
            <a:ext cx="389290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Assign Connection Strengths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Weight edges between neighbors based on distance and local density.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10198113" y="2183501"/>
            <a:ext cx="3892901" cy="391071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433706" y="2158423"/>
            <a:ext cx="3347385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Optimize Low-Dimensional Embedding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Find a layout in lower dimensions that best preserves these weighted relationships.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724717" y="2151147"/>
            <a:ext cx="3976821" cy="39679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99728" y="2172006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Construct Nearest-Neighbor Graph</a:t>
            </a:r>
            <a:endParaRPr lang="en-US" dirty="0">
              <a:solidFill>
                <a:srgbClr val="383838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Build a graph in high-dimensional space connecting each point to its nearest neighbors.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163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41C0F-F24E-159C-E6B0-D4C071430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628" y="784812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Local vs Global Structure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84553-E1E2-710B-AAC9-112858F1C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968539"/>
            <a:ext cx="5382065" cy="3034357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Local Structure</a:t>
            </a: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Relationships among nearest neighbors, capturing clusters and similarity patterns within small neighborhoods of the data.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2DA94-3EB7-1664-9254-28401F9D3F79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848600" y="1968539"/>
            <a:ext cx="5382065" cy="2480359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Global Structure</a:t>
            </a: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Relationships among clusters and distant points, preserving trends and overall geometric organization.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261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8163" y="228600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How t-SNE Handles Structure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33152" y="2128002"/>
            <a:ext cx="4164095" cy="39679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02404" y="2215807"/>
            <a:ext cx="389290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Cluster Separation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Produces well-separated, distinct clusters that are visually clear.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926921" y="2183501"/>
            <a:ext cx="4164094" cy="391071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196172" y="2227530"/>
            <a:ext cx="3622084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Global Limitation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Does not preserve meaningful distances between clusters or overall geometry.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724717" y="2151147"/>
            <a:ext cx="3976821" cy="39679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99728" y="2172006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Local Focus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t-SNE focuses almost entirely on preserving local structure and neighborhood relationships.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012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8163" y="228600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How UMAP Handles Structure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33152" y="2128002"/>
            <a:ext cx="4164095" cy="39679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02404" y="2215807"/>
            <a:ext cx="389290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Global Organization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Retains meaningful global structure, making cluster positions interpretable.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926921" y="2183501"/>
            <a:ext cx="4164094" cy="391071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196172" y="2227530"/>
            <a:ext cx="3622084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Balanced Approach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Achieves superior balance between local detail and global trends.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724717" y="2151147"/>
            <a:ext cx="3976821" cy="39679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99728" y="2172006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Strong Local Preservation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UMAP maintains tight neighborhood relationships and cluster cohesion.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994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B6F0E-CC70-3E72-E424-3E3FC942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40" y="228600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UMAP vs t-SNE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4024BA-AAC5-E873-7C08-F2BC24537AAB}"/>
              </a:ext>
            </a:extLst>
          </p:cNvPr>
          <p:cNvSpPr txBox="1"/>
          <p:nvPr/>
        </p:nvSpPr>
        <p:spPr>
          <a:xfrm>
            <a:off x="807740" y="790292"/>
            <a:ext cx="6126460" cy="2229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UMAP preserves both local clusters and global relationships, while t-SNE excels only at local neighborhood preservation. Notice how UMAP maintains meaningful distances between clusters.</a:t>
            </a: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BC01C7-F4B8-B184-027D-11DE95BF0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0800" y="211674"/>
            <a:ext cx="5689600" cy="41391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8AF8F0-8613-0EA5-49E7-41D35EEFF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316185"/>
            <a:ext cx="8995548" cy="47076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0944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object 13">
            <a:extLst>
              <a:ext uri="{FF2B5EF4-FFF2-40B4-BE49-F238E27FC236}">
                <a16:creationId xmlns:a16="http://schemas.microsoft.com/office/drawing/2014/main" id="{BB73459B-6469-E48E-523F-49DE8DF5997B}"/>
              </a:ext>
            </a:extLst>
          </p:cNvPr>
          <p:cNvGrpSpPr/>
          <p:nvPr/>
        </p:nvGrpSpPr>
        <p:grpSpPr>
          <a:xfrm>
            <a:off x="422702" y="4332909"/>
            <a:ext cx="6791413" cy="2046728"/>
            <a:chOff x="793788" y="4631308"/>
            <a:chExt cx="6437630" cy="2974340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71616C5E-65C8-6E58-8FBA-B20C0EDC16E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92C0E4B8-3324-4A15-E5FB-5927AF9E1041}"/>
                </a:ext>
              </a:extLst>
            </p:cNvPr>
            <p:cNvSpPr/>
            <p:nvPr/>
          </p:nvSpPr>
          <p:spPr>
            <a:xfrm>
              <a:off x="816648" y="4654164"/>
              <a:ext cx="6391910" cy="727816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11" name="object 13">
            <a:extLst>
              <a:ext uri="{FF2B5EF4-FFF2-40B4-BE49-F238E27FC236}">
                <a16:creationId xmlns:a16="http://schemas.microsoft.com/office/drawing/2014/main" id="{7EC27F32-5AE2-A457-BF6B-4E11B04E7022}"/>
              </a:ext>
            </a:extLst>
          </p:cNvPr>
          <p:cNvGrpSpPr/>
          <p:nvPr/>
        </p:nvGrpSpPr>
        <p:grpSpPr>
          <a:xfrm>
            <a:off x="7501153" y="4348638"/>
            <a:ext cx="6791413" cy="2046728"/>
            <a:chOff x="793788" y="4631308"/>
            <a:chExt cx="6437630" cy="2974340"/>
          </a:xfrm>
        </p:grpSpPr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914ADF9D-302C-11BE-1737-EC93DB200849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3" name="object 15">
              <a:extLst>
                <a:ext uri="{FF2B5EF4-FFF2-40B4-BE49-F238E27FC236}">
                  <a16:creationId xmlns:a16="http://schemas.microsoft.com/office/drawing/2014/main" id="{A8A7E959-E8B3-A90E-735F-57A80005DA27}"/>
                </a:ext>
              </a:extLst>
            </p:cNvPr>
            <p:cNvSpPr/>
            <p:nvPr/>
          </p:nvSpPr>
          <p:spPr>
            <a:xfrm>
              <a:off x="816648" y="4654166"/>
              <a:ext cx="6391910" cy="704957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8" name="object 13">
            <a:extLst>
              <a:ext uri="{FF2B5EF4-FFF2-40B4-BE49-F238E27FC236}">
                <a16:creationId xmlns:a16="http://schemas.microsoft.com/office/drawing/2014/main" id="{8C1FE014-3026-6862-3720-9E77AE2730D2}"/>
              </a:ext>
            </a:extLst>
          </p:cNvPr>
          <p:cNvGrpSpPr/>
          <p:nvPr/>
        </p:nvGrpSpPr>
        <p:grpSpPr>
          <a:xfrm>
            <a:off x="7457987" y="1828800"/>
            <a:ext cx="6791413" cy="1981027"/>
            <a:chOff x="793788" y="4631308"/>
            <a:chExt cx="6437630" cy="2974340"/>
          </a:xfrm>
        </p:grpSpPr>
        <p:sp>
          <p:nvSpPr>
            <p:cNvPr id="9" name="object 14">
              <a:extLst>
                <a:ext uri="{FF2B5EF4-FFF2-40B4-BE49-F238E27FC236}">
                  <a16:creationId xmlns:a16="http://schemas.microsoft.com/office/drawing/2014/main" id="{579AC416-E9EC-951C-0C59-953A86086D25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0" name="object 15">
              <a:extLst>
                <a:ext uri="{FF2B5EF4-FFF2-40B4-BE49-F238E27FC236}">
                  <a16:creationId xmlns:a16="http://schemas.microsoft.com/office/drawing/2014/main" id="{9B115779-7710-6EDD-DFF1-D0FB2943E089}"/>
                </a:ext>
              </a:extLst>
            </p:cNvPr>
            <p:cNvSpPr/>
            <p:nvPr/>
          </p:nvSpPr>
          <p:spPr>
            <a:xfrm>
              <a:off x="816648" y="4654166"/>
              <a:ext cx="6391910" cy="906624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grpSp>
        <p:nvGrpSpPr>
          <p:cNvPr id="5" name="object 13">
            <a:extLst>
              <a:ext uri="{FF2B5EF4-FFF2-40B4-BE49-F238E27FC236}">
                <a16:creationId xmlns:a16="http://schemas.microsoft.com/office/drawing/2014/main" id="{8A10505B-9623-8692-6E01-754220E5E1A5}"/>
              </a:ext>
            </a:extLst>
          </p:cNvPr>
          <p:cNvGrpSpPr/>
          <p:nvPr/>
        </p:nvGrpSpPr>
        <p:grpSpPr>
          <a:xfrm>
            <a:off x="304330" y="1834193"/>
            <a:ext cx="6791413" cy="2052007"/>
            <a:chOff x="793788" y="4631308"/>
            <a:chExt cx="6437630" cy="2974340"/>
          </a:xfrm>
        </p:grpSpPr>
        <p:sp>
          <p:nvSpPr>
            <p:cNvPr id="6" name="object 14">
              <a:extLst>
                <a:ext uri="{FF2B5EF4-FFF2-40B4-BE49-F238E27FC236}">
                  <a16:creationId xmlns:a16="http://schemas.microsoft.com/office/drawing/2014/main" id="{CCC4CF37-751F-54B7-DF88-A67DF0F558E8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7" name="object 15">
              <a:extLst>
                <a:ext uri="{FF2B5EF4-FFF2-40B4-BE49-F238E27FC236}">
                  <a16:creationId xmlns:a16="http://schemas.microsoft.com/office/drawing/2014/main" id="{78A747FC-C403-4EA4-6231-4399095DDD25}"/>
                </a:ext>
              </a:extLst>
            </p:cNvPr>
            <p:cNvSpPr/>
            <p:nvPr/>
          </p:nvSpPr>
          <p:spPr>
            <a:xfrm>
              <a:off x="816648" y="4654166"/>
              <a:ext cx="6391910" cy="892168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AF5101B-081F-A0A0-283B-952EF957F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401522"/>
            <a:ext cx="13656055" cy="610103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UMAP vs t-SNE: Key Differences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0CAFA-D3A1-D9BB-F761-32F74583D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1953" y="1725506"/>
            <a:ext cx="6050280" cy="4722639"/>
          </a:xfrm>
        </p:spPr>
        <p:txBody>
          <a:bodyPr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Speed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UMAP is significantly faster, especially on large datasets.</a:t>
            </a: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Global Structure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UMAP preserves meaningful global organization; t-SNE does not.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CC7E2B-A810-56BD-EE5C-66DF6AEC3FED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737380" y="1763998"/>
            <a:ext cx="6050280" cy="4722639"/>
          </a:xfrm>
        </p:spPr>
        <p:txBody>
          <a:bodyPr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Stability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UMAP produces more consistent embeddings across runs.</a:t>
            </a: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algn="l">
              <a:lnSpc>
                <a:spcPct val="200000"/>
              </a:lnSpc>
            </a:pPr>
            <a:endParaRPr lang="en-US" sz="1800" dirty="0"/>
          </a:p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ea typeface="PT Serif" pitchFamily="34" charset="-122"/>
                <a:cs typeface="PT Serif" pitchFamily="34" charset="-120"/>
              </a:rPr>
              <a:t>New Data</a:t>
            </a:r>
            <a:endParaRPr lang="en-US" sz="24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ea typeface="DM Sans" pitchFamily="34" charset="-122"/>
                <a:cs typeface="DM Sans" pitchFamily="34" charset="-120"/>
              </a:rPr>
              <a:t>UMAP supports transforming new data points; t-SNE requires retraining.</a:t>
            </a:r>
            <a:endParaRPr lang="en-US" sz="1800" dirty="0"/>
          </a:p>
          <a:p>
            <a:pPr>
              <a:lnSpc>
                <a:spcPct val="200000"/>
              </a:lnSpc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139427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41C0F-F24E-159C-E6B0-D4C071430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627" y="635496"/>
            <a:ext cx="13656055" cy="607026"/>
          </a:xfrm>
        </p:spPr>
        <p:txBody>
          <a:bodyPr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UMAP vs PCA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84553-E1E2-710B-AAC9-112858F1C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2286000"/>
            <a:ext cx="6364224" cy="4142352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PCA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Linear transformation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Preserves global variance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Highly interpretable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Fast computation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Limited for complex patterns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2DA94-3EB7-1664-9254-28401F9D3F79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7534654" y="2286000"/>
            <a:ext cx="6364224" cy="4142352"/>
          </a:xfrm>
        </p:spPr>
        <p:txBody>
          <a:bodyPr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UMAP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Non-linear transformation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Preserves manifold geometry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Less interpretable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Moderate computation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Excellent for visualization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990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FB897-8BEE-DDD2-E6A5-4A8B7BDAA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228600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When to Use UMAP Over t-SNE</a:t>
            </a:r>
            <a:br>
              <a:rPr lang="en-US" sz="3600" dirty="0">
                <a:solidFill>
                  <a:schemeClr val="tx1"/>
                </a:solidFill>
              </a:rPr>
            </a:br>
            <a:endParaRPr lang="en-IN" sz="3600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8738-E36E-6875-6E44-79ACF9F0D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1099" y="1143000"/>
            <a:ext cx="12268200" cy="7307963"/>
          </a:xfrm>
        </p:spPr>
        <p:txBody>
          <a:bodyPr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chemeClr val="tx1"/>
                </a:solidFill>
              </a:rPr>
              <a:t>1. </a:t>
            </a: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Large Datasets</a:t>
            </a:r>
            <a:endParaRPr lang="en-US" sz="24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When working with thousands or millions of data points requiring efficient computation.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endParaRPr lang="en-IN" sz="18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IN" sz="2400" dirty="0">
                <a:solidFill>
                  <a:schemeClr val="tx1"/>
                </a:solidFill>
              </a:rPr>
              <a:t>2.</a:t>
            </a: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 Global Structure Matters</a:t>
            </a:r>
            <a:endParaRPr lang="en-US" sz="24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When relationships between clusters are scientifically meaningful.</a:t>
            </a:r>
          </a:p>
          <a:p>
            <a:pPr algn="l"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IN" sz="2400" dirty="0">
                <a:solidFill>
                  <a:schemeClr val="tx1"/>
                </a:solidFill>
              </a:rPr>
              <a:t>3.</a:t>
            </a: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 Stable Embeddings</a:t>
            </a:r>
            <a:endParaRPr lang="en-US" sz="24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When reproducibility and consistency across runs are critical.</a:t>
            </a:r>
          </a:p>
          <a:p>
            <a:pPr algn="l">
              <a:lnSpc>
                <a:spcPct val="200000"/>
              </a:lnSpc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IN" sz="2400" dirty="0">
                <a:solidFill>
                  <a:schemeClr val="tx1"/>
                </a:solidFill>
              </a:rPr>
              <a:t>4.</a:t>
            </a:r>
            <a:r>
              <a:rPr lang="en-US" sz="2400" dirty="0">
                <a:solidFill>
                  <a:schemeClr val="tx1"/>
                </a:solidFill>
                <a:ea typeface="PT Serif" pitchFamily="34" charset="-122"/>
                <a:cs typeface="PT Serif" pitchFamily="34" charset="-120"/>
              </a:rPr>
              <a:t> Downstream ML Tasks</a:t>
            </a:r>
            <a:endParaRPr lang="en-US" sz="2400" dirty="0">
              <a:solidFill>
                <a:schemeClr val="tx1"/>
              </a:solidFill>
            </a:endParaRPr>
          </a:p>
          <a:p>
            <a:pPr algn="l">
              <a:lnSpc>
                <a:spcPct val="200000"/>
              </a:lnSpc>
            </a:pPr>
            <a:r>
              <a:rPr lang="en-US" sz="1800" dirty="0">
                <a:solidFill>
                  <a:schemeClr val="tx1"/>
                </a:solidFill>
                <a:ea typeface="DM Sans" pitchFamily="34" charset="-122"/>
                <a:cs typeface="DM Sans" pitchFamily="34" charset="-120"/>
              </a:rPr>
              <a:t>When embeddings will be used for classification, clustering, or other machine learning.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151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8163" y="228600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Basic Intuitive Mathematics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33152" y="2128002"/>
            <a:ext cx="4164095" cy="39679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02404" y="2215807"/>
            <a:ext cx="389290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2. Probability Graph Construction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Build a weighted graph where edge weights represent connection probabilities.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926921" y="2183501"/>
            <a:ext cx="4164094" cy="391071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196172" y="2227530"/>
            <a:ext cx="3622084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3. Cross-Entropy Minimization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Minimize the difference between high-dimensional and low-dimensional probability distributions.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724717" y="2151147"/>
            <a:ext cx="3976821" cy="39679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99728" y="2172006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200000"/>
              </a:lnSpc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1. Local Distance Normalization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Normalize distances within each point's neighborhood to account for varying local densities.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31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9D97D5-1DFE-2EF9-4A3A-9644DB339A63}"/>
              </a:ext>
            </a:extLst>
          </p:cNvPr>
          <p:cNvSpPr/>
          <p:nvPr/>
        </p:nvSpPr>
        <p:spPr>
          <a:xfrm>
            <a:off x="304800" y="1600199"/>
            <a:ext cx="11506200" cy="63410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PT Serif" panose="020A060304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DEAB8-3937-AB7B-CF08-6AE71CB8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72" y="288321"/>
            <a:ext cx="13656055" cy="1123384"/>
          </a:xfrm>
        </p:spPr>
        <p:txBody>
          <a:bodyPr/>
          <a:lstStyle/>
          <a:p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Python Implementation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432D2D-9542-29FB-0A39-6BB250BF6F51}"/>
              </a:ext>
            </a:extLst>
          </p:cNvPr>
          <p:cNvSpPr txBox="1"/>
          <p:nvPr/>
        </p:nvSpPr>
        <p:spPr>
          <a:xfrm>
            <a:off x="487172" y="1254551"/>
            <a:ext cx="14630400" cy="7396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UMAP can be implemented using the umap-learn library with minimal code:</a:t>
            </a:r>
          </a:p>
          <a:p>
            <a:pPr algn="l">
              <a:lnSpc>
                <a:spcPts val="2600"/>
              </a:lnSpc>
            </a:pPr>
            <a:r>
              <a:rPr lang="en-US" dirty="0">
                <a:solidFill>
                  <a:srgbClr val="383838"/>
                </a:solidFill>
                <a:latin typeface="PT Serif" panose="020A0603040505020204" pitchFamily="18" charset="0"/>
              </a:rPr>
              <a:t>import umap
from sklearn.datasets import load_digits
# Load data
digits = load_digits()
X = digits.data
# Create UMAP embedding
reducer = umap.UMAP(n_components=2, 
 n_neighbors=15,
 min_dist=0.1)
embedding = reducer.fit_transform(X)
# Visualize
import matplotlib.pyplot as plt
plt.scatter(embedding[:, 0], 
 embedding[:, 1], 
 c=digits.target)
plt.show()</a:t>
            </a:r>
            <a:r>
              <a:rPr lang="en-US" sz="1800" dirty="0">
                <a:solidFill>
                  <a:srgbClr val="383838"/>
                </a:solidFill>
                <a:highlight>
                  <a:srgbClr val="F2F2F2"/>
                </a:highlight>
                <a:latin typeface="PT Serif" panose="020A0603040505020204" pitchFamily="18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ts val="2600"/>
              </a:lnSpc>
              <a:buNone/>
            </a:pPr>
            <a:endParaRPr lang="en-US" sz="1800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828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8163" y="228600"/>
            <a:ext cx="13656055" cy="1053866"/>
          </a:xfrm>
          <a:prstGeom prst="rect">
            <a:avLst/>
          </a:prstGeom>
        </p:spPr>
        <p:txBody>
          <a:bodyPr vert="horz" wrap="square" lIns="0" tIns="439471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Key UMAP Parameters</a:t>
            </a:r>
            <a:endParaRPr lang="en-US" sz="36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E7C49C67-C298-4068-CA76-A4C08A84BF5C}"/>
              </a:ext>
            </a:extLst>
          </p:cNvPr>
          <p:cNvSpPr/>
          <p:nvPr/>
        </p:nvSpPr>
        <p:spPr>
          <a:xfrm>
            <a:off x="5233152" y="2128002"/>
            <a:ext cx="4164095" cy="39679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BEBCEDAE-A091-212D-F1FD-EBC293DAA8C5}"/>
              </a:ext>
            </a:extLst>
          </p:cNvPr>
          <p:cNvSpPr/>
          <p:nvPr/>
        </p:nvSpPr>
        <p:spPr>
          <a:xfrm>
            <a:off x="5502404" y="2215807"/>
            <a:ext cx="3892901" cy="486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min_dist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Minimum distance between points in embedding. Lower values create tighter clusters (default: 0.1).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6E40DDF-DB35-15B5-6D48-502B983E2206}"/>
              </a:ext>
            </a:extLst>
          </p:cNvPr>
          <p:cNvSpPr/>
          <p:nvPr/>
        </p:nvSpPr>
        <p:spPr>
          <a:xfrm>
            <a:off x="9926921" y="2183501"/>
            <a:ext cx="4164094" cy="3910717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A0DABD8D-9C74-8096-EA52-80379EDA21AF}"/>
              </a:ext>
            </a:extLst>
          </p:cNvPr>
          <p:cNvSpPr/>
          <p:nvPr/>
        </p:nvSpPr>
        <p:spPr>
          <a:xfrm>
            <a:off x="10196172" y="2227530"/>
            <a:ext cx="3622084" cy="231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n_components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Target dimensionality. Typically 2 or 3 for visualization, higher for feature extraction.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FE26A02-BF48-BE3A-0BC6-D1E3F1CF2B05}"/>
              </a:ext>
            </a:extLst>
          </p:cNvPr>
          <p:cNvSpPr/>
          <p:nvPr/>
        </p:nvSpPr>
        <p:spPr>
          <a:xfrm>
            <a:off x="724717" y="2151147"/>
            <a:ext cx="3976821" cy="3967998"/>
          </a:xfrm>
          <a:prstGeom prst="roundRect">
            <a:avLst>
              <a:gd name="adj" fmla="val 141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 dirty="0">
              <a:latin typeface="PT Serif" panose="020A0603040505020204" pitchFamily="18" charset="0"/>
            </a:endParaRPr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4E2EBE4-A5A4-AC65-201B-5D66F292BE53}"/>
              </a:ext>
            </a:extLst>
          </p:cNvPr>
          <p:cNvSpPr/>
          <p:nvPr/>
        </p:nvSpPr>
        <p:spPr>
          <a:xfrm>
            <a:off x="899728" y="2172006"/>
            <a:ext cx="3626798" cy="247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n_neighbors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Controls local vs global balance. Higher values emphasize global structure (default: 15).</a:t>
            </a:r>
            <a:endParaRPr lang="en-US" sz="1800" dirty="0">
              <a:latin typeface="PT Serif" panose="020A06030405050202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dirty="0">
              <a:latin typeface="PT Serif" panose="020A060304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323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7821" y="488386"/>
            <a:ext cx="13656055" cy="833113"/>
          </a:xfrm>
          <a:prstGeom prst="rect">
            <a:avLst/>
          </a:prstGeom>
          <a:noFill/>
        </p:spPr>
        <p:txBody>
          <a:bodyPr vert="horz" wrap="square" lIns="0" tIns="220853" rIns="0" bIns="0" rtlCol="0">
            <a:spAutoFit/>
          </a:bodyPr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3600" dirty="0">
                <a:solidFill>
                  <a:srgbClr val="020202"/>
                </a:solidFill>
                <a:ea typeface="PT Serif" pitchFamily="34" charset="-122"/>
                <a:cs typeface="PT Serif" pitchFamily="34" charset="-120"/>
              </a:rPr>
              <a:t>Key Takeaways</a:t>
            </a:r>
            <a:endParaRPr lang="en-US" sz="3600" dirty="0"/>
          </a:p>
        </p:txBody>
      </p:sp>
      <p:grpSp>
        <p:nvGrpSpPr>
          <p:cNvPr id="14" name="object 13">
            <a:extLst>
              <a:ext uri="{FF2B5EF4-FFF2-40B4-BE49-F238E27FC236}">
                <a16:creationId xmlns:a16="http://schemas.microsoft.com/office/drawing/2014/main" id="{5A2635E6-A3CE-6543-AD15-FD6A43C19559}"/>
              </a:ext>
            </a:extLst>
          </p:cNvPr>
          <p:cNvGrpSpPr/>
          <p:nvPr/>
        </p:nvGrpSpPr>
        <p:grpSpPr>
          <a:xfrm>
            <a:off x="5255647" y="2159699"/>
            <a:ext cx="4497953" cy="3613916"/>
            <a:chOff x="793788" y="4631308"/>
            <a:chExt cx="6437630" cy="2974340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39839235-7988-331B-2FE5-9A9F768AF4CC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0D2FCFDC-4342-98B8-A40D-73317B3A32A4}"/>
                </a:ext>
              </a:extLst>
            </p:cNvPr>
            <p:cNvSpPr/>
            <p:nvPr/>
          </p:nvSpPr>
          <p:spPr>
            <a:xfrm>
              <a:off x="816648" y="4654167"/>
              <a:ext cx="6391910" cy="52915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17" name="Text 3">
            <a:extLst>
              <a:ext uri="{FF2B5EF4-FFF2-40B4-BE49-F238E27FC236}">
                <a16:creationId xmlns:a16="http://schemas.microsoft.com/office/drawing/2014/main" id="{C44FC1AD-C573-9B5C-5641-DFB1547CABDA}"/>
              </a:ext>
            </a:extLst>
          </p:cNvPr>
          <p:cNvSpPr/>
          <p:nvPr/>
        </p:nvSpPr>
        <p:spPr>
          <a:xfrm>
            <a:off x="5369947" y="2159699"/>
            <a:ext cx="4383653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Superior Scalability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Faster and more scalable than t-SNE, making it practical for large-scale datasets.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92F183E7-9D69-FAF3-7E6F-63ADC0B13E70}"/>
              </a:ext>
            </a:extLst>
          </p:cNvPr>
          <p:cNvGrpSpPr/>
          <p:nvPr/>
        </p:nvGrpSpPr>
        <p:grpSpPr>
          <a:xfrm>
            <a:off x="9980047" y="2159699"/>
            <a:ext cx="4383653" cy="3613916"/>
            <a:chOff x="793788" y="4631308"/>
            <a:chExt cx="6437630" cy="2974340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9ED32C9B-06BC-1C39-51F1-609A87DBACF1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4FA0DD2B-C9FC-4BEF-1420-05867E428A18}"/>
                </a:ext>
              </a:extLst>
            </p:cNvPr>
            <p:cNvSpPr/>
            <p:nvPr/>
          </p:nvSpPr>
          <p:spPr>
            <a:xfrm>
              <a:off x="816648" y="4654167"/>
              <a:ext cx="6391910" cy="52915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1" name="Text 3">
            <a:extLst>
              <a:ext uri="{FF2B5EF4-FFF2-40B4-BE49-F238E27FC236}">
                <a16:creationId xmlns:a16="http://schemas.microsoft.com/office/drawing/2014/main" id="{4F0E52A2-EACD-FC7C-ED91-C44A3220B919}"/>
              </a:ext>
            </a:extLst>
          </p:cNvPr>
          <p:cNvSpPr/>
          <p:nvPr/>
        </p:nvSpPr>
        <p:spPr>
          <a:xfrm>
            <a:off x="10094347" y="2159699"/>
            <a:ext cx="4383653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Complementary Tool</a:t>
            </a:r>
            <a:endParaRPr lang="en-US" sz="24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UMAP complements but does not replace PCA—use both for comprehensive analysis.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  <p:grpSp>
        <p:nvGrpSpPr>
          <p:cNvPr id="26" name="object 13">
            <a:extLst>
              <a:ext uri="{FF2B5EF4-FFF2-40B4-BE49-F238E27FC236}">
                <a16:creationId xmlns:a16="http://schemas.microsoft.com/office/drawing/2014/main" id="{F9FBCA2E-B3C1-7DFA-BE27-706356416014}"/>
              </a:ext>
            </a:extLst>
          </p:cNvPr>
          <p:cNvGrpSpPr/>
          <p:nvPr/>
        </p:nvGrpSpPr>
        <p:grpSpPr>
          <a:xfrm>
            <a:off x="304800" y="2159699"/>
            <a:ext cx="4724400" cy="3613916"/>
            <a:chOff x="793788" y="4631308"/>
            <a:chExt cx="6437630" cy="2974340"/>
          </a:xfrm>
        </p:grpSpPr>
        <p:sp>
          <p:nvSpPr>
            <p:cNvPr id="27" name="object 14">
              <a:extLst>
                <a:ext uri="{FF2B5EF4-FFF2-40B4-BE49-F238E27FC236}">
                  <a16:creationId xmlns:a16="http://schemas.microsoft.com/office/drawing/2014/main" id="{0D3389B2-76F3-97DC-CF73-5F97281B5622}"/>
                </a:ext>
              </a:extLst>
            </p:cNvPr>
            <p:cNvSpPr/>
            <p:nvPr/>
          </p:nvSpPr>
          <p:spPr>
            <a:xfrm>
              <a:off x="793788" y="4631308"/>
              <a:ext cx="6437630" cy="2974340"/>
            </a:xfrm>
            <a:custGeom>
              <a:avLst/>
              <a:gdLst/>
              <a:ahLst/>
              <a:cxnLst/>
              <a:rect l="l" t="t" r="r" b="b"/>
              <a:pathLst>
                <a:path w="6437630" h="2974340">
                  <a:moveTo>
                    <a:pt x="0" y="70865"/>
                  </a:moveTo>
                  <a:lnTo>
                    <a:pt x="5568" y="43291"/>
                  </a:lnTo>
                  <a:lnTo>
                    <a:pt x="20753" y="20764"/>
                  </a:lnTo>
                  <a:lnTo>
                    <a:pt x="43275" y="5572"/>
                  </a:lnTo>
                  <a:lnTo>
                    <a:pt x="70853" y="0"/>
                  </a:lnTo>
                  <a:lnTo>
                    <a:pt x="6366217" y="0"/>
                  </a:lnTo>
                  <a:lnTo>
                    <a:pt x="6393792" y="5572"/>
                  </a:lnTo>
                  <a:lnTo>
                    <a:pt x="6416319" y="20764"/>
                  </a:lnTo>
                  <a:lnTo>
                    <a:pt x="6431511" y="43291"/>
                  </a:lnTo>
                  <a:lnTo>
                    <a:pt x="6437083" y="70865"/>
                  </a:lnTo>
                  <a:lnTo>
                    <a:pt x="6437083" y="2903435"/>
                  </a:lnTo>
                  <a:lnTo>
                    <a:pt x="6431511" y="2931014"/>
                  </a:lnTo>
                  <a:lnTo>
                    <a:pt x="6416319" y="2953535"/>
                  </a:lnTo>
                  <a:lnTo>
                    <a:pt x="6393792" y="2968720"/>
                  </a:lnTo>
                  <a:lnTo>
                    <a:pt x="6366217" y="2974289"/>
                  </a:lnTo>
                  <a:lnTo>
                    <a:pt x="70853" y="2974289"/>
                  </a:lnTo>
                  <a:lnTo>
                    <a:pt x="43275" y="2968720"/>
                  </a:lnTo>
                  <a:lnTo>
                    <a:pt x="20753" y="2953535"/>
                  </a:lnTo>
                  <a:lnTo>
                    <a:pt x="5568" y="2931014"/>
                  </a:lnTo>
                  <a:lnTo>
                    <a:pt x="0" y="2903435"/>
                  </a:lnTo>
                  <a:lnTo>
                    <a:pt x="0" y="70865"/>
                  </a:lnTo>
                  <a:close/>
                </a:path>
              </a:pathLst>
            </a:custGeom>
            <a:ln w="22860">
              <a:solidFill>
                <a:srgbClr val="C5D2CF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  <p:sp>
          <p:nvSpPr>
            <p:cNvPr id="28" name="object 15">
              <a:extLst>
                <a:ext uri="{FF2B5EF4-FFF2-40B4-BE49-F238E27FC236}">
                  <a16:creationId xmlns:a16="http://schemas.microsoft.com/office/drawing/2014/main" id="{44F6F7E2-5B62-14F5-C3B6-860027FFB492}"/>
                </a:ext>
              </a:extLst>
            </p:cNvPr>
            <p:cNvSpPr/>
            <p:nvPr/>
          </p:nvSpPr>
          <p:spPr>
            <a:xfrm>
              <a:off x="816648" y="4654167"/>
              <a:ext cx="6391910" cy="529159"/>
            </a:xfrm>
            <a:custGeom>
              <a:avLst/>
              <a:gdLst/>
              <a:ahLst/>
              <a:cxnLst/>
              <a:rect l="l" t="t" r="r" b="b"/>
              <a:pathLst>
                <a:path w="6391909" h="506095">
                  <a:moveTo>
                    <a:pt x="6347929" y="0"/>
                  </a:moveTo>
                  <a:lnTo>
                    <a:pt x="43421" y="0"/>
                  </a:lnTo>
                  <a:lnTo>
                    <a:pt x="26521" y="3411"/>
                  </a:lnTo>
                  <a:lnTo>
                    <a:pt x="12719" y="12715"/>
                  </a:lnTo>
                  <a:lnTo>
                    <a:pt x="3412" y="26521"/>
                  </a:lnTo>
                  <a:lnTo>
                    <a:pt x="0" y="43433"/>
                  </a:lnTo>
                  <a:lnTo>
                    <a:pt x="0" y="462533"/>
                  </a:lnTo>
                  <a:lnTo>
                    <a:pt x="3412" y="479446"/>
                  </a:lnTo>
                  <a:lnTo>
                    <a:pt x="12719" y="493252"/>
                  </a:lnTo>
                  <a:lnTo>
                    <a:pt x="26521" y="502556"/>
                  </a:lnTo>
                  <a:lnTo>
                    <a:pt x="43421" y="505967"/>
                  </a:lnTo>
                  <a:lnTo>
                    <a:pt x="6347929" y="505967"/>
                  </a:lnTo>
                  <a:lnTo>
                    <a:pt x="6364842" y="502556"/>
                  </a:lnTo>
                  <a:lnTo>
                    <a:pt x="6378648" y="493252"/>
                  </a:lnTo>
                  <a:lnTo>
                    <a:pt x="6387952" y="479446"/>
                  </a:lnTo>
                  <a:lnTo>
                    <a:pt x="6391363" y="462533"/>
                  </a:lnTo>
                  <a:lnTo>
                    <a:pt x="6391363" y="43433"/>
                  </a:lnTo>
                  <a:lnTo>
                    <a:pt x="6387952" y="26521"/>
                  </a:lnTo>
                  <a:lnTo>
                    <a:pt x="6378648" y="12715"/>
                  </a:lnTo>
                  <a:lnTo>
                    <a:pt x="6364842" y="3411"/>
                  </a:lnTo>
                  <a:lnTo>
                    <a:pt x="6347929" y="0"/>
                  </a:lnTo>
                  <a:close/>
                </a:path>
              </a:pathLst>
            </a:custGeom>
            <a:solidFill>
              <a:srgbClr val="DFEBE9"/>
            </a:solidFill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 dirty="0">
                <a:solidFill>
                  <a:schemeClr val="tx1"/>
                </a:solidFill>
                <a:latin typeface="PT Serif" panose="020A0603040505020204" pitchFamily="18" charset="0"/>
              </a:endParaRPr>
            </a:p>
          </p:txBody>
        </p:sp>
      </p:grpSp>
      <p:sp>
        <p:nvSpPr>
          <p:cNvPr id="29" name="Text 3">
            <a:extLst>
              <a:ext uri="{FF2B5EF4-FFF2-40B4-BE49-F238E27FC236}">
                <a16:creationId xmlns:a16="http://schemas.microsoft.com/office/drawing/2014/main" id="{17999DE1-DE11-6367-A366-B7F963AE55BE}"/>
              </a:ext>
            </a:extLst>
          </p:cNvPr>
          <p:cNvSpPr/>
          <p:nvPr/>
        </p:nvSpPr>
        <p:spPr>
          <a:xfrm>
            <a:off x="418866" y="2159699"/>
            <a:ext cx="4383653" cy="4698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anose="020A0603040505020204" pitchFamily="18" charset="0"/>
                <a:ea typeface="PT Serif" pitchFamily="34" charset="-122"/>
                <a:cs typeface="PT Serif" pitchFamily="34" charset="-120"/>
              </a:rPr>
              <a:t>Balanced Structure Preservation</a:t>
            </a:r>
            <a:endParaRPr lang="en-US" dirty="0">
              <a:solidFill>
                <a:schemeClr val="tx1"/>
              </a:solidFill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anose="020A0603040505020204" pitchFamily="18" charset="0"/>
                <a:ea typeface="DM Sans" pitchFamily="34" charset="-122"/>
                <a:cs typeface="DM Sans" pitchFamily="34" charset="-120"/>
              </a:rPr>
              <a:t>UMAP uniquely balances local neighborhood relationships with global geometric organization.</a:t>
            </a:r>
            <a:endParaRPr lang="en-US" sz="1800" dirty="0">
              <a:latin typeface="PT Serif" panose="020A0603040505020204" pitchFamily="18" charset="0"/>
            </a:endParaRPr>
          </a:p>
          <a:p>
            <a:pPr algn="l">
              <a:lnSpc>
                <a:spcPct val="200000"/>
              </a:lnSpc>
            </a:pPr>
            <a:endParaRPr lang="en-US" sz="1800" dirty="0">
              <a:latin typeface="PT Serif" panose="020A0603040505020204" pitchFamily="18" charset="0"/>
            </a:endParaRPr>
          </a:p>
          <a:p>
            <a:pPr marL="0" indent="0" algn="l">
              <a:lnSpc>
                <a:spcPct val="200000"/>
              </a:lnSpc>
              <a:buNone/>
            </a:pPr>
            <a:endParaRPr lang="en-US" sz="1800" dirty="0">
              <a:solidFill>
                <a:schemeClr val="tx1"/>
              </a:solidFill>
              <a:latin typeface="PT Serif" panose="020A060304050502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1066</TotalTime>
  <Words>765</Words>
  <Application>Microsoft Macintosh PowerPoint</Application>
  <PresentationFormat>Custom</PresentationFormat>
  <Paragraphs>121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Consolas</vt:lpstr>
      <vt:lpstr>DM Sans</vt:lpstr>
      <vt:lpstr>Lucida Sans Unicode</vt:lpstr>
      <vt:lpstr>PT Serif</vt:lpstr>
      <vt:lpstr>PT Serif Light</vt:lpstr>
      <vt:lpstr>Office Theme</vt:lpstr>
      <vt:lpstr>PowerPoint Presentation</vt:lpstr>
      <vt:lpstr>PowerPoint Presentation</vt:lpstr>
      <vt:lpstr>What Is UMAP? </vt:lpstr>
      <vt:lpstr>How UMAP Works</vt:lpstr>
      <vt:lpstr>Local vs Global Structure</vt:lpstr>
      <vt:lpstr>How t-SNE Handles Structure</vt:lpstr>
      <vt:lpstr>How UMAP Handles Structure</vt:lpstr>
      <vt:lpstr>UMAP vs t-SNE </vt:lpstr>
      <vt:lpstr>UMAP vs t-SNE: Key Differences</vt:lpstr>
      <vt:lpstr>UMAP vs PCA</vt:lpstr>
      <vt:lpstr>When to Use UMAP Over t-SNE </vt:lpstr>
      <vt:lpstr>Basic Intuitive Mathematics</vt:lpstr>
      <vt:lpstr>Python Implementation </vt:lpstr>
      <vt:lpstr>Key UMAP Parameters</vt:lpstr>
      <vt:lpstr>Key Takeaways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Vinayak Deshpande</cp:lastModifiedBy>
  <cp:revision>348</cp:revision>
  <dcterms:created xsi:type="dcterms:W3CDTF">2025-08-01T06:43:07Z</dcterms:created>
  <dcterms:modified xsi:type="dcterms:W3CDTF">2026-01-30T08:46:08Z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2025-08-01T00:00:00Z</vt:filetime>
  </property>
  <property fmtid="{D5CDD505-2E9C-101B-9397-08002B2CF9AE}" pid="5" name="Producer">
    <vt:lpwstr>Microsoft® PowerPoint® 2021</vt:lpwstr>
  </property>
</Properties>
</file>