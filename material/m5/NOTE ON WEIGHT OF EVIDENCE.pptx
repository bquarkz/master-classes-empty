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4.xml" ContentType="application/vnd.openxmlformats-officedocument.theme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heme/theme5.xml" ContentType="application/vnd.openxmlformats-officedocument.theme+xml"/>
  <Override PartName="/ppt/theme/theme6.xml" ContentType="application/vnd.openxmlformats-officedocument.theme+xml"/>
  <Override PartName="/ppt/tags/tag37.xml" ContentType="application/vnd.openxmlformats-officedocument.presentationml.tags+xml"/>
  <Override PartName="/ppt/notesSlides/notesSlide1.xml" ContentType="application/vnd.openxmlformats-officedocument.presentationml.notesSlide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notesSlides/notesSlide2.xml" ContentType="application/vnd.openxmlformats-officedocument.presentationml.notesSlide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notesSlides/notesSlide3.xml" ContentType="application/vnd.openxmlformats-officedocument.presentationml.notesSlide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notesSlides/notesSlide4.xml" ContentType="application/vnd.openxmlformats-officedocument.presentationml.notesSlide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notesSlides/notesSlide5.xml" ContentType="application/vnd.openxmlformats-officedocument.presentationml.notesSlide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notesSlides/notesSlide6.xml" ContentType="application/vnd.openxmlformats-officedocument.presentationml.notesSlide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notesSlides/notesSlide7.xml" ContentType="application/vnd.openxmlformats-officedocument.presentationml.notesSlide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notesSlides/notesSlide8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notesSlides/notesSlide9.xml" ContentType="application/vnd.openxmlformats-officedocument.presentationml.notesSlide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notesSlides/notesSlide10.xml" ContentType="application/vnd.openxmlformats-officedocument.presentationml.notesSlide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notesSlides/notesSlide11.xml" ContentType="application/vnd.openxmlformats-officedocument.presentationml.notesSlide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notesSlides/notesSlide12.xml" ContentType="application/vnd.openxmlformats-officedocument.presentationml.notesSlide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notesSlides/notesSlide13.xml" ContentType="application/vnd.openxmlformats-officedocument.presentationml.notesSlide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notesSlides/notesSlide14.xml" ContentType="application/vnd.openxmlformats-officedocument.presentationml.notesSlide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notesSlides/notesSlide15.xml" ContentType="application/vnd.openxmlformats-officedocument.presentationml.notesSlide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notesSlides/notesSlide16.xml" ContentType="application/vnd.openxmlformats-officedocument.presentationml.notesSlide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notesSlides/notesSlide17.xml" ContentType="application/vnd.openxmlformats-officedocument.presentationml.notesSlide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notesSlides/notesSlide18.xml" ContentType="application/vnd.openxmlformats-officedocument.presentationml.notesSlide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notesSlides/notesSlide19.xml" ContentType="application/vnd.openxmlformats-officedocument.presentationml.notesSlide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notesSlides/notesSlide20.xml" ContentType="application/vnd.openxmlformats-officedocument.presentationml.notesSlide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notesSlides/notesSlide21.xml" ContentType="application/vnd.openxmlformats-officedocument.presentationml.notesSlide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notesSlides/notesSlide22.xml" ContentType="application/vnd.openxmlformats-officedocument.presentationml.notesSlide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notesSlides/notesSlide23.xml" ContentType="application/vnd.openxmlformats-officedocument.presentationml.notesSlide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  <p:sldMasterId id="2147483672" r:id="rId2"/>
    <p:sldMasterId id="2147483696" r:id="rId3"/>
    <p:sldMasterId id="2147483708" r:id="rId4"/>
  </p:sldMasterIdLst>
  <p:notesMasterIdLst>
    <p:notesMasterId r:id="rId29"/>
  </p:notesMasterIdLst>
  <p:handoutMasterIdLst>
    <p:handoutMasterId r:id="rId30"/>
  </p:handoutMasterIdLst>
  <p:sldIdLst>
    <p:sldId id="470" r:id="rId5"/>
    <p:sldId id="365" r:id="rId6"/>
    <p:sldId id="421" r:id="rId7"/>
    <p:sldId id="329" r:id="rId8"/>
    <p:sldId id="309" r:id="rId9"/>
    <p:sldId id="458" r:id="rId10"/>
    <p:sldId id="459" r:id="rId11"/>
    <p:sldId id="332" r:id="rId12"/>
    <p:sldId id="367" r:id="rId13"/>
    <p:sldId id="381" r:id="rId14"/>
    <p:sldId id="382" r:id="rId15"/>
    <p:sldId id="460" r:id="rId16"/>
    <p:sldId id="469" r:id="rId17"/>
    <p:sldId id="468" r:id="rId18"/>
    <p:sldId id="433" r:id="rId19"/>
    <p:sldId id="431" r:id="rId20"/>
    <p:sldId id="463" r:id="rId21"/>
    <p:sldId id="461" r:id="rId22"/>
    <p:sldId id="464" r:id="rId23"/>
    <p:sldId id="439" r:id="rId24"/>
    <p:sldId id="449" r:id="rId25"/>
    <p:sldId id="467" r:id="rId26"/>
    <p:sldId id="275" r:id="rId27"/>
    <p:sldId id="264" r:id="rId2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ECE1"/>
    <a:srgbClr val="F88631"/>
    <a:srgbClr val="BBDDA3"/>
    <a:srgbClr val="FFFFFF"/>
    <a:srgbClr val="3891A7"/>
    <a:srgbClr val="CEDCE1"/>
    <a:srgbClr val="000000"/>
    <a:srgbClr val="F7FBEF"/>
    <a:srgbClr val="8DC765"/>
    <a:srgbClr val="A6A6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087" autoAdjust="0"/>
    <p:restoredTop sz="92724" autoAdjust="0"/>
  </p:normalViewPr>
  <p:slideViewPr>
    <p:cSldViewPr>
      <p:cViewPr varScale="1">
        <p:scale>
          <a:sx n="69" d="100"/>
          <a:sy n="69" d="100"/>
        </p:scale>
        <p:origin x="840" y="4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</p:sldLst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470"/>
    </p:cViewPr>
  </p:sorterViewPr>
  <p:notesViewPr>
    <p:cSldViewPr>
      <p:cViewPr varScale="1">
        <p:scale>
          <a:sx n="53" d="100"/>
          <a:sy n="53" d="100"/>
        </p:scale>
        <p:origin x="-2868" y="-9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4.xml"/></Relationships>
</file>

<file path=ppt/_rels/viewProps.xml.rels><?xml version="1.0" encoding="UTF-8" standalone="yes"?>
<Relationships xmlns="http://schemas.openxmlformats.org/package/2006/relationships"><Relationship Id="rId8" Type="http://schemas.openxmlformats.org/officeDocument/2006/relationships/slide" Target="slides/slide17.xml"/><Relationship Id="rId3" Type="http://schemas.openxmlformats.org/officeDocument/2006/relationships/slide" Target="slides/slide10.xml"/><Relationship Id="rId7" Type="http://schemas.openxmlformats.org/officeDocument/2006/relationships/slide" Target="slides/slide16.xml"/><Relationship Id="rId2" Type="http://schemas.openxmlformats.org/officeDocument/2006/relationships/slide" Target="slides/slide9.xml"/><Relationship Id="rId1" Type="http://schemas.openxmlformats.org/officeDocument/2006/relationships/slide" Target="slides/slide2.xml"/><Relationship Id="rId6" Type="http://schemas.openxmlformats.org/officeDocument/2006/relationships/slide" Target="slides/slide14.xml"/><Relationship Id="rId5" Type="http://schemas.openxmlformats.org/officeDocument/2006/relationships/slide" Target="slides/slide13.xml"/><Relationship Id="rId10" Type="http://schemas.openxmlformats.org/officeDocument/2006/relationships/slide" Target="slides/slide24.xml"/><Relationship Id="rId4" Type="http://schemas.openxmlformats.org/officeDocument/2006/relationships/slide" Target="slides/slide12.xml"/><Relationship Id="rId9" Type="http://schemas.openxmlformats.org/officeDocument/2006/relationships/slide" Target="slides/slide20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6206CC1-918F-46E8-B031-9FC091FDB70E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CEA7ED5-AABA-442A-8B3A-5850D5C54A8E}">
      <dgm:prSet phldrT="[Text]" custT="1"/>
      <dgm:spPr/>
      <dgm:t>
        <a:bodyPr/>
        <a:lstStyle/>
        <a:p>
          <a:r>
            <a:rPr lang="en-US" sz="1600" b="1" dirty="0"/>
            <a:t>Background</a:t>
          </a:r>
        </a:p>
      </dgm:t>
    </dgm:pt>
    <dgm:pt modelId="{8C15848D-5B74-4DA8-B9D0-35A56D27A224}" type="parTrans" cxnId="{A795EF52-7547-4A79-9CBB-8A83EA300F2F}">
      <dgm:prSet/>
      <dgm:spPr/>
      <dgm:t>
        <a:bodyPr/>
        <a:lstStyle/>
        <a:p>
          <a:endParaRPr lang="en-US" sz="1600"/>
        </a:p>
      </dgm:t>
    </dgm:pt>
    <dgm:pt modelId="{A99019A5-F0D6-4249-B601-1C6FE5BE11D5}" type="sibTrans" cxnId="{A795EF52-7547-4A79-9CBB-8A83EA300F2F}">
      <dgm:prSet/>
      <dgm:spPr/>
      <dgm:t>
        <a:bodyPr/>
        <a:lstStyle/>
        <a:p>
          <a:endParaRPr lang="en-US" sz="1600"/>
        </a:p>
      </dgm:t>
    </dgm:pt>
    <dgm:pt modelId="{83E300A9-059E-4699-B169-FEECE8DF2D96}">
      <dgm:prSet phldrT="[Text]" custT="1"/>
      <dgm:spPr/>
      <dgm:t>
        <a:bodyPr/>
        <a:lstStyle/>
        <a:p>
          <a:r>
            <a:rPr lang="en-US" sz="1600" b="1" dirty="0"/>
            <a:t>Objective</a:t>
          </a:r>
        </a:p>
      </dgm:t>
    </dgm:pt>
    <dgm:pt modelId="{1B4CACC5-8511-48D4-AE5A-46BC722FABED}" type="parTrans" cxnId="{25B4A5E2-5E93-4ED0-82B3-CA7CBF98F2F1}">
      <dgm:prSet/>
      <dgm:spPr/>
      <dgm:t>
        <a:bodyPr/>
        <a:lstStyle/>
        <a:p>
          <a:endParaRPr lang="en-US" sz="1600"/>
        </a:p>
      </dgm:t>
    </dgm:pt>
    <dgm:pt modelId="{034345BA-E63F-4E83-A68D-4C585402B8F1}" type="sibTrans" cxnId="{25B4A5E2-5E93-4ED0-82B3-CA7CBF98F2F1}">
      <dgm:prSet/>
      <dgm:spPr/>
      <dgm:t>
        <a:bodyPr/>
        <a:lstStyle/>
        <a:p>
          <a:endParaRPr lang="en-US" sz="1600"/>
        </a:p>
      </dgm:t>
    </dgm:pt>
    <dgm:pt modelId="{CF75EA4F-3BC8-4061-B0A3-050B572C5FE8}">
      <dgm:prSet phldrT="[Text]" custT="1"/>
      <dgm:spPr/>
      <dgm:t>
        <a:bodyPr/>
        <a:lstStyle/>
        <a:p>
          <a:r>
            <a:rPr lang="en-US" sz="1600" b="1" dirty="0"/>
            <a:t>Available Information</a:t>
          </a:r>
        </a:p>
      </dgm:t>
    </dgm:pt>
    <dgm:pt modelId="{73500329-016A-4382-BDED-BEBD2536272E}" type="parTrans" cxnId="{13EF10C6-7E5C-4166-B313-091387BAE928}">
      <dgm:prSet/>
      <dgm:spPr/>
      <dgm:t>
        <a:bodyPr/>
        <a:lstStyle/>
        <a:p>
          <a:endParaRPr lang="en-US" sz="1600"/>
        </a:p>
      </dgm:t>
    </dgm:pt>
    <dgm:pt modelId="{48D13409-3654-4147-BFE9-1E9F65AF59B7}" type="sibTrans" cxnId="{13EF10C6-7E5C-4166-B313-091387BAE928}">
      <dgm:prSet/>
      <dgm:spPr/>
      <dgm:t>
        <a:bodyPr/>
        <a:lstStyle/>
        <a:p>
          <a:endParaRPr lang="en-US" sz="1600"/>
        </a:p>
      </dgm:t>
    </dgm:pt>
    <dgm:pt modelId="{81CE6530-7F48-4D85-A90C-AB70806F2713}">
      <dgm:prSet phldrT="[Text]" custT="1"/>
      <dgm:spPr/>
      <dgm:t>
        <a:bodyPr/>
        <a:lstStyle/>
        <a:p>
          <a:r>
            <a:rPr lang="en-IN" sz="16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rPr>
            <a:t>The bank possesses demographic and transactional data of its loan customers. If the bank has a robust model to predict defaulters it can undertake better resource allocation. </a:t>
          </a:r>
          <a:endParaRPr lang="en-US" sz="1600" dirty="0">
            <a:solidFill>
              <a:schemeClr val="tx1">
                <a:lumMod val="75000"/>
                <a:lumOff val="25000"/>
              </a:schemeClr>
            </a:solidFill>
            <a:latin typeface="+mn-lt"/>
          </a:endParaRPr>
        </a:p>
      </dgm:t>
    </dgm:pt>
    <dgm:pt modelId="{2BA011DA-3C8C-4E43-8209-DCAB62C70684}" type="parTrans" cxnId="{86235B56-AD1C-4941-9471-00842A876E25}">
      <dgm:prSet/>
      <dgm:spPr/>
      <dgm:t>
        <a:bodyPr/>
        <a:lstStyle/>
        <a:p>
          <a:endParaRPr lang="en-US" sz="1600"/>
        </a:p>
      </dgm:t>
    </dgm:pt>
    <dgm:pt modelId="{73853B8C-4589-479F-BD27-896FF7BF1B72}" type="sibTrans" cxnId="{86235B56-AD1C-4941-9471-00842A876E25}">
      <dgm:prSet/>
      <dgm:spPr/>
      <dgm:t>
        <a:bodyPr/>
        <a:lstStyle/>
        <a:p>
          <a:endParaRPr lang="en-US" sz="1600"/>
        </a:p>
      </dgm:t>
    </dgm:pt>
    <dgm:pt modelId="{4EE5EDE8-EF01-4ABD-8046-C2EC266BA8D9}">
      <dgm:prSet phldrT="[Text]" custT="1"/>
      <dgm:spPr/>
      <dgm:t>
        <a:bodyPr/>
        <a:lstStyle/>
        <a:p>
          <a:r>
            <a:rPr lang="en-IN" sz="1600" dirty="0">
              <a:solidFill>
                <a:schemeClr val="tx1">
                  <a:lumMod val="75000"/>
                  <a:lumOff val="25000"/>
                </a:schemeClr>
              </a:solidFill>
            </a:rPr>
            <a:t>To predict whether the customer applying for the loan will be a defaulter.</a:t>
          </a:r>
          <a:endParaRPr lang="en-US" sz="1600" dirty="0">
            <a:solidFill>
              <a:schemeClr val="tx1">
                <a:lumMod val="75000"/>
                <a:lumOff val="25000"/>
              </a:schemeClr>
            </a:solidFill>
            <a:latin typeface="+mn-lt"/>
          </a:endParaRPr>
        </a:p>
      </dgm:t>
    </dgm:pt>
    <dgm:pt modelId="{34FC5C99-DEAB-4730-9141-F95FF38F64B4}" type="parTrans" cxnId="{C251BCF4-95CE-46AD-8C84-797A1F361D69}">
      <dgm:prSet/>
      <dgm:spPr/>
      <dgm:t>
        <a:bodyPr/>
        <a:lstStyle/>
        <a:p>
          <a:endParaRPr lang="en-US" sz="1600"/>
        </a:p>
      </dgm:t>
    </dgm:pt>
    <dgm:pt modelId="{3437C92F-142C-4D34-8C3C-22AEF935DEF2}" type="sibTrans" cxnId="{C251BCF4-95CE-46AD-8C84-797A1F361D69}">
      <dgm:prSet/>
      <dgm:spPr/>
      <dgm:t>
        <a:bodyPr/>
        <a:lstStyle/>
        <a:p>
          <a:endParaRPr lang="en-US" sz="1600"/>
        </a:p>
      </dgm:t>
    </dgm:pt>
    <dgm:pt modelId="{A54D7AB3-B444-40DF-882D-35A789D096B6}">
      <dgm:prSet phldrT="[Text]" custT="1"/>
      <dgm:spPr/>
      <dgm:t>
        <a:bodyPr/>
        <a:lstStyle/>
        <a:p>
          <a:r>
            <a:rPr lang="en-IN" sz="1600" b="1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rPr>
            <a:t>Sample size is 700</a:t>
          </a:r>
          <a:endParaRPr lang="en-US" sz="1600" b="1" dirty="0">
            <a:solidFill>
              <a:schemeClr val="tx1">
                <a:lumMod val="75000"/>
                <a:lumOff val="25000"/>
              </a:schemeClr>
            </a:solidFill>
            <a:latin typeface="+mn-lt"/>
          </a:endParaRPr>
        </a:p>
      </dgm:t>
    </dgm:pt>
    <dgm:pt modelId="{F6C6AC84-88FB-4427-AE7A-B2514DBEC1DA}" type="parTrans" cxnId="{4E9FF254-EBF6-4409-80A3-DD6C383B5120}">
      <dgm:prSet/>
      <dgm:spPr/>
      <dgm:t>
        <a:bodyPr/>
        <a:lstStyle/>
        <a:p>
          <a:endParaRPr lang="en-IN"/>
        </a:p>
      </dgm:t>
    </dgm:pt>
    <dgm:pt modelId="{D7EFDC14-739A-4492-9242-9D87141226C7}" type="sibTrans" cxnId="{4E9FF254-EBF6-4409-80A3-DD6C383B5120}">
      <dgm:prSet/>
      <dgm:spPr/>
      <dgm:t>
        <a:bodyPr/>
        <a:lstStyle/>
        <a:p>
          <a:endParaRPr lang="en-IN"/>
        </a:p>
      </dgm:t>
    </dgm:pt>
    <dgm:pt modelId="{26A33701-4638-420A-9077-2D597C973318}">
      <dgm:prSet custT="1"/>
      <dgm:spPr/>
      <dgm:t>
        <a:bodyPr/>
        <a:lstStyle/>
        <a:p>
          <a:r>
            <a:rPr lang="en-IN" sz="1600" b="1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rPr>
            <a:t>Independent Variables</a:t>
          </a:r>
          <a:r>
            <a:rPr lang="en-IN" sz="1600" b="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rPr>
            <a:t>: Age group, Town, Years at current address, Years at current employer, Debt to Income Ratio, Credit to Debit ratio, Other Debts</a:t>
          </a:r>
        </a:p>
      </dgm:t>
    </dgm:pt>
    <dgm:pt modelId="{46E3729A-1BBF-4A6F-8FC9-3E847546DB59}" type="parTrans" cxnId="{5BA9FA36-01EB-452E-8CB8-A9C91E116405}">
      <dgm:prSet/>
      <dgm:spPr/>
      <dgm:t>
        <a:bodyPr/>
        <a:lstStyle/>
        <a:p>
          <a:endParaRPr lang="en-IN"/>
        </a:p>
      </dgm:t>
    </dgm:pt>
    <dgm:pt modelId="{C6BD24F0-1701-4A31-8821-DB5C0CB54C9B}" type="sibTrans" cxnId="{5BA9FA36-01EB-452E-8CB8-A9C91E116405}">
      <dgm:prSet/>
      <dgm:spPr/>
      <dgm:t>
        <a:bodyPr/>
        <a:lstStyle/>
        <a:p>
          <a:endParaRPr lang="en-IN"/>
        </a:p>
      </dgm:t>
    </dgm:pt>
    <dgm:pt modelId="{A7F4BD41-4529-404B-97D7-4115DFF72CF0}">
      <dgm:prSet custT="1"/>
      <dgm:spPr/>
      <dgm:t>
        <a:bodyPr/>
        <a:lstStyle/>
        <a:p>
          <a:r>
            <a:rPr lang="en-IN" sz="1600" b="1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rPr>
            <a:t>Dependent Variables</a:t>
          </a:r>
          <a:r>
            <a:rPr lang="en-IN" sz="1600" b="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rPr>
            <a:t>: Defaulter (=1 if defaulter, 0 otherwise)</a:t>
          </a:r>
        </a:p>
      </dgm:t>
    </dgm:pt>
    <dgm:pt modelId="{C5999327-8D1A-47E5-BB9E-9AC8F682BF3C}" type="parTrans" cxnId="{54518B4C-9682-484A-968C-64E33A6DE8E8}">
      <dgm:prSet/>
      <dgm:spPr/>
      <dgm:t>
        <a:bodyPr/>
        <a:lstStyle/>
        <a:p>
          <a:endParaRPr lang="en-IN"/>
        </a:p>
      </dgm:t>
    </dgm:pt>
    <dgm:pt modelId="{142A38B4-AE79-4C95-9EE5-B8F52228524B}" type="sibTrans" cxnId="{54518B4C-9682-484A-968C-64E33A6DE8E8}">
      <dgm:prSet/>
      <dgm:spPr/>
      <dgm:t>
        <a:bodyPr/>
        <a:lstStyle/>
        <a:p>
          <a:endParaRPr lang="en-IN"/>
        </a:p>
      </dgm:t>
    </dgm:pt>
    <dgm:pt modelId="{E22D02C9-CAD7-4C26-976C-7F9C3D7FAA12}" type="pres">
      <dgm:prSet presAssocID="{76206CC1-918F-46E8-B031-9FC091FDB70E}" presName="linear" presStyleCnt="0">
        <dgm:presLayoutVars>
          <dgm:dir/>
          <dgm:animLvl val="lvl"/>
          <dgm:resizeHandles val="exact"/>
        </dgm:presLayoutVars>
      </dgm:prSet>
      <dgm:spPr/>
    </dgm:pt>
    <dgm:pt modelId="{9B880F8F-1058-4CD2-B20D-650A178A86B0}" type="pres">
      <dgm:prSet presAssocID="{0CEA7ED5-AABA-442A-8B3A-5850D5C54A8E}" presName="parentLin" presStyleCnt="0"/>
      <dgm:spPr/>
    </dgm:pt>
    <dgm:pt modelId="{583B3969-11FD-4684-ACBA-422AC2B53A7A}" type="pres">
      <dgm:prSet presAssocID="{0CEA7ED5-AABA-442A-8B3A-5850D5C54A8E}" presName="parentLeftMargin" presStyleLbl="node1" presStyleIdx="0" presStyleCnt="3"/>
      <dgm:spPr/>
    </dgm:pt>
    <dgm:pt modelId="{8DAC3478-3003-4361-B79A-A6299EE2FF11}" type="pres">
      <dgm:prSet presAssocID="{0CEA7ED5-AABA-442A-8B3A-5850D5C54A8E}" presName="parentText" presStyleLbl="node1" presStyleIdx="0" presStyleCnt="3" custScaleX="68302">
        <dgm:presLayoutVars>
          <dgm:chMax val="0"/>
          <dgm:bulletEnabled val="1"/>
        </dgm:presLayoutVars>
      </dgm:prSet>
      <dgm:spPr/>
    </dgm:pt>
    <dgm:pt modelId="{59004E18-985D-4C03-8427-4AF3A8F9619C}" type="pres">
      <dgm:prSet presAssocID="{0CEA7ED5-AABA-442A-8B3A-5850D5C54A8E}" presName="negativeSpace" presStyleCnt="0"/>
      <dgm:spPr/>
    </dgm:pt>
    <dgm:pt modelId="{4E95708D-2D46-43E8-898E-C37C89092838}" type="pres">
      <dgm:prSet presAssocID="{0CEA7ED5-AABA-442A-8B3A-5850D5C54A8E}" presName="childText" presStyleLbl="conFgAcc1" presStyleIdx="0" presStyleCnt="3">
        <dgm:presLayoutVars>
          <dgm:bulletEnabled val="1"/>
        </dgm:presLayoutVars>
      </dgm:prSet>
      <dgm:spPr/>
    </dgm:pt>
    <dgm:pt modelId="{AE2CC641-B3D9-4C30-82D4-60031A31761A}" type="pres">
      <dgm:prSet presAssocID="{A99019A5-F0D6-4249-B601-1C6FE5BE11D5}" presName="spaceBetweenRectangles" presStyleCnt="0"/>
      <dgm:spPr/>
    </dgm:pt>
    <dgm:pt modelId="{EDB1C299-0C7B-4DAA-91AB-4E38E465CBEA}" type="pres">
      <dgm:prSet presAssocID="{83E300A9-059E-4699-B169-FEECE8DF2D96}" presName="parentLin" presStyleCnt="0"/>
      <dgm:spPr/>
    </dgm:pt>
    <dgm:pt modelId="{3474DB8A-EBD8-46EC-AAB7-FE9BE2CFA8D9}" type="pres">
      <dgm:prSet presAssocID="{83E300A9-059E-4699-B169-FEECE8DF2D96}" presName="parentLeftMargin" presStyleLbl="node1" presStyleIdx="0" presStyleCnt="3"/>
      <dgm:spPr/>
    </dgm:pt>
    <dgm:pt modelId="{75BB025E-9CB5-4C61-B1F0-A1523F6C16D8}" type="pres">
      <dgm:prSet presAssocID="{83E300A9-059E-4699-B169-FEECE8DF2D96}" presName="parentText" presStyleLbl="node1" presStyleIdx="1" presStyleCnt="3" custScaleX="68302">
        <dgm:presLayoutVars>
          <dgm:chMax val="0"/>
          <dgm:bulletEnabled val="1"/>
        </dgm:presLayoutVars>
      </dgm:prSet>
      <dgm:spPr/>
    </dgm:pt>
    <dgm:pt modelId="{AD90FF33-7FD7-4076-B162-F1E0FE76D94C}" type="pres">
      <dgm:prSet presAssocID="{83E300A9-059E-4699-B169-FEECE8DF2D96}" presName="negativeSpace" presStyleCnt="0"/>
      <dgm:spPr/>
    </dgm:pt>
    <dgm:pt modelId="{5225D984-C2B9-4FAB-B6D8-231E1B13CD6C}" type="pres">
      <dgm:prSet presAssocID="{83E300A9-059E-4699-B169-FEECE8DF2D96}" presName="childText" presStyleLbl="conFgAcc1" presStyleIdx="1" presStyleCnt="3">
        <dgm:presLayoutVars>
          <dgm:bulletEnabled val="1"/>
        </dgm:presLayoutVars>
      </dgm:prSet>
      <dgm:spPr/>
    </dgm:pt>
    <dgm:pt modelId="{FF1CC903-80FA-4491-88AB-D3CC8B9ADF3A}" type="pres">
      <dgm:prSet presAssocID="{034345BA-E63F-4E83-A68D-4C585402B8F1}" presName="spaceBetweenRectangles" presStyleCnt="0"/>
      <dgm:spPr/>
    </dgm:pt>
    <dgm:pt modelId="{C80B7E03-A3F6-466C-9E49-AFB82C5C4887}" type="pres">
      <dgm:prSet presAssocID="{CF75EA4F-3BC8-4061-B0A3-050B572C5FE8}" presName="parentLin" presStyleCnt="0"/>
      <dgm:spPr/>
    </dgm:pt>
    <dgm:pt modelId="{E67F6A8F-B37E-4A64-BD29-966D55D5027A}" type="pres">
      <dgm:prSet presAssocID="{CF75EA4F-3BC8-4061-B0A3-050B572C5FE8}" presName="parentLeftMargin" presStyleLbl="node1" presStyleIdx="1" presStyleCnt="3"/>
      <dgm:spPr/>
    </dgm:pt>
    <dgm:pt modelId="{B8F30B94-A26D-4B73-B7CB-D459F6BF739F}" type="pres">
      <dgm:prSet presAssocID="{CF75EA4F-3BC8-4061-B0A3-050B572C5FE8}" presName="parentText" presStyleLbl="node1" presStyleIdx="2" presStyleCnt="3" custScaleX="68302">
        <dgm:presLayoutVars>
          <dgm:chMax val="0"/>
          <dgm:bulletEnabled val="1"/>
        </dgm:presLayoutVars>
      </dgm:prSet>
      <dgm:spPr/>
    </dgm:pt>
    <dgm:pt modelId="{9E874675-220F-4B77-8013-1BA315901257}" type="pres">
      <dgm:prSet presAssocID="{CF75EA4F-3BC8-4061-B0A3-050B572C5FE8}" presName="negativeSpace" presStyleCnt="0"/>
      <dgm:spPr/>
    </dgm:pt>
    <dgm:pt modelId="{3753D266-28F0-4CB6-87FB-9C46871B9038}" type="pres">
      <dgm:prSet presAssocID="{CF75EA4F-3BC8-4061-B0A3-050B572C5FE8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5B548334-DF15-4AD2-A555-F89B4EE943DA}" type="presOf" srcId="{4EE5EDE8-EF01-4ABD-8046-C2EC266BA8D9}" destId="{5225D984-C2B9-4FAB-B6D8-231E1B13CD6C}" srcOrd="0" destOrd="0" presId="urn:microsoft.com/office/officeart/2005/8/layout/list1"/>
    <dgm:cxn modelId="{5BA9FA36-01EB-452E-8CB8-A9C91E116405}" srcId="{CF75EA4F-3BC8-4061-B0A3-050B572C5FE8}" destId="{26A33701-4638-420A-9077-2D597C973318}" srcOrd="1" destOrd="0" parTransId="{46E3729A-1BBF-4A6F-8FC9-3E847546DB59}" sibTransId="{C6BD24F0-1701-4A31-8821-DB5C0CB54C9B}"/>
    <dgm:cxn modelId="{E8A82D62-257A-4763-BFD1-BE3174A7BCF3}" type="presOf" srcId="{A7F4BD41-4529-404B-97D7-4115DFF72CF0}" destId="{3753D266-28F0-4CB6-87FB-9C46871B9038}" srcOrd="0" destOrd="2" presId="urn:microsoft.com/office/officeart/2005/8/layout/list1"/>
    <dgm:cxn modelId="{A43F5469-3385-4D94-90AF-25C7B4BFD788}" type="presOf" srcId="{83E300A9-059E-4699-B169-FEECE8DF2D96}" destId="{75BB025E-9CB5-4C61-B1F0-A1523F6C16D8}" srcOrd="1" destOrd="0" presId="urn:microsoft.com/office/officeart/2005/8/layout/list1"/>
    <dgm:cxn modelId="{54518B4C-9682-484A-968C-64E33A6DE8E8}" srcId="{CF75EA4F-3BC8-4061-B0A3-050B572C5FE8}" destId="{A7F4BD41-4529-404B-97D7-4115DFF72CF0}" srcOrd="2" destOrd="0" parTransId="{C5999327-8D1A-47E5-BB9E-9AC8F682BF3C}" sibTransId="{142A38B4-AE79-4C95-9EE5-B8F52228524B}"/>
    <dgm:cxn modelId="{C21D1F50-4D89-4B3A-844C-EEB97D438D9D}" type="presOf" srcId="{26A33701-4638-420A-9077-2D597C973318}" destId="{3753D266-28F0-4CB6-87FB-9C46871B9038}" srcOrd="0" destOrd="1" presId="urn:microsoft.com/office/officeart/2005/8/layout/list1"/>
    <dgm:cxn modelId="{291E9950-906E-4ECB-8845-61DEA1B01EE7}" type="presOf" srcId="{76206CC1-918F-46E8-B031-9FC091FDB70E}" destId="{E22D02C9-CAD7-4C26-976C-7F9C3D7FAA12}" srcOrd="0" destOrd="0" presId="urn:microsoft.com/office/officeart/2005/8/layout/list1"/>
    <dgm:cxn modelId="{512C5151-039A-48F4-ACE6-2013280C7A02}" type="presOf" srcId="{CF75EA4F-3BC8-4061-B0A3-050B572C5FE8}" destId="{E67F6A8F-B37E-4A64-BD29-966D55D5027A}" srcOrd="0" destOrd="0" presId="urn:microsoft.com/office/officeart/2005/8/layout/list1"/>
    <dgm:cxn modelId="{A795EF52-7547-4A79-9CBB-8A83EA300F2F}" srcId="{76206CC1-918F-46E8-B031-9FC091FDB70E}" destId="{0CEA7ED5-AABA-442A-8B3A-5850D5C54A8E}" srcOrd="0" destOrd="0" parTransId="{8C15848D-5B74-4DA8-B9D0-35A56D27A224}" sibTransId="{A99019A5-F0D6-4249-B601-1C6FE5BE11D5}"/>
    <dgm:cxn modelId="{4E9FF254-EBF6-4409-80A3-DD6C383B5120}" srcId="{CF75EA4F-3BC8-4061-B0A3-050B572C5FE8}" destId="{A54D7AB3-B444-40DF-882D-35A789D096B6}" srcOrd="0" destOrd="0" parTransId="{F6C6AC84-88FB-4427-AE7A-B2514DBEC1DA}" sibTransId="{D7EFDC14-739A-4492-9242-9D87141226C7}"/>
    <dgm:cxn modelId="{86235B56-AD1C-4941-9471-00842A876E25}" srcId="{0CEA7ED5-AABA-442A-8B3A-5850D5C54A8E}" destId="{81CE6530-7F48-4D85-A90C-AB70806F2713}" srcOrd="0" destOrd="0" parTransId="{2BA011DA-3C8C-4E43-8209-DCAB62C70684}" sibTransId="{73853B8C-4589-479F-BD27-896FF7BF1B72}"/>
    <dgm:cxn modelId="{E856767B-1004-4F5A-8DBB-4DCE789AD150}" type="presOf" srcId="{0CEA7ED5-AABA-442A-8B3A-5850D5C54A8E}" destId="{583B3969-11FD-4684-ACBA-422AC2B53A7A}" srcOrd="0" destOrd="0" presId="urn:microsoft.com/office/officeart/2005/8/layout/list1"/>
    <dgm:cxn modelId="{DEBC3E85-A4B8-4004-B78E-B9C0069FD943}" type="presOf" srcId="{83E300A9-059E-4699-B169-FEECE8DF2D96}" destId="{3474DB8A-EBD8-46EC-AAB7-FE9BE2CFA8D9}" srcOrd="0" destOrd="0" presId="urn:microsoft.com/office/officeart/2005/8/layout/list1"/>
    <dgm:cxn modelId="{A4B78D96-AA24-479E-907B-A557175DE9FB}" type="presOf" srcId="{81CE6530-7F48-4D85-A90C-AB70806F2713}" destId="{4E95708D-2D46-43E8-898E-C37C89092838}" srcOrd="0" destOrd="0" presId="urn:microsoft.com/office/officeart/2005/8/layout/list1"/>
    <dgm:cxn modelId="{13EF10C6-7E5C-4166-B313-091387BAE928}" srcId="{76206CC1-918F-46E8-B031-9FC091FDB70E}" destId="{CF75EA4F-3BC8-4061-B0A3-050B572C5FE8}" srcOrd="2" destOrd="0" parTransId="{73500329-016A-4382-BDED-BEBD2536272E}" sibTransId="{48D13409-3654-4147-BFE9-1E9F65AF59B7}"/>
    <dgm:cxn modelId="{ED2CA1C8-1549-4AFA-ADF3-6DE35D645F58}" type="presOf" srcId="{0CEA7ED5-AABA-442A-8B3A-5850D5C54A8E}" destId="{8DAC3478-3003-4361-B79A-A6299EE2FF11}" srcOrd="1" destOrd="0" presId="urn:microsoft.com/office/officeart/2005/8/layout/list1"/>
    <dgm:cxn modelId="{25B4A5E2-5E93-4ED0-82B3-CA7CBF98F2F1}" srcId="{76206CC1-918F-46E8-B031-9FC091FDB70E}" destId="{83E300A9-059E-4699-B169-FEECE8DF2D96}" srcOrd="1" destOrd="0" parTransId="{1B4CACC5-8511-48D4-AE5A-46BC722FABED}" sibTransId="{034345BA-E63F-4E83-A68D-4C585402B8F1}"/>
    <dgm:cxn modelId="{99BA06E3-8785-4964-93A4-97904E9696DF}" type="presOf" srcId="{CF75EA4F-3BC8-4061-B0A3-050B572C5FE8}" destId="{B8F30B94-A26D-4B73-B7CB-D459F6BF739F}" srcOrd="1" destOrd="0" presId="urn:microsoft.com/office/officeart/2005/8/layout/list1"/>
    <dgm:cxn modelId="{C251BCF4-95CE-46AD-8C84-797A1F361D69}" srcId="{83E300A9-059E-4699-B169-FEECE8DF2D96}" destId="{4EE5EDE8-EF01-4ABD-8046-C2EC266BA8D9}" srcOrd="0" destOrd="0" parTransId="{34FC5C99-DEAB-4730-9141-F95FF38F64B4}" sibTransId="{3437C92F-142C-4D34-8C3C-22AEF935DEF2}"/>
    <dgm:cxn modelId="{79FD85F9-0C67-47F4-9972-5E2E47C317D5}" type="presOf" srcId="{A54D7AB3-B444-40DF-882D-35A789D096B6}" destId="{3753D266-28F0-4CB6-87FB-9C46871B9038}" srcOrd="0" destOrd="0" presId="urn:microsoft.com/office/officeart/2005/8/layout/list1"/>
    <dgm:cxn modelId="{30CF8A6D-4195-49B1-BE21-D15D76411687}" type="presParOf" srcId="{E22D02C9-CAD7-4C26-976C-7F9C3D7FAA12}" destId="{9B880F8F-1058-4CD2-B20D-650A178A86B0}" srcOrd="0" destOrd="0" presId="urn:microsoft.com/office/officeart/2005/8/layout/list1"/>
    <dgm:cxn modelId="{3B072DD3-ED86-4CC7-B311-D6644AFE5273}" type="presParOf" srcId="{9B880F8F-1058-4CD2-B20D-650A178A86B0}" destId="{583B3969-11FD-4684-ACBA-422AC2B53A7A}" srcOrd="0" destOrd="0" presId="urn:microsoft.com/office/officeart/2005/8/layout/list1"/>
    <dgm:cxn modelId="{4AE7C7FE-0D95-46D7-9CAB-9B644D7CE1BB}" type="presParOf" srcId="{9B880F8F-1058-4CD2-B20D-650A178A86B0}" destId="{8DAC3478-3003-4361-B79A-A6299EE2FF11}" srcOrd="1" destOrd="0" presId="urn:microsoft.com/office/officeart/2005/8/layout/list1"/>
    <dgm:cxn modelId="{5F38CBF4-7C76-44F7-A2B3-83AFA9928178}" type="presParOf" srcId="{E22D02C9-CAD7-4C26-976C-7F9C3D7FAA12}" destId="{59004E18-985D-4C03-8427-4AF3A8F9619C}" srcOrd="1" destOrd="0" presId="urn:microsoft.com/office/officeart/2005/8/layout/list1"/>
    <dgm:cxn modelId="{3FD7CADC-1361-487A-9ED3-3BE627D90243}" type="presParOf" srcId="{E22D02C9-CAD7-4C26-976C-7F9C3D7FAA12}" destId="{4E95708D-2D46-43E8-898E-C37C89092838}" srcOrd="2" destOrd="0" presId="urn:microsoft.com/office/officeart/2005/8/layout/list1"/>
    <dgm:cxn modelId="{5E318CD5-F98C-40EB-9A0B-A3013876C46E}" type="presParOf" srcId="{E22D02C9-CAD7-4C26-976C-7F9C3D7FAA12}" destId="{AE2CC641-B3D9-4C30-82D4-60031A31761A}" srcOrd="3" destOrd="0" presId="urn:microsoft.com/office/officeart/2005/8/layout/list1"/>
    <dgm:cxn modelId="{FD35F7D9-624B-4152-B035-C69BC7F35A52}" type="presParOf" srcId="{E22D02C9-CAD7-4C26-976C-7F9C3D7FAA12}" destId="{EDB1C299-0C7B-4DAA-91AB-4E38E465CBEA}" srcOrd="4" destOrd="0" presId="urn:microsoft.com/office/officeart/2005/8/layout/list1"/>
    <dgm:cxn modelId="{D44B8A2D-3C1C-4FB0-BEDB-72164121DD56}" type="presParOf" srcId="{EDB1C299-0C7B-4DAA-91AB-4E38E465CBEA}" destId="{3474DB8A-EBD8-46EC-AAB7-FE9BE2CFA8D9}" srcOrd="0" destOrd="0" presId="urn:microsoft.com/office/officeart/2005/8/layout/list1"/>
    <dgm:cxn modelId="{AFBAC81F-74B7-4BE3-98BC-AC54833843BB}" type="presParOf" srcId="{EDB1C299-0C7B-4DAA-91AB-4E38E465CBEA}" destId="{75BB025E-9CB5-4C61-B1F0-A1523F6C16D8}" srcOrd="1" destOrd="0" presId="urn:microsoft.com/office/officeart/2005/8/layout/list1"/>
    <dgm:cxn modelId="{AA6928C1-C09A-4C15-BD49-9C5D6C82622D}" type="presParOf" srcId="{E22D02C9-CAD7-4C26-976C-7F9C3D7FAA12}" destId="{AD90FF33-7FD7-4076-B162-F1E0FE76D94C}" srcOrd="5" destOrd="0" presId="urn:microsoft.com/office/officeart/2005/8/layout/list1"/>
    <dgm:cxn modelId="{A97B25F6-85EE-4433-90C0-6ABB34FFD296}" type="presParOf" srcId="{E22D02C9-CAD7-4C26-976C-7F9C3D7FAA12}" destId="{5225D984-C2B9-4FAB-B6D8-231E1B13CD6C}" srcOrd="6" destOrd="0" presId="urn:microsoft.com/office/officeart/2005/8/layout/list1"/>
    <dgm:cxn modelId="{DC8BF853-591F-4058-B0C2-C4A02E962376}" type="presParOf" srcId="{E22D02C9-CAD7-4C26-976C-7F9C3D7FAA12}" destId="{FF1CC903-80FA-4491-88AB-D3CC8B9ADF3A}" srcOrd="7" destOrd="0" presId="urn:microsoft.com/office/officeart/2005/8/layout/list1"/>
    <dgm:cxn modelId="{50693F8F-FFFD-4D7A-9989-70E41D7EACCB}" type="presParOf" srcId="{E22D02C9-CAD7-4C26-976C-7F9C3D7FAA12}" destId="{C80B7E03-A3F6-466C-9E49-AFB82C5C4887}" srcOrd="8" destOrd="0" presId="urn:microsoft.com/office/officeart/2005/8/layout/list1"/>
    <dgm:cxn modelId="{CDA99A0D-1F6B-41D4-81D1-BCFBB0C62C86}" type="presParOf" srcId="{C80B7E03-A3F6-466C-9E49-AFB82C5C4887}" destId="{E67F6A8F-B37E-4A64-BD29-966D55D5027A}" srcOrd="0" destOrd="0" presId="urn:microsoft.com/office/officeart/2005/8/layout/list1"/>
    <dgm:cxn modelId="{DBE410A6-D5E7-4D09-A600-E8DFBA634DEA}" type="presParOf" srcId="{C80B7E03-A3F6-466C-9E49-AFB82C5C4887}" destId="{B8F30B94-A26D-4B73-B7CB-D459F6BF739F}" srcOrd="1" destOrd="0" presId="urn:microsoft.com/office/officeart/2005/8/layout/list1"/>
    <dgm:cxn modelId="{B75D2FF2-B599-4FF1-A1C9-87FB973EEABB}" type="presParOf" srcId="{E22D02C9-CAD7-4C26-976C-7F9C3D7FAA12}" destId="{9E874675-220F-4B77-8013-1BA315901257}" srcOrd="9" destOrd="0" presId="urn:microsoft.com/office/officeart/2005/8/layout/list1"/>
    <dgm:cxn modelId="{A58F369A-98C7-4077-95E5-23EEBA05382B}" type="presParOf" srcId="{E22D02C9-CAD7-4C26-976C-7F9C3D7FAA12}" destId="{3753D266-28F0-4CB6-87FB-9C46871B9038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95708D-2D46-43E8-898E-C37C89092838}">
      <dsp:nvSpPr>
        <dsp:cNvPr id="0" name=""/>
        <dsp:cNvSpPr/>
      </dsp:nvSpPr>
      <dsp:spPr>
        <a:xfrm>
          <a:off x="0" y="275827"/>
          <a:ext cx="7315200" cy="12316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7741" tIns="354076" rIns="567741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600" kern="12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rPr>
            <a:t>The bank possesses demographic and transactional data of its loan customers. If the bank has a robust model to predict defaulters it can undertake better resource allocation. </a:t>
          </a:r>
          <a:endParaRPr lang="en-US" sz="1600" kern="1200" dirty="0">
            <a:solidFill>
              <a:schemeClr val="tx1">
                <a:lumMod val="75000"/>
                <a:lumOff val="25000"/>
              </a:schemeClr>
            </a:solidFill>
            <a:latin typeface="+mn-lt"/>
          </a:endParaRPr>
        </a:p>
      </dsp:txBody>
      <dsp:txXfrm>
        <a:off x="0" y="275827"/>
        <a:ext cx="7315200" cy="1231650"/>
      </dsp:txXfrm>
    </dsp:sp>
    <dsp:sp modelId="{8DAC3478-3003-4361-B79A-A6299EE2FF11}">
      <dsp:nvSpPr>
        <dsp:cNvPr id="0" name=""/>
        <dsp:cNvSpPr/>
      </dsp:nvSpPr>
      <dsp:spPr>
        <a:xfrm>
          <a:off x="365760" y="24907"/>
          <a:ext cx="3497499" cy="501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3548" tIns="0" rIns="193548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Background</a:t>
          </a:r>
        </a:p>
      </dsp:txBody>
      <dsp:txXfrm>
        <a:off x="390258" y="49405"/>
        <a:ext cx="3448503" cy="452844"/>
      </dsp:txXfrm>
    </dsp:sp>
    <dsp:sp modelId="{5225D984-C2B9-4FAB-B6D8-231E1B13CD6C}">
      <dsp:nvSpPr>
        <dsp:cNvPr id="0" name=""/>
        <dsp:cNvSpPr/>
      </dsp:nvSpPr>
      <dsp:spPr>
        <a:xfrm>
          <a:off x="0" y="1850197"/>
          <a:ext cx="7315200" cy="9906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7741" tIns="354076" rIns="567741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600" kern="1200" dirty="0">
              <a:solidFill>
                <a:schemeClr val="tx1">
                  <a:lumMod val="75000"/>
                  <a:lumOff val="25000"/>
                </a:schemeClr>
              </a:solidFill>
            </a:rPr>
            <a:t>To predict whether the customer applying for the loan will be a defaulter.</a:t>
          </a:r>
          <a:endParaRPr lang="en-US" sz="1600" kern="1200" dirty="0">
            <a:solidFill>
              <a:schemeClr val="tx1">
                <a:lumMod val="75000"/>
                <a:lumOff val="25000"/>
              </a:schemeClr>
            </a:solidFill>
            <a:latin typeface="+mn-lt"/>
          </a:endParaRPr>
        </a:p>
      </dsp:txBody>
      <dsp:txXfrm>
        <a:off x="0" y="1850197"/>
        <a:ext cx="7315200" cy="990675"/>
      </dsp:txXfrm>
    </dsp:sp>
    <dsp:sp modelId="{75BB025E-9CB5-4C61-B1F0-A1523F6C16D8}">
      <dsp:nvSpPr>
        <dsp:cNvPr id="0" name=""/>
        <dsp:cNvSpPr/>
      </dsp:nvSpPr>
      <dsp:spPr>
        <a:xfrm>
          <a:off x="365760" y="1599277"/>
          <a:ext cx="3497499" cy="501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3548" tIns="0" rIns="193548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Objective</a:t>
          </a:r>
        </a:p>
      </dsp:txBody>
      <dsp:txXfrm>
        <a:off x="390258" y="1623775"/>
        <a:ext cx="3448503" cy="452844"/>
      </dsp:txXfrm>
    </dsp:sp>
    <dsp:sp modelId="{3753D266-28F0-4CB6-87FB-9C46871B9038}">
      <dsp:nvSpPr>
        <dsp:cNvPr id="0" name=""/>
        <dsp:cNvSpPr/>
      </dsp:nvSpPr>
      <dsp:spPr>
        <a:xfrm>
          <a:off x="0" y="3183592"/>
          <a:ext cx="7315200" cy="18207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7741" tIns="354076" rIns="567741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600" b="1" kern="12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rPr>
            <a:t>Sample size is 700</a:t>
          </a:r>
          <a:endParaRPr lang="en-US" sz="1600" b="1" kern="1200" dirty="0">
            <a:solidFill>
              <a:schemeClr val="tx1">
                <a:lumMod val="75000"/>
                <a:lumOff val="25000"/>
              </a:schemeClr>
            </a:solidFill>
            <a:latin typeface="+mn-lt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600" b="1" kern="12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rPr>
            <a:t>Independent Variables</a:t>
          </a:r>
          <a:r>
            <a:rPr lang="en-IN" sz="1600" b="0" kern="12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rPr>
            <a:t>: Age group, Town, Years at current address, Years at current employer, Debt to Income Ratio, Credit to Debit ratio, Other Debts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600" b="1" kern="12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rPr>
            <a:t>Dependent Variables</a:t>
          </a:r>
          <a:r>
            <a:rPr lang="en-IN" sz="1600" b="0" kern="12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rPr>
            <a:t>: Defaulter (=1 if defaulter, 0 otherwise)</a:t>
          </a:r>
        </a:p>
      </dsp:txBody>
      <dsp:txXfrm>
        <a:off x="0" y="3183592"/>
        <a:ext cx="7315200" cy="1820700"/>
      </dsp:txXfrm>
    </dsp:sp>
    <dsp:sp modelId="{B8F30B94-A26D-4B73-B7CB-D459F6BF739F}">
      <dsp:nvSpPr>
        <dsp:cNvPr id="0" name=""/>
        <dsp:cNvSpPr/>
      </dsp:nvSpPr>
      <dsp:spPr>
        <a:xfrm>
          <a:off x="365760" y="2932672"/>
          <a:ext cx="3497499" cy="501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3548" tIns="0" rIns="193548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Available Information</a:t>
          </a:r>
        </a:p>
      </dsp:txBody>
      <dsp:txXfrm>
        <a:off x="390258" y="2957170"/>
        <a:ext cx="3448503" cy="45284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C1876C-7B8A-463D-A870-997498CD99E7}" type="datetimeFigureOut">
              <a:rPr lang="en-US" smtClean="0"/>
              <a:t>9/23/2025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5EA529-D28B-45D3-BA15-51F59579F21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989811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0BC867-2197-4B29-A8AD-3F9EA77533E1}" type="datetimeFigureOut">
              <a:rPr lang="en-US" smtClean="0"/>
              <a:t>9/23/2025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0EAF43-9F80-42EB-85FE-9CAAC23F1A9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9599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4603AEC-A682-4293-84F7-94DEEB082DD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162510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603AEC-A682-4293-84F7-94DEEB082DD9}" type="slidenum">
              <a:rPr lang="en-US" smtClean="0">
                <a:solidFill>
                  <a:prstClr val="black"/>
                </a:solidFill>
              </a:rPr>
              <a:pPr/>
              <a:t>2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8118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prstClr val="black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603AEC-A682-4293-84F7-94DEEB082DD9}" type="slidenum">
              <a:rPr lang="en-US" smtClean="0">
                <a:solidFill>
                  <a:prstClr val="black"/>
                </a:solidFill>
              </a:rPr>
              <a:pPr/>
              <a:t>3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53168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603AEC-A682-4293-84F7-94DEEB082DD9}" type="slidenum">
              <a:rPr lang="en-US" smtClean="0">
                <a:solidFill>
                  <a:prstClr val="black"/>
                </a:solidFill>
              </a:rPr>
              <a:pPr/>
              <a:t>4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53168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800" kern="12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603AEC-A682-4293-84F7-94DEEB082DD9}" type="slidenum">
              <a:rPr lang="en-US" smtClean="0">
                <a:solidFill>
                  <a:prstClr val="black"/>
                </a:solidFill>
              </a:rPr>
              <a:pPr/>
              <a:t>5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53168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603AEC-A682-4293-84F7-94DEEB082DD9}" type="slidenum">
              <a:rPr lang="en-US" smtClean="0">
                <a:solidFill>
                  <a:prstClr val="black"/>
                </a:solidFill>
              </a:rPr>
              <a:pPr/>
              <a:t>6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00084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603AEC-A682-4293-84F7-94DEEB082DD9}" type="slidenum">
              <a:rPr lang="en-US" smtClean="0">
                <a:solidFill>
                  <a:prstClr val="black"/>
                </a:solidFill>
              </a:rPr>
              <a:pPr/>
              <a:t>7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66998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603AEC-A682-4293-84F7-94DEEB082DD9}" type="slidenum">
              <a:rPr lang="en-US" smtClean="0">
                <a:solidFill>
                  <a:prstClr val="black"/>
                </a:solidFill>
              </a:rPr>
              <a:pPr/>
              <a:t>8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53168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800" kern="12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603AEC-A682-4293-84F7-94DEEB082DD9}" type="slidenum">
              <a:rPr lang="en-US" smtClean="0">
                <a:solidFill>
                  <a:prstClr val="black"/>
                </a:solidFill>
              </a:rPr>
              <a:pPr/>
              <a:t>9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24912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603AEC-A682-4293-84F7-94DEEB082DD9}" type="slidenum">
              <a:rPr lang="en-US" smtClean="0">
                <a:solidFill>
                  <a:prstClr val="black"/>
                </a:solidFill>
              </a:rPr>
              <a:pPr/>
              <a:t>10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53579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603AEC-A682-4293-84F7-94DEEB082DD9}" type="slidenum">
              <a:rPr lang="en-US" smtClean="0">
                <a:solidFill>
                  <a:prstClr val="black"/>
                </a:solidFill>
              </a:rPr>
              <a:pPr/>
              <a:t>11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8987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603AEC-A682-4293-84F7-94DEEB082DD9}" type="slidenum">
              <a:rPr lang="en-US" smtClean="0">
                <a:solidFill>
                  <a:prstClr val="black"/>
                </a:solidFill>
              </a:rPr>
              <a:pPr/>
              <a:t>12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73886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603AEC-A682-4293-84F7-94DEEB082DD9}" type="slidenum">
              <a:rPr lang="en-US" smtClean="0">
                <a:solidFill>
                  <a:prstClr val="black"/>
                </a:solidFill>
              </a:rPr>
              <a:pPr/>
              <a:t>13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65288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603AEC-A682-4293-84F7-94DEEB082DD9}" type="slidenum">
              <a:rPr lang="en-US" smtClean="0">
                <a:solidFill>
                  <a:prstClr val="black"/>
                </a:solidFill>
              </a:rPr>
              <a:pPr/>
              <a:t>14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855369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603AEC-A682-4293-84F7-94DEEB082DD9}" type="slidenum">
              <a:rPr lang="en-US" smtClean="0">
                <a:solidFill>
                  <a:prstClr val="black"/>
                </a:solidFill>
              </a:rPr>
              <a:pPr/>
              <a:t>15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309400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603AEC-A682-4293-84F7-94DEEB082DD9}" type="slidenum">
              <a:rPr lang="en-US" smtClean="0">
                <a:solidFill>
                  <a:prstClr val="black"/>
                </a:solidFill>
              </a:rPr>
              <a:pPr/>
              <a:t>16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52397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603AEC-A682-4293-84F7-94DEEB082DD9}" type="slidenum">
              <a:rPr lang="en-US" smtClean="0">
                <a:solidFill>
                  <a:prstClr val="black"/>
                </a:solidFill>
              </a:rPr>
              <a:pPr/>
              <a:t>17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511321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603AEC-A682-4293-84F7-94DEEB082DD9}" type="slidenum">
              <a:rPr lang="en-US" smtClean="0">
                <a:solidFill>
                  <a:prstClr val="black"/>
                </a:solidFill>
              </a:rPr>
              <a:pPr/>
              <a:t>18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966300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603AEC-A682-4293-84F7-94DEEB082DD9}" type="slidenum">
              <a:rPr lang="en-US" smtClean="0">
                <a:solidFill>
                  <a:prstClr val="black"/>
                </a:solidFill>
              </a:rPr>
              <a:pPr/>
              <a:t>19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214094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603AEC-A682-4293-84F7-94DEEB082DD9}" type="slidenum">
              <a:rPr lang="en-US" smtClean="0">
                <a:solidFill>
                  <a:prstClr val="black"/>
                </a:solidFill>
              </a:rPr>
              <a:pPr/>
              <a:t>20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375516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800" kern="12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603AEC-A682-4293-84F7-94DEEB082DD9}" type="slidenum">
              <a:rPr lang="en-US" smtClean="0">
                <a:solidFill>
                  <a:prstClr val="black"/>
                </a:solidFill>
              </a:rPr>
              <a:pPr/>
              <a:t>21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220835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800" kern="12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603AEC-A682-4293-84F7-94DEEB082DD9}" type="slidenum">
              <a:rPr lang="en-US" smtClean="0">
                <a:solidFill>
                  <a:prstClr val="black"/>
                </a:solidFill>
              </a:rPr>
              <a:pPr/>
              <a:t>22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639654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603AEC-A682-4293-84F7-94DEEB082DD9}" type="slidenum">
              <a:rPr lang="en-US" smtClean="0">
                <a:solidFill>
                  <a:prstClr val="black"/>
                </a:solidFill>
              </a:rPr>
              <a:pPr/>
              <a:t>23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531688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4F34F9-F9B8-45B5-B52C-3FFE2C016DA5}" type="slidenum">
              <a:rPr lang="en-US" smtClean="0">
                <a:solidFill>
                  <a:prstClr val="black"/>
                </a:solidFill>
              </a:rPr>
              <a:pPr/>
              <a:t>24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33143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0.xml"/><Relationship Id="rId4" Type="http://schemas.openxmlformats.org/officeDocument/2006/relationships/tags" Target="../tags/tag9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5.xml"/><Relationship Id="rId4" Type="http://schemas.openxmlformats.org/officeDocument/2006/relationships/tags" Target="../tags/tag14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slideMaster" Target="../slideMasters/slideMaster4.xml"/><Relationship Id="rId5" Type="http://schemas.openxmlformats.org/officeDocument/2006/relationships/tags" Target="../tags/tag28.xml"/><Relationship Id="rId4" Type="http://schemas.openxmlformats.org/officeDocument/2006/relationships/tags" Target="../tags/tag27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tags" Target="../tags/tag31.xml"/><Relationship Id="rId7" Type="http://schemas.openxmlformats.org/officeDocument/2006/relationships/image" Target="../media/image1.jpeg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slideMaster" Target="../slideMasters/slideMaster4.xml"/><Relationship Id="rId5" Type="http://schemas.openxmlformats.org/officeDocument/2006/relationships/tags" Target="../tags/tag33.xml"/><Relationship Id="rId4" Type="http://schemas.openxmlformats.org/officeDocument/2006/relationships/tags" Target="../tags/tag3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tags" Target="../tags/tag34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35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3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vert="horz" lIns="91440" tIns="45720" rIns="91440" bIns="45720" rtlCol="0" anchor="ctr"/>
          <a:lstStyle>
            <a:lvl1pPr>
              <a:defRPr lang="en-US" smtClean="0"/>
            </a:lvl1pPr>
          </a:lstStyle>
          <a:p>
            <a:pPr algn="r"/>
            <a:fld id="{B0FF0104-7CCD-4F49-840C-98080ECF886C}" type="slidenum">
              <a:rPr lang="en-US" smtClean="0"/>
              <a:pPr algn="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7683941"/>
      </p:ext>
    </p:extLst>
  </p:cSld>
  <p:clrMapOvr>
    <a:masterClrMapping/>
  </p:clrMapOvr>
  <p:transition spd="slow">
    <p:push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lang="en-US" sz="4400" dirty="0">
                <a:solidFill>
                  <a:schemeClr val="accent1"/>
                </a:solidFill>
                <a:latin typeface="Eras Demi ITC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lstStyle>
            <a:lvl1pPr>
              <a:defRPr lang="en-US" sz="2000" dirty="0" smtClean="0">
                <a:solidFill>
                  <a:schemeClr val="accent6">
                    <a:lumMod val="75000"/>
                  </a:schemeClr>
                </a:solidFill>
                <a:latin typeface="Eras Demi ITC" pitchFamily="34" charset="0"/>
                <a:ea typeface="+mn-ea"/>
                <a:cs typeface="+mn-cs"/>
              </a:defRPr>
            </a:lvl1pPr>
            <a:lvl2pPr>
              <a:defRPr lang="en-US" sz="2000" dirty="0" smtClean="0">
                <a:solidFill>
                  <a:schemeClr val="accent6">
                    <a:lumMod val="75000"/>
                  </a:schemeClr>
                </a:solidFill>
                <a:latin typeface="Eras Demi ITC" pitchFamily="34" charset="0"/>
                <a:ea typeface="+mn-ea"/>
                <a:cs typeface="+mn-cs"/>
              </a:defRPr>
            </a:lvl2pPr>
            <a:lvl3pPr>
              <a:defRPr lang="en-US" sz="2000" dirty="0" smtClean="0">
                <a:solidFill>
                  <a:schemeClr val="accent6">
                    <a:lumMod val="75000"/>
                  </a:schemeClr>
                </a:solidFill>
                <a:latin typeface="Eras Demi ITC" pitchFamily="34" charset="0"/>
                <a:ea typeface="+mn-ea"/>
                <a:cs typeface="+mn-cs"/>
              </a:defRPr>
            </a:lvl3pPr>
            <a:lvl4pPr>
              <a:defRPr lang="en-US" sz="2000" dirty="0" smtClean="0">
                <a:solidFill>
                  <a:schemeClr val="accent6">
                    <a:lumMod val="75000"/>
                  </a:schemeClr>
                </a:solidFill>
                <a:latin typeface="Eras Demi ITC" pitchFamily="34" charset="0"/>
                <a:ea typeface="+mn-ea"/>
                <a:cs typeface="+mn-cs"/>
              </a:defRPr>
            </a:lvl4pPr>
            <a:lvl5pPr>
              <a:defRPr lang="en-US" sz="2000" dirty="0">
                <a:solidFill>
                  <a:schemeClr val="accent6">
                    <a:lumMod val="75000"/>
                  </a:schemeClr>
                </a:solidFill>
                <a:latin typeface="Eras Demi ITC" pitchFamily="34" charset="0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 lang="es-ES" sz="1600" dirty="0">
                <a:solidFill>
                  <a:schemeClr val="accent6">
                    <a:lumMod val="75000"/>
                  </a:schemeClr>
                </a:solidFill>
                <a:latin typeface="Eras Demi ITC" pitchFamily="34" charset="0"/>
                <a:ea typeface="+mn-ea"/>
                <a:cs typeface="+mn-cs"/>
              </a:defRPr>
            </a:lvl1pPr>
          </a:lstStyle>
          <a:p>
            <a:endParaRPr lang="en-US" dirty="0">
              <a:solidFill>
                <a:srgbClr val="475A8D">
                  <a:lumMod val="75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lang="es-ES" sz="1600" kern="1200" dirty="0">
                <a:solidFill>
                  <a:schemeClr val="accent6">
                    <a:lumMod val="75000"/>
                  </a:schemeClr>
                </a:solidFill>
                <a:latin typeface="Eras Demi ITC" pitchFamily="34" charset="0"/>
                <a:ea typeface="+mn-ea"/>
                <a:cs typeface="+mn-cs"/>
              </a:defRPr>
            </a:lvl1pPr>
          </a:lstStyle>
          <a:p>
            <a:endParaRPr lang="en-US" dirty="0">
              <a:solidFill>
                <a:srgbClr val="475A8D">
                  <a:lumMod val="75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vert="horz" lIns="91440" tIns="45720" rIns="91440" bIns="45720" rtlCol="0" anchor="ctr"/>
          <a:lstStyle>
            <a:lvl1pPr>
              <a:defRPr lang="en-US" smtClean="0"/>
            </a:lvl1pPr>
          </a:lstStyle>
          <a:p>
            <a:pPr algn="r"/>
            <a:fld id="{A7003EEB-EF6C-48D9-B09B-CE4B15ADF563}" type="slidenum">
              <a:rPr lang="en-US" smtClean="0"/>
              <a:pPr algn="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6806724"/>
      </p:ext>
    </p:extLst>
  </p:cSld>
  <p:clrMapOvr>
    <a:masterClrMapping/>
  </p:clrMapOvr>
  <p:transition spd="slow">
    <p:push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>
            <a:lvl1pPr>
              <a:defRPr lang="en-US" smtClean="0"/>
            </a:lvl1pPr>
          </a:lstStyle>
          <a:p>
            <a:pPr algn="r"/>
            <a:fld id="{00122F79-0410-4154-A554-02F012F6D4FA}" type="slidenum">
              <a:rPr lang="en-US" smtClean="0"/>
              <a:pPr algn="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8937614"/>
      </p:ext>
    </p:extLst>
  </p:cSld>
  <p:clrMapOvr>
    <a:masterClrMapping/>
  </p:clrMapOvr>
  <p:transition spd="slow">
    <p:push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>
            <a:lvl1pPr>
              <a:defRPr lang="en-US" smtClean="0"/>
            </a:lvl1pPr>
          </a:lstStyle>
          <a:p>
            <a:pPr algn="r"/>
            <a:fld id="{031C0417-39EE-4652-A340-17E4321E8978}" type="slidenum">
              <a:rPr lang="en-US" smtClean="0"/>
              <a:pPr algn="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4313530"/>
      </p:ext>
    </p:extLst>
  </p:cSld>
  <p:clrMapOvr>
    <a:masterClrMapping/>
  </p:clrMapOvr>
  <p:transition spd="slow">
    <p:push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prstClr val="black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prstClr val="black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>
            <a:lvl1pPr>
              <a:defRPr lang="en-US" smtClean="0"/>
            </a:lvl1pPr>
          </a:lstStyle>
          <a:p>
            <a:pPr algn="r"/>
            <a:fld id="{BC49E27A-0B0A-48E8-BF9E-7ACBD526876E}" type="slidenum">
              <a:rPr lang="en-US" smtClean="0"/>
              <a:pPr algn="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3417705"/>
      </p:ext>
    </p:extLst>
  </p:cSld>
  <p:clrMapOvr>
    <a:masterClrMapping/>
  </p:clrMapOvr>
  <p:transition spd="slow">
    <p:push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prstClr val="black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prstClr val="black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>
            <a:lvl1pPr>
              <a:defRPr lang="en-US" smtClean="0"/>
            </a:lvl1pPr>
          </a:lstStyle>
          <a:p>
            <a:pPr algn="r"/>
            <a:fld id="{637C8003-4E35-44E6-8809-93E4AEF7A593}" type="slidenum">
              <a:rPr lang="en-US" smtClean="0"/>
              <a:pPr algn="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9840049"/>
      </p:ext>
    </p:extLst>
  </p:cSld>
  <p:clrMapOvr>
    <a:masterClrMapping/>
  </p:clrMapOvr>
  <p:transition spd="slow">
    <p:push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prstClr val="black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prstClr val="black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 vert="horz" lIns="91440" tIns="45720" rIns="91440" bIns="45720" rtlCol="0" anchor="ctr"/>
          <a:lstStyle>
            <a:lvl1pPr>
              <a:defRPr lang="en-US" smtClean="0"/>
            </a:lvl1pPr>
          </a:lstStyle>
          <a:p>
            <a:pPr algn="r"/>
            <a:fld id="{2A600F5C-2392-4D29-AC93-3974B7E074F3}" type="slidenum">
              <a:rPr lang="en-US" smtClean="0"/>
              <a:pPr algn="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5761071"/>
      </p:ext>
    </p:extLst>
  </p:cSld>
  <p:clrMapOvr>
    <a:masterClrMapping/>
  </p:clrMapOvr>
  <p:transition spd="slow">
    <p:push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845D8AD-8DE8-4AF6-BE82-5455CE28B772}" type="slidenum">
              <a:rPr lang="es-ES">
                <a:solidFill>
                  <a:prstClr val="black"/>
                </a:solidFill>
              </a:rPr>
              <a:pPr/>
              <a:t>‹#›</a:t>
            </a:fld>
            <a:endParaRPr lang="es-E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3887913"/>
      </p:ext>
    </p:extLst>
  </p:cSld>
  <p:clrMapOvr>
    <a:masterClrMapping/>
  </p:clrMapOvr>
  <p:transition spd="slow">
    <p:push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CFC8D18-34B0-40E3-8577-74A6A1E9B1B6}" type="slidenum">
              <a:rPr lang="es-ES">
                <a:solidFill>
                  <a:prstClr val="black"/>
                </a:solidFill>
              </a:rPr>
              <a:pPr/>
              <a:t>‹#›</a:t>
            </a:fld>
            <a:endParaRPr lang="es-E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8261874"/>
      </p:ext>
    </p:extLst>
  </p:cSld>
  <p:clrMapOvr>
    <a:masterClrMapping/>
  </p:clrMapOvr>
  <p:transition spd="slow">
    <p:push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AF4EAE7-848B-47CE-B4F6-DAAF6EA51562}" type="slidenum">
              <a:rPr lang="es-ES">
                <a:solidFill>
                  <a:prstClr val="black"/>
                </a:solidFill>
              </a:rPr>
              <a:pPr/>
              <a:t>‹#›</a:t>
            </a:fld>
            <a:endParaRPr lang="es-E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8603798"/>
      </p:ext>
    </p:extLst>
  </p:cSld>
  <p:clrMapOvr>
    <a:masterClrMapping/>
  </p:clrMapOvr>
  <p:transition spd="slow">
    <p:push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19CA3B6-4872-4A10-86AD-13512688CE05}" type="slidenum">
              <a:rPr lang="es-ES">
                <a:solidFill>
                  <a:prstClr val="black"/>
                </a:solidFill>
              </a:rPr>
              <a:pPr/>
              <a:t>‹#›</a:t>
            </a:fld>
            <a:endParaRPr lang="es-E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7529968"/>
      </p:ext>
    </p:extLst>
  </p:cSld>
  <p:clrMapOvr>
    <a:masterClrMapping/>
  </p:clrMapOvr>
  <p:transition spd="slow">
    <p:push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BE8D9-D83B-4585-83E5-04850845E6C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50028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BE8D9-D83B-4585-83E5-04850845E6C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85212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BE8D9-D83B-4585-83E5-04850845E6C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81012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BE8D9-D83B-4585-83E5-04850845E6C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43911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BE8D9-D83B-4585-83E5-04850845E6C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46246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BE8D9-D83B-4585-83E5-04850845E6C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208546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BE8D9-D83B-4585-83E5-04850845E6C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877531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BE8D9-D83B-4585-83E5-04850845E6C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34325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BE8D9-D83B-4585-83E5-04850845E6C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167026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BE8D9-D83B-4585-83E5-04850845E6C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804857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BE8D9-D83B-4585-83E5-04850845E6C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152436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052605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444537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417479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91129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936964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366852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15937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555561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297310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030599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600943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4"/>
            <p:custDataLst>
              <p:tags r:id="rId5"/>
            </p:custDataLst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lang="es-ES" smtClean="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1C7D3AF-160E-4D12-BF31-4D5E44749C5D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306453"/>
      </p:ext>
    </p:extLst>
  </p:cSld>
  <p:clrMapOvr>
    <a:masterClrMapping/>
  </p:clrMapOvr>
  <p:transition spd="slow">
    <p:push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lang="en-US" sz="4400" dirty="0">
                <a:solidFill>
                  <a:schemeClr val="accent6">
                    <a:lumMod val="60000"/>
                    <a:lumOff val="40000"/>
                  </a:schemeClr>
                </a:solidFill>
                <a:latin typeface="Eras Demi ITC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lstStyle>
            <a:lvl1pPr>
              <a:defRPr lang="en-US" sz="2000" dirty="0" smtClean="0">
                <a:solidFill>
                  <a:schemeClr val="accent6">
                    <a:lumMod val="75000"/>
                  </a:schemeClr>
                </a:solidFill>
                <a:latin typeface="Eras Demi ITC" pitchFamily="34" charset="0"/>
                <a:ea typeface="+mn-ea"/>
                <a:cs typeface="+mn-cs"/>
              </a:defRPr>
            </a:lvl1pPr>
            <a:lvl2pPr>
              <a:defRPr lang="en-US" sz="2000" dirty="0" smtClean="0">
                <a:solidFill>
                  <a:schemeClr val="accent6">
                    <a:lumMod val="75000"/>
                  </a:schemeClr>
                </a:solidFill>
                <a:latin typeface="Eras Demi ITC" pitchFamily="34" charset="0"/>
                <a:ea typeface="+mn-ea"/>
                <a:cs typeface="+mn-cs"/>
              </a:defRPr>
            </a:lvl2pPr>
            <a:lvl3pPr>
              <a:defRPr lang="en-US" sz="2000" dirty="0" smtClean="0">
                <a:solidFill>
                  <a:schemeClr val="accent6">
                    <a:lumMod val="75000"/>
                  </a:schemeClr>
                </a:solidFill>
                <a:latin typeface="Eras Demi ITC" pitchFamily="34" charset="0"/>
                <a:ea typeface="+mn-ea"/>
                <a:cs typeface="+mn-cs"/>
              </a:defRPr>
            </a:lvl3pPr>
            <a:lvl4pPr>
              <a:defRPr lang="en-US" sz="2000" dirty="0" smtClean="0">
                <a:solidFill>
                  <a:schemeClr val="accent6">
                    <a:lumMod val="75000"/>
                  </a:schemeClr>
                </a:solidFill>
                <a:latin typeface="Eras Demi ITC" pitchFamily="34" charset="0"/>
                <a:ea typeface="+mn-ea"/>
                <a:cs typeface="+mn-cs"/>
              </a:defRPr>
            </a:lvl4pPr>
            <a:lvl5pPr>
              <a:defRPr lang="en-US" sz="2000" dirty="0">
                <a:solidFill>
                  <a:schemeClr val="accent6">
                    <a:lumMod val="75000"/>
                  </a:schemeClr>
                </a:solidFill>
                <a:latin typeface="Eras Demi ITC" pitchFamily="34" charset="0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 lang="es-ES" sz="1600" dirty="0">
                <a:solidFill>
                  <a:schemeClr val="accent6">
                    <a:lumMod val="75000"/>
                  </a:schemeClr>
                </a:solidFill>
                <a:latin typeface="Eras Demi ITC" pitchFamily="34" charset="0"/>
                <a:ea typeface="+mn-ea"/>
                <a:cs typeface="+mn-cs"/>
              </a:defRPr>
            </a:lvl1pPr>
          </a:lstStyle>
          <a:p>
            <a:endParaRPr lang="en-US" dirty="0">
              <a:solidFill>
                <a:srgbClr val="475A8D">
                  <a:lumMod val="75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lang="es-ES" sz="1600" kern="1200" dirty="0">
                <a:solidFill>
                  <a:schemeClr val="accent6">
                    <a:lumMod val="75000"/>
                  </a:schemeClr>
                </a:solidFill>
                <a:latin typeface="Eras Demi ITC" pitchFamily="34" charset="0"/>
                <a:ea typeface="+mn-ea"/>
                <a:cs typeface="+mn-cs"/>
              </a:defRPr>
            </a:lvl1pPr>
          </a:lstStyle>
          <a:p>
            <a:endParaRPr lang="en-US" dirty="0">
              <a:solidFill>
                <a:srgbClr val="475A8D">
                  <a:lumMod val="75000"/>
                </a:srgbClr>
              </a:solidFill>
            </a:endParaRPr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4"/>
            <p:custDataLst>
              <p:tags r:id="rId5"/>
            </p:custDataLst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lang="es-ES" smtClean="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1C7D3AF-160E-4D12-BF31-4D5E44749C5D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500182D-B2D9-4B34-859A-A1BEC5488255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26163"/>
            <a:ext cx="604373" cy="731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5666886"/>
      </p:ext>
    </p:extLst>
  </p:cSld>
  <p:clrMapOvr>
    <a:masterClrMapping/>
  </p:clrMapOvr>
  <p:transition spd="slow">
    <p:push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4"/>
            <p:custDataLst>
              <p:tags r:id="rId1"/>
            </p:custDataLst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lang="es-ES" smtClean="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1C7D3AF-160E-4D12-BF31-4D5E44749C5D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1895190"/>
      </p:ext>
    </p:extLst>
  </p:cSld>
  <p:clrMapOvr>
    <a:masterClrMapping/>
  </p:clrMapOvr>
  <p:transition spd="slow">
    <p:push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prstClr val="black"/>
              </a:solidFill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4"/>
            <p:custDataLst>
              <p:tags r:id="rId1"/>
            </p:custDataLst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lang="es-ES" smtClean="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1C7D3AF-160E-4D12-BF31-4D5E44749C5D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10B0A43-5A89-4926-AB1F-C8906E02121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26163"/>
            <a:ext cx="604373" cy="713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969027"/>
      </p:ext>
    </p:extLst>
  </p:cSld>
  <p:clrMapOvr>
    <a:masterClrMapping/>
  </p:clrMapOvr>
  <p:transition spd="slow">
    <p:push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prstClr val="black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prstClr val="black"/>
              </a:solidFill>
            </a:endParaRPr>
          </a:p>
        </p:txBody>
      </p:sp>
      <p:sp>
        <p:nvSpPr>
          <p:cNvPr id="10" name="Rectangle 6"/>
          <p:cNvSpPr>
            <a:spLocks noGrp="1" noChangeArrowheads="1"/>
          </p:cNvSpPr>
          <p:nvPr>
            <p:ph type="sldNum" sz="quarter" idx="12"/>
            <p:custDataLst>
              <p:tags r:id="rId1"/>
            </p:custDataLst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lang="es-ES" smtClean="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1C7D3AF-160E-4D12-BF31-4D5E44749C5D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20A64AB-6139-4988-B71E-54D4E1592CE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26163"/>
            <a:ext cx="604373" cy="713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1765237"/>
      </p:ext>
    </p:extLst>
  </p:cSld>
  <p:clrMapOvr>
    <a:masterClrMapping/>
  </p:clrMapOvr>
  <p:transition spd="slow">
    <p:push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tags" Target="../tags/tag20.xml"/><Relationship Id="rId3" Type="http://schemas.openxmlformats.org/officeDocument/2006/relationships/slideLayout" Target="../slideLayouts/slideLayout36.xml"/><Relationship Id="rId7" Type="http://schemas.openxmlformats.org/officeDocument/2006/relationships/tags" Target="../tags/tag19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theme" Target="../theme/theme4.xml"/><Relationship Id="rId11" Type="http://schemas.openxmlformats.org/officeDocument/2006/relationships/tags" Target="../tags/tag23.xml"/><Relationship Id="rId5" Type="http://schemas.openxmlformats.org/officeDocument/2006/relationships/slideLayout" Target="../slideLayouts/slideLayout38.xml"/><Relationship Id="rId10" Type="http://schemas.openxmlformats.org/officeDocument/2006/relationships/tags" Target="../tags/tag22.xml"/><Relationship Id="rId4" Type="http://schemas.openxmlformats.org/officeDocument/2006/relationships/slideLayout" Target="../slideLayouts/slideLayout37.xml"/><Relationship Id="rId9" Type="http://schemas.openxmlformats.org/officeDocument/2006/relationships/tags" Target="../tags/tag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  <p:custDataLst>
              <p:tags r:id="rId13"/>
            </p:custDataLst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dirty="0"/>
              <a:t>Haga clic para cambiar el estilo de título	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  <p:custDataLst>
              <p:tags r:id="rId14"/>
            </p:custDataLst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dirty="0"/>
              <a:t>Haga clic para modificar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  <p:custDataLst>
              <p:tags r:id="rId15"/>
            </p:custDataLst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s-ES" dirty="0">
              <a:solidFill>
                <a:prstClr val="black"/>
              </a:solidFill>
              <a:latin typeface="Arial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  <p:custDataLst>
              <p:tags r:id="rId16"/>
            </p:custDataLst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s-ES" dirty="0">
              <a:solidFill>
                <a:prstClr val="black"/>
              </a:solidFill>
              <a:latin typeface="Arial" charset="0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  <p:custDataLst>
              <p:tags r:id="rId17"/>
            </p:custDataLst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lvl1pPr>
              <a:defRPr lang="es-ES" sz="1000" smtClean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defRPr>
            </a:lvl1pPr>
          </a:lstStyle>
          <a:p>
            <a:pPr algn="r"/>
            <a:fld id="{D1C7D3AF-160E-4D12-BF31-4D5E44749C5D}" type="slidenum">
              <a:rPr lang="en-US" smtClean="0"/>
              <a:pPr algn="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7830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slow">
    <p:push/>
  </p:transition>
  <p:hf hdr="0" ftr="0" dt="0"/>
  <p:txStyles>
    <p:titleStyle>
      <a:lvl1pPr algn="ctr" rtl="0" fontAlgn="base">
        <a:spcBef>
          <a:spcPct val="0"/>
        </a:spcBef>
        <a:spcAft>
          <a:spcPct val="0"/>
        </a:spcAft>
        <a:defRPr lang="es-ES" sz="4400" dirty="0" smtClean="0">
          <a:solidFill>
            <a:schemeClr val="accent6">
              <a:lumMod val="60000"/>
              <a:lumOff val="40000"/>
            </a:schemeClr>
          </a:solidFill>
          <a:latin typeface="Eras Demi ITC" pitchFamily="34" charset="0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lang="es-ES" sz="2000" dirty="0" smtClean="0">
          <a:solidFill>
            <a:schemeClr val="accent6">
              <a:lumMod val="75000"/>
            </a:schemeClr>
          </a:solidFill>
          <a:latin typeface="Eras Demi ITC" pitchFamily="34" charset="0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lang="es-ES" sz="2000" dirty="0" smtClean="0">
          <a:solidFill>
            <a:schemeClr val="accent6">
              <a:lumMod val="75000"/>
            </a:schemeClr>
          </a:solidFill>
          <a:latin typeface="Eras Demi ITC" pitchFamily="34" charset="0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lang="es-ES" sz="2000" dirty="0" smtClean="0">
          <a:solidFill>
            <a:schemeClr val="accent6">
              <a:lumMod val="75000"/>
            </a:schemeClr>
          </a:solidFill>
          <a:latin typeface="Eras Demi ITC" pitchFamily="34" charset="0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lang="es-ES" sz="2000" dirty="0" smtClean="0">
          <a:solidFill>
            <a:schemeClr val="accent6">
              <a:lumMod val="75000"/>
            </a:schemeClr>
          </a:solidFill>
          <a:latin typeface="Eras Demi ITC" pitchFamily="34" charset="0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lang="es-ES" sz="2000" dirty="0" smtClean="0">
          <a:solidFill>
            <a:schemeClr val="accent6">
              <a:lumMod val="75000"/>
            </a:schemeClr>
          </a:solidFill>
          <a:latin typeface="Eras Demi ITC" pitchFamily="34" charset="0"/>
          <a:ea typeface="+mn-ea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04DBE8D9-D83B-4585-83E5-04850845E6C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16452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86115"/>
            <a:ext cx="8229600" cy="7806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en-US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en-US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defRPr>
            </a:lvl1pPr>
          </a:lstStyle>
          <a:p>
            <a:fld id="{B6F15528-21DE-4FAA-801E-634DDDAF4B2B}" type="slidenum">
              <a:rPr lang="en-US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04407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3200" b="1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lnSpc>
          <a:spcPct val="150000"/>
        </a:lnSpc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j-lt"/>
          <a:ea typeface="+mn-ea"/>
          <a:cs typeface="+mn-cs"/>
        </a:defRPr>
      </a:lvl1pPr>
      <a:lvl2pPr marL="742950" indent="-285750" algn="l" defTabSz="914400" rtl="0" eaLnBrk="1" latinLnBrk="0" hangingPunct="1">
        <a:lnSpc>
          <a:spcPct val="150000"/>
        </a:lnSpc>
        <a:spcBef>
          <a:spcPct val="20000"/>
        </a:spcBef>
        <a:buFont typeface="Arial" pitchFamily="34" charset="0"/>
        <a:buChar char="–"/>
        <a:defRPr sz="1600" kern="1200">
          <a:solidFill>
            <a:schemeClr val="tx1">
              <a:lumMod val="75000"/>
              <a:lumOff val="25000"/>
            </a:schemeClr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ct val="20000"/>
        </a:spcBef>
        <a:buFont typeface="Arial" pitchFamily="34" charset="0"/>
        <a:buChar char="–"/>
        <a:defRPr sz="1600" kern="1200">
          <a:solidFill>
            <a:schemeClr val="tx1">
              <a:lumMod val="75000"/>
              <a:lumOff val="25000"/>
            </a:schemeClr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ct val="20000"/>
        </a:spcBef>
        <a:buFont typeface="Arial" pitchFamily="34" charset="0"/>
        <a:buChar char="»"/>
        <a:defRPr sz="1600" kern="1200">
          <a:solidFill>
            <a:schemeClr val="tx1">
              <a:lumMod val="75000"/>
              <a:lumOff val="25000"/>
            </a:schemeClr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  <p:custDataLst>
              <p:tags r:id="rId7"/>
            </p:custDataLst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dirty="0"/>
              <a:t>Haga clic para cambiar el estilo de título	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  <p:custDataLst>
              <p:tags r:id="rId8"/>
            </p:custDataLst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dirty="0"/>
              <a:t>Haga clic para modificar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  <p:custDataLst>
              <p:tags r:id="rId9"/>
            </p:custDataLst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+mj-lt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s-ES" dirty="0">
              <a:solidFill>
                <a:prstClr val="black"/>
              </a:solidFill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  <p:custDataLst>
              <p:tags r:id="rId10"/>
            </p:custDataLst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+mj-lt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s-ES" dirty="0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4"/>
            <p:custDataLst>
              <p:tags r:id="rId11"/>
            </p:custDataLst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1C7D3AF-160E-4D12-BF31-4D5E44749C5D}" type="slidenum">
              <a:rPr lang="es-E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0603864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</p:sldLayoutIdLst>
  <p:transition spd="slow">
    <p:push/>
  </p:transition>
  <p:hf hdr="0" ftr="0" dt="0"/>
  <p:txStyles>
    <p:titleStyle>
      <a:lvl1pPr algn="ctr" rtl="0" fontAlgn="base">
        <a:spcBef>
          <a:spcPct val="0"/>
        </a:spcBef>
        <a:spcAft>
          <a:spcPct val="0"/>
        </a:spcAft>
        <a:defRPr lang="es-ES" sz="4400" dirty="0" smtClean="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lang="es-ES" sz="2000" dirty="0" smtClean="0">
          <a:solidFill>
            <a:schemeClr val="accent6">
              <a:lumMod val="75000"/>
            </a:schemeClr>
          </a:solidFill>
          <a:latin typeface="+mj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lang="es-ES" sz="2000" dirty="0" smtClean="0">
          <a:solidFill>
            <a:schemeClr val="accent6">
              <a:lumMod val="75000"/>
            </a:schemeClr>
          </a:solidFill>
          <a:latin typeface="+mj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lang="es-ES" sz="2000" dirty="0" smtClean="0">
          <a:solidFill>
            <a:schemeClr val="accent6">
              <a:lumMod val="75000"/>
            </a:schemeClr>
          </a:solidFill>
          <a:latin typeface="+mj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lang="es-ES" sz="2000" dirty="0" smtClean="0">
          <a:solidFill>
            <a:schemeClr val="accent6">
              <a:lumMod val="75000"/>
            </a:schemeClr>
          </a:solidFill>
          <a:latin typeface="+mj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lang="es-ES" sz="2000" dirty="0" smtClean="0">
          <a:solidFill>
            <a:schemeClr val="accent6">
              <a:lumMod val="75000"/>
            </a:schemeClr>
          </a:solidFill>
          <a:latin typeface="+mj-lt"/>
          <a:ea typeface="+mn-ea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34.xml"/><Relationship Id="rId1" Type="http://schemas.openxmlformats.org/officeDocument/2006/relationships/tags" Target="../tags/tag3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40.xml"/><Relationship Id="rId7" Type="http://schemas.openxmlformats.org/officeDocument/2006/relationships/notesSlide" Target="../notesSlides/notesSlide2.xml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42.xml"/><Relationship Id="rId4" Type="http://schemas.openxmlformats.org/officeDocument/2006/relationships/tags" Target="../tags/tag4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4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49.xml"/><Relationship Id="rId7" Type="http://schemas.openxmlformats.org/officeDocument/2006/relationships/image" Target="../media/image4.png"/><Relationship Id="rId2" Type="http://schemas.openxmlformats.org/officeDocument/2006/relationships/tags" Target="../tags/tag48.xml"/><Relationship Id="rId1" Type="http://schemas.openxmlformats.org/officeDocument/2006/relationships/tags" Target="../tags/tag47.xml"/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5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tags" Target="../tags/tag51.xml"/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5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57.xml"/><Relationship Id="rId7" Type="http://schemas.openxmlformats.org/officeDocument/2006/relationships/image" Target="../media/image5.png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5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61.xml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6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.xml"/><Relationship Id="rId3" Type="http://schemas.openxmlformats.org/officeDocument/2006/relationships/tags" Target="../tags/tag65.xml"/><Relationship Id="rId7" Type="http://schemas.openxmlformats.org/officeDocument/2006/relationships/diagramData" Target="../diagrams/data1.xml"/><Relationship Id="rId2" Type="http://schemas.openxmlformats.org/officeDocument/2006/relationships/tags" Target="../tags/tag64.xml"/><Relationship Id="rId1" Type="http://schemas.openxmlformats.org/officeDocument/2006/relationships/tags" Target="../tags/tag63.xml"/><Relationship Id="rId6" Type="http://schemas.openxmlformats.org/officeDocument/2006/relationships/notesSlide" Target="../notesSlides/notesSlide8.xml"/><Relationship Id="rId11" Type="http://schemas.microsoft.com/office/2007/relationships/diagramDrawing" Target="../diagrams/drawing1.xml"/><Relationship Id="rId5" Type="http://schemas.openxmlformats.org/officeDocument/2006/relationships/slideLayout" Target="../slideLayouts/slideLayout2.xml"/><Relationship Id="rId10" Type="http://schemas.openxmlformats.org/officeDocument/2006/relationships/diagramColors" Target="../diagrams/colors1.xml"/><Relationship Id="rId4" Type="http://schemas.openxmlformats.org/officeDocument/2006/relationships/tags" Target="../tags/tag66.xml"/><Relationship Id="rId9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69.xml"/><Relationship Id="rId7" Type="http://schemas.openxmlformats.org/officeDocument/2006/relationships/image" Target="../media/image3.png"/><Relationship Id="rId2" Type="http://schemas.openxmlformats.org/officeDocument/2006/relationships/tags" Target="../tags/tag68.xml"/><Relationship Id="rId1" Type="http://schemas.openxmlformats.org/officeDocument/2006/relationships/tags" Target="../tags/tag67.xml"/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24.xml"/><Relationship Id="rId4" Type="http://schemas.openxmlformats.org/officeDocument/2006/relationships/tags" Target="../tags/tag7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73.xml"/><Relationship Id="rId7" Type="http://schemas.openxmlformats.org/officeDocument/2006/relationships/image" Target="../media/image6.png"/><Relationship Id="rId2" Type="http://schemas.openxmlformats.org/officeDocument/2006/relationships/tags" Target="../tags/tag72.xml"/><Relationship Id="rId1" Type="http://schemas.openxmlformats.org/officeDocument/2006/relationships/tags" Target="../tags/tag71.xml"/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74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tags" Target="../tags/tag77.xml"/><Relationship Id="rId7" Type="http://schemas.openxmlformats.org/officeDocument/2006/relationships/image" Target="../media/image7.png"/><Relationship Id="rId2" Type="http://schemas.openxmlformats.org/officeDocument/2006/relationships/tags" Target="../tags/tag76.xml"/><Relationship Id="rId1" Type="http://schemas.openxmlformats.org/officeDocument/2006/relationships/tags" Target="../tags/tag75.xml"/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7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81.xml"/><Relationship Id="rId2" Type="http://schemas.openxmlformats.org/officeDocument/2006/relationships/tags" Target="../tags/tag80.xml"/><Relationship Id="rId1" Type="http://schemas.openxmlformats.org/officeDocument/2006/relationships/tags" Target="../tags/tag79.xml"/><Relationship Id="rId6" Type="http://schemas.openxmlformats.org/officeDocument/2006/relationships/notesSlide" Target="../notesSlides/notesSlide12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8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" Type="http://schemas.openxmlformats.org/officeDocument/2006/relationships/tags" Target="../tags/tag83.xml"/><Relationship Id="rId6" Type="http://schemas.openxmlformats.org/officeDocument/2006/relationships/notesSlide" Target="../notesSlides/notesSlide13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8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89.xml"/><Relationship Id="rId2" Type="http://schemas.openxmlformats.org/officeDocument/2006/relationships/tags" Target="../tags/tag88.xml"/><Relationship Id="rId1" Type="http://schemas.openxmlformats.org/officeDocument/2006/relationships/tags" Target="../tags/tag87.xml"/><Relationship Id="rId6" Type="http://schemas.openxmlformats.org/officeDocument/2006/relationships/notesSlide" Target="../notesSlides/notesSlide14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9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tags" Target="../tags/tag93.xml"/><Relationship Id="rId7" Type="http://schemas.openxmlformats.org/officeDocument/2006/relationships/image" Target="../media/image9.png"/><Relationship Id="rId2" Type="http://schemas.openxmlformats.org/officeDocument/2006/relationships/tags" Target="../tags/tag92.xml"/><Relationship Id="rId1" Type="http://schemas.openxmlformats.org/officeDocument/2006/relationships/tags" Target="../tags/tag91.xml"/><Relationship Id="rId6" Type="http://schemas.openxmlformats.org/officeDocument/2006/relationships/notesSlide" Target="../notesSlides/notesSlide15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9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tags" Target="../tags/tag97.xml"/><Relationship Id="rId7" Type="http://schemas.openxmlformats.org/officeDocument/2006/relationships/image" Target="../media/image10.png"/><Relationship Id="rId2" Type="http://schemas.openxmlformats.org/officeDocument/2006/relationships/tags" Target="../tags/tag96.xml"/><Relationship Id="rId1" Type="http://schemas.openxmlformats.org/officeDocument/2006/relationships/tags" Target="../tags/tag95.xml"/><Relationship Id="rId6" Type="http://schemas.openxmlformats.org/officeDocument/2006/relationships/notesSlide" Target="../notesSlides/notesSlide16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9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tags" Target="../tags/tag101.xml"/><Relationship Id="rId2" Type="http://schemas.openxmlformats.org/officeDocument/2006/relationships/tags" Target="../tags/tag100.xml"/><Relationship Id="rId1" Type="http://schemas.openxmlformats.org/officeDocument/2006/relationships/tags" Target="../tags/tag99.xml"/><Relationship Id="rId6" Type="http://schemas.openxmlformats.org/officeDocument/2006/relationships/notesSlide" Target="../notesSlides/notesSlide17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0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tags" Target="../tags/tag105.xml"/><Relationship Id="rId7" Type="http://schemas.openxmlformats.org/officeDocument/2006/relationships/image" Target="../media/image11.png"/><Relationship Id="rId2" Type="http://schemas.openxmlformats.org/officeDocument/2006/relationships/tags" Target="../tags/tag104.xml"/><Relationship Id="rId1" Type="http://schemas.openxmlformats.org/officeDocument/2006/relationships/tags" Target="../tags/tag103.xml"/><Relationship Id="rId6" Type="http://schemas.openxmlformats.org/officeDocument/2006/relationships/notesSlide" Target="../notesSlides/notesSlide18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0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tags" Target="../tags/tag109.xml"/><Relationship Id="rId7" Type="http://schemas.openxmlformats.org/officeDocument/2006/relationships/image" Target="../media/image12.png"/><Relationship Id="rId2" Type="http://schemas.openxmlformats.org/officeDocument/2006/relationships/tags" Target="../tags/tag108.xml"/><Relationship Id="rId1" Type="http://schemas.openxmlformats.org/officeDocument/2006/relationships/tags" Target="../tags/tag107.xml"/><Relationship Id="rId6" Type="http://schemas.openxmlformats.org/officeDocument/2006/relationships/notesSlide" Target="../notesSlides/notesSlide19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1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tags" Target="../tags/tag113.xml"/><Relationship Id="rId7" Type="http://schemas.openxmlformats.org/officeDocument/2006/relationships/image" Target="../media/image13.png"/><Relationship Id="rId2" Type="http://schemas.openxmlformats.org/officeDocument/2006/relationships/tags" Target="../tags/tag112.xml"/><Relationship Id="rId1" Type="http://schemas.openxmlformats.org/officeDocument/2006/relationships/tags" Target="../tags/tag111.xml"/><Relationship Id="rId6" Type="http://schemas.openxmlformats.org/officeDocument/2006/relationships/notesSlide" Target="../notesSlides/notesSlide20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1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tags" Target="../tags/tag117.xml"/><Relationship Id="rId2" Type="http://schemas.openxmlformats.org/officeDocument/2006/relationships/tags" Target="../tags/tag116.xml"/><Relationship Id="rId1" Type="http://schemas.openxmlformats.org/officeDocument/2006/relationships/tags" Target="../tags/tag115.xml"/><Relationship Id="rId6" Type="http://schemas.openxmlformats.org/officeDocument/2006/relationships/notesSlide" Target="../notesSlides/notesSlide21.xml"/><Relationship Id="rId5" Type="http://schemas.openxmlformats.org/officeDocument/2006/relationships/slideLayout" Target="../slideLayouts/slideLayout24.xml"/><Relationship Id="rId4" Type="http://schemas.openxmlformats.org/officeDocument/2006/relationships/tags" Target="../tags/tag11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tags" Target="../tags/tag121.xml"/><Relationship Id="rId7" Type="http://schemas.openxmlformats.org/officeDocument/2006/relationships/image" Target="../media/image14.png"/><Relationship Id="rId2" Type="http://schemas.openxmlformats.org/officeDocument/2006/relationships/tags" Target="../tags/tag120.xml"/><Relationship Id="rId1" Type="http://schemas.openxmlformats.org/officeDocument/2006/relationships/tags" Target="../tags/tag119.xml"/><Relationship Id="rId6" Type="http://schemas.openxmlformats.org/officeDocument/2006/relationships/notesSlide" Target="../notesSlides/notesSlide22.xml"/><Relationship Id="rId5" Type="http://schemas.openxmlformats.org/officeDocument/2006/relationships/slideLayout" Target="../slideLayouts/slideLayout24.xml"/><Relationship Id="rId4" Type="http://schemas.openxmlformats.org/officeDocument/2006/relationships/tags" Target="../tags/tag12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tags" Target="../tags/tag125.xml"/><Relationship Id="rId7" Type="http://schemas.openxmlformats.org/officeDocument/2006/relationships/image" Target="../media/image16.png"/><Relationship Id="rId2" Type="http://schemas.openxmlformats.org/officeDocument/2006/relationships/tags" Target="../tags/tag124.xml"/><Relationship Id="rId1" Type="http://schemas.openxmlformats.org/officeDocument/2006/relationships/tags" Target="../tags/tag123.xml"/><Relationship Id="rId6" Type="http://schemas.openxmlformats.org/officeDocument/2006/relationships/notesSlide" Target="../notesSlides/notesSlide23.xml"/><Relationship Id="rId5" Type="http://schemas.openxmlformats.org/officeDocument/2006/relationships/slideLayout" Target="../slideLayouts/slideLayout24.xml"/><Relationship Id="rId4" Type="http://schemas.openxmlformats.org/officeDocument/2006/relationships/tags" Target="../tags/tag12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tags" Target="../tags/tag129.xml"/><Relationship Id="rId2" Type="http://schemas.openxmlformats.org/officeDocument/2006/relationships/tags" Target="../tags/tag128.xml"/><Relationship Id="rId1" Type="http://schemas.openxmlformats.org/officeDocument/2006/relationships/tags" Target="../tags/tag127.xml"/><Relationship Id="rId6" Type="http://schemas.openxmlformats.org/officeDocument/2006/relationships/notesSlide" Target="../notesSlides/notesSlide24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069B4DB-897F-428E-99EC-A4064FACEDB5}"/>
              </a:ext>
            </a:extLst>
          </p:cNvPr>
          <p:cNvSpPr/>
          <p:nvPr/>
        </p:nvSpPr>
        <p:spPr>
          <a:xfrm>
            <a:off x="1143000" y="836712"/>
            <a:ext cx="6858000" cy="73554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IN" sz="1350" dirty="0">
              <a:solidFill>
                <a:prstClr val="white"/>
              </a:solidFill>
              <a:latin typeface="Ebrima"/>
              <a:cs typeface="Arial"/>
            </a:endParaRPr>
          </a:p>
        </p:txBody>
      </p:sp>
      <p:sp>
        <p:nvSpPr>
          <p:cNvPr id="11" name="Rectangle 90">
            <a:extLst>
              <a:ext uri="{FF2B5EF4-FFF2-40B4-BE49-F238E27FC236}">
                <a16:creationId xmlns:a16="http://schemas.microsoft.com/office/drawing/2014/main" id="{D0B9B51B-4D28-4694-87F6-A539F10FF96D}"/>
              </a:ext>
            </a:extLst>
          </p:cNvPr>
          <p:cNvSpPr>
            <a:spLocks noGrp="1" noChangeArrowheads="1"/>
          </p:cNvSpPr>
          <p:nvPr>
            <p:ph type="ctrTitle"/>
            <p:custDataLst>
              <p:tags r:id="rId1"/>
            </p:custDataLst>
          </p:nvPr>
        </p:nvSpPr>
        <p:spPr>
          <a:xfrm>
            <a:off x="1655676" y="2024844"/>
            <a:ext cx="5507182" cy="1951711"/>
          </a:xfrm>
        </p:spPr>
        <p:txBody>
          <a:bodyPr>
            <a:normAutofit/>
          </a:bodyPr>
          <a:lstStyle/>
          <a:p>
            <a:r>
              <a:rPr lang="en-US" sz="3300" b="1" dirty="0">
                <a:solidFill>
                  <a:schemeClr val="accent1"/>
                </a:solidFill>
              </a:rPr>
              <a:t>Weight of Evidence(WOE)</a:t>
            </a:r>
            <a:br>
              <a:rPr lang="en-US" sz="3300" b="1" dirty="0">
                <a:solidFill>
                  <a:schemeClr val="accent1"/>
                </a:solidFill>
              </a:rPr>
            </a:br>
            <a:r>
              <a:rPr lang="en-US" sz="3300" b="1" dirty="0">
                <a:solidFill>
                  <a:schemeClr val="accent1"/>
                </a:solidFill>
              </a:rPr>
              <a:t>Information Value(IV)</a:t>
            </a:r>
            <a:endParaRPr lang="es-ES" sz="33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1370271"/>
      </p:ext>
    </p:extLst>
  </p:cSld>
  <p:clrMapOvr>
    <a:masterClrMapping/>
  </p:clrMapOvr>
  <p:transition spd="slow">
    <p:push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2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457200" y="274048"/>
            <a:ext cx="8229600" cy="8108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lang="en-US" sz="4400" dirty="0">
                <a:solidFill>
                  <a:schemeClr val="accent6">
                    <a:lumMod val="60000"/>
                    <a:lumOff val="40000"/>
                  </a:schemeClr>
                </a:solidFill>
                <a:latin typeface="Eras Demi ITC" pitchFamily="34" charset="0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sz="3200" b="1" dirty="0">
                <a:solidFill>
                  <a:schemeClr val="accent1"/>
                </a:solidFill>
                <a:latin typeface="+mj-lt"/>
              </a:rPr>
              <a:t>Contents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1991225" y="1155160"/>
            <a:ext cx="5161551" cy="52403"/>
            <a:chOff x="1991225" y="1155160"/>
            <a:chExt cx="5161551" cy="52403"/>
          </a:xfrm>
        </p:grpSpPr>
        <p:sp>
          <p:nvSpPr>
            <p:cNvPr id="12" name="Rectangle 11"/>
            <p:cNvSpPr/>
            <p:nvPr>
              <p:custDataLst>
                <p:tags r:id="rId3"/>
              </p:custDataLst>
            </p:nvPr>
          </p:nvSpPr>
          <p:spPr>
            <a:xfrm>
              <a:off x="1991225" y="1155160"/>
              <a:ext cx="1781908" cy="5240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13" name="Rectangle 12"/>
            <p:cNvSpPr/>
            <p:nvPr>
              <p:custDataLst>
                <p:tags r:id="rId4"/>
              </p:custDataLst>
            </p:nvPr>
          </p:nvSpPr>
          <p:spPr>
            <a:xfrm>
              <a:off x="3902613" y="1155160"/>
              <a:ext cx="1338774" cy="5240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14" name="Rectangle 13"/>
            <p:cNvSpPr/>
            <p:nvPr>
              <p:custDataLst>
                <p:tags r:id="rId5"/>
              </p:custDataLst>
            </p:nvPr>
          </p:nvSpPr>
          <p:spPr>
            <a:xfrm>
              <a:off x="5370868" y="1155160"/>
              <a:ext cx="1781908" cy="52403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prstClr val="white"/>
                </a:solidFill>
              </a:endParaRPr>
            </a:p>
          </p:txBody>
        </p:sp>
      </p:grpSp>
      <p:sp>
        <p:nvSpPr>
          <p:cNvPr id="15" name="Content Placeholder 1"/>
          <p:cNvSpPr txBox="1">
            <a:spLocks/>
          </p:cNvSpPr>
          <p:nvPr>
            <p:custDataLst>
              <p:tags r:id="rId2"/>
            </p:custDataLst>
          </p:nvPr>
        </p:nvSpPr>
        <p:spPr bwMode="auto">
          <a:xfrm>
            <a:off x="457200" y="1594772"/>
            <a:ext cx="8229600" cy="4297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lang="en-US" sz="2000" dirty="0" smtClean="0">
                <a:solidFill>
                  <a:schemeClr val="accent6">
                    <a:lumMod val="75000"/>
                  </a:schemeClr>
                </a:solidFill>
                <a:latin typeface="Eras Demi ITC" pitchFamily="34" charset="0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lang="en-US" sz="2000" dirty="0" smtClean="0">
                <a:solidFill>
                  <a:schemeClr val="accent6">
                    <a:lumMod val="75000"/>
                  </a:schemeClr>
                </a:solidFill>
                <a:latin typeface="Eras Demi ITC" pitchFamily="34" charset="0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lang="en-US" sz="2000" dirty="0" smtClean="0">
                <a:solidFill>
                  <a:schemeClr val="accent6">
                    <a:lumMod val="75000"/>
                  </a:schemeClr>
                </a:solidFill>
                <a:latin typeface="Eras Demi ITC" pitchFamily="34" charset="0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lang="en-US" sz="2000" dirty="0" smtClean="0">
                <a:solidFill>
                  <a:schemeClr val="accent6">
                    <a:lumMod val="75000"/>
                  </a:schemeClr>
                </a:solidFill>
                <a:latin typeface="Eras Demi ITC" pitchFamily="34" charset="0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lang="en-US" sz="2000" dirty="0">
                <a:solidFill>
                  <a:schemeClr val="accent6">
                    <a:lumMod val="75000"/>
                  </a:schemeClr>
                </a:solidFill>
                <a:latin typeface="Eras Demi ITC" pitchFamily="34" charset="0"/>
                <a:ea typeface="+mn-ea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457200" indent="-457200">
              <a:buFont typeface="+mj-lt"/>
              <a:buAutoNum type="arabicPeriod"/>
            </a:pPr>
            <a:r>
              <a:rPr lang="en-IN" b="1" dirty="0">
                <a:solidFill>
                  <a:schemeClr val="tx1">
                    <a:lumMod val="50000"/>
                    <a:lumOff val="50000"/>
                  </a:schemeClr>
                </a:solidFill>
                <a:latin typeface="Ebrima" pitchFamily="2" charset="0"/>
                <a:ea typeface="Ebrima" pitchFamily="2" charset="0"/>
                <a:cs typeface="Ebrima" pitchFamily="2" charset="0"/>
              </a:rPr>
              <a:t>Handling Categorical Variables</a:t>
            </a:r>
          </a:p>
          <a:p>
            <a:pPr marL="457200" indent="-457200">
              <a:buFont typeface="+mj-lt"/>
              <a:buAutoNum type="arabicPeriod"/>
            </a:pPr>
            <a:r>
              <a:rPr lang="en-IN" b="1" dirty="0">
                <a:solidFill>
                  <a:schemeClr val="tx1">
                    <a:lumMod val="50000"/>
                    <a:lumOff val="50000"/>
                  </a:schemeClr>
                </a:solidFill>
                <a:latin typeface="Ebrima" pitchFamily="2" charset="0"/>
                <a:ea typeface="Ebrima" pitchFamily="2" charset="0"/>
                <a:cs typeface="Ebrima" pitchFamily="2" charset="0"/>
              </a:rPr>
              <a:t>Weight of Evidence (WoE)</a:t>
            </a:r>
          </a:p>
          <a:p>
            <a:pPr marL="457200" indent="-457200">
              <a:buFont typeface="+mj-lt"/>
              <a:buAutoNum type="arabicPeriod"/>
            </a:pPr>
            <a:r>
              <a:rPr lang="en-IN" b="1" dirty="0">
                <a:solidFill>
                  <a:schemeClr val="tx1">
                    <a:lumMod val="50000"/>
                    <a:lumOff val="50000"/>
                  </a:schemeClr>
                </a:solidFill>
                <a:latin typeface="Ebrima" pitchFamily="2" charset="0"/>
                <a:ea typeface="Ebrima" pitchFamily="2" charset="0"/>
                <a:cs typeface="Ebrima" pitchFamily="2" charset="0"/>
              </a:rPr>
              <a:t>Information Value</a:t>
            </a:r>
          </a:p>
          <a:p>
            <a:pPr marL="457200" indent="-457200">
              <a:buFont typeface="+mj-lt"/>
              <a:buAutoNum type="arabicPeriod"/>
            </a:pPr>
            <a:r>
              <a:rPr lang="en-IN" b="1" dirty="0">
                <a:solidFill>
                  <a:schemeClr val="tx1">
                    <a:lumMod val="50000"/>
                    <a:lumOff val="50000"/>
                  </a:schemeClr>
                </a:solidFill>
                <a:latin typeface="Ebrima" pitchFamily="2" charset="0"/>
                <a:ea typeface="Ebrima" pitchFamily="2" charset="0"/>
                <a:cs typeface="Ebrima" pitchFamily="2" charset="0"/>
              </a:rPr>
              <a:t>WoE and Information Value in Python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A7003EEB-EF6C-48D9-B09B-CE4B15ADF563}" type="slidenum">
              <a:rPr lang="en-US" smtClean="0"/>
              <a:pPr algn="r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8941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457200" y="103595"/>
            <a:ext cx="8229600" cy="810805"/>
          </a:xfrm>
        </p:spPr>
        <p:txBody>
          <a:bodyPr/>
          <a:lstStyle/>
          <a:p>
            <a:r>
              <a:rPr lang="en-IN" sz="2800" b="1" dirty="0">
                <a:solidFill>
                  <a:schemeClr val="accent1"/>
                </a:solidFill>
                <a:latin typeface="+mj-lt"/>
              </a:rPr>
              <a:t>Handling Categorical Variables In Statistical Models</a:t>
            </a:r>
            <a:endParaRPr lang="en-US" sz="2800" b="1" dirty="0">
              <a:solidFill>
                <a:schemeClr val="accent1"/>
              </a:solidFill>
              <a:latin typeface="+mj-lt"/>
            </a:endParaRPr>
          </a:p>
        </p:txBody>
      </p:sp>
      <p:grpSp>
        <p:nvGrpSpPr>
          <p:cNvPr id="16" name="Group 15"/>
          <p:cNvGrpSpPr/>
          <p:nvPr/>
        </p:nvGrpSpPr>
        <p:grpSpPr>
          <a:xfrm>
            <a:off x="1991225" y="914400"/>
            <a:ext cx="5161551" cy="52403"/>
            <a:chOff x="1991225" y="1155160"/>
            <a:chExt cx="5161551" cy="52403"/>
          </a:xfrm>
        </p:grpSpPr>
        <p:sp>
          <p:nvSpPr>
            <p:cNvPr id="17" name="Rectangle 16"/>
            <p:cNvSpPr/>
            <p:nvPr>
              <p:custDataLst>
                <p:tags r:id="rId2"/>
              </p:custDataLst>
            </p:nvPr>
          </p:nvSpPr>
          <p:spPr>
            <a:xfrm>
              <a:off x="1991225" y="1155160"/>
              <a:ext cx="1781908" cy="5240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18" name="Rectangle 17"/>
            <p:cNvSpPr/>
            <p:nvPr>
              <p:custDataLst>
                <p:tags r:id="rId3"/>
              </p:custDataLst>
            </p:nvPr>
          </p:nvSpPr>
          <p:spPr>
            <a:xfrm>
              <a:off x="3902613" y="1155160"/>
              <a:ext cx="1338774" cy="5240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19" name="Rectangle 18"/>
            <p:cNvSpPr/>
            <p:nvPr>
              <p:custDataLst>
                <p:tags r:id="rId4"/>
              </p:custDataLst>
            </p:nvPr>
          </p:nvSpPr>
          <p:spPr>
            <a:xfrm>
              <a:off x="5370868" y="1155160"/>
              <a:ext cx="1781908" cy="52403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prstClr val="white"/>
                </a:solidFill>
              </a:endParaRPr>
            </a:p>
          </p:txBody>
        </p:sp>
      </p:grp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>
          <a:xfrm>
            <a:off x="8458200" y="6245225"/>
            <a:ext cx="2133600" cy="476250"/>
          </a:xfr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A7003EEB-EF6C-48D9-B09B-CE4B15ADF563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CE421D91-8C15-413F-944D-F787366C38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562600"/>
          </a:xfrm>
        </p:spPr>
        <p:txBody>
          <a:bodyPr/>
          <a:lstStyle/>
          <a:p>
            <a:pPr indent="-285750">
              <a:lnSpc>
                <a:spcPct val="150000"/>
              </a:lnSpc>
              <a:buFont typeface="Arial" pitchFamily="34" charset="0"/>
              <a:buChar char="•"/>
            </a:pPr>
            <a:endParaRPr lang="en-IN" sz="1600" kern="12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  <a:p>
            <a:pPr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IN" sz="16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In classification or regression problems independent variables can either be continuous or categorical. Categorical variable can have limited number of categories or many categories as shown in the following table. </a:t>
            </a:r>
          </a:p>
          <a:p>
            <a:pPr indent="-285750">
              <a:lnSpc>
                <a:spcPct val="150000"/>
              </a:lnSpc>
              <a:buFont typeface="Arial" pitchFamily="34" charset="0"/>
              <a:buChar char="•"/>
            </a:pPr>
            <a:endParaRPr lang="en-IN" sz="1600" kern="12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  <a:p>
            <a:pPr indent="-285750">
              <a:lnSpc>
                <a:spcPct val="150000"/>
              </a:lnSpc>
              <a:buFont typeface="Arial" pitchFamily="34" charset="0"/>
              <a:buChar char="•"/>
            </a:pPr>
            <a:endParaRPr lang="en-IN" sz="1600" kern="12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  <a:p>
            <a:pPr indent="-285750">
              <a:lnSpc>
                <a:spcPct val="150000"/>
              </a:lnSpc>
              <a:buFont typeface="Arial" pitchFamily="34" charset="0"/>
              <a:buChar char="•"/>
            </a:pPr>
            <a:endParaRPr lang="en-IN" sz="1600" kern="12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  <a:p>
            <a:pPr indent="-285750">
              <a:lnSpc>
                <a:spcPct val="150000"/>
              </a:lnSpc>
              <a:buFont typeface="Arial" pitchFamily="34" charset="0"/>
              <a:buChar char="•"/>
            </a:pPr>
            <a:endParaRPr lang="en-IN" sz="1600" kern="12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  <a:p>
            <a:pPr indent="-285750">
              <a:lnSpc>
                <a:spcPct val="150000"/>
              </a:lnSpc>
              <a:buFont typeface="Arial" pitchFamily="34" charset="0"/>
              <a:buChar char="•"/>
            </a:pPr>
            <a:endParaRPr lang="en-IN" sz="1600" kern="12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  <a:p>
            <a:pPr indent="-285750">
              <a:lnSpc>
                <a:spcPct val="150000"/>
              </a:lnSpc>
              <a:buFont typeface="Arial" pitchFamily="34" charset="0"/>
              <a:buChar char="•"/>
            </a:pPr>
            <a:endParaRPr lang="en-IN" sz="1600" kern="12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  <a:p>
            <a:pPr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IN" sz="16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Generally, when independent variables in statistical models are categorical, they are replaced and represented by Dummy Variables.</a:t>
            </a:r>
          </a:p>
          <a:p>
            <a:pPr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IN" sz="16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If there are k categorical variables, then they are represented by k-1 Dummy Variables.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0BEF9CB-760C-4972-BCFB-09E52CEAF6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0205687"/>
              </p:ext>
            </p:extLst>
          </p:nvPr>
        </p:nvGraphicFramePr>
        <p:xfrm>
          <a:off x="838200" y="2743200"/>
          <a:ext cx="7315200" cy="20086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7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b="1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</a:rPr>
                        <a:t>Type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b="1" dirty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Example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Variable</a:t>
                      </a:r>
                      <a:r>
                        <a:rPr lang="en-US" sz="16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 with limited categories</a:t>
                      </a:r>
                      <a:endParaRPr lang="en-US" sz="16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Age Groups:</a:t>
                      </a:r>
                      <a:r>
                        <a:rPr lang="en-US" sz="16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  Below 15 = 1, 15-25 = 2, Above 25 = 3</a:t>
                      </a:r>
                      <a:endParaRPr lang="en-US" sz="16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Variables</a:t>
                      </a:r>
                      <a:r>
                        <a:rPr lang="en-US" sz="16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 with large number of categories</a:t>
                      </a:r>
                      <a:endParaRPr lang="en-US" sz="16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City or</a:t>
                      </a:r>
                      <a:r>
                        <a:rPr lang="en-US" sz="16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 Country will have many levels</a:t>
                      </a:r>
                      <a:endParaRPr lang="en-US" sz="16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74701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457200" y="76200"/>
            <a:ext cx="8229600" cy="810805"/>
          </a:xfrm>
        </p:spPr>
        <p:txBody>
          <a:bodyPr/>
          <a:lstStyle/>
          <a:p>
            <a:r>
              <a:rPr lang="en-US" sz="3200" b="1" dirty="0">
                <a:solidFill>
                  <a:schemeClr val="accent1"/>
                </a:solidFill>
                <a:latin typeface="+mj-lt"/>
              </a:rPr>
              <a:t>Weight of Evidence (WoE)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1991225" y="914400"/>
            <a:ext cx="5161551" cy="52403"/>
            <a:chOff x="1991225" y="1155160"/>
            <a:chExt cx="5161551" cy="52403"/>
          </a:xfrm>
        </p:grpSpPr>
        <p:sp>
          <p:nvSpPr>
            <p:cNvPr id="17" name="Rectangle 16"/>
            <p:cNvSpPr/>
            <p:nvPr>
              <p:custDataLst>
                <p:tags r:id="rId2"/>
              </p:custDataLst>
            </p:nvPr>
          </p:nvSpPr>
          <p:spPr>
            <a:xfrm>
              <a:off x="1991225" y="1155160"/>
              <a:ext cx="1781908" cy="5240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18" name="Rectangle 17"/>
            <p:cNvSpPr/>
            <p:nvPr>
              <p:custDataLst>
                <p:tags r:id="rId3"/>
              </p:custDataLst>
            </p:nvPr>
          </p:nvSpPr>
          <p:spPr>
            <a:xfrm>
              <a:off x="3902613" y="1155160"/>
              <a:ext cx="1338774" cy="5240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19" name="Rectangle 18"/>
            <p:cNvSpPr/>
            <p:nvPr>
              <p:custDataLst>
                <p:tags r:id="rId4"/>
              </p:custDataLst>
            </p:nvPr>
          </p:nvSpPr>
          <p:spPr>
            <a:xfrm>
              <a:off x="5370868" y="1155160"/>
              <a:ext cx="1781908" cy="52403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prstClr val="white"/>
                </a:solidFill>
              </a:endParaRPr>
            </a:p>
          </p:txBody>
        </p:sp>
      </p:grp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r" defTabSz="914400" rtl="0" eaLnBrk="1" latinLnBrk="0" hangingPunct="1">
              <a:defRPr lang="es-ES" sz="1000" kern="1200" smtClean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1C7D3AF-160E-4D12-BF31-4D5E44749C5D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4</a:t>
            </a:fld>
            <a:endParaRPr lang="en-US" dirty="0"/>
          </a:p>
        </p:txBody>
      </p:sp>
      <p:sp>
        <p:nvSpPr>
          <p:cNvPr id="15" name="Content Placeholder 10">
            <a:extLst>
              <a:ext uri="{FF2B5EF4-FFF2-40B4-BE49-F238E27FC236}">
                <a16:creationId xmlns:a16="http://schemas.microsoft.com/office/drawing/2014/main" id="{7774CEC0-0593-4DBE-9BAC-4CFF1BA536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562600"/>
          </a:xfrm>
        </p:spPr>
        <p:txBody>
          <a:bodyPr/>
          <a:lstStyle/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6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Weight of Evidence (WoE) estimates the </a:t>
            </a:r>
            <a:r>
              <a:rPr lang="en-US" sz="16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predictive power of an independent variable in relation to the dependent variable.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6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WoE is originally used in credit risk analytics, as the method of separation of “good” and “bad” customers (Non-defaulters: Y=0 and Defaulters: Y=1)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6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WoE is defined as 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endParaRPr lang="en-US" sz="1600" kern="12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endParaRPr lang="en-US" sz="1600" kern="12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endParaRPr lang="en-US" sz="1600" kern="12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6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Here, </a:t>
            </a:r>
            <a:r>
              <a:rPr lang="en-US" sz="1600" b="1" kern="1200" dirty="0">
                <a:solidFill>
                  <a:schemeClr val="accent1"/>
                </a:solidFill>
                <a:latin typeface="+mn-lt"/>
              </a:rPr>
              <a:t>Distribution of Good </a:t>
            </a:r>
            <a:r>
              <a:rPr lang="en-US" sz="16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is the proportion of good customers in a category to total good customers</a:t>
            </a:r>
            <a:r>
              <a:rPr lang="en-US" sz="16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. Similarly</a:t>
            </a:r>
            <a:r>
              <a:rPr lang="en-US" sz="1600" b="1" kern="1200" dirty="0">
                <a:solidFill>
                  <a:schemeClr val="accent1"/>
                </a:solidFill>
                <a:latin typeface="+mn-lt"/>
              </a:rPr>
              <a:t>, Distribution of Bad </a:t>
            </a:r>
            <a:r>
              <a:rPr lang="en-US" sz="16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is the </a:t>
            </a:r>
            <a:r>
              <a:rPr lang="en-IN" sz="16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proportion of bad customers in a category to total bad customers</a:t>
            </a:r>
            <a:r>
              <a:rPr lang="en-US" sz="16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6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Using WoE ,we can assign continuous value for each category. For instance, if there are 50 cities then there will be 50 WoE values.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2BB175D-42AD-4A75-BB8F-8B01C619E1C6}"/>
                  </a:ext>
                </a:extLst>
              </p:cNvPr>
              <p:cNvSpPr txBox="1"/>
              <p:nvPr/>
            </p:nvSpPr>
            <p:spPr>
              <a:xfrm>
                <a:off x="2993551" y="2971800"/>
                <a:ext cx="3156898" cy="1052438"/>
              </a:xfrm>
              <a:prstGeom prst="round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/>
                                    </a:rPr>
                                    <m:t>Distribution</m:t>
                                  </m:r>
                                  <m:r>
                                    <a:rPr lang="en-US" b="0" i="0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/>
                                    </a:rPr>
                                    <m:t> 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/>
                                    </a:rPr>
                                    <m:t>of</m:t>
                                  </m:r>
                                  <m:r>
                                    <a:rPr lang="en-US" b="0" i="0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/>
                                    </a:rPr>
                                    <m:t> 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/>
                                        </a:rPr>
                                        <m:t>Good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/>
                                        </a:rPr>
                                        <m:t>i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/>
                                    </a:rPr>
                                    <m:t>Distribution</m:t>
                                  </m:r>
                                  <m:r>
                                    <a:rPr lang="en-US" b="0" i="0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/>
                                    </a:rPr>
                                    <m:t> 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/>
                                    </a:rPr>
                                    <m:t>of</m:t>
                                  </m:r>
                                  <m:r>
                                    <a:rPr lang="en-US" b="0" i="0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/>
                                    </a:rPr>
                                    <m:t> 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/>
                                        </a:rPr>
                                        <m:t>Bad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i="0"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/>
                                        </a:rPr>
                                        <m:t>i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2BB175D-42AD-4A75-BB8F-8B01C619E1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3551" y="2971800"/>
                <a:ext cx="3156898" cy="1052438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21369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1067658" y="2286000"/>
            <a:ext cx="7026167" cy="3048000"/>
            <a:chOff x="1186808" y="3517614"/>
            <a:chExt cx="7026167" cy="3048000"/>
          </a:xfrm>
        </p:grpSpPr>
        <p:sp>
          <p:nvSpPr>
            <p:cNvPr id="15" name="Rectangle 14"/>
            <p:cNvSpPr/>
            <p:nvPr/>
          </p:nvSpPr>
          <p:spPr>
            <a:xfrm>
              <a:off x="1519110" y="3518626"/>
              <a:ext cx="6693865" cy="3046988"/>
            </a:xfrm>
            <a:prstGeom prst="rect">
              <a:avLst/>
            </a:prstGeom>
            <a:solidFill>
              <a:schemeClr val="bg1">
                <a:lumMod val="95000"/>
                <a:alpha val="80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itchFamily="34" charset="0"/>
                <a:buChar char="•"/>
              </a:pPr>
              <a:r>
                <a:rPr 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Each category (bin) should have at least 5% of the observations.</a:t>
              </a:r>
            </a:p>
            <a:p>
              <a:pPr marL="285750" indent="-285750">
                <a:lnSpc>
                  <a:spcPct val="150000"/>
                </a:lnSpc>
                <a:buFont typeface="Arial" pitchFamily="34" charset="0"/>
                <a:buChar char="•"/>
              </a:pPr>
              <a:r>
                <a:rPr 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Each category (bin) should be non-zero for both non-events and events.</a:t>
              </a:r>
            </a:p>
            <a:p>
              <a:pPr marL="285750" indent="-285750">
                <a:lnSpc>
                  <a:spcPct val="150000"/>
                </a:lnSpc>
                <a:buFont typeface="Arial" pitchFamily="34" charset="0"/>
                <a:buChar char="•"/>
              </a:pPr>
              <a:r>
                <a:rPr 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The WoE should be distinct for each category. Similar groups should be aggregated.</a:t>
              </a:r>
            </a:p>
            <a:p>
              <a:pPr marL="285750" indent="-285750">
                <a:lnSpc>
                  <a:spcPct val="150000"/>
                </a:lnSpc>
                <a:buFont typeface="Arial" pitchFamily="34" charset="0"/>
                <a:buChar char="•"/>
              </a:pPr>
              <a:r>
                <a:rPr 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The WoE should be monotonic, i.e. either growing or decreasing with the groupings (Not applicable when groups are for character strings).</a:t>
              </a:r>
            </a:p>
            <a:p>
              <a:pPr marL="285750" indent="-285750">
                <a:lnSpc>
                  <a:spcPct val="150000"/>
                </a:lnSpc>
                <a:buFont typeface="Arial" pitchFamily="34" charset="0"/>
                <a:buChar char="•"/>
              </a:pPr>
              <a:r>
                <a:rPr 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Missing values are binned separately.</a:t>
              </a:r>
              <a:endPara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1186808" y="3517614"/>
              <a:ext cx="264702" cy="3046988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8" name="Frame 7"/>
          <p:cNvSpPr/>
          <p:nvPr/>
        </p:nvSpPr>
        <p:spPr>
          <a:xfrm>
            <a:off x="0" y="0"/>
            <a:ext cx="9144000" cy="6858000"/>
          </a:xfrm>
          <a:prstGeom prst="frame">
            <a:avLst>
              <a:gd name="adj1" fmla="val 1112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899634" y="1600200"/>
            <a:ext cx="48590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Some thumb rules related to Weight of Evidence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153400" y="6245225"/>
            <a:ext cx="2133600" cy="476250"/>
          </a:xfr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A7003EEB-EF6C-48D9-B09B-CE4B15ADF563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5</a:t>
            </a:fld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0A27B1D-54B2-470A-8744-35D8AD5EB95E}"/>
              </a:ext>
            </a:extLst>
          </p:cNvPr>
          <p:cNvGrpSpPr/>
          <p:nvPr/>
        </p:nvGrpSpPr>
        <p:grpSpPr>
          <a:xfrm>
            <a:off x="1981200" y="1014397"/>
            <a:ext cx="5161551" cy="52403"/>
            <a:chOff x="1991225" y="1155160"/>
            <a:chExt cx="5161551" cy="52403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30CFC867-BAD7-4595-96A8-7485DBB3EA4C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1991225" y="1155160"/>
              <a:ext cx="1781908" cy="5240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446A0A41-5D65-47D1-A736-2D8E618E2C51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3902613" y="1155160"/>
              <a:ext cx="1338774" cy="5240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86F84A72-AD04-4403-8BF3-BD111723055F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5370868" y="1155160"/>
              <a:ext cx="1781908" cy="52403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prstClr val="white"/>
                </a:solidFill>
              </a:endParaRPr>
            </a:p>
          </p:txBody>
        </p:sp>
      </p:grpSp>
      <p:sp>
        <p:nvSpPr>
          <p:cNvPr id="24" name="Rectangle 2">
            <a:extLst>
              <a:ext uri="{FF2B5EF4-FFF2-40B4-BE49-F238E27FC236}">
                <a16:creationId xmlns:a16="http://schemas.microsoft.com/office/drawing/2014/main" id="{C2EF8145-1FD3-45C1-8F57-25CB9A589112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09600" y="179795"/>
            <a:ext cx="8229600" cy="8108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lang="en-US" sz="4400" dirty="0">
                <a:solidFill>
                  <a:schemeClr val="accent1"/>
                </a:solidFill>
                <a:latin typeface="Eras Demi ITC" pitchFamily="34" charset="0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IN" sz="3200" b="1" kern="0" dirty="0">
                <a:latin typeface="+mj-lt"/>
              </a:rPr>
              <a:t>Get an Edge!</a:t>
            </a:r>
          </a:p>
        </p:txBody>
      </p:sp>
    </p:spTree>
    <p:extLst>
      <p:ext uri="{BB962C8B-B14F-4D97-AF65-F5344CB8AC3E}">
        <p14:creationId xmlns:p14="http://schemas.microsoft.com/office/powerpoint/2010/main" val="1190679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457200" y="76200"/>
            <a:ext cx="8229600" cy="810805"/>
          </a:xfrm>
        </p:spPr>
        <p:txBody>
          <a:bodyPr/>
          <a:lstStyle/>
          <a:p>
            <a:r>
              <a:rPr lang="en-US" sz="3200" b="1" dirty="0">
                <a:solidFill>
                  <a:schemeClr val="accent1"/>
                </a:solidFill>
                <a:latin typeface="+mj-lt"/>
              </a:rPr>
              <a:t>Information Value (IV)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1991225" y="914400"/>
            <a:ext cx="5161551" cy="52403"/>
            <a:chOff x="1991225" y="1155160"/>
            <a:chExt cx="5161551" cy="52403"/>
          </a:xfrm>
        </p:grpSpPr>
        <p:sp>
          <p:nvSpPr>
            <p:cNvPr id="17" name="Rectangle 16"/>
            <p:cNvSpPr/>
            <p:nvPr>
              <p:custDataLst>
                <p:tags r:id="rId2"/>
              </p:custDataLst>
            </p:nvPr>
          </p:nvSpPr>
          <p:spPr>
            <a:xfrm>
              <a:off x="1991225" y="1155160"/>
              <a:ext cx="1781908" cy="5240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18" name="Rectangle 17"/>
            <p:cNvSpPr/>
            <p:nvPr>
              <p:custDataLst>
                <p:tags r:id="rId3"/>
              </p:custDataLst>
            </p:nvPr>
          </p:nvSpPr>
          <p:spPr>
            <a:xfrm>
              <a:off x="3902613" y="1155160"/>
              <a:ext cx="1338774" cy="5240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19" name="Rectangle 18"/>
            <p:cNvSpPr/>
            <p:nvPr>
              <p:custDataLst>
                <p:tags r:id="rId4"/>
              </p:custDataLst>
            </p:nvPr>
          </p:nvSpPr>
          <p:spPr>
            <a:xfrm>
              <a:off x="5370868" y="1155160"/>
              <a:ext cx="1781908" cy="52403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prstClr val="white"/>
                </a:solidFill>
              </a:endParaRPr>
            </a:p>
          </p:txBody>
        </p:sp>
      </p:grp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r" defTabSz="914400" rtl="0" eaLnBrk="1" latinLnBrk="0" hangingPunct="1">
              <a:defRPr lang="es-ES" sz="1000" kern="1200" smtClean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1C7D3AF-160E-4D12-BF31-4D5E44749C5D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en-US" dirty="0"/>
          </a:p>
        </p:txBody>
      </p:sp>
      <p:sp>
        <p:nvSpPr>
          <p:cNvPr id="15" name="Content Placeholder 10">
            <a:extLst>
              <a:ext uri="{FF2B5EF4-FFF2-40B4-BE49-F238E27FC236}">
                <a16:creationId xmlns:a16="http://schemas.microsoft.com/office/drawing/2014/main" id="{7774CEC0-0593-4DBE-9BAC-4CFF1BA536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4678363"/>
          </a:xfrm>
        </p:spPr>
        <p:txBody>
          <a:bodyPr/>
          <a:lstStyle/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6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Information Value (IV) is a highly useful tool for variable selection.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6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The concept has its roots in entropy in information theory.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6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IV of an independent variable </a:t>
            </a:r>
            <a:r>
              <a:rPr lang="en-US" sz="16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expresses the amount of diagnostic information of that variable for separating the Goods from the Bads.</a:t>
            </a:r>
          </a:p>
          <a:p>
            <a:pPr>
              <a:lnSpc>
                <a:spcPct val="150000"/>
              </a:lnSpc>
            </a:pPr>
            <a:r>
              <a:rPr lang="en-US" sz="16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IV is calculated as </a:t>
            </a:r>
          </a:p>
          <a:p>
            <a:pPr>
              <a:lnSpc>
                <a:spcPct val="150000"/>
              </a:lnSpc>
            </a:pPr>
            <a:endParaRPr lang="en-US" sz="1600" kern="12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  <a:p>
            <a:pPr>
              <a:lnSpc>
                <a:spcPct val="150000"/>
              </a:lnSpc>
            </a:pPr>
            <a:endParaRPr lang="en-US" sz="1600" kern="12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  <a:p>
            <a:pPr>
              <a:lnSpc>
                <a:spcPct val="150000"/>
              </a:lnSpc>
            </a:pPr>
            <a:endParaRPr lang="en-US" sz="1600" kern="12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  <a:p>
            <a:pPr>
              <a:lnSpc>
                <a:spcPct val="150000"/>
              </a:lnSpc>
            </a:pPr>
            <a:endParaRPr lang="en-US" sz="1600" kern="12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  <a:p>
            <a:pPr>
              <a:lnSpc>
                <a:spcPct val="150000"/>
              </a:lnSpc>
            </a:pPr>
            <a:endParaRPr lang="en-US" sz="1600" kern="12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endParaRPr lang="en-US" sz="1600" kern="12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6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IV helps in ranking variables based on their importance.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endParaRPr lang="en-US" sz="1600" kern="12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5048496-9AD6-430C-BFC6-12E7ACB7E018}"/>
                  </a:ext>
                </a:extLst>
              </p:cNvPr>
              <p:cNvSpPr txBox="1"/>
              <p:nvPr/>
            </p:nvSpPr>
            <p:spPr>
              <a:xfrm>
                <a:off x="609600" y="3276600"/>
                <a:ext cx="8241691" cy="863641"/>
              </a:xfrm>
              <a:prstGeom prst="round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b="0" i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/>
                            </a:rPr>
                            <m:t>Distribution</m:t>
                          </m:r>
                          <m:r>
                            <a:rPr lang="en-US" b="0" i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/>
                            </a:rPr>
                            <m:t>of</m:t>
                          </m:r>
                          <m:r>
                            <a:rPr lang="en-US" b="0" i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/>
                                </a:rPr>
                                <m:t>Good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/>
                                </a:rPr>
                                <m:t>i</m:t>
                              </m:r>
                            </m:sub>
                          </m:sSub>
                          <m:r>
                            <a:rPr lang="en-US" b="0" i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/>
                            </a:rPr>
                            <m:t>Distribution</m:t>
                          </m:r>
                          <m:r>
                            <a:rPr lang="en-US" b="0" i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/>
                            </a:rPr>
                            <m:t>of</m:t>
                          </m:r>
                          <m:r>
                            <a:rPr lang="en-US" b="0" i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/>
                                </a:rPr>
                                <m:t>Bad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/>
                                </a:rPr>
                                <m:t>i</m:t>
                              </m:r>
                            </m:sub>
                          </m:sSub>
                          <m:r>
                            <a:rPr lang="en-US" b="0" i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/>
                            </a:rPr>
                            <m:t>)</m:t>
                          </m:r>
                        </m:e>
                      </m:nary>
                      <m:r>
                        <a:rPr lang="en-US" i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  <m:func>
                        <m:funcPr>
                          <m:ctrlPr>
                            <a:rPr lang="en-US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i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US" i="1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US" i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/>
                                    </a:rPr>
                                    <m:t>Distribution</m:t>
                                  </m:r>
                                  <m:r>
                                    <a:rPr lang="en-US" i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/>
                                    </a:rPr>
                                    <m:t> 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i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/>
                                    </a:rPr>
                                    <m:t>of</m:t>
                                  </m:r>
                                  <m:r>
                                    <a:rPr lang="en-US" i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/>
                                    </a:rPr>
                                    <m:t> 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i="0"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/>
                                        </a:rPr>
                                        <m:t>Good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i="0"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/>
                                        </a:rPr>
                                        <m:t>i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m:rPr>
                                      <m:sty m:val="p"/>
                                    </m:rPr>
                                    <a:rPr lang="en-US" i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/>
                                    </a:rPr>
                                    <m:t>Distribution</m:t>
                                  </m:r>
                                  <m:r>
                                    <a:rPr lang="en-US" i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/>
                                    </a:rPr>
                                    <m:t> 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i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/>
                                    </a:rPr>
                                    <m:t>of</m:t>
                                  </m:r>
                                  <m:r>
                                    <a:rPr lang="en-US" i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/>
                                    </a:rPr>
                                    <m:t> 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i="0"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/>
                                        </a:rPr>
                                        <m:t>Bad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i="0"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/>
                                        </a:rPr>
                                        <m:t>i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5048496-9AD6-430C-BFC6-12E7ACB7E0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3276600"/>
                <a:ext cx="8241691" cy="863641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C9614352-5471-46BC-A5CE-E98A6E362316}"/>
              </a:ext>
            </a:extLst>
          </p:cNvPr>
          <p:cNvGrpSpPr/>
          <p:nvPr/>
        </p:nvGrpSpPr>
        <p:grpSpPr>
          <a:xfrm>
            <a:off x="6662227" y="4267200"/>
            <a:ext cx="1338773" cy="1121568"/>
            <a:chOff x="6426239" y="3523484"/>
            <a:chExt cx="1338773" cy="1121568"/>
          </a:xfrm>
        </p:grpSpPr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D297DD50-ED91-4BA1-A4BC-AC14360DFBBB}"/>
                </a:ext>
              </a:extLst>
            </p:cNvPr>
            <p:cNvCxnSpPr/>
            <p:nvPr/>
          </p:nvCxnSpPr>
          <p:spPr>
            <a:xfrm flipV="1">
              <a:off x="7086600" y="3523484"/>
              <a:ext cx="0" cy="362716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ounded Rectangle 7">
              <a:extLst>
                <a:ext uri="{FF2B5EF4-FFF2-40B4-BE49-F238E27FC236}">
                  <a16:creationId xmlns:a16="http://schemas.microsoft.com/office/drawing/2014/main" id="{4F584CF8-ABD9-4EE8-BB70-1E8EEA4DC21D}"/>
                </a:ext>
              </a:extLst>
            </p:cNvPr>
            <p:cNvSpPr/>
            <p:nvPr/>
          </p:nvSpPr>
          <p:spPr>
            <a:xfrm>
              <a:off x="6426239" y="3889349"/>
              <a:ext cx="1338773" cy="755703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Weight of Evidence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54871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457200" y="76200"/>
            <a:ext cx="8229600" cy="810805"/>
          </a:xfrm>
        </p:spPr>
        <p:txBody>
          <a:bodyPr/>
          <a:lstStyle/>
          <a:p>
            <a:r>
              <a:rPr lang="en-US" sz="3200" b="1" dirty="0">
                <a:solidFill>
                  <a:schemeClr val="accent1"/>
                </a:solidFill>
                <a:latin typeface="+mj-lt"/>
              </a:rPr>
              <a:t>Information Value (IV)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1991225" y="914400"/>
            <a:ext cx="5161551" cy="52403"/>
            <a:chOff x="1991225" y="1155160"/>
            <a:chExt cx="5161551" cy="52403"/>
          </a:xfrm>
        </p:grpSpPr>
        <p:sp>
          <p:nvSpPr>
            <p:cNvPr id="17" name="Rectangle 16"/>
            <p:cNvSpPr/>
            <p:nvPr>
              <p:custDataLst>
                <p:tags r:id="rId2"/>
              </p:custDataLst>
            </p:nvPr>
          </p:nvSpPr>
          <p:spPr>
            <a:xfrm>
              <a:off x="1991225" y="1155160"/>
              <a:ext cx="1781908" cy="5240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18" name="Rectangle 17"/>
            <p:cNvSpPr/>
            <p:nvPr>
              <p:custDataLst>
                <p:tags r:id="rId3"/>
              </p:custDataLst>
            </p:nvPr>
          </p:nvSpPr>
          <p:spPr>
            <a:xfrm>
              <a:off x="3902613" y="1155160"/>
              <a:ext cx="1338774" cy="5240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19" name="Rectangle 18"/>
            <p:cNvSpPr/>
            <p:nvPr>
              <p:custDataLst>
                <p:tags r:id="rId4"/>
              </p:custDataLst>
            </p:nvPr>
          </p:nvSpPr>
          <p:spPr>
            <a:xfrm>
              <a:off x="5370868" y="1155160"/>
              <a:ext cx="1781908" cy="52403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prstClr val="white"/>
                </a:solidFill>
              </a:endParaRPr>
            </a:p>
          </p:txBody>
        </p:sp>
      </p:grp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r" defTabSz="914400" rtl="0" eaLnBrk="1" latinLnBrk="0" hangingPunct="1">
              <a:defRPr lang="es-ES" sz="1000" kern="1200" smtClean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1C7D3AF-160E-4D12-BF31-4D5E44749C5D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7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49A2DC2-9448-4013-B269-239CC6E78282}"/>
              </a:ext>
            </a:extLst>
          </p:cNvPr>
          <p:cNvSpPr txBox="1"/>
          <p:nvPr/>
        </p:nvSpPr>
        <p:spPr>
          <a:xfrm>
            <a:off x="548640" y="1295400"/>
            <a:ext cx="8046721" cy="415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By convention, information values can be interpreted as follows:</a:t>
            </a: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16908611-F91D-4900-AA7D-473E3E795B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9685805"/>
              </p:ext>
            </p:extLst>
          </p:nvPr>
        </p:nvGraphicFramePr>
        <p:xfrm>
          <a:off x="685800" y="1905000"/>
          <a:ext cx="7315200" cy="297180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7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642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b="1" dirty="0">
                          <a:solidFill>
                            <a:schemeClr val="accent1"/>
                          </a:solidFill>
                        </a:rPr>
                        <a:t>Value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b="1" dirty="0">
                          <a:solidFill>
                            <a:schemeClr val="accent1"/>
                          </a:solidFill>
                        </a:rPr>
                        <a:t>Predictive Power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07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&lt; 0.02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Not useful for prediction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07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0.02 to</a:t>
                      </a:r>
                      <a:r>
                        <a:rPr lang="en-US" sz="16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 0.1</a:t>
                      </a:r>
                      <a:endParaRPr lang="en-US" sz="16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Weak predictor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07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0.1 to 0.3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Medium predictor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07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0.3 to 0.5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Strong predictor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07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&gt;</a:t>
                      </a:r>
                      <a:r>
                        <a:rPr lang="en-US" sz="16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 0.5</a:t>
                      </a:r>
                      <a:endParaRPr lang="en-US" sz="16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Suspicious</a:t>
                      </a:r>
                      <a:r>
                        <a:rPr lang="en-US" sz="16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 predictive power</a:t>
                      </a:r>
                      <a:endParaRPr lang="en-US" sz="16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078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228600" y="76200"/>
            <a:ext cx="8686800" cy="810805"/>
          </a:xfrm>
        </p:spPr>
        <p:txBody>
          <a:bodyPr/>
          <a:lstStyle/>
          <a:p>
            <a:r>
              <a:rPr lang="en-US" sz="3200" b="1" dirty="0">
                <a:solidFill>
                  <a:schemeClr val="accent1"/>
                </a:solidFill>
                <a:latin typeface="+mj-lt"/>
              </a:rPr>
              <a:t>Case Study – Predicting Loan Defaulters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1991225" y="914400"/>
            <a:ext cx="5161551" cy="52403"/>
            <a:chOff x="1991225" y="1155160"/>
            <a:chExt cx="5161551" cy="52403"/>
          </a:xfrm>
        </p:grpSpPr>
        <p:sp>
          <p:nvSpPr>
            <p:cNvPr id="17" name="Rectangle 16"/>
            <p:cNvSpPr/>
            <p:nvPr>
              <p:custDataLst>
                <p:tags r:id="rId2"/>
              </p:custDataLst>
            </p:nvPr>
          </p:nvSpPr>
          <p:spPr>
            <a:xfrm>
              <a:off x="1991225" y="1155160"/>
              <a:ext cx="1781908" cy="5240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18" name="Rectangle 17"/>
            <p:cNvSpPr/>
            <p:nvPr>
              <p:custDataLst>
                <p:tags r:id="rId3"/>
              </p:custDataLst>
            </p:nvPr>
          </p:nvSpPr>
          <p:spPr>
            <a:xfrm>
              <a:off x="3902613" y="1155160"/>
              <a:ext cx="1338774" cy="5240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19" name="Rectangle 18"/>
            <p:cNvSpPr/>
            <p:nvPr>
              <p:custDataLst>
                <p:tags r:id="rId4"/>
              </p:custDataLst>
            </p:nvPr>
          </p:nvSpPr>
          <p:spPr>
            <a:xfrm>
              <a:off x="5370868" y="1155160"/>
              <a:ext cx="1781908" cy="52403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prstClr val="white"/>
                </a:solidFill>
              </a:endParaRPr>
            </a:p>
          </p:txBody>
        </p:sp>
      </p:grp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r" defTabSz="914400" rtl="0" eaLnBrk="1" latinLnBrk="0" hangingPunct="1">
              <a:defRPr lang="es-ES" sz="1000" kern="1200" smtClean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1C7D3AF-160E-4D12-BF31-4D5E44749C5D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8</a:t>
            </a:fld>
            <a:endParaRPr lang="en-US" dirty="0"/>
          </a:p>
        </p:txBody>
      </p:sp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8C20B2A3-34F1-47E3-A856-21B102FC482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76830616"/>
              </p:ext>
            </p:extLst>
          </p:nvPr>
        </p:nvGraphicFramePr>
        <p:xfrm>
          <a:off x="914400" y="1371600"/>
          <a:ext cx="7315200" cy="5029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1037795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2B8A0A3-A13D-4FCE-ABE0-FBF46A9D849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6800" y="1819275"/>
            <a:ext cx="7086600" cy="3438525"/>
          </a:xfrm>
          <a:prstGeom prst="rect">
            <a:avLst/>
          </a:prstGeom>
        </p:spPr>
      </p:pic>
      <p:sp>
        <p:nvSpPr>
          <p:cNvPr id="13" name="Left Brace 12">
            <a:extLst>
              <a:ext uri="{FF2B5EF4-FFF2-40B4-BE49-F238E27FC236}">
                <a16:creationId xmlns:a16="http://schemas.microsoft.com/office/drawing/2014/main" id="{C15E66B4-5F76-4D79-8A4E-34BDC426D774}"/>
              </a:ext>
            </a:extLst>
          </p:cNvPr>
          <p:cNvSpPr/>
          <p:nvPr/>
        </p:nvSpPr>
        <p:spPr>
          <a:xfrm>
            <a:off x="609600" y="2508041"/>
            <a:ext cx="343188" cy="1673434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106498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457200" y="27395"/>
            <a:ext cx="8229600" cy="810805"/>
          </a:xfrm>
        </p:spPr>
        <p:txBody>
          <a:bodyPr/>
          <a:lstStyle/>
          <a:p>
            <a:r>
              <a:rPr lang="en-IN" sz="3200" b="1" dirty="0">
                <a:solidFill>
                  <a:schemeClr val="accent1"/>
                </a:solidFill>
                <a:latin typeface="+mj-lt"/>
              </a:rPr>
              <a:t>Data Snapshot</a:t>
            </a:r>
            <a:endParaRPr lang="en-US" sz="3200" b="1" dirty="0">
              <a:solidFill>
                <a:schemeClr val="accent1"/>
              </a:solidFill>
              <a:latin typeface="+mj-lt"/>
            </a:endParaRPr>
          </a:p>
        </p:txBody>
      </p:sp>
      <p:grpSp>
        <p:nvGrpSpPr>
          <p:cNvPr id="16" name="Group 15"/>
          <p:cNvGrpSpPr/>
          <p:nvPr/>
        </p:nvGrpSpPr>
        <p:grpSpPr>
          <a:xfrm>
            <a:off x="1991225" y="861997"/>
            <a:ext cx="5161551" cy="52403"/>
            <a:chOff x="1991225" y="1155160"/>
            <a:chExt cx="5161551" cy="52403"/>
          </a:xfrm>
        </p:grpSpPr>
        <p:sp>
          <p:nvSpPr>
            <p:cNvPr id="17" name="Rectangle 16"/>
            <p:cNvSpPr/>
            <p:nvPr>
              <p:custDataLst>
                <p:tags r:id="rId2"/>
              </p:custDataLst>
            </p:nvPr>
          </p:nvSpPr>
          <p:spPr>
            <a:xfrm>
              <a:off x="1991225" y="1155160"/>
              <a:ext cx="1781908" cy="5240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18" name="Rectangle 17"/>
            <p:cNvSpPr/>
            <p:nvPr>
              <p:custDataLst>
                <p:tags r:id="rId3"/>
              </p:custDataLst>
            </p:nvPr>
          </p:nvSpPr>
          <p:spPr>
            <a:xfrm>
              <a:off x="3902613" y="1155160"/>
              <a:ext cx="1338774" cy="5240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19" name="Rectangle 18"/>
            <p:cNvSpPr/>
            <p:nvPr>
              <p:custDataLst>
                <p:tags r:id="rId4"/>
              </p:custDataLst>
            </p:nvPr>
          </p:nvSpPr>
          <p:spPr>
            <a:xfrm>
              <a:off x="5370868" y="1155160"/>
              <a:ext cx="1781908" cy="52403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/>
              <a:t>9</a:t>
            </a:fld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3AB59888-FC50-4227-A474-1405363DAA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700904"/>
              </p:ext>
            </p:extLst>
          </p:nvPr>
        </p:nvGraphicFramePr>
        <p:xfrm>
          <a:off x="914400" y="2276364"/>
          <a:ext cx="7543801" cy="4520676"/>
        </p:xfrm>
        <a:graphic>
          <a:graphicData uri="http://schemas.openxmlformats.org/drawingml/2006/table">
            <a:tbl>
              <a:tblPr/>
              <a:tblGrid>
                <a:gridCol w="1099736">
                  <a:extLst>
                    <a:ext uri="{9D8B030D-6E8A-4147-A177-3AD203B41FA5}">
                      <a16:colId xmlns:a16="http://schemas.microsoft.com/office/drawing/2014/main" val="3024987749"/>
                    </a:ext>
                  </a:extLst>
                </a:gridCol>
                <a:gridCol w="2025829">
                  <a:extLst>
                    <a:ext uri="{9D8B030D-6E8A-4147-A177-3AD203B41FA5}">
                      <a16:colId xmlns:a16="http://schemas.microsoft.com/office/drawing/2014/main" val="1984764944"/>
                    </a:ext>
                  </a:extLst>
                </a:gridCol>
                <a:gridCol w="1061148">
                  <a:extLst>
                    <a:ext uri="{9D8B030D-6E8A-4147-A177-3AD203B41FA5}">
                      <a16:colId xmlns:a16="http://schemas.microsoft.com/office/drawing/2014/main" val="1807831983"/>
                    </a:ext>
                  </a:extLst>
                </a:gridCol>
                <a:gridCol w="1756887">
                  <a:extLst>
                    <a:ext uri="{9D8B030D-6E8A-4147-A177-3AD203B41FA5}">
                      <a16:colId xmlns:a16="http://schemas.microsoft.com/office/drawing/2014/main" val="1143604494"/>
                    </a:ext>
                  </a:extLst>
                </a:gridCol>
                <a:gridCol w="1600201">
                  <a:extLst>
                    <a:ext uri="{9D8B030D-6E8A-4147-A177-3AD203B41FA5}">
                      <a16:colId xmlns:a16="http://schemas.microsoft.com/office/drawing/2014/main" val="4058383001"/>
                    </a:ext>
                  </a:extLst>
                </a:gridCol>
              </a:tblGrid>
              <a:tr h="208673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Column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Description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Type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Measurement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Possible Values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0707698"/>
                  </a:ext>
                </a:extLst>
              </a:tr>
              <a:tr h="208673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SN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Serial Number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Numeric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-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-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4886023"/>
                  </a:ext>
                </a:extLst>
              </a:tr>
              <a:tr h="411023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AGE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Age Groups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Categorical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1(&lt;28 years), 2(28-40 years), 3(&gt;40 years)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1699614"/>
                  </a:ext>
                </a:extLst>
              </a:tr>
              <a:tr h="550656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TOWN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Customer Belonging to Which Town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Categorical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Mumbai, </a:t>
                      </a:r>
                      <a:r>
                        <a:rPr lang="en-IN" sz="16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Delhi,etc</a:t>
                      </a:r>
                      <a:r>
                        <a:rPr lang="en-IN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15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4851315"/>
                  </a:ext>
                </a:extLst>
              </a:tr>
              <a:tr h="613373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EMPLOY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Number of years customer working at current employer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Continuous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-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Positive value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6206683"/>
                  </a:ext>
                </a:extLst>
              </a:tr>
              <a:tr h="613373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ADDRESS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Number of years customer staying at current address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Continuous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-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Positive value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779145"/>
                  </a:ext>
                </a:extLst>
              </a:tr>
              <a:tr h="208673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DEBTINC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Debt to Income Ratio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Continuous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-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Positive value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2402475"/>
                  </a:ext>
                </a:extLst>
              </a:tr>
              <a:tr h="208673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CREDDEBT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Credit to Debit Ratio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Continuous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-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Positive value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3529448"/>
                  </a:ext>
                </a:extLst>
              </a:tr>
              <a:tr h="208673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OTHDEBT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Other Debt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Continuous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-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Positive value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1984447"/>
                  </a:ext>
                </a:extLst>
              </a:tr>
              <a:tr h="411023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DEFAULTER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Whether customer defaulted on loan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Binary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1(Defaulter), 0(Non-Defaulter)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8168498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8BABF12F-E9F5-45CB-A4E6-CD7BE9310188}"/>
              </a:ext>
            </a:extLst>
          </p:cNvPr>
          <p:cNvSpPr txBox="1"/>
          <p:nvPr/>
        </p:nvSpPr>
        <p:spPr>
          <a:xfrm rot="16200000">
            <a:off x="-146259" y="3108535"/>
            <a:ext cx="1562778" cy="5082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prstClr val="black"/>
                </a:solidFill>
                <a:latin typeface="Eras Demi ITC" pitchFamily="34" charset="0"/>
              </a:rPr>
              <a:t>Observations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F10DC29-F633-4BB2-A8B4-8B60B3FB4BD8}"/>
              </a:ext>
            </a:extLst>
          </p:cNvPr>
          <p:cNvSpPr txBox="1"/>
          <p:nvPr/>
        </p:nvSpPr>
        <p:spPr>
          <a:xfrm>
            <a:off x="5444939" y="1057275"/>
            <a:ext cx="40038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prstClr val="black"/>
                </a:solidFill>
                <a:latin typeface="Eras Demi ITC" pitchFamily="34" charset="0"/>
              </a:rPr>
              <a:t>Dependent Variable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39B0CA6-5654-469C-B0D2-6AC2C5A531EA}"/>
              </a:ext>
            </a:extLst>
          </p:cNvPr>
          <p:cNvSpPr txBox="1"/>
          <p:nvPr/>
        </p:nvSpPr>
        <p:spPr>
          <a:xfrm>
            <a:off x="2244539" y="1057275"/>
            <a:ext cx="40038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prstClr val="black"/>
                </a:solidFill>
                <a:latin typeface="Eras Demi ITC" pitchFamily="34" charset="0"/>
              </a:rPr>
              <a:t>Independent Variables</a:t>
            </a:r>
          </a:p>
        </p:txBody>
      </p:sp>
      <p:sp>
        <p:nvSpPr>
          <p:cNvPr id="23" name="Left Brace 22">
            <a:extLst>
              <a:ext uri="{FF2B5EF4-FFF2-40B4-BE49-F238E27FC236}">
                <a16:creationId xmlns:a16="http://schemas.microsoft.com/office/drawing/2014/main" id="{B695956C-52CF-4946-8EF9-6BD31B283492}"/>
              </a:ext>
            </a:extLst>
          </p:cNvPr>
          <p:cNvSpPr/>
          <p:nvPr/>
        </p:nvSpPr>
        <p:spPr>
          <a:xfrm rot="5400000">
            <a:off x="4209906" y="-866630"/>
            <a:ext cx="343188" cy="495300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24" name="Left Brace 23">
            <a:extLst>
              <a:ext uri="{FF2B5EF4-FFF2-40B4-BE49-F238E27FC236}">
                <a16:creationId xmlns:a16="http://schemas.microsoft.com/office/drawing/2014/main" id="{16D2B730-68C0-4A09-85C1-C3A7D77B36A1}"/>
              </a:ext>
            </a:extLst>
          </p:cNvPr>
          <p:cNvSpPr/>
          <p:nvPr/>
        </p:nvSpPr>
        <p:spPr>
          <a:xfrm rot="5400000">
            <a:off x="7564189" y="1116052"/>
            <a:ext cx="343188" cy="987634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013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>
            <a:extLst>
              <a:ext uri="{FF2B5EF4-FFF2-40B4-BE49-F238E27FC236}">
                <a16:creationId xmlns:a16="http://schemas.microsoft.com/office/drawing/2014/main" id="{C9B01952-81A9-4C72-A884-4CF98E4582DF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457200" y="-76200"/>
            <a:ext cx="8229600" cy="810805"/>
          </a:xfrm>
        </p:spPr>
        <p:txBody>
          <a:bodyPr/>
          <a:lstStyle/>
          <a:p>
            <a:r>
              <a:rPr lang="en-IN" sz="3200" b="1" dirty="0">
                <a:latin typeface="+mj-lt"/>
              </a:rPr>
              <a:t>WoE and IV in Python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A987DFA-50DB-4A32-82FA-5145F5AC9C2E}"/>
              </a:ext>
            </a:extLst>
          </p:cNvPr>
          <p:cNvGrpSpPr/>
          <p:nvPr/>
        </p:nvGrpSpPr>
        <p:grpSpPr>
          <a:xfrm>
            <a:off x="1991225" y="685800"/>
            <a:ext cx="5161551" cy="52403"/>
            <a:chOff x="1991225" y="1155160"/>
            <a:chExt cx="5161551" cy="5240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32AB725-40AC-4211-9BAF-124E6138A082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1991225" y="1155160"/>
              <a:ext cx="1781908" cy="5240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9C60662-0C88-4FD0-934A-9DF6EBD2933D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3902613" y="1155160"/>
              <a:ext cx="1338774" cy="5240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3092B32-2DC3-4156-8D67-C843328A0C5A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5370868" y="1155160"/>
              <a:ext cx="1781908" cy="52403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A7003EEB-EF6C-48D9-B09B-CE4B15ADF563}" type="slidenum">
              <a:rPr lang="en-US" smtClean="0"/>
              <a:pPr algn="r"/>
              <a:t>10</a:t>
            </a:fld>
            <a:endParaRPr lang="en-US" dirty="0"/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4E14D51A-E1F2-49C3-917A-B00E5F58D4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9265148"/>
              </p:ext>
            </p:extLst>
          </p:nvPr>
        </p:nvGraphicFramePr>
        <p:xfrm>
          <a:off x="654964" y="1066800"/>
          <a:ext cx="7727036" cy="1310640"/>
        </p:xfrm>
        <a:graphic>
          <a:graphicData uri="http://schemas.openxmlformats.org/drawingml/2006/table">
            <a:tbl>
              <a:tblPr bandRow="1">
                <a:tableStyleId>{9D7B26C5-4107-4FEC-AEDC-1716B250A1EF}</a:tableStyleId>
              </a:tblPr>
              <a:tblGrid>
                <a:gridCol w="77270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0135">
                <a:tc>
                  <a:txBody>
                    <a:bodyPr/>
                    <a:lstStyle/>
                    <a:p>
                      <a:r>
                        <a:rPr kumimoji="0" lang="en-IN" sz="1600" b="1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import pandas as pd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600" b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</a:rPr>
                        <a:t>import numpy as np</a:t>
                      </a:r>
                    </a:p>
                    <a:p>
                      <a:r>
                        <a:rPr kumimoji="0" lang="en-IN" sz="1600" b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data = </a:t>
                      </a:r>
                      <a:r>
                        <a:rPr kumimoji="0" lang="en-IN" sz="1600" b="1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pd.read_csv</a:t>
                      </a:r>
                      <a:r>
                        <a:rPr kumimoji="0" lang="en-IN" sz="1600" b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("BANK LOAN WOE-IV.csv")</a:t>
                      </a:r>
                    </a:p>
                    <a:p>
                      <a:r>
                        <a:rPr kumimoji="0" lang="en-IN" sz="1600" b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data</a:t>
                      </a:r>
                      <a:r>
                        <a:rPr kumimoji="0" lang="en-IN" sz="1600" b="1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.head()</a:t>
                      </a:r>
                    </a:p>
                    <a:p>
                      <a:r>
                        <a:rPr kumimoji="0" lang="en-IN" sz="1600" b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data</a:t>
                      </a:r>
                      <a:r>
                        <a:rPr kumimoji="0" lang="en-IN" sz="1600" b="1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.info()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6A6A6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6D73BE64-387B-441B-A33C-95EC1A6E898C}"/>
              </a:ext>
            </a:extLst>
          </p:cNvPr>
          <p:cNvSpPr txBox="1"/>
          <p:nvPr/>
        </p:nvSpPr>
        <p:spPr>
          <a:xfrm flipH="1">
            <a:off x="609600" y="762000"/>
            <a:ext cx="7848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</a:rPr>
              <a:t># Import the data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5E5AB43-45EC-4BCB-A32A-87B176D95D55}"/>
              </a:ext>
            </a:extLst>
          </p:cNvPr>
          <p:cNvSpPr/>
          <p:nvPr/>
        </p:nvSpPr>
        <p:spPr>
          <a:xfrm>
            <a:off x="657225" y="5135880"/>
            <a:ext cx="7772400" cy="1631216"/>
          </a:xfrm>
          <a:prstGeom prst="rect">
            <a:avLst/>
          </a:prstGeom>
          <a:solidFill>
            <a:sysClr val="window" lastClr="FFFFFF"/>
          </a:solidFill>
          <a:ln w="3175">
            <a:solidFill>
              <a:srgbClr val="C32D2E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SzPct val="60000"/>
              <a:buFont typeface="Wingdings" pitchFamily="2" charset="2"/>
              <a:buChar char="q"/>
              <a:defRPr/>
            </a:pPr>
            <a:r>
              <a:rPr lang="en-IN" sz="2000" b="1" kern="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Vijaya" pitchFamily="34" charset="0"/>
                <a:cs typeface="Vijaya" pitchFamily="34" charset="0"/>
              </a:rPr>
              <a:t>pd.read_csv</a:t>
            </a:r>
            <a:r>
              <a:rPr lang="en-IN" sz="2000" kern="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Vijaya" pitchFamily="34" charset="0"/>
                <a:cs typeface="Vijaya" pitchFamily="34" charset="0"/>
              </a:rPr>
              <a:t>() is used to import csv file.</a:t>
            </a:r>
          </a:p>
          <a:p>
            <a:pPr marL="285750" indent="-285750">
              <a:buSzPct val="60000"/>
              <a:buFont typeface="Wingdings" pitchFamily="2" charset="2"/>
              <a:buChar char="q"/>
              <a:defRPr/>
            </a:pPr>
            <a:r>
              <a:rPr lang="en-IN" sz="2000" b="1" kern="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Vijaya" pitchFamily="34" charset="0"/>
                <a:cs typeface="Vijaya" pitchFamily="34" charset="0"/>
              </a:rPr>
              <a:t>info</a:t>
            </a:r>
            <a:r>
              <a:rPr lang="en-IN" sz="2000" kern="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Vijaya" pitchFamily="34" charset="0"/>
                <a:cs typeface="Vijaya" pitchFamily="34" charset="0"/>
              </a:rPr>
              <a:t>() shows class and levels of variables in the data. </a:t>
            </a:r>
          </a:p>
          <a:p>
            <a:pPr marL="285750" indent="-285750">
              <a:buSzPct val="60000"/>
              <a:buFont typeface="Wingdings" pitchFamily="2" charset="2"/>
              <a:buChar char="q"/>
              <a:defRPr/>
            </a:pPr>
            <a:r>
              <a:rPr lang="en-IN" sz="2000" kern="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Vijaya" pitchFamily="34" charset="0"/>
                <a:cs typeface="Vijaya" pitchFamily="34" charset="0"/>
              </a:rPr>
              <a:t>AGE and TOWN are actually categorical variables but represented as numeric and character respectively. We will convert it to Categorical using </a:t>
            </a:r>
            <a:r>
              <a:rPr lang="en-IN" sz="2000" b="1" kern="0" dirty="0" err="1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Vijaya" pitchFamily="34" charset="0"/>
                <a:cs typeface="Vijaya" pitchFamily="34" charset="0"/>
              </a:rPr>
              <a:t>pd.Categorical</a:t>
            </a:r>
            <a:r>
              <a:rPr lang="en-IN" sz="2000" kern="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Vijaya" pitchFamily="34" charset="0"/>
                <a:cs typeface="Vijaya" pitchFamily="34" charset="0"/>
              </a:rPr>
              <a:t>() and then calculate WoE and IV for AGE and TOWN.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2C687C1-FA64-471D-81C0-ECDFDCA9A481}"/>
              </a:ext>
            </a:extLst>
          </p:cNvPr>
          <p:cNvSpPr txBox="1"/>
          <p:nvPr/>
        </p:nvSpPr>
        <p:spPr>
          <a:xfrm flipH="1">
            <a:off x="685800" y="3877111"/>
            <a:ext cx="7848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</a:rPr>
              <a:t># Convert ‘AGE’ and ‘TOWN’ to Categorical</a:t>
            </a:r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A5C47D65-18E5-4606-9E22-9E36F7394B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8725482"/>
              </p:ext>
            </p:extLst>
          </p:nvPr>
        </p:nvGraphicFramePr>
        <p:xfrm>
          <a:off x="654964" y="4221480"/>
          <a:ext cx="7727036" cy="822960"/>
        </p:xfrm>
        <a:graphic>
          <a:graphicData uri="http://schemas.openxmlformats.org/drawingml/2006/table">
            <a:tbl>
              <a:tblPr bandRow="1">
                <a:tableStyleId>{9D7B26C5-4107-4FEC-AEDC-1716B250A1EF}</a:tableStyleId>
              </a:tblPr>
              <a:tblGrid>
                <a:gridCol w="77270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0135">
                <a:tc>
                  <a:txBody>
                    <a:bodyPr/>
                    <a:lstStyle/>
                    <a:p>
                      <a:r>
                        <a:rPr kumimoji="0" lang="en-IN" sz="1600" b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data['AGE'] = </a:t>
                      </a:r>
                      <a:r>
                        <a:rPr kumimoji="0" lang="en-IN" sz="1600" b="1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pd.Categorical</a:t>
                      </a:r>
                      <a:r>
                        <a:rPr kumimoji="0" lang="en-IN" sz="1600" b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(data['AGE'])</a:t>
                      </a:r>
                    </a:p>
                    <a:p>
                      <a:r>
                        <a:rPr kumimoji="0" lang="en-IN" sz="1600" b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data['TOWN'] = </a:t>
                      </a:r>
                      <a:r>
                        <a:rPr kumimoji="0" lang="en-IN" sz="1600" b="1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pd.Categorical</a:t>
                      </a:r>
                      <a:r>
                        <a:rPr kumimoji="0" lang="en-IN" sz="1600" b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(data['TOWN'])</a:t>
                      </a:r>
                    </a:p>
                    <a:p>
                      <a:r>
                        <a:rPr kumimoji="0" lang="en-IN" sz="1600" b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data</a:t>
                      </a:r>
                      <a:r>
                        <a:rPr kumimoji="0" lang="en-IN" sz="1600" b="1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.info()</a:t>
                      </a:r>
                      <a:endParaRPr kumimoji="0" lang="en-US" sz="1600" b="1" u="none" strike="noStrike" kern="0" cap="none" spc="0" normalizeH="0" baseline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uLnTx/>
                        <a:uFillTx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6A6A6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" name="Picture 1">
            <a:extLst>
              <a:ext uri="{FF2B5EF4-FFF2-40B4-BE49-F238E27FC236}">
                <a16:creationId xmlns:a16="http://schemas.microsoft.com/office/drawing/2014/main" id="{F9D18592-0B3D-4E6D-9098-326F2AD342D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9862" y="2724150"/>
            <a:ext cx="6686550" cy="116205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1BE7E34-3368-4D4B-90F9-06D7D6200E99}"/>
              </a:ext>
            </a:extLst>
          </p:cNvPr>
          <p:cNvSpPr txBox="1"/>
          <p:nvPr/>
        </p:nvSpPr>
        <p:spPr>
          <a:xfrm>
            <a:off x="609600" y="2404646"/>
            <a:ext cx="8686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Consolas" panose="020B0609020204030204" pitchFamily="49" charset="0"/>
                <a:ea typeface="Ebrima" pitchFamily="2" charset="0"/>
                <a:cs typeface="Ebrima" pitchFamily="2" charset="0"/>
              </a:rPr>
              <a:t># Output:</a:t>
            </a:r>
            <a:endParaRPr lang="en-US" sz="1600" dirty="0">
              <a:latin typeface="Consolas" panose="020B0609020204030204" pitchFamily="49" charset="0"/>
              <a:ea typeface="Ebrima" pitchFamily="2" charset="0"/>
              <a:cs typeface="Ebrim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5109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>
            <a:extLst>
              <a:ext uri="{FF2B5EF4-FFF2-40B4-BE49-F238E27FC236}">
                <a16:creationId xmlns:a16="http://schemas.microsoft.com/office/drawing/2014/main" id="{C9B01952-81A9-4C72-A884-4CF98E4582DF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457200" y="76200"/>
            <a:ext cx="8229600" cy="810805"/>
          </a:xfrm>
        </p:spPr>
        <p:txBody>
          <a:bodyPr/>
          <a:lstStyle/>
          <a:p>
            <a:r>
              <a:rPr lang="en-US" sz="3200" b="1" dirty="0">
                <a:solidFill>
                  <a:schemeClr val="accent1"/>
                </a:solidFill>
                <a:latin typeface="+mj-lt"/>
              </a:rPr>
              <a:t>WoE and IV in Python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A987DFA-50DB-4A32-82FA-5145F5AC9C2E}"/>
              </a:ext>
            </a:extLst>
          </p:cNvPr>
          <p:cNvGrpSpPr/>
          <p:nvPr/>
        </p:nvGrpSpPr>
        <p:grpSpPr>
          <a:xfrm>
            <a:off x="1991225" y="838200"/>
            <a:ext cx="5161551" cy="52403"/>
            <a:chOff x="1991225" y="1155160"/>
            <a:chExt cx="5161551" cy="5240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32AB725-40AC-4211-9BAF-124E6138A082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1991225" y="1155160"/>
              <a:ext cx="1781908" cy="5240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9C60662-0C88-4FD0-934A-9DF6EBD2933D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3902613" y="1155160"/>
              <a:ext cx="1338774" cy="5240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3092B32-2DC3-4156-8D67-C843328A0C5A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5370868" y="1155160"/>
              <a:ext cx="1781908" cy="52403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2951BDF2-49E3-4441-9E12-0DA8309C40FD}"/>
              </a:ext>
            </a:extLst>
          </p:cNvPr>
          <p:cNvSpPr txBox="1"/>
          <p:nvPr/>
        </p:nvSpPr>
        <p:spPr>
          <a:xfrm>
            <a:off x="609600" y="990600"/>
            <a:ext cx="8686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Ebrima" pitchFamily="2" charset="0"/>
                <a:cs typeface="Ebrima" pitchFamily="2" charset="0"/>
              </a:rPr>
              <a:t># Output: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  <a:ea typeface="Ebrima" pitchFamily="2" charset="0"/>
              <a:cs typeface="Ebrima" pitchFamily="2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6BAE730-0807-4A1D-BB1B-E028EBA50223}"/>
              </a:ext>
            </a:extLst>
          </p:cNvPr>
          <p:cNvSpPr/>
          <p:nvPr/>
        </p:nvSpPr>
        <p:spPr>
          <a:xfrm>
            <a:off x="781049" y="5493603"/>
            <a:ext cx="7448549" cy="830997"/>
          </a:xfrm>
          <a:prstGeom prst="rect">
            <a:avLst/>
          </a:prstGeom>
          <a:solidFill>
            <a:schemeClr val="bg1"/>
          </a:solidFill>
          <a:ln w="3175">
            <a:solidFill>
              <a:schemeClr val="accent3"/>
            </a:solidFill>
          </a:ln>
        </p:spPr>
        <p:txBody>
          <a:bodyPr wrap="square">
            <a:spAutoFit/>
          </a:bodyPr>
          <a:lstStyle/>
          <a:p>
            <a:pPr>
              <a:buSzPct val="60000"/>
            </a:pP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Vijaya" panose="02020604020202020204" pitchFamily="18" charset="0"/>
                <a:cs typeface="Vijaya" panose="02020604020202020204" pitchFamily="18" charset="0"/>
              </a:rPr>
              <a:t>Interpretation:</a:t>
            </a:r>
          </a:p>
          <a:p>
            <a:pPr marL="342900" indent="-342900">
              <a:buSzPct val="60000"/>
              <a:buFont typeface="Wingdings" pitchFamily="2" charset="2"/>
              <a:buChar char="Ø"/>
            </a:pPr>
            <a:r>
              <a:rPr lang="en-I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Vijaya" panose="02020604020202020204" pitchFamily="18" charset="0"/>
                <a:cs typeface="Vijaya" panose="02020604020202020204" pitchFamily="18" charset="0"/>
              </a:rPr>
              <a:t>Age initially as integer is converted to Categorical with 3 levels 1,2,3.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A7003EEB-EF6C-48D9-B09B-CE4B15ADF563}" type="slidenum">
              <a:rPr lang="en-US" smtClean="0"/>
              <a:pPr algn="r"/>
              <a:t>11</a:t>
            </a:fld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A42D5EE-484C-417C-A398-30A8AA99DA4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1050" y="1590267"/>
            <a:ext cx="3390900" cy="231457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851BD00C-94B9-41F4-AC13-369938118162}"/>
              </a:ext>
            </a:extLst>
          </p:cNvPr>
          <p:cNvSpPr/>
          <p:nvPr/>
        </p:nvSpPr>
        <p:spPr>
          <a:xfrm>
            <a:off x="781050" y="4165955"/>
            <a:ext cx="3390900" cy="830997"/>
          </a:xfrm>
          <a:prstGeom prst="rect">
            <a:avLst/>
          </a:prstGeom>
          <a:solidFill>
            <a:schemeClr val="bg1"/>
          </a:solidFill>
          <a:ln w="3175">
            <a:solidFill>
              <a:schemeClr val="accent3"/>
            </a:solidFill>
          </a:ln>
        </p:spPr>
        <p:txBody>
          <a:bodyPr wrap="square">
            <a:spAutoFit/>
          </a:bodyPr>
          <a:lstStyle/>
          <a:p>
            <a:pPr>
              <a:buSzPct val="60000"/>
            </a:pPr>
            <a:r>
              <a:rPr lang="en-I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Vijaya" panose="02020604020202020204" pitchFamily="18" charset="0"/>
                <a:cs typeface="Vijaya" panose="02020604020202020204" pitchFamily="18" charset="0"/>
              </a:rPr>
              <a:t>Output of original data structure.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A24020-EF57-470F-8953-14CFF649DF94}"/>
              </a:ext>
            </a:extLst>
          </p:cNvPr>
          <p:cNvSpPr/>
          <p:nvPr/>
        </p:nvSpPr>
        <p:spPr>
          <a:xfrm>
            <a:off x="4352924" y="4170301"/>
            <a:ext cx="3876676" cy="1200329"/>
          </a:xfrm>
          <a:prstGeom prst="rect">
            <a:avLst/>
          </a:prstGeom>
          <a:solidFill>
            <a:schemeClr val="bg1"/>
          </a:solidFill>
          <a:ln w="3175">
            <a:solidFill>
              <a:schemeClr val="accent3"/>
            </a:solidFill>
          </a:ln>
        </p:spPr>
        <p:txBody>
          <a:bodyPr wrap="square">
            <a:spAutoFit/>
          </a:bodyPr>
          <a:lstStyle/>
          <a:p>
            <a:pPr>
              <a:buSzPct val="60000"/>
            </a:pPr>
            <a:r>
              <a:rPr lang="en-I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Vijaya" panose="02020604020202020204" pitchFamily="18" charset="0"/>
                <a:cs typeface="Vijaya" panose="02020604020202020204" pitchFamily="18" charset="0"/>
              </a:rPr>
              <a:t>Output of modified data structure (converting ‘AGE’ &amp; ‘TOWN’ into Categorical).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9FF4CCD-8C87-42F3-A421-A226FDA799D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52924" y="1588518"/>
            <a:ext cx="3876675" cy="2314576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472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14" grpId="0" animBg="1"/>
      <p:bldP spid="1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>
            <a:extLst>
              <a:ext uri="{FF2B5EF4-FFF2-40B4-BE49-F238E27FC236}">
                <a16:creationId xmlns:a16="http://schemas.microsoft.com/office/drawing/2014/main" id="{C9B01952-81A9-4C72-A884-4CF98E4582DF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457200" y="-76200"/>
            <a:ext cx="8229600" cy="810805"/>
          </a:xfrm>
        </p:spPr>
        <p:txBody>
          <a:bodyPr/>
          <a:lstStyle/>
          <a:p>
            <a:r>
              <a:rPr lang="en-IN" sz="3200" b="1" dirty="0">
                <a:latin typeface="+mj-lt"/>
              </a:rPr>
              <a:t>WoE and IV in Python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A987DFA-50DB-4A32-82FA-5145F5AC9C2E}"/>
              </a:ext>
            </a:extLst>
          </p:cNvPr>
          <p:cNvGrpSpPr/>
          <p:nvPr/>
        </p:nvGrpSpPr>
        <p:grpSpPr>
          <a:xfrm>
            <a:off x="1991225" y="685800"/>
            <a:ext cx="5161551" cy="52403"/>
            <a:chOff x="1991225" y="1155160"/>
            <a:chExt cx="5161551" cy="5240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32AB725-40AC-4211-9BAF-124E6138A082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1991225" y="1155160"/>
              <a:ext cx="1781908" cy="5240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9C60662-0C88-4FD0-934A-9DF6EBD2933D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3902613" y="1155160"/>
              <a:ext cx="1338774" cy="5240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3092B32-2DC3-4156-8D67-C843328A0C5A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5370868" y="1155160"/>
              <a:ext cx="1781908" cy="52403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A7003EEB-EF6C-48D9-B09B-CE4B15ADF563}" type="slidenum">
              <a:rPr lang="en-US" smtClean="0"/>
              <a:pPr algn="r"/>
              <a:t>12</a:t>
            </a:fld>
            <a:endParaRPr lang="en-US" dirty="0"/>
          </a:p>
        </p:txBody>
      </p: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A3AABC55-CCD1-4DBC-8F54-6CBAC4638E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1718224"/>
              </p:ext>
            </p:extLst>
          </p:nvPr>
        </p:nvGraphicFramePr>
        <p:xfrm>
          <a:off x="654964" y="1173480"/>
          <a:ext cx="8031836" cy="5455920"/>
        </p:xfrm>
        <a:graphic>
          <a:graphicData uri="http://schemas.openxmlformats.org/drawingml/2006/table">
            <a:tbl>
              <a:tblPr bandRow="1">
                <a:tableStyleId>{9D7B26C5-4107-4FEC-AEDC-1716B250A1EF}</a:tableStyleId>
              </a:tblPr>
              <a:tblGrid>
                <a:gridCol w="80318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01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600" b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</a:rPr>
                        <a:t>def</a:t>
                      </a:r>
                      <a:r>
                        <a:rPr kumimoji="0" lang="en-IN" sz="1600" b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</a:rPr>
                        <a:t> calculate_woe_iv(dataset, feature, target):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600" b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</a:rPr>
                        <a:t>    lst = []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600" b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</a:rPr>
                        <a:t>    for i in </a:t>
                      </a:r>
                      <a:r>
                        <a:rPr kumimoji="0" lang="en-IN" sz="1600" b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</a:rPr>
                        <a:t>range</a:t>
                      </a:r>
                      <a:r>
                        <a:rPr kumimoji="0" lang="en-IN" sz="1600" b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</a:rPr>
                        <a:t>(dataset[feature]</a:t>
                      </a:r>
                      <a:r>
                        <a:rPr kumimoji="0" lang="en-IN" sz="1600" b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</a:rPr>
                        <a:t>.nunique()</a:t>
                      </a:r>
                      <a:r>
                        <a:rPr kumimoji="0" lang="en-IN" sz="1600" b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</a:rPr>
                        <a:t>):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600" b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</a:rPr>
                        <a:t>        val = </a:t>
                      </a:r>
                      <a:r>
                        <a:rPr kumimoji="0" lang="en-IN" sz="1600" b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</a:rPr>
                        <a:t>list</a:t>
                      </a:r>
                      <a:r>
                        <a:rPr kumimoji="0" lang="en-IN" sz="1600" b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</a:rPr>
                        <a:t>(dataset[feature]</a:t>
                      </a:r>
                      <a:r>
                        <a:rPr kumimoji="0" lang="en-IN" sz="1600" b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</a:rPr>
                        <a:t>.unique()</a:t>
                      </a:r>
                      <a:r>
                        <a:rPr kumimoji="0" lang="en-IN" sz="1600" b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</a:rPr>
                        <a:t>)[i]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600" b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</a:rPr>
                        <a:t>        lst</a:t>
                      </a:r>
                      <a:r>
                        <a:rPr kumimoji="0" lang="en-IN" sz="1600" b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</a:rPr>
                        <a:t>.append</a:t>
                      </a:r>
                      <a:r>
                        <a:rPr kumimoji="0" lang="en-IN" sz="1600" b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</a:rPr>
                        <a:t>({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600" b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</a:rPr>
                        <a:t>            'Value': val,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600" b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</a:rPr>
                        <a:t>            'All': dataset[dataset[feature] == val]</a:t>
                      </a:r>
                      <a:r>
                        <a:rPr kumimoji="0" lang="en-IN" sz="1600" b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</a:rPr>
                        <a:t>.count()</a:t>
                      </a:r>
                      <a:r>
                        <a:rPr kumimoji="0" lang="en-IN" sz="1600" b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</a:rPr>
                        <a:t>[feature],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600" b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</a:rPr>
                        <a:t>            'Good': dataset[(dataset[feature] == val) &amp; (dataset[target] == 0)]</a:t>
                      </a:r>
                      <a:r>
                        <a:rPr kumimoji="0" lang="en-IN" sz="1600" b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</a:rPr>
                        <a:t>.count()</a:t>
                      </a:r>
                      <a:r>
                        <a:rPr kumimoji="0" lang="en-IN" sz="1600" b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</a:rPr>
                        <a:t>[feature],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600" b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</a:rPr>
                        <a:t>            'Bad': dataset[(dataset[feature] == val) &amp; (dataset[target] == 1)]</a:t>
                      </a:r>
                      <a:r>
                        <a:rPr kumimoji="0" lang="en-IN" sz="1600" b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</a:rPr>
                        <a:t>.count()</a:t>
                      </a:r>
                      <a:r>
                        <a:rPr kumimoji="0" lang="en-IN" sz="1600" b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</a:rPr>
                        <a:t>[feature]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600" b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</a:rPr>
                        <a:t>        })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600" b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</a:rPr>
                        <a:t>    dset = </a:t>
                      </a:r>
                      <a:r>
                        <a:rPr kumimoji="0" lang="en-IN" sz="1600" b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</a:rPr>
                        <a:t>pd.DataFrame</a:t>
                      </a:r>
                      <a:r>
                        <a:rPr kumimoji="0" lang="en-IN" sz="1600" b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</a:rPr>
                        <a:t>(lst)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600" b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</a:rPr>
                        <a:t>    dset['Distr_Good'] = dset['Good'] / dset['Good']</a:t>
                      </a:r>
                      <a:r>
                        <a:rPr kumimoji="0" lang="en-IN" sz="1600" b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</a:rPr>
                        <a:t>.sum()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600" b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</a:rPr>
                        <a:t>    dset['Distr_Bad'] = dset['Bad'] / dset['Bad']</a:t>
                      </a:r>
                      <a:r>
                        <a:rPr kumimoji="0" lang="en-IN" sz="1600" b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</a:rPr>
                        <a:t>.sum()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600" b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</a:rPr>
                        <a:t>    dset['WoE'] = </a:t>
                      </a:r>
                      <a:r>
                        <a:rPr kumimoji="0" lang="en-IN" sz="1600" b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</a:rPr>
                        <a:t>np.log</a:t>
                      </a:r>
                      <a:r>
                        <a:rPr kumimoji="0" lang="en-IN" sz="1600" b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</a:rPr>
                        <a:t>(dset['Distr_Good'] / dset['Distr_Bad'])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600" b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</a:rPr>
                        <a:t>    dset = dset</a:t>
                      </a:r>
                      <a:r>
                        <a:rPr kumimoji="0" lang="en-IN" sz="1600" b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</a:rPr>
                        <a:t>.replace</a:t>
                      </a:r>
                      <a:r>
                        <a:rPr kumimoji="0" lang="en-IN" sz="1600" b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</a:rPr>
                        <a:t>({'WoE': {</a:t>
                      </a:r>
                      <a:r>
                        <a:rPr kumimoji="0" lang="en-IN" sz="1600" b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</a:rPr>
                        <a:t>np.inf</a:t>
                      </a:r>
                      <a:r>
                        <a:rPr kumimoji="0" lang="en-IN" sz="1600" b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</a:rPr>
                        <a:t>: 0, </a:t>
                      </a:r>
                      <a:r>
                        <a:rPr kumimoji="0" lang="en-IN" sz="1600" b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</a:rPr>
                        <a:t>-np.inf</a:t>
                      </a:r>
                      <a:r>
                        <a:rPr kumimoji="0" lang="en-IN" sz="1600" b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</a:rPr>
                        <a:t>: 0}})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600" b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</a:rPr>
                        <a:t>    dset['IV'] = (dset['Distr_Good'] - dset['Distr_Bad']) * dset['WoE']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600" b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</a:rPr>
                        <a:t>    iv = dset['IV']</a:t>
                      </a:r>
                      <a:r>
                        <a:rPr kumimoji="0" lang="en-IN" sz="1600" b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</a:rPr>
                        <a:t>.sum()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600" b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</a:rPr>
                        <a:t>    dset = dset</a:t>
                      </a:r>
                      <a:r>
                        <a:rPr kumimoji="0" lang="en-IN" sz="1600" b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</a:rPr>
                        <a:t>.sort_values</a:t>
                      </a:r>
                      <a:r>
                        <a:rPr kumimoji="0" lang="en-IN" sz="1600" b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</a:rPr>
                        <a:t>(</a:t>
                      </a:r>
                      <a:r>
                        <a:rPr kumimoji="0" lang="en-IN" sz="1600" b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</a:rPr>
                        <a:t>by</a:t>
                      </a:r>
                      <a:r>
                        <a:rPr kumimoji="0" lang="en-IN" sz="1600" b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</a:rPr>
                        <a:t>='WoE')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600" b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</a:rPr>
                        <a:t>    </a:t>
                      </a:r>
                      <a:r>
                        <a:rPr kumimoji="0" lang="en-IN" sz="1600" b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</a:rPr>
                        <a:t>return</a:t>
                      </a:r>
                      <a:r>
                        <a:rPr kumimoji="0" lang="en-IN" sz="1600" b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</a:rPr>
                        <a:t> dset, iv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6A6A6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DD4A199D-7959-4C00-A3C6-05B409DB3408}"/>
              </a:ext>
            </a:extLst>
          </p:cNvPr>
          <p:cNvSpPr txBox="1"/>
          <p:nvPr/>
        </p:nvSpPr>
        <p:spPr>
          <a:xfrm flipH="1">
            <a:off x="609600" y="792480"/>
            <a:ext cx="7848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</a:rPr>
              <a:t># Define function to calculate WoE and IV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22596E4-73F5-4F1C-B13E-A87301F686D9}"/>
              </a:ext>
            </a:extLst>
          </p:cNvPr>
          <p:cNvSpPr/>
          <p:nvPr/>
        </p:nvSpPr>
        <p:spPr>
          <a:xfrm>
            <a:off x="6114434" y="961757"/>
            <a:ext cx="2953366" cy="1631216"/>
          </a:xfrm>
          <a:prstGeom prst="rect">
            <a:avLst/>
          </a:prstGeom>
          <a:solidFill>
            <a:schemeClr val="bg1"/>
          </a:solidFill>
          <a:ln w="3175">
            <a:solidFill>
              <a:schemeClr val="accent3"/>
            </a:solidFill>
          </a:ln>
        </p:spPr>
        <p:txBody>
          <a:bodyPr wrap="square">
            <a:spAutoFit/>
          </a:bodyPr>
          <a:lstStyle/>
          <a:p>
            <a:pPr marL="342900" indent="-342900">
              <a:buSzPct val="60000"/>
              <a:buFont typeface="Wingdings" panose="05000000000000000000" pitchFamily="2" charset="2"/>
              <a:buChar char="q"/>
            </a:pPr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Vijaya" panose="02020604020202020204" pitchFamily="18" charset="0"/>
                <a:cs typeface="Vijaya" panose="02020604020202020204" pitchFamily="18" charset="0"/>
              </a:rPr>
              <a:t>unique() </a:t>
            </a: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Vijaya" panose="02020604020202020204" pitchFamily="18" charset="0"/>
                <a:cs typeface="Vijaya" panose="02020604020202020204" pitchFamily="18" charset="0"/>
              </a:rPr>
              <a:t>gives unique values</a:t>
            </a:r>
          </a:p>
          <a:p>
            <a:pPr marL="342900" indent="-342900">
              <a:buSzPct val="60000"/>
              <a:buFont typeface="Wingdings" panose="05000000000000000000" pitchFamily="2" charset="2"/>
              <a:buChar char="q"/>
            </a:pPr>
            <a:r>
              <a:rPr lang="en-IN" sz="2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Vijaya" panose="02020604020202020204" pitchFamily="18" charset="0"/>
                <a:cs typeface="Vijaya" panose="02020604020202020204" pitchFamily="18" charset="0"/>
              </a:rPr>
              <a:t>nunique</a:t>
            </a:r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Vijaya" panose="02020604020202020204" pitchFamily="18" charset="0"/>
                <a:cs typeface="Vijaya" panose="02020604020202020204" pitchFamily="18" charset="0"/>
              </a:rPr>
              <a:t>()</a:t>
            </a: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Vijaya" panose="02020604020202020204" pitchFamily="18" charset="0"/>
                <a:cs typeface="Vijaya" panose="02020604020202020204" pitchFamily="18" charset="0"/>
              </a:rPr>
              <a:t> calculates distinct observations.</a:t>
            </a:r>
          </a:p>
          <a:p>
            <a:pPr marL="342900" indent="-342900">
              <a:buSzPct val="60000"/>
              <a:buFont typeface="Wingdings" panose="05000000000000000000" pitchFamily="2" charset="2"/>
              <a:buChar char="q"/>
            </a:pPr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Vijaya" panose="02020604020202020204" pitchFamily="18" charset="0"/>
                <a:cs typeface="Vijaya" panose="02020604020202020204" pitchFamily="18" charset="0"/>
              </a:rPr>
              <a:t>count() </a:t>
            </a: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Vijaya" panose="02020604020202020204" pitchFamily="18" charset="0"/>
                <a:cs typeface="Vijaya" panose="02020604020202020204" pitchFamily="18" charset="0"/>
              </a:rPr>
              <a:t>gives the 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Vijaya" panose="02020604020202020204" pitchFamily="18" charset="0"/>
                <a:cs typeface="Vijaya" panose="02020604020202020204" pitchFamily="18" charset="0"/>
              </a:rPr>
              <a:t>non-NA cells for each column or row.</a:t>
            </a:r>
            <a:endParaRPr lang="en-IN" sz="2000" dirty="0">
              <a:solidFill>
                <a:schemeClr val="tx1">
                  <a:lumMod val="75000"/>
                  <a:lumOff val="25000"/>
                </a:schemeClr>
              </a:solidFill>
              <a:latin typeface="Vijaya" panose="02020604020202020204" pitchFamily="18" charset="0"/>
              <a:cs typeface="Vijaya" panose="02020604020202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2725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>
            <a:extLst>
              <a:ext uri="{FF2B5EF4-FFF2-40B4-BE49-F238E27FC236}">
                <a16:creationId xmlns:a16="http://schemas.microsoft.com/office/drawing/2014/main" id="{C9B01952-81A9-4C72-A884-4CF98E4582DF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457200" y="103595"/>
            <a:ext cx="8229600" cy="810805"/>
          </a:xfrm>
        </p:spPr>
        <p:txBody>
          <a:bodyPr/>
          <a:lstStyle/>
          <a:p>
            <a:r>
              <a:rPr lang="en-IN" sz="3200" b="1" dirty="0">
                <a:latin typeface="+mj-lt"/>
              </a:rPr>
              <a:t>WoE and IV in Python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A987DFA-50DB-4A32-82FA-5145F5AC9C2E}"/>
              </a:ext>
            </a:extLst>
          </p:cNvPr>
          <p:cNvGrpSpPr/>
          <p:nvPr/>
        </p:nvGrpSpPr>
        <p:grpSpPr>
          <a:xfrm>
            <a:off x="1991225" y="938197"/>
            <a:ext cx="5161551" cy="52403"/>
            <a:chOff x="1991225" y="1155160"/>
            <a:chExt cx="5161551" cy="5240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32AB725-40AC-4211-9BAF-124E6138A082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1991225" y="1155160"/>
              <a:ext cx="1781908" cy="5240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9C60662-0C88-4FD0-934A-9DF6EBD2933D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3902613" y="1155160"/>
              <a:ext cx="1338774" cy="5240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3092B32-2DC3-4156-8D67-C843328A0C5A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5370868" y="1155160"/>
              <a:ext cx="1781908" cy="52403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A7003EEB-EF6C-48D9-B09B-CE4B15ADF563}" type="slidenum">
              <a:rPr lang="en-US" smtClean="0"/>
              <a:pPr algn="r"/>
              <a:t>13</a:t>
            </a:fld>
            <a:endParaRPr lang="en-US" dirty="0"/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4E14D51A-E1F2-49C3-917A-B00E5F58D4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7069590"/>
              </p:ext>
            </p:extLst>
          </p:nvPr>
        </p:nvGraphicFramePr>
        <p:xfrm>
          <a:off x="654964" y="1737360"/>
          <a:ext cx="7727036" cy="1554480"/>
        </p:xfrm>
        <a:graphic>
          <a:graphicData uri="http://schemas.openxmlformats.org/drawingml/2006/table">
            <a:tbl>
              <a:tblPr bandRow="1">
                <a:tableStyleId>{9D7B26C5-4107-4FEC-AEDC-1716B250A1EF}</a:tableStyleId>
              </a:tblPr>
              <a:tblGrid>
                <a:gridCol w="77270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0135">
                <a:tc>
                  <a:txBody>
                    <a:bodyPr/>
                    <a:lstStyle/>
                    <a:p>
                      <a:r>
                        <a:rPr kumimoji="0" lang="en-IN" sz="1600" b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data['DEBTINC_bin']= </a:t>
                      </a:r>
                      <a:r>
                        <a:rPr kumimoji="0" lang="en-IN" sz="1600" b="1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pd.qcut</a:t>
                      </a:r>
                      <a:r>
                        <a:rPr kumimoji="0" lang="en-IN" sz="1600" b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(data['DEBTINC'], 10)</a:t>
                      </a:r>
                    </a:p>
                    <a:p>
                      <a:r>
                        <a:rPr kumimoji="0" lang="en-IN" sz="1600" b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data['CREDDEBT_bin']= </a:t>
                      </a:r>
                      <a:r>
                        <a:rPr kumimoji="0" lang="en-IN" sz="1600" b="1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pd.qcut</a:t>
                      </a:r>
                      <a:r>
                        <a:rPr kumimoji="0" lang="en-IN" sz="1600" b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(data['CREDDEBT'], 10)</a:t>
                      </a:r>
                    </a:p>
                    <a:p>
                      <a:r>
                        <a:rPr kumimoji="0" lang="en-IN" sz="1600" b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data['ADDRESS_bin']= </a:t>
                      </a:r>
                      <a:r>
                        <a:rPr kumimoji="0" lang="en-IN" sz="1600" b="1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pd.qcut</a:t>
                      </a:r>
                      <a:r>
                        <a:rPr kumimoji="0" lang="en-IN" sz="1600" b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(data['ADDRESS'], 10)</a:t>
                      </a:r>
                    </a:p>
                    <a:p>
                      <a:r>
                        <a:rPr kumimoji="0" lang="en-IN" sz="1600" b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data['SN_bin']= </a:t>
                      </a:r>
                      <a:r>
                        <a:rPr kumimoji="0" lang="en-IN" sz="1600" b="1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pd.qcut</a:t>
                      </a:r>
                      <a:r>
                        <a:rPr kumimoji="0" lang="en-IN" sz="1600" b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(data['SN'], 10)</a:t>
                      </a:r>
                    </a:p>
                    <a:p>
                      <a:r>
                        <a:rPr kumimoji="0" lang="en-IN" sz="1600" b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data['OTHDEBT_bin']= </a:t>
                      </a:r>
                      <a:r>
                        <a:rPr kumimoji="0" lang="en-IN" sz="1600" b="1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pd.qcut</a:t>
                      </a:r>
                      <a:r>
                        <a:rPr kumimoji="0" lang="en-IN" sz="1600" b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(data['OTHDEBT'], 10)</a:t>
                      </a:r>
                    </a:p>
                    <a:p>
                      <a:r>
                        <a:rPr kumimoji="0" lang="en-IN" sz="1600" b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data['EMPLOY_bin']= </a:t>
                      </a:r>
                      <a:r>
                        <a:rPr kumimoji="0" lang="en-IN" sz="1600" b="1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pd.qcut</a:t>
                      </a:r>
                      <a:r>
                        <a:rPr kumimoji="0" lang="en-IN" sz="1600" b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(data['EMPLOY'], 10) </a:t>
                      </a:r>
                      <a:endParaRPr kumimoji="0" lang="en-IN" sz="1600" b="1" u="none" strike="noStrike" kern="0" cap="none" spc="0" normalizeH="0" baseline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uLnTx/>
                        <a:uFillTx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6A6A6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6D73BE64-387B-441B-A33C-95EC1A6E898C}"/>
              </a:ext>
            </a:extLst>
          </p:cNvPr>
          <p:cNvSpPr txBox="1"/>
          <p:nvPr/>
        </p:nvSpPr>
        <p:spPr>
          <a:xfrm flipH="1">
            <a:off x="609600" y="1353086"/>
            <a:ext cx="7848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</a:rPr>
              <a:t># Convert numeric data into bins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5E5AB43-45EC-4BCB-A32A-87B176D95D55}"/>
              </a:ext>
            </a:extLst>
          </p:cNvPr>
          <p:cNvSpPr/>
          <p:nvPr/>
        </p:nvSpPr>
        <p:spPr>
          <a:xfrm>
            <a:off x="628650" y="3410486"/>
            <a:ext cx="7772400" cy="1200329"/>
          </a:xfrm>
          <a:prstGeom prst="rect">
            <a:avLst/>
          </a:prstGeom>
          <a:solidFill>
            <a:sysClr val="window" lastClr="FFFFFF"/>
          </a:solidFill>
          <a:ln w="3175">
            <a:solidFill>
              <a:srgbClr val="C32D2E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SzPct val="60000"/>
              <a:buFont typeface="Wingdings" pitchFamily="2" charset="2"/>
              <a:buChar char="q"/>
              <a:defRPr/>
            </a:pPr>
            <a:r>
              <a:rPr lang="en-IN" sz="2400" b="1" kern="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Vijaya" pitchFamily="34" charset="0"/>
                <a:cs typeface="Vijaya" pitchFamily="34" charset="0"/>
              </a:rPr>
              <a:t>pd.qcut() </a:t>
            </a:r>
            <a:r>
              <a:rPr lang="en-IN" sz="2400" kern="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Vijaya" pitchFamily="34" charset="0"/>
                <a:cs typeface="Vijaya" pitchFamily="34" charset="0"/>
              </a:rPr>
              <a:t>is </a:t>
            </a:r>
            <a:r>
              <a:rPr lang="en-US" sz="2400" kern="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Vijaya" pitchFamily="34" charset="0"/>
                <a:cs typeface="Vijaya" pitchFamily="34" charset="0"/>
              </a:rPr>
              <a:t>quantile-based discretization function. Discretize variable into equal-sized buckets based on rank or based on sample quantiles. Here bin size is kept 10.</a:t>
            </a:r>
            <a:endParaRPr lang="en-IN" sz="2400" kern="0" dirty="0">
              <a:solidFill>
                <a:sysClr val="windowText" lastClr="000000">
                  <a:lumMod val="75000"/>
                  <a:lumOff val="25000"/>
                </a:sysClr>
              </a:solidFill>
              <a:latin typeface="Vijaya" pitchFamily="34" charset="0"/>
              <a:cs typeface="Vijaya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BB13250-BD97-4958-9561-B31AE81A0C1E}"/>
              </a:ext>
            </a:extLst>
          </p:cNvPr>
          <p:cNvSpPr txBox="1"/>
          <p:nvPr/>
        </p:nvSpPr>
        <p:spPr>
          <a:xfrm flipH="1">
            <a:off x="609600" y="4739640"/>
            <a:ext cx="7848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</a:rPr>
              <a:t># Subset data for WoE and IV calculation</a:t>
            </a: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51EB63FA-D8BF-4CA1-91EC-77B4715DEA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7422555"/>
              </p:ext>
            </p:extLst>
          </p:nvPr>
        </p:nvGraphicFramePr>
        <p:xfrm>
          <a:off x="654964" y="5120640"/>
          <a:ext cx="7727036" cy="822960"/>
        </p:xfrm>
        <a:graphic>
          <a:graphicData uri="http://schemas.openxmlformats.org/drawingml/2006/table">
            <a:tbl>
              <a:tblPr bandRow="1">
                <a:tableStyleId>{9D7B26C5-4107-4FEC-AEDC-1716B250A1EF}</a:tableStyleId>
              </a:tblPr>
              <a:tblGrid>
                <a:gridCol w="77270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0135">
                <a:tc>
                  <a:txBody>
                    <a:bodyPr/>
                    <a:lstStyle/>
                    <a:p>
                      <a:r>
                        <a:rPr kumimoji="0" lang="en-IN" sz="1600" b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data2 = data[['AGE','TOWN','DEBTINC_bin','CREDDEBT_bin','ADDRESS_bin',</a:t>
                      </a:r>
                    </a:p>
                    <a:p>
                      <a:r>
                        <a:rPr kumimoji="0" lang="en-IN" sz="1600" b="0" u="none" strike="noStrike" kern="0" cap="none" spc="0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           'SN_bin','OTHDEBT_bin','EMPLOY_bin','DEFAULTER']]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6A6A6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5962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>
            <a:extLst>
              <a:ext uri="{FF2B5EF4-FFF2-40B4-BE49-F238E27FC236}">
                <a16:creationId xmlns:a16="http://schemas.microsoft.com/office/drawing/2014/main" id="{C9B01952-81A9-4C72-A884-4CF98E4582DF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457200" y="-76200"/>
            <a:ext cx="8229600" cy="810805"/>
          </a:xfrm>
        </p:spPr>
        <p:txBody>
          <a:bodyPr/>
          <a:lstStyle/>
          <a:p>
            <a:r>
              <a:rPr lang="en-IN" sz="3200" b="1" dirty="0">
                <a:latin typeface="+mj-lt"/>
              </a:rPr>
              <a:t>WoE and IV in Python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A987DFA-50DB-4A32-82FA-5145F5AC9C2E}"/>
              </a:ext>
            </a:extLst>
          </p:cNvPr>
          <p:cNvGrpSpPr/>
          <p:nvPr/>
        </p:nvGrpSpPr>
        <p:grpSpPr>
          <a:xfrm>
            <a:off x="1991225" y="685800"/>
            <a:ext cx="5161551" cy="52403"/>
            <a:chOff x="1991225" y="1155160"/>
            <a:chExt cx="5161551" cy="5240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32AB725-40AC-4211-9BAF-124E6138A082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1991225" y="1155160"/>
              <a:ext cx="1781908" cy="5240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9C60662-0C88-4FD0-934A-9DF6EBD2933D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3902613" y="1155160"/>
              <a:ext cx="1338774" cy="5240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3092B32-2DC3-4156-8D67-C843328A0C5A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5370868" y="1155160"/>
              <a:ext cx="1781908" cy="52403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A7003EEB-EF6C-48D9-B09B-CE4B15ADF563}" type="slidenum">
              <a:rPr lang="en-US" smtClean="0"/>
              <a:pPr algn="r"/>
              <a:t>14</a:t>
            </a:fld>
            <a:endParaRPr lang="en-US" dirty="0"/>
          </a:p>
        </p:txBody>
      </p: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A3AABC55-CCD1-4DBC-8F54-6CBAC4638E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7317121"/>
              </p:ext>
            </p:extLst>
          </p:nvPr>
        </p:nvGraphicFramePr>
        <p:xfrm>
          <a:off x="654964" y="1143000"/>
          <a:ext cx="7498436" cy="2773680"/>
        </p:xfrm>
        <a:graphic>
          <a:graphicData uri="http://schemas.openxmlformats.org/drawingml/2006/table">
            <a:tbl>
              <a:tblPr bandRow="1">
                <a:tableStyleId>{9D7B26C5-4107-4FEC-AEDC-1716B250A1EF}</a:tableStyleId>
              </a:tblPr>
              <a:tblGrid>
                <a:gridCol w="74984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01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</a:rPr>
                        <a:t>lst</a:t>
                      </a:r>
                      <a:r>
                        <a:rPr kumimoji="0" lang="en-US" sz="1600" b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</a:rPr>
                        <a:t> = []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</a:rPr>
                        <a:t>iv_list</a:t>
                      </a:r>
                      <a:r>
                        <a:rPr kumimoji="0" lang="en-US" sz="1600" b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</a:rPr>
                        <a:t> = []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uLnTx/>
                        <a:uFillTx/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</a:rPr>
                        <a:t>for col in data2.columns: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</a:rPr>
                        <a:t>    if col == 'DEFAULTER':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</a:rPr>
                        <a:t>        continue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</a:rPr>
                        <a:t>    </a:t>
                      </a:r>
                      <a:r>
                        <a:rPr kumimoji="0" lang="en-US" sz="1600" b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</a:rPr>
                        <a:t>df</a:t>
                      </a:r>
                      <a:r>
                        <a:rPr kumimoji="0" lang="en-US" sz="1600" b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</a:rPr>
                        <a:t>, iv = </a:t>
                      </a:r>
                      <a:r>
                        <a:rPr kumimoji="0" lang="en-US" sz="1600" b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</a:rPr>
                        <a:t>calculate_woe_iv</a:t>
                      </a:r>
                      <a:r>
                        <a:rPr kumimoji="0" lang="en-US" sz="1600" b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</a:rPr>
                        <a:t>(data2, col, 'DEFAULTER')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</a:rPr>
                        <a:t>    </a:t>
                      </a:r>
                      <a:r>
                        <a:rPr kumimoji="0" lang="en-US" sz="1600" b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</a:rPr>
                        <a:t>lst.append</a:t>
                      </a:r>
                      <a:r>
                        <a:rPr kumimoji="0" lang="en-US" sz="1600" b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</a:rPr>
                        <a:t>(</a:t>
                      </a:r>
                      <a:r>
                        <a:rPr kumimoji="0" lang="en-US" sz="1600" b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</a:rPr>
                        <a:t>df</a:t>
                      </a:r>
                      <a:r>
                        <a:rPr kumimoji="0" lang="en-US" sz="1600" b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</a:rPr>
                        <a:t>    </a:t>
                      </a:r>
                      <a:r>
                        <a:rPr kumimoji="0" lang="en-US" sz="1600" b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</a:rPr>
                        <a:t>iv_list.append</a:t>
                      </a:r>
                      <a:r>
                        <a:rPr kumimoji="0" lang="en-US" sz="1600" b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</a:rPr>
                        <a:t>({"Variable": col, "IV": iv})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uLnTx/>
                        <a:uFillTx/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</a:rPr>
                        <a:t>IV_df</a:t>
                      </a:r>
                      <a:r>
                        <a:rPr kumimoji="0" lang="en-US" sz="1600" b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</a:rPr>
                        <a:t> = </a:t>
                      </a:r>
                      <a:r>
                        <a:rPr kumimoji="0" lang="en-US" sz="1600" b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</a:rPr>
                        <a:t>pd.DataFrame</a:t>
                      </a:r>
                      <a:r>
                        <a:rPr kumimoji="0" lang="en-US" sz="1600" b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</a:rPr>
                        <a:t>(</a:t>
                      </a:r>
                      <a:r>
                        <a:rPr kumimoji="0" lang="en-US" sz="1600" b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</a:rPr>
                        <a:t>iv_list</a:t>
                      </a:r>
                      <a:r>
                        <a:rPr kumimoji="0" lang="en-US" sz="1600" b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</a:rPr>
                        <a:t>)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6A6A6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DD4A199D-7959-4C00-A3C6-05B409DB3408}"/>
              </a:ext>
            </a:extLst>
          </p:cNvPr>
          <p:cNvSpPr txBox="1"/>
          <p:nvPr/>
        </p:nvSpPr>
        <p:spPr>
          <a:xfrm flipH="1">
            <a:off x="609600" y="762000"/>
            <a:ext cx="7848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</a:rPr>
              <a:t># Calculate WoE and IV </a:t>
            </a:r>
          </a:p>
        </p:txBody>
      </p: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33CBAB2A-A1C4-4BA6-9382-DC5F4BE489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2832522"/>
              </p:ext>
            </p:extLst>
          </p:nvPr>
        </p:nvGraphicFramePr>
        <p:xfrm>
          <a:off x="654964" y="5895648"/>
          <a:ext cx="7498436" cy="350135"/>
        </p:xfrm>
        <a:graphic>
          <a:graphicData uri="http://schemas.openxmlformats.org/drawingml/2006/table">
            <a:tbl>
              <a:tblPr bandRow="1">
                <a:tableStyleId>{9D7B26C5-4107-4FEC-AEDC-1716B250A1EF}</a:tableStyleId>
              </a:tblPr>
              <a:tblGrid>
                <a:gridCol w="74984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01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600" b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</a:rPr>
                        <a:t>data_AGE = lst[0]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6A6A6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" name="Rectangle 13">
            <a:extLst>
              <a:ext uri="{FF2B5EF4-FFF2-40B4-BE49-F238E27FC236}">
                <a16:creationId xmlns:a16="http://schemas.microsoft.com/office/drawing/2014/main" id="{C190E8FE-4F54-48FE-8C07-2DBB062C69AA}"/>
              </a:ext>
            </a:extLst>
          </p:cNvPr>
          <p:cNvSpPr/>
          <p:nvPr/>
        </p:nvSpPr>
        <p:spPr>
          <a:xfrm>
            <a:off x="654964" y="4243734"/>
            <a:ext cx="7772400" cy="1200329"/>
          </a:xfrm>
          <a:prstGeom prst="rect">
            <a:avLst/>
          </a:prstGeom>
          <a:solidFill>
            <a:sysClr val="window" lastClr="FFFFFF"/>
          </a:solidFill>
          <a:ln w="3175">
            <a:solidFill>
              <a:srgbClr val="C32D2E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SzPct val="60000"/>
              <a:buFont typeface="Wingdings" pitchFamily="2" charset="2"/>
              <a:buChar char="q"/>
              <a:defRPr/>
            </a:pPr>
            <a:r>
              <a:rPr lang="en-IN" sz="24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Vijaya" pitchFamily="34" charset="0"/>
                <a:cs typeface="Vijaya" pitchFamily="34" charset="0"/>
              </a:rPr>
              <a:t>calculate_woe_iv</a:t>
            </a:r>
            <a:r>
              <a:rPr lang="en-IN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Vijaya" pitchFamily="34" charset="0"/>
                <a:cs typeface="Vijaya" pitchFamily="34" charset="0"/>
              </a:rPr>
              <a:t> generates WoE and IV for all variables in the data except dependent variable which is specified as “column_name” in separate ‘df’ stored in list </a:t>
            </a:r>
            <a:r>
              <a:rPr lang="en-IN" sz="24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Vijaya" pitchFamily="34" charset="0"/>
                <a:cs typeface="Vijaya" pitchFamily="34" charset="0"/>
              </a:rPr>
              <a:t>‘lst’. </a:t>
            </a:r>
            <a:endParaRPr lang="en-IN" sz="2400" kern="0" dirty="0">
              <a:solidFill>
                <a:schemeClr val="tx1">
                  <a:lumMod val="75000"/>
                  <a:lumOff val="25000"/>
                </a:schemeClr>
              </a:solidFill>
              <a:latin typeface="Vijaya" pitchFamily="34" charset="0"/>
              <a:cs typeface="Vijaya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D7A9161-0BDD-4163-B4CB-D8FB61BAD716}"/>
              </a:ext>
            </a:extLst>
          </p:cNvPr>
          <p:cNvSpPr/>
          <p:nvPr/>
        </p:nvSpPr>
        <p:spPr>
          <a:xfrm>
            <a:off x="562315" y="5514648"/>
            <a:ext cx="489749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Consolas" pitchFamily="49" charset="0"/>
              </a:rPr>
              <a:t># Get WoE and IV values for ‘AGE’ variable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800F9DF-1BC3-40FE-BD58-EB3095FD5D9B}"/>
              </a:ext>
            </a:extLst>
          </p:cNvPr>
          <p:cNvSpPr/>
          <p:nvPr/>
        </p:nvSpPr>
        <p:spPr>
          <a:xfrm>
            <a:off x="609600" y="6320135"/>
            <a:ext cx="7772400" cy="461665"/>
          </a:xfrm>
          <a:prstGeom prst="rect">
            <a:avLst/>
          </a:prstGeom>
          <a:solidFill>
            <a:sysClr val="window" lastClr="FFFFFF"/>
          </a:solidFill>
          <a:ln w="3175">
            <a:solidFill>
              <a:srgbClr val="C32D2E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SzPct val="60000"/>
              <a:buFont typeface="Wingdings" pitchFamily="2" charset="2"/>
              <a:buChar char="q"/>
              <a:defRPr/>
            </a:pPr>
            <a:r>
              <a:rPr lang="en-US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Vijaya" pitchFamily="34" charset="0"/>
                <a:cs typeface="Vijaya" pitchFamily="34" charset="0"/>
              </a:rPr>
              <a:t>Extract dataframe for ‘AGE’ from ‘lst’</a:t>
            </a:r>
            <a:endParaRPr lang="en-IN" sz="2400" kern="0" dirty="0">
              <a:solidFill>
                <a:schemeClr val="tx1">
                  <a:lumMod val="75000"/>
                  <a:lumOff val="25000"/>
                </a:schemeClr>
              </a:solidFill>
              <a:latin typeface="Vijaya" pitchFamily="34" charset="0"/>
              <a:cs typeface="Vijay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2049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>
            <a:extLst>
              <a:ext uri="{FF2B5EF4-FFF2-40B4-BE49-F238E27FC236}">
                <a16:creationId xmlns:a16="http://schemas.microsoft.com/office/drawing/2014/main" id="{C9B01952-81A9-4C72-A884-4CF98E4582DF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457200" y="103595"/>
            <a:ext cx="8229600" cy="810805"/>
          </a:xfrm>
        </p:spPr>
        <p:txBody>
          <a:bodyPr/>
          <a:lstStyle/>
          <a:p>
            <a:r>
              <a:rPr lang="en-US" sz="3200" b="1" dirty="0">
                <a:solidFill>
                  <a:schemeClr val="accent1"/>
                </a:solidFill>
                <a:latin typeface="+mj-lt"/>
              </a:rPr>
              <a:t>WoE and IV in Python 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A987DFA-50DB-4A32-82FA-5145F5AC9C2E}"/>
              </a:ext>
            </a:extLst>
          </p:cNvPr>
          <p:cNvGrpSpPr/>
          <p:nvPr/>
        </p:nvGrpSpPr>
        <p:grpSpPr>
          <a:xfrm>
            <a:off x="1991225" y="1014397"/>
            <a:ext cx="5161551" cy="52403"/>
            <a:chOff x="1991225" y="1155160"/>
            <a:chExt cx="5161551" cy="5240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32AB725-40AC-4211-9BAF-124E6138A082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1991225" y="1155160"/>
              <a:ext cx="1781908" cy="5240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9C60662-0C88-4FD0-934A-9DF6EBD2933D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3902613" y="1155160"/>
              <a:ext cx="1338774" cy="5240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3092B32-2DC3-4156-8D67-C843328A0C5A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5370868" y="1155160"/>
              <a:ext cx="1781908" cy="52403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2951BDF2-49E3-4441-9E12-0DA8309C40FD}"/>
              </a:ext>
            </a:extLst>
          </p:cNvPr>
          <p:cNvSpPr txBox="1"/>
          <p:nvPr/>
        </p:nvSpPr>
        <p:spPr>
          <a:xfrm>
            <a:off x="857250" y="1914270"/>
            <a:ext cx="74485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Consolas" panose="020B0609020204030204" pitchFamily="49" charset="0"/>
                <a:ea typeface="Ebrima" pitchFamily="2" charset="0"/>
                <a:cs typeface="Ebrima" pitchFamily="2" charset="0"/>
              </a:rPr>
              <a:t># Output :</a:t>
            </a:r>
            <a:endParaRPr lang="en-US" sz="1600" dirty="0">
              <a:latin typeface="Consolas" panose="020B0609020204030204" pitchFamily="49" charset="0"/>
              <a:ea typeface="Ebrima" pitchFamily="2" charset="0"/>
              <a:cs typeface="Ebrima" pitchFamily="2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A7003EEB-EF6C-48D9-B09B-CE4B15ADF563}" type="slidenum">
              <a:rPr lang="en-US" smtClean="0"/>
              <a:pPr algn="r"/>
              <a:t>15</a:t>
            </a:fld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AF71B34-6C2B-47AC-8C7E-F2F089AB9B68}"/>
              </a:ext>
            </a:extLst>
          </p:cNvPr>
          <p:cNvSpPr/>
          <p:nvPr/>
        </p:nvSpPr>
        <p:spPr>
          <a:xfrm>
            <a:off x="847724" y="3447871"/>
            <a:ext cx="7686675" cy="1200329"/>
          </a:xfrm>
          <a:prstGeom prst="rect">
            <a:avLst/>
          </a:prstGeom>
          <a:solidFill>
            <a:schemeClr val="bg1"/>
          </a:solidFill>
          <a:ln w="3175">
            <a:solidFill>
              <a:schemeClr val="accent3"/>
            </a:solidFill>
          </a:ln>
        </p:spPr>
        <p:txBody>
          <a:bodyPr wrap="square">
            <a:spAutoFit/>
          </a:bodyPr>
          <a:lstStyle/>
          <a:p>
            <a:pPr>
              <a:buSzPct val="60000"/>
            </a:pP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Vijaya" panose="02020604020202020204" pitchFamily="18" charset="0"/>
                <a:cs typeface="Vijaya" panose="02020604020202020204" pitchFamily="18" charset="0"/>
              </a:rPr>
              <a:t>Interpretation:</a:t>
            </a:r>
          </a:p>
          <a:p>
            <a:pPr marL="342900" indent="-342900">
              <a:buSzPct val="60000"/>
              <a:buFont typeface="Wingdings" pitchFamily="2" charset="2"/>
              <a:buChar char="Ø"/>
            </a:pPr>
            <a:r>
              <a:rPr lang="en-I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Vijaya" panose="02020604020202020204" pitchFamily="18" charset="0"/>
                <a:cs typeface="Vijaya" panose="02020604020202020204" pitchFamily="18" charset="0"/>
              </a:rPr>
              <a:t>Output table contains categories of the variable, count of Good, Bad and their respective distributions for each category, WoE and IV values.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9CFE55-3298-4E8E-97AF-360FFBECC5BE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990"/>
          <a:stretch/>
        </p:blipFill>
        <p:spPr>
          <a:xfrm>
            <a:off x="857250" y="2284086"/>
            <a:ext cx="6286500" cy="92202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E638190-C7BA-4B9C-B59E-A59A3C3D12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5045980"/>
              </p:ext>
            </p:extLst>
          </p:nvPr>
        </p:nvGraphicFramePr>
        <p:xfrm>
          <a:off x="857250" y="1460344"/>
          <a:ext cx="7498436" cy="335280"/>
        </p:xfrm>
        <a:graphic>
          <a:graphicData uri="http://schemas.openxmlformats.org/drawingml/2006/table">
            <a:tbl>
              <a:tblPr bandRow="1">
                <a:tableStyleId>{9D7B26C5-4107-4FEC-AEDC-1716B250A1EF}</a:tableStyleId>
              </a:tblPr>
              <a:tblGrid>
                <a:gridCol w="74984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401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600" b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</a:rPr>
                        <a:t>data_AGE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6A6A6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6952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>
            <a:extLst>
              <a:ext uri="{FF2B5EF4-FFF2-40B4-BE49-F238E27FC236}">
                <a16:creationId xmlns:a16="http://schemas.microsoft.com/office/drawing/2014/main" id="{C9B01952-81A9-4C72-A884-4CF98E4582DF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-1" y="179795"/>
            <a:ext cx="8991585" cy="810805"/>
          </a:xfrm>
        </p:spPr>
        <p:txBody>
          <a:bodyPr/>
          <a:lstStyle/>
          <a:p>
            <a:r>
              <a:rPr lang="en-IN" sz="3200" b="1" dirty="0">
                <a:latin typeface="+mj-lt"/>
              </a:rPr>
              <a:t>Appending WoE Values to Original Data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A987DFA-50DB-4A32-82FA-5145F5AC9C2E}"/>
              </a:ext>
            </a:extLst>
          </p:cNvPr>
          <p:cNvGrpSpPr/>
          <p:nvPr/>
        </p:nvGrpSpPr>
        <p:grpSpPr>
          <a:xfrm>
            <a:off x="1991225" y="1066800"/>
            <a:ext cx="5161551" cy="52403"/>
            <a:chOff x="1991225" y="1155160"/>
            <a:chExt cx="5161551" cy="5240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32AB725-40AC-4211-9BAF-124E6138A082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1991225" y="1155160"/>
              <a:ext cx="1781908" cy="5240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9C60662-0C88-4FD0-934A-9DF6EBD2933D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3902613" y="1155160"/>
              <a:ext cx="1338774" cy="5240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3092B32-2DC3-4156-8D67-C843328A0C5A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5370868" y="1155160"/>
              <a:ext cx="1781908" cy="52403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A7003EEB-EF6C-48D9-B09B-CE4B15ADF563}" type="slidenum">
              <a:rPr lang="en-US" smtClean="0"/>
              <a:pPr algn="r"/>
              <a:t>16</a:t>
            </a:fld>
            <a:endParaRPr lang="en-US" dirty="0"/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4E14D51A-E1F2-49C3-917A-B00E5F58D4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6792237"/>
              </p:ext>
            </p:extLst>
          </p:nvPr>
        </p:nvGraphicFramePr>
        <p:xfrm>
          <a:off x="654964" y="1895426"/>
          <a:ext cx="7498436" cy="822960"/>
        </p:xfrm>
        <a:graphic>
          <a:graphicData uri="http://schemas.openxmlformats.org/drawingml/2006/table">
            <a:tbl>
              <a:tblPr bandRow="1">
                <a:tableStyleId>{9D7B26C5-4107-4FEC-AEDC-1716B250A1EF}</a:tableStyleId>
              </a:tblPr>
              <a:tblGrid>
                <a:gridCol w="74984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01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600" b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</a:rPr>
                        <a:t>data_AGE = data_AGE.</a:t>
                      </a:r>
                      <a:r>
                        <a:rPr kumimoji="0" lang="en-IN" sz="1600" b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</a:rPr>
                        <a:t>rename</a:t>
                      </a:r>
                      <a:r>
                        <a:rPr kumimoji="0" lang="en-IN" sz="1600" b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</a:rPr>
                        <a:t>(columns={"Value": "AGE"})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</a:rPr>
                        <a:t>result = </a:t>
                      </a:r>
                      <a:r>
                        <a:rPr kumimoji="0" lang="en-US" sz="1600" b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</a:rPr>
                        <a:t>pd.merge</a:t>
                      </a:r>
                      <a:r>
                        <a:rPr kumimoji="0" lang="en-US" sz="1600" b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</a:rPr>
                        <a:t>(data, </a:t>
                      </a:r>
                      <a:r>
                        <a:rPr kumimoji="0" lang="en-US" sz="1600" b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</a:rPr>
                        <a:t>data_AGE</a:t>
                      </a:r>
                      <a:r>
                        <a:rPr kumimoji="0" lang="en-US" sz="1600" b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</a:rPr>
                        <a:t>[['AGE','</a:t>
                      </a:r>
                      <a:r>
                        <a:rPr kumimoji="0" lang="en-US" sz="1600" b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</a:rPr>
                        <a:t>WoE</a:t>
                      </a:r>
                      <a:r>
                        <a:rPr kumimoji="0" lang="en-US" sz="1600" b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</a:rPr>
                        <a:t>','IV']], on='AGE')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600" b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</a:rPr>
                        <a:t>result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6A6A6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6D73BE64-387B-441B-A33C-95EC1A6E898C}"/>
              </a:ext>
            </a:extLst>
          </p:cNvPr>
          <p:cNvSpPr txBox="1"/>
          <p:nvPr/>
        </p:nvSpPr>
        <p:spPr>
          <a:xfrm flipH="1">
            <a:off x="609600" y="1541632"/>
            <a:ext cx="7848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</a:rPr>
              <a:t># Check the type of key variable before merging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4AE3906-270E-4B0A-93C8-4E04D3560BE8}"/>
              </a:ext>
            </a:extLst>
          </p:cNvPr>
          <p:cNvSpPr/>
          <p:nvPr/>
        </p:nvSpPr>
        <p:spPr>
          <a:xfrm>
            <a:off x="609600" y="2794586"/>
            <a:ext cx="7772400" cy="830997"/>
          </a:xfrm>
          <a:prstGeom prst="rect">
            <a:avLst/>
          </a:prstGeom>
          <a:solidFill>
            <a:sysClr val="window" lastClr="FFFFFF"/>
          </a:solidFill>
          <a:ln w="3175">
            <a:solidFill>
              <a:srgbClr val="C32D2E"/>
            </a:solidFill>
          </a:ln>
        </p:spPr>
        <p:txBody>
          <a:bodyPr wrap="square">
            <a:spAutoFit/>
          </a:bodyPr>
          <a:lstStyle/>
          <a:p>
            <a:pPr marL="285750" lvl="0" indent="-285750">
              <a:buSzPct val="60000"/>
              <a:buFont typeface="Wingdings" pitchFamily="2" charset="2"/>
              <a:buChar char="q"/>
              <a:defRPr/>
            </a:pPr>
            <a:r>
              <a:rPr lang="en-IN" sz="2400" kern="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Vijaya" pitchFamily="34" charset="0"/>
                <a:cs typeface="Vijaya" pitchFamily="34" charset="0"/>
              </a:rPr>
              <a:t>Make </a:t>
            </a:r>
            <a:r>
              <a:rPr lang="en-IN" sz="2400" b="1" kern="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Vijaya" pitchFamily="34" charset="0"/>
                <a:cs typeface="Vijaya" pitchFamily="34" charset="0"/>
              </a:rPr>
              <a:t>‘AGE’ </a:t>
            </a:r>
            <a:r>
              <a:rPr lang="en-IN" sz="2400" kern="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Vijaya" pitchFamily="34" charset="0"/>
                <a:cs typeface="Vijaya" pitchFamily="34" charset="0"/>
              </a:rPr>
              <a:t>as the common variable in the original data and WoE data. </a:t>
            </a:r>
          </a:p>
          <a:p>
            <a:pPr marL="285750" lvl="0" indent="-285750">
              <a:buSzPct val="60000"/>
              <a:buFont typeface="Wingdings" pitchFamily="2" charset="2"/>
              <a:buChar char="q"/>
              <a:defRPr/>
            </a:pPr>
            <a:r>
              <a:rPr lang="en-IN" sz="2400" kern="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Vijaya" pitchFamily="34" charset="0"/>
                <a:cs typeface="Vijaya" pitchFamily="34" charset="0"/>
              </a:rPr>
              <a:t>Type of ‘AGE’ in both data should be common for merging datasets.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B98695D-73B4-49C2-87C8-A94789FC8DC8}"/>
              </a:ext>
            </a:extLst>
          </p:cNvPr>
          <p:cNvSpPr txBox="1"/>
          <p:nvPr/>
        </p:nvSpPr>
        <p:spPr>
          <a:xfrm>
            <a:off x="609600" y="3776246"/>
            <a:ext cx="7772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Consolas" panose="020B0609020204030204" pitchFamily="49" charset="0"/>
                <a:ea typeface="Ebrima" pitchFamily="2" charset="0"/>
                <a:cs typeface="Ebrima" pitchFamily="2" charset="0"/>
              </a:rPr>
              <a:t># Output :</a:t>
            </a:r>
            <a:endParaRPr lang="en-US" sz="1600" dirty="0">
              <a:latin typeface="Consolas" panose="020B0609020204030204" pitchFamily="49" charset="0"/>
              <a:ea typeface="Ebrima" pitchFamily="2" charset="0"/>
              <a:cs typeface="Ebrima" pitchFamily="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7844B2-D677-419F-BA49-C5FCA908F8C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4964" y="4210050"/>
            <a:ext cx="6686550" cy="234315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575658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>
            <a:extLst>
              <a:ext uri="{FF2B5EF4-FFF2-40B4-BE49-F238E27FC236}">
                <a16:creationId xmlns:a16="http://schemas.microsoft.com/office/drawing/2014/main" id="{C9B01952-81A9-4C72-A884-4CF98E4582DF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-1" y="179795"/>
            <a:ext cx="8991585" cy="810805"/>
          </a:xfrm>
        </p:spPr>
        <p:txBody>
          <a:bodyPr/>
          <a:lstStyle/>
          <a:p>
            <a:r>
              <a:rPr lang="en-IN" sz="3200" b="1" dirty="0">
                <a:latin typeface="+mj-lt"/>
              </a:rPr>
              <a:t>Binary Logistic Model 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A987DFA-50DB-4A32-82FA-5145F5AC9C2E}"/>
              </a:ext>
            </a:extLst>
          </p:cNvPr>
          <p:cNvGrpSpPr/>
          <p:nvPr/>
        </p:nvGrpSpPr>
        <p:grpSpPr>
          <a:xfrm>
            <a:off x="1991225" y="1014397"/>
            <a:ext cx="5161551" cy="52403"/>
            <a:chOff x="1991225" y="1155160"/>
            <a:chExt cx="5161551" cy="5240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32AB725-40AC-4211-9BAF-124E6138A082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1991225" y="1155160"/>
              <a:ext cx="1781908" cy="5240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9C60662-0C88-4FD0-934A-9DF6EBD2933D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3902613" y="1155160"/>
              <a:ext cx="1338774" cy="5240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3092B32-2DC3-4156-8D67-C843328A0C5A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5370868" y="1155160"/>
              <a:ext cx="1781908" cy="52403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A7003EEB-EF6C-48D9-B09B-CE4B15ADF563}" type="slidenum">
              <a:rPr lang="en-US" smtClean="0"/>
              <a:pPr algn="r"/>
              <a:t>17</a:t>
            </a:fld>
            <a:endParaRPr lang="en-US" dirty="0"/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4E14D51A-E1F2-49C3-917A-B00E5F58D4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1208786"/>
              </p:ext>
            </p:extLst>
          </p:nvPr>
        </p:nvGraphicFramePr>
        <p:xfrm>
          <a:off x="644236" y="1837591"/>
          <a:ext cx="7498436" cy="1554480"/>
        </p:xfrm>
        <a:graphic>
          <a:graphicData uri="http://schemas.openxmlformats.org/drawingml/2006/table">
            <a:tbl>
              <a:tblPr bandRow="1">
                <a:tableStyleId>{9D7B26C5-4107-4FEC-AEDC-1716B250A1EF}</a:tableStyleId>
              </a:tblPr>
              <a:tblGrid>
                <a:gridCol w="74984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01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600" b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</a:rPr>
                        <a:t>import statsmodels.formula.api as smf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600" b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</a:rPr>
                        <a:t>import statsmodels.api as sm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1600" b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uLnTx/>
                        <a:uFillTx/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600" b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</a:rPr>
                        <a:t>riskmodel=</a:t>
                      </a:r>
                      <a:r>
                        <a:rPr kumimoji="0" lang="en-IN" sz="1600" b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</a:rPr>
                        <a:t>smf.glm</a:t>
                      </a:r>
                      <a:r>
                        <a:rPr kumimoji="0" lang="en-IN" sz="1600" b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</a:rPr>
                        <a:t>('DEFAULTER ~ AGE + EMPLOY + ADDRESS + DEBTINC + CREDDEBT + OTHDEBT',</a:t>
                      </a:r>
                      <a:r>
                        <a:rPr kumimoji="0" lang="en-IN" sz="1600" b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</a:rPr>
                        <a:t>data</a:t>
                      </a:r>
                      <a:r>
                        <a:rPr kumimoji="0" lang="en-IN" sz="1600" b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</a:rPr>
                        <a:t>=data, </a:t>
                      </a:r>
                      <a:r>
                        <a:rPr kumimoji="0" lang="en-IN" sz="1600" b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</a:rPr>
                        <a:t>family = sm.families.Binomial(</a:t>
                      </a:r>
                      <a:r>
                        <a:rPr kumimoji="0" lang="en-IN" sz="1600" b="1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</a:rPr>
                        <a:t>sm.families.links.logit</a:t>
                      </a:r>
                      <a:r>
                        <a:rPr kumimoji="0" lang="en-IN" sz="1600" b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</a:rPr>
                        <a:t>())).fit()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6A6A6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6D73BE64-387B-441B-A33C-95EC1A6E898C}"/>
              </a:ext>
            </a:extLst>
          </p:cNvPr>
          <p:cNvSpPr txBox="1"/>
          <p:nvPr/>
        </p:nvSpPr>
        <p:spPr>
          <a:xfrm flipH="1">
            <a:off x="609600" y="1337846"/>
            <a:ext cx="7848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</a:rPr>
              <a:t># </a:t>
            </a:r>
            <a:r>
              <a:rPr lang="en-IN" sz="1600" dirty="0">
                <a:latin typeface="Consolas" panose="020B0609020204030204" pitchFamily="49" charset="0"/>
              </a:rPr>
              <a:t>Binary Logistic Model with AGE as FACTOR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0D431B5-F87C-4FC9-B29B-7DE1C9A54BB0}"/>
              </a:ext>
            </a:extLst>
          </p:cNvPr>
          <p:cNvSpPr txBox="1"/>
          <p:nvPr/>
        </p:nvSpPr>
        <p:spPr>
          <a:xfrm flipH="1">
            <a:off x="609600" y="3505200"/>
            <a:ext cx="8077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</a:rPr>
              <a:t># </a:t>
            </a:r>
            <a:r>
              <a:rPr lang="en-IN" sz="1600" dirty="0">
                <a:latin typeface="Consolas" panose="020B0609020204030204" pitchFamily="49" charset="0"/>
              </a:rPr>
              <a:t>Binary Logistic Model using ‘WOE’ as a predictor instead of ‘AGE’ 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773F4771-9451-4EEB-B5A1-175B633882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1677682"/>
              </p:ext>
            </p:extLst>
          </p:nvPr>
        </p:nvGraphicFramePr>
        <p:xfrm>
          <a:off x="609600" y="3904714"/>
          <a:ext cx="7498436" cy="822960"/>
        </p:xfrm>
        <a:graphic>
          <a:graphicData uri="http://schemas.openxmlformats.org/drawingml/2006/table">
            <a:tbl>
              <a:tblPr bandRow="1">
                <a:tableStyleId>{9D7B26C5-4107-4FEC-AEDC-1716B250A1EF}</a:tableStyleId>
              </a:tblPr>
              <a:tblGrid>
                <a:gridCol w="74984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01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600" b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</a:rPr>
                        <a:t>riskmodel2=</a:t>
                      </a:r>
                      <a:r>
                        <a:rPr kumimoji="0" lang="en-IN" sz="1600" b="1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</a:rPr>
                        <a:t>smf.glm</a:t>
                      </a:r>
                      <a:r>
                        <a:rPr kumimoji="0" lang="en-IN" sz="1600" b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</a:rPr>
                        <a:t>('DEFAULTER ~ WoE + EMPLOY + ADDRESS + DEBTINC + CREDDEBT + OTHDEBT',</a:t>
                      </a:r>
                      <a:r>
                        <a:rPr kumimoji="0" lang="en-IN" sz="1600" b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</a:rPr>
                        <a:t>data</a:t>
                      </a:r>
                      <a:r>
                        <a:rPr kumimoji="0" lang="en-IN" sz="1600" b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</a:rPr>
                        <a:t>=result, </a:t>
                      </a:r>
                      <a:r>
                        <a:rPr kumimoji="0" lang="en-IN" sz="1600" b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</a:rPr>
                        <a:t>family = sm.families.Binomial(</a:t>
                      </a:r>
                      <a:r>
                        <a:rPr kumimoji="0" lang="en-IN" sz="1600" b="1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</a:rPr>
                        <a:t>sm.families.links.logit</a:t>
                      </a:r>
                      <a:r>
                        <a:rPr kumimoji="0" lang="en-IN" sz="1600" b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</a:rPr>
                        <a:t>())).fit()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6A6A6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87394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>
            <a:extLst>
              <a:ext uri="{FF2B5EF4-FFF2-40B4-BE49-F238E27FC236}">
                <a16:creationId xmlns:a16="http://schemas.microsoft.com/office/drawing/2014/main" id="{C9B01952-81A9-4C72-A884-4CF98E4582DF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457200" y="-76200"/>
            <a:ext cx="8229600" cy="810805"/>
          </a:xfrm>
        </p:spPr>
        <p:txBody>
          <a:bodyPr/>
          <a:lstStyle/>
          <a:p>
            <a:r>
              <a:rPr lang="en-US" sz="3200" b="1" dirty="0">
                <a:solidFill>
                  <a:schemeClr val="accent1"/>
                </a:solidFill>
                <a:latin typeface="+mj-lt"/>
              </a:rPr>
              <a:t>Binary Logistic Model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A987DFA-50DB-4A32-82FA-5145F5AC9C2E}"/>
              </a:ext>
            </a:extLst>
          </p:cNvPr>
          <p:cNvGrpSpPr/>
          <p:nvPr/>
        </p:nvGrpSpPr>
        <p:grpSpPr>
          <a:xfrm>
            <a:off x="1991225" y="609600"/>
            <a:ext cx="5161551" cy="52403"/>
            <a:chOff x="1991225" y="1155160"/>
            <a:chExt cx="5161551" cy="5240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32AB725-40AC-4211-9BAF-124E6138A082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1991225" y="1155160"/>
              <a:ext cx="1781908" cy="5240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9C60662-0C88-4FD0-934A-9DF6EBD2933D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3902613" y="1155160"/>
              <a:ext cx="1338774" cy="5240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3092B32-2DC3-4156-8D67-C843328A0C5A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5370868" y="1155160"/>
              <a:ext cx="1781908" cy="52403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2951BDF2-49E3-4441-9E12-0DA8309C40FD}"/>
              </a:ext>
            </a:extLst>
          </p:cNvPr>
          <p:cNvSpPr txBox="1"/>
          <p:nvPr/>
        </p:nvSpPr>
        <p:spPr>
          <a:xfrm>
            <a:off x="609600" y="1151369"/>
            <a:ext cx="6934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Consolas" panose="020B0609020204030204" pitchFamily="49" charset="0"/>
                <a:ea typeface="Ebrima" pitchFamily="2" charset="0"/>
                <a:cs typeface="Ebrima" pitchFamily="2" charset="0"/>
              </a:rPr>
              <a:t># Output :</a:t>
            </a:r>
            <a:endParaRPr lang="en-US" sz="1600" dirty="0">
              <a:latin typeface="Consolas" panose="020B0609020204030204" pitchFamily="49" charset="0"/>
              <a:ea typeface="Ebrima" pitchFamily="2" charset="0"/>
              <a:cs typeface="Ebrima" pitchFamily="2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A7003EEB-EF6C-48D9-B09B-CE4B15ADF563}" type="slidenum">
              <a:rPr lang="en-US" smtClean="0"/>
              <a:pPr algn="r"/>
              <a:t>18</a:t>
            </a:fld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AF71B34-6C2B-47AC-8C7E-F2F089AB9B68}"/>
              </a:ext>
            </a:extLst>
          </p:cNvPr>
          <p:cNvSpPr/>
          <p:nvPr/>
        </p:nvSpPr>
        <p:spPr>
          <a:xfrm>
            <a:off x="647700" y="5458361"/>
            <a:ext cx="7448550" cy="1323439"/>
          </a:xfrm>
          <a:prstGeom prst="rect">
            <a:avLst/>
          </a:prstGeom>
          <a:solidFill>
            <a:schemeClr val="bg1"/>
          </a:solidFill>
          <a:ln w="3175">
            <a:solidFill>
              <a:schemeClr val="accent3"/>
            </a:solidFill>
          </a:ln>
        </p:spPr>
        <p:txBody>
          <a:bodyPr wrap="square">
            <a:spAutoFit/>
          </a:bodyPr>
          <a:lstStyle/>
          <a:p>
            <a:pPr>
              <a:buSzPct val="60000"/>
            </a:pP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Vijaya" panose="02020604020202020204" pitchFamily="18" charset="0"/>
                <a:cs typeface="Vijaya" panose="02020604020202020204" pitchFamily="18" charset="0"/>
              </a:rPr>
              <a:t>Interpretation:</a:t>
            </a:r>
          </a:p>
          <a:p>
            <a:pPr marL="342900" indent="-342900">
              <a:buSzPct val="60000"/>
              <a:buFont typeface="Wingdings" pitchFamily="2" charset="2"/>
              <a:buChar char="Ø"/>
            </a:pP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Vijaya" panose="02020604020202020204" pitchFamily="18" charset="0"/>
                <a:cs typeface="Vijaya" panose="02020604020202020204" pitchFamily="18" charset="0"/>
              </a:rPr>
              <a:t>Model with Age as Category creates 2 dummy variables. </a:t>
            </a:r>
          </a:p>
          <a:p>
            <a:pPr marL="342900" indent="-342900">
              <a:buSzPct val="60000"/>
              <a:buFont typeface="Wingdings" pitchFamily="2" charset="2"/>
              <a:buChar char="Ø"/>
            </a:pP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Vijaya" panose="02020604020202020204" pitchFamily="18" charset="0"/>
                <a:cs typeface="Vijaya" panose="02020604020202020204" pitchFamily="18" charset="0"/>
              </a:rPr>
              <a:t>P values for both dummy variables are  greater than 0.05. Therefore, the impact of AGE  is statistically insignificant.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750A770-D2DC-42AD-AAA1-3D12536CFDD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701" y="1482363"/>
            <a:ext cx="6057900" cy="392783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A06ADD4-E954-4516-816D-3871FAB7A4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806185"/>
              </p:ext>
            </p:extLst>
          </p:nvPr>
        </p:nvGraphicFramePr>
        <p:xfrm>
          <a:off x="654964" y="838200"/>
          <a:ext cx="7498436" cy="350135"/>
        </p:xfrm>
        <a:graphic>
          <a:graphicData uri="http://schemas.openxmlformats.org/drawingml/2006/table">
            <a:tbl>
              <a:tblPr bandRow="1">
                <a:tableStyleId>{9D7B26C5-4107-4FEC-AEDC-1716B250A1EF}</a:tableStyleId>
              </a:tblPr>
              <a:tblGrid>
                <a:gridCol w="74984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01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600" b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</a:rPr>
                        <a:t>riskmodel</a:t>
                      </a:r>
                      <a:r>
                        <a:rPr kumimoji="0" lang="en-IN" sz="1600" b="1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</a:rPr>
                        <a:t>.summary</a:t>
                      </a:r>
                      <a:r>
                        <a:rPr kumimoji="0" lang="en-IN" sz="1600" b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</a:rPr>
                        <a:t>()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6A6A6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7358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>
            <a:extLst>
              <a:ext uri="{FF2B5EF4-FFF2-40B4-BE49-F238E27FC236}">
                <a16:creationId xmlns:a16="http://schemas.microsoft.com/office/drawing/2014/main" id="{C9B01952-81A9-4C72-A884-4CF98E4582DF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457200" y="-76200"/>
            <a:ext cx="8229600" cy="810805"/>
          </a:xfrm>
        </p:spPr>
        <p:txBody>
          <a:bodyPr/>
          <a:lstStyle/>
          <a:p>
            <a:r>
              <a:rPr lang="en-US" sz="3200" b="1" dirty="0">
                <a:solidFill>
                  <a:schemeClr val="accent1"/>
                </a:solidFill>
                <a:latin typeface="+mj-lt"/>
              </a:rPr>
              <a:t>Binary Logistic Model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A987DFA-50DB-4A32-82FA-5145F5AC9C2E}"/>
              </a:ext>
            </a:extLst>
          </p:cNvPr>
          <p:cNvGrpSpPr/>
          <p:nvPr/>
        </p:nvGrpSpPr>
        <p:grpSpPr>
          <a:xfrm>
            <a:off x="1991225" y="609600"/>
            <a:ext cx="5161551" cy="52403"/>
            <a:chOff x="1991225" y="1155160"/>
            <a:chExt cx="5161551" cy="5240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32AB725-40AC-4211-9BAF-124E6138A082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1991225" y="1155160"/>
              <a:ext cx="1781908" cy="5240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9C60662-0C88-4FD0-934A-9DF6EBD2933D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3902613" y="1155160"/>
              <a:ext cx="1338774" cy="5240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3092B32-2DC3-4156-8D67-C843328A0C5A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5370868" y="1155160"/>
              <a:ext cx="1781908" cy="52403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2951BDF2-49E3-4441-9E12-0DA8309C40FD}"/>
              </a:ext>
            </a:extLst>
          </p:cNvPr>
          <p:cNvSpPr txBox="1"/>
          <p:nvPr/>
        </p:nvSpPr>
        <p:spPr>
          <a:xfrm>
            <a:off x="609600" y="1185446"/>
            <a:ext cx="6934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Consolas" panose="020B0609020204030204" pitchFamily="49" charset="0"/>
                <a:ea typeface="Ebrima" pitchFamily="2" charset="0"/>
                <a:cs typeface="Ebrima" pitchFamily="2" charset="0"/>
              </a:rPr>
              <a:t># Output :</a:t>
            </a:r>
            <a:endParaRPr lang="en-US" sz="1600" dirty="0">
              <a:latin typeface="Consolas" panose="020B0609020204030204" pitchFamily="49" charset="0"/>
              <a:ea typeface="Ebrima" pitchFamily="2" charset="0"/>
              <a:cs typeface="Ebrima" pitchFamily="2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A7003EEB-EF6C-48D9-B09B-CE4B15ADF563}" type="slidenum">
              <a:rPr lang="en-US" smtClean="0"/>
              <a:pPr algn="r"/>
              <a:t>19</a:t>
            </a:fld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AF71B34-6C2B-47AC-8C7E-F2F089AB9B68}"/>
              </a:ext>
            </a:extLst>
          </p:cNvPr>
          <p:cNvSpPr/>
          <p:nvPr/>
        </p:nvSpPr>
        <p:spPr>
          <a:xfrm>
            <a:off x="609600" y="5458361"/>
            <a:ext cx="7448550" cy="1323439"/>
          </a:xfrm>
          <a:prstGeom prst="rect">
            <a:avLst/>
          </a:prstGeom>
          <a:solidFill>
            <a:schemeClr val="bg1"/>
          </a:solidFill>
          <a:ln w="3175">
            <a:solidFill>
              <a:schemeClr val="accent3"/>
            </a:solidFill>
          </a:ln>
        </p:spPr>
        <p:txBody>
          <a:bodyPr wrap="square">
            <a:spAutoFit/>
          </a:bodyPr>
          <a:lstStyle/>
          <a:p>
            <a:pPr>
              <a:buSzPct val="60000"/>
            </a:pP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Vijaya" panose="02020604020202020204" pitchFamily="18" charset="0"/>
                <a:cs typeface="Vijaya" panose="02020604020202020204" pitchFamily="18" charset="0"/>
              </a:rPr>
              <a:t>Interpretation:</a:t>
            </a:r>
          </a:p>
          <a:p>
            <a:pPr marL="342900" indent="-342900">
              <a:buSzPct val="60000"/>
              <a:buFont typeface="Wingdings" pitchFamily="2" charset="2"/>
              <a:buChar char="Ø"/>
            </a:pP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Vijaya" panose="02020604020202020204" pitchFamily="18" charset="0"/>
                <a:cs typeface="Vijaya" panose="02020604020202020204" pitchFamily="18" charset="0"/>
              </a:rPr>
              <a:t>Model with WOE as a predictor gives one P value </a:t>
            </a:r>
          </a:p>
          <a:p>
            <a:pPr marL="342900" indent="-342900">
              <a:buSzPct val="60000"/>
              <a:buFont typeface="Wingdings" pitchFamily="2" charset="2"/>
              <a:buChar char="Ø"/>
            </a:pP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Vijaya" panose="02020604020202020204" pitchFamily="18" charset="0"/>
                <a:cs typeface="Vijaya" panose="02020604020202020204" pitchFamily="18" charset="0"/>
              </a:rPr>
              <a:t>The P value for WOE is greater than 0.05. Therefore, the impact of AGE  is statistically insignificant.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437FF12-22FA-471D-B55E-5110145411D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1" y="1547553"/>
            <a:ext cx="6248400" cy="386264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4B0F36B-A9CA-4ED3-9B82-7C66A90A4D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0927663"/>
              </p:ext>
            </p:extLst>
          </p:nvPr>
        </p:nvGraphicFramePr>
        <p:xfrm>
          <a:off x="654964" y="838200"/>
          <a:ext cx="7498436" cy="350135"/>
        </p:xfrm>
        <a:graphic>
          <a:graphicData uri="http://schemas.openxmlformats.org/drawingml/2006/table">
            <a:tbl>
              <a:tblPr bandRow="1">
                <a:tableStyleId>{9D7B26C5-4107-4FEC-AEDC-1716B250A1EF}</a:tableStyleId>
              </a:tblPr>
              <a:tblGrid>
                <a:gridCol w="74984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01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600" b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</a:rPr>
                        <a:t>riskmodel2</a:t>
                      </a:r>
                      <a:r>
                        <a:rPr kumimoji="0" lang="en-IN" sz="1600" b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</a:rPr>
                        <a:t>.summary()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6A6A6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7193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>
            <a:extLst>
              <a:ext uri="{FF2B5EF4-FFF2-40B4-BE49-F238E27FC236}">
                <a16:creationId xmlns:a16="http://schemas.microsoft.com/office/drawing/2014/main" id="{C9B01952-81A9-4C72-A884-4CF98E4582DF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-1" y="179795"/>
            <a:ext cx="8991585" cy="810805"/>
          </a:xfrm>
        </p:spPr>
        <p:txBody>
          <a:bodyPr/>
          <a:lstStyle/>
          <a:p>
            <a:r>
              <a:rPr lang="en-IN" sz="3200" b="1" dirty="0">
                <a:latin typeface="+mj-lt"/>
              </a:rPr>
              <a:t>WoE of Character Variable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A987DFA-50DB-4A32-82FA-5145F5AC9C2E}"/>
              </a:ext>
            </a:extLst>
          </p:cNvPr>
          <p:cNvGrpSpPr/>
          <p:nvPr/>
        </p:nvGrpSpPr>
        <p:grpSpPr>
          <a:xfrm>
            <a:off x="1991225" y="1090597"/>
            <a:ext cx="5161551" cy="52403"/>
            <a:chOff x="1991225" y="1155160"/>
            <a:chExt cx="5161551" cy="5240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32AB725-40AC-4211-9BAF-124E6138A082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1991225" y="1155160"/>
              <a:ext cx="1781908" cy="5240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9C60662-0C88-4FD0-934A-9DF6EBD2933D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3902613" y="1155160"/>
              <a:ext cx="1338774" cy="5240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3092B32-2DC3-4156-8D67-C843328A0C5A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5370868" y="1155160"/>
              <a:ext cx="1781908" cy="52403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A7003EEB-EF6C-48D9-B09B-CE4B15ADF563}" type="slidenum">
              <a:rPr lang="en-US" smtClean="0"/>
              <a:pPr algn="r"/>
              <a:t>20</a:t>
            </a:fld>
            <a:endParaRPr lang="en-US" dirty="0"/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4E14D51A-E1F2-49C3-917A-B00E5F58D4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1576509"/>
              </p:ext>
            </p:extLst>
          </p:nvPr>
        </p:nvGraphicFramePr>
        <p:xfrm>
          <a:off x="654964" y="1600200"/>
          <a:ext cx="7498436" cy="1310640"/>
        </p:xfrm>
        <a:graphic>
          <a:graphicData uri="http://schemas.openxmlformats.org/drawingml/2006/table">
            <a:tbl>
              <a:tblPr bandRow="1">
                <a:tableStyleId>{9D7B26C5-4107-4FEC-AEDC-1716B250A1EF}</a:tableStyleId>
              </a:tblPr>
              <a:tblGrid>
                <a:gridCol w="74984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01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600" b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</a:rPr>
                        <a:t>data_TOWN = lst[1]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600" b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</a:rPr>
                        <a:t>data_TOWN = data_TOWN</a:t>
                      </a:r>
                      <a:r>
                        <a:rPr kumimoji="0" lang="en-IN" sz="1600" b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</a:rPr>
                        <a:t>.rename</a:t>
                      </a:r>
                      <a:r>
                        <a:rPr kumimoji="0" lang="en-IN" sz="1600" b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</a:rPr>
                        <a:t>(columns={"Value": "TOWN"})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</a:rPr>
                        <a:t>result2 = </a:t>
                      </a:r>
                      <a:r>
                        <a:rPr kumimoji="0" lang="en-US" sz="1600" b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</a:rPr>
                        <a:t>pd.merge</a:t>
                      </a:r>
                      <a:r>
                        <a:rPr kumimoji="0" lang="en-US" sz="1600" b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</a:rPr>
                        <a:t>(data, </a:t>
                      </a:r>
                      <a:r>
                        <a:rPr kumimoji="0" lang="en-US" sz="1600" b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</a:rPr>
                        <a:t>data_TOWN</a:t>
                      </a:r>
                      <a:r>
                        <a:rPr kumimoji="0" lang="en-US" sz="1600" b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</a:rPr>
                        <a:t>[['TOWN','</a:t>
                      </a:r>
                      <a:r>
                        <a:rPr kumimoji="0" lang="en-US" sz="1600" b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</a:rPr>
                        <a:t>WoE</a:t>
                      </a:r>
                      <a:r>
                        <a:rPr kumimoji="0" lang="en-US" sz="1600" b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</a:rPr>
                        <a:t>','IV']], on='TOWN')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600" b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</a:rPr>
                        <a:t>result2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6A6A6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38DD9FC1-5E73-4250-A78F-F9BE4BE35323}"/>
              </a:ext>
            </a:extLst>
          </p:cNvPr>
          <p:cNvSpPr txBox="1"/>
          <p:nvPr/>
        </p:nvSpPr>
        <p:spPr>
          <a:xfrm>
            <a:off x="609600" y="1261646"/>
            <a:ext cx="5029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Consolas" pitchFamily="49" charset="0"/>
                <a:cs typeface="Consolas" pitchFamily="49" charset="0"/>
              </a:rPr>
              <a:t># WoE and IV for variable ‘TOWN’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CEFF268-CB29-44A3-82D6-B0AE37A8FB6D}"/>
              </a:ext>
            </a:extLst>
          </p:cNvPr>
          <p:cNvSpPr txBox="1"/>
          <p:nvPr/>
        </p:nvSpPr>
        <p:spPr>
          <a:xfrm>
            <a:off x="609600" y="3124200"/>
            <a:ext cx="8686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Consolas" panose="020B0609020204030204" pitchFamily="49" charset="0"/>
                <a:ea typeface="Ebrima" pitchFamily="2" charset="0"/>
                <a:cs typeface="Ebrima" pitchFamily="2" charset="0"/>
              </a:rPr>
              <a:t># Output :</a:t>
            </a:r>
            <a:endParaRPr lang="en-US" sz="1600" dirty="0">
              <a:latin typeface="Consolas" panose="020B0609020204030204" pitchFamily="49" charset="0"/>
              <a:ea typeface="Ebrima" pitchFamily="2" charset="0"/>
              <a:cs typeface="Ebrima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75CA68-8A9E-4917-A8DF-9277A9B9C0E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4964" y="3484531"/>
            <a:ext cx="7258050" cy="2676525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483839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r" defTabSz="914400" rtl="0" eaLnBrk="1" latinLnBrk="0" hangingPunct="1">
              <a:defRPr lang="es-ES" sz="1000" kern="1200" smtClean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1C7D3AF-160E-4D12-BF31-4D5E44749C5D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21</a:t>
            </a:fld>
            <a:endParaRPr lang="es-ES" dirty="0"/>
          </a:p>
        </p:txBody>
      </p:sp>
      <p:sp>
        <p:nvSpPr>
          <p:cNvPr id="9" name="Rectangle 2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457200" y="274048"/>
            <a:ext cx="8229600" cy="8108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lang="en-US" sz="4400" dirty="0">
                <a:solidFill>
                  <a:schemeClr val="accent6">
                    <a:lumMod val="60000"/>
                    <a:lumOff val="40000"/>
                  </a:schemeClr>
                </a:solidFill>
                <a:latin typeface="Eras Demi ITC" pitchFamily="34" charset="0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sz="3200" b="1" dirty="0">
                <a:solidFill>
                  <a:schemeClr val="accent1"/>
                </a:solidFill>
                <a:latin typeface="+mj-lt"/>
              </a:rPr>
              <a:t>Information Value (IV) Interpretation</a:t>
            </a:r>
          </a:p>
        </p:txBody>
      </p:sp>
      <p:grpSp>
        <p:nvGrpSpPr>
          <p:cNvPr id="10" name="Group 15"/>
          <p:cNvGrpSpPr/>
          <p:nvPr/>
        </p:nvGrpSpPr>
        <p:grpSpPr>
          <a:xfrm>
            <a:off x="1991225" y="1155160"/>
            <a:ext cx="5161551" cy="52403"/>
            <a:chOff x="1991225" y="1155160"/>
            <a:chExt cx="5161551" cy="52403"/>
          </a:xfrm>
        </p:grpSpPr>
        <p:sp>
          <p:nvSpPr>
            <p:cNvPr id="12" name="Rectangle 11"/>
            <p:cNvSpPr/>
            <p:nvPr>
              <p:custDataLst>
                <p:tags r:id="rId2"/>
              </p:custDataLst>
            </p:nvPr>
          </p:nvSpPr>
          <p:spPr>
            <a:xfrm>
              <a:off x="1991225" y="1155160"/>
              <a:ext cx="1781908" cy="5240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13" name="Rectangle 12"/>
            <p:cNvSpPr/>
            <p:nvPr>
              <p:custDataLst>
                <p:tags r:id="rId3"/>
              </p:custDataLst>
            </p:nvPr>
          </p:nvSpPr>
          <p:spPr>
            <a:xfrm>
              <a:off x="3902613" y="1155160"/>
              <a:ext cx="1338774" cy="5240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14" name="Rectangle 13"/>
            <p:cNvSpPr/>
            <p:nvPr>
              <p:custDataLst>
                <p:tags r:id="rId4"/>
              </p:custDataLst>
            </p:nvPr>
          </p:nvSpPr>
          <p:spPr>
            <a:xfrm>
              <a:off x="5370868" y="1155160"/>
              <a:ext cx="1781908" cy="52403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prstClr val="white"/>
                </a:solidFill>
              </a:endParaRPr>
            </a:p>
          </p:txBody>
        </p:sp>
      </p:grp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710B56AA-F12E-4BCF-97B1-7DD5237283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0373561"/>
              </p:ext>
            </p:extLst>
          </p:nvPr>
        </p:nvGraphicFramePr>
        <p:xfrm>
          <a:off x="654964" y="1935865"/>
          <a:ext cx="7498436" cy="350135"/>
        </p:xfrm>
        <a:graphic>
          <a:graphicData uri="http://schemas.openxmlformats.org/drawingml/2006/table">
            <a:tbl>
              <a:tblPr bandRow="1">
                <a:tableStyleId>{9D7B26C5-4107-4FEC-AEDC-1716B250A1EF}</a:tableStyleId>
              </a:tblPr>
              <a:tblGrid>
                <a:gridCol w="74984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01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600" b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</a:rPr>
                        <a:t>IV_df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6A6A6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C360D0AC-62C4-4D6A-A7D6-FC1CAB8F63F7}"/>
              </a:ext>
            </a:extLst>
          </p:cNvPr>
          <p:cNvSpPr txBox="1"/>
          <p:nvPr/>
        </p:nvSpPr>
        <p:spPr>
          <a:xfrm>
            <a:off x="609600" y="1490246"/>
            <a:ext cx="5029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Consolas" pitchFamily="49" charset="0"/>
                <a:cs typeface="Consolas" pitchFamily="49" charset="0"/>
              </a:rPr>
              <a:t># Extracting IV for all predictor variables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48A0812-5D50-4B86-BE14-9AF2F675068D}"/>
              </a:ext>
            </a:extLst>
          </p:cNvPr>
          <p:cNvSpPr/>
          <p:nvPr/>
        </p:nvSpPr>
        <p:spPr>
          <a:xfrm>
            <a:off x="654964" y="2478580"/>
            <a:ext cx="7772400" cy="1569660"/>
          </a:xfrm>
          <a:prstGeom prst="rect">
            <a:avLst/>
          </a:prstGeom>
          <a:solidFill>
            <a:sysClr val="window" lastClr="FFFFFF"/>
          </a:solidFill>
          <a:ln w="3175">
            <a:solidFill>
              <a:srgbClr val="C32D2E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SzPct val="60000"/>
              <a:buFont typeface="Wingdings" pitchFamily="2" charset="2"/>
              <a:buChar char="q"/>
              <a:defRPr/>
            </a:pPr>
            <a:r>
              <a:rPr lang="en-IN" sz="24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Vijaya" pitchFamily="34" charset="0"/>
                <a:cs typeface="Vijaya" pitchFamily="34" charset="0"/>
              </a:rPr>
              <a:t>IV_df </a:t>
            </a:r>
            <a:r>
              <a:rPr lang="en-IN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Vijaya" pitchFamily="34" charset="0"/>
                <a:cs typeface="Vijaya" pitchFamily="34" charset="0"/>
              </a:rPr>
              <a:t>is the dataframe used to store results of</a:t>
            </a:r>
            <a:r>
              <a:rPr lang="en-IN" sz="24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Vijaya" pitchFamily="34" charset="0"/>
                <a:cs typeface="Vijaya" pitchFamily="34" charset="0"/>
              </a:rPr>
              <a:t> </a:t>
            </a:r>
            <a:r>
              <a:rPr lang="en-IN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Vijaya" pitchFamily="34" charset="0"/>
                <a:cs typeface="Vijaya" pitchFamily="34" charset="0"/>
              </a:rPr>
              <a:t>IV from</a:t>
            </a:r>
            <a:r>
              <a:rPr lang="en-IN" sz="24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Vijaya" pitchFamily="34" charset="0"/>
                <a:cs typeface="Vijaya" pitchFamily="34" charset="0"/>
              </a:rPr>
              <a:t> calculate_woe_iv </a:t>
            </a:r>
            <a:r>
              <a:rPr lang="en-IN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Vijaya" pitchFamily="34" charset="0"/>
                <a:cs typeface="Vijaya" pitchFamily="34" charset="0"/>
              </a:rPr>
              <a:t>function. </a:t>
            </a:r>
          </a:p>
          <a:p>
            <a:pPr marL="285750" indent="-285750">
              <a:buSzPct val="60000"/>
              <a:buFont typeface="Wingdings" pitchFamily="2" charset="2"/>
              <a:buChar char="q"/>
              <a:defRPr/>
            </a:pPr>
            <a:r>
              <a:rPr lang="en-IN" sz="24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Vijaya" pitchFamily="34" charset="0"/>
                <a:cs typeface="Vijaya" pitchFamily="34" charset="0"/>
              </a:rPr>
              <a:t>calculate_woe_iv </a:t>
            </a:r>
            <a:r>
              <a:rPr lang="en-IN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Vijaya" pitchFamily="34" charset="0"/>
                <a:cs typeface="Vijaya" pitchFamily="34" charset="0"/>
              </a:rPr>
              <a:t>returns dataframe with WoE and IV values for individual variable and total IV value of each variable.</a:t>
            </a:r>
          </a:p>
        </p:txBody>
      </p:sp>
    </p:spTree>
    <p:extLst>
      <p:ext uri="{BB962C8B-B14F-4D97-AF65-F5344CB8AC3E}">
        <p14:creationId xmlns:p14="http://schemas.microsoft.com/office/powerpoint/2010/main" val="2612307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r" defTabSz="914400" rtl="0" eaLnBrk="1" latinLnBrk="0" hangingPunct="1">
              <a:defRPr lang="es-ES" sz="1000" kern="1200" smtClean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1C7D3AF-160E-4D12-BF31-4D5E44749C5D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22</a:t>
            </a:fld>
            <a:endParaRPr lang="es-ES" dirty="0"/>
          </a:p>
        </p:txBody>
      </p:sp>
      <p:sp>
        <p:nvSpPr>
          <p:cNvPr id="9" name="Rectangle 2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457200" y="152400"/>
            <a:ext cx="8229600" cy="8108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lang="en-US" sz="4400" dirty="0">
                <a:solidFill>
                  <a:schemeClr val="accent6">
                    <a:lumMod val="60000"/>
                    <a:lumOff val="40000"/>
                  </a:schemeClr>
                </a:solidFill>
                <a:latin typeface="Eras Demi ITC" pitchFamily="34" charset="0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sz="3200" b="1" dirty="0">
                <a:solidFill>
                  <a:schemeClr val="accent1"/>
                </a:solidFill>
                <a:latin typeface="+mj-lt"/>
              </a:rPr>
              <a:t>Information Value Interpretation</a:t>
            </a:r>
          </a:p>
        </p:txBody>
      </p:sp>
      <p:grpSp>
        <p:nvGrpSpPr>
          <p:cNvPr id="10" name="Group 15"/>
          <p:cNvGrpSpPr/>
          <p:nvPr/>
        </p:nvGrpSpPr>
        <p:grpSpPr>
          <a:xfrm>
            <a:off x="1991225" y="990600"/>
            <a:ext cx="5161551" cy="52403"/>
            <a:chOff x="1991225" y="1155160"/>
            <a:chExt cx="5161551" cy="52403"/>
          </a:xfrm>
        </p:grpSpPr>
        <p:sp>
          <p:nvSpPr>
            <p:cNvPr id="12" name="Rectangle 11"/>
            <p:cNvSpPr/>
            <p:nvPr>
              <p:custDataLst>
                <p:tags r:id="rId2"/>
              </p:custDataLst>
            </p:nvPr>
          </p:nvSpPr>
          <p:spPr>
            <a:xfrm>
              <a:off x="1991225" y="1155160"/>
              <a:ext cx="1781908" cy="5240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13" name="Rectangle 12"/>
            <p:cNvSpPr/>
            <p:nvPr>
              <p:custDataLst>
                <p:tags r:id="rId3"/>
              </p:custDataLst>
            </p:nvPr>
          </p:nvSpPr>
          <p:spPr>
            <a:xfrm>
              <a:off x="3902613" y="1155160"/>
              <a:ext cx="1338774" cy="5240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14" name="Rectangle 13"/>
            <p:cNvSpPr/>
            <p:nvPr>
              <p:custDataLst>
                <p:tags r:id="rId4"/>
              </p:custDataLst>
            </p:nvPr>
          </p:nvSpPr>
          <p:spPr>
            <a:xfrm>
              <a:off x="5370868" y="1155160"/>
              <a:ext cx="1781908" cy="52403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prstClr val="white"/>
                </a:solidFill>
              </a:endParaRP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9F16D342-AE12-43FC-843F-E2369659E0AA}"/>
              </a:ext>
            </a:extLst>
          </p:cNvPr>
          <p:cNvSpPr txBox="1"/>
          <p:nvPr/>
        </p:nvSpPr>
        <p:spPr>
          <a:xfrm>
            <a:off x="609600" y="1261646"/>
            <a:ext cx="8686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Consolas" panose="020B0609020204030204" pitchFamily="49" charset="0"/>
                <a:ea typeface="Ebrima" pitchFamily="2" charset="0"/>
                <a:cs typeface="Ebrima" pitchFamily="2" charset="0"/>
              </a:rPr>
              <a:t># Output :</a:t>
            </a:r>
            <a:endParaRPr lang="en-US" sz="1600" dirty="0">
              <a:latin typeface="Consolas" panose="020B0609020204030204" pitchFamily="49" charset="0"/>
              <a:ea typeface="Ebrima" pitchFamily="2" charset="0"/>
              <a:cs typeface="Ebrima" pitchFamily="2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B3404D7-D0CD-435A-A176-92DBE0546F83}"/>
              </a:ext>
            </a:extLst>
          </p:cNvPr>
          <p:cNvSpPr/>
          <p:nvPr/>
        </p:nvSpPr>
        <p:spPr>
          <a:xfrm>
            <a:off x="685800" y="3657600"/>
            <a:ext cx="7448550" cy="2308324"/>
          </a:xfrm>
          <a:prstGeom prst="rect">
            <a:avLst/>
          </a:prstGeom>
          <a:solidFill>
            <a:schemeClr val="bg1"/>
          </a:solidFill>
          <a:ln w="3175">
            <a:solidFill>
              <a:schemeClr val="accent3"/>
            </a:solidFill>
          </a:ln>
        </p:spPr>
        <p:txBody>
          <a:bodyPr wrap="square">
            <a:spAutoFit/>
          </a:bodyPr>
          <a:lstStyle/>
          <a:p>
            <a:pPr>
              <a:buSzPct val="60000"/>
            </a:pP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Vijaya" panose="02020604020202020204" pitchFamily="18" charset="0"/>
                <a:cs typeface="Vijaya" panose="02020604020202020204" pitchFamily="18" charset="0"/>
              </a:rPr>
              <a:t>Interpretation:</a:t>
            </a:r>
          </a:p>
          <a:p>
            <a:pPr marL="342900" indent="-342900">
              <a:buSzPct val="60000"/>
              <a:buFont typeface="Wingdings" pitchFamily="2" charset="2"/>
              <a:buChar char="Ø"/>
            </a:pPr>
            <a:r>
              <a:rPr lang="en-I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Vijaya" panose="02020604020202020204" pitchFamily="18" charset="0"/>
                <a:cs typeface="Vijaya" panose="02020604020202020204" pitchFamily="18" charset="0"/>
              </a:rPr>
              <a:t>With the help of table ‘</a:t>
            </a:r>
            <a:r>
              <a:rPr lang="en-I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Vijaya" panose="02020604020202020204" pitchFamily="18" charset="0"/>
                <a:cs typeface="Vijaya" panose="02020604020202020204" pitchFamily="18" charset="0"/>
              </a:rPr>
              <a:t>IV values and its Predictive Power</a:t>
            </a:r>
            <a:r>
              <a:rPr lang="en-I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Vijaya" panose="02020604020202020204" pitchFamily="18" charset="0"/>
                <a:cs typeface="Vijaya" panose="02020604020202020204" pitchFamily="18" charset="0"/>
              </a:rPr>
              <a:t>’ on slide number 7 we can say that, </a:t>
            </a:r>
          </a:p>
          <a:p>
            <a:pPr>
              <a:buSzPct val="60000"/>
            </a:pPr>
            <a:r>
              <a:rPr lang="en-I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Vijaya" panose="02020604020202020204" pitchFamily="18" charset="0"/>
                <a:cs typeface="Vijaya" panose="02020604020202020204" pitchFamily="18" charset="0"/>
              </a:rPr>
              <a:t>     </a:t>
            </a:r>
            <a:r>
              <a:rPr lang="en-I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Vijaya" panose="02020604020202020204" pitchFamily="18" charset="0"/>
                <a:cs typeface="Vijaya" panose="02020604020202020204" pitchFamily="18" charset="0"/>
              </a:rPr>
              <a:t>-</a:t>
            </a:r>
            <a:r>
              <a:rPr lang="en-I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Vijaya" panose="02020604020202020204" pitchFamily="18" charset="0"/>
                <a:cs typeface="Vijaya" panose="02020604020202020204" pitchFamily="18" charset="0"/>
              </a:rPr>
              <a:t> Town and Age are weak predictor. </a:t>
            </a:r>
          </a:p>
          <a:p>
            <a:pPr>
              <a:buSzPct val="60000"/>
            </a:pPr>
            <a:r>
              <a:rPr lang="en-I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Vijaya" panose="02020604020202020204" pitchFamily="18" charset="0"/>
                <a:cs typeface="Vijaya" panose="02020604020202020204" pitchFamily="18" charset="0"/>
              </a:rPr>
              <a:t>     </a:t>
            </a:r>
            <a:r>
              <a:rPr lang="en-I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Vijaya" panose="02020604020202020204" pitchFamily="18" charset="0"/>
                <a:cs typeface="Vijaya" panose="02020604020202020204" pitchFamily="18" charset="0"/>
              </a:rPr>
              <a:t>-</a:t>
            </a:r>
            <a:r>
              <a:rPr lang="en-I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Vijaya" panose="02020604020202020204" pitchFamily="18" charset="0"/>
                <a:cs typeface="Vijaya" panose="02020604020202020204" pitchFamily="18" charset="0"/>
              </a:rPr>
              <a:t> Othdebt, Creddebt, Address have medium predictive power.</a:t>
            </a:r>
          </a:p>
          <a:p>
            <a:pPr>
              <a:buSzPct val="60000"/>
            </a:pPr>
            <a:r>
              <a:rPr lang="en-I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Vijaya" panose="02020604020202020204" pitchFamily="18" charset="0"/>
                <a:cs typeface="Vijaya" panose="02020604020202020204" pitchFamily="18" charset="0"/>
              </a:rPr>
              <a:t>     </a:t>
            </a:r>
            <a:r>
              <a:rPr lang="en-I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Vijaya" panose="02020604020202020204" pitchFamily="18" charset="0"/>
                <a:cs typeface="Vijaya" panose="02020604020202020204" pitchFamily="18" charset="0"/>
              </a:rPr>
              <a:t>-</a:t>
            </a:r>
            <a:r>
              <a:rPr lang="en-I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Vijaya" panose="02020604020202020204" pitchFamily="18" charset="0"/>
                <a:cs typeface="Vijaya" panose="02020604020202020204" pitchFamily="18" charset="0"/>
              </a:rPr>
              <a:t> Employ and Debtinc are strong predictor.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EBF758-5FF4-448B-98B4-585B19271A4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1618743"/>
            <a:ext cx="2719959" cy="1901667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4282542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45720" y="274048"/>
            <a:ext cx="9052560" cy="810805"/>
          </a:xfrm>
        </p:spPr>
        <p:txBody>
          <a:bodyPr>
            <a:normAutofit/>
          </a:bodyPr>
          <a:lstStyle/>
          <a:p>
            <a:pPr lvl="0" fontAlgn="auto">
              <a:spcBef>
                <a:spcPts val="0"/>
              </a:spcBef>
              <a:spcAft>
                <a:spcPts val="0"/>
              </a:spcAft>
            </a:pPr>
            <a:r>
              <a:rPr lang="en-US" b="1" dirty="0">
                <a:solidFill>
                  <a:srgbClr val="3891A7"/>
                </a:solidFill>
                <a:latin typeface="Ebrima"/>
                <a:ea typeface="+mn-ea"/>
                <a:cs typeface="+mn-cs"/>
              </a:rPr>
              <a:t>Quick Recap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1991225" y="1155160"/>
            <a:ext cx="5161551" cy="52403"/>
            <a:chOff x="1991225" y="1155160"/>
            <a:chExt cx="5161551" cy="52403"/>
          </a:xfrm>
        </p:grpSpPr>
        <p:sp>
          <p:nvSpPr>
            <p:cNvPr id="17" name="Rectangle 16"/>
            <p:cNvSpPr/>
            <p:nvPr>
              <p:custDataLst>
                <p:tags r:id="rId2"/>
              </p:custDataLst>
            </p:nvPr>
          </p:nvSpPr>
          <p:spPr>
            <a:xfrm>
              <a:off x="1991225" y="1155160"/>
              <a:ext cx="1781908" cy="5240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18" name="Rectangle 17"/>
            <p:cNvSpPr/>
            <p:nvPr>
              <p:custDataLst>
                <p:tags r:id="rId3"/>
              </p:custDataLst>
            </p:nvPr>
          </p:nvSpPr>
          <p:spPr>
            <a:xfrm>
              <a:off x="3902613" y="1155160"/>
              <a:ext cx="1338774" cy="5240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19" name="Rectangle 18"/>
            <p:cNvSpPr/>
            <p:nvPr>
              <p:custDataLst>
                <p:tags r:id="rId4"/>
              </p:custDataLst>
            </p:nvPr>
          </p:nvSpPr>
          <p:spPr>
            <a:xfrm>
              <a:off x="5370868" y="1155160"/>
              <a:ext cx="1781908" cy="52403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prstClr val="white"/>
                </a:solidFill>
              </a:endParaRPr>
            </a:p>
          </p:txBody>
        </p:sp>
      </p:grpSp>
      <p:sp>
        <p:nvSpPr>
          <p:cNvPr id="10" name="Rectangle 9"/>
          <p:cNvSpPr/>
          <p:nvPr/>
        </p:nvSpPr>
        <p:spPr>
          <a:xfrm>
            <a:off x="457200" y="1378803"/>
            <a:ext cx="8229600" cy="7863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ea typeface="Ebrima" pitchFamily="2" charset="0"/>
                <a:cs typeface="Ebrima" pitchFamily="2" charset="0"/>
              </a:rPr>
              <a:t>In this session, we learnt how to </a:t>
            </a: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ea typeface="Ebrima" pitchFamily="2" charset="0"/>
                <a:cs typeface="Ebrima" pitchFamily="2" charset="0"/>
              </a:rPr>
              <a:t>compute and use Weight of Evidence and Information Value: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ea typeface="Ebrima" pitchFamily="2" charset="0"/>
              <a:cs typeface="Ebrima" pitchFamily="2" charset="0"/>
            </a:endParaRPr>
          </a:p>
        </p:txBody>
      </p:sp>
      <p:grpSp>
        <p:nvGrpSpPr>
          <p:cNvPr id="22" name="Group 21"/>
          <p:cNvGrpSpPr/>
          <p:nvPr/>
        </p:nvGrpSpPr>
        <p:grpSpPr>
          <a:xfrm>
            <a:off x="609600" y="2280530"/>
            <a:ext cx="8063767" cy="3796420"/>
            <a:chOff x="1602834" y="1036309"/>
            <a:chExt cx="8063767" cy="459367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Freeform 22"/>
                <p:cNvSpPr/>
                <p:nvPr/>
              </p:nvSpPr>
              <p:spPr>
                <a:xfrm>
                  <a:off x="3256502" y="1085356"/>
                  <a:ext cx="6410099" cy="1094959"/>
                </a:xfrm>
                <a:custGeom>
                  <a:avLst/>
                  <a:gdLst>
                    <a:gd name="connsiteX0" fmla="*/ 150824 w 904924"/>
                    <a:gd name="connsiteY0" fmla="*/ 0 h 4681728"/>
                    <a:gd name="connsiteX1" fmla="*/ 754100 w 904924"/>
                    <a:gd name="connsiteY1" fmla="*/ 0 h 4681728"/>
                    <a:gd name="connsiteX2" fmla="*/ 904924 w 904924"/>
                    <a:gd name="connsiteY2" fmla="*/ 150824 h 4681728"/>
                    <a:gd name="connsiteX3" fmla="*/ 904924 w 904924"/>
                    <a:gd name="connsiteY3" fmla="*/ 4681728 h 4681728"/>
                    <a:gd name="connsiteX4" fmla="*/ 904924 w 904924"/>
                    <a:gd name="connsiteY4" fmla="*/ 4681728 h 4681728"/>
                    <a:gd name="connsiteX5" fmla="*/ 0 w 904924"/>
                    <a:gd name="connsiteY5" fmla="*/ 4681728 h 4681728"/>
                    <a:gd name="connsiteX6" fmla="*/ 0 w 904924"/>
                    <a:gd name="connsiteY6" fmla="*/ 4681728 h 4681728"/>
                    <a:gd name="connsiteX7" fmla="*/ 0 w 904924"/>
                    <a:gd name="connsiteY7" fmla="*/ 150824 h 4681728"/>
                    <a:gd name="connsiteX8" fmla="*/ 150824 w 904924"/>
                    <a:gd name="connsiteY8" fmla="*/ 0 h 46817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904924" h="4681728">
                      <a:moveTo>
                        <a:pt x="904924" y="780305"/>
                      </a:moveTo>
                      <a:lnTo>
                        <a:pt x="904924" y="3901423"/>
                      </a:lnTo>
                      <a:cubicBezTo>
                        <a:pt x="904924" y="4332375"/>
                        <a:pt x="891872" y="4681728"/>
                        <a:pt x="875771" y="4681728"/>
                      </a:cubicBezTo>
                      <a:lnTo>
                        <a:pt x="0" y="4681728"/>
                      </a:lnTo>
                      <a:lnTo>
                        <a:pt x="0" y="4681728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875771" y="0"/>
                      </a:lnTo>
                      <a:cubicBezTo>
                        <a:pt x="891872" y="0"/>
                        <a:pt x="904924" y="349353"/>
                        <a:pt x="904924" y="780305"/>
                      </a:cubicBez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2">
                  <a:schemeClr val="accent5">
                    <a:tint val="40000"/>
                    <a:alpha val="90000"/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5">
                    <a:tint val="40000"/>
                    <a:alpha val="9000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5">
                    <a:tint val="40000"/>
                    <a:alpha val="9000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dk1">
                    <a:hueOff val="0"/>
                    <a:satOff val="0"/>
                    <a:lumOff val="0"/>
                    <a:alphaOff val="0"/>
                  </a:schemeClr>
                </a:fontRef>
              </p:style>
              <p:txBody>
                <a:bodyPr spcFirstLastPara="0" vert="horz" wrap="square" lIns="247651" tIns="167999" rIns="291824" bIns="168001" numCol="1" spcCol="1270" anchor="ctr" anchorCtr="0">
                  <a:noAutofit/>
                </a:bodyPr>
                <a:lstStyle/>
                <a:p>
                  <a:pPr marL="285750" indent="-285750">
                    <a:buFont typeface="Arial" pitchFamily="34" charset="0"/>
                    <a:buChar char="•"/>
                  </a:pPr>
                  <a:r>
                    <a:rPr lang="en-US" sz="16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j-lt"/>
                    </a:rPr>
                    <a:t>Tells the predictive power of an independent variable in relation to the dependent variable</a:t>
                  </a:r>
                </a:p>
                <a:p>
                  <a:pPr marL="285750" indent="-285750">
                    <a:buFont typeface="Arial" pitchFamily="34" charset="0"/>
                    <a:buChar char="•"/>
                  </a:pPr>
                  <a14:m>
                    <m:oMath xmlns:m="http://schemas.openxmlformats.org/officeDocument/2006/math">
                      <m:func>
                        <m:funcPr>
                          <m:ctrlPr>
                            <a:rPr lang="en-US" sz="160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60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US" sz="160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lin"/>
                                  <m:ctrlPr>
                                    <a:rPr lang="en-US" sz="160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d>
                                    <m:dPr>
                                      <m:ctrlPr>
                                        <a:rPr lang="en-US" sz="1600" i="1"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600"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/>
                                        </a:rPr>
                                        <m:t>Distribution</m:t>
                                      </m:r>
                                      <m:r>
                                        <a:rPr lang="en-US" sz="1600"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/>
                                        </a:rPr>
                                        <m:t> 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sz="1600"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/>
                                        </a:rPr>
                                        <m:t>of</m:t>
                                      </m:r>
                                      <m:r>
                                        <a:rPr lang="en-US" sz="1600"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/>
                                        </a:rPr>
                                        <m:t> </m:t>
                                      </m:r>
                                      <m:sSub>
                                        <m:sSubPr>
                                          <m:ctrlPr>
                                            <a:rPr lang="en-US" sz="1600" i="1"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1600"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</a:schemeClr>
                                              </a:solidFill>
                                              <a:latin typeface="Cambria Math"/>
                                            </a:rPr>
                                            <m:t>Good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1600"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</a:schemeClr>
                                              </a:solidFill>
                                              <a:latin typeface="Cambria Math"/>
                                            </a:rPr>
                                            <m:t>i</m:t>
                                          </m:r>
                                        </m:sub>
                                      </m:sSub>
                                    </m:e>
                                  </m:d>
                                </m:num>
                                <m:den>
                                  <m:d>
                                    <m:dPr>
                                      <m:ctrlPr>
                                        <a:rPr lang="en-US" sz="1600" i="1"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600"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/>
                                        </a:rPr>
                                        <m:t>Distribution</m:t>
                                      </m:r>
                                      <m:r>
                                        <a:rPr lang="en-US" sz="1600"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/>
                                        </a:rPr>
                                        <m:t> 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sz="1600"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/>
                                        </a:rPr>
                                        <m:t>of</m:t>
                                      </m:r>
                                      <m:r>
                                        <a:rPr lang="en-US" sz="1600"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/>
                                        </a:rPr>
                                        <m:t> </m:t>
                                      </m:r>
                                      <m:sSub>
                                        <m:sSubPr>
                                          <m:ctrlPr>
                                            <a:rPr lang="en-US" sz="1600" i="1"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1600"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</a:schemeClr>
                                              </a:solidFill>
                                              <a:latin typeface="Cambria Math"/>
                                            </a:rPr>
                                            <m:t>Bad</m:t>
                                          </m:r>
                                        </m:e>
                                        <m:sub>
                                          <m:r>
                                            <a:rPr lang="en-US" sz="1600" b="0" i="1" smtClean="0"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</a:schemeClr>
                                              </a:solidFill>
                                              <a:latin typeface="Cambria Math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den>
                              </m:f>
                            </m:e>
                          </m:d>
                        </m:e>
                      </m:func>
                    </m:oMath>
                  </a14:m>
                  <a:endPara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3" name="Freeform 2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56502" y="1085356"/>
                  <a:ext cx="6410099" cy="1094959"/>
                </a:xfrm>
                <a:custGeom>
                  <a:avLst/>
                  <a:gdLst>
                    <a:gd name="connsiteX0" fmla="*/ 150824 w 904924"/>
                    <a:gd name="connsiteY0" fmla="*/ 0 h 4681728"/>
                    <a:gd name="connsiteX1" fmla="*/ 754100 w 904924"/>
                    <a:gd name="connsiteY1" fmla="*/ 0 h 4681728"/>
                    <a:gd name="connsiteX2" fmla="*/ 904924 w 904924"/>
                    <a:gd name="connsiteY2" fmla="*/ 150824 h 4681728"/>
                    <a:gd name="connsiteX3" fmla="*/ 904924 w 904924"/>
                    <a:gd name="connsiteY3" fmla="*/ 4681728 h 4681728"/>
                    <a:gd name="connsiteX4" fmla="*/ 904924 w 904924"/>
                    <a:gd name="connsiteY4" fmla="*/ 4681728 h 4681728"/>
                    <a:gd name="connsiteX5" fmla="*/ 0 w 904924"/>
                    <a:gd name="connsiteY5" fmla="*/ 4681728 h 4681728"/>
                    <a:gd name="connsiteX6" fmla="*/ 0 w 904924"/>
                    <a:gd name="connsiteY6" fmla="*/ 4681728 h 4681728"/>
                    <a:gd name="connsiteX7" fmla="*/ 0 w 904924"/>
                    <a:gd name="connsiteY7" fmla="*/ 150824 h 4681728"/>
                    <a:gd name="connsiteX8" fmla="*/ 150824 w 904924"/>
                    <a:gd name="connsiteY8" fmla="*/ 0 h 46817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904924" h="4681728">
                      <a:moveTo>
                        <a:pt x="904924" y="780305"/>
                      </a:moveTo>
                      <a:lnTo>
                        <a:pt x="904924" y="3901423"/>
                      </a:lnTo>
                      <a:cubicBezTo>
                        <a:pt x="904924" y="4332375"/>
                        <a:pt x="891872" y="4681728"/>
                        <a:pt x="875771" y="4681728"/>
                      </a:cubicBezTo>
                      <a:lnTo>
                        <a:pt x="0" y="4681728"/>
                      </a:lnTo>
                      <a:lnTo>
                        <a:pt x="0" y="4681728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875771" y="0"/>
                      </a:lnTo>
                      <a:cubicBezTo>
                        <a:pt x="891872" y="0"/>
                        <a:pt x="904924" y="349353"/>
                        <a:pt x="904924" y="780305"/>
                      </a:cubicBezTo>
                      <a:close/>
                    </a:path>
                  </a:pathLst>
                </a:custGeom>
                <a:blipFill>
                  <a:blip r:embed="rId7"/>
                  <a:stretch>
                    <a:fillRect b="-55263"/>
                  </a:stretch>
                </a:blipFill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4" name="Freeform 23"/>
            <p:cNvSpPr/>
            <p:nvPr/>
          </p:nvSpPr>
          <p:spPr>
            <a:xfrm>
              <a:off x="1602834" y="1036309"/>
              <a:ext cx="1676400" cy="1144006"/>
            </a:xfrm>
            <a:custGeom>
              <a:avLst/>
              <a:gdLst>
                <a:gd name="connsiteX0" fmla="*/ 0 w 2633472"/>
                <a:gd name="connsiteY0" fmla="*/ 188530 h 1131155"/>
                <a:gd name="connsiteX1" fmla="*/ 188530 w 2633472"/>
                <a:gd name="connsiteY1" fmla="*/ 0 h 1131155"/>
                <a:gd name="connsiteX2" fmla="*/ 2444942 w 2633472"/>
                <a:gd name="connsiteY2" fmla="*/ 0 h 1131155"/>
                <a:gd name="connsiteX3" fmla="*/ 2633472 w 2633472"/>
                <a:gd name="connsiteY3" fmla="*/ 188530 h 1131155"/>
                <a:gd name="connsiteX4" fmla="*/ 2633472 w 2633472"/>
                <a:gd name="connsiteY4" fmla="*/ 942625 h 1131155"/>
                <a:gd name="connsiteX5" fmla="*/ 2444942 w 2633472"/>
                <a:gd name="connsiteY5" fmla="*/ 1131155 h 1131155"/>
                <a:gd name="connsiteX6" fmla="*/ 188530 w 2633472"/>
                <a:gd name="connsiteY6" fmla="*/ 1131155 h 1131155"/>
                <a:gd name="connsiteX7" fmla="*/ 0 w 2633472"/>
                <a:gd name="connsiteY7" fmla="*/ 942625 h 1131155"/>
                <a:gd name="connsiteX8" fmla="*/ 0 w 2633472"/>
                <a:gd name="connsiteY8" fmla="*/ 188530 h 1131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33472" h="1131155">
                  <a:moveTo>
                    <a:pt x="0" y="188530"/>
                  </a:moveTo>
                  <a:cubicBezTo>
                    <a:pt x="0" y="84408"/>
                    <a:pt x="84408" y="0"/>
                    <a:pt x="188530" y="0"/>
                  </a:cubicBezTo>
                  <a:lnTo>
                    <a:pt x="2444942" y="0"/>
                  </a:lnTo>
                  <a:cubicBezTo>
                    <a:pt x="2549064" y="0"/>
                    <a:pt x="2633472" y="84408"/>
                    <a:pt x="2633472" y="188530"/>
                  </a:cubicBezTo>
                  <a:lnTo>
                    <a:pt x="2633472" y="942625"/>
                  </a:lnTo>
                  <a:cubicBezTo>
                    <a:pt x="2633472" y="1046747"/>
                    <a:pt x="2549064" y="1131155"/>
                    <a:pt x="2444942" y="1131155"/>
                  </a:cubicBezTo>
                  <a:lnTo>
                    <a:pt x="188530" y="1131155"/>
                  </a:lnTo>
                  <a:cubicBezTo>
                    <a:pt x="84408" y="1131155"/>
                    <a:pt x="0" y="1046747"/>
                    <a:pt x="0" y="942625"/>
                  </a:cubicBezTo>
                  <a:lnTo>
                    <a:pt x="0" y="188530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16178" tIns="85698" rIns="116178" bIns="85698" numCol="1" spcCol="1270" anchor="ctr" anchorCtr="0">
              <a:noAutofit/>
            </a:bodyPr>
            <a:lstStyle/>
            <a:p>
              <a:pPr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600" b="1" dirty="0">
                  <a:solidFill>
                    <a:prstClr val="white"/>
                  </a:solidFill>
                </a:rPr>
                <a:t>Weight of Evidence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Freeform 24"/>
                <p:cNvSpPr/>
                <p:nvPr/>
              </p:nvSpPr>
              <p:spPr>
                <a:xfrm>
                  <a:off x="3256502" y="2319898"/>
                  <a:ext cx="6410099" cy="1204454"/>
                </a:xfrm>
                <a:custGeom>
                  <a:avLst/>
                  <a:gdLst>
                    <a:gd name="connsiteX0" fmla="*/ 150824 w 904924"/>
                    <a:gd name="connsiteY0" fmla="*/ 0 h 4681728"/>
                    <a:gd name="connsiteX1" fmla="*/ 754100 w 904924"/>
                    <a:gd name="connsiteY1" fmla="*/ 0 h 4681728"/>
                    <a:gd name="connsiteX2" fmla="*/ 904924 w 904924"/>
                    <a:gd name="connsiteY2" fmla="*/ 150824 h 4681728"/>
                    <a:gd name="connsiteX3" fmla="*/ 904924 w 904924"/>
                    <a:gd name="connsiteY3" fmla="*/ 4681728 h 4681728"/>
                    <a:gd name="connsiteX4" fmla="*/ 904924 w 904924"/>
                    <a:gd name="connsiteY4" fmla="*/ 4681728 h 4681728"/>
                    <a:gd name="connsiteX5" fmla="*/ 0 w 904924"/>
                    <a:gd name="connsiteY5" fmla="*/ 4681728 h 4681728"/>
                    <a:gd name="connsiteX6" fmla="*/ 0 w 904924"/>
                    <a:gd name="connsiteY6" fmla="*/ 4681728 h 4681728"/>
                    <a:gd name="connsiteX7" fmla="*/ 0 w 904924"/>
                    <a:gd name="connsiteY7" fmla="*/ 150824 h 4681728"/>
                    <a:gd name="connsiteX8" fmla="*/ 150824 w 904924"/>
                    <a:gd name="connsiteY8" fmla="*/ 0 h 46817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904924" h="4681728">
                      <a:moveTo>
                        <a:pt x="904924" y="780305"/>
                      </a:moveTo>
                      <a:lnTo>
                        <a:pt x="904924" y="3901423"/>
                      </a:lnTo>
                      <a:cubicBezTo>
                        <a:pt x="904924" y="4332375"/>
                        <a:pt x="891872" y="4681728"/>
                        <a:pt x="875771" y="4681728"/>
                      </a:cubicBezTo>
                      <a:lnTo>
                        <a:pt x="0" y="4681728"/>
                      </a:lnTo>
                      <a:lnTo>
                        <a:pt x="0" y="4681728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875771" y="0"/>
                      </a:lnTo>
                      <a:cubicBezTo>
                        <a:pt x="891872" y="0"/>
                        <a:pt x="904924" y="349353"/>
                        <a:pt x="904924" y="780305"/>
                      </a:cubicBez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2">
                  <a:schemeClr val="accent5">
                    <a:tint val="40000"/>
                    <a:alpha val="90000"/>
                    <a:hueOff val="4335878"/>
                    <a:satOff val="-2165"/>
                    <a:lumOff val="102"/>
                    <a:alphaOff val="0"/>
                  </a:schemeClr>
                </a:lnRef>
                <a:fillRef idx="1">
                  <a:schemeClr val="accent5">
                    <a:tint val="40000"/>
                    <a:alpha val="90000"/>
                    <a:hueOff val="4335878"/>
                    <a:satOff val="-2165"/>
                    <a:lumOff val="102"/>
                    <a:alphaOff val="0"/>
                  </a:schemeClr>
                </a:fillRef>
                <a:effectRef idx="0">
                  <a:schemeClr val="accent5">
                    <a:tint val="40000"/>
                    <a:alpha val="90000"/>
                    <a:hueOff val="4335878"/>
                    <a:satOff val="-2165"/>
                    <a:lumOff val="102"/>
                    <a:alphaOff val="0"/>
                  </a:schemeClr>
                </a:effectRef>
                <a:fontRef idx="minor">
                  <a:schemeClr val="dk1">
                    <a:hueOff val="0"/>
                    <a:satOff val="0"/>
                    <a:lumOff val="0"/>
                    <a:alphaOff val="0"/>
                  </a:schemeClr>
                </a:fontRef>
              </p:style>
              <p:txBody>
                <a:bodyPr spcFirstLastPara="0" vert="horz" wrap="square" lIns="247651" tIns="167999" rIns="291824" bIns="168001" numCol="1" spcCol="1270" anchor="ctr" anchorCtr="0">
                  <a:noAutofit/>
                </a:bodyPr>
                <a:lstStyle/>
                <a:p>
                  <a:pPr marL="171450" lvl="1" indent="-171450" defTabSz="7112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15000"/>
                    </a:spcAft>
                    <a:buFontTx/>
                    <a:buChar char="••"/>
                  </a:pPr>
                  <a:r>
                    <a:rPr lang="en-US" sz="16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rPr>
                    <a:t>Expresses the amount of diagnostic information of that variable for separating the Goods from the Bads</a:t>
                  </a:r>
                </a:p>
                <a:p>
                  <a:pPr marL="171450" lvl="1" indent="-171450" defTabSz="7112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15000"/>
                    </a:spcAft>
                    <a:buFontTx/>
                    <a:buChar char="••"/>
                  </a:pPr>
                  <a14:m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sz="1600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sz="1600" i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itchFamily="18" charset="0"/>
                              <a:ea typeface="Cambria Math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sz="1600" i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itchFamily="18" charset="0"/>
                              <a:ea typeface="Cambria Math" pitchFamily="18" charset="0"/>
                            </a:rPr>
                            <m:t>Distribution</m:t>
                          </m:r>
                          <m:r>
                            <a:rPr lang="en-US" sz="1600" i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itchFamily="18" charset="0"/>
                              <a:ea typeface="Cambria Math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1600" i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itchFamily="18" charset="0"/>
                              <a:ea typeface="Cambria Math" pitchFamily="18" charset="0"/>
                            </a:rPr>
                            <m:t>of</m:t>
                          </m:r>
                          <m:r>
                            <a:rPr lang="en-US" sz="1600" i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itchFamily="18" charset="0"/>
                              <a:ea typeface="Cambria Math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1600" i="1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600" i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itchFamily="18" charset="0"/>
                                  <a:ea typeface="Cambria Math" pitchFamily="18" charset="0"/>
                                </a:rPr>
                                <m:t>Good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600" i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itchFamily="18" charset="0"/>
                                  <a:ea typeface="Cambria Math" pitchFamily="18" charset="0"/>
                                </a:rPr>
                                <m:t>i</m:t>
                              </m:r>
                            </m:sub>
                          </m:sSub>
                          <m:r>
                            <a:rPr lang="en-US" sz="1600" i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itchFamily="18" charset="0"/>
                              <a:ea typeface="Cambria Math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sz="1600" i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itchFamily="18" charset="0"/>
                              <a:ea typeface="Cambria Math" pitchFamily="18" charset="0"/>
                            </a:rPr>
                            <m:t>Distribution</m:t>
                          </m:r>
                          <m:r>
                            <a:rPr lang="en-US" sz="1600" i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itchFamily="18" charset="0"/>
                              <a:ea typeface="Cambria Math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1600" i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itchFamily="18" charset="0"/>
                              <a:ea typeface="Cambria Math" pitchFamily="18" charset="0"/>
                            </a:rPr>
                            <m:t>of</m:t>
                          </m:r>
                          <m:r>
                            <a:rPr lang="en-US" sz="1600" i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itchFamily="18" charset="0"/>
                              <a:ea typeface="Cambria Math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1600" i="1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600" i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itchFamily="18" charset="0"/>
                                  <a:ea typeface="Cambria Math" pitchFamily="18" charset="0"/>
                                </a:rPr>
                                <m:t>Bad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600" i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itchFamily="18" charset="0"/>
                                  <a:ea typeface="Cambria Math" pitchFamily="18" charset="0"/>
                                </a:rPr>
                                <m:t>i</m:t>
                              </m:r>
                            </m:sub>
                          </m:sSub>
                          <m:r>
                            <a:rPr lang="en-US" sz="1600" i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itchFamily="18" charset="0"/>
                              <a:ea typeface="Cambria Math" pitchFamily="18" charset="0"/>
                            </a:rPr>
                            <m:t>)</m:t>
                          </m:r>
                        </m:e>
                      </m:nary>
                      <m:r>
                        <a:rPr lang="en-US" sz="1600" i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itchFamily="18" charset="0"/>
                          <a:ea typeface="Cambria Math" pitchFamily="18" charset="0"/>
                        </a:rPr>
                        <m:t>×</m:t>
                      </m:r>
                      <m:r>
                        <m:rPr>
                          <m:sty m:val="p"/>
                        </m:rPr>
                        <a:rPr lang="en-US" sz="1600" b="0" i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itchFamily="18" charset="0"/>
                          <a:ea typeface="Cambria Math" pitchFamily="18" charset="0"/>
                        </a:rPr>
                        <m:t>WoE</m:t>
                      </m:r>
                    </m:oMath>
                  </a14:m>
                  <a:endParaRPr 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mbria Math" pitchFamily="18" charset="0"/>
                    <a:ea typeface="Cambria Math" pitchFamily="18" charset="0"/>
                  </a:endParaRPr>
                </a:p>
              </p:txBody>
            </p:sp>
          </mc:Choice>
          <mc:Fallback xmlns="">
            <p:sp>
              <p:nvSpPr>
                <p:cNvPr id="25" name="Freeform 2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56502" y="2319898"/>
                  <a:ext cx="6410099" cy="1204454"/>
                </a:xfrm>
                <a:custGeom>
                  <a:avLst/>
                  <a:gdLst>
                    <a:gd name="connsiteX0" fmla="*/ 150824 w 904924"/>
                    <a:gd name="connsiteY0" fmla="*/ 0 h 4681728"/>
                    <a:gd name="connsiteX1" fmla="*/ 754100 w 904924"/>
                    <a:gd name="connsiteY1" fmla="*/ 0 h 4681728"/>
                    <a:gd name="connsiteX2" fmla="*/ 904924 w 904924"/>
                    <a:gd name="connsiteY2" fmla="*/ 150824 h 4681728"/>
                    <a:gd name="connsiteX3" fmla="*/ 904924 w 904924"/>
                    <a:gd name="connsiteY3" fmla="*/ 4681728 h 4681728"/>
                    <a:gd name="connsiteX4" fmla="*/ 904924 w 904924"/>
                    <a:gd name="connsiteY4" fmla="*/ 4681728 h 4681728"/>
                    <a:gd name="connsiteX5" fmla="*/ 0 w 904924"/>
                    <a:gd name="connsiteY5" fmla="*/ 4681728 h 4681728"/>
                    <a:gd name="connsiteX6" fmla="*/ 0 w 904924"/>
                    <a:gd name="connsiteY6" fmla="*/ 4681728 h 4681728"/>
                    <a:gd name="connsiteX7" fmla="*/ 0 w 904924"/>
                    <a:gd name="connsiteY7" fmla="*/ 150824 h 4681728"/>
                    <a:gd name="connsiteX8" fmla="*/ 150824 w 904924"/>
                    <a:gd name="connsiteY8" fmla="*/ 0 h 46817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904924" h="4681728">
                      <a:moveTo>
                        <a:pt x="904924" y="780305"/>
                      </a:moveTo>
                      <a:lnTo>
                        <a:pt x="904924" y="3901423"/>
                      </a:lnTo>
                      <a:cubicBezTo>
                        <a:pt x="904924" y="4332375"/>
                        <a:pt x="891872" y="4681728"/>
                        <a:pt x="875771" y="4681728"/>
                      </a:cubicBezTo>
                      <a:lnTo>
                        <a:pt x="0" y="4681728"/>
                      </a:lnTo>
                      <a:lnTo>
                        <a:pt x="0" y="4681728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875771" y="0"/>
                      </a:lnTo>
                      <a:cubicBezTo>
                        <a:pt x="891872" y="0"/>
                        <a:pt x="904924" y="349353"/>
                        <a:pt x="904924" y="780305"/>
                      </a:cubicBezTo>
                      <a:close/>
                    </a:path>
                  </a:pathLst>
                </a:custGeom>
                <a:blipFill>
                  <a:blip r:embed="rId8"/>
                  <a:stretch>
                    <a:fillRect b="-46108"/>
                  </a:stretch>
                </a:blipFill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6" name="Freeform 25"/>
            <p:cNvSpPr/>
            <p:nvPr/>
          </p:nvSpPr>
          <p:spPr>
            <a:xfrm>
              <a:off x="1602834" y="2260371"/>
              <a:ext cx="1676400" cy="1263980"/>
            </a:xfrm>
            <a:custGeom>
              <a:avLst/>
              <a:gdLst>
                <a:gd name="connsiteX0" fmla="*/ 0 w 2633472"/>
                <a:gd name="connsiteY0" fmla="*/ 188530 h 1131155"/>
                <a:gd name="connsiteX1" fmla="*/ 188530 w 2633472"/>
                <a:gd name="connsiteY1" fmla="*/ 0 h 1131155"/>
                <a:gd name="connsiteX2" fmla="*/ 2444942 w 2633472"/>
                <a:gd name="connsiteY2" fmla="*/ 0 h 1131155"/>
                <a:gd name="connsiteX3" fmla="*/ 2633472 w 2633472"/>
                <a:gd name="connsiteY3" fmla="*/ 188530 h 1131155"/>
                <a:gd name="connsiteX4" fmla="*/ 2633472 w 2633472"/>
                <a:gd name="connsiteY4" fmla="*/ 942625 h 1131155"/>
                <a:gd name="connsiteX5" fmla="*/ 2444942 w 2633472"/>
                <a:gd name="connsiteY5" fmla="*/ 1131155 h 1131155"/>
                <a:gd name="connsiteX6" fmla="*/ 188530 w 2633472"/>
                <a:gd name="connsiteY6" fmla="*/ 1131155 h 1131155"/>
                <a:gd name="connsiteX7" fmla="*/ 0 w 2633472"/>
                <a:gd name="connsiteY7" fmla="*/ 942625 h 1131155"/>
                <a:gd name="connsiteX8" fmla="*/ 0 w 2633472"/>
                <a:gd name="connsiteY8" fmla="*/ 188530 h 1131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33472" h="1131155">
                  <a:moveTo>
                    <a:pt x="0" y="188530"/>
                  </a:moveTo>
                  <a:cubicBezTo>
                    <a:pt x="0" y="84408"/>
                    <a:pt x="84408" y="0"/>
                    <a:pt x="188530" y="0"/>
                  </a:cubicBezTo>
                  <a:lnTo>
                    <a:pt x="2444942" y="0"/>
                  </a:lnTo>
                  <a:cubicBezTo>
                    <a:pt x="2549064" y="0"/>
                    <a:pt x="2633472" y="84408"/>
                    <a:pt x="2633472" y="188530"/>
                  </a:cubicBezTo>
                  <a:lnTo>
                    <a:pt x="2633472" y="942625"/>
                  </a:lnTo>
                  <a:cubicBezTo>
                    <a:pt x="2633472" y="1046747"/>
                    <a:pt x="2549064" y="1131155"/>
                    <a:pt x="2444942" y="1131155"/>
                  </a:cubicBezTo>
                  <a:lnTo>
                    <a:pt x="188530" y="1131155"/>
                  </a:lnTo>
                  <a:cubicBezTo>
                    <a:pt x="84408" y="1131155"/>
                    <a:pt x="0" y="1046747"/>
                    <a:pt x="0" y="942625"/>
                  </a:cubicBezTo>
                  <a:lnTo>
                    <a:pt x="0" y="18853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3961231"/>
                <a:satOff val="-20173"/>
                <a:lumOff val="3725"/>
                <a:alphaOff val="0"/>
              </a:schemeClr>
            </a:fillRef>
            <a:effectRef idx="0">
              <a:schemeClr val="accent5">
                <a:hueOff val="3961231"/>
                <a:satOff val="-20173"/>
                <a:lumOff val="3725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16178" tIns="85698" rIns="116178" bIns="85698" numCol="1" spcCol="1270" anchor="ctr" anchorCtr="0">
              <a:noAutofit/>
            </a:bodyPr>
            <a:lstStyle/>
            <a:p>
              <a:pPr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600" b="1" dirty="0">
                  <a:solidFill>
                    <a:prstClr val="white"/>
                  </a:solidFill>
                </a:rPr>
                <a:t>Information Value</a:t>
              </a:r>
            </a:p>
          </p:txBody>
        </p:sp>
        <p:sp>
          <p:nvSpPr>
            <p:cNvPr id="27" name="Freeform 26"/>
            <p:cNvSpPr/>
            <p:nvPr/>
          </p:nvSpPr>
          <p:spPr>
            <a:xfrm>
              <a:off x="3256502" y="3690192"/>
              <a:ext cx="6410099" cy="1939789"/>
            </a:xfrm>
            <a:custGeom>
              <a:avLst/>
              <a:gdLst>
                <a:gd name="connsiteX0" fmla="*/ 150824 w 904924"/>
                <a:gd name="connsiteY0" fmla="*/ 0 h 4681728"/>
                <a:gd name="connsiteX1" fmla="*/ 754100 w 904924"/>
                <a:gd name="connsiteY1" fmla="*/ 0 h 4681728"/>
                <a:gd name="connsiteX2" fmla="*/ 904924 w 904924"/>
                <a:gd name="connsiteY2" fmla="*/ 150824 h 4681728"/>
                <a:gd name="connsiteX3" fmla="*/ 904924 w 904924"/>
                <a:gd name="connsiteY3" fmla="*/ 4681728 h 4681728"/>
                <a:gd name="connsiteX4" fmla="*/ 904924 w 904924"/>
                <a:gd name="connsiteY4" fmla="*/ 4681728 h 4681728"/>
                <a:gd name="connsiteX5" fmla="*/ 0 w 904924"/>
                <a:gd name="connsiteY5" fmla="*/ 4681728 h 4681728"/>
                <a:gd name="connsiteX6" fmla="*/ 0 w 904924"/>
                <a:gd name="connsiteY6" fmla="*/ 4681728 h 4681728"/>
                <a:gd name="connsiteX7" fmla="*/ 0 w 904924"/>
                <a:gd name="connsiteY7" fmla="*/ 150824 h 4681728"/>
                <a:gd name="connsiteX8" fmla="*/ 150824 w 904924"/>
                <a:gd name="connsiteY8" fmla="*/ 0 h 4681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04924" h="4681728">
                  <a:moveTo>
                    <a:pt x="904924" y="780305"/>
                  </a:moveTo>
                  <a:lnTo>
                    <a:pt x="904924" y="3901423"/>
                  </a:lnTo>
                  <a:cubicBezTo>
                    <a:pt x="904924" y="4332375"/>
                    <a:pt x="891872" y="4681728"/>
                    <a:pt x="875771" y="4681728"/>
                  </a:cubicBezTo>
                  <a:lnTo>
                    <a:pt x="0" y="4681728"/>
                  </a:lnTo>
                  <a:lnTo>
                    <a:pt x="0" y="4681728"/>
                  </a:lnTo>
                  <a:lnTo>
                    <a:pt x="0" y="0"/>
                  </a:lnTo>
                  <a:lnTo>
                    <a:pt x="0" y="0"/>
                  </a:lnTo>
                  <a:lnTo>
                    <a:pt x="875771" y="0"/>
                  </a:lnTo>
                  <a:cubicBezTo>
                    <a:pt x="891872" y="0"/>
                    <a:pt x="904924" y="349353"/>
                    <a:pt x="904924" y="780305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5">
                <a:tint val="40000"/>
                <a:alpha val="90000"/>
                <a:hueOff val="8671756"/>
                <a:satOff val="-4331"/>
                <a:lumOff val="204"/>
                <a:alphaOff val="0"/>
              </a:schemeClr>
            </a:lnRef>
            <a:fillRef idx="1">
              <a:schemeClr val="accent5">
                <a:tint val="40000"/>
                <a:alpha val="90000"/>
                <a:hueOff val="8671756"/>
                <a:satOff val="-4331"/>
                <a:lumOff val="204"/>
                <a:alphaOff val="0"/>
              </a:schemeClr>
            </a:fillRef>
            <a:effectRef idx="0">
              <a:schemeClr val="accent5">
                <a:tint val="40000"/>
                <a:alpha val="90000"/>
                <a:hueOff val="8671756"/>
                <a:satOff val="-4331"/>
                <a:lumOff val="204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47651" tIns="168000" rIns="291824" bIns="168000" numCol="1" spcCol="1270" anchor="ctr" anchorCtr="0">
              <a:noAutofit/>
            </a:bodyPr>
            <a:lstStyle/>
            <a:p>
              <a:pPr marL="171450" lvl="1" indent="-171450" defTabSz="7112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Tx/>
                <a:buChar char="••"/>
              </a:pPr>
              <a:r>
                <a:rPr 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In Python there is no direct function for calculation of WoE and IV.</a:t>
              </a:r>
            </a:p>
            <a:p>
              <a:pPr marL="171450" lvl="1" indent="-171450" defTabSz="7112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Tx/>
                <a:buChar char="••"/>
              </a:pPr>
              <a:r>
                <a:rPr 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We create user defined function for WoE, IV calculation.</a:t>
              </a:r>
            </a:p>
            <a:p>
              <a:pPr marL="171450" lvl="1" indent="-171450" defTabSz="7112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Tx/>
                <a:buChar char="••"/>
              </a:pPr>
              <a:r>
                <a:rPr 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For obtaining IV of each variable continuous numeric data is converted into bins using</a:t>
              </a:r>
              <a:r>
                <a:rPr 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onsolas" panose="020B0609020204030204" pitchFamily="49" charset="0"/>
                </a:rPr>
                <a:t> pd.qcut().</a:t>
              </a:r>
            </a:p>
          </p:txBody>
        </p:sp>
        <p:sp>
          <p:nvSpPr>
            <p:cNvPr id="28" name="Freeform 27"/>
            <p:cNvSpPr/>
            <p:nvPr/>
          </p:nvSpPr>
          <p:spPr>
            <a:xfrm>
              <a:off x="1602834" y="3690192"/>
              <a:ext cx="1676400" cy="1939789"/>
            </a:xfrm>
            <a:custGeom>
              <a:avLst/>
              <a:gdLst>
                <a:gd name="connsiteX0" fmla="*/ 0 w 2633472"/>
                <a:gd name="connsiteY0" fmla="*/ 188530 h 1131155"/>
                <a:gd name="connsiteX1" fmla="*/ 188530 w 2633472"/>
                <a:gd name="connsiteY1" fmla="*/ 0 h 1131155"/>
                <a:gd name="connsiteX2" fmla="*/ 2444942 w 2633472"/>
                <a:gd name="connsiteY2" fmla="*/ 0 h 1131155"/>
                <a:gd name="connsiteX3" fmla="*/ 2633472 w 2633472"/>
                <a:gd name="connsiteY3" fmla="*/ 188530 h 1131155"/>
                <a:gd name="connsiteX4" fmla="*/ 2633472 w 2633472"/>
                <a:gd name="connsiteY4" fmla="*/ 942625 h 1131155"/>
                <a:gd name="connsiteX5" fmla="*/ 2444942 w 2633472"/>
                <a:gd name="connsiteY5" fmla="*/ 1131155 h 1131155"/>
                <a:gd name="connsiteX6" fmla="*/ 188530 w 2633472"/>
                <a:gd name="connsiteY6" fmla="*/ 1131155 h 1131155"/>
                <a:gd name="connsiteX7" fmla="*/ 0 w 2633472"/>
                <a:gd name="connsiteY7" fmla="*/ 942625 h 1131155"/>
                <a:gd name="connsiteX8" fmla="*/ 0 w 2633472"/>
                <a:gd name="connsiteY8" fmla="*/ 188530 h 1131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33472" h="1131155">
                  <a:moveTo>
                    <a:pt x="0" y="188530"/>
                  </a:moveTo>
                  <a:cubicBezTo>
                    <a:pt x="0" y="84408"/>
                    <a:pt x="84408" y="0"/>
                    <a:pt x="188530" y="0"/>
                  </a:cubicBezTo>
                  <a:lnTo>
                    <a:pt x="2444942" y="0"/>
                  </a:lnTo>
                  <a:cubicBezTo>
                    <a:pt x="2549064" y="0"/>
                    <a:pt x="2633472" y="84408"/>
                    <a:pt x="2633472" y="188530"/>
                  </a:cubicBezTo>
                  <a:lnTo>
                    <a:pt x="2633472" y="942625"/>
                  </a:lnTo>
                  <a:cubicBezTo>
                    <a:pt x="2633472" y="1046747"/>
                    <a:pt x="2549064" y="1131155"/>
                    <a:pt x="2444942" y="1131155"/>
                  </a:cubicBezTo>
                  <a:lnTo>
                    <a:pt x="188530" y="1131155"/>
                  </a:lnTo>
                  <a:cubicBezTo>
                    <a:pt x="84408" y="1131155"/>
                    <a:pt x="0" y="1046747"/>
                    <a:pt x="0" y="942625"/>
                  </a:cubicBezTo>
                  <a:lnTo>
                    <a:pt x="0" y="18853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7922463"/>
                <a:satOff val="-40347"/>
                <a:lumOff val="7450"/>
                <a:alphaOff val="0"/>
              </a:schemeClr>
            </a:fillRef>
            <a:effectRef idx="0">
              <a:schemeClr val="accent5">
                <a:hueOff val="7922463"/>
                <a:satOff val="-40347"/>
                <a:lumOff val="745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16178" tIns="85698" rIns="116178" bIns="85698" numCol="1" spcCol="1270" anchor="ctr" anchorCtr="0">
              <a:noAutofit/>
            </a:bodyPr>
            <a:lstStyle/>
            <a:p>
              <a:pPr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600" b="1" dirty="0">
                  <a:solidFill>
                    <a:prstClr val="white"/>
                  </a:solidFill>
                </a:rPr>
                <a:t>Weight of Evidence and Information Value in Python</a:t>
              </a:r>
            </a:p>
          </p:txBody>
        </p:sp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A7003EEB-EF6C-48D9-B09B-CE4B15ADF563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9731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>
            <p:custDataLst>
              <p:tags r:id="rId1"/>
            </p:custDataLst>
          </p:nvPr>
        </p:nvSpPr>
        <p:spPr bwMode="auto"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lang="en-US" sz="4400" dirty="0">
                <a:solidFill>
                  <a:schemeClr val="accent6">
                    <a:lumMod val="60000"/>
                    <a:lumOff val="40000"/>
                  </a:schemeClr>
                </a:solidFill>
                <a:latin typeface="Eras Demi ITC" pitchFamily="34" charset="0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>
              <a:lnSpc>
                <a:spcPts val="5800"/>
              </a:lnSpc>
            </a:pPr>
            <a:r>
              <a:rPr lang="en-IN" b="1" dirty="0">
                <a:solidFill>
                  <a:srgbClr val="3891A7"/>
                </a:solidFill>
                <a:latin typeface="Ebrima"/>
              </a:rPr>
              <a:t>THANK YOU!</a:t>
            </a:r>
          </a:p>
        </p:txBody>
      </p:sp>
      <p:sp>
        <p:nvSpPr>
          <p:cNvPr id="3" name="Rectangle 2"/>
          <p:cNvSpPr/>
          <p:nvPr>
            <p:custDataLst>
              <p:tags r:id="rId2"/>
            </p:custDataLst>
          </p:nvPr>
        </p:nvSpPr>
        <p:spPr>
          <a:xfrm>
            <a:off x="0" y="5562600"/>
            <a:ext cx="3156758" cy="4692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4" name="Rectangle 3"/>
          <p:cNvSpPr/>
          <p:nvPr>
            <p:custDataLst>
              <p:tags r:id="rId3"/>
            </p:custDataLst>
          </p:nvPr>
        </p:nvSpPr>
        <p:spPr>
          <a:xfrm>
            <a:off x="3386141" y="5562600"/>
            <a:ext cx="2371719" cy="4692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>
            <p:custDataLst>
              <p:tags r:id="rId4"/>
            </p:custDataLst>
          </p:nvPr>
        </p:nvSpPr>
        <p:spPr>
          <a:xfrm>
            <a:off x="5987242" y="5562600"/>
            <a:ext cx="3156758" cy="46923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A7003EEB-EF6C-48D9-B09B-CE4B15ADF563}" type="slidenum">
              <a:rPr lang="en-US" smtClean="0"/>
              <a:pPr algn="r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0686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2&quot;/&gt;&lt;lineCharCount val=&quot;26&quot;/&gt;&lt;lineCharCount val=&quot;17&quot;/&gt;&lt;/TableIndex&gt;&lt;/ShapeTextInfo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5&quot;/&gt;&lt;lineCharCount val=&quot;55&quot;/&gt;&lt;lineCharCount val=&quot;14&quot;/&gt;&lt;lineCharCount val=&quot;13&quot;/&gt;&lt;lineCharCount val=&quot;13&quot;/&gt;&lt;lineCharCount val=&quot;12&quot;/&gt;&lt;/TableIndex&gt;&lt;/ShapeTextInfo&gt;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2&quot;/&gt;&lt;/TableIndex&gt;&lt;/ShapeTextInfo&gt;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5&quot;/&gt;&lt;/TableIndex&gt;&lt;/ShapeTextInfo&gt;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2&quot;/&gt;&lt;/TableIndex&gt;&lt;/ShapeTextInfo&gt;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5&quot;/&gt;&lt;lineCharCount val=&quot;33&quot;/&gt;&lt;lineCharCount val=&quot;13&quot;/&gt;&lt;lineCharCount val=&quot;12&quot;/&gt;&lt;lineCharCount val=&quot;13&quot;/&gt;&lt;lineCharCount val=&quot;11&quot;/&gt;&lt;/TableIndex&gt;&lt;/ShapeTextInfo&gt;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2&quot;/&gt;&lt;lineCharCount val=&quot;26&quot;/&gt;&lt;lineCharCount val=&quot;17&quot;/&gt;&lt;/TableIndex&gt;&lt;/ShapeTextInfo&gt;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5&quot;/&gt;&lt;lineCharCount val=&quot;55&quot;/&gt;&lt;lineCharCount val=&quot;14&quot;/&gt;&lt;lineCharCount val=&quot;13&quot;/&gt;&lt;lineCharCount val=&quot;13&quot;/&gt;&lt;lineCharCount val=&quot;12&quot;/&gt;&lt;/TableIndex&gt;&lt;/ShapeTextInfo&gt;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2&quot;/&gt;&lt;/TableIndex&gt;&lt;/ShapeTextInfo&gt;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5&quot;/&gt;&lt;/TableIndex&gt;&lt;/ShapeTextInfo&gt;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2&quot;/&gt;&lt;/TableIndex&gt;&lt;/ShapeTextInfo&gt;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5&quot;/&gt;&lt;lineCharCount val=&quot;33&quot;/&gt;&lt;lineCharCount val=&quot;13&quot;/&gt;&lt;lineCharCount val=&quot;12&quot;/&gt;&lt;lineCharCount val=&quot;13&quot;/&gt;&lt;lineCharCount val=&quot;11&quot;/&gt;&lt;/TableIndex&gt;&lt;/ShapeTextInfo&gt;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3&quot;/&gt;&lt;lineCharCount val=&quot;1&quot;/&gt;&lt;lineCharCount val=&quot;16&quot;/&gt;&lt;lineCharCount val=&quot;11&quot;/&gt;&lt;/TableIndex&gt;&lt;/ShapeTextInfo&gt;"/>
  <p:tag name="PRESENTER_DUMMYTAG" val="&lt;DummyForForceWrite&gt;&lt;/DummyForForceWrite&gt;"/>
  <p:tag name="HTML_SHAPEINFO" val="&lt;ThreeDShapeInfo&gt;&lt;uuid val=&quot;{DAD39461-DE06-4126-A0E8-FB92C5707FBA}&quot;/&gt;&lt;isInvalidForFieldText val=&quot;0&quot;/&gt;&lt;Image&gt;&lt;filename val=&quot;C:\Users\Dell\AppData\Local\Temp\CP1156608419281Session\CPTrustFolder1156608419296\PPTImport1156618459906\data\asimages\{DAD39461-DE06-4126-A0E8-FB92C5707FBA}_1.png&quot;/&gt;&lt;left val=&quot;95&quot;/&gt;&lt;top val=&quot;91&quot;/&gt;&lt;width val=&quot;771&quot;/&gt;&lt;height val=&quot;380&quot;/&gt;&lt;hasText val=&quot;1&quot;/&gt;&lt;/Image&gt;&lt;/ThreeDShapeInfo&gt;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9&quot;/&gt;&lt;/TableIndex&gt;&lt;/ShapeTextInfo&gt;"/>
  <p:tag name="HTML_SHAPEINFO" val="&lt;ThreeDShapeInfo&gt;&lt;uuid val=&quot;{CE8BF5BC-F4EA-49A8-B20E-192184EC4CD1}&quot;/&gt;&lt;isInvalidForFieldText val=&quot;0&quot;/&gt;&lt;Image&gt;&lt;filename val=&quot;C:\Users\Dell\AppData\Local\Temp\CP1156608419281Session\CPTrustFolder1156608419296\PPTImport1156618459906\data\asimages\{CE8BF5BC-F4EA-49A8-B20E-192184EC4CD1}_2.png&quot;/&gt;&lt;left val=&quot;48&quot;/&gt;&lt;top val=&quot;28&quot;/&gt;&lt;width val=&quot;865&quot;/&gt;&lt;height val=&quot;95&quot;/&gt;&lt;hasText val=&quot;1&quot;/&gt;&lt;/Image&gt;&lt;/ThreeDShapeInfo&gt;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1&quot;/&gt;&lt;lineCharCount val=&quot;36&quot;/&gt;&lt;lineCharCount val=&quot;35&quot;/&gt;&lt;lineCharCount val=&quot;49&quot;/&gt;&lt;lineCharCount val=&quot;24&quot;/&gt;&lt;lineCharCount val=&quot;22&quot;/&gt;&lt;lineCharCount val=&quot;21&quot;/&gt;&lt;lineCharCount val=&quot;25&quot;/&gt;&lt;lineCharCount val=&quot;15&quot;/&gt;&lt;lineCharCount val=&quot;19&quot;/&gt;&lt;lineCharCount val=&quot;50&quot;/&gt;&lt;lineCharCount val=&quot;38&quot;/&gt;&lt;/TableIndex&gt;&lt;/ShapeTextInfo&gt;"/>
  <p:tag name="HTML_SHAPEINFO" val="&lt;TextEffect&gt;&lt;Image&gt;&lt;filename val=&quot;C:\Users\Dell\AppData\Local\Temp\CP1156608419281Session\CPTrustFolder1156608419296\PPTImport1156618459906\data\asimages\{CFC6DBA8-E81F-49A2-A168-E8596894BF65}_1.png_crop.png&quot;/&gt;&lt;left val=&quot;60&quot;/&gt;&lt;top val=&quot;202&quot;/&gt;&lt;width val=&quot;496&quot;/&gt;&lt;height val=&quot;26&quot;/&gt;&lt;hasText val=&quot;1&quot;/&gt;&lt;paraId val=&quot;1&quot;/&gt;&lt;/Image&gt;&lt;Image&gt;&lt;filename val=&quot;C:\Users\Dell\AppData\Local\Temp\CP1156608419281Session\CPTrustFolder1156608419296\PPTImport1156618459906\data\asimages\{9DFC37CE-9851-41A3-BD8D-2FF3F9644BBA}_1.png_crop.png&quot;/&gt;&lt;left val=&quot;58&quot;/&gt;&lt;top val=&quot;241&quot;/&gt;&lt;width val=&quot;481&quot;/&gt;&lt;height val=&quot;26&quot;/&gt;&lt;hasText val=&quot;1&quot;/&gt;&lt;paraId val=&quot;2&quot;/&gt;&lt;/Image&gt;&lt;Image&gt;&lt;filename val=&quot;C:\Users\Dell\AppData\Local\Temp\CP1156608419281Session\CPTrustFolder1156608419296\PPTImport1156618459906\data\asimages\{8E79F4C1-4FA0-4323-B95C-DC6BBE1868AC}_1.png_crop.png&quot;/&gt;&lt;left val=&quot;59&quot;/&gt;&lt;top val=&quot;279&quot;/&gt;&lt;width val=&quot;640&quot;/&gt;&lt;height val=&quot;26&quot;/&gt;&lt;hasText val=&quot;1&quot;/&gt;&lt;paraId val=&quot;3&quot;/&gt;&lt;/Image&gt;&lt;Image&gt;&lt;filename val=&quot;C:\Users\Dell\AppData\Local\Temp\CP1156608419281Session\CPTrustFolder1156608419296\PPTImport1156618459906\data\asimages\{95C0BFFA-FBB3-44C6-B0B1-F67E648BDEF8}_1.png_crop.png&quot;/&gt;&lt;left val=&quot;58&quot;/&gt;&lt;top val=&quot;318&quot;/&gt;&lt;width val=&quot;365&quot;/&gt;&lt;height val=&quot;26&quot;/&gt;&lt;hasText val=&quot;1&quot;/&gt;&lt;paraId val=&quot;4&quot;/&gt;&lt;/Image&gt;&lt;Image&gt;&lt;filename val=&quot;C:\Users\Dell\AppData\Local\Temp\CP1156608419281Session\CPTrustFolder1156608419296\PPTImport1156618459906\data\asimages\{2870CD6D-5B0E-4E40-AACF-60E2CCE5EC78}_1.png_crop.png&quot;/&gt;&lt;left val=&quot;59&quot;/&gt;&lt;top val=&quot;356&quot;/&gt;&lt;width val=&quot;344&quot;/&gt;&lt;height val=&quot;26&quot;/&gt;&lt;hasText val=&quot;1&quot;/&gt;&lt;paraId val=&quot;5&quot;/&gt;&lt;/Image&gt;&lt;Image&gt;&lt;filename val=&quot;C:\Users\Dell\AppData\Local\Temp\CP1156608419281Session\CPTrustFolder1156608419296\PPTImport1156618459906\data\asimages\{D144240A-BBA1-452D-B902-1735F474A11D}_1.png_crop.png&quot;/&gt;&lt;left val=&quot;107&quot;/&gt;&lt;top val=&quot;395&quot;/&gt;&lt;width val=&quot;346&quot;/&gt;&lt;height val=&quot;20&quot;/&gt;&lt;hasText val=&quot;1&quot;/&gt;&lt;paraId val=&quot;6&quot;/&gt;&lt;/Image&gt;&lt;Image&gt;&lt;filename val=&quot;C:\Users\Dell\AppData\Local\Temp\CP1156608419281Session\CPTrustFolder1156608419296\PPTImport1156618459906\data\asimages\{5FB53B1E-BC00-4F66-BFC7-44868F3124BE}_1.png_crop.png&quot;/&gt;&lt;left val=&quot;107&quot;/&gt;&lt;top val=&quot;433&quot;/&gt;&lt;width val=&quot;360&quot;/&gt;&lt;height val=&quot;26&quot;/&gt;&lt;hasText val=&quot;1&quot;/&gt;&lt;paraId val=&quot;7&quot;/&gt;&lt;/Image&gt;&lt;Image&gt;&lt;filename val=&quot;C:\Users\Dell\AppData\Local\Temp\CP1156608419281Session\CPTrustFolder1156608419296\PPTImport1156618459906\data\asimages\{B8EC738B-D835-4E1E-86E1-EFEAF1B7BAAF}_1.png_crop.png&quot;/&gt;&lt;left val=&quot;58&quot;/&gt;&lt;top val=&quot;472&quot;/&gt;&lt;width val=&quot;226&quot;/&gt;&lt;height val=&quot;26&quot;/&gt;&lt;hasText val=&quot;1&quot;/&gt;&lt;paraId val=&quot;8&quot;/&gt;&lt;/Image&gt;&lt;Image&gt;&lt;filename val=&quot;C:\Users\Dell\AppData\Local\Temp\CP1156608419281Session\CPTrustFolder1156608419296\PPTImport1156618459906\data\asimages\{E19C5118-5576-4D24-8819-E749D6A42079}_1.png_crop.png&quot;/&gt;&lt;left val=&quot;58&quot;/&gt;&lt;top val=&quot;510&quot;/&gt;&lt;width val=&quot;270&quot;/&gt;&lt;height val=&quot;26&quot;/&gt;&lt;hasText val=&quot;1&quot;/&gt;&lt;paraId val=&quot;9&quot;/&gt;&lt;/Image&gt;&lt;Image&gt;&lt;filename val=&quot;C:\Users\Dell\AppData\Local\Temp\CP1156608419281Session\CPTrustFolder1156608419296\PPTImport1156618459906\data\asimages\{C84B10C7-A1A3-45C7-9912-59DD2A542925}_1.png_crop.png&quot;/&gt;&lt;left val=&quot;58&quot;/&gt;&lt;top val=&quot;548&quot;/&gt;&lt;width val=&quot;646&quot;/&gt;&lt;height val=&quot;26&quot;/&gt;&lt;hasText val=&quot;1&quot;/&gt;&lt;paraId val=&quot;10&quot;/&gt;&lt;/Image&gt;&lt;Image&gt;&lt;filename val=&quot;C:\Users\Dell\AppData\Local\Temp\CP1156608419281Session\CPTrustFolder1156608419296\PPTImport1156618459906\data\asimages\{857948DE-408B-4C88-9074-E1750F8DC216}_1.png_crop.png&quot;/&gt;&lt;left val=&quot;58&quot;/&gt;&lt;top val=&quot;587&quot;/&gt;&lt;width val=&quot;545&quot;/&gt;&lt;height val=&quot;26&quot;/&gt;&lt;hasText val=&quot;1&quot;/&gt;&lt;paraId val=&quot;11&quot;/&gt;&lt;/Image&gt;&lt;/TextEffect&gt;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7&quot;/&gt;&lt;/TableIndex&gt;&lt;/ShapeTextInfo&gt;"/>
  <p:tag name="HTML_SHAPEINFO" val="&lt;ThreeDShapeInfo&gt;&lt;uuid val=&quot;{56A151B1-7AFE-4AB1-B0F0-16883CC2D412}&quot;/&gt;&lt;isInvalidForFieldText val=&quot;0&quot;/&gt;&lt;Image&gt;&lt;filename val=&quot;C:\Users\Dell\AppData\Local\Temp\CP1156608419281Session\CPTrustFolder1156608419296\PPTImport1156618459906\data\asimages\{56A151B1-7AFE-4AB1-B0F0-16883CC2D412}_6.png&quot;/&gt;&lt;left val=&quot;48&quot;/&gt;&lt;top val=&quot;28&quot;/&gt;&lt;width val=&quot;865&quot;/&gt;&lt;height val=&quot;95&quot;/&gt;&lt;hasText val=&quot;1&quot;/&gt;&lt;/Image&gt;&lt;/ThreeDShapeInfo&gt;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9&quot;/&gt;&lt;/TableIndex&gt;&lt;/ShapeTextInfo&gt;"/>
  <p:tag name="HTML_SHAPEINFO" val="&lt;ThreeDShapeInfo&gt;&lt;uuid val=&quot;{CE8BF5BC-F4EA-49A8-B20E-192184EC4CD1}&quot;/&gt;&lt;isInvalidForFieldText val=&quot;0&quot;/&gt;&lt;Image&gt;&lt;filename val=&quot;C:\Users\Dell\AppData\Local\Temp\CP1156608419281Session\CPTrustFolder1156608419296\PPTImport1156618459906\data\asimages\{CE8BF5BC-F4EA-49A8-B20E-192184EC4CD1}_2.png&quot;/&gt;&lt;left val=&quot;48&quot;/&gt;&lt;top val=&quot;28&quot;/&gt;&lt;width val=&quot;865&quot;/&gt;&lt;height val=&quot;95&quot;/&gt;&lt;hasText val=&quot;1&quot;/&gt;&lt;/Image&gt;&lt;/ThreeDShapeInfo&gt;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8&quot;/&gt;&lt;/TableIndex&gt;&lt;/ShapeTextInfo&gt;"/>
  <p:tag name="HTML_SHAPEINFO" val="&lt;ThreeDShapeInfo&gt;&lt;uuid val=&quot;{364EBC8E-D719-4608-AFBC-A88B0DB83027}&quot;/&gt;&lt;isInvalidForFieldText val=&quot;0&quot;/&gt;&lt;Image&gt;&lt;filename val=&quot;C:\Users\Dell\AppData\Local\Temp\CP1156608419281Session\CPTrustFolder1156608419296\PPTImport1156618459906\data\asimages\{364EBC8E-D719-4608-AFBC-A88B0DB83027}_12.png&quot;/&gt;&lt;left val=&quot;48&quot;/&gt;&lt;top val=&quot;28&quot;/&gt;&lt;width val=&quot;865&quot;/&gt;&lt;height val=&quot;95&quot;/&gt;&lt;hasText val=&quot;1&quot;/&gt;&lt;/Image&gt;&lt;/ThreeDShapeInfo&gt;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9&quot;/&gt;&lt;/TableIndex&gt;&lt;/ShapeTextInfo&gt;"/>
  <p:tag name="HTML_SHAPEINFO" val="&lt;ThreeDShapeInfo&gt;&lt;uuid val=&quot;{CE8BF5BC-F4EA-49A8-B20E-192184EC4CD1}&quot;/&gt;&lt;isInvalidForFieldText val=&quot;0&quot;/&gt;&lt;Image&gt;&lt;filename val=&quot;C:\Users\Dell\AppData\Local\Temp\CP1156608419281Session\CPTrustFolder1156608419296\PPTImport1156618459906\data\asimages\{CE8BF5BC-F4EA-49A8-B20E-192184EC4CD1}_2.png&quot;/&gt;&lt;left val=&quot;48&quot;/&gt;&lt;top val=&quot;28&quot;/&gt;&lt;width val=&quot;865&quot;/&gt;&lt;height val=&quot;95&quot;/&gt;&lt;hasText val=&quot;1&quot;/&gt;&lt;/Image&gt;&lt;/ThreeDShapeInfo&gt;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9&quot;/&gt;&lt;/TableIndex&gt;&lt;/ShapeTextInfo&gt;"/>
  <p:tag name="HTML_SHAPEINFO" val="&lt;ThreeDShapeInfo&gt;&lt;uuid val=&quot;{CE8BF5BC-F4EA-49A8-B20E-192184EC4CD1}&quot;/&gt;&lt;isInvalidForFieldText val=&quot;0&quot;/&gt;&lt;Image&gt;&lt;filename val=&quot;C:\Users\Dell\AppData\Local\Temp\CP1156608419281Session\CPTrustFolder1156608419296\PPTImport1156618459906\data\asimages\{CE8BF5BC-F4EA-49A8-B20E-192184EC4CD1}_2.png&quot;/&gt;&lt;left val=&quot;48&quot;/&gt;&lt;top val=&quot;28&quot;/&gt;&lt;width val=&quot;865&quot;/&gt;&lt;height val=&quot;95&quot;/&gt;&lt;hasText val=&quot;1&quot;/&gt;&lt;/Image&gt;&lt;/ThreeDShapeInfo&gt;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9&quot;/&gt;&lt;/TableIndex&gt;&lt;/ShapeTextInfo&gt;"/>
  <p:tag name="HTML_SHAPEINFO" val="&lt;ThreeDShapeInfo&gt;&lt;uuid val=&quot;{CE8BF5BC-F4EA-49A8-B20E-192184EC4CD1}&quot;/&gt;&lt;isInvalidForFieldText val=&quot;0&quot;/&gt;&lt;Image&gt;&lt;filename val=&quot;C:\Users\Dell\AppData\Local\Temp\CP1156608419281Session\CPTrustFolder1156608419296\PPTImport1156618459906\data\asimages\{CE8BF5BC-F4EA-49A8-B20E-192184EC4CD1}_2.png&quot;/&gt;&lt;left val=&quot;48&quot;/&gt;&lt;top val=&quot;28&quot;/&gt;&lt;width val=&quot;865&quot;/&gt;&lt;height val=&quot;95&quot;/&gt;&lt;hasText val=&quot;1&quot;/&gt;&lt;/Image&gt;&lt;/ThreeDShapeInfo&gt;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3&quot;/&gt;&lt;/TableIndex&gt;&lt;/ShapeTextInfo&gt;"/>
  <p:tag name="HTML_SHAPEINFO" val="&lt;ThreeDShapeInfo&gt;&lt;uuid val=&quot;{4CC5A14A-093E-48DD-9FD9-136AB05F8418}&quot;/&gt;&lt;isInvalidForFieldText val=&quot;0&quot;/&gt;&lt;Image&gt;&lt;filename val=&quot;C:\Users\Dell\AppData\Local\Temp\CP1156608419281Session\CPTrustFolder1156608419296\PPTImport1156618459906\data\asimages\{4CC5A14A-093E-48DD-9FD9-136AB05F8418}_9.png&quot;/&gt;&lt;left val=&quot;48&quot;/&gt;&lt;top val=&quot;28&quot;/&gt;&lt;width val=&quot;865&quot;/&gt;&lt;height val=&quot;95&quot;/&gt;&lt;hasText val=&quot;1&quot;/&gt;&lt;/Image&gt;&lt;/ThreeDShapeInfo&gt;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3&quot;/&gt;&lt;/TableIndex&gt;&lt;/ShapeTextInfo&gt;"/>
  <p:tag name="HTML_SHAPEINFO" val="&lt;ThreeDShapeInfo&gt;&lt;uuid val=&quot;{4CC5A14A-093E-48DD-9FD9-136AB05F8418}&quot;/&gt;&lt;isInvalidForFieldText val=&quot;0&quot;/&gt;&lt;Image&gt;&lt;filename val=&quot;C:\Users\Dell\AppData\Local\Temp\CP1156608419281Session\CPTrustFolder1156608419296\PPTImport1156618459906\data\asimages\{4CC5A14A-093E-48DD-9FD9-136AB05F8418}_9.png&quot;/&gt;&lt;left val=&quot;48&quot;/&gt;&lt;top val=&quot;28&quot;/&gt;&lt;width val=&quot;865&quot;/&gt;&lt;height val=&quot;95&quot;/&gt;&lt;hasText val=&quot;1&quot;/&gt;&lt;/Image&gt;&lt;/ThreeDShapeInfo&gt;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3&quot;/&gt;&lt;/TableIndex&gt;&lt;/ShapeTextInfo&gt;"/>
  <p:tag name="HTML_SHAPEINFO" val="&lt;ThreeDShapeInfo&gt;&lt;uuid val=&quot;{4CC5A14A-093E-48DD-9FD9-136AB05F8418}&quot;/&gt;&lt;isInvalidForFieldText val=&quot;0&quot;/&gt;&lt;Image&gt;&lt;filename val=&quot;C:\Users\Dell\AppData\Local\Temp\CP1156608419281Session\CPTrustFolder1156608419296\PPTImport1156618459906\data\asimages\{4CC5A14A-093E-48DD-9FD9-136AB05F8418}_9.png&quot;/&gt;&lt;left val=&quot;48&quot;/&gt;&lt;top val=&quot;28&quot;/&gt;&lt;width val=&quot;865&quot;/&gt;&lt;height val=&quot;95&quot;/&gt;&lt;hasText val=&quot;1&quot;/&gt;&lt;/Image&gt;&lt;/ThreeDShapeInfo&gt;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3&quot;/&gt;&lt;/TableIndex&gt;&lt;/ShapeTextInfo&gt;"/>
  <p:tag name="HTML_SHAPEINFO" val="&lt;ThreeDShapeInfo&gt;&lt;uuid val=&quot;{4CC5A14A-093E-48DD-9FD9-136AB05F8418}&quot;/&gt;&lt;isInvalidForFieldText val=&quot;0&quot;/&gt;&lt;Image&gt;&lt;filename val=&quot;C:\Users\Dell\AppData\Local\Temp\CP1156608419281Session\CPTrustFolder1156608419296\PPTImport1156618459906\data\asimages\{4CC5A14A-093E-48DD-9FD9-136AB05F8418}_9.png&quot;/&gt;&lt;left val=&quot;48&quot;/&gt;&lt;top val=&quot;28&quot;/&gt;&lt;width val=&quot;865&quot;/&gt;&lt;height val=&quot;95&quot;/&gt;&lt;hasText val=&quot;1&quot;/&gt;&lt;/Image&gt;&lt;/ThreeDShapeInfo&gt;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3&quot;/&gt;&lt;/TableIndex&gt;&lt;/ShapeTextInfo&gt;"/>
  <p:tag name="HTML_SHAPEINFO" val="&lt;ThreeDShapeInfo&gt;&lt;uuid val=&quot;{4CC5A14A-093E-48DD-9FD9-136AB05F8418}&quot;/&gt;&lt;isInvalidForFieldText val=&quot;0&quot;/&gt;&lt;Image&gt;&lt;filename val=&quot;C:\Users\Dell\AppData\Local\Temp\CP1156608419281Session\CPTrustFolder1156608419296\PPTImport1156618459906\data\asimages\{4CC5A14A-093E-48DD-9FD9-136AB05F8418}_9.png&quot;/&gt;&lt;left val=&quot;48&quot;/&gt;&lt;top val=&quot;28&quot;/&gt;&lt;width val=&quot;865&quot;/&gt;&lt;height val=&quot;95&quot;/&gt;&lt;hasText val=&quot;1&quot;/&gt;&lt;/Image&gt;&lt;/ThreeDShapeInfo&gt;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3&quot;/&gt;&lt;/TableIndex&gt;&lt;/ShapeTextInfo&gt;"/>
  <p:tag name="HTML_SHAPEINFO" val="&lt;ThreeDShapeInfo&gt;&lt;uuid val=&quot;{4CC5A14A-093E-48DD-9FD9-136AB05F8418}&quot;/&gt;&lt;isInvalidForFieldText val=&quot;0&quot;/&gt;&lt;Image&gt;&lt;filename val=&quot;C:\Users\Dell\AppData\Local\Temp\CP1156608419281Session\CPTrustFolder1156608419296\PPTImport1156618459906\data\asimages\{4CC5A14A-093E-48DD-9FD9-136AB05F8418}_9.png&quot;/&gt;&lt;left val=&quot;48&quot;/&gt;&lt;top val=&quot;28&quot;/&gt;&lt;width val=&quot;865&quot;/&gt;&lt;height val=&quot;95&quot;/&gt;&lt;hasText val=&quot;1&quot;/&gt;&lt;/Image&gt;&lt;/ThreeDShapeInfo&gt;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3&quot;/&gt;&lt;/TableIndex&gt;&lt;/ShapeTextInfo&gt;"/>
  <p:tag name="HTML_SHAPEINFO" val="&lt;ThreeDShapeInfo&gt;&lt;uuid val=&quot;{4CC5A14A-093E-48DD-9FD9-136AB05F8418}&quot;/&gt;&lt;isInvalidForFieldText val=&quot;0&quot;/&gt;&lt;Image&gt;&lt;filename val=&quot;C:\Users\Dell\AppData\Local\Temp\CP1156608419281Session\CPTrustFolder1156608419296\PPTImport1156618459906\data\asimages\{4CC5A14A-093E-48DD-9FD9-136AB05F8418}_9.png&quot;/&gt;&lt;left val=&quot;48&quot;/&gt;&lt;top val=&quot;28&quot;/&gt;&lt;width val=&quot;865&quot;/&gt;&lt;height val=&quot;95&quot;/&gt;&lt;hasText val=&quot;1&quot;/&gt;&lt;/Image&gt;&lt;/ThreeDShapeInfo&gt;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3&quot;/&gt;&lt;/TableIndex&gt;&lt;/ShapeTextInfo&gt;"/>
  <p:tag name="HTML_SHAPEINFO" val="&lt;ThreeDShapeInfo&gt;&lt;uuid val=&quot;{4CC5A14A-093E-48DD-9FD9-136AB05F8418}&quot;/&gt;&lt;isInvalidForFieldText val=&quot;0&quot;/&gt;&lt;Image&gt;&lt;filename val=&quot;C:\Users\Dell\AppData\Local\Temp\CP1156608419281Session\CPTrustFolder1156608419296\PPTImport1156618459906\data\asimages\{4CC5A14A-093E-48DD-9FD9-136AB05F8418}_9.png&quot;/&gt;&lt;left val=&quot;48&quot;/&gt;&lt;top val=&quot;28&quot;/&gt;&lt;width val=&quot;865&quot;/&gt;&lt;height val=&quot;95&quot;/&gt;&lt;hasText val=&quot;1&quot;/&gt;&lt;/Image&gt;&lt;/ThreeDShapeInfo&gt;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3&quot;/&gt;&lt;/TableIndex&gt;&lt;/ShapeTextInfo&gt;"/>
  <p:tag name="HTML_SHAPEINFO" val="&lt;ThreeDShapeInfo&gt;&lt;uuid val=&quot;{4CC5A14A-093E-48DD-9FD9-136AB05F8418}&quot;/&gt;&lt;isInvalidForFieldText val=&quot;0&quot;/&gt;&lt;Image&gt;&lt;filename val=&quot;C:\Users\Dell\AppData\Local\Temp\CP1156608419281Session\CPTrustFolder1156608419296\PPTImport1156618459906\data\asimages\{4CC5A14A-093E-48DD-9FD9-136AB05F8418}_9.png&quot;/&gt;&lt;left val=&quot;48&quot;/&gt;&lt;top val=&quot;28&quot;/&gt;&lt;width val=&quot;865&quot;/&gt;&lt;height val=&quot;95&quot;/&gt;&lt;hasText val=&quot;1&quot;/&gt;&lt;/Image&gt;&lt;/ThreeDShapeInfo&gt;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3&quot;/&gt;&lt;/TableIndex&gt;&lt;/ShapeTextInfo&gt;"/>
  <p:tag name="HTML_SHAPEINFO" val="&lt;ThreeDShapeInfo&gt;&lt;uuid val=&quot;{4CC5A14A-093E-48DD-9FD9-136AB05F8418}&quot;/&gt;&lt;isInvalidForFieldText val=&quot;0&quot;/&gt;&lt;Image&gt;&lt;filename val=&quot;C:\Users\Dell\AppData\Local\Temp\CP1156608419281Session\CPTrustFolder1156608419296\PPTImport1156618459906\data\asimages\{4CC5A14A-093E-48DD-9FD9-136AB05F8418}_9.png&quot;/&gt;&lt;left val=&quot;48&quot;/&gt;&lt;top val=&quot;28&quot;/&gt;&lt;width val=&quot;865&quot;/&gt;&lt;height val=&quot;95&quot;/&gt;&lt;hasText val=&quot;1&quot;/&gt;&lt;/Image&gt;&lt;/ThreeDShapeInfo&gt;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3&quot;/&gt;&lt;/TableIndex&gt;&lt;/ShapeTextInfo&gt;"/>
  <p:tag name="HTML_SHAPEINFO" val="&lt;ThreeDShapeInfo&gt;&lt;uuid val=&quot;{4CC5A14A-093E-48DD-9FD9-136AB05F8418}&quot;/&gt;&lt;isInvalidForFieldText val=&quot;0&quot;/&gt;&lt;Image&gt;&lt;filename val=&quot;C:\Users\Dell\AppData\Local\Temp\CP1156608419281Session\CPTrustFolder1156608419296\PPTImport1156618459906\data\asimages\{4CC5A14A-093E-48DD-9FD9-136AB05F8418}_9.png&quot;/&gt;&lt;left val=&quot;48&quot;/&gt;&lt;top val=&quot;28&quot;/&gt;&lt;width val=&quot;865&quot;/&gt;&lt;height val=&quot;95&quot;/&gt;&lt;hasText val=&quot;1&quot;/&gt;&lt;/Image&gt;&lt;/ThreeDShapeInfo&gt;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3&quot;/&gt;&lt;/TableIndex&gt;&lt;/ShapeTextInfo&gt;"/>
  <p:tag name="HTML_SHAPEINFO" val="&lt;ThreeDShapeInfo&gt;&lt;uuid val=&quot;{4CC5A14A-093E-48DD-9FD9-136AB05F8418}&quot;/&gt;&lt;isInvalidForFieldText val=&quot;0&quot;/&gt;&lt;Image&gt;&lt;filename val=&quot;C:\Users\Dell\AppData\Local\Temp\CP1156608419281Session\CPTrustFolder1156608419296\PPTImport1156618459906\data\asimages\{4CC5A14A-093E-48DD-9FD9-136AB05F8418}_9.png&quot;/&gt;&lt;left val=&quot;48&quot;/&gt;&lt;top val=&quot;28&quot;/&gt;&lt;width val=&quot;865&quot;/&gt;&lt;height val=&quot;95&quot;/&gt;&lt;hasText val=&quot;1&quot;/&gt;&lt;/Image&gt;&lt;/ThreeDShapeInfo&gt;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9&quot;/&gt;&lt;/TableIndex&gt;&lt;/ShapeTextInfo&gt;"/>
  <p:tag name="HTML_SHAPEINFO" val="&lt;ThreeDShapeInfo&gt;&lt;uuid val=&quot;{CE8BF5BC-F4EA-49A8-B20E-192184EC4CD1}&quot;/&gt;&lt;isInvalidForFieldText val=&quot;0&quot;/&gt;&lt;Image&gt;&lt;filename val=&quot;C:\Users\Dell\AppData\Local\Temp\CP1156608419281Session\CPTrustFolder1156608419296\PPTImport1156618459906\data\asimages\{CE8BF5BC-F4EA-49A8-B20E-192184EC4CD1}_2.png&quot;/&gt;&lt;left val=&quot;48&quot;/&gt;&lt;top val=&quot;28&quot;/&gt;&lt;width val=&quot;865&quot;/&gt;&lt;height val=&quot;95&quot;/&gt;&lt;hasText val=&quot;1&quot;/&gt;&lt;/Image&gt;&lt;/ThreeDShapeInfo&gt;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9&quot;/&gt;&lt;/TableIndex&gt;&lt;/ShapeTextInfo&gt;"/>
  <p:tag name="HTML_SHAPEINFO" val="&lt;ThreeDShapeInfo&gt;&lt;uuid val=&quot;{CE8BF5BC-F4EA-49A8-B20E-192184EC4CD1}&quot;/&gt;&lt;isInvalidForFieldText val=&quot;0&quot;/&gt;&lt;Image&gt;&lt;filename val=&quot;C:\Users\Dell\AppData\Local\Temp\CP1156608419281Session\CPTrustFolder1156608419296\PPTImport1156618459906\data\asimages\{CE8BF5BC-F4EA-49A8-B20E-192184EC4CD1}_2.png&quot;/&gt;&lt;left val=&quot;48&quot;/&gt;&lt;top val=&quot;28&quot;/&gt;&lt;width val=&quot;865&quot;/&gt;&lt;height val=&quot;95&quot;/&gt;&lt;hasText val=&quot;1&quot;/&gt;&lt;/Image&gt;&lt;/ThreeDShapeInfo&gt;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9&quot;/&gt;&lt;/TableIndex&gt;&lt;/ShapeTextInfo&gt;"/>
  <p:tag name="HTML_SHAPEINFO" val="&lt;ThreeDShapeInfo&gt;&lt;uuid val=&quot;{AF256F6E-F61A-4E81-96C6-6AED7C8BA2A6}&quot;/&gt;&lt;isInvalidForFieldText val=&quot;0&quot;/&gt;&lt;Image&gt;&lt;filename val=&quot;C:\Users\Dell\AppData\Local\Temp\CP224071325968Session\CPTrustFolder224071325968\PPTImport224078783031\data\asimages\{AF256F6E-F61A-4E81-96C6-6AED7C8BA2A6}_2.png&quot;/&gt;&lt;left val=&quot;48&quot;/&gt;&lt;top val=&quot;28&quot;/&gt;&lt;width val=&quot;865&quot;/&gt;&lt;height val=&quot;95&quot;/&gt;&lt;hasText val=&quot;1&quot;/&gt;&lt;/Image&gt;&lt;/ThreeDShapeInfo&gt;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DUMMYTAG" val="&lt;DummyForForceWrite&gt;&lt;/DummyForForceWrite&gt;"/>
  <p:tag name="PRESENTER_SHAPETEXTINFO" val="&lt;ShapeTextInfo&gt;&lt;TableIndex row=&quot;-1&quot; col=&quot;-1&quot;&gt;&lt;linesCount val=&quot;1&quot;/&gt;&lt;lineCharCount val=&quot;10&quot;/&gt;&lt;/TableIndex&gt;&lt;/ShapeTextInfo&gt;"/>
  <p:tag name="HTML_SHAPEINFO" val="&lt;ThreeDShapeInfo&gt;&lt;uuid val=&quot;{6DB62BF1-FE9A-4A5E-B50F-B5018FD65EB7}&quot;/&gt;&lt;isInvalidForFieldText val=&quot;0&quot;/&gt;&lt;Image&gt;&lt;filename val=&quot;C:\Users\Dell\AppData\Local\Temp\CP1156608419281Session\CPTrustFolder1156608419296\PPTImport1156618459906\data\asimages\{6DB62BF1-FE9A-4A5E-B50F-B5018FD65EB7}_23.png&quot;/&gt;&lt;left val=&quot;72&quot;/&gt;&lt;top val=&quot;224&quot;/&gt;&lt;width val=&quot;817&quot;/&gt;&lt;height val=&quot;155&quot;/&gt;&lt;hasText val=&quot;1&quot;/&gt;&lt;/Image&gt;&lt;/ThreeDShapeInfo&gt;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DUMMYTAG" val="&lt;DummyForForceWrite&gt;&lt;/DummyForForceWrite&gt;"/>
  <p:tag name="PRESENTER_SHAPETEXTINFO" val="&lt;ShapeTextInfo&gt;&lt;TableIndex row=&quot;-1&quot; col=&quot;-1&quot;&gt;&lt;linesCount val=&quot;0&quot;/&gt;&lt;/TableIndex&gt;&lt;/ShapeTextInfo&gt;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DUMMYTAG" val="&lt;DummyForForceWrite&gt;&lt;/DummyForForceWrite&gt;"/>
  <p:tag name="PRESENTER_SHAPETEXTINFO" val="&lt;ShapeTextInfo&gt;&lt;TableIndex row=&quot;-1&quot; col=&quot;-1&quot;&gt;&lt;linesCount val=&quot;0&quot;/&gt;&lt;/TableIndex&gt;&lt;/ShapeTextInfo&gt;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DUMMYTAG" val="&lt;DummyForForceWrite&gt;&lt;/DummyForForceWrite&gt;"/>
  <p:tag name="PRESENTER_SHAPETEXTINFO" val="&lt;ShapeTextInfo&gt;&lt;TableIndex row=&quot;-1&quot; col=&quot;-1&quot;&gt;&lt;linesCount val=&quot;0&quot;/&gt;&lt;/TableIndex&gt;&lt;/ShapeTextInfo&gt;"/>
</p:tagLst>
</file>

<file path=ppt/theme/theme1.xml><?xml version="1.0" encoding="utf-8"?>
<a:theme xmlns:a="http://schemas.openxmlformats.org/drawingml/2006/main" name="Diseño predeterminado">
  <a:themeElements>
    <a:clrScheme name="AA">
      <a:dk1>
        <a:sysClr val="windowText" lastClr="000000"/>
      </a:dk1>
      <a:lt1>
        <a:sysClr val="window" lastClr="FFFFFF"/>
      </a:lt1>
      <a:dk2>
        <a:srgbClr val="E7DEC9"/>
      </a:dk2>
      <a:lt2>
        <a:srgbClr val="4F271C"/>
      </a:lt2>
      <a:accent1>
        <a:srgbClr val="3891A7"/>
      </a:accent1>
      <a:accent2>
        <a:srgbClr val="FEB80A"/>
      </a:accent2>
      <a:accent3>
        <a:srgbClr val="C32D2E"/>
      </a:accent3>
      <a:accent4>
        <a:srgbClr val="8DC765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Custom 2">
      <a:majorFont>
        <a:latin typeface="Ebrima"/>
        <a:ea typeface=""/>
        <a:cs typeface="Arial"/>
      </a:majorFont>
      <a:minorFont>
        <a:latin typeface="Ebrima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iseño predeterminad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1">
      <a:majorFont>
        <a:latin typeface="Ebrima"/>
        <a:ea typeface=""/>
        <a:cs typeface="Arial"/>
      </a:majorFont>
      <a:minorFont>
        <a:latin typeface="Ebrima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AA">
      <a:dk1>
        <a:sysClr val="windowText" lastClr="000000"/>
      </a:dk1>
      <a:lt1>
        <a:sysClr val="window" lastClr="FFFFFF"/>
      </a:lt1>
      <a:dk2>
        <a:srgbClr val="663300"/>
      </a:dk2>
      <a:lt2>
        <a:srgbClr val="EEECE1"/>
      </a:lt2>
      <a:accent1>
        <a:srgbClr val="3891A7"/>
      </a:accent1>
      <a:accent2>
        <a:srgbClr val="FEB80A"/>
      </a:accent2>
      <a:accent3>
        <a:srgbClr val="C32D2E"/>
      </a:accent3>
      <a:accent4>
        <a:srgbClr val="92D050"/>
      </a:accent4>
      <a:accent5>
        <a:srgbClr val="663300"/>
      </a:accent5>
      <a:accent6>
        <a:srgbClr val="475A8D"/>
      </a:accent6>
      <a:hlink>
        <a:srgbClr val="0000FF"/>
      </a:hlink>
      <a:folHlink>
        <a:srgbClr val="800080"/>
      </a:folHlink>
    </a:clrScheme>
    <a:fontScheme name="AA Trial 1">
      <a:majorFont>
        <a:latin typeface="Ebrima"/>
        <a:ea typeface=""/>
        <a:cs typeface="Arial"/>
      </a:majorFont>
      <a:minorFont>
        <a:latin typeface="Ebrima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1_Diseño predeterminado">
  <a:themeElements>
    <a:clrScheme name="AA">
      <a:dk1>
        <a:sysClr val="windowText" lastClr="000000"/>
      </a:dk1>
      <a:lt1>
        <a:sysClr val="window" lastClr="FFFFFF"/>
      </a:lt1>
      <a:dk2>
        <a:srgbClr val="663300"/>
      </a:dk2>
      <a:lt2>
        <a:srgbClr val="EEECE1"/>
      </a:lt2>
      <a:accent1>
        <a:srgbClr val="3891A7"/>
      </a:accent1>
      <a:accent2>
        <a:srgbClr val="FEB80A"/>
      </a:accent2>
      <a:accent3>
        <a:srgbClr val="C32D2E"/>
      </a:accent3>
      <a:accent4>
        <a:srgbClr val="92D050"/>
      </a:accent4>
      <a:accent5>
        <a:srgbClr val="663300"/>
      </a:accent5>
      <a:accent6>
        <a:srgbClr val="475A8D"/>
      </a:accent6>
      <a:hlink>
        <a:srgbClr val="0000FF"/>
      </a:hlink>
      <a:folHlink>
        <a:srgbClr val="800080"/>
      </a:folHlink>
    </a:clrScheme>
    <a:fontScheme name="AA Trial 1">
      <a:majorFont>
        <a:latin typeface="Ebrima"/>
        <a:ea typeface=""/>
        <a:cs typeface="Arial"/>
      </a:majorFont>
      <a:minorFont>
        <a:latin typeface="Ebrima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iseño predeterminad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18106</TotalTime>
  <Words>2202</Words>
  <Application>Microsoft Office PowerPoint</Application>
  <PresentationFormat>On-screen Show (4:3)</PresentationFormat>
  <Paragraphs>317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24</vt:i4>
      </vt:variant>
    </vt:vector>
  </HeadingPairs>
  <TitlesOfParts>
    <vt:vector size="36" baseType="lpstr">
      <vt:lpstr>Arial</vt:lpstr>
      <vt:lpstr>Calibri</vt:lpstr>
      <vt:lpstr>Cambria Math</vt:lpstr>
      <vt:lpstr>Consolas</vt:lpstr>
      <vt:lpstr>Ebrima</vt:lpstr>
      <vt:lpstr>Eras Demi ITC</vt:lpstr>
      <vt:lpstr>Vijaya</vt:lpstr>
      <vt:lpstr>Wingdings</vt:lpstr>
      <vt:lpstr>Diseño predeterminado</vt:lpstr>
      <vt:lpstr>Custom Design</vt:lpstr>
      <vt:lpstr>Office Theme</vt:lpstr>
      <vt:lpstr>1_Diseño predeterminado</vt:lpstr>
      <vt:lpstr>Weight of Evidence(WOE) Information Value(IV)</vt:lpstr>
      <vt:lpstr>PowerPoint Presentation</vt:lpstr>
      <vt:lpstr>Handling Categorical Variables In Statistical Models</vt:lpstr>
      <vt:lpstr>Weight of Evidence (WoE)</vt:lpstr>
      <vt:lpstr>PowerPoint Presentation</vt:lpstr>
      <vt:lpstr>Information Value (IV)</vt:lpstr>
      <vt:lpstr>Information Value (IV)</vt:lpstr>
      <vt:lpstr>Case Study – Predicting Loan Defaulters</vt:lpstr>
      <vt:lpstr>Data Snapshot</vt:lpstr>
      <vt:lpstr>WoE and IV in Python</vt:lpstr>
      <vt:lpstr>WoE and IV in Python</vt:lpstr>
      <vt:lpstr>WoE and IV in Python</vt:lpstr>
      <vt:lpstr>WoE and IV in Python</vt:lpstr>
      <vt:lpstr>WoE and IV in Python</vt:lpstr>
      <vt:lpstr>WoE and IV in Python </vt:lpstr>
      <vt:lpstr>Appending WoE Values to Original Data</vt:lpstr>
      <vt:lpstr>Binary Logistic Model </vt:lpstr>
      <vt:lpstr>Binary Logistic Model</vt:lpstr>
      <vt:lpstr>Binary Logistic Model</vt:lpstr>
      <vt:lpstr>WoE of Character Variable</vt:lpstr>
      <vt:lpstr>PowerPoint Presentation</vt:lpstr>
      <vt:lpstr>PowerPoint Presentation</vt:lpstr>
      <vt:lpstr>Quick Recap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is Python?</dc:title>
  <dc:creator>Monica</dc:creator>
  <cp:lastModifiedBy>Fimran Sanghvi</cp:lastModifiedBy>
  <cp:revision>1792</cp:revision>
  <dcterms:created xsi:type="dcterms:W3CDTF">2016-11-11T04:53:52Z</dcterms:created>
  <dcterms:modified xsi:type="dcterms:W3CDTF">2025-09-23T04:59:04Z</dcterms:modified>
</cp:coreProperties>
</file>