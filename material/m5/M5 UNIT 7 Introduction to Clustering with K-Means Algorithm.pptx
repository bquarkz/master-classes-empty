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4" r:id="rId2"/>
    <p:sldId id="275" r:id="rId3"/>
    <p:sldId id="292" r:id="rId4"/>
    <p:sldId id="300" r:id="rId5"/>
    <p:sldId id="315" r:id="rId6"/>
    <p:sldId id="266" r:id="rId7"/>
    <p:sldId id="316" r:id="rId8"/>
    <p:sldId id="317" r:id="rId9"/>
    <p:sldId id="304" r:id="rId10"/>
    <p:sldId id="318" r:id="rId11"/>
    <p:sldId id="303" r:id="rId12"/>
    <p:sldId id="319" r:id="rId13"/>
    <p:sldId id="320" r:id="rId14"/>
    <p:sldId id="321" r:id="rId15"/>
    <p:sldId id="323" r:id="rId16"/>
    <p:sldId id="324" r:id="rId17"/>
    <p:sldId id="325" r:id="rId18"/>
    <p:sldId id="326" r:id="rId19"/>
    <p:sldId id="327" r:id="rId20"/>
    <p:sldId id="314" r:id="rId2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2891" autoAdjust="0"/>
  </p:normalViewPr>
  <p:slideViewPr>
    <p:cSldViewPr>
      <p:cViewPr>
        <p:scale>
          <a:sx n="50" d="100"/>
          <a:sy n="50" d="100"/>
        </p:scale>
        <p:origin x="1092" y="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698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002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6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28-01-2026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28-01-2026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28-01-2026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28-01-2026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43468" y="1524000"/>
            <a:ext cx="807416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4100" b="1" dirty="0">
                <a:latin typeface="PT Serif" panose="020A0603040505020204" pitchFamily="18" charset="0"/>
              </a:rPr>
              <a:t>Introduction to Clustering with K-Means Algorithm</a:t>
            </a:r>
            <a:endParaRPr lang="en-IN" sz="4100" b="1" dirty="0"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43468" y="4064457"/>
            <a:ext cx="807416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Understanding and implementing K-Means clustering algorithms for data segmentation and pattern recognition in large datasets.</a:t>
            </a:r>
            <a:endParaRPr lang="en-US" sz="2000" dirty="0">
              <a:latin typeface="PT Serif" panose="020A0603040505020204" pitchFamily="18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65EA76A-3AB6-FE4D-BE64-537F0B55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</a:rPr>
              <a:t>What is Cluster Analysis?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64306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K-Means Clustering-Overview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983831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 Means Algorithm 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953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53080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548235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 Means Method-Computation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996348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Distance Measures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DFA16B1-6A6D-E449-B2C3-5B3B26C2C568}"/>
              </a:ext>
            </a:extLst>
          </p:cNvPr>
          <p:cNvSpPr/>
          <p:nvPr/>
        </p:nvSpPr>
        <p:spPr>
          <a:xfrm>
            <a:off x="7428547" y="52928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399EC45-7608-BF4F-96F3-D57F5F5EACFF}"/>
              </a:ext>
            </a:extLst>
          </p:cNvPr>
          <p:cNvSpPr/>
          <p:nvPr/>
        </p:nvSpPr>
        <p:spPr>
          <a:xfrm>
            <a:off x="7428547" y="553773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Evaluation Metrics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F7B4E8E-7E63-124E-A4D0-9C605AEF0532}"/>
              </a:ext>
            </a:extLst>
          </p:cNvPr>
          <p:cNvSpPr/>
          <p:nvPr/>
        </p:nvSpPr>
        <p:spPr>
          <a:xfrm>
            <a:off x="7428548" y="49660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25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Cluster Analysis?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818072" y="1176785"/>
            <a:ext cx="7487728" cy="6280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Cluster analysis represents a class of statistical techniques designed to classify objects or cases into relatively homogeneous groups called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clusters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 This unsupervised learning method organizes data without predefined labels.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Key characteristics of clusters include: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 internal similarity among observations within the same cluster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Clear dissimilarity from objects in other clusters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Natural groupings that emerge from the data structure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 prior knowledge of group membership required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C39B18D-DEE9-0CA2-155A-342664E3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2576641"/>
            <a:ext cx="6126868" cy="307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4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482" y="83071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K-Means Clustering Overview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1867206"/>
            <a:ext cx="4164095" cy="326599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2119588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Large Dataset Capability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Particularly suitable for analyzing large datasets in BFSI and retail domains for customer segmentation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1918788"/>
            <a:ext cx="3818573" cy="321884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396470" y="1958742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Predefined K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Requires knowing the number of clusters (k) in advance, though solutions can be evaluated across different k values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1871643"/>
            <a:ext cx="3976821" cy="326599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119588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Popular Method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One of the most widely used non-hierarchical clustering approaches in data science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14DF559-2BDA-E0F3-0E1D-9D8211E0EE08}"/>
              </a:ext>
            </a:extLst>
          </p:cNvPr>
          <p:cNvSpPr/>
          <p:nvPr/>
        </p:nvSpPr>
        <p:spPr>
          <a:xfrm>
            <a:off x="751482" y="593100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K-Means clustering works by partitioning n observations into k clusters, where each observation belongs to the cluster with the nearest mean. The algorithm iteratively refines cluster assignments until convergence is achieved.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00BC-8DD2-3217-0BBF-ADA14E55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4572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K-Means Implementation Steps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C7CD4-7060-39F3-BEA0-D27818FA4DCE}"/>
              </a:ext>
            </a:extLst>
          </p:cNvPr>
          <p:cNvSpPr txBox="1"/>
          <p:nvPr/>
        </p:nvSpPr>
        <p:spPr>
          <a:xfrm>
            <a:off x="2895600" y="1279790"/>
            <a:ext cx="7315200" cy="697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Define K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Determine the optimal number of clusters for your dataset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Choose Distance Measure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Select appropriate similarity metric (Euclidean, Manhattan, etc.)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Select Initial Seeds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Establish starting centroids for each cluster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Execute Algorithm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Assign observations and update centroids iteratively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Evaluate Output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Assess cluster quality using R-squared and contribution metrics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08ACDEF4-9BAE-CDFC-47E9-24BA9DD90954}"/>
              </a:ext>
            </a:extLst>
          </p:cNvPr>
          <p:cNvSpPr/>
          <p:nvPr/>
        </p:nvSpPr>
        <p:spPr>
          <a:xfrm>
            <a:off x="1450731" y="1524000"/>
            <a:ext cx="990600" cy="5867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09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object 13">
            <a:extLst>
              <a:ext uri="{FF2B5EF4-FFF2-40B4-BE49-F238E27FC236}">
                <a16:creationId xmlns:a16="http://schemas.microsoft.com/office/drawing/2014/main" id="{3A7BD985-4F33-92C4-8CA6-B96C8FF5B89E}"/>
              </a:ext>
            </a:extLst>
          </p:cNvPr>
          <p:cNvGrpSpPr/>
          <p:nvPr/>
        </p:nvGrpSpPr>
        <p:grpSpPr>
          <a:xfrm>
            <a:off x="7540262" y="2685916"/>
            <a:ext cx="5530189" cy="3919173"/>
            <a:chOff x="793788" y="4631308"/>
            <a:chExt cx="6437630" cy="297434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EF009A0C-E269-9B9B-724D-1EA47701A74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854AAF6B-CF3B-8A7E-D12F-750BEE487628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1BCED2E-FE8E-F08D-11A2-6AA41947F461}"/>
              </a:ext>
            </a:extLst>
          </p:cNvPr>
          <p:cNvGrpSpPr/>
          <p:nvPr/>
        </p:nvGrpSpPr>
        <p:grpSpPr>
          <a:xfrm>
            <a:off x="1295400" y="2667000"/>
            <a:ext cx="5530189" cy="3938089"/>
            <a:chOff x="793788" y="4631308"/>
            <a:chExt cx="6437630" cy="2974340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480FE160-EE77-03F2-9C11-9E87BC4678C6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985591CC-C239-2601-DAF4-E4354156F49D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4345" y="132839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Distance Measures: Foundations of Similarity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40733" y="2895600"/>
            <a:ext cx="46502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Manhattan Distance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Sum of absolute differences across all variables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d(x,y) = |a₁-b₁| + |a₂-b₂| + ... + |aₚ-bₚ|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Useful when dealing with grid-like path structures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20599" y="2895600"/>
            <a:ext cx="4780222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Chebyshev Distance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Maximum absolute difference across variables: 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d(x,y) = Max(|aᵢ-bᵢ|)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Focuses on the dimension with greatest difference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43F1EE-D911-93FE-0ECE-2F302D7CE145}"/>
              </a:ext>
            </a:extLst>
          </p:cNvPr>
          <p:cNvSpPr txBox="1"/>
          <p:nvPr/>
        </p:nvSpPr>
        <p:spPr>
          <a:xfrm>
            <a:off x="974345" y="1588992"/>
            <a:ext cx="11958046" cy="71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Clustering algorithms rely on mathematical measures to assess the similarity between pairs of observations or clusters. The choice of distance measure significantly impacts the final cluster solution.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9995-F55D-2A0D-6911-39B8F85B2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Euclidean Distance: The Standard Metric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1C4DF-EF22-3A24-51E5-81E52A39F3A8}"/>
              </a:ext>
            </a:extLst>
          </p:cNvPr>
          <p:cNvSpPr txBox="1"/>
          <p:nvPr/>
        </p:nvSpPr>
        <p:spPr>
          <a:xfrm>
            <a:off x="648534" y="2126624"/>
            <a:ext cx="7315200" cy="309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Squared Euclidean Distance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sum of squared differences between values of each variable. Taking the square root yields the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Euclidean Distance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97FBDB1-EE9B-B92E-F637-6795DECAE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716728"/>
              </p:ext>
            </p:extLst>
          </p:nvPr>
        </p:nvGraphicFramePr>
        <p:xfrm>
          <a:off x="7132827" y="2096897"/>
          <a:ext cx="7010400" cy="142239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226175260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021879435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118092986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06966921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1941261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650410468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XP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353236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a</a:t>
                      </a:r>
                      <a:r>
                        <a:rPr lang="en-IN" sz="2000" baseline="-25000" dirty="0">
                          <a:latin typeface="PT Serif" panose="020A0603040505020204" pitchFamily="18" charset="0"/>
                        </a:rPr>
                        <a:t>1</a:t>
                      </a: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a</a:t>
                      </a:r>
                      <a:r>
                        <a:rPr lang="en-IN" sz="2000" baseline="-25000" dirty="0">
                          <a:latin typeface="PT Serif" panose="020A0603040505020204" pitchFamily="18" charset="0"/>
                        </a:rPr>
                        <a:t>2</a:t>
                      </a: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latin typeface="PT Serif" panose="020A0603040505020204" pitchFamily="18" charset="0"/>
                        </a:rPr>
                        <a:t>a</a:t>
                      </a:r>
                      <a:r>
                        <a:rPr lang="en-IN" sz="2000" baseline="-25000" dirty="0" err="1">
                          <a:latin typeface="PT Serif" panose="020A0603040505020204" pitchFamily="18" charset="0"/>
                        </a:rPr>
                        <a:t>p</a:t>
                      </a: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62624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b</a:t>
                      </a:r>
                      <a:r>
                        <a:rPr lang="en-IN" sz="2000" baseline="-25000" dirty="0">
                          <a:latin typeface="PT Serif" panose="020A0603040505020204" pitchFamily="18" charset="0"/>
                        </a:rPr>
                        <a:t>1</a:t>
                      </a: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T Serif" panose="020A0603040505020204" pitchFamily="18" charset="0"/>
                        </a:rPr>
                        <a:t>b</a:t>
                      </a:r>
                      <a:r>
                        <a:rPr lang="en-IN" sz="2000" baseline="-25000" dirty="0">
                          <a:latin typeface="PT Serif" panose="020A0603040505020204" pitchFamily="18" charset="0"/>
                        </a:rPr>
                        <a:t>2</a:t>
                      </a: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latin typeface="PT Serif" panose="020A0603040505020204" pitchFamily="18" charset="0"/>
                        </a:rPr>
                        <a:t>b</a:t>
                      </a:r>
                      <a:r>
                        <a:rPr lang="en-IN" sz="2000" baseline="-25000" dirty="0" err="1">
                          <a:latin typeface="PT Serif" panose="020A0603040505020204" pitchFamily="18" charset="0"/>
                        </a:rPr>
                        <a:t>p</a:t>
                      </a: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221705"/>
                  </a:ext>
                </a:extLst>
              </a:tr>
            </a:tbl>
          </a:graphicData>
        </a:graphic>
      </p:graphicFrame>
      <p:sp>
        <p:nvSpPr>
          <p:cNvPr id="6" name="Shape 4">
            <a:extLst>
              <a:ext uri="{FF2B5EF4-FFF2-40B4-BE49-F238E27FC236}">
                <a16:creationId xmlns:a16="http://schemas.microsoft.com/office/drawing/2014/main" id="{ABA2351E-BAA3-5BC8-CFBE-B0DE540E0531}"/>
              </a:ext>
            </a:extLst>
          </p:cNvPr>
          <p:cNvSpPr/>
          <p:nvPr/>
        </p:nvSpPr>
        <p:spPr>
          <a:xfrm>
            <a:off x="7564874" y="4333160"/>
            <a:ext cx="6279356" cy="1762839"/>
          </a:xfrm>
          <a:prstGeom prst="roundRect">
            <a:avLst>
              <a:gd name="adj" fmla="val 2014"/>
            </a:avLst>
          </a:prstGeom>
          <a:solidFill>
            <a:srgbClr val="FFCDB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6B74E6-2543-BBFA-4C79-885D7BF24A1F}"/>
              </a:ext>
            </a:extLst>
          </p:cNvPr>
          <p:cNvSpPr/>
          <p:nvPr/>
        </p:nvSpPr>
        <p:spPr>
          <a:xfrm>
            <a:off x="8209598" y="4581049"/>
            <a:ext cx="5436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Euclidean distance is the most widely used distance measure in cluster analysis due to its intuitive geometric interpretation.</a:t>
            </a: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CB1AFAAA-34B1-2A81-16AB-9C15EF826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670" y="3148546"/>
            <a:ext cx="6279356" cy="34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5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E25E-53AD-E4C8-002D-7050D231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628099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K-Means Algorithm Flowchart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3CEC5-2BB6-5B63-EAC6-186ED6CF64D3}"/>
              </a:ext>
            </a:extLst>
          </p:cNvPr>
          <p:cNvSpPr txBox="1"/>
          <p:nvPr/>
        </p:nvSpPr>
        <p:spPr>
          <a:xfrm>
            <a:off x="487172" y="1813039"/>
            <a:ext cx="5333336" cy="2786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algorithm iteratively assigns observations to the nearest cluster centroid, then recalculates centroids based on current assignments. This process continues until cluster membership stabilizes.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F3788EB-8924-17E5-9524-2B7394A4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838200"/>
            <a:ext cx="9369292" cy="677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619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1376954" y="1886646"/>
            <a:ext cx="5530189" cy="2819400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1439169" y="5068075"/>
            <a:ext cx="5530189" cy="2800483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61042" y="5090630"/>
            <a:ext cx="5530189" cy="2800484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1905562"/>
            <a:ext cx="5530189" cy="2800484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4345" y="-81460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Choosing Initial Seeds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544378" y="2039046"/>
            <a:ext cx="5161221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K-Random Observations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000000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Randomly select k observations from the dataset as initial centroids. Simple but may yield variable results across runs.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000000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000000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Last K Observations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Similar to first k, but uses the final k observations in the dataset.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24803" y="1986251"/>
            <a:ext cx="491027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First K Observations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00000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 the first k observations in the dataset. Quick but potentially biased if data has inherent ordering.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00000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00000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Partition-Based Initialization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Randomly partition data into k groups, then calculate the mean or median of each partition as initial seeds. Often produces more stable results.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43F1EE-D911-93FE-0ECE-2F302D7CE145}"/>
              </a:ext>
            </a:extLst>
          </p:cNvPr>
          <p:cNvSpPr txBox="1"/>
          <p:nvPr/>
        </p:nvSpPr>
        <p:spPr>
          <a:xfrm>
            <a:off x="928120" y="992377"/>
            <a:ext cx="11958046" cy="71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selection of initial cluster centroids (seeds) can influence the final clustering solution. Several methods exist for determining starting points: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21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FC3B-72CC-3265-B1F6-3D3EC486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Case Study: Town Insurance Data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CD6C4-BF9D-BC2B-7BAB-A869026D7D46}"/>
              </a:ext>
            </a:extLst>
          </p:cNvPr>
          <p:cNvSpPr txBox="1"/>
          <p:nvPr/>
        </p:nvSpPr>
        <p:spPr>
          <a:xfrm>
            <a:off x="487172" y="1308015"/>
            <a:ext cx="7315200" cy="2402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Dataset Overview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020202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We'll demonstrate K-Means clustering using insurance data from eight towns, with three key variables measuring insurance metrics.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AACC71F-C325-00A0-9A53-55AE7B398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003816"/>
              </p:ext>
            </p:extLst>
          </p:nvPr>
        </p:nvGraphicFramePr>
        <p:xfrm>
          <a:off x="1676400" y="3810000"/>
          <a:ext cx="5638800" cy="3337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220722664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1255766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468039139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696880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611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1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58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1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92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58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8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71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17904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473EAD4C-7872-A55C-7D65-447D3A1B49FD}"/>
              </a:ext>
            </a:extLst>
          </p:cNvPr>
          <p:cNvSpPr/>
          <p:nvPr/>
        </p:nvSpPr>
        <p:spPr>
          <a:xfrm>
            <a:off x="1066800" y="4205068"/>
            <a:ext cx="427228" cy="2942492"/>
          </a:xfrm>
          <a:prstGeom prst="leftBrace">
            <a:avLst>
              <a:gd name="adj1" fmla="val 8333"/>
              <a:gd name="adj2" fmla="val 48352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DA657-EE94-34FE-84A5-7C9E2741ECED}"/>
              </a:ext>
            </a:extLst>
          </p:cNvPr>
          <p:cNvSpPr txBox="1"/>
          <p:nvPr/>
        </p:nvSpPr>
        <p:spPr>
          <a:xfrm rot="16200000">
            <a:off x="-277621" y="5574435"/>
            <a:ext cx="1991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</a:rPr>
              <a:t>Observations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FCA83-580E-A89C-72D9-084D0D97DADB}"/>
              </a:ext>
            </a:extLst>
          </p:cNvPr>
          <p:cNvSpPr txBox="1"/>
          <p:nvPr/>
        </p:nvSpPr>
        <p:spPr>
          <a:xfrm>
            <a:off x="8382000" y="1393453"/>
            <a:ext cx="7315200" cy="46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Variable Definitions</a:t>
            </a:r>
            <a:endParaRPr lang="en-US" sz="2400" dirty="0">
              <a:latin typeface="PT Serif" panose="020A0603040505020204" pitchFamily="18" charset="0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85193FC-53E5-D4DC-C9DE-81F9990E5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08530"/>
              </p:ext>
            </p:extLst>
          </p:nvPr>
        </p:nvGraphicFramePr>
        <p:xfrm>
          <a:off x="8382000" y="2604867"/>
          <a:ext cx="6096000" cy="3200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4202860556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67914648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702899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Variable</a:t>
                      </a: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Description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Type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5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Town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Town identifier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Character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9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Loss Ratio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Numeric (positive)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899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PT Serif" panose="020A0603040505020204" pitchFamily="18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Premium Rates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Numeric (positive)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8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Number of Policies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Numeric (positive)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l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43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312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3301-09DE-CFE4-26E9-8537CB76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533400"/>
            <a:ext cx="13656055" cy="590867"/>
          </a:xfrm>
        </p:spPr>
        <p:txBody>
          <a:bodyPr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Iteration 1: Initial Setup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0F5C-E85B-4A6F-5252-25E34AF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1646915"/>
            <a:ext cx="6364224" cy="358624"/>
          </a:xfrm>
        </p:spPr>
        <p:txBody>
          <a:bodyPr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Complete Dataset (K=2)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DA7A0-7D3D-69BB-2473-8743F41E17E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779003" y="1641053"/>
            <a:ext cx="6364224" cy="5213800"/>
          </a:xfrm>
        </p:spPr>
        <p:txBody>
          <a:bodyPr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Step 1: Initial Seeds</a:t>
            </a:r>
          </a:p>
          <a:p>
            <a:pPr marL="0" indent="0" algn="l">
              <a:lnSpc>
                <a:spcPts val="2900"/>
              </a:lnSpc>
              <a:buNone/>
            </a:pPr>
            <a:endParaRPr lang="en-US" sz="2400" dirty="0">
              <a:solidFill>
                <a:srgbClr val="020202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We begin by selecting Towns A and B as our initial cluster centroids.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These initial seeds serve as the starting points for our clustering algorithm. All subsequent towns will be assigned based on their distance to these centroids.</a:t>
            </a:r>
            <a:endParaRPr lang="en-US" sz="1800" dirty="0"/>
          </a:p>
          <a:p>
            <a:pPr algn="l">
              <a:lnSpc>
                <a:spcPts val="2900"/>
              </a:lnSpc>
            </a:pP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E8EA993-B6B9-3656-20FC-955D8C528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44724"/>
              </p:ext>
            </p:extLst>
          </p:nvPr>
        </p:nvGraphicFramePr>
        <p:xfrm>
          <a:off x="732692" y="2743200"/>
          <a:ext cx="5638800" cy="3337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220722664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1255766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468039139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696880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611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1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58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1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92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58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8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71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PT Serif" panose="020A0603040505020204" pitchFamily="18" charset="0"/>
                        </a:rPr>
                        <a:t>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17904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0225C83-E8A8-889B-D890-630A03362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840344"/>
              </p:ext>
            </p:extLst>
          </p:nvPr>
        </p:nvGraphicFramePr>
        <p:xfrm>
          <a:off x="8077200" y="3322906"/>
          <a:ext cx="5098796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74699">
                  <a:extLst>
                    <a:ext uri="{9D8B030D-6E8A-4147-A177-3AD203B41FA5}">
                      <a16:colId xmlns:a16="http://schemas.microsoft.com/office/drawing/2014/main" val="2381234104"/>
                    </a:ext>
                  </a:extLst>
                </a:gridCol>
                <a:gridCol w="1274699">
                  <a:extLst>
                    <a:ext uri="{9D8B030D-6E8A-4147-A177-3AD203B41FA5}">
                      <a16:colId xmlns:a16="http://schemas.microsoft.com/office/drawing/2014/main" val="4185948790"/>
                    </a:ext>
                  </a:extLst>
                </a:gridCol>
                <a:gridCol w="1274699">
                  <a:extLst>
                    <a:ext uri="{9D8B030D-6E8A-4147-A177-3AD203B41FA5}">
                      <a16:colId xmlns:a16="http://schemas.microsoft.com/office/drawing/2014/main" val="1615609645"/>
                    </a:ext>
                  </a:extLst>
                </a:gridCol>
                <a:gridCol w="1274699">
                  <a:extLst>
                    <a:ext uri="{9D8B030D-6E8A-4147-A177-3AD203B41FA5}">
                      <a16:colId xmlns:a16="http://schemas.microsoft.com/office/drawing/2014/main" val="740122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119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133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T Serif" panose="020A0603040505020204" pitchFamily="18" charset="0"/>
                        </a:rPr>
                        <a:t>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65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003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6AE4-72AE-9366-06F4-F04444C2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01521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Iteration 1: Assigning Town C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CE3D1-0C27-357A-0D77-C74AFC36E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1" y="2338626"/>
            <a:ext cx="6364224" cy="3323987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Distance to Cluster 1 (Town A)</a:t>
            </a: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r>
              <a:rPr lang="en-US" sz="24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Distance = </a:t>
            </a:r>
            <a:r>
              <a:rPr lang="en-US" sz="24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38.50</a:t>
            </a:r>
            <a:endParaRPr lang="en-US" sz="2400" dirty="0"/>
          </a:p>
          <a:p>
            <a:pPr algn="l"/>
            <a:endParaRPr lang="en-US" sz="2400" dirty="0"/>
          </a:p>
          <a:p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593C5-4313-5088-AEED-FBE1CBFEA80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6" y="2338626"/>
            <a:ext cx="6364224" cy="3323987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Distance to Cluster 2 (Town B)</a:t>
            </a: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endParaRPr lang="en-US" sz="2400" dirty="0">
              <a:solidFill>
                <a:srgbClr val="020202"/>
              </a:solidFill>
            </a:endParaRPr>
          </a:p>
          <a:p>
            <a:pPr algn="l"/>
            <a:r>
              <a:rPr lang="en-US" sz="24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Distance = </a:t>
            </a:r>
            <a:r>
              <a:rPr lang="en-US" sz="24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89.15</a:t>
            </a:r>
            <a:endParaRPr lang="en-US" sz="2400" dirty="0"/>
          </a:p>
          <a:p>
            <a:pPr algn="l"/>
            <a:endParaRPr lang="en-US" sz="2400" dirty="0"/>
          </a:p>
          <a:p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392FF-5B31-89E9-5958-13231608119A}"/>
              </a:ext>
            </a:extLst>
          </p:cNvPr>
          <p:cNvSpPr txBox="1"/>
          <p:nvPr/>
        </p:nvSpPr>
        <p:spPr>
          <a:xfrm>
            <a:off x="731520" y="1362073"/>
            <a:ext cx="7315200" cy="47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Step 2: Distance Calculation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56112-7AFC-D380-A892-507ED3C8B5C9}"/>
              </a:ext>
            </a:extLst>
          </p:cNvPr>
          <p:cNvSpPr txBox="1"/>
          <p:nvPr/>
        </p:nvSpPr>
        <p:spPr>
          <a:xfrm>
            <a:off x="481468" y="6938860"/>
            <a:ext cx="13228554" cy="71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Decision: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Since 38.50 &lt; 89.15, Town C is assigned to Cluster 1 with Town A. The cluster centroid is updated by calculating the mean of Towns A and C.</a:t>
            </a:r>
            <a:endParaRPr lang="en-US" sz="1800" dirty="0">
              <a:latin typeface="PT Serif" panose="020A06030405050202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DA410A-922B-ACE2-54D2-037713FB44E6}"/>
              </a:ext>
            </a:extLst>
          </p:cNvPr>
          <p:cNvCxnSpPr/>
          <p:nvPr/>
        </p:nvCxnSpPr>
        <p:spPr>
          <a:xfrm>
            <a:off x="687208" y="6629400"/>
            <a:ext cx="128170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F2B84EEA-9676-0A08-F85E-CF59BDB71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396815"/>
              </p:ext>
            </p:extLst>
          </p:nvPr>
        </p:nvGraphicFramePr>
        <p:xfrm>
          <a:off x="3505200" y="5218324"/>
          <a:ext cx="6781800" cy="1107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PT Serif" panose="020A0603040505020204" pitchFamily="18" charset="0"/>
                        </a:rPr>
                        <a:t>x2</a:t>
                      </a: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E1A140-BE61-EE39-DCBC-87709E1354A6}"/>
                  </a:ext>
                </a:extLst>
              </p:cNvPr>
              <p:cNvSpPr txBox="1"/>
              <p:nvPr/>
            </p:nvSpPr>
            <p:spPr>
              <a:xfrm>
                <a:off x="-238505" y="3205897"/>
                <a:ext cx="7315200" cy="908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I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(1.43 −1.06)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 + 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(15.4 −9.2)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113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151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E1A140-BE61-EE39-DCBC-87709E135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8505" y="3205897"/>
                <a:ext cx="7315200" cy="9089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2A1C80-EB03-5A2D-3544-63B28AEA12EB}"/>
                  </a:ext>
                </a:extLst>
              </p:cNvPr>
              <p:cNvSpPr txBox="1"/>
              <p:nvPr/>
            </p:nvSpPr>
            <p:spPr>
              <a:xfrm>
                <a:off x="7095745" y="3224947"/>
                <a:ext cx="7315200" cy="908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(1.43 −0.89)</m:t>
                              </m:r>
                            </m:e>
                            <m:sup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 +  </m:t>
                          </m:r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15.4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−10.3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113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202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400" dirty="0">
                  <a:latin typeface="PT Serif" panose="020A060304050502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2A1C80-EB03-5A2D-3544-63B28AEA1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745" y="3224947"/>
                <a:ext cx="7315200" cy="9089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2A52F6-F6AC-8243-B177-1A2B5A5A88CF}"/>
              </a:ext>
            </a:extLst>
          </p:cNvPr>
          <p:cNvCxnSpPr/>
          <p:nvPr/>
        </p:nvCxnSpPr>
        <p:spPr>
          <a:xfrm>
            <a:off x="7076695" y="2209800"/>
            <a:ext cx="19050" cy="266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049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5EA6-7081-5385-8D03-93E51BAD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Iteration 1: Progressive Assignments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BC8A1-881D-4938-F500-E100EADA9431}"/>
              </a:ext>
            </a:extLst>
          </p:cNvPr>
          <p:cNvSpPr txBox="1"/>
          <p:nvPr/>
        </p:nvSpPr>
        <p:spPr>
          <a:xfrm>
            <a:off x="1066800" y="1586462"/>
            <a:ext cx="7315200" cy="586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Town D Assignment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Distance to Cluster 1: 36.018 | Distance to Cluster 2: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34.012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Assigned to Cluster 2 (B)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2. </a:t>
            </a: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Town E Assignment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Distance to Cluster 1: 60.102 | Distance to Cluster 2: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7.286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Assigned to Cluster 2 (B, D)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3.</a:t>
            </a: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 Town F Assignment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Distance to Cluster 1: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21.034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| Distance to Cluster 2: 76.409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Assigned to Cluster 1 (A, C)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C9D5FC9-3BCF-19ED-B624-2C332871E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002384"/>
              </p:ext>
            </p:extLst>
          </p:nvPr>
        </p:nvGraphicFramePr>
        <p:xfrm>
          <a:off x="7696200" y="1905000"/>
          <a:ext cx="678180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PT Serif" panose="020A0603040505020204" pitchFamily="18" charset="0"/>
                        </a:rPr>
                        <a:t>x2</a:t>
                      </a: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B,D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B1E06C-2D0B-80DB-A586-69BF62848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508913"/>
              </p:ext>
            </p:extLst>
          </p:nvPr>
        </p:nvGraphicFramePr>
        <p:xfrm>
          <a:off x="7696200" y="3611880"/>
          <a:ext cx="678180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PT Serif" panose="020A0603040505020204" pitchFamily="18" charset="0"/>
                        </a:rPr>
                        <a:t>x2</a:t>
                      </a: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B,D,E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1.133333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187.3333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ADA6E8-96AD-64A7-67EB-DFF406CE6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14588"/>
              </p:ext>
            </p:extLst>
          </p:nvPr>
        </p:nvGraphicFramePr>
        <p:xfrm>
          <a:off x="7696200" y="5440680"/>
          <a:ext cx="678180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PT Serif" panose="020A0603040505020204" pitchFamily="18" charset="0"/>
                        </a:rPr>
                        <a:t>x2</a:t>
                      </a: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A,C,F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B,D,E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1.133333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187.3333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08D904-1E9E-E38C-210C-5B10C32AE23C}"/>
              </a:ext>
            </a:extLst>
          </p:cNvPr>
          <p:cNvCxnSpPr/>
          <p:nvPr/>
        </p:nvCxnSpPr>
        <p:spPr>
          <a:xfrm>
            <a:off x="762000" y="3276600"/>
            <a:ext cx="13716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168267-4CD6-9E49-9F3F-B103284758D7}"/>
              </a:ext>
            </a:extLst>
          </p:cNvPr>
          <p:cNvCxnSpPr/>
          <p:nvPr/>
        </p:nvCxnSpPr>
        <p:spPr>
          <a:xfrm>
            <a:off x="762000" y="5181600"/>
            <a:ext cx="13716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777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A21B-B81B-7FA6-ADA5-50115F92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605061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Iteration 1: Final Assignments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6ED52-8B49-7E19-9509-1ACAE9ED2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2171941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Town G Assignment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Distance to Cluster 1: 50.003 | Distance to Cluster 2: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12.511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Assigned to Cluster 2 (B, D, E)</a:t>
            </a:r>
            <a:endParaRPr lang="en-US" sz="1800" dirty="0"/>
          </a:p>
          <a:p>
            <a:pPr algn="l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33324-1154-9855-F218-EAB1E2594DEA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2171941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Town H Assignment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Distance to Cluster 1: 120.05 | Distance to Cluster 2: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60.767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Assigned to Cluster 2 (B, D, E, G)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533351-65DD-8F57-56BC-816982BD0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800161"/>
              </p:ext>
            </p:extLst>
          </p:nvPr>
        </p:nvGraphicFramePr>
        <p:xfrm>
          <a:off x="453917" y="4430179"/>
          <a:ext cx="678180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PT Serif" panose="020A0603040505020204" pitchFamily="18" charset="0"/>
                        </a:rPr>
                        <a:t>x2</a:t>
                      </a: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A,C,F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B,D,E,G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10.625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184.25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E39EB5-35E8-7A90-5FD8-2AFC2398E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878283"/>
              </p:ext>
            </p:extLst>
          </p:nvPr>
        </p:nvGraphicFramePr>
        <p:xfrm>
          <a:off x="7620000" y="4419600"/>
          <a:ext cx="678180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PT Serif" panose="020A0603040505020204" pitchFamily="18" charset="0"/>
                        </a:rPr>
                        <a:t>x2</a:t>
                      </a: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A,C,F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B,D,E,G,H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196.4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p:sp>
        <p:nvSpPr>
          <p:cNvPr id="7" name="Shape 12">
            <a:extLst>
              <a:ext uri="{FF2B5EF4-FFF2-40B4-BE49-F238E27FC236}">
                <a16:creationId xmlns:a16="http://schemas.microsoft.com/office/drawing/2014/main" id="{69E5ACC3-AE9C-8BED-524C-744A8FA86E8B}"/>
              </a:ext>
            </a:extLst>
          </p:cNvPr>
          <p:cNvSpPr/>
          <p:nvPr/>
        </p:nvSpPr>
        <p:spPr>
          <a:xfrm>
            <a:off x="793790" y="6149102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B6F85892-D43D-D091-18BA-54DE1CA870B8}"/>
              </a:ext>
            </a:extLst>
          </p:cNvPr>
          <p:cNvSpPr/>
          <p:nvPr/>
        </p:nvSpPr>
        <p:spPr>
          <a:xfrm>
            <a:off x="1438513" y="6396990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All towns have now been assigned to clusters. We proceed to Iteration 2 to verify cluster membership stability and ensure convergence.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763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BFD4-B05F-7DDD-F3BF-7DB67B69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23376"/>
          </a:xfrm>
        </p:spPr>
        <p:txBody>
          <a:bodyPr/>
          <a:lstStyle/>
          <a:p>
            <a:pPr marL="0" indent="0">
              <a:lnSpc>
                <a:spcPts val="5100"/>
              </a:lnSpc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Iteration 2: Verification Phase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03F4-665B-D553-33E7-A5385588D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341" y="1600200"/>
            <a:ext cx="6364224" cy="5425268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Updated Initial Seeds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The cluster centroids from Iteration 1 become the initial seeds for Iteration 2: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Cluster 1: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Towns A, C, F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Cluster 2: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Towns B, D, E, G, H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BBB87-962E-78E9-0AA5-CCC8F8D5140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534400" y="1600200"/>
            <a:ext cx="5715000" cy="597086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Town A Re-evaluation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Distance calculations: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b="1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endParaRPr lang="en-US" sz="1800" b="1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endParaRPr lang="en-US" sz="1800" b="1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Result: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Town A remains in Cluster 1 (minimum distance = 26.24)</a:t>
            </a:r>
            <a:endParaRPr lang="en-US" sz="18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22A557-74A2-92D6-E94A-8AD22F8C4FA9}"/>
              </a:ext>
            </a:extLst>
          </p:cNvPr>
          <p:cNvGraphicFramePr>
            <a:graphicFrameLocks noGrp="1"/>
          </p:cNvGraphicFramePr>
          <p:nvPr/>
        </p:nvGraphicFramePr>
        <p:xfrm>
          <a:off x="487172" y="3858935"/>
          <a:ext cx="67818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Initial seeds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77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A,C,F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B,D,E,G,H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196.4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F666FBA-E973-6B87-CF38-F7881DA72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200" y="3055866"/>
            <a:ext cx="6279356" cy="1017032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32850ABA-F117-0FD3-BB13-59A28A51D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200" y="4665218"/>
            <a:ext cx="6279356" cy="10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9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BFD4-B05F-7DDD-F3BF-7DB67B69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23376"/>
          </a:xfrm>
        </p:spPr>
        <p:txBody>
          <a:bodyPr/>
          <a:lstStyle/>
          <a:p>
            <a:pPr marL="0" indent="0">
              <a:lnSpc>
                <a:spcPts val="5100"/>
              </a:lnSpc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Iteration 2: Verification Phase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03F4-665B-D553-33E7-A5385588D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341" y="1600200"/>
            <a:ext cx="6364224" cy="377860"/>
          </a:xfrm>
        </p:spPr>
        <p:txBody>
          <a:bodyPr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Final Cluster Assignments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BBB87-962E-78E9-0AA5-CCC8F8D5140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393059" y="1600200"/>
            <a:ext cx="5715000" cy="6049926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Convergence Status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No towns were reassigned to different clusters during Iteration 2.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This indicates that the algorithm has converged and we have achieved our final cluster solution: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Cluster 1: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Towns A, C, F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Cluster 2: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Towns B, D, E,G,H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The clustering process is complete as cluster membership has stabilized.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22A557-74A2-92D6-E94A-8AD22F8C4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688026"/>
              </p:ext>
            </p:extLst>
          </p:nvPr>
        </p:nvGraphicFramePr>
        <p:xfrm>
          <a:off x="487172" y="2194155"/>
          <a:ext cx="67818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75293482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60670329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51212870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1725436757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940976018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Initial seeds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77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A,C,F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B,D,E,G,H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1.144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196.4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58517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B954822-0D39-FDC2-30CC-672DD2439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506196"/>
              </p:ext>
            </p:extLst>
          </p:nvPr>
        </p:nvGraphicFramePr>
        <p:xfrm>
          <a:off x="487172" y="4023412"/>
          <a:ext cx="6781800" cy="3606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41628">
                  <a:extLst>
                    <a:ext uri="{9D8B030D-6E8A-4147-A177-3AD203B41FA5}">
                      <a16:colId xmlns:a16="http://schemas.microsoft.com/office/drawing/2014/main" val="3512201476"/>
                    </a:ext>
                  </a:extLst>
                </a:gridCol>
                <a:gridCol w="2049272">
                  <a:extLst>
                    <a:ext uri="{9D8B030D-6E8A-4147-A177-3AD203B41FA5}">
                      <a16:colId xmlns:a16="http://schemas.microsoft.com/office/drawing/2014/main" val="3582571196"/>
                    </a:ext>
                  </a:extLst>
                </a:gridCol>
                <a:gridCol w="1913128">
                  <a:extLst>
                    <a:ext uri="{9D8B030D-6E8A-4147-A177-3AD203B41FA5}">
                      <a16:colId xmlns:a16="http://schemas.microsoft.com/office/drawing/2014/main" val="3678676228"/>
                    </a:ext>
                  </a:extLst>
                </a:gridCol>
                <a:gridCol w="1477772">
                  <a:extLst>
                    <a:ext uri="{9D8B030D-6E8A-4147-A177-3AD203B41FA5}">
                      <a16:colId xmlns:a16="http://schemas.microsoft.com/office/drawing/2014/main" val="1743230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Distance from 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T Serif" panose="020A0603040505020204" pitchFamily="18" charset="0"/>
                        </a:rPr>
                        <a:t>Distance from 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504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26.24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45.41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851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77.04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5.61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06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83.55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684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43.03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28.41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280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67.11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136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85.46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4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40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120.05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48.61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19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5429-8D61-6955-995E-0F0F4CED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09" y="263604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Best Practices for Cluster Solutions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F7E3E-7A21-C2FE-D095-D6704EA90F7D}"/>
              </a:ext>
            </a:extLst>
          </p:cNvPr>
          <p:cNvSpPr txBox="1"/>
          <p:nvPr/>
        </p:nvSpPr>
        <p:spPr>
          <a:xfrm>
            <a:off x="662686" y="1371600"/>
            <a:ext cx="13305027" cy="719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Standardize Variables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When variables differ widely in scale, standardization is essential. Variables with high variance can disproportionately influence the cluster solution.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050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Apply Dimensionality Reduction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 factor analysis or PCA before clustering when dealing with numerous variables. This reduces noise and improves interpretability.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050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Test Multiple Configurations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Run the algorithm with different values of K and various initial seed selections to identify the most stable solution.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050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Handle Categorical Variables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Convert nominal variables to dummy variables, as K-Means is designed for continuous numeric data.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050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Use Hierarchical Clustering for Guidance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Run hierarchical clustering on a sample to get preliminary insights about optimal K and expected distance values.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221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180" y="1894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Evaluating Cluster Quality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319971" y="2349937"/>
            <a:ext cx="4164095" cy="372238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91165" y="26023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R-Squared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Ratio of between-cluster variability to total variability. Indicates proportion of variance explained by clustering.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Goal: Maximize R-Squared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713862" y="41609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268576" y="2401520"/>
            <a:ext cx="3818573" cy="372238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6933" y="26023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Optimal Balance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 good cluster solution minimizes within-cluster variance while maximizing between-cluster separation.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162134" y="30735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56263" y="2354375"/>
            <a:ext cx="3976821" cy="372238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908664" y="260232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Within Sum of Squares (WSS)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Measures homogeneity within each cluster. Calculate WSS for each cluster and sum to get Total WSS.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Goal: Minimize Total WSS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DFB021-98F5-9455-767B-2679A280E0F3}"/>
              </a:ext>
            </a:extLst>
          </p:cNvPr>
          <p:cNvSpPr txBox="1"/>
          <p:nvPr/>
        </p:nvSpPr>
        <p:spPr>
          <a:xfrm>
            <a:off x="795180" y="1212594"/>
            <a:ext cx="13019138" cy="71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Cluster solutions are assessed using variability measures that quantify both separation between clusters and cohesion within clusters.</a:t>
            </a:r>
            <a:endParaRPr lang="en-US" sz="1800" dirty="0">
              <a:latin typeface="PT Serif" panose="020A0603040505020204" pitchFamily="18" charset="0"/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DE974E6E-824C-81B9-53AD-1EEC4BFEA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404" y="6697077"/>
            <a:ext cx="13042821" cy="55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54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39EB2-EABB-7365-3CD0-4A20CC9E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Determining Optimal K: Scree Plot Analysis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64607-1CEB-712C-0692-1766E91858DA}"/>
              </a:ext>
            </a:extLst>
          </p:cNvPr>
          <p:cNvSpPr txBox="1"/>
          <p:nvPr/>
        </p:nvSpPr>
        <p:spPr>
          <a:xfrm>
            <a:off x="487172" y="1295400"/>
            <a:ext cx="6231843" cy="5172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The Elbow Method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 scree plot visualizes the relationship between number of clusters (K) and total within-cluster sum of squares (WSS).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How to interpret: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Plot WSS against K values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Look for the "elbow" point where WSS decrease slows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elbow indicates optimal K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Beyond this point, additional clusters provide diminishing returns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D456F565-9CB5-D594-E739-97752C75951A}"/>
              </a:ext>
            </a:extLst>
          </p:cNvPr>
          <p:cNvSpPr/>
          <p:nvPr/>
        </p:nvSpPr>
        <p:spPr>
          <a:xfrm>
            <a:off x="685800" y="6172200"/>
            <a:ext cx="5602962" cy="1478280"/>
          </a:xfrm>
          <a:prstGeom prst="roundRect">
            <a:avLst>
              <a:gd name="adj" fmla="val 2014"/>
            </a:avLst>
          </a:prstGeom>
          <a:solidFill>
            <a:srgbClr val="FFCDB3"/>
          </a:solidFill>
          <a:ln/>
        </p:spPr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147D90F8-4D3B-FFFC-CBDB-E4FFC0A2B825}"/>
              </a:ext>
            </a:extLst>
          </p:cNvPr>
          <p:cNvSpPr/>
          <p:nvPr/>
        </p:nvSpPr>
        <p:spPr>
          <a:xfrm>
            <a:off x="1330523" y="6420088"/>
            <a:ext cx="475988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scree plot helps balance model complexity with explanatory power, preventing over-segmentation.</a:t>
            </a: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153443EC-A418-BE23-51A4-6AE1EF733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5" y="1725494"/>
            <a:ext cx="7606585" cy="3608506"/>
          </a:xfrm>
          <a:prstGeom prst="rect">
            <a:avLst/>
          </a:prstGeom>
        </p:spPr>
      </p:pic>
      <p:sp>
        <p:nvSpPr>
          <p:cNvPr id="8" name="Shape 10">
            <a:extLst>
              <a:ext uri="{FF2B5EF4-FFF2-40B4-BE49-F238E27FC236}">
                <a16:creationId xmlns:a16="http://schemas.microsoft.com/office/drawing/2014/main" id="{6D5F09B6-46CA-AEFE-B69D-13A3293BD84F}"/>
              </a:ext>
            </a:extLst>
          </p:cNvPr>
          <p:cNvSpPr/>
          <p:nvPr/>
        </p:nvSpPr>
        <p:spPr>
          <a:xfrm>
            <a:off x="8414193" y="5287923"/>
            <a:ext cx="195574" cy="201128"/>
          </a:xfrm>
          <a:prstGeom prst="roundRect">
            <a:avLst>
              <a:gd name="adj" fmla="val 9220"/>
            </a:avLst>
          </a:prstGeom>
          <a:solidFill>
            <a:srgbClr val="4D1B00"/>
          </a:solidFill>
          <a:ln/>
        </p:spPr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6919A6E9-8B88-2720-5201-D2F785C1F857}"/>
              </a:ext>
            </a:extLst>
          </p:cNvPr>
          <p:cNvSpPr/>
          <p:nvPr/>
        </p:nvSpPr>
        <p:spPr>
          <a:xfrm>
            <a:off x="8700215" y="5287923"/>
            <a:ext cx="2071370" cy="20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Number of Clusters (K)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B1287213-4ED0-A974-871C-F2DF719330B3}"/>
              </a:ext>
            </a:extLst>
          </p:cNvPr>
          <p:cNvSpPr/>
          <p:nvPr/>
        </p:nvSpPr>
        <p:spPr>
          <a:xfrm>
            <a:off x="11179301" y="5287923"/>
            <a:ext cx="195574" cy="201128"/>
          </a:xfrm>
          <a:prstGeom prst="roundRect">
            <a:avLst>
              <a:gd name="adj" fmla="val 9220"/>
            </a:avLst>
          </a:prstGeom>
          <a:solidFill>
            <a:srgbClr val="A63A00"/>
          </a:solidFill>
          <a:ln/>
        </p:spPr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88C6C007-8D1A-F84A-25FB-DE96D276DB03}"/>
              </a:ext>
            </a:extLst>
          </p:cNvPr>
          <p:cNvSpPr/>
          <p:nvPr/>
        </p:nvSpPr>
        <p:spPr>
          <a:xfrm>
            <a:off x="11448587" y="5287923"/>
            <a:ext cx="895813" cy="20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Total WSS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AD90A6-860D-620B-D491-79E89691D53C}"/>
              </a:ext>
            </a:extLst>
          </p:cNvPr>
          <p:cNvSpPr txBox="1"/>
          <p:nvPr/>
        </p:nvSpPr>
        <p:spPr>
          <a:xfrm>
            <a:off x="7619488" y="5883201"/>
            <a:ext cx="6325112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 this example, the elbow occurs at K=3 or K=4, suggesting these as optimal cluster numbers for the dataset.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71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object 13">
            <a:extLst>
              <a:ext uri="{FF2B5EF4-FFF2-40B4-BE49-F238E27FC236}">
                <a16:creationId xmlns:a16="http://schemas.microsoft.com/office/drawing/2014/main" id="{B9E1C5A2-3C42-BC7C-5225-21C8E95EFE28}"/>
              </a:ext>
            </a:extLst>
          </p:cNvPr>
          <p:cNvGrpSpPr/>
          <p:nvPr/>
        </p:nvGrpSpPr>
        <p:grpSpPr>
          <a:xfrm>
            <a:off x="7543800" y="5378021"/>
            <a:ext cx="6124028" cy="2546779"/>
            <a:chOff x="793788" y="4631308"/>
            <a:chExt cx="6437630" cy="2974340"/>
          </a:xfrm>
        </p:grpSpPr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A5C3A66A-A2D6-9EA1-DBAB-A4FFA1B6F7F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71B93BFC-CEB2-7AF7-E59C-39544F3B03A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35" name="object 13">
            <a:extLst>
              <a:ext uri="{FF2B5EF4-FFF2-40B4-BE49-F238E27FC236}">
                <a16:creationId xmlns:a16="http://schemas.microsoft.com/office/drawing/2014/main" id="{70148CBA-CCB0-CF90-D30B-74347CD2AFE9}"/>
              </a:ext>
            </a:extLst>
          </p:cNvPr>
          <p:cNvGrpSpPr/>
          <p:nvPr/>
        </p:nvGrpSpPr>
        <p:grpSpPr>
          <a:xfrm>
            <a:off x="935076" y="5378021"/>
            <a:ext cx="6124028" cy="2546779"/>
            <a:chOff x="793788" y="4631308"/>
            <a:chExt cx="6437630" cy="2974340"/>
          </a:xfrm>
        </p:grpSpPr>
        <p:sp>
          <p:nvSpPr>
            <p:cNvPr id="36" name="object 14">
              <a:extLst>
                <a:ext uri="{FF2B5EF4-FFF2-40B4-BE49-F238E27FC236}">
                  <a16:creationId xmlns:a16="http://schemas.microsoft.com/office/drawing/2014/main" id="{AFAFB433-445F-84F2-5654-05E266EFCBA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37" name="object 15">
              <a:extLst>
                <a:ext uri="{FF2B5EF4-FFF2-40B4-BE49-F238E27FC236}">
                  <a16:creationId xmlns:a16="http://schemas.microsoft.com/office/drawing/2014/main" id="{691360C6-AC20-985E-26C6-F44538D6EEA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9" name="object 13">
            <a:extLst>
              <a:ext uri="{FF2B5EF4-FFF2-40B4-BE49-F238E27FC236}">
                <a16:creationId xmlns:a16="http://schemas.microsoft.com/office/drawing/2014/main" id="{ECC7638F-CE57-265B-8304-255BEF51AC71}"/>
              </a:ext>
            </a:extLst>
          </p:cNvPr>
          <p:cNvGrpSpPr/>
          <p:nvPr/>
        </p:nvGrpSpPr>
        <p:grpSpPr>
          <a:xfrm>
            <a:off x="5105400" y="1371600"/>
            <a:ext cx="4718986" cy="3763929"/>
            <a:chOff x="793788" y="4631308"/>
            <a:chExt cx="6437630" cy="2974340"/>
          </a:xfrm>
        </p:grpSpPr>
        <p:sp>
          <p:nvSpPr>
            <p:cNvPr id="31" name="object 15">
              <a:extLst>
                <a:ext uri="{FF2B5EF4-FFF2-40B4-BE49-F238E27FC236}">
                  <a16:creationId xmlns:a16="http://schemas.microsoft.com/office/drawing/2014/main" id="{C0C58B4E-8BC5-07C2-B2A5-8F5E82257562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  <p:sp>
          <p:nvSpPr>
            <p:cNvPr id="30" name="object 14">
              <a:extLst>
                <a:ext uri="{FF2B5EF4-FFF2-40B4-BE49-F238E27FC236}">
                  <a16:creationId xmlns:a16="http://schemas.microsoft.com/office/drawing/2014/main" id="{5435FD3A-5EC4-9F6C-4F21-47D5042F37B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</p:grpSp>
      <p:grpSp>
        <p:nvGrpSpPr>
          <p:cNvPr id="32" name="object 13">
            <a:extLst>
              <a:ext uri="{FF2B5EF4-FFF2-40B4-BE49-F238E27FC236}">
                <a16:creationId xmlns:a16="http://schemas.microsoft.com/office/drawing/2014/main" id="{316B79C2-0084-6D29-58C4-A0BA282FB8B6}"/>
              </a:ext>
            </a:extLst>
          </p:cNvPr>
          <p:cNvGrpSpPr/>
          <p:nvPr/>
        </p:nvGrpSpPr>
        <p:grpSpPr>
          <a:xfrm>
            <a:off x="9943009" y="1371600"/>
            <a:ext cx="4382591" cy="3763929"/>
            <a:chOff x="793788" y="4631308"/>
            <a:chExt cx="6437630" cy="2974340"/>
          </a:xfrm>
        </p:grpSpPr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62217902-07B9-CB3E-14BE-5B41480EDC3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16C54A3B-48D1-B03B-1A3D-B17D54D0F728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9" name="object 13">
            <a:extLst>
              <a:ext uri="{FF2B5EF4-FFF2-40B4-BE49-F238E27FC236}">
                <a16:creationId xmlns:a16="http://schemas.microsoft.com/office/drawing/2014/main" id="{73ABA715-86F3-9E1F-F437-ADD9BE7A640A}"/>
              </a:ext>
            </a:extLst>
          </p:cNvPr>
          <p:cNvGrpSpPr/>
          <p:nvPr/>
        </p:nvGrpSpPr>
        <p:grpSpPr>
          <a:xfrm>
            <a:off x="418009" y="1371600"/>
            <a:ext cx="4382591" cy="3763929"/>
            <a:chOff x="793788" y="4631308"/>
            <a:chExt cx="6437630" cy="2974340"/>
          </a:xfrm>
        </p:grpSpPr>
        <p:sp>
          <p:nvSpPr>
            <p:cNvPr id="27" name="object 14">
              <a:extLst>
                <a:ext uri="{FF2B5EF4-FFF2-40B4-BE49-F238E27FC236}">
                  <a16:creationId xmlns:a16="http://schemas.microsoft.com/office/drawing/2014/main" id="{87BBA8D4-A27C-0114-C102-4010A718A2B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43D9327E-A137-DE7F-9760-4036158DFD3A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620" y="-18318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240269" y="1374039"/>
            <a:ext cx="453661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K-Means Process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Iteratively assigns observations to nearest cluster centroids and recalculates centroids until convergence. Requires five key steps: define K, choose distance measure, select initial seeds, execute algorithm, and evaluate output.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357279" y="1469304"/>
            <a:ext cx="3818573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Distance Metrics Matter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Euclidean distance is most common, but Manhattan and Chebyshev offer alternatives. The choice impacts cluster formation and should align with data characteristics.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538914" y="1469304"/>
            <a:ext cx="4536611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Cluster Analysis Foundation</a:t>
            </a:r>
            <a:endParaRPr lang="en-US" sz="2400" dirty="0"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An unsupervised learning technique that groups observations into homogeneous clusters based on similarity, with objects within clusters being more similar than those between clusters.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DCBC250-CD01-2E79-92CE-66C8490F3F70}"/>
              </a:ext>
            </a:extLst>
          </p:cNvPr>
          <p:cNvSpPr/>
          <p:nvPr/>
        </p:nvSpPr>
        <p:spPr>
          <a:xfrm>
            <a:off x="1101490" y="5448359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Quality Assessment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Evaluate solutions using Total WSS (lower is better) and R-squared (higher is better). Use scree plots to determine optimal K through the elbow method.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3294D3C-0418-C801-8DB9-F254AEFAC6F0}"/>
              </a:ext>
            </a:extLst>
          </p:cNvPr>
          <p:cNvSpPr/>
          <p:nvPr/>
        </p:nvSpPr>
        <p:spPr>
          <a:xfrm>
            <a:off x="7772400" y="5371589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Best Practices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Standardize variables, test multiple K values and initial seeds, apply dimensionality reduction when needed, and use dummy variables for categorical data.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883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</TotalTime>
  <Words>1878</Words>
  <Application>Microsoft Office PowerPoint</Application>
  <PresentationFormat>Custom</PresentationFormat>
  <Paragraphs>521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Lucida Sans Unicode</vt:lpstr>
      <vt:lpstr>PT Serif</vt:lpstr>
      <vt:lpstr>Wingdings</vt:lpstr>
      <vt:lpstr>Office Theme</vt:lpstr>
      <vt:lpstr>PowerPoint Presentation</vt:lpstr>
      <vt:lpstr>PowerPoint Presentation</vt:lpstr>
      <vt:lpstr>What is Cluster Analysis?</vt:lpstr>
      <vt:lpstr>K-Means Clustering Overview</vt:lpstr>
      <vt:lpstr>K-Means Implementation Steps </vt:lpstr>
      <vt:lpstr>Distance Measures: Foundations of Similarity</vt:lpstr>
      <vt:lpstr>Euclidean Distance: The Standard Metric </vt:lpstr>
      <vt:lpstr>K-Means Algorithm Flowchart </vt:lpstr>
      <vt:lpstr>Choosing Initial Seeds</vt:lpstr>
      <vt:lpstr>Case Study: Town Insurance Data </vt:lpstr>
      <vt:lpstr>Iteration 1: Initial Setup</vt:lpstr>
      <vt:lpstr>Iteration 1: Assigning Town C </vt:lpstr>
      <vt:lpstr>Iteration 1: Progressive Assignments </vt:lpstr>
      <vt:lpstr>Iteration 1: Final Assignments </vt:lpstr>
      <vt:lpstr>Iteration 2: Verification Phase</vt:lpstr>
      <vt:lpstr>Iteration 2: Verification Phase</vt:lpstr>
      <vt:lpstr>Best Practices for Cluster Solutions </vt:lpstr>
      <vt:lpstr>Evaluating Cluster Quality</vt:lpstr>
      <vt:lpstr>Determining Optimal K: Scree Plot Analysis 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Sylvia Dodti</cp:lastModifiedBy>
  <cp:revision>227</cp:revision>
  <dcterms:created xsi:type="dcterms:W3CDTF">2025-08-01T06:43:07Z</dcterms:created>
  <dcterms:modified xsi:type="dcterms:W3CDTF">2026-01-28T05:31:50Z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