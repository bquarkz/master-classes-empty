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74" r:id="rId2"/>
    <p:sldId id="275" r:id="rId3"/>
    <p:sldId id="354" r:id="rId4"/>
    <p:sldId id="374" r:id="rId5"/>
    <p:sldId id="300" r:id="rId6"/>
    <p:sldId id="375" r:id="rId7"/>
    <p:sldId id="358" r:id="rId8"/>
    <p:sldId id="376" r:id="rId9"/>
    <p:sldId id="377" r:id="rId10"/>
    <p:sldId id="379" r:id="rId11"/>
    <p:sldId id="378" r:id="rId12"/>
    <p:sldId id="341" r:id="rId13"/>
    <p:sldId id="380" r:id="rId14"/>
    <p:sldId id="381" r:id="rId15"/>
    <p:sldId id="382" r:id="rId16"/>
    <p:sldId id="314" r:id="rId17"/>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8891F-FB35-E1C6-2832-95F5AEC01C35}" v="1" dt="2025-11-06T07:40:41.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2891" autoAdjust="0"/>
  </p:normalViewPr>
  <p:slideViewPr>
    <p:cSldViewPr>
      <p:cViewPr varScale="1">
        <p:scale>
          <a:sx n="84" d="100"/>
          <a:sy n="84" d="100"/>
        </p:scale>
        <p:origin x="1000"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28/01/26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462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16</a:t>
            </a:fld>
            <a:endParaRPr lang="en-IN"/>
          </a:p>
        </p:txBody>
      </p:sp>
    </p:spTree>
    <p:extLst>
      <p:ext uri="{BB962C8B-B14F-4D97-AF65-F5344CB8AC3E}">
        <p14:creationId xmlns:p14="http://schemas.microsoft.com/office/powerpoint/2010/main" val="242968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28/01/26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28/01/26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28/01/26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28/01/26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43468" y="2133600"/>
            <a:ext cx="10381732" cy="651272"/>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anose="020A0603040505020204" pitchFamily="18" charset="0"/>
                <a:ea typeface="PT Serif" pitchFamily="34" charset="-122"/>
                <a:cs typeface="PT Serif" pitchFamily="34" charset="-120"/>
              </a:rPr>
              <a:t>Ridge, Lasso and Elastic Net Regression</a:t>
            </a:r>
            <a:endParaRPr lang="en-US" sz="4100" dirty="0">
              <a:latin typeface="PT Serif" panose="020A0603040505020204" pitchFamily="18" charset="0"/>
            </a:endParaRPr>
          </a:p>
        </p:txBody>
      </p:sp>
      <p:sp>
        <p:nvSpPr>
          <p:cNvPr id="22" name="Text 1">
            <a:extLst>
              <a:ext uri="{FF2B5EF4-FFF2-40B4-BE49-F238E27FC236}">
                <a16:creationId xmlns:a16="http://schemas.microsoft.com/office/drawing/2014/main" id="{34E7B785-51DF-6028-E343-20904A09A941}"/>
              </a:ext>
            </a:extLst>
          </p:cNvPr>
          <p:cNvSpPr/>
          <p:nvPr/>
        </p:nvSpPr>
        <p:spPr>
          <a:xfrm>
            <a:off x="743468" y="3789164"/>
            <a:ext cx="11296132" cy="651272"/>
          </a:xfrm>
          <a:prstGeom prst="rect">
            <a:avLst/>
          </a:prstGeom>
          <a:noFill/>
          <a:ln/>
        </p:spPr>
        <p:txBody>
          <a:bodyPr wrap="square" lIns="0" tIns="0" rIns="0" bIns="0" rtlCol="0" anchor="t"/>
          <a:lstStyle/>
          <a:p>
            <a:pPr marL="0" indent="0" algn="l">
              <a:lnSpc>
                <a:spcPts val="2500"/>
              </a:lnSpc>
              <a:buNone/>
            </a:pPr>
            <a:r>
              <a:rPr lang="en-US" sz="2000" dirty="0">
                <a:solidFill>
                  <a:srgbClr val="383838"/>
                </a:solidFill>
                <a:latin typeface="PT Serif" panose="020A0603040505020204" pitchFamily="18" charset="0"/>
                <a:ea typeface="DM Sans" pitchFamily="34" charset="-122"/>
                <a:cs typeface="DM Sans" pitchFamily="34" charset="-120"/>
              </a:rPr>
              <a:t>Regularization techniques for building robust linear models in high-dimensional settings</a:t>
            </a:r>
            <a:endParaRPr lang="en-US" sz="2000" dirty="0">
              <a:latin typeface="PT Serif" panose="020A0603040505020204" pitchFamily="18" charset="0"/>
            </a:endParaRPr>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62000" y="531781"/>
            <a:ext cx="4763333" cy="595432"/>
          </a:xfrm>
          <a:prstGeom prst="rect">
            <a:avLst/>
          </a:prstGeom>
          <a:noFill/>
          <a:ln/>
        </p:spPr>
        <p:txBody>
          <a:bodyPr wrap="none" lIns="0" tIns="0" rIns="0" bIns="0" rtlCol="0" anchor="t"/>
          <a:lstStyle/>
          <a:p>
            <a:pPr marL="0" indent="0" algn="l">
              <a:lnSpc>
                <a:spcPts val="4650"/>
              </a:lnSpc>
              <a:buNone/>
            </a:pPr>
            <a:r>
              <a:rPr lang="en-US" sz="3600" dirty="0">
                <a:solidFill>
                  <a:schemeClr val="tx1"/>
                </a:solidFill>
                <a:latin typeface="PT Serif" panose="020A0603040505020204" pitchFamily="18" charset="0"/>
                <a:ea typeface="PT Serif" pitchFamily="34" charset="-122"/>
                <a:cs typeface="PT Serif" pitchFamily="34" charset="-120"/>
              </a:rPr>
              <a:t>Contents</a:t>
            </a:r>
            <a:endParaRPr lang="en-US" sz="3600" dirty="0">
              <a:solidFill>
                <a:schemeClr val="tx1"/>
              </a:solidFill>
              <a:latin typeface="PT Serif" panose="020A0603040505020204" pitchFamily="18" charset="0"/>
            </a:endParaRPr>
          </a:p>
        </p:txBody>
      </p:sp>
      <p:sp>
        <p:nvSpPr>
          <p:cNvPr id="3" name="Text 1">
            <a:extLst>
              <a:ext uri="{FF2B5EF4-FFF2-40B4-BE49-F238E27FC236}">
                <a16:creationId xmlns:a16="http://schemas.microsoft.com/office/drawing/2014/main" id="{630CCEE3-6042-A6A9-3891-B76B33DC9098}"/>
              </a:ext>
            </a:extLst>
          </p:cNvPr>
          <p:cNvSpPr/>
          <p:nvPr/>
        </p:nvSpPr>
        <p:spPr>
          <a:xfrm>
            <a:off x="793790" y="145754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01</a:t>
            </a:r>
            <a:endParaRPr lang="en-US" sz="1750" dirty="0">
              <a:solidFill>
                <a:schemeClr val="tx1"/>
              </a:solidFill>
              <a:latin typeface="PT Serif" panose="020A0603040505020204" pitchFamily="18" charset="0"/>
            </a:endParaRPr>
          </a:p>
        </p:txBody>
      </p:sp>
      <p:sp>
        <p:nvSpPr>
          <p:cNvPr id="4" name="Shape 2">
            <a:extLst>
              <a:ext uri="{FF2B5EF4-FFF2-40B4-BE49-F238E27FC236}">
                <a16:creationId xmlns:a16="http://schemas.microsoft.com/office/drawing/2014/main" id="{109D6074-985D-ECFD-41A9-CC64CE8CCED8}"/>
              </a:ext>
            </a:extLst>
          </p:cNvPr>
          <p:cNvSpPr/>
          <p:nvPr/>
        </p:nvSpPr>
        <p:spPr>
          <a:xfrm>
            <a:off x="793790" y="1812592"/>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1986900"/>
            <a:ext cx="4370308" cy="37207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Why Ordinary Least Squares Falls Short</a:t>
            </a:r>
            <a:endParaRPr lang="en-US" sz="2400" dirty="0">
              <a:solidFill>
                <a:schemeClr val="tx1"/>
              </a:solidFill>
            </a:endParaRPr>
          </a:p>
        </p:txBody>
      </p:sp>
      <p:sp>
        <p:nvSpPr>
          <p:cNvPr id="6" name="Text 4">
            <a:extLst>
              <a:ext uri="{FF2B5EF4-FFF2-40B4-BE49-F238E27FC236}">
                <a16:creationId xmlns:a16="http://schemas.microsoft.com/office/drawing/2014/main" id="{A95C41F2-E8AE-183D-B7D2-B584B66A5047}"/>
              </a:ext>
            </a:extLst>
          </p:cNvPr>
          <p:cNvSpPr/>
          <p:nvPr/>
        </p:nvSpPr>
        <p:spPr>
          <a:xfrm>
            <a:off x="7428548" y="145754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02</a:t>
            </a:r>
            <a:endParaRPr lang="en-US" sz="1750" dirty="0">
              <a:solidFill>
                <a:schemeClr val="tx1"/>
              </a:solidFill>
              <a:latin typeface="PT Serif" panose="020A0603040505020204" pitchFamily="18" charset="0"/>
            </a:endParaRPr>
          </a:p>
        </p:txBody>
      </p:sp>
      <p:sp>
        <p:nvSpPr>
          <p:cNvPr id="7" name="Shape 5">
            <a:extLst>
              <a:ext uri="{FF2B5EF4-FFF2-40B4-BE49-F238E27FC236}">
                <a16:creationId xmlns:a16="http://schemas.microsoft.com/office/drawing/2014/main" id="{420FFCDF-EFCF-D95B-39BF-71DEE8C305CC}"/>
              </a:ext>
            </a:extLst>
          </p:cNvPr>
          <p:cNvSpPr/>
          <p:nvPr/>
        </p:nvSpPr>
        <p:spPr>
          <a:xfrm>
            <a:off x="7428548" y="1812592"/>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1944394"/>
            <a:ext cx="4915852" cy="506016"/>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The Regularization Solution</a:t>
            </a:r>
            <a:endParaRPr lang="en-US" sz="2400" dirty="0">
              <a:solidFill>
                <a:schemeClr val="tx1"/>
              </a:solidFill>
            </a:endParaRPr>
          </a:p>
        </p:txBody>
      </p:sp>
      <p:sp>
        <p:nvSpPr>
          <p:cNvPr id="9" name="Text 7">
            <a:extLst>
              <a:ext uri="{FF2B5EF4-FFF2-40B4-BE49-F238E27FC236}">
                <a16:creationId xmlns:a16="http://schemas.microsoft.com/office/drawing/2014/main" id="{F49AA9FB-4CAF-BC7C-90F0-1D48BD93C205}"/>
              </a:ext>
            </a:extLst>
          </p:cNvPr>
          <p:cNvSpPr/>
          <p:nvPr/>
        </p:nvSpPr>
        <p:spPr>
          <a:xfrm>
            <a:off x="793790" y="275580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03</a:t>
            </a:r>
            <a:endParaRPr lang="en-US" sz="1750" dirty="0">
              <a:solidFill>
                <a:schemeClr val="tx1"/>
              </a:solidFill>
              <a:latin typeface="PT Serif" panose="020A0603040505020204" pitchFamily="18" charset="0"/>
            </a:endParaRPr>
          </a:p>
        </p:txBody>
      </p:sp>
      <p:sp>
        <p:nvSpPr>
          <p:cNvPr id="10" name="Shape 8">
            <a:extLst>
              <a:ext uri="{FF2B5EF4-FFF2-40B4-BE49-F238E27FC236}">
                <a16:creationId xmlns:a16="http://schemas.microsoft.com/office/drawing/2014/main" id="{F735EFEC-254C-A190-497E-54797BC377D7}"/>
              </a:ext>
            </a:extLst>
          </p:cNvPr>
          <p:cNvSpPr/>
          <p:nvPr/>
        </p:nvSpPr>
        <p:spPr>
          <a:xfrm>
            <a:off x="793790" y="3110850"/>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285157"/>
            <a:ext cx="6824424" cy="274529"/>
          </a:xfrm>
          <a:prstGeom prst="rect">
            <a:avLst/>
          </a:prstGeom>
          <a:noFill/>
          <a:ln/>
        </p:spPr>
        <p:txBody>
          <a:bodyPr wrap="squar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Mathematical Foundation of Regularization</a:t>
            </a:r>
            <a:endParaRPr lang="en-US" sz="2400" dirty="0">
              <a:solidFill>
                <a:schemeClr val="tx1"/>
              </a:solidFill>
            </a:endParaRPr>
          </a:p>
        </p:txBody>
      </p:sp>
      <p:sp>
        <p:nvSpPr>
          <p:cNvPr id="12" name="Text 10">
            <a:extLst>
              <a:ext uri="{FF2B5EF4-FFF2-40B4-BE49-F238E27FC236}">
                <a16:creationId xmlns:a16="http://schemas.microsoft.com/office/drawing/2014/main" id="{BB65B506-59D4-7376-A944-4C46A5D3D0DA}"/>
              </a:ext>
            </a:extLst>
          </p:cNvPr>
          <p:cNvSpPr/>
          <p:nvPr/>
        </p:nvSpPr>
        <p:spPr>
          <a:xfrm>
            <a:off x="7428548" y="275580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04</a:t>
            </a:r>
            <a:endParaRPr lang="en-US" sz="1750" dirty="0">
              <a:solidFill>
                <a:schemeClr val="tx1"/>
              </a:solidFill>
              <a:latin typeface="PT Serif" panose="020A0603040505020204" pitchFamily="18" charset="0"/>
            </a:endParaRPr>
          </a:p>
        </p:txBody>
      </p:sp>
      <p:sp>
        <p:nvSpPr>
          <p:cNvPr id="13" name="Shape 11">
            <a:extLst>
              <a:ext uri="{FF2B5EF4-FFF2-40B4-BE49-F238E27FC236}">
                <a16:creationId xmlns:a16="http://schemas.microsoft.com/office/drawing/2014/main" id="{D64D1A4C-2B9B-4174-ACD2-FF1592E30587}"/>
              </a:ext>
            </a:extLst>
          </p:cNvPr>
          <p:cNvSpPr/>
          <p:nvPr/>
        </p:nvSpPr>
        <p:spPr>
          <a:xfrm>
            <a:off x="7428548" y="3110850"/>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3285157"/>
            <a:ext cx="3837027" cy="372070"/>
          </a:xfrm>
          <a:prstGeom prst="rect">
            <a:avLst/>
          </a:prstGeom>
          <a:noFill/>
          <a:ln/>
        </p:spPr>
        <p:txBody>
          <a:bodyPr wrap="none" lIns="0" tIns="0" rIns="0" bIns="0" rtlCol="0" anchor="t"/>
          <a:lstStyle/>
          <a:p>
            <a:pPr marL="0" indent="0" algn="l">
              <a:lnSpc>
                <a:spcPts val="5100"/>
              </a:lnSpc>
              <a:buNone/>
            </a:pPr>
            <a:endParaRPr lang="en-US" sz="2400" dirty="0">
              <a:solidFill>
                <a:schemeClr val="tx1"/>
              </a:solidFill>
              <a:latin typeface="PT Serif" panose="020A0603040505020204" pitchFamily="18" charset="0"/>
            </a:endParaRPr>
          </a:p>
        </p:txBody>
      </p:sp>
      <p:sp>
        <p:nvSpPr>
          <p:cNvPr id="15" name="Text 13">
            <a:extLst>
              <a:ext uri="{FF2B5EF4-FFF2-40B4-BE49-F238E27FC236}">
                <a16:creationId xmlns:a16="http://schemas.microsoft.com/office/drawing/2014/main" id="{D26178CF-9339-DE4A-28C3-77F3A415D7BD}"/>
              </a:ext>
            </a:extLst>
          </p:cNvPr>
          <p:cNvSpPr/>
          <p:nvPr/>
        </p:nvSpPr>
        <p:spPr>
          <a:xfrm>
            <a:off x="793790" y="4254326"/>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05</a:t>
            </a:r>
            <a:endParaRPr lang="en-US" sz="1750" dirty="0">
              <a:solidFill>
                <a:schemeClr val="tx1"/>
              </a:solidFill>
              <a:latin typeface="PT Serif" panose="020A0603040505020204" pitchFamily="18" charset="0"/>
            </a:endParaRPr>
          </a:p>
        </p:txBody>
      </p:sp>
      <p:sp>
        <p:nvSpPr>
          <p:cNvPr id="16" name="Shape 14">
            <a:extLst>
              <a:ext uri="{FF2B5EF4-FFF2-40B4-BE49-F238E27FC236}">
                <a16:creationId xmlns:a16="http://schemas.microsoft.com/office/drawing/2014/main" id="{91EAC6A6-8C3F-4954-512B-A2B54B6C5FB6}"/>
              </a:ext>
            </a:extLst>
          </p:cNvPr>
          <p:cNvSpPr/>
          <p:nvPr/>
        </p:nvSpPr>
        <p:spPr>
          <a:xfrm>
            <a:off x="793790" y="4609370"/>
            <a:ext cx="6407944" cy="30480"/>
          </a:xfrm>
          <a:prstGeom prst="rect">
            <a:avLst/>
          </a:prstGeom>
          <a:solidFill>
            <a:srgbClr val="E04F00"/>
          </a:solidFill>
          <a:ln/>
        </p:spPr>
      </p:sp>
      <p:sp>
        <p:nvSpPr>
          <p:cNvPr id="17" name="Text 15">
            <a:extLst>
              <a:ext uri="{FF2B5EF4-FFF2-40B4-BE49-F238E27FC236}">
                <a16:creationId xmlns:a16="http://schemas.microsoft.com/office/drawing/2014/main" id="{DB97DF43-3297-7260-5B91-2DAB55D3B09B}"/>
              </a:ext>
            </a:extLst>
          </p:cNvPr>
          <p:cNvSpPr/>
          <p:nvPr/>
        </p:nvSpPr>
        <p:spPr>
          <a:xfrm>
            <a:off x="793790" y="4783678"/>
            <a:ext cx="5378410" cy="506016"/>
          </a:xfrm>
          <a:prstGeom prst="rect">
            <a:avLst/>
          </a:prstGeom>
          <a:noFill/>
          <a:ln/>
        </p:spPr>
        <p:txBody>
          <a:bodyPr wrap="none" lIns="0" tIns="0" rIns="0" bIns="0" rtlCol="0" anchor="t"/>
          <a:lstStyle/>
          <a:p>
            <a:pPr marL="0" indent="0" algn="l">
              <a:lnSpc>
                <a:spcPts val="3000"/>
              </a:lnSpc>
              <a:buNone/>
            </a:pPr>
            <a:r>
              <a:rPr lang="en-US" sz="2400" dirty="0">
                <a:solidFill>
                  <a:schemeClr val="tx1"/>
                </a:solidFill>
                <a:latin typeface="PT Serif" pitchFamily="34" charset="0"/>
                <a:ea typeface="PT Serif" pitchFamily="34" charset="-122"/>
                <a:cs typeface="PT Serif" pitchFamily="34" charset="-120"/>
              </a:rPr>
              <a:t>Lasso Regression</a:t>
            </a:r>
            <a:endParaRPr lang="en-US" sz="2400" dirty="0">
              <a:solidFill>
                <a:schemeClr val="tx1"/>
              </a:solidFill>
            </a:endParaRPr>
          </a:p>
        </p:txBody>
      </p:sp>
      <p:sp>
        <p:nvSpPr>
          <p:cNvPr id="27" name="Text 9">
            <a:extLst>
              <a:ext uri="{FF2B5EF4-FFF2-40B4-BE49-F238E27FC236}">
                <a16:creationId xmlns:a16="http://schemas.microsoft.com/office/drawing/2014/main" id="{7E44A9EB-37D4-D3CC-6CA9-BE886EEF64E4}"/>
              </a:ext>
            </a:extLst>
          </p:cNvPr>
          <p:cNvSpPr/>
          <p:nvPr/>
        </p:nvSpPr>
        <p:spPr>
          <a:xfrm>
            <a:off x="7428548" y="3297674"/>
            <a:ext cx="5149810" cy="341590"/>
          </a:xfrm>
          <a:prstGeom prst="rect">
            <a:avLst/>
          </a:prstGeom>
          <a:noFill/>
          <a:ln/>
        </p:spPr>
        <p:txBody>
          <a:bodyPr wrap="none" lIns="0" tIns="0" rIns="0" bIns="0" rtlCol="0" anchor="t"/>
          <a:lstStyle/>
          <a:p>
            <a:pPr marL="0" indent="0" algn="l">
              <a:lnSpc>
                <a:spcPts val="3000"/>
              </a:lnSpc>
              <a:buNone/>
            </a:pPr>
            <a:r>
              <a:rPr lang="en-US" sz="2400" dirty="0">
                <a:solidFill>
                  <a:schemeClr val="tx1"/>
                </a:solidFill>
                <a:latin typeface="PT Serif" pitchFamily="34" charset="0"/>
                <a:ea typeface="PT Serif" pitchFamily="34" charset="-122"/>
                <a:cs typeface="PT Serif" pitchFamily="34" charset="-120"/>
              </a:rPr>
              <a:t>Ridge Regression</a:t>
            </a:r>
            <a:endParaRPr lang="en-US" sz="2400" dirty="0">
              <a:solidFill>
                <a:schemeClr val="tx1"/>
              </a:solidFill>
            </a:endParaRPr>
          </a:p>
        </p:txBody>
      </p:sp>
      <p:sp>
        <p:nvSpPr>
          <p:cNvPr id="19" name="Text 10">
            <a:extLst>
              <a:ext uri="{FF2B5EF4-FFF2-40B4-BE49-F238E27FC236}">
                <a16:creationId xmlns:a16="http://schemas.microsoft.com/office/drawing/2014/main" id="{5B9F5E8B-045A-3A25-2933-25E0399D6449}"/>
              </a:ext>
            </a:extLst>
          </p:cNvPr>
          <p:cNvSpPr/>
          <p:nvPr/>
        </p:nvSpPr>
        <p:spPr>
          <a:xfrm>
            <a:off x="7391400" y="4285267"/>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06</a:t>
            </a:r>
            <a:endParaRPr lang="en-US" sz="1750" dirty="0">
              <a:solidFill>
                <a:schemeClr val="tx1"/>
              </a:solidFill>
              <a:latin typeface="PT Serif" panose="020A0603040505020204" pitchFamily="18" charset="0"/>
            </a:endParaRPr>
          </a:p>
        </p:txBody>
      </p:sp>
      <p:sp>
        <p:nvSpPr>
          <p:cNvPr id="20" name="Shape 11">
            <a:extLst>
              <a:ext uri="{FF2B5EF4-FFF2-40B4-BE49-F238E27FC236}">
                <a16:creationId xmlns:a16="http://schemas.microsoft.com/office/drawing/2014/main" id="{EC1DCEC7-625C-4004-BE4E-377DFDBDBFBA}"/>
              </a:ext>
            </a:extLst>
          </p:cNvPr>
          <p:cNvSpPr/>
          <p:nvPr/>
        </p:nvSpPr>
        <p:spPr>
          <a:xfrm>
            <a:off x="7391400" y="4640312"/>
            <a:ext cx="6408063" cy="30480"/>
          </a:xfrm>
          <a:prstGeom prst="rect">
            <a:avLst/>
          </a:prstGeom>
          <a:solidFill>
            <a:srgbClr val="E04F00"/>
          </a:solidFill>
          <a:ln/>
        </p:spPr>
      </p:sp>
      <p:sp>
        <p:nvSpPr>
          <p:cNvPr id="21" name="Text 9">
            <a:extLst>
              <a:ext uri="{FF2B5EF4-FFF2-40B4-BE49-F238E27FC236}">
                <a16:creationId xmlns:a16="http://schemas.microsoft.com/office/drawing/2014/main" id="{D78A8F84-E258-6237-EABC-99F514D623A1}"/>
              </a:ext>
            </a:extLst>
          </p:cNvPr>
          <p:cNvSpPr/>
          <p:nvPr/>
        </p:nvSpPr>
        <p:spPr>
          <a:xfrm>
            <a:off x="7391400" y="4827136"/>
            <a:ext cx="5149810" cy="341590"/>
          </a:xfrm>
          <a:prstGeom prst="rect">
            <a:avLst/>
          </a:prstGeom>
          <a:noFill/>
          <a:ln/>
        </p:spPr>
        <p:txBody>
          <a:bodyPr wrap="none" lIns="0" tIns="0" rIns="0" bIns="0" rtlCol="0" anchor="t"/>
          <a:lstStyle/>
          <a:p>
            <a:pPr marL="0" indent="0" algn="l">
              <a:lnSpc>
                <a:spcPts val="3000"/>
              </a:lnSpc>
              <a:buNone/>
            </a:pPr>
            <a:r>
              <a:rPr lang="en-US" sz="2400" dirty="0">
                <a:solidFill>
                  <a:schemeClr val="tx1"/>
                </a:solidFill>
                <a:latin typeface="PT Serif" pitchFamily="34" charset="0"/>
                <a:ea typeface="PT Serif" pitchFamily="34" charset="-122"/>
                <a:cs typeface="PT Serif" pitchFamily="34" charset="-120"/>
              </a:rPr>
              <a:t>Elastic Net</a:t>
            </a:r>
            <a:endParaRPr lang="en-US" sz="2400" dirty="0">
              <a:solidFill>
                <a:schemeClr val="tx1"/>
              </a:solidFill>
            </a:endParaRPr>
          </a:p>
        </p:txBody>
      </p:sp>
      <p:sp>
        <p:nvSpPr>
          <p:cNvPr id="31" name="Text 13">
            <a:extLst>
              <a:ext uri="{FF2B5EF4-FFF2-40B4-BE49-F238E27FC236}">
                <a16:creationId xmlns:a16="http://schemas.microsoft.com/office/drawing/2014/main" id="{095E4F4F-C448-2636-8417-EBA22A219960}"/>
              </a:ext>
            </a:extLst>
          </p:cNvPr>
          <p:cNvSpPr/>
          <p:nvPr/>
        </p:nvSpPr>
        <p:spPr>
          <a:xfrm>
            <a:off x="793790" y="425478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05</a:t>
            </a:r>
            <a:endParaRPr lang="en-US" sz="1750" dirty="0">
              <a:solidFill>
                <a:schemeClr val="tx1"/>
              </a:solidFill>
              <a:latin typeface="PT Serif" panose="020A0603040505020204" pitchFamily="18" charset="0"/>
            </a:endParaRPr>
          </a:p>
        </p:txBody>
      </p:sp>
      <p:sp>
        <p:nvSpPr>
          <p:cNvPr id="32" name="Shape 14">
            <a:extLst>
              <a:ext uri="{FF2B5EF4-FFF2-40B4-BE49-F238E27FC236}">
                <a16:creationId xmlns:a16="http://schemas.microsoft.com/office/drawing/2014/main" id="{1AFCEA35-CF83-E408-A568-74542A05F043}"/>
              </a:ext>
            </a:extLst>
          </p:cNvPr>
          <p:cNvSpPr/>
          <p:nvPr/>
        </p:nvSpPr>
        <p:spPr>
          <a:xfrm>
            <a:off x="793790" y="4609832"/>
            <a:ext cx="6407944" cy="30480"/>
          </a:xfrm>
          <a:prstGeom prst="rect">
            <a:avLst/>
          </a:prstGeom>
          <a:solidFill>
            <a:srgbClr val="E04F00"/>
          </a:solidFill>
          <a:ln/>
        </p:spPr>
      </p:sp>
    </p:spTree>
    <p:extLst>
      <p:ext uri="{BB962C8B-B14F-4D97-AF65-F5344CB8AC3E}">
        <p14:creationId xmlns:p14="http://schemas.microsoft.com/office/powerpoint/2010/main" val="24162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BB73459B-6469-E48E-523F-49DE8DF5997B}"/>
              </a:ext>
            </a:extLst>
          </p:cNvPr>
          <p:cNvGrpSpPr/>
          <p:nvPr/>
        </p:nvGrpSpPr>
        <p:grpSpPr>
          <a:xfrm>
            <a:off x="371387" y="5486400"/>
            <a:ext cx="6791413" cy="2421284"/>
            <a:chOff x="793788" y="4631308"/>
            <a:chExt cx="6437630" cy="2974340"/>
          </a:xfrm>
        </p:grpSpPr>
        <p:sp>
          <p:nvSpPr>
            <p:cNvPr id="15" name="object 14">
              <a:extLst>
                <a:ext uri="{FF2B5EF4-FFF2-40B4-BE49-F238E27FC236}">
                  <a16:creationId xmlns:a16="http://schemas.microsoft.com/office/drawing/2014/main" id="{71616C5E-65C8-6E58-8FBA-B20C0EDC16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6" name="object 15">
              <a:extLst>
                <a:ext uri="{FF2B5EF4-FFF2-40B4-BE49-F238E27FC236}">
                  <a16:creationId xmlns:a16="http://schemas.microsoft.com/office/drawing/2014/main" id="{92C0E4B8-3324-4A15-E5FB-5927AF9E1041}"/>
                </a:ext>
              </a:extLst>
            </p:cNvPr>
            <p:cNvSpPr/>
            <p:nvPr/>
          </p:nvSpPr>
          <p:spPr>
            <a:xfrm>
              <a:off x="816648" y="4654166"/>
              <a:ext cx="6391910" cy="725983"/>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1" name="object 13">
            <a:extLst>
              <a:ext uri="{FF2B5EF4-FFF2-40B4-BE49-F238E27FC236}">
                <a16:creationId xmlns:a16="http://schemas.microsoft.com/office/drawing/2014/main" id="{7EC27F32-5AE2-A457-BF6B-4E11B04E7022}"/>
              </a:ext>
            </a:extLst>
          </p:cNvPr>
          <p:cNvGrpSpPr/>
          <p:nvPr/>
        </p:nvGrpSpPr>
        <p:grpSpPr>
          <a:xfrm>
            <a:off x="7416285" y="5503516"/>
            <a:ext cx="6791413" cy="2421284"/>
            <a:chOff x="793788" y="4631308"/>
            <a:chExt cx="6437630" cy="2974340"/>
          </a:xfrm>
        </p:grpSpPr>
        <p:sp>
          <p:nvSpPr>
            <p:cNvPr id="12" name="object 14">
              <a:extLst>
                <a:ext uri="{FF2B5EF4-FFF2-40B4-BE49-F238E27FC236}">
                  <a16:creationId xmlns:a16="http://schemas.microsoft.com/office/drawing/2014/main" id="{914ADF9D-302C-11BE-1737-EC93DB20084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3" name="object 15">
              <a:extLst>
                <a:ext uri="{FF2B5EF4-FFF2-40B4-BE49-F238E27FC236}">
                  <a16:creationId xmlns:a16="http://schemas.microsoft.com/office/drawing/2014/main" id="{A8A7E959-E8B3-A90E-735F-57A80005DA27}"/>
                </a:ext>
              </a:extLst>
            </p:cNvPr>
            <p:cNvSpPr/>
            <p:nvPr/>
          </p:nvSpPr>
          <p:spPr>
            <a:xfrm>
              <a:off x="816648" y="4654166"/>
              <a:ext cx="6391910" cy="70495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8" name="object 13">
            <a:extLst>
              <a:ext uri="{FF2B5EF4-FFF2-40B4-BE49-F238E27FC236}">
                <a16:creationId xmlns:a16="http://schemas.microsoft.com/office/drawing/2014/main" id="{8C1FE014-3026-6862-3720-9E77AE2730D2}"/>
              </a:ext>
            </a:extLst>
          </p:cNvPr>
          <p:cNvGrpSpPr/>
          <p:nvPr/>
        </p:nvGrpSpPr>
        <p:grpSpPr>
          <a:xfrm>
            <a:off x="7457987" y="2438400"/>
            <a:ext cx="6791413" cy="2438400"/>
            <a:chOff x="793788" y="4631308"/>
            <a:chExt cx="6437630" cy="2974340"/>
          </a:xfrm>
        </p:grpSpPr>
        <p:sp>
          <p:nvSpPr>
            <p:cNvPr id="9" name="object 14">
              <a:extLst>
                <a:ext uri="{FF2B5EF4-FFF2-40B4-BE49-F238E27FC236}">
                  <a16:creationId xmlns:a16="http://schemas.microsoft.com/office/drawing/2014/main" id="{579AC416-E9EC-951C-0C59-953A86086D2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0" name="object 15">
              <a:extLst>
                <a:ext uri="{FF2B5EF4-FFF2-40B4-BE49-F238E27FC236}">
                  <a16:creationId xmlns:a16="http://schemas.microsoft.com/office/drawing/2014/main" id="{9B115779-7710-6EDD-DFF1-D0FB2943E089}"/>
                </a:ext>
              </a:extLst>
            </p:cNvPr>
            <p:cNvSpPr/>
            <p:nvPr/>
          </p:nvSpPr>
          <p:spPr>
            <a:xfrm>
              <a:off x="816648" y="4654166"/>
              <a:ext cx="6391910" cy="906624"/>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5" name="object 13">
            <a:extLst>
              <a:ext uri="{FF2B5EF4-FFF2-40B4-BE49-F238E27FC236}">
                <a16:creationId xmlns:a16="http://schemas.microsoft.com/office/drawing/2014/main" id="{8A10505B-9623-8692-6E01-754220E5E1A5}"/>
              </a:ext>
            </a:extLst>
          </p:cNvPr>
          <p:cNvGrpSpPr/>
          <p:nvPr/>
        </p:nvGrpSpPr>
        <p:grpSpPr>
          <a:xfrm>
            <a:off x="304330" y="2367593"/>
            <a:ext cx="6791413" cy="2421284"/>
            <a:chOff x="793788" y="4631308"/>
            <a:chExt cx="6437630" cy="2974340"/>
          </a:xfrm>
        </p:grpSpPr>
        <p:sp>
          <p:nvSpPr>
            <p:cNvPr id="6" name="object 14">
              <a:extLst>
                <a:ext uri="{FF2B5EF4-FFF2-40B4-BE49-F238E27FC236}">
                  <a16:creationId xmlns:a16="http://schemas.microsoft.com/office/drawing/2014/main" id="{CCC4CF37-751F-54B7-DF88-A67DF0F558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7" name="object 15">
              <a:extLst>
                <a:ext uri="{FF2B5EF4-FFF2-40B4-BE49-F238E27FC236}">
                  <a16:creationId xmlns:a16="http://schemas.microsoft.com/office/drawing/2014/main" id="{78A747FC-C403-4EA4-6231-4399095DDD25}"/>
                </a:ext>
              </a:extLst>
            </p:cNvPr>
            <p:cNvSpPr/>
            <p:nvPr/>
          </p:nvSpPr>
          <p:spPr>
            <a:xfrm>
              <a:off x="816648" y="4654166"/>
              <a:ext cx="6391910" cy="89216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Title 1">
            <a:extLst>
              <a:ext uri="{FF2B5EF4-FFF2-40B4-BE49-F238E27FC236}">
                <a16:creationId xmlns:a16="http://schemas.microsoft.com/office/drawing/2014/main" id="{4AF5101B-081F-A0A0-283B-952EF957F11A}"/>
              </a:ext>
            </a:extLst>
          </p:cNvPr>
          <p:cNvSpPr>
            <a:spLocks noGrp="1"/>
          </p:cNvSpPr>
          <p:nvPr>
            <p:ph type="title"/>
          </p:nvPr>
        </p:nvSpPr>
        <p:spPr>
          <a:xfrm>
            <a:off x="629959" y="269465"/>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Why Ordinary Least Squares Falls Short</a:t>
            </a:r>
            <a:endParaRPr lang="en-US" sz="3600" dirty="0"/>
          </a:p>
        </p:txBody>
      </p:sp>
      <p:sp>
        <p:nvSpPr>
          <p:cNvPr id="3" name="Content Placeholder 2">
            <a:extLst>
              <a:ext uri="{FF2B5EF4-FFF2-40B4-BE49-F238E27FC236}">
                <a16:creationId xmlns:a16="http://schemas.microsoft.com/office/drawing/2014/main" id="{C270CAFA-D3A1-D9BB-F761-32F74583DD0B}"/>
              </a:ext>
            </a:extLst>
          </p:cNvPr>
          <p:cNvSpPr>
            <a:spLocks noGrp="1"/>
          </p:cNvSpPr>
          <p:nvPr>
            <p:ph sz="half" idx="2"/>
          </p:nvPr>
        </p:nvSpPr>
        <p:spPr>
          <a:xfrm>
            <a:off x="731520" y="2426208"/>
            <a:ext cx="6364224" cy="5276637"/>
          </a:xfrm>
        </p:spPr>
        <p:txBody>
          <a:bodyPr/>
          <a:lstStyle/>
          <a:p>
            <a:pPr marL="0" indent="0" algn="ctr">
              <a:lnSpc>
                <a:spcPct val="200000"/>
              </a:lnSpc>
              <a:buNone/>
            </a:pPr>
            <a:r>
              <a:rPr lang="en-US" sz="2400" dirty="0">
                <a:solidFill>
                  <a:srgbClr val="383838"/>
                </a:solidFill>
                <a:ea typeface="PT Serif" pitchFamily="34" charset="-122"/>
                <a:cs typeface="PT Serif" pitchFamily="34" charset="-120"/>
              </a:rPr>
              <a:t>Multicollinearity</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When predictors are highly correlated, coefficient estimates become unstable and difficult to interpret reliably.</a:t>
            </a:r>
            <a:endParaRPr lang="en-US" sz="1800" dirty="0"/>
          </a:p>
          <a:p>
            <a:pPr algn="l">
              <a:lnSpc>
                <a:spcPct val="200000"/>
              </a:lnSpc>
            </a:pPr>
            <a:endParaRPr lang="en-US" sz="1800" dirty="0"/>
          </a:p>
          <a:p>
            <a:pPr algn="l">
              <a:lnSpc>
                <a:spcPct val="200000"/>
              </a:lnSpc>
            </a:pPr>
            <a:endParaRPr lang="en-US" sz="1800" dirty="0"/>
          </a:p>
          <a:p>
            <a:pPr marL="0" indent="0" algn="ctr">
              <a:lnSpc>
                <a:spcPct val="200000"/>
              </a:lnSpc>
              <a:buNone/>
            </a:pPr>
            <a:r>
              <a:rPr lang="en-US" sz="2400" dirty="0">
                <a:solidFill>
                  <a:srgbClr val="383838"/>
                </a:solidFill>
                <a:ea typeface="PT Serif" pitchFamily="34" charset="-122"/>
                <a:cs typeface="PT Serif" pitchFamily="34" charset="-120"/>
              </a:rPr>
              <a:t>Overfitting Risk</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With many predictors, models fit training data perfectly but fail to generalize to new observations.</a:t>
            </a:r>
            <a:endParaRPr lang="en-US" sz="1800" dirty="0"/>
          </a:p>
          <a:p>
            <a:pPr>
              <a:lnSpc>
                <a:spcPct val="200000"/>
              </a:lnSpc>
            </a:pPr>
            <a:endParaRPr lang="en-IN" sz="1800" dirty="0"/>
          </a:p>
        </p:txBody>
      </p:sp>
      <p:sp>
        <p:nvSpPr>
          <p:cNvPr id="4" name="Content Placeholder 3">
            <a:extLst>
              <a:ext uri="{FF2B5EF4-FFF2-40B4-BE49-F238E27FC236}">
                <a16:creationId xmlns:a16="http://schemas.microsoft.com/office/drawing/2014/main" id="{92CC7E2B-A810-56BD-EE5C-66DF6AEC3FED}"/>
              </a:ext>
            </a:extLst>
          </p:cNvPr>
          <p:cNvSpPr>
            <a:spLocks noGrp="1"/>
          </p:cNvSpPr>
          <p:nvPr>
            <p:ph sz="half" idx="3"/>
          </p:nvPr>
        </p:nvSpPr>
        <p:spPr>
          <a:xfrm>
            <a:off x="7671581" y="2468394"/>
            <a:ext cx="6364224" cy="5276637"/>
          </a:xfrm>
        </p:spPr>
        <p:txBody>
          <a:bodyPr/>
          <a:lstStyle/>
          <a:p>
            <a:pPr marL="0" indent="0" algn="ctr">
              <a:lnSpc>
                <a:spcPct val="200000"/>
              </a:lnSpc>
              <a:buNone/>
            </a:pPr>
            <a:r>
              <a:rPr lang="en-US" sz="2400" dirty="0">
                <a:solidFill>
                  <a:srgbClr val="383838"/>
                </a:solidFill>
                <a:ea typeface="PT Serif" pitchFamily="34" charset="-122"/>
                <a:cs typeface="PT Serif" pitchFamily="34" charset="-120"/>
              </a:rPr>
              <a:t>High Variance Coefficients</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Small changes in training data can lead to dramatically different coefficient estimates, reducing model reliability.</a:t>
            </a:r>
            <a:endParaRPr lang="en-US" sz="1800" dirty="0"/>
          </a:p>
          <a:p>
            <a:pPr algn="l">
              <a:lnSpc>
                <a:spcPct val="200000"/>
              </a:lnSpc>
            </a:pPr>
            <a:endParaRPr lang="en-US" sz="1800" dirty="0"/>
          </a:p>
          <a:p>
            <a:pPr algn="l">
              <a:lnSpc>
                <a:spcPct val="200000"/>
              </a:lnSpc>
            </a:pPr>
            <a:endParaRPr lang="en-US" sz="1800" dirty="0"/>
          </a:p>
          <a:p>
            <a:pPr marL="0" indent="0" algn="ctr">
              <a:lnSpc>
                <a:spcPct val="200000"/>
              </a:lnSpc>
              <a:buNone/>
            </a:pPr>
            <a:r>
              <a:rPr lang="en-US" sz="2400" dirty="0">
                <a:solidFill>
                  <a:srgbClr val="383838"/>
                </a:solidFill>
                <a:ea typeface="PT Serif" pitchFamily="34" charset="-122"/>
                <a:cs typeface="PT Serif" pitchFamily="34" charset="-120"/>
              </a:rPr>
              <a:t>Non-Identifiable Solutions</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When the number of predictors exceeds observations (p &gt; n), OLS cannot produce a unique solution.</a:t>
            </a:r>
            <a:endParaRPr lang="en-US" sz="1800" dirty="0"/>
          </a:p>
          <a:p>
            <a:pPr>
              <a:lnSpc>
                <a:spcPct val="200000"/>
              </a:lnSpc>
            </a:pPr>
            <a:endParaRPr lang="en-IN" sz="1800" dirty="0"/>
          </a:p>
        </p:txBody>
      </p:sp>
      <p:sp>
        <p:nvSpPr>
          <p:cNvPr id="18" name="TextBox 17">
            <a:extLst>
              <a:ext uri="{FF2B5EF4-FFF2-40B4-BE49-F238E27FC236}">
                <a16:creationId xmlns:a16="http://schemas.microsoft.com/office/drawing/2014/main" id="{39957BFF-50A4-AFA3-BDA7-D00622D6016F}"/>
              </a:ext>
            </a:extLst>
          </p:cNvPr>
          <p:cNvSpPr txBox="1"/>
          <p:nvPr/>
        </p:nvSpPr>
        <p:spPr>
          <a:xfrm>
            <a:off x="665127" y="1050646"/>
            <a:ext cx="13656055" cy="879280"/>
          </a:xfrm>
          <a:prstGeom prst="rect">
            <a:avLst/>
          </a:prstGeom>
          <a:noFill/>
        </p:spPr>
        <p:txBody>
          <a:bodyPr wrap="square">
            <a:spAutoFit/>
          </a:bodyPr>
          <a:lstStyle/>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Ordinary Least Squares (OLS) regression minimizes only the sum of squared errors between predicted and actual values. While elegant in theory, OLS encounters significant challenges when applied to modern high-dimensional datasets.</a:t>
            </a:r>
            <a:endParaRPr lang="en-US" sz="1800" dirty="0">
              <a:latin typeface="PT Serif" panose="020A0603040505020204" pitchFamily="18" charset="0"/>
            </a:endParaRPr>
          </a:p>
        </p:txBody>
      </p:sp>
    </p:spTree>
    <p:extLst>
      <p:ext uri="{BB962C8B-B14F-4D97-AF65-F5344CB8AC3E}">
        <p14:creationId xmlns:p14="http://schemas.microsoft.com/office/powerpoint/2010/main" val="2139427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BB73459B-6469-E48E-523F-49DE8DF5997B}"/>
              </a:ext>
            </a:extLst>
          </p:cNvPr>
          <p:cNvGrpSpPr/>
          <p:nvPr/>
        </p:nvGrpSpPr>
        <p:grpSpPr>
          <a:xfrm>
            <a:off x="371387" y="5638800"/>
            <a:ext cx="6791413" cy="2421284"/>
            <a:chOff x="793788" y="4631308"/>
            <a:chExt cx="6437630" cy="2974340"/>
          </a:xfrm>
        </p:grpSpPr>
        <p:sp>
          <p:nvSpPr>
            <p:cNvPr id="15" name="object 14">
              <a:extLst>
                <a:ext uri="{FF2B5EF4-FFF2-40B4-BE49-F238E27FC236}">
                  <a16:creationId xmlns:a16="http://schemas.microsoft.com/office/drawing/2014/main" id="{71616C5E-65C8-6E58-8FBA-B20C0EDC16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6" name="object 15">
              <a:extLst>
                <a:ext uri="{FF2B5EF4-FFF2-40B4-BE49-F238E27FC236}">
                  <a16:creationId xmlns:a16="http://schemas.microsoft.com/office/drawing/2014/main" id="{92C0E4B8-3324-4A15-E5FB-5927AF9E1041}"/>
                </a:ext>
              </a:extLst>
            </p:cNvPr>
            <p:cNvSpPr/>
            <p:nvPr/>
          </p:nvSpPr>
          <p:spPr>
            <a:xfrm>
              <a:off x="816648" y="4654166"/>
              <a:ext cx="6391910" cy="725983"/>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1" name="object 13">
            <a:extLst>
              <a:ext uri="{FF2B5EF4-FFF2-40B4-BE49-F238E27FC236}">
                <a16:creationId xmlns:a16="http://schemas.microsoft.com/office/drawing/2014/main" id="{7EC27F32-5AE2-A457-BF6B-4E11B04E7022}"/>
              </a:ext>
            </a:extLst>
          </p:cNvPr>
          <p:cNvGrpSpPr/>
          <p:nvPr/>
        </p:nvGrpSpPr>
        <p:grpSpPr>
          <a:xfrm>
            <a:off x="7416285" y="5655916"/>
            <a:ext cx="6791413" cy="2421284"/>
            <a:chOff x="793788" y="4631308"/>
            <a:chExt cx="6437630" cy="2974340"/>
          </a:xfrm>
        </p:grpSpPr>
        <p:sp>
          <p:nvSpPr>
            <p:cNvPr id="12" name="object 14">
              <a:extLst>
                <a:ext uri="{FF2B5EF4-FFF2-40B4-BE49-F238E27FC236}">
                  <a16:creationId xmlns:a16="http://schemas.microsoft.com/office/drawing/2014/main" id="{914ADF9D-302C-11BE-1737-EC93DB20084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3" name="object 15">
              <a:extLst>
                <a:ext uri="{FF2B5EF4-FFF2-40B4-BE49-F238E27FC236}">
                  <a16:creationId xmlns:a16="http://schemas.microsoft.com/office/drawing/2014/main" id="{A8A7E959-E8B3-A90E-735F-57A80005DA27}"/>
                </a:ext>
              </a:extLst>
            </p:cNvPr>
            <p:cNvSpPr/>
            <p:nvPr/>
          </p:nvSpPr>
          <p:spPr>
            <a:xfrm>
              <a:off x="816648" y="4654166"/>
              <a:ext cx="6391910" cy="70495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8" name="object 13">
            <a:extLst>
              <a:ext uri="{FF2B5EF4-FFF2-40B4-BE49-F238E27FC236}">
                <a16:creationId xmlns:a16="http://schemas.microsoft.com/office/drawing/2014/main" id="{8C1FE014-3026-6862-3720-9E77AE2730D2}"/>
              </a:ext>
            </a:extLst>
          </p:cNvPr>
          <p:cNvGrpSpPr/>
          <p:nvPr/>
        </p:nvGrpSpPr>
        <p:grpSpPr>
          <a:xfrm>
            <a:off x="7457987" y="2590800"/>
            <a:ext cx="6791413" cy="2438400"/>
            <a:chOff x="793788" y="4631308"/>
            <a:chExt cx="6437630" cy="2974340"/>
          </a:xfrm>
        </p:grpSpPr>
        <p:sp>
          <p:nvSpPr>
            <p:cNvPr id="9" name="object 14">
              <a:extLst>
                <a:ext uri="{FF2B5EF4-FFF2-40B4-BE49-F238E27FC236}">
                  <a16:creationId xmlns:a16="http://schemas.microsoft.com/office/drawing/2014/main" id="{579AC416-E9EC-951C-0C59-953A86086D2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0" name="object 15">
              <a:extLst>
                <a:ext uri="{FF2B5EF4-FFF2-40B4-BE49-F238E27FC236}">
                  <a16:creationId xmlns:a16="http://schemas.microsoft.com/office/drawing/2014/main" id="{9B115779-7710-6EDD-DFF1-D0FB2943E089}"/>
                </a:ext>
              </a:extLst>
            </p:cNvPr>
            <p:cNvSpPr/>
            <p:nvPr/>
          </p:nvSpPr>
          <p:spPr>
            <a:xfrm>
              <a:off x="816648" y="4654166"/>
              <a:ext cx="6391910" cy="906624"/>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5" name="object 13">
            <a:extLst>
              <a:ext uri="{FF2B5EF4-FFF2-40B4-BE49-F238E27FC236}">
                <a16:creationId xmlns:a16="http://schemas.microsoft.com/office/drawing/2014/main" id="{8A10505B-9623-8692-6E01-754220E5E1A5}"/>
              </a:ext>
            </a:extLst>
          </p:cNvPr>
          <p:cNvGrpSpPr/>
          <p:nvPr/>
        </p:nvGrpSpPr>
        <p:grpSpPr>
          <a:xfrm>
            <a:off x="304330" y="2519993"/>
            <a:ext cx="6791413" cy="2421284"/>
            <a:chOff x="793788" y="4631308"/>
            <a:chExt cx="6437630" cy="2974340"/>
          </a:xfrm>
        </p:grpSpPr>
        <p:sp>
          <p:nvSpPr>
            <p:cNvPr id="6" name="object 14">
              <a:extLst>
                <a:ext uri="{FF2B5EF4-FFF2-40B4-BE49-F238E27FC236}">
                  <a16:creationId xmlns:a16="http://schemas.microsoft.com/office/drawing/2014/main" id="{CCC4CF37-751F-54B7-DF88-A67DF0F558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7" name="object 15">
              <a:extLst>
                <a:ext uri="{FF2B5EF4-FFF2-40B4-BE49-F238E27FC236}">
                  <a16:creationId xmlns:a16="http://schemas.microsoft.com/office/drawing/2014/main" id="{78A747FC-C403-4EA4-6231-4399095DDD25}"/>
                </a:ext>
              </a:extLst>
            </p:cNvPr>
            <p:cNvSpPr/>
            <p:nvPr/>
          </p:nvSpPr>
          <p:spPr>
            <a:xfrm>
              <a:off x="816648" y="4654166"/>
              <a:ext cx="6391910" cy="89216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Title 1">
            <a:extLst>
              <a:ext uri="{FF2B5EF4-FFF2-40B4-BE49-F238E27FC236}">
                <a16:creationId xmlns:a16="http://schemas.microsoft.com/office/drawing/2014/main" id="{4AF5101B-081F-A0A0-283B-952EF957F11A}"/>
              </a:ext>
            </a:extLst>
          </p:cNvPr>
          <p:cNvSpPr>
            <a:spLocks noGrp="1"/>
          </p:cNvSpPr>
          <p:nvPr>
            <p:ph type="title"/>
          </p:nvPr>
        </p:nvSpPr>
        <p:spPr>
          <a:xfrm>
            <a:off x="629959" y="20998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The Regularization Solution</a:t>
            </a:r>
            <a:endParaRPr lang="en-US" sz="3600" dirty="0"/>
          </a:p>
        </p:txBody>
      </p:sp>
      <p:sp>
        <p:nvSpPr>
          <p:cNvPr id="3" name="Content Placeholder 2">
            <a:extLst>
              <a:ext uri="{FF2B5EF4-FFF2-40B4-BE49-F238E27FC236}">
                <a16:creationId xmlns:a16="http://schemas.microsoft.com/office/drawing/2014/main" id="{C270CAFA-D3A1-D9BB-F761-32F74583DD0B}"/>
              </a:ext>
            </a:extLst>
          </p:cNvPr>
          <p:cNvSpPr>
            <a:spLocks noGrp="1"/>
          </p:cNvSpPr>
          <p:nvPr>
            <p:ph sz="half" idx="2"/>
          </p:nvPr>
        </p:nvSpPr>
        <p:spPr>
          <a:xfrm>
            <a:off x="572324" y="2579957"/>
            <a:ext cx="6364224" cy="5276637"/>
          </a:xfrm>
        </p:spPr>
        <p:txBody>
          <a:bodyPr/>
          <a:lstStyle/>
          <a:p>
            <a:pPr marL="0" indent="0" algn="ctr">
              <a:lnSpc>
                <a:spcPct val="200000"/>
              </a:lnSpc>
              <a:buNone/>
            </a:pPr>
            <a:r>
              <a:rPr lang="en-US" sz="2400" dirty="0">
                <a:solidFill>
                  <a:srgbClr val="383838"/>
                </a:solidFill>
                <a:ea typeface="PT Serif" pitchFamily="34" charset="-122"/>
                <a:cs typeface="PT Serif" pitchFamily="34" charset="-120"/>
              </a:rPr>
              <a:t>Penalty for Complexity</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Adds a cost term to the loss function that grows with coefficient magnitude, discouraging overly complex models.</a:t>
            </a:r>
            <a:endParaRPr lang="en-US" sz="1800" dirty="0"/>
          </a:p>
          <a:p>
            <a:pPr algn="l">
              <a:lnSpc>
                <a:spcPct val="200000"/>
              </a:lnSpc>
            </a:pPr>
            <a:endParaRPr lang="en-US" sz="1800" dirty="0"/>
          </a:p>
          <a:p>
            <a:pPr algn="l">
              <a:lnSpc>
                <a:spcPct val="200000"/>
              </a:lnSpc>
            </a:pPr>
            <a:endParaRPr lang="en-US" sz="1800" dirty="0"/>
          </a:p>
          <a:p>
            <a:pPr marL="0" indent="0" algn="ctr">
              <a:lnSpc>
                <a:spcPct val="200000"/>
              </a:lnSpc>
              <a:buNone/>
            </a:pPr>
            <a:r>
              <a:rPr lang="en-US" sz="2400" dirty="0">
                <a:solidFill>
                  <a:srgbClr val="383838"/>
                </a:solidFill>
                <a:ea typeface="PT Serif" pitchFamily="34" charset="-122"/>
                <a:cs typeface="PT Serif" pitchFamily="34" charset="-120"/>
              </a:rPr>
              <a:t>Better Generalization</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Models perform more consistently on new data by focusing on robust patterns rather than noise.</a:t>
            </a:r>
            <a:endParaRPr lang="en-US" sz="1800" dirty="0"/>
          </a:p>
          <a:p>
            <a:pPr>
              <a:lnSpc>
                <a:spcPct val="200000"/>
              </a:lnSpc>
            </a:pPr>
            <a:endParaRPr lang="en-IN" sz="1800" dirty="0"/>
          </a:p>
        </p:txBody>
      </p:sp>
      <p:sp>
        <p:nvSpPr>
          <p:cNvPr id="4" name="Content Placeholder 3">
            <a:extLst>
              <a:ext uri="{FF2B5EF4-FFF2-40B4-BE49-F238E27FC236}">
                <a16:creationId xmlns:a16="http://schemas.microsoft.com/office/drawing/2014/main" id="{92CC7E2B-A810-56BD-EE5C-66DF6AEC3FED}"/>
              </a:ext>
            </a:extLst>
          </p:cNvPr>
          <p:cNvSpPr>
            <a:spLocks noGrp="1"/>
          </p:cNvSpPr>
          <p:nvPr>
            <p:ph sz="half" idx="3"/>
          </p:nvPr>
        </p:nvSpPr>
        <p:spPr>
          <a:xfrm>
            <a:off x="7671581" y="2615869"/>
            <a:ext cx="6364224" cy="5276637"/>
          </a:xfrm>
        </p:spPr>
        <p:txBody>
          <a:bodyPr/>
          <a:lstStyle/>
          <a:p>
            <a:pPr marL="0" indent="0" algn="ctr">
              <a:lnSpc>
                <a:spcPct val="200000"/>
              </a:lnSpc>
              <a:buNone/>
            </a:pPr>
            <a:r>
              <a:rPr lang="en-US" sz="2400" dirty="0">
                <a:solidFill>
                  <a:srgbClr val="383838"/>
                </a:solidFill>
                <a:ea typeface="PT Serif" pitchFamily="34" charset="-122"/>
                <a:cs typeface="PT Serif" pitchFamily="34" charset="-120"/>
              </a:rPr>
              <a:t>Coefficient Shrinkage</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Forces coefficient values toward zero, preventing extreme parameter estimates that cause overfitting.</a:t>
            </a:r>
            <a:endParaRPr lang="en-US" sz="1800" dirty="0"/>
          </a:p>
          <a:p>
            <a:pPr algn="l">
              <a:lnSpc>
                <a:spcPct val="200000"/>
              </a:lnSpc>
            </a:pPr>
            <a:endParaRPr lang="en-US" sz="1800" dirty="0"/>
          </a:p>
          <a:p>
            <a:pPr algn="l">
              <a:lnSpc>
                <a:spcPct val="200000"/>
              </a:lnSpc>
            </a:pPr>
            <a:endParaRPr lang="en-US" sz="1800" dirty="0"/>
          </a:p>
          <a:p>
            <a:pPr marL="0" indent="0" algn="ctr">
              <a:lnSpc>
                <a:spcPct val="200000"/>
              </a:lnSpc>
              <a:buNone/>
            </a:pPr>
            <a:r>
              <a:rPr lang="en-US" sz="2400" dirty="0">
                <a:solidFill>
                  <a:srgbClr val="383838"/>
                </a:solidFill>
                <a:ea typeface="PT Serif" pitchFamily="34" charset="-122"/>
                <a:cs typeface="PT Serif" pitchFamily="34" charset="-120"/>
              </a:rPr>
              <a:t>Bias-Variance Tradeoff</a:t>
            </a:r>
            <a:endParaRPr lang="en-US" sz="2400" dirty="0"/>
          </a:p>
          <a:p>
            <a:pPr marL="0" indent="0" algn="l">
              <a:lnSpc>
                <a:spcPct val="200000"/>
              </a:lnSpc>
              <a:buNone/>
            </a:pPr>
            <a:r>
              <a:rPr lang="en-US" sz="1800" dirty="0">
                <a:solidFill>
                  <a:srgbClr val="383838"/>
                </a:solidFill>
                <a:ea typeface="DM Sans" pitchFamily="34" charset="-122"/>
                <a:cs typeface="DM Sans" pitchFamily="34" charset="-120"/>
              </a:rPr>
              <a:t>Accepts slightly biased estimates in exchange for dramatically lower variance and improved prediction accuracy.</a:t>
            </a:r>
            <a:endParaRPr lang="en-US" sz="1800" dirty="0"/>
          </a:p>
          <a:p>
            <a:pPr>
              <a:lnSpc>
                <a:spcPct val="200000"/>
              </a:lnSpc>
            </a:pPr>
            <a:endParaRPr lang="en-IN" sz="1800" dirty="0"/>
          </a:p>
        </p:txBody>
      </p:sp>
      <p:sp>
        <p:nvSpPr>
          <p:cNvPr id="18" name="TextBox 17">
            <a:extLst>
              <a:ext uri="{FF2B5EF4-FFF2-40B4-BE49-F238E27FC236}">
                <a16:creationId xmlns:a16="http://schemas.microsoft.com/office/drawing/2014/main" id="{39957BFF-50A4-AFA3-BDA7-D00622D6016F}"/>
              </a:ext>
            </a:extLst>
          </p:cNvPr>
          <p:cNvSpPr txBox="1"/>
          <p:nvPr/>
        </p:nvSpPr>
        <p:spPr>
          <a:xfrm>
            <a:off x="569228" y="762000"/>
            <a:ext cx="13656055" cy="1675652"/>
          </a:xfrm>
          <a:prstGeom prst="rect">
            <a:avLst/>
          </a:prstGeom>
          <a:noFill/>
        </p:spPr>
        <p:txBody>
          <a:bodyPr wrap="square">
            <a:spAutoFit/>
          </a:bodyPr>
          <a:lstStyle/>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Regularization introduces a penalty term that constrains model complexity, preventing coefficients from growing arbitrarily large. This approach trades a small increase in bias for a substantial reduction in variance, ultimately improving model performance on unseen data.</a:t>
            </a:r>
            <a:endParaRPr lang="en-US" sz="1800" dirty="0">
              <a:latin typeface="PT Serif" panose="020A0603040505020204" pitchFamily="18" charset="0"/>
            </a:endParaRPr>
          </a:p>
        </p:txBody>
      </p:sp>
    </p:spTree>
    <p:extLst>
      <p:ext uri="{BB962C8B-B14F-4D97-AF65-F5344CB8AC3E}">
        <p14:creationId xmlns:p14="http://schemas.microsoft.com/office/powerpoint/2010/main" val="2535477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717" y="-82156"/>
            <a:ext cx="13656055" cy="997761"/>
          </a:xfrm>
          <a:prstGeom prst="rect">
            <a:avLst/>
          </a:prstGeom>
        </p:spPr>
        <p:txBody>
          <a:bodyPr vert="horz" wrap="square" lIns="0" tIns="439471" rIns="0" bIns="0" rtlCol="0">
            <a:spAutoFit/>
          </a:bodyPr>
          <a:lstStyle/>
          <a:p>
            <a:pPr marL="0" indent="0" algn="l">
              <a:buNone/>
            </a:pPr>
            <a:r>
              <a:rPr lang="en-US" sz="3600" dirty="0">
                <a:solidFill>
                  <a:srgbClr val="020202"/>
                </a:solidFill>
                <a:ea typeface="PT Serif" pitchFamily="34" charset="-122"/>
                <a:cs typeface="PT Serif" pitchFamily="34" charset="-120"/>
              </a:rPr>
              <a:t>Mathematical Foundation of Regularization</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33152" y="2514514"/>
            <a:ext cx="4164095" cy="5562685"/>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46065" y="2383424"/>
            <a:ext cx="3892901" cy="48652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Regularized Objective Function</a:t>
            </a:r>
          </a:p>
          <a:p>
            <a:pPr marL="0" indent="0" algn="l">
              <a:lnSpc>
                <a:spcPct val="200000"/>
              </a:lnSpc>
              <a:buNone/>
            </a:pPr>
            <a:endParaRPr lang="en-US" sz="2400" dirty="0">
              <a:latin typeface="PT Serif" panose="020A0603040505020204" pitchFamily="18" charset="0"/>
            </a:endParaRPr>
          </a:p>
          <a:p>
            <a:pPr marL="0" indent="0" algn="l">
              <a:lnSpc>
                <a:spcPct val="200000"/>
              </a:lnSpc>
              <a:buNone/>
            </a:pP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Adds a penalty term weighted by hyperparameter λ that penalizes large coefficients.</a:t>
            </a:r>
            <a:endParaRPr lang="en-US" sz="1800" dirty="0">
              <a:latin typeface="PT Serif" panose="020A0603040505020204" pitchFamily="18" charset="0"/>
            </a:endParaRPr>
          </a:p>
          <a:p>
            <a:pPr>
              <a:lnSpc>
                <a:spcPct val="200000"/>
              </a:lnSpc>
            </a:pP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2570014"/>
            <a:ext cx="3892901" cy="5482384"/>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33706" y="2544936"/>
            <a:ext cx="3471977" cy="231374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The Regularization Parameter λ</a:t>
            </a:r>
            <a:endParaRPr lang="en-US" sz="2400" dirty="0">
              <a:latin typeface="PT Serif" panose="020A0603040505020204" pitchFamily="18" charset="0"/>
            </a:endParaRPr>
          </a:p>
          <a:p>
            <a:pPr marL="0" indent="0" algn="l">
              <a:lnSpc>
                <a:spcPct val="200000"/>
              </a:lnSpc>
              <a:buNone/>
            </a:pPr>
            <a:endParaRPr lang="en-US" sz="6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Controls the strength of regularization. Higher λ values impose stronger penalties, leading to greater shrinkage. When λ = 0, the model reduces to standard OLS.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724717" y="2537659"/>
            <a:ext cx="3976821" cy="5562685"/>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99728" y="2558519"/>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Ordinary Least Squares Objective</a:t>
            </a:r>
          </a:p>
          <a:p>
            <a:pPr marL="0" indent="0" algn="l">
              <a:lnSpc>
                <a:spcPct val="200000"/>
              </a:lnSpc>
              <a:buNone/>
            </a:pPr>
            <a:endParaRPr lang="en-US" sz="2400" dirty="0">
              <a:latin typeface="PT Serif" panose="020A0603040505020204" pitchFamily="18" charset="0"/>
            </a:endParaRPr>
          </a:p>
          <a:p>
            <a:pPr algn="l">
              <a:lnSpc>
                <a:spcPct val="200000"/>
              </a:lnSpc>
            </a:pP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Minimizes only prediction error without any constraint on coefficient values.</a:t>
            </a:r>
            <a:endParaRPr lang="en-US" sz="1800" dirty="0">
              <a:latin typeface="PT Serif" panose="020A0603040505020204" pitchFamily="18" charset="0"/>
            </a:endParaRPr>
          </a:p>
          <a:p>
            <a:pPr>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0" name="TextBox 9">
            <a:extLst>
              <a:ext uri="{FF2B5EF4-FFF2-40B4-BE49-F238E27FC236}">
                <a16:creationId xmlns:a16="http://schemas.microsoft.com/office/drawing/2014/main" id="{A48135D6-8881-AF13-8587-A7C5E7C98B25}"/>
              </a:ext>
            </a:extLst>
          </p:cNvPr>
          <p:cNvSpPr txBox="1"/>
          <p:nvPr/>
        </p:nvSpPr>
        <p:spPr>
          <a:xfrm>
            <a:off x="712994" y="1125587"/>
            <a:ext cx="13378020" cy="1121654"/>
          </a:xfrm>
          <a:prstGeom prst="rect">
            <a:avLst/>
          </a:prstGeom>
          <a:noFill/>
        </p:spPr>
        <p:txBody>
          <a:bodyPr wrap="square">
            <a:spAutoFit/>
          </a:bodyPr>
          <a:lstStyle/>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Understanding the mathematical formulation reveals how regularization modifies the optimization objective to balance fit and complexity.</a:t>
            </a:r>
            <a:endParaRPr lang="en-US" sz="1800" dirty="0">
              <a:latin typeface="PT Serif" panose="020A0603040505020204" pitchFamily="18" charset="0"/>
            </a:endParaRPr>
          </a:p>
        </p:txBody>
      </p:sp>
      <p:pic>
        <p:nvPicPr>
          <p:cNvPr id="11" name="Image 0" descr="preencoded.png">
            <a:extLst>
              <a:ext uri="{FF2B5EF4-FFF2-40B4-BE49-F238E27FC236}">
                <a16:creationId xmlns:a16="http://schemas.microsoft.com/office/drawing/2014/main" id="{08FB9CD6-BEF4-BF71-39DF-6F449F6C3C10}"/>
              </a:ext>
            </a:extLst>
          </p:cNvPr>
          <p:cNvPicPr>
            <a:picLocks noChangeAspect="1"/>
          </p:cNvPicPr>
          <p:nvPr/>
        </p:nvPicPr>
        <p:blipFill>
          <a:blip r:embed="rId2"/>
          <a:stretch>
            <a:fillRect/>
          </a:stretch>
        </p:blipFill>
        <p:spPr>
          <a:xfrm>
            <a:off x="682998" y="4085492"/>
            <a:ext cx="3704273" cy="791289"/>
          </a:xfrm>
          <a:prstGeom prst="rect">
            <a:avLst/>
          </a:prstGeom>
        </p:spPr>
      </p:pic>
      <p:pic>
        <p:nvPicPr>
          <p:cNvPr id="12" name="Image 1" descr="preencoded.png">
            <a:extLst>
              <a:ext uri="{FF2B5EF4-FFF2-40B4-BE49-F238E27FC236}">
                <a16:creationId xmlns:a16="http://schemas.microsoft.com/office/drawing/2014/main" id="{E7A3F8CD-6E88-ED72-BDA4-58E1667B82CB}"/>
              </a:ext>
            </a:extLst>
          </p:cNvPr>
          <p:cNvPicPr>
            <a:picLocks noChangeAspect="1"/>
          </p:cNvPicPr>
          <p:nvPr/>
        </p:nvPicPr>
        <p:blipFill>
          <a:blip r:embed="rId3"/>
          <a:stretch>
            <a:fillRect/>
          </a:stretch>
        </p:blipFill>
        <p:spPr>
          <a:xfrm>
            <a:off x="5527128" y="4085492"/>
            <a:ext cx="3704392" cy="1138238"/>
          </a:xfrm>
          <a:prstGeom prst="rect">
            <a:avLst/>
          </a:prstGeom>
        </p:spPr>
      </p:pic>
    </p:spTree>
    <p:extLst>
      <p:ext uri="{BB962C8B-B14F-4D97-AF65-F5344CB8AC3E}">
        <p14:creationId xmlns:p14="http://schemas.microsoft.com/office/powerpoint/2010/main" val="3546163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3631A-041B-ED42-8893-BC3EF390D7D0}"/>
              </a:ext>
            </a:extLst>
          </p:cNvPr>
          <p:cNvSpPr>
            <a:spLocks noGrp="1"/>
          </p:cNvSpPr>
          <p:nvPr>
            <p:ph type="title"/>
          </p:nvPr>
        </p:nvSpPr>
        <p:spPr>
          <a:xfrm>
            <a:off x="1981200" y="1447800"/>
            <a:ext cx="15468600" cy="4216539"/>
          </a:xfrm>
        </p:spPr>
        <p:txBody>
          <a:bodyPr/>
          <a:lstStyle/>
          <a:p>
            <a:pPr algn="l"/>
            <a:r>
              <a:rPr lang="en-US" sz="3600" dirty="0">
                <a:solidFill>
                  <a:srgbClr val="020202"/>
                </a:solidFill>
                <a:ea typeface="PT Serif" pitchFamily="34" charset="-122"/>
                <a:cs typeface="PT Serif" pitchFamily="34" charset="-120"/>
              </a:rPr>
              <a:t>Three Regularization Methods</a:t>
            </a:r>
            <a:br>
              <a:rPr lang="en-US" sz="3600" dirty="0">
                <a:solidFill>
                  <a:srgbClr val="020202"/>
                </a:solidFill>
                <a:ea typeface="PT Serif" pitchFamily="34" charset="-122"/>
                <a:cs typeface="PT Serif" pitchFamily="34" charset="-120"/>
              </a:rPr>
            </a:br>
            <a:br>
              <a:rPr lang="en-US" sz="4000" dirty="0"/>
            </a:br>
            <a:r>
              <a:rPr lang="en-US" sz="2200" dirty="0">
                <a:solidFill>
                  <a:srgbClr val="383838"/>
                </a:solidFill>
                <a:ea typeface="DM Sans" pitchFamily="34" charset="-122"/>
                <a:cs typeface="DM Sans" pitchFamily="34" charset="-120"/>
              </a:rPr>
              <a:t>Each technique applies a different penalty structure, offering distinct advantages for various </a:t>
            </a:r>
            <a:br>
              <a:rPr lang="en-US" sz="2200" dirty="0">
                <a:solidFill>
                  <a:srgbClr val="383838"/>
                </a:solidFill>
                <a:ea typeface="DM Sans" pitchFamily="34" charset="-122"/>
                <a:cs typeface="DM Sans" pitchFamily="34" charset="-120"/>
              </a:rPr>
            </a:br>
            <a:r>
              <a:rPr lang="en-US" sz="2200" dirty="0">
                <a:solidFill>
                  <a:srgbClr val="383838"/>
                </a:solidFill>
                <a:ea typeface="DM Sans" pitchFamily="34" charset="-122"/>
                <a:cs typeface="DM Sans" pitchFamily="34" charset="-120"/>
              </a:rPr>
              <a:t>modeling scenarios:</a:t>
            </a:r>
            <a:br>
              <a:rPr lang="en-US" sz="2200" dirty="0">
                <a:solidFill>
                  <a:srgbClr val="383838"/>
                </a:solidFill>
                <a:ea typeface="DM Sans" pitchFamily="34" charset="-122"/>
                <a:cs typeface="DM Sans" pitchFamily="34" charset="-120"/>
              </a:rPr>
            </a:br>
            <a:br>
              <a:rPr lang="en-US" sz="2200" dirty="0">
                <a:solidFill>
                  <a:srgbClr val="383838"/>
                </a:solidFill>
                <a:ea typeface="DM Sans" pitchFamily="34" charset="-122"/>
                <a:cs typeface="DM Sans" pitchFamily="34" charset="-120"/>
              </a:rPr>
            </a:br>
            <a:r>
              <a:rPr lang="en-US" sz="2200" dirty="0">
                <a:solidFill>
                  <a:srgbClr val="383838"/>
                </a:solidFill>
                <a:ea typeface="DM Sans" pitchFamily="34" charset="-122"/>
                <a:cs typeface="DM Sans" pitchFamily="34" charset="-120"/>
              </a:rPr>
              <a:t>1. Lasso Regression</a:t>
            </a:r>
            <a:br>
              <a:rPr lang="en-US" sz="2200" dirty="0">
                <a:solidFill>
                  <a:srgbClr val="383838"/>
                </a:solidFill>
                <a:ea typeface="DM Sans" pitchFamily="34" charset="-122"/>
                <a:cs typeface="DM Sans" pitchFamily="34" charset="-120"/>
              </a:rPr>
            </a:br>
            <a:br>
              <a:rPr lang="en-US" sz="2200" dirty="0">
                <a:solidFill>
                  <a:srgbClr val="383838"/>
                </a:solidFill>
                <a:ea typeface="DM Sans" pitchFamily="34" charset="-122"/>
                <a:cs typeface="DM Sans" pitchFamily="34" charset="-120"/>
              </a:rPr>
            </a:br>
            <a:r>
              <a:rPr lang="en-US" sz="2200" dirty="0">
                <a:solidFill>
                  <a:srgbClr val="383838"/>
                </a:solidFill>
                <a:ea typeface="DM Sans" pitchFamily="34" charset="-122"/>
                <a:cs typeface="DM Sans" pitchFamily="34" charset="-120"/>
              </a:rPr>
              <a:t>2. Ridge Regression</a:t>
            </a:r>
            <a:br>
              <a:rPr lang="en-US" sz="2200" dirty="0">
                <a:solidFill>
                  <a:srgbClr val="383838"/>
                </a:solidFill>
                <a:ea typeface="DM Sans" pitchFamily="34" charset="-122"/>
                <a:cs typeface="DM Sans" pitchFamily="34" charset="-120"/>
              </a:rPr>
            </a:br>
            <a:br>
              <a:rPr lang="en-US" sz="2200" dirty="0">
                <a:solidFill>
                  <a:srgbClr val="383838"/>
                </a:solidFill>
                <a:ea typeface="DM Sans" pitchFamily="34" charset="-122"/>
                <a:cs typeface="DM Sans" pitchFamily="34" charset="-120"/>
              </a:rPr>
            </a:br>
            <a:r>
              <a:rPr lang="en-US" sz="2200" dirty="0">
                <a:solidFill>
                  <a:srgbClr val="383838"/>
                </a:solidFill>
                <a:ea typeface="DM Sans" pitchFamily="34" charset="-122"/>
                <a:cs typeface="DM Sans" pitchFamily="34" charset="-120"/>
              </a:rPr>
              <a:t>3. Elastic Net</a:t>
            </a:r>
            <a:br>
              <a:rPr lang="en-US" sz="2200" dirty="0"/>
            </a:br>
            <a:endParaRPr lang="en-IN" sz="2200" dirty="0"/>
          </a:p>
        </p:txBody>
      </p:sp>
    </p:spTree>
    <p:extLst>
      <p:ext uri="{BB962C8B-B14F-4D97-AF65-F5344CB8AC3E}">
        <p14:creationId xmlns:p14="http://schemas.microsoft.com/office/powerpoint/2010/main" val="1897422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1">
            <a:extLst>
              <a:ext uri="{FF2B5EF4-FFF2-40B4-BE49-F238E27FC236}">
                <a16:creationId xmlns:a16="http://schemas.microsoft.com/office/drawing/2014/main" id="{22800A93-FED8-52CE-19B7-CEF9932CAF33}"/>
              </a:ext>
            </a:extLst>
          </p:cNvPr>
          <p:cNvSpPr/>
          <p:nvPr/>
        </p:nvSpPr>
        <p:spPr>
          <a:xfrm>
            <a:off x="7619527" y="5891949"/>
            <a:ext cx="6569851" cy="1687654"/>
          </a:xfrm>
          <a:prstGeom prst="roundRect">
            <a:avLst>
              <a:gd name="adj" fmla="val 2014"/>
            </a:avLst>
          </a:prstGeom>
          <a:solidFill>
            <a:srgbClr val="FFCDB3"/>
          </a:solidFill>
          <a:ln/>
        </p:spPr>
      </p:sp>
      <p:sp>
        <p:nvSpPr>
          <p:cNvPr id="2" name="Title 1">
            <a:extLst>
              <a:ext uri="{FF2B5EF4-FFF2-40B4-BE49-F238E27FC236}">
                <a16:creationId xmlns:a16="http://schemas.microsoft.com/office/drawing/2014/main" id="{DD241C0F-F24E-159C-E6B0-D4C0714304AB}"/>
              </a:ext>
            </a:extLst>
          </p:cNvPr>
          <p:cNvSpPr>
            <a:spLocks noGrp="1"/>
          </p:cNvSpPr>
          <p:nvPr>
            <p:ph type="title"/>
          </p:nvPr>
        </p:nvSpPr>
        <p:spPr>
          <a:xfrm>
            <a:off x="706628" y="381000"/>
            <a:ext cx="13656055" cy="610103"/>
          </a:xfrm>
        </p:spPr>
        <p:txBody>
          <a:bodyPr/>
          <a:lstStyle/>
          <a:p>
            <a:pPr marL="0" indent="0" algn="l">
              <a:lnSpc>
                <a:spcPts val="5100"/>
              </a:lnSpc>
              <a:buNone/>
            </a:pPr>
            <a:r>
              <a:rPr lang="en-US" sz="3600" dirty="0">
                <a:solidFill>
                  <a:schemeClr val="tx1"/>
                </a:solidFill>
                <a:ea typeface="PT Serif" pitchFamily="34" charset="-122"/>
                <a:cs typeface="PT Serif" pitchFamily="34" charset="-120"/>
              </a:rPr>
              <a:t>Ridge Regression (L2 Regularization)</a:t>
            </a:r>
            <a:endParaRPr lang="en-US" sz="3600" dirty="0">
              <a:solidFill>
                <a:schemeClr val="tx1"/>
              </a:solidFill>
            </a:endParaRPr>
          </a:p>
        </p:txBody>
      </p:sp>
      <p:sp>
        <p:nvSpPr>
          <p:cNvPr id="3" name="Content Placeholder 2">
            <a:extLst>
              <a:ext uri="{FF2B5EF4-FFF2-40B4-BE49-F238E27FC236}">
                <a16:creationId xmlns:a16="http://schemas.microsoft.com/office/drawing/2014/main" id="{E3084553-E1E2-710B-AAC9-112858F1CDE9}"/>
              </a:ext>
            </a:extLst>
          </p:cNvPr>
          <p:cNvSpPr>
            <a:spLocks noGrp="1"/>
          </p:cNvSpPr>
          <p:nvPr>
            <p:ph sz="half" idx="2"/>
          </p:nvPr>
        </p:nvSpPr>
        <p:spPr>
          <a:xfrm>
            <a:off x="713935" y="1512442"/>
            <a:ext cx="5915465" cy="6384633"/>
          </a:xfrm>
        </p:spPr>
        <p:txBody>
          <a:bodyPr/>
          <a:lstStyle/>
          <a:p>
            <a:pPr marL="0" indent="0" algn="l">
              <a:lnSpc>
                <a:spcPct val="200000"/>
              </a:lnSpc>
              <a:buNone/>
            </a:pPr>
            <a:r>
              <a:rPr lang="en-US" sz="2400" dirty="0">
                <a:solidFill>
                  <a:schemeClr val="tx1"/>
                </a:solidFill>
                <a:ea typeface="PT Serif" pitchFamily="34" charset="-122"/>
                <a:cs typeface="PT Serif" pitchFamily="34" charset="-120"/>
              </a:rPr>
              <a:t>How Ridge Works</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Ridge regression applies an L2 penalty that shrinks coefficients toward zero without ever setting them exactly to zero. This approach is particularly effective when dealing with multicollinearity among predictors.</a:t>
            </a:r>
            <a:endParaRPr lang="en-US" sz="1800" dirty="0">
              <a:solidFill>
                <a:schemeClr val="tx1"/>
              </a:solidFill>
            </a:endParaRPr>
          </a:p>
          <a:p>
            <a:pPr algn="l">
              <a:lnSpc>
                <a:spcPct val="200000"/>
              </a:lnSpc>
            </a:pPr>
            <a:r>
              <a:rPr lang="en-US" sz="2400" dirty="0">
                <a:solidFill>
                  <a:schemeClr val="tx1"/>
                </a:solidFill>
                <a:ea typeface="PT Serif" pitchFamily="34" charset="-122"/>
                <a:cs typeface="PT Serif" pitchFamily="34" charset="-120"/>
              </a:rPr>
              <a:t>Key Characteristics</a:t>
            </a:r>
            <a:endParaRPr lang="en-US" sz="2400" dirty="0">
              <a:solidFill>
                <a:schemeClr val="tx1"/>
              </a:solidFill>
            </a:endParaRPr>
          </a:p>
          <a:p>
            <a:pPr marL="285750" indent="-285750" algn="l">
              <a:lnSpc>
                <a:spcPct val="200000"/>
              </a:lnSpc>
              <a:buFont typeface="Arial" panose="020B0604020202020204" pitchFamily="34" charset="0"/>
              <a:buChar char="•"/>
            </a:pPr>
            <a:r>
              <a:rPr lang="en-US" sz="1800" dirty="0">
                <a:solidFill>
                  <a:schemeClr val="tx1"/>
                </a:solidFill>
                <a:ea typeface="DM Sans" pitchFamily="34" charset="-122"/>
                <a:cs typeface="DM Sans" pitchFamily="34" charset="-120"/>
              </a:rPr>
              <a:t>Shrinks all coefficients proportionally</a:t>
            </a:r>
            <a:endParaRPr lang="en-US" sz="1800" dirty="0">
              <a:solidFill>
                <a:schemeClr val="tx1"/>
              </a:solidFill>
            </a:endParaRPr>
          </a:p>
          <a:p>
            <a:pPr marL="285750" indent="-285750" algn="l">
              <a:lnSpc>
                <a:spcPct val="200000"/>
              </a:lnSpc>
              <a:buFont typeface="Arial" panose="020B0604020202020204" pitchFamily="34" charset="0"/>
              <a:buChar char="•"/>
            </a:pPr>
            <a:r>
              <a:rPr lang="en-US" sz="1800" dirty="0">
                <a:solidFill>
                  <a:schemeClr val="tx1"/>
                </a:solidFill>
                <a:ea typeface="DM Sans" pitchFamily="34" charset="-122"/>
                <a:cs typeface="DM Sans" pitchFamily="34" charset="-120"/>
              </a:rPr>
              <a:t>Retains all predictors in the model</a:t>
            </a:r>
            <a:endParaRPr lang="en-US" sz="1800" dirty="0">
              <a:solidFill>
                <a:schemeClr val="tx1"/>
              </a:solidFill>
            </a:endParaRPr>
          </a:p>
          <a:p>
            <a:pPr marL="285750" indent="-285750" algn="l">
              <a:lnSpc>
                <a:spcPct val="200000"/>
              </a:lnSpc>
              <a:buFont typeface="Arial" panose="020B0604020202020204" pitchFamily="34" charset="0"/>
              <a:buChar char="•"/>
            </a:pPr>
            <a:r>
              <a:rPr lang="en-US" sz="1800" dirty="0">
                <a:solidFill>
                  <a:schemeClr val="tx1"/>
                </a:solidFill>
                <a:ea typeface="DM Sans" pitchFamily="34" charset="-122"/>
                <a:cs typeface="DM Sans" pitchFamily="34" charset="-120"/>
              </a:rPr>
              <a:t>Produces stable, interpretable estimates</a:t>
            </a:r>
            <a:endParaRPr lang="en-US" sz="1800" dirty="0">
              <a:solidFill>
                <a:schemeClr val="tx1"/>
              </a:solidFill>
            </a:endParaRPr>
          </a:p>
          <a:p>
            <a:pPr marL="285750" indent="-285750" algn="l">
              <a:lnSpc>
                <a:spcPct val="200000"/>
              </a:lnSpc>
              <a:buFont typeface="Arial" panose="020B0604020202020204" pitchFamily="34" charset="0"/>
              <a:buChar char="•"/>
            </a:pPr>
            <a:r>
              <a:rPr lang="en-US" sz="1800" dirty="0">
                <a:solidFill>
                  <a:schemeClr val="tx1"/>
                </a:solidFill>
                <a:ea typeface="DM Sans" pitchFamily="34" charset="-122"/>
                <a:cs typeface="DM Sans" pitchFamily="34" charset="-120"/>
              </a:rPr>
              <a:t>Handles correlated features gracefully</a:t>
            </a:r>
            <a:endParaRPr lang="en-US" sz="1800" dirty="0">
              <a:solidFill>
                <a:schemeClr val="tx1"/>
              </a:solidFill>
            </a:endParaRPr>
          </a:p>
          <a:p>
            <a:pPr>
              <a:lnSpc>
                <a:spcPct val="200000"/>
              </a:lnSpc>
            </a:pPr>
            <a:endParaRPr lang="en-IN" sz="1800" dirty="0">
              <a:solidFill>
                <a:schemeClr val="tx1"/>
              </a:solidFill>
            </a:endParaRPr>
          </a:p>
        </p:txBody>
      </p:sp>
      <p:sp>
        <p:nvSpPr>
          <p:cNvPr id="4" name="Content Placeholder 3">
            <a:extLst>
              <a:ext uri="{FF2B5EF4-FFF2-40B4-BE49-F238E27FC236}">
                <a16:creationId xmlns:a16="http://schemas.microsoft.com/office/drawing/2014/main" id="{8442DA94-3EB7-1664-9254-28401F9D3F79}"/>
              </a:ext>
            </a:extLst>
          </p:cNvPr>
          <p:cNvSpPr>
            <a:spLocks noGrp="1"/>
          </p:cNvSpPr>
          <p:nvPr>
            <p:ph sz="half" idx="3"/>
          </p:nvPr>
        </p:nvSpPr>
        <p:spPr>
          <a:xfrm>
            <a:off x="7848600" y="1512442"/>
            <a:ext cx="6364224" cy="6569299"/>
          </a:xfrm>
        </p:spPr>
        <p:txBody>
          <a:bodyPr/>
          <a:lstStyle/>
          <a:p>
            <a:pPr marL="0" indent="0" algn="l">
              <a:lnSpc>
                <a:spcPct val="200000"/>
              </a:lnSpc>
              <a:buNone/>
            </a:pPr>
            <a:r>
              <a:rPr lang="en-US" sz="2400" dirty="0">
                <a:solidFill>
                  <a:schemeClr val="tx1"/>
                </a:solidFill>
                <a:ea typeface="PT Serif" pitchFamily="34" charset="-122"/>
                <a:cs typeface="PT Serif" pitchFamily="34" charset="-120"/>
              </a:rPr>
              <a:t>Mathematical Formulation</a:t>
            </a:r>
          </a:p>
          <a:p>
            <a:pPr marL="0" indent="0" algn="l">
              <a:lnSpc>
                <a:spcPct val="200000"/>
              </a:lnSpc>
              <a:buNone/>
            </a:pPr>
            <a:endParaRPr lang="en-US" sz="2400" dirty="0">
              <a:solidFill>
                <a:schemeClr val="tx1"/>
              </a:solidFill>
              <a:ea typeface="PT Serif" pitchFamily="34" charset="-122"/>
              <a:cs typeface="PT Serif" pitchFamily="34" charset="-120"/>
            </a:endParaRPr>
          </a:p>
          <a:p>
            <a:pPr marL="0" indent="0" algn="l">
              <a:lnSpc>
                <a:spcPct val="200000"/>
              </a:lnSpc>
              <a:buNone/>
            </a:pP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The L2 penalty term is the sum of squared coefficients. This quadratic penalty ensures smooth, continuous shrinkage across all coefficient values.</a:t>
            </a:r>
          </a:p>
          <a:p>
            <a:pPr marL="0" indent="0" algn="l">
              <a:lnSpc>
                <a:spcPct val="200000"/>
              </a:lnSpc>
              <a:buNone/>
            </a:pPr>
            <a:endParaRPr lang="en-US" sz="18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Ridge regression is the preferred choice when you believe all predictors contribute to the outcome and want to reduce coefficient variance.</a:t>
            </a:r>
            <a:endParaRPr lang="en-US" sz="1800" dirty="0">
              <a:solidFill>
                <a:schemeClr val="tx1"/>
              </a:solidFill>
            </a:endParaRPr>
          </a:p>
          <a:p>
            <a:pPr>
              <a:lnSpc>
                <a:spcPct val="200000"/>
              </a:lnSpc>
            </a:pPr>
            <a:endParaRPr lang="en-IN" sz="1800" dirty="0">
              <a:solidFill>
                <a:schemeClr val="tx1"/>
              </a:solidFill>
            </a:endParaRPr>
          </a:p>
        </p:txBody>
      </p:sp>
      <p:pic>
        <p:nvPicPr>
          <p:cNvPr id="5" name="Image 0" descr="preencoded.png">
            <a:extLst>
              <a:ext uri="{FF2B5EF4-FFF2-40B4-BE49-F238E27FC236}">
                <a16:creationId xmlns:a16="http://schemas.microsoft.com/office/drawing/2014/main" id="{30A18054-59B4-9D69-99EB-07B5418B5BA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601940" y="2415588"/>
            <a:ext cx="6279356" cy="840819"/>
          </a:xfrm>
          <a:prstGeom prst="rect">
            <a:avLst/>
          </a:prstGeom>
        </p:spPr>
      </p:pic>
    </p:spTree>
    <p:extLst>
      <p:ext uri="{BB962C8B-B14F-4D97-AF65-F5344CB8AC3E}">
        <p14:creationId xmlns:p14="http://schemas.microsoft.com/office/powerpoint/2010/main" val="4085261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BB73459B-6469-E48E-523F-49DE8DF5997B}"/>
              </a:ext>
            </a:extLst>
          </p:cNvPr>
          <p:cNvGrpSpPr/>
          <p:nvPr/>
        </p:nvGrpSpPr>
        <p:grpSpPr>
          <a:xfrm>
            <a:off x="371387" y="4495800"/>
            <a:ext cx="6791413" cy="1632095"/>
            <a:chOff x="793788" y="4631308"/>
            <a:chExt cx="6437630" cy="2974340"/>
          </a:xfrm>
        </p:grpSpPr>
        <p:sp>
          <p:nvSpPr>
            <p:cNvPr id="15" name="object 14">
              <a:extLst>
                <a:ext uri="{FF2B5EF4-FFF2-40B4-BE49-F238E27FC236}">
                  <a16:creationId xmlns:a16="http://schemas.microsoft.com/office/drawing/2014/main" id="{71616C5E-65C8-6E58-8FBA-B20C0EDC16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6" name="object 15">
              <a:extLst>
                <a:ext uri="{FF2B5EF4-FFF2-40B4-BE49-F238E27FC236}">
                  <a16:creationId xmlns:a16="http://schemas.microsoft.com/office/drawing/2014/main" id="{92C0E4B8-3324-4A15-E5FB-5927AF9E1041}"/>
                </a:ext>
              </a:extLst>
            </p:cNvPr>
            <p:cNvSpPr/>
            <p:nvPr/>
          </p:nvSpPr>
          <p:spPr>
            <a:xfrm>
              <a:off x="816648" y="4654166"/>
              <a:ext cx="6391910" cy="123758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1" name="object 13">
            <a:extLst>
              <a:ext uri="{FF2B5EF4-FFF2-40B4-BE49-F238E27FC236}">
                <a16:creationId xmlns:a16="http://schemas.microsoft.com/office/drawing/2014/main" id="{7EC27F32-5AE2-A457-BF6B-4E11B04E7022}"/>
              </a:ext>
            </a:extLst>
          </p:cNvPr>
          <p:cNvGrpSpPr/>
          <p:nvPr/>
        </p:nvGrpSpPr>
        <p:grpSpPr>
          <a:xfrm>
            <a:off x="7416285" y="4512916"/>
            <a:ext cx="6791413" cy="1632095"/>
            <a:chOff x="793788" y="4631308"/>
            <a:chExt cx="6437630" cy="2974340"/>
          </a:xfrm>
        </p:grpSpPr>
        <p:sp>
          <p:nvSpPr>
            <p:cNvPr id="12" name="object 14">
              <a:extLst>
                <a:ext uri="{FF2B5EF4-FFF2-40B4-BE49-F238E27FC236}">
                  <a16:creationId xmlns:a16="http://schemas.microsoft.com/office/drawing/2014/main" id="{914ADF9D-302C-11BE-1737-EC93DB20084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3" name="object 15">
              <a:extLst>
                <a:ext uri="{FF2B5EF4-FFF2-40B4-BE49-F238E27FC236}">
                  <a16:creationId xmlns:a16="http://schemas.microsoft.com/office/drawing/2014/main" id="{A8A7E959-E8B3-A90E-735F-57A80005DA27}"/>
                </a:ext>
              </a:extLst>
            </p:cNvPr>
            <p:cNvSpPr/>
            <p:nvPr/>
          </p:nvSpPr>
          <p:spPr>
            <a:xfrm>
              <a:off x="816648" y="4654166"/>
              <a:ext cx="6391910" cy="119255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8" name="object 13">
            <a:extLst>
              <a:ext uri="{FF2B5EF4-FFF2-40B4-BE49-F238E27FC236}">
                <a16:creationId xmlns:a16="http://schemas.microsoft.com/office/drawing/2014/main" id="{8C1FE014-3026-6862-3720-9E77AE2730D2}"/>
              </a:ext>
            </a:extLst>
          </p:cNvPr>
          <p:cNvGrpSpPr/>
          <p:nvPr/>
        </p:nvGrpSpPr>
        <p:grpSpPr>
          <a:xfrm>
            <a:off x="7671388" y="2142158"/>
            <a:ext cx="6791413" cy="1715608"/>
            <a:chOff x="793788" y="4631308"/>
            <a:chExt cx="6437630" cy="2974340"/>
          </a:xfrm>
        </p:grpSpPr>
        <p:sp>
          <p:nvSpPr>
            <p:cNvPr id="9" name="object 14">
              <a:extLst>
                <a:ext uri="{FF2B5EF4-FFF2-40B4-BE49-F238E27FC236}">
                  <a16:creationId xmlns:a16="http://schemas.microsoft.com/office/drawing/2014/main" id="{579AC416-E9EC-951C-0C59-953A86086D2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0" name="object 15">
              <a:extLst>
                <a:ext uri="{FF2B5EF4-FFF2-40B4-BE49-F238E27FC236}">
                  <a16:creationId xmlns:a16="http://schemas.microsoft.com/office/drawing/2014/main" id="{9B115779-7710-6EDD-DFF1-D0FB2943E089}"/>
                </a:ext>
              </a:extLst>
            </p:cNvPr>
            <p:cNvSpPr/>
            <p:nvPr/>
          </p:nvSpPr>
          <p:spPr>
            <a:xfrm>
              <a:off x="816648" y="4654167"/>
              <a:ext cx="6391910" cy="115127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5" name="object 13">
            <a:extLst>
              <a:ext uri="{FF2B5EF4-FFF2-40B4-BE49-F238E27FC236}">
                <a16:creationId xmlns:a16="http://schemas.microsoft.com/office/drawing/2014/main" id="{8A10505B-9623-8692-6E01-754220E5E1A5}"/>
              </a:ext>
            </a:extLst>
          </p:cNvPr>
          <p:cNvGrpSpPr/>
          <p:nvPr/>
        </p:nvGrpSpPr>
        <p:grpSpPr>
          <a:xfrm>
            <a:off x="356413" y="2142158"/>
            <a:ext cx="6791413" cy="1703566"/>
            <a:chOff x="793788" y="4631308"/>
            <a:chExt cx="6437630" cy="2974340"/>
          </a:xfrm>
        </p:grpSpPr>
        <p:sp>
          <p:nvSpPr>
            <p:cNvPr id="6" name="object 14">
              <a:extLst>
                <a:ext uri="{FF2B5EF4-FFF2-40B4-BE49-F238E27FC236}">
                  <a16:creationId xmlns:a16="http://schemas.microsoft.com/office/drawing/2014/main" id="{CCC4CF37-751F-54B7-DF88-A67DF0F558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7" name="object 15">
              <a:extLst>
                <a:ext uri="{FF2B5EF4-FFF2-40B4-BE49-F238E27FC236}">
                  <a16:creationId xmlns:a16="http://schemas.microsoft.com/office/drawing/2014/main" id="{78A747FC-C403-4EA4-6231-4399095DDD25}"/>
                </a:ext>
              </a:extLst>
            </p:cNvPr>
            <p:cNvSpPr/>
            <p:nvPr/>
          </p:nvSpPr>
          <p:spPr>
            <a:xfrm>
              <a:off x="816648" y="4654166"/>
              <a:ext cx="6391910" cy="115957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Title 1">
            <a:extLst>
              <a:ext uri="{FF2B5EF4-FFF2-40B4-BE49-F238E27FC236}">
                <a16:creationId xmlns:a16="http://schemas.microsoft.com/office/drawing/2014/main" id="{4AF5101B-081F-A0A0-283B-952EF957F11A}"/>
              </a:ext>
            </a:extLst>
          </p:cNvPr>
          <p:cNvSpPr>
            <a:spLocks noGrp="1"/>
          </p:cNvSpPr>
          <p:nvPr>
            <p:ph type="title"/>
          </p:nvPr>
        </p:nvSpPr>
        <p:spPr>
          <a:xfrm>
            <a:off x="629959" y="209980"/>
            <a:ext cx="13656055" cy="610103"/>
          </a:xfrm>
        </p:spPr>
        <p:txBody>
          <a:bodyPr/>
          <a:lstStyle/>
          <a:p>
            <a:pPr marL="0" indent="0" algn="l">
              <a:lnSpc>
                <a:spcPts val="5050"/>
              </a:lnSpc>
              <a:buNone/>
            </a:pPr>
            <a:r>
              <a:rPr lang="en-US" sz="3600" dirty="0">
                <a:solidFill>
                  <a:schemeClr val="tx1"/>
                </a:solidFill>
                <a:ea typeface="PT Serif" pitchFamily="34" charset="-122"/>
                <a:cs typeface="PT Serif" pitchFamily="34" charset="-120"/>
              </a:rPr>
              <a:t>Lasso Regression (L1 Regularization)</a:t>
            </a:r>
            <a:endParaRPr lang="en-US" sz="3600" dirty="0">
              <a:solidFill>
                <a:schemeClr val="tx1"/>
              </a:solidFill>
            </a:endParaRPr>
          </a:p>
        </p:txBody>
      </p:sp>
      <p:sp>
        <p:nvSpPr>
          <p:cNvPr id="3" name="Content Placeholder 2">
            <a:extLst>
              <a:ext uri="{FF2B5EF4-FFF2-40B4-BE49-F238E27FC236}">
                <a16:creationId xmlns:a16="http://schemas.microsoft.com/office/drawing/2014/main" id="{C270CAFA-D3A1-D9BB-F761-32F74583DD0B}"/>
              </a:ext>
            </a:extLst>
          </p:cNvPr>
          <p:cNvSpPr>
            <a:spLocks noGrp="1"/>
          </p:cNvSpPr>
          <p:nvPr>
            <p:ph sz="half" idx="2"/>
          </p:nvPr>
        </p:nvSpPr>
        <p:spPr>
          <a:xfrm>
            <a:off x="584981" y="1981200"/>
            <a:ext cx="6364224" cy="4168642"/>
          </a:xfrm>
        </p:spPr>
        <p:txBody>
          <a:bodyPr/>
          <a:lstStyle/>
          <a:p>
            <a:pPr marL="457200" indent="-457200" algn="ctr">
              <a:lnSpc>
                <a:spcPct val="200000"/>
              </a:lnSpc>
              <a:buAutoNum type="arabicPeriod"/>
            </a:pPr>
            <a:r>
              <a:rPr lang="en-US" sz="2400" dirty="0">
                <a:solidFill>
                  <a:schemeClr val="tx1"/>
                </a:solidFill>
                <a:ea typeface="PT Serif" pitchFamily="34" charset="-122"/>
                <a:cs typeface="PT Serif" pitchFamily="34" charset="-120"/>
              </a:rPr>
              <a:t>L1 Penalty Application</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Uses absolute value of coefficients as the penalty term</a:t>
            </a:r>
            <a:endParaRPr lang="en-US" sz="1800" dirty="0">
              <a:solidFill>
                <a:schemeClr val="tx1"/>
              </a:solidFill>
            </a:endParaRPr>
          </a:p>
          <a:p>
            <a:pPr algn="l">
              <a:lnSpc>
                <a:spcPct val="200000"/>
              </a:lnSpc>
            </a:pPr>
            <a:endParaRPr lang="en-US" sz="1800" dirty="0">
              <a:solidFill>
                <a:schemeClr val="tx1"/>
              </a:solidFill>
            </a:endParaRPr>
          </a:p>
          <a:p>
            <a:pPr algn="l">
              <a:lnSpc>
                <a:spcPct val="200000"/>
              </a:lnSpc>
            </a:pPr>
            <a:endParaRPr lang="en-US" sz="1800" dirty="0">
              <a:solidFill>
                <a:schemeClr val="tx1"/>
              </a:solidFill>
            </a:endParaRPr>
          </a:p>
          <a:p>
            <a:pPr algn="ctr">
              <a:lnSpc>
                <a:spcPct val="200000"/>
              </a:lnSpc>
            </a:pPr>
            <a:r>
              <a:rPr lang="en-US" sz="2400" dirty="0">
                <a:solidFill>
                  <a:schemeClr val="tx1"/>
                </a:solidFill>
                <a:ea typeface="PT Serif" pitchFamily="34" charset="-122"/>
                <a:cs typeface="PT Serif" pitchFamily="34" charset="-120"/>
              </a:rPr>
              <a:t>3. Automatic Selection</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Produces sparse models by eliminating irrelevant predictors</a:t>
            </a:r>
            <a:endParaRPr lang="en-US" sz="1800" dirty="0">
              <a:solidFill>
                <a:schemeClr val="tx1"/>
              </a:solidFill>
            </a:endParaRPr>
          </a:p>
          <a:p>
            <a:pPr>
              <a:lnSpc>
                <a:spcPct val="200000"/>
              </a:lnSpc>
            </a:pPr>
            <a:endParaRPr lang="en-IN" sz="1800" dirty="0">
              <a:solidFill>
                <a:schemeClr val="tx1"/>
              </a:solidFill>
            </a:endParaRPr>
          </a:p>
        </p:txBody>
      </p:sp>
      <p:sp>
        <p:nvSpPr>
          <p:cNvPr id="4" name="Content Placeholder 3">
            <a:extLst>
              <a:ext uri="{FF2B5EF4-FFF2-40B4-BE49-F238E27FC236}">
                <a16:creationId xmlns:a16="http://schemas.microsoft.com/office/drawing/2014/main" id="{92CC7E2B-A810-56BD-EE5C-66DF6AEC3FED}"/>
              </a:ext>
            </a:extLst>
          </p:cNvPr>
          <p:cNvSpPr>
            <a:spLocks noGrp="1"/>
          </p:cNvSpPr>
          <p:nvPr>
            <p:ph sz="half" idx="3"/>
          </p:nvPr>
        </p:nvSpPr>
        <p:spPr>
          <a:xfrm>
            <a:off x="7903232" y="1959253"/>
            <a:ext cx="6364224" cy="4168642"/>
          </a:xfrm>
        </p:spPr>
        <p:txBody>
          <a:bodyPr/>
          <a:lstStyle/>
          <a:p>
            <a:pPr algn="ctr">
              <a:lnSpc>
                <a:spcPct val="200000"/>
              </a:lnSpc>
            </a:pPr>
            <a:r>
              <a:rPr lang="en-US" sz="2400" dirty="0">
                <a:solidFill>
                  <a:schemeClr val="tx1"/>
                </a:solidFill>
                <a:ea typeface="PT Serif" pitchFamily="34" charset="-122"/>
                <a:cs typeface="PT Serif" pitchFamily="34" charset="-120"/>
              </a:rPr>
              <a:t>2. Sparsity Induction</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Non-differentiability at zero drives coefficients to exactly zero</a:t>
            </a:r>
            <a:endParaRPr lang="en-US" sz="1800" dirty="0">
              <a:solidFill>
                <a:schemeClr val="tx1"/>
              </a:solidFill>
            </a:endParaRPr>
          </a:p>
          <a:p>
            <a:pPr algn="l">
              <a:lnSpc>
                <a:spcPct val="200000"/>
              </a:lnSpc>
            </a:pPr>
            <a:endParaRPr lang="en-US" sz="1800" dirty="0">
              <a:solidFill>
                <a:schemeClr val="tx1"/>
              </a:solidFill>
            </a:endParaRPr>
          </a:p>
          <a:p>
            <a:pPr algn="l">
              <a:lnSpc>
                <a:spcPct val="200000"/>
              </a:lnSpc>
            </a:pPr>
            <a:endParaRPr lang="en-US" sz="1800" dirty="0">
              <a:solidFill>
                <a:schemeClr val="tx1"/>
              </a:solidFill>
            </a:endParaRPr>
          </a:p>
          <a:p>
            <a:pPr algn="ctr">
              <a:lnSpc>
                <a:spcPct val="200000"/>
              </a:lnSpc>
            </a:pPr>
            <a:r>
              <a:rPr lang="en-US" sz="2400" dirty="0">
                <a:solidFill>
                  <a:schemeClr val="tx1"/>
                </a:solidFill>
                <a:ea typeface="PT Serif" pitchFamily="34" charset="-122"/>
                <a:cs typeface="PT Serif" pitchFamily="34" charset="-120"/>
              </a:rPr>
              <a:t>4. Interpretable Models</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Resulting models contain only the most important features</a:t>
            </a:r>
            <a:endParaRPr lang="en-US" sz="1800" dirty="0">
              <a:solidFill>
                <a:schemeClr val="tx1"/>
              </a:solidFill>
            </a:endParaRPr>
          </a:p>
          <a:p>
            <a:pPr>
              <a:lnSpc>
                <a:spcPct val="200000"/>
              </a:lnSpc>
            </a:pPr>
            <a:endParaRPr lang="en-IN" sz="1800" dirty="0">
              <a:solidFill>
                <a:schemeClr val="tx1"/>
              </a:solidFill>
            </a:endParaRPr>
          </a:p>
        </p:txBody>
      </p:sp>
      <p:sp>
        <p:nvSpPr>
          <p:cNvPr id="18" name="TextBox 17">
            <a:extLst>
              <a:ext uri="{FF2B5EF4-FFF2-40B4-BE49-F238E27FC236}">
                <a16:creationId xmlns:a16="http://schemas.microsoft.com/office/drawing/2014/main" id="{39957BFF-50A4-AFA3-BDA7-D00622D6016F}"/>
              </a:ext>
            </a:extLst>
          </p:cNvPr>
          <p:cNvSpPr txBox="1"/>
          <p:nvPr/>
        </p:nvSpPr>
        <p:spPr>
          <a:xfrm>
            <a:off x="551643" y="852955"/>
            <a:ext cx="13656055" cy="1121654"/>
          </a:xfrm>
          <a:prstGeom prst="rect">
            <a:avLst/>
          </a:prstGeom>
          <a:noFill/>
        </p:spPr>
        <p:txBody>
          <a:bodyPr wrap="square">
            <a:spAutoFit/>
          </a:bodyPr>
          <a:lstStyle/>
          <a:p>
            <a:pPr marL="0" indent="0" algn="l">
              <a:lnSpc>
                <a:spcPct val="200000"/>
              </a:lnSpc>
              <a:buNone/>
            </a:pPr>
            <a:r>
              <a:rPr lang="en-US" sz="1800" b="1" dirty="0">
                <a:solidFill>
                  <a:schemeClr val="tx1"/>
                </a:solidFill>
                <a:latin typeface="PT Serif" panose="020A0603040505020204" pitchFamily="18" charset="0"/>
                <a:ea typeface="DM Sans" pitchFamily="34" charset="-122"/>
                <a:cs typeface="DM Sans" pitchFamily="34" charset="-120"/>
              </a:rPr>
              <a:t>LASSO</a:t>
            </a:r>
            <a:r>
              <a:rPr lang="en-US" sz="1800" dirty="0">
                <a:solidFill>
                  <a:schemeClr val="tx1"/>
                </a:solidFill>
                <a:latin typeface="PT Serif" panose="020A0603040505020204" pitchFamily="18" charset="0"/>
                <a:ea typeface="DM Sans" pitchFamily="34" charset="-122"/>
                <a:cs typeface="DM Sans" pitchFamily="34" charset="-120"/>
              </a:rPr>
              <a:t> stands for </a:t>
            </a:r>
            <a:r>
              <a:rPr lang="en-US" sz="1800" b="1" dirty="0">
                <a:solidFill>
                  <a:schemeClr val="tx1"/>
                </a:solidFill>
                <a:latin typeface="PT Serif" panose="020A0603040505020204" pitchFamily="18" charset="0"/>
                <a:ea typeface="DM Sans" pitchFamily="34" charset="-122"/>
                <a:cs typeface="DM Sans" pitchFamily="34" charset="-120"/>
              </a:rPr>
              <a:t>Least Absolute Shrinkage and Selection Operator</a:t>
            </a:r>
            <a:r>
              <a:rPr lang="en-US" sz="1800" dirty="0">
                <a:solidFill>
                  <a:schemeClr val="tx1"/>
                </a:solidFill>
                <a:latin typeface="PT Serif" panose="020A0603040505020204" pitchFamily="18" charset="0"/>
                <a:ea typeface="DM Sans" pitchFamily="34" charset="-122"/>
                <a:cs typeface="DM Sans" pitchFamily="34" charset="-120"/>
              </a:rPr>
              <a:t>. Unlike Ridge, Lasso can force coefficients to become exactly zero, effectively performing automatic feature selection.</a:t>
            </a:r>
            <a:endParaRPr lang="en-US" sz="1800" dirty="0">
              <a:solidFill>
                <a:schemeClr val="tx1"/>
              </a:solidFill>
              <a:latin typeface="PT Serif" panose="020A0603040505020204" pitchFamily="18" charset="0"/>
            </a:endParaRPr>
          </a:p>
        </p:txBody>
      </p:sp>
      <p:sp>
        <p:nvSpPr>
          <p:cNvPr id="19" name="TextBox 18">
            <a:extLst>
              <a:ext uri="{FF2B5EF4-FFF2-40B4-BE49-F238E27FC236}">
                <a16:creationId xmlns:a16="http://schemas.microsoft.com/office/drawing/2014/main" id="{A5B0EE8E-3E13-564A-372F-2513010A4E6D}"/>
              </a:ext>
            </a:extLst>
          </p:cNvPr>
          <p:cNvSpPr txBox="1"/>
          <p:nvPr/>
        </p:nvSpPr>
        <p:spPr>
          <a:xfrm>
            <a:off x="424811" y="6448732"/>
            <a:ext cx="13758770" cy="1972335"/>
          </a:xfrm>
          <a:prstGeom prst="rect">
            <a:avLst/>
          </a:prstGeom>
          <a:noFill/>
        </p:spPr>
        <p:txBody>
          <a:bodyPr wrap="square">
            <a:spAutoFit/>
          </a:bodyPr>
          <a:lstStyle/>
          <a:p>
            <a:pPr marL="0" indent="0" algn="l">
              <a:lnSpc>
                <a:spcPts val="3000"/>
              </a:lnSpc>
              <a:buNone/>
            </a:pPr>
            <a:r>
              <a:rPr lang="en-US" sz="1800" dirty="0">
                <a:solidFill>
                  <a:schemeClr val="tx1"/>
                </a:solidFill>
                <a:latin typeface="PT Serif" panose="020A0603040505020204" pitchFamily="18" charset="0"/>
                <a:ea typeface="PT Serif" pitchFamily="34" charset="-122"/>
                <a:cs typeface="PT Serif" pitchFamily="34" charset="-120"/>
              </a:rPr>
              <a:t>Mathematical Form</a:t>
            </a:r>
          </a:p>
          <a:p>
            <a:pPr marL="0" indent="0" algn="l">
              <a:lnSpc>
                <a:spcPts val="3000"/>
              </a:lnSpc>
              <a:buNone/>
            </a:pPr>
            <a:endParaRPr lang="en-US" dirty="0">
              <a:solidFill>
                <a:schemeClr val="tx1"/>
              </a:solidFill>
              <a:latin typeface="PT Serif" panose="020A0603040505020204" pitchFamily="18" charset="0"/>
            </a:endParaRPr>
          </a:p>
          <a:p>
            <a:pPr marL="0" indent="0" algn="l">
              <a:lnSpc>
                <a:spcPts val="3000"/>
              </a:lnSpc>
              <a:buNone/>
            </a:pPr>
            <a:endParaRPr lang="en-US" sz="1800" dirty="0">
              <a:solidFill>
                <a:schemeClr val="tx1"/>
              </a:solidFill>
              <a:latin typeface="PT Serif" panose="020A0603040505020204" pitchFamily="18" charset="0"/>
            </a:endParaRPr>
          </a:p>
          <a:p>
            <a:pPr algn="l">
              <a:lnSpc>
                <a:spcPts val="3000"/>
              </a:lnSpc>
            </a:pPr>
            <a:r>
              <a:rPr lang="en-US" sz="1800" dirty="0">
                <a:solidFill>
                  <a:schemeClr val="tx1"/>
                </a:solidFill>
                <a:latin typeface="PT Serif" panose="020A0603040505020204" pitchFamily="18" charset="0"/>
                <a:ea typeface="DM Sans" pitchFamily="34" charset="-122"/>
                <a:cs typeface="DM Sans" pitchFamily="34" charset="-120"/>
              </a:rPr>
              <a:t>The hyperparameter λ controls how aggressively features are eliminated. Higher values result in fewer selected features.</a:t>
            </a:r>
            <a:endParaRPr lang="en-US" sz="1800" dirty="0">
              <a:solidFill>
                <a:schemeClr val="tx1"/>
              </a:solidFill>
              <a:latin typeface="PT Serif" panose="020A0603040505020204" pitchFamily="18" charset="0"/>
            </a:endParaRPr>
          </a:p>
          <a:p>
            <a:pPr marL="0" indent="0" algn="l">
              <a:lnSpc>
                <a:spcPts val="3000"/>
              </a:lnSpc>
              <a:buNone/>
            </a:pPr>
            <a:endParaRPr lang="en-US" sz="1800" dirty="0">
              <a:solidFill>
                <a:schemeClr val="tx1"/>
              </a:solidFill>
              <a:latin typeface="PT Serif" panose="020A0603040505020204" pitchFamily="18" charset="0"/>
            </a:endParaRPr>
          </a:p>
        </p:txBody>
      </p:sp>
      <p:pic>
        <p:nvPicPr>
          <p:cNvPr id="20" name="Image 0" descr="preencoded.png">
            <a:extLst>
              <a:ext uri="{FF2B5EF4-FFF2-40B4-BE49-F238E27FC236}">
                <a16:creationId xmlns:a16="http://schemas.microsoft.com/office/drawing/2014/main" id="{7587BF86-4D9F-B079-75F2-3529975C4B3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62000" y="6799918"/>
            <a:ext cx="13061633" cy="830818"/>
          </a:xfrm>
          <a:prstGeom prst="rect">
            <a:avLst/>
          </a:prstGeom>
        </p:spPr>
      </p:pic>
    </p:spTree>
    <p:extLst>
      <p:ext uri="{BB962C8B-B14F-4D97-AF65-F5344CB8AC3E}">
        <p14:creationId xmlns:p14="http://schemas.microsoft.com/office/powerpoint/2010/main" val="3025457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1">
            <a:extLst>
              <a:ext uri="{FF2B5EF4-FFF2-40B4-BE49-F238E27FC236}">
                <a16:creationId xmlns:a16="http://schemas.microsoft.com/office/drawing/2014/main" id="{22800A93-FED8-52CE-19B7-CEF9932CAF33}"/>
              </a:ext>
            </a:extLst>
          </p:cNvPr>
          <p:cNvSpPr/>
          <p:nvPr/>
        </p:nvSpPr>
        <p:spPr>
          <a:xfrm>
            <a:off x="7648835" y="5105400"/>
            <a:ext cx="6569851" cy="1142696"/>
          </a:xfrm>
          <a:prstGeom prst="roundRect">
            <a:avLst>
              <a:gd name="adj" fmla="val 2014"/>
            </a:avLst>
          </a:prstGeom>
          <a:solidFill>
            <a:srgbClr val="FFCDB3"/>
          </a:solidFill>
          <a:ln/>
        </p:spPr>
      </p:sp>
      <p:sp>
        <p:nvSpPr>
          <p:cNvPr id="2" name="Title 1">
            <a:extLst>
              <a:ext uri="{FF2B5EF4-FFF2-40B4-BE49-F238E27FC236}">
                <a16:creationId xmlns:a16="http://schemas.microsoft.com/office/drawing/2014/main" id="{DD241C0F-F24E-159C-E6B0-D4C0714304AB}"/>
              </a:ext>
            </a:extLst>
          </p:cNvPr>
          <p:cNvSpPr>
            <a:spLocks noGrp="1"/>
          </p:cNvSpPr>
          <p:nvPr>
            <p:ph type="title"/>
          </p:nvPr>
        </p:nvSpPr>
        <p:spPr>
          <a:xfrm>
            <a:off x="706628" y="381000"/>
            <a:ext cx="13656055" cy="610103"/>
          </a:xfrm>
        </p:spPr>
        <p:txBody>
          <a:bodyPr/>
          <a:lstStyle/>
          <a:p>
            <a:pPr marL="0" indent="0" algn="l">
              <a:lnSpc>
                <a:spcPts val="5100"/>
              </a:lnSpc>
              <a:buNone/>
            </a:pPr>
            <a:r>
              <a:rPr lang="en-US" sz="3600" dirty="0">
                <a:solidFill>
                  <a:schemeClr val="tx1"/>
                </a:solidFill>
                <a:ea typeface="PT Serif" pitchFamily="34" charset="-122"/>
                <a:cs typeface="PT Serif" pitchFamily="34" charset="-120"/>
              </a:rPr>
              <a:t>Lasso as a Feature Selection Tool</a:t>
            </a:r>
            <a:endParaRPr lang="en-US" sz="3600" dirty="0">
              <a:solidFill>
                <a:schemeClr val="tx1"/>
              </a:solidFill>
            </a:endParaRPr>
          </a:p>
        </p:txBody>
      </p:sp>
      <p:sp>
        <p:nvSpPr>
          <p:cNvPr id="3" name="Content Placeholder 2">
            <a:extLst>
              <a:ext uri="{FF2B5EF4-FFF2-40B4-BE49-F238E27FC236}">
                <a16:creationId xmlns:a16="http://schemas.microsoft.com/office/drawing/2014/main" id="{E3084553-E1E2-710B-AAC9-112858F1CDE9}"/>
              </a:ext>
            </a:extLst>
          </p:cNvPr>
          <p:cNvSpPr>
            <a:spLocks noGrp="1"/>
          </p:cNvSpPr>
          <p:nvPr>
            <p:ph sz="half" idx="2"/>
          </p:nvPr>
        </p:nvSpPr>
        <p:spPr>
          <a:xfrm>
            <a:off x="713935" y="1512442"/>
            <a:ext cx="6364224" cy="8046626"/>
          </a:xfrm>
        </p:spPr>
        <p:txBody>
          <a:bodyPr/>
          <a:lstStyle/>
          <a:p>
            <a:pPr marL="0" indent="0" algn="l">
              <a:lnSpc>
                <a:spcPct val="200000"/>
              </a:lnSpc>
              <a:buNone/>
            </a:pPr>
            <a:r>
              <a:rPr lang="en-US" sz="2400" dirty="0">
                <a:solidFill>
                  <a:schemeClr val="tx1"/>
                </a:solidFill>
                <a:ea typeface="PT Serif" pitchFamily="34" charset="-122"/>
                <a:cs typeface="PT Serif" pitchFamily="34" charset="-120"/>
              </a:rPr>
              <a:t>Embedded Feature Selection</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Lasso performs feature selection as an integral part of the model fitting process, unlike filter or wrapper methods that operate separately. This embedded approach simultaneously optimizes prediction accuracy and model sparsity.</a:t>
            </a:r>
            <a:endParaRPr lang="en-US" sz="1800" dirty="0">
              <a:solidFill>
                <a:schemeClr val="tx1"/>
              </a:solidFill>
            </a:endParaRPr>
          </a:p>
          <a:p>
            <a:pPr marL="0" indent="0" algn="l">
              <a:lnSpc>
                <a:spcPct val="200000"/>
              </a:lnSpc>
              <a:buNone/>
            </a:pPr>
            <a:r>
              <a:rPr lang="en-US" sz="2400" dirty="0">
                <a:solidFill>
                  <a:schemeClr val="tx1"/>
                </a:solidFill>
                <a:ea typeface="PT Serif" pitchFamily="34" charset="-122"/>
                <a:cs typeface="PT Serif" pitchFamily="34" charset="-120"/>
              </a:rPr>
              <a:t>Advantages in High Dimensions</a:t>
            </a:r>
            <a:endParaRPr lang="en-US" sz="2400" dirty="0">
              <a:solidFill>
                <a:schemeClr val="tx1"/>
              </a:solidFill>
            </a:endParaRPr>
          </a:p>
          <a:p>
            <a:pPr marL="342900" indent="-342900" algn="l">
              <a:lnSpc>
                <a:spcPct val="200000"/>
              </a:lnSpc>
              <a:buSzPct val="100000"/>
              <a:buChar char="•"/>
            </a:pPr>
            <a:r>
              <a:rPr lang="en-US" sz="1800" dirty="0">
                <a:solidFill>
                  <a:schemeClr val="tx1"/>
                </a:solidFill>
                <a:ea typeface="DM Sans" pitchFamily="34" charset="-122"/>
                <a:cs typeface="DM Sans" pitchFamily="34" charset="-120"/>
              </a:rPr>
              <a:t>Excels when </a:t>
            </a:r>
            <a:r>
              <a:rPr lang="en-US" sz="1800" b="1" dirty="0">
                <a:solidFill>
                  <a:schemeClr val="tx1"/>
                </a:solidFill>
                <a:ea typeface="DM Sans" pitchFamily="34" charset="-122"/>
                <a:cs typeface="DM Sans" pitchFamily="34" charset="-120"/>
              </a:rPr>
              <a:t>p ≫ n</a:t>
            </a:r>
            <a:r>
              <a:rPr lang="en-US" sz="1800" dirty="0">
                <a:solidFill>
                  <a:schemeClr val="tx1"/>
                </a:solidFill>
                <a:ea typeface="DM Sans" pitchFamily="34" charset="-122"/>
                <a:cs typeface="DM Sans" pitchFamily="34" charset="-120"/>
              </a:rPr>
              <a:t> (many predictors, few observations)</a:t>
            </a:r>
            <a:endParaRPr lang="en-US" sz="1800" dirty="0">
              <a:solidFill>
                <a:schemeClr val="tx1"/>
              </a:solidFill>
            </a:endParaRPr>
          </a:p>
          <a:p>
            <a:pPr marL="342900" indent="-342900" algn="l">
              <a:lnSpc>
                <a:spcPct val="200000"/>
              </a:lnSpc>
              <a:buSzPct val="100000"/>
              <a:buChar char="•"/>
            </a:pPr>
            <a:r>
              <a:rPr lang="en-US" sz="1800" dirty="0">
                <a:solidFill>
                  <a:schemeClr val="tx1"/>
                </a:solidFill>
                <a:ea typeface="DM Sans" pitchFamily="34" charset="-122"/>
                <a:cs typeface="DM Sans" pitchFamily="34" charset="-120"/>
              </a:rPr>
              <a:t>Produces interpretable models with fewer variables</a:t>
            </a:r>
            <a:endParaRPr lang="en-US" sz="1800" dirty="0">
              <a:solidFill>
                <a:schemeClr val="tx1"/>
              </a:solidFill>
            </a:endParaRPr>
          </a:p>
          <a:p>
            <a:pPr marL="342900" indent="-342900" algn="l">
              <a:lnSpc>
                <a:spcPct val="200000"/>
              </a:lnSpc>
              <a:buSzPct val="100000"/>
              <a:buChar char="•"/>
            </a:pPr>
            <a:r>
              <a:rPr lang="en-US" sz="1800" dirty="0">
                <a:solidFill>
                  <a:schemeClr val="tx1"/>
                </a:solidFill>
                <a:ea typeface="DM Sans" pitchFamily="34" charset="-122"/>
                <a:cs typeface="DM Sans" pitchFamily="34" charset="-120"/>
              </a:rPr>
              <a:t>Computationally efficient compared to exhaustive search</a:t>
            </a:r>
            <a:endParaRPr lang="en-US" sz="1800" dirty="0">
              <a:solidFill>
                <a:schemeClr val="tx1"/>
              </a:solidFill>
            </a:endParaRPr>
          </a:p>
          <a:p>
            <a:pPr marL="342900" indent="-342900" algn="l">
              <a:lnSpc>
                <a:spcPct val="200000"/>
              </a:lnSpc>
              <a:buSzPct val="100000"/>
              <a:buChar char="•"/>
            </a:pPr>
            <a:r>
              <a:rPr lang="en-US" sz="1800" dirty="0">
                <a:solidFill>
                  <a:schemeClr val="tx1"/>
                </a:solidFill>
                <a:ea typeface="DM Sans" pitchFamily="34" charset="-122"/>
                <a:cs typeface="DM Sans" pitchFamily="34" charset="-120"/>
              </a:rPr>
              <a:t>Provides stable solutions in high-dimensional spaces</a:t>
            </a:r>
            <a:endParaRPr lang="en-US" sz="1800" dirty="0">
              <a:solidFill>
                <a:schemeClr val="tx1"/>
              </a:solidFill>
            </a:endParaRPr>
          </a:p>
          <a:p>
            <a:pPr>
              <a:lnSpc>
                <a:spcPct val="200000"/>
              </a:lnSpc>
            </a:pPr>
            <a:endParaRPr lang="en-IN" sz="1800" dirty="0">
              <a:solidFill>
                <a:schemeClr val="tx1"/>
              </a:solidFill>
            </a:endParaRPr>
          </a:p>
        </p:txBody>
      </p:sp>
      <p:sp>
        <p:nvSpPr>
          <p:cNvPr id="4" name="Content Placeholder 3">
            <a:extLst>
              <a:ext uri="{FF2B5EF4-FFF2-40B4-BE49-F238E27FC236}">
                <a16:creationId xmlns:a16="http://schemas.microsoft.com/office/drawing/2014/main" id="{8442DA94-3EB7-1664-9254-28401F9D3F79}"/>
              </a:ext>
            </a:extLst>
          </p:cNvPr>
          <p:cNvSpPr>
            <a:spLocks noGrp="1"/>
          </p:cNvSpPr>
          <p:nvPr>
            <p:ph sz="half" idx="3"/>
          </p:nvPr>
        </p:nvSpPr>
        <p:spPr>
          <a:xfrm>
            <a:off x="7848600" y="1512442"/>
            <a:ext cx="6364224" cy="5091971"/>
          </a:xfrm>
        </p:spPr>
        <p:txBody>
          <a:bodyPr/>
          <a:lstStyle/>
          <a:p>
            <a:pPr marL="0" indent="0" algn="l">
              <a:lnSpc>
                <a:spcPct val="200000"/>
              </a:lnSpc>
              <a:buNone/>
            </a:pPr>
            <a:r>
              <a:rPr lang="en-US" sz="2400" dirty="0">
                <a:solidFill>
                  <a:schemeClr val="tx1"/>
                </a:solidFill>
                <a:ea typeface="PT Serif" pitchFamily="34" charset="-122"/>
                <a:cs typeface="PT Serif" pitchFamily="34" charset="-120"/>
              </a:rPr>
              <a:t>Limitations</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Lasso struggles with groups of highly correlated predictors, often selecting only one variable from the group arbitrarily. This can lead to instability in feature selection when predictors are strongly related.</a:t>
            </a:r>
            <a:endParaRPr lang="en-US" sz="1800" dirty="0">
              <a:solidFill>
                <a:schemeClr val="tx1"/>
              </a:solidFill>
            </a:endParaRPr>
          </a:p>
          <a:p>
            <a:pPr marL="0" indent="0" algn="l">
              <a:lnSpc>
                <a:spcPct val="200000"/>
              </a:lnSpc>
              <a:buNone/>
            </a:pPr>
            <a:endParaRPr lang="en-US" sz="18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When correlations are high, consider Elastic Net instead to maintain stability while preserving sparsity.</a:t>
            </a:r>
            <a:endParaRPr lang="en-US" sz="1800" dirty="0">
              <a:solidFill>
                <a:schemeClr val="tx1"/>
              </a:solidFill>
            </a:endParaRPr>
          </a:p>
          <a:p>
            <a:pPr>
              <a:lnSpc>
                <a:spcPct val="200000"/>
              </a:lnSpc>
            </a:pPr>
            <a:endParaRPr lang="en-IN" sz="1800" dirty="0">
              <a:solidFill>
                <a:schemeClr val="tx1"/>
              </a:solidFill>
            </a:endParaRPr>
          </a:p>
        </p:txBody>
      </p:sp>
    </p:spTree>
    <p:extLst>
      <p:ext uri="{BB962C8B-B14F-4D97-AF65-F5344CB8AC3E}">
        <p14:creationId xmlns:p14="http://schemas.microsoft.com/office/powerpoint/2010/main" val="2405018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0D43-A968-C44C-6F03-635F407F7D20}"/>
              </a:ext>
            </a:extLst>
          </p:cNvPr>
          <p:cNvSpPr>
            <a:spLocks noGrp="1"/>
          </p:cNvSpPr>
          <p:nvPr>
            <p:ph type="title"/>
          </p:nvPr>
        </p:nvSpPr>
        <p:spPr>
          <a:xfrm>
            <a:off x="457753" y="97065"/>
            <a:ext cx="13656055" cy="542777"/>
          </a:xfrm>
        </p:spPr>
        <p:txBody>
          <a:bodyPr/>
          <a:lstStyle/>
          <a:p>
            <a:pPr marL="0" indent="0" algn="l">
              <a:lnSpc>
                <a:spcPts val="4350"/>
              </a:lnSpc>
              <a:buNone/>
            </a:pPr>
            <a:r>
              <a:rPr lang="en-US" sz="3600" dirty="0">
                <a:solidFill>
                  <a:srgbClr val="020202"/>
                </a:solidFill>
                <a:ea typeface="PT Serif" pitchFamily="34" charset="-122"/>
                <a:cs typeface="PT Serif" pitchFamily="34" charset="-120"/>
              </a:rPr>
              <a:t>Implementing Ridge in Python</a:t>
            </a:r>
            <a:endParaRPr lang="en-US" sz="3600" dirty="0"/>
          </a:p>
        </p:txBody>
      </p:sp>
      <p:sp>
        <p:nvSpPr>
          <p:cNvPr id="5" name="Rectangle 4">
            <a:extLst>
              <a:ext uri="{FF2B5EF4-FFF2-40B4-BE49-F238E27FC236}">
                <a16:creationId xmlns:a16="http://schemas.microsoft.com/office/drawing/2014/main" id="{5E430A5B-3C7A-385E-EA3A-CB67DA0970A5}"/>
              </a:ext>
            </a:extLst>
          </p:cNvPr>
          <p:cNvSpPr/>
          <p:nvPr/>
        </p:nvSpPr>
        <p:spPr>
          <a:xfrm>
            <a:off x="327411" y="1819196"/>
            <a:ext cx="14173200" cy="35148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4" name="TextBox 3">
            <a:extLst>
              <a:ext uri="{FF2B5EF4-FFF2-40B4-BE49-F238E27FC236}">
                <a16:creationId xmlns:a16="http://schemas.microsoft.com/office/drawing/2014/main" id="{A8363E10-D510-1BEF-37D4-FF6BAB493213}"/>
              </a:ext>
            </a:extLst>
          </p:cNvPr>
          <p:cNvSpPr txBox="1"/>
          <p:nvPr/>
        </p:nvSpPr>
        <p:spPr>
          <a:xfrm>
            <a:off x="428224" y="838775"/>
            <a:ext cx="13773951" cy="4708981"/>
          </a:xfrm>
          <a:prstGeom prst="rect">
            <a:avLst/>
          </a:prstGeom>
          <a:noFill/>
        </p:spPr>
        <p:txBody>
          <a:bodyPr wrap="square">
            <a:spAutoFit/>
          </a:bodyPr>
          <a:lstStyle/>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Ridge regression follows a similar API pattern in scikit-learn. The key difference lies in how coefficients are penalized—Ridge shrinks all coefficients but never eliminates any completely.</a:t>
            </a:r>
            <a:endParaRPr lang="en-US" sz="1800" dirty="0">
              <a:latin typeface="PT Serif" panose="020A0603040505020204" pitchFamily="18" charset="0"/>
            </a:endParaRPr>
          </a:p>
          <a:p>
            <a:pPr marL="0" indent="0" algn="l">
              <a:buNone/>
            </a:pPr>
            <a:endParaRPr lang="en-US" sz="1800" dirty="0">
              <a:solidFill>
                <a:srgbClr val="383838"/>
              </a:solidFill>
              <a:latin typeface="PT Serif" panose="020A0603040505020204" pitchFamily="18" charset="0"/>
              <a:ea typeface="DM Sans" pitchFamily="34" charset="-122"/>
              <a:cs typeface="DM Sans" pitchFamily="34" charset="-120"/>
            </a:endParaRPr>
          </a:p>
          <a:p>
            <a:pPr marL="0" indent="0" algn="l">
              <a:lnSpc>
                <a:spcPts val="2100"/>
              </a:lnSpc>
              <a:buNone/>
            </a:pPr>
            <a:r>
              <a:rPr lang="en-US" dirty="0">
                <a:solidFill>
                  <a:srgbClr val="383838"/>
                </a:solidFill>
                <a:latin typeface="PT Serif" panose="020A0603040505020204" pitchFamily="18" charset="0"/>
              </a:rPr>
              <a:t>from sklearn.linear_model import Ridge</a:t>
            </a:r>
          </a:p>
          <a:p>
            <a:pPr marL="0" indent="0" algn="l">
              <a:lnSpc>
                <a:spcPts val="2100"/>
              </a:lnSpc>
              <a:buNone/>
            </a:pPr>
            <a:endParaRPr lang="en-US" dirty="0">
              <a:solidFill>
                <a:srgbClr val="383838"/>
              </a:solidFill>
              <a:latin typeface="PT Serif" panose="020A0603040505020204" pitchFamily="18" charset="0"/>
            </a:endParaRPr>
          </a:p>
          <a:p>
            <a:pPr marL="0" indent="0" algn="l">
              <a:lnSpc>
                <a:spcPts val="2100"/>
              </a:lnSpc>
              <a:buNone/>
            </a:pPr>
            <a:r>
              <a:rPr lang="en-US" dirty="0">
                <a:solidFill>
                  <a:srgbClr val="383838"/>
                </a:solidFill>
                <a:latin typeface="PT Serif" panose="020A0603040505020204" pitchFamily="18" charset="0"/>
              </a:rPr>
              <a:t># Standardize features before fitting</a:t>
            </a:r>
          </a:p>
          <a:p>
            <a:pPr marL="0" indent="0" algn="l">
              <a:lnSpc>
                <a:spcPts val="2100"/>
              </a:lnSpc>
              <a:buNone/>
            </a:pPr>
            <a:r>
              <a:rPr lang="en-US" dirty="0">
                <a:solidFill>
                  <a:srgbClr val="383838"/>
                </a:solidFill>
                <a:latin typeface="PT Serif" panose="020A0603040505020204" pitchFamily="18" charset="0"/>
              </a:rPr>
              <a:t>X_scaled = scaler.fit_transform(X_train)</a:t>
            </a:r>
          </a:p>
          <a:p>
            <a:pPr marL="0" indent="0" algn="l">
              <a:lnSpc>
                <a:spcPts val="2100"/>
              </a:lnSpc>
              <a:buNone/>
            </a:pPr>
            <a:endParaRPr lang="en-US" dirty="0">
              <a:solidFill>
                <a:srgbClr val="383838"/>
              </a:solidFill>
              <a:latin typeface="PT Serif" panose="020A0603040505020204" pitchFamily="18" charset="0"/>
            </a:endParaRPr>
          </a:p>
          <a:p>
            <a:pPr marL="0" indent="0" algn="l">
              <a:lnSpc>
                <a:spcPts val="2100"/>
              </a:lnSpc>
              <a:buNone/>
            </a:pPr>
            <a:r>
              <a:rPr lang="en-US" dirty="0">
                <a:solidFill>
                  <a:srgbClr val="383838"/>
                </a:solidFill>
                <a:latin typeface="PT Serif" panose="020A0603040505020204" pitchFamily="18" charset="0"/>
              </a:rPr>
              <a:t># Initialize Ridge with alpha=1.0</a:t>
            </a:r>
          </a:p>
          <a:p>
            <a:pPr marL="0" indent="0" algn="l">
              <a:lnSpc>
                <a:spcPts val="2100"/>
              </a:lnSpc>
              <a:buNone/>
            </a:pPr>
            <a:r>
              <a:rPr lang="en-US" dirty="0">
                <a:solidFill>
                  <a:srgbClr val="383838"/>
                </a:solidFill>
                <a:latin typeface="PT Serif" panose="020A0603040505020204" pitchFamily="18" charset="0"/>
              </a:rPr>
              <a:t># Larger alpha values produce greater shrinkage</a:t>
            </a:r>
          </a:p>
          <a:p>
            <a:pPr marL="0" indent="0" algn="l">
              <a:lnSpc>
                <a:spcPts val="2100"/>
              </a:lnSpc>
              <a:buNone/>
            </a:pPr>
            <a:r>
              <a:rPr lang="en-US" dirty="0">
                <a:solidFill>
                  <a:srgbClr val="383838"/>
                </a:solidFill>
                <a:latin typeface="PT Serif" panose="020A0603040505020204" pitchFamily="18" charset="0"/>
              </a:rPr>
              <a:t>ridge = Ridge(alpha=1.0)</a:t>
            </a:r>
          </a:p>
          <a:p>
            <a:pPr marL="0" indent="0" algn="l">
              <a:lnSpc>
                <a:spcPts val="2100"/>
              </a:lnSpc>
              <a:buNone/>
            </a:pPr>
            <a:r>
              <a:rPr lang="en-US" dirty="0">
                <a:solidFill>
                  <a:srgbClr val="383838"/>
                </a:solidFill>
                <a:latin typeface="PT Serif" panose="020A0603040505020204" pitchFamily="18" charset="0"/>
              </a:rPr>
              <a:t>ridge.fit(X_scaled, y_train)</a:t>
            </a:r>
          </a:p>
          <a:p>
            <a:pPr marL="0" indent="0" algn="l">
              <a:lnSpc>
                <a:spcPts val="2100"/>
              </a:lnSpc>
              <a:buNone/>
            </a:pPr>
            <a:endParaRPr lang="en-US" dirty="0">
              <a:solidFill>
                <a:srgbClr val="383838"/>
              </a:solidFill>
              <a:latin typeface="PT Serif" panose="020A0603040505020204" pitchFamily="18" charset="0"/>
            </a:endParaRPr>
          </a:p>
          <a:p>
            <a:pPr marL="0" indent="0" algn="l">
              <a:lnSpc>
                <a:spcPts val="2100"/>
              </a:lnSpc>
              <a:buNone/>
            </a:pPr>
            <a:r>
              <a:rPr lang="en-US" dirty="0">
                <a:solidFill>
                  <a:srgbClr val="383838"/>
                </a:solidFill>
                <a:latin typeface="PT Serif" panose="020A0603040505020204" pitchFamily="18" charset="0"/>
              </a:rPr>
              <a:t># All coefficients will be non-zero but shrunken</a:t>
            </a:r>
          </a:p>
          <a:p>
            <a:pPr marL="0" indent="0" algn="l">
              <a:lnSpc>
                <a:spcPts val="2100"/>
              </a:lnSpc>
              <a:buNone/>
            </a:pPr>
            <a:r>
              <a:rPr lang="en-US" dirty="0">
                <a:solidFill>
                  <a:srgbClr val="383838"/>
                </a:solidFill>
                <a:latin typeface="PT Serif" panose="020A0603040505020204" pitchFamily="18" charset="0"/>
              </a:rPr>
              <a:t>print(ridge.coef_)</a:t>
            </a:r>
          </a:p>
          <a:p>
            <a:pPr marL="0" indent="0" algn="l">
              <a:buNone/>
            </a:pPr>
            <a:endParaRPr lang="en-US" sz="1800" dirty="0">
              <a:latin typeface="PT Serif" panose="020A0603040505020204" pitchFamily="18" charset="0"/>
            </a:endParaRPr>
          </a:p>
        </p:txBody>
      </p:sp>
      <p:sp>
        <p:nvSpPr>
          <p:cNvPr id="7" name="Text 3">
            <a:extLst>
              <a:ext uri="{FF2B5EF4-FFF2-40B4-BE49-F238E27FC236}">
                <a16:creationId xmlns:a16="http://schemas.microsoft.com/office/drawing/2014/main" id="{F1B56475-F4AD-3255-A850-0BEE57C9BEDE}"/>
              </a:ext>
            </a:extLst>
          </p:cNvPr>
          <p:cNvSpPr/>
          <p:nvPr/>
        </p:nvSpPr>
        <p:spPr>
          <a:xfrm>
            <a:off x="475448" y="5214100"/>
            <a:ext cx="6810333" cy="3126080"/>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When to Use Ridge</a:t>
            </a:r>
          </a:p>
          <a:p>
            <a:pPr marL="285750" indent="-285750" algn="l">
              <a:lnSpc>
                <a:spcPct val="200000"/>
              </a:lnSpc>
              <a:buFont typeface="Arial" panose="020B0604020202020204" pitchFamily="34" charset="0"/>
              <a:buChar char="•"/>
            </a:pPr>
            <a:r>
              <a:rPr lang="en-US" sz="1800" dirty="0">
                <a:solidFill>
                  <a:srgbClr val="383838"/>
                </a:solidFill>
                <a:latin typeface="PT Serif" panose="020A0603040505020204" pitchFamily="18" charset="0"/>
                <a:ea typeface="DM Sans" pitchFamily="34" charset="-122"/>
                <a:cs typeface="DM Sans" pitchFamily="34" charset="-120"/>
              </a:rPr>
              <a:t>Severe multicollinearity among predictors</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383838"/>
                </a:solidFill>
                <a:latin typeface="PT Serif" panose="020A0603040505020204" pitchFamily="18" charset="0"/>
                <a:ea typeface="DM Sans" pitchFamily="34" charset="-122"/>
                <a:cs typeface="DM Sans" pitchFamily="34" charset="-120"/>
              </a:rPr>
              <a:t>All features believed to be relevant</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383838"/>
                </a:solidFill>
                <a:latin typeface="PT Serif" panose="020A0603040505020204" pitchFamily="18" charset="0"/>
                <a:ea typeface="DM Sans" pitchFamily="34" charset="-122"/>
                <a:cs typeface="DM Sans" pitchFamily="34" charset="-120"/>
              </a:rPr>
              <a:t>Desire for stable coefficient estimates</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383838"/>
                </a:solidFill>
                <a:latin typeface="PT Serif" panose="020A0603040505020204" pitchFamily="18" charset="0"/>
                <a:ea typeface="DM Sans" pitchFamily="34" charset="-122"/>
                <a:cs typeface="DM Sans" pitchFamily="34" charset="-120"/>
              </a:rPr>
              <a:t>No need for feature selection</a:t>
            </a:r>
            <a:endParaRPr lang="en-US" sz="1800"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p:txBody>
      </p:sp>
      <p:sp>
        <p:nvSpPr>
          <p:cNvPr id="9" name="Text 3">
            <a:extLst>
              <a:ext uri="{FF2B5EF4-FFF2-40B4-BE49-F238E27FC236}">
                <a16:creationId xmlns:a16="http://schemas.microsoft.com/office/drawing/2014/main" id="{186CFA74-7050-79CD-71E7-0FDB4E51F7CE}"/>
              </a:ext>
            </a:extLst>
          </p:cNvPr>
          <p:cNvSpPr/>
          <p:nvPr/>
        </p:nvSpPr>
        <p:spPr>
          <a:xfrm>
            <a:off x="7439066" y="5255920"/>
            <a:ext cx="6810333" cy="3126080"/>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Tuning the Alpha Parameter</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Use cross-validation to identify the optimal alpha value. The RidgeCV class automates this process by testing multiple alpha values and selecting the best performer.</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Tree>
    <p:extLst>
      <p:ext uri="{BB962C8B-B14F-4D97-AF65-F5344CB8AC3E}">
        <p14:creationId xmlns:p14="http://schemas.microsoft.com/office/powerpoint/2010/main" val="1947511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0D43-A968-C44C-6F03-635F407F7D20}"/>
              </a:ext>
            </a:extLst>
          </p:cNvPr>
          <p:cNvSpPr>
            <a:spLocks noGrp="1"/>
          </p:cNvSpPr>
          <p:nvPr>
            <p:ph type="title"/>
          </p:nvPr>
        </p:nvSpPr>
        <p:spPr>
          <a:xfrm>
            <a:off x="475448" y="76200"/>
            <a:ext cx="13656055" cy="1123384"/>
          </a:xfrm>
        </p:spPr>
        <p:txBody>
          <a:bodyPr/>
          <a:lstStyle/>
          <a:p>
            <a:r>
              <a:rPr lang="en-US" sz="3600" dirty="0">
                <a:solidFill>
                  <a:srgbClr val="020202"/>
                </a:solidFill>
                <a:ea typeface="PT Serif" pitchFamily="34" charset="-122"/>
                <a:cs typeface="PT Serif" pitchFamily="34" charset="-120"/>
              </a:rPr>
              <a:t>Implementing Lasso in Python</a:t>
            </a:r>
            <a:br>
              <a:rPr lang="en-US" sz="3600" dirty="0"/>
            </a:br>
            <a:endParaRPr lang="en-IN" sz="3600" dirty="0"/>
          </a:p>
        </p:txBody>
      </p:sp>
      <p:sp>
        <p:nvSpPr>
          <p:cNvPr id="5" name="Rectangle 4">
            <a:extLst>
              <a:ext uri="{FF2B5EF4-FFF2-40B4-BE49-F238E27FC236}">
                <a16:creationId xmlns:a16="http://schemas.microsoft.com/office/drawing/2014/main" id="{5E430A5B-3C7A-385E-EA3A-CB67DA0970A5}"/>
              </a:ext>
            </a:extLst>
          </p:cNvPr>
          <p:cNvSpPr/>
          <p:nvPr/>
        </p:nvSpPr>
        <p:spPr>
          <a:xfrm>
            <a:off x="216875" y="1428184"/>
            <a:ext cx="14173200" cy="437169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4" name="TextBox 3">
            <a:extLst>
              <a:ext uri="{FF2B5EF4-FFF2-40B4-BE49-F238E27FC236}">
                <a16:creationId xmlns:a16="http://schemas.microsoft.com/office/drawing/2014/main" id="{A8363E10-D510-1BEF-37D4-FF6BAB493213}"/>
              </a:ext>
            </a:extLst>
          </p:cNvPr>
          <p:cNvSpPr txBox="1"/>
          <p:nvPr/>
        </p:nvSpPr>
        <p:spPr>
          <a:xfrm>
            <a:off x="428224" y="690646"/>
            <a:ext cx="13773951" cy="5355312"/>
          </a:xfrm>
          <a:prstGeom prst="rect">
            <a:avLst/>
          </a:prstGeom>
          <a:noFill/>
        </p:spPr>
        <p:txBody>
          <a:bodyPr wrap="square">
            <a:spAutoFit/>
          </a:bodyPr>
          <a:lstStyle/>
          <a:p>
            <a:pPr marL="0" indent="0" algn="l">
              <a:buNone/>
            </a:pPr>
            <a:r>
              <a:rPr lang="en-US" sz="1800" dirty="0">
                <a:solidFill>
                  <a:srgbClr val="383838"/>
                </a:solidFill>
                <a:latin typeface="PT Serif" panose="020A0603040505020204" pitchFamily="18" charset="0"/>
                <a:ea typeface="DM Sans" pitchFamily="34" charset="-122"/>
                <a:cs typeface="DM Sans" pitchFamily="34" charset="-120"/>
              </a:rPr>
              <a:t>Scikit-learn provides a straightforward implementation of Lasso regression. Standardization is critical—always scale features before applying regularization.</a:t>
            </a:r>
          </a:p>
          <a:p>
            <a:pPr marL="0" indent="0" algn="l">
              <a:buNone/>
            </a:pPr>
            <a:endParaRPr lang="en-US" sz="1800" dirty="0">
              <a:solidFill>
                <a:srgbClr val="383838"/>
              </a:solidFill>
              <a:latin typeface="PT Serif" panose="020A0603040505020204" pitchFamily="18" charset="0"/>
              <a:ea typeface="DM Sans" pitchFamily="34" charset="-122"/>
              <a:cs typeface="DM Sans" pitchFamily="34" charset="-120"/>
            </a:endParaRPr>
          </a:p>
          <a:p>
            <a:pPr marL="0" indent="0" algn="l">
              <a:buNone/>
            </a:pPr>
            <a:r>
              <a:rPr lang="en-US" dirty="0">
                <a:solidFill>
                  <a:srgbClr val="383838"/>
                </a:solidFill>
                <a:latin typeface="PT Serif" panose="020A0603040505020204" pitchFamily="18" charset="0"/>
              </a:rPr>
              <a:t>from sklearn.linear_model import Lasso</a:t>
            </a:r>
          </a:p>
          <a:p>
            <a:pPr marL="0" indent="0" algn="l">
              <a:buNone/>
            </a:pPr>
            <a:r>
              <a:rPr lang="en-US" dirty="0">
                <a:solidFill>
                  <a:srgbClr val="383838"/>
                </a:solidFill>
                <a:latin typeface="PT Serif" panose="020A0603040505020204" pitchFamily="18" charset="0"/>
              </a:rPr>
              <a:t>from sklearn.preprocessing import StandardScaler</a:t>
            </a:r>
          </a:p>
          <a:p>
            <a:pPr marL="0" indent="0" algn="l">
              <a:buNone/>
            </a:pPr>
            <a:endParaRPr lang="en-US" dirty="0">
              <a:solidFill>
                <a:srgbClr val="383838"/>
              </a:solidFill>
              <a:latin typeface="PT Serif" panose="020A0603040505020204" pitchFamily="18" charset="0"/>
            </a:endParaRPr>
          </a:p>
          <a:p>
            <a:pPr marL="0" indent="0" algn="l">
              <a:buNone/>
            </a:pPr>
            <a:r>
              <a:rPr lang="en-US" dirty="0">
                <a:solidFill>
                  <a:srgbClr val="383838"/>
                </a:solidFill>
                <a:latin typeface="PT Serif" panose="020A0603040505020204" pitchFamily="18" charset="0"/>
              </a:rPr>
              <a:t># Standardize features (critical for regularization)</a:t>
            </a:r>
          </a:p>
          <a:p>
            <a:pPr marL="0" indent="0" algn="l">
              <a:buNone/>
            </a:pPr>
            <a:r>
              <a:rPr lang="en-US" dirty="0">
                <a:solidFill>
                  <a:srgbClr val="383838"/>
                </a:solidFill>
                <a:latin typeface="PT Serif" panose="020A0603040505020204" pitchFamily="18" charset="0"/>
              </a:rPr>
              <a:t>scaler = StandardScaler()</a:t>
            </a:r>
          </a:p>
          <a:p>
            <a:pPr marL="0" indent="0" algn="l">
              <a:buNone/>
            </a:pPr>
            <a:r>
              <a:rPr lang="en-US" dirty="0">
                <a:solidFill>
                  <a:srgbClr val="383838"/>
                </a:solidFill>
                <a:latin typeface="PT Serif" panose="020A0603040505020204" pitchFamily="18" charset="0"/>
              </a:rPr>
              <a:t>X_scaled = scaler.fit_transform(X_train)</a:t>
            </a:r>
          </a:p>
          <a:p>
            <a:pPr marL="0" indent="0" algn="l">
              <a:buNone/>
            </a:pPr>
            <a:endParaRPr lang="en-US" dirty="0">
              <a:solidFill>
                <a:srgbClr val="383838"/>
              </a:solidFill>
              <a:latin typeface="PT Serif" panose="020A0603040505020204" pitchFamily="18" charset="0"/>
            </a:endParaRPr>
          </a:p>
          <a:p>
            <a:pPr marL="0" indent="0" algn="l">
              <a:buNone/>
            </a:pPr>
            <a:r>
              <a:rPr lang="en-US" dirty="0">
                <a:solidFill>
                  <a:srgbClr val="383838"/>
                </a:solidFill>
                <a:latin typeface="PT Serif" panose="020A0603040505020204" pitchFamily="18" charset="0"/>
              </a:rPr>
              <a:t># Initialize and fit Lasso model</a:t>
            </a:r>
          </a:p>
          <a:p>
            <a:pPr marL="0" indent="0" algn="l">
              <a:buNone/>
            </a:pPr>
            <a:r>
              <a:rPr lang="en-US" dirty="0">
                <a:solidFill>
                  <a:srgbClr val="383838"/>
                </a:solidFill>
                <a:latin typeface="PT Serif" panose="020A0603040505020204" pitchFamily="18" charset="0"/>
              </a:rPr>
              <a:t># alpha parameter corresponds to λ in the mathematical formulation</a:t>
            </a:r>
          </a:p>
          <a:p>
            <a:pPr marL="0" indent="0" algn="l">
              <a:buNone/>
            </a:pPr>
            <a:r>
              <a:rPr lang="en-US" dirty="0">
                <a:solidFill>
                  <a:srgbClr val="383838"/>
                </a:solidFill>
                <a:latin typeface="PT Serif" panose="020A0603040505020204" pitchFamily="18" charset="0"/>
              </a:rPr>
              <a:t>lasso = Lasso(alpha=0.1)</a:t>
            </a:r>
          </a:p>
          <a:p>
            <a:pPr marL="0" indent="0" algn="l">
              <a:buNone/>
            </a:pPr>
            <a:r>
              <a:rPr lang="en-US" dirty="0">
                <a:solidFill>
                  <a:srgbClr val="383838"/>
                </a:solidFill>
                <a:latin typeface="PT Serif" panose="020A0603040505020204" pitchFamily="18" charset="0"/>
              </a:rPr>
              <a:t>lasso.fit(X_scaled, y_train)</a:t>
            </a:r>
          </a:p>
          <a:p>
            <a:pPr marL="0" indent="0" algn="l">
              <a:buNone/>
            </a:pPr>
            <a:endParaRPr lang="en-US" dirty="0">
              <a:solidFill>
                <a:srgbClr val="383838"/>
              </a:solidFill>
              <a:latin typeface="PT Serif" panose="020A0603040505020204" pitchFamily="18" charset="0"/>
            </a:endParaRPr>
          </a:p>
          <a:p>
            <a:pPr marL="0" indent="0" algn="l">
              <a:buNone/>
            </a:pPr>
            <a:r>
              <a:rPr lang="en-US" dirty="0">
                <a:solidFill>
                  <a:srgbClr val="383838"/>
                </a:solidFill>
                <a:latin typeface="PT Serif" panose="020A0603040505020204" pitchFamily="18" charset="0"/>
              </a:rPr>
              <a:t># Examine coefficients</a:t>
            </a:r>
          </a:p>
          <a:p>
            <a:pPr marL="0" indent="0" algn="l">
              <a:buNone/>
            </a:pPr>
            <a:r>
              <a:rPr lang="en-US" dirty="0">
                <a:solidFill>
                  <a:srgbClr val="383838"/>
                </a:solidFill>
                <a:latin typeface="PT Serif" panose="020A0603040505020204" pitchFamily="18" charset="0"/>
              </a:rPr>
              <a:t># Zero coefficients indicate eliminated features</a:t>
            </a:r>
          </a:p>
          <a:p>
            <a:pPr marL="0" indent="0" algn="l">
              <a:buNone/>
            </a:pPr>
            <a:r>
              <a:rPr lang="en-US" dirty="0">
                <a:solidFill>
                  <a:srgbClr val="383838"/>
                </a:solidFill>
                <a:latin typeface="PT Serif" panose="020A0603040505020204" pitchFamily="18" charset="0"/>
              </a:rPr>
              <a:t>print(lasso.coef_)</a:t>
            </a:r>
          </a:p>
          <a:p>
            <a:pPr marL="0" indent="0" algn="l">
              <a:buNone/>
            </a:pPr>
            <a:endParaRPr lang="en-US" sz="1800" dirty="0">
              <a:latin typeface="PT Serif" panose="020A0603040505020204" pitchFamily="18" charset="0"/>
            </a:endParaRPr>
          </a:p>
        </p:txBody>
      </p:sp>
      <p:sp>
        <p:nvSpPr>
          <p:cNvPr id="6" name="Shape 2">
            <a:extLst>
              <a:ext uri="{FF2B5EF4-FFF2-40B4-BE49-F238E27FC236}">
                <a16:creationId xmlns:a16="http://schemas.microsoft.com/office/drawing/2014/main" id="{F82E1439-5B7A-F2F7-88DC-B2CDFC704577}"/>
              </a:ext>
            </a:extLst>
          </p:cNvPr>
          <p:cNvSpPr/>
          <p:nvPr/>
        </p:nvSpPr>
        <p:spPr>
          <a:xfrm>
            <a:off x="152400" y="5923984"/>
            <a:ext cx="6985344" cy="967541"/>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7" name="Text 3">
            <a:extLst>
              <a:ext uri="{FF2B5EF4-FFF2-40B4-BE49-F238E27FC236}">
                <a16:creationId xmlns:a16="http://schemas.microsoft.com/office/drawing/2014/main" id="{F1B56475-F4AD-3255-A850-0BEE57C9BEDE}"/>
              </a:ext>
            </a:extLst>
          </p:cNvPr>
          <p:cNvSpPr/>
          <p:nvPr/>
        </p:nvSpPr>
        <p:spPr>
          <a:xfrm>
            <a:off x="327411" y="5923984"/>
            <a:ext cx="6810333" cy="31260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Standardize Data</a:t>
            </a: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Essential for fair penalization across features with different scales</a:t>
            </a: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8" name="Shape 2">
            <a:extLst>
              <a:ext uri="{FF2B5EF4-FFF2-40B4-BE49-F238E27FC236}">
                <a16:creationId xmlns:a16="http://schemas.microsoft.com/office/drawing/2014/main" id="{D8141D60-7F3B-A81B-EA32-1C5FDE985E9B}"/>
              </a:ext>
            </a:extLst>
          </p:cNvPr>
          <p:cNvSpPr/>
          <p:nvPr/>
        </p:nvSpPr>
        <p:spPr>
          <a:xfrm>
            <a:off x="7416456" y="5923984"/>
            <a:ext cx="6985344" cy="967541"/>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9" name="Text 3">
            <a:extLst>
              <a:ext uri="{FF2B5EF4-FFF2-40B4-BE49-F238E27FC236}">
                <a16:creationId xmlns:a16="http://schemas.microsoft.com/office/drawing/2014/main" id="{186CFA74-7050-79CD-71E7-0FDB4E51F7CE}"/>
              </a:ext>
            </a:extLst>
          </p:cNvPr>
          <p:cNvSpPr/>
          <p:nvPr/>
        </p:nvSpPr>
        <p:spPr>
          <a:xfrm>
            <a:off x="7591467" y="5923984"/>
            <a:ext cx="6810333" cy="31260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Set Alpha Value</a:t>
            </a: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Start with small values like 0.1; tune using cross-validation</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10" name="Shape 2">
            <a:extLst>
              <a:ext uri="{FF2B5EF4-FFF2-40B4-BE49-F238E27FC236}">
                <a16:creationId xmlns:a16="http://schemas.microsoft.com/office/drawing/2014/main" id="{C4AEC38A-F516-64D2-4142-5C468FBC4D5F}"/>
              </a:ext>
            </a:extLst>
          </p:cNvPr>
          <p:cNvSpPr/>
          <p:nvPr/>
        </p:nvSpPr>
        <p:spPr>
          <a:xfrm>
            <a:off x="7416456" y="7086600"/>
            <a:ext cx="6985344" cy="967541"/>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11" name="Text 3">
            <a:extLst>
              <a:ext uri="{FF2B5EF4-FFF2-40B4-BE49-F238E27FC236}">
                <a16:creationId xmlns:a16="http://schemas.microsoft.com/office/drawing/2014/main" id="{B1237FE4-1A01-DEA9-24B0-2CAE80A50F6F}"/>
              </a:ext>
            </a:extLst>
          </p:cNvPr>
          <p:cNvSpPr/>
          <p:nvPr/>
        </p:nvSpPr>
        <p:spPr>
          <a:xfrm>
            <a:off x="7591467" y="7086600"/>
            <a:ext cx="6810333" cy="31260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Interpret Results</a:t>
            </a: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Non-zero coefficients represent selected features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12" name="Shape 2">
            <a:extLst>
              <a:ext uri="{FF2B5EF4-FFF2-40B4-BE49-F238E27FC236}">
                <a16:creationId xmlns:a16="http://schemas.microsoft.com/office/drawing/2014/main" id="{F2FD000A-A126-9521-A49C-7A545DCB866F}"/>
              </a:ext>
            </a:extLst>
          </p:cNvPr>
          <p:cNvSpPr/>
          <p:nvPr/>
        </p:nvSpPr>
        <p:spPr>
          <a:xfrm>
            <a:off x="177456" y="7086600"/>
            <a:ext cx="6985344" cy="967541"/>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13" name="Text 3">
            <a:extLst>
              <a:ext uri="{FF2B5EF4-FFF2-40B4-BE49-F238E27FC236}">
                <a16:creationId xmlns:a16="http://schemas.microsoft.com/office/drawing/2014/main" id="{4F8D6A49-C42C-074B-4415-C7DB61E091D9}"/>
              </a:ext>
            </a:extLst>
          </p:cNvPr>
          <p:cNvSpPr/>
          <p:nvPr/>
        </p:nvSpPr>
        <p:spPr>
          <a:xfrm>
            <a:off x="352467" y="7086600"/>
            <a:ext cx="6810333" cy="31260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Fit the Model</a:t>
            </a: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Training identifies which coefficients to shrink to zero</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Tree>
    <p:extLst>
      <p:ext uri="{BB962C8B-B14F-4D97-AF65-F5344CB8AC3E}">
        <p14:creationId xmlns:p14="http://schemas.microsoft.com/office/powerpoint/2010/main" val="173085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717" y="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Elastic Net: The Best of Both Worlds</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9508" y="2858283"/>
            <a:ext cx="4164095" cy="2170917"/>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482872" y="2830920"/>
            <a:ext cx="3892901" cy="48652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Grouped Selection</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Tends to select or eliminate correlated variables together</a:t>
            </a:r>
            <a:endParaRPr lang="en-US" sz="1800" dirty="0">
              <a:latin typeface="PT Serif" panose="020A0603040505020204" pitchFamily="18" charset="0"/>
            </a:endParaRPr>
          </a:p>
          <a:p>
            <a:pPr algn="l">
              <a:lnSpc>
                <a:spcPct val="200000"/>
              </a:lnSpc>
            </a:pP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669270"/>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2909866"/>
            <a:ext cx="3818573" cy="2139578"/>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33706" y="2884788"/>
            <a:ext cx="3582980" cy="231374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Robust Performance</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Maintains prediction accuracy across diverse data conditions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724717" y="2877511"/>
            <a:ext cx="3976821" cy="2170917"/>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99728" y="2898371"/>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Dual Penalty System</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Applies both L1 (sparsity) and L2 (stability) penalties simultaneously</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20" name="TextBox 19">
            <a:extLst>
              <a:ext uri="{FF2B5EF4-FFF2-40B4-BE49-F238E27FC236}">
                <a16:creationId xmlns:a16="http://schemas.microsoft.com/office/drawing/2014/main" id="{1B7B3384-1B2F-CA17-FE35-2DB170AA8A89}"/>
              </a:ext>
            </a:extLst>
          </p:cNvPr>
          <p:cNvSpPr txBox="1"/>
          <p:nvPr/>
        </p:nvSpPr>
        <p:spPr>
          <a:xfrm>
            <a:off x="677353" y="1194309"/>
            <a:ext cx="12429047" cy="1121654"/>
          </a:xfrm>
          <a:prstGeom prst="rect">
            <a:avLst/>
          </a:prstGeom>
          <a:noFill/>
        </p:spPr>
        <p:txBody>
          <a:bodyPr wrap="square">
            <a:spAutoFit/>
          </a:bodyPr>
          <a:lstStyle/>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Elastic Net combines L1 and L2 penalties, inheriting the feature selection capability of Lasso and the stability of Ridge. This hybrid approach addresses Lasso's limitations with correlated predictors while maintaining sparsity.</a:t>
            </a:r>
            <a:endParaRPr lang="en-US" sz="1800" dirty="0">
              <a:latin typeface="PT Serif" panose="020A0603040505020204" pitchFamily="18" charset="0"/>
            </a:endParaRPr>
          </a:p>
        </p:txBody>
      </p:sp>
      <p:sp>
        <p:nvSpPr>
          <p:cNvPr id="12" name="TextBox 11">
            <a:extLst>
              <a:ext uri="{FF2B5EF4-FFF2-40B4-BE49-F238E27FC236}">
                <a16:creationId xmlns:a16="http://schemas.microsoft.com/office/drawing/2014/main" id="{5C065073-ADDA-B09C-44AD-8071F4670478}"/>
              </a:ext>
            </a:extLst>
          </p:cNvPr>
          <p:cNvSpPr txBox="1"/>
          <p:nvPr/>
        </p:nvSpPr>
        <p:spPr>
          <a:xfrm>
            <a:off x="677353" y="4933528"/>
            <a:ext cx="13448483" cy="3152979"/>
          </a:xfrm>
          <a:prstGeom prst="rect">
            <a:avLst/>
          </a:prstGeom>
          <a:noFill/>
        </p:spPr>
        <p:txBody>
          <a:bodyPr wrap="square">
            <a:spAutoFit/>
          </a:bodyPr>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Mathematical Formulation</a:t>
            </a:r>
          </a:p>
          <a:p>
            <a:pPr marL="0" indent="0" algn="l">
              <a:lnSpc>
                <a:spcPct val="200000"/>
              </a:lnSpc>
              <a:buNone/>
            </a:pPr>
            <a:endParaRPr lang="en-US" sz="2400" dirty="0">
              <a:solidFill>
                <a:srgbClr val="020202"/>
              </a:solidFill>
              <a:latin typeface="PT Serif" panose="020A0603040505020204" pitchFamily="18" charset="0"/>
              <a:ea typeface="PT Serif" pitchFamily="34" charset="-122"/>
              <a:cs typeface="PT Serif" pitchFamily="34" charset="-120"/>
            </a:endParaRPr>
          </a:p>
          <a:p>
            <a:pPr algn="l">
              <a:lnSpc>
                <a:spcPct val="200000"/>
              </a:lnSpc>
            </a:pPr>
            <a:r>
              <a:rPr lang="en-US" sz="1800" dirty="0">
                <a:solidFill>
                  <a:srgbClr val="383838"/>
                </a:solidFill>
                <a:latin typeface="PT Serif" panose="020A0603040505020204" pitchFamily="18" charset="0"/>
                <a:ea typeface="DM Sans" pitchFamily="34" charset="-122"/>
                <a:cs typeface="DM Sans" pitchFamily="34" charset="-120"/>
              </a:rPr>
              <a:t>The model introduces two regularization parameters: λ₁ controls sparsity while λ₂ controls shrinkage strength. In practice, these are often combined into a single alpha parameter and an l1_ratio that balances the two penalties.</a:t>
            </a:r>
            <a:endParaRPr lang="en-US" sz="1800" dirty="0">
              <a:latin typeface="PT Serif" panose="020A0603040505020204" pitchFamily="18" charset="0"/>
            </a:endParaRPr>
          </a:p>
          <a:p>
            <a:pPr marL="0" indent="0" algn="l">
              <a:lnSpc>
                <a:spcPct val="200000"/>
              </a:lnSpc>
              <a:buNone/>
            </a:pPr>
            <a:endParaRPr lang="en-US" sz="1800" dirty="0">
              <a:latin typeface="PT Serif" panose="020A0603040505020204" pitchFamily="18" charset="0"/>
            </a:endParaRPr>
          </a:p>
        </p:txBody>
      </p:sp>
      <p:pic>
        <p:nvPicPr>
          <p:cNvPr id="23" name="Image 0" descr="preencoded.png">
            <a:extLst>
              <a:ext uri="{FF2B5EF4-FFF2-40B4-BE49-F238E27FC236}">
                <a16:creationId xmlns:a16="http://schemas.microsoft.com/office/drawing/2014/main" id="{A8056479-099C-99B3-3E56-C5EEC0DCC1F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24717" y="5590748"/>
            <a:ext cx="13042821" cy="840819"/>
          </a:xfrm>
          <a:prstGeom prst="rect">
            <a:avLst/>
          </a:prstGeom>
        </p:spPr>
      </p:pic>
    </p:spTree>
    <p:extLst>
      <p:ext uri="{BB962C8B-B14F-4D97-AF65-F5344CB8AC3E}">
        <p14:creationId xmlns:p14="http://schemas.microsoft.com/office/powerpoint/2010/main" val="4127871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0D43-A968-C44C-6F03-635F407F7D20}"/>
              </a:ext>
            </a:extLst>
          </p:cNvPr>
          <p:cNvSpPr>
            <a:spLocks noGrp="1"/>
          </p:cNvSpPr>
          <p:nvPr>
            <p:ph type="title"/>
          </p:nvPr>
        </p:nvSpPr>
        <p:spPr>
          <a:xfrm>
            <a:off x="475448" y="76200"/>
            <a:ext cx="13656055" cy="600485"/>
          </a:xfrm>
        </p:spPr>
        <p:txBody>
          <a:bodyPr/>
          <a:lstStyle/>
          <a:p>
            <a:pPr marL="0" indent="0" algn="l">
              <a:lnSpc>
                <a:spcPts val="4950"/>
              </a:lnSpc>
              <a:buNone/>
            </a:pPr>
            <a:r>
              <a:rPr lang="en-US" sz="3600" dirty="0">
                <a:solidFill>
                  <a:srgbClr val="020202"/>
                </a:solidFill>
                <a:ea typeface="PT Serif" pitchFamily="34" charset="-122"/>
                <a:cs typeface="PT Serif" pitchFamily="34" charset="-120"/>
              </a:rPr>
              <a:t>Implementing Elastic Net in Python</a:t>
            </a:r>
            <a:endParaRPr lang="en-US" sz="3600" dirty="0"/>
          </a:p>
        </p:txBody>
      </p:sp>
      <p:sp>
        <p:nvSpPr>
          <p:cNvPr id="5" name="Rectangle 4">
            <a:extLst>
              <a:ext uri="{FF2B5EF4-FFF2-40B4-BE49-F238E27FC236}">
                <a16:creationId xmlns:a16="http://schemas.microsoft.com/office/drawing/2014/main" id="{5E430A5B-3C7A-385E-EA3A-CB67DA0970A5}"/>
              </a:ext>
            </a:extLst>
          </p:cNvPr>
          <p:cNvSpPr/>
          <p:nvPr/>
        </p:nvSpPr>
        <p:spPr>
          <a:xfrm>
            <a:off x="391887" y="1981200"/>
            <a:ext cx="13476513" cy="374770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4" name="TextBox 3">
            <a:extLst>
              <a:ext uri="{FF2B5EF4-FFF2-40B4-BE49-F238E27FC236}">
                <a16:creationId xmlns:a16="http://schemas.microsoft.com/office/drawing/2014/main" id="{A8363E10-D510-1BEF-37D4-FF6BAB493213}"/>
              </a:ext>
            </a:extLst>
          </p:cNvPr>
          <p:cNvSpPr txBox="1"/>
          <p:nvPr/>
        </p:nvSpPr>
        <p:spPr>
          <a:xfrm>
            <a:off x="428224" y="690646"/>
            <a:ext cx="13773951" cy="5309146"/>
          </a:xfrm>
          <a:prstGeom prst="rect">
            <a:avLst/>
          </a:prstGeom>
          <a:noFill/>
        </p:spPr>
        <p:txBody>
          <a:bodyPr wrap="square">
            <a:spAutoFit/>
          </a:bodyPr>
          <a:lstStyle/>
          <a:p>
            <a:pPr algn="l">
              <a:lnSpc>
                <a:spcPct val="150000"/>
              </a:lnSpc>
            </a:pPr>
            <a:r>
              <a:rPr lang="en-US" sz="1800" dirty="0" err="1">
                <a:solidFill>
                  <a:srgbClr val="383838"/>
                </a:solidFill>
                <a:latin typeface="PT Serif" panose="020A0603040505020204" pitchFamily="18" charset="0"/>
                <a:ea typeface="DM Sans" pitchFamily="34" charset="-122"/>
                <a:cs typeface="DM Sans" pitchFamily="34" charset="-120"/>
              </a:rPr>
              <a:t>Scikit-learn's</a:t>
            </a:r>
            <a:r>
              <a:rPr lang="en-US" sz="1800" dirty="0">
                <a:solidFill>
                  <a:srgbClr val="383838"/>
                </a:solidFill>
                <a:latin typeface="PT Serif" panose="020A0603040505020204" pitchFamily="18" charset="0"/>
                <a:ea typeface="DM Sans" pitchFamily="34" charset="-122"/>
                <a:cs typeface="DM Sans" pitchFamily="34" charset="-120"/>
              </a:rPr>
              <a:t> ElasticNet implementation requires two hyperparameters: alpha (overall regularization strength) and l1_ratio (balance between L1 and L2). </a:t>
            </a:r>
            <a:r>
              <a:rPr lang="en-IN" b="1" dirty="0">
                <a:latin typeface="PT Serif" panose="020A0603040505020204" pitchFamily="18" charset="0"/>
              </a:rPr>
              <a:t>Alpha controls </a:t>
            </a:r>
            <a:r>
              <a:rPr lang="en-IN" b="1" i="1" dirty="0">
                <a:latin typeface="PT Serif" panose="020A0603040505020204" pitchFamily="18" charset="0"/>
              </a:rPr>
              <a:t>how much</a:t>
            </a:r>
            <a:r>
              <a:rPr lang="en-IN" b="1" dirty="0">
                <a:latin typeface="PT Serif" panose="020A0603040505020204" pitchFamily="18" charset="0"/>
              </a:rPr>
              <a:t> regularization is applied. l1_ratio controls </a:t>
            </a:r>
            <a:r>
              <a:rPr lang="en-IN" b="1" i="1" dirty="0">
                <a:latin typeface="PT Serif" panose="020A0603040505020204" pitchFamily="18" charset="0"/>
              </a:rPr>
              <a:t>what type</a:t>
            </a:r>
            <a:r>
              <a:rPr lang="en-IN" b="1" dirty="0">
                <a:latin typeface="PT Serif" panose="020A0603040505020204" pitchFamily="18" charset="0"/>
              </a:rPr>
              <a:t> of regularization is applied.</a:t>
            </a:r>
            <a:endParaRPr lang="en-IN" dirty="0">
              <a:latin typeface="PT Serif" panose="020A0603040505020204" pitchFamily="18" charset="0"/>
            </a:endParaRPr>
          </a:p>
          <a:p>
            <a:pPr marL="0" indent="0" algn="l">
              <a:lnSpc>
                <a:spcPts val="2400"/>
              </a:lnSpc>
              <a:buNone/>
            </a:pPr>
            <a:endParaRPr lang="en-US" dirty="0">
              <a:solidFill>
                <a:srgbClr val="383838"/>
              </a:solidFill>
              <a:latin typeface="PT Serif" panose="020A0603040505020204" pitchFamily="18" charset="0"/>
            </a:endParaRPr>
          </a:p>
          <a:p>
            <a:pPr marL="0" indent="0" algn="l">
              <a:lnSpc>
                <a:spcPts val="2400"/>
              </a:lnSpc>
              <a:buNone/>
            </a:pPr>
            <a:r>
              <a:rPr lang="en-US" dirty="0">
                <a:solidFill>
                  <a:srgbClr val="383838"/>
                </a:solidFill>
                <a:latin typeface="PT Serif" panose="020A0603040505020204" pitchFamily="18" charset="0"/>
              </a:rPr>
              <a:t>from sklearn.linear_model import ElasticNet</a:t>
            </a:r>
          </a:p>
          <a:p>
            <a:pPr marL="0" indent="0" algn="l">
              <a:lnSpc>
                <a:spcPts val="2400"/>
              </a:lnSpc>
              <a:buNone/>
            </a:pPr>
            <a:endParaRPr lang="en-US" dirty="0">
              <a:solidFill>
                <a:srgbClr val="383838"/>
              </a:solidFill>
              <a:latin typeface="PT Serif" panose="020A0603040505020204" pitchFamily="18" charset="0"/>
            </a:endParaRPr>
          </a:p>
          <a:p>
            <a:pPr marL="0" indent="0" algn="l">
              <a:lnSpc>
                <a:spcPts val="2400"/>
              </a:lnSpc>
              <a:buNone/>
            </a:pPr>
            <a:r>
              <a:rPr lang="en-US" dirty="0">
                <a:solidFill>
                  <a:srgbClr val="383838"/>
                </a:solidFill>
                <a:latin typeface="PT Serif" panose="020A0603040505020204" pitchFamily="18" charset="0"/>
              </a:rPr>
              <a:t># Standardize features</a:t>
            </a:r>
          </a:p>
          <a:p>
            <a:pPr marL="0" indent="0" algn="l">
              <a:lnSpc>
                <a:spcPts val="2400"/>
              </a:lnSpc>
              <a:buNone/>
            </a:pPr>
            <a:r>
              <a:rPr lang="en-US" dirty="0">
                <a:solidFill>
                  <a:srgbClr val="383838"/>
                </a:solidFill>
                <a:latin typeface="PT Serif" panose="020A0603040505020204" pitchFamily="18" charset="0"/>
              </a:rPr>
              <a:t>X_scaled = scaler.fit_transform(</a:t>
            </a:r>
            <a:r>
              <a:rPr lang="en-US" dirty="0" err="1">
                <a:solidFill>
                  <a:srgbClr val="383838"/>
                </a:solidFill>
                <a:latin typeface="PT Serif" panose="020A0603040505020204" pitchFamily="18" charset="0"/>
              </a:rPr>
              <a:t>X_train</a:t>
            </a:r>
            <a:r>
              <a:rPr lang="en-US" dirty="0">
                <a:solidFill>
                  <a:srgbClr val="383838"/>
                </a:solidFill>
                <a:latin typeface="PT Serif" panose="020A0603040505020204" pitchFamily="18" charset="0"/>
              </a:rPr>
              <a:t>)</a:t>
            </a:r>
          </a:p>
          <a:p>
            <a:pPr marL="0" indent="0" algn="l">
              <a:lnSpc>
                <a:spcPts val="2400"/>
              </a:lnSpc>
              <a:buNone/>
            </a:pPr>
            <a:r>
              <a:rPr lang="en-US" dirty="0">
                <a:solidFill>
                  <a:srgbClr val="383838"/>
                </a:solidFill>
                <a:latin typeface="PT Serif" panose="020A0603040505020204" pitchFamily="18" charset="0"/>
              </a:rPr>
              <a:t># alpha: overall regularization strength</a:t>
            </a:r>
          </a:p>
          <a:p>
            <a:pPr marL="0" indent="0" algn="l">
              <a:lnSpc>
                <a:spcPts val="2400"/>
              </a:lnSpc>
              <a:buNone/>
            </a:pPr>
            <a:r>
              <a:rPr lang="en-US" dirty="0">
                <a:solidFill>
                  <a:srgbClr val="383838"/>
                </a:solidFill>
                <a:latin typeface="PT Serif" panose="020A0603040505020204" pitchFamily="18" charset="0"/>
              </a:rPr>
              <a:t># l1_ratio: mix between L1 and L2 (0=Ridge, 1=Lasso, 0.5=balanced)</a:t>
            </a:r>
          </a:p>
          <a:p>
            <a:pPr marL="0" indent="0" algn="l">
              <a:lnSpc>
                <a:spcPts val="2400"/>
              </a:lnSpc>
              <a:buNone/>
            </a:pPr>
            <a:r>
              <a:rPr lang="en-US" dirty="0">
                <a:solidFill>
                  <a:srgbClr val="383838"/>
                </a:solidFill>
                <a:latin typeface="PT Serif" panose="020A0603040505020204" pitchFamily="18" charset="0"/>
              </a:rPr>
              <a:t>elastic = ElasticNet(alpha=0.1, l1_ratio=0.5)</a:t>
            </a:r>
          </a:p>
          <a:p>
            <a:pPr marL="0" indent="0" algn="l">
              <a:lnSpc>
                <a:spcPts val="2400"/>
              </a:lnSpc>
              <a:buNone/>
            </a:pPr>
            <a:r>
              <a:rPr lang="en-US" dirty="0">
                <a:solidFill>
                  <a:srgbClr val="383838"/>
                </a:solidFill>
                <a:latin typeface="PT Serif" panose="020A0603040505020204" pitchFamily="18" charset="0"/>
              </a:rPr>
              <a:t>elastic.fit(X_scaled, y_train)</a:t>
            </a:r>
          </a:p>
          <a:p>
            <a:pPr marL="0" indent="0" algn="l">
              <a:lnSpc>
                <a:spcPts val="2400"/>
              </a:lnSpc>
              <a:buNone/>
            </a:pPr>
            <a:endParaRPr lang="en-US" dirty="0">
              <a:solidFill>
                <a:srgbClr val="383838"/>
              </a:solidFill>
              <a:latin typeface="PT Serif" panose="020A0603040505020204" pitchFamily="18" charset="0"/>
            </a:endParaRPr>
          </a:p>
          <a:p>
            <a:pPr marL="0" indent="0" algn="l">
              <a:lnSpc>
                <a:spcPts val="2400"/>
              </a:lnSpc>
              <a:buNone/>
            </a:pPr>
            <a:r>
              <a:rPr lang="en-US" dirty="0">
                <a:solidFill>
                  <a:srgbClr val="383838"/>
                </a:solidFill>
                <a:latin typeface="PT Serif" panose="020A0603040505020204" pitchFamily="18" charset="0"/>
              </a:rPr>
              <a:t># Coefficients show both sparsity and stability</a:t>
            </a:r>
          </a:p>
          <a:p>
            <a:pPr marL="0" indent="0" algn="l">
              <a:lnSpc>
                <a:spcPts val="2400"/>
              </a:lnSpc>
              <a:buNone/>
            </a:pPr>
            <a:r>
              <a:rPr lang="en-US" dirty="0">
                <a:solidFill>
                  <a:srgbClr val="383838"/>
                </a:solidFill>
                <a:latin typeface="PT Serif" panose="020A0603040505020204" pitchFamily="18" charset="0"/>
              </a:rPr>
              <a:t>print(elastic.coef_)</a:t>
            </a:r>
          </a:p>
          <a:p>
            <a:pPr marL="0" indent="0" algn="l">
              <a:buNone/>
            </a:pPr>
            <a:endParaRPr lang="en-US" sz="1800" dirty="0">
              <a:latin typeface="PT Serif" panose="020A0603040505020204" pitchFamily="18" charset="0"/>
            </a:endParaRPr>
          </a:p>
        </p:txBody>
      </p:sp>
      <p:sp>
        <p:nvSpPr>
          <p:cNvPr id="6" name="Shape 2">
            <a:extLst>
              <a:ext uri="{FF2B5EF4-FFF2-40B4-BE49-F238E27FC236}">
                <a16:creationId xmlns:a16="http://schemas.microsoft.com/office/drawing/2014/main" id="{F82E1439-5B7A-F2F7-88DC-B2CDFC704577}"/>
              </a:ext>
            </a:extLst>
          </p:cNvPr>
          <p:cNvSpPr/>
          <p:nvPr/>
        </p:nvSpPr>
        <p:spPr>
          <a:xfrm>
            <a:off x="216875" y="5923984"/>
            <a:ext cx="4600167" cy="200081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7" name="Text 3">
            <a:extLst>
              <a:ext uri="{FF2B5EF4-FFF2-40B4-BE49-F238E27FC236}">
                <a16:creationId xmlns:a16="http://schemas.microsoft.com/office/drawing/2014/main" id="{F1B56475-F4AD-3255-A850-0BEE57C9BEDE}"/>
              </a:ext>
            </a:extLst>
          </p:cNvPr>
          <p:cNvSpPr/>
          <p:nvPr/>
        </p:nvSpPr>
        <p:spPr>
          <a:xfrm>
            <a:off x="391887" y="5923984"/>
            <a:ext cx="4484914" cy="31260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l1_ratio = 0.0</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Equivalent to Ridge regression (pure L2 penalty)</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4" name="Shape 2">
            <a:extLst>
              <a:ext uri="{FF2B5EF4-FFF2-40B4-BE49-F238E27FC236}">
                <a16:creationId xmlns:a16="http://schemas.microsoft.com/office/drawing/2014/main" id="{2E09D5D8-FFDC-E6AA-2250-4082F8F105CE}"/>
              </a:ext>
            </a:extLst>
          </p:cNvPr>
          <p:cNvSpPr/>
          <p:nvPr/>
        </p:nvSpPr>
        <p:spPr>
          <a:xfrm>
            <a:off x="428224" y="5975914"/>
            <a:ext cx="4388818" cy="200081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15" name="Text 3">
            <a:extLst>
              <a:ext uri="{FF2B5EF4-FFF2-40B4-BE49-F238E27FC236}">
                <a16:creationId xmlns:a16="http://schemas.microsoft.com/office/drawing/2014/main" id="{8DA177AA-069D-48B1-E06F-C7A40B20743D}"/>
              </a:ext>
            </a:extLst>
          </p:cNvPr>
          <p:cNvSpPr/>
          <p:nvPr/>
        </p:nvSpPr>
        <p:spPr>
          <a:xfrm>
            <a:off x="391887" y="5975914"/>
            <a:ext cx="4484914" cy="31260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l1_ratio = 0.0</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Equivalent to Ridge regression (pure L2 penalty)</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6" name="Shape 2">
            <a:extLst>
              <a:ext uri="{FF2B5EF4-FFF2-40B4-BE49-F238E27FC236}">
                <a16:creationId xmlns:a16="http://schemas.microsoft.com/office/drawing/2014/main" id="{5A3C155C-3C93-1A3F-DB92-FA0FE0C23794}"/>
              </a:ext>
            </a:extLst>
          </p:cNvPr>
          <p:cNvSpPr/>
          <p:nvPr/>
        </p:nvSpPr>
        <p:spPr>
          <a:xfrm>
            <a:off x="5029200" y="5943600"/>
            <a:ext cx="4600167" cy="200081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17" name="Text 3">
            <a:extLst>
              <a:ext uri="{FF2B5EF4-FFF2-40B4-BE49-F238E27FC236}">
                <a16:creationId xmlns:a16="http://schemas.microsoft.com/office/drawing/2014/main" id="{8B31B97E-FFD2-6C51-540E-64CA2DFF6642}"/>
              </a:ext>
            </a:extLst>
          </p:cNvPr>
          <p:cNvSpPr/>
          <p:nvPr/>
        </p:nvSpPr>
        <p:spPr>
          <a:xfrm>
            <a:off x="5204212" y="5943600"/>
            <a:ext cx="4484914" cy="31260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l1_ratio = 1.0</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Equivalent to Lasso regression (pure L1 penalty)</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8" name="Shape 2">
            <a:extLst>
              <a:ext uri="{FF2B5EF4-FFF2-40B4-BE49-F238E27FC236}">
                <a16:creationId xmlns:a16="http://schemas.microsoft.com/office/drawing/2014/main" id="{70940AB0-9422-9561-CCE1-4006EF47F262}"/>
              </a:ext>
            </a:extLst>
          </p:cNvPr>
          <p:cNvSpPr/>
          <p:nvPr/>
        </p:nvSpPr>
        <p:spPr>
          <a:xfrm>
            <a:off x="9829800" y="5943600"/>
            <a:ext cx="4600167" cy="200081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19" name="Text 3">
            <a:extLst>
              <a:ext uri="{FF2B5EF4-FFF2-40B4-BE49-F238E27FC236}">
                <a16:creationId xmlns:a16="http://schemas.microsoft.com/office/drawing/2014/main" id="{40751EDE-FA35-E0FA-F746-FBDCCF5CBCB0}"/>
              </a:ext>
            </a:extLst>
          </p:cNvPr>
          <p:cNvSpPr/>
          <p:nvPr/>
        </p:nvSpPr>
        <p:spPr>
          <a:xfrm>
            <a:off x="10004812" y="5943600"/>
            <a:ext cx="4484914" cy="31260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l1_ratio = 0.5</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Balanced combination, recommended starting point for most applications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Tree>
    <p:extLst>
      <p:ext uri="{BB962C8B-B14F-4D97-AF65-F5344CB8AC3E}">
        <p14:creationId xmlns:p14="http://schemas.microsoft.com/office/powerpoint/2010/main" val="3701725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1296" y="-309578"/>
            <a:ext cx="13656055" cy="1044248"/>
          </a:xfrm>
          <a:prstGeom prst="rect">
            <a:avLst/>
          </a:prstGeom>
        </p:spPr>
        <p:txBody>
          <a:bodyPr vert="horz" wrap="square" lIns="0" tIns="439471" rIns="0" bIns="0" rtlCol="0">
            <a:spAutoFit/>
          </a:bodyPr>
          <a:lstStyle/>
          <a:p>
            <a:pPr marL="0" indent="0" algn="l">
              <a:lnSpc>
                <a:spcPts val="5000"/>
              </a:lnSpc>
              <a:buNone/>
            </a:pPr>
            <a:r>
              <a:rPr lang="en-US" sz="3600" dirty="0">
                <a:solidFill>
                  <a:srgbClr val="020202"/>
                </a:solidFill>
                <a:latin typeface="PT Serif" pitchFamily="34" charset="0"/>
                <a:ea typeface="PT Serif" pitchFamily="34" charset="-122"/>
                <a:cs typeface="PT Serif" pitchFamily="34" charset="-120"/>
              </a:rPr>
              <a:t>Comparing the Three Methods</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33152" y="964844"/>
            <a:ext cx="4368048" cy="5968750"/>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361389" y="925779"/>
            <a:ext cx="4111574" cy="4878720"/>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Lasso Regression</a:t>
            </a:r>
            <a:endParaRPr lang="en-US" sz="2400" dirty="0">
              <a:latin typeface="PT Serif" panose="020A0603040505020204" pitchFamily="18" charset="0"/>
            </a:endParaRPr>
          </a:p>
          <a:p>
            <a:pPr marL="0" indent="0" algn="l">
              <a:lnSpc>
                <a:spcPct val="200000"/>
              </a:lnSpc>
              <a:buNone/>
            </a:pPr>
            <a:r>
              <a:rPr lang="en-US" sz="2000" dirty="0">
                <a:solidFill>
                  <a:srgbClr val="020202"/>
                </a:solidFill>
                <a:latin typeface="PT Serif" panose="020A0603040505020204" pitchFamily="18" charset="0"/>
                <a:ea typeface="PT Serif" pitchFamily="34" charset="-122"/>
                <a:cs typeface="PT Serif" pitchFamily="34" charset="-120"/>
              </a:rPr>
              <a:t>Penalty Type</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L1: Sum of absolute coefficients</a:t>
            </a:r>
            <a:endParaRPr lang="en-US" sz="18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Feature Selection</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Yes—sets coefficients to exactly zero</a:t>
            </a:r>
            <a:endParaRPr lang="en-US" sz="18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Best Use Case</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High-dimensional data with many irrelevant features</a:t>
            </a:r>
            <a:endParaRPr lang="en-US" sz="18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Coefficient Behavior</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Sparse solutions with hard thresholding</a:t>
            </a:r>
            <a:endParaRPr lang="en-US" sz="1800"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042909" y="964844"/>
            <a:ext cx="4245736" cy="5882587"/>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244351" y="925779"/>
            <a:ext cx="4044294" cy="5507462"/>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Elastic Net</a:t>
            </a:r>
            <a:endParaRPr lang="en-US" sz="24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Penalty Type</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L1 + L2: Combined penalty</a:t>
            </a:r>
            <a:endParaRPr lang="en-US" sz="18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Feature Selection</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Yes—sparse and stable selection</a:t>
            </a:r>
            <a:endParaRPr lang="en-US" sz="18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Best Use Case</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Correlated predictors in high dimensions</a:t>
            </a:r>
            <a:endParaRPr lang="en-US" sz="1800"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Coefficient Behavior</a:t>
            </a:r>
            <a:endParaRPr lang="en-US" sz="20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Groups correlated variables together</a:t>
            </a:r>
            <a:endParaRPr lang="en-US" sz="1800"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724717" y="987989"/>
            <a:ext cx="3976821" cy="5968750"/>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99728" y="878802"/>
            <a:ext cx="3626798" cy="5493879"/>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Ridge Regression</a:t>
            </a: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Penalty Type</a:t>
            </a:r>
            <a:endParaRPr lang="en-US" sz="2000" dirty="0">
              <a:latin typeface="PT Serif" panose="020A0603040505020204" pitchFamily="18" charset="0"/>
            </a:endParaRP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L2: Sum of squared coefficients</a:t>
            </a:r>
            <a:endParaRPr lang="en-US"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Feature Selection</a:t>
            </a:r>
            <a:endParaRPr lang="en-US" sz="2000" dirty="0">
              <a:latin typeface="PT Serif" panose="020A0603040505020204" pitchFamily="18" charset="0"/>
            </a:endParaRP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No—retains all predictors</a:t>
            </a:r>
            <a:endParaRPr lang="en-US"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Best Use Case</a:t>
            </a:r>
            <a:endParaRPr lang="en-US" sz="2000" dirty="0">
              <a:latin typeface="PT Serif" panose="020A0603040505020204" pitchFamily="18" charset="0"/>
            </a:endParaRP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Multicollinearity with belief that all features contribute</a:t>
            </a:r>
            <a:endParaRPr lang="en-US" dirty="0">
              <a:latin typeface="PT Serif" panose="020A0603040505020204" pitchFamily="18" charset="0"/>
            </a:endParaRPr>
          </a:p>
          <a:p>
            <a:pPr algn="l">
              <a:lnSpc>
                <a:spcPct val="200000"/>
              </a:lnSpc>
            </a:pPr>
            <a:r>
              <a:rPr lang="en-US" sz="2000" dirty="0">
                <a:solidFill>
                  <a:srgbClr val="020202"/>
                </a:solidFill>
                <a:latin typeface="PT Serif" panose="020A0603040505020204" pitchFamily="18" charset="0"/>
                <a:ea typeface="PT Serif" pitchFamily="34" charset="-122"/>
                <a:cs typeface="PT Serif" pitchFamily="34" charset="-120"/>
              </a:rPr>
              <a:t>Coefficient Behavior</a:t>
            </a:r>
            <a:endParaRPr lang="en-US" sz="2000" dirty="0">
              <a:latin typeface="PT Serif" panose="020A0603040505020204" pitchFamily="18" charset="0"/>
            </a:endParaRP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Continuous shrinkage toward zero</a:t>
            </a:r>
            <a:endParaRPr lang="en-US"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p:txBody>
      </p:sp>
      <p:sp>
        <p:nvSpPr>
          <p:cNvPr id="15" name="TextBox 14">
            <a:extLst>
              <a:ext uri="{FF2B5EF4-FFF2-40B4-BE49-F238E27FC236}">
                <a16:creationId xmlns:a16="http://schemas.microsoft.com/office/drawing/2014/main" id="{C70FF8AA-3CAD-D130-0007-13137C1F8AEB}"/>
              </a:ext>
            </a:extLst>
          </p:cNvPr>
          <p:cNvSpPr txBox="1"/>
          <p:nvPr/>
        </p:nvSpPr>
        <p:spPr>
          <a:xfrm>
            <a:off x="718855" y="6892259"/>
            <a:ext cx="13488496" cy="1124795"/>
          </a:xfrm>
          <a:prstGeom prst="rect">
            <a:avLst/>
          </a:prstGeom>
          <a:noFill/>
        </p:spPr>
        <p:txBody>
          <a:bodyPr wrap="square">
            <a:spAutoFit/>
          </a:bodyPr>
          <a:lstStyle/>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When choosing between methods, consider both the correlation structure of your predictors and whether interpretability through feature selection is important for your application.</a:t>
            </a:r>
            <a:endParaRPr lang="en-US" sz="1800" dirty="0">
              <a:latin typeface="PT Serif" panose="020A0603040505020204" pitchFamily="18" charset="0"/>
            </a:endParaRPr>
          </a:p>
        </p:txBody>
      </p:sp>
    </p:spTree>
    <p:extLst>
      <p:ext uri="{BB962C8B-B14F-4D97-AF65-F5344CB8AC3E}">
        <p14:creationId xmlns:p14="http://schemas.microsoft.com/office/powerpoint/2010/main" val="1395303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BB73459B-6469-E48E-523F-49DE8DF5997B}"/>
              </a:ext>
            </a:extLst>
          </p:cNvPr>
          <p:cNvGrpSpPr/>
          <p:nvPr/>
        </p:nvGrpSpPr>
        <p:grpSpPr>
          <a:xfrm>
            <a:off x="371387" y="4800600"/>
            <a:ext cx="6791413" cy="1762038"/>
            <a:chOff x="793788" y="4631308"/>
            <a:chExt cx="6437630" cy="2974340"/>
          </a:xfrm>
        </p:grpSpPr>
        <p:sp>
          <p:nvSpPr>
            <p:cNvPr id="15" name="object 14">
              <a:extLst>
                <a:ext uri="{FF2B5EF4-FFF2-40B4-BE49-F238E27FC236}">
                  <a16:creationId xmlns:a16="http://schemas.microsoft.com/office/drawing/2014/main" id="{71616C5E-65C8-6E58-8FBA-B20C0EDC16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6" name="object 15">
              <a:extLst>
                <a:ext uri="{FF2B5EF4-FFF2-40B4-BE49-F238E27FC236}">
                  <a16:creationId xmlns:a16="http://schemas.microsoft.com/office/drawing/2014/main" id="{92C0E4B8-3324-4A15-E5FB-5927AF9E1041}"/>
                </a:ext>
              </a:extLst>
            </p:cNvPr>
            <p:cNvSpPr/>
            <p:nvPr/>
          </p:nvSpPr>
          <p:spPr>
            <a:xfrm>
              <a:off x="816648" y="4654164"/>
              <a:ext cx="6391910" cy="87752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1" name="object 13">
            <a:extLst>
              <a:ext uri="{FF2B5EF4-FFF2-40B4-BE49-F238E27FC236}">
                <a16:creationId xmlns:a16="http://schemas.microsoft.com/office/drawing/2014/main" id="{7EC27F32-5AE2-A457-BF6B-4E11B04E7022}"/>
              </a:ext>
            </a:extLst>
          </p:cNvPr>
          <p:cNvGrpSpPr/>
          <p:nvPr/>
        </p:nvGrpSpPr>
        <p:grpSpPr>
          <a:xfrm>
            <a:off x="7416285" y="4817716"/>
            <a:ext cx="6791413" cy="1762038"/>
            <a:chOff x="793788" y="4631308"/>
            <a:chExt cx="6437630" cy="2974340"/>
          </a:xfrm>
        </p:grpSpPr>
        <p:sp>
          <p:nvSpPr>
            <p:cNvPr id="12" name="object 14">
              <a:extLst>
                <a:ext uri="{FF2B5EF4-FFF2-40B4-BE49-F238E27FC236}">
                  <a16:creationId xmlns:a16="http://schemas.microsoft.com/office/drawing/2014/main" id="{914ADF9D-302C-11BE-1737-EC93DB20084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3" name="object 15">
              <a:extLst>
                <a:ext uri="{FF2B5EF4-FFF2-40B4-BE49-F238E27FC236}">
                  <a16:creationId xmlns:a16="http://schemas.microsoft.com/office/drawing/2014/main" id="{A8A7E959-E8B3-A90E-735F-57A80005DA27}"/>
                </a:ext>
              </a:extLst>
            </p:cNvPr>
            <p:cNvSpPr/>
            <p:nvPr/>
          </p:nvSpPr>
          <p:spPr>
            <a:xfrm>
              <a:off x="816648" y="4654165"/>
              <a:ext cx="6391910" cy="848634"/>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8" name="object 13">
            <a:extLst>
              <a:ext uri="{FF2B5EF4-FFF2-40B4-BE49-F238E27FC236}">
                <a16:creationId xmlns:a16="http://schemas.microsoft.com/office/drawing/2014/main" id="{8C1FE014-3026-6862-3720-9E77AE2730D2}"/>
              </a:ext>
            </a:extLst>
          </p:cNvPr>
          <p:cNvGrpSpPr/>
          <p:nvPr/>
        </p:nvGrpSpPr>
        <p:grpSpPr>
          <a:xfrm>
            <a:off x="7457987" y="2438400"/>
            <a:ext cx="6791413" cy="2209475"/>
            <a:chOff x="793788" y="4631308"/>
            <a:chExt cx="6437630" cy="2974340"/>
          </a:xfrm>
        </p:grpSpPr>
        <p:sp>
          <p:nvSpPr>
            <p:cNvPr id="9" name="object 14">
              <a:extLst>
                <a:ext uri="{FF2B5EF4-FFF2-40B4-BE49-F238E27FC236}">
                  <a16:creationId xmlns:a16="http://schemas.microsoft.com/office/drawing/2014/main" id="{579AC416-E9EC-951C-0C59-953A86086D2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0" name="object 15">
              <a:extLst>
                <a:ext uri="{FF2B5EF4-FFF2-40B4-BE49-F238E27FC236}">
                  <a16:creationId xmlns:a16="http://schemas.microsoft.com/office/drawing/2014/main" id="{9B115779-7710-6EDD-DFF1-D0FB2943E089}"/>
                </a:ext>
              </a:extLst>
            </p:cNvPr>
            <p:cNvSpPr/>
            <p:nvPr/>
          </p:nvSpPr>
          <p:spPr>
            <a:xfrm>
              <a:off x="816648" y="4654166"/>
              <a:ext cx="6391910" cy="906624"/>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5" name="object 13">
            <a:extLst>
              <a:ext uri="{FF2B5EF4-FFF2-40B4-BE49-F238E27FC236}">
                <a16:creationId xmlns:a16="http://schemas.microsoft.com/office/drawing/2014/main" id="{8A10505B-9623-8692-6E01-754220E5E1A5}"/>
              </a:ext>
            </a:extLst>
          </p:cNvPr>
          <p:cNvGrpSpPr/>
          <p:nvPr/>
        </p:nvGrpSpPr>
        <p:grpSpPr>
          <a:xfrm>
            <a:off x="304330" y="2367593"/>
            <a:ext cx="6791413" cy="2193966"/>
            <a:chOff x="793788" y="4631308"/>
            <a:chExt cx="6437630" cy="2974340"/>
          </a:xfrm>
        </p:grpSpPr>
        <p:sp>
          <p:nvSpPr>
            <p:cNvPr id="6" name="object 14">
              <a:extLst>
                <a:ext uri="{FF2B5EF4-FFF2-40B4-BE49-F238E27FC236}">
                  <a16:creationId xmlns:a16="http://schemas.microsoft.com/office/drawing/2014/main" id="{CCC4CF37-751F-54B7-DF88-A67DF0F558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7" name="object 15">
              <a:extLst>
                <a:ext uri="{FF2B5EF4-FFF2-40B4-BE49-F238E27FC236}">
                  <a16:creationId xmlns:a16="http://schemas.microsoft.com/office/drawing/2014/main" id="{78A747FC-C403-4EA4-6231-4399095DDD25}"/>
                </a:ext>
              </a:extLst>
            </p:cNvPr>
            <p:cNvSpPr/>
            <p:nvPr/>
          </p:nvSpPr>
          <p:spPr>
            <a:xfrm>
              <a:off x="816648" y="4654166"/>
              <a:ext cx="6391910" cy="89216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Title 1">
            <a:extLst>
              <a:ext uri="{FF2B5EF4-FFF2-40B4-BE49-F238E27FC236}">
                <a16:creationId xmlns:a16="http://schemas.microsoft.com/office/drawing/2014/main" id="{4AF5101B-081F-A0A0-283B-952EF957F11A}"/>
              </a:ext>
            </a:extLst>
          </p:cNvPr>
          <p:cNvSpPr>
            <a:spLocks noGrp="1"/>
          </p:cNvSpPr>
          <p:nvPr>
            <p:ph type="title"/>
          </p:nvPr>
        </p:nvSpPr>
        <p:spPr>
          <a:xfrm>
            <a:off x="629959" y="269465"/>
            <a:ext cx="13656055" cy="552395"/>
          </a:xfrm>
        </p:spPr>
        <p:txBody>
          <a:bodyPr/>
          <a:lstStyle/>
          <a:p>
            <a:pPr marL="0" indent="0" algn="l">
              <a:lnSpc>
                <a:spcPts val="4500"/>
              </a:lnSpc>
              <a:buNone/>
            </a:pPr>
            <a:r>
              <a:rPr lang="en-US" sz="3600" dirty="0">
                <a:solidFill>
                  <a:srgbClr val="020202"/>
                </a:solidFill>
                <a:ea typeface="PT Serif" pitchFamily="34" charset="-122"/>
                <a:cs typeface="PT Serif" pitchFamily="34" charset="-120"/>
              </a:rPr>
              <a:t>Why Lasso Outperforms Ridge in High Dimensions</a:t>
            </a:r>
            <a:endParaRPr lang="en-US" sz="3600" dirty="0"/>
          </a:p>
        </p:txBody>
      </p:sp>
      <p:sp>
        <p:nvSpPr>
          <p:cNvPr id="3" name="Content Placeholder 2">
            <a:extLst>
              <a:ext uri="{FF2B5EF4-FFF2-40B4-BE49-F238E27FC236}">
                <a16:creationId xmlns:a16="http://schemas.microsoft.com/office/drawing/2014/main" id="{C270CAFA-D3A1-D9BB-F761-32F74583DD0B}"/>
              </a:ext>
            </a:extLst>
          </p:cNvPr>
          <p:cNvSpPr>
            <a:spLocks noGrp="1"/>
          </p:cNvSpPr>
          <p:nvPr>
            <p:ph sz="half" idx="2"/>
          </p:nvPr>
        </p:nvSpPr>
        <p:spPr>
          <a:xfrm>
            <a:off x="731518" y="2575342"/>
            <a:ext cx="6364224" cy="3972434"/>
          </a:xfrm>
        </p:spPr>
        <p:txBody>
          <a:bodyPr/>
          <a:lstStyle/>
          <a:p>
            <a:pPr marL="0" indent="0" algn="ctr">
              <a:lnSpc>
                <a:spcPct val="150000"/>
              </a:lnSpc>
              <a:buNone/>
            </a:pPr>
            <a:r>
              <a:rPr lang="en-US" sz="2400" dirty="0">
                <a:solidFill>
                  <a:srgbClr val="383838"/>
                </a:solidFill>
                <a:ea typeface="PT Serif" pitchFamily="34" charset="-122"/>
                <a:cs typeface="PT Serif" pitchFamily="34" charset="-120"/>
              </a:rPr>
              <a:t>Automatic Dimensionality Reduction</a:t>
            </a:r>
            <a:endParaRPr lang="en-US" sz="2400" dirty="0"/>
          </a:p>
          <a:p>
            <a:pPr marL="0" indent="0" algn="l">
              <a:lnSpc>
                <a:spcPct val="150000"/>
              </a:lnSpc>
              <a:buNone/>
            </a:pPr>
            <a:r>
              <a:rPr lang="en-US" sz="1800" dirty="0">
                <a:solidFill>
                  <a:srgbClr val="383838"/>
                </a:solidFill>
                <a:ea typeface="DM Sans" pitchFamily="34" charset="-122"/>
                <a:cs typeface="DM Sans" pitchFamily="34" charset="-120"/>
              </a:rPr>
              <a:t>Lasso eliminates irrelevant features entirely, effectively reducing the problem dimensionality and preventing overfitting.</a:t>
            </a:r>
            <a:endParaRPr lang="en-US" sz="1800" dirty="0"/>
          </a:p>
          <a:p>
            <a:pPr algn="l">
              <a:lnSpc>
                <a:spcPct val="150000"/>
              </a:lnSpc>
            </a:pPr>
            <a:endParaRPr lang="en-US" sz="1800" dirty="0"/>
          </a:p>
          <a:p>
            <a:pPr marL="0" indent="0" algn="ctr">
              <a:lnSpc>
                <a:spcPct val="150000"/>
              </a:lnSpc>
              <a:buNone/>
            </a:pPr>
            <a:r>
              <a:rPr lang="en-US" sz="2400" dirty="0">
                <a:solidFill>
                  <a:srgbClr val="383838"/>
                </a:solidFill>
                <a:ea typeface="PT Serif" pitchFamily="34" charset="-122"/>
                <a:cs typeface="PT Serif" pitchFamily="34" charset="-120"/>
              </a:rPr>
              <a:t>Computational Efficiency</a:t>
            </a:r>
            <a:endParaRPr lang="en-US" sz="2400" dirty="0"/>
          </a:p>
          <a:p>
            <a:pPr marL="0" indent="0" algn="l">
              <a:lnSpc>
                <a:spcPct val="150000"/>
              </a:lnSpc>
              <a:buNone/>
            </a:pPr>
            <a:r>
              <a:rPr lang="en-US" sz="1800" dirty="0">
                <a:solidFill>
                  <a:srgbClr val="383838"/>
                </a:solidFill>
                <a:ea typeface="DM Sans" pitchFamily="34" charset="-122"/>
                <a:cs typeface="DM Sans" pitchFamily="34" charset="-120"/>
              </a:rPr>
              <a:t>Smaller models require less memory and compute faster during prediction, crucial for real-time applications.</a:t>
            </a:r>
            <a:endParaRPr lang="en-US" sz="1800" dirty="0"/>
          </a:p>
          <a:p>
            <a:pPr>
              <a:lnSpc>
                <a:spcPct val="150000"/>
              </a:lnSpc>
            </a:pPr>
            <a:endParaRPr lang="en-IN" sz="1800" dirty="0"/>
          </a:p>
        </p:txBody>
      </p:sp>
      <p:sp>
        <p:nvSpPr>
          <p:cNvPr id="4" name="Content Placeholder 3">
            <a:extLst>
              <a:ext uri="{FF2B5EF4-FFF2-40B4-BE49-F238E27FC236}">
                <a16:creationId xmlns:a16="http://schemas.microsoft.com/office/drawing/2014/main" id="{92CC7E2B-A810-56BD-EE5C-66DF6AEC3FED}"/>
              </a:ext>
            </a:extLst>
          </p:cNvPr>
          <p:cNvSpPr>
            <a:spLocks noGrp="1"/>
          </p:cNvSpPr>
          <p:nvPr>
            <p:ph sz="half" idx="3"/>
          </p:nvPr>
        </p:nvSpPr>
        <p:spPr>
          <a:xfrm>
            <a:off x="7671581" y="2590204"/>
            <a:ext cx="6364224" cy="3972434"/>
          </a:xfrm>
        </p:spPr>
        <p:txBody>
          <a:bodyPr/>
          <a:lstStyle/>
          <a:p>
            <a:pPr marL="0" indent="0" algn="ctr">
              <a:lnSpc>
                <a:spcPct val="150000"/>
              </a:lnSpc>
              <a:buNone/>
            </a:pPr>
            <a:r>
              <a:rPr lang="en-US" sz="2400" dirty="0">
                <a:solidFill>
                  <a:srgbClr val="383838"/>
                </a:solidFill>
                <a:ea typeface="PT Serif" pitchFamily="34" charset="-122"/>
                <a:cs typeface="PT Serif" pitchFamily="34" charset="-120"/>
              </a:rPr>
              <a:t>Enhanced Interpretability</a:t>
            </a:r>
            <a:endParaRPr lang="en-US" sz="2400" dirty="0"/>
          </a:p>
          <a:p>
            <a:pPr marL="0" indent="0" algn="l">
              <a:lnSpc>
                <a:spcPct val="150000"/>
              </a:lnSpc>
              <a:buNone/>
            </a:pPr>
            <a:r>
              <a:rPr lang="en-US" sz="1800" dirty="0">
                <a:solidFill>
                  <a:srgbClr val="383838"/>
                </a:solidFill>
                <a:ea typeface="DM Sans" pitchFamily="34" charset="-122"/>
                <a:cs typeface="DM Sans" pitchFamily="34" charset="-120"/>
              </a:rPr>
              <a:t>Sparse models with fewer non-zero coefficients are easier to understand, communicate, and deploy in production systems.</a:t>
            </a:r>
            <a:endParaRPr lang="en-US" sz="1800" dirty="0"/>
          </a:p>
          <a:p>
            <a:pPr algn="l">
              <a:lnSpc>
                <a:spcPct val="150000"/>
              </a:lnSpc>
            </a:pPr>
            <a:endParaRPr lang="en-US" sz="1800" dirty="0"/>
          </a:p>
          <a:p>
            <a:pPr algn="l">
              <a:lnSpc>
                <a:spcPct val="150000"/>
              </a:lnSpc>
            </a:pPr>
            <a:endParaRPr lang="en-US" sz="1800" dirty="0"/>
          </a:p>
          <a:p>
            <a:pPr marL="0" indent="0" algn="ctr">
              <a:lnSpc>
                <a:spcPct val="150000"/>
              </a:lnSpc>
              <a:buNone/>
            </a:pPr>
            <a:r>
              <a:rPr lang="en-US" sz="2400" dirty="0">
                <a:solidFill>
                  <a:srgbClr val="383838"/>
                </a:solidFill>
                <a:ea typeface="PT Serif" pitchFamily="34" charset="-122"/>
                <a:cs typeface="PT Serif" pitchFamily="34" charset="-120"/>
              </a:rPr>
              <a:t>Better Generalization</a:t>
            </a:r>
            <a:endParaRPr lang="en-US" sz="2400" dirty="0"/>
          </a:p>
          <a:p>
            <a:pPr marL="0" indent="0" algn="l">
              <a:lnSpc>
                <a:spcPct val="150000"/>
              </a:lnSpc>
              <a:buNone/>
            </a:pPr>
            <a:r>
              <a:rPr lang="en-US" sz="1800" dirty="0">
                <a:solidFill>
                  <a:srgbClr val="383838"/>
                </a:solidFill>
                <a:ea typeface="DM Sans" pitchFamily="34" charset="-122"/>
                <a:cs typeface="DM Sans" pitchFamily="34" charset="-120"/>
              </a:rPr>
              <a:t>By focusing on truly predictive features, Lasso often achieves superior performance on held-out test data.</a:t>
            </a:r>
            <a:endParaRPr lang="en-US" sz="1800" dirty="0"/>
          </a:p>
          <a:p>
            <a:pPr>
              <a:lnSpc>
                <a:spcPct val="150000"/>
              </a:lnSpc>
            </a:pPr>
            <a:endParaRPr lang="en-IN" sz="1800" dirty="0"/>
          </a:p>
        </p:txBody>
      </p:sp>
      <p:sp>
        <p:nvSpPr>
          <p:cNvPr id="18" name="TextBox 17">
            <a:extLst>
              <a:ext uri="{FF2B5EF4-FFF2-40B4-BE49-F238E27FC236}">
                <a16:creationId xmlns:a16="http://schemas.microsoft.com/office/drawing/2014/main" id="{39957BFF-50A4-AFA3-BDA7-D00622D6016F}"/>
              </a:ext>
            </a:extLst>
          </p:cNvPr>
          <p:cNvSpPr txBox="1"/>
          <p:nvPr/>
        </p:nvSpPr>
        <p:spPr>
          <a:xfrm>
            <a:off x="665127" y="1050646"/>
            <a:ext cx="13656055" cy="879280"/>
          </a:xfrm>
          <a:prstGeom prst="rect">
            <a:avLst/>
          </a:prstGeom>
          <a:noFill/>
        </p:spPr>
        <p:txBody>
          <a:bodyPr wrap="square">
            <a:spAutoFit/>
          </a:bodyPr>
          <a:lstStyle/>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In high-dimensional settings where the number of predictors greatly exceeds the number of observations (p ≫ n), Lasso offers distinct advantages over Ridge regression.</a:t>
            </a:r>
            <a:endParaRPr lang="en-US" sz="1800" dirty="0">
              <a:latin typeface="PT Serif" panose="020A0603040505020204" pitchFamily="18" charset="0"/>
            </a:endParaRPr>
          </a:p>
        </p:txBody>
      </p:sp>
      <p:sp>
        <p:nvSpPr>
          <p:cNvPr id="19" name="Shape 10">
            <a:extLst>
              <a:ext uri="{FF2B5EF4-FFF2-40B4-BE49-F238E27FC236}">
                <a16:creationId xmlns:a16="http://schemas.microsoft.com/office/drawing/2014/main" id="{008CBE24-AF45-F21F-96E6-4514CC333DFF}"/>
              </a:ext>
            </a:extLst>
          </p:cNvPr>
          <p:cNvSpPr/>
          <p:nvPr/>
        </p:nvSpPr>
        <p:spPr>
          <a:xfrm>
            <a:off x="700802" y="6900029"/>
            <a:ext cx="13228796" cy="1024771"/>
          </a:xfrm>
          <a:prstGeom prst="roundRect">
            <a:avLst>
              <a:gd name="adj" fmla="val 2565"/>
            </a:avLst>
          </a:prstGeom>
          <a:solidFill>
            <a:srgbClr val="FFCDB3"/>
          </a:solidFill>
          <a:ln/>
        </p:spPr>
      </p:sp>
      <p:sp>
        <p:nvSpPr>
          <p:cNvPr id="20" name="Text 11">
            <a:extLst>
              <a:ext uri="{FF2B5EF4-FFF2-40B4-BE49-F238E27FC236}">
                <a16:creationId xmlns:a16="http://schemas.microsoft.com/office/drawing/2014/main" id="{54AD614D-1A58-F3C4-6F59-8AFD8142F800}"/>
              </a:ext>
            </a:extLst>
          </p:cNvPr>
          <p:cNvSpPr/>
          <p:nvPr/>
        </p:nvSpPr>
        <p:spPr>
          <a:xfrm>
            <a:off x="1270040" y="6940748"/>
            <a:ext cx="12484418" cy="560784"/>
          </a:xfrm>
          <a:prstGeom prst="rect">
            <a:avLst/>
          </a:prstGeom>
          <a:noFill/>
          <a:ln/>
        </p:spPr>
        <p:txBody>
          <a:bodyPr wrap="square" lIns="0" tIns="0" rIns="0" bIns="0" rtlCol="0" anchor="t"/>
          <a:lstStyle/>
          <a:p>
            <a:pPr marL="0" indent="0" algn="l">
              <a:lnSpc>
                <a:spcPct val="150000"/>
              </a:lnSpc>
              <a:buNone/>
            </a:pPr>
            <a:r>
              <a:rPr lang="en-US" dirty="0">
                <a:solidFill>
                  <a:srgbClr val="000000"/>
                </a:solidFill>
                <a:latin typeface="PT Serif" panose="020A0603040505020204" pitchFamily="18" charset="0"/>
                <a:ea typeface="DM Sans" pitchFamily="34" charset="-122"/>
                <a:cs typeface="DM Sans" pitchFamily="34" charset="-120"/>
              </a:rPr>
              <a:t>Ridge maintains all p predictors, which can be problematic when p is in the thousands or millions. Lasso's sparsity makes it the practical choice for genomic data, text classification, and other ultra-high-dimensional applications.</a:t>
            </a:r>
            <a:endParaRPr lang="en-US" dirty="0">
              <a:latin typeface="PT Serif" panose="020A0603040505020204" pitchFamily="18" charset="0"/>
            </a:endParaRPr>
          </a:p>
        </p:txBody>
      </p:sp>
    </p:spTree>
    <p:extLst>
      <p:ext uri="{BB962C8B-B14F-4D97-AF65-F5344CB8AC3E}">
        <p14:creationId xmlns:p14="http://schemas.microsoft.com/office/powerpoint/2010/main" val="1596884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object 13">
            <a:extLst>
              <a:ext uri="{FF2B5EF4-FFF2-40B4-BE49-F238E27FC236}">
                <a16:creationId xmlns:a16="http://schemas.microsoft.com/office/drawing/2014/main" id="{B9E1C5A2-3C42-BC7C-5225-21C8E95EFE28}"/>
              </a:ext>
            </a:extLst>
          </p:cNvPr>
          <p:cNvGrpSpPr/>
          <p:nvPr/>
        </p:nvGrpSpPr>
        <p:grpSpPr>
          <a:xfrm>
            <a:off x="7443175" y="4959432"/>
            <a:ext cx="6124028" cy="2788191"/>
            <a:chOff x="793788" y="4631308"/>
            <a:chExt cx="6437630" cy="2974340"/>
          </a:xfrm>
        </p:grpSpPr>
        <p:sp>
          <p:nvSpPr>
            <p:cNvPr id="39" name="object 14">
              <a:extLst>
                <a:ext uri="{FF2B5EF4-FFF2-40B4-BE49-F238E27FC236}">
                  <a16:creationId xmlns:a16="http://schemas.microsoft.com/office/drawing/2014/main" id="{A5C3A66A-A2D6-9EA1-DBAB-A4FFA1B6F7F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40" name="object 15">
              <a:extLst>
                <a:ext uri="{FF2B5EF4-FFF2-40B4-BE49-F238E27FC236}">
                  <a16:creationId xmlns:a16="http://schemas.microsoft.com/office/drawing/2014/main" id="{71B93BFC-CEB2-7AF7-E59C-39544F3B03A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35" name="object 13">
            <a:extLst>
              <a:ext uri="{FF2B5EF4-FFF2-40B4-BE49-F238E27FC236}">
                <a16:creationId xmlns:a16="http://schemas.microsoft.com/office/drawing/2014/main" id="{70148CBA-CCB0-CF90-D30B-74347CD2AFE9}"/>
              </a:ext>
            </a:extLst>
          </p:cNvPr>
          <p:cNvGrpSpPr/>
          <p:nvPr/>
        </p:nvGrpSpPr>
        <p:grpSpPr>
          <a:xfrm>
            <a:off x="834451" y="4959432"/>
            <a:ext cx="6124028" cy="2788191"/>
            <a:chOff x="793788" y="4631308"/>
            <a:chExt cx="6437630" cy="2974340"/>
          </a:xfrm>
        </p:grpSpPr>
        <p:sp>
          <p:nvSpPr>
            <p:cNvPr id="36" name="object 14">
              <a:extLst>
                <a:ext uri="{FF2B5EF4-FFF2-40B4-BE49-F238E27FC236}">
                  <a16:creationId xmlns:a16="http://schemas.microsoft.com/office/drawing/2014/main" id="{AFAFB433-445F-84F2-5654-05E266EFCBAF}"/>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7" name="object 15">
              <a:extLst>
                <a:ext uri="{FF2B5EF4-FFF2-40B4-BE49-F238E27FC236}">
                  <a16:creationId xmlns:a16="http://schemas.microsoft.com/office/drawing/2014/main" id="{691360C6-AC20-985E-26C6-F44538D6EEA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9" name="object 13">
            <a:extLst>
              <a:ext uri="{FF2B5EF4-FFF2-40B4-BE49-F238E27FC236}">
                <a16:creationId xmlns:a16="http://schemas.microsoft.com/office/drawing/2014/main" id="{ECC7638F-CE57-265B-8304-255BEF51AC71}"/>
              </a:ext>
            </a:extLst>
          </p:cNvPr>
          <p:cNvGrpSpPr/>
          <p:nvPr/>
        </p:nvGrpSpPr>
        <p:grpSpPr>
          <a:xfrm>
            <a:off x="5029200" y="1371601"/>
            <a:ext cx="4718986" cy="3352800"/>
            <a:chOff x="793788" y="4631308"/>
            <a:chExt cx="6437630" cy="2974340"/>
          </a:xfrm>
        </p:grpSpPr>
        <p:sp>
          <p:nvSpPr>
            <p:cNvPr id="31" name="object 15">
              <a:extLst>
                <a:ext uri="{FF2B5EF4-FFF2-40B4-BE49-F238E27FC236}">
                  <a16:creationId xmlns:a16="http://schemas.microsoft.com/office/drawing/2014/main" id="{C0C58B4E-8BC5-07C2-B2A5-8F5E82257562}"/>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30" name="object 14">
              <a:extLst>
                <a:ext uri="{FF2B5EF4-FFF2-40B4-BE49-F238E27FC236}">
                  <a16:creationId xmlns:a16="http://schemas.microsoft.com/office/drawing/2014/main" id="{5435FD3A-5EC4-9F6C-4F21-47D5042F37B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grpSp>
      <p:grpSp>
        <p:nvGrpSpPr>
          <p:cNvPr id="32" name="object 13">
            <a:extLst>
              <a:ext uri="{FF2B5EF4-FFF2-40B4-BE49-F238E27FC236}">
                <a16:creationId xmlns:a16="http://schemas.microsoft.com/office/drawing/2014/main" id="{316B79C2-0084-6D29-58C4-A0BA282FB8B6}"/>
              </a:ext>
            </a:extLst>
          </p:cNvPr>
          <p:cNvGrpSpPr/>
          <p:nvPr/>
        </p:nvGrpSpPr>
        <p:grpSpPr>
          <a:xfrm>
            <a:off x="9943009" y="1371601"/>
            <a:ext cx="4382591" cy="3352800"/>
            <a:chOff x="793788" y="4631308"/>
            <a:chExt cx="6437630" cy="2974340"/>
          </a:xfrm>
        </p:grpSpPr>
        <p:sp>
          <p:nvSpPr>
            <p:cNvPr id="33" name="object 14">
              <a:extLst>
                <a:ext uri="{FF2B5EF4-FFF2-40B4-BE49-F238E27FC236}">
                  <a16:creationId xmlns:a16="http://schemas.microsoft.com/office/drawing/2014/main" id="{62217902-07B9-CB3E-14BE-5B41480EDC3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4" name="object 15">
              <a:extLst>
                <a:ext uri="{FF2B5EF4-FFF2-40B4-BE49-F238E27FC236}">
                  <a16:creationId xmlns:a16="http://schemas.microsoft.com/office/drawing/2014/main" id="{16C54A3B-48D1-B03B-1A3D-B17D54D0F728}"/>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9" name="object 13">
            <a:extLst>
              <a:ext uri="{FF2B5EF4-FFF2-40B4-BE49-F238E27FC236}">
                <a16:creationId xmlns:a16="http://schemas.microsoft.com/office/drawing/2014/main" id="{73ABA715-86F3-9E1F-F437-ADD9BE7A640A}"/>
              </a:ext>
            </a:extLst>
          </p:cNvPr>
          <p:cNvGrpSpPr/>
          <p:nvPr/>
        </p:nvGrpSpPr>
        <p:grpSpPr>
          <a:xfrm>
            <a:off x="418009" y="1371601"/>
            <a:ext cx="4382591" cy="3352800"/>
            <a:chOff x="793788" y="4631308"/>
            <a:chExt cx="6437630" cy="2974340"/>
          </a:xfrm>
        </p:grpSpPr>
        <p:sp>
          <p:nvSpPr>
            <p:cNvPr id="27" name="object 14">
              <a:extLst>
                <a:ext uri="{FF2B5EF4-FFF2-40B4-BE49-F238E27FC236}">
                  <a16:creationId xmlns:a16="http://schemas.microsoft.com/office/drawing/2014/main" id="{87BBA8D4-A27C-0114-C102-4010A718A2B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8" name="object 15">
              <a:extLst>
                <a:ext uri="{FF2B5EF4-FFF2-40B4-BE49-F238E27FC236}">
                  <a16:creationId xmlns:a16="http://schemas.microsoft.com/office/drawing/2014/main" id="{43D9327E-A137-DE7F-9760-4036158DFD3A}"/>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598620" y="-18318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Key Takeaways</a:t>
            </a:r>
            <a:endParaRPr lang="en-US" sz="3600" dirty="0">
              <a:solidFill>
                <a:schemeClr val="tx1"/>
              </a:solidFill>
            </a:endParaRPr>
          </a:p>
        </p:txBody>
      </p:sp>
      <p:sp>
        <p:nvSpPr>
          <p:cNvPr id="14" name="Text 6">
            <a:extLst>
              <a:ext uri="{FF2B5EF4-FFF2-40B4-BE49-F238E27FC236}">
                <a16:creationId xmlns:a16="http://schemas.microsoft.com/office/drawing/2014/main" id="{BEBCEDAE-A091-212D-F1FD-EBC293DAA8C5}"/>
              </a:ext>
            </a:extLst>
          </p:cNvPr>
          <p:cNvSpPr/>
          <p:nvPr/>
        </p:nvSpPr>
        <p:spPr>
          <a:xfrm>
            <a:off x="5120415" y="1371601"/>
            <a:ext cx="4536611" cy="4865280"/>
          </a:xfrm>
          <a:prstGeom prst="rect">
            <a:avLst/>
          </a:prstGeom>
          <a:noFill/>
          <a:ln/>
        </p:spPr>
        <p:txBody>
          <a:bodyPr wrap="square" lIns="0" tIns="0" rIns="0" bIns="0" rtlCol="0" anchor="t"/>
          <a:lstStyle/>
          <a:p>
            <a:pPr algn="ctr">
              <a:lnSpc>
                <a:spcPct val="150000"/>
              </a:lnSpc>
            </a:pPr>
            <a:r>
              <a:rPr lang="en-US" sz="2400" dirty="0">
                <a:solidFill>
                  <a:schemeClr val="tx1"/>
                </a:solidFill>
                <a:latin typeface="PT Serif" panose="020A0603040505020204" pitchFamily="18" charset="0"/>
                <a:ea typeface="PT Serif" pitchFamily="34" charset="-122"/>
                <a:cs typeface="PT Serif" pitchFamily="34" charset="-120"/>
              </a:rPr>
              <a:t>2. Lasso for Sparsity</a:t>
            </a:r>
            <a:endParaRPr lang="en-US" sz="2400" dirty="0">
              <a:solidFill>
                <a:schemeClr val="tx1"/>
              </a:solidFill>
              <a:latin typeface="PT Serif" panose="020A0603040505020204" pitchFamily="18" charset="0"/>
            </a:endParaRPr>
          </a:p>
          <a:p>
            <a:pPr marL="0" indent="0" algn="l">
              <a:lnSpc>
                <a:spcPct val="150000"/>
              </a:lnSpc>
              <a:buNone/>
            </a:pP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Choose Lasso when you need interpretable models with automatic feature selection. Ideal for exploratory analysis and when many predictors are likely irrelevant.</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7" name="Text 9">
            <a:extLst>
              <a:ext uri="{FF2B5EF4-FFF2-40B4-BE49-F238E27FC236}">
                <a16:creationId xmlns:a16="http://schemas.microsoft.com/office/drawing/2014/main" id="{A0DABD8D-9C74-8096-EA52-80379EDA21AF}"/>
              </a:ext>
            </a:extLst>
          </p:cNvPr>
          <p:cNvSpPr/>
          <p:nvPr/>
        </p:nvSpPr>
        <p:spPr>
          <a:xfrm>
            <a:off x="10357279" y="1469304"/>
            <a:ext cx="3818573" cy="2313740"/>
          </a:xfrm>
          <a:prstGeom prst="rect">
            <a:avLst/>
          </a:prstGeom>
          <a:noFill/>
          <a:ln/>
        </p:spPr>
        <p:txBody>
          <a:bodyPr wrap="square" lIns="0" tIns="0" rIns="0" bIns="0" rtlCol="0" anchor="t"/>
          <a:lstStyle/>
          <a:p>
            <a:pPr algn="ctr">
              <a:lnSpc>
                <a:spcPct val="150000"/>
              </a:lnSpc>
            </a:pPr>
            <a:r>
              <a:rPr lang="en-US" sz="2400" dirty="0">
                <a:solidFill>
                  <a:schemeClr val="tx1"/>
                </a:solidFill>
                <a:latin typeface="PT Serif" panose="020A0603040505020204" pitchFamily="18" charset="0"/>
                <a:ea typeface="PT Serif" pitchFamily="34" charset="-122"/>
                <a:cs typeface="PT Serif" pitchFamily="34" charset="-120"/>
              </a:rPr>
              <a:t>3. Ridge for Stability</a:t>
            </a:r>
          </a:p>
          <a:p>
            <a:pPr marL="0" indent="0" algn="l">
              <a:lnSpc>
                <a:spcPct val="150000"/>
              </a:lnSpc>
              <a:buNone/>
            </a:pP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Use Ridge when dealing with severe multicollinearity and when you believe most features contribute to the outcome. Provides stable, reliable coefficient estimates.</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538914" y="1469304"/>
            <a:ext cx="4246124" cy="2476441"/>
          </a:xfrm>
          <a:prstGeom prst="rect">
            <a:avLst/>
          </a:prstGeom>
          <a:noFill/>
          <a:ln/>
        </p:spPr>
        <p:txBody>
          <a:bodyPr wrap="square" lIns="0" tIns="0" rIns="0" bIns="0" rtlCol="0" anchor="t"/>
          <a:lstStyle/>
          <a:p>
            <a:pPr algn="ctr">
              <a:lnSpc>
                <a:spcPct val="150000"/>
              </a:lnSpc>
            </a:pPr>
            <a:r>
              <a:rPr lang="en-US" sz="2400" dirty="0">
                <a:solidFill>
                  <a:schemeClr val="tx1"/>
                </a:solidFill>
                <a:latin typeface="PT Serif" panose="020A0603040505020204" pitchFamily="18" charset="0"/>
                <a:ea typeface="PT Serif" pitchFamily="34" charset="-122"/>
                <a:cs typeface="PT Serif" pitchFamily="34" charset="-120"/>
              </a:rPr>
              <a:t>1. Regularization is Essential</a:t>
            </a:r>
            <a:endParaRPr lang="en-US" sz="2400" dirty="0">
              <a:solidFill>
                <a:schemeClr val="tx1"/>
              </a:solidFill>
              <a:latin typeface="PT Serif" panose="020A0603040505020204" pitchFamily="18" charset="0"/>
            </a:endParaRPr>
          </a:p>
          <a:p>
            <a:pPr marL="0" indent="0" algn="l">
              <a:lnSpc>
                <a:spcPct val="150000"/>
              </a:lnSpc>
              <a:buNone/>
            </a:pPr>
            <a:endParaRPr lang="en-US"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In high-dimensional data, regularization prevents overfitting and produces models that generalize better to new observations. It's not optional—it's fundamental.</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23" name="Text 3">
            <a:extLst>
              <a:ext uri="{FF2B5EF4-FFF2-40B4-BE49-F238E27FC236}">
                <a16:creationId xmlns:a16="http://schemas.microsoft.com/office/drawing/2014/main" id="{3DCBC250-CD01-2E79-92CE-66C8490F3F70}"/>
              </a:ext>
            </a:extLst>
          </p:cNvPr>
          <p:cNvSpPr/>
          <p:nvPr/>
        </p:nvSpPr>
        <p:spPr>
          <a:xfrm>
            <a:off x="1101490" y="5029770"/>
            <a:ext cx="5791200" cy="2476441"/>
          </a:xfrm>
          <a:prstGeom prst="rect">
            <a:avLst/>
          </a:prstGeom>
          <a:noFill/>
          <a:ln/>
        </p:spPr>
        <p:txBody>
          <a:bodyPr wrap="square" lIns="0" tIns="0" rIns="0" bIns="0" rtlCol="0" anchor="t"/>
          <a:lstStyle/>
          <a:p>
            <a:pPr algn="ctr">
              <a:lnSpc>
                <a:spcPct val="150000"/>
              </a:lnSpc>
            </a:pPr>
            <a:r>
              <a:rPr lang="en-US" sz="2400" dirty="0">
                <a:solidFill>
                  <a:schemeClr val="tx1"/>
                </a:solidFill>
                <a:latin typeface="PT Serif" panose="020A0603040505020204" pitchFamily="18" charset="0"/>
                <a:ea typeface="PT Serif" pitchFamily="34" charset="-122"/>
                <a:cs typeface="PT Serif" pitchFamily="34" charset="-120"/>
              </a:rPr>
              <a:t>4. Elastic Net for Robustness</a:t>
            </a:r>
            <a:endParaRPr lang="en-US" sz="24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Elastic Net is the go-to choice when predictors are correlated. It combines the best aspects of both methods, offering sparsity with stability.</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25" name="Text 3">
            <a:extLst>
              <a:ext uri="{FF2B5EF4-FFF2-40B4-BE49-F238E27FC236}">
                <a16:creationId xmlns:a16="http://schemas.microsoft.com/office/drawing/2014/main" id="{E3294D3C-0418-C801-8DB9-F254AEFAC6F0}"/>
              </a:ext>
            </a:extLst>
          </p:cNvPr>
          <p:cNvSpPr/>
          <p:nvPr/>
        </p:nvSpPr>
        <p:spPr>
          <a:xfrm>
            <a:off x="7620000" y="4953000"/>
            <a:ext cx="5756510" cy="2476441"/>
          </a:xfrm>
          <a:prstGeom prst="rect">
            <a:avLst/>
          </a:prstGeom>
          <a:noFill/>
          <a:ln/>
        </p:spPr>
        <p:txBody>
          <a:bodyPr wrap="square" lIns="0" tIns="0" rIns="0" bIns="0" rtlCol="0" anchor="t"/>
          <a:lstStyle/>
          <a:p>
            <a:pPr algn="ctr">
              <a:lnSpc>
                <a:spcPct val="150000"/>
              </a:lnSpc>
            </a:pPr>
            <a:r>
              <a:rPr lang="en-US" sz="2400" dirty="0">
                <a:solidFill>
                  <a:schemeClr val="tx1"/>
                </a:solidFill>
                <a:latin typeface="PT Serif" panose="020A0603040505020204" pitchFamily="18" charset="0"/>
                <a:ea typeface="PT Serif" pitchFamily="34" charset="-122"/>
                <a:cs typeface="PT Serif" pitchFamily="34" charset="-120"/>
              </a:rPr>
              <a:t>5. Always Standardize</a:t>
            </a:r>
            <a:endParaRPr lang="en-US" sz="2400" dirty="0">
              <a:solidFill>
                <a:schemeClr val="tx1"/>
              </a:solidFill>
              <a:latin typeface="PT Serif" panose="020A0603040505020204" pitchFamily="18" charset="0"/>
            </a:endParaRPr>
          </a:p>
          <a:p>
            <a:pPr algn="l">
              <a:lnSpc>
                <a:spcPct val="150000"/>
              </a:lnSpc>
            </a:pP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Standardization is mandatory before applying any regularization technique. Without it, features with larger scales will be unfairly penalized, leading to biased results.</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Tree>
    <p:extLst>
      <p:ext uri="{BB962C8B-B14F-4D97-AF65-F5344CB8AC3E}">
        <p14:creationId xmlns:p14="http://schemas.microsoft.com/office/powerpoint/2010/main" val="2126883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1085</TotalTime>
  <Words>1812</Words>
  <Application>Microsoft Macintosh PowerPoint</Application>
  <PresentationFormat>Custom</PresentationFormat>
  <Paragraphs>247</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DM Sans</vt:lpstr>
      <vt:lpstr>Lucida Sans Unicode</vt:lpstr>
      <vt:lpstr>PT Serif</vt:lpstr>
      <vt:lpstr>PT Serif Light</vt:lpstr>
      <vt:lpstr>Office Theme</vt:lpstr>
      <vt:lpstr>PowerPoint Presentation</vt:lpstr>
      <vt:lpstr>PowerPoint Presentation</vt:lpstr>
      <vt:lpstr>Why Ordinary Least Squares Falls Short</vt:lpstr>
      <vt:lpstr>The Regularization Solution</vt:lpstr>
      <vt:lpstr>Mathematical Foundation of Regularization</vt:lpstr>
      <vt:lpstr>Three Regularization Methods  Each technique applies a different penalty structure, offering distinct advantages for various  modeling scenarios:  1. Lasso Regression  2. Ridge Regression  3. Elastic Net </vt:lpstr>
      <vt:lpstr>Ridge Regression (L2 Regularization)</vt:lpstr>
      <vt:lpstr>Lasso Regression (L1 Regularization)</vt:lpstr>
      <vt:lpstr>Lasso as a Feature Selection Tool</vt:lpstr>
      <vt:lpstr>Implementing Ridge in Python</vt:lpstr>
      <vt:lpstr>Implementing Lasso in Python </vt:lpstr>
      <vt:lpstr>Elastic Net: The Best of Both Worlds</vt:lpstr>
      <vt:lpstr>Implementing Elastic Net in Python</vt:lpstr>
      <vt:lpstr>Comparing the Three Methods</vt:lpstr>
      <vt:lpstr>Why Lasso Outperforms Ridge in High Dimensions</vt:lpstr>
      <vt:lpstr>Key Takeaways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371</cp:revision>
  <dcterms:created xsi:type="dcterms:W3CDTF">2025-08-01T06:43:07Z</dcterms:created>
  <dcterms:modified xsi:type="dcterms:W3CDTF">2026-01-28T09:09:49Z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