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74" r:id="rId2"/>
    <p:sldId id="275" r:id="rId3"/>
    <p:sldId id="354" r:id="rId4"/>
    <p:sldId id="355" r:id="rId5"/>
    <p:sldId id="356" r:id="rId6"/>
    <p:sldId id="357" r:id="rId7"/>
    <p:sldId id="358" r:id="rId8"/>
    <p:sldId id="368" r:id="rId9"/>
    <p:sldId id="359" r:id="rId10"/>
    <p:sldId id="360" r:id="rId11"/>
    <p:sldId id="328" r:id="rId12"/>
    <p:sldId id="361" r:id="rId13"/>
    <p:sldId id="362" r:id="rId14"/>
    <p:sldId id="364" r:id="rId15"/>
    <p:sldId id="365" r:id="rId16"/>
    <p:sldId id="366" r:id="rId17"/>
    <p:sldId id="367" r:id="rId18"/>
    <p:sldId id="369" r:id="rId19"/>
    <p:sldId id="300" r:id="rId20"/>
    <p:sldId id="370" r:id="rId21"/>
    <p:sldId id="372" r:id="rId22"/>
    <p:sldId id="373" r:id="rId23"/>
    <p:sldId id="374" r:id="rId24"/>
    <p:sldId id="336" r:id="rId25"/>
    <p:sldId id="314" r:id="rId2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58" d="100"/>
          <a:sy n="58" d="100"/>
        </p:scale>
        <p:origin x="519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115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9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29-01-2026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29-01-2026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29-01-2026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29-01-2026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58708" y="23622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Clustering using DBSCAN</a:t>
            </a:r>
            <a:endParaRPr lang="en-US" sz="41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73948" y="3581400"/>
            <a:ext cx="113723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Density-Based Spatial Clustering of Applications with Noise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11833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2324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5874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7617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DBSCAN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2324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5874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71926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DBSCAN is Powerful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5306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8857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4060031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DBSCAN Parameters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5306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8857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40600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40725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Core, Border, and Noise Points</a:t>
            </a:r>
            <a:endParaRPr lang="en-US" sz="2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B55EC5F-054B-E182-537D-7907A3206677}"/>
              </a:ext>
            </a:extLst>
          </p:cNvPr>
          <p:cNvSpPr/>
          <p:nvPr/>
        </p:nvSpPr>
        <p:spPr>
          <a:xfrm>
            <a:off x="838200" y="48440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0A038C5-A66B-6F9E-E6B5-9741E0CB4949}"/>
              </a:ext>
            </a:extLst>
          </p:cNvPr>
          <p:cNvSpPr/>
          <p:nvPr/>
        </p:nvSpPr>
        <p:spPr>
          <a:xfrm>
            <a:off x="838200" y="519910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E46FC74-C752-26DF-B798-5D7D60102961}"/>
              </a:ext>
            </a:extLst>
          </p:cNvPr>
          <p:cNvSpPr/>
          <p:nvPr/>
        </p:nvSpPr>
        <p:spPr>
          <a:xfrm>
            <a:off x="838200" y="5373410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DBSCAN Algorithm – Step by Step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216494E-FF9A-E781-8BEA-71E792B0FE31}"/>
              </a:ext>
            </a:extLst>
          </p:cNvPr>
          <p:cNvSpPr/>
          <p:nvPr/>
        </p:nvSpPr>
        <p:spPr>
          <a:xfrm>
            <a:off x="7467600" y="48315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ADB27FC-42AA-2016-7BDF-181C61FAD1A2}"/>
              </a:ext>
            </a:extLst>
          </p:cNvPr>
          <p:cNvSpPr/>
          <p:nvPr/>
        </p:nvSpPr>
        <p:spPr>
          <a:xfrm>
            <a:off x="7467600" y="518658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8932FF8-A778-BA0B-528B-C18A0351A0D8}"/>
              </a:ext>
            </a:extLst>
          </p:cNvPr>
          <p:cNvSpPr/>
          <p:nvPr/>
        </p:nvSpPr>
        <p:spPr>
          <a:xfrm>
            <a:off x="7467600" y="537341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of DBSCAN</a:t>
            </a:r>
            <a:endParaRPr lang="en-US" sz="2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872595D-EE7F-EF6C-0EEE-324FF110D00B}"/>
              </a:ext>
            </a:extLst>
          </p:cNvPr>
          <p:cNvSpPr/>
          <p:nvPr/>
        </p:nvSpPr>
        <p:spPr>
          <a:xfrm>
            <a:off x="838200" y="60632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5B0F2BB2-A9A2-FFB0-C7FE-8E0825302B78}"/>
              </a:ext>
            </a:extLst>
          </p:cNvPr>
          <p:cNvSpPr/>
          <p:nvPr/>
        </p:nvSpPr>
        <p:spPr>
          <a:xfrm>
            <a:off x="838200" y="641830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BD6549C-7490-EEF1-2A6B-C4B59C045BAA}"/>
              </a:ext>
            </a:extLst>
          </p:cNvPr>
          <p:cNvSpPr/>
          <p:nvPr/>
        </p:nvSpPr>
        <p:spPr>
          <a:xfrm>
            <a:off x="838200" y="6592610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DBSCAN Forms Clusters</a:t>
            </a:r>
            <a:endParaRPr lang="en-US" sz="2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9B4583B4-AFF6-2968-BFDA-C2DF2DA50DD6}"/>
              </a:ext>
            </a:extLst>
          </p:cNvPr>
          <p:cNvSpPr/>
          <p:nvPr/>
        </p:nvSpPr>
        <p:spPr>
          <a:xfrm>
            <a:off x="7467600" y="60507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88F435D5-5C5D-DBA4-6202-B23B532D29BD}"/>
              </a:ext>
            </a:extLst>
          </p:cNvPr>
          <p:cNvSpPr/>
          <p:nvPr/>
        </p:nvSpPr>
        <p:spPr>
          <a:xfrm>
            <a:off x="7467600" y="640578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72046AA1-7B66-9A1E-C286-AD0DA3012C65}"/>
              </a:ext>
            </a:extLst>
          </p:cNvPr>
          <p:cNvSpPr/>
          <p:nvPr/>
        </p:nvSpPr>
        <p:spPr>
          <a:xfrm>
            <a:off x="7467600" y="659261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DBSCAN vs K-Means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42382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Clustering – Quick Recap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5046" y="1712369"/>
            <a:ext cx="4164095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1960317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Grouping Data Points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Groups similar data points together based on their characteristics and relationships.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51892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1712370"/>
            <a:ext cx="3818573" cy="351388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1960317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Pattern Discovery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Goal: discover natural structure and patterns hidden within the data.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43152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1712369"/>
            <a:ext cx="3976821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1960317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Unsupervised Learning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Clustering is an unsupervised learning technique that works without predefined labels or supervision.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37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42382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Another Clustering Algorithm?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56769" y="2387298"/>
            <a:ext cx="4205322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6785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Shape Assumptions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Assumes spherical clusters, which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may not match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real data distributions.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51892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2430573"/>
            <a:ext cx="3818573" cy="351388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26785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Noise Sensitivity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Sensitive to noise and outliers, leading to poor clustering results.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43152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430572"/>
            <a:ext cx="3976821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6785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Predefined Clusters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Requires number of clusters upfront, which is often unknown in practice.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629BF-D5E3-85F6-FEAD-4AB6C2986A3B}"/>
              </a:ext>
            </a:extLst>
          </p:cNvPr>
          <p:cNvSpPr txBox="1"/>
          <p:nvPr/>
        </p:nvSpPr>
        <p:spPr>
          <a:xfrm>
            <a:off x="685800" y="1385112"/>
            <a:ext cx="14401800" cy="712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K-means method is most commonly used method but at times may not provide a clear cluster solution. Some of the drawbacks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of K-means method ate: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4ED5FA2-B2D0-9573-39D7-FF4304BD7374}"/>
              </a:ext>
            </a:extLst>
          </p:cNvPr>
          <p:cNvSpPr/>
          <p:nvPr/>
        </p:nvSpPr>
        <p:spPr>
          <a:xfrm>
            <a:off x="754025" y="6548199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9ADBFFE-7A24-B9DF-0AAD-FDF8D7174C10}"/>
              </a:ext>
            </a:extLst>
          </p:cNvPr>
          <p:cNvSpPr/>
          <p:nvPr/>
        </p:nvSpPr>
        <p:spPr>
          <a:xfrm>
            <a:off x="1398748" y="6796087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Real-world data rarely behaves this nicely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3C9E-EA85-3807-50E9-0EB92459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3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DBSCAN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BBE4E-46F1-C9CF-C0F6-288322A09B2A}"/>
              </a:ext>
            </a:extLst>
          </p:cNvPr>
          <p:cNvSpPr txBox="1"/>
          <p:nvPr/>
        </p:nvSpPr>
        <p:spPr>
          <a:xfrm>
            <a:off x="990600" y="1565230"/>
            <a:ext cx="12268200" cy="536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Insight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DBSCAN groups points based on data density, not distance to centroids. This fundamental shift in approach allows for more flexible and realistic clustering.</a:t>
            </a: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Core Idea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Density-based clustering mirrors how humans naturally identify groups in spatial data.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Clusters are dense regions separated by sparse regions. The algorithm identifies areas where points are tightly packed together and treats sparse areas as boundaries or noise.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16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D078-95B5-EA5E-992C-BD0CA772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DBSCAN is Powerful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1731C-DE44-CD8C-599B-93DC505DE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202680" cy="5276637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Automatic Cluster Detection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Automatically detects number of clusters without requiring prior specification.</a:t>
            </a: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Arbitrary Shapes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Can find arbitrarily shaped clusters, not limited to spherical or convex shapes.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CC9B8-F41A-2A28-E93A-AAAB8847A890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696202" y="1892808"/>
            <a:ext cx="6364224" cy="5276637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Explicit Noise Identification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Identifies noise and outliers explicitly, treating them as a separate category.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No Predefinition Needed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No need to specify cluster count in advance, making it ideal for exploratory analysis.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D7132C-F518-76DA-DE9A-03BEB5DE2186}"/>
              </a:ext>
            </a:extLst>
          </p:cNvPr>
          <p:cNvSpPr txBox="1">
            <a:spLocks/>
          </p:cNvSpPr>
          <p:nvPr/>
        </p:nvSpPr>
        <p:spPr>
          <a:xfrm>
            <a:off x="487172" y="27843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721E4F-9008-D25F-6E32-507576E597DF}"/>
              </a:ext>
            </a:extLst>
          </p:cNvPr>
          <p:cNvCxnSpPr/>
          <p:nvPr/>
        </p:nvCxnSpPr>
        <p:spPr>
          <a:xfrm>
            <a:off x="7086600" y="1509518"/>
            <a:ext cx="0" cy="580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6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D078-95B5-EA5E-992C-BD0CA772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Typical Use Cases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1731C-DE44-CD8C-599B-93DC505DE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202680" cy="527663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Spatial &amp; Geographical Data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Identifying geographic clusters, hotspots, and spatial patterns in location-based datasets.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Image Segmentation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Separating objects and regions in digital images based on pixel density and color.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CC9B8-F41A-2A28-E93A-AAAB8847A890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696202" y="1892808"/>
            <a:ext cx="6364224" cy="527663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Anomaly &amp; Fraud Detection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Detecting unusual patterns and outliers in financial transactions and security systems.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Customer Behavior Analysis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Understanding customer segments and identifying unusual purchasing patterns.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D7132C-F518-76DA-DE9A-03BEB5DE2186}"/>
              </a:ext>
            </a:extLst>
          </p:cNvPr>
          <p:cNvSpPr txBox="1">
            <a:spLocks/>
          </p:cNvSpPr>
          <p:nvPr/>
        </p:nvSpPr>
        <p:spPr>
          <a:xfrm>
            <a:off x="487172" y="27843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721E4F-9008-D25F-6E32-507576E597DF}"/>
              </a:ext>
            </a:extLst>
          </p:cNvPr>
          <p:cNvCxnSpPr/>
          <p:nvPr/>
        </p:nvCxnSpPr>
        <p:spPr>
          <a:xfrm>
            <a:off x="7086600" y="1509518"/>
            <a:ext cx="0" cy="580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78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293C-E6C1-7D20-63C0-B20434CF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5781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DBSCAN vs K-Means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3925E-687D-94F6-5355-C5BBD6B2E97D}"/>
              </a:ext>
            </a:extLst>
          </p:cNvPr>
          <p:cNvSpPr txBox="1"/>
          <p:nvPr/>
        </p:nvSpPr>
        <p:spPr>
          <a:xfrm>
            <a:off x="974345" y="1687450"/>
            <a:ext cx="7315200" cy="551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Conceptual Comparison</a:t>
            </a:r>
            <a:endParaRPr lang="en-US" sz="20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7E37601-8128-05DB-421C-466E1733E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21569"/>
              </p:ext>
            </p:extLst>
          </p:nvPr>
        </p:nvGraphicFramePr>
        <p:xfrm>
          <a:off x="228600" y="2667000"/>
          <a:ext cx="9753600" cy="3505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3271914572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371455545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0662523"/>
                    </a:ext>
                  </a:extLst>
                </a:gridCol>
              </a:tblGrid>
              <a:tr h="538121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DBSCAN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K-Means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9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Clusters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Auto-detected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Predefined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78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Shape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Arbitrary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Spherical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06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Noise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Explicit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Not handled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992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Outliers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Robust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Sensitive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86099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A105B83-85A6-C544-B505-0C8B1501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996440"/>
            <a:ext cx="4419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7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EEB9-3C4D-9E9A-C096-18C00D56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DBSCAN Parameters - Conceptual Foundation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EF1F6-D929-D34C-A155-D5822E37A29D}"/>
              </a:ext>
            </a:extLst>
          </p:cNvPr>
          <p:cNvSpPr txBox="1"/>
          <p:nvPr/>
        </p:nvSpPr>
        <p:spPr>
          <a:xfrm>
            <a:off x="487171" y="1371600"/>
            <a:ext cx="13656055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DBSCAN defines density using two critical parameters that work together to determine what constitutes a "dense" region:</a:t>
            </a: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857496E8-4D9F-90CF-4BD6-AB94BA81E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71105"/>
            <a:ext cx="5714999" cy="4348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928F67-C39B-F315-87B3-1C3B92096B9D}"/>
              </a:ext>
            </a:extLst>
          </p:cNvPr>
          <p:cNvSpPr txBox="1"/>
          <p:nvPr/>
        </p:nvSpPr>
        <p:spPr>
          <a:xfrm>
            <a:off x="7538382" y="2138277"/>
            <a:ext cx="5715000" cy="426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ε (Epsilon)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Radius of neighborhood around each point. Defines how far to look for neighboring points.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MinPts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Minimum number of points required to form a dense region. Defines the threshold for density.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2E2C703-4B92-A318-CA18-9185AFEE79B8}"/>
              </a:ext>
            </a:extLst>
          </p:cNvPr>
          <p:cNvSpPr/>
          <p:nvPr/>
        </p:nvSpPr>
        <p:spPr>
          <a:xfrm>
            <a:off x="793790" y="6523196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65612A8-F8CD-4F8B-146E-854234D8A6A5}"/>
              </a:ext>
            </a:extLst>
          </p:cNvPr>
          <p:cNvSpPr/>
          <p:nvPr/>
        </p:nvSpPr>
        <p:spPr>
          <a:xfrm>
            <a:off x="1438513" y="677108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These two values define what "dense" means in your specific dataset.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4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59349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Core, Border, and Noise Points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5046" y="2430572"/>
            <a:ext cx="4164095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6785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Border Point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Lies within ε of a core point but has fewer than MinPts neighbors. These points are on cluster boundaries.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2371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2430573"/>
            <a:ext cx="3818573" cy="351388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26785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Noise Point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Neither core nor border → isolated. These points don't belong to any cluster and are considered outliers.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1497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430572"/>
            <a:ext cx="3976821" cy="35454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6785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Core Point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Has at least MinPts points within ε (including itself). These points form the foundation of clusters and can reach other points.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F9837-099A-51A7-3FE5-32074160A441}"/>
              </a:ext>
            </a:extLst>
          </p:cNvPr>
          <p:cNvSpPr txBox="1"/>
          <p:nvPr/>
        </p:nvSpPr>
        <p:spPr>
          <a:xfrm>
            <a:off x="703384" y="1361163"/>
            <a:ext cx="11641015" cy="395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Based on ε and MinPts, DBSCAN classifies every point in the dataset into one of three categories: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59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2046-9F2B-0214-888F-41697EF9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31" y="681439"/>
            <a:ext cx="13648262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"Including Itself" Matters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191F2-0D39-3AA9-C4C2-1C56A5F4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2307402" cy="786947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 standard DBSCAN implementations (e.g., scikit-learn), the MinPts parameter includes the point itself in the count. This is a crucial detail for understanding the algorithm's behavior.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A1519-2855-DED3-7D62-914D3EA6C50E}"/>
              </a:ext>
            </a:extLst>
          </p:cNvPr>
          <p:cNvSpPr txBox="1"/>
          <p:nvPr/>
        </p:nvSpPr>
        <p:spPr>
          <a:xfrm>
            <a:off x="1542885" y="2767644"/>
            <a:ext cx="5105400" cy="352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Example</a:t>
            </a:r>
            <a:br>
              <a:rPr lang="en-US" sz="18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</a:b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If MinPts = 3, then a core point needs: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Itself (1 point)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Plus 2 neighbors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Total = 3 points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F09C5-EDAD-26A9-ADC6-33787D2BE27F}"/>
              </a:ext>
            </a:extLst>
          </p:cNvPr>
          <p:cNvSpPr txBox="1"/>
          <p:nvPr/>
        </p:nvSpPr>
        <p:spPr>
          <a:xfrm>
            <a:off x="7982116" y="3124200"/>
            <a:ext cx="7403122" cy="243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Mathematical Definition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rgbClr val="020202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set includes the point </a:t>
            </a:r>
            <a:r>
              <a:rPr lang="en-US" sz="1800" i="1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x_i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itself.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9688F89-DC1D-6B89-B08A-A73C31C5B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0" y="4006936"/>
            <a:ext cx="5966579" cy="33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18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FF9-CC8F-BEC4-5763-D50B3247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/>
              <a:t>k-Nearest Neighbor Distance Plot for Selecting ε (Epsilon)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8207C5-B7C5-27FB-0038-8F4F31B2A0CB}"/>
              </a:ext>
            </a:extLst>
          </p:cNvPr>
          <p:cNvSpPr txBox="1">
            <a:spLocks/>
          </p:cNvSpPr>
          <p:nvPr/>
        </p:nvSpPr>
        <p:spPr>
          <a:xfrm>
            <a:off x="487172" y="27843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282C7-9B98-3796-4512-FA35FF8878A1}"/>
              </a:ext>
            </a:extLst>
          </p:cNvPr>
          <p:cNvSpPr txBox="1"/>
          <p:nvPr/>
        </p:nvSpPr>
        <p:spPr>
          <a:xfrm>
            <a:off x="990600" y="1671444"/>
            <a:ext cx="5791200" cy="5553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latin typeface="PT Serif" panose="020A0603040505020204" pitchFamily="18" charset="0"/>
              </a:rPr>
              <a:t>This k-NN distance plot helps us </a:t>
            </a:r>
            <a:r>
              <a:rPr lang="en-IN" b="1" dirty="0">
                <a:latin typeface="PT Serif" panose="020A0603040505020204" pitchFamily="18" charset="0"/>
              </a:rPr>
              <a:t>select an appropriate ε (epsilon) value for DBSCAN</a:t>
            </a:r>
            <a:r>
              <a:rPr lang="en-IN" dirty="0">
                <a:latin typeface="PT Serif" panose="020A0603040505020204" pitchFamily="18" charset="0"/>
              </a:rPr>
              <a:t> by locating the elbow point where distances start increasing sharply, indicating a transition from dense regions to noise.</a:t>
            </a:r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Here, </a:t>
            </a:r>
            <a:r>
              <a:rPr lang="en-IN" b="1" dirty="0" err="1">
                <a:latin typeface="PT Serif" panose="020A0603040505020204" pitchFamily="18" charset="0"/>
              </a:rPr>
              <a:t>min_samples</a:t>
            </a:r>
            <a:r>
              <a:rPr lang="en-IN" b="1" dirty="0">
                <a:latin typeface="PT Serif" panose="020A0603040505020204" pitchFamily="18" charset="0"/>
              </a:rPr>
              <a:t> is chosen as 2 × number of features</a:t>
            </a:r>
            <a:r>
              <a:rPr lang="en-IN" dirty="0">
                <a:latin typeface="PT Serif" panose="020A0603040505020204" pitchFamily="18" charset="0"/>
              </a:rPr>
              <a:t>, and from the curve for </a:t>
            </a:r>
            <a:r>
              <a:rPr lang="en-IN" b="1" dirty="0">
                <a:latin typeface="PT Serif" panose="020A0603040505020204" pitchFamily="18" charset="0"/>
              </a:rPr>
              <a:t>k = 4</a:t>
            </a:r>
            <a:r>
              <a:rPr lang="en-IN" dirty="0">
                <a:latin typeface="PT Serif" panose="020A0603040505020204" pitchFamily="18" charset="0"/>
              </a:rPr>
              <a:t>, the elbow appears around </a:t>
            </a:r>
            <a:r>
              <a:rPr lang="en-IN" b="1" dirty="0">
                <a:latin typeface="PT Serif" panose="020A0603040505020204" pitchFamily="18" charset="0"/>
              </a:rPr>
              <a:t>ε ≈ 0.25</a:t>
            </a:r>
            <a:r>
              <a:rPr lang="en-IN" dirty="0">
                <a:latin typeface="PT Serif" panose="020A0603040505020204" pitchFamily="18" charset="0"/>
              </a:rPr>
              <a:t>, which can be taken as a reasonable epsilon value for DBSCAN.</a:t>
            </a:r>
          </a:p>
          <a:p>
            <a:pPr>
              <a:lnSpc>
                <a:spcPct val="20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  <p:pic>
        <p:nvPicPr>
          <p:cNvPr id="6" name="Picture 5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E2ACF39D-E9CE-0579-9FD2-663FF74E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631" y="1524906"/>
            <a:ext cx="7772790" cy="555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1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D2AD-4F34-10AE-E2D5-B8C7A72B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381178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DBSCAN Algorithm – Step by Step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3D8C4-5388-7993-5570-5521CCF9A56B}"/>
              </a:ext>
            </a:extLst>
          </p:cNvPr>
          <p:cNvSpPr txBox="1"/>
          <p:nvPr/>
        </p:nvSpPr>
        <p:spPr>
          <a:xfrm>
            <a:off x="1143000" y="1509518"/>
            <a:ext cx="7315200" cy="600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Initialize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Mark all points as unvisited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Select Point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 an unvisited point p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Find Neighbors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Find ε-neighborhood of p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Check Density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If neighbors &lt; MinPts → label as noise</a:t>
            </a: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FCD11-C5AA-D236-4930-BC510A80F6AB}"/>
              </a:ext>
            </a:extLst>
          </p:cNvPr>
          <p:cNvSpPr txBox="1"/>
          <p:nvPr/>
        </p:nvSpPr>
        <p:spPr>
          <a:xfrm>
            <a:off x="7643114" y="1509518"/>
            <a:ext cx="7315200" cy="3787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Create Cluster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Else → start a new cluster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Expand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Expand cluster using neighboring core points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Repeat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Repeat until all points are processed</a:t>
            </a:r>
            <a:endParaRPr lang="en-US" sz="1800" dirty="0">
              <a:latin typeface="PT Serif" panose="020A06030405050202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94104-8286-BE9A-8464-ACBC0169707F}"/>
              </a:ext>
            </a:extLst>
          </p:cNvPr>
          <p:cNvCxnSpPr>
            <a:cxnSpLocks/>
          </p:cNvCxnSpPr>
          <p:nvPr/>
        </p:nvCxnSpPr>
        <p:spPr>
          <a:xfrm>
            <a:off x="6934200" y="1489174"/>
            <a:ext cx="0" cy="6283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87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16D8-DA8E-7E14-4DD0-145212CB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Directly Density-Reachable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0F4FF-DB3F-5720-D272-23CE0E6130AD}"/>
              </a:ext>
            </a:extLst>
          </p:cNvPr>
          <p:cNvSpPr txBox="1"/>
          <p:nvPr/>
        </p:nvSpPr>
        <p:spPr>
          <a:xfrm>
            <a:off x="1447800" y="1219200"/>
            <a:ext cx="7315200" cy="684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Theoretical Backbone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Point q is directly density-reachable from p if: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Condition 1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q lies within ε of p (they are neighbors)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Condition 2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 is a core point (has sufficient density)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Notes</a:t>
            </a:r>
            <a:endParaRPr lang="en-US" sz="24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Directional relationship (p → q, not necessarily q → p)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Only core points can directly reach others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Border and noise points cannot initiate reachability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0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59349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Density-Reachable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5046" y="2430573"/>
            <a:ext cx="4164095" cy="24764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6785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Direct Steps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step in the chain is directly density-reachable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2371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2430573"/>
            <a:ext cx="3818573" cy="245440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26785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Core Path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All intermediate points must be core points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1497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430573"/>
            <a:ext cx="3976821" cy="24764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6785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Chain Exists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There exists a sequence of points connecting p to q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4F9837-099A-51A7-3FE5-32074160A441}"/>
              </a:ext>
            </a:extLst>
          </p:cNvPr>
          <p:cNvSpPr txBox="1"/>
          <p:nvPr/>
        </p:nvSpPr>
        <p:spPr>
          <a:xfrm>
            <a:off x="703384" y="1361163"/>
            <a:ext cx="11641015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Point q is density-reachable from p if there exists a chain of points where each step is directly density-reachable.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219A48-203D-0078-DA7D-A92D6D7BC04D}"/>
              </a:ext>
            </a:extLst>
          </p:cNvPr>
          <p:cNvSpPr txBox="1"/>
          <p:nvPr/>
        </p:nvSpPr>
        <p:spPr>
          <a:xfrm>
            <a:off x="674077" y="4977331"/>
            <a:ext cx="7315200" cy="285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Notes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Directional relationship (not symmetric)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Border points only appear at the end of chains</a:t>
            </a:r>
            <a:endParaRPr lang="en-US" sz="18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Noise points are never reachable from any point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41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49FA-DEA1-3321-D023-5195672DE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Density-Connected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2467A-AEE2-2AE8-A6E8-544B08AB7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2362200"/>
            <a:ext cx="6364224" cy="5276637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Definition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There exists a core point o such that: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 is density-reachable from o</a:t>
            </a:r>
            <a:endParaRPr lang="en-US" sz="1800" dirty="0"/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q is density-reachable from o</a:t>
            </a: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Importance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This symmetric relationship defines cluster membership. All points in a cluster are density-connected to each other.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6D139-83E2-F0E1-DE56-A9EA5DC357B6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01000" y="2362200"/>
            <a:ext cx="5190744" cy="3140027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Critical Property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Unlike density-reachability, density-connectivity is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symmetric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: if p is density-connected to q, then q is density-connected to p.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B9312-CBC9-D5EC-8B20-D5D184657282}"/>
              </a:ext>
            </a:extLst>
          </p:cNvPr>
          <p:cNvSpPr txBox="1"/>
          <p:nvPr/>
        </p:nvSpPr>
        <p:spPr>
          <a:xfrm>
            <a:off x="731520" y="1227203"/>
            <a:ext cx="1168908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Two points p and q are density-connected if both are density-reachable from a common core point.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26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4612-FEFB-6308-956C-2E11F02E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401521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DBSCAN Forms Clusters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FEE65-AA4F-9A17-6445-193A6D1A8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191212"/>
            <a:ext cx="12355459" cy="8600624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Identify Core Points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Scan all points and identify which ones are core points based on ε and MinPts.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Start from Core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Start from an unvisited core point to begin forming a new cluster.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Add Reachable Points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Add all density-reachable points to the current cluster, expanding outward.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Maximal Set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Cluster = maximal set of density-connected points (cannot be expanded further).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Label Remaining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Remaining points that don't belong to any cluster are labeled as noise.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F9AD3C-CC6D-4E33-647B-BD6A52087869}"/>
              </a:ext>
            </a:extLst>
          </p:cNvPr>
          <p:cNvSpPr txBox="1">
            <a:spLocks/>
          </p:cNvSpPr>
          <p:nvPr/>
        </p:nvSpPr>
        <p:spPr>
          <a:xfrm>
            <a:off x="1295400" y="67852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29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A09BD94D-5434-4426-868B-235247C1811E}"/>
              </a:ext>
            </a:extLst>
          </p:cNvPr>
          <p:cNvSpPr/>
          <p:nvPr/>
        </p:nvSpPr>
        <p:spPr>
          <a:xfrm>
            <a:off x="743517" y="1981200"/>
            <a:ext cx="13042821" cy="5562600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D2D7B-A94D-1AF5-FE75-B5412212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Implementation with scikit-learn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9BED2-78F2-58B3-A371-C79DA17DA801}"/>
              </a:ext>
            </a:extLst>
          </p:cNvPr>
          <p:cNvSpPr txBox="1"/>
          <p:nvPr/>
        </p:nvSpPr>
        <p:spPr>
          <a:xfrm>
            <a:off x="838200" y="1295400"/>
            <a:ext cx="11734800" cy="721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DBSCAN is implemented in the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scikit-learn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library, making it easy to apply to your datasets.</a:t>
            </a: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from sklearn.cluster import DBSCAN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# Preprocessing: Scale features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X_scaled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= scaler.fit_transform(X)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# Initialize and fit DBSCAN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dbscan = DBSCAN(eps=0.5, min_samples=5, metric='</a:t>
            </a: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')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labels = </a:t>
            </a: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dbscan.fit_predict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X_scaled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354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42382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DBSCAN Parameters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5046" y="1712369"/>
            <a:ext cx="4164095" cy="40026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1960317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min_samples (MinPts)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minimum number of points required to form a dense region (core point). Includes the point itself.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518921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74050" y="1712369"/>
            <a:ext cx="3818573" cy="396701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09645" y="1960317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metric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distance metric to use. Default is '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euclidean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', but '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manhattan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', 'cosine', and others are supported.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43152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74077" y="1712369"/>
            <a:ext cx="3976821" cy="400263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1960317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eps (ε)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maximum distance between two points for them to be considered neighbors. This is the most critical parameter to tune.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6F469EDF-018F-B4EE-47DC-8886291312FD}"/>
              </a:ext>
            </a:extLst>
          </p:cNvPr>
          <p:cNvSpPr/>
          <p:nvPr/>
        </p:nvSpPr>
        <p:spPr>
          <a:xfrm>
            <a:off x="7467600" y="3962400"/>
            <a:ext cx="6419794" cy="2335959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0D3C515-5805-7627-0831-B2AF6C64AD31}"/>
              </a:ext>
            </a:extLst>
          </p:cNvPr>
          <p:cNvSpPr/>
          <p:nvPr/>
        </p:nvSpPr>
        <p:spPr>
          <a:xfrm>
            <a:off x="487172" y="3962400"/>
            <a:ext cx="6419794" cy="2335959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0F87E-E086-C129-1D22-FF185987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1"/>
            <a:ext cx="13917665" cy="1126347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Preprocessing Requirements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50E1C-6A01-B537-3F23-B54DD1034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351" y="1568814"/>
            <a:ext cx="6486144" cy="5105400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Feature Scaling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Essential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: Always scale your features before applying DBSCAN. Use StandardScaler or 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MinMaxScaler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to ensure all features contribute equally to distance calculations.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03BB2-929A-D62A-3548-C028AFCA819A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1524000"/>
            <a:ext cx="6486144" cy="5105400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Dimensionality Reduction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Optional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: For high-dimensional data, consider using PCA or t-SNE to reduce dimensions before clustering. This can improve performance and visualization.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pca = PCA(n_components=2)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X_reduced = </a:t>
            </a:r>
            <a:r>
              <a:rPr lang="en-US" sz="1800" dirty="0" err="1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pca.fit_transform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(X_scaled)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01901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A426-5E75-DB48-897F-BF30F7AB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A001-677E-4946-B419-33AD3B839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99" y="488184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Background &amp; Data Snapshot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08AEE-5AE2-1EEA-C2C2-A9C15C271D91}"/>
              </a:ext>
            </a:extLst>
          </p:cNvPr>
          <p:cNvSpPr txBox="1"/>
          <p:nvPr/>
        </p:nvSpPr>
        <p:spPr>
          <a:xfrm>
            <a:off x="614312" y="1099059"/>
            <a:ext cx="6700888" cy="352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Background :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Dataset contains customer age, spending across products/services, and tenure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Customer behavior may form irregular, non-linear clusters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Goal: identify natural customer segments and detect unusual customers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5C4A7-6FB2-AC75-B76B-DD0AEE0F13E9}"/>
              </a:ext>
            </a:extLst>
          </p:cNvPr>
          <p:cNvSpPr txBox="1"/>
          <p:nvPr/>
        </p:nvSpPr>
        <p:spPr>
          <a:xfrm>
            <a:off x="602589" y="467458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Data Snapshot :</a:t>
            </a:r>
            <a:endParaRPr lang="en-IN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AD6942-33DA-FFBE-FC34-82762E59C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354751"/>
              </p:ext>
            </p:extLst>
          </p:nvPr>
        </p:nvGraphicFramePr>
        <p:xfrm>
          <a:off x="695224" y="5207142"/>
          <a:ext cx="11201400" cy="25401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432375589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471811127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5113282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88567046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59327603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938644124"/>
                    </a:ext>
                  </a:extLst>
                </a:gridCol>
              </a:tblGrid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 err="1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Cust_ID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Age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BillAmt_Product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BillAmt_Service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BillAmt_Pre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Vintage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78250"/>
                  </a:ext>
                </a:extLst>
              </a:tr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82078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81128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48203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62975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662111503"/>
                  </a:ext>
                </a:extLst>
              </a:tr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57215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59480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17263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23634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17701525"/>
                  </a:ext>
                </a:extLst>
              </a:tr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66970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65363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30661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45889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88806767"/>
                  </a:ext>
                </a:extLst>
              </a:tr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77319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84073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47181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43186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375535117"/>
                  </a:ext>
                </a:extLst>
              </a:tr>
              <a:tr h="423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29564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10541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3551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12753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460262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DF5D67-8197-8DC7-13D0-CE1230AB1386}"/>
              </a:ext>
            </a:extLst>
          </p:cNvPr>
          <p:cNvSpPr txBox="1"/>
          <p:nvPr/>
        </p:nvSpPr>
        <p:spPr>
          <a:xfrm>
            <a:off x="8239024" y="1099059"/>
            <a:ext cx="7315200" cy="241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Why DBSCAN?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Finds clusters of any shape (not just spherical)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No need to predefine number of clusters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Automatically identifies outliers / noise points</a:t>
            </a:r>
          </a:p>
        </p:txBody>
      </p:sp>
    </p:spTree>
    <p:extLst>
      <p:ext uri="{BB962C8B-B14F-4D97-AF65-F5344CB8AC3E}">
        <p14:creationId xmlns:p14="http://schemas.microsoft.com/office/powerpoint/2010/main" val="3902220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8C3E-F65D-F29C-12C5-E453D9D3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B0A5-278A-778B-1C6A-BB8F9E227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36635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Cluster Membership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D7D92-CACA-BCE0-F726-E17D00F3095A}"/>
              </a:ext>
            </a:extLst>
          </p:cNvPr>
          <p:cNvSpPr txBox="1"/>
          <p:nvPr/>
        </p:nvSpPr>
        <p:spPr>
          <a:xfrm>
            <a:off x="487172" y="1295400"/>
            <a:ext cx="10485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DBSCAN assigned each customer to a cluster label stored in the Cluster column</a:t>
            </a:r>
          </a:p>
          <a:p>
            <a:endParaRPr lang="en-US" dirty="0">
              <a:latin typeface="PT Serif" panose="020A060304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" panose="020A0603040505020204" pitchFamily="18" charset="0"/>
              </a:rPr>
              <a:t>We obtained 11 customer clusters (0 to 10) and one Noise group (-1)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E66E2-FB29-EC2F-DAB6-E19B58BC101E}"/>
              </a:ext>
            </a:extLst>
          </p:cNvPr>
          <p:cNvSpPr txBox="1"/>
          <p:nvPr/>
        </p:nvSpPr>
        <p:spPr>
          <a:xfrm>
            <a:off x="10515600" y="2209800"/>
            <a:ext cx="4038600" cy="5731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PT Serif" panose="020A0603040505020204" pitchFamily="18" charset="0"/>
              </a:rPr>
              <a:t>Interpretation:</a:t>
            </a:r>
            <a:endParaRPr lang="en-US" dirty="0">
              <a:latin typeface="PT Serif" panose="020A06030405050202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PT Serif" panose="020A0603040505020204" pitchFamily="18" charset="0"/>
              </a:rPr>
              <a:t>Cluster IDs (0–10): </a:t>
            </a:r>
            <a:r>
              <a:rPr lang="en-US" dirty="0">
                <a:latin typeface="PT Serif" panose="020A0603040505020204" pitchFamily="18" charset="0"/>
              </a:rPr>
              <a:t>Customers with similar age, spending, and tenure patterns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PT Serif" panose="020A0603040505020204" pitchFamily="18" charset="0"/>
              </a:rPr>
              <a:t>Cluster = -1 (Noise): </a:t>
            </a:r>
            <a:r>
              <a:rPr lang="en-US" dirty="0">
                <a:latin typeface="PT Serif" panose="020A0603040505020204" pitchFamily="18" charset="0"/>
              </a:rPr>
              <a:t>Customers who do not fit into any dense group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PT Serif" panose="020A0603040505020204" pitchFamily="18" charset="0"/>
              </a:rPr>
              <a:t>      → may represent outliers, rare    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PT Serif" panose="020A0603040505020204" pitchFamily="18" charset="0"/>
              </a:rPr>
              <a:t>      behavior, or special cases</a:t>
            </a:r>
            <a:endParaRPr lang="en-IN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1B480A-07C1-974B-82E8-ED9CB1635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427864"/>
              </p:ext>
            </p:extLst>
          </p:nvPr>
        </p:nvGraphicFramePr>
        <p:xfrm>
          <a:off x="685800" y="2820220"/>
          <a:ext cx="9595025" cy="4287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70718">
                  <a:extLst>
                    <a:ext uri="{9D8B030D-6E8A-4147-A177-3AD203B41FA5}">
                      <a16:colId xmlns:a16="http://schemas.microsoft.com/office/drawing/2014/main" val="797283066"/>
                    </a:ext>
                  </a:extLst>
                </a:gridCol>
                <a:gridCol w="1043398">
                  <a:extLst>
                    <a:ext uri="{9D8B030D-6E8A-4147-A177-3AD203B41FA5}">
                      <a16:colId xmlns:a16="http://schemas.microsoft.com/office/drawing/2014/main" val="114539202"/>
                    </a:ext>
                  </a:extLst>
                </a:gridCol>
                <a:gridCol w="1393369">
                  <a:extLst>
                    <a:ext uri="{9D8B030D-6E8A-4147-A177-3AD203B41FA5}">
                      <a16:colId xmlns:a16="http://schemas.microsoft.com/office/drawing/2014/main" val="20947858"/>
                    </a:ext>
                  </a:extLst>
                </a:gridCol>
                <a:gridCol w="1393369">
                  <a:extLst>
                    <a:ext uri="{9D8B030D-6E8A-4147-A177-3AD203B41FA5}">
                      <a16:colId xmlns:a16="http://schemas.microsoft.com/office/drawing/2014/main" val="1157945629"/>
                    </a:ext>
                  </a:extLst>
                </a:gridCol>
                <a:gridCol w="1652735">
                  <a:extLst>
                    <a:ext uri="{9D8B030D-6E8A-4147-A177-3AD203B41FA5}">
                      <a16:colId xmlns:a16="http://schemas.microsoft.com/office/drawing/2014/main" val="404472205"/>
                    </a:ext>
                  </a:extLst>
                </a:gridCol>
                <a:gridCol w="1370718">
                  <a:extLst>
                    <a:ext uri="{9D8B030D-6E8A-4147-A177-3AD203B41FA5}">
                      <a16:colId xmlns:a16="http://schemas.microsoft.com/office/drawing/2014/main" val="3271508855"/>
                    </a:ext>
                  </a:extLst>
                </a:gridCol>
                <a:gridCol w="1370718">
                  <a:extLst>
                    <a:ext uri="{9D8B030D-6E8A-4147-A177-3AD203B41FA5}">
                      <a16:colId xmlns:a16="http://schemas.microsoft.com/office/drawing/2014/main" val="2914733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 err="1">
                          <a:effectLst/>
                        </a:rPr>
                        <a:t>Cust_ID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Age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 err="1">
                          <a:effectLst/>
                        </a:rPr>
                        <a:t>BillAmt</a:t>
                      </a:r>
                      <a:endParaRPr lang="en-IN" sz="1600" b="1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Product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 err="1">
                          <a:effectLst/>
                        </a:rPr>
                        <a:t>BillAmt</a:t>
                      </a:r>
                      <a:endParaRPr lang="en-IN" sz="1600" b="1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Service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 err="1">
                          <a:effectLst/>
                        </a:rPr>
                        <a:t>BillAmt_Pre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Vintage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Cluster</a:t>
                      </a:r>
                      <a:endParaRPr lang="en-IN" sz="1600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26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82078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49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81128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48203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62975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-1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743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57215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59480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17263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23634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40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66970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65363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30661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45889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6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-1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72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77319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84073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47181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43186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7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-1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09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29564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26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10541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3551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12753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65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40744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54889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17371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32344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4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20456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28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10927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4281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13746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59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50315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49047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18509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23435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2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89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54708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42587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14190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36112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34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19929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26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17964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4856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14794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  <a:endParaRPr lang="en-IN" sz="1600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316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500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480D-0186-E73B-8FC6-18015637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8954-9A8A-899C-BC96-DE4BE4BA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Output Interpretation : </a:t>
            </a:r>
            <a:r>
              <a:rPr lang="en-IN" sz="3600" dirty="0"/>
              <a:t>Cluster-level Descriptive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A0444-BBF1-B9A1-EC60-C80CEBE05B62}"/>
              </a:ext>
            </a:extLst>
          </p:cNvPr>
          <p:cNvSpPr txBox="1"/>
          <p:nvPr/>
        </p:nvSpPr>
        <p:spPr>
          <a:xfrm>
            <a:off x="614312" y="1524000"/>
            <a:ext cx="12058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erif" panose="020A0603040505020204" pitchFamily="18" charset="0"/>
              </a:rPr>
              <a:t>The data was aggregated at the cluster level to compute average demographic and billing metrics for each segment.</a:t>
            </a:r>
            <a:endParaRPr lang="en-IN" dirty="0">
              <a:latin typeface="PT Serif" panose="020A06030405050202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8B73E1-FE0A-D894-118E-66FEFBD0F309}"/>
              </a:ext>
            </a:extLst>
          </p:cNvPr>
          <p:cNvGraphicFramePr>
            <a:graphicFrameLocks noGrp="1"/>
          </p:cNvGraphicFramePr>
          <p:nvPr/>
        </p:nvGraphicFramePr>
        <p:xfrm>
          <a:off x="614312" y="2093313"/>
          <a:ext cx="13401773" cy="302768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14539">
                  <a:extLst>
                    <a:ext uri="{9D8B030D-6E8A-4147-A177-3AD203B41FA5}">
                      <a16:colId xmlns:a16="http://schemas.microsoft.com/office/drawing/2014/main" val="2237489478"/>
                    </a:ext>
                  </a:extLst>
                </a:gridCol>
                <a:gridCol w="1914539">
                  <a:extLst>
                    <a:ext uri="{9D8B030D-6E8A-4147-A177-3AD203B41FA5}">
                      <a16:colId xmlns:a16="http://schemas.microsoft.com/office/drawing/2014/main" val="310453444"/>
                    </a:ext>
                  </a:extLst>
                </a:gridCol>
                <a:gridCol w="1525465">
                  <a:extLst>
                    <a:ext uri="{9D8B030D-6E8A-4147-A177-3AD203B41FA5}">
                      <a16:colId xmlns:a16="http://schemas.microsoft.com/office/drawing/2014/main" val="2073247"/>
                    </a:ext>
                  </a:extLst>
                </a:gridCol>
                <a:gridCol w="2303613">
                  <a:extLst>
                    <a:ext uri="{9D8B030D-6E8A-4147-A177-3AD203B41FA5}">
                      <a16:colId xmlns:a16="http://schemas.microsoft.com/office/drawing/2014/main" val="1601737843"/>
                    </a:ext>
                  </a:extLst>
                </a:gridCol>
                <a:gridCol w="1914539">
                  <a:extLst>
                    <a:ext uri="{9D8B030D-6E8A-4147-A177-3AD203B41FA5}">
                      <a16:colId xmlns:a16="http://schemas.microsoft.com/office/drawing/2014/main" val="3283423381"/>
                    </a:ext>
                  </a:extLst>
                </a:gridCol>
                <a:gridCol w="1914539">
                  <a:extLst>
                    <a:ext uri="{9D8B030D-6E8A-4147-A177-3AD203B41FA5}">
                      <a16:colId xmlns:a16="http://schemas.microsoft.com/office/drawing/2014/main" val="2954070056"/>
                    </a:ext>
                  </a:extLst>
                </a:gridCol>
                <a:gridCol w="1914539">
                  <a:extLst>
                    <a:ext uri="{9D8B030D-6E8A-4147-A177-3AD203B41FA5}">
                      <a16:colId xmlns:a16="http://schemas.microsoft.com/office/drawing/2014/main" val="432412236"/>
                    </a:ext>
                  </a:extLst>
                </a:gridCol>
              </a:tblGrid>
              <a:tr h="776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 err="1">
                          <a:effectLst/>
                          <a:latin typeface="PT Serif" panose="020A0603040505020204" pitchFamily="18" charset="0"/>
                        </a:rPr>
                        <a:t>BillAmt_Product</a:t>
                      </a:r>
                      <a:endParaRPr lang="en-IN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BillAmt_Service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BillAmt_Pre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Vintage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360357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8005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54.58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81339.83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39485.53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54607.50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6.43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230523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1983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37.39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42591.61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16047.36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30203.09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402754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8035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26.99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12577.03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3769.15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12508.37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384029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37.30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42371.22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16070.94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30136.18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049101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37.28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42920.43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16008.61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29959.15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095964"/>
                  </a:ext>
                </a:extLst>
              </a:tr>
            </a:tbl>
          </a:graphicData>
        </a:graphic>
      </p:graphicFrame>
      <p:sp>
        <p:nvSpPr>
          <p:cNvPr id="11" name="Shape 10">
            <a:extLst>
              <a:ext uri="{FF2B5EF4-FFF2-40B4-BE49-F238E27FC236}">
                <a16:creationId xmlns:a16="http://schemas.microsoft.com/office/drawing/2014/main" id="{68BF6BE0-A761-71AD-78B5-3DC21E3BDD19}"/>
              </a:ext>
            </a:extLst>
          </p:cNvPr>
          <p:cNvSpPr/>
          <p:nvPr/>
        </p:nvSpPr>
        <p:spPr>
          <a:xfrm>
            <a:off x="614312" y="5562600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61A28-A09C-8D74-638C-5DA2CFCC7569}"/>
              </a:ext>
            </a:extLst>
          </p:cNvPr>
          <p:cNvSpPr txBox="1"/>
          <p:nvPr/>
        </p:nvSpPr>
        <p:spPr>
          <a:xfrm>
            <a:off x="712717" y="5661034"/>
            <a:ext cx="12846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erif" panose="020A0603040505020204" pitchFamily="18" charset="0"/>
              </a:rPr>
              <a:t>A total of four clusters were identified, while Cluster −1 corresponds to noise points that do not belong to any specific cluster.</a:t>
            </a: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70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295400" y="1219199"/>
            <a:ext cx="5865583" cy="2590801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332680" y="4332744"/>
            <a:ext cx="5885221" cy="2590801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21816" y="4352655"/>
            <a:ext cx="5885221" cy="2570890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238116"/>
            <a:ext cx="5865583" cy="25718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-20128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Advantages of DBSCAN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28722" y="1266792"/>
            <a:ext cx="5188384" cy="86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No Cluster Count Required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Unlike K-Means, you don't need to specify the number of clusters beforehand, making it ideal for exploratory data analysis.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Robust to Outliers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Explicitly identifies and separates noise points, preventing outliers from distorting cluster formation.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37870" y="1276166"/>
            <a:ext cx="547630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Handles Complex Shapes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Can identify clusters of arbitrary shapes, including non-convex and intertwined patterns that K-Means cannot detect.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Density-Based Logic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Uses a natural, intuitive concept of density that aligns with how humans perceive groups in spatial data.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33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13">
            <a:extLst>
              <a:ext uri="{FF2B5EF4-FFF2-40B4-BE49-F238E27FC236}">
                <a16:creationId xmlns:a16="http://schemas.microsoft.com/office/drawing/2014/main" id="{B9E1C5A2-3C42-BC7C-5225-21C8E95EFE28}"/>
              </a:ext>
            </a:extLst>
          </p:cNvPr>
          <p:cNvGrpSpPr/>
          <p:nvPr/>
        </p:nvGrpSpPr>
        <p:grpSpPr>
          <a:xfrm>
            <a:off x="7543800" y="4959432"/>
            <a:ext cx="6124028" cy="2546779"/>
            <a:chOff x="793788" y="4631308"/>
            <a:chExt cx="6437630" cy="2974340"/>
          </a:xfrm>
        </p:grpSpPr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A5C3A66A-A2D6-9EA1-DBAB-A4FFA1B6F7F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71B93BFC-CEB2-7AF7-E59C-39544F3B03A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35" name="object 13">
            <a:extLst>
              <a:ext uri="{FF2B5EF4-FFF2-40B4-BE49-F238E27FC236}">
                <a16:creationId xmlns:a16="http://schemas.microsoft.com/office/drawing/2014/main" id="{70148CBA-CCB0-CF90-D30B-74347CD2AFE9}"/>
              </a:ext>
            </a:extLst>
          </p:cNvPr>
          <p:cNvGrpSpPr/>
          <p:nvPr/>
        </p:nvGrpSpPr>
        <p:grpSpPr>
          <a:xfrm>
            <a:off x="935076" y="4959432"/>
            <a:ext cx="6124028" cy="2546779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AFAFB433-445F-84F2-5654-05E266EFCBA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691360C6-AC20-985E-26C6-F44538D6EEA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29" name="object 13">
            <a:extLst>
              <a:ext uri="{FF2B5EF4-FFF2-40B4-BE49-F238E27FC236}">
                <a16:creationId xmlns:a16="http://schemas.microsoft.com/office/drawing/2014/main" id="{ECC7638F-CE57-265B-8304-255BEF51AC71}"/>
              </a:ext>
            </a:extLst>
          </p:cNvPr>
          <p:cNvGrpSpPr/>
          <p:nvPr/>
        </p:nvGrpSpPr>
        <p:grpSpPr>
          <a:xfrm>
            <a:off x="5105400" y="1371601"/>
            <a:ext cx="4718986" cy="3124200"/>
            <a:chOff x="793788" y="4631308"/>
            <a:chExt cx="6437630" cy="2974340"/>
          </a:xfrm>
        </p:grpSpPr>
        <p:sp>
          <p:nvSpPr>
            <p:cNvPr id="31" name="object 15">
              <a:extLst>
                <a:ext uri="{FF2B5EF4-FFF2-40B4-BE49-F238E27FC236}">
                  <a16:creationId xmlns:a16="http://schemas.microsoft.com/office/drawing/2014/main" id="{C0C58B4E-8BC5-07C2-B2A5-8F5E82257562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  <p:sp>
          <p:nvSpPr>
            <p:cNvPr id="30" name="object 14">
              <a:extLst>
                <a:ext uri="{FF2B5EF4-FFF2-40B4-BE49-F238E27FC236}">
                  <a16:creationId xmlns:a16="http://schemas.microsoft.com/office/drawing/2014/main" id="{5435FD3A-5EC4-9F6C-4F21-47D5042F37B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316B79C2-0084-6D29-58C4-A0BA282FB8B6}"/>
              </a:ext>
            </a:extLst>
          </p:cNvPr>
          <p:cNvGrpSpPr/>
          <p:nvPr/>
        </p:nvGrpSpPr>
        <p:grpSpPr>
          <a:xfrm>
            <a:off x="9942498" y="1371601"/>
            <a:ext cx="4382591" cy="3124200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62217902-07B9-CB3E-14BE-5B41480EDC3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16C54A3B-48D1-B03B-1A3D-B17D54D0F72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9" name="object 13">
            <a:extLst>
              <a:ext uri="{FF2B5EF4-FFF2-40B4-BE49-F238E27FC236}">
                <a16:creationId xmlns:a16="http://schemas.microsoft.com/office/drawing/2014/main" id="{73ABA715-86F3-9E1F-F437-ADD9BE7A640A}"/>
              </a:ext>
            </a:extLst>
          </p:cNvPr>
          <p:cNvGrpSpPr/>
          <p:nvPr/>
        </p:nvGrpSpPr>
        <p:grpSpPr>
          <a:xfrm>
            <a:off x="454548" y="1371601"/>
            <a:ext cx="4382591" cy="3124200"/>
            <a:chOff x="793788" y="4631308"/>
            <a:chExt cx="6437630" cy="2974340"/>
          </a:xfrm>
        </p:grpSpPr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87BBA8D4-A27C-0114-C102-4010A718A2B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43D9327E-A137-DE7F-9760-4036158DFD3A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620" y="-183184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40269" y="1374039"/>
            <a:ext cx="453661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Two Parameters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ε (epsilon) and MinPts define what constitutes a dense region in your dataset.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357279" y="1469304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Three Point Types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Core points, border points, and noise points form the foundation of the algorithm's classification.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538914" y="1469304"/>
            <a:ext cx="4536611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Density-Based Clustering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DBSCAN groups points based on density, identifying clusters as dense regions separated by sparse areas.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1101490" y="5029770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Theoretical Concepts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Directly density-reachable, density-reachable, and density-connected define how clusters are formed mathematically.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772400" y="4953000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Practical Advantages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Automatic cluster detection, arbitrary shapes, and explicit noise handling make DBSCAN powerful for real-world applications.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83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</TotalTime>
  <Words>1969</Words>
  <Application>Microsoft Office PowerPoint</Application>
  <PresentationFormat>Custom</PresentationFormat>
  <Paragraphs>430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DM Sans</vt:lpstr>
      <vt:lpstr>Lucida Sans Unicode</vt:lpstr>
      <vt:lpstr>PT Serif</vt:lpstr>
      <vt:lpstr>Office Theme</vt:lpstr>
      <vt:lpstr>PowerPoint Presentation</vt:lpstr>
      <vt:lpstr>PowerPoint Presentation</vt:lpstr>
      <vt:lpstr>Clustering – Quick Recap</vt:lpstr>
      <vt:lpstr>Why Another Clustering Algorithm?</vt:lpstr>
      <vt:lpstr>Introduction to DBSCAN </vt:lpstr>
      <vt:lpstr>Why DBSCAN is Powerful </vt:lpstr>
      <vt:lpstr>Typical Use Cases</vt:lpstr>
      <vt:lpstr>DBSCAN vs K-Means </vt:lpstr>
      <vt:lpstr>DBSCAN Parameters - Conceptual Foundation </vt:lpstr>
      <vt:lpstr>Core, Border, and Noise Points</vt:lpstr>
      <vt:lpstr>Why "Including Itself" Matters</vt:lpstr>
      <vt:lpstr>k-Nearest Neighbor Distance Plot for Selecting ε (Epsilon) </vt:lpstr>
      <vt:lpstr>DBSCAN Algorithm – Step by Step </vt:lpstr>
      <vt:lpstr>Directly Density-Reachable </vt:lpstr>
      <vt:lpstr>Density-Reachable</vt:lpstr>
      <vt:lpstr>Density-Connected </vt:lpstr>
      <vt:lpstr>How DBSCAN Forms Clusters </vt:lpstr>
      <vt:lpstr>Python Implementation with scikit-learn </vt:lpstr>
      <vt:lpstr>Key DBSCAN Parameters</vt:lpstr>
      <vt:lpstr>Preprocessing Requirements </vt:lpstr>
      <vt:lpstr>Background &amp; Data Snapshot</vt:lpstr>
      <vt:lpstr>Cluster Membership</vt:lpstr>
      <vt:lpstr>Output Interpretation : Cluster-level Descriptive Statistics</vt:lpstr>
      <vt:lpstr>Advantages of DBSCAN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Fimran Sanghvi</cp:lastModifiedBy>
  <cp:revision>321</cp:revision>
  <dcterms:created xsi:type="dcterms:W3CDTF">2025-08-01T06:43:07Z</dcterms:created>
  <dcterms:modified xsi:type="dcterms:W3CDTF">2026-01-29T05:26:29Z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