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2"/>
  </p:notesMasterIdLst>
  <p:sldIdLst>
    <p:sldId id="256" r:id="rId2"/>
    <p:sldId id="283" r:id="rId3"/>
    <p:sldId id="257" r:id="rId4"/>
    <p:sldId id="266" r:id="rId5"/>
    <p:sldId id="261" r:id="rId6"/>
    <p:sldId id="259" r:id="rId7"/>
    <p:sldId id="276" r:id="rId8"/>
    <p:sldId id="264" r:id="rId9"/>
    <p:sldId id="265" r:id="rId10"/>
    <p:sldId id="267" r:id="rId11"/>
    <p:sldId id="269" r:id="rId12"/>
    <p:sldId id="277" r:id="rId13"/>
    <p:sldId id="280" r:id="rId14"/>
    <p:sldId id="281" r:id="rId15"/>
    <p:sldId id="268" r:id="rId16"/>
    <p:sldId id="282" r:id="rId17"/>
    <p:sldId id="279" r:id="rId18"/>
    <p:sldId id="273" r:id="rId19"/>
    <p:sldId id="271" r:id="rId20"/>
    <p:sldId id="275" r:id="rId21"/>
  </p:sldIdLst>
  <p:sldSz cx="14630400" cy="8229600"/>
  <p:notesSz cx="8229600" cy="14630400"/>
  <p:embeddedFontLst>
    <p:embeddedFont>
      <p:font typeface="DM Sans" pitchFamily="2" charset="0"/>
      <p:regular r:id="rId23"/>
      <p:bold r:id="rId24"/>
      <p:italic r:id="rId25"/>
      <p:boldItalic r:id="rId26"/>
    </p:embeddedFont>
    <p:embeddedFont>
      <p:font typeface="PT Serif" panose="020A0603040505020204" pitchFamily="18" charset="0"/>
      <p:regular r:id="rId27"/>
      <p:bold r:id="rId28"/>
      <p:italic r:id="rId29"/>
      <p:bold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p:restoredTop sz="94610"/>
  </p:normalViewPr>
  <p:slideViewPr>
    <p:cSldViewPr snapToGrid="0" snapToObjects="1">
      <p:cViewPr varScale="1">
        <p:scale>
          <a:sx n="62" d="100"/>
          <a:sy n="62" d="100"/>
        </p:scale>
        <p:origin x="327"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4534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923650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9939577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4493287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B389E-3887-3E31-5AD8-A1FE9F5FA2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59C2A9-E54D-AE38-0146-62CB4D58EE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8AC34E-BAD5-ACAF-1766-513EF2522A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E75289-6373-16BF-1C7C-C25F23285087}"/>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8310273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3339088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7011977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7491786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1756239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66814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42498129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9133773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544835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3.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2.tiff"/><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5.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3.svg"/><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14.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7.xml"/><Relationship Id="rId1" Type="http://schemas.openxmlformats.org/officeDocument/2006/relationships/slideLayout" Target="../slideLayouts/slideLayout19.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740343"/>
            <a:ext cx="12249388" cy="898684"/>
          </a:xfrm>
          <a:prstGeom prst="rect">
            <a:avLst/>
          </a:prstGeom>
          <a:noFill/>
          <a:ln/>
        </p:spPr>
        <p:txBody>
          <a:bodyPr wrap="none" lIns="0" tIns="0" rIns="0" bIns="0" rtlCol="0" anchor="t"/>
          <a:lstStyle/>
          <a:p>
            <a:pPr marL="0" indent="0" algn="l">
              <a:lnSpc>
                <a:spcPts val="7050"/>
              </a:lnSpc>
              <a:buNone/>
            </a:pPr>
            <a:r>
              <a:rPr lang="en-US" sz="5650" dirty="0">
                <a:solidFill>
                  <a:srgbClr val="020202"/>
                </a:solidFill>
                <a:latin typeface="PT Serif" pitchFamily="34" charset="0"/>
                <a:ea typeface="PT Serif" pitchFamily="34" charset="-122"/>
                <a:cs typeface="PT Serif" pitchFamily="34" charset="-120"/>
              </a:rPr>
              <a:t>Convolutional Neural Networks (CNN)</a:t>
            </a:r>
            <a:endParaRPr lang="en-US" sz="5650" dirty="0"/>
          </a:p>
        </p:txBody>
      </p:sp>
      <p:sp>
        <p:nvSpPr>
          <p:cNvPr id="4" name="Text 2"/>
          <p:cNvSpPr/>
          <p:nvPr/>
        </p:nvSpPr>
        <p:spPr>
          <a:xfrm>
            <a:off x="906331" y="4025402"/>
            <a:ext cx="13042821" cy="317540"/>
          </a:xfrm>
          <a:prstGeom prst="rect">
            <a:avLst/>
          </a:prstGeom>
          <a:noFill/>
          <a:ln/>
        </p:spPr>
        <p:txBody>
          <a:bodyPr wrap="non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Architecture, operations, and applications of CNNs — the backbone of modern computer vision.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001435"/>
            <a:ext cx="5954197" cy="744260"/>
          </a:xfrm>
          <a:prstGeom prst="rect">
            <a:avLst/>
          </a:prstGeom>
          <a:noFill/>
          <a:ln/>
        </p:spPr>
        <p:txBody>
          <a:bodyPr wrap="none" lIns="0" tIns="0" rIns="0" bIns="0" rtlCol="0" anchor="t"/>
          <a:lstStyle/>
          <a:p>
            <a:pPr marL="0" indent="0" algn="l">
              <a:lnSpc>
                <a:spcPts val="5850"/>
              </a:lnSpc>
              <a:buNone/>
            </a:pPr>
            <a:r>
              <a:rPr lang="en-US" sz="4650" dirty="0">
                <a:solidFill>
                  <a:srgbClr val="020202"/>
                </a:solidFill>
                <a:latin typeface="PT Serif" pitchFamily="34" charset="0"/>
                <a:ea typeface="PT Serif" pitchFamily="34" charset="-122"/>
                <a:cs typeface="PT Serif" pitchFamily="34" charset="-120"/>
              </a:rPr>
              <a:t>Contents</a:t>
            </a:r>
            <a:endParaRPr lang="en-US" sz="4650" dirty="0"/>
          </a:p>
        </p:txBody>
      </p:sp>
      <p:sp>
        <p:nvSpPr>
          <p:cNvPr id="3" name="Text 1"/>
          <p:cNvSpPr/>
          <p:nvPr/>
        </p:nvSpPr>
        <p:spPr>
          <a:xfrm>
            <a:off x="793790" y="219932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B0604020202020204" charset="0"/>
                <a:ea typeface="PT Serif Light" pitchFamily="34" charset="-122"/>
                <a:cs typeface="PT Serif Light" pitchFamily="34" charset="-120"/>
              </a:rPr>
              <a:t>01</a:t>
            </a:r>
            <a:endParaRPr lang="en-US" sz="1750" dirty="0">
              <a:latin typeface="PT Serif" panose="020B0604020202020204" charset="0"/>
            </a:endParaRPr>
          </a:p>
        </p:txBody>
      </p:sp>
      <p:sp>
        <p:nvSpPr>
          <p:cNvPr id="4" name="Shape 2"/>
          <p:cNvSpPr/>
          <p:nvPr/>
        </p:nvSpPr>
        <p:spPr>
          <a:xfrm>
            <a:off x="793790" y="2554367"/>
            <a:ext cx="6407944" cy="30480"/>
          </a:xfrm>
          <a:prstGeom prst="rect">
            <a:avLst/>
          </a:prstGeom>
          <a:solidFill>
            <a:srgbClr val="E04F00"/>
          </a:solidFill>
          <a:ln/>
        </p:spPr>
      </p:sp>
      <p:sp>
        <p:nvSpPr>
          <p:cNvPr id="5" name="Text 3"/>
          <p:cNvSpPr/>
          <p:nvPr/>
        </p:nvSpPr>
        <p:spPr>
          <a:xfrm>
            <a:off x="793849" y="2656403"/>
            <a:ext cx="2977039" cy="372070"/>
          </a:xfrm>
          <a:prstGeom prst="rect">
            <a:avLst/>
          </a:prstGeom>
          <a:noFill/>
          <a:ln/>
        </p:spPr>
        <p:txBody>
          <a:bodyPr wrap="none" lIns="0" tIns="0" rIns="0" bIns="0" rtlCol="0" anchor="t"/>
          <a:lstStyle/>
          <a:p>
            <a:pPr>
              <a:lnSpc>
                <a:spcPts val="3900"/>
              </a:lnSpc>
            </a:pPr>
            <a:r>
              <a:rPr lang="en-US" sz="2400" dirty="0">
                <a:solidFill>
                  <a:srgbClr val="020202"/>
                </a:solidFill>
                <a:latin typeface="PT Serif" pitchFamily="34" charset="0"/>
                <a:ea typeface="PT Serif" pitchFamily="34" charset="-122"/>
                <a:cs typeface="PT Serif" pitchFamily="34" charset="-120"/>
              </a:rPr>
              <a:t>What are Convolutional Neural Networks </a:t>
            </a:r>
            <a:endParaRPr lang="en-US" sz="2400" dirty="0"/>
          </a:p>
        </p:txBody>
      </p:sp>
      <p:sp>
        <p:nvSpPr>
          <p:cNvPr id="6" name="Text 4"/>
          <p:cNvSpPr/>
          <p:nvPr/>
        </p:nvSpPr>
        <p:spPr>
          <a:xfrm>
            <a:off x="7428548" y="219932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B0604020202020204" charset="0"/>
                <a:ea typeface="PT Serif Light" pitchFamily="34" charset="-122"/>
                <a:cs typeface="PT Serif Light" pitchFamily="34" charset="-120"/>
              </a:rPr>
              <a:t>02</a:t>
            </a:r>
            <a:endParaRPr lang="en-US" sz="1750" dirty="0">
              <a:latin typeface="PT Serif" panose="020B0604020202020204" charset="0"/>
            </a:endParaRPr>
          </a:p>
        </p:txBody>
      </p:sp>
      <p:sp>
        <p:nvSpPr>
          <p:cNvPr id="7" name="Shape 5"/>
          <p:cNvSpPr/>
          <p:nvPr/>
        </p:nvSpPr>
        <p:spPr>
          <a:xfrm>
            <a:off x="7428548" y="2554367"/>
            <a:ext cx="6408063" cy="30480"/>
          </a:xfrm>
          <a:prstGeom prst="rect">
            <a:avLst/>
          </a:prstGeom>
          <a:solidFill>
            <a:srgbClr val="E04F00"/>
          </a:solidFill>
          <a:ln/>
        </p:spPr>
      </p:sp>
      <p:sp>
        <p:nvSpPr>
          <p:cNvPr id="10" name="Text 8"/>
          <p:cNvSpPr/>
          <p:nvPr/>
        </p:nvSpPr>
        <p:spPr>
          <a:xfrm>
            <a:off x="793790" y="399657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B0604020202020204" charset="0"/>
                <a:ea typeface="PT Serif Light" pitchFamily="34" charset="-122"/>
                <a:cs typeface="PT Serif Light" pitchFamily="34" charset="-120"/>
              </a:rPr>
              <a:t>03</a:t>
            </a:r>
            <a:endParaRPr lang="en-US" sz="1750" dirty="0">
              <a:latin typeface="PT Serif" panose="020B0604020202020204" charset="0"/>
            </a:endParaRPr>
          </a:p>
        </p:txBody>
      </p:sp>
      <p:sp>
        <p:nvSpPr>
          <p:cNvPr id="11" name="Shape 9"/>
          <p:cNvSpPr/>
          <p:nvPr/>
        </p:nvSpPr>
        <p:spPr>
          <a:xfrm>
            <a:off x="793790" y="4351615"/>
            <a:ext cx="6407944" cy="30480"/>
          </a:xfrm>
          <a:prstGeom prst="rect">
            <a:avLst/>
          </a:prstGeom>
          <a:solidFill>
            <a:srgbClr val="E04F00"/>
          </a:solidFill>
          <a:ln/>
        </p:spPr>
      </p:sp>
      <p:sp>
        <p:nvSpPr>
          <p:cNvPr id="12" name="Text 10"/>
          <p:cNvSpPr/>
          <p:nvPr/>
        </p:nvSpPr>
        <p:spPr>
          <a:xfrm>
            <a:off x="793790" y="4525923"/>
            <a:ext cx="4571405" cy="372070"/>
          </a:xfrm>
          <a:prstGeom prst="rect">
            <a:avLst/>
          </a:prstGeom>
          <a:noFill/>
          <a:ln/>
        </p:spPr>
        <p:txBody>
          <a:bodyPr wrap="none" lIns="0" tIns="0" rIns="0" bIns="0" rtlCol="0" anchor="t"/>
          <a:lstStyle/>
          <a:p>
            <a:pPr>
              <a:lnSpc>
                <a:spcPts val="2900"/>
              </a:lnSpc>
            </a:pPr>
            <a:r>
              <a:rPr lang="en-US" sz="2300" dirty="0">
                <a:solidFill>
                  <a:srgbClr val="383838"/>
                </a:solidFill>
                <a:latin typeface="PT Serif" pitchFamily="34" charset="0"/>
                <a:ea typeface="PT Serif" pitchFamily="34" charset="-122"/>
                <a:cs typeface="PT Serif" pitchFamily="34" charset="-120"/>
              </a:rPr>
              <a:t> </a:t>
            </a:r>
            <a:r>
              <a:rPr lang="en-US" sz="2400" dirty="0">
                <a:solidFill>
                  <a:srgbClr val="383838"/>
                </a:solidFill>
                <a:latin typeface="PT Serif" pitchFamily="34" charset="0"/>
                <a:ea typeface="PT Serif" pitchFamily="34" charset="-122"/>
                <a:cs typeface="PT Serif" pitchFamily="34" charset="-120"/>
              </a:rPr>
              <a:t>The Convolution Operation</a:t>
            </a:r>
            <a:endParaRPr lang="en-US" sz="2400" dirty="0"/>
          </a:p>
          <a:p>
            <a:pPr marL="0" indent="0" algn="l">
              <a:lnSpc>
                <a:spcPts val="2900"/>
              </a:lnSpc>
              <a:buNone/>
            </a:pPr>
            <a:endParaRPr lang="en-US" sz="2300" dirty="0"/>
          </a:p>
        </p:txBody>
      </p:sp>
      <p:sp>
        <p:nvSpPr>
          <p:cNvPr id="13" name="Text 11"/>
          <p:cNvSpPr/>
          <p:nvPr/>
        </p:nvSpPr>
        <p:spPr>
          <a:xfrm>
            <a:off x="7428548" y="3996571"/>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B0604020202020204" charset="0"/>
                <a:ea typeface="PT Serif Light" pitchFamily="34" charset="-122"/>
                <a:cs typeface="PT Serif Light" pitchFamily="34" charset="-120"/>
              </a:rPr>
              <a:t>04</a:t>
            </a:r>
            <a:endParaRPr lang="en-US" sz="1750" dirty="0">
              <a:latin typeface="PT Serif" panose="020B0604020202020204" charset="0"/>
            </a:endParaRPr>
          </a:p>
        </p:txBody>
      </p:sp>
      <p:sp>
        <p:nvSpPr>
          <p:cNvPr id="14" name="Shape 12"/>
          <p:cNvSpPr/>
          <p:nvPr/>
        </p:nvSpPr>
        <p:spPr>
          <a:xfrm>
            <a:off x="7428548" y="4351615"/>
            <a:ext cx="6408063" cy="30480"/>
          </a:xfrm>
          <a:prstGeom prst="rect">
            <a:avLst/>
          </a:prstGeom>
          <a:solidFill>
            <a:srgbClr val="E04F00"/>
          </a:solidFill>
          <a:ln/>
        </p:spPr>
      </p:sp>
      <p:sp>
        <p:nvSpPr>
          <p:cNvPr id="15" name="Text 13"/>
          <p:cNvSpPr/>
          <p:nvPr/>
        </p:nvSpPr>
        <p:spPr>
          <a:xfrm>
            <a:off x="7428548" y="4525923"/>
            <a:ext cx="7201852" cy="372070"/>
          </a:xfrm>
          <a:prstGeom prst="rect">
            <a:avLst/>
          </a:prstGeom>
          <a:noFill/>
          <a:ln/>
        </p:spPr>
        <p:txBody>
          <a:bodyPr wrap="none" lIns="0" tIns="0" rIns="0" bIns="0" rtlCol="0" anchor="t"/>
          <a:lstStyle/>
          <a:p>
            <a:pPr>
              <a:lnSpc>
                <a:spcPts val="2550"/>
              </a:lnSpc>
            </a:pPr>
            <a:r>
              <a:rPr lang="en-US" sz="2400" dirty="0">
                <a:solidFill>
                  <a:srgbClr val="383838"/>
                </a:solidFill>
                <a:latin typeface="PT Serif" pitchFamily="34" charset="0"/>
                <a:ea typeface="PT Serif" pitchFamily="34" charset="-122"/>
                <a:cs typeface="PT Serif" pitchFamily="34" charset="-120"/>
              </a:rPr>
              <a:t>Stride ,Padding, Activation Function, Pooling,</a:t>
            </a:r>
          </a:p>
          <a:p>
            <a:pPr>
              <a:lnSpc>
                <a:spcPts val="2550"/>
              </a:lnSpc>
            </a:pPr>
            <a:r>
              <a:rPr lang="en-US" sz="2400" dirty="0">
                <a:solidFill>
                  <a:srgbClr val="383838"/>
                </a:solidFill>
                <a:latin typeface="PT Serif" pitchFamily="34" charset="0"/>
                <a:ea typeface="PT Serif" pitchFamily="34" charset="-122"/>
                <a:cs typeface="PT Serif" pitchFamily="34" charset="-120"/>
              </a:rPr>
              <a:t>Fully Connected  Layer</a:t>
            </a:r>
            <a:endParaRPr lang="en-US" sz="2400" dirty="0"/>
          </a:p>
        </p:txBody>
      </p:sp>
      <p:sp>
        <p:nvSpPr>
          <p:cNvPr id="16" name="Text 14"/>
          <p:cNvSpPr/>
          <p:nvPr/>
        </p:nvSpPr>
        <p:spPr>
          <a:xfrm>
            <a:off x="793790" y="529482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Light" pitchFamily="34" charset="0"/>
                <a:ea typeface="PT Serif Light" pitchFamily="34" charset="-122"/>
                <a:cs typeface="PT Serif Light" pitchFamily="34" charset="-120"/>
              </a:rPr>
              <a:t>05</a:t>
            </a:r>
            <a:endParaRPr lang="en-US" sz="1750" dirty="0"/>
          </a:p>
        </p:txBody>
      </p:sp>
      <p:sp>
        <p:nvSpPr>
          <p:cNvPr id="17" name="Shape 15"/>
          <p:cNvSpPr/>
          <p:nvPr/>
        </p:nvSpPr>
        <p:spPr>
          <a:xfrm>
            <a:off x="793790" y="5649873"/>
            <a:ext cx="6407944" cy="30480"/>
          </a:xfrm>
          <a:prstGeom prst="rect">
            <a:avLst/>
          </a:prstGeom>
          <a:solidFill>
            <a:srgbClr val="E04F00"/>
          </a:solidFill>
          <a:ln/>
        </p:spPr>
      </p:sp>
      <p:sp>
        <p:nvSpPr>
          <p:cNvPr id="18" name="Text 16"/>
          <p:cNvSpPr/>
          <p:nvPr/>
        </p:nvSpPr>
        <p:spPr>
          <a:xfrm>
            <a:off x="793790" y="5824180"/>
            <a:ext cx="5879663" cy="372070"/>
          </a:xfrm>
          <a:prstGeom prst="rect">
            <a:avLst/>
          </a:prstGeom>
          <a:noFill/>
          <a:ln/>
        </p:spPr>
        <p:txBody>
          <a:bodyPr wrap="none" lIns="0" tIns="0" rIns="0" bIns="0" rtlCol="0" anchor="t"/>
          <a:lstStyle/>
          <a:p>
            <a:pPr>
              <a:lnSpc>
                <a:spcPts val="2550"/>
              </a:lnSpc>
            </a:pPr>
            <a:r>
              <a:rPr lang="en-US" sz="2400" dirty="0">
                <a:solidFill>
                  <a:srgbClr val="383838"/>
                </a:solidFill>
                <a:latin typeface="PT Serif" pitchFamily="34" charset="0"/>
                <a:ea typeface="PT Serif" pitchFamily="34" charset="-122"/>
                <a:cs typeface="PT Serif" pitchFamily="34" charset="-120"/>
              </a:rPr>
              <a:t>Backpropagation Method</a:t>
            </a:r>
            <a:endParaRPr lang="en-US" sz="2400" dirty="0"/>
          </a:p>
        </p:txBody>
      </p:sp>
      <p:sp>
        <p:nvSpPr>
          <p:cNvPr id="19" name="Text 17"/>
          <p:cNvSpPr/>
          <p:nvPr/>
        </p:nvSpPr>
        <p:spPr>
          <a:xfrm>
            <a:off x="7428548" y="529482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383838"/>
                </a:solidFill>
                <a:latin typeface="PT Serif" panose="020B0604020202020204" charset="0"/>
                <a:ea typeface="PT Serif Light" pitchFamily="34" charset="-122"/>
                <a:cs typeface="PT Serif Light" pitchFamily="34" charset="-120"/>
              </a:rPr>
              <a:t>06</a:t>
            </a:r>
            <a:endParaRPr lang="en-US" sz="1750" dirty="0">
              <a:latin typeface="PT Serif" panose="020B0604020202020204" charset="0"/>
            </a:endParaRPr>
          </a:p>
        </p:txBody>
      </p:sp>
      <p:sp>
        <p:nvSpPr>
          <p:cNvPr id="20" name="Shape 18"/>
          <p:cNvSpPr/>
          <p:nvPr/>
        </p:nvSpPr>
        <p:spPr>
          <a:xfrm>
            <a:off x="7428548" y="5649873"/>
            <a:ext cx="6408063" cy="30480"/>
          </a:xfrm>
          <a:prstGeom prst="rect">
            <a:avLst/>
          </a:prstGeom>
          <a:solidFill>
            <a:srgbClr val="E04F00"/>
          </a:solidFill>
          <a:ln/>
        </p:spPr>
      </p:sp>
      <p:sp>
        <p:nvSpPr>
          <p:cNvPr id="21" name="Text 19"/>
          <p:cNvSpPr/>
          <p:nvPr/>
        </p:nvSpPr>
        <p:spPr>
          <a:xfrm>
            <a:off x="7428548" y="5824180"/>
            <a:ext cx="4252198" cy="372070"/>
          </a:xfrm>
          <a:prstGeom prst="rect">
            <a:avLst/>
          </a:prstGeom>
          <a:noFill/>
          <a:ln/>
        </p:spPr>
        <p:txBody>
          <a:bodyPr wrap="none" lIns="0" tIns="0" rIns="0" bIns="0" rtlCol="0" anchor="t"/>
          <a:lstStyle/>
          <a:p>
            <a:pPr marL="0" indent="0" algn="l">
              <a:lnSpc>
                <a:spcPts val="2900"/>
              </a:lnSpc>
              <a:buNone/>
            </a:pPr>
            <a:r>
              <a:rPr lang="en-US" sz="2400" dirty="0">
                <a:solidFill>
                  <a:srgbClr val="383838"/>
                </a:solidFill>
                <a:latin typeface="PT Serif" pitchFamily="34" charset="0"/>
                <a:ea typeface="PT Serif" pitchFamily="34" charset="-122"/>
                <a:cs typeface="PT Serif" pitchFamily="34" charset="-120"/>
              </a:rPr>
              <a:t>Batch Normalization and Dropout Method</a:t>
            </a:r>
            <a:endParaRPr lang="en-US" sz="2400" dirty="0"/>
          </a:p>
        </p:txBody>
      </p:sp>
      <p:sp>
        <p:nvSpPr>
          <p:cNvPr id="24" name="Text 3">
            <a:extLst>
              <a:ext uri="{FF2B5EF4-FFF2-40B4-BE49-F238E27FC236}">
                <a16:creationId xmlns:a16="http://schemas.microsoft.com/office/drawing/2014/main" id="{F9B1597F-6088-ED47-BCF3-2426CD5CD6E2}"/>
              </a:ext>
            </a:extLst>
          </p:cNvPr>
          <p:cNvSpPr/>
          <p:nvPr/>
        </p:nvSpPr>
        <p:spPr>
          <a:xfrm>
            <a:off x="7428548" y="2793206"/>
            <a:ext cx="2977039" cy="372070"/>
          </a:xfrm>
          <a:prstGeom prst="rect">
            <a:avLst/>
          </a:prstGeom>
          <a:noFill/>
          <a:ln/>
        </p:spPr>
        <p:txBody>
          <a:bodyPr wrap="none" lIns="0" tIns="0" rIns="0" bIns="0" rtlCol="0" anchor="t"/>
          <a:lstStyle/>
          <a:p>
            <a:pPr>
              <a:lnSpc>
                <a:spcPts val="2550"/>
              </a:lnSpc>
            </a:pPr>
            <a:r>
              <a:rPr lang="en-US" sz="2400" dirty="0">
                <a:solidFill>
                  <a:srgbClr val="383838"/>
                </a:solidFill>
                <a:latin typeface="PT Serif" pitchFamily="34" charset="0"/>
                <a:ea typeface="PT Serif" pitchFamily="34" charset="-122"/>
                <a:cs typeface="PT Serif" pitchFamily="34" charset="-120"/>
              </a:rPr>
              <a:t>The CNN Pipeline</a:t>
            </a:r>
            <a:endParaRPr lang="en-US" sz="2400" dirty="0"/>
          </a:p>
        </p:txBody>
      </p:sp>
    </p:spTree>
    <p:extLst>
      <p:ext uri="{BB962C8B-B14F-4D97-AF65-F5344CB8AC3E}">
        <p14:creationId xmlns:p14="http://schemas.microsoft.com/office/powerpoint/2010/main" val="3219374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ext 2"/>
          <p:cNvSpPr/>
          <p:nvPr/>
        </p:nvSpPr>
        <p:spPr>
          <a:xfrm>
            <a:off x="770930" y="1158909"/>
            <a:ext cx="9849683"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What Are Convolutional Neural Networks?</a:t>
            </a:r>
            <a:endParaRPr lang="en-US" sz="4100" dirty="0"/>
          </a:p>
        </p:txBody>
      </p:sp>
      <p:sp>
        <p:nvSpPr>
          <p:cNvPr id="5" name="Text 3"/>
          <p:cNvSpPr/>
          <p:nvPr/>
        </p:nvSpPr>
        <p:spPr>
          <a:xfrm>
            <a:off x="816650" y="2262581"/>
            <a:ext cx="13042821" cy="95261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Convolutional Neural Networks (CNNs) are a specialised class of deep learning models designed primarily to process and analyse </a:t>
            </a:r>
            <a:r>
              <a:rPr lang="en-US" b="1" dirty="0">
                <a:solidFill>
                  <a:srgbClr val="383838"/>
                </a:solidFill>
                <a:latin typeface="DM Sans" pitchFamily="34" charset="0"/>
                <a:ea typeface="DM Sans" pitchFamily="34" charset="-122"/>
                <a:cs typeface="DM Sans" pitchFamily="34" charset="-120"/>
              </a:rPr>
              <a:t>visual data</a:t>
            </a:r>
            <a:r>
              <a:rPr lang="en-US" dirty="0">
                <a:solidFill>
                  <a:srgbClr val="383838"/>
                </a:solidFill>
                <a:latin typeface="DM Sans" pitchFamily="34" charset="0"/>
                <a:ea typeface="DM Sans" pitchFamily="34" charset="-122"/>
                <a:cs typeface="DM Sans" pitchFamily="34" charset="-120"/>
              </a:rPr>
              <a:t> such as images and video. </a:t>
            </a:r>
          </a:p>
          <a:p>
            <a:pPr marL="0" indent="0" algn="l">
              <a:lnSpc>
                <a:spcPts val="2500"/>
              </a:lnSpc>
              <a:buNone/>
            </a:pPr>
            <a:endParaRPr lang="en-US" dirty="0">
              <a:solidFill>
                <a:srgbClr val="383838"/>
              </a:solidFill>
              <a:latin typeface="DM Sans" pitchFamily="34" charset="0"/>
              <a:ea typeface="DM Sans" pitchFamily="34" charset="-122"/>
              <a:cs typeface="DM Sans" pitchFamily="34" charset="-120"/>
            </a:endParaRPr>
          </a:p>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Unlike conventional neural networks, CNNs are built to understand spatial structure — they treat input as a grid of values rather than a flat vector.</a:t>
            </a:r>
            <a:endParaRPr lang="en-US" dirty="0"/>
          </a:p>
        </p:txBody>
      </p:sp>
      <p:sp>
        <p:nvSpPr>
          <p:cNvPr id="6" name="Shape 4"/>
          <p:cNvSpPr/>
          <p:nvPr/>
        </p:nvSpPr>
        <p:spPr>
          <a:xfrm>
            <a:off x="793790" y="4324707"/>
            <a:ext cx="4215289" cy="2157293"/>
          </a:xfrm>
          <a:prstGeom prst="roundRect">
            <a:avLst>
              <a:gd name="adj" fmla="val 5086"/>
            </a:avLst>
          </a:prstGeom>
          <a:solidFill>
            <a:srgbClr val="FFFFFF"/>
          </a:solidFill>
          <a:ln w="22860">
            <a:solidFill>
              <a:srgbClr val="D8D4D4"/>
            </a:solidFill>
            <a:prstDash val="solid"/>
          </a:ln>
        </p:spPr>
      </p:sp>
      <p:sp>
        <p:nvSpPr>
          <p:cNvPr id="7" name="Shape 5"/>
          <p:cNvSpPr/>
          <p:nvPr/>
        </p:nvSpPr>
        <p:spPr>
          <a:xfrm>
            <a:off x="770930" y="4324707"/>
            <a:ext cx="91440" cy="2157293"/>
          </a:xfrm>
          <a:prstGeom prst="roundRect">
            <a:avLst>
              <a:gd name="adj" fmla="val 32558"/>
            </a:avLst>
          </a:prstGeom>
          <a:solidFill>
            <a:srgbClr val="E04F00"/>
          </a:solidFill>
          <a:ln/>
        </p:spPr>
      </p:sp>
      <p:sp>
        <p:nvSpPr>
          <p:cNvPr id="8" name="Text 6"/>
          <p:cNvSpPr/>
          <p:nvPr/>
        </p:nvSpPr>
        <p:spPr>
          <a:xfrm>
            <a:off x="1083588" y="4545925"/>
            <a:ext cx="3258264"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Automatic Feature Learning</a:t>
            </a:r>
            <a:endParaRPr lang="en-US" sz="2050" dirty="0"/>
          </a:p>
        </p:txBody>
      </p:sp>
      <p:sp>
        <p:nvSpPr>
          <p:cNvPr id="9" name="Text 7"/>
          <p:cNvSpPr/>
          <p:nvPr/>
        </p:nvSpPr>
        <p:spPr>
          <a:xfrm>
            <a:off x="1083588" y="4990624"/>
            <a:ext cx="3704273" cy="127015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CNNs learn to detect </a:t>
            </a:r>
            <a:r>
              <a:rPr lang="en-US" sz="1700" b="1" dirty="0">
                <a:solidFill>
                  <a:srgbClr val="383838"/>
                </a:solidFill>
                <a:latin typeface="DM Sans" pitchFamily="34" charset="0"/>
                <a:ea typeface="DM Sans" pitchFamily="34" charset="-122"/>
                <a:cs typeface="DM Sans" pitchFamily="34" charset="-120"/>
              </a:rPr>
              <a:t>edges, textures, and complex shapes</a:t>
            </a:r>
            <a:r>
              <a:rPr lang="en-US" sz="1700" dirty="0">
                <a:solidFill>
                  <a:srgbClr val="383838"/>
                </a:solidFill>
                <a:latin typeface="DM Sans" pitchFamily="34" charset="0"/>
                <a:ea typeface="DM Sans" pitchFamily="34" charset="-122"/>
                <a:cs typeface="DM Sans" pitchFamily="34" charset="-120"/>
              </a:rPr>
              <a:t> directly from raw pixel data — no manual feature engineering required.</a:t>
            </a:r>
            <a:endParaRPr lang="en-US" sz="1700" dirty="0"/>
          </a:p>
        </p:txBody>
      </p:sp>
      <p:sp>
        <p:nvSpPr>
          <p:cNvPr id="10" name="Shape 8"/>
          <p:cNvSpPr/>
          <p:nvPr/>
        </p:nvSpPr>
        <p:spPr>
          <a:xfrm>
            <a:off x="5207437" y="4324707"/>
            <a:ext cx="4215408" cy="2157293"/>
          </a:xfrm>
          <a:prstGeom prst="roundRect">
            <a:avLst>
              <a:gd name="adj" fmla="val 5086"/>
            </a:avLst>
          </a:prstGeom>
          <a:solidFill>
            <a:srgbClr val="FFFFFF"/>
          </a:solidFill>
          <a:ln w="22860">
            <a:solidFill>
              <a:srgbClr val="D8D4D4"/>
            </a:solidFill>
            <a:prstDash val="solid"/>
          </a:ln>
        </p:spPr>
      </p:sp>
      <p:sp>
        <p:nvSpPr>
          <p:cNvPr id="11" name="Shape 9"/>
          <p:cNvSpPr/>
          <p:nvPr/>
        </p:nvSpPr>
        <p:spPr>
          <a:xfrm>
            <a:off x="5184577" y="4324707"/>
            <a:ext cx="91440" cy="2157293"/>
          </a:xfrm>
          <a:prstGeom prst="roundRect">
            <a:avLst>
              <a:gd name="adj" fmla="val 32558"/>
            </a:avLst>
          </a:prstGeom>
          <a:solidFill>
            <a:srgbClr val="E04F00"/>
          </a:solidFill>
          <a:ln/>
        </p:spPr>
      </p:sp>
      <p:sp>
        <p:nvSpPr>
          <p:cNvPr id="12" name="Text 10"/>
          <p:cNvSpPr/>
          <p:nvPr/>
        </p:nvSpPr>
        <p:spPr>
          <a:xfrm>
            <a:off x="5497235" y="4545925"/>
            <a:ext cx="3247906"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Hierarchical Representation</a:t>
            </a:r>
            <a:endParaRPr lang="en-US" sz="2050" dirty="0"/>
          </a:p>
        </p:txBody>
      </p:sp>
      <p:sp>
        <p:nvSpPr>
          <p:cNvPr id="13" name="Text 11"/>
          <p:cNvSpPr/>
          <p:nvPr/>
        </p:nvSpPr>
        <p:spPr>
          <a:xfrm>
            <a:off x="5497235" y="4990624"/>
            <a:ext cx="3879890" cy="1179655"/>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Early layers capture simple patterns; deeper layers combine these into </a:t>
            </a:r>
            <a:r>
              <a:rPr lang="en-US" sz="1700" b="1" dirty="0">
                <a:solidFill>
                  <a:srgbClr val="383838"/>
                </a:solidFill>
                <a:latin typeface="DM Sans" pitchFamily="34" charset="0"/>
                <a:ea typeface="DM Sans" pitchFamily="34" charset="-122"/>
                <a:cs typeface="DM Sans" pitchFamily="34" charset="-120"/>
              </a:rPr>
              <a:t>abstract, high-level representations</a:t>
            </a:r>
            <a:r>
              <a:rPr lang="en-US" sz="1700" dirty="0">
                <a:solidFill>
                  <a:srgbClr val="383838"/>
                </a:solidFill>
                <a:latin typeface="DM Sans" pitchFamily="34" charset="0"/>
                <a:ea typeface="DM Sans" pitchFamily="34" charset="-122"/>
                <a:cs typeface="DM Sans" pitchFamily="34" charset="-120"/>
              </a:rPr>
              <a:t> like faces or objects.</a:t>
            </a:r>
            <a:endParaRPr lang="en-US" sz="1700" dirty="0"/>
          </a:p>
        </p:txBody>
      </p:sp>
      <p:sp>
        <p:nvSpPr>
          <p:cNvPr id="14" name="Shape 12"/>
          <p:cNvSpPr/>
          <p:nvPr/>
        </p:nvSpPr>
        <p:spPr>
          <a:xfrm>
            <a:off x="9621203" y="4324707"/>
            <a:ext cx="4215289" cy="2157293"/>
          </a:xfrm>
          <a:prstGeom prst="roundRect">
            <a:avLst>
              <a:gd name="adj" fmla="val 5086"/>
            </a:avLst>
          </a:prstGeom>
          <a:solidFill>
            <a:srgbClr val="FFFFFF"/>
          </a:solidFill>
          <a:ln w="22860">
            <a:solidFill>
              <a:srgbClr val="D8D4D4"/>
            </a:solidFill>
            <a:prstDash val="solid"/>
          </a:ln>
        </p:spPr>
      </p:sp>
      <p:sp>
        <p:nvSpPr>
          <p:cNvPr id="15" name="Shape 13"/>
          <p:cNvSpPr/>
          <p:nvPr/>
        </p:nvSpPr>
        <p:spPr>
          <a:xfrm>
            <a:off x="9598343" y="4324707"/>
            <a:ext cx="91440" cy="2157293"/>
          </a:xfrm>
          <a:prstGeom prst="roundRect">
            <a:avLst>
              <a:gd name="adj" fmla="val 32558"/>
            </a:avLst>
          </a:prstGeom>
          <a:solidFill>
            <a:srgbClr val="E04F00"/>
          </a:solidFill>
          <a:ln/>
        </p:spPr>
      </p:sp>
      <p:sp>
        <p:nvSpPr>
          <p:cNvPr id="16" name="Text 14"/>
          <p:cNvSpPr/>
          <p:nvPr/>
        </p:nvSpPr>
        <p:spPr>
          <a:xfrm>
            <a:off x="9911001" y="454592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End-to-End Learning</a:t>
            </a:r>
            <a:endParaRPr lang="en-US" sz="2050" dirty="0"/>
          </a:p>
        </p:txBody>
      </p:sp>
      <p:sp>
        <p:nvSpPr>
          <p:cNvPr id="17" name="Text 15"/>
          <p:cNvSpPr/>
          <p:nvPr/>
        </p:nvSpPr>
        <p:spPr>
          <a:xfrm>
            <a:off x="9911001" y="4990624"/>
            <a:ext cx="3704273" cy="127015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From raw pixels to final class label, the entire transformation is </a:t>
            </a:r>
            <a:r>
              <a:rPr lang="en-US" sz="1700" b="1" dirty="0">
                <a:solidFill>
                  <a:srgbClr val="383838"/>
                </a:solidFill>
                <a:latin typeface="DM Sans" pitchFamily="34" charset="0"/>
                <a:ea typeface="DM Sans" pitchFamily="34" charset="-122"/>
                <a:cs typeface="DM Sans" pitchFamily="34" charset="-120"/>
              </a:rPr>
              <a:t>learned from data</a:t>
            </a:r>
            <a:r>
              <a:rPr lang="en-US" sz="1700" dirty="0">
                <a:solidFill>
                  <a:srgbClr val="383838"/>
                </a:solidFill>
                <a:latin typeface="DM Sans" pitchFamily="34" charset="0"/>
                <a:ea typeface="DM Sans" pitchFamily="34" charset="-122"/>
                <a:cs typeface="DM Sans" pitchFamily="34" charset="-120"/>
              </a:rPr>
              <a:t>, making CNNs both powerful and flexible.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793791" y="1267421"/>
            <a:ext cx="8473678" cy="744259"/>
          </a:xfrm>
          <a:prstGeom prst="rect">
            <a:avLst/>
          </a:prstGeom>
          <a:noFill/>
          <a:ln/>
        </p:spPr>
        <p:txBody>
          <a:bodyPr wrap="none" lIns="0" tIns="0" rIns="0" bIns="0" rtlCol="0" anchor="t"/>
          <a:lstStyle/>
          <a:p>
            <a:pPr>
              <a:lnSpc>
                <a:spcPts val="5840"/>
              </a:lnSpc>
            </a:pPr>
            <a:r>
              <a:rPr lang="en-US" sz="4640" dirty="0">
                <a:solidFill>
                  <a:srgbClr val="020202"/>
                </a:solidFill>
                <a:latin typeface="PT Serif" pitchFamily="34" charset="0"/>
                <a:ea typeface="PT Serif" pitchFamily="34" charset="-122"/>
                <a:cs typeface="PT Serif" pitchFamily="34" charset="-120"/>
              </a:rPr>
              <a:t>Feature Hierarchy Across Layers</a:t>
            </a:r>
            <a:endParaRPr lang="en-US" sz="4640" dirty="0"/>
          </a:p>
        </p:txBody>
      </p:sp>
      <p:sp>
        <p:nvSpPr>
          <p:cNvPr id="5" name="Text 3"/>
          <p:cNvSpPr/>
          <p:nvPr/>
        </p:nvSpPr>
        <p:spPr>
          <a:xfrm>
            <a:off x="793791" y="2351842"/>
            <a:ext cx="13042821" cy="725805"/>
          </a:xfrm>
          <a:prstGeom prst="rect">
            <a:avLst/>
          </a:prstGeom>
          <a:noFill/>
          <a:ln/>
        </p:spPr>
        <p:txBody>
          <a:bodyPr wrap="square" lIns="0" tIns="0" rIns="0" bIns="0" rtlCol="0" anchor="t"/>
          <a:lstStyle/>
          <a:p>
            <a:pPr>
              <a:lnSpc>
                <a:spcPts val="2800"/>
              </a:lnSpc>
            </a:pPr>
            <a:r>
              <a:rPr lang="en-US" sz="1760" dirty="0">
                <a:solidFill>
                  <a:srgbClr val="383838"/>
                </a:solidFill>
                <a:latin typeface="DM Sans" pitchFamily="34" charset="0"/>
                <a:ea typeface="DM Sans" pitchFamily="34" charset="-122"/>
                <a:cs typeface="DM Sans" pitchFamily="34" charset="-120"/>
              </a:rPr>
              <a:t>The power of CNNs emerges from composing simple operations across depth. Each layer's receptive field grows, enabling the network to integrate context from larger regions of the image.</a:t>
            </a:r>
            <a:endParaRPr lang="en-US" sz="1760" dirty="0"/>
          </a:p>
        </p:txBody>
      </p:sp>
      <p:sp>
        <p:nvSpPr>
          <p:cNvPr id="6" name="Shape 4"/>
          <p:cNvSpPr/>
          <p:nvPr/>
        </p:nvSpPr>
        <p:spPr>
          <a:xfrm>
            <a:off x="1133952" y="4240055"/>
            <a:ext cx="3856077" cy="226814"/>
          </a:xfrm>
          <a:prstGeom prst="roundRect">
            <a:avLst>
              <a:gd name="adj" fmla="val 15001"/>
            </a:avLst>
          </a:prstGeom>
          <a:solidFill>
            <a:srgbClr val="F2EEEE"/>
          </a:solidFill>
          <a:ln/>
        </p:spPr>
      </p:sp>
      <p:sp>
        <p:nvSpPr>
          <p:cNvPr id="7" name="Shape 5"/>
          <p:cNvSpPr/>
          <p:nvPr/>
        </p:nvSpPr>
        <p:spPr>
          <a:xfrm>
            <a:off x="793790" y="4013181"/>
            <a:ext cx="680442" cy="680442"/>
          </a:xfrm>
          <a:prstGeom prst="roundRect">
            <a:avLst>
              <a:gd name="adj" fmla="val 67192"/>
            </a:avLst>
          </a:prstGeom>
          <a:solidFill>
            <a:srgbClr val="F2EEEE"/>
          </a:solidFill>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3930" y="4183321"/>
            <a:ext cx="340162" cy="340162"/>
          </a:xfrm>
          <a:prstGeom prst="rect">
            <a:avLst/>
          </a:prstGeom>
        </p:spPr>
      </p:pic>
      <p:sp>
        <p:nvSpPr>
          <p:cNvPr id="9" name="Text 6"/>
          <p:cNvSpPr/>
          <p:nvPr/>
        </p:nvSpPr>
        <p:spPr>
          <a:xfrm>
            <a:off x="1020603" y="4920496"/>
            <a:ext cx="3742730" cy="744141"/>
          </a:xfrm>
          <a:prstGeom prst="rect">
            <a:avLst/>
          </a:prstGeom>
          <a:noFill/>
          <a:ln/>
        </p:spPr>
        <p:txBody>
          <a:bodyPr wrap="square" lIns="0" tIns="0" rIns="0" bIns="0" rtlCol="0" anchor="t"/>
          <a:lstStyle/>
          <a:p>
            <a:pPr>
              <a:lnSpc>
                <a:spcPts val="2880"/>
              </a:lnSpc>
            </a:pPr>
            <a:r>
              <a:rPr lang="en-US" sz="2320" dirty="0">
                <a:solidFill>
                  <a:srgbClr val="383838"/>
                </a:solidFill>
                <a:latin typeface="PT Serif" pitchFamily="34" charset="0"/>
                <a:ea typeface="PT Serif" pitchFamily="34" charset="-122"/>
                <a:cs typeface="PT Serif" pitchFamily="34" charset="-120"/>
              </a:rPr>
              <a:t>Layer 1–2: Low-Level Features</a:t>
            </a:r>
            <a:endParaRPr lang="en-US" sz="2320" dirty="0"/>
          </a:p>
        </p:txBody>
      </p:sp>
      <p:sp>
        <p:nvSpPr>
          <p:cNvPr id="10" name="Text 7"/>
          <p:cNvSpPr/>
          <p:nvPr/>
        </p:nvSpPr>
        <p:spPr>
          <a:xfrm>
            <a:off x="1020603" y="5800725"/>
            <a:ext cx="3742730" cy="1451610"/>
          </a:xfrm>
          <a:prstGeom prst="rect">
            <a:avLst/>
          </a:prstGeom>
          <a:noFill/>
          <a:ln/>
        </p:spPr>
        <p:txBody>
          <a:bodyPr wrap="square" lIns="0" tIns="0" rIns="0" bIns="0" rtlCol="0" anchor="t"/>
          <a:lstStyle/>
          <a:p>
            <a:pPr>
              <a:lnSpc>
                <a:spcPts val="2800"/>
              </a:lnSpc>
            </a:pPr>
            <a:r>
              <a:rPr lang="en-US" sz="1760" dirty="0">
                <a:solidFill>
                  <a:srgbClr val="383838"/>
                </a:solidFill>
                <a:latin typeface="DM Sans" pitchFamily="34" charset="0"/>
                <a:ea typeface="DM Sans" pitchFamily="34" charset="-122"/>
                <a:cs typeface="DM Sans" pitchFamily="34" charset="-120"/>
              </a:rPr>
              <a:t>Oriented edges, color gradients, blobs. Filters resemble Gabor wavelets — similar across many architectures.</a:t>
            </a:r>
            <a:endParaRPr lang="en-US" sz="1760" dirty="0"/>
          </a:p>
        </p:txBody>
      </p:sp>
      <p:sp>
        <p:nvSpPr>
          <p:cNvPr id="11" name="Shape 8"/>
          <p:cNvSpPr/>
          <p:nvPr/>
        </p:nvSpPr>
        <p:spPr>
          <a:xfrm>
            <a:off x="5557123" y="3899774"/>
            <a:ext cx="3856077" cy="226814"/>
          </a:xfrm>
          <a:prstGeom prst="roundRect">
            <a:avLst>
              <a:gd name="adj" fmla="val 15001"/>
            </a:avLst>
          </a:prstGeom>
          <a:solidFill>
            <a:srgbClr val="F2EEEE"/>
          </a:solidFill>
          <a:ln/>
        </p:spPr>
      </p:sp>
      <p:sp>
        <p:nvSpPr>
          <p:cNvPr id="12" name="Shape 9"/>
          <p:cNvSpPr/>
          <p:nvPr/>
        </p:nvSpPr>
        <p:spPr>
          <a:xfrm>
            <a:off x="5216961" y="3672899"/>
            <a:ext cx="680442" cy="680442"/>
          </a:xfrm>
          <a:prstGeom prst="roundRect">
            <a:avLst>
              <a:gd name="adj" fmla="val 67192"/>
            </a:avLst>
          </a:prstGeom>
          <a:solidFill>
            <a:srgbClr val="F2EEEE"/>
          </a:solidFill>
          <a:ln/>
        </p:spPr>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87103" y="3843041"/>
            <a:ext cx="340162" cy="340162"/>
          </a:xfrm>
          <a:prstGeom prst="rect">
            <a:avLst/>
          </a:prstGeom>
        </p:spPr>
      </p:pic>
      <p:sp>
        <p:nvSpPr>
          <p:cNvPr id="14" name="Text 10"/>
          <p:cNvSpPr/>
          <p:nvPr/>
        </p:nvSpPr>
        <p:spPr>
          <a:xfrm>
            <a:off x="5443776" y="4580216"/>
            <a:ext cx="3742730" cy="744141"/>
          </a:xfrm>
          <a:prstGeom prst="rect">
            <a:avLst/>
          </a:prstGeom>
          <a:noFill/>
          <a:ln/>
        </p:spPr>
        <p:txBody>
          <a:bodyPr wrap="square" lIns="0" tIns="0" rIns="0" bIns="0" rtlCol="0" anchor="t"/>
          <a:lstStyle/>
          <a:p>
            <a:pPr>
              <a:lnSpc>
                <a:spcPts val="2880"/>
              </a:lnSpc>
            </a:pPr>
            <a:r>
              <a:rPr lang="en-US" sz="2320" dirty="0">
                <a:solidFill>
                  <a:srgbClr val="383838"/>
                </a:solidFill>
                <a:latin typeface="PT Serif" pitchFamily="34" charset="0"/>
                <a:ea typeface="PT Serif" pitchFamily="34" charset="-122"/>
                <a:cs typeface="PT Serif" pitchFamily="34" charset="-120"/>
              </a:rPr>
              <a:t>Layer 3–4: Mid-Level Features</a:t>
            </a:r>
            <a:endParaRPr lang="en-US" sz="2320" dirty="0"/>
          </a:p>
        </p:txBody>
      </p:sp>
      <p:sp>
        <p:nvSpPr>
          <p:cNvPr id="15" name="Text 11"/>
          <p:cNvSpPr/>
          <p:nvPr/>
        </p:nvSpPr>
        <p:spPr>
          <a:xfrm>
            <a:off x="5443776" y="5460445"/>
            <a:ext cx="3742730" cy="1088707"/>
          </a:xfrm>
          <a:prstGeom prst="rect">
            <a:avLst/>
          </a:prstGeom>
          <a:noFill/>
          <a:ln/>
        </p:spPr>
        <p:txBody>
          <a:bodyPr wrap="square" lIns="0" tIns="0" rIns="0" bIns="0" rtlCol="0" anchor="t"/>
          <a:lstStyle/>
          <a:p>
            <a:pPr>
              <a:lnSpc>
                <a:spcPts val="2800"/>
              </a:lnSpc>
            </a:pPr>
            <a:r>
              <a:rPr lang="en-US" sz="1760" dirty="0">
                <a:solidFill>
                  <a:srgbClr val="383838"/>
                </a:solidFill>
                <a:latin typeface="DM Sans" pitchFamily="34" charset="0"/>
                <a:ea typeface="DM Sans" pitchFamily="34" charset="-122"/>
                <a:cs typeface="DM Sans" pitchFamily="34" charset="-120"/>
              </a:rPr>
              <a:t>Corners, curves, textures, and part-like structures. Combinations of low-level primitives.</a:t>
            </a:r>
            <a:endParaRPr lang="en-US" sz="1760" dirty="0"/>
          </a:p>
        </p:txBody>
      </p:sp>
      <p:sp>
        <p:nvSpPr>
          <p:cNvPr id="16" name="Shape 12"/>
          <p:cNvSpPr/>
          <p:nvPr/>
        </p:nvSpPr>
        <p:spPr>
          <a:xfrm>
            <a:off x="9980294" y="3559612"/>
            <a:ext cx="3856077" cy="226814"/>
          </a:xfrm>
          <a:prstGeom prst="roundRect">
            <a:avLst>
              <a:gd name="adj" fmla="val 15001"/>
            </a:avLst>
          </a:prstGeom>
          <a:solidFill>
            <a:srgbClr val="F2EEEE"/>
          </a:solidFill>
          <a:ln/>
        </p:spPr>
      </p:sp>
      <p:sp>
        <p:nvSpPr>
          <p:cNvPr id="17" name="Shape 13"/>
          <p:cNvSpPr/>
          <p:nvPr/>
        </p:nvSpPr>
        <p:spPr>
          <a:xfrm>
            <a:off x="9640133" y="3332737"/>
            <a:ext cx="680442" cy="680442"/>
          </a:xfrm>
          <a:prstGeom prst="roundRect">
            <a:avLst>
              <a:gd name="adj" fmla="val 67192"/>
            </a:avLst>
          </a:prstGeom>
          <a:solidFill>
            <a:srgbClr val="F2EEEE"/>
          </a:solidFill>
          <a:ln/>
        </p:spPr>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10274" y="3502879"/>
            <a:ext cx="340162" cy="340162"/>
          </a:xfrm>
          <a:prstGeom prst="rect">
            <a:avLst/>
          </a:prstGeom>
        </p:spPr>
      </p:pic>
      <p:sp>
        <p:nvSpPr>
          <p:cNvPr id="19" name="Text 14"/>
          <p:cNvSpPr/>
          <p:nvPr/>
        </p:nvSpPr>
        <p:spPr>
          <a:xfrm>
            <a:off x="9866947" y="4240054"/>
            <a:ext cx="3742730" cy="744141"/>
          </a:xfrm>
          <a:prstGeom prst="rect">
            <a:avLst/>
          </a:prstGeom>
          <a:noFill/>
          <a:ln/>
        </p:spPr>
        <p:txBody>
          <a:bodyPr wrap="square" lIns="0" tIns="0" rIns="0" bIns="0" rtlCol="0" anchor="t"/>
          <a:lstStyle/>
          <a:p>
            <a:pPr>
              <a:lnSpc>
                <a:spcPts val="2880"/>
              </a:lnSpc>
            </a:pPr>
            <a:r>
              <a:rPr lang="en-US" sz="2320" dirty="0">
                <a:solidFill>
                  <a:srgbClr val="383838"/>
                </a:solidFill>
                <a:latin typeface="PT Serif" pitchFamily="34" charset="0"/>
                <a:ea typeface="PT Serif" pitchFamily="34" charset="-122"/>
                <a:cs typeface="PT Serif" pitchFamily="34" charset="-120"/>
              </a:rPr>
              <a:t>Layer 5+: High-Level Features</a:t>
            </a:r>
            <a:endParaRPr lang="en-US" sz="2320" dirty="0"/>
          </a:p>
        </p:txBody>
      </p:sp>
      <p:sp>
        <p:nvSpPr>
          <p:cNvPr id="20" name="Text 15"/>
          <p:cNvSpPr/>
          <p:nvPr/>
        </p:nvSpPr>
        <p:spPr>
          <a:xfrm>
            <a:off x="9866947" y="5120283"/>
            <a:ext cx="3742730" cy="1088707"/>
          </a:xfrm>
          <a:prstGeom prst="rect">
            <a:avLst/>
          </a:prstGeom>
          <a:noFill/>
          <a:ln/>
        </p:spPr>
        <p:txBody>
          <a:bodyPr wrap="square" lIns="0" tIns="0" rIns="0" bIns="0" rtlCol="0" anchor="t"/>
          <a:lstStyle/>
          <a:p>
            <a:pPr>
              <a:lnSpc>
                <a:spcPts val="2800"/>
              </a:lnSpc>
            </a:pPr>
            <a:r>
              <a:rPr lang="en-US" sz="1760" dirty="0">
                <a:solidFill>
                  <a:srgbClr val="383838"/>
                </a:solidFill>
                <a:latin typeface="DM Sans" pitchFamily="34" charset="0"/>
                <a:ea typeface="DM Sans" pitchFamily="34" charset="-122"/>
                <a:cs typeface="DM Sans" pitchFamily="34" charset="-120"/>
              </a:rPr>
              <a:t>Semantic concepts — faces, wheels, text. Directly discriminative for the target classification task.</a:t>
            </a:r>
            <a:endParaRPr lang="en-US" sz="1760" dirty="0"/>
          </a:p>
        </p:txBody>
      </p:sp>
    </p:spTree>
    <p:extLst>
      <p:ext uri="{BB962C8B-B14F-4D97-AF65-F5344CB8AC3E}">
        <p14:creationId xmlns:p14="http://schemas.microsoft.com/office/powerpoint/2010/main" val="3351377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4" name="Text 2"/>
          <p:cNvSpPr/>
          <p:nvPr/>
        </p:nvSpPr>
        <p:spPr>
          <a:xfrm>
            <a:off x="685681" y="947618"/>
            <a:ext cx="4500086" cy="562570"/>
          </a:xfrm>
          <a:prstGeom prst="rect">
            <a:avLst/>
          </a:prstGeom>
          <a:noFill/>
          <a:ln/>
        </p:spPr>
        <p:txBody>
          <a:bodyPr wrap="none" lIns="0" tIns="0" rIns="0" bIns="0" rtlCol="0" anchor="t"/>
          <a:lstStyle/>
          <a:p>
            <a:pPr marL="0" indent="0" algn="l">
              <a:lnSpc>
                <a:spcPts val="4400"/>
              </a:lnSpc>
              <a:buNone/>
            </a:pPr>
            <a:r>
              <a:rPr lang="en-US" sz="3500" dirty="0">
                <a:solidFill>
                  <a:srgbClr val="020202"/>
                </a:solidFill>
                <a:latin typeface="PT Serif" pitchFamily="34" charset="0"/>
                <a:ea typeface="PT Serif" pitchFamily="34" charset="-122"/>
                <a:cs typeface="PT Serif" pitchFamily="34" charset="-120"/>
              </a:rPr>
              <a:t>The CNN Pipeline</a:t>
            </a:r>
            <a:endParaRPr lang="en-US" sz="3500" dirty="0"/>
          </a:p>
        </p:txBody>
      </p:sp>
      <p:sp>
        <p:nvSpPr>
          <p:cNvPr id="5" name="Text 3"/>
          <p:cNvSpPr/>
          <p:nvPr/>
        </p:nvSpPr>
        <p:spPr>
          <a:xfrm>
            <a:off x="685681" y="1732240"/>
            <a:ext cx="13259038" cy="255627"/>
          </a:xfrm>
          <a:prstGeom prst="rect">
            <a:avLst/>
          </a:prstGeom>
          <a:noFill/>
          <a:ln/>
        </p:spPr>
        <p:txBody>
          <a:bodyPr wrap="none" lIns="0" tIns="0" rIns="0" bIns="0" rtlCol="0" anchor="t"/>
          <a:lstStyle/>
          <a:p>
            <a:pPr marL="0" indent="0" algn="l">
              <a:lnSpc>
                <a:spcPts val="2000"/>
              </a:lnSpc>
              <a:buNone/>
            </a:pPr>
            <a:r>
              <a:rPr lang="en-US" sz="1700" dirty="0">
                <a:solidFill>
                  <a:srgbClr val="383838"/>
                </a:solidFill>
                <a:latin typeface="DM Sans" pitchFamily="34" charset="0"/>
                <a:ea typeface="DM Sans" pitchFamily="34" charset="-122"/>
                <a:cs typeface="DM Sans" pitchFamily="34" charset="-120"/>
              </a:rPr>
              <a:t>A CNN transforms a raw image into a class prediction through a series of structured operations. Each stage progressively learns </a:t>
            </a:r>
          </a:p>
          <a:p>
            <a:pPr marL="0" indent="0" algn="l">
              <a:lnSpc>
                <a:spcPts val="2000"/>
              </a:lnSpc>
              <a:buNone/>
            </a:pPr>
            <a:r>
              <a:rPr lang="en-US" sz="1700" b="1" dirty="0">
                <a:solidFill>
                  <a:srgbClr val="383838"/>
                </a:solidFill>
                <a:latin typeface="DM Sans" pitchFamily="34" charset="0"/>
                <a:ea typeface="DM Sans" pitchFamily="34" charset="-122"/>
                <a:cs typeface="DM Sans" pitchFamily="34" charset="-120"/>
              </a:rPr>
              <a:t>more complex and abstract features</a:t>
            </a:r>
            <a:r>
              <a:rPr lang="en-US" sz="1700" dirty="0">
                <a:solidFill>
                  <a:srgbClr val="383838"/>
                </a:solidFill>
                <a:latin typeface="DM Sans" pitchFamily="34" charset="0"/>
                <a:ea typeface="DM Sans" pitchFamily="34" charset="-122"/>
                <a:cs typeface="DM Sans" pitchFamily="34" charset="-120"/>
              </a:rPr>
              <a:t>.</a:t>
            </a:r>
            <a:endParaRPr lang="en-US" sz="1700" dirty="0"/>
          </a:p>
        </p:txBody>
      </p:sp>
      <p:pic>
        <p:nvPicPr>
          <p:cNvPr id="6" name="Image 0" descr="preencoded.png"/>
          <p:cNvPicPr>
            <a:picLocks noChangeAspect="1"/>
          </p:cNvPicPr>
          <p:nvPr/>
        </p:nvPicPr>
        <p:blipFill>
          <a:blip r:embed="rId3"/>
          <a:stretch>
            <a:fillRect/>
          </a:stretch>
        </p:blipFill>
        <p:spPr>
          <a:xfrm>
            <a:off x="897969" y="2154436"/>
            <a:ext cx="12834342" cy="4815959"/>
          </a:xfrm>
          <a:prstGeom prst="rect">
            <a:avLst/>
          </a:prstGeom>
        </p:spPr>
      </p:pic>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858568" y="3381147"/>
            <a:ext cx="662935" cy="662935"/>
          </a:xfrm>
          <a:prstGeom prst="rect">
            <a:avLst/>
          </a:prstGeom>
        </p:spPr>
      </p:pic>
      <p:sp>
        <p:nvSpPr>
          <p:cNvPr id="8" name="Text 4"/>
          <p:cNvSpPr/>
          <p:nvPr/>
        </p:nvSpPr>
        <p:spPr>
          <a:xfrm>
            <a:off x="11267934" y="5596181"/>
            <a:ext cx="1935772" cy="783093"/>
          </a:xfrm>
          <a:prstGeom prst="rect">
            <a:avLst/>
          </a:prstGeom>
          <a:noFill/>
          <a:ln/>
        </p:spPr>
        <p:txBody>
          <a:bodyPr wrap="square" lIns="0" tIns="0" rIns="0" bIns="0" rtlCol="0" anchor="t"/>
          <a:lstStyle/>
          <a:p>
            <a:pPr marL="0" indent="0" algn="ctr">
              <a:lnSpc>
                <a:spcPts val="3050"/>
              </a:lnSpc>
              <a:buNone/>
            </a:pPr>
            <a:r>
              <a:rPr lang="en-US" sz="2450" dirty="0">
                <a:solidFill>
                  <a:srgbClr val="383838"/>
                </a:solidFill>
                <a:latin typeface="DM Sans" pitchFamily="2" charset="0"/>
                <a:ea typeface="PT Serif" pitchFamily="34" charset="-122"/>
                <a:cs typeface="PT Serif" pitchFamily="34" charset="-120"/>
              </a:rPr>
              <a:t>Fully Connected</a:t>
            </a:r>
            <a:endParaRPr lang="en-US" sz="2450" dirty="0">
              <a:latin typeface="DM Sans" pitchFamily="2" charset="0"/>
            </a:endParaRPr>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31602" y="3382390"/>
            <a:ext cx="662936" cy="662936"/>
          </a:xfrm>
          <a:prstGeom prst="rect">
            <a:avLst/>
          </a:prstGeom>
        </p:spPr>
      </p:pic>
      <p:sp>
        <p:nvSpPr>
          <p:cNvPr id="10" name="Text 5"/>
          <p:cNvSpPr/>
          <p:nvPr/>
        </p:nvSpPr>
        <p:spPr>
          <a:xfrm>
            <a:off x="8828331" y="5791954"/>
            <a:ext cx="1935772" cy="391546"/>
          </a:xfrm>
          <a:prstGeom prst="rect">
            <a:avLst/>
          </a:prstGeom>
          <a:noFill/>
          <a:ln/>
        </p:spPr>
        <p:txBody>
          <a:bodyPr wrap="none" lIns="0" tIns="0" rIns="0" bIns="0" rtlCol="0" anchor="t"/>
          <a:lstStyle/>
          <a:p>
            <a:pPr marL="0" indent="0" algn="ctr">
              <a:lnSpc>
                <a:spcPts val="3050"/>
              </a:lnSpc>
              <a:buNone/>
            </a:pPr>
            <a:r>
              <a:rPr lang="en-US" sz="2450" dirty="0">
                <a:solidFill>
                  <a:srgbClr val="383838"/>
                </a:solidFill>
                <a:latin typeface="DM Sans" pitchFamily="2" charset="0"/>
                <a:ea typeface="PT Serif" pitchFamily="34" charset="-122"/>
                <a:cs typeface="PT Serif" pitchFamily="34" charset="-120"/>
              </a:rPr>
              <a:t>Pooling</a:t>
            </a:r>
            <a:endParaRPr lang="en-US" sz="2450" dirty="0">
              <a:latin typeface="DM Sans" pitchFamily="2" charset="0"/>
            </a:endParaRPr>
          </a:p>
        </p:txBody>
      </p:sp>
      <p:pic>
        <p:nvPicPr>
          <p:cNvPr id="1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05258" y="3382390"/>
            <a:ext cx="662935" cy="662936"/>
          </a:xfrm>
          <a:prstGeom prst="rect">
            <a:avLst/>
          </a:prstGeom>
        </p:spPr>
      </p:pic>
      <p:sp>
        <p:nvSpPr>
          <p:cNvPr id="12" name="Text 6"/>
          <p:cNvSpPr/>
          <p:nvPr/>
        </p:nvSpPr>
        <p:spPr>
          <a:xfrm>
            <a:off x="6401986" y="5791954"/>
            <a:ext cx="1935773" cy="391546"/>
          </a:xfrm>
          <a:prstGeom prst="rect">
            <a:avLst/>
          </a:prstGeom>
          <a:noFill/>
          <a:ln/>
        </p:spPr>
        <p:txBody>
          <a:bodyPr wrap="none" lIns="0" tIns="0" rIns="0" bIns="0" rtlCol="0" anchor="t"/>
          <a:lstStyle/>
          <a:p>
            <a:pPr marL="0" indent="0" algn="ctr">
              <a:lnSpc>
                <a:spcPts val="3050"/>
              </a:lnSpc>
              <a:buNone/>
            </a:pPr>
            <a:r>
              <a:rPr lang="en-US" sz="2450" dirty="0">
                <a:solidFill>
                  <a:srgbClr val="383838"/>
                </a:solidFill>
                <a:latin typeface="DM Sans" pitchFamily="2" charset="0"/>
                <a:ea typeface="PT Serif" pitchFamily="34" charset="-122"/>
                <a:cs typeface="PT Serif" pitchFamily="34" charset="-120"/>
              </a:rPr>
              <a:t>ReLU</a:t>
            </a:r>
            <a:endParaRPr lang="en-US" sz="2450" dirty="0">
              <a:latin typeface="DM Sans" pitchFamily="2" charset="0"/>
            </a:endParaRPr>
          </a:p>
        </p:txBody>
      </p:sp>
      <p:pic>
        <p:nvPicPr>
          <p:cNvPr id="1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578914" y="3382390"/>
            <a:ext cx="662935" cy="662936"/>
          </a:xfrm>
          <a:prstGeom prst="rect">
            <a:avLst/>
          </a:prstGeom>
        </p:spPr>
      </p:pic>
      <p:sp>
        <p:nvSpPr>
          <p:cNvPr id="14" name="Text 7"/>
          <p:cNvSpPr/>
          <p:nvPr/>
        </p:nvSpPr>
        <p:spPr>
          <a:xfrm>
            <a:off x="3975642" y="5791954"/>
            <a:ext cx="1935772" cy="391546"/>
          </a:xfrm>
          <a:prstGeom prst="rect">
            <a:avLst/>
          </a:prstGeom>
          <a:noFill/>
          <a:ln/>
        </p:spPr>
        <p:txBody>
          <a:bodyPr wrap="none" lIns="0" tIns="0" rIns="0" bIns="0" rtlCol="0" anchor="t"/>
          <a:lstStyle/>
          <a:p>
            <a:pPr marL="0" indent="0" algn="ctr">
              <a:lnSpc>
                <a:spcPts val="3050"/>
              </a:lnSpc>
              <a:buNone/>
            </a:pPr>
            <a:r>
              <a:rPr lang="en-US" sz="2450" dirty="0">
                <a:solidFill>
                  <a:srgbClr val="383838"/>
                </a:solidFill>
                <a:latin typeface="DM Sans" pitchFamily="2" charset="0"/>
                <a:ea typeface="PT Serif" pitchFamily="34" charset="-122"/>
                <a:cs typeface="PT Serif" pitchFamily="34" charset="-120"/>
              </a:rPr>
              <a:t>Convolution</a:t>
            </a:r>
            <a:endParaRPr lang="en-US" sz="2450" dirty="0">
              <a:latin typeface="DM Sans" pitchFamily="2" charset="0"/>
            </a:endParaRPr>
          </a:p>
        </p:txBody>
      </p:sp>
      <p:pic>
        <p:nvPicPr>
          <p:cNvPr id="1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139310" y="3382390"/>
            <a:ext cx="662936" cy="662936"/>
          </a:xfrm>
          <a:prstGeom prst="rect">
            <a:avLst/>
          </a:prstGeom>
        </p:spPr>
      </p:pic>
      <p:sp>
        <p:nvSpPr>
          <p:cNvPr id="16" name="Text 8"/>
          <p:cNvSpPr/>
          <p:nvPr/>
        </p:nvSpPr>
        <p:spPr>
          <a:xfrm>
            <a:off x="1496263" y="5791954"/>
            <a:ext cx="1935772" cy="391546"/>
          </a:xfrm>
          <a:prstGeom prst="rect">
            <a:avLst/>
          </a:prstGeom>
          <a:noFill/>
          <a:ln/>
        </p:spPr>
        <p:txBody>
          <a:bodyPr wrap="none" lIns="0" tIns="0" rIns="0" bIns="0" rtlCol="0" anchor="t"/>
          <a:lstStyle/>
          <a:p>
            <a:pPr marL="0" indent="0" algn="ctr">
              <a:lnSpc>
                <a:spcPts val="3050"/>
              </a:lnSpc>
              <a:buNone/>
            </a:pPr>
            <a:r>
              <a:rPr lang="en-US" sz="2450" dirty="0">
                <a:solidFill>
                  <a:srgbClr val="383838"/>
                </a:solidFill>
                <a:latin typeface="DM Sans" pitchFamily="2" charset="0"/>
                <a:ea typeface="PT Serif" pitchFamily="34" charset="-122"/>
                <a:cs typeface="PT Serif" pitchFamily="34" charset="-120"/>
              </a:rPr>
              <a:t>Input Image</a:t>
            </a:r>
            <a:endParaRPr lang="en-US" sz="2450" dirty="0">
              <a:latin typeface="DM Sans" pitchFamily="2" charset="0"/>
            </a:endParaRPr>
          </a:p>
        </p:txBody>
      </p:sp>
      <p:sp>
        <p:nvSpPr>
          <p:cNvPr id="17" name="Text 9"/>
          <p:cNvSpPr/>
          <p:nvPr/>
        </p:nvSpPr>
        <p:spPr>
          <a:xfrm>
            <a:off x="685681" y="6754701"/>
            <a:ext cx="13259038" cy="511254"/>
          </a:xfrm>
          <a:prstGeom prst="rect">
            <a:avLst/>
          </a:prstGeom>
          <a:noFill/>
          <a:ln/>
        </p:spPr>
        <p:txBody>
          <a:bodyPr wrap="square" lIns="0" tIns="0" rIns="0" bIns="0" rtlCol="0" anchor="t"/>
          <a:lstStyle/>
          <a:p>
            <a:pPr marL="0" indent="0" algn="l">
              <a:lnSpc>
                <a:spcPts val="2000"/>
              </a:lnSpc>
              <a:buNone/>
            </a:pPr>
            <a:r>
              <a:rPr lang="en-US" dirty="0">
                <a:solidFill>
                  <a:srgbClr val="383838"/>
                </a:solidFill>
                <a:latin typeface="DM Sans" pitchFamily="34" charset="0"/>
                <a:ea typeface="DM Sans" pitchFamily="34" charset="-122"/>
                <a:cs typeface="DM Sans" pitchFamily="34" charset="-120"/>
              </a:rPr>
              <a:t>This end-to-end pipeline enables the network to go from raw pixel values to confident class probabilities, with each intermediate stage building upon the representations learned by previous layers.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93791" y="889515"/>
            <a:ext cx="1772603" cy="426243"/>
          </a:xfrm>
          <a:prstGeom prst="roundRect">
            <a:avLst>
              <a:gd name="adj" fmla="val 6386"/>
            </a:avLst>
          </a:prstGeom>
          <a:solidFill>
            <a:srgbClr val="FFDECC"/>
          </a:solidFill>
          <a:ln/>
        </p:spPr>
      </p:sp>
      <p:sp>
        <p:nvSpPr>
          <p:cNvPr id="3" name="Text 1"/>
          <p:cNvSpPr/>
          <p:nvPr/>
        </p:nvSpPr>
        <p:spPr>
          <a:xfrm>
            <a:off x="929878" y="957501"/>
            <a:ext cx="1500426" cy="290274"/>
          </a:xfrm>
          <a:prstGeom prst="rect">
            <a:avLst/>
          </a:prstGeom>
          <a:noFill/>
          <a:ln/>
        </p:spPr>
        <p:txBody>
          <a:bodyPr wrap="none" lIns="0" tIns="0" rIns="0" bIns="0" rtlCol="0" anchor="t"/>
          <a:lstStyle/>
          <a:p>
            <a:pPr>
              <a:lnSpc>
                <a:spcPts val="2240"/>
              </a:lnSpc>
            </a:pPr>
            <a:r>
              <a:rPr lang="en-US" sz="1360" dirty="0">
                <a:solidFill>
                  <a:srgbClr val="383838"/>
                </a:solidFill>
                <a:latin typeface="DM Sans" pitchFamily="34" charset="0"/>
                <a:ea typeface="DM Sans" pitchFamily="34" charset="-122"/>
                <a:cs typeface="DM Sans" pitchFamily="34" charset="-120"/>
              </a:rPr>
              <a:t>CORE OPERATION</a:t>
            </a:r>
            <a:endParaRPr lang="en-US" sz="1360" dirty="0"/>
          </a:p>
        </p:txBody>
      </p:sp>
      <p:sp>
        <p:nvSpPr>
          <p:cNvPr id="4" name="Text 2"/>
          <p:cNvSpPr/>
          <p:nvPr/>
        </p:nvSpPr>
        <p:spPr>
          <a:xfrm>
            <a:off x="793791" y="1406485"/>
            <a:ext cx="7271742" cy="744259"/>
          </a:xfrm>
          <a:prstGeom prst="rect">
            <a:avLst/>
          </a:prstGeom>
          <a:noFill/>
          <a:ln/>
        </p:spPr>
        <p:txBody>
          <a:bodyPr wrap="none" lIns="0" tIns="0" rIns="0" bIns="0" rtlCol="0" anchor="t"/>
          <a:lstStyle/>
          <a:p>
            <a:pPr>
              <a:lnSpc>
                <a:spcPts val="5840"/>
              </a:lnSpc>
            </a:pPr>
            <a:r>
              <a:rPr lang="en-US" sz="4640" dirty="0">
                <a:solidFill>
                  <a:srgbClr val="020202"/>
                </a:solidFill>
                <a:latin typeface="PT Serif" pitchFamily="34" charset="0"/>
                <a:ea typeface="PT Serif" pitchFamily="34" charset="-122"/>
                <a:cs typeface="PT Serif" pitchFamily="34" charset="-120"/>
              </a:rPr>
              <a:t>The Convolution Operation</a:t>
            </a:r>
            <a:endParaRPr lang="en-US" sz="4640" dirty="0"/>
          </a:p>
        </p:txBody>
      </p:sp>
      <p:sp>
        <p:nvSpPr>
          <p:cNvPr id="5" name="Text 3"/>
          <p:cNvSpPr/>
          <p:nvPr/>
        </p:nvSpPr>
        <p:spPr>
          <a:xfrm>
            <a:off x="793791" y="2717720"/>
            <a:ext cx="2977038" cy="372070"/>
          </a:xfrm>
          <a:prstGeom prst="rect">
            <a:avLst/>
          </a:prstGeom>
          <a:noFill/>
          <a:ln/>
        </p:spPr>
        <p:txBody>
          <a:bodyPr wrap="none" lIns="0" tIns="0" rIns="0" bIns="0" rtlCol="0" anchor="t"/>
          <a:lstStyle/>
          <a:p>
            <a:pPr>
              <a:lnSpc>
                <a:spcPts val="2880"/>
              </a:lnSpc>
            </a:pPr>
            <a:r>
              <a:rPr lang="en-US" sz="2320" dirty="0">
                <a:solidFill>
                  <a:srgbClr val="020202"/>
                </a:solidFill>
                <a:latin typeface="PT Serif" pitchFamily="34" charset="0"/>
                <a:ea typeface="PT Serif" pitchFamily="34" charset="-122"/>
                <a:cs typeface="PT Serif" pitchFamily="34" charset="-120"/>
              </a:rPr>
              <a:t>How It Works</a:t>
            </a:r>
            <a:endParaRPr lang="en-US" sz="2320" dirty="0"/>
          </a:p>
        </p:txBody>
      </p:sp>
      <p:sp>
        <p:nvSpPr>
          <p:cNvPr id="6" name="Text 4"/>
          <p:cNvSpPr/>
          <p:nvPr/>
        </p:nvSpPr>
        <p:spPr>
          <a:xfrm>
            <a:off x="793791" y="3316605"/>
            <a:ext cx="6244709" cy="1451610"/>
          </a:xfrm>
          <a:prstGeom prst="rect">
            <a:avLst/>
          </a:prstGeom>
          <a:noFill/>
          <a:ln/>
        </p:spPr>
        <p:txBody>
          <a:bodyPr wrap="square" lIns="0" tIns="0" rIns="0" bIns="0" rtlCol="0" anchor="t"/>
          <a:lstStyle/>
          <a:p>
            <a:pPr>
              <a:lnSpc>
                <a:spcPts val="2800"/>
              </a:lnSpc>
            </a:pPr>
            <a:r>
              <a:rPr lang="en-US" sz="1760" dirty="0">
                <a:solidFill>
                  <a:srgbClr val="383838"/>
                </a:solidFill>
                <a:latin typeface="DM Sans" pitchFamily="34" charset="0"/>
                <a:ea typeface="DM Sans" pitchFamily="34" charset="-122"/>
                <a:cs typeface="DM Sans" pitchFamily="34" charset="-120"/>
              </a:rPr>
              <a:t>A small </a:t>
            </a:r>
            <a:r>
              <a:rPr lang="en-US" sz="1760" b="1" dirty="0">
                <a:solidFill>
                  <a:srgbClr val="383838"/>
                </a:solidFill>
                <a:latin typeface="DM Sans" pitchFamily="34" charset="0"/>
                <a:ea typeface="DM Sans" pitchFamily="34" charset="-122"/>
                <a:cs typeface="DM Sans" pitchFamily="34" charset="-120"/>
              </a:rPr>
              <a:t>learnable filter (kernel)</a:t>
            </a:r>
            <a:r>
              <a:rPr lang="en-US" sz="1760" dirty="0">
                <a:solidFill>
                  <a:srgbClr val="383838"/>
                </a:solidFill>
                <a:latin typeface="DM Sans" pitchFamily="34" charset="0"/>
                <a:ea typeface="DM Sans" pitchFamily="34" charset="-122"/>
                <a:cs typeface="DM Sans" pitchFamily="34" charset="-120"/>
              </a:rPr>
              <a:t> slides across the input feature map. At each position, it computes the dot product between the kernel weights and the local patch of input values, producing a single scalar in the output feature map.</a:t>
            </a:r>
            <a:endParaRPr lang="en-US" sz="1760" dirty="0"/>
          </a:p>
        </p:txBody>
      </p:sp>
      <p:sp>
        <p:nvSpPr>
          <p:cNvPr id="7" name="Shape 5"/>
          <p:cNvSpPr/>
          <p:nvPr/>
        </p:nvSpPr>
        <p:spPr>
          <a:xfrm>
            <a:off x="793791" y="5023366"/>
            <a:ext cx="6244709" cy="1689616"/>
          </a:xfrm>
          <a:prstGeom prst="roundRect">
            <a:avLst>
              <a:gd name="adj" fmla="val 2014"/>
            </a:avLst>
          </a:prstGeom>
          <a:solidFill>
            <a:srgbClr val="B6D6FC"/>
          </a:solidFill>
          <a:ln/>
        </p:spPr>
      </p:sp>
      <p:pic>
        <p:nvPicPr>
          <p:cNvPr id="8" name="Image 0" descr="preencoded.png"/>
          <p:cNvPicPr>
            <a:picLocks noChangeAspect="1"/>
          </p:cNvPicPr>
          <p:nvPr/>
        </p:nvPicPr>
        <p:blipFill>
          <a:blip r:embed="rId3"/>
          <a:stretch>
            <a:fillRect/>
          </a:stretch>
        </p:blipFill>
        <p:spPr>
          <a:xfrm>
            <a:off x="1020603" y="5367457"/>
            <a:ext cx="283488" cy="226814"/>
          </a:xfrm>
          <a:prstGeom prst="rect">
            <a:avLst/>
          </a:prstGeom>
        </p:spPr>
      </p:pic>
      <p:sp>
        <p:nvSpPr>
          <p:cNvPr id="9" name="Text 6"/>
          <p:cNvSpPr/>
          <p:nvPr/>
        </p:nvSpPr>
        <p:spPr>
          <a:xfrm>
            <a:off x="1530907" y="5306855"/>
            <a:ext cx="5280779" cy="1088707"/>
          </a:xfrm>
          <a:prstGeom prst="rect">
            <a:avLst/>
          </a:prstGeom>
          <a:noFill/>
          <a:ln/>
        </p:spPr>
        <p:txBody>
          <a:bodyPr wrap="square" lIns="0" tIns="0" rIns="0" bIns="0" rtlCol="0" anchor="t"/>
          <a:lstStyle/>
          <a:p>
            <a:pPr>
              <a:lnSpc>
                <a:spcPts val="2800"/>
              </a:lnSpc>
            </a:pPr>
            <a:r>
              <a:rPr lang="en-US" sz="1760" dirty="0">
                <a:solidFill>
                  <a:srgbClr val="000000"/>
                </a:solidFill>
                <a:latin typeface="DM Sans" pitchFamily="34" charset="0"/>
                <a:ea typeface="DM Sans" pitchFamily="34" charset="-122"/>
                <a:cs typeface="DM Sans" pitchFamily="34" charset="-120"/>
              </a:rPr>
              <a:t>The filter weights are </a:t>
            </a:r>
            <a:r>
              <a:rPr lang="en-US" sz="1760" b="1" dirty="0">
                <a:solidFill>
                  <a:srgbClr val="000000"/>
                </a:solidFill>
                <a:latin typeface="DM Sans" pitchFamily="34" charset="0"/>
                <a:ea typeface="DM Sans" pitchFamily="34" charset="-122"/>
                <a:cs typeface="DM Sans" pitchFamily="34" charset="-120"/>
              </a:rPr>
              <a:t>shared</a:t>
            </a:r>
            <a:r>
              <a:rPr lang="en-US" sz="1760" dirty="0">
                <a:solidFill>
                  <a:srgbClr val="000000"/>
                </a:solidFill>
                <a:latin typeface="DM Sans" pitchFamily="34" charset="0"/>
                <a:ea typeface="DM Sans" pitchFamily="34" charset="-122"/>
                <a:cs typeface="DM Sans" pitchFamily="34" charset="-120"/>
              </a:rPr>
              <a:t> across all spatial positions — this is what gives CNNs their parameter efficiency and translation invariance.</a:t>
            </a:r>
            <a:endParaRPr lang="en-US" sz="1760" dirty="0"/>
          </a:p>
        </p:txBody>
      </p:sp>
      <p:sp>
        <p:nvSpPr>
          <p:cNvPr id="10" name="Text 7"/>
          <p:cNvSpPr/>
          <p:nvPr/>
        </p:nvSpPr>
        <p:spPr>
          <a:xfrm>
            <a:off x="7599522" y="2717720"/>
            <a:ext cx="3671293" cy="372070"/>
          </a:xfrm>
          <a:prstGeom prst="rect">
            <a:avLst/>
          </a:prstGeom>
          <a:noFill/>
          <a:ln/>
        </p:spPr>
        <p:txBody>
          <a:bodyPr wrap="none" lIns="0" tIns="0" rIns="0" bIns="0" rtlCol="0" anchor="t"/>
          <a:lstStyle/>
          <a:p>
            <a:pPr>
              <a:lnSpc>
                <a:spcPts val="2880"/>
              </a:lnSpc>
            </a:pPr>
            <a:r>
              <a:rPr lang="en-US" sz="2320" dirty="0">
                <a:solidFill>
                  <a:srgbClr val="020202"/>
                </a:solidFill>
                <a:latin typeface="PT Serif" pitchFamily="34" charset="0"/>
                <a:ea typeface="PT Serif" pitchFamily="34" charset="-122"/>
                <a:cs typeface="PT Serif" pitchFamily="34" charset="-120"/>
              </a:rPr>
              <a:t>Element-Wise Computation</a:t>
            </a:r>
            <a:endParaRPr lang="en-US" sz="2320" dirty="0"/>
          </a:p>
        </p:txBody>
      </p:sp>
      <p:sp>
        <p:nvSpPr>
          <p:cNvPr id="11" name="Text 8"/>
          <p:cNvSpPr/>
          <p:nvPr/>
        </p:nvSpPr>
        <p:spPr>
          <a:xfrm>
            <a:off x="7599522" y="3376851"/>
            <a:ext cx="6244709" cy="1351360"/>
          </a:xfrm>
          <a:prstGeom prst="rect">
            <a:avLst/>
          </a:prstGeom>
          <a:noFill/>
          <a:ln/>
        </p:spPr>
        <p:txBody>
          <a:bodyPr wrap="square" lIns="0" tIns="0" rIns="0" bIns="0" rtlCol="0" anchor="t"/>
          <a:lstStyle/>
          <a:p>
            <a:pPr>
              <a:lnSpc>
                <a:spcPts val="3200"/>
              </a:lnSpc>
            </a:pPr>
            <a:endParaRPr lang="en-US" sz="2000" dirty="0"/>
          </a:p>
        </p:txBody>
      </p:sp>
      <p:pic>
        <p:nvPicPr>
          <p:cNvPr id="12" name="Image 1" descr="preencoded.png"/>
          <p:cNvPicPr>
            <a:picLocks noChangeAspect="1"/>
          </p:cNvPicPr>
          <p:nvPr/>
        </p:nvPicPr>
        <p:blipFill>
          <a:blip r:embed="rId4"/>
          <a:stretch>
            <a:fillRect/>
          </a:stretch>
        </p:blipFill>
        <p:spPr>
          <a:xfrm>
            <a:off x="7599522" y="3376851"/>
            <a:ext cx="6244709" cy="1351360"/>
          </a:xfrm>
          <a:prstGeom prst="rect">
            <a:avLst/>
          </a:prstGeom>
        </p:spPr>
      </p:pic>
      <p:sp>
        <p:nvSpPr>
          <p:cNvPr id="13" name="Text 9"/>
          <p:cNvSpPr/>
          <p:nvPr/>
        </p:nvSpPr>
        <p:spPr>
          <a:xfrm>
            <a:off x="7599522" y="5015271"/>
            <a:ext cx="6244709" cy="1088707"/>
          </a:xfrm>
          <a:prstGeom prst="rect">
            <a:avLst/>
          </a:prstGeom>
          <a:noFill/>
          <a:ln/>
        </p:spPr>
        <p:txBody>
          <a:bodyPr wrap="square" lIns="0" tIns="0" rIns="0" bIns="0" rtlCol="0" anchor="t"/>
          <a:lstStyle/>
          <a:p>
            <a:pPr>
              <a:lnSpc>
                <a:spcPts val="2800"/>
              </a:lnSpc>
            </a:pPr>
            <a:r>
              <a:rPr lang="en-US" sz="1760" dirty="0">
                <a:solidFill>
                  <a:srgbClr val="383838"/>
                </a:solidFill>
                <a:latin typeface="DM Sans" pitchFamily="34" charset="0"/>
                <a:ea typeface="DM Sans" pitchFamily="34" charset="-122"/>
                <a:cs typeface="DM Sans" pitchFamily="34" charset="-120"/>
              </a:rPr>
              <a:t>Where </a:t>
            </a:r>
            <a:r>
              <a:rPr lang="en-US" sz="1760" b="1" dirty="0">
                <a:solidFill>
                  <a:srgbClr val="383838"/>
                </a:solidFill>
                <a:latin typeface="DM Sans" pitchFamily="34" charset="0"/>
                <a:ea typeface="DM Sans" pitchFamily="34" charset="-122"/>
                <a:cs typeface="DM Sans" pitchFamily="34" charset="-120"/>
              </a:rPr>
              <a:t>K</a:t>
            </a:r>
            <a:r>
              <a:rPr lang="en-US" sz="1760" dirty="0">
                <a:solidFill>
                  <a:srgbClr val="383838"/>
                </a:solidFill>
                <a:latin typeface="DM Sans" pitchFamily="34" charset="0"/>
                <a:ea typeface="DM Sans" pitchFamily="34" charset="-122"/>
                <a:cs typeface="DM Sans" pitchFamily="34" charset="-120"/>
              </a:rPr>
              <a:t> is the kernel, </a:t>
            </a:r>
            <a:r>
              <a:rPr lang="en-US" sz="1760" b="1" dirty="0">
                <a:solidFill>
                  <a:srgbClr val="383838"/>
                </a:solidFill>
                <a:latin typeface="DM Sans" pitchFamily="34" charset="0"/>
                <a:ea typeface="DM Sans" pitchFamily="34" charset="-122"/>
                <a:cs typeface="DM Sans" pitchFamily="34" charset="-120"/>
              </a:rPr>
              <a:t>I</a:t>
            </a:r>
            <a:r>
              <a:rPr lang="en-US" sz="1760" dirty="0">
                <a:solidFill>
                  <a:srgbClr val="383838"/>
                </a:solidFill>
                <a:latin typeface="DM Sans" pitchFamily="34" charset="0"/>
                <a:ea typeface="DM Sans" pitchFamily="34" charset="-122"/>
                <a:cs typeface="DM Sans" pitchFamily="34" charset="-120"/>
              </a:rPr>
              <a:t> is the input, and </a:t>
            </a:r>
            <a:r>
              <a:rPr lang="en-US" sz="1760" b="1" dirty="0">
                <a:solidFill>
                  <a:srgbClr val="383838"/>
                </a:solidFill>
                <a:latin typeface="DM Sans" pitchFamily="34" charset="0"/>
                <a:ea typeface="DM Sans" pitchFamily="34" charset="-122"/>
                <a:cs typeface="DM Sans" pitchFamily="34" charset="-120"/>
              </a:rPr>
              <a:t>k</a:t>
            </a:r>
            <a:r>
              <a:rPr lang="en-US" sz="1760" dirty="0">
                <a:solidFill>
                  <a:srgbClr val="383838"/>
                </a:solidFill>
                <a:latin typeface="DM Sans" pitchFamily="34" charset="0"/>
                <a:ea typeface="DM Sans" pitchFamily="34" charset="-122"/>
                <a:cs typeface="DM Sans" pitchFamily="34" charset="-120"/>
              </a:rPr>
              <a:t> is the kernel size. For a 3×3 kernel, 9 multiply-accumulate operations produce each output value.</a:t>
            </a:r>
            <a:endParaRPr lang="en-US" sz="1760" dirty="0"/>
          </a:p>
        </p:txBody>
      </p:sp>
      <p:sp>
        <p:nvSpPr>
          <p:cNvPr id="14" name="Text 10"/>
          <p:cNvSpPr/>
          <p:nvPr/>
        </p:nvSpPr>
        <p:spPr>
          <a:xfrm>
            <a:off x="7939683" y="6359128"/>
            <a:ext cx="5904547" cy="725805"/>
          </a:xfrm>
          <a:prstGeom prst="rect">
            <a:avLst/>
          </a:prstGeom>
          <a:noFill/>
          <a:ln/>
        </p:spPr>
        <p:txBody>
          <a:bodyPr wrap="square" lIns="0" tIns="0" rIns="0" bIns="0" rtlCol="0" anchor="t"/>
          <a:lstStyle/>
          <a:p>
            <a:pPr>
              <a:lnSpc>
                <a:spcPts val="2800"/>
              </a:lnSpc>
            </a:pPr>
            <a:r>
              <a:rPr lang="en-US" sz="1760" dirty="0">
                <a:solidFill>
                  <a:srgbClr val="383838"/>
                </a:solidFill>
                <a:latin typeface="DM Sans" pitchFamily="34" charset="0"/>
                <a:ea typeface="DM Sans" pitchFamily="34" charset="-122"/>
                <a:cs typeface="DM Sans" pitchFamily="34" charset="-120"/>
              </a:rPr>
              <a:t>Example: (-1×5) + (0×2) + (1×6) + (2×4) + (1×3) + (2×4) + (1×3) + (-2×9) + (0×2) = </a:t>
            </a:r>
            <a:r>
              <a:rPr lang="en-US" sz="1760" b="1" dirty="0">
                <a:solidFill>
                  <a:srgbClr val="FFFFFF"/>
                </a:solidFill>
                <a:highlight>
                  <a:srgbClr val="E04F00"/>
                </a:highlight>
                <a:latin typeface="DM Sans" pitchFamily="34" charset="0"/>
                <a:ea typeface="DM Sans" pitchFamily="34" charset="-122"/>
                <a:cs typeface="DM Sans" pitchFamily="34" charset="-120"/>
              </a:rPr>
              <a:t>5</a:t>
            </a:r>
            <a:endParaRPr lang="en-US" sz="1760" dirty="0"/>
          </a:p>
        </p:txBody>
      </p:sp>
      <p:sp>
        <p:nvSpPr>
          <p:cNvPr id="15" name="Shape 11"/>
          <p:cNvSpPr/>
          <p:nvPr/>
        </p:nvSpPr>
        <p:spPr>
          <a:xfrm>
            <a:off x="7599522" y="6359128"/>
            <a:ext cx="30480" cy="725805"/>
          </a:xfrm>
          <a:prstGeom prst="rect">
            <a:avLst/>
          </a:prstGeom>
          <a:solidFill>
            <a:srgbClr val="E04F00"/>
          </a:solidFill>
          <a:ln/>
        </p:spPr>
      </p:sp>
    </p:spTree>
    <p:extLst>
      <p:ext uri="{BB962C8B-B14F-4D97-AF65-F5344CB8AC3E}">
        <p14:creationId xmlns:p14="http://schemas.microsoft.com/office/powerpoint/2010/main" val="2701756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B8FE564-CBD4-BD45-A859-9F8E17B6F207}"/>
              </a:ext>
            </a:extLst>
          </p:cNvPr>
          <p:cNvPicPr>
            <a:picLocks noChangeAspect="1"/>
          </p:cNvPicPr>
          <p:nvPr/>
        </p:nvPicPr>
        <p:blipFill>
          <a:blip r:embed="rId2"/>
          <a:stretch>
            <a:fillRect/>
          </a:stretch>
        </p:blipFill>
        <p:spPr>
          <a:xfrm>
            <a:off x="2407691" y="1871003"/>
            <a:ext cx="8398413" cy="5421157"/>
          </a:xfrm>
          <a:prstGeom prst="rect">
            <a:avLst/>
          </a:prstGeom>
        </p:spPr>
      </p:pic>
      <p:sp>
        <p:nvSpPr>
          <p:cNvPr id="5" name="Text 2">
            <a:extLst>
              <a:ext uri="{FF2B5EF4-FFF2-40B4-BE49-F238E27FC236}">
                <a16:creationId xmlns:a16="http://schemas.microsoft.com/office/drawing/2014/main" id="{E4ABFCB0-C6DE-714D-8F67-388B6F29BCD9}"/>
              </a:ext>
            </a:extLst>
          </p:cNvPr>
          <p:cNvSpPr/>
          <p:nvPr/>
        </p:nvSpPr>
        <p:spPr>
          <a:xfrm>
            <a:off x="732711" y="793611"/>
            <a:ext cx="5874187" cy="601028"/>
          </a:xfrm>
          <a:prstGeom prst="rect">
            <a:avLst/>
          </a:prstGeom>
          <a:noFill/>
          <a:ln/>
        </p:spPr>
        <p:txBody>
          <a:bodyPr wrap="none" lIns="0" tIns="0" rIns="0" bIns="0" rtlCol="0" anchor="t"/>
          <a:lstStyle/>
          <a:p>
            <a:pPr marL="0" indent="0" algn="l">
              <a:lnSpc>
                <a:spcPts val="4700"/>
              </a:lnSpc>
              <a:buNone/>
            </a:pPr>
            <a:r>
              <a:rPr lang="en-US" sz="3750" dirty="0">
                <a:solidFill>
                  <a:srgbClr val="020202"/>
                </a:solidFill>
                <a:latin typeface="PT Serif" pitchFamily="34" charset="0"/>
                <a:ea typeface="PT Serif" pitchFamily="34" charset="-122"/>
                <a:cs typeface="PT Serif" pitchFamily="34" charset="-120"/>
              </a:rPr>
              <a:t>The Convolution Operation</a:t>
            </a:r>
            <a:endParaRPr lang="en-US" sz="3750" dirty="0"/>
          </a:p>
        </p:txBody>
      </p:sp>
    </p:spTree>
    <p:extLst>
      <p:ext uri="{BB962C8B-B14F-4D97-AF65-F5344CB8AC3E}">
        <p14:creationId xmlns:p14="http://schemas.microsoft.com/office/powerpoint/2010/main" val="37781627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4" name="Text 2"/>
          <p:cNvSpPr/>
          <p:nvPr/>
        </p:nvSpPr>
        <p:spPr>
          <a:xfrm>
            <a:off x="697514" y="1070637"/>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Stride</a:t>
            </a:r>
            <a:endParaRPr lang="en-US" sz="4100" dirty="0"/>
          </a:p>
        </p:txBody>
      </p:sp>
      <p:sp>
        <p:nvSpPr>
          <p:cNvPr id="5" name="Text 3"/>
          <p:cNvSpPr/>
          <p:nvPr/>
        </p:nvSpPr>
        <p:spPr>
          <a:xfrm>
            <a:off x="793790" y="2047425"/>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Stride defines </a:t>
            </a:r>
            <a:r>
              <a:rPr lang="en-US" b="1" dirty="0">
                <a:solidFill>
                  <a:srgbClr val="383838"/>
                </a:solidFill>
                <a:latin typeface="DM Sans" pitchFamily="34" charset="0"/>
                <a:ea typeface="DM Sans" pitchFamily="34" charset="-122"/>
                <a:cs typeface="DM Sans" pitchFamily="34" charset="-120"/>
              </a:rPr>
              <a:t>how many pixels the filter moves</a:t>
            </a:r>
            <a:r>
              <a:rPr lang="en-US" dirty="0">
                <a:solidFill>
                  <a:srgbClr val="383838"/>
                </a:solidFill>
                <a:latin typeface="DM Sans" pitchFamily="34" charset="0"/>
                <a:ea typeface="DM Sans" pitchFamily="34" charset="-122"/>
                <a:cs typeface="DM Sans" pitchFamily="34" charset="-120"/>
              </a:rPr>
              <a:t> at each step during convolution. It directly controls the spatial resolution of the output feature map and the computational cost of the operation.</a:t>
            </a:r>
            <a:endParaRPr lang="en-US" dirty="0"/>
          </a:p>
        </p:txBody>
      </p:sp>
      <p:sp>
        <p:nvSpPr>
          <p:cNvPr id="6" name="Shape 4"/>
          <p:cNvSpPr/>
          <p:nvPr/>
        </p:nvSpPr>
        <p:spPr>
          <a:xfrm>
            <a:off x="793790" y="3496866"/>
            <a:ext cx="13042821" cy="2429113"/>
          </a:xfrm>
          <a:prstGeom prst="roundRect">
            <a:avLst>
              <a:gd name="adj" fmla="val 1226"/>
            </a:avLst>
          </a:prstGeom>
          <a:solidFill>
            <a:srgbClr val="F2EEEE"/>
          </a:solidFill>
          <a:ln/>
        </p:spPr>
      </p:sp>
      <p:sp>
        <p:nvSpPr>
          <p:cNvPr id="7" name="Shape 5"/>
          <p:cNvSpPr/>
          <p:nvPr/>
        </p:nvSpPr>
        <p:spPr>
          <a:xfrm>
            <a:off x="793790" y="3496866"/>
            <a:ext cx="4347567" cy="2429113"/>
          </a:xfrm>
          <a:prstGeom prst="roundRect">
            <a:avLst>
              <a:gd name="adj" fmla="val 1226"/>
            </a:avLst>
          </a:prstGeom>
          <a:solidFill>
            <a:srgbClr val="F2EEEE"/>
          </a:solidFill>
          <a:ln/>
        </p:spPr>
      </p:sp>
      <p:sp>
        <p:nvSpPr>
          <p:cNvPr id="8" name="Text 6"/>
          <p:cNvSpPr/>
          <p:nvPr/>
        </p:nvSpPr>
        <p:spPr>
          <a:xfrm>
            <a:off x="992148" y="3695224"/>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Stride = 1</a:t>
            </a:r>
            <a:endParaRPr lang="en-US" sz="2050" dirty="0"/>
          </a:p>
        </p:txBody>
      </p:sp>
      <p:sp>
        <p:nvSpPr>
          <p:cNvPr id="9" name="Text 7"/>
          <p:cNvSpPr/>
          <p:nvPr/>
        </p:nvSpPr>
        <p:spPr>
          <a:xfrm>
            <a:off x="992148" y="4139922"/>
            <a:ext cx="3950851" cy="1587698"/>
          </a:xfrm>
          <a:prstGeom prst="rect">
            <a:avLst/>
          </a:prstGeom>
          <a:noFill/>
          <a:ln/>
        </p:spPr>
        <p:txBody>
          <a:bodyPr wrap="square" lIns="0" tIns="0" rIns="0" bIns="0" rtlCol="0" anchor="t"/>
          <a:lstStyle/>
          <a:p>
            <a:pPr marL="0" indent="0" algn="l">
              <a:lnSpc>
                <a:spcPts val="2500"/>
              </a:lnSpc>
              <a:buNone/>
            </a:pPr>
            <a:r>
              <a:rPr lang="en-US" sz="1700" b="1" dirty="0">
                <a:solidFill>
                  <a:srgbClr val="383838"/>
                </a:solidFill>
                <a:latin typeface="DM Sans" pitchFamily="34" charset="0"/>
                <a:ea typeface="DM Sans" pitchFamily="34" charset="-122"/>
                <a:cs typeface="DM Sans" pitchFamily="34" charset="-120"/>
              </a:rPr>
              <a:t>Fine-grained extraction.</a:t>
            </a:r>
            <a:r>
              <a:rPr lang="en-US" sz="1700" dirty="0">
                <a:solidFill>
                  <a:srgbClr val="383838"/>
                </a:solidFill>
                <a:latin typeface="DM Sans" pitchFamily="34" charset="0"/>
                <a:ea typeface="DM Sans" pitchFamily="34" charset="-122"/>
                <a:cs typeface="DM Sans" pitchFamily="34" charset="-120"/>
              </a:rPr>
              <a:t> The filter moves one pixel at a time, producing a large feature map with high spatial resolution. Captures maximum detail but increases computation.</a:t>
            </a:r>
            <a:endParaRPr lang="en-US" sz="1700" dirty="0"/>
          </a:p>
        </p:txBody>
      </p:sp>
      <p:sp>
        <p:nvSpPr>
          <p:cNvPr id="10" name="Shape 8"/>
          <p:cNvSpPr/>
          <p:nvPr/>
        </p:nvSpPr>
        <p:spPr>
          <a:xfrm>
            <a:off x="5141357" y="3496866"/>
            <a:ext cx="4347567" cy="2429113"/>
          </a:xfrm>
          <a:prstGeom prst="rect">
            <a:avLst/>
          </a:prstGeom>
          <a:solidFill>
            <a:srgbClr val="F2EEEE"/>
          </a:solidFill>
          <a:ln/>
        </p:spPr>
      </p:sp>
      <p:sp>
        <p:nvSpPr>
          <p:cNvPr id="11" name="Shape 9"/>
          <p:cNvSpPr/>
          <p:nvPr/>
        </p:nvSpPr>
        <p:spPr>
          <a:xfrm>
            <a:off x="5141357" y="3496866"/>
            <a:ext cx="22860" cy="2429113"/>
          </a:xfrm>
          <a:prstGeom prst="roundRect">
            <a:avLst>
              <a:gd name="adj" fmla="val 130232"/>
            </a:avLst>
          </a:prstGeom>
          <a:solidFill>
            <a:srgbClr val="D8D4D4"/>
          </a:solidFill>
          <a:ln/>
        </p:spPr>
      </p:sp>
      <p:sp>
        <p:nvSpPr>
          <p:cNvPr id="12" name="Text 10"/>
          <p:cNvSpPr/>
          <p:nvPr/>
        </p:nvSpPr>
        <p:spPr>
          <a:xfrm>
            <a:off x="5339715" y="3695224"/>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Stride = 2</a:t>
            </a:r>
            <a:endParaRPr lang="en-US" sz="2050" dirty="0"/>
          </a:p>
        </p:txBody>
      </p:sp>
      <p:sp>
        <p:nvSpPr>
          <p:cNvPr id="13" name="Text 11"/>
          <p:cNvSpPr/>
          <p:nvPr/>
        </p:nvSpPr>
        <p:spPr>
          <a:xfrm>
            <a:off x="5339715" y="4139922"/>
            <a:ext cx="3950851" cy="1587698"/>
          </a:xfrm>
          <a:prstGeom prst="rect">
            <a:avLst/>
          </a:prstGeom>
          <a:noFill/>
          <a:ln/>
        </p:spPr>
        <p:txBody>
          <a:bodyPr wrap="square" lIns="0" tIns="0" rIns="0" bIns="0" rtlCol="0" anchor="t"/>
          <a:lstStyle/>
          <a:p>
            <a:pPr marL="0" indent="0" algn="l">
              <a:lnSpc>
                <a:spcPts val="2500"/>
              </a:lnSpc>
              <a:buNone/>
            </a:pPr>
            <a:r>
              <a:rPr lang="en-US" sz="1700" b="1" dirty="0">
                <a:solidFill>
                  <a:srgbClr val="383838"/>
                </a:solidFill>
                <a:latin typeface="DM Sans" pitchFamily="34" charset="0"/>
                <a:ea typeface="DM Sans" pitchFamily="34" charset="-122"/>
                <a:cs typeface="DM Sans" pitchFamily="34" charset="-120"/>
              </a:rPr>
              <a:t>Downsampled output.</a:t>
            </a:r>
            <a:r>
              <a:rPr lang="en-US" sz="1700" dirty="0">
                <a:solidFill>
                  <a:srgbClr val="383838"/>
                </a:solidFill>
                <a:latin typeface="DM Sans" pitchFamily="34" charset="0"/>
                <a:ea typeface="DM Sans" pitchFamily="34" charset="-122"/>
                <a:cs typeface="DM Sans" pitchFamily="34" charset="-120"/>
              </a:rPr>
              <a:t> The filter skips every other pixel, halving the feature map dimensions. Reduces computation and memory while still capturing dominant patterns.</a:t>
            </a:r>
            <a:endParaRPr lang="en-US" sz="1700" dirty="0"/>
          </a:p>
        </p:txBody>
      </p:sp>
      <p:sp>
        <p:nvSpPr>
          <p:cNvPr id="14" name="Shape 12"/>
          <p:cNvSpPr/>
          <p:nvPr/>
        </p:nvSpPr>
        <p:spPr>
          <a:xfrm>
            <a:off x="9488924" y="3496866"/>
            <a:ext cx="4347567" cy="2429113"/>
          </a:xfrm>
          <a:prstGeom prst="rect">
            <a:avLst/>
          </a:prstGeom>
          <a:solidFill>
            <a:srgbClr val="F2EEEE"/>
          </a:solidFill>
          <a:ln/>
        </p:spPr>
      </p:sp>
      <p:sp>
        <p:nvSpPr>
          <p:cNvPr id="15" name="Shape 13"/>
          <p:cNvSpPr/>
          <p:nvPr/>
        </p:nvSpPr>
        <p:spPr>
          <a:xfrm>
            <a:off x="9488924" y="3496866"/>
            <a:ext cx="22860" cy="2429113"/>
          </a:xfrm>
          <a:prstGeom prst="roundRect">
            <a:avLst>
              <a:gd name="adj" fmla="val 130232"/>
            </a:avLst>
          </a:prstGeom>
          <a:solidFill>
            <a:srgbClr val="D8D4D4"/>
          </a:solidFill>
          <a:ln/>
        </p:spPr>
      </p:sp>
      <p:sp>
        <p:nvSpPr>
          <p:cNvPr id="16" name="Text 14"/>
          <p:cNvSpPr/>
          <p:nvPr/>
        </p:nvSpPr>
        <p:spPr>
          <a:xfrm>
            <a:off x="9687282" y="3695224"/>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Stride &gt; 2</a:t>
            </a:r>
            <a:endParaRPr lang="en-US" sz="2050" dirty="0"/>
          </a:p>
        </p:txBody>
      </p:sp>
      <p:sp>
        <p:nvSpPr>
          <p:cNvPr id="17" name="Text 15"/>
          <p:cNvSpPr/>
          <p:nvPr/>
        </p:nvSpPr>
        <p:spPr>
          <a:xfrm>
            <a:off x="9687282" y="4139922"/>
            <a:ext cx="3950851" cy="1270159"/>
          </a:xfrm>
          <a:prstGeom prst="rect">
            <a:avLst/>
          </a:prstGeom>
          <a:noFill/>
          <a:ln/>
        </p:spPr>
        <p:txBody>
          <a:bodyPr wrap="square" lIns="0" tIns="0" rIns="0" bIns="0" rtlCol="0" anchor="t"/>
          <a:lstStyle/>
          <a:p>
            <a:pPr marL="0" indent="0" algn="l">
              <a:lnSpc>
                <a:spcPts val="2500"/>
              </a:lnSpc>
              <a:buNone/>
            </a:pPr>
            <a:r>
              <a:rPr lang="en-US" sz="1700" b="1" dirty="0">
                <a:solidFill>
                  <a:srgbClr val="383838"/>
                </a:solidFill>
                <a:latin typeface="DM Sans" pitchFamily="34" charset="0"/>
                <a:ea typeface="DM Sans" pitchFamily="34" charset="-122"/>
                <a:cs typeface="DM Sans" pitchFamily="34" charset="-120"/>
              </a:rPr>
              <a:t>Aggressive reduction.</a:t>
            </a:r>
            <a:r>
              <a:rPr lang="en-US" sz="1700" dirty="0">
                <a:solidFill>
                  <a:srgbClr val="383838"/>
                </a:solidFill>
                <a:latin typeface="DM Sans" pitchFamily="34" charset="0"/>
                <a:ea typeface="DM Sans" pitchFamily="34" charset="-122"/>
                <a:cs typeface="DM Sans" pitchFamily="34" charset="-120"/>
              </a:rPr>
              <a:t> Used for rapid spatial compression. Less common in practice, but useful in certain architectures to replace pooling layers.</a:t>
            </a:r>
            <a:endParaRPr lang="en-US" sz="1700" dirty="0"/>
          </a:p>
        </p:txBody>
      </p:sp>
      <p:sp>
        <p:nvSpPr>
          <p:cNvPr id="18" name="Shape 16"/>
          <p:cNvSpPr/>
          <p:nvPr/>
        </p:nvSpPr>
        <p:spPr>
          <a:xfrm>
            <a:off x="793790" y="6149221"/>
            <a:ext cx="13042821" cy="843201"/>
          </a:xfrm>
          <a:prstGeom prst="roundRect">
            <a:avLst>
              <a:gd name="adj" fmla="val 3531"/>
            </a:avLst>
          </a:prstGeom>
          <a:solidFill>
            <a:srgbClr val="FFCDB3"/>
          </a:solidFill>
          <a:ln/>
        </p:spPr>
      </p:sp>
      <p:pic>
        <p:nvPicPr>
          <p:cNvPr id="19" name="Image 0" descr="preencoded.png"/>
          <p:cNvPicPr>
            <a:picLocks noChangeAspect="1"/>
          </p:cNvPicPr>
          <p:nvPr/>
        </p:nvPicPr>
        <p:blipFill>
          <a:blip r:embed="rId3"/>
          <a:stretch>
            <a:fillRect/>
          </a:stretch>
        </p:blipFill>
        <p:spPr>
          <a:xfrm>
            <a:off x="992148" y="6444496"/>
            <a:ext cx="248007" cy="198358"/>
          </a:xfrm>
          <a:prstGeom prst="rect">
            <a:avLst/>
          </a:prstGeom>
        </p:spPr>
      </p:pic>
      <p:sp>
        <p:nvSpPr>
          <p:cNvPr id="20" name="Text 17"/>
          <p:cNvSpPr/>
          <p:nvPr/>
        </p:nvSpPr>
        <p:spPr>
          <a:xfrm>
            <a:off x="1438513" y="6397109"/>
            <a:ext cx="12199739" cy="317540"/>
          </a:xfrm>
          <a:prstGeom prst="rect">
            <a:avLst/>
          </a:prstGeom>
          <a:noFill/>
          <a:ln/>
        </p:spPr>
        <p:txBody>
          <a:bodyPr wrap="none" lIns="0" tIns="0" rIns="0" bIns="0" rtlCol="0" anchor="t"/>
          <a:lstStyle/>
          <a:p>
            <a:pPr marL="0" indent="0" algn="l">
              <a:lnSpc>
                <a:spcPts val="2500"/>
              </a:lnSpc>
              <a:buNone/>
            </a:pPr>
            <a:r>
              <a:rPr lang="en-US" b="1" dirty="0">
                <a:solidFill>
                  <a:srgbClr val="000000"/>
                </a:solidFill>
                <a:latin typeface="DM Sans" pitchFamily="34" charset="0"/>
                <a:ea typeface="DM Sans" pitchFamily="34" charset="-122"/>
                <a:cs typeface="DM Sans" pitchFamily="34" charset="-120"/>
              </a:rPr>
              <a:t>Output Size Formula:</a:t>
            </a:r>
            <a:r>
              <a:rPr lang="en-US" dirty="0">
                <a:solidFill>
                  <a:srgbClr val="000000"/>
                </a:solidFill>
                <a:latin typeface="DM Sans" pitchFamily="34" charset="0"/>
                <a:ea typeface="DM Sans" pitchFamily="34" charset="-122"/>
                <a:cs typeface="DM Sans" pitchFamily="34" charset="-120"/>
              </a:rPr>
              <a:t> Output = ⌊(Input − Filter + 2×Padding) / Stride⌋ + 1</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695316" y="1021437"/>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Padding</a:t>
            </a:r>
            <a:endParaRPr lang="en-US" sz="4100" dirty="0"/>
          </a:p>
        </p:txBody>
      </p:sp>
      <p:sp>
        <p:nvSpPr>
          <p:cNvPr id="5" name="Text 3"/>
          <p:cNvSpPr/>
          <p:nvPr/>
        </p:nvSpPr>
        <p:spPr>
          <a:xfrm>
            <a:off x="694610" y="2274659"/>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When a filter slides over an image, pixels at the </a:t>
            </a:r>
            <a:r>
              <a:rPr lang="en-US" b="1" dirty="0">
                <a:solidFill>
                  <a:srgbClr val="383838"/>
                </a:solidFill>
                <a:latin typeface="DM Sans" pitchFamily="34" charset="0"/>
                <a:ea typeface="DM Sans" pitchFamily="34" charset="-122"/>
                <a:cs typeface="DM Sans" pitchFamily="34" charset="-120"/>
              </a:rPr>
              <a:t>border</a:t>
            </a:r>
            <a:r>
              <a:rPr lang="en-US" dirty="0">
                <a:solidFill>
                  <a:srgbClr val="383838"/>
                </a:solidFill>
                <a:latin typeface="DM Sans" pitchFamily="34" charset="0"/>
                <a:ea typeface="DM Sans" pitchFamily="34" charset="-122"/>
                <a:cs typeface="DM Sans" pitchFamily="34" charset="-120"/>
              </a:rPr>
              <a:t> of the image are visited far fewer times than central pixels. Without padding, the spatial dimensions shrink after every convolution and </a:t>
            </a:r>
            <a:r>
              <a:rPr lang="en-US" b="1" dirty="0">
                <a:solidFill>
                  <a:srgbClr val="383838"/>
                </a:solidFill>
                <a:latin typeface="DM Sans" pitchFamily="34" charset="0"/>
                <a:ea typeface="DM Sans" pitchFamily="34" charset="-122"/>
                <a:cs typeface="DM Sans" pitchFamily="34" charset="-120"/>
              </a:rPr>
              <a:t>border information is lost</a:t>
            </a:r>
            <a:r>
              <a:rPr lang="en-US" dirty="0">
                <a:solidFill>
                  <a:srgbClr val="383838"/>
                </a:solidFill>
                <a:latin typeface="DM Sans" pitchFamily="34" charset="0"/>
                <a:ea typeface="DM Sans" pitchFamily="34" charset="-122"/>
                <a:cs typeface="DM Sans" pitchFamily="34" charset="-120"/>
              </a:rPr>
              <a:t>.</a:t>
            </a:r>
            <a:endParaRPr lang="en-US" dirty="0"/>
          </a:p>
        </p:txBody>
      </p:sp>
      <p:pic>
        <p:nvPicPr>
          <p:cNvPr id="3" name="Picture 2">
            <a:extLst>
              <a:ext uri="{FF2B5EF4-FFF2-40B4-BE49-F238E27FC236}">
                <a16:creationId xmlns:a16="http://schemas.microsoft.com/office/drawing/2014/main" id="{BE8A8568-64D9-2F22-AE0C-04E6940EAAD2}"/>
              </a:ext>
            </a:extLst>
          </p:cNvPr>
          <p:cNvPicPr>
            <a:picLocks noChangeAspect="1"/>
          </p:cNvPicPr>
          <p:nvPr/>
        </p:nvPicPr>
        <p:blipFill>
          <a:blip r:embed="rId3"/>
          <a:stretch>
            <a:fillRect/>
          </a:stretch>
        </p:blipFill>
        <p:spPr>
          <a:xfrm>
            <a:off x="3385595" y="3365607"/>
            <a:ext cx="7249107" cy="384255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4" name="Text 2"/>
          <p:cNvSpPr/>
          <p:nvPr/>
        </p:nvSpPr>
        <p:spPr>
          <a:xfrm>
            <a:off x="637277" y="595201"/>
            <a:ext cx="6007060" cy="638175"/>
          </a:xfrm>
          <a:prstGeom prst="rect">
            <a:avLst/>
          </a:prstGeom>
          <a:noFill/>
          <a:ln/>
        </p:spPr>
        <p:txBody>
          <a:bodyPr wrap="none" lIns="0" tIns="0" rIns="0" bIns="0" rtlCol="0" anchor="t"/>
          <a:lstStyle/>
          <a:p>
            <a:pPr marL="0" indent="0" algn="l">
              <a:lnSpc>
                <a:spcPts val="5000"/>
              </a:lnSpc>
              <a:buNone/>
            </a:pPr>
            <a:r>
              <a:rPr lang="en-US" sz="4000" dirty="0">
                <a:solidFill>
                  <a:srgbClr val="020202"/>
                </a:solidFill>
                <a:latin typeface="PT Serif" pitchFamily="34" charset="0"/>
                <a:ea typeface="PT Serif" pitchFamily="34" charset="-122"/>
                <a:cs typeface="PT Serif" pitchFamily="34" charset="-120"/>
              </a:rPr>
              <a:t>Activation Function: ReLU</a:t>
            </a:r>
            <a:endParaRPr lang="en-US" sz="4000" dirty="0"/>
          </a:p>
        </p:txBody>
      </p:sp>
      <p:sp>
        <p:nvSpPr>
          <p:cNvPr id="5" name="Text 3"/>
          <p:cNvSpPr/>
          <p:nvPr/>
        </p:nvSpPr>
        <p:spPr>
          <a:xfrm>
            <a:off x="637277" y="1534660"/>
            <a:ext cx="13074491" cy="616268"/>
          </a:xfrm>
          <a:prstGeom prst="rect">
            <a:avLst/>
          </a:prstGeom>
          <a:noFill/>
          <a:ln/>
        </p:spPr>
        <p:txBody>
          <a:bodyPr wrap="square" lIns="0" tIns="0" rIns="0" bIns="0" rtlCol="0" anchor="t"/>
          <a:lstStyle/>
          <a:p>
            <a:pPr marL="0" indent="0" algn="l">
              <a:lnSpc>
                <a:spcPts val="2400"/>
              </a:lnSpc>
              <a:buNone/>
            </a:pPr>
            <a:r>
              <a:rPr lang="en-US" sz="1700" dirty="0">
                <a:solidFill>
                  <a:srgbClr val="383838"/>
                </a:solidFill>
                <a:latin typeface="DM Sans" pitchFamily="34" charset="0"/>
                <a:ea typeface="DM Sans" pitchFamily="34" charset="-122"/>
                <a:cs typeface="DM Sans" pitchFamily="34" charset="-120"/>
              </a:rPr>
              <a:t>After each convolution, an </a:t>
            </a:r>
            <a:r>
              <a:rPr lang="en-US" sz="1700" b="1" dirty="0">
                <a:solidFill>
                  <a:srgbClr val="383838"/>
                </a:solidFill>
                <a:latin typeface="DM Sans" pitchFamily="34" charset="0"/>
                <a:ea typeface="DM Sans" pitchFamily="34" charset="-122"/>
                <a:cs typeface="DM Sans" pitchFamily="34" charset="-120"/>
              </a:rPr>
              <a:t>activation function</a:t>
            </a:r>
            <a:r>
              <a:rPr lang="en-US" sz="1700" dirty="0">
                <a:solidFill>
                  <a:srgbClr val="383838"/>
                </a:solidFill>
                <a:latin typeface="DM Sans" pitchFamily="34" charset="0"/>
                <a:ea typeface="DM Sans" pitchFamily="34" charset="-122"/>
                <a:cs typeface="DM Sans" pitchFamily="34" charset="-120"/>
              </a:rPr>
              <a:t> is applied element-wise to the feature map. Without activation functions, the entire network would behave as a single linear transformation, no matter how many layers are stacked — fundamentally limiting its expressive power.</a:t>
            </a:r>
            <a:endParaRPr lang="en-US" sz="1700" dirty="0"/>
          </a:p>
        </p:txBody>
      </p:sp>
      <p:sp>
        <p:nvSpPr>
          <p:cNvPr id="6" name="Text 4"/>
          <p:cNvSpPr/>
          <p:nvPr/>
        </p:nvSpPr>
        <p:spPr>
          <a:xfrm>
            <a:off x="777954" y="2961918"/>
            <a:ext cx="3188375" cy="319088"/>
          </a:xfrm>
          <a:prstGeom prst="rect">
            <a:avLst/>
          </a:prstGeom>
          <a:noFill/>
          <a:ln/>
        </p:spPr>
        <p:txBody>
          <a:bodyPr wrap="none" lIns="0" tIns="0" rIns="0" bIns="0" rtlCol="0" anchor="t"/>
          <a:lstStyle/>
          <a:p>
            <a:pPr marL="0" indent="0" algn="l">
              <a:lnSpc>
                <a:spcPts val="2500"/>
              </a:lnSpc>
              <a:buNone/>
            </a:pPr>
            <a:r>
              <a:rPr lang="en-US" sz="2000" b="1" dirty="0">
                <a:solidFill>
                  <a:srgbClr val="020202"/>
                </a:solidFill>
                <a:latin typeface="PT Serif" pitchFamily="34" charset="0"/>
                <a:ea typeface="PT Serif" pitchFamily="34" charset="-122"/>
                <a:cs typeface="PT Serif" pitchFamily="34" charset="-120"/>
              </a:rPr>
              <a:t>Rectified Linear Unit (ReLU)</a:t>
            </a:r>
            <a:endParaRPr lang="en-US" sz="2000" b="1" dirty="0"/>
          </a:p>
        </p:txBody>
      </p:sp>
      <p:sp>
        <p:nvSpPr>
          <p:cNvPr id="7" name="Text 5"/>
          <p:cNvSpPr/>
          <p:nvPr/>
        </p:nvSpPr>
        <p:spPr>
          <a:xfrm>
            <a:off x="777954" y="3471624"/>
            <a:ext cx="6977301" cy="616268"/>
          </a:xfrm>
          <a:prstGeom prst="rect">
            <a:avLst/>
          </a:prstGeom>
          <a:noFill/>
          <a:ln/>
        </p:spPr>
        <p:txBody>
          <a:bodyPr wrap="square" lIns="0" tIns="0" rIns="0" bIns="0" rtlCol="0" anchor="t"/>
          <a:lstStyle/>
          <a:p>
            <a:pPr marL="0" indent="0" algn="l">
              <a:lnSpc>
                <a:spcPts val="2400"/>
              </a:lnSpc>
              <a:buNone/>
            </a:pPr>
            <a:r>
              <a:rPr lang="en-US" sz="1700" dirty="0">
                <a:solidFill>
                  <a:srgbClr val="383838"/>
                </a:solidFill>
                <a:latin typeface="DM Sans" pitchFamily="34" charset="0"/>
                <a:ea typeface="DM Sans" pitchFamily="34" charset="-122"/>
                <a:cs typeface="DM Sans" pitchFamily="34" charset="-120"/>
              </a:rPr>
              <a:t>The most widely used activation function in CNNs. Its definition is elegantly simple:</a:t>
            </a:r>
            <a:endParaRPr lang="en-US" sz="1700" dirty="0"/>
          </a:p>
        </p:txBody>
      </p:sp>
      <p:sp>
        <p:nvSpPr>
          <p:cNvPr id="8" name="Text 6"/>
          <p:cNvSpPr/>
          <p:nvPr/>
        </p:nvSpPr>
        <p:spPr>
          <a:xfrm>
            <a:off x="777954" y="4329113"/>
            <a:ext cx="6977301" cy="332899"/>
          </a:xfrm>
          <a:prstGeom prst="rect">
            <a:avLst/>
          </a:prstGeom>
          <a:noFill/>
          <a:ln/>
        </p:spPr>
        <p:txBody>
          <a:bodyPr wrap="none" lIns="0" tIns="0" rIns="0" bIns="0" rtlCol="0" anchor="t"/>
          <a:lstStyle/>
          <a:p>
            <a:pPr marL="0" indent="0" algn="l">
              <a:lnSpc>
                <a:spcPts val="2700"/>
              </a:lnSpc>
              <a:buNone/>
            </a:pPr>
            <a:endParaRPr lang="en-US" sz="1700" dirty="0"/>
          </a:p>
        </p:txBody>
      </p:sp>
      <p:pic>
        <p:nvPicPr>
          <p:cNvPr id="9" name="Image 0" descr="preencoded.png"/>
          <p:cNvPicPr>
            <a:picLocks noChangeAspect="1"/>
          </p:cNvPicPr>
          <p:nvPr/>
        </p:nvPicPr>
        <p:blipFill>
          <a:blip r:embed="rId3"/>
          <a:stretch>
            <a:fillRect/>
          </a:stretch>
        </p:blipFill>
        <p:spPr>
          <a:xfrm>
            <a:off x="777954" y="4329113"/>
            <a:ext cx="6977301" cy="332899"/>
          </a:xfrm>
          <a:prstGeom prst="rect">
            <a:avLst/>
          </a:prstGeom>
        </p:spPr>
      </p:pic>
      <p:sp>
        <p:nvSpPr>
          <p:cNvPr id="10" name="Text 7"/>
          <p:cNvSpPr/>
          <p:nvPr/>
        </p:nvSpPr>
        <p:spPr>
          <a:xfrm>
            <a:off x="777954" y="4903232"/>
            <a:ext cx="6977301" cy="924401"/>
          </a:xfrm>
          <a:prstGeom prst="rect">
            <a:avLst/>
          </a:prstGeom>
          <a:noFill/>
          <a:ln/>
        </p:spPr>
        <p:txBody>
          <a:bodyPr wrap="square" lIns="0" tIns="0" rIns="0" bIns="0" rtlCol="0" anchor="t"/>
          <a:lstStyle/>
          <a:p>
            <a:pPr marL="0" indent="0" algn="l">
              <a:lnSpc>
                <a:spcPts val="2400"/>
              </a:lnSpc>
              <a:buNone/>
            </a:pPr>
            <a:r>
              <a:rPr lang="en-US" sz="1700" dirty="0">
                <a:solidFill>
                  <a:srgbClr val="383838"/>
                </a:solidFill>
                <a:latin typeface="DM Sans" pitchFamily="34" charset="0"/>
                <a:ea typeface="DM Sans" pitchFamily="34" charset="-122"/>
                <a:cs typeface="DM Sans" pitchFamily="34" charset="-120"/>
              </a:rPr>
              <a:t>All </a:t>
            </a:r>
            <a:r>
              <a:rPr lang="en-US" sz="1700" b="1" dirty="0">
                <a:solidFill>
                  <a:srgbClr val="383838"/>
                </a:solidFill>
                <a:latin typeface="DM Sans" pitchFamily="34" charset="0"/>
                <a:ea typeface="DM Sans" pitchFamily="34" charset="-122"/>
                <a:cs typeface="DM Sans" pitchFamily="34" charset="-120"/>
              </a:rPr>
              <a:t>negative values are set to zero</a:t>
            </a:r>
            <a:r>
              <a:rPr lang="en-US" sz="1700" dirty="0">
                <a:solidFill>
                  <a:srgbClr val="383838"/>
                </a:solidFill>
                <a:latin typeface="DM Sans" pitchFamily="34" charset="0"/>
                <a:ea typeface="DM Sans" pitchFamily="34" charset="-122"/>
                <a:cs typeface="DM Sans" pitchFamily="34" charset="-120"/>
              </a:rPr>
              <a:t>; positive values pass through unchanged. This introduces non-linearity while being computationally trivial to compute and differentiate.</a:t>
            </a:r>
            <a:endParaRPr lang="en-US" sz="1700" dirty="0"/>
          </a:p>
        </p:txBody>
      </p:sp>
      <p:sp>
        <p:nvSpPr>
          <p:cNvPr id="11" name="Text 8"/>
          <p:cNvSpPr/>
          <p:nvPr/>
        </p:nvSpPr>
        <p:spPr>
          <a:xfrm>
            <a:off x="777954" y="6018252"/>
            <a:ext cx="2552938" cy="319088"/>
          </a:xfrm>
          <a:prstGeom prst="rect">
            <a:avLst/>
          </a:prstGeom>
          <a:noFill/>
          <a:ln/>
        </p:spPr>
        <p:txBody>
          <a:bodyPr wrap="none" lIns="0" tIns="0" rIns="0" bIns="0" rtlCol="0" anchor="t"/>
          <a:lstStyle/>
          <a:p>
            <a:pPr marL="0" indent="0" algn="l">
              <a:lnSpc>
                <a:spcPts val="2500"/>
              </a:lnSpc>
              <a:buNone/>
            </a:pPr>
            <a:r>
              <a:rPr lang="en-US" sz="2000" b="1" dirty="0">
                <a:solidFill>
                  <a:srgbClr val="020202"/>
                </a:solidFill>
                <a:latin typeface="PT Serif" pitchFamily="34" charset="0"/>
                <a:ea typeface="PT Serif" pitchFamily="34" charset="-122"/>
                <a:cs typeface="PT Serif" pitchFamily="34" charset="-120"/>
              </a:rPr>
              <a:t>Advantages of ReLU</a:t>
            </a:r>
            <a:endParaRPr lang="en-US" sz="2000" b="1" dirty="0"/>
          </a:p>
        </p:txBody>
      </p:sp>
      <p:sp>
        <p:nvSpPr>
          <p:cNvPr id="12" name="Text 9"/>
          <p:cNvSpPr/>
          <p:nvPr/>
        </p:nvSpPr>
        <p:spPr>
          <a:xfrm>
            <a:off x="777954" y="6527959"/>
            <a:ext cx="6977301" cy="1057751"/>
          </a:xfrm>
          <a:prstGeom prst="rect">
            <a:avLst/>
          </a:prstGeom>
          <a:noFill/>
          <a:ln/>
        </p:spPr>
        <p:txBody>
          <a:bodyPr wrap="square" lIns="0" tIns="0" rIns="0" bIns="0" rtlCol="0" anchor="t"/>
          <a:lstStyle/>
          <a:p>
            <a:pPr marL="342900" indent="-342900" algn="l">
              <a:lnSpc>
                <a:spcPts val="2400"/>
              </a:lnSpc>
              <a:buSzPct val="100000"/>
              <a:buChar char="•"/>
            </a:pPr>
            <a:r>
              <a:rPr lang="en-US" sz="1700" dirty="0">
                <a:solidFill>
                  <a:srgbClr val="383838"/>
                </a:solidFill>
                <a:latin typeface="DM Sans" pitchFamily="34" charset="0"/>
                <a:ea typeface="DM Sans" pitchFamily="34" charset="-122"/>
                <a:cs typeface="DM Sans" pitchFamily="34" charset="-120"/>
              </a:rPr>
              <a:t>Computationally efficient — no exponentials required</a:t>
            </a:r>
            <a:endParaRPr lang="en-US" sz="1700" dirty="0"/>
          </a:p>
          <a:p>
            <a:pPr marL="342900" indent="-342900" algn="l">
              <a:lnSpc>
                <a:spcPts val="2400"/>
              </a:lnSpc>
              <a:buSzPct val="100000"/>
              <a:buChar char="•"/>
            </a:pPr>
            <a:r>
              <a:rPr lang="en-US" sz="1700" dirty="0">
                <a:solidFill>
                  <a:srgbClr val="383838"/>
                </a:solidFill>
                <a:latin typeface="DM Sans" pitchFamily="34" charset="0"/>
                <a:ea typeface="DM Sans" pitchFamily="34" charset="-122"/>
                <a:cs typeface="DM Sans" pitchFamily="34" charset="-120"/>
              </a:rPr>
              <a:t>Mitigates the vanishing gradient problem in deep networks</a:t>
            </a:r>
            <a:endParaRPr lang="en-US" sz="1700" dirty="0"/>
          </a:p>
          <a:p>
            <a:pPr marL="342900" indent="-342900" algn="l">
              <a:lnSpc>
                <a:spcPts val="2400"/>
              </a:lnSpc>
              <a:buSzPct val="100000"/>
              <a:buChar char="•"/>
            </a:pPr>
            <a:r>
              <a:rPr lang="en-US" sz="1700" dirty="0">
                <a:solidFill>
                  <a:srgbClr val="383838"/>
                </a:solidFill>
                <a:latin typeface="DM Sans" pitchFamily="34" charset="0"/>
                <a:ea typeface="DM Sans" pitchFamily="34" charset="-122"/>
                <a:cs typeface="DM Sans" pitchFamily="34" charset="-120"/>
              </a:rPr>
              <a:t>Promotes sparsity — many neurons output zero</a:t>
            </a:r>
            <a:endParaRPr lang="en-US" sz="1700" dirty="0"/>
          </a:p>
        </p:txBody>
      </p:sp>
      <p:sp>
        <p:nvSpPr>
          <p:cNvPr id="14" name="Text 11"/>
          <p:cNvSpPr/>
          <p:nvPr/>
        </p:nvSpPr>
        <p:spPr>
          <a:xfrm>
            <a:off x="8291751" y="2961918"/>
            <a:ext cx="3087767" cy="319088"/>
          </a:xfrm>
          <a:prstGeom prst="rect">
            <a:avLst/>
          </a:prstGeom>
          <a:noFill/>
          <a:ln/>
        </p:spPr>
        <p:txBody>
          <a:bodyPr wrap="none" lIns="0" tIns="0" rIns="0" bIns="0" rtlCol="0" anchor="t"/>
          <a:lstStyle/>
          <a:p>
            <a:pPr marL="0" indent="0" algn="l">
              <a:lnSpc>
                <a:spcPts val="2500"/>
              </a:lnSpc>
              <a:buNone/>
            </a:pPr>
            <a:r>
              <a:rPr lang="en-US" sz="2000" b="1" dirty="0">
                <a:solidFill>
                  <a:srgbClr val="020202"/>
                </a:solidFill>
                <a:latin typeface="PT Serif" pitchFamily="34" charset="0"/>
                <a:ea typeface="PT Serif" pitchFamily="34" charset="-122"/>
                <a:cs typeface="PT Serif" pitchFamily="34" charset="-120"/>
              </a:rPr>
              <a:t>Other Activation Functions</a:t>
            </a:r>
            <a:endParaRPr lang="en-US" sz="2000" b="1" dirty="0"/>
          </a:p>
        </p:txBody>
      </p:sp>
      <p:sp>
        <p:nvSpPr>
          <p:cNvPr id="15" name="Text 12"/>
          <p:cNvSpPr/>
          <p:nvPr/>
        </p:nvSpPr>
        <p:spPr>
          <a:xfrm>
            <a:off x="8291751" y="3471624"/>
            <a:ext cx="5513903" cy="616268"/>
          </a:xfrm>
          <a:prstGeom prst="rect">
            <a:avLst/>
          </a:prstGeom>
          <a:noFill/>
          <a:ln/>
        </p:spPr>
        <p:txBody>
          <a:bodyPr wrap="square" lIns="0" tIns="0" rIns="0" bIns="0" rtlCol="0" anchor="t"/>
          <a:lstStyle/>
          <a:p>
            <a:pPr marL="0" indent="0" algn="l">
              <a:lnSpc>
                <a:spcPts val="2400"/>
              </a:lnSpc>
              <a:buNone/>
            </a:pPr>
            <a:r>
              <a:rPr lang="en-US" sz="1700" b="1" dirty="0">
                <a:solidFill>
                  <a:srgbClr val="000000"/>
                </a:solidFill>
                <a:latin typeface="DM Sans" pitchFamily="34" charset="0"/>
                <a:ea typeface="DM Sans" pitchFamily="34" charset="-122"/>
                <a:cs typeface="DM Sans" pitchFamily="34" charset="-120"/>
              </a:rPr>
              <a:t>Leaky ReLU:</a:t>
            </a:r>
            <a:r>
              <a:rPr lang="en-US" sz="1700" dirty="0">
                <a:solidFill>
                  <a:srgbClr val="000000"/>
                </a:solidFill>
                <a:latin typeface="DM Sans" pitchFamily="34" charset="0"/>
                <a:ea typeface="DM Sans" pitchFamily="34" charset="-122"/>
                <a:cs typeface="DM Sans" pitchFamily="34" charset="-120"/>
              </a:rPr>
              <a:t> Allows a small gradient for negative values, preventing "dying ReLU" neurons.</a:t>
            </a:r>
            <a:endParaRPr lang="en-US" sz="1700" dirty="0"/>
          </a:p>
        </p:txBody>
      </p:sp>
      <p:sp>
        <p:nvSpPr>
          <p:cNvPr id="16" name="Text 13"/>
          <p:cNvSpPr/>
          <p:nvPr/>
        </p:nvSpPr>
        <p:spPr>
          <a:xfrm>
            <a:off x="8291751" y="4259342"/>
            <a:ext cx="5513903" cy="616268"/>
          </a:xfrm>
          <a:prstGeom prst="rect">
            <a:avLst/>
          </a:prstGeom>
          <a:noFill/>
          <a:ln/>
        </p:spPr>
        <p:txBody>
          <a:bodyPr wrap="square" lIns="0" tIns="0" rIns="0" bIns="0" rtlCol="0" anchor="t"/>
          <a:lstStyle/>
          <a:p>
            <a:pPr marL="0" indent="0" algn="l">
              <a:lnSpc>
                <a:spcPts val="2400"/>
              </a:lnSpc>
              <a:buNone/>
            </a:pPr>
            <a:r>
              <a:rPr lang="en-US" sz="1700" b="1" dirty="0">
                <a:solidFill>
                  <a:srgbClr val="000000"/>
                </a:solidFill>
                <a:latin typeface="DM Sans" pitchFamily="34" charset="0"/>
                <a:ea typeface="DM Sans" pitchFamily="34" charset="-122"/>
                <a:cs typeface="DM Sans" pitchFamily="34" charset="-120"/>
              </a:rPr>
              <a:t>Sigmoid:</a:t>
            </a:r>
            <a:r>
              <a:rPr lang="en-US" sz="1700" dirty="0">
                <a:solidFill>
                  <a:srgbClr val="000000"/>
                </a:solidFill>
                <a:latin typeface="DM Sans" pitchFamily="34" charset="0"/>
                <a:ea typeface="DM Sans" pitchFamily="34" charset="-122"/>
                <a:cs typeface="DM Sans" pitchFamily="34" charset="-120"/>
              </a:rPr>
              <a:t> Maps output to (0,1) — useful for binary output layers.</a:t>
            </a:r>
            <a:endParaRPr lang="en-US" sz="1700" dirty="0"/>
          </a:p>
        </p:txBody>
      </p:sp>
      <p:sp>
        <p:nvSpPr>
          <p:cNvPr id="17" name="Text 14"/>
          <p:cNvSpPr/>
          <p:nvPr/>
        </p:nvSpPr>
        <p:spPr>
          <a:xfrm>
            <a:off x="8291751" y="5047059"/>
            <a:ext cx="5513903" cy="616268"/>
          </a:xfrm>
          <a:prstGeom prst="rect">
            <a:avLst/>
          </a:prstGeom>
          <a:noFill/>
          <a:ln/>
        </p:spPr>
        <p:txBody>
          <a:bodyPr wrap="square" lIns="0" tIns="0" rIns="0" bIns="0" rtlCol="0" anchor="t"/>
          <a:lstStyle/>
          <a:p>
            <a:pPr marL="0" indent="0" algn="l">
              <a:lnSpc>
                <a:spcPts val="2400"/>
              </a:lnSpc>
              <a:buNone/>
            </a:pPr>
            <a:r>
              <a:rPr lang="en-US" sz="1700" b="1" dirty="0">
                <a:solidFill>
                  <a:srgbClr val="000000"/>
                </a:solidFill>
                <a:latin typeface="DM Sans" pitchFamily="34" charset="0"/>
                <a:ea typeface="DM Sans" pitchFamily="34" charset="-122"/>
                <a:cs typeface="DM Sans" pitchFamily="34" charset="-120"/>
              </a:rPr>
              <a:t>Softmax:</a:t>
            </a:r>
            <a:r>
              <a:rPr lang="en-US" sz="1700" dirty="0">
                <a:solidFill>
                  <a:srgbClr val="000000"/>
                </a:solidFill>
                <a:latin typeface="DM Sans" pitchFamily="34" charset="0"/>
                <a:ea typeface="DM Sans" pitchFamily="34" charset="-122"/>
                <a:cs typeface="DM Sans" pitchFamily="34" charset="-120"/>
              </a:rPr>
              <a:t> Converts logits to a probability distribution across classes — used in the final layer of classifiers.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93790" y="1021437"/>
            <a:ext cx="2395418" cy="373142"/>
          </a:xfrm>
          <a:prstGeom prst="roundRect">
            <a:avLst>
              <a:gd name="adj" fmla="val 6383"/>
            </a:avLst>
          </a:prstGeom>
          <a:solidFill>
            <a:srgbClr val="FFDECC"/>
          </a:solidFill>
          <a:ln/>
        </p:spPr>
      </p:sp>
      <p:sp>
        <p:nvSpPr>
          <p:cNvPr id="3" name="Text 1"/>
          <p:cNvSpPr/>
          <p:nvPr/>
        </p:nvSpPr>
        <p:spPr>
          <a:xfrm>
            <a:off x="912852" y="1080968"/>
            <a:ext cx="2157293" cy="254079"/>
          </a:xfrm>
          <a:prstGeom prst="rect">
            <a:avLst/>
          </a:prstGeom>
          <a:noFill/>
          <a:ln/>
        </p:spPr>
        <p:txBody>
          <a:bodyPr wrap="none" lIns="0" tIns="0" rIns="0" bIns="0" rtlCol="0" anchor="t"/>
          <a:lstStyle/>
          <a:p>
            <a:pPr marL="0" indent="0" algn="l">
              <a:lnSpc>
                <a:spcPts val="2000"/>
              </a:lnSpc>
              <a:buNone/>
            </a:pPr>
            <a:r>
              <a:rPr lang="en-US" sz="1250" dirty="0">
                <a:solidFill>
                  <a:srgbClr val="383838"/>
                </a:solidFill>
                <a:latin typeface="DM Sans" pitchFamily="34" charset="0"/>
                <a:ea typeface="DM Sans" pitchFamily="34" charset="-122"/>
                <a:cs typeface="DM Sans" pitchFamily="34" charset="-120"/>
              </a:rPr>
              <a:t>DIMENSIONALITY REDUCTION</a:t>
            </a:r>
            <a:endParaRPr lang="en-US" sz="1250" dirty="0"/>
          </a:p>
        </p:txBody>
      </p:sp>
      <p:sp>
        <p:nvSpPr>
          <p:cNvPr id="4" name="Text 2"/>
          <p:cNvSpPr/>
          <p:nvPr/>
        </p:nvSpPr>
        <p:spPr>
          <a:xfrm>
            <a:off x="793790" y="1473875"/>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Types of Pooling</a:t>
            </a:r>
            <a:endParaRPr lang="en-US" sz="4100" dirty="0"/>
          </a:p>
        </p:txBody>
      </p:sp>
      <p:sp>
        <p:nvSpPr>
          <p:cNvPr id="5" name="Shape 3"/>
          <p:cNvSpPr/>
          <p:nvPr/>
        </p:nvSpPr>
        <p:spPr>
          <a:xfrm>
            <a:off x="650915" y="2422803"/>
            <a:ext cx="6565106" cy="3401378"/>
          </a:xfrm>
          <a:prstGeom prst="roundRect">
            <a:avLst>
              <a:gd name="adj" fmla="val 875"/>
            </a:avLst>
          </a:prstGeom>
          <a:noFill/>
          <a:ln/>
        </p:spPr>
      </p:sp>
      <p:sp>
        <p:nvSpPr>
          <p:cNvPr id="6" name="Text 4"/>
          <p:cNvSpPr/>
          <p:nvPr/>
        </p:nvSpPr>
        <p:spPr>
          <a:xfrm>
            <a:off x="849273" y="2621161"/>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020202"/>
                </a:solidFill>
                <a:latin typeface="PT Serif" pitchFamily="34" charset="0"/>
                <a:ea typeface="PT Serif" pitchFamily="34" charset="-122"/>
                <a:cs typeface="PT Serif" pitchFamily="34" charset="-120"/>
              </a:rPr>
              <a:t>Max Pooling</a:t>
            </a:r>
            <a:endParaRPr lang="en-US" sz="2050" b="1" dirty="0"/>
          </a:p>
        </p:txBody>
      </p:sp>
      <p:sp>
        <p:nvSpPr>
          <p:cNvPr id="7" name="Text 5"/>
          <p:cNvSpPr/>
          <p:nvPr/>
        </p:nvSpPr>
        <p:spPr>
          <a:xfrm>
            <a:off x="849273" y="3145155"/>
            <a:ext cx="6168390" cy="952619"/>
          </a:xfrm>
          <a:prstGeom prst="rect">
            <a:avLst/>
          </a:prstGeom>
          <a:noFill/>
          <a:ln/>
        </p:spPr>
        <p:txBody>
          <a:bodyPr wrap="square" lIns="0" tIns="0" rIns="0" bIns="0" rtlCol="0" anchor="t"/>
          <a:lstStyle/>
          <a:p>
            <a:pPr marL="0" indent="0" algn="l">
              <a:lnSpc>
                <a:spcPts val="2500"/>
              </a:lnSpc>
              <a:buNone/>
            </a:pPr>
            <a:r>
              <a:rPr lang="en-US" sz="1700" dirty="0">
                <a:solidFill>
                  <a:srgbClr val="000000"/>
                </a:solidFill>
                <a:latin typeface="DM Sans" pitchFamily="34" charset="0"/>
                <a:ea typeface="DM Sans" pitchFamily="34" charset="-122"/>
                <a:cs typeface="DM Sans" pitchFamily="34" charset="-120"/>
              </a:rPr>
              <a:t>Selects the </a:t>
            </a:r>
            <a:r>
              <a:rPr lang="en-US" sz="1700" b="1" dirty="0">
                <a:solidFill>
                  <a:srgbClr val="000000"/>
                </a:solidFill>
                <a:latin typeface="DM Sans" pitchFamily="34" charset="0"/>
                <a:ea typeface="DM Sans" pitchFamily="34" charset="-122"/>
                <a:cs typeface="DM Sans" pitchFamily="34" charset="-120"/>
              </a:rPr>
              <a:t>maximum value</a:t>
            </a:r>
            <a:r>
              <a:rPr lang="en-US" sz="1700" dirty="0">
                <a:solidFill>
                  <a:srgbClr val="000000"/>
                </a:solidFill>
                <a:latin typeface="DM Sans" pitchFamily="34" charset="0"/>
                <a:ea typeface="DM Sans" pitchFamily="34" charset="-122"/>
                <a:cs typeface="DM Sans" pitchFamily="34" charset="-120"/>
              </a:rPr>
              <a:t> from each pooling window. This retains the </a:t>
            </a:r>
            <a:r>
              <a:rPr lang="en-US" sz="1700" b="1" dirty="0">
                <a:solidFill>
                  <a:srgbClr val="000000"/>
                </a:solidFill>
                <a:latin typeface="DM Sans" pitchFamily="34" charset="0"/>
                <a:ea typeface="DM Sans" pitchFamily="34" charset="-122"/>
                <a:cs typeface="DM Sans" pitchFamily="34" charset="-120"/>
              </a:rPr>
              <a:t>strongest activation</a:t>
            </a:r>
            <a:r>
              <a:rPr lang="en-US" sz="1700" dirty="0">
                <a:solidFill>
                  <a:srgbClr val="000000"/>
                </a:solidFill>
                <a:latin typeface="DM Sans" pitchFamily="34" charset="0"/>
                <a:ea typeface="DM Sans" pitchFamily="34" charset="-122"/>
                <a:cs typeface="DM Sans" pitchFamily="34" charset="-120"/>
              </a:rPr>
              <a:t> — the most prominent evidence that a particular feature is present in that region.</a:t>
            </a:r>
            <a:endParaRPr lang="en-US" sz="1700" dirty="0"/>
          </a:p>
        </p:txBody>
      </p:sp>
      <p:sp>
        <p:nvSpPr>
          <p:cNvPr id="8" name="Text 6"/>
          <p:cNvSpPr/>
          <p:nvPr/>
        </p:nvSpPr>
        <p:spPr>
          <a:xfrm>
            <a:off x="849273" y="4276368"/>
            <a:ext cx="6168390" cy="1478399"/>
          </a:xfrm>
          <a:prstGeom prst="rect">
            <a:avLst/>
          </a:prstGeom>
          <a:noFill/>
          <a:ln/>
        </p:spPr>
        <p:txBody>
          <a:bodyPr wrap="square" lIns="0" tIns="0" rIns="0" bIns="0" rtlCol="0" anchor="t"/>
          <a:lstStyle/>
          <a:p>
            <a:pPr marL="342900" indent="-342900" algn="l">
              <a:lnSpc>
                <a:spcPts val="2500"/>
              </a:lnSpc>
              <a:buSzPct val="100000"/>
              <a:buChar char="•"/>
            </a:pPr>
            <a:r>
              <a:rPr lang="en-US" sz="1700" dirty="0">
                <a:solidFill>
                  <a:srgbClr val="000000"/>
                </a:solidFill>
                <a:latin typeface="DM Sans" pitchFamily="34" charset="0"/>
                <a:ea typeface="DM Sans" pitchFamily="34" charset="-122"/>
                <a:cs typeface="DM Sans" pitchFamily="34" charset="-120"/>
              </a:rPr>
              <a:t>Most widely used pooling method</a:t>
            </a:r>
            <a:endParaRPr lang="en-US" sz="1700" dirty="0"/>
          </a:p>
          <a:p>
            <a:pPr marL="342900" indent="-342900" algn="l">
              <a:lnSpc>
                <a:spcPts val="2500"/>
              </a:lnSpc>
              <a:buSzPct val="100000"/>
              <a:buChar char="•"/>
            </a:pPr>
            <a:r>
              <a:rPr lang="en-US" sz="1700" dirty="0">
                <a:solidFill>
                  <a:srgbClr val="000000"/>
                </a:solidFill>
                <a:latin typeface="DM Sans" pitchFamily="34" charset="0"/>
                <a:ea typeface="DM Sans" pitchFamily="34" charset="-122"/>
                <a:cs typeface="DM Sans" pitchFamily="34" charset="-120"/>
              </a:rPr>
              <a:t>Effective for detecting whether a feature exists</a:t>
            </a:r>
            <a:endParaRPr lang="en-US" sz="1700" dirty="0"/>
          </a:p>
          <a:p>
            <a:pPr marL="342900" indent="-342900" algn="l">
              <a:lnSpc>
                <a:spcPts val="2500"/>
              </a:lnSpc>
              <a:buSzPct val="100000"/>
              <a:buChar char="•"/>
            </a:pPr>
            <a:r>
              <a:rPr lang="en-US" sz="1700" dirty="0">
                <a:solidFill>
                  <a:srgbClr val="000000"/>
                </a:solidFill>
                <a:latin typeface="DM Sans" pitchFamily="34" charset="0"/>
                <a:ea typeface="DM Sans" pitchFamily="34" charset="-122"/>
                <a:cs typeface="DM Sans" pitchFamily="34" charset="-120"/>
              </a:rPr>
              <a:t>Robust to small translations and distortions</a:t>
            </a:r>
            <a:endParaRPr lang="en-US" sz="1700" dirty="0"/>
          </a:p>
          <a:p>
            <a:pPr marL="342900" indent="-342900" algn="l">
              <a:lnSpc>
                <a:spcPts val="2500"/>
              </a:lnSpc>
              <a:buSzPct val="100000"/>
              <a:buChar char="•"/>
            </a:pPr>
            <a:r>
              <a:rPr lang="en-US" sz="1700" dirty="0">
                <a:solidFill>
                  <a:srgbClr val="000000"/>
                </a:solidFill>
                <a:latin typeface="DM Sans" pitchFamily="34" charset="0"/>
                <a:ea typeface="DM Sans" pitchFamily="34" charset="-122"/>
                <a:cs typeface="DM Sans" pitchFamily="34" charset="-120"/>
              </a:rPr>
              <a:t>Typical window: 2×2 with stride 2 (halves dimensions)</a:t>
            </a:r>
            <a:endParaRPr lang="en-US" sz="1700" dirty="0"/>
          </a:p>
        </p:txBody>
      </p:sp>
      <p:sp>
        <p:nvSpPr>
          <p:cNvPr id="12" name="Shape 10"/>
          <p:cNvSpPr/>
          <p:nvPr/>
        </p:nvSpPr>
        <p:spPr>
          <a:xfrm>
            <a:off x="793789" y="6546533"/>
            <a:ext cx="13042821" cy="1160740"/>
          </a:xfrm>
          <a:prstGeom prst="roundRect">
            <a:avLst>
              <a:gd name="adj" fmla="val 2565"/>
            </a:avLst>
          </a:prstGeom>
          <a:solidFill>
            <a:srgbClr val="FFCDB3"/>
          </a:solidFill>
          <a:ln/>
        </p:spPr>
      </p:sp>
      <p:pic>
        <p:nvPicPr>
          <p:cNvPr id="13" name="Image 0" descr="preencoded.png"/>
          <p:cNvPicPr>
            <a:picLocks noChangeAspect="1"/>
          </p:cNvPicPr>
          <p:nvPr/>
        </p:nvPicPr>
        <p:blipFill>
          <a:blip r:embed="rId3"/>
          <a:stretch>
            <a:fillRect/>
          </a:stretch>
        </p:blipFill>
        <p:spPr>
          <a:xfrm>
            <a:off x="1047480" y="6912015"/>
            <a:ext cx="248007" cy="198358"/>
          </a:xfrm>
          <a:prstGeom prst="rect">
            <a:avLst/>
          </a:prstGeom>
        </p:spPr>
      </p:pic>
      <p:sp>
        <p:nvSpPr>
          <p:cNvPr id="14" name="Text 11"/>
          <p:cNvSpPr/>
          <p:nvPr/>
        </p:nvSpPr>
        <p:spPr>
          <a:xfrm>
            <a:off x="1644491" y="6792834"/>
            <a:ext cx="12199739" cy="635079"/>
          </a:xfrm>
          <a:prstGeom prst="rect">
            <a:avLst/>
          </a:prstGeom>
          <a:noFill/>
          <a:ln/>
        </p:spPr>
        <p:txBody>
          <a:bodyPr wrap="square" lIns="0" tIns="0" rIns="0" bIns="0" rtlCol="0" anchor="t"/>
          <a:lstStyle/>
          <a:p>
            <a:pPr marL="0" indent="0" algn="l">
              <a:lnSpc>
                <a:spcPts val="2500"/>
              </a:lnSpc>
              <a:buNone/>
            </a:pPr>
            <a:r>
              <a:rPr lang="en-US" sz="1700" b="1" dirty="0">
                <a:solidFill>
                  <a:srgbClr val="000000"/>
                </a:solidFill>
                <a:latin typeface="DM Sans" pitchFamily="34" charset="0"/>
                <a:ea typeface="DM Sans" pitchFamily="34" charset="-122"/>
                <a:cs typeface="DM Sans" pitchFamily="34" charset="-120"/>
              </a:rPr>
              <a:t>Practical Note: Max pooling is the default choice in most architectures. Global Average Pooling (GAP) is increasingly used in modern networks to reduce parameters and prevent overfitting.</a:t>
            </a:r>
            <a:endParaRPr lang="en-US" sz="1700" b="1" dirty="0"/>
          </a:p>
        </p:txBody>
      </p:sp>
      <p:pic>
        <p:nvPicPr>
          <p:cNvPr id="16" name="Picture 15">
            <a:extLst>
              <a:ext uri="{FF2B5EF4-FFF2-40B4-BE49-F238E27FC236}">
                <a16:creationId xmlns:a16="http://schemas.microsoft.com/office/drawing/2014/main" id="{F05AA04B-92A8-0C99-37D2-00726818BA41}"/>
              </a:ext>
            </a:extLst>
          </p:cNvPr>
          <p:cNvPicPr>
            <a:picLocks noChangeAspect="1"/>
          </p:cNvPicPr>
          <p:nvPr/>
        </p:nvPicPr>
        <p:blipFill>
          <a:blip r:embed="rId4"/>
          <a:stretch>
            <a:fillRect/>
          </a:stretch>
        </p:blipFill>
        <p:spPr>
          <a:xfrm>
            <a:off x="7579280" y="2552049"/>
            <a:ext cx="5614206" cy="3103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46790-D87E-4F9E-D8B9-64CD910562E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F925332-3E7D-C269-60AB-7211495561FB}"/>
              </a:ext>
            </a:extLst>
          </p:cNvPr>
          <p:cNvSpPr/>
          <p:nvPr/>
        </p:nvSpPr>
        <p:spPr>
          <a:xfrm>
            <a:off x="793790" y="1021437"/>
            <a:ext cx="2395418" cy="373142"/>
          </a:xfrm>
          <a:prstGeom prst="roundRect">
            <a:avLst>
              <a:gd name="adj" fmla="val 6383"/>
            </a:avLst>
          </a:prstGeom>
          <a:solidFill>
            <a:srgbClr val="FFDECC"/>
          </a:solidFill>
          <a:ln/>
        </p:spPr>
      </p:sp>
      <p:sp>
        <p:nvSpPr>
          <p:cNvPr id="3" name="Text 1">
            <a:extLst>
              <a:ext uri="{FF2B5EF4-FFF2-40B4-BE49-F238E27FC236}">
                <a16:creationId xmlns:a16="http://schemas.microsoft.com/office/drawing/2014/main" id="{4F820D3B-A846-09C9-4E28-89CBCDCFAE17}"/>
              </a:ext>
            </a:extLst>
          </p:cNvPr>
          <p:cNvSpPr/>
          <p:nvPr/>
        </p:nvSpPr>
        <p:spPr>
          <a:xfrm>
            <a:off x="912852" y="1080968"/>
            <a:ext cx="2157293" cy="254079"/>
          </a:xfrm>
          <a:prstGeom prst="rect">
            <a:avLst/>
          </a:prstGeom>
          <a:noFill/>
          <a:ln/>
        </p:spPr>
        <p:txBody>
          <a:bodyPr wrap="none" lIns="0" tIns="0" rIns="0" bIns="0" rtlCol="0" anchor="t"/>
          <a:lstStyle/>
          <a:p>
            <a:pPr marL="0" indent="0" algn="l">
              <a:lnSpc>
                <a:spcPts val="2000"/>
              </a:lnSpc>
              <a:buNone/>
            </a:pPr>
            <a:r>
              <a:rPr lang="en-US" sz="1250" dirty="0">
                <a:solidFill>
                  <a:srgbClr val="383838"/>
                </a:solidFill>
                <a:latin typeface="DM Sans" pitchFamily="34" charset="0"/>
                <a:ea typeface="DM Sans" pitchFamily="34" charset="-122"/>
                <a:cs typeface="DM Sans" pitchFamily="34" charset="-120"/>
              </a:rPr>
              <a:t>DIMENSIONALITY REDUCTION</a:t>
            </a:r>
            <a:endParaRPr lang="en-US" sz="1250" dirty="0"/>
          </a:p>
        </p:txBody>
      </p:sp>
      <p:sp>
        <p:nvSpPr>
          <p:cNvPr id="4" name="Text 2">
            <a:extLst>
              <a:ext uri="{FF2B5EF4-FFF2-40B4-BE49-F238E27FC236}">
                <a16:creationId xmlns:a16="http://schemas.microsoft.com/office/drawing/2014/main" id="{191922B2-29AF-FB41-56BC-6D896A54EA4F}"/>
              </a:ext>
            </a:extLst>
          </p:cNvPr>
          <p:cNvSpPr/>
          <p:nvPr/>
        </p:nvSpPr>
        <p:spPr>
          <a:xfrm>
            <a:off x="793790" y="1473875"/>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Types of Pooling</a:t>
            </a:r>
            <a:endParaRPr lang="en-US" sz="4100" dirty="0"/>
          </a:p>
        </p:txBody>
      </p:sp>
      <p:sp>
        <p:nvSpPr>
          <p:cNvPr id="5" name="Shape 3">
            <a:extLst>
              <a:ext uri="{FF2B5EF4-FFF2-40B4-BE49-F238E27FC236}">
                <a16:creationId xmlns:a16="http://schemas.microsoft.com/office/drawing/2014/main" id="{8FFE9C71-9611-7887-F68A-8855C5022344}"/>
              </a:ext>
            </a:extLst>
          </p:cNvPr>
          <p:cNvSpPr/>
          <p:nvPr/>
        </p:nvSpPr>
        <p:spPr>
          <a:xfrm>
            <a:off x="650915" y="2422803"/>
            <a:ext cx="6565106" cy="3401378"/>
          </a:xfrm>
          <a:prstGeom prst="roundRect">
            <a:avLst>
              <a:gd name="adj" fmla="val 875"/>
            </a:avLst>
          </a:prstGeom>
          <a:noFill/>
          <a:ln/>
        </p:spPr>
      </p:sp>
      <p:sp>
        <p:nvSpPr>
          <p:cNvPr id="9" name="Text 7">
            <a:extLst>
              <a:ext uri="{FF2B5EF4-FFF2-40B4-BE49-F238E27FC236}">
                <a16:creationId xmlns:a16="http://schemas.microsoft.com/office/drawing/2014/main" id="{8C75FBAE-F599-A998-9DF1-CBEF40F9C4A9}"/>
              </a:ext>
            </a:extLst>
          </p:cNvPr>
          <p:cNvSpPr/>
          <p:nvPr/>
        </p:nvSpPr>
        <p:spPr>
          <a:xfrm>
            <a:off x="7564874" y="2621161"/>
            <a:ext cx="2604968" cy="325636"/>
          </a:xfrm>
          <a:prstGeom prst="rect">
            <a:avLst/>
          </a:prstGeom>
          <a:noFill/>
          <a:ln/>
        </p:spPr>
        <p:txBody>
          <a:bodyPr wrap="none" lIns="0" tIns="0" rIns="0" bIns="0" rtlCol="0" anchor="t"/>
          <a:lstStyle/>
          <a:p>
            <a:pPr marL="0" indent="0" algn="l">
              <a:lnSpc>
                <a:spcPts val="2550"/>
              </a:lnSpc>
              <a:buNone/>
            </a:pPr>
            <a:r>
              <a:rPr lang="en-US" sz="2050" b="1" dirty="0">
                <a:solidFill>
                  <a:srgbClr val="020202"/>
                </a:solidFill>
                <a:latin typeface="PT Serif" pitchFamily="34" charset="0"/>
                <a:ea typeface="PT Serif" pitchFamily="34" charset="-122"/>
                <a:cs typeface="PT Serif" pitchFamily="34" charset="-120"/>
              </a:rPr>
              <a:t>Average Pooling</a:t>
            </a:r>
            <a:endParaRPr lang="en-US" sz="2050" b="1" dirty="0"/>
          </a:p>
        </p:txBody>
      </p:sp>
      <p:sp>
        <p:nvSpPr>
          <p:cNvPr id="10" name="Text 8">
            <a:extLst>
              <a:ext uri="{FF2B5EF4-FFF2-40B4-BE49-F238E27FC236}">
                <a16:creationId xmlns:a16="http://schemas.microsoft.com/office/drawing/2014/main" id="{454853C6-EA23-0DD6-0BDA-C0596C5D5251}"/>
              </a:ext>
            </a:extLst>
          </p:cNvPr>
          <p:cNvSpPr/>
          <p:nvPr/>
        </p:nvSpPr>
        <p:spPr>
          <a:xfrm>
            <a:off x="7564874" y="3145155"/>
            <a:ext cx="6279356" cy="95261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Computes the </a:t>
            </a:r>
            <a:r>
              <a:rPr lang="en-US" sz="1700" b="1" dirty="0">
                <a:solidFill>
                  <a:srgbClr val="383838"/>
                </a:solidFill>
                <a:latin typeface="DM Sans" pitchFamily="34" charset="0"/>
                <a:ea typeface="DM Sans" pitchFamily="34" charset="-122"/>
                <a:cs typeface="DM Sans" pitchFamily="34" charset="-120"/>
              </a:rPr>
              <a:t>mean value</a:t>
            </a:r>
            <a:r>
              <a:rPr lang="en-US" sz="1700" dirty="0">
                <a:solidFill>
                  <a:srgbClr val="383838"/>
                </a:solidFill>
                <a:latin typeface="DM Sans" pitchFamily="34" charset="0"/>
                <a:ea typeface="DM Sans" pitchFamily="34" charset="-122"/>
                <a:cs typeface="DM Sans" pitchFamily="34" charset="-120"/>
              </a:rPr>
              <a:t> across each pooling window. Produces a smoother, more distributed representation of the feature map by considering all activations equally.</a:t>
            </a:r>
            <a:endParaRPr lang="en-US" sz="1700" dirty="0"/>
          </a:p>
        </p:txBody>
      </p:sp>
      <p:sp>
        <p:nvSpPr>
          <p:cNvPr id="11" name="Text 9">
            <a:extLst>
              <a:ext uri="{FF2B5EF4-FFF2-40B4-BE49-F238E27FC236}">
                <a16:creationId xmlns:a16="http://schemas.microsoft.com/office/drawing/2014/main" id="{D6523873-D9B7-B0FC-1676-13F641F5B4A7}"/>
              </a:ext>
            </a:extLst>
          </p:cNvPr>
          <p:cNvSpPr/>
          <p:nvPr/>
        </p:nvSpPr>
        <p:spPr>
          <a:xfrm>
            <a:off x="7564874" y="4276368"/>
            <a:ext cx="6279356" cy="1478399"/>
          </a:xfrm>
          <a:prstGeom prst="rect">
            <a:avLst/>
          </a:prstGeom>
          <a:noFill/>
          <a:ln/>
        </p:spPr>
        <p:txBody>
          <a:bodyPr wrap="square" lIns="0" tIns="0" rIns="0" bIns="0" rtlCol="0" anchor="t"/>
          <a:lstStyle/>
          <a:p>
            <a:pPr marL="342900" indent="-342900" algn="l">
              <a:lnSpc>
                <a:spcPts val="2500"/>
              </a:lnSpc>
              <a:buSzPct val="100000"/>
              <a:buChar char="•"/>
            </a:pPr>
            <a:r>
              <a:rPr lang="en-US" sz="1700" dirty="0">
                <a:solidFill>
                  <a:srgbClr val="383838"/>
                </a:solidFill>
                <a:latin typeface="DM Sans" pitchFamily="34" charset="0"/>
                <a:ea typeface="DM Sans" pitchFamily="34" charset="-122"/>
                <a:cs typeface="DM Sans" pitchFamily="34" charset="-120"/>
              </a:rPr>
              <a:t>Less aggressive than max pooling</a:t>
            </a:r>
            <a:endParaRPr lang="en-US" sz="1700" dirty="0"/>
          </a:p>
          <a:p>
            <a:pPr marL="342900" indent="-342900" algn="l">
              <a:lnSpc>
                <a:spcPts val="2500"/>
              </a:lnSpc>
              <a:buSzPct val="100000"/>
              <a:buChar char="•"/>
            </a:pPr>
            <a:r>
              <a:rPr lang="en-US" sz="1700" dirty="0">
                <a:solidFill>
                  <a:srgbClr val="383838"/>
                </a:solidFill>
                <a:latin typeface="DM Sans" pitchFamily="34" charset="0"/>
                <a:ea typeface="DM Sans" pitchFamily="34" charset="-122"/>
                <a:cs typeface="DM Sans" pitchFamily="34" charset="-120"/>
              </a:rPr>
              <a:t>Useful when global context matters more than peak activations</a:t>
            </a:r>
            <a:endParaRPr lang="en-US" sz="1700" dirty="0"/>
          </a:p>
          <a:p>
            <a:pPr marL="342900" indent="-342900" algn="l">
              <a:lnSpc>
                <a:spcPts val="2500"/>
              </a:lnSpc>
              <a:buSzPct val="100000"/>
              <a:buChar char="•"/>
            </a:pPr>
            <a:r>
              <a:rPr lang="en-US" sz="1700" dirty="0">
                <a:solidFill>
                  <a:srgbClr val="383838"/>
                </a:solidFill>
                <a:latin typeface="DM Sans" pitchFamily="34" charset="0"/>
                <a:ea typeface="DM Sans" pitchFamily="34" charset="-122"/>
                <a:cs typeface="DM Sans" pitchFamily="34" charset="-120"/>
              </a:rPr>
              <a:t>Common in final layers as </a:t>
            </a:r>
            <a:r>
              <a:rPr lang="en-US" sz="1700" b="1" dirty="0">
                <a:solidFill>
                  <a:srgbClr val="383838"/>
                </a:solidFill>
                <a:latin typeface="DM Sans" pitchFamily="34" charset="0"/>
                <a:ea typeface="DM Sans" pitchFamily="34" charset="-122"/>
                <a:cs typeface="DM Sans" pitchFamily="34" charset="-120"/>
              </a:rPr>
              <a:t>Global Average Pooling (GAP)</a:t>
            </a:r>
            <a:endParaRPr lang="en-US" sz="1700" dirty="0"/>
          </a:p>
          <a:p>
            <a:pPr marL="342900" indent="-342900" algn="l">
              <a:lnSpc>
                <a:spcPts val="2500"/>
              </a:lnSpc>
              <a:buSzPct val="100000"/>
              <a:buChar char="•"/>
            </a:pPr>
            <a:r>
              <a:rPr lang="en-US" sz="1700" dirty="0">
                <a:solidFill>
                  <a:srgbClr val="383838"/>
                </a:solidFill>
                <a:latin typeface="DM Sans" pitchFamily="34" charset="0"/>
                <a:ea typeface="DM Sans" pitchFamily="34" charset="-122"/>
                <a:cs typeface="DM Sans" pitchFamily="34" charset="-120"/>
              </a:rPr>
              <a:t>GAP replaces fully connected layers in modern architectures</a:t>
            </a:r>
            <a:endParaRPr lang="en-US" sz="1700" dirty="0"/>
          </a:p>
        </p:txBody>
      </p:sp>
      <p:pic>
        <p:nvPicPr>
          <p:cNvPr id="16" name="Picture 15">
            <a:extLst>
              <a:ext uri="{FF2B5EF4-FFF2-40B4-BE49-F238E27FC236}">
                <a16:creationId xmlns:a16="http://schemas.microsoft.com/office/drawing/2014/main" id="{9F8EA314-208F-976F-C199-37321AC18F78}"/>
              </a:ext>
            </a:extLst>
          </p:cNvPr>
          <p:cNvPicPr>
            <a:picLocks noChangeAspect="1"/>
          </p:cNvPicPr>
          <p:nvPr/>
        </p:nvPicPr>
        <p:blipFill>
          <a:blip r:embed="rId3"/>
          <a:stretch>
            <a:fillRect/>
          </a:stretch>
        </p:blipFill>
        <p:spPr>
          <a:xfrm>
            <a:off x="793790" y="3153371"/>
            <a:ext cx="5476915" cy="3116800"/>
          </a:xfrm>
          <a:prstGeom prst="rect">
            <a:avLst/>
          </a:prstGeom>
        </p:spPr>
      </p:pic>
    </p:spTree>
    <p:extLst>
      <p:ext uri="{BB962C8B-B14F-4D97-AF65-F5344CB8AC3E}">
        <p14:creationId xmlns:p14="http://schemas.microsoft.com/office/powerpoint/2010/main" val="3717827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793790" y="1235484"/>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Fully Connected Layer</a:t>
            </a:r>
            <a:endParaRPr lang="en-US" sz="4100" dirty="0"/>
          </a:p>
        </p:txBody>
      </p:sp>
      <p:sp>
        <p:nvSpPr>
          <p:cNvPr id="5" name="Text 3"/>
          <p:cNvSpPr/>
          <p:nvPr/>
        </p:nvSpPr>
        <p:spPr>
          <a:xfrm>
            <a:off x="793789" y="2340100"/>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After a series of convolution, activation, and pooling operations, the spatial feature maps are </a:t>
            </a:r>
            <a:r>
              <a:rPr lang="en-US" b="1" dirty="0">
                <a:solidFill>
                  <a:srgbClr val="383838"/>
                </a:solidFill>
                <a:latin typeface="DM Sans" pitchFamily="34" charset="0"/>
                <a:ea typeface="DM Sans" pitchFamily="34" charset="-122"/>
                <a:cs typeface="DM Sans" pitchFamily="34" charset="-120"/>
              </a:rPr>
              <a:t>flattened</a:t>
            </a:r>
            <a:r>
              <a:rPr lang="en-US" dirty="0">
                <a:solidFill>
                  <a:srgbClr val="383838"/>
                </a:solidFill>
                <a:latin typeface="DM Sans" pitchFamily="34" charset="0"/>
                <a:ea typeface="DM Sans" pitchFamily="34" charset="-122"/>
                <a:cs typeface="DM Sans" pitchFamily="34" charset="-120"/>
              </a:rPr>
              <a:t> into a single 1D vector. This vector is then passed through one or more </a:t>
            </a:r>
            <a:r>
              <a:rPr lang="en-US" b="1" dirty="0">
                <a:solidFill>
                  <a:srgbClr val="383838"/>
                </a:solidFill>
                <a:latin typeface="DM Sans" pitchFamily="34" charset="0"/>
                <a:ea typeface="DM Sans" pitchFamily="34" charset="-122"/>
                <a:cs typeface="DM Sans" pitchFamily="34" charset="-120"/>
              </a:rPr>
              <a:t>fully connected (dense) layers</a:t>
            </a:r>
            <a:r>
              <a:rPr lang="en-US" dirty="0">
                <a:solidFill>
                  <a:srgbClr val="383838"/>
                </a:solidFill>
                <a:latin typeface="DM Sans" pitchFamily="34" charset="0"/>
                <a:ea typeface="DM Sans" pitchFamily="34" charset="-122"/>
                <a:cs typeface="DM Sans" pitchFamily="34" charset="-120"/>
              </a:rPr>
              <a:t>, where every neuron connects to every neuron in the adjacent layer.</a:t>
            </a:r>
            <a:endParaRPr lang="en-US"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8204" y="4075748"/>
            <a:ext cx="297656" cy="297656"/>
          </a:xfrm>
          <a:prstGeom prst="rect">
            <a:avLst/>
          </a:prstGeom>
        </p:spPr>
      </p:pic>
      <p:sp>
        <p:nvSpPr>
          <p:cNvPr id="7" name="Text 4"/>
          <p:cNvSpPr/>
          <p:nvPr/>
        </p:nvSpPr>
        <p:spPr>
          <a:xfrm>
            <a:off x="1438632" y="406967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Flatten</a:t>
            </a:r>
            <a:endParaRPr lang="en-US" sz="2050" dirty="0"/>
          </a:p>
        </p:txBody>
      </p:sp>
      <p:sp>
        <p:nvSpPr>
          <p:cNvPr id="8" name="Text 5"/>
          <p:cNvSpPr/>
          <p:nvPr/>
        </p:nvSpPr>
        <p:spPr>
          <a:xfrm>
            <a:off x="1438632" y="4514374"/>
            <a:ext cx="3537347" cy="1905238"/>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The final pooled feature maps (e.g., 4×4×64) are reshaped into a flat vector (e.g., 1024 values). This converts spatial representations into a format compatible with dense layers.</a:t>
            </a:r>
            <a:endParaRPr lang="en-US" sz="17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98400" y="4075748"/>
            <a:ext cx="297656" cy="297656"/>
          </a:xfrm>
          <a:prstGeom prst="rect">
            <a:avLst/>
          </a:prstGeom>
        </p:spPr>
      </p:pic>
      <p:sp>
        <p:nvSpPr>
          <p:cNvPr id="10" name="Text 6"/>
          <p:cNvSpPr/>
          <p:nvPr/>
        </p:nvSpPr>
        <p:spPr>
          <a:xfrm>
            <a:off x="5868829" y="4069675"/>
            <a:ext cx="2606516"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Dense Hidden Layer(s)</a:t>
            </a:r>
            <a:endParaRPr lang="en-US" sz="2050" dirty="0"/>
          </a:p>
        </p:txBody>
      </p:sp>
      <p:sp>
        <p:nvSpPr>
          <p:cNvPr id="11" name="Text 7"/>
          <p:cNvSpPr/>
          <p:nvPr/>
        </p:nvSpPr>
        <p:spPr>
          <a:xfrm>
            <a:off x="5868829" y="4514374"/>
            <a:ext cx="3537466" cy="1587698"/>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One or more fully connected layers with ReLU activation learn </a:t>
            </a:r>
            <a:r>
              <a:rPr lang="en-US" sz="1700" b="1" dirty="0">
                <a:solidFill>
                  <a:srgbClr val="383838"/>
                </a:solidFill>
                <a:latin typeface="DM Sans" pitchFamily="34" charset="0"/>
                <a:ea typeface="DM Sans" pitchFamily="34" charset="-122"/>
                <a:cs typeface="DM Sans" pitchFamily="34" charset="-120"/>
              </a:rPr>
              <a:t>high-level combinations</a:t>
            </a:r>
            <a:r>
              <a:rPr lang="en-US" sz="1700" dirty="0">
                <a:solidFill>
                  <a:srgbClr val="383838"/>
                </a:solidFill>
                <a:latin typeface="DM Sans" pitchFamily="34" charset="0"/>
                <a:ea typeface="DM Sans" pitchFamily="34" charset="-122"/>
                <a:cs typeface="DM Sans" pitchFamily="34" charset="-120"/>
              </a:rPr>
              <a:t> of the extracted features, capturing global relationships across the entire image.</a:t>
            </a:r>
            <a:endParaRPr lang="en-US" sz="17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728716" y="4075748"/>
            <a:ext cx="297656" cy="297656"/>
          </a:xfrm>
          <a:prstGeom prst="rect">
            <a:avLst/>
          </a:prstGeom>
        </p:spPr>
      </p:pic>
      <p:sp>
        <p:nvSpPr>
          <p:cNvPr id="13" name="Text 8"/>
          <p:cNvSpPr/>
          <p:nvPr/>
        </p:nvSpPr>
        <p:spPr>
          <a:xfrm>
            <a:off x="10299144" y="4069675"/>
            <a:ext cx="260496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Output Layer</a:t>
            </a:r>
            <a:endParaRPr lang="en-US" sz="2050" dirty="0"/>
          </a:p>
        </p:txBody>
      </p:sp>
      <p:sp>
        <p:nvSpPr>
          <p:cNvPr id="14" name="Text 9"/>
          <p:cNvSpPr/>
          <p:nvPr/>
        </p:nvSpPr>
        <p:spPr>
          <a:xfrm>
            <a:off x="10299144" y="4514374"/>
            <a:ext cx="3537466" cy="1587698"/>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The final dense layer produces one value per class. A </a:t>
            </a:r>
            <a:r>
              <a:rPr lang="en-US" sz="1700" b="1" dirty="0">
                <a:solidFill>
                  <a:srgbClr val="383838"/>
                </a:solidFill>
                <a:latin typeface="DM Sans" pitchFamily="34" charset="0"/>
                <a:ea typeface="DM Sans" pitchFamily="34" charset="-122"/>
                <a:cs typeface="DM Sans" pitchFamily="34" charset="-120"/>
              </a:rPr>
              <a:t>Softmax</a:t>
            </a:r>
            <a:r>
              <a:rPr lang="en-US" sz="1700" dirty="0">
                <a:solidFill>
                  <a:srgbClr val="383838"/>
                </a:solidFill>
                <a:latin typeface="DM Sans" pitchFamily="34" charset="0"/>
                <a:ea typeface="DM Sans" pitchFamily="34" charset="-122"/>
                <a:cs typeface="DM Sans" pitchFamily="34" charset="-120"/>
              </a:rPr>
              <a:t> activation converts these into a probability distribution — the model's confidence for each possible class label.</a:t>
            </a:r>
            <a:endParaRPr lang="en-US" sz="1700" dirty="0"/>
          </a:p>
        </p:txBody>
      </p:sp>
    </p:spTree>
    <p:extLst>
      <p:ext uri="{BB962C8B-B14F-4D97-AF65-F5344CB8AC3E}">
        <p14:creationId xmlns:p14="http://schemas.microsoft.com/office/powerpoint/2010/main" val="3880752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793791" y="1267421"/>
            <a:ext cx="8473678" cy="744259"/>
          </a:xfrm>
          <a:prstGeom prst="rect">
            <a:avLst/>
          </a:prstGeom>
          <a:noFill/>
          <a:ln/>
        </p:spPr>
        <p:txBody>
          <a:bodyPr wrap="none" lIns="0" tIns="0" rIns="0" bIns="0" rtlCol="0" anchor="t"/>
          <a:lstStyle/>
          <a:p>
            <a:pPr>
              <a:lnSpc>
                <a:spcPts val="5840"/>
              </a:lnSpc>
            </a:pPr>
            <a:r>
              <a:rPr lang="en-US" sz="4640" dirty="0">
                <a:solidFill>
                  <a:srgbClr val="020202"/>
                </a:solidFill>
                <a:latin typeface="PT Serif" pitchFamily="34" charset="0"/>
                <a:ea typeface="PT Serif" pitchFamily="34" charset="-122"/>
                <a:cs typeface="PT Serif" pitchFamily="34" charset="-120"/>
              </a:rPr>
              <a:t>Feature Hierarchy Across Layers</a:t>
            </a:r>
            <a:endParaRPr lang="en-US" sz="4640" dirty="0"/>
          </a:p>
        </p:txBody>
      </p:sp>
      <p:sp>
        <p:nvSpPr>
          <p:cNvPr id="5" name="Text 3"/>
          <p:cNvSpPr/>
          <p:nvPr/>
        </p:nvSpPr>
        <p:spPr>
          <a:xfrm>
            <a:off x="793791" y="2351842"/>
            <a:ext cx="13042821" cy="725805"/>
          </a:xfrm>
          <a:prstGeom prst="rect">
            <a:avLst/>
          </a:prstGeom>
          <a:noFill/>
          <a:ln/>
        </p:spPr>
        <p:txBody>
          <a:bodyPr wrap="square" lIns="0" tIns="0" rIns="0" bIns="0" rtlCol="0" anchor="t"/>
          <a:lstStyle/>
          <a:p>
            <a:pPr>
              <a:lnSpc>
                <a:spcPts val="2800"/>
              </a:lnSpc>
            </a:pPr>
            <a:r>
              <a:rPr lang="en-US" sz="1760" dirty="0">
                <a:solidFill>
                  <a:srgbClr val="383838"/>
                </a:solidFill>
                <a:latin typeface="DM Sans" pitchFamily="34" charset="0"/>
                <a:ea typeface="DM Sans" pitchFamily="34" charset="-122"/>
                <a:cs typeface="DM Sans" pitchFamily="34" charset="-120"/>
              </a:rPr>
              <a:t>The power of CNNs emerges from composing simple operations across depth. Each layer's receptive field grows, enabling the network to integrate context from larger regions of the image.</a:t>
            </a:r>
            <a:endParaRPr lang="en-US" sz="1760" dirty="0"/>
          </a:p>
        </p:txBody>
      </p:sp>
      <p:sp>
        <p:nvSpPr>
          <p:cNvPr id="6" name="Shape 4"/>
          <p:cNvSpPr/>
          <p:nvPr/>
        </p:nvSpPr>
        <p:spPr>
          <a:xfrm>
            <a:off x="1133952" y="4240055"/>
            <a:ext cx="3856077" cy="226814"/>
          </a:xfrm>
          <a:prstGeom prst="roundRect">
            <a:avLst>
              <a:gd name="adj" fmla="val 15001"/>
            </a:avLst>
          </a:prstGeom>
          <a:solidFill>
            <a:srgbClr val="F2EEEE"/>
          </a:solidFill>
          <a:ln/>
        </p:spPr>
      </p:sp>
      <p:sp>
        <p:nvSpPr>
          <p:cNvPr id="7" name="Shape 5"/>
          <p:cNvSpPr/>
          <p:nvPr/>
        </p:nvSpPr>
        <p:spPr>
          <a:xfrm>
            <a:off x="793790" y="4013181"/>
            <a:ext cx="680442" cy="680442"/>
          </a:xfrm>
          <a:prstGeom prst="roundRect">
            <a:avLst>
              <a:gd name="adj" fmla="val 67192"/>
            </a:avLst>
          </a:prstGeom>
          <a:solidFill>
            <a:srgbClr val="F2EEEE"/>
          </a:solidFill>
          <a:ln/>
        </p:spPr>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3930" y="4183321"/>
            <a:ext cx="340162" cy="340162"/>
          </a:xfrm>
          <a:prstGeom prst="rect">
            <a:avLst/>
          </a:prstGeom>
        </p:spPr>
      </p:pic>
      <p:sp>
        <p:nvSpPr>
          <p:cNvPr id="9" name="Text 6"/>
          <p:cNvSpPr/>
          <p:nvPr/>
        </p:nvSpPr>
        <p:spPr>
          <a:xfrm>
            <a:off x="1020603" y="4920496"/>
            <a:ext cx="3742730" cy="744141"/>
          </a:xfrm>
          <a:prstGeom prst="rect">
            <a:avLst/>
          </a:prstGeom>
          <a:noFill/>
          <a:ln/>
        </p:spPr>
        <p:txBody>
          <a:bodyPr wrap="square" lIns="0" tIns="0" rIns="0" bIns="0" rtlCol="0" anchor="t"/>
          <a:lstStyle/>
          <a:p>
            <a:pPr>
              <a:lnSpc>
                <a:spcPts val="2880"/>
              </a:lnSpc>
            </a:pPr>
            <a:r>
              <a:rPr lang="en-US" sz="2320" dirty="0">
                <a:solidFill>
                  <a:srgbClr val="383838"/>
                </a:solidFill>
                <a:latin typeface="PT Serif" pitchFamily="34" charset="0"/>
                <a:ea typeface="PT Serif" pitchFamily="34" charset="-122"/>
                <a:cs typeface="PT Serif" pitchFamily="34" charset="-120"/>
              </a:rPr>
              <a:t>Layer 1–2: Low-Level Features</a:t>
            </a:r>
            <a:endParaRPr lang="en-US" sz="2320" dirty="0"/>
          </a:p>
        </p:txBody>
      </p:sp>
      <p:sp>
        <p:nvSpPr>
          <p:cNvPr id="10" name="Text 7"/>
          <p:cNvSpPr/>
          <p:nvPr/>
        </p:nvSpPr>
        <p:spPr>
          <a:xfrm>
            <a:off x="1020603" y="5800725"/>
            <a:ext cx="3742730" cy="1451610"/>
          </a:xfrm>
          <a:prstGeom prst="rect">
            <a:avLst/>
          </a:prstGeom>
          <a:noFill/>
          <a:ln/>
        </p:spPr>
        <p:txBody>
          <a:bodyPr wrap="square" lIns="0" tIns="0" rIns="0" bIns="0" rtlCol="0" anchor="t"/>
          <a:lstStyle/>
          <a:p>
            <a:pPr>
              <a:lnSpc>
                <a:spcPts val="2800"/>
              </a:lnSpc>
            </a:pPr>
            <a:r>
              <a:rPr lang="en-US" sz="1760" dirty="0">
                <a:solidFill>
                  <a:srgbClr val="383838"/>
                </a:solidFill>
                <a:latin typeface="DM Sans" pitchFamily="34" charset="0"/>
                <a:ea typeface="DM Sans" pitchFamily="34" charset="-122"/>
                <a:cs typeface="DM Sans" pitchFamily="34" charset="-120"/>
              </a:rPr>
              <a:t>Oriented edges, color gradients, blobs. Filters resemble Gabor wavelets — similar across many architectures.</a:t>
            </a:r>
            <a:endParaRPr lang="en-US" sz="1760" dirty="0"/>
          </a:p>
        </p:txBody>
      </p:sp>
      <p:sp>
        <p:nvSpPr>
          <p:cNvPr id="11" name="Shape 8"/>
          <p:cNvSpPr/>
          <p:nvPr/>
        </p:nvSpPr>
        <p:spPr>
          <a:xfrm>
            <a:off x="5557123" y="3899774"/>
            <a:ext cx="3856077" cy="226814"/>
          </a:xfrm>
          <a:prstGeom prst="roundRect">
            <a:avLst>
              <a:gd name="adj" fmla="val 15001"/>
            </a:avLst>
          </a:prstGeom>
          <a:solidFill>
            <a:srgbClr val="F2EEEE"/>
          </a:solidFill>
          <a:ln/>
        </p:spPr>
      </p:sp>
      <p:sp>
        <p:nvSpPr>
          <p:cNvPr id="12" name="Shape 9"/>
          <p:cNvSpPr/>
          <p:nvPr/>
        </p:nvSpPr>
        <p:spPr>
          <a:xfrm>
            <a:off x="5216961" y="3672899"/>
            <a:ext cx="680442" cy="680442"/>
          </a:xfrm>
          <a:prstGeom prst="roundRect">
            <a:avLst>
              <a:gd name="adj" fmla="val 67192"/>
            </a:avLst>
          </a:prstGeom>
          <a:solidFill>
            <a:srgbClr val="F2EEEE"/>
          </a:solidFill>
          <a:ln/>
        </p:spPr>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87103" y="3843041"/>
            <a:ext cx="340162" cy="340162"/>
          </a:xfrm>
          <a:prstGeom prst="rect">
            <a:avLst/>
          </a:prstGeom>
        </p:spPr>
      </p:pic>
      <p:sp>
        <p:nvSpPr>
          <p:cNvPr id="14" name="Text 10"/>
          <p:cNvSpPr/>
          <p:nvPr/>
        </p:nvSpPr>
        <p:spPr>
          <a:xfrm>
            <a:off x="5443776" y="4580216"/>
            <a:ext cx="3742730" cy="744141"/>
          </a:xfrm>
          <a:prstGeom prst="rect">
            <a:avLst/>
          </a:prstGeom>
          <a:noFill/>
          <a:ln/>
        </p:spPr>
        <p:txBody>
          <a:bodyPr wrap="square" lIns="0" tIns="0" rIns="0" bIns="0" rtlCol="0" anchor="t"/>
          <a:lstStyle/>
          <a:p>
            <a:pPr>
              <a:lnSpc>
                <a:spcPts val="2880"/>
              </a:lnSpc>
            </a:pPr>
            <a:r>
              <a:rPr lang="en-US" sz="2320" dirty="0">
                <a:solidFill>
                  <a:srgbClr val="383838"/>
                </a:solidFill>
                <a:latin typeface="PT Serif" pitchFamily="34" charset="0"/>
                <a:ea typeface="PT Serif" pitchFamily="34" charset="-122"/>
                <a:cs typeface="PT Serif" pitchFamily="34" charset="-120"/>
              </a:rPr>
              <a:t>Layer 3–4: Mid-Level Features</a:t>
            </a:r>
            <a:endParaRPr lang="en-US" sz="2320" dirty="0"/>
          </a:p>
        </p:txBody>
      </p:sp>
      <p:sp>
        <p:nvSpPr>
          <p:cNvPr id="15" name="Text 11"/>
          <p:cNvSpPr/>
          <p:nvPr/>
        </p:nvSpPr>
        <p:spPr>
          <a:xfrm>
            <a:off x="5443776" y="5460445"/>
            <a:ext cx="3742730" cy="1088707"/>
          </a:xfrm>
          <a:prstGeom prst="rect">
            <a:avLst/>
          </a:prstGeom>
          <a:noFill/>
          <a:ln/>
        </p:spPr>
        <p:txBody>
          <a:bodyPr wrap="square" lIns="0" tIns="0" rIns="0" bIns="0" rtlCol="0" anchor="t"/>
          <a:lstStyle/>
          <a:p>
            <a:pPr>
              <a:lnSpc>
                <a:spcPts val="2800"/>
              </a:lnSpc>
            </a:pPr>
            <a:r>
              <a:rPr lang="en-US" sz="1760" dirty="0">
                <a:solidFill>
                  <a:srgbClr val="383838"/>
                </a:solidFill>
                <a:latin typeface="DM Sans" pitchFamily="34" charset="0"/>
                <a:ea typeface="DM Sans" pitchFamily="34" charset="-122"/>
                <a:cs typeface="DM Sans" pitchFamily="34" charset="-120"/>
              </a:rPr>
              <a:t>Corners, curves, textures, and part-like structures. Combinations of low-level primitives.</a:t>
            </a:r>
            <a:endParaRPr lang="en-US" sz="1760" dirty="0"/>
          </a:p>
        </p:txBody>
      </p:sp>
      <p:sp>
        <p:nvSpPr>
          <p:cNvPr id="16" name="Shape 12"/>
          <p:cNvSpPr/>
          <p:nvPr/>
        </p:nvSpPr>
        <p:spPr>
          <a:xfrm>
            <a:off x="9980294" y="3559612"/>
            <a:ext cx="3856077" cy="226814"/>
          </a:xfrm>
          <a:prstGeom prst="roundRect">
            <a:avLst>
              <a:gd name="adj" fmla="val 15001"/>
            </a:avLst>
          </a:prstGeom>
          <a:solidFill>
            <a:srgbClr val="F2EEEE"/>
          </a:solidFill>
          <a:ln/>
        </p:spPr>
      </p:sp>
      <p:sp>
        <p:nvSpPr>
          <p:cNvPr id="17" name="Shape 13"/>
          <p:cNvSpPr/>
          <p:nvPr/>
        </p:nvSpPr>
        <p:spPr>
          <a:xfrm>
            <a:off x="9640133" y="3332737"/>
            <a:ext cx="680442" cy="680442"/>
          </a:xfrm>
          <a:prstGeom prst="roundRect">
            <a:avLst>
              <a:gd name="adj" fmla="val 67192"/>
            </a:avLst>
          </a:prstGeom>
          <a:solidFill>
            <a:srgbClr val="F2EEEE"/>
          </a:solidFill>
          <a:ln/>
        </p:spPr>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810274" y="3502879"/>
            <a:ext cx="340162" cy="340162"/>
          </a:xfrm>
          <a:prstGeom prst="rect">
            <a:avLst/>
          </a:prstGeom>
        </p:spPr>
      </p:pic>
      <p:sp>
        <p:nvSpPr>
          <p:cNvPr id="19" name="Text 14"/>
          <p:cNvSpPr/>
          <p:nvPr/>
        </p:nvSpPr>
        <p:spPr>
          <a:xfrm>
            <a:off x="9866947" y="4240054"/>
            <a:ext cx="3742730" cy="744141"/>
          </a:xfrm>
          <a:prstGeom prst="rect">
            <a:avLst/>
          </a:prstGeom>
          <a:noFill/>
          <a:ln/>
        </p:spPr>
        <p:txBody>
          <a:bodyPr wrap="square" lIns="0" tIns="0" rIns="0" bIns="0" rtlCol="0" anchor="t"/>
          <a:lstStyle/>
          <a:p>
            <a:pPr>
              <a:lnSpc>
                <a:spcPts val="2880"/>
              </a:lnSpc>
            </a:pPr>
            <a:r>
              <a:rPr lang="en-US" sz="2320" dirty="0">
                <a:solidFill>
                  <a:srgbClr val="383838"/>
                </a:solidFill>
                <a:latin typeface="PT Serif" pitchFamily="34" charset="0"/>
                <a:ea typeface="PT Serif" pitchFamily="34" charset="-122"/>
                <a:cs typeface="PT Serif" pitchFamily="34" charset="-120"/>
              </a:rPr>
              <a:t>Layer 5+: High-Level Features</a:t>
            </a:r>
            <a:endParaRPr lang="en-US" sz="2320" dirty="0"/>
          </a:p>
        </p:txBody>
      </p:sp>
      <p:sp>
        <p:nvSpPr>
          <p:cNvPr id="20" name="Text 15"/>
          <p:cNvSpPr/>
          <p:nvPr/>
        </p:nvSpPr>
        <p:spPr>
          <a:xfrm>
            <a:off x="9866947" y="5120283"/>
            <a:ext cx="3742730" cy="1088707"/>
          </a:xfrm>
          <a:prstGeom prst="rect">
            <a:avLst/>
          </a:prstGeom>
          <a:noFill/>
          <a:ln/>
        </p:spPr>
        <p:txBody>
          <a:bodyPr wrap="square" lIns="0" tIns="0" rIns="0" bIns="0" rtlCol="0" anchor="t"/>
          <a:lstStyle/>
          <a:p>
            <a:pPr>
              <a:lnSpc>
                <a:spcPts val="2800"/>
              </a:lnSpc>
            </a:pPr>
            <a:r>
              <a:rPr lang="en-US" sz="1760" dirty="0">
                <a:solidFill>
                  <a:srgbClr val="383838"/>
                </a:solidFill>
                <a:latin typeface="DM Sans" pitchFamily="34" charset="0"/>
                <a:ea typeface="DM Sans" pitchFamily="34" charset="-122"/>
                <a:cs typeface="DM Sans" pitchFamily="34" charset="-120"/>
              </a:rPr>
              <a:t>Semantic concepts — faces, wheels, text. Directly discriminative for the target classification task.</a:t>
            </a:r>
            <a:endParaRPr lang="en-US" sz="1760" dirty="0"/>
          </a:p>
        </p:txBody>
      </p:sp>
    </p:spTree>
    <p:extLst>
      <p:ext uri="{BB962C8B-B14F-4D97-AF65-F5344CB8AC3E}">
        <p14:creationId xmlns:p14="http://schemas.microsoft.com/office/powerpoint/2010/main" val="39338133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95317" y="691036"/>
            <a:ext cx="8996005" cy="632579"/>
          </a:xfrm>
          <a:prstGeom prst="rect">
            <a:avLst/>
          </a:prstGeom>
          <a:noFill/>
          <a:ln/>
        </p:spPr>
        <p:txBody>
          <a:bodyPr wrap="none" lIns="0" tIns="0" rIns="0" bIns="0" rtlCol="0" anchor="t"/>
          <a:lstStyle/>
          <a:p>
            <a:pPr>
              <a:lnSpc>
                <a:spcPts val="4960"/>
              </a:lnSpc>
            </a:pPr>
            <a:r>
              <a:rPr lang="en-US" sz="3920" dirty="0">
                <a:solidFill>
                  <a:srgbClr val="020202"/>
                </a:solidFill>
                <a:latin typeface="PT Serif" pitchFamily="34" charset="0"/>
                <a:ea typeface="PT Serif" pitchFamily="34" charset="-122"/>
                <a:cs typeface="PT Serif" pitchFamily="34" charset="-120"/>
              </a:rPr>
              <a:t>Backpropagation Through Convolutions</a:t>
            </a:r>
            <a:endParaRPr lang="en-US" sz="3920" dirty="0"/>
          </a:p>
        </p:txBody>
      </p:sp>
      <p:sp>
        <p:nvSpPr>
          <p:cNvPr id="5" name="Text 3"/>
          <p:cNvSpPr/>
          <p:nvPr/>
        </p:nvSpPr>
        <p:spPr>
          <a:xfrm>
            <a:off x="695317" y="1825109"/>
            <a:ext cx="13042821" cy="570547"/>
          </a:xfrm>
          <a:prstGeom prst="rect">
            <a:avLst/>
          </a:prstGeom>
          <a:noFill/>
          <a:ln/>
        </p:spPr>
        <p:txBody>
          <a:bodyPr wrap="square" lIns="0" tIns="0" rIns="0" bIns="0" rtlCol="0" anchor="t"/>
          <a:lstStyle/>
          <a:p>
            <a:pPr>
              <a:lnSpc>
                <a:spcPts val="2240"/>
              </a:lnSpc>
            </a:pPr>
            <a:r>
              <a:rPr lang="en-US" dirty="0">
                <a:solidFill>
                  <a:srgbClr val="383838"/>
                </a:solidFill>
                <a:latin typeface="DM Sans" pitchFamily="34" charset="0"/>
                <a:ea typeface="DM Sans" pitchFamily="34" charset="-122"/>
                <a:cs typeface="DM Sans" pitchFamily="34" charset="-120"/>
              </a:rPr>
              <a:t>CNNs are trained via </a:t>
            </a:r>
            <a:r>
              <a:rPr lang="en-US" b="1" dirty="0">
                <a:solidFill>
                  <a:srgbClr val="383838"/>
                </a:solidFill>
                <a:latin typeface="DM Sans" pitchFamily="34" charset="0"/>
                <a:ea typeface="DM Sans" pitchFamily="34" charset="-122"/>
                <a:cs typeface="DM Sans" pitchFamily="34" charset="-120"/>
              </a:rPr>
              <a:t>stochastic gradient descent</a:t>
            </a:r>
            <a:r>
              <a:rPr lang="en-US" dirty="0">
                <a:solidFill>
                  <a:srgbClr val="383838"/>
                </a:solidFill>
                <a:latin typeface="DM Sans" pitchFamily="34" charset="0"/>
                <a:ea typeface="DM Sans" pitchFamily="34" charset="-122"/>
                <a:cs typeface="DM Sans" pitchFamily="34" charset="-120"/>
              </a:rPr>
              <a:t> with backpropagation. Gradients flow backward through each operation — including convolution — to update every learnable filter weight.</a:t>
            </a:r>
            <a:endParaRPr lang="en-US" dirty="0"/>
          </a:p>
        </p:txBody>
      </p:sp>
      <p:sp>
        <p:nvSpPr>
          <p:cNvPr id="6" name="Text 4"/>
          <p:cNvSpPr/>
          <p:nvPr/>
        </p:nvSpPr>
        <p:spPr>
          <a:xfrm>
            <a:off x="793791" y="3083123"/>
            <a:ext cx="2530435" cy="316230"/>
          </a:xfrm>
          <a:prstGeom prst="rect">
            <a:avLst/>
          </a:prstGeom>
          <a:noFill/>
          <a:ln/>
        </p:spPr>
        <p:txBody>
          <a:bodyPr wrap="none" lIns="0" tIns="0" rIns="0" bIns="0" rtlCol="0" anchor="t"/>
          <a:lstStyle/>
          <a:p>
            <a:pPr>
              <a:lnSpc>
                <a:spcPts val="2480"/>
              </a:lnSpc>
            </a:pPr>
            <a:r>
              <a:rPr lang="en-US" sz="1920" dirty="0">
                <a:solidFill>
                  <a:srgbClr val="020202"/>
                </a:solidFill>
                <a:latin typeface="PT Serif" pitchFamily="34" charset="0"/>
                <a:ea typeface="PT Serif" pitchFamily="34" charset="-122"/>
                <a:cs typeface="PT Serif" pitchFamily="34" charset="-120"/>
              </a:rPr>
              <a:t>Loss Function</a:t>
            </a:r>
            <a:endParaRPr lang="en-US" sz="1920" dirty="0"/>
          </a:p>
        </p:txBody>
      </p:sp>
      <p:sp>
        <p:nvSpPr>
          <p:cNvPr id="7" name="Text 5"/>
          <p:cNvSpPr/>
          <p:nvPr/>
        </p:nvSpPr>
        <p:spPr>
          <a:xfrm>
            <a:off x="793791" y="3606761"/>
            <a:ext cx="6286262" cy="815102"/>
          </a:xfrm>
          <a:prstGeom prst="rect">
            <a:avLst/>
          </a:prstGeom>
          <a:noFill/>
          <a:ln/>
        </p:spPr>
        <p:txBody>
          <a:bodyPr wrap="square" lIns="0" tIns="0" rIns="0" bIns="0" rtlCol="0" anchor="t"/>
          <a:lstStyle/>
          <a:p>
            <a:pPr>
              <a:lnSpc>
                <a:spcPts val="2480"/>
              </a:lnSpc>
            </a:pPr>
            <a:endParaRPr lang="en-US" sz="1680" dirty="0"/>
          </a:p>
        </p:txBody>
      </p:sp>
      <p:pic>
        <p:nvPicPr>
          <p:cNvPr id="8" name="Image 0" descr="preencoded.png"/>
          <p:cNvPicPr>
            <a:picLocks noChangeAspect="1"/>
          </p:cNvPicPr>
          <p:nvPr/>
        </p:nvPicPr>
        <p:blipFill>
          <a:blip r:embed="rId3"/>
          <a:stretch>
            <a:fillRect/>
          </a:stretch>
        </p:blipFill>
        <p:spPr>
          <a:xfrm>
            <a:off x="793791" y="3606761"/>
            <a:ext cx="6286262" cy="815102"/>
          </a:xfrm>
          <a:prstGeom prst="rect">
            <a:avLst/>
          </a:prstGeom>
        </p:spPr>
      </p:pic>
      <p:sp>
        <p:nvSpPr>
          <p:cNvPr id="9" name="Text 6"/>
          <p:cNvSpPr/>
          <p:nvPr/>
        </p:nvSpPr>
        <p:spPr>
          <a:xfrm>
            <a:off x="793791" y="4629269"/>
            <a:ext cx="6286262" cy="570547"/>
          </a:xfrm>
          <a:prstGeom prst="rect">
            <a:avLst/>
          </a:prstGeom>
          <a:noFill/>
          <a:ln/>
        </p:spPr>
        <p:txBody>
          <a:bodyPr wrap="square" lIns="0" tIns="0" rIns="0" bIns="0" rtlCol="0" anchor="t"/>
          <a:lstStyle/>
          <a:p>
            <a:pPr>
              <a:lnSpc>
                <a:spcPts val="2240"/>
              </a:lnSpc>
            </a:pPr>
            <a:r>
              <a:rPr lang="en-US" sz="1700" b="1" dirty="0">
                <a:solidFill>
                  <a:srgbClr val="383838"/>
                </a:solidFill>
                <a:latin typeface="DM Sans" pitchFamily="34" charset="0"/>
                <a:ea typeface="DM Sans" pitchFamily="34" charset="-122"/>
                <a:cs typeface="DM Sans" pitchFamily="34" charset="-120"/>
              </a:rPr>
              <a:t>Cross-entropy loss</a:t>
            </a:r>
            <a:r>
              <a:rPr lang="en-US" sz="1700" dirty="0">
                <a:solidFill>
                  <a:srgbClr val="383838"/>
                </a:solidFill>
                <a:latin typeface="DM Sans" pitchFamily="34" charset="0"/>
                <a:ea typeface="DM Sans" pitchFamily="34" charset="-122"/>
                <a:cs typeface="DM Sans" pitchFamily="34" charset="-120"/>
              </a:rPr>
              <a:t> for multi-class classification. Penalizes confident wrong predictions most severely.</a:t>
            </a:r>
            <a:endParaRPr lang="en-US" sz="1700" dirty="0"/>
          </a:p>
        </p:txBody>
      </p:sp>
      <p:sp>
        <p:nvSpPr>
          <p:cNvPr id="10" name="Text 7"/>
          <p:cNvSpPr/>
          <p:nvPr/>
        </p:nvSpPr>
        <p:spPr>
          <a:xfrm>
            <a:off x="793791" y="5363647"/>
            <a:ext cx="2530435" cy="316230"/>
          </a:xfrm>
          <a:prstGeom prst="rect">
            <a:avLst/>
          </a:prstGeom>
          <a:noFill/>
          <a:ln/>
        </p:spPr>
        <p:txBody>
          <a:bodyPr wrap="none" lIns="0" tIns="0" rIns="0" bIns="0" rtlCol="0" anchor="t"/>
          <a:lstStyle/>
          <a:p>
            <a:pPr>
              <a:lnSpc>
                <a:spcPts val="2480"/>
              </a:lnSpc>
            </a:pPr>
            <a:r>
              <a:rPr lang="en-US" sz="1920" dirty="0">
                <a:solidFill>
                  <a:srgbClr val="020202"/>
                </a:solidFill>
                <a:latin typeface="PT Serif" pitchFamily="34" charset="0"/>
                <a:ea typeface="PT Serif" pitchFamily="34" charset="-122"/>
                <a:cs typeface="PT Serif" pitchFamily="34" charset="-120"/>
              </a:rPr>
              <a:t>Weight Update</a:t>
            </a:r>
            <a:endParaRPr lang="en-US" sz="1920" dirty="0"/>
          </a:p>
        </p:txBody>
      </p:sp>
      <p:sp>
        <p:nvSpPr>
          <p:cNvPr id="11" name="Text 8"/>
          <p:cNvSpPr/>
          <p:nvPr/>
        </p:nvSpPr>
        <p:spPr>
          <a:xfrm>
            <a:off x="793791" y="5887283"/>
            <a:ext cx="6286262" cy="539949"/>
          </a:xfrm>
          <a:prstGeom prst="rect">
            <a:avLst/>
          </a:prstGeom>
          <a:noFill/>
          <a:ln/>
        </p:spPr>
        <p:txBody>
          <a:bodyPr wrap="square" lIns="0" tIns="0" rIns="0" bIns="0" rtlCol="0" anchor="t"/>
          <a:lstStyle/>
          <a:p>
            <a:pPr>
              <a:lnSpc>
                <a:spcPts val="2480"/>
              </a:lnSpc>
            </a:pPr>
            <a:endParaRPr lang="en-US" sz="1680" dirty="0"/>
          </a:p>
        </p:txBody>
      </p:sp>
      <p:pic>
        <p:nvPicPr>
          <p:cNvPr id="12" name="Image 1" descr="preencoded.png"/>
          <p:cNvPicPr>
            <a:picLocks noChangeAspect="1"/>
          </p:cNvPicPr>
          <p:nvPr/>
        </p:nvPicPr>
        <p:blipFill>
          <a:blip r:embed="rId4"/>
          <a:stretch>
            <a:fillRect/>
          </a:stretch>
        </p:blipFill>
        <p:spPr>
          <a:xfrm>
            <a:off x="793791" y="5887283"/>
            <a:ext cx="6286262" cy="539949"/>
          </a:xfrm>
          <a:prstGeom prst="rect">
            <a:avLst/>
          </a:prstGeom>
        </p:spPr>
      </p:pic>
      <p:sp>
        <p:nvSpPr>
          <p:cNvPr id="13" name="Text 9"/>
          <p:cNvSpPr/>
          <p:nvPr/>
        </p:nvSpPr>
        <p:spPr>
          <a:xfrm>
            <a:off x="793791" y="6634639"/>
            <a:ext cx="6286262" cy="570547"/>
          </a:xfrm>
          <a:prstGeom prst="rect">
            <a:avLst/>
          </a:prstGeom>
          <a:noFill/>
          <a:ln/>
        </p:spPr>
        <p:txBody>
          <a:bodyPr wrap="square" lIns="0" tIns="0" rIns="0" bIns="0" rtlCol="0" anchor="t"/>
          <a:lstStyle/>
          <a:p>
            <a:pPr>
              <a:lnSpc>
                <a:spcPts val="2240"/>
              </a:lnSpc>
            </a:pPr>
            <a:r>
              <a:rPr lang="en-US" sz="1700" dirty="0">
                <a:solidFill>
                  <a:srgbClr val="383838"/>
                </a:solidFill>
                <a:latin typeface="DM Sans" pitchFamily="34" charset="0"/>
                <a:ea typeface="DM Sans" pitchFamily="34" charset="-122"/>
                <a:cs typeface="DM Sans" pitchFamily="34" charset="-120"/>
              </a:rPr>
              <a:t>Each kernel weight updated by learning rate </a:t>
            </a:r>
            <a:r>
              <a:rPr lang="en-US" sz="1700" b="1" dirty="0">
                <a:solidFill>
                  <a:srgbClr val="383838"/>
                </a:solidFill>
                <a:latin typeface="DM Sans" pitchFamily="34" charset="0"/>
                <a:ea typeface="DM Sans" pitchFamily="34" charset="-122"/>
                <a:cs typeface="DM Sans" pitchFamily="34" charset="-120"/>
              </a:rPr>
              <a:t>η</a:t>
            </a:r>
            <a:r>
              <a:rPr lang="en-US" sz="1700" dirty="0">
                <a:solidFill>
                  <a:srgbClr val="383838"/>
                </a:solidFill>
                <a:latin typeface="DM Sans" pitchFamily="34" charset="0"/>
                <a:ea typeface="DM Sans" pitchFamily="34" charset="-122"/>
                <a:cs typeface="DM Sans" pitchFamily="34" charset="-120"/>
              </a:rPr>
              <a:t> times the gradient of the loss with respect to that weight.</a:t>
            </a:r>
            <a:endParaRPr lang="en-US" sz="1700" dirty="0"/>
          </a:p>
        </p:txBody>
      </p:sp>
      <p:sp>
        <p:nvSpPr>
          <p:cNvPr id="14" name="Text 10"/>
          <p:cNvSpPr/>
          <p:nvPr/>
        </p:nvSpPr>
        <p:spPr>
          <a:xfrm>
            <a:off x="7557969" y="3083123"/>
            <a:ext cx="2727483" cy="316230"/>
          </a:xfrm>
          <a:prstGeom prst="rect">
            <a:avLst/>
          </a:prstGeom>
          <a:noFill/>
          <a:ln/>
        </p:spPr>
        <p:txBody>
          <a:bodyPr wrap="none" lIns="0" tIns="0" rIns="0" bIns="0" rtlCol="0" anchor="t"/>
          <a:lstStyle/>
          <a:p>
            <a:pPr>
              <a:lnSpc>
                <a:spcPts val="2480"/>
              </a:lnSpc>
            </a:pPr>
            <a:r>
              <a:rPr lang="en-US" sz="1920" dirty="0">
                <a:solidFill>
                  <a:srgbClr val="020202"/>
                </a:solidFill>
                <a:latin typeface="PT Serif" pitchFamily="34" charset="0"/>
                <a:ea typeface="PT Serif" pitchFamily="34" charset="-122"/>
                <a:cs typeface="PT Serif" pitchFamily="34" charset="-120"/>
              </a:rPr>
              <a:t>Gradient of Convolution</a:t>
            </a:r>
            <a:endParaRPr lang="en-US" sz="1920" dirty="0"/>
          </a:p>
        </p:txBody>
      </p:sp>
      <p:sp>
        <p:nvSpPr>
          <p:cNvPr id="15" name="Text 11"/>
          <p:cNvSpPr/>
          <p:nvPr/>
        </p:nvSpPr>
        <p:spPr>
          <a:xfrm>
            <a:off x="7557968" y="3606760"/>
            <a:ext cx="6286262" cy="730925"/>
          </a:xfrm>
          <a:prstGeom prst="rect">
            <a:avLst/>
          </a:prstGeom>
          <a:noFill/>
          <a:ln/>
        </p:spPr>
        <p:txBody>
          <a:bodyPr wrap="square" lIns="0" tIns="0" rIns="0" bIns="0" rtlCol="0" anchor="t"/>
          <a:lstStyle/>
          <a:p>
            <a:pPr>
              <a:lnSpc>
                <a:spcPts val="2480"/>
              </a:lnSpc>
            </a:pPr>
            <a:endParaRPr lang="en-US" sz="1680" dirty="0"/>
          </a:p>
        </p:txBody>
      </p:sp>
      <p:pic>
        <p:nvPicPr>
          <p:cNvPr id="16" name="Image 2" descr="preencoded.png"/>
          <p:cNvPicPr>
            <a:picLocks noChangeAspect="1"/>
          </p:cNvPicPr>
          <p:nvPr/>
        </p:nvPicPr>
        <p:blipFill>
          <a:blip r:embed="rId5"/>
          <a:stretch>
            <a:fillRect/>
          </a:stretch>
        </p:blipFill>
        <p:spPr>
          <a:xfrm>
            <a:off x="7557968" y="3606760"/>
            <a:ext cx="6286262" cy="730925"/>
          </a:xfrm>
          <a:prstGeom prst="rect">
            <a:avLst/>
          </a:prstGeom>
        </p:spPr>
      </p:pic>
      <p:sp>
        <p:nvSpPr>
          <p:cNvPr id="17" name="Text 12"/>
          <p:cNvSpPr/>
          <p:nvPr/>
        </p:nvSpPr>
        <p:spPr>
          <a:xfrm>
            <a:off x="7557968" y="4545091"/>
            <a:ext cx="6286262" cy="855821"/>
          </a:xfrm>
          <a:prstGeom prst="rect">
            <a:avLst/>
          </a:prstGeom>
          <a:noFill/>
          <a:ln/>
        </p:spPr>
        <p:txBody>
          <a:bodyPr wrap="square" lIns="0" tIns="0" rIns="0" bIns="0" rtlCol="0" anchor="t"/>
          <a:lstStyle/>
          <a:p>
            <a:pPr>
              <a:lnSpc>
                <a:spcPts val="2240"/>
              </a:lnSpc>
            </a:pPr>
            <a:r>
              <a:rPr lang="en-US" sz="1700" dirty="0">
                <a:solidFill>
                  <a:srgbClr val="383838"/>
                </a:solidFill>
                <a:latin typeface="DM Sans" pitchFamily="34" charset="0"/>
                <a:ea typeface="DM Sans" pitchFamily="34" charset="-122"/>
                <a:cs typeface="DM Sans" pitchFamily="34" charset="-120"/>
              </a:rPr>
              <a:t>The gradient w.r.t. each kernel weight is the </a:t>
            </a:r>
            <a:r>
              <a:rPr lang="en-US" sz="1700" b="1" dirty="0">
                <a:solidFill>
                  <a:srgbClr val="383838"/>
                </a:solidFill>
                <a:latin typeface="DM Sans" pitchFamily="34" charset="0"/>
                <a:ea typeface="DM Sans" pitchFamily="34" charset="-122"/>
                <a:cs typeface="DM Sans" pitchFamily="34" charset="-120"/>
              </a:rPr>
              <a:t>cross-correlation</a:t>
            </a:r>
            <a:r>
              <a:rPr lang="en-US" sz="1700" dirty="0">
                <a:solidFill>
                  <a:srgbClr val="383838"/>
                </a:solidFill>
                <a:latin typeface="DM Sans" pitchFamily="34" charset="0"/>
                <a:ea typeface="DM Sans" pitchFamily="34" charset="-122"/>
                <a:cs typeface="DM Sans" pitchFamily="34" charset="-120"/>
              </a:rPr>
              <a:t> of the input patch with the upstream gradient — itself a convolution-like operation.</a:t>
            </a:r>
            <a:endParaRPr lang="en-US" sz="1700" dirty="0"/>
          </a:p>
        </p:txBody>
      </p:sp>
      <p:sp>
        <p:nvSpPr>
          <p:cNvPr id="18" name="Shape 13"/>
          <p:cNvSpPr/>
          <p:nvPr/>
        </p:nvSpPr>
        <p:spPr>
          <a:xfrm>
            <a:off x="7557968" y="5585223"/>
            <a:ext cx="6286262" cy="1311474"/>
          </a:xfrm>
          <a:prstGeom prst="roundRect">
            <a:avLst>
              <a:gd name="adj" fmla="val 2205"/>
            </a:avLst>
          </a:prstGeom>
          <a:solidFill>
            <a:srgbClr val="B6D6FC"/>
          </a:solidFill>
          <a:ln/>
        </p:spPr>
      </p:sp>
      <p:pic>
        <p:nvPicPr>
          <p:cNvPr id="19" name="Image 3" descr="preencoded.png"/>
          <p:cNvPicPr>
            <a:picLocks noChangeAspect="1"/>
          </p:cNvPicPr>
          <p:nvPr/>
        </p:nvPicPr>
        <p:blipFill>
          <a:blip r:embed="rId6"/>
          <a:stretch>
            <a:fillRect/>
          </a:stretch>
        </p:blipFill>
        <p:spPr>
          <a:xfrm>
            <a:off x="7750731" y="5863113"/>
            <a:ext cx="240982" cy="192762"/>
          </a:xfrm>
          <a:prstGeom prst="rect">
            <a:avLst/>
          </a:prstGeom>
        </p:spPr>
      </p:pic>
      <p:sp>
        <p:nvSpPr>
          <p:cNvPr id="20" name="Text 14"/>
          <p:cNvSpPr/>
          <p:nvPr/>
        </p:nvSpPr>
        <p:spPr>
          <a:xfrm>
            <a:off x="8184476" y="5797154"/>
            <a:ext cx="5466994" cy="855821"/>
          </a:xfrm>
          <a:prstGeom prst="rect">
            <a:avLst/>
          </a:prstGeom>
          <a:noFill/>
          <a:ln/>
        </p:spPr>
        <p:txBody>
          <a:bodyPr wrap="square" lIns="0" tIns="0" rIns="0" bIns="0" rtlCol="0" anchor="t"/>
          <a:lstStyle/>
          <a:p>
            <a:pPr>
              <a:lnSpc>
                <a:spcPts val="2240"/>
              </a:lnSpc>
            </a:pPr>
            <a:r>
              <a:rPr lang="en-US" sz="1700" dirty="0">
                <a:solidFill>
                  <a:srgbClr val="000000"/>
                </a:solidFill>
                <a:latin typeface="DM Sans" pitchFamily="34" charset="0"/>
                <a:ea typeface="DM Sans" pitchFamily="34" charset="-122"/>
                <a:cs typeface="DM Sans" pitchFamily="34" charset="-120"/>
              </a:rPr>
              <a:t>Because filter weights are </a:t>
            </a:r>
            <a:r>
              <a:rPr lang="en-US" sz="1700" b="1" dirty="0">
                <a:solidFill>
                  <a:srgbClr val="000000"/>
                </a:solidFill>
                <a:latin typeface="DM Sans" pitchFamily="34" charset="0"/>
                <a:ea typeface="DM Sans" pitchFamily="34" charset="-122"/>
                <a:cs typeface="DM Sans" pitchFamily="34" charset="-120"/>
              </a:rPr>
              <a:t>shared</a:t>
            </a:r>
            <a:r>
              <a:rPr lang="en-US" sz="1700" dirty="0">
                <a:solidFill>
                  <a:srgbClr val="000000"/>
                </a:solidFill>
                <a:latin typeface="DM Sans" pitchFamily="34" charset="0"/>
                <a:ea typeface="DM Sans" pitchFamily="34" charset="-122"/>
                <a:cs typeface="DM Sans" pitchFamily="34" charset="-120"/>
              </a:rPr>
              <a:t> across positions, gradients accumulate from every spatial location — this is what drives efficient generalization.</a:t>
            </a:r>
            <a:endParaRPr lang="en-US" sz="1700" dirty="0"/>
          </a:p>
        </p:txBody>
      </p:sp>
    </p:spTree>
    <p:extLst>
      <p:ext uri="{BB962C8B-B14F-4D97-AF65-F5344CB8AC3E}">
        <p14:creationId xmlns:p14="http://schemas.microsoft.com/office/powerpoint/2010/main" val="2736372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1266349" y="553604"/>
            <a:ext cx="12407448" cy="502682"/>
          </a:xfrm>
          <a:prstGeom prst="rect">
            <a:avLst/>
          </a:prstGeom>
          <a:noFill/>
          <a:ln/>
        </p:spPr>
        <p:txBody>
          <a:bodyPr wrap="none" lIns="0" tIns="0" rIns="0" bIns="0" rtlCol="0" anchor="t"/>
          <a:lstStyle/>
          <a:p>
            <a:pPr marL="0" indent="0" algn="l">
              <a:lnSpc>
                <a:spcPts val="3950"/>
              </a:lnSpc>
              <a:buNone/>
            </a:pPr>
            <a:r>
              <a:rPr lang="en-US" sz="3200" dirty="0">
                <a:solidFill>
                  <a:srgbClr val="020202"/>
                </a:solidFill>
                <a:latin typeface="PT Serif" pitchFamily="34" charset="0"/>
                <a:ea typeface="PT Serif" pitchFamily="34" charset="-122"/>
                <a:cs typeface="PT Serif" pitchFamily="34" charset="-120"/>
              </a:rPr>
              <a:t>Batch </a:t>
            </a:r>
            <a:r>
              <a:rPr lang="en-US" sz="3600" dirty="0">
                <a:solidFill>
                  <a:srgbClr val="020202"/>
                </a:solidFill>
                <a:latin typeface="PT Serif" pitchFamily="34" charset="0"/>
                <a:ea typeface="PT Serif" pitchFamily="34" charset="-122"/>
                <a:cs typeface="PT Serif" pitchFamily="34" charset="-120"/>
              </a:rPr>
              <a:t>Normalization: Faster Convergence and </a:t>
            </a:r>
            <a:r>
              <a:rPr lang="en-US" sz="3600" dirty="0" err="1">
                <a:solidFill>
                  <a:srgbClr val="020202"/>
                </a:solidFill>
                <a:latin typeface="PT Serif" pitchFamily="34" charset="0"/>
                <a:ea typeface="PT Serif" pitchFamily="34" charset="-122"/>
                <a:cs typeface="PT Serif" pitchFamily="34" charset="-120"/>
              </a:rPr>
              <a:t>Regularizer</a:t>
            </a:r>
            <a:endParaRPr lang="en-US" sz="3200" dirty="0"/>
          </a:p>
        </p:txBody>
      </p:sp>
      <p:sp>
        <p:nvSpPr>
          <p:cNvPr id="5" name="Text 3"/>
          <p:cNvSpPr/>
          <p:nvPr/>
        </p:nvSpPr>
        <p:spPr>
          <a:xfrm>
            <a:off x="1245833" y="1796604"/>
            <a:ext cx="2667595" cy="251341"/>
          </a:xfrm>
          <a:prstGeom prst="rect">
            <a:avLst/>
          </a:prstGeom>
          <a:noFill/>
          <a:ln/>
        </p:spPr>
        <p:txBody>
          <a:bodyPr wrap="none" lIns="0" tIns="0" rIns="0" bIns="0" rtlCol="0" anchor="t"/>
          <a:lstStyle/>
          <a:p>
            <a:pPr marL="0" indent="0" algn="l">
              <a:lnSpc>
                <a:spcPts val="1950"/>
              </a:lnSpc>
              <a:buNone/>
            </a:pPr>
            <a:r>
              <a:rPr lang="en-US" sz="2000" b="1" dirty="0">
                <a:solidFill>
                  <a:srgbClr val="020202"/>
                </a:solidFill>
                <a:latin typeface="PT Serif" pitchFamily="34" charset="0"/>
                <a:ea typeface="PT Serif" pitchFamily="34" charset="-122"/>
                <a:cs typeface="PT Serif" pitchFamily="34" charset="-120"/>
              </a:rPr>
              <a:t>What is Batch Normalisation?</a:t>
            </a:r>
            <a:endParaRPr lang="en-US" sz="2000" b="1" dirty="0"/>
          </a:p>
        </p:txBody>
      </p:sp>
      <p:sp>
        <p:nvSpPr>
          <p:cNvPr id="6" name="Text 4"/>
          <p:cNvSpPr/>
          <p:nvPr/>
        </p:nvSpPr>
        <p:spPr>
          <a:xfrm>
            <a:off x="1245833" y="2772645"/>
            <a:ext cx="5854303" cy="2432905"/>
          </a:xfrm>
          <a:prstGeom prst="rect">
            <a:avLst/>
          </a:prstGeom>
          <a:noFill/>
          <a:ln/>
        </p:spPr>
        <p:txBody>
          <a:bodyPr wrap="square" lIns="0" tIns="0" rIns="0" bIns="0" rtlCol="0" anchor="t"/>
          <a:lstStyle/>
          <a:p>
            <a:pPr marL="0" indent="0" algn="l">
              <a:lnSpc>
                <a:spcPts val="1700"/>
              </a:lnSpc>
              <a:buNone/>
            </a:pPr>
            <a:r>
              <a:rPr lang="en-US" dirty="0">
                <a:solidFill>
                  <a:srgbClr val="383838"/>
                </a:solidFill>
                <a:latin typeface="DM Sans" pitchFamily="34" charset="0"/>
              </a:rPr>
              <a:t>Batch Normalisation (BatchNorm) normalises the output activations of a layer across the current mini-batch during training.</a:t>
            </a:r>
          </a:p>
          <a:p>
            <a:pPr marL="0" indent="0" algn="l">
              <a:lnSpc>
                <a:spcPts val="1700"/>
              </a:lnSpc>
              <a:buNone/>
            </a:pPr>
            <a:endParaRPr lang="en-US" dirty="0">
              <a:solidFill>
                <a:srgbClr val="383838"/>
              </a:solidFill>
              <a:latin typeface="DM Sans" pitchFamily="34" charset="0"/>
            </a:endParaRPr>
          </a:p>
          <a:p>
            <a:pPr marL="0" indent="0" algn="l">
              <a:lnSpc>
                <a:spcPts val="1700"/>
              </a:lnSpc>
              <a:buNone/>
            </a:pPr>
            <a:r>
              <a:rPr lang="en-US" dirty="0">
                <a:solidFill>
                  <a:srgbClr val="383838"/>
                </a:solidFill>
                <a:latin typeface="DM Sans" pitchFamily="34" charset="0"/>
              </a:rPr>
              <a:t>For each feature dimension, it subtracts the </a:t>
            </a:r>
          </a:p>
          <a:p>
            <a:pPr marL="0" indent="0" algn="l">
              <a:lnSpc>
                <a:spcPts val="1700"/>
              </a:lnSpc>
              <a:buNone/>
            </a:pPr>
            <a:r>
              <a:rPr lang="en-US" dirty="0">
                <a:solidFill>
                  <a:srgbClr val="383838"/>
                </a:solidFill>
                <a:latin typeface="DM Sans" pitchFamily="34" charset="0"/>
              </a:rPr>
              <a:t>batch mean and divides by the batch standard deviation, then applies learned scale (γ) and shift (β) parameters.</a:t>
            </a:r>
          </a:p>
        </p:txBody>
      </p:sp>
      <p:sp>
        <p:nvSpPr>
          <p:cNvPr id="7" name="Text 5"/>
          <p:cNvSpPr/>
          <p:nvPr/>
        </p:nvSpPr>
        <p:spPr>
          <a:xfrm>
            <a:off x="2455655" y="6435184"/>
            <a:ext cx="10538909" cy="638521"/>
          </a:xfrm>
          <a:prstGeom prst="rect">
            <a:avLst/>
          </a:prstGeom>
          <a:noFill/>
          <a:ln/>
        </p:spPr>
        <p:txBody>
          <a:bodyPr wrap="none" lIns="0" tIns="0" rIns="0" bIns="0" rtlCol="0" anchor="t"/>
          <a:lstStyle/>
          <a:p>
            <a:pPr marL="0" indent="0" algn="l">
              <a:lnSpc>
                <a:spcPts val="1700"/>
              </a:lnSpc>
              <a:buNone/>
            </a:pPr>
            <a:r>
              <a:rPr lang="en-US" sz="2000" b="1" dirty="0">
                <a:solidFill>
                  <a:srgbClr val="383838"/>
                </a:solidFill>
                <a:latin typeface="DM Sans" pitchFamily="34" charset="0"/>
                <a:ea typeface="DM Sans" pitchFamily="34" charset="-122"/>
                <a:cs typeface="DM Sans" pitchFamily="34" charset="-120"/>
              </a:rPr>
              <a:t>Formula:</a:t>
            </a:r>
            <a:r>
              <a:rPr lang="en-US" sz="2000" dirty="0">
                <a:solidFill>
                  <a:srgbClr val="383838"/>
                </a:solidFill>
                <a:latin typeface="DM Sans" pitchFamily="34" charset="0"/>
                <a:ea typeface="DM Sans" pitchFamily="34" charset="-122"/>
                <a:cs typeface="DM Sans" pitchFamily="34" charset="-120"/>
              </a:rPr>
              <a:t> x̂ = (x − μ_batch) / σ_batch, then scaled and shifted: </a:t>
            </a:r>
            <a:r>
              <a:rPr lang="en-US" sz="2000" b="1" dirty="0">
                <a:solidFill>
                  <a:srgbClr val="383838"/>
                </a:solidFill>
                <a:latin typeface="DM Sans" pitchFamily="34" charset="0"/>
                <a:ea typeface="DM Sans" pitchFamily="34" charset="-122"/>
                <a:cs typeface="DM Sans" pitchFamily="34" charset="-120"/>
              </a:rPr>
              <a:t>y = γx̂ + β</a:t>
            </a:r>
            <a:endParaRPr lang="en-US" sz="2000" dirty="0"/>
          </a:p>
        </p:txBody>
      </p:sp>
      <p:sp>
        <p:nvSpPr>
          <p:cNvPr id="9" name="Text 7"/>
          <p:cNvSpPr/>
          <p:nvPr/>
        </p:nvSpPr>
        <p:spPr>
          <a:xfrm>
            <a:off x="8171351" y="1796603"/>
            <a:ext cx="3641527" cy="251341"/>
          </a:xfrm>
          <a:prstGeom prst="rect">
            <a:avLst/>
          </a:prstGeom>
          <a:noFill/>
          <a:ln/>
        </p:spPr>
        <p:txBody>
          <a:bodyPr wrap="none" lIns="0" tIns="0" rIns="0" bIns="0" rtlCol="0" anchor="t"/>
          <a:lstStyle/>
          <a:p>
            <a:pPr marL="0" indent="0" algn="l">
              <a:lnSpc>
                <a:spcPts val="1950"/>
              </a:lnSpc>
              <a:buNone/>
            </a:pPr>
            <a:r>
              <a:rPr lang="en-US" sz="2000" b="1" dirty="0">
                <a:solidFill>
                  <a:srgbClr val="020202"/>
                </a:solidFill>
                <a:latin typeface="PT Serif" pitchFamily="34" charset="0"/>
                <a:ea typeface="PT Serif" pitchFamily="34" charset="-122"/>
                <a:cs typeface="PT Serif" pitchFamily="34" charset="-120"/>
              </a:rPr>
              <a:t>How is it Different from Feature Scaling?</a:t>
            </a:r>
            <a:endParaRPr lang="en-US" sz="2000" b="1" dirty="0"/>
          </a:p>
        </p:txBody>
      </p:sp>
      <p:sp>
        <p:nvSpPr>
          <p:cNvPr id="10" name="Text 8"/>
          <p:cNvSpPr/>
          <p:nvPr/>
        </p:nvSpPr>
        <p:spPr>
          <a:xfrm>
            <a:off x="8171351" y="2699455"/>
            <a:ext cx="5768578" cy="1546885"/>
          </a:xfrm>
          <a:prstGeom prst="rect">
            <a:avLst/>
          </a:prstGeom>
          <a:noFill/>
          <a:ln/>
        </p:spPr>
        <p:txBody>
          <a:bodyPr wrap="square" lIns="0" tIns="0" rIns="0" bIns="0" rtlCol="0" anchor="t"/>
          <a:lstStyle/>
          <a:p>
            <a:pPr>
              <a:lnSpc>
                <a:spcPts val="1700"/>
              </a:lnSpc>
            </a:pPr>
            <a:r>
              <a:rPr lang="en-US" dirty="0">
                <a:solidFill>
                  <a:srgbClr val="383838"/>
                </a:solidFill>
                <a:latin typeface="DM Sans" pitchFamily="34" charset="0"/>
              </a:rPr>
              <a:t>Feature scaling (e.g. StandardScaler) is applied once, before training, to the raw input variables — it is fixed.</a:t>
            </a:r>
          </a:p>
          <a:p>
            <a:pPr>
              <a:lnSpc>
                <a:spcPts val="1700"/>
              </a:lnSpc>
            </a:pPr>
            <a:endParaRPr lang="en-US" dirty="0">
              <a:solidFill>
                <a:srgbClr val="383838"/>
              </a:solidFill>
              <a:latin typeface="DM Sans" pitchFamily="34" charset="0"/>
            </a:endParaRPr>
          </a:p>
          <a:p>
            <a:pPr>
              <a:lnSpc>
                <a:spcPts val="1700"/>
              </a:lnSpc>
            </a:pPr>
            <a:r>
              <a:rPr lang="en-US" dirty="0">
                <a:solidFill>
                  <a:srgbClr val="383838"/>
                </a:solidFill>
                <a:latin typeface="DM Sans" pitchFamily="34" charset="0"/>
              </a:rPr>
              <a:t>Batch Normalization is applied inside the network, after each layer, during every forward pass. It re-normalises activations dynamically at each layer, not just the inputs. </a:t>
            </a:r>
          </a:p>
          <a:p>
            <a:pPr>
              <a:lnSpc>
                <a:spcPts val="1700"/>
              </a:lnSpc>
            </a:pPr>
            <a:endParaRPr lang="en-US" dirty="0">
              <a:solidFill>
                <a:srgbClr val="383838"/>
              </a:solidFill>
              <a:latin typeface="DM Sans" pitchFamily="34" charset="0"/>
            </a:endParaRPr>
          </a:p>
          <a:p>
            <a:pPr>
              <a:lnSpc>
                <a:spcPts val="1700"/>
              </a:lnSpc>
            </a:pPr>
            <a:r>
              <a:rPr lang="en-US" dirty="0">
                <a:solidFill>
                  <a:srgbClr val="383838"/>
                </a:solidFill>
                <a:latin typeface="DM Sans" pitchFamily="34" charset="0"/>
              </a:rPr>
              <a:t>It also includes trainable parameters (γ, β) so the network can learn to undo the normalisation if needed.</a:t>
            </a:r>
          </a:p>
        </p:txBody>
      </p:sp>
    </p:spTree>
    <p:extLst>
      <p:ext uri="{BB962C8B-B14F-4D97-AF65-F5344CB8AC3E}">
        <p14:creationId xmlns:p14="http://schemas.microsoft.com/office/powerpoint/2010/main" val="14856256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26506" y="207791"/>
            <a:ext cx="5656421" cy="706994"/>
          </a:xfrm>
          <a:prstGeom prst="rect">
            <a:avLst/>
          </a:prstGeom>
          <a:noFill/>
          <a:ln/>
        </p:spPr>
        <p:txBody>
          <a:bodyPr wrap="none" lIns="0" tIns="0" rIns="0" bIns="0" rtlCol="0" anchor="t"/>
          <a:lstStyle/>
          <a:p>
            <a:pPr>
              <a:lnSpc>
                <a:spcPts val="5520"/>
              </a:lnSpc>
            </a:pPr>
            <a:r>
              <a:rPr lang="en-US" sz="4400" dirty="0">
                <a:solidFill>
                  <a:srgbClr val="020202"/>
                </a:solidFill>
                <a:latin typeface="PT Serif" pitchFamily="34" charset="0"/>
                <a:ea typeface="PT Serif" pitchFamily="34" charset="-122"/>
                <a:cs typeface="PT Serif" pitchFamily="34" charset="-120"/>
              </a:rPr>
              <a:t>Dropout</a:t>
            </a:r>
            <a:endParaRPr lang="en-US" sz="4400" dirty="0"/>
          </a:p>
        </p:txBody>
      </p:sp>
      <p:sp>
        <p:nvSpPr>
          <p:cNvPr id="5" name="Text 3"/>
          <p:cNvSpPr/>
          <p:nvPr/>
        </p:nvSpPr>
        <p:spPr>
          <a:xfrm>
            <a:off x="526506" y="1295167"/>
            <a:ext cx="13042821" cy="6483895"/>
          </a:xfrm>
          <a:prstGeom prst="rect">
            <a:avLst/>
          </a:prstGeom>
          <a:noFill/>
          <a:ln/>
        </p:spPr>
        <p:txBody>
          <a:bodyPr wrap="square" lIns="0" tIns="0" rIns="0" bIns="0" rtlCol="0" anchor="t"/>
          <a:lstStyle/>
          <a:p>
            <a:r>
              <a:rPr lang="en-IN" sz="1600" b="1" dirty="0">
                <a:latin typeface="DM Sans" pitchFamily="2" charset="0"/>
              </a:rPr>
              <a:t>Dropout</a:t>
            </a:r>
            <a:r>
              <a:rPr lang="en-IN" sz="1600" dirty="0">
                <a:latin typeface="DM Sans" pitchFamily="2" charset="0"/>
              </a:rPr>
              <a:t> is a powerful regularization technique primarily used to prevent </a:t>
            </a:r>
            <a:r>
              <a:rPr lang="en-IN" sz="1600" b="1" dirty="0">
                <a:latin typeface="DM Sans" pitchFamily="2" charset="0"/>
              </a:rPr>
              <a:t>overfitting</a:t>
            </a:r>
            <a:r>
              <a:rPr lang="en-IN" sz="1600" dirty="0">
                <a:latin typeface="DM Sans" pitchFamily="2" charset="0"/>
              </a:rPr>
              <a:t> in deep neural networks, including Convolutional Neural Networks (CNNs).</a:t>
            </a:r>
          </a:p>
          <a:p>
            <a:endParaRPr lang="en-IN" sz="1600" dirty="0">
              <a:latin typeface="DM Sans" pitchFamily="2" charset="0"/>
            </a:endParaRPr>
          </a:p>
          <a:p>
            <a:pPr marL="342900" indent="-342900">
              <a:buAutoNum type="arabicPeriod"/>
            </a:pPr>
            <a:r>
              <a:rPr lang="en-IN" sz="1600" b="1" dirty="0">
                <a:latin typeface="DM Sans" pitchFamily="2" charset="0"/>
              </a:rPr>
              <a:t>How it Works</a:t>
            </a:r>
          </a:p>
          <a:p>
            <a:endParaRPr lang="en-IN" sz="1600" b="1" dirty="0">
              <a:latin typeface="DM Sans" pitchFamily="2" charset="0"/>
            </a:endParaRPr>
          </a:p>
          <a:p>
            <a:r>
              <a:rPr lang="en-IN" sz="1600" b="1" dirty="0">
                <a:latin typeface="DM Sans" pitchFamily="2" charset="0"/>
              </a:rPr>
              <a:t>Random Deactivation:</a:t>
            </a:r>
            <a:r>
              <a:rPr lang="en-IN" sz="1600" dirty="0">
                <a:latin typeface="DM Sans" pitchFamily="2" charset="0"/>
              </a:rPr>
              <a:t> During each training iteration, dropout "turns off" a random subset of neurons (along with their connections) with a probability p (e.g., 0.5).</a:t>
            </a:r>
          </a:p>
          <a:p>
            <a:endParaRPr lang="en-IN" sz="1600" dirty="0">
              <a:latin typeface="DM Sans" pitchFamily="2" charset="0"/>
            </a:endParaRPr>
          </a:p>
          <a:p>
            <a:r>
              <a:rPr lang="en-IN" sz="1600" b="1" dirty="0">
                <a:latin typeface="DM Sans" pitchFamily="2" charset="0"/>
              </a:rPr>
              <a:t>Thin Networks:</a:t>
            </a:r>
            <a:r>
              <a:rPr lang="en-IN" sz="1600" dirty="0">
                <a:latin typeface="DM Sans" pitchFamily="2" charset="0"/>
              </a:rPr>
              <a:t> This effectively forces the model to train on a different "thinned" architecture every time a gradient update occurs.</a:t>
            </a:r>
          </a:p>
          <a:p>
            <a:endParaRPr lang="en-IN" sz="1600" dirty="0">
              <a:latin typeface="DM Sans" pitchFamily="2" charset="0"/>
            </a:endParaRPr>
          </a:p>
          <a:p>
            <a:r>
              <a:rPr lang="en-IN" sz="1600" b="1" dirty="0">
                <a:latin typeface="DM Sans" pitchFamily="2" charset="0"/>
              </a:rPr>
              <a:t>No Redundancy:</a:t>
            </a:r>
            <a:r>
              <a:rPr lang="en-IN" sz="1600" dirty="0">
                <a:latin typeface="DM Sans" pitchFamily="2" charset="0"/>
              </a:rPr>
              <a:t> By removing neurons at random, the network cannot rely on any single neuron or specific combination of features. This prevents </a:t>
            </a:r>
            <a:r>
              <a:rPr lang="en-IN" sz="1600" b="1" dirty="0">
                <a:latin typeface="DM Sans" pitchFamily="2" charset="0"/>
              </a:rPr>
              <a:t>co-adaptation</a:t>
            </a:r>
            <a:r>
              <a:rPr lang="en-IN" sz="1600" dirty="0">
                <a:latin typeface="DM Sans" pitchFamily="2" charset="0"/>
              </a:rPr>
              <a:t>, where neurons only work well in the presence of specific others.</a:t>
            </a:r>
          </a:p>
          <a:p>
            <a:endParaRPr lang="en-IN" sz="1600" dirty="0">
              <a:latin typeface="DM Sans" pitchFamily="2" charset="0"/>
            </a:endParaRPr>
          </a:p>
          <a:p>
            <a:r>
              <a:rPr lang="en-IN" sz="1600" b="1" dirty="0">
                <a:latin typeface="DM Sans" pitchFamily="2" charset="0"/>
              </a:rPr>
              <a:t>2. Training vs. Inference</a:t>
            </a:r>
          </a:p>
          <a:p>
            <a:endParaRPr lang="en-IN" sz="1600" b="1" dirty="0">
              <a:latin typeface="DM Sans" pitchFamily="2" charset="0"/>
            </a:endParaRPr>
          </a:p>
          <a:p>
            <a:r>
              <a:rPr lang="en-IN" sz="1600" b="1" dirty="0">
                <a:latin typeface="DM Sans" pitchFamily="2" charset="0"/>
              </a:rPr>
              <a:t>During Training:</a:t>
            </a:r>
            <a:r>
              <a:rPr lang="en-IN" sz="1600" dirty="0">
                <a:latin typeface="DM Sans" pitchFamily="2" charset="0"/>
              </a:rPr>
              <a:t> Neurons are randomly dropped. The remaining active weights are typically scaled by $1/(1-p)$ to maintain the expected sum of inputs.</a:t>
            </a:r>
          </a:p>
          <a:p>
            <a:endParaRPr lang="en-IN" sz="1600" dirty="0">
              <a:latin typeface="DM Sans" pitchFamily="2" charset="0"/>
            </a:endParaRPr>
          </a:p>
          <a:p>
            <a:r>
              <a:rPr lang="en-IN" sz="1600" b="1" dirty="0">
                <a:latin typeface="DM Sans" pitchFamily="2" charset="0"/>
              </a:rPr>
              <a:t>During Testing/Inference:</a:t>
            </a:r>
            <a:r>
              <a:rPr lang="en-IN" sz="1600" dirty="0">
                <a:latin typeface="DM Sans" pitchFamily="2" charset="0"/>
              </a:rPr>
              <a:t> Dropout is </a:t>
            </a:r>
            <a:r>
              <a:rPr lang="en-IN" sz="1600" b="1" dirty="0">
                <a:latin typeface="DM Sans" pitchFamily="2" charset="0"/>
              </a:rPr>
              <a:t>turned off</a:t>
            </a:r>
            <a:r>
              <a:rPr lang="en-IN" sz="1600" dirty="0">
                <a:latin typeface="DM Sans" pitchFamily="2" charset="0"/>
              </a:rPr>
              <a:t>. All neurons are active, but their weights are scaled (or the outputs are already scaled from the training phase) to ensure the total signal strength matches what the model saw during training.</a:t>
            </a:r>
          </a:p>
        </p:txBody>
      </p:sp>
      <p:sp>
        <p:nvSpPr>
          <p:cNvPr id="7" name="Text 5"/>
          <p:cNvSpPr/>
          <p:nvPr/>
        </p:nvSpPr>
        <p:spPr>
          <a:xfrm>
            <a:off x="793791" y="3891320"/>
            <a:ext cx="6258520" cy="645795"/>
          </a:xfrm>
          <a:prstGeom prst="rect">
            <a:avLst/>
          </a:prstGeom>
          <a:noFill/>
          <a:ln/>
        </p:spPr>
        <p:txBody>
          <a:bodyPr wrap="square" lIns="0" tIns="0" rIns="0" bIns="0" rtlCol="0" anchor="t"/>
          <a:lstStyle/>
          <a:p>
            <a:pPr>
              <a:lnSpc>
                <a:spcPts val="2960"/>
              </a:lnSpc>
            </a:pPr>
            <a:endParaRPr lang="en-US" sz="1840" dirty="0"/>
          </a:p>
        </p:txBody>
      </p:sp>
      <p:sp>
        <p:nvSpPr>
          <p:cNvPr id="11" name="Text 8"/>
          <p:cNvSpPr/>
          <p:nvPr/>
        </p:nvSpPr>
        <p:spPr>
          <a:xfrm>
            <a:off x="7585711" y="3891321"/>
            <a:ext cx="6258520" cy="373618"/>
          </a:xfrm>
          <a:prstGeom prst="rect">
            <a:avLst/>
          </a:prstGeom>
          <a:noFill/>
          <a:ln/>
        </p:spPr>
        <p:txBody>
          <a:bodyPr wrap="none" lIns="0" tIns="0" rIns="0" bIns="0" rtlCol="0" anchor="t"/>
          <a:lstStyle/>
          <a:p>
            <a:pPr>
              <a:lnSpc>
                <a:spcPts val="2960"/>
              </a:lnSpc>
            </a:pPr>
            <a:endParaRPr lang="en-US" sz="1840" dirty="0"/>
          </a:p>
        </p:txBody>
      </p:sp>
      <p:sp>
        <p:nvSpPr>
          <p:cNvPr id="16" name="Text 11"/>
          <p:cNvSpPr/>
          <p:nvPr/>
        </p:nvSpPr>
        <p:spPr>
          <a:xfrm>
            <a:off x="526506" y="6770721"/>
            <a:ext cx="13177049" cy="1008341"/>
          </a:xfrm>
          <a:prstGeom prst="rect">
            <a:avLst/>
          </a:prstGeom>
          <a:noFill/>
          <a:ln/>
        </p:spPr>
        <p:txBody>
          <a:bodyPr wrap="square" lIns="0" tIns="0" rIns="0" bIns="0" rtlCol="0" anchor="t"/>
          <a:lstStyle/>
          <a:p>
            <a:pPr>
              <a:lnSpc>
                <a:spcPts val="2640"/>
              </a:lnSpc>
            </a:pPr>
            <a:r>
              <a:rPr lang="en-US" sz="1680" dirty="0">
                <a:solidFill>
                  <a:srgbClr val="000000"/>
                </a:solidFill>
                <a:latin typeface="DM Sans" pitchFamily="2" charset="0"/>
                <a:ea typeface="DM Sans" pitchFamily="34" charset="-122"/>
                <a:cs typeface="DM Sans" pitchFamily="34" charset="-120"/>
              </a:rPr>
              <a:t>Typical dropout rates: </a:t>
            </a:r>
            <a:r>
              <a:rPr lang="en-US" sz="1680" b="1" dirty="0">
                <a:solidFill>
                  <a:srgbClr val="000000"/>
                </a:solidFill>
                <a:latin typeface="DM Sans" pitchFamily="2" charset="0"/>
                <a:ea typeface="DM Sans" pitchFamily="34" charset="-122"/>
                <a:cs typeface="DM Sans" pitchFamily="34" charset="-120"/>
              </a:rPr>
              <a:t>p = 0.5</a:t>
            </a:r>
            <a:r>
              <a:rPr lang="en-US" sz="1680" dirty="0">
                <a:solidFill>
                  <a:srgbClr val="000000"/>
                </a:solidFill>
                <a:latin typeface="DM Sans" pitchFamily="2" charset="0"/>
                <a:ea typeface="DM Sans" pitchFamily="34" charset="-122"/>
                <a:cs typeface="DM Sans" pitchFamily="34" charset="-120"/>
              </a:rPr>
              <a:t> for fully connected layers, </a:t>
            </a:r>
            <a:r>
              <a:rPr lang="en-US" sz="1680" b="1" dirty="0">
                <a:solidFill>
                  <a:srgbClr val="000000"/>
                </a:solidFill>
                <a:latin typeface="DM Sans" pitchFamily="2" charset="0"/>
                <a:ea typeface="DM Sans" pitchFamily="34" charset="-122"/>
                <a:cs typeface="DM Sans" pitchFamily="34" charset="-120"/>
              </a:rPr>
              <a:t>p = 0.1–0.2</a:t>
            </a:r>
            <a:r>
              <a:rPr lang="en-US" sz="1680" dirty="0">
                <a:solidFill>
                  <a:srgbClr val="000000"/>
                </a:solidFill>
                <a:latin typeface="DM Sans" pitchFamily="2" charset="0"/>
                <a:ea typeface="DM Sans" pitchFamily="34" charset="-122"/>
                <a:cs typeface="DM Sans" pitchFamily="34" charset="-120"/>
              </a:rPr>
              <a:t> for convolutional layers. Rarely applied after BN layers in modern architectures.</a:t>
            </a:r>
            <a:endParaRPr lang="en-US" sz="1680" dirty="0">
              <a:latin typeface="DM Sans" pitchFamily="2" charset="0"/>
            </a:endParaRPr>
          </a:p>
        </p:txBody>
      </p:sp>
    </p:spTree>
    <p:extLst>
      <p:ext uri="{BB962C8B-B14F-4D97-AF65-F5344CB8AC3E}">
        <p14:creationId xmlns:p14="http://schemas.microsoft.com/office/powerpoint/2010/main" val="2680561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93791" y="1002864"/>
            <a:ext cx="1488995" cy="426243"/>
          </a:xfrm>
          <a:prstGeom prst="roundRect">
            <a:avLst>
              <a:gd name="adj" fmla="val 6386"/>
            </a:avLst>
          </a:prstGeom>
          <a:solidFill>
            <a:srgbClr val="FFDECC"/>
          </a:solidFill>
          <a:ln/>
        </p:spPr>
      </p:sp>
      <p:sp>
        <p:nvSpPr>
          <p:cNvPr id="3" name="Text 1"/>
          <p:cNvSpPr/>
          <p:nvPr/>
        </p:nvSpPr>
        <p:spPr>
          <a:xfrm>
            <a:off x="929879" y="1070849"/>
            <a:ext cx="1216819" cy="290274"/>
          </a:xfrm>
          <a:prstGeom prst="rect">
            <a:avLst/>
          </a:prstGeom>
          <a:noFill/>
          <a:ln/>
        </p:spPr>
        <p:txBody>
          <a:bodyPr wrap="none" lIns="0" tIns="0" rIns="0" bIns="0" rtlCol="0" anchor="t"/>
          <a:lstStyle/>
          <a:p>
            <a:pPr>
              <a:lnSpc>
                <a:spcPts val="2240"/>
              </a:lnSpc>
            </a:pPr>
            <a:r>
              <a:rPr lang="en-US" sz="1360" dirty="0">
                <a:solidFill>
                  <a:srgbClr val="383838"/>
                </a:solidFill>
                <a:latin typeface="DM Sans" pitchFamily="34" charset="0"/>
                <a:ea typeface="DM Sans" pitchFamily="34" charset="-122"/>
                <a:cs typeface="DM Sans" pitchFamily="34" charset="-120"/>
              </a:rPr>
              <a:t>APPLICATIONS</a:t>
            </a:r>
            <a:endParaRPr lang="en-US" sz="1360" dirty="0"/>
          </a:p>
        </p:txBody>
      </p:sp>
      <p:sp>
        <p:nvSpPr>
          <p:cNvPr id="4" name="Text 2"/>
          <p:cNvSpPr/>
          <p:nvPr/>
        </p:nvSpPr>
        <p:spPr>
          <a:xfrm>
            <a:off x="793791" y="1519834"/>
            <a:ext cx="6660357" cy="744259"/>
          </a:xfrm>
          <a:prstGeom prst="rect">
            <a:avLst/>
          </a:prstGeom>
          <a:noFill/>
          <a:ln/>
        </p:spPr>
        <p:txBody>
          <a:bodyPr wrap="none" lIns="0" tIns="0" rIns="0" bIns="0" rtlCol="0" anchor="t"/>
          <a:lstStyle/>
          <a:p>
            <a:pPr>
              <a:lnSpc>
                <a:spcPts val="5840"/>
              </a:lnSpc>
            </a:pPr>
            <a:r>
              <a:rPr lang="en-US" sz="4640" dirty="0">
                <a:solidFill>
                  <a:srgbClr val="020202"/>
                </a:solidFill>
                <a:latin typeface="PT Serif" pitchFamily="34" charset="0"/>
                <a:ea typeface="PT Serif" pitchFamily="34" charset="-122"/>
                <a:cs typeface="PT Serif" pitchFamily="34" charset="-120"/>
              </a:rPr>
              <a:t>Where CNNs Are Applied</a:t>
            </a:r>
            <a:endParaRPr lang="en-US" sz="464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3790" y="2604254"/>
            <a:ext cx="566976" cy="566976"/>
          </a:xfrm>
          <a:prstGeom prst="rect">
            <a:avLst/>
          </a:prstGeom>
        </p:spPr>
      </p:pic>
      <p:sp>
        <p:nvSpPr>
          <p:cNvPr id="6" name="Text 3"/>
          <p:cNvSpPr/>
          <p:nvPr/>
        </p:nvSpPr>
        <p:spPr>
          <a:xfrm>
            <a:off x="793791" y="3454717"/>
            <a:ext cx="2977038" cy="372070"/>
          </a:xfrm>
          <a:prstGeom prst="rect">
            <a:avLst/>
          </a:prstGeom>
          <a:noFill/>
          <a:ln/>
        </p:spPr>
        <p:txBody>
          <a:bodyPr wrap="none" lIns="0" tIns="0" rIns="0" bIns="0" rtlCol="0" anchor="t"/>
          <a:lstStyle/>
          <a:p>
            <a:pPr>
              <a:lnSpc>
                <a:spcPts val="2880"/>
              </a:lnSpc>
            </a:pPr>
            <a:r>
              <a:rPr lang="en-US" sz="2320" dirty="0">
                <a:solidFill>
                  <a:srgbClr val="383838"/>
                </a:solidFill>
                <a:latin typeface="PT Serif" pitchFamily="34" charset="0"/>
                <a:ea typeface="PT Serif" pitchFamily="34" charset="-122"/>
                <a:cs typeface="PT Serif" pitchFamily="34" charset="-120"/>
              </a:rPr>
              <a:t>Image Classification</a:t>
            </a:r>
            <a:endParaRPr lang="en-US" sz="2320" dirty="0"/>
          </a:p>
        </p:txBody>
      </p:sp>
      <p:sp>
        <p:nvSpPr>
          <p:cNvPr id="7" name="Text 4"/>
          <p:cNvSpPr/>
          <p:nvPr/>
        </p:nvSpPr>
        <p:spPr>
          <a:xfrm>
            <a:off x="793791" y="3962877"/>
            <a:ext cx="6379606" cy="725805"/>
          </a:xfrm>
          <a:prstGeom prst="rect">
            <a:avLst/>
          </a:prstGeom>
          <a:noFill/>
          <a:ln/>
        </p:spPr>
        <p:txBody>
          <a:bodyPr wrap="square" lIns="0" tIns="0" rIns="0" bIns="0" rtlCol="0" anchor="t"/>
          <a:lstStyle/>
          <a:p>
            <a:pPr>
              <a:lnSpc>
                <a:spcPts val="2800"/>
              </a:lnSpc>
            </a:pPr>
            <a:r>
              <a:rPr lang="en-US" sz="1760" dirty="0">
                <a:solidFill>
                  <a:srgbClr val="383838"/>
                </a:solidFill>
                <a:latin typeface="DM Sans" pitchFamily="34" charset="0"/>
                <a:ea typeface="DM Sans" pitchFamily="34" charset="-122"/>
                <a:cs typeface="DM Sans" pitchFamily="34" charset="-120"/>
              </a:rPr>
              <a:t>Assign a single label to an entire image. The canonical task — benchmark: ImageNet top-5 accuracy.</a:t>
            </a:r>
            <a:endParaRPr lang="en-US" sz="176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456885" y="2604254"/>
            <a:ext cx="566976" cy="566976"/>
          </a:xfrm>
          <a:prstGeom prst="rect">
            <a:avLst/>
          </a:prstGeom>
        </p:spPr>
      </p:pic>
      <p:sp>
        <p:nvSpPr>
          <p:cNvPr id="9" name="Text 5"/>
          <p:cNvSpPr/>
          <p:nvPr/>
        </p:nvSpPr>
        <p:spPr>
          <a:xfrm>
            <a:off x="7456886" y="3454717"/>
            <a:ext cx="2977038" cy="372070"/>
          </a:xfrm>
          <a:prstGeom prst="rect">
            <a:avLst/>
          </a:prstGeom>
          <a:noFill/>
          <a:ln/>
        </p:spPr>
        <p:txBody>
          <a:bodyPr wrap="none" lIns="0" tIns="0" rIns="0" bIns="0" rtlCol="0" anchor="t"/>
          <a:lstStyle/>
          <a:p>
            <a:pPr>
              <a:lnSpc>
                <a:spcPts val="2880"/>
              </a:lnSpc>
            </a:pPr>
            <a:r>
              <a:rPr lang="en-US" sz="2320" dirty="0">
                <a:solidFill>
                  <a:srgbClr val="383838"/>
                </a:solidFill>
                <a:latin typeface="PT Serif" pitchFamily="34" charset="0"/>
                <a:ea typeface="PT Serif" pitchFamily="34" charset="-122"/>
                <a:cs typeface="PT Serif" pitchFamily="34" charset="-120"/>
              </a:rPr>
              <a:t>Object Detection</a:t>
            </a:r>
            <a:endParaRPr lang="en-US" sz="2320" dirty="0"/>
          </a:p>
        </p:txBody>
      </p:sp>
      <p:sp>
        <p:nvSpPr>
          <p:cNvPr id="10" name="Text 6"/>
          <p:cNvSpPr/>
          <p:nvPr/>
        </p:nvSpPr>
        <p:spPr>
          <a:xfrm>
            <a:off x="7456886" y="3962877"/>
            <a:ext cx="6379726" cy="725805"/>
          </a:xfrm>
          <a:prstGeom prst="rect">
            <a:avLst/>
          </a:prstGeom>
          <a:noFill/>
          <a:ln/>
        </p:spPr>
        <p:txBody>
          <a:bodyPr wrap="square" lIns="0" tIns="0" rIns="0" bIns="0" rtlCol="0" anchor="t"/>
          <a:lstStyle/>
          <a:p>
            <a:pPr>
              <a:lnSpc>
                <a:spcPts val="2800"/>
              </a:lnSpc>
            </a:pPr>
            <a:r>
              <a:rPr lang="en-US" sz="1760" dirty="0">
                <a:solidFill>
                  <a:srgbClr val="383838"/>
                </a:solidFill>
                <a:latin typeface="DM Sans" pitchFamily="34" charset="0"/>
                <a:ea typeface="DM Sans" pitchFamily="34" charset="-122"/>
                <a:cs typeface="DM Sans" pitchFamily="34" charset="-120"/>
              </a:rPr>
              <a:t>Localize and classify multiple objects. Architectures: YOLO, Faster R-CNN, SSD.</a:t>
            </a:r>
            <a:endParaRPr lang="en-US" sz="176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3790" y="5142309"/>
            <a:ext cx="566976" cy="566976"/>
          </a:xfrm>
          <a:prstGeom prst="rect">
            <a:avLst/>
          </a:prstGeom>
        </p:spPr>
      </p:pic>
      <p:sp>
        <p:nvSpPr>
          <p:cNvPr id="12" name="Text 7"/>
          <p:cNvSpPr/>
          <p:nvPr/>
        </p:nvSpPr>
        <p:spPr>
          <a:xfrm>
            <a:off x="793791" y="5992773"/>
            <a:ext cx="3154562" cy="372070"/>
          </a:xfrm>
          <a:prstGeom prst="rect">
            <a:avLst/>
          </a:prstGeom>
          <a:noFill/>
          <a:ln/>
        </p:spPr>
        <p:txBody>
          <a:bodyPr wrap="none" lIns="0" tIns="0" rIns="0" bIns="0" rtlCol="0" anchor="t"/>
          <a:lstStyle/>
          <a:p>
            <a:pPr>
              <a:lnSpc>
                <a:spcPts val="2880"/>
              </a:lnSpc>
            </a:pPr>
            <a:r>
              <a:rPr lang="en-US" sz="2320" dirty="0">
                <a:solidFill>
                  <a:srgbClr val="383838"/>
                </a:solidFill>
                <a:latin typeface="PT Serif" pitchFamily="34" charset="0"/>
                <a:ea typeface="PT Serif" pitchFamily="34" charset="-122"/>
                <a:cs typeface="PT Serif" pitchFamily="34" charset="-120"/>
              </a:rPr>
              <a:t>Semantic Segmentation</a:t>
            </a:r>
            <a:endParaRPr lang="en-US" sz="2320" dirty="0"/>
          </a:p>
        </p:txBody>
      </p:sp>
      <p:sp>
        <p:nvSpPr>
          <p:cNvPr id="13" name="Text 8"/>
          <p:cNvSpPr/>
          <p:nvPr/>
        </p:nvSpPr>
        <p:spPr>
          <a:xfrm>
            <a:off x="793791" y="6500931"/>
            <a:ext cx="6379606" cy="725805"/>
          </a:xfrm>
          <a:prstGeom prst="rect">
            <a:avLst/>
          </a:prstGeom>
          <a:noFill/>
          <a:ln/>
        </p:spPr>
        <p:txBody>
          <a:bodyPr wrap="square" lIns="0" tIns="0" rIns="0" bIns="0" rtlCol="0" anchor="t"/>
          <a:lstStyle/>
          <a:p>
            <a:pPr>
              <a:lnSpc>
                <a:spcPts val="2800"/>
              </a:lnSpc>
            </a:pPr>
            <a:r>
              <a:rPr lang="en-US" sz="1760" dirty="0">
                <a:solidFill>
                  <a:srgbClr val="383838"/>
                </a:solidFill>
                <a:latin typeface="DM Sans" pitchFamily="34" charset="0"/>
                <a:ea typeface="DM Sans" pitchFamily="34" charset="-122"/>
                <a:cs typeface="DM Sans" pitchFamily="34" charset="-120"/>
              </a:rPr>
              <a:t>Assign a class label to </a:t>
            </a:r>
            <a:r>
              <a:rPr lang="en-US" sz="1760" i="1" dirty="0">
                <a:solidFill>
                  <a:srgbClr val="383838"/>
                </a:solidFill>
                <a:latin typeface="DM Sans" pitchFamily="34" charset="0"/>
                <a:ea typeface="DM Sans" pitchFamily="34" charset="-122"/>
                <a:cs typeface="DM Sans" pitchFamily="34" charset="-120"/>
              </a:rPr>
              <a:t>every pixel</a:t>
            </a:r>
            <a:r>
              <a:rPr lang="en-US" sz="1760" dirty="0">
                <a:solidFill>
                  <a:srgbClr val="383838"/>
                </a:solidFill>
                <a:latin typeface="DM Sans" pitchFamily="34" charset="0"/>
                <a:ea typeface="DM Sans" pitchFamily="34" charset="-122"/>
                <a:cs typeface="DM Sans" pitchFamily="34" charset="-120"/>
              </a:rPr>
              <a:t>. Used in autonomous driving and medical imaging.</a:t>
            </a:r>
            <a:endParaRPr lang="en-US" sz="176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56885" y="5142309"/>
            <a:ext cx="566976" cy="566976"/>
          </a:xfrm>
          <a:prstGeom prst="rect">
            <a:avLst/>
          </a:prstGeom>
        </p:spPr>
      </p:pic>
      <p:sp>
        <p:nvSpPr>
          <p:cNvPr id="15" name="Text 9"/>
          <p:cNvSpPr/>
          <p:nvPr/>
        </p:nvSpPr>
        <p:spPr>
          <a:xfrm>
            <a:off x="7456886" y="5992773"/>
            <a:ext cx="2977038" cy="372070"/>
          </a:xfrm>
          <a:prstGeom prst="rect">
            <a:avLst/>
          </a:prstGeom>
          <a:noFill/>
          <a:ln/>
        </p:spPr>
        <p:txBody>
          <a:bodyPr wrap="none" lIns="0" tIns="0" rIns="0" bIns="0" rtlCol="0" anchor="t"/>
          <a:lstStyle/>
          <a:p>
            <a:pPr>
              <a:lnSpc>
                <a:spcPts val="2880"/>
              </a:lnSpc>
            </a:pPr>
            <a:r>
              <a:rPr lang="en-US" sz="2320" dirty="0">
                <a:solidFill>
                  <a:srgbClr val="383838"/>
                </a:solidFill>
                <a:latin typeface="PT Serif" pitchFamily="34" charset="0"/>
                <a:ea typeface="PT Serif" pitchFamily="34" charset="-122"/>
                <a:cs typeface="PT Serif" pitchFamily="34" charset="-120"/>
              </a:rPr>
              <a:t>Medical Imaging</a:t>
            </a:r>
            <a:endParaRPr lang="en-US" sz="2320" dirty="0"/>
          </a:p>
        </p:txBody>
      </p:sp>
      <p:sp>
        <p:nvSpPr>
          <p:cNvPr id="16" name="Text 10"/>
          <p:cNvSpPr/>
          <p:nvPr/>
        </p:nvSpPr>
        <p:spPr>
          <a:xfrm>
            <a:off x="7456886" y="6500931"/>
            <a:ext cx="6379726" cy="725805"/>
          </a:xfrm>
          <a:prstGeom prst="rect">
            <a:avLst/>
          </a:prstGeom>
          <a:noFill/>
          <a:ln/>
        </p:spPr>
        <p:txBody>
          <a:bodyPr wrap="square" lIns="0" tIns="0" rIns="0" bIns="0" rtlCol="0" anchor="t"/>
          <a:lstStyle/>
          <a:p>
            <a:pPr>
              <a:lnSpc>
                <a:spcPts val="2800"/>
              </a:lnSpc>
            </a:pPr>
            <a:r>
              <a:rPr lang="en-US" sz="1760" dirty="0">
                <a:solidFill>
                  <a:srgbClr val="383838"/>
                </a:solidFill>
                <a:latin typeface="DM Sans" pitchFamily="34" charset="0"/>
                <a:ea typeface="DM Sans" pitchFamily="34" charset="-122"/>
                <a:cs typeface="DM Sans" pitchFamily="34" charset="-120"/>
              </a:rPr>
              <a:t>Detect tumors, diabetic retinopathy, and lung nodules — often matching radiologist accuracy.</a:t>
            </a:r>
            <a:endParaRPr lang="en-US" sz="1760" dirty="0"/>
          </a:p>
        </p:txBody>
      </p:sp>
    </p:spTree>
    <p:extLst>
      <p:ext uri="{BB962C8B-B14F-4D97-AF65-F5344CB8AC3E}">
        <p14:creationId xmlns:p14="http://schemas.microsoft.com/office/powerpoint/2010/main" val="37789531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793790" y="750093"/>
            <a:ext cx="6808708"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Landmark CNN Architectures</a:t>
            </a:r>
            <a:endParaRPr lang="en-US" sz="4100" dirty="0"/>
          </a:p>
        </p:txBody>
      </p:sp>
      <p:sp>
        <p:nvSpPr>
          <p:cNvPr id="5" name="Text 3"/>
          <p:cNvSpPr/>
          <p:nvPr/>
        </p:nvSpPr>
        <p:spPr>
          <a:xfrm>
            <a:off x="767119" y="1773435"/>
            <a:ext cx="13042821" cy="63507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Over the past decade, several milestone architectures have driven dramatic improvements in computer vision benchmarks. Each introduced </a:t>
            </a:r>
            <a:r>
              <a:rPr lang="en-US" sz="1700" b="1" dirty="0">
                <a:solidFill>
                  <a:srgbClr val="383838"/>
                </a:solidFill>
                <a:latin typeface="DM Sans" pitchFamily="34" charset="0"/>
                <a:ea typeface="DM Sans" pitchFamily="34" charset="-122"/>
                <a:cs typeface="DM Sans" pitchFamily="34" charset="-120"/>
              </a:rPr>
              <a:t>novel design principles</a:t>
            </a:r>
            <a:r>
              <a:rPr lang="en-US" sz="1700" dirty="0">
                <a:solidFill>
                  <a:srgbClr val="383838"/>
                </a:solidFill>
                <a:latin typeface="DM Sans" pitchFamily="34" charset="0"/>
                <a:ea typeface="DM Sans" pitchFamily="34" charset="-122"/>
                <a:cs typeface="DM Sans" pitchFamily="34" charset="-120"/>
              </a:rPr>
              <a:t> that shaped subsequent research and deployment.</a:t>
            </a:r>
            <a:endParaRPr lang="en-US" sz="1700" dirty="0"/>
          </a:p>
        </p:txBody>
      </p:sp>
      <p:sp>
        <p:nvSpPr>
          <p:cNvPr id="6" name="Shape 4"/>
          <p:cNvSpPr/>
          <p:nvPr/>
        </p:nvSpPr>
        <p:spPr>
          <a:xfrm>
            <a:off x="793790" y="5244584"/>
            <a:ext cx="13042821" cy="22860"/>
          </a:xfrm>
          <a:prstGeom prst="roundRect">
            <a:avLst>
              <a:gd name="adj" fmla="val 130232"/>
            </a:avLst>
          </a:prstGeom>
          <a:solidFill>
            <a:srgbClr val="D8D4D4"/>
          </a:solidFill>
          <a:ln/>
        </p:spPr>
      </p:sp>
      <p:sp>
        <p:nvSpPr>
          <p:cNvPr id="7" name="Shape 5"/>
          <p:cNvSpPr/>
          <p:nvPr/>
        </p:nvSpPr>
        <p:spPr>
          <a:xfrm>
            <a:off x="3316486" y="4649272"/>
            <a:ext cx="22860" cy="595313"/>
          </a:xfrm>
          <a:prstGeom prst="roundRect">
            <a:avLst>
              <a:gd name="adj" fmla="val 130232"/>
            </a:avLst>
          </a:prstGeom>
          <a:solidFill>
            <a:srgbClr val="D8D4D4"/>
          </a:solidFill>
          <a:ln/>
        </p:spPr>
      </p:sp>
      <p:sp>
        <p:nvSpPr>
          <p:cNvPr id="8" name="Shape 6"/>
          <p:cNvSpPr/>
          <p:nvPr/>
        </p:nvSpPr>
        <p:spPr>
          <a:xfrm>
            <a:off x="3104674" y="5021342"/>
            <a:ext cx="446484" cy="446484"/>
          </a:xfrm>
          <a:prstGeom prst="roundRect">
            <a:avLst>
              <a:gd name="adj" fmla="val 6668"/>
            </a:avLst>
          </a:prstGeom>
          <a:solidFill>
            <a:srgbClr val="F2EEEE"/>
          </a:solidFill>
          <a:ln/>
        </p:spPr>
      </p:sp>
      <p:sp>
        <p:nvSpPr>
          <p:cNvPr id="9" name="Text 7"/>
          <p:cNvSpPr/>
          <p:nvPr/>
        </p:nvSpPr>
        <p:spPr>
          <a:xfrm>
            <a:off x="3171646" y="5049262"/>
            <a:ext cx="312539" cy="390644"/>
          </a:xfrm>
          <a:prstGeom prst="rect">
            <a:avLst/>
          </a:prstGeom>
          <a:noFill/>
          <a:ln/>
        </p:spPr>
        <p:txBody>
          <a:bodyPr wrap="none" lIns="0" tIns="0" rIns="0" bIns="0" rtlCol="0" anchor="t"/>
          <a:lstStyle/>
          <a:p>
            <a:pPr marL="0" indent="0" algn="ctr">
              <a:lnSpc>
                <a:spcPts val="2450"/>
              </a:lnSpc>
              <a:buNone/>
            </a:pPr>
            <a:r>
              <a:rPr lang="en-US" sz="2450" dirty="0">
                <a:solidFill>
                  <a:srgbClr val="383838"/>
                </a:solidFill>
                <a:latin typeface="PT Serif" pitchFamily="34" charset="0"/>
                <a:ea typeface="PT Serif" pitchFamily="34" charset="-122"/>
                <a:cs typeface="PT Serif" pitchFamily="34" charset="-120"/>
              </a:rPr>
              <a:t>1</a:t>
            </a:r>
            <a:endParaRPr lang="en-US" sz="2450" dirty="0"/>
          </a:p>
        </p:txBody>
      </p:sp>
      <p:sp>
        <p:nvSpPr>
          <p:cNvPr id="10" name="Text 8"/>
          <p:cNvSpPr/>
          <p:nvPr/>
        </p:nvSpPr>
        <p:spPr>
          <a:xfrm>
            <a:off x="2025372" y="3053477"/>
            <a:ext cx="2604968" cy="325636"/>
          </a:xfrm>
          <a:prstGeom prst="rect">
            <a:avLst/>
          </a:prstGeom>
          <a:noFill/>
          <a:ln/>
        </p:spPr>
        <p:txBody>
          <a:bodyPr wrap="none" lIns="0" tIns="0" rIns="0" bIns="0" rtlCol="0" anchor="t"/>
          <a:lstStyle/>
          <a:p>
            <a:pPr marL="0" indent="0" algn="ctr">
              <a:lnSpc>
                <a:spcPts val="2550"/>
              </a:lnSpc>
              <a:buNone/>
            </a:pPr>
            <a:r>
              <a:rPr lang="en-US" sz="2050" b="1" dirty="0">
                <a:solidFill>
                  <a:srgbClr val="383838"/>
                </a:solidFill>
                <a:latin typeface="PT Serif" pitchFamily="34" charset="0"/>
                <a:ea typeface="PT Serif" pitchFamily="34" charset="-122"/>
                <a:cs typeface="PT Serif" pitchFamily="34" charset="-120"/>
              </a:rPr>
              <a:t>AlexNet (2012)</a:t>
            </a:r>
            <a:endParaRPr lang="en-US" sz="2050" b="1" dirty="0"/>
          </a:p>
        </p:txBody>
      </p:sp>
      <p:sp>
        <p:nvSpPr>
          <p:cNvPr id="11" name="Text 9"/>
          <p:cNvSpPr/>
          <p:nvPr/>
        </p:nvSpPr>
        <p:spPr>
          <a:xfrm>
            <a:off x="992148" y="3498175"/>
            <a:ext cx="4671536" cy="952619"/>
          </a:xfrm>
          <a:prstGeom prst="rect">
            <a:avLst/>
          </a:prstGeom>
          <a:noFill/>
          <a:ln/>
        </p:spPr>
        <p:txBody>
          <a:bodyPr wrap="square" lIns="0" tIns="0" rIns="0" bIns="0" rtlCol="0" anchor="t"/>
          <a:lstStyle/>
          <a:p>
            <a:pPr marL="0" indent="0" algn="ctr">
              <a:lnSpc>
                <a:spcPts val="2500"/>
              </a:lnSpc>
              <a:buNone/>
            </a:pPr>
            <a:r>
              <a:rPr lang="en-US" sz="1700" dirty="0">
                <a:solidFill>
                  <a:srgbClr val="383838"/>
                </a:solidFill>
                <a:latin typeface="DM Sans" pitchFamily="34" charset="0"/>
                <a:ea typeface="DM Sans" pitchFamily="34" charset="-122"/>
                <a:cs typeface="DM Sans" pitchFamily="34" charset="-120"/>
              </a:rPr>
              <a:t>First deep CNN to win ImageNet. Introduced ReLU, dropout regularisation, and GPU training. Sparked the deep learning revolution.</a:t>
            </a:r>
            <a:endParaRPr lang="en-US" sz="1700" dirty="0"/>
          </a:p>
        </p:txBody>
      </p:sp>
      <p:sp>
        <p:nvSpPr>
          <p:cNvPr id="12" name="Shape 10"/>
          <p:cNvSpPr/>
          <p:nvPr/>
        </p:nvSpPr>
        <p:spPr>
          <a:xfrm>
            <a:off x="5974556" y="5244584"/>
            <a:ext cx="22860" cy="595313"/>
          </a:xfrm>
          <a:prstGeom prst="roundRect">
            <a:avLst>
              <a:gd name="adj" fmla="val 130232"/>
            </a:avLst>
          </a:prstGeom>
          <a:solidFill>
            <a:srgbClr val="D8D4D4"/>
          </a:solidFill>
          <a:ln/>
        </p:spPr>
      </p:sp>
      <p:sp>
        <p:nvSpPr>
          <p:cNvPr id="13" name="Shape 11"/>
          <p:cNvSpPr/>
          <p:nvPr/>
        </p:nvSpPr>
        <p:spPr>
          <a:xfrm>
            <a:off x="5762744" y="5021342"/>
            <a:ext cx="446484" cy="446484"/>
          </a:xfrm>
          <a:prstGeom prst="roundRect">
            <a:avLst>
              <a:gd name="adj" fmla="val 6668"/>
            </a:avLst>
          </a:prstGeom>
          <a:solidFill>
            <a:srgbClr val="F2EEEE"/>
          </a:solidFill>
          <a:ln/>
        </p:spPr>
      </p:sp>
      <p:sp>
        <p:nvSpPr>
          <p:cNvPr id="14" name="Text 12"/>
          <p:cNvSpPr/>
          <p:nvPr/>
        </p:nvSpPr>
        <p:spPr>
          <a:xfrm>
            <a:off x="5829717" y="5049262"/>
            <a:ext cx="312539" cy="390644"/>
          </a:xfrm>
          <a:prstGeom prst="rect">
            <a:avLst/>
          </a:prstGeom>
          <a:noFill/>
          <a:ln/>
        </p:spPr>
        <p:txBody>
          <a:bodyPr wrap="none" lIns="0" tIns="0" rIns="0" bIns="0" rtlCol="0" anchor="t"/>
          <a:lstStyle/>
          <a:p>
            <a:pPr marL="0" indent="0" algn="ctr">
              <a:lnSpc>
                <a:spcPts val="2450"/>
              </a:lnSpc>
              <a:buNone/>
            </a:pPr>
            <a:r>
              <a:rPr lang="en-US" sz="2450" dirty="0">
                <a:solidFill>
                  <a:srgbClr val="383838"/>
                </a:solidFill>
                <a:latin typeface="PT Serif" pitchFamily="34" charset="0"/>
                <a:ea typeface="PT Serif" pitchFamily="34" charset="-122"/>
                <a:cs typeface="PT Serif" pitchFamily="34" charset="-120"/>
              </a:rPr>
              <a:t>2</a:t>
            </a:r>
            <a:endParaRPr lang="en-US" sz="2450" dirty="0"/>
          </a:p>
        </p:txBody>
      </p:sp>
      <p:sp>
        <p:nvSpPr>
          <p:cNvPr id="15" name="Text 13"/>
          <p:cNvSpPr/>
          <p:nvPr/>
        </p:nvSpPr>
        <p:spPr>
          <a:xfrm>
            <a:off x="4683562" y="6038374"/>
            <a:ext cx="2604968" cy="325636"/>
          </a:xfrm>
          <a:prstGeom prst="rect">
            <a:avLst/>
          </a:prstGeom>
          <a:noFill/>
          <a:ln/>
        </p:spPr>
        <p:txBody>
          <a:bodyPr wrap="none" lIns="0" tIns="0" rIns="0" bIns="0" rtlCol="0" anchor="t"/>
          <a:lstStyle/>
          <a:p>
            <a:pPr marL="0" indent="0" algn="ctr">
              <a:lnSpc>
                <a:spcPts val="2550"/>
              </a:lnSpc>
              <a:buNone/>
            </a:pPr>
            <a:r>
              <a:rPr lang="en-US" sz="2050" b="1" dirty="0">
                <a:solidFill>
                  <a:srgbClr val="383838"/>
                </a:solidFill>
                <a:latin typeface="PT Serif" pitchFamily="34" charset="0"/>
                <a:ea typeface="PT Serif" pitchFamily="34" charset="-122"/>
                <a:cs typeface="PT Serif" pitchFamily="34" charset="-120"/>
              </a:rPr>
              <a:t>VGGNet (2014)</a:t>
            </a:r>
            <a:endParaRPr lang="en-US" sz="2050" b="1" dirty="0"/>
          </a:p>
        </p:txBody>
      </p:sp>
      <p:sp>
        <p:nvSpPr>
          <p:cNvPr id="16" name="Text 14"/>
          <p:cNvSpPr/>
          <p:nvPr/>
        </p:nvSpPr>
        <p:spPr>
          <a:xfrm>
            <a:off x="3650218" y="6483072"/>
            <a:ext cx="4671655" cy="952619"/>
          </a:xfrm>
          <a:prstGeom prst="rect">
            <a:avLst/>
          </a:prstGeom>
          <a:noFill/>
          <a:ln/>
        </p:spPr>
        <p:txBody>
          <a:bodyPr wrap="square" lIns="0" tIns="0" rIns="0" bIns="0" rtlCol="0" anchor="t"/>
          <a:lstStyle/>
          <a:p>
            <a:pPr marL="0" indent="0" algn="ctr">
              <a:lnSpc>
                <a:spcPts val="2500"/>
              </a:lnSpc>
              <a:buNone/>
            </a:pPr>
            <a:r>
              <a:rPr lang="en-US" sz="1700" dirty="0">
                <a:solidFill>
                  <a:srgbClr val="383838"/>
                </a:solidFill>
                <a:latin typeface="DM Sans" pitchFamily="34" charset="0"/>
                <a:ea typeface="DM Sans" pitchFamily="34" charset="-122"/>
                <a:cs typeface="DM Sans" pitchFamily="34" charset="-120"/>
              </a:rPr>
              <a:t>Demonstrated that depth matters. Used very small 3×3 filters stacked deeply. Achieved state-of-the-art with 16–19 layers.</a:t>
            </a:r>
            <a:endParaRPr lang="en-US" sz="1700" dirty="0"/>
          </a:p>
        </p:txBody>
      </p:sp>
      <p:sp>
        <p:nvSpPr>
          <p:cNvPr id="17" name="Shape 15"/>
          <p:cNvSpPr/>
          <p:nvPr/>
        </p:nvSpPr>
        <p:spPr>
          <a:xfrm>
            <a:off x="8632746" y="4649272"/>
            <a:ext cx="22860" cy="595313"/>
          </a:xfrm>
          <a:prstGeom prst="roundRect">
            <a:avLst>
              <a:gd name="adj" fmla="val 130232"/>
            </a:avLst>
          </a:prstGeom>
          <a:solidFill>
            <a:srgbClr val="D8D4D4"/>
          </a:solidFill>
          <a:ln/>
        </p:spPr>
      </p:sp>
      <p:sp>
        <p:nvSpPr>
          <p:cNvPr id="18" name="Shape 16"/>
          <p:cNvSpPr/>
          <p:nvPr/>
        </p:nvSpPr>
        <p:spPr>
          <a:xfrm>
            <a:off x="8420933" y="5021342"/>
            <a:ext cx="446484" cy="446484"/>
          </a:xfrm>
          <a:prstGeom prst="roundRect">
            <a:avLst>
              <a:gd name="adj" fmla="val 6668"/>
            </a:avLst>
          </a:prstGeom>
          <a:solidFill>
            <a:srgbClr val="F2EEEE"/>
          </a:solidFill>
          <a:ln/>
        </p:spPr>
      </p:sp>
      <p:sp>
        <p:nvSpPr>
          <p:cNvPr id="19" name="Text 17"/>
          <p:cNvSpPr/>
          <p:nvPr/>
        </p:nvSpPr>
        <p:spPr>
          <a:xfrm>
            <a:off x="8487906" y="5049262"/>
            <a:ext cx="312539" cy="390644"/>
          </a:xfrm>
          <a:prstGeom prst="rect">
            <a:avLst/>
          </a:prstGeom>
          <a:noFill/>
          <a:ln/>
        </p:spPr>
        <p:txBody>
          <a:bodyPr wrap="none" lIns="0" tIns="0" rIns="0" bIns="0" rtlCol="0" anchor="t"/>
          <a:lstStyle/>
          <a:p>
            <a:pPr marL="0" indent="0" algn="ctr">
              <a:lnSpc>
                <a:spcPts val="2450"/>
              </a:lnSpc>
              <a:buNone/>
            </a:pPr>
            <a:r>
              <a:rPr lang="en-US" sz="2450" dirty="0">
                <a:solidFill>
                  <a:srgbClr val="383838"/>
                </a:solidFill>
                <a:latin typeface="PT Serif" pitchFamily="34" charset="0"/>
                <a:ea typeface="PT Serif" pitchFamily="34" charset="-122"/>
                <a:cs typeface="PT Serif" pitchFamily="34" charset="-120"/>
              </a:rPr>
              <a:t>3</a:t>
            </a:r>
            <a:endParaRPr lang="en-US" sz="2450" dirty="0"/>
          </a:p>
        </p:txBody>
      </p:sp>
      <p:sp>
        <p:nvSpPr>
          <p:cNvPr id="20" name="Text 18"/>
          <p:cNvSpPr/>
          <p:nvPr/>
        </p:nvSpPr>
        <p:spPr>
          <a:xfrm>
            <a:off x="7341751" y="3053477"/>
            <a:ext cx="2604968" cy="325636"/>
          </a:xfrm>
          <a:prstGeom prst="rect">
            <a:avLst/>
          </a:prstGeom>
          <a:noFill/>
          <a:ln/>
        </p:spPr>
        <p:txBody>
          <a:bodyPr wrap="none" lIns="0" tIns="0" rIns="0" bIns="0" rtlCol="0" anchor="t"/>
          <a:lstStyle/>
          <a:p>
            <a:pPr marL="0" indent="0" algn="ctr">
              <a:lnSpc>
                <a:spcPts val="2550"/>
              </a:lnSpc>
              <a:buNone/>
            </a:pPr>
            <a:r>
              <a:rPr lang="en-US" sz="2050" b="1" dirty="0">
                <a:solidFill>
                  <a:srgbClr val="383838"/>
                </a:solidFill>
                <a:latin typeface="PT Serif" pitchFamily="34" charset="0"/>
                <a:ea typeface="PT Serif" pitchFamily="34" charset="-122"/>
                <a:cs typeface="PT Serif" pitchFamily="34" charset="-120"/>
              </a:rPr>
              <a:t>GoogLeNet (2014)</a:t>
            </a:r>
            <a:endParaRPr lang="en-US" sz="2050" b="1" dirty="0"/>
          </a:p>
        </p:txBody>
      </p:sp>
      <p:sp>
        <p:nvSpPr>
          <p:cNvPr id="21" name="Text 19"/>
          <p:cNvSpPr/>
          <p:nvPr/>
        </p:nvSpPr>
        <p:spPr>
          <a:xfrm>
            <a:off x="6308408" y="3498175"/>
            <a:ext cx="4671655" cy="952619"/>
          </a:xfrm>
          <a:prstGeom prst="rect">
            <a:avLst/>
          </a:prstGeom>
          <a:noFill/>
          <a:ln/>
        </p:spPr>
        <p:txBody>
          <a:bodyPr wrap="square" lIns="0" tIns="0" rIns="0" bIns="0" rtlCol="0" anchor="t"/>
          <a:lstStyle/>
          <a:p>
            <a:pPr marL="0" indent="0" algn="ctr">
              <a:lnSpc>
                <a:spcPts val="2500"/>
              </a:lnSpc>
              <a:buNone/>
            </a:pPr>
            <a:r>
              <a:rPr lang="en-US" sz="1700" dirty="0">
                <a:solidFill>
                  <a:srgbClr val="383838"/>
                </a:solidFill>
                <a:latin typeface="DM Sans" pitchFamily="34" charset="0"/>
                <a:ea typeface="DM Sans" pitchFamily="34" charset="-122"/>
                <a:cs typeface="DM Sans" pitchFamily="34" charset="-120"/>
              </a:rPr>
              <a:t>Introduced Inception modules — parallel convolutions at multiple scales. Drastically reduced parameters while improving accuracy.</a:t>
            </a:r>
            <a:endParaRPr lang="en-US" sz="1700" dirty="0"/>
          </a:p>
        </p:txBody>
      </p:sp>
      <p:sp>
        <p:nvSpPr>
          <p:cNvPr id="22" name="Shape 20"/>
          <p:cNvSpPr/>
          <p:nvPr/>
        </p:nvSpPr>
        <p:spPr>
          <a:xfrm>
            <a:off x="11290935" y="5244584"/>
            <a:ext cx="22860" cy="595313"/>
          </a:xfrm>
          <a:prstGeom prst="roundRect">
            <a:avLst>
              <a:gd name="adj" fmla="val 130232"/>
            </a:avLst>
          </a:prstGeom>
          <a:solidFill>
            <a:srgbClr val="D8D4D4"/>
          </a:solidFill>
          <a:ln/>
        </p:spPr>
      </p:sp>
      <p:sp>
        <p:nvSpPr>
          <p:cNvPr id="23" name="Shape 21"/>
          <p:cNvSpPr/>
          <p:nvPr/>
        </p:nvSpPr>
        <p:spPr>
          <a:xfrm>
            <a:off x="11079123" y="5021342"/>
            <a:ext cx="446484" cy="446484"/>
          </a:xfrm>
          <a:prstGeom prst="roundRect">
            <a:avLst>
              <a:gd name="adj" fmla="val 6668"/>
            </a:avLst>
          </a:prstGeom>
          <a:solidFill>
            <a:srgbClr val="F2EEEE"/>
          </a:solidFill>
          <a:ln/>
        </p:spPr>
      </p:sp>
      <p:sp>
        <p:nvSpPr>
          <p:cNvPr id="24" name="Text 22"/>
          <p:cNvSpPr/>
          <p:nvPr/>
        </p:nvSpPr>
        <p:spPr>
          <a:xfrm>
            <a:off x="11146095" y="5049262"/>
            <a:ext cx="312539" cy="390644"/>
          </a:xfrm>
          <a:prstGeom prst="rect">
            <a:avLst/>
          </a:prstGeom>
          <a:noFill/>
          <a:ln/>
        </p:spPr>
        <p:txBody>
          <a:bodyPr wrap="none" lIns="0" tIns="0" rIns="0" bIns="0" rtlCol="0" anchor="t"/>
          <a:lstStyle/>
          <a:p>
            <a:pPr marL="0" indent="0" algn="ctr">
              <a:lnSpc>
                <a:spcPts val="2450"/>
              </a:lnSpc>
              <a:buNone/>
            </a:pPr>
            <a:r>
              <a:rPr lang="en-US" sz="2450" dirty="0">
                <a:solidFill>
                  <a:srgbClr val="383838"/>
                </a:solidFill>
                <a:latin typeface="PT Serif" pitchFamily="34" charset="0"/>
                <a:ea typeface="PT Serif" pitchFamily="34" charset="-122"/>
                <a:cs typeface="PT Serif" pitchFamily="34" charset="-120"/>
              </a:rPr>
              <a:t>4</a:t>
            </a:r>
            <a:endParaRPr lang="en-US" sz="2450" dirty="0"/>
          </a:p>
        </p:txBody>
      </p:sp>
      <p:sp>
        <p:nvSpPr>
          <p:cNvPr id="25" name="Text 23"/>
          <p:cNvSpPr/>
          <p:nvPr/>
        </p:nvSpPr>
        <p:spPr>
          <a:xfrm>
            <a:off x="9999940" y="6038374"/>
            <a:ext cx="2604968" cy="325636"/>
          </a:xfrm>
          <a:prstGeom prst="rect">
            <a:avLst/>
          </a:prstGeom>
          <a:noFill/>
          <a:ln/>
        </p:spPr>
        <p:txBody>
          <a:bodyPr wrap="none" lIns="0" tIns="0" rIns="0" bIns="0" rtlCol="0" anchor="t"/>
          <a:lstStyle/>
          <a:p>
            <a:pPr marL="0" indent="0" algn="ctr">
              <a:lnSpc>
                <a:spcPts val="2550"/>
              </a:lnSpc>
              <a:buNone/>
            </a:pPr>
            <a:r>
              <a:rPr lang="en-US" sz="2050" b="1" dirty="0">
                <a:solidFill>
                  <a:srgbClr val="383838"/>
                </a:solidFill>
                <a:latin typeface="PT Serif" pitchFamily="34" charset="0"/>
                <a:ea typeface="PT Serif" pitchFamily="34" charset="-122"/>
                <a:cs typeface="PT Serif" pitchFamily="34" charset="-120"/>
              </a:rPr>
              <a:t>ResNet (2015)</a:t>
            </a:r>
            <a:endParaRPr lang="en-US" sz="2050" b="1" dirty="0"/>
          </a:p>
        </p:txBody>
      </p:sp>
      <p:sp>
        <p:nvSpPr>
          <p:cNvPr id="26" name="Text 24"/>
          <p:cNvSpPr/>
          <p:nvPr/>
        </p:nvSpPr>
        <p:spPr>
          <a:xfrm>
            <a:off x="8966597" y="6483072"/>
            <a:ext cx="4671655" cy="952619"/>
          </a:xfrm>
          <a:prstGeom prst="rect">
            <a:avLst/>
          </a:prstGeom>
          <a:noFill/>
          <a:ln/>
        </p:spPr>
        <p:txBody>
          <a:bodyPr wrap="square" lIns="0" tIns="0" rIns="0" bIns="0" rtlCol="0" anchor="t"/>
          <a:lstStyle/>
          <a:p>
            <a:pPr marL="0" indent="0" algn="ctr">
              <a:lnSpc>
                <a:spcPts val="2500"/>
              </a:lnSpc>
              <a:buNone/>
            </a:pPr>
            <a:r>
              <a:rPr lang="en-US" sz="1700" dirty="0">
                <a:solidFill>
                  <a:srgbClr val="383838"/>
                </a:solidFill>
                <a:latin typeface="DM Sans" pitchFamily="34" charset="0"/>
                <a:ea typeface="DM Sans" pitchFamily="34" charset="-122"/>
                <a:cs typeface="DM Sans" pitchFamily="34" charset="-120"/>
              </a:rPr>
              <a:t>Introduced </a:t>
            </a:r>
            <a:r>
              <a:rPr lang="en-US" sz="1700" b="1" dirty="0">
                <a:solidFill>
                  <a:srgbClr val="383838"/>
                </a:solidFill>
                <a:latin typeface="DM Sans" pitchFamily="34" charset="0"/>
                <a:ea typeface="DM Sans" pitchFamily="34" charset="-122"/>
                <a:cs typeface="DM Sans" pitchFamily="34" charset="-120"/>
              </a:rPr>
              <a:t>skip connections</a:t>
            </a:r>
            <a:r>
              <a:rPr lang="en-US" sz="1700" dirty="0">
                <a:solidFill>
                  <a:srgbClr val="383838"/>
                </a:solidFill>
                <a:latin typeface="DM Sans" pitchFamily="34" charset="0"/>
                <a:ea typeface="DM Sans" pitchFamily="34" charset="-122"/>
                <a:cs typeface="DM Sans" pitchFamily="34" charset="-120"/>
              </a:rPr>
              <a:t> (residual blocks) to solve the vanishing gradient problem, enabling networks with 50–152+ layers.</a:t>
            </a:r>
            <a:endParaRPr lang="en-US" sz="1700" dirty="0"/>
          </a:p>
        </p:txBody>
      </p:sp>
    </p:spTree>
    <p:extLst>
      <p:ext uri="{BB962C8B-B14F-4D97-AF65-F5344CB8AC3E}">
        <p14:creationId xmlns:p14="http://schemas.microsoft.com/office/powerpoint/2010/main" val="1002126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97633" y="878681"/>
            <a:ext cx="5209937" cy="651272"/>
          </a:xfrm>
          <a:prstGeom prst="rect">
            <a:avLst/>
          </a:prstGeom>
          <a:noFill/>
          <a:ln/>
        </p:spPr>
        <p:txBody>
          <a:bodyPr wrap="none" lIns="0" tIns="0" rIns="0" bIns="0" rtlCol="0" anchor="t"/>
          <a:lstStyle/>
          <a:p>
            <a:pPr marL="0" indent="0" algn="l">
              <a:lnSpc>
                <a:spcPts val="5100"/>
              </a:lnSpc>
              <a:buNone/>
            </a:pPr>
            <a:r>
              <a:rPr lang="en-US" sz="4100" dirty="0">
                <a:solidFill>
                  <a:srgbClr val="020202"/>
                </a:solidFill>
                <a:latin typeface="PT Serif" pitchFamily="34" charset="0"/>
                <a:ea typeface="PT Serif" pitchFamily="34" charset="-122"/>
                <a:cs typeface="PT Serif" pitchFamily="34" charset="-120"/>
              </a:rPr>
              <a:t>Key Takeaways</a:t>
            </a:r>
            <a:endParaRPr lang="en-US" sz="4100" dirty="0"/>
          </a:p>
        </p:txBody>
      </p:sp>
      <p:sp>
        <p:nvSpPr>
          <p:cNvPr id="5" name="Text 3"/>
          <p:cNvSpPr/>
          <p:nvPr/>
        </p:nvSpPr>
        <p:spPr>
          <a:xfrm>
            <a:off x="697633" y="1945244"/>
            <a:ext cx="13042821" cy="635079"/>
          </a:xfrm>
          <a:prstGeom prst="rect">
            <a:avLst/>
          </a:prstGeom>
          <a:noFill/>
          <a:ln/>
        </p:spPr>
        <p:txBody>
          <a:bodyPr wrap="square" lIns="0" tIns="0" rIns="0" bIns="0" rtlCol="0" anchor="t"/>
          <a:lstStyle/>
          <a:p>
            <a:pPr marL="0" indent="0" algn="l">
              <a:lnSpc>
                <a:spcPts val="2500"/>
              </a:lnSpc>
              <a:buNone/>
            </a:pPr>
            <a:r>
              <a:rPr lang="en-US" dirty="0">
                <a:solidFill>
                  <a:srgbClr val="383838"/>
                </a:solidFill>
                <a:latin typeface="DM Sans" pitchFamily="34" charset="0"/>
                <a:ea typeface="DM Sans" pitchFamily="34" charset="-122"/>
                <a:cs typeface="DM Sans" pitchFamily="34" charset="-120"/>
              </a:rPr>
              <a:t>Convolutional Neural Networks represent one of the most significant advances in modern machine learning. Below are the essential concepts from this unit.</a:t>
            </a:r>
            <a:endParaRPr lang="en-US" dirty="0"/>
          </a:p>
        </p:txBody>
      </p:sp>
      <p:sp>
        <p:nvSpPr>
          <p:cNvPr id="6" name="Shape 4"/>
          <p:cNvSpPr/>
          <p:nvPr/>
        </p:nvSpPr>
        <p:spPr>
          <a:xfrm>
            <a:off x="793790" y="3421856"/>
            <a:ext cx="446484" cy="446484"/>
          </a:xfrm>
          <a:prstGeom prst="roundRect">
            <a:avLst>
              <a:gd name="adj" fmla="val 6668"/>
            </a:avLst>
          </a:prstGeom>
          <a:solidFill>
            <a:srgbClr val="F2EEEE"/>
          </a:solidFill>
          <a:ln/>
        </p:spPr>
      </p:sp>
      <p:sp>
        <p:nvSpPr>
          <p:cNvPr id="7" name="Text 5"/>
          <p:cNvSpPr/>
          <p:nvPr/>
        </p:nvSpPr>
        <p:spPr>
          <a:xfrm>
            <a:off x="860762" y="3449776"/>
            <a:ext cx="312539" cy="390644"/>
          </a:xfrm>
          <a:prstGeom prst="rect">
            <a:avLst/>
          </a:prstGeom>
          <a:noFill/>
          <a:ln/>
        </p:spPr>
        <p:txBody>
          <a:bodyPr wrap="none" lIns="0" tIns="0" rIns="0" bIns="0" rtlCol="0" anchor="t"/>
          <a:lstStyle/>
          <a:p>
            <a:pPr marL="0" indent="0" algn="ctr">
              <a:lnSpc>
                <a:spcPts val="2450"/>
              </a:lnSpc>
              <a:buNone/>
            </a:pPr>
            <a:r>
              <a:rPr lang="en-US" sz="2450" dirty="0">
                <a:solidFill>
                  <a:srgbClr val="383838"/>
                </a:solidFill>
                <a:latin typeface="PT Serif" pitchFamily="34" charset="0"/>
                <a:ea typeface="PT Serif" pitchFamily="34" charset="-122"/>
                <a:cs typeface="PT Serif" pitchFamily="34" charset="-120"/>
              </a:rPr>
              <a:t>1</a:t>
            </a:r>
            <a:endParaRPr lang="en-US" sz="2450" dirty="0"/>
          </a:p>
        </p:txBody>
      </p:sp>
      <p:sp>
        <p:nvSpPr>
          <p:cNvPr id="8" name="Text 6"/>
          <p:cNvSpPr/>
          <p:nvPr/>
        </p:nvSpPr>
        <p:spPr>
          <a:xfrm>
            <a:off x="1438632" y="3490079"/>
            <a:ext cx="3909536"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CNNs Automate Feature Learning</a:t>
            </a:r>
            <a:endParaRPr lang="en-US" sz="2050" dirty="0"/>
          </a:p>
        </p:txBody>
      </p:sp>
      <p:sp>
        <p:nvSpPr>
          <p:cNvPr id="9" name="Text 7"/>
          <p:cNvSpPr/>
          <p:nvPr/>
        </p:nvSpPr>
        <p:spPr>
          <a:xfrm>
            <a:off x="1438632" y="3934778"/>
            <a:ext cx="5752505" cy="95261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Unlike traditional ML, CNNs learn edges, textures, and shapes directly from raw pixels — eliminating manual feature engineering entirely.</a:t>
            </a:r>
            <a:endParaRPr lang="en-US" sz="1700" dirty="0"/>
          </a:p>
        </p:txBody>
      </p:sp>
      <p:sp>
        <p:nvSpPr>
          <p:cNvPr id="10" name="Shape 8"/>
          <p:cNvSpPr/>
          <p:nvPr/>
        </p:nvSpPr>
        <p:spPr>
          <a:xfrm>
            <a:off x="7439144" y="3421856"/>
            <a:ext cx="446484" cy="446484"/>
          </a:xfrm>
          <a:prstGeom prst="roundRect">
            <a:avLst>
              <a:gd name="adj" fmla="val 6668"/>
            </a:avLst>
          </a:prstGeom>
          <a:solidFill>
            <a:srgbClr val="F2EEEE"/>
          </a:solidFill>
          <a:ln/>
        </p:spPr>
      </p:sp>
      <p:sp>
        <p:nvSpPr>
          <p:cNvPr id="11" name="Text 9"/>
          <p:cNvSpPr/>
          <p:nvPr/>
        </p:nvSpPr>
        <p:spPr>
          <a:xfrm>
            <a:off x="7506117" y="3449776"/>
            <a:ext cx="312539" cy="390644"/>
          </a:xfrm>
          <a:prstGeom prst="rect">
            <a:avLst/>
          </a:prstGeom>
          <a:noFill/>
          <a:ln/>
        </p:spPr>
        <p:txBody>
          <a:bodyPr wrap="none" lIns="0" tIns="0" rIns="0" bIns="0" rtlCol="0" anchor="t"/>
          <a:lstStyle/>
          <a:p>
            <a:pPr marL="0" indent="0" algn="ctr">
              <a:lnSpc>
                <a:spcPts val="2450"/>
              </a:lnSpc>
              <a:buNone/>
            </a:pPr>
            <a:r>
              <a:rPr lang="en-US" sz="2450" dirty="0">
                <a:solidFill>
                  <a:srgbClr val="383838"/>
                </a:solidFill>
                <a:latin typeface="PT Serif" pitchFamily="34" charset="0"/>
                <a:ea typeface="PT Serif" pitchFamily="34" charset="-122"/>
                <a:cs typeface="PT Serif" pitchFamily="34" charset="-120"/>
              </a:rPr>
              <a:t>2</a:t>
            </a:r>
            <a:endParaRPr lang="en-US" sz="2450" dirty="0"/>
          </a:p>
        </p:txBody>
      </p:sp>
      <p:sp>
        <p:nvSpPr>
          <p:cNvPr id="12" name="Text 10"/>
          <p:cNvSpPr/>
          <p:nvPr/>
        </p:nvSpPr>
        <p:spPr>
          <a:xfrm>
            <a:off x="8083987" y="3490079"/>
            <a:ext cx="3608308"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The Core Pipeline is Structured</a:t>
            </a:r>
            <a:endParaRPr lang="en-US" sz="2050" dirty="0"/>
          </a:p>
        </p:txBody>
      </p:sp>
      <p:sp>
        <p:nvSpPr>
          <p:cNvPr id="13" name="Text 11"/>
          <p:cNvSpPr/>
          <p:nvPr/>
        </p:nvSpPr>
        <p:spPr>
          <a:xfrm>
            <a:off x="8083987" y="3934778"/>
            <a:ext cx="5752624" cy="95261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Every CNN follows the same fundamental sequence: Conv → ReLU → Pool → Flatten → Dense → Softmax. Each stage has a precise role in transforming raw data into predictions.</a:t>
            </a:r>
            <a:endParaRPr lang="en-US" sz="1700" dirty="0"/>
          </a:p>
        </p:txBody>
      </p:sp>
      <p:sp>
        <p:nvSpPr>
          <p:cNvPr id="14" name="Shape 12"/>
          <p:cNvSpPr/>
          <p:nvPr/>
        </p:nvSpPr>
        <p:spPr>
          <a:xfrm>
            <a:off x="793790" y="5284232"/>
            <a:ext cx="446484" cy="446484"/>
          </a:xfrm>
          <a:prstGeom prst="roundRect">
            <a:avLst>
              <a:gd name="adj" fmla="val 6668"/>
            </a:avLst>
          </a:prstGeom>
          <a:solidFill>
            <a:srgbClr val="F2EEEE"/>
          </a:solidFill>
          <a:ln/>
        </p:spPr>
      </p:sp>
      <p:sp>
        <p:nvSpPr>
          <p:cNvPr id="15" name="Text 13"/>
          <p:cNvSpPr/>
          <p:nvPr/>
        </p:nvSpPr>
        <p:spPr>
          <a:xfrm>
            <a:off x="860762" y="5312152"/>
            <a:ext cx="312539" cy="390644"/>
          </a:xfrm>
          <a:prstGeom prst="rect">
            <a:avLst/>
          </a:prstGeom>
          <a:noFill/>
          <a:ln/>
        </p:spPr>
        <p:txBody>
          <a:bodyPr wrap="none" lIns="0" tIns="0" rIns="0" bIns="0" rtlCol="0" anchor="t"/>
          <a:lstStyle/>
          <a:p>
            <a:pPr marL="0" indent="0" algn="ctr">
              <a:lnSpc>
                <a:spcPts val="2450"/>
              </a:lnSpc>
              <a:buNone/>
            </a:pPr>
            <a:r>
              <a:rPr lang="en-US" sz="2450" dirty="0">
                <a:solidFill>
                  <a:srgbClr val="383838"/>
                </a:solidFill>
                <a:latin typeface="PT Serif" pitchFamily="34" charset="0"/>
                <a:ea typeface="PT Serif" pitchFamily="34" charset="-122"/>
                <a:cs typeface="PT Serif" pitchFamily="34" charset="-120"/>
              </a:rPr>
              <a:t>3</a:t>
            </a:r>
            <a:endParaRPr lang="en-US" sz="2450" dirty="0"/>
          </a:p>
        </p:txBody>
      </p:sp>
      <p:sp>
        <p:nvSpPr>
          <p:cNvPr id="16" name="Text 14"/>
          <p:cNvSpPr/>
          <p:nvPr/>
        </p:nvSpPr>
        <p:spPr>
          <a:xfrm>
            <a:off x="1438632" y="5352455"/>
            <a:ext cx="4661059"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Hyperparameters Control the Trade-offs</a:t>
            </a:r>
            <a:endParaRPr lang="en-US" sz="2050" dirty="0"/>
          </a:p>
        </p:txBody>
      </p:sp>
      <p:sp>
        <p:nvSpPr>
          <p:cNvPr id="17" name="Text 15"/>
          <p:cNvSpPr/>
          <p:nvPr/>
        </p:nvSpPr>
        <p:spPr>
          <a:xfrm>
            <a:off x="1438632" y="5797153"/>
            <a:ext cx="5752505" cy="95261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Stride, padding, filter size, and pooling type are design decisions that balance spatial resolution, computational cost, and model capacity.</a:t>
            </a:r>
            <a:endParaRPr lang="en-US" sz="1700" dirty="0"/>
          </a:p>
        </p:txBody>
      </p:sp>
      <p:sp>
        <p:nvSpPr>
          <p:cNvPr id="18" name="Shape 16"/>
          <p:cNvSpPr/>
          <p:nvPr/>
        </p:nvSpPr>
        <p:spPr>
          <a:xfrm>
            <a:off x="7439144" y="5284232"/>
            <a:ext cx="446484" cy="446484"/>
          </a:xfrm>
          <a:prstGeom prst="roundRect">
            <a:avLst>
              <a:gd name="adj" fmla="val 6668"/>
            </a:avLst>
          </a:prstGeom>
          <a:solidFill>
            <a:srgbClr val="F2EEEE"/>
          </a:solidFill>
          <a:ln/>
        </p:spPr>
      </p:sp>
      <p:sp>
        <p:nvSpPr>
          <p:cNvPr id="19" name="Text 17"/>
          <p:cNvSpPr/>
          <p:nvPr/>
        </p:nvSpPr>
        <p:spPr>
          <a:xfrm>
            <a:off x="7506117" y="5312152"/>
            <a:ext cx="312539" cy="390644"/>
          </a:xfrm>
          <a:prstGeom prst="rect">
            <a:avLst/>
          </a:prstGeom>
          <a:noFill/>
          <a:ln/>
        </p:spPr>
        <p:txBody>
          <a:bodyPr wrap="none" lIns="0" tIns="0" rIns="0" bIns="0" rtlCol="0" anchor="t"/>
          <a:lstStyle/>
          <a:p>
            <a:pPr marL="0" indent="0" algn="ctr">
              <a:lnSpc>
                <a:spcPts val="2450"/>
              </a:lnSpc>
              <a:buNone/>
            </a:pPr>
            <a:r>
              <a:rPr lang="en-US" sz="2450" dirty="0">
                <a:solidFill>
                  <a:srgbClr val="383838"/>
                </a:solidFill>
                <a:latin typeface="PT Serif" pitchFamily="34" charset="0"/>
                <a:ea typeface="PT Serif" pitchFamily="34" charset="-122"/>
                <a:cs typeface="PT Serif" pitchFamily="34" charset="-120"/>
              </a:rPr>
              <a:t>4</a:t>
            </a:r>
            <a:endParaRPr lang="en-US" sz="2450" dirty="0"/>
          </a:p>
        </p:txBody>
      </p:sp>
      <p:sp>
        <p:nvSpPr>
          <p:cNvPr id="20" name="Text 18"/>
          <p:cNvSpPr/>
          <p:nvPr/>
        </p:nvSpPr>
        <p:spPr>
          <a:xfrm>
            <a:off x="8083987" y="5352455"/>
            <a:ext cx="3263741" cy="325636"/>
          </a:xfrm>
          <a:prstGeom prst="rect">
            <a:avLst/>
          </a:prstGeom>
          <a:noFill/>
          <a:ln/>
        </p:spPr>
        <p:txBody>
          <a:bodyPr wrap="none" lIns="0" tIns="0" rIns="0" bIns="0" rtlCol="0" anchor="t"/>
          <a:lstStyle/>
          <a:p>
            <a:pPr marL="0" indent="0" algn="l">
              <a:lnSpc>
                <a:spcPts val="2550"/>
              </a:lnSpc>
              <a:buNone/>
            </a:pPr>
            <a:r>
              <a:rPr lang="en-US" sz="2050" dirty="0">
                <a:solidFill>
                  <a:srgbClr val="383838"/>
                </a:solidFill>
                <a:latin typeface="PT Serif" pitchFamily="34" charset="0"/>
                <a:ea typeface="PT Serif" pitchFamily="34" charset="-122"/>
                <a:cs typeface="PT Serif" pitchFamily="34" charset="-120"/>
              </a:rPr>
              <a:t>Architectures Keep Evolving</a:t>
            </a:r>
            <a:endParaRPr lang="en-US" sz="2050" dirty="0"/>
          </a:p>
        </p:txBody>
      </p:sp>
      <p:sp>
        <p:nvSpPr>
          <p:cNvPr id="21" name="Text 19"/>
          <p:cNvSpPr/>
          <p:nvPr/>
        </p:nvSpPr>
        <p:spPr>
          <a:xfrm>
            <a:off x="8083987" y="5797153"/>
            <a:ext cx="5752624" cy="1270159"/>
          </a:xfrm>
          <a:prstGeom prst="rect">
            <a:avLst/>
          </a:prstGeom>
          <a:noFill/>
          <a:ln/>
        </p:spPr>
        <p:txBody>
          <a:bodyPr wrap="square" lIns="0" tIns="0" rIns="0" bIns="0" rtlCol="0" anchor="t"/>
          <a:lstStyle/>
          <a:p>
            <a:pPr marL="0" indent="0" algn="l">
              <a:lnSpc>
                <a:spcPts val="2500"/>
              </a:lnSpc>
              <a:buNone/>
            </a:pPr>
            <a:r>
              <a:rPr lang="en-US" sz="1700" dirty="0">
                <a:solidFill>
                  <a:srgbClr val="383838"/>
                </a:solidFill>
                <a:latin typeface="DM Sans" pitchFamily="34" charset="0"/>
                <a:ea typeface="DM Sans" pitchFamily="34" charset="-122"/>
                <a:cs typeface="DM Sans" pitchFamily="34" charset="-120"/>
              </a:rPr>
              <a:t>From AlexNet to ResNet, each generation introduced innovations — deeper networks, residual connections, multi-scale filters — that continue to inform state-of-the-art models today.</a:t>
            </a:r>
            <a:endParaRPr lang="en-US" sz="1700" dirty="0"/>
          </a:p>
        </p:txBody>
      </p:sp>
    </p:spTree>
    <p:extLst>
      <p:ext uri="{BB962C8B-B14F-4D97-AF65-F5344CB8AC3E}">
        <p14:creationId xmlns:p14="http://schemas.microsoft.com/office/powerpoint/2010/main" val="9595643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2202</Words>
  <Application>Microsoft Office PowerPoint</Application>
  <PresentationFormat>Custom</PresentationFormat>
  <Paragraphs>205</Paragraphs>
  <Slides>20</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PT Serif</vt:lpstr>
      <vt:lpstr>DM Sans</vt:lpstr>
      <vt:lpstr>Arial</vt:lpstr>
      <vt:lpstr>PT Serif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Fimran Sanghvi</cp:lastModifiedBy>
  <cp:revision>34</cp:revision>
  <dcterms:created xsi:type="dcterms:W3CDTF">2026-04-05T15:26:18Z</dcterms:created>
  <dcterms:modified xsi:type="dcterms:W3CDTF">2026-05-12T07:12:11Z</dcterms:modified>
</cp:coreProperties>
</file>