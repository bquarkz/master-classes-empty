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9" r:id="rId3"/>
    <p:sldId id="281" r:id="rId4"/>
    <p:sldId id="28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/>
  <p:notesSz cx="8229600" cy="14630400"/>
  <p:embeddedFontLst>
    <p:embeddedFont>
      <p:font typeface="DM Sans" pitchFamily="2" charset="77"/>
      <p:regular r:id="rId16"/>
    </p:embeddedFont>
    <p:embeddedFont>
      <p:font typeface="PT Serif" panose="020A0603040505020204" pitchFamily="18" charset="77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5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72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80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04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6893"/>
            <a:ext cx="13042821" cy="297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0"/>
              </a:lnSpc>
              <a:buNone/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Recurrent Neural Networks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764661" y="329541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 Computer Vision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187685" y="44210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sequential learning in visual data — from video frames to image captioning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8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RNN?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8130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24035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402247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Introduction to LSTM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82605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7" y="425336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7" y="4398242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LSTM Works?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for Text Prediction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RNN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43560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0930" y="991699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an RNN?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0930" y="219384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Recurrent Neural Network (RNN)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neural network specifically designed for sequence data.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standard networks, it maintains 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form of memory — that carries information from previous time steps into the current computation.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3790" y="4332327"/>
            <a:ext cx="6422231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4332327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455354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Mechanism</a:t>
            </a:r>
            <a:endParaRPr lang="en-US" sz="2050" b="1" dirty="0"/>
          </a:p>
        </p:txBody>
      </p:sp>
      <p:sp>
        <p:nvSpPr>
          <p:cNvPr id="9" name="Text 7"/>
          <p:cNvSpPr/>
          <p:nvPr/>
        </p:nvSpPr>
        <p:spPr>
          <a:xfrm>
            <a:off x="1083588" y="4998244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each time step, the network takes the current input </a:t>
            </a:r>
            <a:r>
              <a:rPr lang="en-US" sz="2000" b="1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xt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the previous hidden state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h{t-1}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produce a new hidden state.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14379" y="4332327"/>
            <a:ext cx="6422231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1519" y="4332327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04177" y="455354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RNN Formula</a:t>
            </a:r>
            <a:endParaRPr lang="en-US" sz="2050" b="1" dirty="0"/>
          </a:p>
        </p:txBody>
      </p:sp>
      <p:sp>
        <p:nvSpPr>
          <p:cNvPr id="13" name="Text 11"/>
          <p:cNvSpPr/>
          <p:nvPr/>
        </p:nvSpPr>
        <p:spPr>
          <a:xfrm>
            <a:off x="7704177" y="499824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sz="2000" b="1" dirty="0" err="1">
                <a:latin typeface="DM Sans" pitchFamily="2" charset="0"/>
              </a:rPr>
              <a:t>ht</a:t>
            </a:r>
            <a:r>
              <a:rPr lang="en-IN" sz="2000" b="1" dirty="0">
                <a:latin typeface="DM Sans" pitchFamily="2" charset="0"/>
              </a:rPr>
              <a:t>​=f(</a:t>
            </a:r>
            <a:r>
              <a:rPr lang="en-IN" sz="2000" b="1" dirty="0" err="1">
                <a:latin typeface="DM Sans" pitchFamily="2" charset="0"/>
              </a:rPr>
              <a:t>Wxt</a:t>
            </a:r>
            <a:r>
              <a:rPr lang="en-IN" sz="2000" b="1" dirty="0">
                <a:latin typeface="DM Sans" pitchFamily="2" charset="0"/>
              </a:rPr>
              <a:t>​+Uht−1​+b) 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W and U are weight matrices, b is bias, and f is the activation function.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813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0915" y="327066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Architecture: </a:t>
            </a: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Memory + Computation</a:t>
            </a:r>
            <a:endParaRPr lang="en-US" sz="4400" dirty="0"/>
          </a:p>
          <a:p>
            <a:pPr>
              <a:lnSpc>
                <a:spcPts val="5100"/>
              </a:lnSpc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neural network that maintains a </a:t>
            </a: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carrying past information forward to influence each new output.</a:t>
            </a:r>
            <a:endParaRPr lang="en-US" sz="2000" dirty="0"/>
          </a:p>
          <a:p>
            <a:pPr marL="0" indent="0" algn="l">
              <a:lnSpc>
                <a:spcPts val="5100"/>
              </a:lnSpc>
              <a:buNone/>
            </a:pP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650915" y="2576393"/>
            <a:ext cx="6565106" cy="4493419"/>
          </a:xfrm>
          <a:prstGeom prst="roundRect">
            <a:avLst>
              <a:gd name="adj" fmla="val 66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77475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Core Layers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849273" y="3323630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16245" y="3351550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94115" y="339185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Layer (x_t)</a:t>
            </a:r>
            <a:endParaRPr lang="en-US" sz="2050" b="1" dirty="0"/>
          </a:p>
        </p:txBody>
      </p:sp>
      <p:sp>
        <p:nvSpPr>
          <p:cNvPr id="10" name="Text 8"/>
          <p:cNvSpPr/>
          <p:nvPr/>
        </p:nvSpPr>
        <p:spPr>
          <a:xfrm>
            <a:off x="1494115" y="3915847"/>
            <a:ext cx="552354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Receives the current input at each time step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9273" y="463022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16245" y="465814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494115" y="469844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Layer (h_t)</a:t>
            </a:r>
            <a:endParaRPr lang="en-US" sz="2050" b="1" dirty="0"/>
          </a:p>
        </p:txBody>
      </p:sp>
      <p:sp>
        <p:nvSpPr>
          <p:cNvPr id="14" name="Text 12"/>
          <p:cNvSpPr/>
          <p:nvPr/>
        </p:nvSpPr>
        <p:spPr>
          <a:xfrm>
            <a:off x="1494115" y="5222438"/>
            <a:ext cx="552354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and updates memory across time steps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49273" y="593681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16245" y="5964734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94115" y="600503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Layer (y_t)</a:t>
            </a:r>
            <a:endParaRPr lang="en-US" sz="2050" b="1" dirty="0"/>
          </a:p>
        </p:txBody>
      </p:sp>
      <p:sp>
        <p:nvSpPr>
          <p:cNvPr id="18" name="Text 16"/>
          <p:cNvSpPr/>
          <p:nvPr/>
        </p:nvSpPr>
        <p:spPr>
          <a:xfrm>
            <a:off x="1494115" y="6529030"/>
            <a:ext cx="552354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the prediction or result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64874" y="277475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Parameter Sharing</a:t>
            </a:r>
            <a:endParaRPr lang="en-US" sz="2000" b="1" dirty="0"/>
          </a:p>
        </p:txBody>
      </p:sp>
      <p:sp>
        <p:nvSpPr>
          <p:cNvPr id="20" name="Text 18"/>
          <p:cNvSpPr/>
          <p:nvPr/>
        </p:nvSpPr>
        <p:spPr>
          <a:xfrm>
            <a:off x="7564873" y="3298746"/>
            <a:ext cx="65590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defining feature of RNNs is that the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weights are reused across all time steps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is called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 sharing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73702" y="5067093"/>
            <a:ext cx="7356698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Wingdings" pitchFamily="2" charset="2"/>
              <a:buChar char="ü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the total number of parameters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Font typeface="Wingdings" pitchFamily="2" charset="2"/>
              <a:buChar char="ü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Allows the model to generalize across sequence positions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Font typeface="Wingdings" pitchFamily="2" charset="2"/>
              <a:buChar char="ü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Makes the network efficient for variable-length sequences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146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067386"/>
            <a:ext cx="894814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vs. Standard Neural Network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793790" y="2798921"/>
            <a:ext cx="13042821" cy="2651284"/>
          </a:xfrm>
          <a:prstGeom prst="roundRect">
            <a:avLst>
              <a:gd name="adj" fmla="val 1283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2798921"/>
            <a:ext cx="6521410" cy="2651284"/>
          </a:xfrm>
          <a:prstGeom prst="roundRect">
            <a:avLst>
              <a:gd name="adj" fmla="val 128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1020604" y="3025735"/>
            <a:ext cx="342292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Standard Feedforward NN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20604" y="3533894"/>
            <a:ext cx="6067782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single, fixed-size input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mechanism for temporal context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forward pass is stateless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Suitable for: image classification, tabular data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315200" y="2798921"/>
            <a:ext cx="6521410" cy="265128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2798921"/>
            <a:ext cx="30480" cy="265128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7542014" y="3025735"/>
            <a:ext cx="34684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Recurrent Neural Network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542014" y="3533894"/>
            <a:ext cx="6067782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sequences of arbitrary length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 persists across time steps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parameters across the sequence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Suitable for: video, speech, text, tracking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93790" y="5705356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049447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98884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key architectural difference: RNNs have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recurrent connections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edges that feed the hidden state back into itself at the next time step. Standard NNs have none.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8707" y="977448"/>
            <a:ext cx="95380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Use RNNs in Computer Vision?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698603" y="22871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vision problems are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inherently temporal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single frame rarely tells the full story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819406"/>
            <a:ext cx="566976" cy="56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6698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Video as Sequences</a:t>
            </a:r>
            <a:endParaRPr lang="en-US" sz="2300" b="1" dirty="0"/>
          </a:p>
        </p:txBody>
      </p:sp>
      <p:sp>
        <p:nvSpPr>
          <p:cNvPr id="8" name="Text 5"/>
          <p:cNvSpPr/>
          <p:nvPr/>
        </p:nvSpPr>
        <p:spPr>
          <a:xfrm>
            <a:off x="793790" y="517802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Videos are ordered stacks of frames. Understanding actions, events, or anomalies requires modeling how frames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 over time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3819406"/>
            <a:ext cx="566976" cy="566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46698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Motion &amp; Dynamics</a:t>
            </a:r>
            <a:endParaRPr lang="en-US" sz="2300" b="1" dirty="0"/>
          </a:p>
        </p:txBody>
      </p:sp>
      <p:sp>
        <p:nvSpPr>
          <p:cNvPr id="11" name="Text 7"/>
          <p:cNvSpPr/>
          <p:nvPr/>
        </p:nvSpPr>
        <p:spPr>
          <a:xfrm>
            <a:off x="5235893" y="517802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Optical flow, gesture recognition, and activity detection all depend on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temporal continuity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not just spatial features.</a:t>
            </a:r>
            <a:endParaRPr lang="en-US" sz="2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819406"/>
            <a:ext cx="566976" cy="566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46698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Cross-Frame Context</a:t>
            </a:r>
            <a:endParaRPr lang="en-US" sz="2300" b="1" dirty="0"/>
          </a:p>
        </p:txBody>
      </p:sp>
      <p:sp>
        <p:nvSpPr>
          <p:cNvPr id="14" name="Text 9"/>
          <p:cNvSpPr/>
          <p:nvPr/>
        </p:nvSpPr>
        <p:spPr>
          <a:xfrm>
            <a:off x="9677995" y="517802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Objects occluded in one frame can be inferred from neighboring frames. RNNs maintain that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contextual thread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the sequence.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22955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Video Classification</a:t>
            </a:r>
            <a:endParaRPr lang="en-US" sz="4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23592"/>
            <a:ext cx="6924437" cy="37838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59747" y="4787435"/>
            <a:ext cx="1604455" cy="2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Frame CNN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121953" y="4750931"/>
            <a:ext cx="1604455" cy="22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Sequence RNN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82300" y="32863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→ RNN Pipeline</a:t>
            </a:r>
            <a:endParaRPr lang="en-US" sz="2300" b="1" dirty="0"/>
          </a:p>
        </p:txBody>
      </p:sp>
      <p:sp>
        <p:nvSpPr>
          <p:cNvPr id="9" name="Text 6"/>
          <p:cNvSpPr/>
          <p:nvPr/>
        </p:nvSpPr>
        <p:spPr>
          <a:xfrm>
            <a:off x="8082300" y="4109386"/>
            <a:ext cx="65480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ResNet) acts as a per-frame feature extractor, producing a compact feature vector for each frame. The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ingests this sequence and learns which temporal patterns define each action class.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9376" y="831354"/>
            <a:ext cx="5395912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Captioning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19376" y="2218968"/>
            <a:ext cx="5660350" cy="1607106"/>
          </a:xfrm>
          <a:prstGeom prst="roundRect">
            <a:avLst>
              <a:gd name="adj" fmla="val 68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516" y="2218968"/>
            <a:ext cx="91440" cy="1607106"/>
          </a:xfrm>
          <a:prstGeom prst="roundRect">
            <a:avLst>
              <a:gd name="adj" fmla="val 33721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1016317" y="2447330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 — Encode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317" y="2970728"/>
            <a:ext cx="5135047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(e.g., VGG, Inception) encodes the image into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fixed-length feature vector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19376" y="4012287"/>
            <a:ext cx="5660350" cy="1607106"/>
          </a:xfrm>
          <a:prstGeom prst="roundRect">
            <a:avLst>
              <a:gd name="adj" fmla="val 68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516" y="4012287"/>
            <a:ext cx="91440" cy="1607106"/>
          </a:xfrm>
          <a:prstGeom prst="roundRect">
            <a:avLst>
              <a:gd name="adj" fmla="val 33721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1016317" y="4240649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 — Initialize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16317" y="4764048"/>
            <a:ext cx="5135047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vector seeds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 hidden state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the starting context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19376" y="5805607"/>
            <a:ext cx="5660350" cy="1607106"/>
          </a:xfrm>
          <a:prstGeom prst="roundRect">
            <a:avLst>
              <a:gd name="adj" fmla="val 68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6516" y="5805607"/>
            <a:ext cx="91440" cy="1607106"/>
          </a:xfrm>
          <a:prstGeom prst="roundRect">
            <a:avLst>
              <a:gd name="adj" fmla="val 33721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317" y="6033968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 — Decode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16317" y="6557367"/>
            <a:ext cx="5135047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 generates one word per time step until an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 token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predicted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97090" y="2218968"/>
            <a:ext cx="672143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child is playing with a ball in the park."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88837" y="2218968"/>
            <a:ext cx="22860" cy="313492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88837" y="2742009"/>
            <a:ext cx="7029688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encoder-decoder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architecture bridges vision and language. The CNN provides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in the image; the RNN structures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describe it grammatically and coherently — word by word.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5316" y="89975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Tracking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21958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multi-frame tracking, the challenge is maintaining a consistent object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identity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even under occlusion, lighting change, or rapid motion.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564136"/>
            <a:ext cx="4196358" cy="3683556"/>
          </a:xfrm>
          <a:prstGeom prst="roundRect">
            <a:avLst>
              <a:gd name="adj" fmla="val 924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1020604" y="37909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977997"/>
            <a:ext cx="306110" cy="3061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0604" y="4698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RNN Helps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20604" y="520636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hidden state encodes the object's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trajectory history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position, velocity, and appearance — enabling robust re-identification across frames.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216962" y="3564136"/>
            <a:ext cx="4196358" cy="3683556"/>
          </a:xfrm>
          <a:prstGeom prst="roundRect">
            <a:avLst>
              <a:gd name="adj" fmla="val 924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5443776" y="37909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942" y="3977997"/>
            <a:ext cx="306110" cy="306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3776" y="4698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Surveillance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5443776" y="520636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individuals across camera feeds in real time. RNNs handle the temporal gap when a subject exits and re-enters the frame.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9640133" y="3564136"/>
            <a:ext cx="4196358" cy="3683556"/>
          </a:xfrm>
          <a:prstGeom prst="roundRect">
            <a:avLst>
              <a:gd name="adj" fmla="val 924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9866948" y="37909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977997"/>
            <a:ext cx="306110" cy="3061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66948" y="4698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Retail Analytics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9866948" y="520636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 footfall, measure dwell time, and analyze customer movement patterns — all powered by sequential identity maintenance.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26557"/>
            <a:ext cx="1313617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94542"/>
            <a:ext cx="10414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4352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RNNs Struggle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2854762"/>
            <a:ext cx="37415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Vanishing Gradient Problem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45364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Gradients shrink exponentially as they propagate back through many time steps. The network effectively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forgets distant past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information during training.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3790" y="47691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Sequential Bottleneck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536805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Steps must be processed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at a time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 parallelism across the sequence. This makes training on long video clips computationally expensive.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36168" y="2627948"/>
            <a:ext cx="6571417" cy="4575096"/>
          </a:xfrm>
          <a:prstGeom prst="roundRect">
            <a:avLst>
              <a:gd name="adj" fmla="val 74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/>
          <p:nvPr/>
        </p:nvSpPr>
        <p:spPr>
          <a:xfrm>
            <a:off x="7662982" y="28547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Partial Solutions</a:t>
            </a:r>
            <a:endParaRPr lang="en-US" sz="2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992" y="3489008"/>
            <a:ext cx="340162" cy="3401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00098" y="34819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400098" y="4080867"/>
            <a:ext cx="538067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Short-Term Memory adds gating mechanisms (input, forget, output) to selectively retain or discard information</a:t>
            </a: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992" y="5630228"/>
            <a:ext cx="340162" cy="3401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00098" y="56232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GRU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8400098" y="6222087"/>
            <a:ext cx="53806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Gated Recurrent Unit — a lighter variant with fewer parameters, often competitive with LSTM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123" y="429458"/>
            <a:ext cx="1158359" cy="261699"/>
          </a:xfrm>
          <a:prstGeom prst="roundRect">
            <a:avLst>
              <a:gd name="adj" fmla="val 7151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2028587" y="476131"/>
            <a:ext cx="971431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PARADIGM SHIFT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935123" y="734020"/>
            <a:ext cx="5827395" cy="51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Rise of Vision Transformers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23" y="1406366"/>
            <a:ext cx="10485120" cy="5852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23" y="1406366"/>
            <a:ext cx="10485120" cy="5852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9874" y="7419260"/>
            <a:ext cx="12470194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Introduced by Dosovitskiy et al. (2020),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 Transformers (ViT)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patch images into tokens and apply self-attention globally — eliminating the sequential bottleneck.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 Transformers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(TimeSformer, VideoMAE) extend this to spatio-temporal modeling.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6986" y="904935"/>
            <a:ext cx="7679412" cy="686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RNNs in the Modern Landscape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731758" y="4301490"/>
            <a:ext cx="13166884" cy="22860"/>
          </a:xfrm>
          <a:prstGeom prst="roundRect">
            <a:avLst>
              <a:gd name="adj" fmla="val 13720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3281243" y="3674328"/>
            <a:ext cx="22860" cy="627221"/>
          </a:xfrm>
          <a:prstGeom prst="roundRect">
            <a:avLst>
              <a:gd name="adj" fmla="val 13720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3057525" y="4066282"/>
            <a:ext cx="470416" cy="4704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128010" y="4095631"/>
            <a:ext cx="329327" cy="41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920597" y="2042398"/>
            <a:ext cx="2744510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~2014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940832" y="2501027"/>
            <a:ext cx="470404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CNN+RNN pipelines dominate video understanding and captioning (Vinyals et al., Karpathy et al.)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62769" y="4301430"/>
            <a:ext cx="22860" cy="627221"/>
          </a:xfrm>
          <a:prstGeom prst="roundRect">
            <a:avLst>
              <a:gd name="adj" fmla="val 13720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739051" y="4066282"/>
            <a:ext cx="470416" cy="4704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5809536" y="4095631"/>
            <a:ext cx="329327" cy="41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602123" y="5137904"/>
            <a:ext cx="2744510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~2017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3622358" y="5596533"/>
            <a:ext cx="470404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Is All You Need" — Transformers introduced, initially for NLP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644295" y="3674328"/>
            <a:ext cx="22860" cy="627221"/>
          </a:xfrm>
          <a:prstGeom prst="roundRect">
            <a:avLst>
              <a:gd name="adj" fmla="val 13720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420576" y="4066282"/>
            <a:ext cx="470416" cy="4704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8491061" y="4095631"/>
            <a:ext cx="329327" cy="41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283648" y="2042398"/>
            <a:ext cx="2744510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~2020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6303883" y="2501027"/>
            <a:ext cx="470404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 demonstrates Transformers match or beat CNNs on image tasks at scale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1325820" y="4301430"/>
            <a:ext cx="22860" cy="627221"/>
          </a:xfrm>
          <a:prstGeom prst="roundRect">
            <a:avLst>
              <a:gd name="adj" fmla="val 13720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02102" y="4066282"/>
            <a:ext cx="470416" cy="4704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72587" y="4095631"/>
            <a:ext cx="329327" cy="41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965174" y="5137904"/>
            <a:ext cx="2744510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Today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8985409" y="5596533"/>
            <a:ext cx="470404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RNNs remain relevant in edge/embedded contexts; Transformers lead on benchmarks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31758" y="6456045"/>
            <a:ext cx="13166884" cy="1165741"/>
          </a:xfrm>
          <a:prstGeom prst="roundRect">
            <a:avLst>
              <a:gd name="adj" fmla="val 2691"/>
            </a:avLst>
          </a:prstGeom>
          <a:solidFill>
            <a:srgbClr val="B6D6FC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2" y="6762988"/>
            <a:ext cx="261342" cy="20907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11248" y="6701076"/>
            <a:ext cx="1227832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RNNs are not obsolete — they remain relevant in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low-resource, real-time, or embedded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settings where transformer overhead is prohibitive.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60281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268724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04228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216592"/>
            <a:ext cx="32236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Memory is the Core Idea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372475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RNNs introduce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persists across time — the foundational concept behind all sequential deep learning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28548" y="268724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04228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428548" y="3216592"/>
            <a:ext cx="410908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Vision Is Inherently Sequential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28548" y="372475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 classification, captioning, and tracking all benefit from modeling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temporal dependencies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frames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3790" y="484739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20243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376743"/>
            <a:ext cx="384393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Limitations Drive Innovation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5884902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Vanishing gradients →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LSTM/GRU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Sequential bottleneck →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Each limitation motivated a major architectural advance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28548" y="484739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20243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28548" y="5376743"/>
            <a:ext cx="437947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Are Now Dominant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428548" y="5884902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 and video transformers outperform RNN-based approaches on most benchmarks, but RNNs remain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conceptual foundation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1055</Words>
  <Application>Microsoft Macintosh PowerPoint</Application>
  <PresentationFormat>Custom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PT Serif Light</vt:lpstr>
      <vt:lpstr>Calibri</vt:lpstr>
      <vt:lpstr>DM Sans</vt:lpstr>
      <vt:lpstr>Wingdings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5</cp:revision>
  <dcterms:created xsi:type="dcterms:W3CDTF">2026-05-04T04:59:54Z</dcterms:created>
  <dcterms:modified xsi:type="dcterms:W3CDTF">2026-05-04T05:17:58Z</dcterms:modified>
</cp:coreProperties>
</file>