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9" r:id="rId3"/>
    <p:sldId id="257" r:id="rId4"/>
    <p:sldId id="272" r:id="rId5"/>
    <p:sldId id="278" r:id="rId6"/>
    <p:sldId id="259" r:id="rId7"/>
    <p:sldId id="260" r:id="rId8"/>
    <p:sldId id="261" r:id="rId9"/>
    <p:sldId id="263" r:id="rId10"/>
    <p:sldId id="273" r:id="rId11"/>
    <p:sldId id="265" r:id="rId12"/>
    <p:sldId id="274" r:id="rId13"/>
    <p:sldId id="275" r:id="rId14"/>
    <p:sldId id="276" r:id="rId15"/>
    <p:sldId id="277" r:id="rId16"/>
    <p:sldId id="270" r:id="rId17"/>
    <p:sldId id="271" r:id="rId18"/>
  </p:sldIdLst>
  <p:sldSz cx="14630400" cy="8229600"/>
  <p:notesSz cx="8229600" cy="146304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DM Sans" pitchFamily="2" charset="0"/>
      <p:regular r:id="rId24"/>
      <p:bold r:id="rId25"/>
    </p:embeddedFont>
    <p:embeddedFont>
      <p:font typeface="PT Serif" panose="020A0603040505020204" pitchFamily="18" charset="0"/>
      <p:regular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5946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4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5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0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63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03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07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08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47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9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3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3618" y="2785705"/>
            <a:ext cx="1188779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Classification Using Transfer Learning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2636657" y="38851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Leverage Pre-Learned Intelligence to Build Powerful Vision Models Faster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849" y="26564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Pre-Trained Models?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8130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22511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49" y="4411652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VGG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0227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8547" y="4255591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7" y="4411652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</a:t>
            </a:r>
            <a:r>
              <a:rPr lang="en-US" sz="24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for VGG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</a:t>
            </a:r>
            <a:r>
              <a:rPr lang="en-US" sz="24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</a:t>
            </a:r>
            <a:r>
              <a:rPr lang="en-US" sz="24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for </a:t>
            </a:r>
            <a:r>
              <a:rPr lang="en-US" sz="24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</a:t>
            </a:r>
            <a:endParaRPr lang="en-US" sz="24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Transfer Learning Works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6670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195" y="1044714"/>
            <a:ext cx="811827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Pre-Trained Models?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670" y="25239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Pre-trained models are deep learning models already trained on large datasets like ImageNet (millions of labeled images across 1,000 categories). Instead of training from scratch, we reuse and adapt them.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4232791"/>
            <a:ext cx="4196358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445960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Low-Level Features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49677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Edges, textures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16962" y="4232791"/>
            <a:ext cx="4196358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445960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Mid-Level Features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43776" y="49677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Shapes, patterns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40133" y="4232791"/>
            <a:ext cx="4196358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445960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High-Level Features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66948" y="496776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Objects, semantics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3790" y="581263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approach is called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7181" y="1092371"/>
            <a:ext cx="686657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Transfer Learning Works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67181" y="229146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works because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features are universal across tasks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Edge detection is useful for faces, cars, and medical images alike. Texture patterns and object composition principles remain consistent across domains.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09442"/>
            <a:ext cx="4347567" cy="7937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2148" y="5101590"/>
            <a:ext cx="263151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Reuse Representations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92148" y="5546288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Leverage features already learned from millions of images</a:t>
            </a: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4109442"/>
            <a:ext cx="4347567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9715" y="5101590"/>
            <a:ext cx="310753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Adapt Task-Specific Layers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5339715" y="5546288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Modify only the final layers for your classification problem</a:t>
            </a: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4109442"/>
            <a:ext cx="4347567" cy="793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87282" y="510159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Reduce Risk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9687282" y="5546288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Lower data dependency, overfitting risk, and computational cost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14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FAD758-BE75-4F47-A096-8190A3A19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34" y="1635076"/>
            <a:ext cx="7801121" cy="4762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028E92-442D-0B48-8C22-B2A1FE431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110" y="1635076"/>
            <a:ext cx="6951785" cy="4560277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EDDAE60-216E-A943-BF32-850EC54F8DB0}"/>
              </a:ext>
            </a:extLst>
          </p:cNvPr>
          <p:cNvSpPr/>
          <p:nvPr/>
        </p:nvSpPr>
        <p:spPr>
          <a:xfrm>
            <a:off x="554639" y="781581"/>
            <a:ext cx="686657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Transfer Learning Works</a:t>
            </a:r>
            <a:endParaRPr lang="en-US" sz="4100" dirty="0"/>
          </a:p>
        </p:txBody>
      </p:sp>
    </p:spTree>
    <p:extLst>
      <p:ext uri="{BB962C8B-B14F-4D97-AF65-F5344CB8AC3E}">
        <p14:creationId xmlns:p14="http://schemas.microsoft.com/office/powerpoint/2010/main" val="254249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05803" y="1269802"/>
            <a:ext cx="799171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VGG — Philosophy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05220" y="23675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VGG model follows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and uniform design philosophy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built around one central insight: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1328" y="3512449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+ Simple Architecture = Better Feature Learning"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839510" y="3290352"/>
            <a:ext cx="22860" cy="764024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659630"/>
            <a:ext cx="4215289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0930" y="4659630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1083588" y="4880848"/>
            <a:ext cx="269748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Very Small Filters (3×3)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1083588" y="5325547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kernel size used consistently throughout the entire network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207437" y="4659630"/>
            <a:ext cx="4215408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84577" y="4659630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97235" y="4880848"/>
            <a:ext cx="3200281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Stacked Convolution Layers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5497235" y="5325547"/>
            <a:ext cx="37043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layers stacked sequentially — easy to understand and implement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9621203" y="4659630"/>
            <a:ext cx="4215289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98343" y="4659630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9911001" y="4880848"/>
            <a:ext cx="271045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Depth Over Complexity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9911001" y="5325547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Increasing depth increases representation power without complex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90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0915" y="1164193"/>
            <a:ext cx="606849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VGG Became Popular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4610" y="238722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VGG demonstrated that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increasing depth improves performance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that simpler architectures can outperform more complex ones — a landmark finding in computer vision.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0915" y="3783092"/>
            <a:ext cx="6565106" cy="2923103"/>
          </a:xfrm>
          <a:prstGeom prst="roundRect">
            <a:avLst>
              <a:gd name="adj" fmla="val 101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398145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49273" y="4505444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 to implement and modify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feature extractor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Excellent for transfer learning pipelines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64874" y="3981450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564874" y="4505444"/>
            <a:ext cx="6279356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Very large model size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computational cost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64874" y="540829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Still Widely Used For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564874" y="5932289"/>
            <a:ext cx="6279356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extraction and benchmarking</a:t>
            </a:r>
            <a:endParaRPr 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baselines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291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39058"/>
            <a:ext cx="2827972" cy="373142"/>
          </a:xfrm>
          <a:prstGeom prst="roundRect">
            <a:avLst>
              <a:gd name="adj" fmla="val 6383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098590"/>
            <a:ext cx="258984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IMPLEMENTATION: PYTORCH + VGG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491496"/>
            <a:ext cx="5289233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PyTorch for VGG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440424"/>
            <a:ext cx="1304282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PyTorch, pre-trained VGG models are available through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torchvision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workflow is straightforward and highly flexible for transfer learning tasks.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306366"/>
            <a:ext cx="13042821" cy="714256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31915" y="3504724"/>
            <a:ext cx="1256657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 i="1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</a:rPr>
              <a:t>model = models.vgg16_bn(weights=models.VGG16_Bn_Weights.DEFAULT)</a:t>
            </a:r>
          </a:p>
        </p:txBody>
      </p:sp>
      <p:sp>
        <p:nvSpPr>
          <p:cNvPr id="9" name="Text 7"/>
          <p:cNvSpPr/>
          <p:nvPr/>
        </p:nvSpPr>
        <p:spPr>
          <a:xfrm>
            <a:off x="793790" y="424386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558189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4703088"/>
            <a:ext cx="278677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Pre-Trained Model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93790" y="5147786"/>
            <a:ext cx="642223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VGG16 with ImageNet weights from </a:t>
            </a:r>
            <a:r>
              <a:rPr lang="en-US" sz="17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torchvision.models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14379" y="424386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14379" y="4558189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14379" y="470308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Replace Final Layer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7414379" y="5147786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 the classification head to match your number of output classes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3790" y="582013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6134457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627935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Freeze Initial Layers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93790" y="672405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Prevent early convolutional weights from updating during training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14379" y="582013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6134457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14379" y="6279356"/>
            <a:ext cx="288595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on Custom Dataset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7414379" y="672405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the classifier head is updated — fast and efficient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9502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78998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Freezing Initial Layers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05101" y="196620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we freeze layers, their weights are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updated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during training — they act as a fixed feature extractor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91909"/>
            <a:ext cx="1304282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2891909"/>
            <a:ext cx="13065443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65967" y="3118723"/>
            <a:ext cx="124984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param in model.features.parameters():</a:t>
            </a:r>
            <a:endParaRPr lang="en-US" sz="1750" b="1" i="1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param.requires_grad = False</a:t>
            </a:r>
            <a:endParaRPr lang="en-US" sz="1750" b="1" i="1" dirty="0"/>
          </a:p>
        </p:txBody>
      </p:sp>
      <p:sp>
        <p:nvSpPr>
          <p:cNvPr id="7" name="Shape 5"/>
          <p:cNvSpPr/>
          <p:nvPr/>
        </p:nvSpPr>
        <p:spPr>
          <a:xfrm>
            <a:off x="793790" y="4326493"/>
            <a:ext cx="6407944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1020604" y="45533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Freeze?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20604" y="5061466"/>
            <a:ext cx="595431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Early layers capture generic features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 overfitting on small datasets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training time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428548" y="4326493"/>
            <a:ext cx="6408063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45533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Workflow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655362" y="5061466"/>
            <a:ext cx="5954435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Freeze convolution layers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only final classifier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3790" y="67907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most common transfer learning strategy.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83908" y="876795"/>
            <a:ext cx="865477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Keeping the Final Layer Task-Specific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16649" y="224779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final classification layer is always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problem-dependent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original VGG outputs 1,000 classes (ImageNet), but your task may require a completely different number of outputs.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767257"/>
            <a:ext cx="13042821" cy="714256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3767257"/>
            <a:ext cx="13062585" cy="714256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31915" y="3965615"/>
            <a:ext cx="1256657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model.classifier[6] = nn.Linear(4096, num_classes)</a:t>
            </a:r>
            <a:endParaRPr lang="en-US" sz="1550" b="1" i="1" dirty="0">
              <a:solidFill>
                <a:schemeClr val="accent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4704755"/>
            <a:ext cx="13042821" cy="1158954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793790" y="4704755"/>
            <a:ext cx="6521410" cy="1158954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92148" y="490311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Original VGG Output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992148" y="5347811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1,000 classes — trained on ImageNet categories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315200" y="4704755"/>
            <a:ext cx="6521410" cy="115895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4704755"/>
            <a:ext cx="22860" cy="1158954"/>
          </a:xfrm>
          <a:prstGeom prst="roundRect">
            <a:avLst>
              <a:gd name="adj" fmla="val 130232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7513558" y="4903113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Custom Output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7513558" y="5347811"/>
            <a:ext cx="61246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e.g., 5 classes — adapted to your specific domain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3790" y="608695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removing the original classifier and adding a new fully connected layer, the model adapts to your domain while the output matches your classification task exactly.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633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1007268"/>
            <a:ext cx="1079658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Fine-Tuning: Freezing Only a Few Layers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01409" y="21881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 freezing everything, we can freeze early layers and train deeper ones — this is called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Fine-Tuning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93790" y="3450431"/>
            <a:ext cx="13042821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82479" y="3450431"/>
            <a:ext cx="13065443" cy="1179433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065967" y="3677245"/>
            <a:ext cx="1249846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param in model.features[:20].parameters():</a:t>
            </a:r>
            <a:endParaRPr lang="en-US" sz="1750" b="1" i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param.requires_grad = False</a:t>
            </a:r>
            <a:endParaRPr lang="en-US" sz="1750" b="1" i="1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1118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Fine-Tune?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5710714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Later layers learn task-specific features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adapt better to new data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599521" y="51118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Trade-Off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99521" y="5710714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accuracy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Slightly higher computation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0930" y="1223230"/>
            <a:ext cx="9781461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 — Philosophy &amp; Residual Learning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28020" y="266452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 introduced a breakthrough concept: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Residual Learning via Skip Connections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Instead of learning the full mapping H(x), the network learns the residual F(x) = H(x) − x, then adds the input back directly.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93790" y="4324707"/>
            <a:ext cx="4215289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930" y="432470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1083588" y="4545925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Idea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083588" y="4990624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 is directly added to the output of a block — creating a shortcut path for gradient flow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07437" y="4324707"/>
            <a:ext cx="4215408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4577" y="432470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97235" y="4545925"/>
            <a:ext cx="313777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Solves Vanishing Gradients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5497235" y="4990624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Gradients flow directly through skip connections, enabling training of very deep networks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621203" y="4324707"/>
            <a:ext cx="4215289" cy="1839754"/>
          </a:xfrm>
          <a:prstGeom prst="roundRect">
            <a:avLst>
              <a:gd name="adj" fmla="val 5964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98343" y="4324707"/>
            <a:ext cx="91440" cy="1839754"/>
          </a:xfrm>
          <a:prstGeom prst="roundRect">
            <a:avLst>
              <a:gd name="adj" fmla="val 32558"/>
            </a:avLst>
          </a:prstGeom>
          <a:solidFill>
            <a:srgbClr val="E04F00"/>
          </a:solidFill>
          <a:ln/>
        </p:spPr>
      </p:sp>
      <p:sp>
        <p:nvSpPr>
          <p:cNvPr id="16" name="Text 14"/>
          <p:cNvSpPr/>
          <p:nvPr/>
        </p:nvSpPr>
        <p:spPr>
          <a:xfrm>
            <a:off x="9911001" y="4545925"/>
            <a:ext cx="270760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Enables Extreme Depth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9911001" y="4990624"/>
            <a:ext cx="37042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architectures with 50, 101, and 152 layers without degradation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29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0915" y="1068586"/>
            <a:ext cx="594657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ResNet Works Better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94610" y="223647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networks traditionally suffered from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degradation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adding more layers actually hurt performance. ResNet solved both problems fundamentally.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0915" y="3534132"/>
            <a:ext cx="6565106" cy="3421023"/>
          </a:xfrm>
          <a:prstGeom prst="roundRect">
            <a:avLst>
              <a:gd name="adj" fmla="val 87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849273" y="3732490"/>
            <a:ext cx="319992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Problems in Deep Networks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849273" y="4256484"/>
            <a:ext cx="6168390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gradients block learning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degrades with added depth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Difficult optimization landscape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64874" y="3732490"/>
            <a:ext cx="293536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ResNet Solves Them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564874" y="4256484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Allows direct gradient flow through skip connections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Preserves information across many layers</a:t>
            </a:r>
            <a:endParaRPr lang="en-US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Enables very deep, highly accurate architectures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564874" y="5571173"/>
            <a:ext cx="6279356" cy="1160740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32" y="5866448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09598" y="5819061"/>
            <a:ext cx="5436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 became the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 for modern deep learning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890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0627" y="704373"/>
            <a:ext cx="58982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Using PyTorch for ResNet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03672" y="179203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workflow for ResNet in PyTorch mirrors VGG, but ResNet uses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residual blocks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internally, making it more efficient and capable of much greater depth. It is often preferred over VGG in real applications.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143845"/>
            <a:ext cx="13042821" cy="1031796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783908" y="3143845"/>
            <a:ext cx="13062585" cy="1255038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31915" y="3342203"/>
            <a:ext cx="1256657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models.resnet18(weights=models.ResNet18_Weights.DEFAULT)</a:t>
            </a:r>
          </a:p>
          <a:p>
            <a:pPr>
              <a:lnSpc>
                <a:spcPts val="2500"/>
              </a:lnSpc>
            </a:pPr>
            <a:r>
              <a:rPr lang="en-US" sz="1550" b="1" i="1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num_ftrs</a:t>
            </a: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50" b="1" i="1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model.fc.in_features</a:t>
            </a: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Number of input features to FC layer</a:t>
            </a:r>
          </a:p>
          <a:p>
            <a:pPr>
              <a:lnSpc>
                <a:spcPts val="2500"/>
              </a:lnSpc>
            </a:pPr>
            <a:r>
              <a:rPr lang="en-US" sz="1550" b="1" i="1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model.fc</a:t>
            </a: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50" b="1" i="1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nn.Linear</a:t>
            </a: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50" b="1" i="1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num_ftrs</a:t>
            </a: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50" b="1" i="1" dirty="0" err="1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num_classes</a:t>
            </a:r>
            <a:r>
              <a:rPr lang="en-US" sz="1550" b="1" i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50" b="1" i="1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93790" y="4398883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713208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4858107"/>
            <a:ext cx="288595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Pre-Trained ResNet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93790" y="5302806"/>
            <a:ext cx="642223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 ResNet50 with ImageNet weights via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torchvision.models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14379" y="4398883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14379" y="4713208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14379" y="4858107"/>
            <a:ext cx="261282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Replace Final FC Layer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7414379" y="5302806"/>
            <a:ext cx="642223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Swap </a:t>
            </a:r>
            <a:r>
              <a:rPr lang="en-US" sz="16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model.fc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a new linear layer matching your class count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3790" y="597515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6289477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6434376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Freeze or Fine-Tune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93790" y="687907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same freezing/fine-tuning strategies as with VGG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14379" y="597515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379" y="6289477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14379" y="6434376"/>
            <a:ext cx="2885956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on Custom Dataset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7414379" y="687907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 training with residual blocks enabling deeper feature learning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87673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0202" y="1026382"/>
            <a:ext cx="11068645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Inception — Philosophy &amp; Multi-Scale Learning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660202" y="232071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Inception model introduces a fundamentally different approach: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multi-scale feature extraction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Rather than choosing a single filter size, Inception applies multiple filter sizes simultaneously within the same layer.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3973116"/>
            <a:ext cx="4215289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92148" y="417147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1×1 Convolutions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992148" y="461617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Dimensionality reduction — reduces parameters and computation efficiently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07437" y="3973116"/>
            <a:ext cx="4215408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405795" y="417147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3×3 Convolutions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5405795" y="4616172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mid-range spatial features and local patterns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21203" y="3973116"/>
            <a:ext cx="4215289" cy="1476494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819561" y="4171474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5×5 Convolutions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819561" y="461617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broader, more global spatial context simultaneously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90" y="5672852"/>
            <a:ext cx="13042821" cy="843201"/>
          </a:xfrm>
          <a:prstGeom prst="roundRect">
            <a:avLst>
              <a:gd name="adj" fmla="val 3531"/>
            </a:avLst>
          </a:prstGeom>
          <a:solidFill>
            <a:srgbClr val="FFCDB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5968127"/>
            <a:ext cx="248007" cy="1983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38513" y="5920740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idea: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features at multiple scales in parallel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within a single Inception module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94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35"/>
            <a:ext cx="84385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TensorFlow for VGG and ResNet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21337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Workflow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812262"/>
            <a:ext cx="6244709" cy="2139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pre-trained model (VGG/ResNet)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</a:t>
            </a:r>
            <a:r>
              <a:rPr lang="en-US" sz="20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include_top=False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custom classifier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Freeze layers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99521" y="3213378"/>
            <a:ext cx="303788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TensorFlow vs PyTorch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99521" y="3812262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easier, declarative, high-level API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flexible, research-friendly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99521" y="484417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Advantages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5443061"/>
            <a:ext cx="6244709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Built-in pre-trained models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Seamless GPU support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682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84715"/>
            <a:ext cx="6407944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7115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020604" y="321968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 training effort and data requirements significantly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428548" y="2484715"/>
            <a:ext cx="6408063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27115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VGG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655362" y="3219688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Simplicity and depth — easy to implement and modify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93790" y="4399121"/>
            <a:ext cx="6407944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6259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20604" y="5134094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Solves deep learning limitations via skip connections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28548" y="4399121"/>
            <a:ext cx="6408063" cy="1324689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6259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Inception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7655362" y="5134094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Multi-scale feature learning — wide + deep architecture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93790" y="5978962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323052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626244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= Practical + Powerful</a:t>
            </a:r>
            <a:endParaRPr lang="en-US" sz="2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1189</Words>
  <Application>Microsoft Office PowerPoint</Application>
  <PresentationFormat>Custom</PresentationFormat>
  <Paragraphs>186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PT Serif Light</vt:lpstr>
      <vt:lpstr>Arial</vt:lpstr>
      <vt:lpstr>PT Serif</vt:lpstr>
      <vt:lpstr>Consolas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Fimran Sanghvi</cp:lastModifiedBy>
  <cp:revision>10</cp:revision>
  <dcterms:created xsi:type="dcterms:W3CDTF">2026-04-22T05:57:44Z</dcterms:created>
  <dcterms:modified xsi:type="dcterms:W3CDTF">2026-05-11T08:37:05Z</dcterms:modified>
</cp:coreProperties>
</file>