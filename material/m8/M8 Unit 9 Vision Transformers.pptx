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76" r:id="rId3"/>
    <p:sldId id="257" r:id="rId4"/>
    <p:sldId id="290" r:id="rId5"/>
    <p:sldId id="260" r:id="rId6"/>
    <p:sldId id="261" r:id="rId7"/>
    <p:sldId id="284" r:id="rId8"/>
    <p:sldId id="291" r:id="rId9"/>
    <p:sldId id="263" r:id="rId10"/>
    <p:sldId id="286" r:id="rId11"/>
    <p:sldId id="287" r:id="rId12"/>
    <p:sldId id="288" r:id="rId13"/>
    <p:sldId id="289" r:id="rId14"/>
    <p:sldId id="267" r:id="rId15"/>
    <p:sldId id="268" r:id="rId16"/>
    <p:sldId id="265" r:id="rId17"/>
    <p:sldId id="269" r:id="rId18"/>
  </p:sldIdLst>
  <p:sldSz cx="14630400" cy="8229600"/>
  <p:notesSz cx="8229600" cy="14630400"/>
  <p:embeddedFontLst>
    <p:embeddedFont>
      <p:font typeface="DM Sans" pitchFamily="2" charset="77"/>
      <p:regular r:id="rId20"/>
    </p:embeddedFont>
    <p:embeddedFont>
      <p:font typeface="PT Serif" panose="020A0603040505020204" pitchFamily="18" charset="77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6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72247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831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21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719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308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482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274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14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18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45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550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348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03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9574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15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13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7369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5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874509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9728999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3879640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9.tif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9.tif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84180" y="1866701"/>
            <a:ext cx="6091340" cy="14885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1680"/>
              </a:lnSpc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Vision Transformers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09338" y="374068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the Transformer architecture — the engine behind large language models — is reshaping the field of computer vision.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71371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1435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554367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5" name="Text 3"/>
          <p:cNvSpPr/>
          <p:nvPr/>
        </p:nvSpPr>
        <p:spPr>
          <a:xfrm>
            <a:off x="793849" y="250757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CNNs "See": The Local Lens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428548" y="2199323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554367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93790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351615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2" name="Text 10"/>
          <p:cNvSpPr/>
          <p:nvPr/>
        </p:nvSpPr>
        <p:spPr>
          <a:xfrm>
            <a:off x="793790" y="4525923"/>
            <a:ext cx="457140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</a:t>
            </a:r>
            <a:r>
              <a:rPr lang="en-US" sz="24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ViT</a:t>
            </a: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Architecture</a:t>
            </a:r>
            <a:endParaRPr lang="en-US" sz="2300" dirty="0"/>
          </a:p>
          <a:p>
            <a:pPr marL="0" indent="0" algn="l">
              <a:lnSpc>
                <a:spcPts val="2900"/>
              </a:lnSpc>
              <a:buNone/>
            </a:pP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7428548" y="399657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28548" y="4351615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428548" y="4336014"/>
            <a:ext cx="56999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vs. </a:t>
            </a:r>
            <a:r>
              <a:rPr lang="en-US" sz="24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ViT</a:t>
            </a: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— Two Philosophies of Seeing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93790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05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93790" y="5649873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93790" y="5824180"/>
            <a:ext cx="5879663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900"/>
              </a:lnSpc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 for </a:t>
            </a:r>
            <a:r>
              <a:rPr lang="en-US" sz="230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ViT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28548" y="529482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06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649873"/>
            <a:ext cx="6408063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824180"/>
            <a:ext cx="42521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2300" dirty="0"/>
          </a:p>
        </p:txBody>
      </p:sp>
      <p:sp>
        <p:nvSpPr>
          <p:cNvPr id="24" name="Text 3">
            <a:extLst>
              <a:ext uri="{FF2B5EF4-FFF2-40B4-BE49-F238E27FC236}">
                <a16:creationId xmlns:a16="http://schemas.microsoft.com/office/drawing/2014/main" id="{F9B1597F-6088-ED47-BCF3-2426CD5CD6E2}"/>
              </a:ext>
            </a:extLst>
          </p:cNvPr>
          <p:cNvSpPr/>
          <p:nvPr/>
        </p:nvSpPr>
        <p:spPr>
          <a:xfrm>
            <a:off x="7428548" y="250757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Breakthrough: Vision Transformers (</a:t>
            </a:r>
            <a:r>
              <a:rPr lang="en-US" sz="24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ViTs</a:t>
            </a:r>
            <a:r>
              <a:rPr lang="en-US" sz="2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)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86154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0443" y="2333919"/>
            <a:ext cx="8350091" cy="148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Challenge: Teaching Machines to See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93791" y="430327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 decades, </a:t>
            </a: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Convolutional Neural Networks (CNNs)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have been the workhorses of computer vision — identifying patterns by scanning images in a structured, hierarchical, and fundamentally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manner. But is looking closely always enough?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111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6" y="827008"/>
            <a:ext cx="8476298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760"/>
              </a:lnSpc>
            </a:pPr>
            <a:r>
              <a:rPr lang="en-US" sz="456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CNNs "See": The Local Lens</a:t>
            </a:r>
            <a:endParaRPr lang="en-US" sz="456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407" y="2536151"/>
            <a:ext cx="4219574" cy="42195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3194" y="2136459"/>
            <a:ext cx="446485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720"/>
              </a:lnSpc>
            </a:pPr>
            <a:r>
              <a:rPr lang="en-US" sz="168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680" dirty="0"/>
          </a:p>
        </p:txBody>
      </p:sp>
      <p:sp>
        <p:nvSpPr>
          <p:cNvPr id="5" name="Shape 2"/>
          <p:cNvSpPr/>
          <p:nvPr/>
        </p:nvSpPr>
        <p:spPr>
          <a:xfrm>
            <a:off x="5553194" y="2485430"/>
            <a:ext cx="4041696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3"/>
          <p:cNvSpPr/>
          <p:nvPr/>
        </p:nvSpPr>
        <p:spPr>
          <a:xfrm>
            <a:off x="5553194" y="2657952"/>
            <a:ext cx="2930485" cy="366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24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Small Receptive Fields</a:t>
            </a:r>
            <a:endParaRPr lang="en-US" sz="2240" dirty="0"/>
          </a:p>
        </p:txBody>
      </p:sp>
      <p:sp>
        <p:nvSpPr>
          <p:cNvPr id="7" name="Text 4"/>
          <p:cNvSpPr/>
          <p:nvPr/>
        </p:nvSpPr>
        <p:spPr>
          <a:xfrm>
            <a:off x="5553194" y="3243978"/>
            <a:ext cx="4041696" cy="70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Filters slide over tiny patches of the image, one region at a time.</a:t>
            </a: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814679" y="2136459"/>
            <a:ext cx="446485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720"/>
              </a:lnSpc>
            </a:pPr>
            <a:r>
              <a:rPr lang="en-US" sz="168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680" dirty="0"/>
          </a:p>
        </p:txBody>
      </p:sp>
      <p:sp>
        <p:nvSpPr>
          <p:cNvPr id="9" name="Shape 6"/>
          <p:cNvSpPr/>
          <p:nvPr/>
        </p:nvSpPr>
        <p:spPr>
          <a:xfrm>
            <a:off x="9814679" y="2485430"/>
            <a:ext cx="404181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7"/>
          <p:cNvSpPr/>
          <p:nvPr/>
        </p:nvSpPr>
        <p:spPr>
          <a:xfrm>
            <a:off x="9814679" y="2657952"/>
            <a:ext cx="4021454" cy="366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24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Early Layers: Edges &amp; Textures</a:t>
            </a:r>
            <a:endParaRPr lang="en-US" sz="2240" dirty="0"/>
          </a:p>
        </p:txBody>
      </p:sp>
      <p:sp>
        <p:nvSpPr>
          <p:cNvPr id="11" name="Text 8"/>
          <p:cNvSpPr/>
          <p:nvPr/>
        </p:nvSpPr>
        <p:spPr>
          <a:xfrm>
            <a:off x="9814679" y="3243978"/>
            <a:ext cx="4041814" cy="708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Simple low-level features are detected first — lines, colours, gradients.</a:t>
            </a: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53194" y="4339830"/>
            <a:ext cx="446485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720"/>
              </a:lnSpc>
            </a:pPr>
            <a:r>
              <a:rPr lang="en-US" sz="168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680" dirty="0"/>
          </a:p>
        </p:txBody>
      </p:sp>
      <p:sp>
        <p:nvSpPr>
          <p:cNvPr id="13" name="Shape 10"/>
          <p:cNvSpPr/>
          <p:nvPr/>
        </p:nvSpPr>
        <p:spPr>
          <a:xfrm>
            <a:off x="5553194" y="4688800"/>
            <a:ext cx="8303299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1"/>
          <p:cNvSpPr/>
          <p:nvPr/>
        </p:nvSpPr>
        <p:spPr>
          <a:xfrm>
            <a:off x="5553194" y="4861322"/>
            <a:ext cx="4297085" cy="3662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24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Deeper Layers: Shapes &amp; Objects</a:t>
            </a:r>
            <a:endParaRPr lang="en-US" sz="2240" dirty="0"/>
          </a:p>
        </p:txBody>
      </p:sp>
      <p:sp>
        <p:nvSpPr>
          <p:cNvPr id="15" name="Text 12"/>
          <p:cNvSpPr/>
          <p:nvPr/>
        </p:nvSpPr>
        <p:spPr>
          <a:xfrm>
            <a:off x="5553194" y="5447347"/>
            <a:ext cx="83032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Features combine progressively into complex, recognisable structures.</a:t>
            </a:r>
            <a:endParaRPr lang="en-US" dirty="0"/>
          </a:p>
        </p:txBody>
      </p:sp>
      <p:sp>
        <p:nvSpPr>
          <p:cNvPr id="16" name="Shape 13"/>
          <p:cNvSpPr/>
          <p:nvPr/>
        </p:nvSpPr>
        <p:spPr>
          <a:xfrm>
            <a:off x="5553194" y="6216253"/>
            <a:ext cx="8303299" cy="939165"/>
          </a:xfrm>
          <a:prstGeom prst="roundRect">
            <a:avLst>
              <a:gd name="adj" fmla="val 3566"/>
            </a:avLst>
          </a:prstGeom>
          <a:solidFill>
            <a:srgbClr val="FFCDB3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6438" y="6551294"/>
            <a:ext cx="279083" cy="2232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78763" y="6491763"/>
            <a:ext cx="73544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Like a microscope — powerful detail, one patch at a time.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14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214795"/>
            <a:ext cx="12258675" cy="744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64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Breakthrough: Vision Transformers (ViTs)</a:t>
            </a:r>
            <a:endParaRPr lang="en-US" sz="4640" dirty="0"/>
          </a:p>
        </p:txBody>
      </p:sp>
      <p:sp>
        <p:nvSpPr>
          <p:cNvPr id="3" name="Shape 1"/>
          <p:cNvSpPr/>
          <p:nvPr/>
        </p:nvSpPr>
        <p:spPr>
          <a:xfrm>
            <a:off x="793791" y="2999304"/>
            <a:ext cx="2610088" cy="3315296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083" y="3256598"/>
            <a:ext cx="2095501" cy="75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🧩</a:t>
            </a: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Patches as Tokens</a:t>
            </a:r>
            <a:endParaRPr lang="en-US" sz="2320" dirty="0"/>
          </a:p>
        </p:txBody>
      </p:sp>
      <p:sp>
        <p:nvSpPr>
          <p:cNvPr id="5" name="Text 3"/>
          <p:cNvSpPr/>
          <p:nvPr/>
        </p:nvSpPr>
        <p:spPr>
          <a:xfrm>
            <a:off x="1051083" y="4242792"/>
            <a:ext cx="2095501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image is divided into fixed-size patches, each treated as a word in a sentence.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3630692" y="2999304"/>
            <a:ext cx="2610206" cy="3315296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87986" y="3256598"/>
            <a:ext cx="2095619" cy="75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🔗</a:t>
            </a: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Self-Attention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3887986" y="4242792"/>
            <a:ext cx="2095619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patch attends to every other patch simultaneously — not sequentially.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67715" y="2999304"/>
            <a:ext cx="2610206" cy="3315296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5007" y="3256598"/>
            <a:ext cx="2095619" cy="7593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🌐</a:t>
            </a: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Global Context</a:t>
            </a:r>
            <a:endParaRPr lang="en-US" sz="2320" dirty="0"/>
          </a:p>
        </p:txBody>
      </p:sp>
      <p:sp>
        <p:nvSpPr>
          <p:cNvPr id="11" name="Text 9"/>
          <p:cNvSpPr/>
          <p:nvPr/>
        </p:nvSpPr>
        <p:spPr>
          <a:xfrm>
            <a:off x="6725007" y="4242792"/>
            <a:ext cx="2095619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Long-range relationships across the entire image are captured in a single pass.</a:t>
            </a:r>
            <a:endParaRPr lang="en-US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8942" y="2554366"/>
            <a:ext cx="4205168" cy="4205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81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1" y="2733081"/>
            <a:ext cx="7556421" cy="1488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ViTs "See": The Global Canvas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93791" y="456176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Rather than scanning patch by patch, ViTs ask: </a:t>
            </a: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"How does every part of this image relate to every other part?"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self-attention mechanism assigns importance weights across all patches simultaneously — capturing the forest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trees.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8945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8" y="489109"/>
            <a:ext cx="8652867" cy="569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480"/>
              </a:lnSpc>
            </a:pPr>
            <a:r>
              <a:rPr lang="en-US" sz="352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ViT Architecture — Inside the Pipeline</a:t>
            </a:r>
            <a:endParaRPr lang="en-US" sz="352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971" y="1324808"/>
            <a:ext cx="10904339" cy="57756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37927" y="5452618"/>
            <a:ext cx="2830883" cy="353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20"/>
              </a:lnSpc>
            </a:pPr>
            <a:r>
              <a:rPr lang="en-US" sz="216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Patch Extraction</a:t>
            </a:r>
            <a:endParaRPr lang="en-US" sz="2160" dirty="0"/>
          </a:p>
        </p:txBody>
      </p:sp>
      <p:sp>
        <p:nvSpPr>
          <p:cNvPr id="5" name="Text 2"/>
          <p:cNvSpPr/>
          <p:nvPr/>
        </p:nvSpPr>
        <p:spPr>
          <a:xfrm>
            <a:off x="3181010" y="5902339"/>
            <a:ext cx="2887800" cy="47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840"/>
              </a:lnSpc>
            </a:pP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Image split into 16×16 patches.</a:t>
            </a:r>
            <a:endParaRPr lang="en-US" sz="1920" dirty="0"/>
          </a:p>
        </p:txBody>
      </p:sp>
      <p:sp>
        <p:nvSpPr>
          <p:cNvPr id="6" name="Text 3"/>
          <p:cNvSpPr/>
          <p:nvPr/>
        </p:nvSpPr>
        <p:spPr>
          <a:xfrm>
            <a:off x="2183461" y="2046572"/>
            <a:ext cx="2830883" cy="353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ts val="2720"/>
              </a:lnSpc>
            </a:pPr>
            <a:r>
              <a:rPr lang="en-US" sz="216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Linear Projection</a:t>
            </a:r>
            <a:endParaRPr lang="en-US" sz="2160" dirty="0"/>
          </a:p>
        </p:txBody>
      </p:sp>
      <p:sp>
        <p:nvSpPr>
          <p:cNvPr id="7" name="Text 4"/>
          <p:cNvSpPr/>
          <p:nvPr/>
        </p:nvSpPr>
        <p:spPr>
          <a:xfrm>
            <a:off x="2126543" y="2496293"/>
            <a:ext cx="2887800" cy="47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>
              <a:lnSpc>
                <a:spcPts val="1840"/>
              </a:lnSpc>
            </a:pP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Patches flattened and mapped to embeddings</a:t>
            </a: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80" dirty="0"/>
          </a:p>
        </p:txBody>
      </p:sp>
      <p:sp>
        <p:nvSpPr>
          <p:cNvPr id="8" name="Text 5"/>
          <p:cNvSpPr/>
          <p:nvPr/>
        </p:nvSpPr>
        <p:spPr>
          <a:xfrm>
            <a:off x="8597134" y="2046572"/>
            <a:ext cx="2879374" cy="353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Positional Embeddings</a:t>
            </a:r>
            <a:endParaRPr lang="en-US" sz="2160" dirty="0"/>
          </a:p>
        </p:txBody>
      </p:sp>
      <p:sp>
        <p:nvSpPr>
          <p:cNvPr id="9" name="Text 6"/>
          <p:cNvSpPr/>
          <p:nvPr/>
        </p:nvSpPr>
        <p:spPr>
          <a:xfrm>
            <a:off x="8597134" y="2496293"/>
            <a:ext cx="2887800" cy="47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40"/>
              </a:lnSpc>
            </a:pP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Order information added to each vector.</a:t>
            </a:r>
            <a:endParaRPr lang="en-US" sz="1920" dirty="0"/>
          </a:p>
        </p:txBody>
      </p:sp>
      <p:sp>
        <p:nvSpPr>
          <p:cNvPr id="10" name="Text 7"/>
          <p:cNvSpPr/>
          <p:nvPr/>
        </p:nvSpPr>
        <p:spPr>
          <a:xfrm>
            <a:off x="9615651" y="5452806"/>
            <a:ext cx="2830883" cy="353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Transformer Encoder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9615652" y="5902526"/>
            <a:ext cx="2887800" cy="475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40"/>
              </a:lnSpc>
            </a:pP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Self-attention layers with a CLS token.</a:t>
            </a:r>
            <a:endParaRPr lang="en-US" sz="1920" dirty="0"/>
          </a:p>
        </p:txBody>
      </p:sp>
      <p:sp>
        <p:nvSpPr>
          <p:cNvPr id="12" name="Text 9"/>
          <p:cNvSpPr/>
          <p:nvPr/>
        </p:nvSpPr>
        <p:spPr>
          <a:xfrm>
            <a:off x="1323738" y="7249953"/>
            <a:ext cx="11982806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92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[CLS] token</a:t>
            </a: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prepended to the patch sequence — accumulates global information across all self-attention layers and serves as the final representation for classification.</a:t>
            </a:r>
            <a:endParaRPr lang="en-US" sz="1920" dirty="0"/>
          </a:p>
        </p:txBody>
      </p:sp>
    </p:spTree>
    <p:extLst>
      <p:ext uri="{BB962C8B-B14F-4D97-AF65-F5344CB8AC3E}">
        <p14:creationId xmlns:p14="http://schemas.microsoft.com/office/powerpoint/2010/main" val="7333228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8" y="608290"/>
            <a:ext cx="5259586" cy="70129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0191" y="3286720"/>
            <a:ext cx="5954197" cy="744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64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Connecting the Dots</a:t>
            </a:r>
            <a:endParaRPr lang="en-US" sz="4640" dirty="0"/>
          </a:p>
        </p:txBody>
      </p:sp>
      <p:sp>
        <p:nvSpPr>
          <p:cNvPr id="8" name="Text 4"/>
          <p:cNvSpPr/>
          <p:nvPr/>
        </p:nvSpPr>
        <p:spPr>
          <a:xfrm>
            <a:off x="6280191" y="4371141"/>
            <a:ext cx="7556421" cy="1088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ViT doesn't just find the ear — it understands how the ear </a:t>
            </a: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relates to the tail, the paw, and the background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forming a holistic understanding of the subject as a unified whole.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890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01479"/>
            <a:ext cx="11054954" cy="744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64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Visualising the Difference: A Cat Example</a:t>
            </a:r>
            <a:endParaRPr lang="en-US" sz="4640" dirty="0"/>
          </a:p>
        </p:txBody>
      </p:sp>
      <p:sp>
        <p:nvSpPr>
          <p:cNvPr id="3" name="Shape 1"/>
          <p:cNvSpPr/>
          <p:nvPr/>
        </p:nvSpPr>
        <p:spPr>
          <a:xfrm>
            <a:off x="793791" y="3499366"/>
            <a:ext cx="13042821" cy="2428637"/>
          </a:xfrm>
          <a:prstGeom prst="roundRect">
            <a:avLst>
              <a:gd name="adj" fmla="val 1401"/>
            </a:avLst>
          </a:prstGeom>
          <a:solidFill>
            <a:srgbClr val="F2EEEE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1" y="3499366"/>
            <a:ext cx="6521410" cy="2428637"/>
          </a:xfrm>
          <a:prstGeom prst="roundRect">
            <a:avLst>
              <a:gd name="adj" fmla="val 140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726182"/>
            <a:ext cx="2977038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🔬</a:t>
            </a: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CNN Approach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1020603" y="4249579"/>
            <a:ext cx="6067782" cy="1088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fur texture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recognises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 shape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identifies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eye shape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→ combines into "cat." Sequential and hierarchical — bottom-up feature building.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7315201" y="3499366"/>
            <a:ext cx="6521410" cy="2428637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3499366"/>
            <a:ext cx="30480" cy="2428637"/>
          </a:xfrm>
          <a:prstGeom prst="roundRect">
            <a:avLst>
              <a:gd name="adj" fmla="val 111628"/>
            </a:avLst>
          </a:prstGeom>
          <a:solidFill>
            <a:srgbClr val="D8D4D4"/>
          </a:solidFill>
          <a:ln/>
        </p:spPr>
      </p:sp>
      <p:sp>
        <p:nvSpPr>
          <p:cNvPr id="9" name="Text 7"/>
          <p:cNvSpPr/>
          <p:nvPr/>
        </p:nvSpPr>
        <p:spPr>
          <a:xfrm>
            <a:off x="7542015" y="3726182"/>
            <a:ext cx="2977038" cy="38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🌐</a:t>
            </a: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ViT Approach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7542015" y="4249579"/>
            <a:ext cx="6067782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Simultaneously considers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ear patch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eye patch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tail patch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and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background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together — understanding from the outset that these patches belong to one unified entity.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370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1453701"/>
            <a:ext cx="11209139" cy="744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64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 vs. ViT — Two Philosophies of Seeing</a:t>
            </a:r>
            <a:endParaRPr lang="en-US" sz="4640" dirty="0"/>
          </a:p>
        </p:txBody>
      </p:sp>
      <p:sp>
        <p:nvSpPr>
          <p:cNvPr id="3" name="Shape 1"/>
          <p:cNvSpPr/>
          <p:nvPr/>
        </p:nvSpPr>
        <p:spPr>
          <a:xfrm>
            <a:off x="630436" y="3234810"/>
            <a:ext cx="6571416" cy="2844285"/>
          </a:xfrm>
          <a:prstGeom prst="roundRect">
            <a:avLst>
              <a:gd name="adj" fmla="val 1196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/>
          <p:nvPr/>
        </p:nvSpPr>
        <p:spPr>
          <a:xfrm>
            <a:off x="857251" y="3461623"/>
            <a:ext cx="361247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CNN: The "Local" Detective</a:t>
            </a:r>
            <a:endParaRPr lang="en-US" sz="2320" dirty="0"/>
          </a:p>
        </p:txBody>
      </p:sp>
      <p:sp>
        <p:nvSpPr>
          <p:cNvPr id="5" name="Text 3"/>
          <p:cNvSpPr/>
          <p:nvPr/>
        </p:nvSpPr>
        <p:spPr>
          <a:xfrm>
            <a:off x="857250" y="4060507"/>
            <a:ext cx="6117789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CNNs scan images using small sliding filters — identifying edges, textures, and shapes in local neighborhoods. They carry a strong </a:t>
            </a:r>
            <a:r>
              <a:rPr lang="en-US" sz="176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inductive bias</a:t>
            </a:r>
            <a:r>
              <a:rPr lang="en-US" sz="17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nearby pixels are assumed to be related. Efficient on small datasets, but </a:t>
            </a:r>
            <a:r>
              <a:rPr lang="en-US" sz="176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globally blind</a:t>
            </a:r>
            <a:r>
              <a:rPr lang="en-US" sz="176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 early layers.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7599522" y="3461623"/>
            <a:ext cx="376332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ViT: The "Global" Storyteller</a:t>
            </a:r>
            <a:endParaRPr lang="en-US" sz="2320" dirty="0"/>
          </a:p>
        </p:txBody>
      </p:sp>
      <p:sp>
        <p:nvSpPr>
          <p:cNvPr id="7" name="Text 5"/>
          <p:cNvSpPr/>
          <p:nvPr/>
        </p:nvSpPr>
        <p:spPr>
          <a:xfrm>
            <a:off x="7599522" y="4060507"/>
            <a:ext cx="6244709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 processes all patches simultaneously. A patch in the top-right corner can directly </a:t>
            </a: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"talk" to a patch in the bottom-left</a:t>
            </a: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from layer one onward. It imposes no spatial locality assumptions — relationships are learned purely from data.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28441328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98515"/>
            <a:ext cx="5508664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60"/>
              </a:lnSpc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a CNN Sees the Scene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516097" y="2291719"/>
            <a:ext cx="2482334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 Collection of Textures</a:t>
            </a:r>
            <a:endParaRPr lang="en-US" sz="2000" b="1" dirty="0"/>
          </a:p>
        </p:txBody>
      </p:sp>
      <p:sp>
        <p:nvSpPr>
          <p:cNvPr id="5" name="Text 2"/>
          <p:cNvSpPr/>
          <p:nvPr/>
        </p:nvSpPr>
        <p:spPr>
          <a:xfrm>
            <a:off x="7538800" y="3013308"/>
            <a:ext cx="6757190" cy="1104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CNN focuses sequentially on local features: the car's wheels, the person's limbs, the asphalt grain. Because the car occupies the largest region, the model often predicts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"Car"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or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"Street Scene."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538800" y="4595097"/>
            <a:ext cx="5897523" cy="1153002"/>
          </a:xfrm>
          <a:prstGeom prst="roundRect">
            <a:avLst>
              <a:gd name="adj" fmla="val 2305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965" y="4844414"/>
            <a:ext cx="221456" cy="177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14585" y="4674183"/>
            <a:ext cx="5321738" cy="757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sees the ingredients — but struggles to connect the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Action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(red light) to the </a:t>
            </a: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(stopped car). The semantic relationship is lost across early layers.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40341C6-8BEE-4C47-BBB8-A3CBF356E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85" y="1608965"/>
            <a:ext cx="5573050" cy="567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23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1460" y="498515"/>
            <a:ext cx="5260776" cy="581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560"/>
              </a:lnSpc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How a ViT Sees the Scene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538800" y="2556458"/>
            <a:ext cx="2325766" cy="290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40"/>
              </a:lnSpc>
            </a:pP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Global "Headline"</a:t>
            </a:r>
            <a:endParaRPr lang="en-US" sz="2000" b="1" dirty="0"/>
          </a:p>
        </p:txBody>
      </p:sp>
      <p:sp>
        <p:nvSpPr>
          <p:cNvPr id="5" name="Text 2"/>
          <p:cNvSpPr/>
          <p:nvPr/>
        </p:nvSpPr>
        <p:spPr>
          <a:xfrm>
            <a:off x="7538799" y="3111342"/>
            <a:ext cx="6325246" cy="757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ViT's attention mechanism immediately highlights the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bright red signal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as the most categorically distinct element, mathematically down-weighting the car and pedestrian as contextual background.</a:t>
            </a:r>
            <a:endParaRPr lang="en-US" dirty="0"/>
          </a:p>
        </p:txBody>
      </p:sp>
      <p:sp>
        <p:nvSpPr>
          <p:cNvPr id="6" name="Shape 3"/>
          <p:cNvSpPr/>
          <p:nvPr/>
        </p:nvSpPr>
        <p:spPr>
          <a:xfrm>
            <a:off x="7538800" y="4595097"/>
            <a:ext cx="5897523" cy="1153002"/>
          </a:xfrm>
          <a:prstGeom prst="roundRect">
            <a:avLst>
              <a:gd name="adj" fmla="val 2305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965" y="4844414"/>
            <a:ext cx="221456" cy="177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14587" y="4777742"/>
            <a:ext cx="5144571" cy="7572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20"/>
              </a:lnSpc>
            </a:pPr>
            <a:r>
              <a:rPr lang="en-US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Inference: "Street Light"</a:t>
            </a: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Confidence: 0.96</a:t>
            </a:r>
            <a:endParaRPr lang="en-US" dirty="0"/>
          </a:p>
          <a:p>
            <a:pPr>
              <a:lnSpc>
                <a:spcPts val="1920"/>
              </a:lnSpc>
            </a:pPr>
            <a:r>
              <a:rPr lang="en-US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It prioritizes the most semantically unique fact over the largest visual object.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E411033-00F3-6344-B242-01209F696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185" y="1608965"/>
            <a:ext cx="5573050" cy="567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331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1" y="2365611"/>
            <a:ext cx="9470350" cy="1027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8080"/>
              </a:lnSpc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Power of Pre-training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9194" y="3732808"/>
            <a:ext cx="13042821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Why we rarely need to train a Vision Transformer from scratch — and what "knowledge transfer" really means </a:t>
            </a:r>
          </a:p>
          <a:p>
            <a:pPr>
              <a:lnSpc>
                <a:spcPts val="2800"/>
              </a:lnSpc>
            </a:pPr>
            <a:r>
              <a:rPr lang="en-US" sz="192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practice.</a:t>
            </a:r>
            <a:endParaRPr lang="en-US" sz="1920" dirty="0"/>
          </a:p>
        </p:txBody>
      </p:sp>
    </p:spTree>
    <p:extLst>
      <p:ext uri="{BB962C8B-B14F-4D97-AF65-F5344CB8AC3E}">
        <p14:creationId xmlns:p14="http://schemas.microsoft.com/office/powerpoint/2010/main" val="33393671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946195"/>
            <a:ext cx="7727157" cy="744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64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a Pre-trained Model?</a:t>
            </a:r>
            <a:endParaRPr lang="en-US" sz="4640" dirty="0"/>
          </a:p>
        </p:txBody>
      </p:sp>
      <p:sp>
        <p:nvSpPr>
          <p:cNvPr id="3" name="Shape 1"/>
          <p:cNvSpPr/>
          <p:nvPr/>
        </p:nvSpPr>
        <p:spPr>
          <a:xfrm>
            <a:off x="793791" y="3144084"/>
            <a:ext cx="4196358" cy="3139202"/>
          </a:xfrm>
          <a:prstGeom prst="roundRect">
            <a:avLst>
              <a:gd name="adj" fmla="val 108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370898"/>
            <a:ext cx="2977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Knowledge Transfer</a:t>
            </a:r>
            <a:endParaRPr lang="en-US" sz="2320" dirty="0"/>
          </a:p>
        </p:txBody>
      </p:sp>
      <p:sp>
        <p:nvSpPr>
          <p:cNvPr id="5" name="Text 3"/>
          <p:cNvSpPr/>
          <p:nvPr/>
        </p:nvSpPr>
        <p:spPr>
          <a:xfrm>
            <a:off x="1020603" y="3879056"/>
            <a:ext cx="3742730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Models first train on </a:t>
            </a: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millions of images</a:t>
            </a: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(e.g., ImageNet-21k) to internalize general visual features — edges, shapes, semantics — before ever seeing your data.</a:t>
            </a:r>
            <a:endParaRPr lang="en-US" sz="1760" dirty="0"/>
          </a:p>
        </p:txBody>
      </p:sp>
      <p:sp>
        <p:nvSpPr>
          <p:cNvPr id="6" name="Shape 4"/>
          <p:cNvSpPr/>
          <p:nvPr/>
        </p:nvSpPr>
        <p:spPr>
          <a:xfrm>
            <a:off x="5216962" y="3144084"/>
            <a:ext cx="4196358" cy="3139202"/>
          </a:xfrm>
          <a:prstGeom prst="roundRect">
            <a:avLst>
              <a:gd name="adj" fmla="val 108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5443777" y="3370898"/>
            <a:ext cx="347614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Efficiency via Fine-Tuning</a:t>
            </a:r>
            <a:endParaRPr lang="en-US" sz="2320" dirty="0"/>
          </a:p>
        </p:txBody>
      </p:sp>
      <p:sp>
        <p:nvSpPr>
          <p:cNvPr id="8" name="Text 6"/>
          <p:cNvSpPr/>
          <p:nvPr/>
        </p:nvSpPr>
        <p:spPr>
          <a:xfrm>
            <a:off x="5443776" y="3879056"/>
            <a:ext cx="3742730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Practitioners </a:t>
            </a: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fine-tune</a:t>
            </a: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pre-trained weights on small domain-specific datasets, saving thousands of GPU-hours while achieving state-of-the-art results.</a:t>
            </a:r>
            <a:endParaRPr lang="en-US" sz="1760" dirty="0"/>
          </a:p>
        </p:txBody>
      </p:sp>
      <p:sp>
        <p:nvSpPr>
          <p:cNvPr id="9" name="Shape 7"/>
          <p:cNvSpPr/>
          <p:nvPr/>
        </p:nvSpPr>
        <p:spPr>
          <a:xfrm>
            <a:off x="9640133" y="3144084"/>
            <a:ext cx="4196358" cy="3139202"/>
          </a:xfrm>
          <a:prstGeom prst="roundRect">
            <a:avLst>
              <a:gd name="adj" fmla="val 108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9866948" y="3370898"/>
            <a:ext cx="2977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ViTs Need This</a:t>
            </a:r>
            <a:endParaRPr lang="en-US" sz="2320" dirty="0"/>
          </a:p>
        </p:txBody>
      </p:sp>
      <p:sp>
        <p:nvSpPr>
          <p:cNvPr id="11" name="Text 9"/>
          <p:cNvSpPr/>
          <p:nvPr/>
        </p:nvSpPr>
        <p:spPr>
          <a:xfrm>
            <a:off x="9866947" y="3879056"/>
            <a:ext cx="3742730" cy="217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CNNs, ViTs carry </a:t>
            </a: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spatial inductive bias</a:t>
            </a: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They are data-hungry by design — pre-training on large corpora is not optional; it's the mechanism that closes the gap.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34991342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650915"/>
            <a:ext cx="7246739" cy="744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64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Leading Google ViT Models</a:t>
            </a:r>
            <a:endParaRPr lang="en-US" sz="4640" dirty="0"/>
          </a:p>
        </p:txBody>
      </p:sp>
      <p:sp>
        <p:nvSpPr>
          <p:cNvPr id="3" name="Shape 1"/>
          <p:cNvSpPr/>
          <p:nvPr/>
        </p:nvSpPr>
        <p:spPr>
          <a:xfrm>
            <a:off x="793791" y="1848804"/>
            <a:ext cx="13042821" cy="4748926"/>
          </a:xfrm>
          <a:prstGeom prst="roundRect">
            <a:avLst>
              <a:gd name="adj" fmla="val 71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343" y="2000131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 Name</a:t>
            </a:r>
            <a:endParaRPr lang="en-US" sz="1760" dirty="0"/>
          </a:p>
        </p:txBody>
      </p:sp>
      <p:sp>
        <p:nvSpPr>
          <p:cNvPr id="5" name="Text 3"/>
          <p:cNvSpPr/>
          <p:nvPr/>
        </p:nvSpPr>
        <p:spPr>
          <a:xfrm>
            <a:off x="4940379" y="2000131"/>
            <a:ext cx="279558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Scale / Parameters</a:t>
            </a:r>
            <a:endParaRPr lang="en-US" sz="1760" dirty="0"/>
          </a:p>
        </p:txBody>
      </p:sp>
      <p:sp>
        <p:nvSpPr>
          <p:cNvPr id="6" name="Text 4"/>
          <p:cNvSpPr/>
          <p:nvPr/>
        </p:nvSpPr>
        <p:spPr>
          <a:xfrm>
            <a:off x="8197215" y="2000131"/>
            <a:ext cx="5404962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Use Case</a:t>
            </a:r>
            <a:endParaRPr lang="en-US" sz="1760" dirty="0"/>
          </a:p>
        </p:txBody>
      </p:sp>
      <p:sp>
        <p:nvSpPr>
          <p:cNvPr id="7" name="Text 5"/>
          <p:cNvSpPr/>
          <p:nvPr/>
        </p:nvSpPr>
        <p:spPr>
          <a:xfrm>
            <a:off x="1028343" y="2658071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ViT-B/16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4940379" y="2658071"/>
            <a:ext cx="279558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86 Million</a:t>
            </a:r>
            <a:endParaRPr lang="en-US" sz="1760" dirty="0"/>
          </a:p>
        </p:txBody>
      </p:sp>
      <p:sp>
        <p:nvSpPr>
          <p:cNvPr id="9" name="Text 7"/>
          <p:cNvSpPr/>
          <p:nvPr/>
        </p:nvSpPr>
        <p:spPr>
          <a:xfrm>
            <a:off x="8197215" y="2658070"/>
            <a:ext cx="5404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</a:t>
            </a: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"Gold Standard"</a:t>
            </a: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baseline for general research and benchmarking</a:t>
            </a:r>
            <a:endParaRPr lang="en-US" sz="1760" dirty="0"/>
          </a:p>
        </p:txBody>
      </p:sp>
      <p:sp>
        <p:nvSpPr>
          <p:cNvPr id="10" name="Text 8"/>
          <p:cNvSpPr/>
          <p:nvPr/>
        </p:nvSpPr>
        <p:spPr>
          <a:xfrm>
            <a:off x="1028343" y="3678912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ViT-L/16</a:t>
            </a:r>
            <a:endParaRPr lang="en-US" sz="1760" dirty="0"/>
          </a:p>
        </p:txBody>
      </p:sp>
      <p:sp>
        <p:nvSpPr>
          <p:cNvPr id="11" name="Text 9"/>
          <p:cNvSpPr/>
          <p:nvPr/>
        </p:nvSpPr>
        <p:spPr>
          <a:xfrm>
            <a:off x="4940379" y="3678912"/>
            <a:ext cx="279558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307 Million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8197215" y="3678912"/>
            <a:ext cx="5404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High-accuracy image classification for enterprise-grade tasks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1028343" y="4699754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SigLIP</a:t>
            </a:r>
            <a:endParaRPr lang="en-US" sz="1760" dirty="0"/>
          </a:p>
        </p:txBody>
      </p:sp>
      <p:sp>
        <p:nvSpPr>
          <p:cNvPr id="14" name="Text 12"/>
          <p:cNvSpPr/>
          <p:nvPr/>
        </p:nvSpPr>
        <p:spPr>
          <a:xfrm>
            <a:off x="4940379" y="4699754"/>
            <a:ext cx="279558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400 Million+</a:t>
            </a:r>
            <a:endParaRPr lang="en-US" sz="1760" dirty="0"/>
          </a:p>
        </p:txBody>
      </p:sp>
      <p:sp>
        <p:nvSpPr>
          <p:cNvPr id="15" name="Text 13"/>
          <p:cNvSpPr/>
          <p:nvPr/>
        </p:nvSpPr>
        <p:spPr>
          <a:xfrm>
            <a:off x="8197215" y="4699754"/>
            <a:ext cx="5404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Multimodal tasks</a:t>
            </a: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connecting images to natural language descriptions</a:t>
            </a:r>
            <a:endParaRPr lang="en-US" sz="1760" dirty="0"/>
          </a:p>
        </p:txBody>
      </p:sp>
      <p:sp>
        <p:nvSpPr>
          <p:cNvPr id="16" name="Text 14"/>
          <p:cNvSpPr/>
          <p:nvPr/>
        </p:nvSpPr>
        <p:spPr>
          <a:xfrm>
            <a:off x="1028343" y="5720595"/>
            <a:ext cx="3450789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ViT-22B</a:t>
            </a:r>
            <a:endParaRPr lang="en-US" sz="1760" dirty="0"/>
          </a:p>
        </p:txBody>
      </p:sp>
      <p:sp>
        <p:nvSpPr>
          <p:cNvPr id="17" name="Text 15"/>
          <p:cNvSpPr/>
          <p:nvPr/>
        </p:nvSpPr>
        <p:spPr>
          <a:xfrm>
            <a:off x="4940379" y="5720595"/>
            <a:ext cx="2795587" cy="362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 Billion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8197215" y="5720595"/>
            <a:ext cx="54049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State-of-the-art scaling with near </a:t>
            </a: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"human-like" shape perception</a:t>
            </a:r>
            <a:endParaRPr lang="en-US" sz="1760" dirty="0"/>
          </a:p>
        </p:txBody>
      </p:sp>
      <p:sp>
        <p:nvSpPr>
          <p:cNvPr id="19" name="Text 17"/>
          <p:cNvSpPr/>
          <p:nvPr/>
        </p:nvSpPr>
        <p:spPr>
          <a:xfrm>
            <a:off x="793791" y="685288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Parameter count scales directly with representational capacity — choose based on your compute budget and accuracy threshold.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80934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5486400" cy="82296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1990" y="601147"/>
            <a:ext cx="5270301" cy="70271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643" y="601622"/>
            <a:ext cx="7630715" cy="1418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20"/>
              </a:lnSpc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Future of Vision: Beyond Local Views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56643" y="2329458"/>
            <a:ext cx="7630715" cy="1351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ViTs are increasingly </a:t>
            </a:r>
            <a:r>
              <a:rPr lang="en-US" sz="168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outperforming CNNs</a:t>
            </a: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major benchmarks — especially when large datasets are available. CNNs remain valuable for constrained environments, but ViTs signal a fundamental </a:t>
            </a:r>
            <a:r>
              <a:rPr lang="en-US" sz="168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paradigm shift</a:t>
            </a: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from examining fragments to understanding the whole.</a:t>
            </a:r>
            <a:endParaRPr lang="en-US" sz="1680" dirty="0"/>
          </a:p>
        </p:txBody>
      </p:sp>
      <p:sp>
        <p:nvSpPr>
          <p:cNvPr id="6" name="Shape 3"/>
          <p:cNvSpPr/>
          <p:nvPr/>
        </p:nvSpPr>
        <p:spPr>
          <a:xfrm>
            <a:off x="756642" y="3912394"/>
            <a:ext cx="3712368" cy="1923693"/>
          </a:xfrm>
          <a:prstGeom prst="roundRect">
            <a:avLst>
              <a:gd name="adj" fmla="val 1686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972741" y="4128494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CNNs</a:t>
            </a:r>
            <a:endParaRPr lang="en-US" sz="2160" dirty="0"/>
          </a:p>
        </p:txBody>
      </p:sp>
      <p:sp>
        <p:nvSpPr>
          <p:cNvPr id="8" name="Text 5"/>
          <p:cNvSpPr/>
          <p:nvPr/>
        </p:nvSpPr>
        <p:spPr>
          <a:xfrm>
            <a:off x="972742" y="4606646"/>
            <a:ext cx="328017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Efficient, proven, excellent on smaller datasets and edge devices.</a:t>
            </a:r>
            <a:endParaRPr lang="en-US" sz="1680" dirty="0"/>
          </a:p>
        </p:txBody>
      </p:sp>
      <p:sp>
        <p:nvSpPr>
          <p:cNvPr id="9" name="Shape 6"/>
          <p:cNvSpPr/>
          <p:nvPr/>
        </p:nvSpPr>
        <p:spPr>
          <a:xfrm>
            <a:off x="4674989" y="3912394"/>
            <a:ext cx="3712368" cy="1923693"/>
          </a:xfrm>
          <a:prstGeom prst="roundRect">
            <a:avLst>
              <a:gd name="adj" fmla="val 1686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4891088" y="4128494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ViTs</a:t>
            </a:r>
            <a:endParaRPr lang="en-US" sz="2160" dirty="0"/>
          </a:p>
        </p:txBody>
      </p:sp>
      <p:sp>
        <p:nvSpPr>
          <p:cNvPr id="11" name="Text 8"/>
          <p:cNvSpPr/>
          <p:nvPr/>
        </p:nvSpPr>
        <p:spPr>
          <a:xfrm>
            <a:off x="4891089" y="4606646"/>
            <a:ext cx="328017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Scalable, context-aware, increasingly dominant on large-scale tasks.</a:t>
            </a:r>
            <a:endParaRPr lang="en-US" sz="1680" dirty="0"/>
          </a:p>
        </p:txBody>
      </p:sp>
      <p:sp>
        <p:nvSpPr>
          <p:cNvPr id="12" name="Shape 9"/>
          <p:cNvSpPr/>
          <p:nvPr/>
        </p:nvSpPr>
        <p:spPr>
          <a:xfrm>
            <a:off x="756643" y="6042065"/>
            <a:ext cx="7630715" cy="1585912"/>
          </a:xfrm>
          <a:prstGeom prst="roundRect">
            <a:avLst>
              <a:gd name="adj" fmla="val 2045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972741" y="6258164"/>
            <a:ext cx="2837498" cy="354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20"/>
              </a:lnSpc>
            </a:pPr>
            <a:r>
              <a:rPr lang="en-US" sz="216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Hybrid Models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972741" y="6736319"/>
            <a:ext cx="7198518" cy="67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40"/>
              </a:lnSpc>
            </a:pP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Emerging architectures combine both — local precision </a:t>
            </a:r>
            <a:r>
              <a:rPr lang="en-US" sz="168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and</a:t>
            </a:r>
            <a:r>
              <a:rPr lang="en-US" sz="168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global context.</a:t>
            </a:r>
            <a:endParaRPr lang="en-US" sz="1680" dirty="0"/>
          </a:p>
        </p:txBody>
      </p:sp>
    </p:spTree>
    <p:extLst>
      <p:ext uri="{BB962C8B-B14F-4D97-AF65-F5344CB8AC3E}">
        <p14:creationId xmlns:p14="http://schemas.microsoft.com/office/powerpoint/2010/main" val="2991457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1" y="1948101"/>
            <a:ext cx="5954197" cy="744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840"/>
              </a:lnSpc>
            </a:pPr>
            <a:r>
              <a:rPr lang="en-US" sz="464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40" dirty="0"/>
          </a:p>
        </p:txBody>
      </p:sp>
      <p:sp>
        <p:nvSpPr>
          <p:cNvPr id="3" name="Shape 1"/>
          <p:cNvSpPr/>
          <p:nvPr/>
        </p:nvSpPr>
        <p:spPr>
          <a:xfrm>
            <a:off x="793791" y="314599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3177898"/>
            <a:ext cx="357187" cy="4464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800"/>
              </a:lnSpc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7" y="3223856"/>
            <a:ext cx="342149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Global Attention Over Local Scanning</a:t>
            </a:r>
            <a:endParaRPr lang="en-US" sz="2320" dirty="0"/>
          </a:p>
        </p:txBody>
      </p:sp>
      <p:sp>
        <p:nvSpPr>
          <p:cNvPr id="6" name="Text 4"/>
          <p:cNvSpPr/>
          <p:nvPr/>
        </p:nvSpPr>
        <p:spPr>
          <a:xfrm>
            <a:off x="1530907" y="4104085"/>
            <a:ext cx="3421499" cy="217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 replaces convolutional filters with self-attention — enabling every patch to relate to every other patch from the very first layer, capturing richer semantic context.</a:t>
            </a:r>
            <a:endParaRPr lang="en-US" sz="1760" dirty="0"/>
          </a:p>
        </p:txBody>
      </p:sp>
      <p:sp>
        <p:nvSpPr>
          <p:cNvPr id="7" name="Shape 5"/>
          <p:cNvSpPr/>
          <p:nvPr/>
        </p:nvSpPr>
        <p:spPr>
          <a:xfrm>
            <a:off x="5235894" y="314599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12450" y="3177898"/>
            <a:ext cx="357187" cy="4464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800"/>
              </a:lnSpc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73009" y="3223856"/>
            <a:ext cx="334494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Stories, Not Just Textures</a:t>
            </a:r>
            <a:endParaRPr lang="en-US" sz="2320" dirty="0"/>
          </a:p>
        </p:txBody>
      </p:sp>
      <p:sp>
        <p:nvSpPr>
          <p:cNvPr id="10" name="Text 8"/>
          <p:cNvSpPr/>
          <p:nvPr/>
        </p:nvSpPr>
        <p:spPr>
          <a:xfrm>
            <a:off x="5973009" y="3732015"/>
            <a:ext cx="3421499" cy="21774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ViT understands the </a:t>
            </a:r>
            <a:r>
              <a:rPr lang="en-US" sz="176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narrative</a:t>
            </a: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of a scene — relationships between objects, actions, and signals — rather than cataloging pixels and local gradients in isolation.</a:t>
            </a:r>
            <a:endParaRPr lang="en-US" sz="1760" dirty="0"/>
          </a:p>
        </p:txBody>
      </p:sp>
      <p:sp>
        <p:nvSpPr>
          <p:cNvPr id="11" name="Shape 9"/>
          <p:cNvSpPr/>
          <p:nvPr/>
        </p:nvSpPr>
        <p:spPr>
          <a:xfrm>
            <a:off x="9677996" y="314599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54552" y="3177898"/>
            <a:ext cx="357187" cy="4464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ts val="2800"/>
              </a:lnSpc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415113" y="3223856"/>
            <a:ext cx="342149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Models are Your Shortcut</a:t>
            </a:r>
            <a:endParaRPr lang="en-US" sz="2320" dirty="0"/>
          </a:p>
        </p:txBody>
      </p:sp>
      <p:sp>
        <p:nvSpPr>
          <p:cNvPr id="14" name="Text 12"/>
          <p:cNvSpPr/>
          <p:nvPr/>
        </p:nvSpPr>
        <p:spPr>
          <a:xfrm>
            <a:off x="10415113" y="4104085"/>
            <a:ext cx="3421499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Google's open ViT checkpoints provide a scalable, production-ready foundation. Fine-tune for your domain — don't train from scratch unless you have to.</a:t>
            </a:r>
            <a:endParaRPr lang="en-US" sz="1760" dirty="0"/>
          </a:p>
        </p:txBody>
      </p:sp>
    </p:spTree>
    <p:extLst>
      <p:ext uri="{BB962C8B-B14F-4D97-AF65-F5344CB8AC3E}">
        <p14:creationId xmlns:p14="http://schemas.microsoft.com/office/powerpoint/2010/main" val="1723648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1132</Words>
  <Application>Microsoft Macintosh PowerPoint</Application>
  <PresentationFormat>Custom</PresentationFormat>
  <Paragraphs>130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PT Serif Light</vt:lpstr>
      <vt:lpstr>Calibri</vt:lpstr>
      <vt:lpstr>DM Sans</vt:lpstr>
      <vt:lpstr>Arial</vt:lpstr>
      <vt:lpstr>PT Serif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Vinayak Deshpande</cp:lastModifiedBy>
  <cp:revision>22</cp:revision>
  <dcterms:created xsi:type="dcterms:W3CDTF">2026-04-23T10:07:09Z</dcterms:created>
  <dcterms:modified xsi:type="dcterms:W3CDTF">2026-05-12T02:46:30Z</dcterms:modified>
</cp:coreProperties>
</file>