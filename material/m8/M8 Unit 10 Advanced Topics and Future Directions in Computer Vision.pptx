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6" r:id="rId3"/>
    <p:sldId id="257" r:id="rId4"/>
    <p:sldId id="258" r:id="rId5"/>
    <p:sldId id="259" r:id="rId6"/>
    <p:sldId id="278" r:id="rId7"/>
    <p:sldId id="260" r:id="rId8"/>
    <p:sldId id="266" r:id="rId9"/>
    <p:sldId id="262" r:id="rId10"/>
    <p:sldId id="263" r:id="rId11"/>
    <p:sldId id="279" r:id="rId12"/>
    <p:sldId id="267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" pitchFamily="2" charset="77"/>
      <p:regular r:id="rId19"/>
    </p:embeddedFont>
    <p:embeddedFont>
      <p:font typeface="PT Serif" panose="020A0603040505020204" pitchFamily="18" charset="77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31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1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43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79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98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89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3898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Topics &amp; Future Directions in Computer Vision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5560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Exploring the next generation of learning paradigms — from unlabeled data to multimodal reasoning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8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Challenge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Unlabeled Learning</a:t>
            </a: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525923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Few-Shot Learning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3790" y="549122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3790" y="591962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6060318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Vision + Language Models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44288" y="546339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90438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6042614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Likely Shift in Near Future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602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63310" y="59428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Challenge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63310" y="155964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computer vision has achieved remarkable milestones — yet most state-of-the-art systems remain fundamentally dependent on large volumes of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manually labeled training data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bottleneck is costly, time-consuming, and difficult to scale across domains.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3790" y="3627477"/>
            <a:ext cx="4196358" cy="3935135"/>
          </a:xfrm>
          <a:prstGeom prst="roundRect">
            <a:avLst>
              <a:gd name="adj" fmla="val 371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310" y="3627477"/>
            <a:ext cx="121920" cy="3935135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1142524" y="38847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Annotation Overhead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42524" y="4392930"/>
            <a:ext cx="35903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Labeling datasets at scale requires significant human effort, domain expertise, and ongoing quality control — creating substantial barriers to entry for resource-constrained research settings.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16962" y="3627477"/>
            <a:ext cx="4196358" cy="3935135"/>
          </a:xfrm>
          <a:prstGeom prst="roundRect">
            <a:avLst>
              <a:gd name="adj" fmla="val 371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6482" y="3627477"/>
            <a:ext cx="121920" cy="3935135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5565696" y="3884771"/>
            <a:ext cx="35903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Limited Real-World Adaptability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65696" y="4765000"/>
            <a:ext cx="35903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Supervised models generalize poorly beyond their training distribution. Deployment in dynamic, open-world environments exposes brittleness that annotation alone cannot resolve.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640133" y="3627477"/>
            <a:ext cx="4196358" cy="3935135"/>
          </a:xfrm>
          <a:prstGeom prst="roundRect">
            <a:avLst>
              <a:gd name="adj" fmla="val 3718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9653" y="3627477"/>
            <a:ext cx="121920" cy="3935135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9988868" y="38847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Path Forward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988868" y="4392930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Addressing these limitations requires a fundamental rethinking of how vision systems acquire, structure, and transfer knowledge — motivating the three paradigm shifts ahead.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964186"/>
            <a:ext cx="1249977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Major Paradigm Shifts Shaping the Near Future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22733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field is converging on three transformative directions that collectively move computer vision beyond its supervised learning foundations.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64136"/>
            <a:ext cx="4347567" cy="907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698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Unlabeled Learning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20604" y="5206365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Self-supervised and unsupervised techniques that extract rich representations directly from raw, unannotated visual data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564136"/>
            <a:ext cx="4347567" cy="9072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698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Few-Shot Learning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5368171" y="5206365"/>
            <a:ext cx="389393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Meta-learning and transfer strategies that enable rapid adaptation from minimal labeled examples by leveraging prior knowledge</a:t>
            </a:r>
            <a:endParaRPr lang="en-US" sz="1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564136"/>
            <a:ext cx="4347567" cy="9072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5738" y="4698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Vision + Language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715738" y="5206365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Multimodal architectures that jointly ground visual perception in natural language, enabling richer reasoning and explainability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1407" y="694070"/>
            <a:ext cx="5861090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Unlabeled Learning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81407" y="2445306"/>
            <a:ext cx="6261497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Self-supervised learning reframes the supervision signal itself. Rather than relying on human-assigned labels, these methods construct </a:t>
            </a:r>
            <a:r>
              <a:rPr lang="en-US" sz="1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pretext tasks</a:t>
            </a: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predicting masked patches, rotations, contrastive pairs, or temporal relationships — directly from the raw image signal.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81407" y="5492682"/>
            <a:ext cx="626149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Landmark architectures such as </a:t>
            </a:r>
            <a:r>
              <a:rPr lang="en-US" sz="1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SimCLR, MoCo, DINO, and MAE</a:t>
            </a: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have demonstrated that representations learned without any annotation can match or exceed those trained with full supervision on downstream benchmarks.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595116" y="2509957"/>
            <a:ext cx="3020854" cy="2816066"/>
          </a:xfrm>
          <a:prstGeom prst="roundRect">
            <a:avLst>
              <a:gd name="adj" fmla="val 118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7818358" y="2733199"/>
            <a:ext cx="2574369" cy="73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Self-Supervised Pretext Tasks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818358" y="3685461"/>
            <a:ext cx="257436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Masked autoencoders, contrastive objectives, and predictive coding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835759" y="2509957"/>
            <a:ext cx="3020854" cy="2816066"/>
          </a:xfrm>
          <a:prstGeom prst="roundRect">
            <a:avLst>
              <a:gd name="adj" fmla="val 118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1059001" y="2733199"/>
            <a:ext cx="2574369" cy="73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Representation Quality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1059001" y="3685461"/>
            <a:ext cx="25743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Transferable, semantically rich embeddings from raw pixels alone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595116" y="5545812"/>
            <a:ext cx="6261497" cy="1741170"/>
          </a:xfrm>
          <a:prstGeom prst="roundRect">
            <a:avLst>
              <a:gd name="adj" fmla="val 1924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358" y="5769054"/>
            <a:ext cx="3393877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Zero Annotation Required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818358" y="6355080"/>
            <a:ext cx="581501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manual labeling pipeline — training is driven entirely by data structure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1407" y="694070"/>
            <a:ext cx="5861090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Unlabeled Learning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818358" y="2733199"/>
            <a:ext cx="2574369" cy="73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818358" y="3685461"/>
            <a:ext cx="257436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59001" y="3685461"/>
            <a:ext cx="25743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126" y="1541839"/>
            <a:ext cx="6217920" cy="508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3760" y="6840692"/>
            <a:ext cx="1302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DM Sans" panose="020B0604020202020204" charset="0"/>
              </a:rPr>
              <a:t>By solving these puzzles over millions of images, the model is forced to understand shapes, textures, and visual structure. When later given labeled data for a specific task (like detecting tumors or classifying objects), it already has a head start.</a:t>
            </a:r>
          </a:p>
        </p:txBody>
      </p:sp>
    </p:spTree>
    <p:extLst>
      <p:ext uri="{BB962C8B-B14F-4D97-AF65-F5344CB8AC3E}">
        <p14:creationId xmlns:p14="http://schemas.microsoft.com/office/powerpoint/2010/main" val="101683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93790" y="1310961"/>
            <a:ext cx="87052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Unlabeled Learning Matters</a:t>
            </a:r>
            <a:endParaRPr lang="en-US" sz="4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55037"/>
            <a:ext cx="566976" cy="5669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3790" y="4005501"/>
            <a:ext cx="329672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Scales with Massive Data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93790" y="4513659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Unlabeled images are abundant on the internet and in organizational archives. Self-supervised methods exploit this resource directly, enabling training on orders of magnitude more data than labeled corpora permit.</a:t>
            </a:r>
            <a:endParaRPr lang="en-US" sz="1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3155037"/>
            <a:ext cx="566976" cy="5669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5893" y="4005501"/>
            <a:ext cx="332827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Reduces Annotation Cost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235893" y="4513659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Eliminating or dramatically reducing manual labeling lowers the barrier to building high-quality vision models — making advanced CV accessible to smaller teams and specialized domains.</a:t>
            </a:r>
            <a:endParaRPr lang="en-US" sz="1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155037"/>
            <a:ext cx="566976" cy="5669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77995" y="4005501"/>
            <a:ext cx="396859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&amp; Remote Sensing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9677995" y="4513659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radiology and satellite imaging, labeled data is scarce and expensive. Self-supervised pretraining on large unlabeled archives delivers strong initialization for downstream diagnostic and geospatial tasks.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4259" y="701461"/>
            <a:ext cx="5501795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Few-Shot Learning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44260" y="2887028"/>
            <a:ext cx="4262438" cy="2884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Few-shot learning operationalizes a defining feature of human cognition: the ability to recognize a new visual concept from one or two examples, by leveraging structured prior knowledge rather than brute-force statistics.</a:t>
            </a:r>
            <a:endParaRPr lang="en-US" sz="20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8373E3-DC1C-B543-B7D9-F24BE2934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55" y="391338"/>
            <a:ext cx="7934179" cy="723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0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93790" y="1266468"/>
            <a:ext cx="855940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Few-Shot Learning Matters</a:t>
            </a:r>
            <a:endParaRPr lang="en-US" sz="4650" dirty="0"/>
          </a:p>
        </p:txBody>
      </p:sp>
      <p:sp>
        <p:nvSpPr>
          <p:cNvPr id="7" name="Shape 5"/>
          <p:cNvSpPr/>
          <p:nvPr/>
        </p:nvSpPr>
        <p:spPr>
          <a:xfrm>
            <a:off x="793790" y="2350889"/>
            <a:ext cx="4196358" cy="5144333"/>
          </a:xfrm>
          <a:prstGeom prst="roundRect">
            <a:avLst>
              <a:gd name="adj" fmla="val 811"/>
            </a:avLst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1020604" y="25777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764750"/>
            <a:ext cx="306110" cy="3061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0604" y="3484959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Handles Rare &amp; Novel Classes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20604" y="4365188"/>
            <a:ext cx="374273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domains where certain categories are inherently rare — emerging disease subtypes, uncommon manufacturing defects — few-shot methods enable recognition without waiting for large annotated datasets to accumulate.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216962" y="2350889"/>
            <a:ext cx="4196358" cy="5144333"/>
          </a:xfrm>
          <a:prstGeom prst="roundRect">
            <a:avLst>
              <a:gd name="adj" fmla="val 811"/>
            </a:avLst>
          </a:prstGeom>
          <a:solidFill>
            <a:srgbClr val="F2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43776" y="25777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942" y="2764750"/>
            <a:ext cx="306110" cy="3061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3776" y="3484959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&amp; Fraud Detection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5443776" y="4365188"/>
            <a:ext cx="37427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imaging and financial fraud present severe class imbalance and sparse positive examples. Few-shot frameworks provide principled mechanisms to build effective classifiers under these constraints.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640133" y="2350889"/>
            <a:ext cx="4196358" cy="5144333"/>
          </a:xfrm>
          <a:prstGeom prst="roundRect">
            <a:avLst>
              <a:gd name="adj" fmla="val 811"/>
            </a:avLst>
          </a:prstGeom>
          <a:solidFill>
            <a:srgbClr val="F2EEEE"/>
          </a:solidFill>
          <a:ln/>
        </p:spPr>
      </p:sp>
      <p:sp>
        <p:nvSpPr>
          <p:cNvPr id="18" name="Shape 14"/>
          <p:cNvSpPr/>
          <p:nvPr/>
        </p:nvSpPr>
        <p:spPr>
          <a:xfrm>
            <a:off x="9866948" y="25777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764750"/>
            <a:ext cx="306110" cy="3061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66948" y="3484959"/>
            <a:ext cx="36835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Human-Like Generalization</a:t>
            </a:r>
            <a:endParaRPr lang="en-US" sz="2300" dirty="0"/>
          </a:p>
        </p:txBody>
      </p:sp>
      <p:sp>
        <p:nvSpPr>
          <p:cNvPr id="21" name="Text 16"/>
          <p:cNvSpPr/>
          <p:nvPr/>
        </p:nvSpPr>
        <p:spPr>
          <a:xfrm>
            <a:off x="9866948" y="3993118"/>
            <a:ext cx="37427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separating task-specific learning from meta-level learning, these systems exhibit a more cognitive, flexible form of intelligence — adapting to new visual concepts with minimal supervision.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26955" y="500890"/>
            <a:ext cx="7203877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Vision + Language: Multimodal AI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1130664" y="1342148"/>
            <a:ext cx="12471916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convergence of visual perception and natural language processing represents one of the most consequential developments in contemporary AI. Models such as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CLIP, ALIGN, Flamingo, and GPT-4V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jointly encode images and text within a shared semantic space, enabling grounded, cross-modal understanding.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599" y="2662357"/>
            <a:ext cx="7325082" cy="434744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6531" y="3724945"/>
            <a:ext cx="623576" cy="6235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50964" y="5624320"/>
            <a:ext cx="1820843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Language-Guided Reasoning</a:t>
            </a:r>
            <a:endParaRPr lang="en-US" sz="2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3656" y="3726114"/>
            <a:ext cx="623576" cy="6235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56201" y="5808471"/>
            <a:ext cx="182084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Cross-Modal Alignment</a:t>
            </a:r>
            <a:endParaRPr lang="en-US" sz="2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8894" y="3726114"/>
            <a:ext cx="623576" cy="6235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24025" y="5808471"/>
            <a:ext cx="182084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 Encoding</a:t>
            </a:r>
            <a:endParaRPr lang="en-US" sz="2300" dirty="0"/>
          </a:p>
        </p:txBody>
      </p:sp>
      <p:sp>
        <p:nvSpPr>
          <p:cNvPr id="13" name="Text 7"/>
          <p:cNvSpPr/>
          <p:nvPr/>
        </p:nvSpPr>
        <p:spPr>
          <a:xfrm>
            <a:off x="1079183" y="7171730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architecture enables zero-shot transfer, open-vocabulary detection, visual question answering, and language-conditioned generation — capabilities unavailable to unimodal vision systems.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3232" y="220980"/>
            <a:ext cx="7203877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Vision + Language: Multimodal AI</a:t>
            </a:r>
            <a:endParaRPr lang="en-US" sz="3700" dirty="0"/>
          </a:p>
        </p:txBody>
      </p:sp>
      <p:sp>
        <p:nvSpPr>
          <p:cNvPr id="13" name="Text 7"/>
          <p:cNvSpPr/>
          <p:nvPr/>
        </p:nvSpPr>
        <p:spPr>
          <a:xfrm>
            <a:off x="1084752" y="6906788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latin typeface="DM Sans" panose="020B0604020202020204" charset="0"/>
              </a:rPr>
              <a:t>Vision + Language Multimodal AI</a:t>
            </a:r>
            <a:r>
              <a:rPr lang="en-US" dirty="0">
                <a:latin typeface="DM Sans" panose="020B0604020202020204" charset="0"/>
              </a:rPr>
              <a:t> encodes images and text into a shared semantic space, so matching pairs — like a photo of a cat and the phrase "a cat" — land close together as vectors. This alignment enables powerful cross-modal capabilities: visual question answering, zero-shot classification, and image captioning, without needing separate systems for vision and language.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351" y="995680"/>
            <a:ext cx="7709095" cy="52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3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0934" y="605222"/>
            <a:ext cx="400050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162" y="1686758"/>
            <a:ext cx="7092077" cy="53306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5627" y="4226236"/>
            <a:ext cx="1293392" cy="62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Future of Vision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600457" y="5484795"/>
            <a:ext cx="1924150" cy="6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Few-Shot Learning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600457" y="6189983"/>
            <a:ext cx="1924150" cy="3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Meta-learning, efficient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89359" y="5484795"/>
            <a:ext cx="1924150" cy="6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Vision + Language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089359" y="6189983"/>
            <a:ext cx="1924150" cy="3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Multimodal, explainable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318619" y="1988431"/>
            <a:ext cx="1976727" cy="62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Unlabeled Learning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318619" y="2693619"/>
            <a:ext cx="1976727" cy="3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Self-supervised, scalable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998953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845</Words>
  <Application>Microsoft Macintosh PowerPoint</Application>
  <PresentationFormat>Custom</PresentationFormat>
  <Paragraphs>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PT Serif Light</vt:lpstr>
      <vt:lpstr>Calibri</vt:lpstr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18</cp:revision>
  <dcterms:created xsi:type="dcterms:W3CDTF">2026-04-17T10:50:51Z</dcterms:created>
  <dcterms:modified xsi:type="dcterms:W3CDTF">2026-04-20T11:47:48Z</dcterms:modified>
</cp:coreProperties>
</file>