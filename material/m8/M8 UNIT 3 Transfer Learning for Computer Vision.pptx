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4630400" cy="8229600"/>
  <p:notesSz cx="8229600" cy="14630400"/>
  <p:embeddedFontLs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DM Sans" pitchFamily="2" charset="77"/>
      <p:regular r:id="rId24"/>
      <p:bold r:id="rId25"/>
    </p:embeddedFont>
    <p:embeddedFont>
      <p:font typeface="PT Serif" panose="020A0603040505020204" pitchFamily="18" charset="77"/>
      <p:regular r:id="rId26"/>
      <p: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985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735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Relationship Id="rId9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49673"/>
            <a:ext cx="13042821" cy="2054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050"/>
              </a:lnSpc>
              <a:buNone/>
            </a:pPr>
            <a:r>
              <a:rPr lang="en-US" sz="4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Transfer Learning in Computer Vision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34467" y="395398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Transfer learning is one of the most practical and widely used techniques in modern computer vision — enabling high-performing models without massive datasets or extreme compute budgets.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1435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19932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B060402020202020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>
              <a:latin typeface="PT Serif" panose="020B06040202020202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554367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793849" y="265640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900"/>
              </a:lnSpc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Do We Need Transfer Learning?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28548" y="219932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B060402020202020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>
              <a:latin typeface="PT Serif" panose="020B060402020202020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428548" y="2554367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793790" y="399657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B060402020202020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>
              <a:latin typeface="PT Serif" panose="020B06040202020202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3790" y="4351615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2" name="Text 10"/>
          <p:cNvSpPr/>
          <p:nvPr/>
        </p:nvSpPr>
        <p:spPr>
          <a:xfrm>
            <a:off x="793790" y="4525923"/>
            <a:ext cx="457140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</a:t>
            </a: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Typical Workflow</a:t>
            </a:r>
            <a:endParaRPr lang="en-US" sz="2400" dirty="0"/>
          </a:p>
          <a:p>
            <a:pPr marL="0" indent="0" algn="l">
              <a:lnSpc>
                <a:spcPts val="2900"/>
              </a:lnSpc>
              <a:buNone/>
            </a:pP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428548" y="399657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B060402020202020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>
              <a:latin typeface="PT Serif" panose="020B06040202020202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428548" y="4351615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7428548" y="4525923"/>
            <a:ext cx="569999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Popular Pre-Trained Models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93790" y="529482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5649873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793790" y="5824180"/>
            <a:ext cx="587966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Comparison of Pre-Trained Models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428548" y="529482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" panose="020B0604020202020204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>
              <a:latin typeface="PT Serif" panose="020B060402020202020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28548" y="5649873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824180"/>
            <a:ext cx="425219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240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F9B1597F-6088-ED47-BCF3-2426CD5CD6E2}"/>
              </a:ext>
            </a:extLst>
          </p:cNvPr>
          <p:cNvSpPr/>
          <p:nvPr/>
        </p:nvSpPr>
        <p:spPr>
          <a:xfrm>
            <a:off x="7428548" y="279320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2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Transfer Learning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63451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81908"/>
            <a:ext cx="971073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Do We Need Transfer Learning?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17979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Training deep learning models from scratch is often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impractical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 real-world settings. The barriers are both computational and data-driven.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93790" y="3160752"/>
            <a:ext cx="6407944" cy="2111454"/>
          </a:xfrm>
          <a:prstGeom prst="roundRect">
            <a:avLst>
              <a:gd name="adj" fmla="val 692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160752"/>
            <a:ext cx="121920" cy="2111454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341804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Requirements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42524" y="3926205"/>
            <a:ext cx="58019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Millions of labeled images are needed for stable convergence — a bar most domains simply cannot meet.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428548" y="3160752"/>
            <a:ext cx="6408063" cy="2111454"/>
          </a:xfrm>
          <a:prstGeom prst="roundRect">
            <a:avLst>
              <a:gd name="adj" fmla="val 692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8067" y="3160752"/>
            <a:ext cx="121920" cy="2111454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7777282" y="341804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Compute Cost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777282" y="3926205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Training large CNNs from scratch demands weeks of GPU time and significant infrastructure investment.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93790" y="5499021"/>
            <a:ext cx="6407944" cy="1748552"/>
          </a:xfrm>
          <a:prstGeom prst="roundRect">
            <a:avLst>
              <a:gd name="adj" fmla="val 836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310" y="5499021"/>
            <a:ext cx="121920" cy="1748552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2524" y="575631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Limited Domains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142524" y="6264473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Medical imaging, satellite data, and industrial inspection all suffer from scarce labeled datasets.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428548" y="5499021"/>
            <a:ext cx="6408063" cy="1748552"/>
          </a:xfrm>
          <a:prstGeom prst="roundRect">
            <a:avLst>
              <a:gd name="adj" fmla="val 836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98067" y="5499021"/>
            <a:ext cx="121920" cy="1748552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7282" y="575631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Gap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7777282" y="6264473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clear gap exists between theoretically powerful models and what is realistically deployable.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25654"/>
            <a:ext cx="717708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Transfer Learning?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714149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Transfer learning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the process of reusing knowledge acquired from one problem and applying it to a related problem — instead of starting from zero.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93790" y="4058007"/>
            <a:ext cx="6244709" cy="2052518"/>
          </a:xfrm>
          <a:prstGeom prst="roundRect">
            <a:avLst>
              <a:gd name="adj" fmla="val 1658"/>
            </a:avLst>
          </a:prstGeom>
          <a:solidFill>
            <a:srgbClr val="B6D6F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4402098"/>
            <a:ext cx="283488" cy="2268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0906" y="4341495"/>
            <a:ext cx="528077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model trained on ImageNet has already learned edges, textures, shapes, and object structures. These features generalize broadly across vision tasks.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7599521" y="2765227"/>
            <a:ext cx="3008948" cy="1778318"/>
          </a:xfrm>
          <a:prstGeom prst="roundRect">
            <a:avLst>
              <a:gd name="adj" fmla="val 1913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7826335" y="2992041"/>
            <a:ext cx="255531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Edges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7826335" y="3590925"/>
            <a:ext cx="25553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Low-level boundaries and gradients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10835283" y="2765227"/>
            <a:ext cx="3008948" cy="1778318"/>
          </a:xfrm>
          <a:prstGeom prst="roundRect">
            <a:avLst>
              <a:gd name="adj" fmla="val 1913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11062097" y="2992041"/>
            <a:ext cx="255531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Textures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11062097" y="3590925"/>
            <a:ext cx="25553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Patterns and surface detail</a:t>
            </a: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7599521" y="4770358"/>
            <a:ext cx="3008948" cy="1778318"/>
          </a:xfrm>
          <a:prstGeom prst="roundRect">
            <a:avLst>
              <a:gd name="adj" fmla="val 1913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7826335" y="4997172"/>
            <a:ext cx="255531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Shapes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7826335" y="5596057"/>
            <a:ext cx="25553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Mid-level spatial structure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10835283" y="4770358"/>
            <a:ext cx="3008948" cy="1778318"/>
          </a:xfrm>
          <a:prstGeom prst="roundRect">
            <a:avLst>
              <a:gd name="adj" fmla="val 1913"/>
            </a:avLst>
          </a:prstGeom>
          <a:solidFill>
            <a:srgbClr val="F2EEEE"/>
          </a:solidFill>
          <a:ln/>
        </p:spPr>
      </p:sp>
      <p:sp>
        <p:nvSpPr>
          <p:cNvPr id="17" name="Text 14"/>
          <p:cNvSpPr/>
          <p:nvPr/>
        </p:nvSpPr>
        <p:spPr>
          <a:xfrm>
            <a:off x="11062097" y="4997172"/>
            <a:ext cx="255531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Objects</a:t>
            </a:r>
            <a:endParaRPr lang="en-US" sz="2300" dirty="0"/>
          </a:p>
        </p:txBody>
      </p:sp>
      <p:sp>
        <p:nvSpPr>
          <p:cNvPr id="18" name="Text 15"/>
          <p:cNvSpPr/>
          <p:nvPr/>
        </p:nvSpPr>
        <p:spPr>
          <a:xfrm>
            <a:off x="11062097" y="5596057"/>
            <a:ext cx="25553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High-level semantic representations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46014" y="521494"/>
            <a:ext cx="8848011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It Works: Hierarchical Feature Learning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1446014" y="1334810"/>
            <a:ext cx="1173825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neural networks learn visual information in a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layered hierarchy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from primitive signals to complex semantics.</a:t>
            </a: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014" y="1716405"/>
            <a:ext cx="11738253" cy="53719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44345" y="2421615"/>
            <a:ext cx="2726466" cy="340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Early Layers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044345" y="2854748"/>
            <a:ext cx="2862068" cy="45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 edges, gradients, and simple patterns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723574" y="4187326"/>
            <a:ext cx="2631257" cy="340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Middle Layers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723574" y="4620459"/>
            <a:ext cx="2631257" cy="45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7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Represent shapes, textures, and parts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0044345" y="5099033"/>
            <a:ext cx="2726466" cy="340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Final Layers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10044345" y="5532167"/>
            <a:ext cx="2862068" cy="45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 task-specific objects and semantics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446014" y="7231856"/>
            <a:ext cx="1173825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Because early and mid-level features are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universal across tasks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they can be reused directly — eliminating the need to relearn them on every new dataset.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05057"/>
            <a:ext cx="13042821" cy="3081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050"/>
              </a:lnSpc>
              <a:buNone/>
            </a:pPr>
            <a:r>
              <a:rPr lang="en-US" sz="360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Visual features are consistent.</a:t>
            </a:r>
          </a:p>
          <a:p>
            <a:pPr marL="0" indent="0" algn="ctr">
              <a:lnSpc>
                <a:spcPts val="805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That is why transfer learning works so well</a:t>
            </a:r>
            <a:r>
              <a:rPr lang="en-US" sz="6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.</a:t>
            </a:r>
            <a:endParaRPr lang="en-US" sz="6450" dirty="0"/>
          </a:p>
        </p:txBody>
      </p:sp>
      <p:sp>
        <p:nvSpPr>
          <p:cNvPr id="3" name="Shape 1"/>
          <p:cNvSpPr/>
          <p:nvPr/>
        </p:nvSpPr>
        <p:spPr>
          <a:xfrm>
            <a:off x="763310" y="4939784"/>
            <a:ext cx="4219575" cy="609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4" name="Text 2"/>
          <p:cNvSpPr/>
          <p:nvPr/>
        </p:nvSpPr>
        <p:spPr>
          <a:xfrm>
            <a:off x="793790" y="5227558"/>
            <a:ext cx="357401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Cross-Domain Consistency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3790" y="5735717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Natural images — regardless of subject — share structural similarities at the low level.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205413" y="4939784"/>
            <a:ext cx="4219575" cy="609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7" name="Text 5"/>
          <p:cNvSpPr/>
          <p:nvPr/>
        </p:nvSpPr>
        <p:spPr>
          <a:xfrm>
            <a:off x="5235893" y="5227558"/>
            <a:ext cx="340173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Surprising Generalization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235893" y="5735717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Even dissimilar tasks — classifying cats vs. detecting tumors — share foundational low-level patterns.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9647515" y="4939784"/>
            <a:ext cx="4219575" cy="609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9677995" y="522755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Pre-trained CNNs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9677995" y="5735717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makes pre-trained convolutional networks highly reusable across nearly any vision domain.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8170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Typical Workflow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4795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Applying transfer learning follows a clear, repeatable pattern regardless of architecture or domain.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855262" y="6284535"/>
            <a:ext cx="13042821" cy="1326713"/>
          </a:xfrm>
          <a:prstGeom prst="roundRect">
            <a:avLst>
              <a:gd name="adj" fmla="val 2565"/>
            </a:avLst>
          </a:prstGeom>
          <a:solidFill>
            <a:srgbClr val="FFCDB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340" y="6721076"/>
            <a:ext cx="283488" cy="2268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30906" y="6584988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Optionally: unfreeze deeper layers and fine-tune with a smaller learning rate for improved performance on sufficient data.</a:t>
            </a:r>
            <a:endParaRPr lang="en-US" sz="1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78AE25-E6F5-A96E-1A43-4AC142518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219" y="3103349"/>
            <a:ext cx="11622849" cy="28056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0436" y="1175504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Two Main Strategies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630436" y="2704743"/>
            <a:ext cx="6571417" cy="2322552"/>
          </a:xfrm>
          <a:prstGeom prst="roundRect">
            <a:avLst>
              <a:gd name="adj" fmla="val 146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/>
          <p:nvPr/>
        </p:nvSpPr>
        <p:spPr>
          <a:xfrm>
            <a:off x="857250" y="293155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Feature Extraction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57250" y="3530441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Freeze most layers. Use the pre-trained model as a </a:t>
            </a:r>
            <a:r>
              <a:rPr lang="en-US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fixed feature generator</a:t>
            </a: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Train only the final classification layer.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57250" y="4460319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 </a:t>
            </a:r>
            <a:r>
              <a:rPr lang="en-US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Faster. Requires less data.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599521" y="293155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Fine-Tuning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599521" y="3530441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Unfreeze some top layers. Retrain with a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smaller learning rate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allow gradual adaptation to the new domain.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599521" y="446031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→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More accurate when data is sufficient.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66976" y="5284561"/>
            <a:ext cx="13042821" cy="1326713"/>
          </a:xfrm>
          <a:prstGeom prst="roundRect">
            <a:avLst>
              <a:gd name="adj" fmla="val 2565"/>
            </a:avLst>
          </a:prstGeom>
          <a:solidFill>
            <a:srgbClr val="B6D6FC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626537"/>
            <a:ext cx="283488" cy="22681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30906" y="5565934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Rule of thumb: Start with feature extraction. Move to fine-tuning when you have enough labeled data and want higher accuracy</a:t>
            </a: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6642" y="618053"/>
            <a:ext cx="7353062" cy="709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Benefits of Transfer Learning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6642" y="1739503"/>
            <a:ext cx="6455569" cy="2102644"/>
          </a:xfrm>
          <a:prstGeom prst="roundRect">
            <a:avLst>
              <a:gd name="adj" fmla="val 1542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972741" y="1955602"/>
            <a:ext cx="648533" cy="648533"/>
          </a:xfrm>
          <a:prstGeom prst="roundRect">
            <a:avLst>
              <a:gd name="adj" fmla="val 14098104"/>
            </a:avLst>
          </a:prstGeom>
          <a:solidFill>
            <a:srgbClr val="E04F0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1096" y="2133838"/>
            <a:ext cx="291822" cy="2918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2741" y="2810113"/>
            <a:ext cx="2837498" cy="354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Small Data Friendly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72741" y="3288268"/>
            <a:ext cx="602337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Performs well even with limited labeled examples.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7418189" y="1739503"/>
            <a:ext cx="6455569" cy="2102644"/>
          </a:xfrm>
          <a:prstGeom prst="roundRect">
            <a:avLst>
              <a:gd name="adj" fmla="val 1542"/>
            </a:avLst>
          </a:prstGeom>
          <a:solidFill>
            <a:srgbClr val="F2EEEE"/>
          </a:solidFill>
          <a:ln/>
        </p:spPr>
      </p:sp>
      <p:sp>
        <p:nvSpPr>
          <p:cNvPr id="9" name="Shape 6"/>
          <p:cNvSpPr/>
          <p:nvPr/>
        </p:nvSpPr>
        <p:spPr>
          <a:xfrm>
            <a:off x="7634288" y="1955602"/>
            <a:ext cx="648533" cy="648533"/>
          </a:xfrm>
          <a:prstGeom prst="roundRect">
            <a:avLst>
              <a:gd name="adj" fmla="val 14098104"/>
            </a:avLst>
          </a:prstGeom>
          <a:solidFill>
            <a:srgbClr val="E04F0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12643" y="2133838"/>
            <a:ext cx="291822" cy="29182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34288" y="2810113"/>
            <a:ext cx="2837498" cy="354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Faster Training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34288" y="3288268"/>
            <a:ext cx="602337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Dramatically reduces time to convergence.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756642" y="4048125"/>
            <a:ext cx="6455569" cy="2440424"/>
          </a:xfrm>
          <a:prstGeom prst="roundRect">
            <a:avLst>
              <a:gd name="adj" fmla="val 1329"/>
            </a:avLst>
          </a:prstGeom>
          <a:solidFill>
            <a:srgbClr val="F2EEEE"/>
          </a:solidFill>
          <a:ln/>
        </p:spPr>
      </p:sp>
      <p:sp>
        <p:nvSpPr>
          <p:cNvPr id="14" name="Shape 10"/>
          <p:cNvSpPr/>
          <p:nvPr/>
        </p:nvSpPr>
        <p:spPr>
          <a:xfrm>
            <a:off x="972741" y="4264223"/>
            <a:ext cx="648533" cy="648533"/>
          </a:xfrm>
          <a:prstGeom prst="roundRect">
            <a:avLst>
              <a:gd name="adj" fmla="val 14098104"/>
            </a:avLst>
          </a:prstGeom>
          <a:solidFill>
            <a:srgbClr val="E04F0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1096" y="4442460"/>
            <a:ext cx="291822" cy="29182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72741" y="5118735"/>
            <a:ext cx="2837498" cy="354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Better Generalization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72741" y="5596890"/>
            <a:ext cx="602337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Pre-trained weights reduce overfitting risk.</a:t>
            </a: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7418189" y="4048125"/>
            <a:ext cx="6455569" cy="2440424"/>
          </a:xfrm>
          <a:prstGeom prst="roundRect">
            <a:avLst>
              <a:gd name="adj" fmla="val 1329"/>
            </a:avLst>
          </a:prstGeom>
          <a:solidFill>
            <a:srgbClr val="F2EEEE"/>
          </a:solidFill>
          <a:ln/>
        </p:spPr>
      </p:sp>
      <p:sp>
        <p:nvSpPr>
          <p:cNvPr id="19" name="Shape 14"/>
          <p:cNvSpPr/>
          <p:nvPr/>
        </p:nvSpPr>
        <p:spPr>
          <a:xfrm>
            <a:off x="7634288" y="4264223"/>
            <a:ext cx="648533" cy="648533"/>
          </a:xfrm>
          <a:prstGeom prst="roundRect">
            <a:avLst>
              <a:gd name="adj" fmla="val 14098104"/>
            </a:avLst>
          </a:prstGeom>
          <a:solidFill>
            <a:srgbClr val="E04F00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12643" y="4442460"/>
            <a:ext cx="291822" cy="29182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34288" y="5118735"/>
            <a:ext cx="2837498" cy="354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Lower Compute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34288" y="5596890"/>
            <a:ext cx="6023372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Far fewer GPU resources required than training from scratch.</a:t>
            </a:r>
            <a:endParaRPr lang="en-US" dirty="0"/>
          </a:p>
        </p:txBody>
      </p:sp>
      <p:sp>
        <p:nvSpPr>
          <p:cNvPr id="23" name="Shape 17"/>
          <p:cNvSpPr/>
          <p:nvPr/>
        </p:nvSpPr>
        <p:spPr>
          <a:xfrm>
            <a:off x="756642" y="6720364"/>
            <a:ext cx="13117116" cy="891064"/>
          </a:xfrm>
          <a:prstGeom prst="roundRect">
            <a:avLst>
              <a:gd name="adj" fmla="val 3639"/>
            </a:avLst>
          </a:prstGeom>
          <a:solidFill>
            <a:srgbClr val="B6FCB8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2741" y="7037427"/>
            <a:ext cx="270153" cy="21609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458992" y="6980277"/>
            <a:ext cx="12198668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practice, transfer learning is now the </a:t>
            </a:r>
            <a:r>
              <a:rPr lang="en-US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default approach</a:t>
            </a: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the vast majority of computer vision problems.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726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Libraries and Tools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30850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TensorFlow / Keras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2907387"/>
            <a:ext cx="6244709" cy="110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High-level API for rapid model building. Provides pre-trained models through </a:t>
            </a:r>
            <a:r>
              <a:rPr lang="en-US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tf.keras.applications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and simple layer freezing via </a:t>
            </a:r>
            <a:r>
              <a:rPr lang="en-US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layer.trainable = False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93790" y="423814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PyTorch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3790" y="4837033"/>
            <a:ext cx="6244709" cy="110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Research-favored framework. Pre-trained models via </a:t>
            </a:r>
            <a:r>
              <a:rPr lang="en-US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torchvision.models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with flexible fine-tuning control and </a:t>
            </a:r>
            <a:r>
              <a:rPr lang="en-US" dirty="0">
                <a:solidFill>
                  <a:srgbClr val="38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requires_grad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flags.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599521" y="2336840"/>
            <a:ext cx="3008948" cy="2574250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56815" y="2594134"/>
            <a:ext cx="2494359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Pre-trained Models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856815" y="3565088"/>
            <a:ext cx="249435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Ready-to-use weights from ImageNet and other benchmarks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0835283" y="2336840"/>
            <a:ext cx="3008948" cy="2574250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92577" y="2594134"/>
            <a:ext cx="249435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Layer Control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1092577" y="3193018"/>
            <a:ext cx="249435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Simple freeze/unfreeze APIs for fine-tuning strategies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599521" y="5137904"/>
            <a:ext cx="6244709" cy="1839278"/>
          </a:xfrm>
          <a:prstGeom prst="roundRect">
            <a:avLst>
              <a:gd name="adj" fmla="val 185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56815" y="539519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Built-in Datasets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7856815" y="5994083"/>
            <a:ext cx="57301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Standard datasets and data loaders included out of the box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79331" y="659844"/>
            <a:ext cx="2471618" cy="417314"/>
          </a:xfrm>
          <a:prstGeom prst="roundRect">
            <a:avLst>
              <a:gd name="adj" fmla="val 6421"/>
            </a:avLst>
          </a:prstGeom>
          <a:solidFill>
            <a:srgbClr val="FFDECC"/>
          </a:solidFill>
          <a:ln/>
        </p:spPr>
      </p:sp>
      <p:sp>
        <p:nvSpPr>
          <p:cNvPr id="3" name="Text 1"/>
          <p:cNvSpPr/>
          <p:nvPr/>
        </p:nvSpPr>
        <p:spPr>
          <a:xfrm>
            <a:off x="6213277" y="726758"/>
            <a:ext cx="22037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ARCHITECTURE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81407" y="1165027"/>
            <a:ext cx="13067586" cy="2930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500"/>
              </a:lnSpc>
              <a:buNone/>
            </a:pPr>
            <a:r>
              <a:rPr lang="en-US" sz="9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Popular Pre-Trained Models</a:t>
            </a:r>
            <a:endParaRPr lang="en-US" sz="9200" dirty="0"/>
          </a:p>
        </p:txBody>
      </p:sp>
      <p:sp>
        <p:nvSpPr>
          <p:cNvPr id="5" name="Text 3"/>
          <p:cNvSpPr/>
          <p:nvPr/>
        </p:nvSpPr>
        <p:spPr>
          <a:xfrm>
            <a:off x="781407" y="4425315"/>
            <a:ext cx="1306758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VGG, ResNet, and Inception represent three distinct philosophical approaches to deep CNN design — all pre-trained on </a:t>
            </a: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ImageNet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(1.2M images, 1,000 classes).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07" y="5381149"/>
            <a:ext cx="4355783" cy="8930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4649" y="6494026"/>
            <a:ext cx="2930485" cy="366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VGG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1004649" y="6992064"/>
            <a:ext cx="39092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Simplicity through depth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7190" y="5381149"/>
            <a:ext cx="4355902" cy="8930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0432" y="6494026"/>
            <a:ext cx="2930485" cy="366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ResNet</a:t>
            </a:r>
            <a:endParaRPr lang="en-US" sz="2300" dirty="0"/>
          </a:p>
        </p:txBody>
      </p:sp>
      <p:sp>
        <p:nvSpPr>
          <p:cNvPr id="11" name="Text 7"/>
          <p:cNvSpPr/>
          <p:nvPr/>
        </p:nvSpPr>
        <p:spPr>
          <a:xfrm>
            <a:off x="5360432" y="6992064"/>
            <a:ext cx="3909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Depth with stability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3091" y="5381149"/>
            <a:ext cx="4355783" cy="8930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716333" y="6494026"/>
            <a:ext cx="2930485" cy="366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Inception</a:t>
            </a:r>
            <a:endParaRPr lang="en-US" sz="2300" dirty="0"/>
          </a:p>
        </p:txBody>
      </p:sp>
      <p:sp>
        <p:nvSpPr>
          <p:cNvPr id="14" name="Text 9"/>
          <p:cNvSpPr/>
          <p:nvPr/>
        </p:nvSpPr>
        <p:spPr>
          <a:xfrm>
            <a:off x="9716333" y="6992064"/>
            <a:ext cx="39092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Multi-scale efficiency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96647"/>
            <a:ext cx="1678067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E04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872252"/>
            <a:ext cx="139065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ARCHITECTURE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328857"/>
            <a:ext cx="7552134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VGG — Simplicity and Depth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1133951" y="2668429"/>
            <a:ext cx="590454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"Use small 3×3 filters consistently and stack many layers deep."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93790" y="2668429"/>
            <a:ext cx="30480" cy="725805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3649385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VGG (Simonyan &amp; Zisserman, 2014) proved that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network depth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using small convolutions is the key driver of performance.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93790" y="4993243"/>
            <a:ext cx="6244709" cy="1689616"/>
          </a:xfrm>
          <a:prstGeom prst="roundRect">
            <a:avLst>
              <a:gd name="adj" fmla="val 2014"/>
            </a:avLst>
          </a:prstGeom>
          <a:solidFill>
            <a:srgbClr val="FCF2B5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337334"/>
            <a:ext cx="283488" cy="22681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30906" y="5276731"/>
            <a:ext cx="52807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Trade-off: VGG16/19 contain 138M+ parameters — computationally expensive and memory-intensive at inference time.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7599521" y="2668429"/>
            <a:ext cx="3008948" cy="2141220"/>
          </a:xfrm>
          <a:prstGeom prst="roundRect">
            <a:avLst>
              <a:gd name="adj" fmla="val 1589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7826335" y="2895243"/>
            <a:ext cx="255531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Architecture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7826335" y="3494127"/>
            <a:ext cx="25553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Uniform 3×3 convolutions throughout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10835283" y="2668429"/>
            <a:ext cx="3008948" cy="2141220"/>
          </a:xfrm>
          <a:prstGeom prst="roundRect">
            <a:avLst>
              <a:gd name="adj" fmla="val 1589"/>
            </a:avLst>
          </a:prstGeom>
          <a:solidFill>
            <a:srgbClr val="F2EEEE"/>
          </a:solidFill>
          <a:ln/>
        </p:spPr>
      </p:sp>
      <p:sp>
        <p:nvSpPr>
          <p:cNvPr id="15" name="Text 12"/>
          <p:cNvSpPr/>
          <p:nvPr/>
        </p:nvSpPr>
        <p:spPr>
          <a:xfrm>
            <a:off x="11062097" y="2895243"/>
            <a:ext cx="255531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Depth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11062097" y="3494127"/>
            <a:ext cx="25553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16–19 weight layers (VGG16, VGG19)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7599521" y="5036463"/>
            <a:ext cx="3008948" cy="2141220"/>
          </a:xfrm>
          <a:prstGeom prst="roundRect">
            <a:avLst>
              <a:gd name="adj" fmla="val 1589"/>
            </a:avLst>
          </a:prstGeom>
          <a:solidFill>
            <a:srgbClr val="F2EEEE"/>
          </a:solidFill>
          <a:ln/>
        </p:spPr>
      </p:sp>
      <p:sp>
        <p:nvSpPr>
          <p:cNvPr id="18" name="Text 15"/>
          <p:cNvSpPr/>
          <p:nvPr/>
        </p:nvSpPr>
        <p:spPr>
          <a:xfrm>
            <a:off x="7826335" y="5263277"/>
            <a:ext cx="255531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Strength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7826335" y="5862161"/>
            <a:ext cx="25553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Intuitive, easy to understand and implement</a:t>
            </a:r>
            <a:endParaRPr lang="en-US" sz="1750" dirty="0"/>
          </a:p>
        </p:txBody>
      </p:sp>
      <p:sp>
        <p:nvSpPr>
          <p:cNvPr id="20" name="Shape 17"/>
          <p:cNvSpPr/>
          <p:nvPr/>
        </p:nvSpPr>
        <p:spPr>
          <a:xfrm>
            <a:off x="10835283" y="5036463"/>
            <a:ext cx="3008948" cy="2141220"/>
          </a:xfrm>
          <a:prstGeom prst="roundRect">
            <a:avLst>
              <a:gd name="adj" fmla="val 1589"/>
            </a:avLst>
          </a:prstGeom>
          <a:solidFill>
            <a:srgbClr val="F2EEEE"/>
          </a:solidFill>
          <a:ln/>
        </p:spPr>
      </p:sp>
      <p:sp>
        <p:nvSpPr>
          <p:cNvPr id="21" name="Text 18"/>
          <p:cNvSpPr/>
          <p:nvPr/>
        </p:nvSpPr>
        <p:spPr>
          <a:xfrm>
            <a:off x="11062097" y="5263277"/>
            <a:ext cx="255531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Role</a:t>
            </a:r>
            <a:endParaRPr lang="en-US" sz="2300" dirty="0"/>
          </a:p>
        </p:txBody>
      </p:sp>
      <p:sp>
        <p:nvSpPr>
          <p:cNvPr id="22" name="Text 19"/>
          <p:cNvSpPr/>
          <p:nvPr/>
        </p:nvSpPr>
        <p:spPr>
          <a:xfrm>
            <a:off x="11062097" y="5862161"/>
            <a:ext cx="25553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Classic baseline and pedagogical reference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96647"/>
            <a:ext cx="1725930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E04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872252"/>
            <a:ext cx="1438513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ARCHITECTURE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328857"/>
            <a:ext cx="766405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ResNet — Learning Residuals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793790" y="2668429"/>
            <a:ext cx="3008948" cy="2141220"/>
          </a:xfrm>
          <a:prstGeom prst="roundRect">
            <a:avLst>
              <a:gd name="adj" fmla="val 1589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1020604" y="2895243"/>
            <a:ext cx="255531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Innovation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20604" y="3494127"/>
            <a:ext cx="25553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Skip connections that bypass one or more layers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029551" y="2668429"/>
            <a:ext cx="3008948" cy="2141220"/>
          </a:xfrm>
          <a:prstGeom prst="roundRect">
            <a:avLst>
              <a:gd name="adj" fmla="val 1589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4256365" y="2895243"/>
            <a:ext cx="255531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It Learns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4256365" y="3494127"/>
            <a:ext cx="25553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residual difference, not the full transformation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93790" y="5036463"/>
            <a:ext cx="3008948" cy="2141220"/>
          </a:xfrm>
          <a:prstGeom prst="roundRect">
            <a:avLst>
              <a:gd name="adj" fmla="val 1589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1020604" y="5263277"/>
            <a:ext cx="255531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Depth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020604" y="5862161"/>
            <a:ext cx="25553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ResNet-50, ResNet-101, ResNet-152 and beyond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29551" y="5036463"/>
            <a:ext cx="3008948" cy="2141220"/>
          </a:xfrm>
          <a:prstGeom prst="roundRect">
            <a:avLst>
              <a:gd name="adj" fmla="val 1589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4256365" y="5263277"/>
            <a:ext cx="255531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Solves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4256365" y="5862161"/>
            <a:ext cx="25553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Vanishing gradient problem in very deep networks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939683" y="2668429"/>
            <a:ext cx="590454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Instead of learning a full mapping, learn only what needs to change — the residual."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7599521" y="2668429"/>
            <a:ext cx="30480" cy="725805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9" name="Text 17"/>
          <p:cNvSpPr/>
          <p:nvPr/>
        </p:nvSpPr>
        <p:spPr>
          <a:xfrm>
            <a:off x="7599521" y="3649385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 et al. (2015) showed that skip connections allow gradients to flow freely, enabling networks with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50–150+ layers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train stably.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7599521" y="4993243"/>
            <a:ext cx="6244709" cy="1689616"/>
          </a:xfrm>
          <a:prstGeom prst="roundRect">
            <a:avLst>
              <a:gd name="adj" fmla="val 2014"/>
            </a:avLst>
          </a:prstGeom>
          <a:solidFill>
            <a:srgbClr val="B6FCB8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335" y="5337334"/>
            <a:ext cx="283488" cy="22681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336637" y="5276731"/>
            <a:ext cx="528077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ResNet made deep learning truly scalable and remains the most widely used backbone in practice.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78098"/>
            <a:ext cx="1728668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E04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1053703"/>
            <a:ext cx="144125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ARCHITECTURE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510308"/>
            <a:ext cx="887730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Inception — Multi-Scale Learning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1133951" y="2849880"/>
            <a:ext cx="590454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"Why choose one filter size? Apply all of them in parallel and let the network decide."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93790" y="2849880"/>
            <a:ext cx="30480" cy="725805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3830836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GoogLeNet / Inception (Szegedy et al., 2014) introduced the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Inception module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 parallel multi-filter block that captures features at multiple spatial scales simultaneously.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93789" y="5832455"/>
            <a:ext cx="6244709" cy="1326713"/>
          </a:xfrm>
          <a:prstGeom prst="roundRect">
            <a:avLst>
              <a:gd name="adj" fmla="val 2565"/>
            </a:avLst>
          </a:prstGeom>
          <a:solidFill>
            <a:srgbClr val="B6D6FC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207" y="6368562"/>
            <a:ext cx="283488" cy="22681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58124" y="6043613"/>
            <a:ext cx="52807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Result: richer representations with significantly fewer parameters than naive deep stacking.</a:t>
            </a: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7599521" y="2849880"/>
            <a:ext cx="3008948" cy="1778318"/>
          </a:xfrm>
          <a:prstGeom prst="roundRect">
            <a:avLst>
              <a:gd name="adj" fmla="val 1913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7826335" y="3076694"/>
            <a:ext cx="255531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1×1 Filters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7826335" y="3675578"/>
            <a:ext cx="25553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Capture fine-grained point-level features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10835283" y="2849880"/>
            <a:ext cx="3008948" cy="1778318"/>
          </a:xfrm>
          <a:prstGeom prst="roundRect">
            <a:avLst>
              <a:gd name="adj" fmla="val 1913"/>
            </a:avLst>
          </a:prstGeom>
          <a:solidFill>
            <a:srgbClr val="F2EEEE"/>
          </a:solidFill>
          <a:ln/>
        </p:spPr>
      </p:sp>
      <p:sp>
        <p:nvSpPr>
          <p:cNvPr id="15" name="Text 12"/>
          <p:cNvSpPr/>
          <p:nvPr/>
        </p:nvSpPr>
        <p:spPr>
          <a:xfrm>
            <a:off x="11062097" y="3076694"/>
            <a:ext cx="255531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3×3 Filters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11062097" y="3675578"/>
            <a:ext cx="25553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Medium spatial context and local patterns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7599521" y="4855012"/>
            <a:ext cx="3008948" cy="2141220"/>
          </a:xfrm>
          <a:prstGeom prst="roundRect">
            <a:avLst>
              <a:gd name="adj" fmla="val 1589"/>
            </a:avLst>
          </a:prstGeom>
          <a:solidFill>
            <a:srgbClr val="F2EEEE"/>
          </a:solidFill>
          <a:ln/>
        </p:spPr>
      </p:sp>
      <p:sp>
        <p:nvSpPr>
          <p:cNvPr id="18" name="Text 15"/>
          <p:cNvSpPr/>
          <p:nvPr/>
        </p:nvSpPr>
        <p:spPr>
          <a:xfrm>
            <a:off x="7826335" y="5081826"/>
            <a:ext cx="255531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5×5 Filters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7826335" y="5680710"/>
            <a:ext cx="25553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Broader spatial relationships and coarse features</a:t>
            </a:r>
            <a:endParaRPr lang="en-US" sz="1750" dirty="0"/>
          </a:p>
        </p:txBody>
      </p:sp>
      <p:sp>
        <p:nvSpPr>
          <p:cNvPr id="20" name="Shape 17"/>
          <p:cNvSpPr/>
          <p:nvPr/>
        </p:nvSpPr>
        <p:spPr>
          <a:xfrm>
            <a:off x="10835283" y="4855012"/>
            <a:ext cx="3008948" cy="2141220"/>
          </a:xfrm>
          <a:prstGeom prst="roundRect">
            <a:avLst>
              <a:gd name="adj" fmla="val 1589"/>
            </a:avLst>
          </a:prstGeom>
          <a:solidFill>
            <a:srgbClr val="F2EEEE"/>
          </a:solidFill>
          <a:ln/>
        </p:spPr>
      </p:sp>
      <p:sp>
        <p:nvSpPr>
          <p:cNvPr id="21" name="Text 18"/>
          <p:cNvSpPr/>
          <p:nvPr/>
        </p:nvSpPr>
        <p:spPr>
          <a:xfrm>
            <a:off x="11062097" y="5081826"/>
            <a:ext cx="255531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Pooling</a:t>
            </a:r>
            <a:endParaRPr lang="en-US" sz="2300" dirty="0"/>
          </a:p>
        </p:txBody>
      </p:sp>
      <p:sp>
        <p:nvSpPr>
          <p:cNvPr id="22" name="Text 19"/>
          <p:cNvSpPr/>
          <p:nvPr/>
        </p:nvSpPr>
        <p:spPr>
          <a:xfrm>
            <a:off x="11062097" y="5680710"/>
            <a:ext cx="25553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Combined in parallel within each module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9201"/>
            <a:ext cx="667166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Architecture Comparison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427089"/>
            <a:ext cx="13042821" cy="3955256"/>
          </a:xfrm>
          <a:prstGeom prst="roundRect">
            <a:avLst>
              <a:gd name="adj" fmla="val 86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581" y="2578418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Dimension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3637836" y="2578418"/>
            <a:ext cx="30560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VGG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155180" y="2578418"/>
            <a:ext cx="30560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ResNet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672524" y="2578418"/>
            <a:ext cx="29296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Inception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28581" y="3236357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Idea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3637836" y="3236357"/>
            <a:ext cx="30560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Uniform depth, small filters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155180" y="3236357"/>
            <a:ext cx="30560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Skip connections, residuals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672524" y="3236357"/>
            <a:ext cx="29296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Parallel multi-scale filters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28581" y="3894296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Depth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3637836" y="3894296"/>
            <a:ext cx="30560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16–19 layers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155180" y="3894296"/>
            <a:ext cx="30560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50–152+ layers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0672524" y="3894296"/>
            <a:ext cx="29296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22+ layers (modules)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1028581" y="4552236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Parameters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3637836" y="4552236"/>
            <a:ext cx="30560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138M+ (heavy)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155180" y="4552236"/>
            <a:ext cx="30560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25M–60M (moderate)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0672524" y="4552236"/>
            <a:ext cx="29296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~7M (efficient)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1028581" y="5210175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Problem Solved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3637836" y="5210175"/>
            <a:ext cx="30560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Proved depth matters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155180" y="5210175"/>
            <a:ext cx="30560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Vanishing gradients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0672524" y="5210175"/>
            <a:ext cx="29296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Compute efficiency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028581" y="5868114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 For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3637836" y="5868114"/>
            <a:ext cx="30560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Teaching, baselines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7155180" y="5868114"/>
            <a:ext cx="30560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General purpose tasks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0672524" y="5868114"/>
            <a:ext cx="29296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Speed + accuracy balance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793790" y="66374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Evolution: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VGG → deeper → ResNet → smarter → Inception → more efficient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7524"/>
            <a:ext cx="867370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When to Use Which Architecture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345412"/>
            <a:ext cx="4196358" cy="3517702"/>
          </a:xfrm>
          <a:prstGeom prst="roundRect">
            <a:avLst>
              <a:gd name="adj" fmla="val 96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2375892"/>
            <a:ext cx="4135398" cy="680442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1888" y="2545913"/>
            <a:ext cx="340162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084" y="328314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Choose VGG when...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051084" y="3791307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Simplicity and interpretability are the priority — ideal for teaching, understanding, or quick prototyping where parameter count is not a concern.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216962" y="2345412"/>
            <a:ext cx="4196358" cy="3517702"/>
          </a:xfrm>
          <a:prstGeom prst="roundRect">
            <a:avLst>
              <a:gd name="adj" fmla="val 96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47442" y="2375892"/>
            <a:ext cx="4135398" cy="680442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5060" y="2545913"/>
            <a:ext cx="340162" cy="3401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74256" y="3283148"/>
            <a:ext cx="303966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Choose ResNet when...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5474256" y="3791307"/>
            <a:ext cx="393906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need a strong, reliable baseline for most tasks. It is the default choice in industry and academia — robust, well-understood, and broadly supported.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9640133" y="2345412"/>
            <a:ext cx="4196358" cy="3517702"/>
          </a:xfrm>
          <a:prstGeom prst="roundRect">
            <a:avLst>
              <a:gd name="adj" fmla="val 96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670613" y="2375892"/>
            <a:ext cx="4135398" cy="680442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68232" y="2545913"/>
            <a:ext cx="340162" cy="34016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97427" y="3283148"/>
            <a:ext cx="337030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Choose Inception when...</a:t>
            </a:r>
            <a:endParaRPr lang="en-US" sz="2300" dirty="0"/>
          </a:p>
        </p:txBody>
      </p:sp>
      <p:sp>
        <p:nvSpPr>
          <p:cNvPr id="17" name="Text 12"/>
          <p:cNvSpPr/>
          <p:nvPr/>
        </p:nvSpPr>
        <p:spPr>
          <a:xfrm>
            <a:off x="9897427" y="3791307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Both efficiency and performance matter — particularly in deployment-constrained environments where inference speed is critical.</a:t>
            </a: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793790" y="6118265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FFCDB3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0604" y="6462355"/>
            <a:ext cx="283488" cy="22681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30906" y="6401753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industry, </a:t>
            </a:r>
            <a:r>
              <a:rPr lang="en-US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ResNet and its variants</a:t>
            </a: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(ResNet-50, ResNeXt, Wide ResNet) dominate production deployments.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533775" y="1406843"/>
            <a:ext cx="75568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4650" dirty="0"/>
          </a:p>
        </p:txBody>
      </p:sp>
      <p:sp>
        <p:nvSpPr>
          <p:cNvPr id="5" name="Shape 3"/>
          <p:cNvSpPr/>
          <p:nvPr/>
        </p:nvSpPr>
        <p:spPr>
          <a:xfrm>
            <a:off x="793790" y="319075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870347" y="3222665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530906" y="3268623"/>
            <a:ext cx="530566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Transfer learning is a practical necessity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530906" y="3776782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just a theoretical concept — it is the default approach for real-world CV systems.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56884" y="3190756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7533442" y="3222665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194000" y="3268623"/>
            <a:ext cx="5102781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Visual features are inherently reusable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194000" y="3776782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Pre-trained weights on ImageNet generalize broadly because low-level patterns are universal.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495621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870347" y="4988123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530906" y="5034082"/>
            <a:ext cx="40057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Strategy depends on your data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1530906" y="5542240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 feature extraction for small datasets; fine-tune when you have sufficient labeled examples.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456884" y="495621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7533442" y="4988123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8194000" y="5034082"/>
            <a:ext cx="564261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Architecture choice reflects design philosophy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8194000" y="5914311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VGG = simplicity. ResNet = depth with stability. Inception = multi-scale intelligence.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1265</Words>
  <Application>Microsoft Macintosh PowerPoint</Application>
  <PresentationFormat>Custom</PresentationFormat>
  <Paragraphs>197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PT Serif Light</vt:lpstr>
      <vt:lpstr>Calibri</vt:lpstr>
      <vt:lpstr>DM Sans</vt:lpstr>
      <vt:lpstr>Arial</vt:lpstr>
      <vt:lpstr>PT Serif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Vinayak Deshpande</cp:lastModifiedBy>
  <cp:revision>4</cp:revision>
  <dcterms:created xsi:type="dcterms:W3CDTF">2026-04-20T09:39:21Z</dcterms:created>
  <dcterms:modified xsi:type="dcterms:W3CDTF">2026-05-11T06:41:21Z</dcterms:modified>
</cp:coreProperties>
</file>