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6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1" r:id="rId12"/>
    <p:sldId id="266" r:id="rId13"/>
    <p:sldId id="267" r:id="rId14"/>
    <p:sldId id="268" r:id="rId15"/>
    <p:sldId id="269" r:id="rId16"/>
    <p:sldId id="270" r:id="rId17"/>
  </p:sldIdLst>
  <p:sldSz cx="14630400" cy="8229600"/>
  <p:notesSz cx="8229600" cy="14630400"/>
  <p:embeddedFontLst>
    <p:embeddedFont>
      <p:font typeface="DM Sans" pitchFamily="2" charset="77"/>
      <p:regular r:id="rId19"/>
      <p:bold r:id="rId20"/>
    </p:embeddedFont>
    <p:embeddedFont>
      <p:font typeface="PT Serif" panose="020A0603040505020204" pitchFamily="18" charset="77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483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01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92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298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9.png"/><Relationship Id="rId11" Type="http://schemas.openxmlformats.org/officeDocument/2006/relationships/image" Target="../media/image54.svg"/><Relationship Id="rId5" Type="http://schemas.openxmlformats.org/officeDocument/2006/relationships/image" Target="../media/image48.sv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8.sv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svg"/><Relationship Id="rId4" Type="http://schemas.openxmlformats.org/officeDocument/2006/relationships/image" Target="../media/image56.svg"/><Relationship Id="rId9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14042" y="1721168"/>
            <a:ext cx="12022129" cy="2054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50"/>
              </a:lnSpc>
              <a:buNone/>
            </a:pPr>
            <a:r>
              <a:rPr lang="en-US" sz="4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Computer Vision</a:t>
            </a:r>
          </a:p>
          <a:p>
            <a:pPr algn="ctr">
              <a:lnSpc>
                <a:spcPts val="8050"/>
              </a:lnSpc>
            </a:pPr>
            <a:r>
              <a:rPr lang="en-US" sz="4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Using Deep Learning</a:t>
            </a:r>
            <a:endParaRPr lang="en-US" sz="4800" dirty="0"/>
          </a:p>
          <a:p>
            <a:pPr marL="0" indent="0" algn="ctr">
              <a:lnSpc>
                <a:spcPts val="8050"/>
              </a:lnSpc>
              <a:buNone/>
            </a:pP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676674" y="4481155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3002418" y="4350782"/>
            <a:ext cx="97710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machines learn to see — interpreting and acting on visual data through the power of deep neural networks.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143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554367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849" y="26564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00"/>
              </a:lnSpc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Revisiting Deep Learning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28548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8548" y="2554367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793790" y="38456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3790" y="4294428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48" y="4428013"/>
            <a:ext cx="457140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Deep Learning Revolution</a:t>
            </a:r>
            <a:endParaRPr lang="en-US" sz="2400" dirty="0"/>
          </a:p>
          <a:p>
            <a:pPr marL="0" indent="0" algn="l">
              <a:lnSpc>
                <a:spcPts val="2900"/>
              </a:lnSpc>
              <a:buNone/>
            </a:pP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416152" y="385446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16152" y="4309668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416152" y="4445418"/>
            <a:ext cx="56999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Computer Vision-Applications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93790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649873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824180"/>
            <a:ext cx="587966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Technology Stack in CV 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28548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28548" y="5649873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824180"/>
            <a:ext cx="42521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Transfer Learning Models in CV</a:t>
            </a:r>
            <a:endParaRPr lang="en-US" sz="24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F9B1597F-6088-ED47-BCF3-2426CD5CD6E2}"/>
              </a:ext>
            </a:extLst>
          </p:cNvPr>
          <p:cNvSpPr/>
          <p:nvPr/>
        </p:nvSpPr>
        <p:spPr>
          <a:xfrm>
            <a:off x="7428548" y="27932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Computer Vision?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88207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9899" y="235738"/>
            <a:ext cx="4233267" cy="500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Revisiting Deep Learning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2049899" y="1144786"/>
            <a:ext cx="11609830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learning is a subset of machine learning that uses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multi-layer neural networks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automatically learn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hierarchical representations directly from raw data — no manual feature engineering required.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598" y="1668661"/>
            <a:ext cx="9641086" cy="58025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60657" y="6137812"/>
            <a:ext cx="1590095" cy="310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Pixels</a:t>
            </a:r>
            <a:endParaRPr lang="en-US" sz="1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6064" y="4428756"/>
            <a:ext cx="526522" cy="5265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35239" y="5627086"/>
            <a:ext cx="1590095" cy="310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Edges</a:t>
            </a:r>
            <a:endParaRPr lang="en-US" sz="1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70481" y="3933826"/>
            <a:ext cx="526522" cy="52652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20186" y="5132156"/>
            <a:ext cx="1590096" cy="310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Shapes</a:t>
            </a:r>
            <a:endParaRPr lang="en-US" sz="1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44898" y="3438895"/>
            <a:ext cx="526522" cy="52652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383909" y="4637226"/>
            <a:ext cx="1590095" cy="310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Objects</a:t>
            </a:r>
            <a:endParaRPr lang="en-US" sz="1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19315" y="2943965"/>
            <a:ext cx="526521" cy="52652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258325" y="4142296"/>
            <a:ext cx="1590096" cy="310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Prediction</a:t>
            </a:r>
            <a:endParaRPr lang="en-US" sz="19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04262" y="2417443"/>
            <a:ext cx="526521" cy="52652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779597" y="7475349"/>
            <a:ext cx="10530602" cy="642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layer extracts increasingly abstract features, enabling powerful pattern recognition in unstructured data such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 images, speech, and text.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461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9966"/>
            <a:ext cx="690800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Computer Vision?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170205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field of AI that enables machines to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interpret, analyze, and act upon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visual data from images and videos — mimicking human visual understanding at scale.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2858810"/>
            <a:ext cx="6407944" cy="2231946"/>
          </a:xfrm>
          <a:prstGeom prst="roundRect">
            <a:avLst>
              <a:gd name="adj" fmla="val 1524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1020604" y="308562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272671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399288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Classification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020604" y="4501039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383838"/>
                </a:solidFill>
                <a:latin typeface="DM Sans" panose="020B0604020202020204" charset="0"/>
                <a:ea typeface="DM Sans" pitchFamily="34" charset="-122"/>
                <a:cs typeface="DM Sans" pitchFamily="34" charset="-120"/>
              </a:rPr>
              <a:t>What is in this image?  </a:t>
            </a:r>
            <a:r>
              <a:rPr lang="en-IN" dirty="0">
                <a:latin typeface="DM Sans" panose="020B0604020202020204" charset="0"/>
              </a:rPr>
              <a:t>Turning pixels into clear labels</a:t>
            </a:r>
            <a:endParaRPr lang="en-US" dirty="0">
              <a:latin typeface="DM Sans" panose="020B060402020202020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428548" y="2858810"/>
            <a:ext cx="6408063" cy="2231946"/>
          </a:xfrm>
          <a:prstGeom prst="roundRect">
            <a:avLst>
              <a:gd name="adj" fmla="val 1524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7655362" y="308562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3272671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55362" y="399288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Detection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7655362" y="4501039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are objects located?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793790" y="5317569"/>
            <a:ext cx="6407944" cy="2231946"/>
          </a:xfrm>
          <a:prstGeom prst="roundRect">
            <a:avLst>
              <a:gd name="adj" fmla="val 1524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1020604" y="55443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7770" y="5731431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0604" y="64516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Segmentation</a:t>
            </a:r>
            <a:endParaRPr lang="en-US" sz="2300" dirty="0"/>
          </a:p>
        </p:txBody>
      </p:sp>
      <p:sp>
        <p:nvSpPr>
          <p:cNvPr id="18" name="Text 13"/>
          <p:cNvSpPr/>
          <p:nvPr/>
        </p:nvSpPr>
        <p:spPr>
          <a:xfrm>
            <a:off x="1020604" y="6959798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pixels belong to what? </a:t>
            </a:r>
            <a:r>
              <a:rPr lang="en-IN" sz="2000" dirty="0"/>
              <a:t> 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7428548" y="5317569"/>
            <a:ext cx="6408063" cy="2231946"/>
          </a:xfrm>
          <a:prstGeom prst="roundRect">
            <a:avLst>
              <a:gd name="adj" fmla="val 1524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7655362" y="55443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2528" y="5731431"/>
            <a:ext cx="306110" cy="3061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55362" y="645164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Tracking</a:t>
            </a:r>
            <a:endParaRPr lang="en-US" sz="2300" dirty="0"/>
          </a:p>
        </p:txBody>
      </p:sp>
      <p:sp>
        <p:nvSpPr>
          <p:cNvPr id="23" name="Text 17"/>
          <p:cNvSpPr/>
          <p:nvPr/>
        </p:nvSpPr>
        <p:spPr>
          <a:xfrm>
            <a:off x="7655362" y="6959798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do objects move over time?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656" y="486132"/>
            <a:ext cx="85451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Computer Vision is Needed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36792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u="sng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Problem</a:t>
            </a:r>
            <a:endParaRPr lang="en-US" sz="2300" b="1" u="sng" dirty="0"/>
          </a:p>
        </p:txBody>
      </p:sp>
      <p:sp>
        <p:nvSpPr>
          <p:cNvPr id="4" name="Text 2"/>
          <p:cNvSpPr/>
          <p:nvPr/>
        </p:nvSpPr>
        <p:spPr>
          <a:xfrm>
            <a:off x="793790" y="4056240"/>
            <a:ext cx="6244709" cy="30760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20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Visual data is growing exponentially — from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surveillance feeds to medical scans to satellite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imagery. 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20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Human analysis is too slow, expensive, and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subjective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keep up.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859930" y="332054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u="sng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Benefits</a:t>
            </a:r>
            <a:endParaRPr lang="en-US" sz="2300" b="1" u="sng" dirty="0"/>
          </a:p>
        </p:txBody>
      </p:sp>
      <p:sp>
        <p:nvSpPr>
          <p:cNvPr id="7" name="Text 5"/>
          <p:cNvSpPr/>
          <p:nvPr/>
        </p:nvSpPr>
        <p:spPr>
          <a:xfrm>
            <a:off x="7859930" y="4056240"/>
            <a:ext cx="6475048" cy="2949471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000" b="1" dirty="0">
              <a:solidFill>
                <a:srgbClr val="00000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algn="l">
              <a:lnSpc>
                <a:spcPts val="2850"/>
              </a:lnSpc>
              <a:buSzPct val="100000"/>
            </a:pPr>
            <a:r>
              <a:rPr lang="en-US" sz="2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Automation</a:t>
            </a: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process millions of images instantly</a:t>
            </a:r>
          </a:p>
          <a:p>
            <a:pPr algn="l">
              <a:lnSpc>
                <a:spcPts val="2850"/>
              </a:lnSpc>
              <a:buSzPct val="100000"/>
            </a:pPr>
            <a:endParaRPr lang="en-US" sz="2000" dirty="0"/>
          </a:p>
          <a:p>
            <a:pPr algn="l">
              <a:lnSpc>
                <a:spcPts val="2850"/>
              </a:lnSpc>
              <a:buSzPct val="100000"/>
            </a:pPr>
            <a:r>
              <a:rPr lang="en-US" sz="2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Safety</a:t>
            </a: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monitor environments 24/7 without fatigue</a:t>
            </a:r>
          </a:p>
          <a:p>
            <a:pPr algn="l">
              <a:lnSpc>
                <a:spcPts val="2850"/>
              </a:lnSpc>
              <a:buSzPct val="100000"/>
            </a:pPr>
            <a:endParaRPr lang="en-US" sz="2000" dirty="0"/>
          </a:p>
          <a:p>
            <a:pPr algn="l">
              <a:lnSpc>
                <a:spcPts val="2850"/>
              </a:lnSpc>
              <a:buSzPct val="100000"/>
            </a:pPr>
            <a:r>
              <a:rPr lang="en-US" sz="2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Precision</a:t>
            </a: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detect anomalies in medical scans with</a:t>
            </a:r>
          </a:p>
          <a:p>
            <a:pPr algn="l">
              <a:lnSpc>
                <a:spcPts val="2850"/>
              </a:lnSpc>
              <a:buSzPct val="100000"/>
            </a:pP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superhuman accuracy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E48FE1-63DB-FA4F-A24E-E4099B2DBF58}"/>
              </a:ext>
            </a:extLst>
          </p:cNvPr>
          <p:cNvSpPr txBox="1"/>
          <p:nvPr/>
        </p:nvSpPr>
        <p:spPr>
          <a:xfrm>
            <a:off x="776052" y="2147968"/>
            <a:ext cx="129221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DM Sans" panose="020B0604020202020204" charset="0"/>
              </a:rPr>
              <a:t>In a world flooded with images and videos, Computer Vision turns raw pixels into </a:t>
            </a:r>
            <a:r>
              <a:rPr lang="en-IN" sz="2000" b="1" dirty="0">
                <a:latin typeface="DM Sans" panose="020B0604020202020204" charset="0"/>
              </a:rPr>
              <a:t>meaningful decisions and </a:t>
            </a:r>
          </a:p>
          <a:p>
            <a:r>
              <a:rPr lang="en-IN" sz="2000" b="1" dirty="0">
                <a:latin typeface="DM Sans" panose="020B0604020202020204" charset="0"/>
              </a:rPr>
              <a:t>automation</a:t>
            </a:r>
            <a:r>
              <a:rPr lang="en-IN" sz="2000" dirty="0">
                <a:latin typeface="DM Sans" panose="020B0604020202020204" charset="0"/>
              </a:rPr>
              <a:t>.</a:t>
            </a:r>
            <a:endParaRPr lang="en-US" sz="2000" dirty="0">
              <a:latin typeface="DM Sans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17934"/>
            <a:ext cx="9616559" cy="721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50"/>
              </a:lnSpc>
              <a:buNone/>
            </a:pPr>
            <a:r>
              <a:rPr lang="en-US" sz="4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Before Deep Learning: Traditional CV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769025" y="1764625"/>
            <a:ext cx="13092351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 to deep learning, computer vision relied on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handcrafted feature extractors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algorithms designed by domain experts to capture visual patterns manually.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69025" y="2935724"/>
            <a:ext cx="3032641" cy="2457926"/>
          </a:xfrm>
          <a:prstGeom prst="roundRect">
            <a:avLst>
              <a:gd name="adj" fmla="val 134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175" y="3185874"/>
            <a:ext cx="2532340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SIFT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19175" y="3759041"/>
            <a:ext cx="2532340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Scale-Invariant Feature Transform — detects key image points robust to scale and rotation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014430" y="2935724"/>
            <a:ext cx="3032760" cy="2457926"/>
          </a:xfrm>
          <a:prstGeom prst="roundRect">
            <a:avLst>
              <a:gd name="adj" fmla="val 134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64581" y="3185874"/>
            <a:ext cx="2532459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HOG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264581" y="3759041"/>
            <a:ext cx="2532459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Histogram of Oriented Gradients — captures shape and edge orientation patterns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69025" y="5606415"/>
            <a:ext cx="6278166" cy="1765697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9175" y="5856565"/>
            <a:ext cx="2884051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Edge Detection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19175" y="6429732"/>
            <a:ext cx="5777865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Canny, Sobel filters — identify boundaries between regions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590830" y="2935724"/>
            <a:ext cx="6379170" cy="2207776"/>
          </a:xfrm>
          <a:prstGeom prst="roundRect">
            <a:avLst>
              <a:gd name="adj" fmla="val 1687"/>
            </a:avLst>
          </a:prstGeom>
          <a:solidFill>
            <a:srgbClr val="FCF2B5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774" y="3261836"/>
            <a:ext cx="274558" cy="21967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304728" y="3203377"/>
            <a:ext cx="5344597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700" b="1" dirty="0">
                <a:solidFill>
                  <a:srgbClr val="000000"/>
                </a:solidFill>
                <a:latin typeface="DM Sans" panose="020B0604020202020204" charset="0"/>
                <a:ea typeface="DM Sans" pitchFamily="34" charset="-122"/>
                <a:cs typeface="DM Sans" pitchFamily="34" charset="-120"/>
              </a:rPr>
              <a:t>Critical Limitations:</a:t>
            </a:r>
            <a:r>
              <a:rPr lang="en-US" sz="1700" dirty="0">
                <a:solidFill>
                  <a:srgbClr val="000000"/>
                </a:solidFill>
                <a:latin typeface="DM Sans" panose="020B060402020202020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IN" sz="2000" dirty="0">
                <a:latin typeface="DM Sans" panose="020B0604020202020204" charset="0"/>
              </a:rPr>
              <a:t>These approaches often required significant manual tuning for each new task and did not generalize well to variations in lighting, scale, and viewpoint, making them difficult to scale effectively.</a:t>
            </a:r>
            <a:endParaRPr lang="en-US" sz="2000" dirty="0">
              <a:latin typeface="DM Sans" panose="020B06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0577"/>
            <a:ext cx="804445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Deep Learning Revolution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645212"/>
            <a:ext cx="408372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ImageNet Moment — 2012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244096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IN" sz="2000" dirty="0" err="1">
                <a:latin typeface="DM Sans" panose="020B0604020202020204" charset="0"/>
              </a:rPr>
              <a:t>AlexNet</a:t>
            </a:r>
            <a:r>
              <a:rPr lang="en-IN" sz="2000" dirty="0">
                <a:latin typeface="DM Sans" panose="020B0604020202020204" charset="0"/>
              </a:rPr>
              <a:t> slashed ImageNet top-5 error from ~26% to 15.3%—a breakthrough so dramatic it kickstarted modern computer vision.</a:t>
            </a:r>
            <a:endParaRPr lang="en-US" sz="2000" dirty="0">
              <a:latin typeface="DM Sans" panose="020B06040202020202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4950857"/>
            <a:ext cx="6244709" cy="1689616"/>
          </a:xfrm>
          <a:prstGeom prst="roundRect">
            <a:avLst>
              <a:gd name="adj" fmla="val 2014"/>
            </a:avLst>
          </a:prstGeom>
          <a:solidFill>
            <a:srgbClr val="B6FCB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651" y="5073431"/>
            <a:ext cx="283488" cy="226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5007724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mattered:</a:t>
            </a: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It proved that deep CNNs trained on large datasets could outperform any handcrafted pipeline — decisively and repeatably.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599521" y="2673548"/>
            <a:ext cx="3008948" cy="2513290"/>
          </a:xfrm>
          <a:prstGeom prst="roundRect">
            <a:avLst>
              <a:gd name="adj" fmla="val 1354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7826335" y="2900363"/>
            <a:ext cx="255531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Automatic Feature Learning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826335" y="3871317"/>
            <a:ext cx="25553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manual engineering — the network learns what to look for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10835283" y="2673548"/>
            <a:ext cx="3008948" cy="2513290"/>
          </a:xfrm>
          <a:prstGeom prst="roundRect">
            <a:avLst>
              <a:gd name="adj" fmla="val 1354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11062097" y="2900363"/>
            <a:ext cx="255531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Scalable Performance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11062097" y="3871317"/>
            <a:ext cx="25553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data + more compute = better results, reliably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87EA9E-357F-544D-82D3-9A171ACF4F8F}"/>
              </a:ext>
            </a:extLst>
          </p:cNvPr>
          <p:cNvSpPr txBox="1"/>
          <p:nvPr/>
        </p:nvSpPr>
        <p:spPr>
          <a:xfrm>
            <a:off x="738118" y="7216726"/>
            <a:ext cx="13258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DM Sans" panose="020B0604020202020204" charset="0"/>
              </a:rPr>
              <a:t>Note : ImageNet is a massive, labeled image database that became the foundation of modern computer vision.</a:t>
            </a:r>
            <a:endParaRPr lang="en-US" sz="2000" dirty="0">
              <a:latin typeface="DM Sans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17446"/>
            <a:ext cx="6054090" cy="616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CV Applications at a Glance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68" y="1444823"/>
            <a:ext cx="12854226" cy="55430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2888" y="5927610"/>
            <a:ext cx="3062020" cy="38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Face Recognition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752888" y="4644477"/>
            <a:ext cx="3062020" cy="38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Segmentation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752888" y="3374307"/>
            <a:ext cx="3062020" cy="38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 Detection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752888" y="2091175"/>
            <a:ext cx="3062020" cy="38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Image Classification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34628" y="7162800"/>
            <a:ext cx="1296102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classifying a single image to reading text within it, computer vision tasks form a spectrum of increasing complexity and spatial precision — each enabling a distinct class of real-world applications.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7612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Image Classification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07514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Assigns a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label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(or probability distribution over labels) to an entire image. It is the foundational task in computer vision and the basis for many downstream applications.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743444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374344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Medical Diagnosis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644253" y="4251603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Classify scans as normal vs. abnormal — detecting pneumonia, diabetic retinopathy, and more</a:t>
            </a: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3743444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07348" y="374344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Retail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8307348" y="4251603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 product categorization and image-based tagging at scale</a:t>
            </a:r>
            <a:endParaRPr lang="en-US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431036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4253" y="543103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Social Media</a:t>
            </a:r>
            <a:endParaRPr lang="en-US" sz="2300" dirty="0"/>
          </a:p>
        </p:txBody>
      </p:sp>
      <p:sp>
        <p:nvSpPr>
          <p:cNvPr id="12" name="Text 7"/>
          <p:cNvSpPr/>
          <p:nvPr/>
        </p:nvSpPr>
        <p:spPr>
          <a:xfrm>
            <a:off x="1644253" y="5939195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 tagging, filtering, and moderation based on visual understanding</a:t>
            </a:r>
            <a:endParaRPr lang="en-US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5431036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07348" y="543103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Agriculture</a:t>
            </a:r>
            <a:endParaRPr lang="en-US" sz="2300" dirty="0"/>
          </a:p>
        </p:txBody>
      </p:sp>
      <p:sp>
        <p:nvSpPr>
          <p:cNvPr id="15" name="Text 9"/>
          <p:cNvSpPr/>
          <p:nvPr/>
        </p:nvSpPr>
        <p:spPr>
          <a:xfrm>
            <a:off x="8307348" y="5939195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plant species, detect crop diseases, and assess field health from aerial imagery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310" y="499229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 Detection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885230" y="164603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Goes beyond classification — object detection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localizes and identifies multiple objects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within a single image, drawing bounding boxes and assigning class labels simultaneously.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3790" y="2979301"/>
            <a:ext cx="4196358" cy="2111454"/>
          </a:xfrm>
          <a:prstGeom prst="roundRect">
            <a:avLst>
              <a:gd name="adj" fmla="val 692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979301"/>
            <a:ext cx="121920" cy="2111454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23659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Autonomous Driving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42524" y="374475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 vehicles, pedestrians, traffic signals, and road hazards in real time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16962" y="2979301"/>
            <a:ext cx="4196358" cy="2111454"/>
          </a:xfrm>
          <a:prstGeom prst="roundRect">
            <a:avLst>
              <a:gd name="adj" fmla="val 692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2979301"/>
            <a:ext cx="121920" cy="2111454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323659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Retail Analytics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565696" y="374475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 shelf stock levels and track customer movement patterns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9640133" y="2979301"/>
            <a:ext cx="4196358" cy="2111454"/>
          </a:xfrm>
          <a:prstGeom prst="roundRect">
            <a:avLst>
              <a:gd name="adj" fmla="val 692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2979301"/>
            <a:ext cx="121920" cy="2111454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323659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Surveillance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988868" y="374475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Flag intrusions and detect suspicious activity across large camera networks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93790" y="5317569"/>
            <a:ext cx="4196358" cy="2111454"/>
          </a:xfrm>
          <a:prstGeom prst="roundRect">
            <a:avLst>
              <a:gd name="adj" fmla="val 692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310" y="5317569"/>
            <a:ext cx="121920" cy="2111454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1142524" y="557486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Healthcare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142524" y="6083022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Localize tumors and abnormalities in radiology scans with spatial precision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216962" y="5317569"/>
            <a:ext cx="4196358" cy="2111454"/>
          </a:xfrm>
          <a:prstGeom prst="roundRect">
            <a:avLst>
              <a:gd name="adj" fmla="val 692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6482" y="5317569"/>
            <a:ext cx="121920" cy="2111454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22" name="Text 20"/>
          <p:cNvSpPr/>
          <p:nvPr/>
        </p:nvSpPr>
        <p:spPr>
          <a:xfrm>
            <a:off x="5565696" y="557486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Sports Analytics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5565696" y="6083022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players, ball position, and game events for performance analysis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79" y="148709"/>
            <a:ext cx="5288042" cy="7932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81011" y="564713"/>
            <a:ext cx="7189708" cy="89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50"/>
              </a:lnSpc>
              <a:buNone/>
            </a:pPr>
            <a:r>
              <a:rPr lang="en-US" sz="5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Image Segmentation</a:t>
            </a:r>
            <a:endParaRPr lang="en-US" sz="5650" dirty="0"/>
          </a:p>
        </p:txBody>
      </p:sp>
      <p:sp>
        <p:nvSpPr>
          <p:cNvPr id="5" name="Text 2"/>
          <p:cNvSpPr/>
          <p:nvPr/>
        </p:nvSpPr>
        <p:spPr>
          <a:xfrm>
            <a:off x="6181011" y="1723787"/>
            <a:ext cx="775477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Pixel-level labelling — going beyond object detection to precisely separate every region within an image, enabling detailed analysis and real-world decision-making.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181011" y="2514362"/>
            <a:ext cx="3790593" cy="2786062"/>
          </a:xfrm>
          <a:prstGeom prst="roundRect">
            <a:avLst>
              <a:gd name="adj" fmla="val 1069"/>
            </a:avLst>
          </a:prstGeom>
          <a:solidFill>
            <a:srgbClr val="F2EEEE"/>
          </a:solidFill>
          <a:ln/>
        </p:spPr>
      </p:sp>
      <p:sp>
        <p:nvSpPr>
          <p:cNvPr id="7" name="Shape 4"/>
          <p:cNvSpPr/>
          <p:nvPr/>
        </p:nvSpPr>
        <p:spPr>
          <a:xfrm>
            <a:off x="6379369" y="271272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3080" y="2876312"/>
            <a:ext cx="267891" cy="2678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79369" y="3481626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Medical Imaging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6379369" y="3911441"/>
            <a:ext cx="3393877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Identifying tumours and abnormalities in MRI/CT scans for accurate diagnosis and treatment planning.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10145197" y="2514362"/>
            <a:ext cx="3790593" cy="2786062"/>
          </a:xfrm>
          <a:prstGeom prst="roundRect">
            <a:avLst>
              <a:gd name="adj" fmla="val 1069"/>
            </a:avLst>
          </a:prstGeom>
          <a:solidFill>
            <a:srgbClr val="F2EEEE"/>
          </a:solidFill>
          <a:ln/>
        </p:spPr>
      </p:sp>
      <p:sp>
        <p:nvSpPr>
          <p:cNvPr id="12" name="Shape 8"/>
          <p:cNvSpPr/>
          <p:nvPr/>
        </p:nvSpPr>
        <p:spPr>
          <a:xfrm>
            <a:off x="10343555" y="271272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07266" y="2876312"/>
            <a:ext cx="267891" cy="2678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343555" y="3481626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Autonomous Vehicles</a:t>
            </a:r>
            <a:endParaRPr lang="en-US" sz="2050" dirty="0"/>
          </a:p>
        </p:txBody>
      </p:sp>
      <p:sp>
        <p:nvSpPr>
          <p:cNvPr id="15" name="Text 10"/>
          <p:cNvSpPr/>
          <p:nvPr/>
        </p:nvSpPr>
        <p:spPr>
          <a:xfrm>
            <a:off x="10343555" y="3911441"/>
            <a:ext cx="3393877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Segmenting roads, pedestrians, and obstacles in real time for safe, reliable navigation.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6181011" y="5474018"/>
            <a:ext cx="7754779" cy="2190750"/>
          </a:xfrm>
          <a:prstGeom prst="roundRect">
            <a:avLst>
              <a:gd name="adj" fmla="val 1359"/>
            </a:avLst>
          </a:prstGeom>
          <a:solidFill>
            <a:srgbClr val="F2EEEE"/>
          </a:solidFill>
          <a:ln/>
        </p:spPr>
      </p:sp>
      <p:sp>
        <p:nvSpPr>
          <p:cNvPr id="17" name="Shape 12"/>
          <p:cNvSpPr/>
          <p:nvPr/>
        </p:nvSpPr>
        <p:spPr>
          <a:xfrm>
            <a:off x="6379369" y="5672376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3080" y="5835967"/>
            <a:ext cx="267891" cy="2678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79369" y="6441281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Manufacturing &amp; QC</a:t>
            </a:r>
            <a:endParaRPr lang="en-US" sz="2050" dirty="0"/>
          </a:p>
        </p:txBody>
      </p:sp>
      <p:sp>
        <p:nvSpPr>
          <p:cNvPr id="20" name="Text 14"/>
          <p:cNvSpPr/>
          <p:nvPr/>
        </p:nvSpPr>
        <p:spPr>
          <a:xfrm>
            <a:off x="6379369" y="6871097"/>
            <a:ext cx="735806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Detecting fine-grained surface irregularities and defects across high-speed production lines.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353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484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Face Recognition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02537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Identifies or verifies individuals from facial features — enabling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secure, automated, and personalized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interactions across a wide range of systems.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006328"/>
            <a:ext cx="453628" cy="453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743444"/>
            <a:ext cx="310931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Security &amp; Surveillance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93790" y="4251603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individuals in CCTV footage for access control and threat detection</a:t>
            </a: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3006328"/>
            <a:ext cx="453628" cy="4536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374344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Device Authentication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7456884" y="4251603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Face unlock for secure and frictionless device access</a:t>
            </a:r>
            <a:endParaRPr lang="en-US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431036"/>
            <a:ext cx="453628" cy="4536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61681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Banking &amp; KYC</a:t>
            </a:r>
            <a:endParaRPr lang="en-US" sz="2300" dirty="0"/>
          </a:p>
        </p:txBody>
      </p:sp>
      <p:sp>
        <p:nvSpPr>
          <p:cNvPr id="12" name="Text 7"/>
          <p:cNvSpPr/>
          <p:nvPr/>
        </p:nvSpPr>
        <p:spPr>
          <a:xfrm>
            <a:off x="793790" y="6676311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Identity verification for transactions and fraud prevention</a:t>
            </a:r>
            <a:endParaRPr lang="en-US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5431036"/>
            <a:ext cx="453628" cy="4536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6884" y="61681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Attendance Systems</a:t>
            </a:r>
            <a:endParaRPr lang="en-US" sz="2300" dirty="0"/>
          </a:p>
        </p:txBody>
      </p:sp>
      <p:sp>
        <p:nvSpPr>
          <p:cNvPr id="15" name="Text 9"/>
          <p:cNvSpPr/>
          <p:nvPr/>
        </p:nvSpPr>
        <p:spPr>
          <a:xfrm>
            <a:off x="7456884" y="6676311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employee and student attendance tracking without physical contact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2793" y="588626"/>
            <a:ext cx="7924324" cy="604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Optical Character Recognition (OCR)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62382" y="1424051"/>
            <a:ext cx="13312418" cy="882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603122" y="2247661"/>
            <a:ext cx="5652638" cy="3036216"/>
          </a:xfrm>
          <a:prstGeom prst="roundRect">
            <a:avLst>
              <a:gd name="adj" fmla="val 695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/>
          <p:nvPr/>
        </p:nvSpPr>
        <p:spPr>
          <a:xfrm>
            <a:off x="5382650" y="2565810"/>
            <a:ext cx="24188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OCR Works</a:t>
            </a:r>
            <a:endParaRPr lang="en-US" sz="1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7312" y="3022046"/>
            <a:ext cx="5372219" cy="31883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2186" y="3800566"/>
            <a:ext cx="457325" cy="4573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63884" y="4909803"/>
            <a:ext cx="1335389" cy="27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Recognize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71057" y="3800567"/>
            <a:ext cx="457326" cy="4573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05727" y="4909803"/>
            <a:ext cx="1335388" cy="27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Detect Text</a:t>
            </a:r>
            <a:endParaRPr lang="en-US" sz="1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57414" y="3800568"/>
            <a:ext cx="457325" cy="4573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047261" y="4909803"/>
            <a:ext cx="1335389" cy="27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Preprocess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962" y="5531525"/>
            <a:ext cx="276344" cy="2763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55671" y="5525810"/>
            <a:ext cx="24188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Banking &amp; Finance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1555671" y="5918002"/>
            <a:ext cx="5665827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 cheque details, invoice data, and KYC documents automatically</a:t>
            </a:r>
            <a:endParaRPr lang="en-US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77720" y="5531525"/>
            <a:ext cx="276344" cy="2763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007429" y="5525810"/>
            <a:ext cx="25093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Entry Automation</a:t>
            </a:r>
            <a:endParaRPr lang="en-US" sz="1900" dirty="0"/>
          </a:p>
        </p:txBody>
      </p:sp>
      <p:sp>
        <p:nvSpPr>
          <p:cNvPr id="18" name="Text 10"/>
          <p:cNvSpPr/>
          <p:nvPr/>
        </p:nvSpPr>
        <p:spPr>
          <a:xfrm>
            <a:off x="8007429" y="5918002"/>
            <a:ext cx="5665946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Digitize forms, bills, and receipts — eliminating manual input</a:t>
            </a:r>
            <a:endParaRPr lang="en-US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962" y="6757511"/>
            <a:ext cx="276344" cy="27634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555671" y="6751796"/>
            <a:ext cx="277010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License Plate Recognition</a:t>
            </a:r>
            <a:endParaRPr lang="en-US" sz="1900" dirty="0"/>
          </a:p>
        </p:txBody>
      </p:sp>
      <p:sp>
        <p:nvSpPr>
          <p:cNvPr id="21" name="Text 12"/>
          <p:cNvSpPr/>
          <p:nvPr/>
        </p:nvSpPr>
        <p:spPr>
          <a:xfrm>
            <a:off x="1555671" y="7143988"/>
            <a:ext cx="5665827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 vehicle numbers for traffic monitoring and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enforcement</a:t>
            </a:r>
            <a:endParaRPr lang="en-US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77720" y="6757511"/>
            <a:ext cx="276344" cy="27634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007429" y="6751796"/>
            <a:ext cx="24188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Retail &amp; Logistics</a:t>
            </a:r>
            <a:endParaRPr lang="en-US" sz="1900" dirty="0"/>
          </a:p>
        </p:txBody>
      </p:sp>
      <p:sp>
        <p:nvSpPr>
          <p:cNvPr id="24" name="Text 14"/>
          <p:cNvSpPr/>
          <p:nvPr/>
        </p:nvSpPr>
        <p:spPr>
          <a:xfrm>
            <a:off x="8007429" y="7143988"/>
            <a:ext cx="5665946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Scan labels, invoices, and shipment details for faster processing pipelines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713106" y="1345845"/>
            <a:ext cx="13655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83838"/>
                </a:solidFill>
                <a:latin typeface="DM Sans" panose="020B0604020202020204" charset="0"/>
                <a:ea typeface="DM Sans" pitchFamily="34" charset="-122"/>
                <a:cs typeface="DM Sans" pitchFamily="34" charset="-120"/>
              </a:rPr>
              <a:t>OCR converts text within images or scanned documents into </a:t>
            </a:r>
            <a:r>
              <a:rPr lang="en-US" b="1" dirty="0">
                <a:solidFill>
                  <a:srgbClr val="383838"/>
                </a:solidFill>
                <a:latin typeface="DM Sans" panose="020B0604020202020204" charset="0"/>
                <a:ea typeface="DM Sans" pitchFamily="34" charset="-122"/>
                <a:cs typeface="DM Sans" pitchFamily="34" charset="-120"/>
              </a:rPr>
              <a:t>machine-readable, editable, and searchable formats</a:t>
            </a:r>
            <a:r>
              <a:rPr lang="en-US" dirty="0">
                <a:solidFill>
                  <a:srgbClr val="383838"/>
                </a:solidFill>
                <a:latin typeface="DM Sans" panose="020B0604020202020204" charset="0"/>
                <a:ea typeface="DM Sans" pitchFamily="34" charset="-122"/>
                <a:cs typeface="DM Sans" pitchFamily="34" charset="-120"/>
              </a:rPr>
              <a:t> — bridging the physical and digital worlds.</a:t>
            </a:r>
            <a:endParaRPr lang="en-US" dirty="0">
              <a:latin typeface="DM Sans" panose="020B060402020202020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633413"/>
            <a:ext cx="5395912" cy="674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Technology Stack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9376" y="1680448"/>
            <a:ext cx="13191649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modern CV ecosystem is built on a powerful set of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open-source Python frameworks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from low-level image processing to high-level model training and deployment.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19376" y="2516981"/>
            <a:ext cx="4273034" cy="2603183"/>
          </a:xfrm>
          <a:prstGeom prst="roundRect">
            <a:avLst>
              <a:gd name="adj" fmla="val 1184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924878" y="2722483"/>
            <a:ext cx="616625" cy="616625"/>
          </a:xfrm>
          <a:prstGeom prst="roundRect">
            <a:avLst>
              <a:gd name="adj" fmla="val 14827627"/>
            </a:avLst>
          </a:prstGeom>
          <a:solidFill>
            <a:srgbClr val="E04F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423" y="2892028"/>
            <a:ext cx="277416" cy="2774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4878" y="3525322"/>
            <a:ext cx="269795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PyTorch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24878" y="3974187"/>
            <a:ext cx="3862030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Dynamic computation graphs; preferred for research and custom architectures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178623" y="2516981"/>
            <a:ext cx="4273034" cy="2603183"/>
          </a:xfrm>
          <a:prstGeom prst="roundRect">
            <a:avLst>
              <a:gd name="adj" fmla="val 1184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5384125" y="2722483"/>
            <a:ext cx="616625" cy="616625"/>
          </a:xfrm>
          <a:prstGeom prst="roundRect">
            <a:avLst>
              <a:gd name="adj" fmla="val 14827627"/>
            </a:avLst>
          </a:prstGeom>
          <a:solidFill>
            <a:srgbClr val="E04F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3670" y="2892028"/>
            <a:ext cx="277416" cy="2774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84125" y="3525322"/>
            <a:ext cx="269795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TensorFlow / Keras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5384125" y="3974187"/>
            <a:ext cx="3862030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Production-grade training and deployment; strong ecosystem and tooling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9637871" y="2516981"/>
            <a:ext cx="4273034" cy="2603183"/>
          </a:xfrm>
          <a:prstGeom prst="roundRect">
            <a:avLst>
              <a:gd name="adj" fmla="val 1184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843373" y="2722483"/>
            <a:ext cx="616625" cy="616625"/>
          </a:xfrm>
          <a:prstGeom prst="roundRect">
            <a:avLst>
              <a:gd name="adj" fmla="val 14827627"/>
            </a:avLst>
          </a:prstGeom>
          <a:solidFill>
            <a:srgbClr val="E04F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2918" y="2892028"/>
            <a:ext cx="277416" cy="2774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43373" y="3525322"/>
            <a:ext cx="269795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OpenCV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9843373" y="3974187"/>
            <a:ext cx="3862030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image processing, video capture, and classical CV operations</a:t>
            </a: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719376" y="5306378"/>
            <a:ext cx="6502598" cy="2289691"/>
          </a:xfrm>
          <a:prstGeom prst="roundRect">
            <a:avLst>
              <a:gd name="adj" fmla="val 1347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924878" y="5511879"/>
            <a:ext cx="616625" cy="616625"/>
          </a:xfrm>
          <a:prstGeom prst="roundRect">
            <a:avLst>
              <a:gd name="adj" fmla="val 14827627"/>
            </a:avLst>
          </a:prstGeom>
          <a:solidFill>
            <a:srgbClr val="E04F0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4423" y="5681424"/>
            <a:ext cx="277416" cy="2774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4878" y="6314718"/>
            <a:ext cx="269795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Detectron2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924878" y="6763583"/>
            <a:ext cx="6091595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Facebook AI's platform for state-of-the-art object detection and segmentation</a:t>
            </a:r>
            <a:endParaRPr lang="en-US" dirty="0"/>
          </a:p>
        </p:txBody>
      </p:sp>
      <p:sp>
        <p:nvSpPr>
          <p:cNvPr id="24" name="Shape 18"/>
          <p:cNvSpPr/>
          <p:nvPr/>
        </p:nvSpPr>
        <p:spPr>
          <a:xfrm>
            <a:off x="7408188" y="5306378"/>
            <a:ext cx="6502718" cy="2289691"/>
          </a:xfrm>
          <a:prstGeom prst="roundRect">
            <a:avLst>
              <a:gd name="adj" fmla="val 1347"/>
            </a:avLst>
          </a:prstGeom>
          <a:solidFill>
            <a:srgbClr val="F2EEEE"/>
          </a:solidFill>
          <a:ln/>
        </p:spPr>
      </p:sp>
      <p:sp>
        <p:nvSpPr>
          <p:cNvPr id="25" name="Shape 19"/>
          <p:cNvSpPr/>
          <p:nvPr/>
        </p:nvSpPr>
        <p:spPr>
          <a:xfrm>
            <a:off x="7613690" y="5511879"/>
            <a:ext cx="616625" cy="616625"/>
          </a:xfrm>
          <a:prstGeom prst="roundRect">
            <a:avLst>
              <a:gd name="adj" fmla="val 14827627"/>
            </a:avLst>
          </a:prstGeom>
          <a:solidFill>
            <a:srgbClr val="E04F0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83235" y="5681424"/>
            <a:ext cx="277416" cy="2774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13690" y="6314718"/>
            <a:ext cx="269795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scikit-image</a:t>
            </a:r>
            <a:endParaRPr lang="en-US" sz="2100" dirty="0"/>
          </a:p>
        </p:txBody>
      </p:sp>
      <p:sp>
        <p:nvSpPr>
          <p:cNvPr id="28" name="Text 21"/>
          <p:cNvSpPr/>
          <p:nvPr/>
        </p:nvSpPr>
        <p:spPr>
          <a:xfrm>
            <a:off x="7613690" y="6763583"/>
            <a:ext cx="6091714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image processing — filtering, morphology, feature extraction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291" y="509945"/>
            <a:ext cx="6807637" cy="54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Transfer Learning: Stand on Giants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568291" y="1555547"/>
            <a:ext cx="11493698" cy="118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Rather than training from scratch,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transfer learning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reuses models pre-trained on massive </a:t>
            </a: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datasets (e.g., ImageNet) and fine-tunes them for specific tasks — saving time, compute, and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labeled data.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1568291" y="3243401"/>
            <a:ext cx="8884004" cy="1078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Popular Pre-trained Models:</a:t>
            </a: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rgbClr val="00000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2000" dirty="0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ResNet</a:t>
            </a: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VGG, EfficientNet, </a:t>
            </a:r>
            <a:r>
              <a:rPr lang="en-US" sz="2000" dirty="0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MobileNet</a:t>
            </a: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Vision Transformer (ViT)</a:t>
            </a:r>
            <a:endParaRPr lang="en-US" sz="2000" dirty="0"/>
          </a:p>
        </p:txBody>
      </p:sp>
      <p:sp>
        <p:nvSpPr>
          <p:cNvPr id="11" name="Text 5"/>
          <p:cNvSpPr/>
          <p:nvPr/>
        </p:nvSpPr>
        <p:spPr>
          <a:xfrm>
            <a:off x="1568291" y="5159811"/>
            <a:ext cx="11493698" cy="69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works:</a:t>
            </a: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rgbClr val="00000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Low-level visual features (edges, textures, shapes) </a:t>
            </a: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rgbClr val="00000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are universal. Only high-level task-specific</a:t>
            </a:r>
          </a:p>
          <a:p>
            <a:pPr marL="0" indent="0" algn="l">
              <a:lnSpc>
                <a:spcPts val="1800"/>
              </a:lnSpc>
              <a:buNone/>
            </a:pPr>
            <a:endParaRPr lang="en-US" sz="2000" dirty="0">
              <a:solidFill>
                <a:srgbClr val="00000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layers need relearning.</a:t>
            </a:r>
            <a:endParaRPr lang="en-US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CFA617-32AC-B348-9B98-65B6B1AEE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298" y="2872817"/>
            <a:ext cx="6416430" cy="39078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4249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81213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70347" y="2844046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30906" y="2890004"/>
            <a:ext cx="449318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 powers modern CV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530906" y="3398163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Hierarchical feature learning from raw pixels replaced brittle, handcrafted pipelines — permanently.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456884" y="281213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7533442" y="2844046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194000" y="2890004"/>
            <a:ext cx="46508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CV tasks form a precision spectrum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194000" y="3398163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Classification → Detection → Segmentation → Recognition, each building on the last with greater spatial detail.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93790" y="494049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870347" y="4972407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30906" y="5018365"/>
            <a:ext cx="480143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Applications are already everywhere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530906" y="5526524"/>
            <a:ext cx="564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Healthcare, autonomous vehicles, banking, retail — CV is deployed at scale across virtually every industry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56884" y="494049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533442" y="4972407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194000" y="5018365"/>
            <a:ext cx="359699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Start with transfer learning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194000" y="5526524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Leverage pre-trained models via PyTorch or TensorFlow to build powerful CV systems with minimal data and compute.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1220</Words>
  <Application>Microsoft Macintosh PowerPoint</Application>
  <PresentationFormat>Custom</PresentationFormat>
  <Paragraphs>195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PT Serif Light</vt:lpstr>
      <vt:lpstr>Calibri</vt:lpstr>
      <vt:lpstr>DM Sans</vt:lpstr>
      <vt:lpstr>Arial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26</cp:revision>
  <dcterms:created xsi:type="dcterms:W3CDTF">2026-04-17T05:32:33Z</dcterms:created>
  <dcterms:modified xsi:type="dcterms:W3CDTF">2026-05-11T05:00:44Z</dcterms:modified>
</cp:coreProperties>
</file>