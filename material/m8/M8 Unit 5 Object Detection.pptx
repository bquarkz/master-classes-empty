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4" r:id="rId3"/>
    <p:sldId id="257" r:id="rId4"/>
    <p:sldId id="258" r:id="rId5"/>
    <p:sldId id="271" r:id="rId6"/>
    <p:sldId id="260" r:id="rId7"/>
    <p:sldId id="261" r:id="rId8"/>
    <p:sldId id="262" r:id="rId9"/>
    <p:sldId id="272" r:id="rId10"/>
    <p:sldId id="275" r:id="rId11"/>
    <p:sldId id="273" r:id="rId12"/>
    <p:sldId id="264" r:id="rId13"/>
    <p:sldId id="265" r:id="rId14"/>
    <p:sldId id="266" r:id="rId15"/>
    <p:sldId id="268" r:id="rId16"/>
    <p:sldId id="269" r:id="rId17"/>
  </p:sldIdLst>
  <p:sldSz cx="14630400" cy="8229600"/>
  <p:notesSz cx="8229600" cy="146304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DM Sans" pitchFamily="2" charset="77"/>
      <p:regular r:id="rId23"/>
      <p:bold r:id="rId24"/>
      <p:italic r:id="rId25"/>
    </p:embeddedFont>
    <p:embeddedFont>
      <p:font typeface="PT Serif" panose="020A0603040505020204" pitchFamily="18" charset="77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32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12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04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380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05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0968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 Detection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934467" y="422376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seeing to understanding — detecting not just </a:t>
            </a:r>
            <a:r>
              <a:rPr lang="en-US" sz="20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present, but </a:t>
            </a:r>
            <a:r>
              <a:rPr lang="en-US" sz="20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it exists.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445538"/>
            <a:ext cx="5209937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93790" y="3028474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342799"/>
            <a:ext cx="4215289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3487698"/>
            <a:ext cx="3771067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Foundations of Object Detection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793790" y="3932396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Definition, outputs, and the mathematical formulation of structured prediction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207437" y="3028474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550" dirty="0">
              <a:latin typeface="PT Serif" panose="020B06040202020202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207437" y="3342799"/>
            <a:ext cx="4215408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5207437" y="3487698"/>
            <a:ext cx="3146584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Detection vs. Classification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5207437" y="3932396"/>
            <a:ext cx="42154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conceptual distinctions in granularity, output complexity, and spatial reasoning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621203" y="3028474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621203" y="3342799"/>
            <a:ext cx="4215289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9621203" y="3487698"/>
            <a:ext cx="2820114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Real-World Applications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9621203" y="3932396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Autonomous vehicles, healthcare, retail, agriculture, and augmented reality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93790" y="4914662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93790" y="5228987"/>
            <a:ext cx="6422112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793790" y="5373886"/>
            <a:ext cx="3122652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YOLO &amp; SSD Architectures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793790" y="5818584"/>
            <a:ext cx="642211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modern single-stage detectors work, from grid division to NMS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414260" y="4914662"/>
            <a:ext cx="3968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414260" y="5228987"/>
            <a:ext cx="6422231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3" name="Text 21"/>
          <p:cNvSpPr/>
          <p:nvPr/>
        </p:nvSpPr>
        <p:spPr>
          <a:xfrm>
            <a:off x="7414260" y="5373886"/>
            <a:ext cx="486548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Loss Functions &amp; Python Implementation</a:t>
            </a:r>
            <a:endParaRPr lang="en-US" sz="2050" dirty="0"/>
          </a:p>
        </p:txBody>
      </p:sp>
      <p:sp>
        <p:nvSpPr>
          <p:cNvPr id="24" name="Text 22"/>
          <p:cNvSpPr/>
          <p:nvPr/>
        </p:nvSpPr>
        <p:spPr>
          <a:xfrm>
            <a:off x="7414260" y="5818584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multi-part loss formulation and hands-on code with Ultralytics YOLO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1542945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243042" y="644962"/>
            <a:ext cx="6590467" cy="709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Object Detection?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43042" y="1663422"/>
            <a:ext cx="7630716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 Detection is a computer vision technique that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identifies and localizes multiple objects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within an image or video simultaneously — performing two tasks at once: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6243042" y="3140393"/>
            <a:ext cx="3551634" cy="1330523"/>
          </a:xfrm>
          <a:prstGeom prst="roundRect">
            <a:avLst>
              <a:gd name="adj" fmla="val 2437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6459141" y="3356491"/>
            <a:ext cx="2837498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Classification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59141" y="3917037"/>
            <a:ext cx="311943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objects are present?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243042" y="4676894"/>
            <a:ext cx="3551634" cy="1668304"/>
          </a:xfrm>
          <a:prstGeom prst="roundRect">
            <a:avLst>
              <a:gd name="adj" fmla="val 1944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6459141" y="4892993"/>
            <a:ext cx="2837498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Localization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459141" y="5453539"/>
            <a:ext cx="3119437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are these objects located?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0329743" y="3114556"/>
            <a:ext cx="3551634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Output — for each detected object: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329743" y="4029670"/>
            <a:ext cx="3551634" cy="2170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Bounding box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rectangular region coordinates</a:t>
            </a:r>
            <a:endParaRPr lang="en-US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 label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category of the object</a:t>
            </a:r>
            <a:endParaRPr lang="en-US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Confidence score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prediction certainty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0329743" y="6385798"/>
            <a:ext cx="3551634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makes object detection a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prediction problem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not a simple classification task.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B4D1942-6753-FD43-95D9-3ABC52D4B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29" y="644962"/>
            <a:ext cx="5707975" cy="71551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436" y="906148"/>
            <a:ext cx="907196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 Detection vs. Classification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97703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Image Classification</a:t>
            </a:r>
            <a:endParaRPr lang="en-US" sz="2300" b="1" dirty="0"/>
          </a:p>
        </p:txBody>
      </p:sp>
      <p:sp>
        <p:nvSpPr>
          <p:cNvPr id="4" name="Text 2"/>
          <p:cNvSpPr/>
          <p:nvPr/>
        </p:nvSpPr>
        <p:spPr>
          <a:xfrm>
            <a:off x="793790" y="3575923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Assigns a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label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the entire image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spatial information provided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Output: </a:t>
            </a:r>
            <a:r>
              <a:rPr lang="en-US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"This is a cat"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 — one prediction per image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99521" y="297703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 Detection</a:t>
            </a:r>
            <a:endParaRPr lang="en-US" sz="2300" b="1" dirty="0"/>
          </a:p>
        </p:txBody>
      </p:sp>
      <p:sp>
        <p:nvSpPr>
          <p:cNvPr id="6" name="Text 4"/>
          <p:cNvSpPr/>
          <p:nvPr/>
        </p:nvSpPr>
        <p:spPr>
          <a:xfrm>
            <a:off x="7599521" y="3575923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multiple objects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a single image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Provides precise bounding box coordinates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Output: </a:t>
            </a:r>
            <a:r>
              <a:rPr lang="en-US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"2 cats here, 1 dog there"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 — many predictions per image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93790" y="5599867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943957"/>
            <a:ext cx="283488" cy="2268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0906" y="5883354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Classification is a </a:t>
            </a: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special case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object detection where the entire image is treated as a single bounding box.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078587"/>
            <a:ext cx="7576542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 of Object Detection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793790" y="237160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 detection has become a cornerstone of modern AI systems, enabling machines to interpret visual scenes with the richness and specificity that real-world tasks demand. Its impact spans virtually every major industry.</a:t>
            </a: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229928"/>
            <a:ext cx="496133" cy="4961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3974068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Autonomous Vehicles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793790" y="4418767"/>
            <a:ext cx="639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 pedestrians, vehicles, traffic signs, and lane boundaries in real time to enable safe, reliable navigation at high speeds.</a:t>
            </a:r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9144" y="3229928"/>
            <a:ext cx="496133" cy="4961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39144" y="3974068"/>
            <a:ext cx="2721173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Surveillance &amp; Security</a:t>
            </a:r>
            <a:endParaRPr lang="en-US" sz="2050" dirty="0"/>
          </a:p>
        </p:txBody>
      </p:sp>
      <p:sp>
        <p:nvSpPr>
          <p:cNvPr id="11" name="Text 7"/>
          <p:cNvSpPr/>
          <p:nvPr/>
        </p:nvSpPr>
        <p:spPr>
          <a:xfrm>
            <a:off x="7439144" y="4418767"/>
            <a:ext cx="639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suspicious activities, detect unauthorized intrusions, and track individuals across distributed camera networks.</a:t>
            </a:r>
            <a:endParaRPr lang="en-US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450681"/>
            <a:ext cx="496133" cy="4961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619482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Retail Analytics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793790" y="6639520"/>
            <a:ext cx="639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 customer behavior, detect empty shelves, count footfall, and track product interactions to optimize store operations.</a:t>
            </a:r>
            <a:endParaRPr lang="en-US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39144" y="5450681"/>
            <a:ext cx="496133" cy="49613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39144" y="6194822"/>
            <a:ext cx="260496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Healthcare Imaging</a:t>
            </a:r>
            <a:endParaRPr lang="en-US" sz="2050" dirty="0"/>
          </a:p>
        </p:txBody>
      </p:sp>
      <p:sp>
        <p:nvSpPr>
          <p:cNvPr id="17" name="Text 11"/>
          <p:cNvSpPr/>
          <p:nvPr/>
        </p:nvSpPr>
        <p:spPr>
          <a:xfrm>
            <a:off x="7439144" y="6639520"/>
            <a:ext cx="639746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 tumors, lesions, and abnormalities in X-rays, CT scans, and MRIs — supporting radiologists with automated second opinions.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534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87686"/>
            <a:ext cx="796528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More Real-World Applications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685574"/>
            <a:ext cx="4196358" cy="2474357"/>
          </a:xfrm>
          <a:prstGeom prst="roundRect">
            <a:avLst>
              <a:gd name="adj" fmla="val 591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685574"/>
            <a:ext cx="121920" cy="2474357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94286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Manufacturing &amp; QC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42524" y="3451027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defects on assembly lines in real time, reducing waste and improving product quality.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685574"/>
            <a:ext cx="4196358" cy="2474357"/>
          </a:xfrm>
          <a:prstGeom prst="roundRect">
            <a:avLst>
              <a:gd name="adj" fmla="val 591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2685574"/>
            <a:ext cx="121920" cy="2474357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294286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Agriculture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565696" y="3451027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 pests, crop diseases, and estimate yield using drone or satellite imagery.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685574"/>
            <a:ext cx="4196358" cy="2474357"/>
          </a:xfrm>
          <a:prstGeom prst="roundRect">
            <a:avLst>
              <a:gd name="adj" fmla="val 591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2685574"/>
            <a:ext cx="121920" cy="2474357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294286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Augmented Reality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9988868" y="3451027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Enable object-aware overlays in real-time AR applications, anchoring digital content to physical objects.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415082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759172"/>
            <a:ext cx="283488" cy="22681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0906" y="5698569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 detection is now a </a:t>
            </a: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cornerstone of modern AI systems</a:t>
            </a: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wherever detailed visual scene understanding is required.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2775" y="83833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</a:t>
            </a:r>
            <a:r>
              <a:rPr lang="en-US" sz="465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YOLO:</a:t>
            </a:r>
            <a:r>
              <a:rPr lang="en-US" sz="48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You</a:t>
            </a:r>
            <a:r>
              <a:rPr lang="en-US" sz="4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Only Look Once</a:t>
            </a:r>
            <a:endParaRPr lang="en-US" sz="4800" dirty="0"/>
          </a:p>
          <a:p>
            <a:pPr marL="0" indent="0" algn="l">
              <a:lnSpc>
                <a:spcPts val="5850"/>
              </a:lnSpc>
              <a:buNone/>
            </a:pPr>
            <a:endParaRPr lang="en-US" sz="4650" dirty="0"/>
          </a:p>
        </p:txBody>
      </p:sp>
      <p:sp>
        <p:nvSpPr>
          <p:cNvPr id="6" name="Text 3"/>
          <p:cNvSpPr/>
          <p:nvPr/>
        </p:nvSpPr>
        <p:spPr>
          <a:xfrm>
            <a:off x="793790" y="2722007"/>
            <a:ext cx="8216741" cy="1027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50"/>
              </a:lnSpc>
              <a:buNone/>
            </a:pPr>
            <a:endParaRPr lang="en-US" sz="6450" dirty="0"/>
          </a:p>
        </p:txBody>
      </p:sp>
      <p:sp>
        <p:nvSpPr>
          <p:cNvPr id="7" name="Text 4"/>
          <p:cNvSpPr/>
          <p:nvPr/>
        </p:nvSpPr>
        <p:spPr>
          <a:xfrm>
            <a:off x="582775" y="2190063"/>
            <a:ext cx="13042821" cy="5645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YOLO, introduced by Redmon et al. (2016), fundamentally changed the object detection landscape. Rather than applying a region proposal network followed by a separate classification pass — as in Faster R-CNN — YOLO reframes detection as a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regression problem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solved in one forward pass.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YOLO treats object detection as a </a:t>
            </a:r>
            <a:r>
              <a:rPr lang="en-US" sz="2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regression problem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predicting bounding boxes and class probabilities directly from image pixels in </a:t>
            </a:r>
            <a:r>
              <a:rPr lang="en-US" sz="20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forward pass</a:t>
            </a: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No region proposals. No two-stage pipeline.</a:t>
            </a:r>
          </a:p>
          <a:p>
            <a:pPr marL="342900" indent="-342900" algn="l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383838"/>
              </a:solidFill>
              <a:latin typeface="DM Sans" pitchFamily="34" charset="0"/>
            </a:endParaRPr>
          </a:p>
          <a:p>
            <a:pPr marL="342900" indent="-34290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DM Sans" panose="020B0604020202020204" charset="0"/>
              </a:rPr>
              <a:t>In other words, It looks at the whole image at once and makes decisions instantly like humans.</a:t>
            </a:r>
          </a:p>
          <a:p>
            <a:pPr marL="342900" indent="-34290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DM Sans" panose="020B0604020202020204" charset="0"/>
            </a:endParaRPr>
          </a:p>
          <a:p>
            <a:pPr marL="342900" indent="-342900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DM Sans" panose="020B0604020202020204" charset="0"/>
              </a:rPr>
              <a:t>Fast, simple, and built for real-time applications like video and live detection.</a:t>
            </a:r>
            <a:endParaRPr lang="en-US" sz="2000" dirty="0">
              <a:latin typeface="DM Sans" panose="020B060402020202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17446"/>
            <a:ext cx="4930735" cy="616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YOLO Works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68" y="1444823"/>
            <a:ext cx="12854226" cy="55430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2888" y="5927610"/>
            <a:ext cx="3062020" cy="38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Combine &amp; Score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752888" y="4644477"/>
            <a:ext cx="3062020" cy="38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Class Prediction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752888" y="3374307"/>
            <a:ext cx="3062020" cy="38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Box Prediction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752888" y="2091175"/>
            <a:ext cx="3062020" cy="38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Grid Division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34628" y="7162800"/>
            <a:ext cx="12961025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insight: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YOLO looks at the image exactly once — a single forward pass through the network yields all predictions simultaneously, enabling real-time detection speeds.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99232" y="513117"/>
            <a:ext cx="6063139" cy="518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YOLO Works — Step by Step</a:t>
            </a:r>
            <a:endParaRPr lang="en-US" sz="3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0" y="1046353"/>
            <a:ext cx="12471916" cy="5387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93177" y="4963826"/>
            <a:ext cx="1851832" cy="354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Box Prediction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093177" y="5463222"/>
            <a:ext cx="1851832" cy="48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 x,y,w,h and confidence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812607" y="4615875"/>
            <a:ext cx="1851831" cy="708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Combine Scores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78066" y="5488499"/>
            <a:ext cx="1851831" cy="48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Confidence = P(object) × IoU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57818" y="1644329"/>
            <a:ext cx="1851832" cy="354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Grid Division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57818" y="2119065"/>
            <a:ext cx="1851832" cy="48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 image into S×S cells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0185428" y="1653061"/>
            <a:ext cx="1851832" cy="708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Non-Max Suppression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315092" y="2603618"/>
            <a:ext cx="1851832" cy="72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Remove duplicates, keep top boxes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463309" y="1581432"/>
            <a:ext cx="1851832" cy="708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Class Prediction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536455" y="2402353"/>
            <a:ext cx="1851832" cy="48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Per-cell class probability scores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02407" y="6462551"/>
            <a:ext cx="12471916" cy="68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000" b="1" dirty="0">
                <a:latin typeface="DM Sans" panose="020B0604020202020204" charset="0"/>
              </a:rPr>
              <a:t>x</a:t>
            </a:r>
            <a:r>
              <a:rPr lang="en-IN" sz="2000" dirty="0">
                <a:latin typeface="DM Sans" panose="020B0604020202020204" charset="0"/>
              </a:rPr>
              <a:t>: The x-coordinate of the box center (relative to the bounds of the grid cell).</a:t>
            </a:r>
          </a:p>
          <a:p>
            <a:r>
              <a:rPr lang="en-IN" sz="2000" b="1" dirty="0">
                <a:latin typeface="DM Sans" panose="020B0604020202020204" charset="0"/>
              </a:rPr>
              <a:t>y</a:t>
            </a:r>
            <a:r>
              <a:rPr lang="en-IN" sz="2000" dirty="0">
                <a:latin typeface="DM Sans" panose="020B0604020202020204" charset="0"/>
              </a:rPr>
              <a:t>: The y-coordinate of the box center (relative to the bounds of the grid cell).</a:t>
            </a:r>
          </a:p>
          <a:p>
            <a:r>
              <a:rPr lang="en-IN" sz="2000" b="1" dirty="0">
                <a:latin typeface="DM Sans" panose="020B0604020202020204" charset="0"/>
              </a:rPr>
              <a:t>w</a:t>
            </a:r>
            <a:r>
              <a:rPr lang="en-IN" sz="2000" dirty="0">
                <a:latin typeface="DM Sans" panose="020B0604020202020204" charset="0"/>
              </a:rPr>
              <a:t>: The width of the box (relative to the entire image).</a:t>
            </a:r>
          </a:p>
          <a:p>
            <a:r>
              <a:rPr lang="en-IN" sz="2000" b="1" dirty="0">
                <a:latin typeface="DM Sans" panose="020B0604020202020204" charset="0"/>
              </a:rPr>
              <a:t>h</a:t>
            </a:r>
            <a:r>
              <a:rPr lang="en-IN" sz="2000" dirty="0">
                <a:latin typeface="DM Sans" panose="020B0604020202020204" charset="0"/>
              </a:rPr>
              <a:t>: The height of the box (relative to the entire image).</a:t>
            </a:r>
          </a:p>
          <a:p>
            <a:r>
              <a:rPr lang="en-IN" sz="2000" b="1" dirty="0">
                <a:latin typeface="DM Sans" panose="020B0604020202020204" charset="0"/>
              </a:rPr>
              <a:t>Confidence</a:t>
            </a:r>
            <a:r>
              <a:rPr lang="en-IN" sz="2000" dirty="0">
                <a:latin typeface="DM Sans" panose="020B0604020202020204" charset="0"/>
              </a:rPr>
              <a:t>: How sure the model is that an object exists here and how accurate it thinks the box is.</a:t>
            </a:r>
          </a:p>
        </p:txBody>
      </p:sp>
    </p:spTree>
    <p:extLst>
      <p:ext uri="{BB962C8B-B14F-4D97-AF65-F5344CB8AC3E}">
        <p14:creationId xmlns:p14="http://schemas.microsoft.com/office/powerpoint/2010/main" val="33600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460190C4-10E7-AD4A-1B0A-7D90F762DB25}"/>
              </a:ext>
            </a:extLst>
          </p:cNvPr>
          <p:cNvSpPr/>
          <p:nvPr/>
        </p:nvSpPr>
        <p:spPr>
          <a:xfrm>
            <a:off x="2477691" y="483037"/>
            <a:ext cx="8543568" cy="556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YOLO Works — Concept of Confidence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1094564" y="1314807"/>
            <a:ext cx="12621435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YOLO, every predicted bounding box is assigned a </a:t>
            </a:r>
            <a:r>
              <a:rPr lang="en-US" sz="16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confidence score</a:t>
            </a: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captures both whether an object exists and how well the box fits it. The formula is: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691" y="1820942"/>
            <a:ext cx="9674900" cy="29253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94564" y="2374105"/>
            <a:ext cx="4874895" cy="2028845"/>
          </a:xfrm>
          <a:prstGeom prst="roundRect">
            <a:avLst>
              <a:gd name="adj" fmla="val 1463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/>
          <p:nvPr/>
        </p:nvSpPr>
        <p:spPr>
          <a:xfrm>
            <a:off x="1687518" y="2464224"/>
            <a:ext cx="2548057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Breaking Down the Terms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264227" y="2845900"/>
            <a:ext cx="4535567" cy="1186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P(Object)</a:t>
            </a: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Probability that an object exists in the grid cell. In ground truth, this is binary — either 1 (object present) or 0 (no object).</a:t>
            </a:r>
            <a:endParaRPr lang="en-US" sz="16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IoU(pred, truth)</a:t>
            </a:r>
            <a:r>
              <a:rPr lang="en-US" sz="16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Intersection over Union between the predicted box and the ground truth box.</a:t>
            </a:r>
            <a:endParaRPr lang="en-US" sz="1600" dirty="0"/>
          </a:p>
        </p:txBody>
      </p:sp>
      <p:sp>
        <p:nvSpPr>
          <p:cNvPr id="4" name="Text 7"/>
          <p:cNvSpPr/>
          <p:nvPr/>
        </p:nvSpPr>
        <p:spPr>
          <a:xfrm>
            <a:off x="7529751" y="2377797"/>
            <a:ext cx="2227778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IoU Formula</a:t>
            </a:r>
            <a:endParaRPr lang="en-US" sz="2000" dirty="0"/>
          </a:p>
        </p:txBody>
      </p:sp>
      <p:sp>
        <p:nvSpPr>
          <p:cNvPr id="6" name="Text 8"/>
          <p:cNvSpPr/>
          <p:nvPr/>
        </p:nvSpPr>
        <p:spPr>
          <a:xfrm>
            <a:off x="7529751" y="2772847"/>
            <a:ext cx="6101725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IoU measures the ratio of overlap to total coverage between two boxes:</a:t>
            </a:r>
            <a:endParaRPr lang="en-US" sz="16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751" y="3378875"/>
            <a:ext cx="4630341" cy="47529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46359" y="4461992"/>
            <a:ext cx="3564374" cy="445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Multiply Them?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346359" y="4909548"/>
            <a:ext cx="9674900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Confidence is not just about detection — it penalizes poor localization too.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485192" y="7327463"/>
            <a:ext cx="9674900" cy="807244"/>
          </a:xfrm>
          <a:prstGeom prst="roundRect">
            <a:avLst>
              <a:gd name="adj" fmla="val 3154"/>
            </a:avLst>
          </a:prstGeom>
          <a:solidFill>
            <a:srgbClr val="B6D6FC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9377" y="7576899"/>
            <a:ext cx="212169" cy="16966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3344234" y="7501889"/>
            <a:ext cx="8953738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an object exists, confidence collapses to pure IoU. A perfect box scores 1.0; a misaligned box scores proportionally lower — making confidence a unified measure of detection quality and localization accuracy.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1387956" y="5320028"/>
            <a:ext cx="3147179" cy="1650206"/>
          </a:xfrm>
          <a:prstGeom prst="roundRect">
            <a:avLst>
              <a:gd name="adj" fmla="val 664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649060" y="5512552"/>
            <a:ext cx="2227778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 Object Present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1649060" y="5860928"/>
            <a:ext cx="2693551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P(Object) = 0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Confidence = </a:t>
            </a: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regardless of the predicted box shape. The model is penalized for any false detection.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1387956" y="5320028"/>
            <a:ext cx="91440" cy="1650206"/>
          </a:xfrm>
          <a:prstGeom prst="roundRect">
            <a:avLst>
              <a:gd name="adj" fmla="val 27844"/>
            </a:avLst>
          </a:prstGeom>
          <a:solidFill>
            <a:srgbClr val="E04F00"/>
          </a:solidFill>
          <a:ln/>
        </p:spPr>
      </p:sp>
      <p:sp>
        <p:nvSpPr>
          <p:cNvPr id="21" name="Shape 16"/>
          <p:cNvSpPr/>
          <p:nvPr/>
        </p:nvSpPr>
        <p:spPr>
          <a:xfrm>
            <a:off x="5126828" y="5350312"/>
            <a:ext cx="3147179" cy="1650206"/>
          </a:xfrm>
          <a:prstGeom prst="roundRect">
            <a:avLst>
              <a:gd name="adj" fmla="val 664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103968" y="5350312"/>
            <a:ext cx="91440" cy="1650206"/>
          </a:xfrm>
          <a:prstGeom prst="roundRect">
            <a:avLst>
              <a:gd name="adj" fmla="val 27844"/>
            </a:avLst>
          </a:prstGeom>
          <a:solidFill>
            <a:srgbClr val="E04F00"/>
          </a:solidFill>
          <a:ln/>
        </p:spPr>
      </p:sp>
      <p:sp>
        <p:nvSpPr>
          <p:cNvPr id="23" name="Text 18"/>
          <p:cNvSpPr/>
          <p:nvPr/>
        </p:nvSpPr>
        <p:spPr>
          <a:xfrm>
            <a:off x="5387932" y="5542836"/>
            <a:ext cx="2519124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 Exists, Perfect Box</a:t>
            </a:r>
            <a:endParaRPr lang="en-US" sz="1750" dirty="0"/>
          </a:p>
        </p:txBody>
      </p:sp>
      <p:sp>
        <p:nvSpPr>
          <p:cNvPr id="24" name="Text 19"/>
          <p:cNvSpPr/>
          <p:nvPr/>
        </p:nvSpPr>
        <p:spPr>
          <a:xfrm>
            <a:off x="5387932" y="5891212"/>
            <a:ext cx="2693551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P(Object) = 1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IoU = </a:t>
            </a: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1.0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Confidence = </a:t>
            </a: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1.0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The predicted box perfectly aligns with ground truth.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751838" y="5371489"/>
            <a:ext cx="3147179" cy="1650206"/>
          </a:xfrm>
          <a:prstGeom prst="roundRect">
            <a:avLst>
              <a:gd name="adj" fmla="val 6649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728978" y="5371489"/>
            <a:ext cx="91440" cy="1650206"/>
          </a:xfrm>
          <a:prstGeom prst="roundRect">
            <a:avLst>
              <a:gd name="adj" fmla="val 27844"/>
            </a:avLst>
          </a:prstGeom>
          <a:solidFill>
            <a:srgbClr val="E04F00"/>
          </a:solidFill>
          <a:ln/>
        </p:spPr>
      </p:sp>
      <p:sp>
        <p:nvSpPr>
          <p:cNvPr id="27" name="Text 22"/>
          <p:cNvSpPr/>
          <p:nvPr/>
        </p:nvSpPr>
        <p:spPr>
          <a:xfrm>
            <a:off x="9012942" y="5564013"/>
            <a:ext cx="2283023" cy="27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 Exists, Poor Box</a:t>
            </a:r>
            <a:endParaRPr lang="en-US" sz="1750" dirty="0"/>
          </a:p>
        </p:txBody>
      </p:sp>
      <p:sp>
        <p:nvSpPr>
          <p:cNvPr id="28" name="Text 23"/>
          <p:cNvSpPr/>
          <p:nvPr/>
        </p:nvSpPr>
        <p:spPr>
          <a:xfrm>
            <a:off x="9012942" y="5912389"/>
            <a:ext cx="2693551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P(Object) = 1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IoU = </a:t>
            </a: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0.3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Confidence = </a:t>
            </a: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0.3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The object is found but localization is weak, so the score is low.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948196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5730" y="611149"/>
            <a:ext cx="5887522" cy="600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 Extraction in YOLO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548878" y="1548409"/>
            <a:ext cx="13166884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YOLO leverages Convolutional Neural Networks (CNNs) to extract a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hierarchical feature representation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the input image. This hierarchy is what allows a single model to detect objects at vastly different scales.</a:t>
            </a: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153" y="2569012"/>
            <a:ext cx="2172533" cy="13298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94773" y="3245048"/>
            <a:ext cx="257294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292566" y="2751892"/>
            <a:ext cx="2401372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High-Level Features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292566" y="3153251"/>
            <a:ext cx="8423196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 concepts — "car", "person", "dog". Produced by deep layers; spatially coarse but semantically rich.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155406" y="3912156"/>
            <a:ext cx="8697516" cy="11430"/>
          </a:xfrm>
          <a:prstGeom prst="roundRect">
            <a:avLst>
              <a:gd name="adj" fmla="val 240116"/>
            </a:avLst>
          </a:prstGeom>
          <a:solidFill>
            <a:srgbClr val="D8D4D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827" y="3944541"/>
            <a:ext cx="4345067" cy="132980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94653" y="4448651"/>
            <a:ext cx="257294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378773" y="4268033"/>
            <a:ext cx="2401372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Mid-Level Features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6378773" y="4669393"/>
            <a:ext cx="6324243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Shapes, recurring patterns, and object parts — e.g., wheels, faces, windows.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6241613" y="5287685"/>
            <a:ext cx="7611308" cy="11430"/>
          </a:xfrm>
          <a:prstGeom prst="roundRect">
            <a:avLst>
              <a:gd name="adj" fmla="val 240116"/>
            </a:avLst>
          </a:prstGeom>
          <a:solidFill>
            <a:srgbClr val="D8D4D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19" y="5320070"/>
            <a:ext cx="6517600" cy="132980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94773" y="5824180"/>
            <a:ext cx="257294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7465100" y="5502950"/>
            <a:ext cx="2401372" cy="300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Low-Level Features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7465100" y="5904309"/>
            <a:ext cx="6250662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Edges, corners, and textures — the elementary building blocks of visual structure.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545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5964"/>
            <a:ext cx="655439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YOLO Loss Function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24385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YOLO optimizes a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composite multi-part loss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balances three distinct learning objectives: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893814"/>
            <a:ext cx="13042821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93814"/>
            <a:ext cx="13042821" cy="3704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3790" y="3551277"/>
            <a:ext cx="4196358" cy="241339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1020604" y="377809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Localization Loss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020604" y="4286250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Penalizes error in predicted bounding box coordinates </a:t>
            </a:r>
            <a:r>
              <a:rPr lang="en-US" sz="17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(x, y, w, h)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Uses MSE or IoU-based loss.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551277"/>
            <a:ext cx="4196358" cy="241339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5443776" y="377809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Confidence Loss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5443776" y="4286250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Penalizes incorrect object-presence predictions. Trains the model to distinguish object vs. background.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3551277"/>
            <a:ext cx="4196358" cy="241339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9866948" y="377809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Classification Loss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9866948" y="4286250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Measures error in predicted class probabilities. Typically uses Cross-Entropy Loss.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793790" y="6219825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6563916"/>
            <a:ext cx="283488" cy="22681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30906" y="6503313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Modern YOLO versions use </a:t>
            </a: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GIoU / DIoU / CIoU</a:t>
            </a: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loss for more geometrically accurate bounding box regression.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869" y="397074"/>
            <a:ext cx="6150769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Implementing YOLO in Python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446014" y="1369814"/>
            <a:ext cx="1173825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Using the </a:t>
            </a:r>
            <a:r>
              <a:rPr lang="en-US" sz="13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Ultralytics</a:t>
            </a: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library — the modern standard for YOLO deployment: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46014" y="1751409"/>
            <a:ext cx="11738253" cy="4388168"/>
          </a:xfrm>
          <a:prstGeom prst="roundRect">
            <a:avLst>
              <a:gd name="adj" fmla="val 582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1437561" y="1751409"/>
            <a:ext cx="11755160" cy="4388168"/>
          </a:xfrm>
          <a:prstGeom prst="roundRect">
            <a:avLst>
              <a:gd name="adj" fmla="val 582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1650206" y="1921431"/>
            <a:ext cx="11329868" cy="404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once: pip install ultralytics</a:t>
            </a:r>
            <a:endParaRPr lang="en-US" sz="1300" b="1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endParaRPr lang="en-US" sz="1300" b="1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1300" b="1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1300" b="1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endParaRPr lang="en-US" sz="1300" b="1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Load pre-trained YOLOv8 nano model</a:t>
            </a:r>
            <a:endParaRPr lang="en-US" sz="1300" b="1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YOLO('yolov8n.pt')</a:t>
            </a:r>
            <a:endParaRPr lang="en-US" sz="1300" b="1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endParaRPr lang="en-US" sz="1300" b="1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Load image</a:t>
            </a:r>
            <a:endParaRPr lang="en-US" sz="1300" b="1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img = cv2.imread('image.jpg')</a:t>
            </a:r>
            <a:endParaRPr lang="en-US" sz="1300" b="1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endParaRPr lang="en-US" sz="1300" b="1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Perform detection (single forward pass)</a:t>
            </a:r>
            <a:endParaRPr lang="en-US" sz="1300" b="1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model(img)</a:t>
            </a:r>
            <a:endParaRPr lang="en-US" sz="1300" b="1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endParaRPr lang="en-US" sz="1300" b="1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Display and save output</a:t>
            </a:r>
            <a:endParaRPr lang="en-US" sz="1300" b="1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results[0].show()</a:t>
            </a:r>
            <a:endParaRPr lang="en-US" sz="1300" b="1" dirty="0">
              <a:solidFill>
                <a:schemeClr val="accent1"/>
              </a:solidFill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chemeClr val="accent1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results[0].save(filename='output.jpg')</a:t>
            </a:r>
            <a:endParaRPr lang="en-US" sz="1300" b="1" dirty="0">
              <a:solidFill>
                <a:schemeClr val="accent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446014" y="641056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Expected Output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446014" y="6817043"/>
            <a:ext cx="5661541" cy="81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 with drawn bounding boxes</a:t>
            </a:r>
            <a:endParaRPr lang="en-US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 labels (e.g., </a:t>
            </a:r>
            <a:r>
              <a:rPr lang="en-US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</a:t>
            </a:r>
            <a:endParaRPr lang="en-US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Confidence scores per detection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30227" y="6410563"/>
            <a:ext cx="3115151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COCO Dataset Classes (sample)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30227" y="6817043"/>
            <a:ext cx="566154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default model detects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 categories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including: person, car, bicycle, dog, cat, traffic light, and more.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D161A1-22A7-2642-B09A-3F07C889B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324" y="1735456"/>
            <a:ext cx="4367942" cy="44041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273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SSD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150626"/>
            <a:ext cx="3247668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E04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7498" y="2226231"/>
            <a:ext cx="296025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SHOT MULTIBOX DETECTOR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3790" y="307407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Idea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3672959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SSD detects objects at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multiple scales simultaneously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by leveraging feature maps of different resolutions from the CNN backbone — each map is responsible for objects of a specific size range.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3790" y="535138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Characteristics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93790" y="5950268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Multiple convolutional feature maps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Predefined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anchor boxes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(default boxes) at each scale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Single-pass inference — no region proposals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99521" y="307407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Trade-offs vs. YOLO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7599521" y="3701296"/>
            <a:ext cx="3008948" cy="2927985"/>
          </a:xfrm>
          <a:prstGeom prst="roundRect">
            <a:avLst>
              <a:gd name="adj" fmla="val 116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56815" y="3958590"/>
            <a:ext cx="249435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Advantages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856815" y="4557474"/>
            <a:ext cx="249435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Better multi-scale detection; faster than two-stage detectors like Faster R-CNN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10835283" y="3701296"/>
            <a:ext cx="3008948" cy="2927985"/>
          </a:xfrm>
          <a:prstGeom prst="roundRect">
            <a:avLst>
              <a:gd name="adj" fmla="val 116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92577" y="3958590"/>
            <a:ext cx="249435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Limitations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1092577" y="4557474"/>
            <a:ext cx="249435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Slightly less accurate than newer YOLO versions; requires careful anchor box tuning.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14112"/>
            <a:ext cx="6272332" cy="59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Evolution of Object Detection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395174"/>
            <a:ext cx="12471916" cy="563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40166" y="5817322"/>
            <a:ext cx="2921156" cy="365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Modern Architectures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2140166" y="6281384"/>
            <a:ext cx="4241085" cy="49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YOLOv8, DETR, Transformers — accuracy+speed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3926" y="5817322"/>
            <a:ext cx="226622" cy="2266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40166" y="4469572"/>
            <a:ext cx="2966364" cy="365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Single-Stage Detectors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2140166" y="4933634"/>
            <a:ext cx="4241085" cy="24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YOLO, SSD — real-time speed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53926" y="4469572"/>
            <a:ext cx="226622" cy="2266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40166" y="3121822"/>
            <a:ext cx="2921156" cy="365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Two-Stage Deep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2140166" y="3585884"/>
            <a:ext cx="4241085" cy="24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R-CNN family — high accuracy, slower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53926" y="3121822"/>
            <a:ext cx="226622" cy="22662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40166" y="1774071"/>
            <a:ext cx="2921156" cy="365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Traditional Methods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2140166" y="2238133"/>
            <a:ext cx="4241085" cy="49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HOG+SVM, Viola-Jones, hand-crafted features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53926" y="1774071"/>
            <a:ext cx="226622" cy="22662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79183" y="7195899"/>
            <a:ext cx="1247191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field has advanced rapidly from </a:t>
            </a:r>
            <a:r>
              <a:rPr lang="en-US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hand-crafted features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toward end-to-end trainable architectures that deliver both accuracy and real-time performance.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591979"/>
            <a:ext cx="5582007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44260" y="1688306"/>
            <a:ext cx="478393" cy="47839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15995" y="1718191"/>
            <a:ext cx="334923" cy="418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21963" y="1761292"/>
            <a:ext cx="500574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Detection = Classification + Localization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421963" y="2229683"/>
            <a:ext cx="1246417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complex than classification — outputs structured predictions with coordinates, labels, and confidence scores.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44260" y="2957870"/>
            <a:ext cx="478393" cy="47839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815995" y="2987754"/>
            <a:ext cx="334923" cy="418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21963" y="3030855"/>
            <a:ext cx="346781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YOLO Revolutionized Speed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1421963" y="3499247"/>
            <a:ext cx="1246417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Single-pass inference enables real-time performance. End-to-end training with global image context.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44260" y="4227433"/>
            <a:ext cx="478393" cy="47839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815995" y="4257318"/>
            <a:ext cx="334923" cy="418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21963" y="4300418"/>
            <a:ext cx="4219932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Hierarchical, Multi-Scale Features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1421963" y="4768810"/>
            <a:ext cx="1246417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CNNs extract low → mid → high-level features. Backbone + Neck + Head architecture enables multi-scale detection.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44260" y="5496997"/>
            <a:ext cx="478393" cy="47839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815995" y="5526881"/>
            <a:ext cx="334923" cy="418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21963" y="5569982"/>
            <a:ext cx="3248858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Composite Loss Functions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1421963" y="6038374"/>
            <a:ext cx="1246417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Localization + Confidence + Classification losses jointly optimized. Advanced IoU-based losses improve box regression.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44260" y="6766560"/>
            <a:ext cx="478393" cy="47839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815995" y="6796445"/>
            <a:ext cx="334923" cy="418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421963" y="6839545"/>
            <a:ext cx="4163258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SSD Introduced Feature Pyramids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1421963" y="7307937"/>
            <a:ext cx="12464177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Multi-scale feature maps improve detection across object sizes — an idea carried forward into modern architectures.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1655</Words>
  <Application>Microsoft Macintosh PowerPoint</Application>
  <PresentationFormat>Custom</PresentationFormat>
  <Paragraphs>205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PT Serif Light</vt:lpstr>
      <vt:lpstr>Calibri</vt:lpstr>
      <vt:lpstr>DM Sans</vt:lpstr>
      <vt:lpstr>Arial</vt:lpstr>
      <vt:lpstr>PT Serif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lastModifiedBy>Vinayak Deshpande</cp:lastModifiedBy>
  <cp:revision>15</cp:revision>
  <dcterms:created xsi:type="dcterms:W3CDTF">2026-04-27T06:10:32Z</dcterms:created>
  <dcterms:modified xsi:type="dcterms:W3CDTF">2026-05-11T08:37:27Z</dcterms:modified>
</cp:coreProperties>
</file>