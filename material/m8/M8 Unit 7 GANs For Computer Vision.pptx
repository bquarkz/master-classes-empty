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sldIdLst>
    <p:sldId id="256" r:id="rId2"/>
    <p:sldId id="276" r:id="rId3"/>
    <p:sldId id="277" r:id="rId4"/>
    <p:sldId id="278" r:id="rId5"/>
    <p:sldId id="279" r:id="rId6"/>
    <p:sldId id="259" r:id="rId7"/>
    <p:sldId id="260" r:id="rId8"/>
    <p:sldId id="261" r:id="rId9"/>
    <p:sldId id="282" r:id="rId10"/>
    <p:sldId id="263" r:id="rId11"/>
    <p:sldId id="280" r:id="rId12"/>
    <p:sldId id="264" r:id="rId13"/>
    <p:sldId id="281" r:id="rId14"/>
    <p:sldId id="265" r:id="rId15"/>
    <p:sldId id="266" r:id="rId16"/>
  </p:sldIdLst>
  <p:sldSz cx="14630400" cy="8229600"/>
  <p:notesSz cx="8229600" cy="14630400"/>
  <p:embeddedFontLst>
    <p:embeddedFont>
      <p:font typeface="DM Sans" pitchFamily="2" charset="0"/>
      <p:regular r:id="rId18"/>
      <p:bold r:id="rId19"/>
      <p:italic r:id="rId20"/>
    </p:embeddedFont>
    <p:embeddedFont>
      <p:font typeface="PT Serif" panose="020A0603040505020204" pitchFamily="18"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62" d="100"/>
          <a:sy n="62" d="100"/>
        </p:scale>
        <p:origin x="327"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224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868621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834124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9024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159985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400400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806893"/>
            <a:ext cx="13042821" cy="2977039"/>
          </a:xfrm>
          <a:prstGeom prst="rect">
            <a:avLst/>
          </a:prstGeom>
          <a:noFill/>
          <a:ln/>
        </p:spPr>
        <p:txBody>
          <a:bodyPr wrap="square" lIns="0" tIns="0" rIns="0" bIns="0" rtlCol="0" anchor="t"/>
          <a:lstStyle/>
          <a:p>
            <a:pPr marL="0" indent="0" algn="ctr">
              <a:lnSpc>
                <a:spcPts val="11700"/>
              </a:lnSpc>
              <a:buNone/>
            </a:pPr>
            <a:r>
              <a:rPr lang="en-US" sz="4800" dirty="0">
                <a:solidFill>
                  <a:srgbClr val="020202"/>
                </a:solidFill>
                <a:latin typeface="PT Serif" pitchFamily="34" charset="0"/>
                <a:ea typeface="PT Serif" pitchFamily="34" charset="-122"/>
                <a:cs typeface="PT Serif" pitchFamily="34" charset="-120"/>
              </a:rPr>
              <a:t>Generative Adversarial Networks</a:t>
            </a:r>
            <a:endParaRPr lang="en-US" sz="4800" dirty="0"/>
          </a:p>
        </p:txBody>
      </p:sp>
      <p:sp>
        <p:nvSpPr>
          <p:cNvPr id="3" name="Text 1"/>
          <p:cNvSpPr/>
          <p:nvPr/>
        </p:nvSpPr>
        <p:spPr>
          <a:xfrm>
            <a:off x="4618580" y="3562579"/>
            <a:ext cx="5618321" cy="595432"/>
          </a:xfrm>
          <a:prstGeom prst="rect">
            <a:avLst/>
          </a:prstGeom>
          <a:noFill/>
          <a:ln/>
        </p:spPr>
        <p:txBody>
          <a:bodyPr wrap="none" lIns="0" tIns="0" rIns="0" bIns="0" rtlCol="0" anchor="t"/>
          <a:lstStyle/>
          <a:p>
            <a:pPr marL="0" indent="0" algn="ctr">
              <a:lnSpc>
                <a:spcPts val="4650"/>
              </a:lnSpc>
              <a:buNone/>
            </a:pPr>
            <a:r>
              <a:rPr lang="en-US" sz="3750" dirty="0">
                <a:solidFill>
                  <a:srgbClr val="020202"/>
                </a:solidFill>
                <a:latin typeface="PT Serif" pitchFamily="34" charset="0"/>
                <a:ea typeface="PT Serif" pitchFamily="34" charset="-122"/>
                <a:cs typeface="PT Serif" pitchFamily="34" charset="-120"/>
              </a:rPr>
              <a:t>GANs for Computer Vision</a:t>
            </a:r>
            <a:endParaRPr lang="en-US" sz="3750" dirty="0"/>
          </a:p>
        </p:txBody>
      </p:sp>
      <p:sp>
        <p:nvSpPr>
          <p:cNvPr id="4" name="Text 2"/>
          <p:cNvSpPr/>
          <p:nvPr/>
        </p:nvSpPr>
        <p:spPr>
          <a:xfrm>
            <a:off x="1173617" y="4552538"/>
            <a:ext cx="13042821" cy="362903"/>
          </a:xfrm>
          <a:prstGeom prst="rect">
            <a:avLst/>
          </a:prstGeom>
          <a:noFill/>
          <a:ln/>
        </p:spPr>
        <p:txBody>
          <a:bodyPr wrap="none" lIns="0" tIns="0" rIns="0" bIns="0" rtlCol="0" anchor="t"/>
          <a:lstStyle/>
          <a:p>
            <a:pPr marL="0" indent="0" algn="ctr">
              <a:lnSpc>
                <a:spcPts val="2850"/>
              </a:lnSpc>
              <a:buNone/>
            </a:pPr>
            <a:r>
              <a:rPr lang="en-US" sz="1750" i="1" dirty="0">
                <a:solidFill>
                  <a:srgbClr val="383838"/>
                </a:solidFill>
                <a:latin typeface="DM Sans" pitchFamily="34" charset="0"/>
                <a:ea typeface="DM Sans" pitchFamily="34" charset="-122"/>
                <a:cs typeface="DM Sans" pitchFamily="34" charset="-120"/>
              </a:rPr>
              <a:t>Mastering the art of machine imagination — how adversarial training is reshaping visual intelligence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1435"/>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Contents</a:t>
            </a:r>
            <a:endParaRPr lang="en-US" sz="4650" dirty="0"/>
          </a:p>
        </p:txBody>
      </p:sp>
      <p:sp>
        <p:nvSpPr>
          <p:cNvPr id="3" name="Text 1"/>
          <p:cNvSpPr/>
          <p:nvPr/>
        </p:nvSpPr>
        <p:spPr>
          <a:xfrm>
            <a:off x="793790"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54367"/>
            <a:ext cx="6407944" cy="30480"/>
          </a:xfrm>
          <a:prstGeom prst="rect">
            <a:avLst/>
          </a:prstGeom>
          <a:solidFill>
            <a:srgbClr val="E04F00"/>
          </a:solidFill>
          <a:ln/>
        </p:spPr>
      </p:sp>
      <p:sp>
        <p:nvSpPr>
          <p:cNvPr id="5" name="Text 3"/>
          <p:cNvSpPr/>
          <p:nvPr/>
        </p:nvSpPr>
        <p:spPr>
          <a:xfrm>
            <a:off x="793790" y="2728674"/>
            <a:ext cx="2977039"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What are Generative Models</a:t>
            </a:r>
            <a:endParaRPr lang="en-US" sz="2300" dirty="0"/>
          </a:p>
        </p:txBody>
      </p:sp>
      <p:sp>
        <p:nvSpPr>
          <p:cNvPr id="6" name="Text 4"/>
          <p:cNvSpPr/>
          <p:nvPr/>
        </p:nvSpPr>
        <p:spPr>
          <a:xfrm>
            <a:off x="7428548"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54367"/>
            <a:ext cx="6408063" cy="30480"/>
          </a:xfrm>
          <a:prstGeom prst="rect">
            <a:avLst/>
          </a:prstGeom>
          <a:solidFill>
            <a:srgbClr val="E04F00"/>
          </a:solidFill>
          <a:ln/>
        </p:spPr>
      </p:sp>
      <p:sp>
        <p:nvSpPr>
          <p:cNvPr id="10" name="Text 8"/>
          <p:cNvSpPr/>
          <p:nvPr/>
        </p:nvSpPr>
        <p:spPr>
          <a:xfrm>
            <a:off x="793790"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1" name="Shape 9"/>
          <p:cNvSpPr/>
          <p:nvPr/>
        </p:nvSpPr>
        <p:spPr>
          <a:xfrm>
            <a:off x="793790" y="4351615"/>
            <a:ext cx="6407944" cy="30480"/>
          </a:xfrm>
          <a:prstGeom prst="rect">
            <a:avLst/>
          </a:prstGeom>
          <a:solidFill>
            <a:srgbClr val="E04F00"/>
          </a:solidFill>
          <a:ln/>
        </p:spPr>
      </p:sp>
      <p:sp>
        <p:nvSpPr>
          <p:cNvPr id="12" name="Text 10"/>
          <p:cNvSpPr/>
          <p:nvPr/>
        </p:nvSpPr>
        <p:spPr>
          <a:xfrm>
            <a:off x="793790" y="4525923"/>
            <a:ext cx="4571405"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 GANs for Computer Vision</a:t>
            </a:r>
            <a:endParaRPr lang="en-US" sz="2300" dirty="0"/>
          </a:p>
          <a:p>
            <a:pPr marL="0" indent="0" algn="l">
              <a:lnSpc>
                <a:spcPts val="2900"/>
              </a:lnSpc>
              <a:buNone/>
            </a:pPr>
            <a:endParaRPr lang="en-US" sz="2300" dirty="0"/>
          </a:p>
        </p:txBody>
      </p:sp>
      <p:sp>
        <p:nvSpPr>
          <p:cNvPr id="13" name="Text 11"/>
          <p:cNvSpPr/>
          <p:nvPr/>
        </p:nvSpPr>
        <p:spPr>
          <a:xfrm>
            <a:off x="7428548"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4" name="Shape 12"/>
          <p:cNvSpPr/>
          <p:nvPr/>
        </p:nvSpPr>
        <p:spPr>
          <a:xfrm>
            <a:off x="7428548" y="4351615"/>
            <a:ext cx="6408063" cy="30480"/>
          </a:xfrm>
          <a:prstGeom prst="rect">
            <a:avLst/>
          </a:prstGeom>
          <a:solidFill>
            <a:srgbClr val="E04F00"/>
          </a:solidFill>
          <a:ln/>
        </p:spPr>
      </p:sp>
      <p:sp>
        <p:nvSpPr>
          <p:cNvPr id="15" name="Text 13"/>
          <p:cNvSpPr/>
          <p:nvPr/>
        </p:nvSpPr>
        <p:spPr>
          <a:xfrm>
            <a:off x="7428548" y="4525923"/>
            <a:ext cx="5699998"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Applications of GANs in Computer Vision</a:t>
            </a:r>
            <a:endParaRPr lang="en-US" sz="2300" dirty="0"/>
          </a:p>
        </p:txBody>
      </p:sp>
      <p:sp>
        <p:nvSpPr>
          <p:cNvPr id="16" name="Text 14"/>
          <p:cNvSpPr/>
          <p:nvPr/>
        </p:nvSpPr>
        <p:spPr>
          <a:xfrm>
            <a:off x="793790"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7" name="Shape 15"/>
          <p:cNvSpPr/>
          <p:nvPr/>
        </p:nvSpPr>
        <p:spPr>
          <a:xfrm>
            <a:off x="793790" y="5649873"/>
            <a:ext cx="6407944" cy="30480"/>
          </a:xfrm>
          <a:prstGeom prst="rect">
            <a:avLst/>
          </a:prstGeom>
          <a:solidFill>
            <a:srgbClr val="E04F00"/>
          </a:solidFill>
          <a:ln/>
        </p:spPr>
      </p:sp>
      <p:sp>
        <p:nvSpPr>
          <p:cNvPr id="18" name="Text 16"/>
          <p:cNvSpPr/>
          <p:nvPr/>
        </p:nvSpPr>
        <p:spPr>
          <a:xfrm>
            <a:off x="793790" y="5824180"/>
            <a:ext cx="5879663"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DCGAN Model</a:t>
            </a:r>
            <a:endParaRPr lang="en-US" sz="2300" dirty="0"/>
          </a:p>
        </p:txBody>
      </p:sp>
      <p:sp>
        <p:nvSpPr>
          <p:cNvPr id="19" name="Text 17"/>
          <p:cNvSpPr/>
          <p:nvPr/>
        </p:nvSpPr>
        <p:spPr>
          <a:xfrm>
            <a:off x="7428548"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20" name="Shape 18"/>
          <p:cNvSpPr/>
          <p:nvPr/>
        </p:nvSpPr>
        <p:spPr>
          <a:xfrm>
            <a:off x="7428548" y="5649873"/>
            <a:ext cx="6408063" cy="30480"/>
          </a:xfrm>
          <a:prstGeom prst="rect">
            <a:avLst/>
          </a:prstGeom>
          <a:solidFill>
            <a:srgbClr val="E04F00"/>
          </a:solidFill>
          <a:ln/>
        </p:spPr>
      </p:sp>
      <p:sp>
        <p:nvSpPr>
          <p:cNvPr id="21" name="Text 19"/>
          <p:cNvSpPr/>
          <p:nvPr/>
        </p:nvSpPr>
        <p:spPr>
          <a:xfrm>
            <a:off x="7428548" y="5824180"/>
            <a:ext cx="425219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SRGAN and ESRGAN Models</a:t>
            </a:r>
            <a:endParaRPr lang="en-US" sz="2300" dirty="0"/>
          </a:p>
        </p:txBody>
      </p:sp>
      <p:sp>
        <p:nvSpPr>
          <p:cNvPr id="24" name="Text 3">
            <a:extLst>
              <a:ext uri="{FF2B5EF4-FFF2-40B4-BE49-F238E27FC236}">
                <a16:creationId xmlns:a16="http://schemas.microsoft.com/office/drawing/2014/main" id="{F9B1597F-6088-ED47-BCF3-2426CD5CD6E2}"/>
              </a:ext>
            </a:extLst>
          </p:cNvPr>
          <p:cNvSpPr/>
          <p:nvPr/>
        </p:nvSpPr>
        <p:spPr>
          <a:xfrm>
            <a:off x="7428548" y="2793206"/>
            <a:ext cx="2977039"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Introduction to GANs</a:t>
            </a:r>
            <a:endParaRPr lang="en-US" sz="2300" dirty="0"/>
          </a:p>
        </p:txBody>
      </p:sp>
    </p:spTree>
    <p:extLst>
      <p:ext uri="{BB962C8B-B14F-4D97-AF65-F5344CB8AC3E}">
        <p14:creationId xmlns:p14="http://schemas.microsoft.com/office/powerpoint/2010/main" val="478615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22033"/>
            <a:ext cx="687752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What Are Generative Models?</a:t>
            </a:r>
            <a:endParaRPr lang="en-US" sz="4100" dirty="0"/>
          </a:p>
        </p:txBody>
      </p:sp>
      <p:sp>
        <p:nvSpPr>
          <p:cNvPr id="3" name="Text 1"/>
          <p:cNvSpPr/>
          <p:nvPr/>
        </p:nvSpPr>
        <p:spPr>
          <a:xfrm>
            <a:off x="793790" y="2616361"/>
            <a:ext cx="13042821" cy="635079"/>
          </a:xfrm>
          <a:prstGeom prst="rect">
            <a:avLst/>
          </a:prstGeom>
          <a:noFill/>
          <a:ln/>
        </p:spPr>
        <p:txBody>
          <a:bodyPr wrap="square" lIns="0" tIns="0" rIns="0" bIns="0" rtlCol="0" anchor="t"/>
          <a:lstStyle/>
          <a:p>
            <a:pPr>
              <a:lnSpc>
                <a:spcPts val="2500"/>
              </a:lnSpc>
            </a:pPr>
            <a:r>
              <a:rPr lang="en-IN" dirty="0">
                <a:latin typeface="DM Sans" pitchFamily="2" charset="0"/>
              </a:rPr>
              <a:t>Generative models are designed to learn the underlying probability distribution of a dataset, enabling them to generate new data that preserves univariate properties, multivariate relationships, and correlation structures observed in the original data.</a:t>
            </a:r>
            <a:endParaRPr lang="en-US" dirty="0">
              <a:latin typeface="DM Sans" pitchFamily="2" charset="0"/>
            </a:endParaRPr>
          </a:p>
        </p:txBody>
      </p:sp>
      <p:sp>
        <p:nvSpPr>
          <p:cNvPr id="4" name="Shape 2"/>
          <p:cNvSpPr/>
          <p:nvPr/>
        </p:nvSpPr>
        <p:spPr>
          <a:xfrm>
            <a:off x="793790" y="4170998"/>
            <a:ext cx="4215289" cy="1794034"/>
          </a:xfrm>
          <a:prstGeom prst="roundRect">
            <a:avLst>
              <a:gd name="adj" fmla="val 1659"/>
            </a:avLst>
          </a:prstGeom>
          <a:solidFill>
            <a:srgbClr val="F2EEEE"/>
          </a:solidFill>
          <a:ln/>
        </p:spPr>
      </p:sp>
      <p:sp>
        <p:nvSpPr>
          <p:cNvPr id="5" name="Text 3"/>
          <p:cNvSpPr/>
          <p:nvPr/>
        </p:nvSpPr>
        <p:spPr>
          <a:xfrm>
            <a:off x="992148"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What They Learn</a:t>
            </a:r>
            <a:endParaRPr lang="en-US" sz="2050" dirty="0"/>
          </a:p>
        </p:txBody>
      </p:sp>
      <p:sp>
        <p:nvSpPr>
          <p:cNvPr id="6" name="Text 4"/>
          <p:cNvSpPr/>
          <p:nvPr/>
        </p:nvSpPr>
        <p:spPr>
          <a:xfrm>
            <a:off x="992148" y="4814054"/>
            <a:ext cx="3818573"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Data distributions: univariate, multivariate, and correlation patterns</a:t>
            </a:r>
            <a:endParaRPr lang="en-US" dirty="0"/>
          </a:p>
        </p:txBody>
      </p:sp>
      <p:sp>
        <p:nvSpPr>
          <p:cNvPr id="7" name="Shape 5"/>
          <p:cNvSpPr/>
          <p:nvPr/>
        </p:nvSpPr>
        <p:spPr>
          <a:xfrm>
            <a:off x="5207437" y="4170998"/>
            <a:ext cx="4215408" cy="1794034"/>
          </a:xfrm>
          <a:prstGeom prst="roundRect">
            <a:avLst>
              <a:gd name="adj" fmla="val 1659"/>
            </a:avLst>
          </a:prstGeom>
          <a:solidFill>
            <a:srgbClr val="F2EEEE"/>
          </a:solidFill>
          <a:ln/>
        </p:spPr>
      </p:sp>
      <p:sp>
        <p:nvSpPr>
          <p:cNvPr id="8" name="Text 6"/>
          <p:cNvSpPr/>
          <p:nvPr/>
        </p:nvSpPr>
        <p:spPr>
          <a:xfrm>
            <a:off x="5405795"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What They Generate</a:t>
            </a:r>
            <a:endParaRPr lang="en-US" sz="2050" dirty="0"/>
          </a:p>
        </p:txBody>
      </p:sp>
      <p:sp>
        <p:nvSpPr>
          <p:cNvPr id="9" name="Text 7"/>
          <p:cNvSpPr/>
          <p:nvPr/>
        </p:nvSpPr>
        <p:spPr>
          <a:xfrm>
            <a:off x="5405795" y="4814054"/>
            <a:ext cx="3818692"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Images, text, audio, and rare-event structured data</a:t>
            </a:r>
            <a:endParaRPr lang="en-US" dirty="0"/>
          </a:p>
        </p:txBody>
      </p:sp>
      <p:sp>
        <p:nvSpPr>
          <p:cNvPr id="10" name="Shape 8"/>
          <p:cNvSpPr/>
          <p:nvPr/>
        </p:nvSpPr>
        <p:spPr>
          <a:xfrm>
            <a:off x="9621203" y="4170998"/>
            <a:ext cx="4215289" cy="1794034"/>
          </a:xfrm>
          <a:prstGeom prst="roundRect">
            <a:avLst>
              <a:gd name="adj" fmla="val 1659"/>
            </a:avLst>
          </a:prstGeom>
          <a:solidFill>
            <a:srgbClr val="F2EEEE"/>
          </a:solidFill>
          <a:ln/>
        </p:spPr>
      </p:sp>
      <p:sp>
        <p:nvSpPr>
          <p:cNvPr id="11" name="Text 9"/>
          <p:cNvSpPr/>
          <p:nvPr/>
        </p:nvSpPr>
        <p:spPr>
          <a:xfrm>
            <a:off x="9819561" y="4369356"/>
            <a:ext cx="3329702"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Discriminative vs Generative</a:t>
            </a:r>
            <a:endParaRPr lang="en-US" sz="2050" dirty="0"/>
          </a:p>
        </p:txBody>
      </p:sp>
      <p:sp>
        <p:nvSpPr>
          <p:cNvPr id="12" name="Text 10"/>
          <p:cNvSpPr/>
          <p:nvPr/>
        </p:nvSpPr>
        <p:spPr>
          <a:xfrm>
            <a:off x="9819561" y="4814054"/>
            <a:ext cx="381857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Discriminative models classify; generative models learn to produce new samples</a:t>
            </a:r>
            <a:endParaRPr lang="en-US" dirty="0"/>
          </a:p>
        </p:txBody>
      </p:sp>
      <p:sp>
        <p:nvSpPr>
          <p:cNvPr id="13" name="TextBox 12">
            <a:extLst>
              <a:ext uri="{FF2B5EF4-FFF2-40B4-BE49-F238E27FC236}">
                <a16:creationId xmlns:a16="http://schemas.microsoft.com/office/drawing/2014/main" id="{C57E3E63-2DFC-4442-A042-3B60B0E9F8B5}"/>
              </a:ext>
            </a:extLst>
          </p:cNvPr>
          <p:cNvSpPr txBox="1"/>
          <p:nvPr/>
        </p:nvSpPr>
        <p:spPr>
          <a:xfrm>
            <a:off x="745588" y="6625883"/>
            <a:ext cx="13917593" cy="646331"/>
          </a:xfrm>
          <a:prstGeom prst="rect">
            <a:avLst/>
          </a:prstGeom>
          <a:noFill/>
        </p:spPr>
        <p:txBody>
          <a:bodyPr wrap="none" rtlCol="0">
            <a:spAutoFit/>
          </a:bodyPr>
          <a:lstStyle/>
          <a:p>
            <a:r>
              <a:rPr lang="en-IN" dirty="0">
                <a:latin typeface="DM Sans" pitchFamily="2" charset="0"/>
              </a:rPr>
              <a:t>In other words, Generative models learn the data distribution and generate new samples that retain statistical properties such as</a:t>
            </a:r>
          </a:p>
          <a:p>
            <a:r>
              <a:rPr lang="en-IN" dirty="0">
                <a:latin typeface="DM Sans" pitchFamily="2" charset="0"/>
              </a:rPr>
              <a:t>distributions and correlations.</a:t>
            </a:r>
            <a:endParaRPr lang="en-US" dirty="0">
              <a:latin typeface="DM Sans" pitchFamily="2" charset="0"/>
            </a:endParaRPr>
          </a:p>
        </p:txBody>
      </p:sp>
    </p:spTree>
    <p:extLst>
      <p:ext uri="{BB962C8B-B14F-4D97-AF65-F5344CB8AC3E}">
        <p14:creationId xmlns:p14="http://schemas.microsoft.com/office/powerpoint/2010/main" val="3899726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419765"/>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Introduction to GANs</a:t>
            </a:r>
            <a:endParaRPr lang="en-US" sz="4100" dirty="0"/>
          </a:p>
        </p:txBody>
      </p:sp>
      <p:sp>
        <p:nvSpPr>
          <p:cNvPr id="3" name="Text 1"/>
          <p:cNvSpPr/>
          <p:nvPr/>
        </p:nvSpPr>
        <p:spPr>
          <a:xfrm>
            <a:off x="793790" y="2633277"/>
            <a:ext cx="13042821" cy="317540"/>
          </a:xfrm>
          <a:prstGeom prst="rect">
            <a:avLst/>
          </a:prstGeom>
          <a:noFill/>
          <a:ln/>
        </p:spPr>
        <p:txBody>
          <a:bodyPr wrap="none" lIns="0" tIns="0" rIns="0" bIns="0" rtlCol="0" anchor="t"/>
          <a:lstStyle/>
          <a:p>
            <a:pPr marL="0" indent="0" algn="l">
              <a:lnSpc>
                <a:spcPts val="2500"/>
              </a:lnSpc>
              <a:buNone/>
            </a:pPr>
            <a:r>
              <a:rPr lang="en-US" sz="2000" dirty="0">
                <a:solidFill>
                  <a:srgbClr val="383838"/>
                </a:solidFill>
                <a:latin typeface="DM Sans" pitchFamily="34" charset="0"/>
                <a:ea typeface="DM Sans" pitchFamily="34" charset="-122"/>
                <a:cs typeface="DM Sans" pitchFamily="34" charset="-120"/>
              </a:rPr>
              <a:t>Generative Adversarial Networks were proposed by </a:t>
            </a:r>
            <a:r>
              <a:rPr lang="en-US" sz="2000" b="1" dirty="0">
                <a:solidFill>
                  <a:srgbClr val="383838"/>
                </a:solidFill>
                <a:latin typeface="DM Sans" pitchFamily="34" charset="0"/>
                <a:ea typeface="DM Sans" pitchFamily="34" charset="-122"/>
                <a:cs typeface="DM Sans" pitchFamily="34" charset="-120"/>
              </a:rPr>
              <a:t>Ian Goodfellow in 2014</a:t>
            </a:r>
            <a:r>
              <a:rPr lang="en-US" sz="2000" dirty="0">
                <a:solidFill>
                  <a:srgbClr val="383838"/>
                </a:solidFill>
                <a:latin typeface="DM Sans" pitchFamily="34" charset="0"/>
                <a:ea typeface="DM Sans" pitchFamily="34" charset="-122"/>
                <a:cs typeface="DM Sans" pitchFamily="34" charset="-120"/>
              </a:rPr>
              <a:t>, introducing a revolutionary framework </a:t>
            </a:r>
          </a:p>
          <a:p>
            <a:pPr marL="0" indent="0" algn="l">
              <a:lnSpc>
                <a:spcPts val="2500"/>
              </a:lnSpc>
              <a:buNone/>
            </a:pPr>
            <a:r>
              <a:rPr lang="en-US" sz="2000" dirty="0">
                <a:solidFill>
                  <a:srgbClr val="383838"/>
                </a:solidFill>
                <a:latin typeface="DM Sans" pitchFamily="34" charset="0"/>
                <a:ea typeface="DM Sans" pitchFamily="34" charset="-122"/>
                <a:cs typeface="DM Sans" pitchFamily="34" charset="-120"/>
              </a:rPr>
              <a:t>for generative modeling.</a:t>
            </a:r>
            <a:endParaRPr lang="en-US" sz="2000" dirty="0"/>
          </a:p>
        </p:txBody>
      </p:sp>
      <p:sp>
        <p:nvSpPr>
          <p:cNvPr id="4" name="Shape 2"/>
          <p:cNvSpPr/>
          <p:nvPr/>
        </p:nvSpPr>
        <p:spPr>
          <a:xfrm>
            <a:off x="793790" y="4148138"/>
            <a:ext cx="6422231" cy="1522214"/>
          </a:xfrm>
          <a:prstGeom prst="roundRect">
            <a:avLst>
              <a:gd name="adj" fmla="val 1956"/>
            </a:avLst>
          </a:prstGeom>
          <a:solidFill>
            <a:srgbClr val="FFFFFF"/>
          </a:solidFill>
          <a:ln w="22860">
            <a:solidFill>
              <a:srgbClr val="D8D4D4"/>
            </a:solidFill>
            <a:prstDash val="solid"/>
          </a:ln>
        </p:spPr>
      </p:sp>
      <p:sp>
        <p:nvSpPr>
          <p:cNvPr id="5" name="Text 3"/>
          <p:cNvSpPr/>
          <p:nvPr/>
        </p:nvSpPr>
        <p:spPr>
          <a:xfrm>
            <a:off x="1015008"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Two Networks</a:t>
            </a:r>
            <a:endParaRPr lang="en-US" sz="2050" dirty="0"/>
          </a:p>
        </p:txBody>
      </p:sp>
      <p:sp>
        <p:nvSpPr>
          <p:cNvPr id="6" name="Text 4"/>
          <p:cNvSpPr/>
          <p:nvPr/>
        </p:nvSpPr>
        <p:spPr>
          <a:xfrm>
            <a:off x="1015008" y="4814054"/>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 </a:t>
            </a:r>
            <a:r>
              <a:rPr lang="en-US" b="1" dirty="0">
                <a:solidFill>
                  <a:srgbClr val="383838"/>
                </a:solidFill>
                <a:latin typeface="DM Sans" pitchFamily="34" charset="0"/>
                <a:ea typeface="DM Sans" pitchFamily="34" charset="-122"/>
                <a:cs typeface="DM Sans" pitchFamily="34" charset="-120"/>
              </a:rPr>
              <a:t>Generator</a:t>
            </a:r>
            <a:r>
              <a:rPr lang="en-US" dirty="0">
                <a:solidFill>
                  <a:srgbClr val="383838"/>
                </a:solidFill>
                <a:latin typeface="DM Sans" pitchFamily="34" charset="0"/>
                <a:ea typeface="DM Sans" pitchFamily="34" charset="-122"/>
                <a:cs typeface="DM Sans" pitchFamily="34" charset="-120"/>
              </a:rPr>
              <a:t> and a </a:t>
            </a:r>
            <a:r>
              <a:rPr lang="en-US" b="1" dirty="0">
                <a:solidFill>
                  <a:srgbClr val="383838"/>
                </a:solidFill>
                <a:latin typeface="DM Sans" pitchFamily="34" charset="0"/>
                <a:ea typeface="DM Sans" pitchFamily="34" charset="-122"/>
                <a:cs typeface="DM Sans" pitchFamily="34" charset="-120"/>
              </a:rPr>
              <a:t>Discriminator</a:t>
            </a:r>
            <a:r>
              <a:rPr lang="en-US" dirty="0">
                <a:solidFill>
                  <a:srgbClr val="383838"/>
                </a:solidFill>
                <a:latin typeface="DM Sans" pitchFamily="34" charset="0"/>
                <a:ea typeface="DM Sans" pitchFamily="34" charset="-122"/>
                <a:cs typeface="DM Sans" pitchFamily="34" charset="-120"/>
              </a:rPr>
              <a:t> work in opposition to each other</a:t>
            </a:r>
            <a:endParaRPr lang="en-US" dirty="0"/>
          </a:p>
        </p:txBody>
      </p:sp>
      <p:sp>
        <p:nvSpPr>
          <p:cNvPr id="7" name="Shape 5"/>
          <p:cNvSpPr/>
          <p:nvPr/>
        </p:nvSpPr>
        <p:spPr>
          <a:xfrm>
            <a:off x="7414379" y="4148138"/>
            <a:ext cx="6422231" cy="1522214"/>
          </a:xfrm>
          <a:prstGeom prst="roundRect">
            <a:avLst>
              <a:gd name="adj" fmla="val 1956"/>
            </a:avLst>
          </a:prstGeom>
          <a:solidFill>
            <a:srgbClr val="FFFFFF"/>
          </a:solidFill>
          <a:ln w="22860">
            <a:solidFill>
              <a:srgbClr val="D8D4D4"/>
            </a:solidFill>
            <a:prstDash val="solid"/>
          </a:ln>
        </p:spPr>
      </p:sp>
      <p:sp>
        <p:nvSpPr>
          <p:cNvPr id="8" name="Text 6"/>
          <p:cNvSpPr/>
          <p:nvPr/>
        </p:nvSpPr>
        <p:spPr>
          <a:xfrm>
            <a:off x="7635597"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Key Idea: Competition</a:t>
            </a:r>
            <a:endParaRPr lang="en-US" sz="2050" dirty="0"/>
          </a:p>
        </p:txBody>
      </p:sp>
      <p:sp>
        <p:nvSpPr>
          <p:cNvPr id="9" name="Text 7"/>
          <p:cNvSpPr/>
          <p:nvPr/>
        </p:nvSpPr>
        <p:spPr>
          <a:xfrm>
            <a:off x="7635597" y="4814054"/>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two networks compete against each other, driving both to improve over time through adversarial training</a:t>
            </a:r>
            <a:endParaRPr lang="en-US" dirty="0"/>
          </a:p>
        </p:txBody>
      </p:sp>
    </p:spTree>
    <p:extLst>
      <p:ext uri="{BB962C8B-B14F-4D97-AF65-F5344CB8AC3E}">
        <p14:creationId xmlns:p14="http://schemas.microsoft.com/office/powerpoint/2010/main" val="182419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17590"/>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GAN Architecture</a:t>
            </a:r>
            <a:endParaRPr lang="en-US" sz="4100" dirty="0"/>
          </a:p>
        </p:txBody>
      </p:sp>
      <p:pic>
        <p:nvPicPr>
          <p:cNvPr id="3" name="Image 0" descr="preencoded.png"/>
          <p:cNvPicPr>
            <a:picLocks noChangeAspect="1"/>
          </p:cNvPicPr>
          <p:nvPr/>
        </p:nvPicPr>
        <p:blipFill>
          <a:blip r:embed="rId3"/>
          <a:stretch>
            <a:fillRect/>
          </a:stretch>
        </p:blipFill>
        <p:spPr>
          <a:xfrm>
            <a:off x="1080968" y="1765697"/>
            <a:ext cx="12468344" cy="4887992"/>
          </a:xfrm>
          <a:prstGeom prst="rect">
            <a:avLst/>
          </a:prstGeom>
        </p:spPr>
      </p:pic>
      <p:sp>
        <p:nvSpPr>
          <p:cNvPr id="4" name="Text 1"/>
          <p:cNvSpPr/>
          <p:nvPr/>
        </p:nvSpPr>
        <p:spPr>
          <a:xfrm>
            <a:off x="1379365" y="2005414"/>
            <a:ext cx="2282477" cy="770336"/>
          </a:xfrm>
          <a:prstGeom prst="rect">
            <a:avLst/>
          </a:prstGeom>
          <a:noFill/>
          <a:ln/>
        </p:spPr>
        <p:txBody>
          <a:bodyPr wrap="square" lIns="0" tIns="0" rIns="0" bIns="0" rtlCol="0" anchor="t"/>
          <a:lstStyle/>
          <a:p>
            <a:pPr marL="0" indent="0" algn="r">
              <a:lnSpc>
                <a:spcPts val="3000"/>
              </a:lnSpc>
              <a:buNone/>
            </a:pPr>
            <a:r>
              <a:rPr lang="en-US" sz="2400" dirty="0">
                <a:solidFill>
                  <a:srgbClr val="020202"/>
                </a:solidFill>
                <a:latin typeface="PT Serif" pitchFamily="34" charset="0"/>
                <a:ea typeface="PT Serif" pitchFamily="34" charset="-122"/>
                <a:cs typeface="PT Serif" pitchFamily="34" charset="-120"/>
              </a:rPr>
              <a:t>Generator Creates Fakes</a:t>
            </a:r>
            <a:endParaRPr lang="en-US" sz="2400" dirty="0"/>
          </a:p>
        </p:txBody>
      </p:sp>
      <p:sp>
        <p:nvSpPr>
          <p:cNvPr id="5" name="Text 2"/>
          <p:cNvSpPr/>
          <p:nvPr/>
        </p:nvSpPr>
        <p:spPr>
          <a:xfrm>
            <a:off x="10968213" y="2005414"/>
            <a:ext cx="2282476" cy="770336"/>
          </a:xfrm>
          <a:prstGeom prst="rect">
            <a:avLst/>
          </a:prstGeom>
          <a:noFill/>
          <a:ln/>
        </p:spPr>
        <p:txBody>
          <a:bodyPr wrap="square" lIns="0" tIns="0" rIns="0" bIns="0" rtlCol="0" anchor="t"/>
          <a:lstStyle/>
          <a:p>
            <a:pPr marL="0" indent="0" algn="l">
              <a:lnSpc>
                <a:spcPts val="3000"/>
              </a:lnSpc>
              <a:buNone/>
            </a:pPr>
            <a:r>
              <a:rPr lang="en-US" sz="2400" dirty="0">
                <a:solidFill>
                  <a:srgbClr val="020202"/>
                </a:solidFill>
                <a:latin typeface="PT Serif" pitchFamily="34" charset="0"/>
                <a:ea typeface="PT Serif" pitchFamily="34" charset="-122"/>
                <a:cs typeface="PT Serif" pitchFamily="34" charset="-120"/>
              </a:rPr>
              <a:t>Discriminator Classifies</a:t>
            </a:r>
            <a:endParaRPr lang="en-US" sz="2400" dirty="0"/>
          </a:p>
        </p:txBody>
      </p:sp>
      <p:sp>
        <p:nvSpPr>
          <p:cNvPr id="6" name="Text 3"/>
          <p:cNvSpPr/>
          <p:nvPr/>
        </p:nvSpPr>
        <p:spPr>
          <a:xfrm>
            <a:off x="10968213" y="5643519"/>
            <a:ext cx="2282476" cy="770336"/>
          </a:xfrm>
          <a:prstGeom prst="rect">
            <a:avLst/>
          </a:prstGeom>
          <a:noFill/>
          <a:ln/>
        </p:spPr>
        <p:txBody>
          <a:bodyPr wrap="square" lIns="0" tIns="0" rIns="0" bIns="0" rtlCol="0" anchor="t"/>
          <a:lstStyle/>
          <a:p>
            <a:pPr marL="0" indent="0" algn="l">
              <a:lnSpc>
                <a:spcPts val="3000"/>
              </a:lnSpc>
              <a:buNone/>
            </a:pPr>
            <a:r>
              <a:rPr lang="en-US" sz="2400" dirty="0">
                <a:solidFill>
                  <a:srgbClr val="020202"/>
                </a:solidFill>
                <a:latin typeface="PT Serif" pitchFamily="34" charset="0"/>
                <a:ea typeface="PT Serif" pitchFamily="34" charset="-122"/>
                <a:cs typeface="PT Serif" pitchFamily="34" charset="-120"/>
              </a:rPr>
              <a:t>Compute Feedback Loss</a:t>
            </a:r>
            <a:endParaRPr lang="en-US" sz="2400" dirty="0"/>
          </a:p>
        </p:txBody>
      </p:sp>
      <p:sp>
        <p:nvSpPr>
          <p:cNvPr id="7" name="Text 4"/>
          <p:cNvSpPr/>
          <p:nvPr/>
        </p:nvSpPr>
        <p:spPr>
          <a:xfrm>
            <a:off x="1379365" y="5643519"/>
            <a:ext cx="2282477" cy="770336"/>
          </a:xfrm>
          <a:prstGeom prst="rect">
            <a:avLst/>
          </a:prstGeom>
          <a:noFill/>
          <a:ln/>
        </p:spPr>
        <p:txBody>
          <a:bodyPr wrap="square" lIns="0" tIns="0" rIns="0" bIns="0" rtlCol="0" anchor="t"/>
          <a:lstStyle/>
          <a:p>
            <a:pPr marL="0" indent="0" algn="r">
              <a:lnSpc>
                <a:spcPts val="3000"/>
              </a:lnSpc>
              <a:buNone/>
            </a:pPr>
            <a:r>
              <a:rPr lang="en-US" sz="2400" dirty="0">
                <a:solidFill>
                  <a:srgbClr val="020202"/>
                </a:solidFill>
                <a:latin typeface="PT Serif" pitchFamily="34" charset="0"/>
                <a:ea typeface="PT Serif" pitchFamily="34" charset="-122"/>
                <a:cs typeface="PT Serif" pitchFamily="34" charset="-120"/>
              </a:rPr>
              <a:t>Update Networks</a:t>
            </a:r>
            <a:endParaRPr lang="en-US" sz="2400" dirty="0"/>
          </a:p>
        </p:txBody>
      </p:sp>
      <p:sp>
        <p:nvSpPr>
          <p:cNvPr id="8" name="Text 5"/>
          <p:cNvSpPr/>
          <p:nvPr/>
        </p:nvSpPr>
        <p:spPr>
          <a:xfrm>
            <a:off x="793790" y="6876931"/>
            <a:ext cx="13042821" cy="958774"/>
          </a:xfrm>
          <a:prstGeom prst="rect">
            <a:avLst/>
          </a:prstGeom>
          <a:noFill/>
          <a:ln/>
        </p:spPr>
        <p:txBody>
          <a:bodyPr wrap="square" lIns="0" tIns="0" rIns="0" bIns="0" rtlCol="0" anchor="t"/>
          <a:lstStyle/>
          <a:p>
            <a:pPr>
              <a:lnSpc>
                <a:spcPts val="2500"/>
              </a:lnSpc>
            </a:pPr>
            <a:r>
              <a:rPr lang="en-US" dirty="0">
                <a:solidFill>
                  <a:srgbClr val="383838"/>
                </a:solidFill>
                <a:latin typeface="DM Sans" pitchFamily="2" charset="0"/>
                <a:ea typeface="DM Sans" pitchFamily="34" charset="-122"/>
                <a:cs typeface="DM Sans" pitchFamily="34" charset="-120"/>
              </a:rPr>
              <a:t>The Generator produces synthetic samples from random noise, while the Discriminator evaluates whether each sample is real or fake. </a:t>
            </a:r>
            <a:r>
              <a:rPr lang="en-IN" dirty="0">
                <a:latin typeface="DM Sans" pitchFamily="2" charset="0"/>
              </a:rPr>
              <a:t>This feedback loop drives iterative improvement in both networks, until an equilibrium is reached where the generated data becomes indistinguishable from real data and the Discriminator can no longer reliably differentiate between the two.</a:t>
            </a:r>
            <a:endParaRPr lang="en-US" dirty="0">
              <a:latin typeface="DM Sans" pitchFamily="2" charset="0"/>
            </a:endParaRPr>
          </a:p>
        </p:txBody>
      </p:sp>
    </p:spTree>
    <p:extLst>
      <p:ext uri="{BB962C8B-B14F-4D97-AF65-F5344CB8AC3E}">
        <p14:creationId xmlns:p14="http://schemas.microsoft.com/office/powerpoint/2010/main" val="4042362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22296"/>
            <a:ext cx="8655248"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Why GANs for Computer Vision?</a:t>
            </a:r>
            <a:endParaRPr lang="en-US" sz="4650" dirty="0"/>
          </a:p>
        </p:txBody>
      </p:sp>
      <p:sp>
        <p:nvSpPr>
          <p:cNvPr id="3" name="Shape 1"/>
          <p:cNvSpPr/>
          <p:nvPr/>
        </p:nvSpPr>
        <p:spPr>
          <a:xfrm>
            <a:off x="793790" y="2420183"/>
            <a:ext cx="510302" cy="510302"/>
          </a:xfrm>
          <a:prstGeom prst="roundRect">
            <a:avLst>
              <a:gd name="adj" fmla="val 6667"/>
            </a:avLst>
          </a:prstGeom>
          <a:solidFill>
            <a:srgbClr val="F2EEEE"/>
          </a:solidFill>
          <a:ln/>
        </p:spPr>
      </p:sp>
      <p:sp>
        <p:nvSpPr>
          <p:cNvPr id="4" name="Text 2"/>
          <p:cNvSpPr/>
          <p:nvPr/>
        </p:nvSpPr>
        <p:spPr>
          <a:xfrm>
            <a:off x="1530906" y="2498050"/>
            <a:ext cx="3421499" cy="744141"/>
          </a:xfrm>
          <a:prstGeom prst="rect">
            <a:avLst/>
          </a:prstGeom>
          <a:noFill/>
          <a:ln/>
        </p:spPr>
        <p:txBody>
          <a:bodyPr wrap="squar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Learning Complex Visual Structure</a:t>
            </a:r>
            <a:endParaRPr lang="en-US" sz="2300" dirty="0"/>
          </a:p>
        </p:txBody>
      </p:sp>
      <p:sp>
        <p:nvSpPr>
          <p:cNvPr id="5" name="Text 3"/>
          <p:cNvSpPr/>
          <p:nvPr/>
        </p:nvSpPr>
        <p:spPr>
          <a:xfrm>
            <a:off x="1530906" y="3378279"/>
            <a:ext cx="3603802" cy="2177415"/>
          </a:xfrm>
          <a:prstGeom prst="rect">
            <a:avLst/>
          </a:prstGeom>
          <a:noFill/>
          <a:ln/>
        </p:spPr>
        <p:txBody>
          <a:bodyPr wrap="square" lIns="0" tIns="0" rIns="0" bIns="0" rtlCol="0" anchor="t"/>
          <a:lstStyle/>
          <a:p>
            <a:pPr>
              <a:lnSpc>
                <a:spcPts val="2850"/>
              </a:lnSpc>
            </a:pPr>
            <a:r>
              <a:rPr lang="en-IN" dirty="0">
                <a:latin typeface="DM Sans" pitchFamily="2" charset="0"/>
              </a:rPr>
              <a:t>GANs capture high-dimensional, hierarchical patterns in pixel space—such as textures, edges, lighting, and semantics—without being explicitly told what to look for.</a:t>
            </a:r>
            <a:endParaRPr lang="en-US" dirty="0">
              <a:latin typeface="DM Sans" pitchFamily="2" charset="0"/>
            </a:endParaRPr>
          </a:p>
        </p:txBody>
      </p:sp>
      <p:sp>
        <p:nvSpPr>
          <p:cNvPr id="6" name="Shape 4"/>
          <p:cNvSpPr/>
          <p:nvPr/>
        </p:nvSpPr>
        <p:spPr>
          <a:xfrm>
            <a:off x="5235893" y="2420183"/>
            <a:ext cx="510302" cy="510302"/>
          </a:xfrm>
          <a:prstGeom prst="roundRect">
            <a:avLst>
              <a:gd name="adj" fmla="val 6667"/>
            </a:avLst>
          </a:prstGeom>
          <a:solidFill>
            <a:srgbClr val="F2EEEE"/>
          </a:solidFill>
          <a:ln/>
        </p:spPr>
      </p:sp>
      <p:sp>
        <p:nvSpPr>
          <p:cNvPr id="7" name="Text 5"/>
          <p:cNvSpPr/>
          <p:nvPr/>
        </p:nvSpPr>
        <p:spPr>
          <a:xfrm>
            <a:off x="5973008" y="2498050"/>
            <a:ext cx="316253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Unsupervised by Nature</a:t>
            </a:r>
            <a:endParaRPr lang="en-US" sz="2300" dirty="0"/>
          </a:p>
        </p:txBody>
      </p:sp>
      <p:sp>
        <p:nvSpPr>
          <p:cNvPr id="8" name="Text 6"/>
          <p:cNvSpPr/>
          <p:nvPr/>
        </p:nvSpPr>
        <p:spPr>
          <a:xfrm>
            <a:off x="5973008" y="3006209"/>
            <a:ext cx="3421499" cy="1814513"/>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No labeled data is required. The adversarial signal itself is the supervision. This unlocks training on vast unlabeled image corpora at scale.</a:t>
            </a:r>
            <a:endParaRPr lang="en-US" dirty="0"/>
          </a:p>
        </p:txBody>
      </p:sp>
      <p:sp>
        <p:nvSpPr>
          <p:cNvPr id="9" name="Shape 7"/>
          <p:cNvSpPr/>
          <p:nvPr/>
        </p:nvSpPr>
        <p:spPr>
          <a:xfrm>
            <a:off x="9677995" y="2420183"/>
            <a:ext cx="510302" cy="510302"/>
          </a:xfrm>
          <a:prstGeom prst="roundRect">
            <a:avLst>
              <a:gd name="adj" fmla="val 6667"/>
            </a:avLst>
          </a:prstGeom>
          <a:solidFill>
            <a:srgbClr val="F2EEEE"/>
          </a:solidFill>
          <a:ln/>
        </p:spPr>
      </p:sp>
      <p:sp>
        <p:nvSpPr>
          <p:cNvPr id="10" name="Text 8"/>
          <p:cNvSpPr/>
          <p:nvPr/>
        </p:nvSpPr>
        <p:spPr>
          <a:xfrm>
            <a:off x="10415111" y="2498050"/>
            <a:ext cx="3421499" cy="744141"/>
          </a:xfrm>
          <a:prstGeom prst="rect">
            <a:avLst/>
          </a:prstGeom>
          <a:noFill/>
          <a:ln/>
        </p:spPr>
        <p:txBody>
          <a:bodyPr wrap="squar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The Creative Machine Philosophy</a:t>
            </a:r>
            <a:endParaRPr lang="en-US" sz="2300" dirty="0"/>
          </a:p>
        </p:txBody>
      </p:sp>
      <p:sp>
        <p:nvSpPr>
          <p:cNvPr id="11" name="Text 9"/>
          <p:cNvSpPr/>
          <p:nvPr/>
        </p:nvSpPr>
        <p:spPr>
          <a:xfrm>
            <a:off x="10415111" y="3378279"/>
            <a:ext cx="3421499" cy="3629025"/>
          </a:xfrm>
          <a:prstGeom prst="rect">
            <a:avLst/>
          </a:prstGeom>
          <a:noFill/>
          <a:ln/>
        </p:spPr>
        <p:txBody>
          <a:bodyPr wrap="square" lIns="0" tIns="0" rIns="0" bIns="0" rtlCol="0" anchor="t"/>
          <a:lstStyle/>
          <a:p>
            <a:r>
              <a:rPr lang="en-US" dirty="0">
                <a:solidFill>
                  <a:srgbClr val="383838"/>
                </a:solidFill>
                <a:latin typeface="DM Sans" pitchFamily="2" charset="0"/>
                <a:ea typeface="DM Sans" pitchFamily="34" charset="-122"/>
                <a:cs typeface="DM Sans" pitchFamily="34" charset="-120"/>
              </a:rPr>
              <a:t> </a:t>
            </a:r>
            <a:r>
              <a:rPr lang="en-IN" dirty="0">
                <a:latin typeface="DM Sans" pitchFamily="2" charset="0"/>
              </a:rPr>
              <a:t>GANs show a simple but powerful idea: a system doesn’t need to be told the rules of reality—it can learn them on its own through competition.</a:t>
            </a:r>
          </a:p>
          <a:p>
            <a:endParaRPr lang="en-IN" dirty="0">
              <a:latin typeface="DM Sans" pitchFamily="2" charset="0"/>
            </a:endParaRPr>
          </a:p>
          <a:p>
            <a:r>
              <a:rPr lang="en-IN" dirty="0">
                <a:latin typeface="DM Sans" pitchFamily="2" charset="0"/>
              </a:rPr>
              <a:t>The generator doesn’t directly see real data; it improves by learning from the discriminator’s feedback. This is similar to how people learn and create—by trying, getting feedback, and improving over time.</a:t>
            </a:r>
          </a:p>
          <a:p>
            <a:pPr marL="0" indent="0" algn="l">
              <a:lnSpc>
                <a:spcPts val="2850"/>
              </a:lnSpc>
              <a:buNone/>
            </a:pPr>
            <a:endParaRPr lang="en-US" dirty="0">
              <a:latin typeface="DM Sans"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92116"/>
            <a:ext cx="10984706"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Applications of GANs in Computer Vision</a:t>
            </a:r>
            <a:endParaRPr lang="en-US" sz="46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2890004"/>
            <a:ext cx="566976" cy="566976"/>
          </a:xfrm>
          <a:prstGeom prst="rect">
            <a:avLst/>
          </a:prstGeom>
        </p:spPr>
      </p:pic>
      <p:sp>
        <p:nvSpPr>
          <p:cNvPr id="4" name="Text 1"/>
          <p:cNvSpPr/>
          <p:nvPr/>
        </p:nvSpPr>
        <p:spPr>
          <a:xfrm>
            <a:off x="1644253" y="289000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Image Generation</a:t>
            </a:r>
            <a:endParaRPr lang="en-US" sz="2300" dirty="0"/>
          </a:p>
        </p:txBody>
      </p:sp>
      <p:sp>
        <p:nvSpPr>
          <p:cNvPr id="5" name="Text 2"/>
          <p:cNvSpPr/>
          <p:nvPr/>
        </p:nvSpPr>
        <p:spPr>
          <a:xfrm>
            <a:off x="1644253" y="3398163"/>
            <a:ext cx="5529143"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Synthesizing photorealistic faces, scenes, and objects from noise — enabling creative tools and dataset construction.</a:t>
            </a:r>
            <a:endParaRPr lang="en-US"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56884" y="2890004"/>
            <a:ext cx="566976" cy="566976"/>
          </a:xfrm>
          <a:prstGeom prst="rect">
            <a:avLst/>
          </a:prstGeom>
        </p:spPr>
      </p:pic>
      <p:sp>
        <p:nvSpPr>
          <p:cNvPr id="7" name="Text 3"/>
          <p:cNvSpPr/>
          <p:nvPr/>
        </p:nvSpPr>
        <p:spPr>
          <a:xfrm>
            <a:off x="8307348" y="2890004"/>
            <a:ext cx="3762375"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Image-to-Image Translation</a:t>
            </a:r>
            <a:endParaRPr lang="en-US" sz="2300" dirty="0"/>
          </a:p>
        </p:txBody>
      </p:sp>
      <p:sp>
        <p:nvSpPr>
          <p:cNvPr id="8" name="Text 4"/>
          <p:cNvSpPr/>
          <p:nvPr/>
        </p:nvSpPr>
        <p:spPr>
          <a:xfrm>
            <a:off x="8307348" y="3398163"/>
            <a:ext cx="5529263"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Converting between visual domains: day </a:t>
            </a:r>
            <a:r>
              <a:rPr lang="en-US" dirty="0">
                <a:solidFill>
                  <a:srgbClr val="000000"/>
                </a:solidFill>
                <a:latin typeface="DM Sans" pitchFamily="34" charset="0"/>
                <a:ea typeface="DM Sans" pitchFamily="34" charset="-122"/>
                <a:cs typeface="DM Sans" pitchFamily="34" charset="-120"/>
              </a:rPr>
              <a:t>↔</a:t>
            </a:r>
            <a:r>
              <a:rPr lang="en-US" dirty="0">
                <a:solidFill>
                  <a:srgbClr val="383838"/>
                </a:solidFill>
                <a:latin typeface="DM Sans" pitchFamily="34" charset="0"/>
                <a:ea typeface="DM Sans" pitchFamily="34" charset="-122"/>
                <a:cs typeface="DM Sans" pitchFamily="34" charset="-120"/>
              </a:rPr>
              <a:t> night, sketch </a:t>
            </a:r>
            <a:r>
              <a:rPr lang="en-US" dirty="0">
                <a:solidFill>
                  <a:srgbClr val="000000"/>
                </a:solidFill>
                <a:latin typeface="DM Sans" pitchFamily="34" charset="0"/>
                <a:ea typeface="DM Sans" pitchFamily="34" charset="-122"/>
                <a:cs typeface="DM Sans" pitchFamily="34" charset="-120"/>
              </a:rPr>
              <a:t>↔</a:t>
            </a:r>
            <a:r>
              <a:rPr lang="en-US" dirty="0">
                <a:solidFill>
                  <a:srgbClr val="383838"/>
                </a:solidFill>
                <a:latin typeface="DM Sans" pitchFamily="34" charset="0"/>
                <a:ea typeface="DM Sans" pitchFamily="34" charset="-122"/>
                <a:cs typeface="DM Sans" pitchFamily="34" charset="-120"/>
              </a:rPr>
              <a:t> photo, satellite </a:t>
            </a:r>
            <a:r>
              <a:rPr lang="en-US" dirty="0">
                <a:solidFill>
                  <a:srgbClr val="000000"/>
                </a:solidFill>
                <a:latin typeface="DM Sans" pitchFamily="34" charset="0"/>
                <a:ea typeface="DM Sans" pitchFamily="34" charset="-122"/>
                <a:cs typeface="DM Sans" pitchFamily="34" charset="-120"/>
              </a:rPr>
              <a:t>↔</a:t>
            </a:r>
            <a:r>
              <a:rPr lang="en-US" dirty="0">
                <a:solidFill>
                  <a:srgbClr val="383838"/>
                </a:solidFill>
                <a:latin typeface="DM Sans" pitchFamily="34" charset="0"/>
                <a:ea typeface="DM Sans" pitchFamily="34" charset="-122"/>
                <a:cs typeface="DM Sans" pitchFamily="34" charset="-120"/>
              </a:rPr>
              <a:t> map, without paired examples.</a:t>
            </a:r>
            <a:endParaRPr lang="en-US"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4940498"/>
            <a:ext cx="566976" cy="566976"/>
          </a:xfrm>
          <a:prstGeom prst="rect">
            <a:avLst/>
          </a:prstGeom>
        </p:spPr>
      </p:pic>
      <p:sp>
        <p:nvSpPr>
          <p:cNvPr id="10" name="Text 5"/>
          <p:cNvSpPr/>
          <p:nvPr/>
        </p:nvSpPr>
        <p:spPr>
          <a:xfrm>
            <a:off x="1644253" y="4940498"/>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Super Resolution</a:t>
            </a:r>
            <a:endParaRPr lang="en-US" sz="2300" dirty="0"/>
          </a:p>
        </p:txBody>
      </p:sp>
      <p:sp>
        <p:nvSpPr>
          <p:cNvPr id="11" name="Text 6"/>
          <p:cNvSpPr/>
          <p:nvPr/>
        </p:nvSpPr>
        <p:spPr>
          <a:xfrm>
            <a:off x="1644253" y="5448657"/>
            <a:ext cx="5529143"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Recovering high-frequency detail from low-resolution inputs — critical in medical imaging and satellite analysis.</a:t>
            </a:r>
            <a:endParaRPr lang="en-US"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884" y="4940498"/>
            <a:ext cx="566976" cy="566976"/>
          </a:xfrm>
          <a:prstGeom prst="rect">
            <a:avLst/>
          </a:prstGeom>
        </p:spPr>
      </p:pic>
      <p:sp>
        <p:nvSpPr>
          <p:cNvPr id="13" name="Text 7"/>
          <p:cNvSpPr/>
          <p:nvPr/>
        </p:nvSpPr>
        <p:spPr>
          <a:xfrm>
            <a:off x="8307348" y="4940498"/>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Data Augmentation</a:t>
            </a:r>
            <a:endParaRPr lang="en-US" sz="2300" dirty="0"/>
          </a:p>
        </p:txBody>
      </p:sp>
      <p:sp>
        <p:nvSpPr>
          <p:cNvPr id="14" name="Text 8"/>
          <p:cNvSpPr/>
          <p:nvPr/>
        </p:nvSpPr>
        <p:spPr>
          <a:xfrm>
            <a:off x="8307348" y="5448657"/>
            <a:ext cx="5529263"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Generating rare or minority class samples to combat class imbalance and improve model generalization.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757952" y="819745"/>
            <a:ext cx="9466064"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DCGAN — Deep Convolutional GAN</a:t>
            </a:r>
            <a:endParaRPr lang="en-US" sz="4650" dirty="0"/>
          </a:p>
        </p:txBody>
      </p:sp>
      <p:sp>
        <p:nvSpPr>
          <p:cNvPr id="5" name="Text 3"/>
          <p:cNvSpPr/>
          <p:nvPr/>
        </p:nvSpPr>
        <p:spPr>
          <a:xfrm>
            <a:off x="757952" y="2324247"/>
            <a:ext cx="6711993" cy="3053330"/>
          </a:xfrm>
          <a:prstGeom prst="rect">
            <a:avLst/>
          </a:prstGeom>
          <a:noFill/>
          <a:ln/>
        </p:spPr>
        <p:txBody>
          <a:bodyPr wrap="square" lIns="0" tIns="0" rIns="0" bIns="0" rtlCol="0" anchor="t"/>
          <a:lstStyle/>
          <a:p>
            <a:pPr>
              <a:lnSpc>
                <a:spcPts val="2850"/>
              </a:lnSpc>
            </a:pPr>
            <a:r>
              <a:rPr lang="en-IN" dirty="0">
                <a:latin typeface="DM Sans" pitchFamily="2" charset="0"/>
              </a:rPr>
              <a:t>DCGAN, introduced by Alec Radford and colleagues in 2015, replaced fully connected layers with convolutional (and </a:t>
            </a:r>
            <a:r>
              <a:rPr lang="en-IN" dirty="0" err="1">
                <a:latin typeface="DM Sans" pitchFamily="2" charset="0"/>
              </a:rPr>
              <a:t>strided</a:t>
            </a:r>
            <a:r>
              <a:rPr lang="en-IN" dirty="0">
                <a:latin typeface="DM Sans" pitchFamily="2" charset="0"/>
              </a:rPr>
              <a:t> convolution) layers. This made GANs much more stable to train and allowed them to scale better to image data.</a:t>
            </a:r>
          </a:p>
          <a:p>
            <a:pPr>
              <a:lnSpc>
                <a:spcPts val="2850"/>
              </a:lnSpc>
            </a:pPr>
            <a:r>
              <a:rPr lang="en-IN" dirty="0">
                <a:latin typeface="DM Sans" pitchFamily="2" charset="0"/>
              </a:rPr>
              <a:t> </a:t>
            </a:r>
          </a:p>
          <a:p>
            <a:r>
              <a:rPr lang="en-IN" dirty="0">
                <a:latin typeface="DM Sans" pitchFamily="2" charset="0"/>
              </a:rPr>
              <a:t>Earlier GANs used </a:t>
            </a:r>
            <a:r>
              <a:rPr lang="en-IN" b="1" dirty="0">
                <a:latin typeface="DM Sans" pitchFamily="2" charset="0"/>
              </a:rPr>
              <a:t>fully connected layers</a:t>
            </a:r>
            <a:r>
              <a:rPr lang="en-IN" dirty="0">
                <a:latin typeface="DM Sans" pitchFamily="2" charset="0"/>
              </a:rPr>
              <a:t> (like flattening an image into a long list of numbers) </a:t>
            </a:r>
          </a:p>
          <a:p>
            <a:endParaRPr lang="en-IN" dirty="0">
              <a:latin typeface="DM Sans" pitchFamily="2" charset="0"/>
            </a:endParaRPr>
          </a:p>
          <a:p>
            <a:r>
              <a:rPr lang="en-IN" dirty="0">
                <a:latin typeface="DM Sans" pitchFamily="2" charset="0"/>
              </a:rPr>
              <a:t>DCGAN used </a:t>
            </a:r>
            <a:r>
              <a:rPr lang="en-IN" b="1" dirty="0">
                <a:latin typeface="DM Sans" pitchFamily="2" charset="0"/>
              </a:rPr>
              <a:t>convolutions</a:t>
            </a:r>
            <a:r>
              <a:rPr lang="en-IN" dirty="0">
                <a:latin typeface="DM Sans" pitchFamily="2" charset="0"/>
              </a:rPr>
              <a:t> (looking at small patches of the image, like edges, textures)</a:t>
            </a:r>
          </a:p>
          <a:p>
            <a:pPr>
              <a:lnSpc>
                <a:spcPts val="2850"/>
              </a:lnSpc>
            </a:pPr>
            <a:endParaRPr lang="en-IN" sz="1600" dirty="0">
              <a:latin typeface="DM Sans" pitchFamily="2" charset="0"/>
            </a:endParaRPr>
          </a:p>
          <a:p>
            <a:pPr>
              <a:lnSpc>
                <a:spcPts val="2850"/>
              </a:lnSpc>
            </a:pPr>
            <a:endParaRPr lang="en-US" sz="1750" dirty="0">
              <a:latin typeface="DM Sans" pitchFamily="2" charset="0"/>
            </a:endParaRPr>
          </a:p>
        </p:txBody>
      </p:sp>
      <p:sp>
        <p:nvSpPr>
          <p:cNvPr id="7" name="Text 5"/>
          <p:cNvSpPr/>
          <p:nvPr/>
        </p:nvSpPr>
        <p:spPr>
          <a:xfrm>
            <a:off x="8440615" y="2547653"/>
            <a:ext cx="255531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Use Cases</a:t>
            </a:r>
            <a:endParaRPr lang="en-US" sz="2300" dirty="0"/>
          </a:p>
        </p:txBody>
      </p:sp>
      <p:sp>
        <p:nvSpPr>
          <p:cNvPr id="8" name="Text 6"/>
          <p:cNvSpPr/>
          <p:nvPr/>
        </p:nvSpPr>
        <p:spPr>
          <a:xfrm>
            <a:off x="8440615" y="3102246"/>
            <a:ext cx="5627275" cy="1814513"/>
          </a:xfrm>
          <a:prstGeom prst="rect">
            <a:avLst/>
          </a:prstGeom>
          <a:noFill/>
          <a:ln/>
        </p:spPr>
        <p:txBody>
          <a:bodyPr wrap="square" lIns="0" tIns="0" rIns="0" bIns="0" rtlCol="0" anchor="t"/>
          <a:lstStyle/>
          <a:p>
            <a:pPr>
              <a:lnSpc>
                <a:spcPts val="2850"/>
              </a:lnSpc>
            </a:pPr>
            <a:r>
              <a:rPr lang="en-IN" dirty="0">
                <a:latin typeface="DM Sans" pitchFamily="2" charset="0"/>
              </a:rPr>
              <a:t>Bedrooms → generates new room designs that don’t exist Faces → creates fake human faces that look real</a:t>
            </a:r>
          </a:p>
          <a:p>
            <a:pPr>
              <a:lnSpc>
                <a:spcPts val="2850"/>
              </a:lnSpc>
            </a:pPr>
            <a:r>
              <a:rPr lang="en-IN" dirty="0">
                <a:latin typeface="DM Sans" pitchFamily="2" charset="0"/>
              </a:rPr>
              <a:t>Add “smile” → face becomes smiling </a:t>
            </a:r>
          </a:p>
          <a:p>
            <a:pPr>
              <a:lnSpc>
                <a:spcPts val="2850"/>
              </a:lnSpc>
            </a:pPr>
            <a:r>
              <a:rPr lang="en-IN" dirty="0">
                <a:latin typeface="DM Sans" pitchFamily="2" charset="0"/>
              </a:rPr>
              <a:t>Add “glasses” → person gets glasses</a:t>
            </a:r>
            <a:endParaRPr lang="en-US" dirty="0">
              <a:latin typeface="DM Sans" pitchFamily="2" charset="0"/>
            </a:endParaRPr>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8800" y="6121718"/>
            <a:ext cx="340162" cy="340162"/>
          </a:xfrm>
          <a:prstGeom prst="rect">
            <a:avLst/>
          </a:prstGeom>
        </p:spPr>
      </p:pic>
      <p:sp>
        <p:nvSpPr>
          <p:cNvPr id="13" name="Text 10"/>
          <p:cNvSpPr/>
          <p:nvPr/>
        </p:nvSpPr>
        <p:spPr>
          <a:xfrm>
            <a:off x="1530906" y="6114693"/>
            <a:ext cx="3360420"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Transposed Convolutions</a:t>
            </a:r>
            <a:endParaRPr lang="en-US" sz="2300" dirty="0"/>
          </a:p>
        </p:txBody>
      </p:sp>
      <p:sp>
        <p:nvSpPr>
          <p:cNvPr id="14" name="Text 11"/>
          <p:cNvSpPr/>
          <p:nvPr/>
        </p:nvSpPr>
        <p:spPr>
          <a:xfrm>
            <a:off x="1530906" y="6622852"/>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Upsampling in the generator preserves spatial structure</a:t>
            </a:r>
            <a:endParaRPr lang="en-US" sz="175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20903" y="6121718"/>
            <a:ext cx="340162" cy="340162"/>
          </a:xfrm>
          <a:prstGeom prst="rect">
            <a:avLst/>
          </a:prstGeom>
        </p:spPr>
      </p:pic>
      <p:sp>
        <p:nvSpPr>
          <p:cNvPr id="16" name="Text 12"/>
          <p:cNvSpPr/>
          <p:nvPr/>
        </p:nvSpPr>
        <p:spPr>
          <a:xfrm>
            <a:off x="5973008" y="611469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Batch Normalization</a:t>
            </a:r>
            <a:endParaRPr lang="en-US" sz="2300" dirty="0"/>
          </a:p>
        </p:txBody>
      </p:sp>
      <p:sp>
        <p:nvSpPr>
          <p:cNvPr id="17" name="Text 13"/>
          <p:cNvSpPr/>
          <p:nvPr/>
        </p:nvSpPr>
        <p:spPr>
          <a:xfrm>
            <a:off x="5973008" y="6622852"/>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Stabilizes gradients across deep layers</a:t>
            </a:r>
            <a:endParaRPr lang="en-US" sz="175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63006" y="6121718"/>
            <a:ext cx="340162" cy="340162"/>
          </a:xfrm>
          <a:prstGeom prst="rect">
            <a:avLst/>
          </a:prstGeom>
        </p:spPr>
      </p:pic>
      <p:sp>
        <p:nvSpPr>
          <p:cNvPr id="19" name="Text 14"/>
          <p:cNvSpPr/>
          <p:nvPr/>
        </p:nvSpPr>
        <p:spPr>
          <a:xfrm>
            <a:off x="10415111" y="611469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LeakyReLU + Tanh</a:t>
            </a:r>
            <a:endParaRPr lang="en-US" sz="2300" dirty="0"/>
          </a:p>
        </p:txBody>
      </p:sp>
      <p:sp>
        <p:nvSpPr>
          <p:cNvPr id="20" name="Text 15"/>
          <p:cNvSpPr/>
          <p:nvPr/>
        </p:nvSpPr>
        <p:spPr>
          <a:xfrm>
            <a:off x="10415111" y="6622852"/>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Prevents dead neurons; keeps output in image range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8D4ED5-B66F-0D4F-8423-7C76F99ABFD0}"/>
              </a:ext>
            </a:extLst>
          </p:cNvPr>
          <p:cNvSpPr txBox="1"/>
          <p:nvPr/>
        </p:nvSpPr>
        <p:spPr>
          <a:xfrm>
            <a:off x="515382" y="1856935"/>
            <a:ext cx="12461147" cy="4862870"/>
          </a:xfrm>
          <a:prstGeom prst="rect">
            <a:avLst/>
          </a:prstGeom>
          <a:noFill/>
        </p:spPr>
        <p:txBody>
          <a:bodyPr wrap="square" rtlCol="0">
            <a:spAutoFit/>
          </a:bodyPr>
          <a:lstStyle/>
          <a:p>
            <a:r>
              <a:rPr lang="en-IN" sz="2400" b="1" dirty="0">
                <a:latin typeface="DM Sans" pitchFamily="2" charset="0"/>
              </a:rPr>
              <a:t> </a:t>
            </a:r>
          </a:p>
          <a:p>
            <a:endParaRPr lang="en-IN" b="1" dirty="0">
              <a:latin typeface="DM Sans" pitchFamily="2" charset="0"/>
            </a:endParaRPr>
          </a:p>
          <a:p>
            <a:r>
              <a:rPr lang="en-IN" b="1" dirty="0">
                <a:latin typeface="DM Sans" pitchFamily="2" charset="0"/>
              </a:rPr>
              <a:t>Medical Imaging:</a:t>
            </a:r>
            <a:r>
              <a:rPr lang="en-IN" dirty="0">
                <a:latin typeface="DM Sans" pitchFamily="2" charset="0"/>
              </a:rPr>
              <a:t> Often used to generate synthetic X-rays, MRIs, or CT scans. This helps researchers bypass privacy regulations </a:t>
            </a:r>
          </a:p>
          <a:p>
            <a:r>
              <a:rPr lang="en-IN" dirty="0">
                <a:latin typeface="DM Sans" pitchFamily="2" charset="0"/>
              </a:rPr>
              <a:t>(like HIPAA) and overcome the scarcity of </a:t>
            </a:r>
            <a:r>
              <a:rPr lang="en-IN" dirty="0" err="1">
                <a:latin typeface="DM Sans" pitchFamily="2" charset="0"/>
              </a:rPr>
              <a:t>labeled</a:t>
            </a:r>
            <a:r>
              <a:rPr lang="en-IN" dirty="0">
                <a:latin typeface="DM Sans" pitchFamily="2" charset="0"/>
              </a:rPr>
              <a:t> medical data.</a:t>
            </a:r>
          </a:p>
          <a:p>
            <a:endParaRPr lang="en-IN" dirty="0">
              <a:latin typeface="DM Sans" pitchFamily="2" charset="0"/>
            </a:endParaRPr>
          </a:p>
          <a:p>
            <a:r>
              <a:rPr lang="en-IN" b="1" dirty="0">
                <a:latin typeface="DM Sans" pitchFamily="2" charset="0"/>
              </a:rPr>
              <a:t>Addressing Class Imbalance:</a:t>
            </a:r>
            <a:r>
              <a:rPr lang="en-IN" dirty="0">
                <a:latin typeface="DM Sans" pitchFamily="2" charset="0"/>
              </a:rPr>
              <a:t> If you have 1,000 images of "healthy" plants but only 50 of "diseased" ones, a DCGAN can generate </a:t>
            </a:r>
          </a:p>
          <a:p>
            <a:r>
              <a:rPr lang="en-IN" dirty="0">
                <a:latin typeface="DM Sans" pitchFamily="2" charset="0"/>
              </a:rPr>
              <a:t>thousands of synthetic diseased images to balance your training set.</a:t>
            </a:r>
          </a:p>
          <a:p>
            <a:endParaRPr lang="en-IN" dirty="0">
              <a:latin typeface="DM Sans" pitchFamily="2" charset="0"/>
            </a:endParaRPr>
          </a:p>
          <a:p>
            <a:r>
              <a:rPr lang="en-IN" b="1" dirty="0">
                <a:latin typeface="DM Sans" pitchFamily="2" charset="0"/>
              </a:rPr>
              <a:t>Data Privacy:</a:t>
            </a:r>
            <a:r>
              <a:rPr lang="en-IN" dirty="0">
                <a:latin typeface="DM Sans" pitchFamily="2" charset="0"/>
              </a:rPr>
              <a:t> By training a model on synthetic data that mimics the statistical properties of real data, organizations can share datasets</a:t>
            </a:r>
          </a:p>
          <a:p>
            <a:r>
              <a:rPr lang="en-IN" dirty="0">
                <a:latin typeface="DM Sans" pitchFamily="2" charset="0"/>
              </a:rPr>
              <a:t>without exposing sensitive personal information.</a:t>
            </a:r>
          </a:p>
          <a:p>
            <a:endParaRPr lang="en-IN" dirty="0">
              <a:latin typeface="DM Sans" pitchFamily="2" charset="0"/>
            </a:endParaRPr>
          </a:p>
          <a:p>
            <a:r>
              <a:rPr lang="en-IN" b="1" dirty="0">
                <a:latin typeface="DM Sans" pitchFamily="2" charset="0"/>
              </a:rPr>
              <a:t>Autonomous Driving:</a:t>
            </a:r>
            <a:r>
              <a:rPr lang="en-IN" dirty="0">
                <a:latin typeface="DM Sans" pitchFamily="2" charset="0"/>
              </a:rPr>
              <a:t> Generating diverse weather conditions (fog, rain, snow) or rare road scenarios to train self-driving algorithms.</a:t>
            </a:r>
          </a:p>
          <a:p>
            <a:endParaRPr lang="en-US" sz="1600" dirty="0">
              <a:latin typeface="DM Sans" pitchFamily="2" charset="0"/>
            </a:endParaRPr>
          </a:p>
        </p:txBody>
      </p:sp>
      <p:sp>
        <p:nvSpPr>
          <p:cNvPr id="3" name="Text 2">
            <a:extLst>
              <a:ext uri="{FF2B5EF4-FFF2-40B4-BE49-F238E27FC236}">
                <a16:creationId xmlns:a16="http://schemas.microsoft.com/office/drawing/2014/main" id="{9A3D8537-8149-DC49-AA09-AD2BB58CC48F}"/>
              </a:ext>
            </a:extLst>
          </p:cNvPr>
          <p:cNvSpPr/>
          <p:nvPr/>
        </p:nvSpPr>
        <p:spPr>
          <a:xfrm>
            <a:off x="562707" y="777542"/>
            <a:ext cx="9466064"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DCGAN — Use Cases</a:t>
            </a:r>
            <a:endParaRPr lang="en-US" sz="4650" dirty="0"/>
          </a:p>
        </p:txBody>
      </p:sp>
    </p:spTree>
    <p:extLst>
      <p:ext uri="{BB962C8B-B14F-4D97-AF65-F5344CB8AC3E}">
        <p14:creationId xmlns:p14="http://schemas.microsoft.com/office/powerpoint/2010/main" val="1783939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2"/>
          <p:cNvSpPr/>
          <p:nvPr/>
        </p:nvSpPr>
        <p:spPr>
          <a:xfrm>
            <a:off x="407491" y="441764"/>
            <a:ext cx="10314384"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SRGAN &amp; ESRGAN — Enhanced Super Resolution</a:t>
            </a:r>
            <a:endParaRPr lang="en-US" sz="4650" dirty="0"/>
          </a:p>
        </p:txBody>
      </p:sp>
      <p:sp>
        <p:nvSpPr>
          <p:cNvPr id="5" name="Text 3"/>
          <p:cNvSpPr/>
          <p:nvPr/>
        </p:nvSpPr>
        <p:spPr>
          <a:xfrm>
            <a:off x="1138538" y="1550389"/>
            <a:ext cx="2977039" cy="372070"/>
          </a:xfrm>
          <a:prstGeom prst="rect">
            <a:avLst/>
          </a:prstGeom>
          <a:noFill/>
          <a:ln/>
        </p:spPr>
        <p:txBody>
          <a:bodyPr wrap="none" lIns="0" tIns="0" rIns="0" bIns="0" rtlCol="0" anchor="t"/>
          <a:lstStyle/>
          <a:p>
            <a:pPr marL="0" indent="0" algn="l">
              <a:lnSpc>
                <a:spcPts val="2900"/>
              </a:lnSpc>
              <a:buNone/>
            </a:pPr>
            <a:r>
              <a:rPr lang="en-US" sz="2300" b="1" u="sng" dirty="0">
                <a:solidFill>
                  <a:srgbClr val="020202"/>
                </a:solidFill>
                <a:latin typeface="PT Serif" pitchFamily="34" charset="0"/>
                <a:ea typeface="PT Serif" pitchFamily="34" charset="-122"/>
                <a:cs typeface="PT Serif" pitchFamily="34" charset="-120"/>
              </a:rPr>
              <a:t>The Core Innovation</a:t>
            </a:r>
            <a:endParaRPr lang="en-US" sz="2300" b="1" u="sng" dirty="0"/>
          </a:p>
        </p:txBody>
      </p:sp>
      <p:sp>
        <p:nvSpPr>
          <p:cNvPr id="6" name="Text 4"/>
          <p:cNvSpPr/>
          <p:nvPr/>
        </p:nvSpPr>
        <p:spPr>
          <a:xfrm>
            <a:off x="1209349" y="2286824"/>
            <a:ext cx="10649715" cy="4959410"/>
          </a:xfrm>
          <a:prstGeom prst="rect">
            <a:avLst/>
          </a:prstGeom>
          <a:noFill/>
          <a:ln/>
        </p:spPr>
        <p:txBody>
          <a:bodyPr wrap="square" lIns="0" tIns="0" rIns="0" bIns="0" rtlCol="0" anchor="t"/>
          <a:lstStyle/>
          <a:p>
            <a:pPr>
              <a:lnSpc>
                <a:spcPts val="2850"/>
              </a:lnSpc>
            </a:pPr>
            <a:r>
              <a:rPr lang="en-IN" sz="1900" dirty="0">
                <a:latin typeface="DM Sans" pitchFamily="2" charset="0"/>
              </a:rPr>
              <a:t>Standard CNNs trained with pixel-wise MSE loss tend to produce blurry images because they try to match every pixel exactly. When there are multiple possible correct outputs, the model averages them, which smooths out fine details like edges and textures. </a:t>
            </a:r>
          </a:p>
          <a:p>
            <a:pPr>
              <a:lnSpc>
                <a:spcPts val="2850"/>
              </a:lnSpc>
            </a:pPr>
            <a:endParaRPr lang="en-IN" sz="1900" dirty="0">
              <a:latin typeface="DM Sans" pitchFamily="2" charset="0"/>
            </a:endParaRPr>
          </a:p>
          <a:p>
            <a:pPr>
              <a:lnSpc>
                <a:spcPts val="2850"/>
              </a:lnSpc>
            </a:pPr>
            <a:r>
              <a:rPr lang="en-IN" sz="1900" dirty="0">
                <a:latin typeface="DM Sans" pitchFamily="2" charset="0"/>
              </a:rPr>
              <a:t>To overcome this, Photo-Realistic Single Image Super-Resolution Using a Generative Adversarial Network introduced SRGAN, which uses perceptual loss instead of just pixel comparison. </a:t>
            </a:r>
          </a:p>
          <a:p>
            <a:pPr>
              <a:lnSpc>
                <a:spcPts val="2850"/>
              </a:lnSpc>
            </a:pPr>
            <a:endParaRPr lang="en-IN" sz="1900" dirty="0">
              <a:latin typeface="DM Sans" pitchFamily="2" charset="0"/>
            </a:endParaRPr>
          </a:p>
          <a:p>
            <a:pPr>
              <a:lnSpc>
                <a:spcPts val="2850"/>
              </a:lnSpc>
            </a:pPr>
            <a:r>
              <a:rPr lang="en-IN" sz="1900" dirty="0">
                <a:latin typeface="DM Sans" pitchFamily="2" charset="0"/>
              </a:rPr>
              <a:t>This loss is computed in the feature space of a pre-trained network like VGG network, allowing the model to focus on how realistic the image looks rather than exact pixel matching. As a result, SRGAN produces sharper, more detailed, and visually realistic images.</a:t>
            </a:r>
          </a:p>
          <a:p>
            <a:pPr>
              <a:lnSpc>
                <a:spcPts val="2850"/>
              </a:lnSpc>
            </a:pPr>
            <a:endParaRPr lang="en-IN" sz="1900" dirty="0">
              <a:latin typeface="DM Sans" pitchFamily="2" charset="0"/>
            </a:endParaRPr>
          </a:p>
          <a:p>
            <a:pPr>
              <a:lnSpc>
                <a:spcPts val="2850"/>
              </a:lnSpc>
            </a:pPr>
            <a:r>
              <a:rPr lang="en-IN" sz="1900" dirty="0">
                <a:latin typeface="DM Sans" pitchFamily="2" charset="0"/>
              </a:rPr>
              <a:t>ESRGAN enhanced super-resolution by introducing Residual-in-Residual Dense Blocks(RRDB) and relativistic adversarial loss, leading to superior perceptual quality.</a:t>
            </a:r>
            <a:endParaRPr lang="en-US" sz="1900" dirty="0">
              <a:latin typeface="DM Sans" pitchFamily="2" charset="0"/>
            </a:endParaRPr>
          </a:p>
          <a:p>
            <a:pPr>
              <a:lnSpc>
                <a:spcPts val="2850"/>
              </a:lnSpc>
            </a:pPr>
            <a:endParaRPr lang="en-US" sz="1900" dirty="0">
              <a:latin typeface="DM Sans" pitchFamily="2" charset="0"/>
            </a:endParaRPr>
          </a:p>
        </p:txBody>
      </p:sp>
      <p:sp>
        <p:nvSpPr>
          <p:cNvPr id="7" name="Text 5"/>
          <p:cNvSpPr/>
          <p:nvPr/>
        </p:nvSpPr>
        <p:spPr>
          <a:xfrm>
            <a:off x="1209349" y="6509799"/>
            <a:ext cx="11310897" cy="1088708"/>
          </a:xfrm>
          <a:prstGeom prst="rect">
            <a:avLst/>
          </a:prstGeom>
          <a:noFill/>
          <a:ln/>
        </p:spPr>
        <p:txBody>
          <a:bodyPr wrap="square" lIns="0" tIns="0" rIns="0" bIns="0" rtlCol="0" anchor="t"/>
          <a:lstStyle/>
          <a:p>
            <a:pPr>
              <a:lnSpc>
                <a:spcPts val="2850"/>
              </a:lnSpc>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07491" y="441764"/>
            <a:ext cx="10314384"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SRGAN &amp; ESRGAN — Super Resolution</a:t>
            </a:r>
            <a:endParaRPr lang="en-US" sz="4650" dirty="0"/>
          </a:p>
        </p:txBody>
      </p:sp>
      <p:sp>
        <p:nvSpPr>
          <p:cNvPr id="8" name="Shape 6"/>
          <p:cNvSpPr/>
          <p:nvPr/>
        </p:nvSpPr>
        <p:spPr>
          <a:xfrm>
            <a:off x="7599521" y="2480310"/>
            <a:ext cx="3008948" cy="2867025"/>
          </a:xfrm>
          <a:prstGeom prst="roundRect">
            <a:avLst>
              <a:gd name="adj" fmla="val 1187"/>
            </a:avLst>
          </a:prstGeom>
          <a:solidFill>
            <a:srgbClr val="F2EEEE"/>
          </a:solidFill>
          <a:ln/>
        </p:spPr>
      </p:sp>
      <p:sp>
        <p:nvSpPr>
          <p:cNvPr id="9" name="Text 7"/>
          <p:cNvSpPr/>
          <p:nvPr/>
        </p:nvSpPr>
        <p:spPr>
          <a:xfrm>
            <a:off x="7826335" y="2707124"/>
            <a:ext cx="255531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Perceptual Loss</a:t>
            </a:r>
            <a:endParaRPr lang="en-US" sz="2300" dirty="0"/>
          </a:p>
        </p:txBody>
      </p:sp>
      <p:sp>
        <p:nvSpPr>
          <p:cNvPr id="10" name="Text 8"/>
          <p:cNvSpPr/>
          <p:nvPr/>
        </p:nvSpPr>
        <p:spPr>
          <a:xfrm>
            <a:off x="7826335" y="3306008"/>
            <a:ext cx="2555319" cy="1814513"/>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Measures feature-space similarity rather than pixel distance — aligns with human visual perception</a:t>
            </a:r>
            <a:endParaRPr lang="en-US" sz="1750" dirty="0"/>
          </a:p>
        </p:txBody>
      </p:sp>
      <p:sp>
        <p:nvSpPr>
          <p:cNvPr id="11" name="Shape 9"/>
          <p:cNvSpPr/>
          <p:nvPr/>
        </p:nvSpPr>
        <p:spPr>
          <a:xfrm>
            <a:off x="10835283" y="2480310"/>
            <a:ext cx="3008948" cy="2867025"/>
          </a:xfrm>
          <a:prstGeom prst="roundRect">
            <a:avLst>
              <a:gd name="adj" fmla="val 1187"/>
            </a:avLst>
          </a:prstGeom>
          <a:solidFill>
            <a:srgbClr val="F2EEEE"/>
          </a:solidFill>
          <a:ln/>
        </p:spPr>
      </p:sp>
      <p:sp>
        <p:nvSpPr>
          <p:cNvPr id="12" name="Text 10"/>
          <p:cNvSpPr/>
          <p:nvPr/>
        </p:nvSpPr>
        <p:spPr>
          <a:xfrm>
            <a:off x="11062097" y="2707124"/>
            <a:ext cx="255531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Medical Imaging</a:t>
            </a:r>
            <a:endParaRPr lang="en-US" sz="2300" dirty="0"/>
          </a:p>
        </p:txBody>
      </p:sp>
      <p:sp>
        <p:nvSpPr>
          <p:cNvPr id="13" name="Text 11"/>
          <p:cNvSpPr/>
          <p:nvPr/>
        </p:nvSpPr>
        <p:spPr>
          <a:xfrm>
            <a:off x="11062097" y="3306008"/>
            <a:ext cx="2555319" cy="1814513"/>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Enhancing MRI &amp; CT resolution without increasing radiation dose — a clinically significant application</a:t>
            </a:r>
            <a:endParaRPr lang="en-US" sz="1750" dirty="0"/>
          </a:p>
        </p:txBody>
      </p:sp>
      <p:sp>
        <p:nvSpPr>
          <p:cNvPr id="14" name="Shape 12"/>
          <p:cNvSpPr/>
          <p:nvPr/>
        </p:nvSpPr>
        <p:spPr>
          <a:xfrm>
            <a:off x="7599521" y="5574149"/>
            <a:ext cx="6244709" cy="1778318"/>
          </a:xfrm>
          <a:prstGeom prst="roundRect">
            <a:avLst>
              <a:gd name="adj" fmla="val 1913"/>
            </a:avLst>
          </a:prstGeom>
          <a:solidFill>
            <a:srgbClr val="F2EEEE"/>
          </a:solidFill>
          <a:ln/>
        </p:spPr>
      </p:sp>
      <p:sp>
        <p:nvSpPr>
          <p:cNvPr id="15" name="Text 13"/>
          <p:cNvSpPr/>
          <p:nvPr/>
        </p:nvSpPr>
        <p:spPr>
          <a:xfrm>
            <a:off x="7826335" y="5800963"/>
            <a:ext cx="327945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Surveillance &amp; Forensics</a:t>
            </a:r>
            <a:endParaRPr lang="en-US" sz="2300" dirty="0"/>
          </a:p>
        </p:txBody>
      </p:sp>
      <p:sp>
        <p:nvSpPr>
          <p:cNvPr id="16" name="Text 14"/>
          <p:cNvSpPr/>
          <p:nvPr/>
        </p:nvSpPr>
        <p:spPr>
          <a:xfrm>
            <a:off x="7826335" y="6399848"/>
            <a:ext cx="5791081"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Recovering fine detail from degraded or low-resolution footage</a:t>
            </a:r>
            <a:endParaRPr lang="en-US" sz="1750" dirty="0"/>
          </a:p>
        </p:txBody>
      </p:sp>
      <p:pic>
        <p:nvPicPr>
          <p:cNvPr id="2" name="Picture 1">
            <a:extLst>
              <a:ext uri="{FF2B5EF4-FFF2-40B4-BE49-F238E27FC236}">
                <a16:creationId xmlns:a16="http://schemas.microsoft.com/office/drawing/2014/main" id="{F1841F7A-5C93-6A4F-9492-FC6A123ECA0F}"/>
              </a:ext>
            </a:extLst>
          </p:cNvPr>
          <p:cNvPicPr>
            <a:picLocks noChangeAspect="1"/>
          </p:cNvPicPr>
          <p:nvPr/>
        </p:nvPicPr>
        <p:blipFill>
          <a:blip r:embed="rId3"/>
          <a:stretch>
            <a:fillRect/>
          </a:stretch>
        </p:blipFill>
        <p:spPr>
          <a:xfrm>
            <a:off x="735037" y="1448971"/>
            <a:ext cx="6101862" cy="6344529"/>
          </a:xfrm>
          <a:prstGeom prst="rect">
            <a:avLst/>
          </a:prstGeom>
        </p:spPr>
      </p:pic>
    </p:spTree>
    <p:extLst>
      <p:ext uri="{BB962C8B-B14F-4D97-AF65-F5344CB8AC3E}">
        <p14:creationId xmlns:p14="http://schemas.microsoft.com/office/powerpoint/2010/main" val="3585232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2"/>
          <p:cNvSpPr/>
          <p:nvPr/>
        </p:nvSpPr>
        <p:spPr>
          <a:xfrm>
            <a:off x="1045232" y="547271"/>
            <a:ext cx="4744760" cy="593050"/>
          </a:xfrm>
          <a:prstGeom prst="rect">
            <a:avLst/>
          </a:prstGeom>
          <a:noFill/>
          <a:ln/>
        </p:spPr>
        <p:txBody>
          <a:bodyPr wrap="none" lIns="0" tIns="0" rIns="0" bIns="0" rtlCol="0" anchor="t"/>
          <a:lstStyle/>
          <a:p>
            <a:pPr marL="0" indent="0" algn="l">
              <a:lnSpc>
                <a:spcPts val="4650"/>
              </a:lnSpc>
              <a:buNone/>
            </a:pPr>
            <a:r>
              <a:rPr lang="en-US" sz="3700" dirty="0">
                <a:solidFill>
                  <a:srgbClr val="020202"/>
                </a:solidFill>
                <a:latin typeface="PT Serif" pitchFamily="34" charset="0"/>
                <a:ea typeface="PT Serif" pitchFamily="34" charset="-122"/>
                <a:cs typeface="PT Serif" pitchFamily="34" charset="-120"/>
              </a:rPr>
              <a:t>GAN Models Are Evolving</a:t>
            </a:r>
            <a:endParaRPr lang="en-US" sz="3700" dirty="0"/>
          </a:p>
        </p:txBody>
      </p:sp>
      <p:sp>
        <p:nvSpPr>
          <p:cNvPr id="5" name="Shape 3"/>
          <p:cNvSpPr/>
          <p:nvPr/>
        </p:nvSpPr>
        <p:spPr>
          <a:xfrm>
            <a:off x="1079183" y="1707237"/>
            <a:ext cx="12471916" cy="1084421"/>
          </a:xfrm>
          <a:prstGeom prst="roundRect">
            <a:avLst>
              <a:gd name="adj" fmla="val 2500"/>
            </a:avLst>
          </a:prstGeom>
          <a:solidFill>
            <a:srgbClr val="FFFFFF"/>
          </a:solidFill>
          <a:ln w="22860">
            <a:solidFill>
              <a:srgbClr val="D8D4D4"/>
            </a:solidFill>
            <a:prstDash val="solid"/>
          </a:ln>
        </p:spPr>
      </p:sp>
      <p:sp>
        <p:nvSpPr>
          <p:cNvPr id="6" name="Shape 4"/>
          <p:cNvSpPr/>
          <p:nvPr/>
        </p:nvSpPr>
        <p:spPr>
          <a:xfrm>
            <a:off x="1102043" y="1730097"/>
            <a:ext cx="722948" cy="1038701"/>
          </a:xfrm>
          <a:prstGeom prst="rect">
            <a:avLst/>
          </a:prstGeom>
          <a:solidFill>
            <a:srgbClr val="F2EEEE"/>
          </a:solidFill>
          <a:ln/>
        </p:spPr>
      </p:sp>
      <p:sp>
        <p:nvSpPr>
          <p:cNvPr id="7" name="Text 5"/>
          <p:cNvSpPr/>
          <p:nvPr/>
        </p:nvSpPr>
        <p:spPr>
          <a:xfrm>
            <a:off x="1968937" y="1910834"/>
            <a:ext cx="2372320"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StyleGAN / StyleGAN2</a:t>
            </a:r>
            <a:endParaRPr lang="en-US" sz="1850" dirty="0"/>
          </a:p>
        </p:txBody>
      </p:sp>
      <p:sp>
        <p:nvSpPr>
          <p:cNvPr id="8" name="Text 6"/>
          <p:cNvSpPr/>
          <p:nvPr/>
        </p:nvSpPr>
        <p:spPr>
          <a:xfrm>
            <a:off x="1968937" y="2293739"/>
            <a:ext cx="11378565" cy="259794"/>
          </a:xfrm>
          <a:prstGeom prst="rect">
            <a:avLst/>
          </a:prstGeom>
          <a:noFill/>
          <a:ln/>
        </p:spPr>
        <p:txBody>
          <a:bodyPr wrap="none" lIns="0" tIns="0" rIns="0" bIns="0" rtlCol="0" anchor="t"/>
          <a:lstStyle/>
          <a:p>
            <a:pPr>
              <a:lnSpc>
                <a:spcPts val="2000"/>
              </a:lnSpc>
            </a:pPr>
            <a:r>
              <a:rPr lang="en-IN" sz="1400" dirty="0"/>
              <a:t>GAN architectures that generate highly realistic images by controlling styles (like textures and features) at different layers for better quality and consistency.</a:t>
            </a:r>
            <a:endParaRPr lang="en-US" sz="1400" dirty="0"/>
          </a:p>
        </p:txBody>
      </p:sp>
      <p:sp>
        <p:nvSpPr>
          <p:cNvPr id="9" name="Shape 7"/>
          <p:cNvSpPr/>
          <p:nvPr/>
        </p:nvSpPr>
        <p:spPr>
          <a:xfrm>
            <a:off x="1079183" y="2935605"/>
            <a:ext cx="12471916" cy="1084421"/>
          </a:xfrm>
          <a:prstGeom prst="roundRect">
            <a:avLst>
              <a:gd name="adj" fmla="val 2500"/>
            </a:avLst>
          </a:prstGeom>
          <a:solidFill>
            <a:srgbClr val="FFFFFF"/>
          </a:solidFill>
          <a:ln w="22860">
            <a:solidFill>
              <a:srgbClr val="D8D4D4"/>
            </a:solidFill>
            <a:prstDash val="solid"/>
          </a:ln>
        </p:spPr>
      </p:sp>
      <p:sp>
        <p:nvSpPr>
          <p:cNvPr id="10" name="Shape 8"/>
          <p:cNvSpPr/>
          <p:nvPr/>
        </p:nvSpPr>
        <p:spPr>
          <a:xfrm>
            <a:off x="1102043" y="2958465"/>
            <a:ext cx="722948" cy="1038701"/>
          </a:xfrm>
          <a:prstGeom prst="rect">
            <a:avLst/>
          </a:prstGeom>
          <a:solidFill>
            <a:srgbClr val="F2EEEE"/>
          </a:solidFill>
          <a:ln/>
        </p:spPr>
      </p:sp>
      <p:sp>
        <p:nvSpPr>
          <p:cNvPr id="11" name="Text 9"/>
          <p:cNvSpPr/>
          <p:nvPr/>
        </p:nvSpPr>
        <p:spPr>
          <a:xfrm>
            <a:off x="1968937" y="3139202"/>
            <a:ext cx="2372320"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cGAN</a:t>
            </a:r>
            <a:endParaRPr lang="en-US" sz="1850" dirty="0"/>
          </a:p>
        </p:txBody>
      </p:sp>
      <p:sp>
        <p:nvSpPr>
          <p:cNvPr id="12" name="Text 10"/>
          <p:cNvSpPr/>
          <p:nvPr/>
        </p:nvSpPr>
        <p:spPr>
          <a:xfrm>
            <a:off x="1968937" y="3522107"/>
            <a:ext cx="11378565" cy="259794"/>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DM Sans" pitchFamily="2" charset="0"/>
                <a:ea typeface="DM Sans" pitchFamily="34" charset="-122"/>
                <a:cs typeface="DM Sans" pitchFamily="34" charset="-120"/>
              </a:rPr>
              <a:t>Conditional GAN — conditions both G and D on class labels or auxiliary information for targeted synthesis.</a:t>
            </a:r>
            <a:endParaRPr lang="en-US" sz="1600" dirty="0">
              <a:latin typeface="DM Sans" pitchFamily="2" charset="0"/>
            </a:endParaRPr>
          </a:p>
        </p:txBody>
      </p:sp>
      <p:sp>
        <p:nvSpPr>
          <p:cNvPr id="13" name="Shape 11"/>
          <p:cNvSpPr/>
          <p:nvPr/>
        </p:nvSpPr>
        <p:spPr>
          <a:xfrm>
            <a:off x="1079183" y="4163973"/>
            <a:ext cx="12471916" cy="1084421"/>
          </a:xfrm>
          <a:prstGeom prst="roundRect">
            <a:avLst>
              <a:gd name="adj" fmla="val 2500"/>
            </a:avLst>
          </a:prstGeom>
          <a:solidFill>
            <a:srgbClr val="FFFFFF"/>
          </a:solidFill>
          <a:ln w="22860">
            <a:solidFill>
              <a:srgbClr val="D8D4D4"/>
            </a:solidFill>
            <a:prstDash val="solid"/>
          </a:ln>
        </p:spPr>
      </p:sp>
      <p:sp>
        <p:nvSpPr>
          <p:cNvPr id="14" name="Shape 12"/>
          <p:cNvSpPr/>
          <p:nvPr/>
        </p:nvSpPr>
        <p:spPr>
          <a:xfrm>
            <a:off x="1102043" y="4186833"/>
            <a:ext cx="722948" cy="1038701"/>
          </a:xfrm>
          <a:prstGeom prst="rect">
            <a:avLst/>
          </a:prstGeom>
          <a:solidFill>
            <a:srgbClr val="F2EEEE"/>
          </a:solidFill>
          <a:ln/>
        </p:spPr>
      </p:sp>
      <p:sp>
        <p:nvSpPr>
          <p:cNvPr id="15" name="Text 13"/>
          <p:cNvSpPr/>
          <p:nvPr/>
        </p:nvSpPr>
        <p:spPr>
          <a:xfrm>
            <a:off x="1968937" y="4259992"/>
            <a:ext cx="2372320"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Pix2Pix</a:t>
            </a:r>
            <a:endParaRPr lang="en-US" sz="1850" dirty="0"/>
          </a:p>
        </p:txBody>
      </p:sp>
      <p:sp>
        <p:nvSpPr>
          <p:cNvPr id="16" name="Text 14"/>
          <p:cNvSpPr/>
          <p:nvPr/>
        </p:nvSpPr>
        <p:spPr>
          <a:xfrm>
            <a:off x="1968937" y="4620578"/>
            <a:ext cx="11485806" cy="533638"/>
          </a:xfrm>
          <a:prstGeom prst="rect">
            <a:avLst/>
          </a:prstGeom>
          <a:noFill/>
          <a:ln/>
        </p:spPr>
        <p:txBody>
          <a:bodyPr wrap="none" lIns="0" tIns="0" rIns="0" bIns="0" rtlCol="0" anchor="t"/>
          <a:lstStyle/>
          <a:p>
            <a:pPr>
              <a:lnSpc>
                <a:spcPts val="2000"/>
              </a:lnSpc>
            </a:pPr>
            <a:r>
              <a:rPr lang="en-IN" sz="1200" dirty="0">
                <a:latin typeface="DM Sans" pitchFamily="2" charset="0"/>
              </a:rPr>
              <a:t>specific type of conditional GAN (</a:t>
            </a:r>
            <a:r>
              <a:rPr lang="en-IN" sz="1200" dirty="0" err="1">
                <a:latin typeface="DM Sans" pitchFamily="2" charset="0"/>
              </a:rPr>
              <a:t>cGAN</a:t>
            </a:r>
            <a:r>
              <a:rPr lang="en-IN" sz="1200" dirty="0">
                <a:latin typeface="DM Sans" pitchFamily="2" charset="0"/>
              </a:rPr>
              <a:t>) designed for </a:t>
            </a:r>
            <a:r>
              <a:rPr lang="en-IN" sz="1200" b="1" dirty="0">
                <a:latin typeface="DM Sans" pitchFamily="2" charset="0"/>
              </a:rPr>
              <a:t>image-to-image translation</a:t>
            </a:r>
            <a:r>
              <a:rPr lang="en-IN" sz="1200" dirty="0">
                <a:latin typeface="DM Sans" pitchFamily="2" charset="0"/>
              </a:rPr>
              <a:t>, where the model learns to map an input image (like a sketch) directly </a:t>
            </a:r>
          </a:p>
          <a:p>
            <a:pPr>
              <a:lnSpc>
                <a:spcPts val="2000"/>
              </a:lnSpc>
            </a:pPr>
            <a:r>
              <a:rPr lang="en-IN" sz="1200" dirty="0">
                <a:latin typeface="DM Sans" pitchFamily="2" charset="0"/>
              </a:rPr>
              <a:t>to a corresponding output image (like a photo).</a:t>
            </a:r>
            <a:endParaRPr lang="en-US" sz="1200" dirty="0">
              <a:latin typeface="DM Sans" pitchFamily="2" charset="0"/>
            </a:endParaRPr>
          </a:p>
        </p:txBody>
      </p:sp>
      <p:sp>
        <p:nvSpPr>
          <p:cNvPr id="17" name="Shape 15"/>
          <p:cNvSpPr/>
          <p:nvPr/>
        </p:nvSpPr>
        <p:spPr>
          <a:xfrm>
            <a:off x="1079183" y="5392341"/>
            <a:ext cx="12471916" cy="1084421"/>
          </a:xfrm>
          <a:prstGeom prst="roundRect">
            <a:avLst>
              <a:gd name="adj" fmla="val 2500"/>
            </a:avLst>
          </a:prstGeom>
          <a:solidFill>
            <a:srgbClr val="FFFFFF"/>
          </a:solidFill>
          <a:ln w="22860">
            <a:solidFill>
              <a:srgbClr val="D8D4D4"/>
            </a:solidFill>
            <a:prstDash val="solid"/>
          </a:ln>
        </p:spPr>
      </p:sp>
      <p:sp>
        <p:nvSpPr>
          <p:cNvPr id="18" name="Shape 16"/>
          <p:cNvSpPr/>
          <p:nvPr/>
        </p:nvSpPr>
        <p:spPr>
          <a:xfrm>
            <a:off x="1102043" y="5415201"/>
            <a:ext cx="722948" cy="1038701"/>
          </a:xfrm>
          <a:prstGeom prst="rect">
            <a:avLst/>
          </a:prstGeom>
          <a:solidFill>
            <a:srgbClr val="F2EEEE"/>
          </a:solidFill>
          <a:ln/>
        </p:spPr>
      </p:sp>
      <p:sp>
        <p:nvSpPr>
          <p:cNvPr id="19" name="Text 17"/>
          <p:cNvSpPr/>
          <p:nvPr/>
        </p:nvSpPr>
        <p:spPr>
          <a:xfrm>
            <a:off x="1968937" y="5595938"/>
            <a:ext cx="2372320"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WGAN</a:t>
            </a:r>
            <a:endParaRPr lang="en-US" sz="1850" dirty="0"/>
          </a:p>
        </p:txBody>
      </p:sp>
      <p:sp>
        <p:nvSpPr>
          <p:cNvPr id="20" name="Text 18"/>
          <p:cNvSpPr/>
          <p:nvPr/>
        </p:nvSpPr>
        <p:spPr>
          <a:xfrm>
            <a:off x="1968937" y="5978843"/>
            <a:ext cx="11378565" cy="259794"/>
          </a:xfrm>
          <a:prstGeom prst="rect">
            <a:avLst/>
          </a:prstGeom>
          <a:noFill/>
          <a:ln/>
        </p:spPr>
        <p:txBody>
          <a:bodyPr wrap="none" lIns="0" tIns="0" rIns="0" bIns="0" rtlCol="0" anchor="t"/>
          <a:lstStyle/>
          <a:p>
            <a:pPr marL="0" indent="0" algn="l">
              <a:lnSpc>
                <a:spcPts val="2000"/>
              </a:lnSpc>
              <a:buNone/>
            </a:pPr>
            <a:r>
              <a:rPr lang="en-US" sz="1400" dirty="0">
                <a:solidFill>
                  <a:srgbClr val="383838"/>
                </a:solidFill>
                <a:latin typeface="DM Sans" pitchFamily="2" charset="0"/>
                <a:ea typeface="DM Sans" pitchFamily="34" charset="-122"/>
                <a:cs typeface="DM Sans" pitchFamily="34" charset="-120"/>
              </a:rPr>
              <a:t>Uses Wasserstein distance instead of JS divergence — significantly more stable training dynamics.</a:t>
            </a:r>
            <a:endParaRPr lang="en-US" sz="1400" dirty="0">
              <a:latin typeface="DM Sans" pitchFamily="2" charset="0"/>
            </a:endParaRPr>
          </a:p>
        </p:txBody>
      </p:sp>
      <p:sp>
        <p:nvSpPr>
          <p:cNvPr id="21" name="Shape 19"/>
          <p:cNvSpPr/>
          <p:nvPr/>
        </p:nvSpPr>
        <p:spPr>
          <a:xfrm>
            <a:off x="1079183" y="6620708"/>
            <a:ext cx="12471916" cy="1084421"/>
          </a:xfrm>
          <a:prstGeom prst="roundRect">
            <a:avLst>
              <a:gd name="adj" fmla="val 2500"/>
            </a:avLst>
          </a:prstGeom>
          <a:solidFill>
            <a:srgbClr val="FFFFFF"/>
          </a:solidFill>
          <a:ln w="22860">
            <a:solidFill>
              <a:srgbClr val="D8D4D4"/>
            </a:solidFill>
            <a:prstDash val="solid"/>
          </a:ln>
        </p:spPr>
      </p:sp>
      <p:sp>
        <p:nvSpPr>
          <p:cNvPr id="22" name="Shape 20"/>
          <p:cNvSpPr/>
          <p:nvPr/>
        </p:nvSpPr>
        <p:spPr>
          <a:xfrm>
            <a:off x="1102043" y="6643568"/>
            <a:ext cx="722948" cy="1038701"/>
          </a:xfrm>
          <a:prstGeom prst="rect">
            <a:avLst/>
          </a:prstGeom>
          <a:solidFill>
            <a:srgbClr val="F2EEEE"/>
          </a:solidFill>
          <a:ln/>
        </p:spPr>
      </p:sp>
      <p:sp>
        <p:nvSpPr>
          <p:cNvPr id="23" name="Text 21"/>
          <p:cNvSpPr/>
          <p:nvPr/>
        </p:nvSpPr>
        <p:spPr>
          <a:xfrm>
            <a:off x="1968937" y="6824305"/>
            <a:ext cx="2372320"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 </a:t>
            </a:r>
            <a:r>
              <a:rPr lang="en-US" sz="1850" dirty="0" err="1">
                <a:solidFill>
                  <a:srgbClr val="383838"/>
                </a:solidFill>
                <a:latin typeface="PT Serif" pitchFamily="34" charset="0"/>
                <a:ea typeface="PT Serif" pitchFamily="34" charset="-122"/>
                <a:cs typeface="PT Serif" pitchFamily="34" charset="-120"/>
              </a:rPr>
              <a:t>cycleGAN</a:t>
            </a:r>
            <a:endParaRPr lang="en-US" sz="1850" dirty="0"/>
          </a:p>
        </p:txBody>
      </p:sp>
      <p:sp>
        <p:nvSpPr>
          <p:cNvPr id="24" name="Text 22"/>
          <p:cNvSpPr/>
          <p:nvPr/>
        </p:nvSpPr>
        <p:spPr>
          <a:xfrm>
            <a:off x="1968937" y="7207210"/>
            <a:ext cx="11378565" cy="259794"/>
          </a:xfrm>
          <a:prstGeom prst="rect">
            <a:avLst/>
          </a:prstGeom>
          <a:noFill/>
          <a:ln/>
        </p:spPr>
        <p:txBody>
          <a:bodyPr wrap="none" lIns="0" tIns="0" rIns="0" bIns="0" rtlCol="0" anchor="t"/>
          <a:lstStyle/>
          <a:p>
            <a:pPr>
              <a:lnSpc>
                <a:spcPts val="2000"/>
              </a:lnSpc>
            </a:pPr>
            <a:r>
              <a:rPr lang="en-IN" sz="1200" b="1" dirty="0" err="1">
                <a:latin typeface="DM Sans" pitchFamily="2" charset="0"/>
              </a:rPr>
              <a:t>CycleGAN</a:t>
            </a:r>
            <a:r>
              <a:rPr lang="en-IN" sz="1200" dirty="0">
                <a:latin typeface="DM Sans" pitchFamily="2" charset="0"/>
              </a:rPr>
              <a:t> (Cycle-Consistent Generative Adversarial Network) is a breakthrough in computer vision because it allows for </a:t>
            </a:r>
            <a:r>
              <a:rPr lang="en-IN" sz="1200" b="1" dirty="0">
                <a:latin typeface="DM Sans" pitchFamily="2" charset="0"/>
              </a:rPr>
              <a:t>unpaired image-to-image translation</a:t>
            </a:r>
            <a:r>
              <a:rPr lang="en-IN" sz="1200" dirty="0">
                <a:latin typeface="DM Sans" pitchFamily="2" charset="0"/>
              </a:rPr>
              <a:t>.</a:t>
            </a:r>
            <a:endParaRPr lang="en-US" sz="1200" dirty="0">
              <a:latin typeface="DM Sans"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643BF0-EB26-8747-9DA9-B8B9D803F70C}"/>
              </a:ext>
            </a:extLst>
          </p:cNvPr>
          <p:cNvPicPr>
            <a:picLocks noChangeAspect="1"/>
          </p:cNvPicPr>
          <p:nvPr/>
        </p:nvPicPr>
        <p:blipFill>
          <a:blip r:embed="rId2"/>
          <a:stretch>
            <a:fillRect/>
          </a:stretch>
        </p:blipFill>
        <p:spPr>
          <a:xfrm>
            <a:off x="1955410" y="1438262"/>
            <a:ext cx="10002129" cy="5806600"/>
          </a:xfrm>
          <a:prstGeom prst="rect">
            <a:avLst/>
          </a:prstGeom>
        </p:spPr>
      </p:pic>
      <p:sp>
        <p:nvSpPr>
          <p:cNvPr id="5" name="Text 2">
            <a:extLst>
              <a:ext uri="{FF2B5EF4-FFF2-40B4-BE49-F238E27FC236}">
                <a16:creationId xmlns:a16="http://schemas.microsoft.com/office/drawing/2014/main" id="{15FD54D8-BB5C-9E46-9E7B-25A1C3990FFA}"/>
              </a:ext>
            </a:extLst>
          </p:cNvPr>
          <p:cNvSpPr/>
          <p:nvPr/>
        </p:nvSpPr>
        <p:spPr>
          <a:xfrm>
            <a:off x="510659" y="350323"/>
            <a:ext cx="12262805" cy="593050"/>
          </a:xfrm>
          <a:prstGeom prst="rect">
            <a:avLst/>
          </a:prstGeom>
          <a:noFill/>
          <a:ln/>
        </p:spPr>
        <p:txBody>
          <a:bodyPr wrap="none" lIns="0" tIns="0" rIns="0" bIns="0" rtlCol="0" anchor="t"/>
          <a:lstStyle/>
          <a:p>
            <a:pPr marL="0" indent="0" algn="l">
              <a:lnSpc>
                <a:spcPts val="4650"/>
              </a:lnSpc>
              <a:buNone/>
            </a:pPr>
            <a:r>
              <a:rPr lang="en-US" sz="3700" dirty="0">
                <a:solidFill>
                  <a:srgbClr val="020202"/>
                </a:solidFill>
                <a:latin typeface="PT Serif" pitchFamily="34" charset="0"/>
                <a:ea typeface="PT Serif" pitchFamily="34" charset="-122"/>
                <a:cs typeface="PT Serif" pitchFamily="34" charset="-120"/>
              </a:rPr>
              <a:t>Unpaired Image-Image Translation Using </a:t>
            </a:r>
            <a:r>
              <a:rPr lang="en-US" sz="3700" dirty="0" err="1">
                <a:solidFill>
                  <a:srgbClr val="020202"/>
                </a:solidFill>
                <a:latin typeface="PT Serif" pitchFamily="34" charset="0"/>
                <a:ea typeface="PT Serif" pitchFamily="34" charset="-122"/>
                <a:cs typeface="PT Serif" pitchFamily="34" charset="-120"/>
              </a:rPr>
              <a:t>cycleGAN</a:t>
            </a:r>
            <a:r>
              <a:rPr lang="en-US" sz="3700" dirty="0">
                <a:solidFill>
                  <a:srgbClr val="020202"/>
                </a:solidFill>
                <a:latin typeface="PT Serif" pitchFamily="34" charset="0"/>
                <a:ea typeface="PT Serif" pitchFamily="34" charset="-122"/>
                <a:cs typeface="PT Serif" pitchFamily="34" charset="-120"/>
              </a:rPr>
              <a:t>  </a:t>
            </a:r>
            <a:endParaRPr lang="en-US" sz="3700" dirty="0"/>
          </a:p>
        </p:txBody>
      </p:sp>
      <p:sp>
        <p:nvSpPr>
          <p:cNvPr id="6" name="TextBox 5">
            <a:extLst>
              <a:ext uri="{FF2B5EF4-FFF2-40B4-BE49-F238E27FC236}">
                <a16:creationId xmlns:a16="http://schemas.microsoft.com/office/drawing/2014/main" id="{EBCDE9C8-1BFE-F944-A4DD-61B6F2CA1523}"/>
              </a:ext>
            </a:extLst>
          </p:cNvPr>
          <p:cNvSpPr txBox="1"/>
          <p:nvPr/>
        </p:nvSpPr>
        <p:spPr>
          <a:xfrm>
            <a:off x="309489" y="7244862"/>
            <a:ext cx="14047435" cy="1077218"/>
          </a:xfrm>
          <a:prstGeom prst="rect">
            <a:avLst/>
          </a:prstGeom>
          <a:noFill/>
        </p:spPr>
        <p:txBody>
          <a:bodyPr wrap="none" rtlCol="0">
            <a:spAutoFit/>
          </a:bodyPr>
          <a:lstStyle/>
          <a:p>
            <a:r>
              <a:rPr lang="en-IN" sz="1600" dirty="0">
                <a:latin typeface="DM Sans" pitchFamily="2" charset="0"/>
              </a:rPr>
              <a:t>Citation</a:t>
            </a:r>
          </a:p>
          <a:p>
            <a:r>
              <a:rPr lang="en-IN" sz="1600" dirty="0">
                <a:latin typeface="DM Sans" pitchFamily="2" charset="0"/>
              </a:rPr>
              <a:t>Jun-Yan Zhu*, </a:t>
            </a:r>
            <a:r>
              <a:rPr lang="en-IN" sz="1600" dirty="0" err="1">
                <a:latin typeface="DM Sans" pitchFamily="2" charset="0"/>
              </a:rPr>
              <a:t>Taesung</a:t>
            </a:r>
            <a:r>
              <a:rPr lang="en-IN" sz="1600" dirty="0">
                <a:latin typeface="DM Sans" pitchFamily="2" charset="0"/>
              </a:rPr>
              <a:t> Park*, Phillip Isola, and Alexei A. </a:t>
            </a:r>
            <a:r>
              <a:rPr lang="en-IN" sz="1600" dirty="0" err="1">
                <a:latin typeface="DM Sans" pitchFamily="2" charset="0"/>
              </a:rPr>
              <a:t>Efros</a:t>
            </a:r>
            <a:r>
              <a:rPr lang="en-IN" sz="1600" dirty="0">
                <a:latin typeface="DM Sans" pitchFamily="2" charset="0"/>
              </a:rPr>
              <a:t>. "Unpaired Image-to-Image Translation using Cycle-Consistent Adversarial Networks",</a:t>
            </a:r>
          </a:p>
          <a:p>
            <a:r>
              <a:rPr lang="en-IN" sz="1600" dirty="0">
                <a:latin typeface="DM Sans" pitchFamily="2" charset="0"/>
              </a:rPr>
              <a:t> in IEEE International Conference on Computer Vision (ICCV), 2017.</a:t>
            </a:r>
          </a:p>
          <a:p>
            <a:endParaRPr lang="en-US" sz="1600" dirty="0">
              <a:latin typeface="DM Sans" pitchFamily="2" charset="0"/>
            </a:endParaRPr>
          </a:p>
        </p:txBody>
      </p:sp>
    </p:spTree>
    <p:extLst>
      <p:ext uri="{BB962C8B-B14F-4D97-AF65-F5344CB8AC3E}">
        <p14:creationId xmlns:p14="http://schemas.microsoft.com/office/powerpoint/2010/main" val="3128883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079183" y="540663"/>
            <a:ext cx="4744760" cy="593050"/>
          </a:xfrm>
          <a:prstGeom prst="rect">
            <a:avLst/>
          </a:prstGeom>
          <a:noFill/>
          <a:ln/>
        </p:spPr>
        <p:txBody>
          <a:bodyPr wrap="none" lIns="0" tIns="0" rIns="0" bIns="0" rtlCol="0" anchor="t"/>
          <a:lstStyle/>
          <a:p>
            <a:pPr marL="0" indent="0" algn="l">
              <a:lnSpc>
                <a:spcPts val="4650"/>
              </a:lnSpc>
              <a:buNone/>
            </a:pPr>
            <a:r>
              <a:rPr lang="en-US" sz="3700" dirty="0">
                <a:solidFill>
                  <a:srgbClr val="020202"/>
                </a:solidFill>
                <a:latin typeface="PT Serif" pitchFamily="34" charset="0"/>
                <a:ea typeface="PT Serif" pitchFamily="34" charset="-122"/>
                <a:cs typeface="PT Serif" pitchFamily="34" charset="-120"/>
              </a:rPr>
              <a:t>Training Challenges</a:t>
            </a:r>
            <a:endParaRPr lang="en-US" sz="3700" dirty="0"/>
          </a:p>
        </p:txBody>
      </p:sp>
      <p:pic>
        <p:nvPicPr>
          <p:cNvPr id="3" name="Image 0" descr="preencoded.png"/>
          <p:cNvPicPr>
            <a:picLocks noChangeAspect="1"/>
          </p:cNvPicPr>
          <p:nvPr/>
        </p:nvPicPr>
        <p:blipFill>
          <a:blip r:embed="rId3"/>
          <a:stretch>
            <a:fillRect/>
          </a:stretch>
        </p:blipFill>
        <p:spPr>
          <a:xfrm>
            <a:off x="1079183" y="1511618"/>
            <a:ext cx="6015395" cy="6015395"/>
          </a:xfrm>
          <a:prstGeom prst="rect">
            <a:avLst/>
          </a:prstGeom>
        </p:spPr>
      </p:pic>
      <p:pic>
        <p:nvPicPr>
          <p:cNvPr id="4" name="Image 1" descr="preencoded.png"/>
          <p:cNvPicPr>
            <a:picLocks noChangeAspect="1"/>
          </p:cNvPicPr>
          <p:nvPr/>
        </p:nvPicPr>
        <p:blipFill>
          <a:blip r:embed="rId4"/>
          <a:stretch>
            <a:fillRect/>
          </a:stretch>
        </p:blipFill>
        <p:spPr>
          <a:xfrm>
            <a:off x="1079183" y="1511618"/>
            <a:ext cx="6015395" cy="6015395"/>
          </a:xfrm>
          <a:prstGeom prst="rect">
            <a:avLst/>
          </a:prstGeom>
        </p:spPr>
      </p:pic>
      <p:sp>
        <p:nvSpPr>
          <p:cNvPr id="5" name="Shape 1"/>
          <p:cNvSpPr/>
          <p:nvPr/>
        </p:nvSpPr>
        <p:spPr>
          <a:xfrm>
            <a:off x="7543205" y="2324338"/>
            <a:ext cx="6015395" cy="1367314"/>
          </a:xfrm>
          <a:prstGeom prst="roundRect">
            <a:avLst>
              <a:gd name="adj" fmla="val 8025"/>
            </a:avLst>
          </a:prstGeom>
          <a:solidFill>
            <a:srgbClr val="FFFFFF"/>
          </a:solidFill>
          <a:ln w="22860">
            <a:solidFill>
              <a:srgbClr val="D8D4D4"/>
            </a:solidFill>
            <a:prstDash val="solid"/>
          </a:ln>
        </p:spPr>
      </p:sp>
      <p:sp>
        <p:nvSpPr>
          <p:cNvPr id="6" name="Shape 2"/>
          <p:cNvSpPr/>
          <p:nvPr/>
        </p:nvSpPr>
        <p:spPr>
          <a:xfrm>
            <a:off x="7520345" y="2324338"/>
            <a:ext cx="91440" cy="1367314"/>
          </a:xfrm>
          <a:prstGeom prst="roundRect">
            <a:avLst>
              <a:gd name="adj" fmla="val 29651"/>
            </a:avLst>
          </a:prstGeom>
          <a:solidFill>
            <a:srgbClr val="E04F00"/>
          </a:solidFill>
          <a:ln/>
        </p:spPr>
      </p:sp>
      <p:sp>
        <p:nvSpPr>
          <p:cNvPr id="7" name="Text 3"/>
          <p:cNvSpPr/>
          <p:nvPr/>
        </p:nvSpPr>
        <p:spPr>
          <a:xfrm>
            <a:off x="7815382" y="2383988"/>
            <a:ext cx="2372320"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Mode Collapse</a:t>
            </a:r>
            <a:endParaRPr lang="en-US" sz="1850" dirty="0"/>
          </a:p>
        </p:txBody>
      </p:sp>
      <p:sp>
        <p:nvSpPr>
          <p:cNvPr id="8" name="Text 4"/>
          <p:cNvSpPr/>
          <p:nvPr/>
        </p:nvSpPr>
        <p:spPr>
          <a:xfrm>
            <a:off x="7815382" y="2824520"/>
            <a:ext cx="5539621" cy="519589"/>
          </a:xfrm>
          <a:prstGeom prst="rect">
            <a:avLst/>
          </a:prstGeom>
          <a:noFill/>
          <a:ln/>
        </p:spPr>
        <p:txBody>
          <a:bodyPr wrap="square" lIns="0" tIns="0" rIns="0" bIns="0" rtlCol="0" anchor="t"/>
          <a:lstStyle/>
          <a:p>
            <a:pPr marL="0" indent="0" algn="l">
              <a:lnSpc>
                <a:spcPts val="2000"/>
              </a:lnSpc>
              <a:buNone/>
            </a:pPr>
            <a:r>
              <a:rPr lang="en-US" sz="1600" dirty="0">
                <a:solidFill>
                  <a:srgbClr val="383838"/>
                </a:solidFill>
                <a:latin typeface="DM Sans" pitchFamily="34" charset="0"/>
                <a:ea typeface="DM Sans" pitchFamily="34" charset="-122"/>
                <a:cs typeface="DM Sans" pitchFamily="34" charset="-120"/>
              </a:rPr>
              <a:t>Generator finds a small subset of outputs that fool D — lacks diversity. Addressed by minibatch discrimination, unrolled GANs.</a:t>
            </a:r>
            <a:endParaRPr lang="en-US" sz="1600" dirty="0"/>
          </a:p>
        </p:txBody>
      </p:sp>
      <p:sp>
        <p:nvSpPr>
          <p:cNvPr id="9" name="Shape 5"/>
          <p:cNvSpPr/>
          <p:nvPr/>
        </p:nvSpPr>
        <p:spPr>
          <a:xfrm>
            <a:off x="7543205" y="3835598"/>
            <a:ext cx="6015395" cy="1367314"/>
          </a:xfrm>
          <a:prstGeom prst="roundRect">
            <a:avLst>
              <a:gd name="adj" fmla="val 8025"/>
            </a:avLst>
          </a:prstGeom>
          <a:solidFill>
            <a:srgbClr val="FFFFFF"/>
          </a:solidFill>
          <a:ln w="22860">
            <a:solidFill>
              <a:srgbClr val="D8D4D4"/>
            </a:solidFill>
            <a:prstDash val="solid"/>
          </a:ln>
        </p:spPr>
      </p:sp>
      <p:sp>
        <p:nvSpPr>
          <p:cNvPr id="10" name="Shape 6"/>
          <p:cNvSpPr/>
          <p:nvPr/>
        </p:nvSpPr>
        <p:spPr>
          <a:xfrm>
            <a:off x="7520345" y="3835598"/>
            <a:ext cx="91440" cy="1367314"/>
          </a:xfrm>
          <a:prstGeom prst="roundRect">
            <a:avLst>
              <a:gd name="adj" fmla="val 29651"/>
            </a:avLst>
          </a:prstGeom>
          <a:solidFill>
            <a:srgbClr val="E04F00"/>
          </a:solidFill>
          <a:ln/>
        </p:spPr>
      </p:sp>
      <p:sp>
        <p:nvSpPr>
          <p:cNvPr id="11" name="Text 7"/>
          <p:cNvSpPr/>
          <p:nvPr/>
        </p:nvSpPr>
        <p:spPr>
          <a:xfrm>
            <a:off x="7815382" y="4039195"/>
            <a:ext cx="2372320"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Instability</a:t>
            </a:r>
            <a:endParaRPr lang="en-US" sz="1850" dirty="0"/>
          </a:p>
        </p:txBody>
      </p:sp>
      <p:sp>
        <p:nvSpPr>
          <p:cNvPr id="12" name="Text 8"/>
          <p:cNvSpPr/>
          <p:nvPr/>
        </p:nvSpPr>
        <p:spPr>
          <a:xfrm>
            <a:off x="7815382" y="4398251"/>
            <a:ext cx="5539621" cy="519589"/>
          </a:xfrm>
          <a:prstGeom prst="rect">
            <a:avLst/>
          </a:prstGeom>
          <a:noFill/>
          <a:ln/>
        </p:spPr>
        <p:txBody>
          <a:bodyPr wrap="square" lIns="0" tIns="0" rIns="0" bIns="0" rtlCol="0" anchor="t"/>
          <a:lstStyle/>
          <a:p>
            <a:pPr marL="0" indent="0" algn="l">
              <a:lnSpc>
                <a:spcPts val="2000"/>
              </a:lnSpc>
              <a:buNone/>
            </a:pPr>
            <a:r>
              <a:rPr lang="en-US" sz="1600" dirty="0">
                <a:solidFill>
                  <a:srgbClr val="383838"/>
                </a:solidFill>
                <a:latin typeface="DM Sans" pitchFamily="34" charset="0"/>
                <a:ea typeface="DM Sans" pitchFamily="34" charset="-122"/>
                <a:cs typeface="DM Sans" pitchFamily="34" charset="-120"/>
              </a:rPr>
              <a:t>G and D must stay balanced. If D wins too easily, G gets vanishing gradients. WGAN and spectral normalization mitigate this.</a:t>
            </a:r>
            <a:endParaRPr lang="en-US" sz="1600" dirty="0"/>
          </a:p>
        </p:txBody>
      </p:sp>
      <p:sp>
        <p:nvSpPr>
          <p:cNvPr id="13" name="Shape 9"/>
          <p:cNvSpPr/>
          <p:nvPr/>
        </p:nvSpPr>
        <p:spPr>
          <a:xfrm>
            <a:off x="7543205" y="5346859"/>
            <a:ext cx="6015395" cy="1367314"/>
          </a:xfrm>
          <a:prstGeom prst="roundRect">
            <a:avLst>
              <a:gd name="adj" fmla="val 8025"/>
            </a:avLst>
          </a:prstGeom>
          <a:solidFill>
            <a:srgbClr val="FFFFFF"/>
          </a:solidFill>
          <a:ln w="22860">
            <a:solidFill>
              <a:srgbClr val="D8D4D4"/>
            </a:solidFill>
            <a:prstDash val="solid"/>
          </a:ln>
        </p:spPr>
      </p:sp>
      <p:sp>
        <p:nvSpPr>
          <p:cNvPr id="14" name="Shape 10"/>
          <p:cNvSpPr/>
          <p:nvPr/>
        </p:nvSpPr>
        <p:spPr>
          <a:xfrm>
            <a:off x="7520345" y="5346859"/>
            <a:ext cx="91440" cy="1367314"/>
          </a:xfrm>
          <a:prstGeom prst="roundRect">
            <a:avLst>
              <a:gd name="adj" fmla="val 29651"/>
            </a:avLst>
          </a:prstGeom>
          <a:solidFill>
            <a:srgbClr val="E04F00"/>
          </a:solidFill>
          <a:ln/>
        </p:spPr>
      </p:sp>
      <p:sp>
        <p:nvSpPr>
          <p:cNvPr id="15" name="Text 11"/>
          <p:cNvSpPr/>
          <p:nvPr/>
        </p:nvSpPr>
        <p:spPr>
          <a:xfrm>
            <a:off x="7815382" y="5550456"/>
            <a:ext cx="2535674" cy="296585"/>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Hyperparameter Tuning</a:t>
            </a:r>
            <a:endParaRPr lang="en-US" sz="1850" dirty="0"/>
          </a:p>
        </p:txBody>
      </p:sp>
      <p:sp>
        <p:nvSpPr>
          <p:cNvPr id="16" name="Text 12"/>
          <p:cNvSpPr/>
          <p:nvPr/>
        </p:nvSpPr>
        <p:spPr>
          <a:xfrm>
            <a:off x="7815382" y="5990987"/>
            <a:ext cx="5539621" cy="519589"/>
          </a:xfrm>
          <a:prstGeom prst="rect">
            <a:avLst/>
          </a:prstGeom>
          <a:noFill/>
          <a:ln/>
        </p:spPr>
        <p:txBody>
          <a:bodyPr wrap="square" lIns="0" tIns="0" rIns="0" bIns="0" rtlCol="0" anchor="t"/>
          <a:lstStyle/>
          <a:p>
            <a:pPr marL="0" indent="0" algn="l">
              <a:lnSpc>
                <a:spcPts val="2000"/>
              </a:lnSpc>
              <a:buNone/>
            </a:pPr>
            <a:r>
              <a:rPr lang="en-US" sz="1600" dirty="0">
                <a:solidFill>
                  <a:srgbClr val="383838"/>
                </a:solidFill>
                <a:latin typeface="DM Sans" pitchFamily="34" charset="0"/>
                <a:ea typeface="DM Sans" pitchFamily="34" charset="-122"/>
                <a:cs typeface="DM Sans" pitchFamily="34" charset="-120"/>
              </a:rPr>
              <a:t>Learning rate ratios, architecture depth, and loss weights are highly sensitive and often problem-specific.</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69025" y="826056"/>
            <a:ext cx="5768102" cy="721043"/>
          </a:xfrm>
          <a:prstGeom prst="rect">
            <a:avLst/>
          </a:prstGeom>
          <a:noFill/>
          <a:ln/>
        </p:spPr>
        <p:txBody>
          <a:bodyPr wrap="none" lIns="0" tIns="0" rIns="0" bIns="0" rtlCol="0" anchor="t"/>
          <a:lstStyle/>
          <a:p>
            <a:pPr marL="0" indent="0" algn="l">
              <a:lnSpc>
                <a:spcPts val="5650"/>
              </a:lnSpc>
              <a:buNone/>
            </a:pPr>
            <a:r>
              <a:rPr lang="en-US" sz="4500" dirty="0">
                <a:solidFill>
                  <a:srgbClr val="020202"/>
                </a:solidFill>
                <a:latin typeface="PT Serif" pitchFamily="34" charset="0"/>
                <a:ea typeface="PT Serif" pitchFamily="34" charset="-122"/>
                <a:cs typeface="PT Serif" pitchFamily="34" charset="-120"/>
              </a:rPr>
              <a:t>Key Takeaways</a:t>
            </a:r>
            <a:endParaRPr lang="en-US" sz="4500" dirty="0"/>
          </a:p>
        </p:txBody>
      </p:sp>
      <p:sp>
        <p:nvSpPr>
          <p:cNvPr id="3" name="Text 1"/>
          <p:cNvSpPr/>
          <p:nvPr/>
        </p:nvSpPr>
        <p:spPr>
          <a:xfrm>
            <a:off x="769025" y="1972747"/>
            <a:ext cx="439460" cy="274558"/>
          </a:xfrm>
          <a:prstGeom prst="rect">
            <a:avLst/>
          </a:prstGeom>
          <a:noFill/>
          <a:ln/>
        </p:spPr>
        <p:txBody>
          <a:bodyPr wrap="none" lIns="0" tIns="0" rIns="0" bIns="0" rtlCol="0" anchor="t"/>
          <a:lstStyle/>
          <a:p>
            <a:pPr marL="0" indent="0" algn="l">
              <a:lnSpc>
                <a:spcPts val="2700"/>
              </a:lnSpc>
              <a:buNone/>
            </a:pPr>
            <a:r>
              <a:rPr lang="en-US" sz="1700" dirty="0">
                <a:solidFill>
                  <a:srgbClr val="383838"/>
                </a:solidFill>
                <a:latin typeface="PT Serif Light" pitchFamily="34" charset="0"/>
                <a:ea typeface="PT Serif Light" pitchFamily="34" charset="-122"/>
                <a:cs typeface="PT Serif Light" pitchFamily="34" charset="-120"/>
              </a:rPr>
              <a:t>01</a:t>
            </a:r>
            <a:endParaRPr lang="en-US" sz="1700" dirty="0"/>
          </a:p>
        </p:txBody>
      </p:sp>
      <p:sp>
        <p:nvSpPr>
          <p:cNvPr id="4" name="Shape 2"/>
          <p:cNvSpPr/>
          <p:nvPr/>
        </p:nvSpPr>
        <p:spPr>
          <a:xfrm>
            <a:off x="769025" y="2315647"/>
            <a:ext cx="6439733" cy="30480"/>
          </a:xfrm>
          <a:prstGeom prst="rect">
            <a:avLst/>
          </a:prstGeom>
          <a:solidFill>
            <a:srgbClr val="E04F00"/>
          </a:solidFill>
          <a:ln/>
        </p:spPr>
      </p:sp>
      <p:sp>
        <p:nvSpPr>
          <p:cNvPr id="5" name="Text 3"/>
          <p:cNvSpPr/>
          <p:nvPr/>
        </p:nvSpPr>
        <p:spPr>
          <a:xfrm>
            <a:off x="769025" y="2486382"/>
            <a:ext cx="3553301" cy="360402"/>
          </a:xfrm>
          <a:prstGeom prst="rect">
            <a:avLst/>
          </a:prstGeom>
          <a:noFill/>
          <a:ln/>
        </p:spPr>
        <p:txBody>
          <a:bodyPr wrap="none" lIns="0" tIns="0" rIns="0" bIns="0" rtlCol="0" anchor="t"/>
          <a:lstStyle/>
          <a:p>
            <a:pPr marL="0" indent="0" algn="l">
              <a:lnSpc>
                <a:spcPts val="2800"/>
              </a:lnSpc>
              <a:buNone/>
            </a:pPr>
            <a:r>
              <a:rPr lang="en-US" sz="2250" dirty="0">
                <a:solidFill>
                  <a:srgbClr val="383838"/>
                </a:solidFill>
                <a:latin typeface="PT Serif" pitchFamily="34" charset="0"/>
                <a:ea typeface="PT Serif" pitchFamily="34" charset="-122"/>
                <a:cs typeface="PT Serif" pitchFamily="34" charset="-120"/>
              </a:rPr>
              <a:t>GANs Learn Without Labels</a:t>
            </a:r>
            <a:endParaRPr lang="en-US" sz="2250" dirty="0"/>
          </a:p>
        </p:txBody>
      </p:sp>
      <p:sp>
        <p:nvSpPr>
          <p:cNvPr id="6" name="Text 4"/>
          <p:cNvSpPr/>
          <p:nvPr/>
        </p:nvSpPr>
        <p:spPr>
          <a:xfrm>
            <a:off x="769025" y="2974419"/>
            <a:ext cx="6439733" cy="692229"/>
          </a:xfrm>
          <a:prstGeom prst="rect">
            <a:avLst/>
          </a:prstGeom>
          <a:noFill/>
          <a:ln/>
        </p:spPr>
        <p:txBody>
          <a:bodyPr wrap="square" lIns="0" tIns="0" rIns="0" bIns="0" rtlCol="0" anchor="t"/>
          <a:lstStyle/>
          <a:p>
            <a:pPr marL="0" indent="0" algn="l">
              <a:lnSpc>
                <a:spcPts val="2700"/>
              </a:lnSpc>
              <a:buNone/>
            </a:pPr>
            <a:r>
              <a:rPr lang="en-US" sz="1700" dirty="0">
                <a:solidFill>
                  <a:srgbClr val="383838"/>
                </a:solidFill>
                <a:latin typeface="DM Sans" pitchFamily="34" charset="0"/>
                <a:ea typeface="DM Sans" pitchFamily="34" charset="-122"/>
                <a:cs typeface="DM Sans" pitchFamily="34" charset="-120"/>
              </a:rPr>
              <a:t>The adversarial objective provides self-supervised training signal — no human annotation required.</a:t>
            </a:r>
            <a:endParaRPr lang="en-US" sz="1700" dirty="0"/>
          </a:p>
        </p:txBody>
      </p:sp>
      <p:sp>
        <p:nvSpPr>
          <p:cNvPr id="7" name="Text 5"/>
          <p:cNvSpPr/>
          <p:nvPr/>
        </p:nvSpPr>
        <p:spPr>
          <a:xfrm>
            <a:off x="7421523" y="1972747"/>
            <a:ext cx="439460" cy="274558"/>
          </a:xfrm>
          <a:prstGeom prst="rect">
            <a:avLst/>
          </a:prstGeom>
          <a:noFill/>
          <a:ln/>
        </p:spPr>
        <p:txBody>
          <a:bodyPr wrap="none" lIns="0" tIns="0" rIns="0" bIns="0" rtlCol="0" anchor="t"/>
          <a:lstStyle/>
          <a:p>
            <a:pPr marL="0" indent="0" algn="l">
              <a:lnSpc>
                <a:spcPts val="2700"/>
              </a:lnSpc>
              <a:buNone/>
            </a:pPr>
            <a:r>
              <a:rPr lang="en-US" sz="1700" dirty="0">
                <a:solidFill>
                  <a:srgbClr val="383838"/>
                </a:solidFill>
                <a:latin typeface="PT Serif Light" pitchFamily="34" charset="0"/>
                <a:ea typeface="PT Serif Light" pitchFamily="34" charset="-122"/>
                <a:cs typeface="PT Serif Light" pitchFamily="34" charset="-120"/>
              </a:rPr>
              <a:t>02</a:t>
            </a:r>
            <a:endParaRPr lang="en-US" sz="1700" dirty="0"/>
          </a:p>
        </p:txBody>
      </p:sp>
      <p:sp>
        <p:nvSpPr>
          <p:cNvPr id="8" name="Shape 6"/>
          <p:cNvSpPr/>
          <p:nvPr/>
        </p:nvSpPr>
        <p:spPr>
          <a:xfrm>
            <a:off x="7421523" y="2315647"/>
            <a:ext cx="6439853" cy="30480"/>
          </a:xfrm>
          <a:prstGeom prst="rect">
            <a:avLst/>
          </a:prstGeom>
          <a:solidFill>
            <a:srgbClr val="E04F00"/>
          </a:solidFill>
          <a:ln/>
        </p:spPr>
      </p:sp>
      <p:sp>
        <p:nvSpPr>
          <p:cNvPr id="9" name="Text 7"/>
          <p:cNvSpPr/>
          <p:nvPr/>
        </p:nvSpPr>
        <p:spPr>
          <a:xfrm>
            <a:off x="7421523" y="2486382"/>
            <a:ext cx="2884051" cy="360402"/>
          </a:xfrm>
          <a:prstGeom prst="rect">
            <a:avLst/>
          </a:prstGeom>
          <a:noFill/>
          <a:ln/>
        </p:spPr>
        <p:txBody>
          <a:bodyPr wrap="none" lIns="0" tIns="0" rIns="0" bIns="0" rtlCol="0" anchor="t"/>
          <a:lstStyle/>
          <a:p>
            <a:pPr marL="0" indent="0" algn="l">
              <a:lnSpc>
                <a:spcPts val="2800"/>
              </a:lnSpc>
              <a:buNone/>
            </a:pPr>
            <a:r>
              <a:rPr lang="en-US" sz="2250" dirty="0">
                <a:solidFill>
                  <a:srgbClr val="383838"/>
                </a:solidFill>
                <a:latin typeface="PT Serif" pitchFamily="34" charset="0"/>
                <a:ea typeface="PT Serif" pitchFamily="34" charset="-122"/>
                <a:cs typeface="PT Serif" pitchFamily="34" charset="-120"/>
              </a:rPr>
              <a:t>Architecture Matters</a:t>
            </a:r>
            <a:endParaRPr lang="en-US" sz="2250" dirty="0"/>
          </a:p>
        </p:txBody>
      </p:sp>
      <p:sp>
        <p:nvSpPr>
          <p:cNvPr id="10" name="Text 8"/>
          <p:cNvSpPr/>
          <p:nvPr/>
        </p:nvSpPr>
        <p:spPr>
          <a:xfrm>
            <a:off x="7421523" y="2974419"/>
            <a:ext cx="6439853" cy="692229"/>
          </a:xfrm>
          <a:prstGeom prst="rect">
            <a:avLst/>
          </a:prstGeom>
          <a:noFill/>
          <a:ln/>
        </p:spPr>
        <p:txBody>
          <a:bodyPr wrap="square" lIns="0" tIns="0" rIns="0" bIns="0" rtlCol="0" anchor="t"/>
          <a:lstStyle/>
          <a:p>
            <a:pPr marL="0" indent="0" algn="l">
              <a:lnSpc>
                <a:spcPts val="2700"/>
              </a:lnSpc>
              <a:buNone/>
            </a:pPr>
            <a:r>
              <a:rPr lang="en-US" sz="1700" dirty="0">
                <a:solidFill>
                  <a:srgbClr val="383838"/>
                </a:solidFill>
                <a:latin typeface="DM Sans" pitchFamily="34" charset="0"/>
                <a:ea typeface="DM Sans" pitchFamily="34" charset="-122"/>
                <a:cs typeface="DM Sans" pitchFamily="34" charset="-120"/>
              </a:rPr>
              <a:t>DCGAN, CycleGAN, SRGAN each solved a distinct CV problem through targeted architectural innovations.</a:t>
            </a:r>
            <a:endParaRPr lang="en-US" sz="1700" dirty="0"/>
          </a:p>
        </p:txBody>
      </p:sp>
      <p:sp>
        <p:nvSpPr>
          <p:cNvPr id="11" name="Text 9"/>
          <p:cNvSpPr/>
          <p:nvPr/>
        </p:nvSpPr>
        <p:spPr>
          <a:xfrm>
            <a:off x="769025" y="4044196"/>
            <a:ext cx="439460" cy="274558"/>
          </a:xfrm>
          <a:prstGeom prst="rect">
            <a:avLst/>
          </a:prstGeom>
          <a:noFill/>
          <a:ln/>
        </p:spPr>
        <p:txBody>
          <a:bodyPr wrap="none" lIns="0" tIns="0" rIns="0" bIns="0" rtlCol="0" anchor="t"/>
          <a:lstStyle/>
          <a:p>
            <a:pPr marL="0" indent="0" algn="l">
              <a:lnSpc>
                <a:spcPts val="2700"/>
              </a:lnSpc>
              <a:buNone/>
            </a:pPr>
            <a:r>
              <a:rPr lang="en-US" sz="1700" dirty="0">
                <a:solidFill>
                  <a:srgbClr val="383838"/>
                </a:solidFill>
                <a:latin typeface="PT Serif Light" pitchFamily="34" charset="0"/>
                <a:ea typeface="PT Serif Light" pitchFamily="34" charset="-122"/>
                <a:cs typeface="PT Serif Light" pitchFamily="34" charset="-120"/>
              </a:rPr>
              <a:t>03</a:t>
            </a:r>
            <a:endParaRPr lang="en-US" sz="1700" dirty="0"/>
          </a:p>
        </p:txBody>
      </p:sp>
      <p:sp>
        <p:nvSpPr>
          <p:cNvPr id="12" name="Shape 10"/>
          <p:cNvSpPr/>
          <p:nvPr/>
        </p:nvSpPr>
        <p:spPr>
          <a:xfrm>
            <a:off x="769025" y="4387096"/>
            <a:ext cx="6439733" cy="30480"/>
          </a:xfrm>
          <a:prstGeom prst="rect">
            <a:avLst/>
          </a:prstGeom>
          <a:solidFill>
            <a:srgbClr val="E04F00"/>
          </a:solidFill>
          <a:ln/>
        </p:spPr>
      </p:sp>
      <p:sp>
        <p:nvSpPr>
          <p:cNvPr id="13" name="Text 11"/>
          <p:cNvSpPr/>
          <p:nvPr/>
        </p:nvSpPr>
        <p:spPr>
          <a:xfrm>
            <a:off x="769025" y="4557832"/>
            <a:ext cx="3557349" cy="360402"/>
          </a:xfrm>
          <a:prstGeom prst="rect">
            <a:avLst/>
          </a:prstGeom>
          <a:noFill/>
          <a:ln/>
        </p:spPr>
        <p:txBody>
          <a:bodyPr wrap="none" lIns="0" tIns="0" rIns="0" bIns="0" rtlCol="0" anchor="t"/>
          <a:lstStyle/>
          <a:p>
            <a:pPr marL="0" indent="0" algn="l">
              <a:lnSpc>
                <a:spcPts val="2800"/>
              </a:lnSpc>
              <a:buNone/>
            </a:pPr>
            <a:r>
              <a:rPr lang="en-US" sz="2250" dirty="0">
                <a:solidFill>
                  <a:srgbClr val="383838"/>
                </a:solidFill>
                <a:latin typeface="PT Serif" pitchFamily="34" charset="0"/>
                <a:ea typeface="PT Serif" pitchFamily="34" charset="-122"/>
                <a:cs typeface="PT Serif" pitchFamily="34" charset="-120"/>
              </a:rPr>
              <a:t>Power Comes With Fragility</a:t>
            </a:r>
            <a:endParaRPr lang="en-US" sz="2250" dirty="0"/>
          </a:p>
        </p:txBody>
      </p:sp>
      <p:sp>
        <p:nvSpPr>
          <p:cNvPr id="14" name="Text 12"/>
          <p:cNvSpPr/>
          <p:nvPr/>
        </p:nvSpPr>
        <p:spPr>
          <a:xfrm>
            <a:off x="769025" y="5045869"/>
            <a:ext cx="6439733" cy="692229"/>
          </a:xfrm>
          <a:prstGeom prst="rect">
            <a:avLst/>
          </a:prstGeom>
          <a:noFill/>
          <a:ln/>
        </p:spPr>
        <p:txBody>
          <a:bodyPr wrap="square" lIns="0" tIns="0" rIns="0" bIns="0" rtlCol="0" anchor="t"/>
          <a:lstStyle/>
          <a:p>
            <a:pPr marL="0" indent="0" algn="l">
              <a:lnSpc>
                <a:spcPts val="2700"/>
              </a:lnSpc>
              <a:buNone/>
            </a:pPr>
            <a:r>
              <a:rPr lang="en-US" sz="1700" dirty="0">
                <a:solidFill>
                  <a:srgbClr val="383838"/>
                </a:solidFill>
                <a:latin typeface="DM Sans" pitchFamily="34" charset="0"/>
                <a:ea typeface="DM Sans" pitchFamily="34" charset="-122"/>
                <a:cs typeface="DM Sans" pitchFamily="34" charset="-120"/>
              </a:rPr>
              <a:t>GANs are among the most expressive generative models — but mode collapse and instability demand careful engineering.</a:t>
            </a:r>
            <a:endParaRPr lang="en-US" sz="1700" dirty="0"/>
          </a:p>
        </p:txBody>
      </p:sp>
      <p:sp>
        <p:nvSpPr>
          <p:cNvPr id="15" name="Text 13"/>
          <p:cNvSpPr/>
          <p:nvPr/>
        </p:nvSpPr>
        <p:spPr>
          <a:xfrm>
            <a:off x="7421523" y="4044196"/>
            <a:ext cx="439460" cy="274558"/>
          </a:xfrm>
          <a:prstGeom prst="rect">
            <a:avLst/>
          </a:prstGeom>
          <a:noFill/>
          <a:ln/>
        </p:spPr>
        <p:txBody>
          <a:bodyPr wrap="none" lIns="0" tIns="0" rIns="0" bIns="0" rtlCol="0" anchor="t"/>
          <a:lstStyle/>
          <a:p>
            <a:pPr marL="0" indent="0" algn="l">
              <a:lnSpc>
                <a:spcPts val="2700"/>
              </a:lnSpc>
              <a:buNone/>
            </a:pPr>
            <a:r>
              <a:rPr lang="en-US" sz="1700" dirty="0">
                <a:solidFill>
                  <a:srgbClr val="383838"/>
                </a:solidFill>
                <a:latin typeface="PT Serif Light" pitchFamily="34" charset="0"/>
                <a:ea typeface="PT Serif Light" pitchFamily="34" charset="-122"/>
                <a:cs typeface="PT Serif Light" pitchFamily="34" charset="-120"/>
              </a:rPr>
              <a:t>04</a:t>
            </a:r>
            <a:endParaRPr lang="en-US" sz="1700" dirty="0"/>
          </a:p>
        </p:txBody>
      </p:sp>
      <p:sp>
        <p:nvSpPr>
          <p:cNvPr id="16" name="Shape 14"/>
          <p:cNvSpPr/>
          <p:nvPr/>
        </p:nvSpPr>
        <p:spPr>
          <a:xfrm>
            <a:off x="7421523" y="4387096"/>
            <a:ext cx="6439853" cy="30480"/>
          </a:xfrm>
          <a:prstGeom prst="rect">
            <a:avLst/>
          </a:prstGeom>
          <a:solidFill>
            <a:srgbClr val="E04F00"/>
          </a:solidFill>
          <a:ln/>
        </p:spPr>
      </p:sp>
      <p:sp>
        <p:nvSpPr>
          <p:cNvPr id="17" name="Text 15"/>
          <p:cNvSpPr/>
          <p:nvPr/>
        </p:nvSpPr>
        <p:spPr>
          <a:xfrm>
            <a:off x="7421523" y="4557832"/>
            <a:ext cx="2884051" cy="360402"/>
          </a:xfrm>
          <a:prstGeom prst="rect">
            <a:avLst/>
          </a:prstGeom>
          <a:noFill/>
          <a:ln/>
        </p:spPr>
        <p:txBody>
          <a:bodyPr wrap="none" lIns="0" tIns="0" rIns="0" bIns="0" rtlCol="0" anchor="t"/>
          <a:lstStyle/>
          <a:p>
            <a:pPr marL="0" indent="0" algn="l">
              <a:lnSpc>
                <a:spcPts val="2800"/>
              </a:lnSpc>
              <a:buNone/>
            </a:pPr>
            <a:r>
              <a:rPr lang="en-US" sz="2250" dirty="0">
                <a:solidFill>
                  <a:srgbClr val="383838"/>
                </a:solidFill>
                <a:latin typeface="PT Serif" pitchFamily="34" charset="0"/>
                <a:ea typeface="PT Serif" pitchFamily="34" charset="-122"/>
                <a:cs typeface="PT Serif" pitchFamily="34" charset="-120"/>
              </a:rPr>
              <a:t>Real-World Impact</a:t>
            </a:r>
            <a:endParaRPr lang="en-US" sz="2250" dirty="0"/>
          </a:p>
        </p:txBody>
      </p:sp>
      <p:sp>
        <p:nvSpPr>
          <p:cNvPr id="18" name="Text 16"/>
          <p:cNvSpPr/>
          <p:nvPr/>
        </p:nvSpPr>
        <p:spPr>
          <a:xfrm>
            <a:off x="7421523" y="5045869"/>
            <a:ext cx="6439853" cy="692229"/>
          </a:xfrm>
          <a:prstGeom prst="rect">
            <a:avLst/>
          </a:prstGeom>
          <a:noFill/>
          <a:ln/>
        </p:spPr>
        <p:txBody>
          <a:bodyPr wrap="square" lIns="0" tIns="0" rIns="0" bIns="0" rtlCol="0" anchor="t"/>
          <a:lstStyle/>
          <a:p>
            <a:pPr marL="0" indent="0" algn="l">
              <a:lnSpc>
                <a:spcPts val="2700"/>
              </a:lnSpc>
              <a:buNone/>
            </a:pPr>
            <a:r>
              <a:rPr lang="en-US" sz="1700" dirty="0">
                <a:solidFill>
                  <a:srgbClr val="383838"/>
                </a:solidFill>
                <a:latin typeface="DM Sans" pitchFamily="34" charset="0"/>
                <a:ea typeface="DM Sans" pitchFamily="34" charset="-122"/>
                <a:cs typeface="DM Sans" pitchFamily="34" charset="-120"/>
              </a:rPr>
              <a:t>From medical imaging to creative AI, GANs are deployed across high-stakes computer vision domains today.</a:t>
            </a:r>
            <a:endParaRPr lang="en-US" sz="1700" dirty="0"/>
          </a:p>
        </p:txBody>
      </p:sp>
      <p:sp>
        <p:nvSpPr>
          <p:cNvPr id="19" name="Shape 17"/>
          <p:cNvSpPr/>
          <p:nvPr/>
        </p:nvSpPr>
        <p:spPr>
          <a:xfrm>
            <a:off x="769025" y="6142315"/>
            <a:ext cx="13092351" cy="1261229"/>
          </a:xfrm>
          <a:prstGeom prst="roundRect">
            <a:avLst>
              <a:gd name="adj" fmla="val 2613"/>
            </a:avLst>
          </a:prstGeom>
          <a:solidFill>
            <a:srgbClr val="FFCDB3"/>
          </a:solidFill>
          <a:ln/>
        </p:spPr>
      </p:sp>
      <p:pic>
        <p:nvPicPr>
          <p:cNvPr id="20" name="Image 0" descr="preencoded.png"/>
          <p:cNvPicPr>
            <a:picLocks noChangeAspect="1"/>
          </p:cNvPicPr>
          <p:nvPr/>
        </p:nvPicPr>
        <p:blipFill>
          <a:blip r:embed="rId3"/>
          <a:stretch>
            <a:fillRect/>
          </a:stretch>
        </p:blipFill>
        <p:spPr>
          <a:xfrm>
            <a:off x="988695" y="6468428"/>
            <a:ext cx="274558" cy="219670"/>
          </a:xfrm>
          <a:prstGeom prst="rect">
            <a:avLst/>
          </a:prstGeom>
        </p:spPr>
      </p:pic>
      <p:sp>
        <p:nvSpPr>
          <p:cNvPr id="21" name="Text 18"/>
          <p:cNvSpPr/>
          <p:nvPr/>
        </p:nvSpPr>
        <p:spPr>
          <a:xfrm>
            <a:off x="1482923" y="6409968"/>
            <a:ext cx="12158782" cy="692229"/>
          </a:xfrm>
          <a:prstGeom prst="rect">
            <a:avLst/>
          </a:prstGeom>
          <a:noFill/>
          <a:ln/>
        </p:spPr>
        <p:txBody>
          <a:bodyPr wrap="square" lIns="0" tIns="0" rIns="0" bIns="0" rtlCol="0" anchor="t"/>
          <a:lstStyle/>
          <a:p>
            <a:pPr marL="0" indent="0" algn="l">
              <a:lnSpc>
                <a:spcPts val="2700"/>
              </a:lnSpc>
              <a:buNone/>
            </a:pPr>
            <a:r>
              <a:rPr lang="en-US" sz="1700" dirty="0">
                <a:solidFill>
                  <a:srgbClr val="000000"/>
                </a:solidFill>
                <a:latin typeface="DM Sans" pitchFamily="34" charset="0"/>
                <a:ea typeface="DM Sans" pitchFamily="34" charset="-122"/>
                <a:cs typeface="DM Sans" pitchFamily="34" charset="-120"/>
              </a:rPr>
              <a:t>GANs remain a foundational framework — understanding them deeply is prerequisite to mastering modern generative vision models including diffusion and flow-based approaches.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1343</Words>
  <Application>Microsoft Office PowerPoint</Application>
  <PresentationFormat>Custom</PresentationFormat>
  <Paragraphs>152</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DM Sans</vt:lpstr>
      <vt:lpstr>PT Serif Light</vt:lpstr>
      <vt:lpstr>PT Serif</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Fimran Sanghvi</cp:lastModifiedBy>
  <cp:revision>24</cp:revision>
  <dcterms:created xsi:type="dcterms:W3CDTF">2026-04-23T10:07:09Z</dcterms:created>
  <dcterms:modified xsi:type="dcterms:W3CDTF">2026-05-12T09:09:44Z</dcterms:modified>
</cp:coreProperties>
</file>