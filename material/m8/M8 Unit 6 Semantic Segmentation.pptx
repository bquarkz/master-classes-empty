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80" r:id="rId3"/>
    <p:sldId id="257" r:id="rId4"/>
    <p:sldId id="262" r:id="rId5"/>
    <p:sldId id="258" r:id="rId6"/>
    <p:sldId id="259" r:id="rId7"/>
    <p:sldId id="27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4630400" cy="8229600"/>
  <p:notesSz cx="8229600" cy="14630400"/>
  <p:embeddedFontLst>
    <p:embeddedFont>
      <p:font typeface="DM Sans" pitchFamily="2" charset="0"/>
      <p:regular r:id="rId22"/>
      <p:bold r:id="rId23"/>
      <p:italic r:id="rId24"/>
      <p:boldItalic r:id="rId25"/>
    </p:embeddedFont>
    <p:embeddedFont>
      <p:font typeface="PT Serif" panose="020A0603040505020204" pitchFamily="18" charset="0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2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64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tiff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4.svg"/><Relationship Id="rId5" Type="http://schemas.openxmlformats.org/officeDocument/2006/relationships/image" Target="../media/image23.svg"/><Relationship Id="rId4" Type="http://schemas.openxmlformats.org/officeDocument/2006/relationships/image" Target="../media/image2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2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817" y="2354204"/>
            <a:ext cx="12624316" cy="148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700"/>
              </a:lnSpc>
              <a:buNone/>
            </a:pPr>
            <a:r>
              <a:rPr lang="en-US" sz="4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Semantic Segmentation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795236" y="3983642"/>
            <a:ext cx="7039928" cy="5954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650"/>
              </a:lnSpc>
              <a:buNone/>
            </a:pPr>
            <a:r>
              <a:rPr lang="en-US" sz="37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Pixel-Level Image Understanding</a:t>
            </a:r>
            <a:endParaRPr lang="en-US" sz="3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93790" y="2841664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760" dirty="0"/>
          </a:p>
        </p:txBody>
      </p:sp>
      <p:sp>
        <p:nvSpPr>
          <p:cNvPr id="5" name="Shape 3"/>
          <p:cNvSpPr/>
          <p:nvPr/>
        </p:nvSpPr>
        <p:spPr>
          <a:xfrm>
            <a:off x="793791" y="3196709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793791" y="3371016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Concepts</a:t>
            </a:r>
            <a:endParaRPr lang="en-US" sz="2320" dirty="0"/>
          </a:p>
        </p:txBody>
      </p:sp>
      <p:sp>
        <p:nvSpPr>
          <p:cNvPr id="7" name="Text 5"/>
          <p:cNvSpPr/>
          <p:nvPr/>
        </p:nvSpPr>
        <p:spPr>
          <a:xfrm>
            <a:off x="793791" y="387917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semantic segmentation is and how it differs from classification and detection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7428547" y="2841664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760" dirty="0"/>
          </a:p>
        </p:txBody>
      </p:sp>
      <p:sp>
        <p:nvSpPr>
          <p:cNvPr id="9" name="Shape 7"/>
          <p:cNvSpPr/>
          <p:nvPr/>
        </p:nvSpPr>
        <p:spPr>
          <a:xfrm>
            <a:off x="7428548" y="3196709"/>
            <a:ext cx="6408062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7428548" y="3371016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Architectures</a:t>
            </a:r>
            <a:endParaRPr lang="en-US" sz="2320" dirty="0"/>
          </a:p>
        </p:txBody>
      </p:sp>
      <p:sp>
        <p:nvSpPr>
          <p:cNvPr id="11" name="Text 9"/>
          <p:cNvSpPr/>
          <p:nvPr/>
        </p:nvSpPr>
        <p:spPr>
          <a:xfrm>
            <a:off x="7428548" y="3879176"/>
            <a:ext cx="64080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FCN and U-Net — the foundational models that defined the field</a:t>
            </a:r>
            <a:endParaRPr lang="en-US" sz="1760" dirty="0"/>
          </a:p>
        </p:txBody>
      </p:sp>
      <p:sp>
        <p:nvSpPr>
          <p:cNvPr id="12" name="Text 10"/>
          <p:cNvSpPr/>
          <p:nvPr/>
        </p:nvSpPr>
        <p:spPr>
          <a:xfrm>
            <a:off x="793790" y="5001816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760" dirty="0"/>
          </a:p>
        </p:txBody>
      </p:sp>
      <p:sp>
        <p:nvSpPr>
          <p:cNvPr id="13" name="Shape 11"/>
          <p:cNvSpPr/>
          <p:nvPr/>
        </p:nvSpPr>
        <p:spPr>
          <a:xfrm>
            <a:off x="793791" y="5356861"/>
            <a:ext cx="6407944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793791" y="5531168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Challenges &amp; Data</a:t>
            </a:r>
            <a:endParaRPr lang="en-US" sz="2320" dirty="0"/>
          </a:p>
        </p:txBody>
      </p:sp>
      <p:sp>
        <p:nvSpPr>
          <p:cNvPr id="15" name="Text 13"/>
          <p:cNvSpPr/>
          <p:nvPr/>
        </p:nvSpPr>
        <p:spPr>
          <a:xfrm>
            <a:off x="793791" y="6039326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Labeling bottlenecks, class imbalance, and compute constraints</a:t>
            </a:r>
            <a:endParaRPr lang="en-US" sz="1760" dirty="0"/>
          </a:p>
        </p:txBody>
      </p:sp>
      <p:sp>
        <p:nvSpPr>
          <p:cNvPr id="16" name="Text 14"/>
          <p:cNvSpPr/>
          <p:nvPr/>
        </p:nvSpPr>
        <p:spPr>
          <a:xfrm>
            <a:off x="7428547" y="5001816"/>
            <a:ext cx="453629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76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760" dirty="0"/>
          </a:p>
        </p:txBody>
      </p:sp>
      <p:sp>
        <p:nvSpPr>
          <p:cNvPr id="17" name="Shape 15"/>
          <p:cNvSpPr/>
          <p:nvPr/>
        </p:nvSpPr>
        <p:spPr>
          <a:xfrm>
            <a:off x="7428548" y="5356861"/>
            <a:ext cx="6408062" cy="30480"/>
          </a:xfrm>
          <a:prstGeom prst="rect">
            <a:avLst/>
          </a:prstGeom>
          <a:solidFill>
            <a:srgbClr val="E04F00"/>
          </a:solidFill>
          <a:ln/>
        </p:spPr>
      </p:sp>
      <p:sp>
        <p:nvSpPr>
          <p:cNvPr id="18" name="Text 16"/>
          <p:cNvSpPr/>
          <p:nvPr/>
        </p:nvSpPr>
        <p:spPr>
          <a:xfrm>
            <a:off x="7428548" y="5531168"/>
            <a:ext cx="29770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80"/>
              </a:lnSpc>
            </a:pPr>
            <a:r>
              <a:rPr lang="en-US" sz="232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</a:t>
            </a:r>
            <a:endParaRPr lang="en-US" sz="2320" dirty="0"/>
          </a:p>
        </p:txBody>
      </p:sp>
      <p:sp>
        <p:nvSpPr>
          <p:cNvPr id="19" name="Text 17"/>
          <p:cNvSpPr/>
          <p:nvPr/>
        </p:nvSpPr>
        <p:spPr>
          <a:xfrm>
            <a:off x="7428548" y="6039326"/>
            <a:ext cx="640806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00"/>
              </a:lnSpc>
            </a:pPr>
            <a:r>
              <a:rPr lang="en-US" sz="176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learning, foundation models, and practical deployment strategies</a:t>
            </a:r>
            <a:endParaRPr lang="en-US" sz="176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DD3990C4-98BA-A8DC-E543-8A69790AD396}"/>
              </a:ext>
            </a:extLst>
          </p:cNvPr>
          <p:cNvSpPr/>
          <p:nvPr/>
        </p:nvSpPr>
        <p:spPr>
          <a:xfrm>
            <a:off x="793790" y="1445417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Contents</a:t>
            </a:r>
            <a:endParaRPr lang="en-US" sz="4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771" y="677493"/>
            <a:ext cx="820066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What is Semantic Segmentation?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1563172" y="554950"/>
            <a:ext cx="6311622" cy="1925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550"/>
              </a:lnSpc>
              <a:buNone/>
            </a:pP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7312" y="2666048"/>
            <a:ext cx="6311622" cy="2786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32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Every pixel gets a label.</a:t>
            </a:r>
            <a:endParaRPr lang="en-US" sz="3200" dirty="0"/>
          </a:p>
          <a:p>
            <a:pPr marL="0" indent="0" algn="l">
              <a:lnSpc>
                <a:spcPts val="25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image classification — which assigns a single label to an entire image — semantic segmentation classifies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individual pixel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into a predefined category. The result is a dense output mask that mirrors the spatial structure of the input image.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582138" y="1896308"/>
            <a:ext cx="6311622" cy="1678305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59278" y="1896308"/>
            <a:ext cx="91440" cy="1678305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7" name="Text 5"/>
          <p:cNvSpPr/>
          <p:nvPr/>
        </p:nvSpPr>
        <p:spPr>
          <a:xfrm>
            <a:off x="7886224" y="2131814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886224" y="2679978"/>
            <a:ext cx="577203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raw image — e.g., a street scene, medical scan, or aerial photo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582138" y="3773924"/>
            <a:ext cx="6311622" cy="1678305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59278" y="3773924"/>
            <a:ext cx="91440" cy="1678305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1" name="Text 9"/>
          <p:cNvSpPr/>
          <p:nvPr/>
        </p:nvSpPr>
        <p:spPr>
          <a:xfrm>
            <a:off x="7886224" y="4009430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Output</a:t>
            </a:r>
            <a:endParaRPr lang="en-US" sz="2150" dirty="0"/>
          </a:p>
        </p:txBody>
      </p:sp>
      <p:sp>
        <p:nvSpPr>
          <p:cNvPr id="12" name="Text 10"/>
          <p:cNvSpPr/>
          <p:nvPr/>
        </p:nvSpPr>
        <p:spPr>
          <a:xfrm>
            <a:off x="7886224" y="4557593"/>
            <a:ext cx="577203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segmentation mask with category labels for every pixel in the image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7582138" y="5651540"/>
            <a:ext cx="6311622" cy="1678305"/>
          </a:xfrm>
          <a:prstGeom prst="roundRect">
            <a:avLst>
              <a:gd name="adj" fmla="val 6538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59278" y="5651540"/>
            <a:ext cx="91440" cy="1678305"/>
          </a:xfrm>
          <a:prstGeom prst="roundRect">
            <a:avLst>
              <a:gd name="adj" fmla="val 34884"/>
            </a:avLst>
          </a:prstGeom>
          <a:solidFill>
            <a:srgbClr val="E04F00"/>
          </a:solidFill>
          <a:ln/>
        </p:spPr>
      </p:sp>
      <p:sp>
        <p:nvSpPr>
          <p:cNvPr id="15" name="Text 13"/>
          <p:cNvSpPr/>
          <p:nvPr/>
        </p:nvSpPr>
        <p:spPr>
          <a:xfrm>
            <a:off x="7886224" y="5887045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distinction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7886224" y="6435209"/>
            <a:ext cx="577203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More spatially detailed than classification; no bounding boxes — pure pixel-wise understanding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3543"/>
            <a:ext cx="1059001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Core Idea: Pixel-Wise Classification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920" y="1921431"/>
            <a:ext cx="11714440" cy="42406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17850" y="5117767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Pixel-wise Mask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2317850" y="3839594"/>
            <a:ext cx="3192988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Convolutional Features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2317850" y="2548377"/>
            <a:ext cx="3081311" cy="3851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Input Image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93790" y="6417231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 its core, semantic segmentation is a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classification problem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 neural network takes an image as input and produces an output tensor of the same spatial dimensions — each position storing a class prediction. Every pixel vote counts.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248" y="874871"/>
            <a:ext cx="11327011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Does Semantic Segmentation Matter?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07726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Many real-world AI systems require understanding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objects are, not just </a:t>
            </a:r>
            <a:r>
              <a:rPr lang="en-US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they are. Semantic segmentation enables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fine-grained spatial reasoning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drives safety-critical and high-precision applications.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793790" y="3539252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1020604" y="376606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07770" y="3953113"/>
            <a:ext cx="306110" cy="3061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0604" y="4673322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Fine-Grained Understanding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020604" y="555355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Pixel-level labels provide richer scene context than bounding boxes or global labels</a:t>
            </a:r>
            <a:endParaRPr lang="en-US" dirty="0"/>
          </a:p>
        </p:txBody>
      </p:sp>
      <p:sp>
        <p:nvSpPr>
          <p:cNvPr id="9" name="Shape 6"/>
          <p:cNvSpPr/>
          <p:nvPr/>
        </p:nvSpPr>
        <p:spPr>
          <a:xfrm>
            <a:off x="5216962" y="3539252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5443776" y="376606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0942" y="3953113"/>
            <a:ext cx="306110" cy="3061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3776" y="4673322"/>
            <a:ext cx="34050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Decision-Critical Systems</a:t>
            </a:r>
            <a:endParaRPr lang="en-US" sz="2300" dirty="0"/>
          </a:p>
        </p:txBody>
      </p:sp>
      <p:sp>
        <p:nvSpPr>
          <p:cNvPr id="13" name="Text 9"/>
          <p:cNvSpPr/>
          <p:nvPr/>
        </p:nvSpPr>
        <p:spPr>
          <a:xfrm>
            <a:off x="5443776" y="555355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Powers autonomous systems that must react to their environment with precision</a:t>
            </a:r>
            <a:endParaRPr lang="en-US" dirty="0"/>
          </a:p>
        </p:txBody>
      </p:sp>
      <p:sp>
        <p:nvSpPr>
          <p:cNvPr id="14" name="Shape 10"/>
          <p:cNvSpPr/>
          <p:nvPr/>
        </p:nvSpPr>
        <p:spPr>
          <a:xfrm>
            <a:off x="9640133" y="3539252"/>
            <a:ext cx="4196358" cy="3329821"/>
          </a:xfrm>
          <a:prstGeom prst="roundRect">
            <a:avLst>
              <a:gd name="adj" fmla="val 1022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866948" y="3766066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E04F0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54114" y="3953113"/>
            <a:ext cx="306110" cy="3061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866948" y="4673322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High-Precision Tasks</a:t>
            </a:r>
            <a:endParaRPr lang="en-US" sz="2300" dirty="0"/>
          </a:p>
        </p:txBody>
      </p:sp>
      <p:sp>
        <p:nvSpPr>
          <p:cNvPr id="18" name="Text 13"/>
          <p:cNvSpPr/>
          <p:nvPr/>
        </p:nvSpPr>
        <p:spPr>
          <a:xfrm>
            <a:off x="9866948" y="5446798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Essential when exact object boundaries — not approximations — are required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0348"/>
            <a:ext cx="64472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Real-World Applications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28236"/>
            <a:ext cx="2411968" cy="14906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8023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Medical Imaging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793790" y="53105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Segment tumors, organs, and tissue boundaries in MRI/CT scans with pixel-perfect accuracy</a:t>
            </a:r>
            <a:endParaRPr lang="en-US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028236"/>
            <a:ext cx="2411968" cy="14906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48023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Autonomous Vehicles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5235893" y="53105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Identify lanes, pedestrians, vehicles, and obstacles in real-time for safe navigation</a:t>
            </a:r>
            <a:endParaRPr lang="en-US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028236"/>
            <a:ext cx="2411968" cy="149066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480238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Satellite Imagery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9677995" y="531054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Map land use, detect deforestation, monitor agriculture, and analyze urban growth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757D9C-F55B-8148-85BB-94C83C492B93}"/>
              </a:ext>
            </a:extLst>
          </p:cNvPr>
          <p:cNvSpPr txBox="1"/>
          <p:nvPr/>
        </p:nvSpPr>
        <p:spPr>
          <a:xfrm>
            <a:off x="738554" y="2412609"/>
            <a:ext cx="3411511" cy="160043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DM Sans" pitchFamily="2" charset="0"/>
              </a:rPr>
              <a:t>Image Classification</a:t>
            </a:r>
          </a:p>
          <a:p>
            <a:endParaRPr dirty="0">
              <a:latin typeface="DM Sans" pitchFamily="2" charset="0"/>
            </a:endParaRPr>
          </a:p>
          <a:p>
            <a:r>
              <a:rPr sz="2000" dirty="0">
                <a:latin typeface="DM Sans" pitchFamily="2" charset="0"/>
              </a:rPr>
              <a:t>Output: Tumor / No Tumor</a:t>
            </a:r>
          </a:p>
          <a:p>
            <a:r>
              <a:rPr sz="2000" dirty="0">
                <a:latin typeface="DM Sans" pitchFamily="2" charset="0"/>
              </a:rPr>
              <a:t>Tells: Whether tumor exists</a:t>
            </a:r>
          </a:p>
          <a:p>
            <a:r>
              <a:rPr sz="2000" dirty="0">
                <a:latin typeface="DM Sans" pitchFamily="2" charset="0"/>
              </a:rPr>
              <a:t>Limitation: No location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30FB2-3ED5-AA42-B036-70CE66019DE8}"/>
              </a:ext>
            </a:extLst>
          </p:cNvPr>
          <p:cNvSpPr txBox="1"/>
          <p:nvPr/>
        </p:nvSpPr>
        <p:spPr>
          <a:xfrm>
            <a:off x="5036233" y="2412609"/>
            <a:ext cx="3263705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latin typeface="DM Sans" pitchFamily="2" charset="0"/>
              </a:rPr>
              <a:t>Object Detection</a:t>
            </a:r>
          </a:p>
          <a:p>
            <a:endParaRPr dirty="0">
              <a:latin typeface="DM Sans" pitchFamily="2" charset="0"/>
            </a:endParaRPr>
          </a:p>
          <a:p>
            <a:r>
              <a:rPr sz="2000" dirty="0">
                <a:latin typeface="DM Sans" pitchFamily="2" charset="0"/>
              </a:rPr>
              <a:t>Output: Bounding Box</a:t>
            </a:r>
          </a:p>
          <a:p>
            <a:r>
              <a:rPr sz="2000" dirty="0">
                <a:latin typeface="DM Sans" pitchFamily="2" charset="0"/>
              </a:rPr>
              <a:t>Tells: Where tumor is</a:t>
            </a:r>
          </a:p>
          <a:p>
            <a:r>
              <a:rPr sz="2000" dirty="0">
                <a:latin typeface="DM Sans" pitchFamily="2" charset="0"/>
              </a:rPr>
              <a:t>Limitation: Not exact shape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D3C565-89F7-D243-AEEA-11A2329664CA}"/>
              </a:ext>
            </a:extLst>
          </p:cNvPr>
          <p:cNvSpPr txBox="1"/>
          <p:nvPr/>
        </p:nvSpPr>
        <p:spPr>
          <a:xfrm>
            <a:off x="9530862" y="2412609"/>
            <a:ext cx="3172663" cy="16312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>
                <a:latin typeface="DM Sans" pitchFamily="2" charset="0"/>
              </a:rPr>
              <a:t>Semantic Segmentation</a:t>
            </a:r>
          </a:p>
          <a:p>
            <a:endParaRPr sz="2000" dirty="0">
              <a:latin typeface="DM Sans" pitchFamily="2" charset="0"/>
            </a:endParaRPr>
          </a:p>
          <a:p>
            <a:r>
              <a:rPr sz="2000" dirty="0">
                <a:latin typeface="DM Sans" pitchFamily="2" charset="0"/>
              </a:rPr>
              <a:t>Output: Pixel Mask</a:t>
            </a:r>
          </a:p>
          <a:p>
            <a:r>
              <a:rPr sz="2000" dirty="0">
                <a:latin typeface="DM Sans" pitchFamily="2" charset="0"/>
              </a:rPr>
              <a:t>Tells: Exact shape &amp; size</a:t>
            </a:r>
          </a:p>
          <a:p>
            <a:r>
              <a:rPr sz="2000" dirty="0">
                <a:latin typeface="DM Sans" pitchFamily="2" charset="0"/>
              </a:rPr>
              <a:t>Advantage: Most precise</a:t>
            </a:r>
          </a:p>
        </p:txBody>
      </p:sp>
      <p:pic>
        <p:nvPicPr>
          <p:cNvPr id="5" name="Image 2" descr="preencoded.png">
            <a:extLst>
              <a:ext uri="{FF2B5EF4-FFF2-40B4-BE49-F238E27FC236}">
                <a16:creationId xmlns:a16="http://schemas.microsoft.com/office/drawing/2014/main" id="{01702AA6-A859-0740-ADB7-3BC786D2D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889" y="4188555"/>
            <a:ext cx="3007519" cy="3007519"/>
          </a:xfrm>
          <a:prstGeom prst="rect">
            <a:avLst/>
          </a:prstGeom>
        </p:spPr>
      </p:pic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E5A52B12-FA9A-464C-882B-8FF5D25AA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9083" y="4086591"/>
            <a:ext cx="4482940" cy="3109483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03BFC350-069B-E74A-8102-B4B61637AEE2}"/>
              </a:ext>
            </a:extLst>
          </p:cNvPr>
          <p:cNvSpPr/>
          <p:nvPr/>
        </p:nvSpPr>
        <p:spPr>
          <a:xfrm>
            <a:off x="850061" y="733068"/>
            <a:ext cx="6447234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Classification vs Detection vs Segmentation</a:t>
            </a:r>
            <a:endParaRPr lang="en-US" sz="465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92C6C-D255-A54B-B89D-527FC2ED5F64}"/>
              </a:ext>
            </a:extLst>
          </p:cNvPr>
          <p:cNvSpPr txBox="1"/>
          <p:nvPr/>
        </p:nvSpPr>
        <p:spPr>
          <a:xfrm>
            <a:off x="2719506" y="7196074"/>
            <a:ext cx="66495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Object Detection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Bounding box localizes the tumor region</a:t>
            </a:r>
            <a:endParaRPr lang="en-US" dirty="0"/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97E702A-452F-D84F-8D79-CEBEE65F1AAB}"/>
              </a:ext>
            </a:extLst>
          </p:cNvPr>
          <p:cNvSpPr/>
          <p:nvPr/>
        </p:nvSpPr>
        <p:spPr>
          <a:xfrm>
            <a:off x="6985488" y="7842405"/>
            <a:ext cx="7644912" cy="234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800"/>
              </a:lnSpc>
            </a:pPr>
            <a:r>
              <a:rPr lang="en-US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Segmentation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Pixel mask captures exact tumor boundary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131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56" y="848009"/>
            <a:ext cx="957083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Fully Convolutional Networks (FCN)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658356" y="2431993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Introduced by Long et al. (2015), FCNs were the first end-to-end deep learning approach for semantic segmentation. The key innovation: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replace all fully connected layers with convolutional layers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allowing the network to accept arbitrary image sizes and produce spatial output maps.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66976" y="3748028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765875" y="3929480"/>
            <a:ext cx="352829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No Fully Connected Layers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48300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layer is convolutional — spatial information is preserved throughout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16961" y="3723485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4" y="393690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Full Image Processing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5" y="4474124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Operates on the entire image in one forward pass — efficient and scalable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9866946" y="3748028"/>
            <a:ext cx="4196358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10106099" y="40067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Dense Pixel Output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0093760" y="4502691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Produces a class score map at each pixel position, not a single class vector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BFFAC4-8A25-BC48-A9A3-E45F90C822E9}"/>
              </a:ext>
            </a:extLst>
          </p:cNvPr>
          <p:cNvSpPr txBox="1"/>
          <p:nvPr/>
        </p:nvSpPr>
        <p:spPr>
          <a:xfrm>
            <a:off x="793790" y="6057291"/>
            <a:ext cx="1386452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DM Sans" pitchFamily="2" charset="0"/>
              </a:rPr>
              <a:t>Why “Fully Convolutional”?</a:t>
            </a:r>
          </a:p>
          <a:p>
            <a:r>
              <a:rPr lang="en-IN" dirty="0">
                <a:latin typeface="DM Sans" pitchFamily="2" charset="0"/>
              </a:rPr>
              <a:t>In a normal CNN: The last layers are </a:t>
            </a:r>
            <a:r>
              <a:rPr lang="en-IN" b="1" dirty="0">
                <a:latin typeface="DM Sans" pitchFamily="2" charset="0"/>
              </a:rPr>
              <a:t>fully connected (dense layers)</a:t>
            </a:r>
            <a:r>
              <a:rPr lang="en-IN" dirty="0">
                <a:latin typeface="DM Sans" pitchFamily="2" charset="0"/>
              </a:rPr>
              <a:t> </a:t>
            </a:r>
          </a:p>
          <a:p>
            <a:r>
              <a:rPr lang="en-IN" dirty="0">
                <a:latin typeface="DM Sans" pitchFamily="2" charset="0"/>
              </a:rPr>
              <a:t>These lose spatial information (exact position in image) </a:t>
            </a:r>
          </a:p>
          <a:p>
            <a:r>
              <a:rPr lang="en-IN" dirty="0">
                <a:latin typeface="DM Sans" pitchFamily="2" charset="0"/>
              </a:rPr>
              <a:t>In an FCN: </a:t>
            </a:r>
            <a:r>
              <a:rPr lang="en-IN" b="1" dirty="0">
                <a:latin typeface="DM Sans" pitchFamily="2" charset="0"/>
              </a:rPr>
              <a:t>No fully connected layers at all. </a:t>
            </a:r>
            <a:r>
              <a:rPr lang="en-IN" dirty="0">
                <a:latin typeface="DM Sans" pitchFamily="2" charset="0"/>
              </a:rPr>
              <a:t>Only </a:t>
            </a:r>
            <a:r>
              <a:rPr lang="en-IN" b="1" dirty="0">
                <a:latin typeface="DM Sans" pitchFamily="2" charset="0"/>
              </a:rPr>
              <a:t>convolution layers</a:t>
            </a:r>
            <a:r>
              <a:rPr lang="en-IN" dirty="0">
                <a:latin typeface="DM Sans" pitchFamily="2" charset="0"/>
              </a:rPr>
              <a:t> </a:t>
            </a:r>
          </a:p>
          <a:p>
            <a:r>
              <a:rPr lang="en-IN" dirty="0">
                <a:latin typeface="DM Sans" pitchFamily="2" charset="0"/>
              </a:rPr>
              <a:t>This helps preserve </a:t>
            </a:r>
            <a:r>
              <a:rPr lang="en-IN" b="1" dirty="0">
                <a:latin typeface="DM Sans" pitchFamily="2" charset="0"/>
              </a:rPr>
              <a:t>spatial structure</a:t>
            </a:r>
            <a:r>
              <a:rPr lang="en-IN" dirty="0">
                <a:latin typeface="DM Sans" pitchFamily="2" charset="0"/>
              </a:rPr>
              <a:t> (where things are in the image)</a:t>
            </a:r>
          </a:p>
          <a:p>
            <a:endParaRPr lang="en-US" dirty="0"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1381" y="278368"/>
            <a:ext cx="3907393" cy="4883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00"/>
              </a:lnSpc>
              <a:buNone/>
            </a:pPr>
            <a:r>
              <a:rPr lang="en-US" sz="3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FCN Architecture</a:t>
            </a:r>
            <a:endParaRPr lang="en-US" sz="3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4802" y="3430636"/>
            <a:ext cx="513545" cy="51354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8246" y="3743738"/>
            <a:ext cx="513545" cy="513545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26004" y="4079950"/>
            <a:ext cx="513544" cy="5135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9C1305-6278-874C-B6AB-51A1BD0A06A7}"/>
              </a:ext>
            </a:extLst>
          </p:cNvPr>
          <p:cNvSpPr txBox="1"/>
          <p:nvPr/>
        </p:nvSpPr>
        <p:spPr>
          <a:xfrm>
            <a:off x="2631583" y="5360034"/>
            <a:ext cx="98464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DM Sans" pitchFamily="2" charset="0"/>
              </a:rPr>
              <a:t> How it works (intuitive):</a:t>
            </a:r>
            <a:endParaRPr lang="en-IN" dirty="0">
              <a:latin typeface="DM Sans" pitchFamily="2" charset="0"/>
            </a:endParaRPr>
          </a:p>
          <a:p>
            <a:endParaRPr lang="en-IN" b="1" dirty="0">
              <a:latin typeface="DM Sans" pitchFamily="2" charset="0"/>
            </a:endParaRPr>
          </a:p>
          <a:p>
            <a:r>
              <a:rPr lang="en-IN" b="1" dirty="0">
                <a:latin typeface="DM Sans" pitchFamily="2" charset="0"/>
              </a:rPr>
              <a:t>Encoder (Downsampling):</a:t>
            </a:r>
            <a:r>
              <a:rPr lang="en-IN" dirty="0">
                <a:latin typeface="DM Sans" pitchFamily="2" charset="0"/>
              </a:rPr>
              <a:t> Learns important features (edges, shapes, objects) while reducing image size </a:t>
            </a:r>
          </a:p>
          <a:p>
            <a:endParaRPr lang="en-IN" b="1" dirty="0">
              <a:latin typeface="DM Sans" pitchFamily="2" charset="0"/>
            </a:endParaRPr>
          </a:p>
          <a:p>
            <a:r>
              <a:rPr lang="en-IN" b="1" dirty="0">
                <a:latin typeface="DM Sans" pitchFamily="2" charset="0"/>
              </a:rPr>
              <a:t>Decoder (Upsampling):</a:t>
            </a:r>
            <a:r>
              <a:rPr lang="en-IN" dirty="0">
                <a:latin typeface="DM Sans" pitchFamily="2" charset="0"/>
              </a:rPr>
              <a:t> Restores image to original size and assigns a label to each pixel </a:t>
            </a:r>
          </a:p>
          <a:p>
            <a:endParaRPr lang="en-IN" b="1" dirty="0">
              <a:latin typeface="DM Sans" pitchFamily="2" charset="0"/>
            </a:endParaRPr>
          </a:p>
          <a:p>
            <a:r>
              <a:rPr lang="en-IN" b="1" dirty="0">
                <a:latin typeface="DM Sans" pitchFamily="2" charset="0"/>
              </a:rPr>
              <a:t>Output:</a:t>
            </a:r>
            <a:r>
              <a:rPr lang="en-IN" dirty="0">
                <a:latin typeface="DM Sans" pitchFamily="2" charset="0"/>
              </a:rPr>
              <a:t> Same size as input, but each pixel is classified </a:t>
            </a:r>
          </a:p>
          <a:p>
            <a:endParaRPr lang="en-IN" i="1" dirty="0">
              <a:latin typeface="DM Sans" pitchFamily="2" charset="0"/>
            </a:endParaRPr>
          </a:p>
          <a:p>
            <a:r>
              <a:rPr lang="en-IN" i="1" dirty="0">
                <a:latin typeface="DM Sans" pitchFamily="2" charset="0"/>
              </a:rPr>
              <a:t>In simple terms: first understand the image, then label every pixel.</a:t>
            </a:r>
            <a:endParaRPr lang="en-IN" dirty="0">
              <a:latin typeface="DM Sans" pitchFamily="2" charset="0"/>
            </a:endParaRPr>
          </a:p>
          <a:p>
            <a:endParaRPr lang="en-IN" dirty="0">
              <a:latin typeface="DM Sans" pitchFamily="2" charset="0"/>
            </a:endParaRPr>
          </a:p>
          <a:p>
            <a:endParaRPr lang="en-US" dirty="0">
              <a:latin typeface="DM Sans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EF4D7D-4D01-024A-9D88-AB0D31AED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030" y="982763"/>
            <a:ext cx="12463976" cy="41612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2105"/>
            <a:ext cx="12589669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U-Net: Encoder-Decoder with Skip Connections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7999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Originally designed for biomedical image segmentation by Ronneberger et al. (2015), U-Net introduced a symmetrical architecture and </a:t>
            </a:r>
            <a:r>
              <a:rPr lang="en-US" sz="1750" b="1" dirty="0">
                <a:solidFill>
                  <a:srgbClr val="E04F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that have made it one of the most widely used segmentation architectures to this day.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780949"/>
            <a:ext cx="4196358" cy="2846427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3780949"/>
            <a:ext cx="121920" cy="284642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4038243"/>
            <a:ext cx="35903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Encoder (Contracting Path)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142524" y="4918472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Successively applies convolutions and pooling to capture context and build a compressed feature representation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780949"/>
            <a:ext cx="4196358" cy="2846427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6482" y="3780949"/>
            <a:ext cx="121920" cy="284642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0" name="Text 8"/>
          <p:cNvSpPr/>
          <p:nvPr/>
        </p:nvSpPr>
        <p:spPr>
          <a:xfrm>
            <a:off x="5565696" y="403824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Skip Connections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565696" y="4546402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Concatenate encoder feature maps directly to decoder layers — preserving fine spatial detail lost during downsampling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780949"/>
            <a:ext cx="4196358" cy="2846427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9653" y="3780949"/>
            <a:ext cx="121920" cy="2846427"/>
          </a:xfrm>
          <a:prstGeom prst="roundRect">
            <a:avLst>
              <a:gd name="adj" fmla="val 27907"/>
            </a:avLst>
          </a:prstGeom>
          <a:solidFill>
            <a:srgbClr val="E04F00"/>
          </a:solidFill>
          <a:ln/>
        </p:spPr>
      </p:sp>
      <p:sp>
        <p:nvSpPr>
          <p:cNvPr id="14" name="Text 12"/>
          <p:cNvSpPr/>
          <p:nvPr/>
        </p:nvSpPr>
        <p:spPr>
          <a:xfrm>
            <a:off x="9988868" y="4038243"/>
            <a:ext cx="345924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Decoder (Expanding Path)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9988868" y="4546402"/>
            <a:ext cx="35903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Progressively upsamples while merging context from the encoder, enabling precise localization at the output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40663"/>
            <a:ext cx="6302216" cy="593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U-Net Architecture Deep Dive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183" y="1511618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183" y="1511618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86966" y="2489715"/>
            <a:ext cx="2732008" cy="2965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Why U-Net Works So Well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7586966" y="3137296"/>
            <a:ext cx="6015395" cy="1039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combination of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global context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(from the bottleneck) and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local detail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(from skip connections) allows U-Net to produce sharp, accurate masks even on very small training datasets — a critical property in medical settings where labeled data is scarce.</a:t>
            </a:r>
            <a:endParaRPr lang="en-US" dirty="0"/>
          </a:p>
        </p:txBody>
      </p:sp>
      <p:sp>
        <p:nvSpPr>
          <p:cNvPr id="7" name="Shape 3"/>
          <p:cNvSpPr/>
          <p:nvPr/>
        </p:nvSpPr>
        <p:spPr>
          <a:xfrm>
            <a:off x="7543205" y="4736902"/>
            <a:ext cx="6015395" cy="1188363"/>
          </a:xfrm>
          <a:prstGeom prst="roundRect">
            <a:avLst>
              <a:gd name="adj" fmla="val 2282"/>
            </a:avLst>
          </a:prstGeom>
          <a:solidFill>
            <a:srgbClr val="B6FCB8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3942" y="4995029"/>
            <a:ext cx="225862" cy="180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30540" y="4925973"/>
            <a:ext cx="5247323" cy="7793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U-Net can be trained end-to-end from very few annotated images using data augmentation — often just dozens of examples.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7236"/>
            <a:ext cx="744855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FCN vs. U-Net: Side-by-Side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1945124"/>
            <a:ext cx="13042821" cy="3955256"/>
          </a:xfrm>
          <a:prstGeom prst="roundRect">
            <a:avLst>
              <a:gd name="adj" fmla="val 8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9653" y="20964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Property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75077" y="2096453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FCN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9716691" y="2096453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U-Net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9653" y="275439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Architecture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75077" y="2754392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Encoder + simple upsampling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9716691" y="2754392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Symmetric encoder-decoder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29653" y="34123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Connections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375077" y="341233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Limited (coarse)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716691" y="341233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(every level)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29653" y="407027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Output Sharpness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375077" y="4070271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Moderate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9716691" y="4070271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— fine boundary detail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1029653" y="472821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Best For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5375077" y="4728210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General scene parsing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9716691" y="4728210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Medical &amp; small-dataset tasks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29653" y="538614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Requirements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5375077" y="5386149"/>
            <a:ext cx="388036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Large datasets preferred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716691" y="5386149"/>
            <a:ext cx="38841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Effective on small datasets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6155531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FFCDB3"/>
          </a:solidFill>
          <a:ln/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499622"/>
            <a:ext cx="283488" cy="22681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30906" y="6439019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Both architectures share the same fundamental principle: encode features, then decode to a pixel-level prediction. The difference is in </a:t>
            </a:r>
            <a:r>
              <a:rPr lang="en-US" sz="1750" i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how much spatial information is preserved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along the way.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260" y="657939"/>
            <a:ext cx="9588818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Training Data: The Labeling Challenge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744260" y="2928699"/>
            <a:ext cx="6311622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r>
              <a:rPr lang="en-US" sz="3000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Labels</a:t>
            </a:r>
            <a:r>
              <a:rPr lang="en-US" sz="30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 are the bottleneck.</a:t>
            </a:r>
            <a:endParaRPr lang="en-US" sz="3000" dirty="0"/>
          </a:p>
          <a:p>
            <a:pPr marL="0" indent="0" algn="l">
              <a:lnSpc>
                <a:spcPts val="2550"/>
              </a:lnSpc>
              <a:buNone/>
            </a:pPr>
            <a:endParaRPr lang="en-US" dirty="0">
              <a:solidFill>
                <a:srgbClr val="383838"/>
              </a:solidFill>
              <a:latin typeface="DM Sans" pitchFamily="34" charset="0"/>
              <a:ea typeface="DM Sans" pitchFamily="34" charset="-122"/>
              <a:cs typeface="DM Sans" pitchFamily="34" charset="-120"/>
            </a:endParaRPr>
          </a:p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Unlike image classification — where crowd-sourced labels are easy to collect — semantic segmentation requires </a:t>
            </a:r>
            <a:r>
              <a:rPr lang="en-US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precise pixel-level masks</a:t>
            </a: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drawn by domain experts. A single medical scan can take hours to annotate correctly.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7582138" y="1878806"/>
            <a:ext cx="3056096" cy="2799398"/>
          </a:xfrm>
          <a:prstGeom prst="roundRect">
            <a:avLst>
              <a:gd name="adj" fmla="val 1139"/>
            </a:avLst>
          </a:prstGeom>
          <a:solidFill>
            <a:srgbClr val="F2EEEE"/>
          </a:solidFill>
          <a:ln/>
        </p:spPr>
      </p:sp>
      <p:sp>
        <p:nvSpPr>
          <p:cNvPr id="6" name="Shape 4"/>
          <p:cNvSpPr/>
          <p:nvPr/>
        </p:nvSpPr>
        <p:spPr>
          <a:xfrm>
            <a:off x="7794784" y="209145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0163" y="2266831"/>
            <a:ext cx="287060" cy="2870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94784" y="2928699"/>
            <a:ext cx="263080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Time-Consuming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7794784" y="3476863"/>
            <a:ext cx="2630805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Each image may require 30–90 minutes of expert annotation time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10837545" y="1878806"/>
            <a:ext cx="3056215" cy="2799398"/>
          </a:xfrm>
          <a:prstGeom prst="roundRect">
            <a:avLst>
              <a:gd name="adj" fmla="val 1139"/>
            </a:avLst>
          </a:prstGeom>
          <a:solidFill>
            <a:srgbClr val="F2EEEE"/>
          </a:solidFill>
          <a:ln/>
        </p:spPr>
      </p:sp>
      <p:sp>
        <p:nvSpPr>
          <p:cNvPr id="11" name="Shape 8"/>
          <p:cNvSpPr/>
          <p:nvPr/>
        </p:nvSpPr>
        <p:spPr>
          <a:xfrm>
            <a:off x="11050191" y="2091452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225570" y="2266831"/>
            <a:ext cx="287060" cy="2870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050191" y="2928699"/>
            <a:ext cx="263092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Expensive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11050191" y="3476863"/>
            <a:ext cx="2630924" cy="988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Domain expertise (e.g., radiologists) multiplies cost significantly</a:t>
            </a:r>
            <a:endParaRPr lang="en-US" dirty="0"/>
          </a:p>
        </p:txBody>
      </p:sp>
      <p:sp>
        <p:nvSpPr>
          <p:cNvPr id="15" name="Shape 11"/>
          <p:cNvSpPr/>
          <p:nvPr/>
        </p:nvSpPr>
        <p:spPr>
          <a:xfrm>
            <a:off x="7582138" y="4877514"/>
            <a:ext cx="6311622" cy="2469832"/>
          </a:xfrm>
          <a:prstGeom prst="roundRect">
            <a:avLst>
              <a:gd name="adj" fmla="val 1291"/>
            </a:avLst>
          </a:prstGeom>
          <a:solidFill>
            <a:srgbClr val="F2EEEE"/>
          </a:solidFill>
          <a:ln/>
        </p:spPr>
      </p:sp>
      <p:sp>
        <p:nvSpPr>
          <p:cNvPr id="16" name="Shape 12"/>
          <p:cNvSpPr/>
          <p:nvPr/>
        </p:nvSpPr>
        <p:spPr>
          <a:xfrm>
            <a:off x="7794784" y="5090160"/>
            <a:ext cx="637937" cy="637937"/>
          </a:xfrm>
          <a:prstGeom prst="roundRect">
            <a:avLst>
              <a:gd name="adj" fmla="val 14332270"/>
            </a:avLst>
          </a:prstGeom>
          <a:solidFill>
            <a:srgbClr val="E04F00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163" y="5265539"/>
            <a:ext cx="287060" cy="2870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794784" y="5927408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Imbalanced Classes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7794784" y="6475571"/>
            <a:ext cx="588633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Background pixels vastly outnumber foreground — causing training instability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2895"/>
            <a:ext cx="1141988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Core Challenges in Semantic Segmentation</a:t>
            </a:r>
            <a:endParaRPr lang="en-US" sz="4650" dirty="0"/>
          </a:p>
        </p:txBody>
      </p:sp>
      <p:sp>
        <p:nvSpPr>
          <p:cNvPr id="3" name="Shape 1"/>
          <p:cNvSpPr/>
          <p:nvPr/>
        </p:nvSpPr>
        <p:spPr>
          <a:xfrm>
            <a:off x="793790" y="33319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70347" y="336387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30906" y="34098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 Labeling at Scale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30906" y="3917990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Generating high-quality training masks is slow, costly, and requires expert knowledge — especially in specialized domains like pathology or satellite analysis.</a:t>
            </a: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35893" y="33319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312450" y="336387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73008" y="34098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Class Imbalance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5973008" y="3917990"/>
            <a:ext cx="3421499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 most scenes, background pixels dominate. Without careful loss weighting (e.g., Dice loss, focal loss), models underfit rare but critical classes.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9677995" y="33319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9754552" y="3363873"/>
            <a:ext cx="357188" cy="446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415111" y="3409831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Computational Cost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0415111" y="3917990"/>
            <a:ext cx="3421499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Dense prediction over full-resolution images demands significant GPU memory. Real-time deployment (e.g., autonomous vehicles) adds strict latency constraints.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25692" y="651034"/>
            <a:ext cx="11178897" cy="9628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7550"/>
              </a:lnSpc>
              <a:buNone/>
            </a:pPr>
            <a:r>
              <a:rPr lang="en-US" sz="60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Case for Pre-Trained Models</a:t>
            </a:r>
            <a:endParaRPr lang="en-US" sz="6050" dirty="0"/>
          </a:p>
        </p:txBody>
      </p:sp>
      <p:sp>
        <p:nvSpPr>
          <p:cNvPr id="3" name="Text 1"/>
          <p:cNvSpPr/>
          <p:nvPr/>
        </p:nvSpPr>
        <p:spPr>
          <a:xfrm>
            <a:off x="744260" y="2012513"/>
            <a:ext cx="13141881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Labeling is expensive. Data is scarce. Training from scratch is costly. </a:t>
            </a:r>
            <a:r>
              <a:rPr lang="en-US" sz="16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</a:t>
            </a: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addresses all three.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44260" y="2765584"/>
            <a:ext cx="2945963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The Cold-Start Problem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44260" y="3313748"/>
            <a:ext cx="6311622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Training a segmentation model from scratch requires large annotated datasets and significant compute budgets — resources most teams don't have. Pre-trained models sidestep this barrier entirely.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582138" y="2790468"/>
            <a:ext cx="3056096" cy="2686288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7644" y="3025973"/>
            <a:ext cx="2585085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Save Time &amp; Resources</a:t>
            </a:r>
            <a:endParaRPr lang="en-US" sz="2150" dirty="0"/>
          </a:p>
        </p:txBody>
      </p:sp>
      <p:sp>
        <p:nvSpPr>
          <p:cNvPr id="8" name="Text 6"/>
          <p:cNvSpPr/>
          <p:nvPr/>
        </p:nvSpPr>
        <p:spPr>
          <a:xfrm>
            <a:off x="7817644" y="3922990"/>
            <a:ext cx="2585085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Skip millions of training steps already learned on large-scale datasets like ImageNet or COCO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10837545" y="2790468"/>
            <a:ext cx="3056215" cy="2686288"/>
          </a:xfrm>
          <a:prstGeom prst="roundRect">
            <a:avLst>
              <a:gd name="adj" fmla="val 1187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73051" y="3025973"/>
            <a:ext cx="2585204" cy="697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Work with Small Data</a:t>
            </a:r>
            <a:endParaRPr lang="en-US" sz="2150" dirty="0"/>
          </a:p>
        </p:txBody>
      </p:sp>
      <p:sp>
        <p:nvSpPr>
          <p:cNvPr id="11" name="Text 9"/>
          <p:cNvSpPr/>
          <p:nvPr/>
        </p:nvSpPr>
        <p:spPr>
          <a:xfrm>
            <a:off x="11073051" y="3922990"/>
            <a:ext cx="2585204" cy="1318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Fine-tune on as few as a few hundred labeled images and still achieve strong performance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582138" y="5676067"/>
            <a:ext cx="6311622" cy="1678305"/>
          </a:xfrm>
          <a:prstGeom prst="roundRect">
            <a:avLst>
              <a:gd name="adj" fmla="val 1901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17644" y="5911572"/>
            <a:ext cx="2790944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Better Accuracy</a:t>
            </a:r>
            <a:endParaRPr lang="en-US" sz="2150" dirty="0"/>
          </a:p>
        </p:txBody>
      </p:sp>
      <p:sp>
        <p:nvSpPr>
          <p:cNvPr id="14" name="Text 12"/>
          <p:cNvSpPr/>
          <p:nvPr/>
        </p:nvSpPr>
        <p:spPr>
          <a:xfrm>
            <a:off x="7817644" y="6459736"/>
            <a:ext cx="5840611" cy="659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Pre-trained feature extractors generalize better than randomly initialized weights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1407" y="683895"/>
            <a:ext cx="8484513" cy="732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50"/>
              </a:lnSpc>
              <a:buNone/>
            </a:pPr>
            <a:r>
              <a:rPr lang="en-US" sz="4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Widely Used Pre-Trained Models</a:t>
            </a:r>
            <a:endParaRPr lang="en-US" sz="4600" dirty="0"/>
          </a:p>
        </p:txBody>
      </p:sp>
      <p:sp>
        <p:nvSpPr>
          <p:cNvPr id="3" name="Shape 1"/>
          <p:cNvSpPr/>
          <p:nvPr/>
        </p:nvSpPr>
        <p:spPr>
          <a:xfrm>
            <a:off x="781407" y="1856065"/>
            <a:ext cx="6423898" cy="2734866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1887" y="1886545"/>
            <a:ext cx="6362938" cy="66984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5835" y="2053947"/>
            <a:ext cx="334923" cy="334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5129" y="2776180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FCN-ResNet50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1035129" y="3274219"/>
            <a:ext cx="591645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Classic FCN backbone using ResNet-50. Strong general-purpose baseline. Available natively in PyTorch's torchvision.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7425095" y="1856065"/>
            <a:ext cx="6423898" cy="2734866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5575" y="1886545"/>
            <a:ext cx="6362938" cy="66984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69523" y="2053947"/>
            <a:ext cx="334923" cy="33492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78817" y="2776180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DeepLabV3+</a:t>
            </a:r>
            <a:endParaRPr lang="en-US" sz="2300" dirty="0"/>
          </a:p>
        </p:txBody>
      </p:sp>
      <p:sp>
        <p:nvSpPr>
          <p:cNvPr id="12" name="Text 8"/>
          <p:cNvSpPr/>
          <p:nvPr/>
        </p:nvSpPr>
        <p:spPr>
          <a:xfrm>
            <a:off x="7678817" y="3274219"/>
            <a:ext cx="591645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Atrous convolutions + ASPP module for multi-scale context. State-of-the-art on PASCAL VOC and Cityscapes benchmarks.</a:t>
            </a:r>
            <a:endParaRPr lang="en-US" sz="1750" dirty="0"/>
          </a:p>
        </p:txBody>
      </p:sp>
      <p:sp>
        <p:nvSpPr>
          <p:cNvPr id="13" name="Shape 9"/>
          <p:cNvSpPr/>
          <p:nvPr/>
        </p:nvSpPr>
        <p:spPr>
          <a:xfrm>
            <a:off x="781407" y="4810720"/>
            <a:ext cx="6423898" cy="2734866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11887" y="4841200"/>
            <a:ext cx="6362938" cy="66984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25835" y="5008602"/>
            <a:ext cx="334923" cy="33492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5129" y="5730835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U-Net</a:t>
            </a:r>
            <a:endParaRPr lang="en-US" sz="2300" dirty="0"/>
          </a:p>
        </p:txBody>
      </p:sp>
      <p:sp>
        <p:nvSpPr>
          <p:cNvPr id="17" name="Text 12"/>
          <p:cNvSpPr/>
          <p:nvPr/>
        </p:nvSpPr>
        <p:spPr>
          <a:xfrm>
            <a:off x="1035129" y="6228874"/>
            <a:ext cx="591645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gold standard for biomedical tasks. Pre-trained variants available via MONAI and Hugging Face for direct fine-tuning.</a:t>
            </a:r>
            <a:endParaRPr lang="en-US" sz="1750" dirty="0"/>
          </a:p>
        </p:txBody>
      </p:sp>
      <p:sp>
        <p:nvSpPr>
          <p:cNvPr id="18" name="Shape 13"/>
          <p:cNvSpPr/>
          <p:nvPr/>
        </p:nvSpPr>
        <p:spPr>
          <a:xfrm>
            <a:off x="7425095" y="4810720"/>
            <a:ext cx="6423898" cy="2734866"/>
          </a:xfrm>
          <a:prstGeom prst="roundRect">
            <a:avLst>
              <a:gd name="adj" fmla="val 122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55575" y="4841200"/>
            <a:ext cx="6362938" cy="669846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523" y="5008602"/>
            <a:ext cx="334923" cy="33492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78817" y="5730835"/>
            <a:ext cx="2930485" cy="366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Mask R-CNN</a:t>
            </a:r>
            <a:endParaRPr lang="en-US" sz="2300" dirty="0"/>
          </a:p>
        </p:txBody>
      </p:sp>
      <p:sp>
        <p:nvSpPr>
          <p:cNvPr id="22" name="Text 16"/>
          <p:cNvSpPr/>
          <p:nvPr/>
        </p:nvSpPr>
        <p:spPr>
          <a:xfrm>
            <a:off x="7678817" y="6228874"/>
            <a:ext cx="5916454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Extends Faster R-CNN with a mask head. Enables instance-level segmentation alongside object detection in one model.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0202"/>
            <a:ext cx="8910042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Specialized &amp; Foundation Models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8580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new generation of large-scale foundation models has emerged — capable of segmenting </a:t>
            </a:r>
            <a:r>
              <a:rPr lang="en-US" sz="1750" i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anything</a:t>
            </a: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minimal or zero task-specific training.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839045"/>
            <a:ext cx="4196358" cy="3148370"/>
          </a:xfrm>
          <a:prstGeom prst="roundRect">
            <a:avLst>
              <a:gd name="adj" fmla="val 1081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1020604" y="3065859"/>
            <a:ext cx="3742730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Segment Anything Model (SAM)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3946088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Meta AI's zero-shot segmentation foundation model. Accepts point, box, or text prompts. Generalizes across virtually any domain without fine-tuning.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839045"/>
            <a:ext cx="4196358" cy="3148370"/>
          </a:xfrm>
          <a:prstGeom prst="roundRect">
            <a:avLst>
              <a:gd name="adj" fmla="val 1081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5443776" y="306585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MedSAM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43776" y="3574018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SAM fine-tuned on over one million medical image-mask pairs. Outperforms generic models on clinical segmentation tasks including CT, MRI, and ultrasound.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2839045"/>
            <a:ext cx="4196358" cy="3148370"/>
          </a:xfrm>
          <a:prstGeom prst="roundRect">
            <a:avLst>
              <a:gd name="adj" fmla="val 108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9866948" y="3065859"/>
            <a:ext cx="323873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Domain-Specific Models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9866948" y="3574018"/>
            <a:ext cx="37427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Agriculture, geospatial, pathology — specialized models fine-tuned on domain-specific datasets offer best-in-class performance for narrow tasks.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6242566"/>
            <a:ext cx="13042821" cy="1326713"/>
          </a:xfrm>
          <a:prstGeom prst="roundRect">
            <a:avLst>
              <a:gd name="adj" fmla="val 2565"/>
            </a:avLst>
          </a:prstGeom>
          <a:solidFill>
            <a:srgbClr val="B6D6FC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586657"/>
            <a:ext cx="283488" cy="22681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530906" y="6526054"/>
            <a:ext cx="120788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Foundation models like SAM represent a paradigm shift: instead of training per-task, a single model can be prompted to segment anything — dramatically lowering the barrier to entry.</a:t>
            </a:r>
            <a:endParaRPr lang="en-US" sz="1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6905" y="593169"/>
            <a:ext cx="7650123" cy="604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Practical Approach: Getting Started</a:t>
            </a:r>
            <a:endParaRPr lang="en-US" sz="3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0686" y="1497211"/>
            <a:ext cx="7468791" cy="443281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5575" y="2580665"/>
            <a:ext cx="635822" cy="6358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779098" y="4892869"/>
            <a:ext cx="1856598" cy="37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Deploy</a:t>
            </a:r>
            <a:endParaRPr lang="en-US" sz="235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17873" y="2581857"/>
            <a:ext cx="635821" cy="635821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439275" y="4892869"/>
            <a:ext cx="1856598" cy="375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Fine-Tune</a:t>
            </a:r>
            <a:endParaRPr lang="en-US" sz="23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78050" y="2581857"/>
            <a:ext cx="635821" cy="6358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061304" y="4705103"/>
            <a:ext cx="1856598" cy="751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95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</a:t>
            </a:r>
            <a:endParaRPr lang="en-US" sz="2350" dirty="0"/>
          </a:p>
        </p:txBody>
      </p:sp>
      <p:sp>
        <p:nvSpPr>
          <p:cNvPr id="10" name="Text 4"/>
          <p:cNvSpPr/>
          <p:nvPr/>
        </p:nvSpPr>
        <p:spPr>
          <a:xfrm>
            <a:off x="956905" y="6248043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Framework Choices</a:t>
            </a:r>
            <a:endParaRPr lang="en-US" sz="1900" dirty="0"/>
          </a:p>
        </p:txBody>
      </p:sp>
      <p:sp>
        <p:nvSpPr>
          <p:cNvPr id="11" name="Text 5"/>
          <p:cNvSpPr/>
          <p:nvPr/>
        </p:nvSpPr>
        <p:spPr>
          <a:xfrm>
            <a:off x="956905" y="6700123"/>
            <a:ext cx="61333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PyTorch: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torchvision.models.segmentation for FCN and DeepLabV3. MONAI for medical imaging pipelines.</a:t>
            </a:r>
            <a:endParaRPr lang="en-US" sz="17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TensorFlow/Keras: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TF Hub hosts ready-to-use DeepLab variants.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547491" y="6248043"/>
            <a:ext cx="24188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Where to Focus First</a:t>
            </a:r>
            <a:endParaRPr lang="en-US" sz="1900" dirty="0"/>
          </a:p>
        </p:txBody>
      </p:sp>
      <p:sp>
        <p:nvSpPr>
          <p:cNvPr id="13" name="Text 7"/>
          <p:cNvSpPr/>
          <p:nvPr/>
        </p:nvSpPr>
        <p:spPr>
          <a:xfrm>
            <a:off x="7547491" y="6700123"/>
            <a:ext cx="6133386" cy="801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Invest heavily in </a:t>
            </a:r>
            <a:r>
              <a:rPr lang="en-US" sz="170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quality</a:t>
            </a: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before model complexity. A well-annotated dataset of 500 images fine-tuned on a strong backbone will outperform a complex model trained on noisy labels.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92116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Takeaways</a:t>
            </a:r>
            <a:endParaRPr lang="en-US" sz="4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2897029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2890004"/>
            <a:ext cx="334827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Pixel-Level Classification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1530906" y="3398163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Semantic segmentation assigns a class to every pixel — the richest form of spatial image understanding in computer vision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895" y="2897029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2890004"/>
            <a:ext cx="4155162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FCN &amp; U-Net Are Foundational</a:t>
            </a:r>
            <a:endParaRPr lang="en-US" sz="2300" dirty="0"/>
          </a:p>
        </p:txBody>
      </p:sp>
      <p:sp>
        <p:nvSpPr>
          <p:cNvPr id="8" name="Text 4"/>
          <p:cNvSpPr/>
          <p:nvPr/>
        </p:nvSpPr>
        <p:spPr>
          <a:xfrm>
            <a:off x="8194000" y="339816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FCN established end-to-end pixel prediction; U-Net's skip connections made sharp, data-efficient segmentation possible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8800" y="4947523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4940498"/>
            <a:ext cx="440066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Pre-Trained Models Are Essential</a:t>
            </a:r>
            <a:endParaRPr lang="en-US" sz="2300" dirty="0"/>
          </a:p>
        </p:txBody>
      </p:sp>
      <p:sp>
        <p:nvSpPr>
          <p:cNvPr id="11" name="Text 6"/>
          <p:cNvSpPr/>
          <p:nvPr/>
        </p:nvSpPr>
        <p:spPr>
          <a:xfrm>
            <a:off x="1530906" y="5448657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Transfer learning with models like DeepLabV3+ or SAM dramatically reduces data and compute requirements in practice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1895" y="4947523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000" y="4940498"/>
            <a:ext cx="4722495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Applications Are Wide and Growing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8194000" y="5448657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autonomous driving to oncology — semantic segmentation is at the core of the most impactful AI systems being deployed today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1576</Words>
  <Application>Microsoft Office PowerPoint</Application>
  <PresentationFormat>Custom</PresentationFormat>
  <Paragraphs>202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PT Serif</vt:lpstr>
      <vt:lpstr>PT Serif Light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Fimran Sanghvi</cp:lastModifiedBy>
  <cp:revision>14</cp:revision>
  <dcterms:created xsi:type="dcterms:W3CDTF">2026-04-28T09:01:09Z</dcterms:created>
  <dcterms:modified xsi:type="dcterms:W3CDTF">2026-05-11T10:53:13Z</dcterms:modified>
</cp:coreProperties>
</file>