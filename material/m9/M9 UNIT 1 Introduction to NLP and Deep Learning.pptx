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63" r:id="rId11"/>
    <p:sldId id="274" r:id="rId12"/>
    <p:sldId id="265" r:id="rId13"/>
    <p:sldId id="276" r:id="rId14"/>
    <p:sldId id="278" r:id="rId15"/>
    <p:sldId id="267" r:id="rId16"/>
    <p:sldId id="269" r:id="rId17"/>
    <p:sldId id="270" r:id="rId18"/>
  </p:sldIdLst>
  <p:sldSz cx="9144000" cy="5143500" type="screen16x9"/>
  <p:notesSz cx="5143500" cy="9144000"/>
  <p:embeddedFontLst>
    <p:embeddedFont>
      <p:font typeface="DM Sans" pitchFamily="2" charset="77"/>
      <p:regular r:id="rId20"/>
    </p:embeddedFont>
    <p:embeddedFont>
      <p:font typeface="PT Serif" panose="020A0603040505020204" pitchFamily="18" charset="77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6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85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32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24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71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75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23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836" y="1693664"/>
            <a:ext cx="7747471" cy="93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for NLP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031" y="2623989"/>
            <a:ext cx="7653338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Transforming Human Language into Intelligent Insights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3332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33201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53914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66285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NLP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1980456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is, its objectives, and core tasks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33201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553914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66285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of NLP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2842" y="1980456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use cases across industries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45529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677195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786137"/>
            <a:ext cx="27908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NLP Approaches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6119" y="3103736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Rule-based, statistical, and feature engineering methods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245529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2677195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2786137"/>
            <a:ext cx="2336006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for NLP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42842" y="3103736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Embeddings, sequence models, transformers, and LLMs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57857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6119" y="3800475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90941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Technology Stack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6119" y="4227016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Tools, frameworks, and platforms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2842" y="357857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2842" y="3800475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5" name="Text 23"/>
          <p:cNvSpPr/>
          <p:nvPr/>
        </p:nvSpPr>
        <p:spPr>
          <a:xfrm>
            <a:off x="4642842" y="390941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42842" y="4227016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lessons and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65162" y="235149"/>
            <a:ext cx="638777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Natural Language Processing?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69776" y="1424360"/>
            <a:ext cx="3944764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 Language Processing (NLP) is a branch of Artificial Intelligence that enables computers to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understand, interpret, process, and generate human language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bridging the gap between human communication and machine computation.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9776" y="2748372"/>
            <a:ext cx="3944764" cy="954212"/>
          </a:xfrm>
          <a:prstGeom prst="roundRect">
            <a:avLst>
              <a:gd name="adj" fmla="val 2089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5" y="2940261"/>
            <a:ext cx="166092" cy="132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917" y="2896567"/>
            <a:ext cx="337996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sits at the intersection of linguistics, computer science, and machine learning — making it one of the most interdisciplinary fields in AI.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38836" y="1424360"/>
            <a:ext cx="1910060" cy="1543645"/>
          </a:xfrm>
          <a:prstGeom prst="roundRect">
            <a:avLst>
              <a:gd name="adj" fmla="val 1291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871740" y="1557263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1352" y="1666875"/>
            <a:ext cx="179412" cy="179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71740" y="2080543"/>
            <a:ext cx="21014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Linguistics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71740" y="2423145"/>
            <a:ext cx="164425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structure and meaning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73466" y="1424360"/>
            <a:ext cx="1910135" cy="1543645"/>
          </a:xfrm>
          <a:prstGeom prst="roundRect">
            <a:avLst>
              <a:gd name="adj" fmla="val 1291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906369" y="1557263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5981" y="1666875"/>
            <a:ext cx="179412" cy="1794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6369" y="2080543"/>
            <a:ext cx="210152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Computer Science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906369" y="2423145"/>
            <a:ext cx="16443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Algorithms and computation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38836" y="3092574"/>
            <a:ext cx="1910060" cy="1543645"/>
          </a:xfrm>
          <a:prstGeom prst="roundRect">
            <a:avLst>
              <a:gd name="adj" fmla="val 1291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4871740" y="3225478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E04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1352" y="3335089"/>
            <a:ext cx="179412" cy="1794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71740" y="3748757"/>
            <a:ext cx="21014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871740" y="4091360"/>
            <a:ext cx="164425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pattern recognition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773466" y="3092574"/>
            <a:ext cx="1910135" cy="1543645"/>
          </a:xfrm>
          <a:prstGeom prst="roundRect">
            <a:avLst>
              <a:gd name="adj" fmla="val 1291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6906369" y="3225478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E04F0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15981" y="3335089"/>
            <a:ext cx="179412" cy="1794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6369" y="3748757"/>
            <a:ext cx="210152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906369" y="4091360"/>
            <a:ext cx="16443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Neural representation learning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775" y="306661"/>
            <a:ext cx="495463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Objectives &amp; Core NLP Tasks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4775" y="1028031"/>
            <a:ext cx="274930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NLP Systems Aim to Do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945" y="1587698"/>
            <a:ext cx="199355" cy="199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062" y="1583606"/>
            <a:ext cx="261104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 text 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97062" y="1926208"/>
            <a:ext cx="39700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 grammar, syntax, and semantics from raw input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945" y="2385417"/>
            <a:ext cx="199355" cy="1993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7062" y="2381324"/>
            <a:ext cx="26901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Extract meaning and context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7062" y="2723927"/>
            <a:ext cx="39700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intent, entities, and relationships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945" y="3183136"/>
            <a:ext cx="199355" cy="1993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7062" y="3179043"/>
            <a:ext cx="291487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 human-like responses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97062" y="3521646"/>
            <a:ext cx="39700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 coherent and contextually relevant language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945" y="3980855"/>
            <a:ext cx="199355" cy="1993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7062" y="3976762"/>
            <a:ext cx="302857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 language-related tasks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97062" y="4319364"/>
            <a:ext cx="39700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language workflows without manual effort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738836" y="122545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NLP Tasks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738836" y="1583606"/>
            <a:ext cx="1910060" cy="51241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86027" y="1730797"/>
            <a:ext cx="207287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Classification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773466" y="1583606"/>
            <a:ext cx="1910135" cy="51241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920657" y="1730797"/>
            <a:ext cx="20729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738836" y="2220590"/>
            <a:ext cx="1910060" cy="51241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86027" y="2367781"/>
            <a:ext cx="207287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Translation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773466" y="2220590"/>
            <a:ext cx="1910135" cy="51241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920657" y="2367781"/>
            <a:ext cx="20729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Speech Recognition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738836" y="2857574"/>
            <a:ext cx="1910060" cy="51241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86027" y="3004765"/>
            <a:ext cx="207287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Summarization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773466" y="2857574"/>
            <a:ext cx="1910135" cy="51241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920657" y="3004765"/>
            <a:ext cx="20729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 Answering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4738836" y="3510111"/>
            <a:ext cx="3944764" cy="748233"/>
          </a:xfrm>
          <a:prstGeom prst="roundRect">
            <a:avLst>
              <a:gd name="adj" fmla="val 2664"/>
            </a:avLst>
          </a:prstGeom>
          <a:solidFill>
            <a:srgbClr val="B6FCB8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740" y="3707532"/>
            <a:ext cx="166092" cy="132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70736" y="3667869"/>
            <a:ext cx="337996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Input: </a:t>
            </a:r>
            <a:r>
              <a:rPr lang="en-US" sz="12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was surprisingly good!"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Output: </a:t>
            </a:r>
            <a:r>
              <a:rPr lang="en-US" sz="12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2941" y="274738"/>
            <a:ext cx="4204469" cy="399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Major Applications of NLP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93" y="1270620"/>
            <a:ext cx="304577" cy="3045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6393" y="1706017"/>
            <a:ext cx="2571155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Chatbots &amp; Virtual Assistants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6393" y="1968698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support automation and conversational AI — powering Siri, Alexa, and ChatGPT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7410" y="1270620"/>
            <a:ext cx="304577" cy="3045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7410" y="1706017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Analysis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637410" y="1968698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customer opinions, social media signals, and brand perception in real time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393" y="2540422"/>
            <a:ext cx="304577" cy="3045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6393" y="2975818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Translation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26393" y="3238500"/>
            <a:ext cx="45373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Cross-language text translation at scale — as seen in Google 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7410" y="2540422"/>
            <a:ext cx="304577" cy="3045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7410" y="2975818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Search Engines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637410" y="3238500"/>
            <a:ext cx="40801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understanding, semantic search, and personalized recommendations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393" y="3810223"/>
            <a:ext cx="304577" cy="30457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6393" y="4245620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NLP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26393" y="4508302"/>
            <a:ext cx="45373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document analysis, medical coding, and drug discovery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support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7410" y="3810223"/>
            <a:ext cx="304577" cy="30457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7410" y="4245620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Analytics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637410" y="4508302"/>
            <a:ext cx="450659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 sentiment, fraud detection, and automated financial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6403" y="432495"/>
            <a:ext cx="4834979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NLP Approaches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0875" y="1007554"/>
            <a:ext cx="854507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deep learning, NLP relied on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rule-based systems or statistical methods using manual feature engineering.  Some of the foundational pre-processing tasks include: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5162" y="1849785"/>
            <a:ext cx="4044553" cy="139422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9450" y="1864072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2159124" y="1938858"/>
            <a:ext cx="4279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353" y="238735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2353" y="2680097"/>
            <a:ext cx="375017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Breaking text into words or sentences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AI"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["I", "love", "AI"]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4285" y="1849785"/>
            <a:ext cx="4044553" cy="139422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8572" y="1864072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28246" y="1938858"/>
            <a:ext cx="4279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81476" y="238735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Stop Word Removal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1476" y="2680097"/>
            <a:ext cx="37501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Eliminating high-frequency words with low informational value such as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is, the, and, of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reduce noise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162" y="3368576"/>
            <a:ext cx="4044553" cy="139422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450" y="3382863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2159124" y="3457649"/>
            <a:ext cx="4279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2353" y="3906143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Stemming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2353" y="4198888"/>
            <a:ext cx="375017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Reducing words to their root form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"playing", "played"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"play"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34285" y="3368576"/>
            <a:ext cx="4044553" cy="139422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8572" y="3382863"/>
            <a:ext cx="4015978" cy="398711"/>
          </a:xfrm>
          <a:prstGeom prst="roundRect">
            <a:avLst>
              <a:gd name="adj" fmla="val 700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8246" y="3457649"/>
            <a:ext cx="4279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81476" y="3906143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Lemmatization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1476" y="4198888"/>
            <a:ext cx="375017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Converting words to their dictionary base form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"better"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"good"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853"/>
            <a:ext cx="836071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Lexicon-Based Approaches: The Rule-Based Era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7053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machine learning dominated NLP, linguists hand-crafted dictionaries — called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lexicons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where words were pre-assigned sentiment scores or linguistic tags. No training data required.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2538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96119" y="2299692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is tokenized, and each word is looked up in a dictionary like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VADER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SentiWordNet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Rules handle negation ("not good" flips the score). A final sum or average is computed.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3366418"/>
            <a:ext cx="3902943" cy="602382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581474"/>
            <a:ext cx="177180" cy="1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5435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excellent" = +3.0 · "bad" = −2.0 · "great" = +2.5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49701" y="1943100"/>
            <a:ext cx="1880592" cy="2619077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0510" y="2103909"/>
            <a:ext cx="2016175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Pros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910510" y="2487737"/>
            <a:ext cx="1558975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training data needed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Extremely fast at inference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interpretable — every score is traceable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72052" y="1943100"/>
            <a:ext cx="1880592" cy="2619077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2861" y="2103909"/>
            <a:ext cx="2016175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❌</a:t>
            </a: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Cons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32861" y="2487737"/>
            <a:ext cx="1558975" cy="1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Fails on sarcasm, slang, and context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treated as isolated, independent units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representation of meaning — only lookup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1429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724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Model-Based Approaches: The Feature Engineering Era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62356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NLP shifted to statistical ML — Naive Bayes, Logistic Regression, SVMs — models needed numerical input. Two frequency-based vectorization methods dominated this era.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236663"/>
            <a:ext cx="4004965" cy="2497038"/>
          </a:xfrm>
          <a:prstGeom prst="roundRect">
            <a:avLst>
              <a:gd name="adj" fmla="val 852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37842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Bag-of-Words (BoW)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7877" y="2696021"/>
            <a:ext cx="3721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vocabulary of every unique word in the dataset. Each sentence becomes 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of word counts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one dimension per vocabulary term.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7877" y="3535933"/>
            <a:ext cx="3721447" cy="829196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36" y="3750990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8575" y="3713113"/>
            <a:ext cx="31189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Vectors are enormous and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sparse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(mostly zeros). Word order is completely discarded.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42842" y="2236663"/>
            <a:ext cx="4005039" cy="2497038"/>
          </a:xfrm>
          <a:prstGeom prst="roundRect">
            <a:avLst>
              <a:gd name="adj" fmla="val 852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784601" y="237842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TF-IDF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784601" y="2696021"/>
            <a:ext cx="37215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on BoW by weighting words by their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frequency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Common words like "the" or "is" are down-weighted; rare, meaningful keywords are amplified.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84601" y="3762747"/>
            <a:ext cx="3721522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60" y="3977804"/>
            <a:ext cx="177180" cy="1417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45298" y="3835821"/>
            <a:ext cx="3119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signal-to-noise ratio — models focus on what actually differentiates documents.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4607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466" y="218496"/>
            <a:ext cx="6630367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Limitation: Orthogonality of Word Vectors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88427" y="705183"/>
            <a:ext cx="74879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both BoW and TF-IDF, every word occupies its own independent dimension. This creates a fundamental semantic blindspot.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49440" y="1118946"/>
            <a:ext cx="7030715" cy="495523"/>
          </a:xfrm>
          <a:prstGeom prst="roundRect">
            <a:avLst>
              <a:gd name="adj" fmla="val 3084"/>
            </a:avLst>
          </a:prstGeom>
          <a:solidFill>
            <a:srgbClr val="FFB3B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9" y="1271065"/>
            <a:ext cx="127322" cy="1018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874" y="1181955"/>
            <a:ext cx="659777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dot product of the vector for "cat" and the vector for "kitten" equals exactly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model treats them as completely unrelated, just like "cat" and "refrigerator."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348" y="1694706"/>
            <a:ext cx="3217441" cy="30350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98264" y="3559510"/>
            <a:ext cx="1021396" cy="33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Orthogonal Words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998264" y="3941577"/>
            <a:ext cx="1021396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word lives in its own independent dimension.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67382" y="2158006"/>
            <a:ext cx="1021396" cy="33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Encoded Semantics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767382" y="2540073"/>
            <a:ext cx="1021396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dot products do not reflect meaning.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581988" y="3559510"/>
            <a:ext cx="1021396" cy="33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Learned Similarity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81988" y="3941577"/>
            <a:ext cx="1021396" cy="33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must infer relations from many labels.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686276" y="2107853"/>
            <a:ext cx="1794570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This Matters</a:t>
            </a:r>
            <a:endParaRPr lang="en-US" sz="1200" b="1" dirty="0"/>
          </a:p>
        </p:txBody>
      </p:sp>
      <p:sp>
        <p:nvSpPr>
          <p:cNvPr id="15" name="Text 11"/>
          <p:cNvSpPr/>
          <p:nvPr/>
        </p:nvSpPr>
        <p:spPr>
          <a:xfrm>
            <a:off x="5686276" y="2566684"/>
            <a:ext cx="3187758" cy="796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relationships — synonyms, hypernyms, contextual similarity — must be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re-learned from scratch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labeled training examples. The representation itself carries no meaning.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86276" y="3941577"/>
            <a:ext cx="3248718" cy="700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orthogonality problem is precisely what motivated the development of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 embeddings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like Word2Vec and GloVe — dense vectors where similar words live close together in vector space.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7811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-598161" y="1046187"/>
            <a:ext cx="8453293" cy="69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8532" y="1387674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transformed NLP by enabling models to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learn rich representations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directly from raw text — eliminating the need for manual feature engineering and dramatically improving accuracy across all language tasks.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901" y="2658814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07963" y="2793876"/>
            <a:ext cx="2675260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Feature Learning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7963" y="3092723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Neural networks discover patterns without hand-crafted 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36368" y="2658814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71430" y="2793876"/>
            <a:ext cx="2401565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Semantic Understanding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71430" y="3092723"/>
            <a:ext cx="42218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capture meaning, context, and nuance from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901" y="3778746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07963" y="3913808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963" y="4212654"/>
            <a:ext cx="42218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improves with more data and larger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36368" y="3778746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71430" y="3913808"/>
            <a:ext cx="249480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State-of-the-Art Accuracy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71430" y="4212654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Surpasses traditional methods on virtually every NLP benchmark</a:t>
            </a:r>
            <a:endParaRPr lang="en-US" sz="12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D01A698-B6D5-7C41-90CA-842C003AA7CE}"/>
              </a:ext>
            </a:extLst>
          </p:cNvPr>
          <p:cNvSpPr/>
          <p:nvPr/>
        </p:nvSpPr>
        <p:spPr>
          <a:xfrm>
            <a:off x="324779" y="319646"/>
            <a:ext cx="65575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Deep Learning Revolution in NLP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19" y="265733"/>
            <a:ext cx="5948065" cy="418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Embeddings &amp; Sequence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-1197167" y="863297"/>
            <a:ext cx="83803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raw tokens to semantic structure — the foundations of deep NLP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59942"/>
            <a:ext cx="4018434" cy="1377702"/>
          </a:xfrm>
          <a:prstGeom prst="roundRect">
            <a:avLst>
              <a:gd name="adj" fmla="val 138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3664" y="1687488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Embeddings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3664" y="1965573"/>
            <a:ext cx="376334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mapped to dense numerical vectors — similar words cluster together in vector space.</a:t>
            </a:r>
            <a:endParaRPr lang="en-US" sz="11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King − Man + Woman ≈ Queen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3664" y="2616175"/>
            <a:ext cx="4220542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models: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Word2Vec · GloVe · FastText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29373" y="1559942"/>
            <a:ext cx="4018508" cy="1377702"/>
          </a:xfrm>
          <a:prstGeom prst="roundRect">
            <a:avLst>
              <a:gd name="adj" fmla="val 138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56919" y="1687488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6919" y="1965573"/>
            <a:ext cx="376341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sequences step-by-step, maintaining a hidden state to carry context forward across tokens.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52465"/>
            <a:ext cx="4018434" cy="921023"/>
          </a:xfrm>
          <a:prstGeom prst="roundRect">
            <a:avLst>
              <a:gd name="adj" fmla="val 207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23664" y="3093723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3663" y="3327532"/>
            <a:ext cx="3890889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Enhanced RNN with gating mechanisms that solve the vanishing gradient problem, enabling long-term dependency modeling.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9373" y="3052465"/>
            <a:ext cx="4018508" cy="921023"/>
          </a:xfrm>
          <a:prstGeom prst="roundRect">
            <a:avLst>
              <a:gd name="adj" fmla="val 207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6919" y="3180011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6919" y="3458096"/>
            <a:ext cx="376341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streamlined LSTM variant — comparable performance with fewer parameters and faster training.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7437" y="4231853"/>
            <a:ext cx="841764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arithmetic over embeddings reveals genuine semantic relationships — the geometry of meaning.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6119" y="4102671"/>
            <a:ext cx="14288" cy="452289"/>
          </a:xfrm>
          <a:prstGeom prst="rect">
            <a:avLst/>
          </a:prstGeom>
          <a:solidFill>
            <a:srgbClr val="E04F00"/>
          </a:solidFill>
          <a:ln/>
        </p:spPr>
      </p:sp>
    </p:spTree>
    <p:extLst>
      <p:ext uri="{BB962C8B-B14F-4D97-AF65-F5344CB8AC3E}">
        <p14:creationId xmlns:p14="http://schemas.microsoft.com/office/powerpoint/2010/main" val="694816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5299"/>
            <a:ext cx="674310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&amp; the Attention Mechanism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49610" y="1077813"/>
            <a:ext cx="226122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 with RNNs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49610" y="1404938"/>
            <a:ext cx="396567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process tokens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making them slow and unreliable for very long sequences due to vanishing gradients and memory limits.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9610" y="2142193"/>
            <a:ext cx="21434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Mechanism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1115" y="2436242"/>
            <a:ext cx="396567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Allows the model to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the most relevant words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regardless of their position in the sequence.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5939" y="2948320"/>
            <a:ext cx="377301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animal didn't cross the street because </a:t>
            </a:r>
            <a:r>
              <a:rPr lang="en-US" sz="1100" b="1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was tired."</a:t>
            </a:r>
            <a:endParaRPr lang="en-US" sz="11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correctly resolves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"it"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"animal"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attention weights.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9610" y="2959075"/>
            <a:ext cx="14288" cy="58779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733479" y="1077813"/>
            <a:ext cx="236718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33479" y="1404938"/>
            <a:ext cx="396567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in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"Attention Is All You Need"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(Vaswani et al., 2017) — the most influential NLP paper of the decade.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3479" y="1913186"/>
            <a:ext cx="260568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Leading Transformer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3479" y="2240310"/>
            <a:ext cx="44105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T5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RoBERTa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LLaMA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9610" y="3808809"/>
            <a:ext cx="2670646" cy="969392"/>
          </a:xfrm>
          <a:prstGeom prst="roundRect">
            <a:avLst>
              <a:gd name="adj" fmla="val 1988"/>
            </a:avLst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78048" y="3937248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014" y="4043214"/>
            <a:ext cx="173385" cy="17338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8048" y="4439022"/>
            <a:ext cx="21434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Parallel Processing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36640" y="3808809"/>
            <a:ext cx="2670646" cy="969392"/>
          </a:xfrm>
          <a:prstGeom prst="roundRect">
            <a:avLst>
              <a:gd name="adj" fmla="val 1988"/>
            </a:avLst>
          </a:prstGeom>
          <a:solidFill>
            <a:srgbClr val="F2EEEE"/>
          </a:solidFill>
          <a:ln/>
        </p:spPr>
      </p:sp>
      <p:sp>
        <p:nvSpPr>
          <p:cNvPr id="18" name="Shape 15"/>
          <p:cNvSpPr/>
          <p:nvPr/>
        </p:nvSpPr>
        <p:spPr>
          <a:xfrm>
            <a:off x="3365078" y="3937248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1044" y="4043214"/>
            <a:ext cx="173385" cy="17338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65078" y="4439022"/>
            <a:ext cx="21434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23670" y="3808809"/>
            <a:ext cx="2670646" cy="969392"/>
          </a:xfrm>
          <a:prstGeom prst="roundRect">
            <a:avLst>
              <a:gd name="adj" fmla="val 1988"/>
            </a:avLst>
          </a:prstGeom>
          <a:solidFill>
            <a:srgbClr val="F2EEEE"/>
          </a:solidFill>
          <a:ln/>
        </p:spPr>
      </p:sp>
      <p:sp>
        <p:nvSpPr>
          <p:cNvPr id="22" name="Shape 18"/>
          <p:cNvSpPr/>
          <p:nvPr/>
        </p:nvSpPr>
        <p:spPr>
          <a:xfrm>
            <a:off x="6152108" y="3937248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8074" y="4043214"/>
            <a:ext cx="173385" cy="17338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52108" y="4439022"/>
            <a:ext cx="21434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Highly Scalable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286" y="236414"/>
            <a:ext cx="3726954" cy="418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Large Language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1245" y="879091"/>
            <a:ext cx="815176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Transformer-based models pre-trained on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hundreds of billions of tokens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enabling broad language understanding and generation across virtually every task.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51261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Pipeline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89696"/>
            <a:ext cx="637952" cy="9670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8891" y="2217241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48891" y="2541315"/>
            <a:ext cx="3167509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Self-supervised learning on massive corpora — next-token prediction at scale.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056706"/>
            <a:ext cx="637952" cy="9670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8891" y="3184252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48891" y="3508325"/>
            <a:ext cx="3167509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Task-specific supervised training adapts the base model to a target domain.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32362" y="1751261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32362" y="2089696"/>
            <a:ext cx="1902693" cy="464344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13" name="Text 9"/>
          <p:cNvSpPr/>
          <p:nvPr/>
        </p:nvSpPr>
        <p:spPr>
          <a:xfrm>
            <a:off x="4859908" y="2217241"/>
            <a:ext cx="210480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Generation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49876" y="2089696"/>
            <a:ext cx="1902768" cy="464344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15" name="Text 11"/>
          <p:cNvSpPr/>
          <p:nvPr/>
        </p:nvSpPr>
        <p:spPr>
          <a:xfrm>
            <a:off x="6877422" y="2217241"/>
            <a:ext cx="210487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Question Answering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32362" y="2668860"/>
            <a:ext cx="1902693" cy="464344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17" name="Text 13"/>
          <p:cNvSpPr/>
          <p:nvPr/>
        </p:nvSpPr>
        <p:spPr>
          <a:xfrm>
            <a:off x="4859908" y="2796406"/>
            <a:ext cx="210480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Summarization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749876" y="2668860"/>
            <a:ext cx="1902768" cy="464344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19" name="Text 15"/>
          <p:cNvSpPr/>
          <p:nvPr/>
        </p:nvSpPr>
        <p:spPr>
          <a:xfrm>
            <a:off x="6877422" y="2796406"/>
            <a:ext cx="210487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32362" y="3248025"/>
            <a:ext cx="1902693" cy="464344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21" name="Text 17"/>
          <p:cNvSpPr/>
          <p:nvPr/>
        </p:nvSpPr>
        <p:spPr>
          <a:xfrm>
            <a:off x="4859908" y="3375571"/>
            <a:ext cx="210480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749876" y="3248025"/>
            <a:ext cx="1902768" cy="464344"/>
          </a:xfrm>
          <a:prstGeom prst="roundRect">
            <a:avLst>
              <a:gd name="adj" fmla="val 4122"/>
            </a:avLst>
          </a:prstGeom>
          <a:solidFill>
            <a:srgbClr val="F2EEEE"/>
          </a:solidFill>
          <a:ln/>
        </p:spPr>
      </p:sp>
      <p:sp>
        <p:nvSpPr>
          <p:cNvPr id="23" name="Text 19"/>
          <p:cNvSpPr/>
          <p:nvPr/>
        </p:nvSpPr>
        <p:spPr>
          <a:xfrm>
            <a:off x="6877422" y="3375571"/>
            <a:ext cx="210487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Conversational AI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732362" y="3841552"/>
            <a:ext cx="3920282" cy="701576"/>
          </a:xfrm>
          <a:prstGeom prst="roundRect">
            <a:avLst>
              <a:gd name="adj" fmla="val 2728"/>
            </a:avLst>
          </a:prstGeom>
          <a:solidFill>
            <a:srgbClr val="FCF2B5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908" y="4027438"/>
            <a:ext cx="159469" cy="12754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46923" y="3988222"/>
            <a:ext cx="3378175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Challenges: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High compute costs · Data bias · Hallucination · Ethical &amp; privacy risks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45533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037" y="186667"/>
            <a:ext cx="6219899" cy="441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Deep Learning: 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-1117476" y="802622"/>
            <a:ext cx="83803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full practitioner toolkit — from data processing to production deployment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59421"/>
            <a:ext cx="2631951" cy="1916683"/>
          </a:xfrm>
          <a:prstGeom prst="roundRect">
            <a:avLst>
              <a:gd name="adj" fmla="val 105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0734" y="1694036"/>
            <a:ext cx="262718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Languages &amp; Core Libraries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734" y="1991618"/>
            <a:ext cx="2362721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primary language for all NLP work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NumPy / Pandas — numerical computing &amp; data wrangling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Scikit-learn — classical ML baselines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5987" y="1559421"/>
            <a:ext cx="2631951" cy="1916683"/>
          </a:xfrm>
          <a:prstGeom prst="roundRect">
            <a:avLst>
              <a:gd name="adj" fmla="val 105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390602" y="1694036"/>
            <a:ext cx="259958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Frameworks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90602" y="1991618"/>
            <a:ext cx="2362721" cy="6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dominant in research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 / Keras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production-ready pipelines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5856" y="1559421"/>
            <a:ext cx="2631951" cy="1916683"/>
          </a:xfrm>
          <a:prstGeom prst="roundRect">
            <a:avLst>
              <a:gd name="adj" fmla="val 105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50471" y="1694036"/>
            <a:ext cx="2224832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Libraries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50471" y="1991618"/>
            <a:ext cx="2362721" cy="11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Hugging Face Transformers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model hub &amp; fine-tuning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spaCy — industrial NLP pipelines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NLTK / Gensim — tokenization &amp; embeddings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604022"/>
            <a:ext cx="4011885" cy="1031677"/>
          </a:xfrm>
          <a:prstGeom prst="roundRect">
            <a:avLst>
              <a:gd name="adj" fmla="val 195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734" y="3738637"/>
            <a:ext cx="2224832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&amp; Deployment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734" y="4036219"/>
            <a:ext cx="3742655" cy="46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· Google Cloud · Azure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· FastAPI / Flask · Kubernetes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5922" y="3604022"/>
            <a:ext cx="4011885" cy="1031677"/>
          </a:xfrm>
          <a:prstGeom prst="roundRect">
            <a:avLst>
              <a:gd name="adj" fmla="val 195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537" y="3738637"/>
            <a:ext cx="2224832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&amp; Hardware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70537" y="4036219"/>
            <a:ext cx="3742655" cy="46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SQL/NoSQL · Hadoop · Spark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GPUs &amp; TPUs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reduce training from weeks to hours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0719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6575"/>
            <a:ext cx="5491535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Deep Learning: Evolutionary Arc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564782" y="901601"/>
            <a:ext cx="14288" cy="3905324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4111154" y="1024012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442371" y="901601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4252652" y="917786"/>
            <a:ext cx="40994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27039" y="941189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Rule-Based NLP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2752" y="1173372"/>
            <a:ext cx="339796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Hand-crafted grammars and lexicons; limited scalability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7193" y="1671861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442371" y="1549450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252652" y="1565635"/>
            <a:ext cx="40994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7816" y="1589038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NLP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23222" y="1771912"/>
            <a:ext cx="385524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Bag-of-Words, TF-IDF, Naive Bayes — data-driven but shallow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1154" y="2245965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2371" y="2123554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252652" y="2139739"/>
            <a:ext cx="40994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27039" y="2163142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Embeddings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066" y="2408262"/>
            <a:ext cx="3397969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Word2Vec, GloVe — dense vectors capture semantic relationships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7193" y="2820070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2371" y="2697659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4252652" y="2713844"/>
            <a:ext cx="40994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47816" y="2737247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Sequence Models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47816" y="2982367"/>
            <a:ext cx="385524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&amp; LSTMs handle sequential language structure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1154" y="3394174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442371" y="3271763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4252652" y="3287948"/>
            <a:ext cx="40994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27039" y="3311351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185" y="3629636"/>
            <a:ext cx="339796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Self-attention enables parallel, context-aware processing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7193" y="3968279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2371" y="3845868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4252652" y="3862053"/>
            <a:ext cx="40994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47816" y="3885456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LLMs &amp; Generative AI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1200" y="4150706"/>
            <a:ext cx="385524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GPT, BERT, LLaMA — foundation models for all language tasks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433" y="364351"/>
            <a:ext cx="3655219" cy="399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26393" y="1165920"/>
            <a:ext cx="274067" cy="2740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38869" y="1182998"/>
            <a:ext cx="420439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5086" y="1207740"/>
            <a:ext cx="29784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Bridges Humans and Machines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5086" y="1470422"/>
            <a:ext cx="83389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enables computers to understand, generate, and act on natural language — powering everything from search to healthcare to finance.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6393" y="1860947"/>
            <a:ext cx="274067" cy="2740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238869" y="1878025"/>
            <a:ext cx="420439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5086" y="1902768"/>
            <a:ext cx="436773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Eliminated Manual Feature 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5086" y="2165449"/>
            <a:ext cx="83389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Neural models learn directly from data, outperforming hand-crafted rule-based and statistical approaches on every major task.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6393" y="2555974"/>
            <a:ext cx="274067" cy="2740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238869" y="2573052"/>
            <a:ext cx="420439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5086" y="2597795"/>
            <a:ext cx="394029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Are the Foundation of Modern NLP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5086" y="2873387"/>
            <a:ext cx="791252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self-attention mechanism enables parallel, scalable, and context-aware language understanding — underpinning BERT, GPT, and all major LLMs.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6393" y="3432200"/>
            <a:ext cx="274067" cy="2740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238869" y="3449278"/>
            <a:ext cx="420439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5086" y="3474021"/>
            <a:ext cx="421875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LLMs Are Powerful — but Not Without Responsibility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5086" y="3736702"/>
            <a:ext cx="83389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Hallucination, bias, high compute costs, and ethical risks must be carefully managed as models grow larger and more capable.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6393" y="4127227"/>
            <a:ext cx="274067" cy="2740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238869" y="4144305"/>
            <a:ext cx="420439" cy="239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5086" y="4169048"/>
            <a:ext cx="3737818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Rich Ecosystem Enables Rapid Development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5086" y="4431729"/>
            <a:ext cx="791252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PyTorch, Hugging Face Transformers, and cloud platforms have democratized access to state-of-the-art NLP — lowering the barrier to entry significantly.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97693" y="1316799"/>
            <a:ext cx="65198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for Natural Language Processing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96119" y="2032760"/>
            <a:ext cx="8151763" cy="1056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38714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is the most powerful interface humans have ever created.</a:t>
            </a:r>
            <a:endParaRPr lang="en-US" sz="12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is teaching machines to speak it fluently.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3190949"/>
            <a:ext cx="8151763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90949"/>
            <a:ext cx="271722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95771" y="3332708"/>
            <a:ext cx="20892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Explore Further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877" y="3650307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Hugging Face · Papers With Code · fast.ai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3348" y="3190949"/>
            <a:ext cx="2717229" cy="105474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13348" y="3190949"/>
            <a:ext cx="19050" cy="1054745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13001" y="3332708"/>
            <a:ext cx="20892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Foundational Paper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55107" y="3650307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"Attention Is All You Need" — Vaswani et al., 2017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0578" y="3190949"/>
            <a:ext cx="2717229" cy="105474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0578" y="3190949"/>
            <a:ext cx="19050" cy="1054745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6130230" y="3332708"/>
            <a:ext cx="20892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Start Building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072336" y="3650307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 + Hugging Face Transformers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1686</Words>
  <Application>Microsoft Macintosh PowerPoint</Application>
  <PresentationFormat>On-screen Show (16:9)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PT Serif Light</vt:lpstr>
      <vt:lpstr>PT Serif</vt:lpstr>
      <vt:lpstr>Calibri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16</cp:revision>
  <dcterms:created xsi:type="dcterms:W3CDTF">2026-05-17T15:39:12Z</dcterms:created>
  <dcterms:modified xsi:type="dcterms:W3CDTF">2026-06-02T09:29:02Z</dcterms:modified>
</cp:coreProperties>
</file>