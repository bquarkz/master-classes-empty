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embeddedFontLst>
    <p:embeddedFont>
      <p:font typeface="DM Sans" pitchFamily="2" charset="77"/>
      <p:regular r:id="rId17"/>
      <p:bold r:id="rId18"/>
      <p:italic r:id="rId19"/>
    </p:embeddedFont>
    <p:embeddedFont>
      <p:font typeface="PT Serif" panose="020A0603040505020204" pitchFamily="18" charset="77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8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571" y="1715285"/>
            <a:ext cx="7745771" cy="187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Convolutional Neural Networks (CNNs) in NLP</a:t>
            </a:r>
          </a:p>
          <a:p>
            <a:endParaRPr lang="en-US" sz="2550" dirty="0">
              <a:solidFill>
                <a:srgbClr val="020202"/>
              </a:solidFill>
              <a:latin typeface="PT Serif" pitchFamily="34" charset="0"/>
            </a:endParaRPr>
          </a:p>
          <a:p>
            <a:r>
              <a:rPr lang="en-IN" i="1" dirty="0"/>
              <a:t>Relevance of a Celebrated Computer Vision Method for Natural Language Processing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8361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96119" y="175885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955304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045866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CNN?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232380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Origins, core idea, and how filters 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33987" y="175885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1955304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2045866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CNN Works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33987" y="232380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Step-by-step walkthrough on 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6119" y="273925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2935709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02627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in NLP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6119" y="3304208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Phrase detection and sentiment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33987" y="273925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2935709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026271"/>
            <a:ext cx="199950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Limitations &amp; Rise of RNNs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33987" y="3304208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CNNs fall short and what came next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6119" y="371966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19" y="3916114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4006676"/>
            <a:ext cx="206298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 &amp; Comparison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6119" y="4284613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Attention mechanism and model benchmarking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33987" y="371966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33987" y="3916114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633987" y="4006676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Is CNN Still Relevant for NLP?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33987" y="4284613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 vs New Methods for NLP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1491" y="899721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CNN?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391491" y="170867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Convolutional Neural Network (CNN)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originally engineered for image processing tasks like edge detection and object recognition, CNNs have been successfully repurposed for text. The core idea is elegant: slide a small filter over input data to detect recurring patterns.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717229"/>
            <a:ext cx="2634555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20092" y="284120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Filters / Kernels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0092" y="3119140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windows that slide over the input, scoring how strongly a pattern appears at each position.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54648" y="2717229"/>
            <a:ext cx="263463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3378622" y="284120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Local Features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78622" y="3119140"/>
            <a:ext cx="23866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images: detects edges and shapes. In text: detects n-grams and meaningful phrases like "not good."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13252" y="2717229"/>
            <a:ext cx="2634555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137225" y="284120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Simple Core Idea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37225" y="3119140"/>
            <a:ext cx="25105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detector using sliding windows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efficient, parallelizable, and surprisingly powerful for short texts.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2657" y="512117"/>
            <a:ext cx="5098245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Happens Inside a CNN for NLP ?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96080" y="1179053"/>
            <a:ext cx="8151763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CNN processes input through a sequence of well-defined stages. Each stage transforms the data, progressively extracting higher-level features until a final decision is made.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21718"/>
            <a:ext cx="2717229" cy="421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1489" y="2233017"/>
            <a:ext cx="138387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&amp; Embed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1489" y="2459757"/>
            <a:ext cx="250648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text is tokenized and converted into dense word vectors (embeddings).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721718"/>
            <a:ext cx="2717229" cy="4217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8718" y="2233017"/>
            <a:ext cx="138387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Convolution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318718" y="2459757"/>
            <a:ext cx="250648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 slide over the embedding matrix, computing a score for each local window.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721718"/>
            <a:ext cx="2717229" cy="4217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948" y="2233017"/>
            <a:ext cx="138387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Activation (ReLU)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035948" y="2459757"/>
            <a:ext cx="2785835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Non-linearity is applied — negative scores are zeroed out, keeping only strong signals.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877220"/>
            <a:ext cx="2717229" cy="4217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1489" y="3388519"/>
            <a:ext cx="138387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Pooling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01489" y="3615258"/>
            <a:ext cx="250648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 pooling selects the single highest-scoring value, summarizing each feature map.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2877220"/>
            <a:ext cx="2717229" cy="4217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18718" y="3388519"/>
            <a:ext cx="138387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Fully Connected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3318718" y="3615258"/>
            <a:ext cx="285565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pooled features are fed into a dense layer to produce the final output or classification.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92657" y="4490703"/>
            <a:ext cx="8151763" cy="405259"/>
          </a:xfrm>
          <a:prstGeom prst="roundRect">
            <a:avLst>
              <a:gd name="adj" fmla="val 3903"/>
            </a:avLst>
          </a:prstGeom>
          <a:solidFill>
            <a:srgbClr val="B6D6FC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489" y="4639780"/>
            <a:ext cx="131787" cy="10537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82935" y="4615309"/>
            <a:ext cx="8161065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Local pattern → Feature extraction → Decision. Each stage is purpose-built and interpretable.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5159" y="492138"/>
            <a:ext cx="621052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CNN Works on Text — Step by Step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84509" y="121804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 the sentence: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movie was not good."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Here is exactly how a CNN processes it for sentiment classification.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904628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37976" y="1922078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9145" y="194726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Word Embeddings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9145" y="2225204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word is mapped to a dense vector (e.g., 300-dimensional GloVe). The full sentence becomes a </a:t>
            </a: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5×300 matrix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CNN's input.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9465" y="1904628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691323" y="1922078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52492" y="1947267"/>
            <a:ext cx="224670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Convolution — Sliding Window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52492" y="2225204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bigram filter (size 2) scans: </a:t>
            </a:r>
            <a:r>
              <a:rPr lang="en-US" sz="10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movie," "movie was," "was not," "not good."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Each two-word phrase gets a score reflecting how strongly it matches the learned pattern.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119" y="3068613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37976" y="3086063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9145" y="311125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Activation (ReLU)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99145" y="3389188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phrase scores are discarded. Only phrases with strong signal survive — </a:t>
            </a: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"not good"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scores very high here.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49465" y="3068613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4691323" y="3086063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52492" y="3111252"/>
            <a:ext cx="166166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Max Pooling → Output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52492" y="3389188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max score (</a:t>
            </a: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"not good"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 is retained and passed to the classifier, which predicts → </a:t>
            </a: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Negative sentiment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6119" y="3925639"/>
            <a:ext cx="8151763" cy="527000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110186"/>
            <a:ext cx="155004" cy="12397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99071" y="4080570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</a:t>
            </a:r>
            <a:r>
              <a:rPr lang="en-US" sz="9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 Line: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CNN highlights the single most important phrase in a sentence and uses it to drive the prediction.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6822" y="583034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in NLP: Filters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34131" y="127069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NLP, a CNN treats a sentence as a matrix of word embeddings and applies multiple filters of varying sizes to detect important local patterns — essentially identifying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n-grams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carry predictive signal.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6822" y="2345159"/>
            <a:ext cx="4103191" cy="1865486"/>
          </a:xfrm>
          <a:prstGeom prst="roundRect">
            <a:avLst>
              <a:gd name="adj" fmla="val 99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530796" y="2469133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Filter Example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796" y="2796629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trigram filter might fire strongly on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"very good"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(positive) or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"not happy"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(negative) — capturing the polarity of a phrase regardless of its position in the sentence.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28046" y="2296344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Sentiment Example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28046" y="2672655"/>
            <a:ext cx="3924598" cy="1302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Given the sentence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movie was not good,"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CNN's filters scan all bigrams and trigrams. The phrase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"not good"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activates a negative-sentiment filter most strongly, driving the model's final prediction of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negative sentiment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filters of different sizes run in parallel, making CNN fast and well-suited for short-text classification tasks.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1831" y="570310"/>
            <a:ext cx="4327847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Limitations of CNN in NLP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81831" y="136776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Despite its speed and simplicity, CNN has a fundamental architectural constraint: it only sees a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local window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text at a time. This makes it blind to long-range dependencies — a critical limitation in natural language.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171254"/>
            <a:ext cx="2634555" cy="1546771"/>
          </a:xfrm>
          <a:prstGeom prst="roundRect">
            <a:avLst>
              <a:gd name="adj" fmla="val 44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1831" y="2171254"/>
            <a:ext cx="57150" cy="1546771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677242" y="230951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Local Context 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7242" y="2587451"/>
            <a:ext cx="231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 see only a window of 2–5 words at a time. Meaning that spans longer phrases or entire sentences is invisible to the model.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4648" y="2171254"/>
            <a:ext cx="2634630" cy="1546771"/>
          </a:xfrm>
          <a:prstGeom prst="roundRect">
            <a:avLst>
              <a:gd name="adj" fmla="val 44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0360" y="2171254"/>
            <a:ext cx="57150" cy="1546771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35772" y="2309515"/>
            <a:ext cx="176986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Long-Range Memory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35772" y="2587451"/>
            <a:ext cx="23152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 has no mechanism to connect distant words. It cannot model dependencies like subject-verb agreement across a long sentence.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3252" y="2171254"/>
            <a:ext cx="2634555" cy="1546771"/>
          </a:xfrm>
          <a:prstGeom prst="roundRect">
            <a:avLst>
              <a:gd name="adj" fmla="val 44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8964" y="2171254"/>
            <a:ext cx="57150" cy="1546771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194375" y="230951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Illustrative Example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94375" y="2587451"/>
            <a:ext cx="2467720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movie was not good at all despite great acting."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CNN may fire on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"not good"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but miss the nuance introduced by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"despite great acting"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full sentiment is ambiguous.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3857551"/>
            <a:ext cx="8151763" cy="527000"/>
          </a:xfrm>
          <a:prstGeom prst="roundRect">
            <a:avLst>
              <a:gd name="adj" fmla="val 3531"/>
            </a:avLst>
          </a:prstGeom>
          <a:solidFill>
            <a:srgbClr val="FCF2B5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042097"/>
            <a:ext cx="155004" cy="12397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9071" y="4012481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CNN's fixed receptive field is a hard ceiling on its linguistic reasoning capability — motivating the development of RNNs.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40854"/>
            <a:ext cx="4267944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in NLP: Where It Fits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06822" y="1833935"/>
            <a:ext cx="4103191" cy="2068711"/>
          </a:xfrm>
          <a:prstGeom prst="roundRect">
            <a:avLst>
              <a:gd name="adj" fmla="val 89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957908"/>
            <a:ext cx="2230115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What CNN Does Well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796" y="2290167"/>
            <a:ext cx="3855244" cy="112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important phrases (n-grams): </a:t>
            </a:r>
            <a:r>
              <a:rPr lang="en-US" sz="110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"very good," "not happy"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for short-text classification (tweets, reviews, headlines)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due to fully parallel convolution operations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to implement and easy to interpret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33987" y="1760747"/>
            <a:ext cx="2085305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🎯</a:t>
            </a: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Key Insight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33987" y="2070571"/>
            <a:ext cx="4250491" cy="1500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 is an excellent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phrase detector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When a classification task hinges on the presence of a few key phrases — sentiment words, topic signals — CNN performs competitively and trains quickly.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However, when tasks require understanding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 order, sentence structure, or cross-sentence context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CNN falls short. Deeper language understanding demands models specifically designed for sequential or global reasoning — namely RNNs and Transformers.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955997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Rise of RNNs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154907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address CNN's inability to model sequences,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Recurrent Neural Networks (RNNs)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were introduced. RNNs process text word by word, maintaining a hidden state that accumulates information over time — acting as a form of short-term memory.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209502"/>
            <a:ext cx="2085305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How RNNs Work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2541761"/>
            <a:ext cx="3924598" cy="1500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for sequential data, RNNs process one token at a time and pass a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forward. This gives the model an implicit memory of what it has seen, enabling context to accumulate across the full sentence.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Variants like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LSTM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(Long Short-Term Memory) and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(Gated Recurrent Unit) were developed to mitigate the vanishing gradient problem and improve long-range retention.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28046" y="2209502"/>
            <a:ext cx="2173486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❌</a:t>
            </a: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Limitations of RNNs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28046" y="2541761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 — sequential processing cannot be parallelized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Vanishing gradient problem limits effective memory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Difficult to train on very long sequences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LSTMs struggle with very distant dependencies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8046" y="3605287"/>
            <a:ext cx="3924598" cy="725463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789834"/>
            <a:ext cx="155004" cy="1239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30998" y="3760217"/>
            <a:ext cx="401300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 The field needed something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at global context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setting the stage for Transformers.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733499"/>
            <a:ext cx="444080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Emergence of Transformers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1326579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Introduced in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"Attention Is All You Need"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(Vaswani et al., 2017), Transformers replaced recurrence entirely with a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self-attention mechanism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Instead of processing tokens sequentially, Transformers look at all words simultaneously and learn which ones to attend to — regardless of distance.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2154" y="2201019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"Focus on the important words, regardless of their position in the sentence."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061493"/>
            <a:ext cx="14288" cy="477515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678534"/>
            <a:ext cx="2634555" cy="2014240"/>
          </a:xfrm>
          <a:prstGeom prst="roundRect">
            <a:avLst>
              <a:gd name="adj" fmla="val 924"/>
            </a:avLst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620092" y="280250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412" y="2904753"/>
            <a:ext cx="167432" cy="1674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0092" y="329855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Parallel Processing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0092" y="3534221"/>
            <a:ext cx="238660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sequential bottleneck — all tokens are processed simultaneously, enabling massive GPU parallelism and dramatically faster training.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54648" y="2678534"/>
            <a:ext cx="2634630" cy="2014240"/>
          </a:xfrm>
          <a:prstGeom prst="roundRect">
            <a:avLst>
              <a:gd name="adj" fmla="val 924"/>
            </a:avLst>
          </a:pr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3378622" y="280250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0941" y="2904753"/>
            <a:ext cx="167432" cy="1674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78622" y="329855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Global Context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378622" y="3515345"/>
            <a:ext cx="238668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Self-attention computes relationships between every pair of words in a sentence, capturing long-range dependencies that CNN and RNN struggle with.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13252" y="2678534"/>
            <a:ext cx="2634555" cy="2014240"/>
          </a:xfrm>
          <a:prstGeom prst="roundRect">
            <a:avLst>
              <a:gd name="adj" fmla="val 924"/>
            </a:avLst>
          </a:prstGeom>
          <a:solidFill>
            <a:srgbClr val="F2EEEE"/>
          </a:solidFill>
          <a:ln/>
        </p:spPr>
      </p:sp>
      <p:sp>
        <p:nvSpPr>
          <p:cNvPr id="19" name="Shape 15"/>
          <p:cNvSpPr/>
          <p:nvPr/>
        </p:nvSpPr>
        <p:spPr>
          <a:xfrm>
            <a:off x="6137225" y="280250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9545" y="2904753"/>
            <a:ext cx="167432" cy="1674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37225" y="329855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Highly Scalable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137225" y="3515345"/>
            <a:ext cx="263455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Scales efficiently with data and compute. Powers industry-defining models: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BERT, GPT, T5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virtually every state-of-the-art NLP system today.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0324" y="686842"/>
            <a:ext cx="4268763" cy="366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vs RNN vs Transformers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00324" y="1294507"/>
            <a:ext cx="815176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architecture represents a different philosophy of how to process language. Understanding their trade-offs is essential for choosing the right model for a given task.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033290"/>
            <a:ext cx="8151763" cy="1731764"/>
          </a:xfrm>
          <a:prstGeom prst="roundRect">
            <a:avLst>
              <a:gd name="adj" fmla="val 96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577" y="2103090"/>
            <a:ext cx="185997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3361" y="2103090"/>
            <a:ext cx="348607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Strength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00241" y="2103090"/>
            <a:ext cx="348845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Weakness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577" y="2407593"/>
            <a:ext cx="185997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43361" y="2407593"/>
            <a:ext cx="302887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 highly parallelizable, great at detecting local n-gram patterns and short-text classification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00241" y="2407593"/>
            <a:ext cx="3031257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long-range context; fixed receptive field; misses global sentence meaning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577" y="2881759"/>
            <a:ext cx="185997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 / LSTM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43361" y="2881759"/>
            <a:ext cx="302887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 memory; captures context that evolves over time; better for longer sentences than CNN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0241" y="2881759"/>
            <a:ext cx="3031257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 due to sequential processing; vanishing gradients; hard to train on long sequences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577" y="3355925"/>
            <a:ext cx="185997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43361" y="3355925"/>
            <a:ext cx="302887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context via self-attention; fully parallel; scales with data; state-of-the-art on nearly all NLP tasks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0241" y="3355925"/>
            <a:ext cx="3031257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compute and memory requirements; complex to fine-tune; overkill for simple tasks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6118" y="4227909"/>
            <a:ext cx="8151763" cy="444252"/>
          </a:xfrm>
          <a:prstGeom prst="roundRect">
            <a:avLst>
              <a:gd name="adj" fmla="val 3770"/>
            </a:avLst>
          </a:prstGeom>
          <a:solidFill>
            <a:srgbClr val="B6D6F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14" y="4370561"/>
            <a:ext cx="139526" cy="11162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54125" y="4243687"/>
            <a:ext cx="813457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evolution from CNN → RNN → Transformer reflects the field's progressive pursuit of richer, faster, and more scalable </a:t>
            </a:r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representations.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10158" y="146644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most NLP tasks —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largely yes.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Transformers now set the state of the art across nearly every NLP benchmark: language understanding, generation, translation, summarization, and more.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6822" y="2290614"/>
            <a:ext cx="4103191" cy="1753791"/>
          </a:xfrm>
          <a:prstGeom prst="roundRect">
            <a:avLst>
              <a:gd name="adj" fmla="val 106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414588"/>
            <a:ext cx="218070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 Dominate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30796" y="2742084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bidirectional language understanding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series — generative language modeling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T5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text-to-text transfer 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0419" y="3489574"/>
            <a:ext cx="426762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models pre-train on massive corpora and fine-tune on specific tasks — making them versatile and extremely powerful.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28046" y="2414588"/>
            <a:ext cx="214506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Less Preferred For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28046" y="2742084"/>
            <a:ext cx="441595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understanding tasks requiring world knowledge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generation tasks requiring coherent long-form output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 task where global context is critical to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28046" y="3535859"/>
            <a:ext cx="44159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compute and data are available, reaching for a pre-trained Transformer is almost always the right call in modern NLP workflows.</a:t>
            </a:r>
            <a:endParaRPr lang="en-US" sz="11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14ED928B-0C06-3947-8AB8-189D552BE9DF}"/>
              </a:ext>
            </a:extLst>
          </p:cNvPr>
          <p:cNvSpPr/>
          <p:nvPr/>
        </p:nvSpPr>
        <p:spPr>
          <a:xfrm>
            <a:off x="270793" y="756122"/>
            <a:ext cx="641955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Did Transformers Make CNN Redundant for NLP Tasks?</a:t>
            </a:r>
            <a:endParaRPr lang="en-US" sz="2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5931"/>
            <a:ext cx="459380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Is CNN Still Relevant Today for NLP?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32099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 — but in carefully defined niches. CNN's value proposition is its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efficiency and simplicity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Where compute is scarce or latency is critical, CNN remains a practical choice.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57449"/>
            <a:ext cx="2634555" cy="1755056"/>
          </a:xfrm>
          <a:prstGeom prst="roundRect">
            <a:avLst>
              <a:gd name="adj" fmla="val 106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1995711"/>
            <a:ext cx="2358033" cy="411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Lightweight &amp; Edge Deployments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4380" y="2481932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apps, embedded systems, and real-time inference pipelines benefit from CNN's small footprint and low latency — Transformers are simply too heavy for these environments.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54648" y="1857449"/>
            <a:ext cx="2634630" cy="1755056"/>
          </a:xfrm>
          <a:prstGeom prst="roundRect">
            <a:avLst>
              <a:gd name="adj" fmla="val 106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2909" y="1995711"/>
            <a:ext cx="1750442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Hybrid Architectures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92909" y="2278410"/>
            <a:ext cx="235810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 layers are increasingly used </a:t>
            </a:r>
            <a:r>
              <a:rPr lang="en-US" sz="10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inside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Transformer models as efficient local-feature extractors. The CNN handles phrase-level patterns; attention handles global context.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13252" y="1857449"/>
            <a:ext cx="2634555" cy="1755056"/>
          </a:xfrm>
          <a:prstGeom prst="roundRect">
            <a:avLst>
              <a:gd name="adj" fmla="val 106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1513" y="1995711"/>
            <a:ext cx="2358033" cy="411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Sentence &amp; Topic Classification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51513" y="2481932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short-text classification on limited datasets — spam detection, topic tagging, intent classification — a well-tuned CNN can match Transformer-level accuracy at a fraction of the cost.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3752031"/>
            <a:ext cx="8151763" cy="725463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936578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906962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 =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efficient but limited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Not obsolete — just best applied where speed and simplicity matter more than nuanced language understanding.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0642"/>
            <a:ext cx="355059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21135"/>
            <a:ext cx="8608963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 story of CNNs in NLP is one of the field's most instructive arcs — showing how tools evolve, overlap, and find their permanent niches.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530921"/>
            <a:ext cx="4019922" cy="1047676"/>
          </a:xfrm>
          <a:prstGeom prst="roundRect">
            <a:avLst>
              <a:gd name="adj" fmla="val 168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13916" y="1648718"/>
            <a:ext cx="1546696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3916" y="1909167"/>
            <a:ext cx="3896246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Excellent for fast local feature extraction and short-text classification. Limited by its fixed receptive field — cannot capture full sentence context or long-range dependencies.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27959" y="1530921"/>
            <a:ext cx="4019922" cy="1047676"/>
          </a:xfrm>
          <a:prstGeom prst="roundRect">
            <a:avLst>
              <a:gd name="adj" fmla="val 168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45757" y="1648718"/>
            <a:ext cx="1546696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/ LSTM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4531" y="1874380"/>
            <a:ext cx="4163112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Improved sequence understanding by maintaining hidden state across time. However, sequential processing creates a training bottleneck and vanishing gradients remain a challenge.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690515"/>
            <a:ext cx="4019922" cy="1047676"/>
          </a:xfrm>
          <a:prstGeom prst="roundRect">
            <a:avLst>
              <a:gd name="adj" fmla="val 168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13916" y="2808312"/>
            <a:ext cx="1546696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3916" y="3068762"/>
            <a:ext cx="3784327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Revolutionized NLP with global self-attention and fully parallel training. Now the dominant paradigm — BERT, GPT, and T5 set the benchmark for virtually all NLP tasks.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7959" y="2690515"/>
            <a:ext cx="4019922" cy="1047676"/>
          </a:xfrm>
          <a:prstGeom prst="roundRect">
            <a:avLst>
              <a:gd name="adj" fmla="val 1687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57" y="2808312"/>
            <a:ext cx="1546696" cy="193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Today's Landscape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45757" y="3068762"/>
            <a:ext cx="4014042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 plays a supporting role — valuable in edge deployments, hybrid architectures, and simple classifiers. Transformers are the primary tool for production NLP systems.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864099"/>
            <a:ext cx="8151763" cy="668685"/>
          </a:xfrm>
          <a:prstGeom prst="roundRect">
            <a:avLst>
              <a:gd name="adj" fmla="val 2643"/>
            </a:avLst>
          </a:prstGeom>
          <a:solidFill>
            <a:srgbClr val="FFCDB3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16" y="4036740"/>
            <a:ext cx="147265" cy="11779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78979" y="4005411"/>
            <a:ext cx="7651105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CNNs is foundational. Their design principles — local filters, pooling, feature hierarchies — reappear across all modern deep learning architectures.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1883</Words>
  <Application>Microsoft Macintosh PowerPoint</Application>
  <PresentationFormat>On-screen Show (16:9)</PresentationFormat>
  <Paragraphs>165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PT Serif Light</vt:lpstr>
      <vt:lpstr>PT Serif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8</cp:revision>
  <dcterms:created xsi:type="dcterms:W3CDTF">2026-05-22T06:08:57Z</dcterms:created>
  <dcterms:modified xsi:type="dcterms:W3CDTF">2026-06-06T10:41:51Z</dcterms:modified>
</cp:coreProperties>
</file>