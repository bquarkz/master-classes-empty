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DM Sans" pitchFamily="2" charset="77"/>
      <p:regular r:id="rId22"/>
      <p:bold r:id="rId23"/>
      <p:italic r:id="rId24"/>
      <p:boldItalic r:id="rId25"/>
    </p:embeddedFont>
    <p:embeddedFont>
      <p:font typeface="PT Serif" panose="020A0603040505020204" pitchFamily="18" charset="77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8957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74270" y="1615629"/>
            <a:ext cx="459261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Named Entity Recognition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953" y="2432730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2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"From Raw Text to Structured Intelligence"</a:t>
            </a:r>
            <a:endParaRPr lang="en-US" sz="12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technical deep-dive into one of NLP's most foundational tasks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188944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111350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22029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NER?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6119" y="253789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definition, entity types, and a concrete worked example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42842" y="188944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2111350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4642842" y="222029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NER Matters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42842" y="2537892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value, industry applications, and real-world impact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01272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234630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34357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Building NER Systems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96119" y="3661172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spaCy pipelines, model tiers, and deep learning architectures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2842" y="301272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3234630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42842" y="334357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Evaluation &amp; Stack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42842" y="3661172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Precision, Recall, F1-Score, and the modern NER technology stack</a:t>
            </a:r>
            <a:endParaRPr lang="en-US" sz="11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D4614E6A-9B27-FCBA-AA55-CA55E5E8224C}"/>
              </a:ext>
            </a:extLst>
          </p:cNvPr>
          <p:cNvSpPr/>
          <p:nvPr/>
        </p:nvSpPr>
        <p:spPr>
          <a:xfrm>
            <a:off x="496118" y="954361"/>
            <a:ext cx="732226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7206"/>
            <a:ext cx="6342980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Named Entity Recognition?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25588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Named Entity Recognition (NER) is a core subfield of Natural Language Processing that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automatically identifies and classifies key entities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unstructured text into predefined semantic categories.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68984"/>
            <a:ext cx="4004965" cy="827931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01074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PERSON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7877" y="2328342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Elon Musk, Satya Nadella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868984"/>
            <a:ext cx="4005039" cy="827931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784601" y="201074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ORGANIZATION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84601" y="2328342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OpenAI, Microsoft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838673"/>
            <a:ext cx="4004965" cy="827931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37877" y="298043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7877" y="3298031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Mumbai, New York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838673"/>
            <a:ext cx="4005039" cy="827931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784601" y="298043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84601" y="3298031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January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808363"/>
            <a:ext cx="4004965" cy="827931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637877" y="395012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MONEY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7877" y="4267721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 Billion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2842" y="3808363"/>
            <a:ext cx="4005039" cy="827931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4784601" y="395012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MEDICAL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784601" y="4267721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Diabetes, Metformin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72145"/>
            <a:ext cx="5961459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NER in Action: A Concrete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65162" y="1057349"/>
            <a:ext cx="867087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Consider this sentence and how NER dissects it into structured, machine-readable components: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4518" y="1543571"/>
            <a:ext cx="84715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"Satya Nadella visited Mumbai for the Microsoft AI Summit in 2026."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5162" y="1403449"/>
            <a:ext cx="14288" cy="486221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Shape 4"/>
          <p:cNvSpPr/>
          <p:nvPr/>
        </p:nvSpPr>
        <p:spPr>
          <a:xfrm>
            <a:off x="465162" y="2029792"/>
            <a:ext cx="8213675" cy="1853208"/>
          </a:xfrm>
          <a:prstGeom prst="roundRect">
            <a:avLst>
              <a:gd name="adj" fmla="val 107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721" y="2114029"/>
            <a:ext cx="292313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 / Phrase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40224" y="2114029"/>
            <a:ext cx="292075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Entity Type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74346" y="2114029"/>
            <a:ext cx="292313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Role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721" y="2483718"/>
            <a:ext cx="292313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Satya Nadella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40224" y="2483718"/>
            <a:ext cx="292075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74346" y="2483718"/>
            <a:ext cx="292313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Individual actor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721" y="2853407"/>
            <a:ext cx="292313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Mumbai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40224" y="2853407"/>
            <a:ext cx="292075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74346" y="2853407"/>
            <a:ext cx="292313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Geographic reference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721" y="3223096"/>
            <a:ext cx="292313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40224" y="3223096"/>
            <a:ext cx="292075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74346" y="3223096"/>
            <a:ext cx="292313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Corporate entity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721" y="3592785"/>
            <a:ext cx="292313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40224" y="3592785"/>
            <a:ext cx="292075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74346" y="3592785"/>
            <a:ext cx="292313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Temporal marker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162" y="4023122"/>
            <a:ext cx="8213675" cy="748233"/>
          </a:xfrm>
          <a:prstGeom prst="roundRect">
            <a:avLst>
              <a:gd name="adj" fmla="val 2664"/>
            </a:avLst>
          </a:prstGeom>
          <a:solidFill>
            <a:srgbClr val="B6D6FC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4220542"/>
            <a:ext cx="166092" cy="13290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97062" y="4180880"/>
            <a:ext cx="764887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NER answers the fundamental questions machines cannot answer from raw text alone: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Who? Where? When? Which organization?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98996"/>
            <a:ext cx="1022524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41487"/>
            <a:ext cx="13096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22102"/>
            <a:ext cx="7014195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Unstructured → Structured Intelligence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2041624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Without NER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2415927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Machines process text as a flat sequence of tokens. There is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semantic differentiation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person's name is indistinguishable from a product name or a city.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255838"/>
            <a:ext cx="3902943" cy="829196"/>
          </a:xfrm>
          <a:prstGeom prst="roundRect">
            <a:avLst>
              <a:gd name="adj" fmla="val 2565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470895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343301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Result: Limited understanding, poor automation, no context.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49701" y="2041624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With NER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749701" y="2415927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Machines identify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who, what, where, and when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enabling downstream tasks like relationship extraction, knowledge graph construction, and intelligent automation.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49701" y="3255838"/>
            <a:ext cx="3902943" cy="829196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470895"/>
            <a:ext cx="177180" cy="1417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0398" y="343301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Result: Structured data, semantic reasoning, actionable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97743"/>
            <a:ext cx="5006280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NER is Important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80640" y="1114425"/>
            <a:ext cx="8182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 80% of enterprise data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exists in unstructured formats — emails, PDFs, clinical notes, legal contracts, and social media. NER is the gateway to extracting value from this data.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0640" y="1696715"/>
            <a:ext cx="4024833" cy="1457995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690" y="1715765"/>
            <a:ext cx="3986733" cy="41195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2390031" y="1793007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6984" y="2260699"/>
            <a:ext cx="1852389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Information Extraction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6984" y="2565722"/>
            <a:ext cx="3712146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Automatically pull company names, events, and facts from financial news or research reports.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8452" y="1696715"/>
            <a:ext cx="4024908" cy="1457995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7502" y="1715765"/>
            <a:ext cx="3986808" cy="41195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547917" y="1793007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94796" y="2260699"/>
            <a:ext cx="2034704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Faster Search &amp; Retrieval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94796" y="2565722"/>
            <a:ext cx="371222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engines understand entities, not just keywords — improving relevance and ranking.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640" y="3287688"/>
            <a:ext cx="4024833" cy="1457995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690" y="3306738"/>
            <a:ext cx="3986733" cy="41195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2390031" y="3383979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6984" y="3851672"/>
            <a:ext cx="1857301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Intelligent Automation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984" y="4156695"/>
            <a:ext cx="3712146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Powers chatbots, document processing systems, and AI assistants at scale.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38452" y="3287688"/>
            <a:ext cx="4024908" cy="1457995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7502" y="3306738"/>
            <a:ext cx="3986808" cy="41195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6547917" y="3383979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94796" y="3851672"/>
            <a:ext cx="1806625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Data-Driven Decisions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94796" y="4156695"/>
            <a:ext cx="371222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 in finance, healthcare, cybersecurity, legal analytics, and government intelligence.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5213"/>
            <a:ext cx="1411337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442466"/>
            <a:ext cx="168890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 APPLICATIONS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27844"/>
            <a:ext cx="4797400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NER Across Key Industries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405607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1937147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Search Engines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6119" y="2254746"/>
            <a:ext cx="398725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and Bing use NER to identify people, places, and events — enabling semantic search and context-aware ranking beyond keyword matching.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1405607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0553" y="1937147"/>
            <a:ext cx="218338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Healthcare &amp; Clinical NLP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60553" y="2254746"/>
            <a:ext cx="39873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Extracts diseases, drugs, and symptoms from EHRs. Supports clinical trial matching, pharmacovigilance, and medical research automation.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218706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375024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Finance &amp; Legal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496119" y="4067845"/>
            <a:ext cx="398725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Identifies companies, transactions, and legal clauses. Drives fraud detection, compliance monitoring, and contract analysis.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0553" y="3218706"/>
            <a:ext cx="354360" cy="35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0553" y="375024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Conversational AI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4660553" y="4067845"/>
            <a:ext cx="39873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Extracts intent, locations, products, and dates from user messages — enabling smarter chatbots and virtual assistants.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6842"/>
            <a:ext cx="5773341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NER in Healthcare: Clinical NLP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506364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Clinical Note Example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08720" y="1898377"/>
            <a:ext cx="369034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"Patient diagnosed with </a:t>
            </a:r>
            <a:r>
              <a:rPr lang="en-US" sz="11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2 Diabetes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prescribed </a:t>
            </a:r>
            <a:r>
              <a:rPr lang="en-US" sz="11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Metformin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1898377"/>
            <a:ext cx="19050" cy="45362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511475"/>
            <a:ext cx="3902943" cy="1238399"/>
          </a:xfrm>
          <a:prstGeom prst="roundRect">
            <a:avLst>
              <a:gd name="adj" fmla="val 171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714" y="2606055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91767" y="2606055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2714" y="301726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2 Diabetes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91767" y="301726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Disease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714" y="342847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Metformin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91767" y="342847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49701" y="1506364"/>
            <a:ext cx="245015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Healthcare Applications</a:t>
            </a:r>
            <a:endParaRPr lang="en-US" sz="14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2" y="1902768"/>
            <a:ext cx="212601" cy="21260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210398" y="1898377"/>
            <a:ext cx="140218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EHR Automation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210398" y="2272680"/>
            <a:ext cx="140218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patient data extraction from clinical notes.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2894" y="1902768"/>
            <a:ext cx="212601" cy="21260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50460" y="1898377"/>
            <a:ext cx="1402184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Clinical Trial Matching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250460" y="2505224"/>
            <a:ext cx="140218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Connects eligible patients to suitable studies.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2" y="3473574"/>
            <a:ext cx="212601" cy="21260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0398" y="3469184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Pharmacovigilance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210398" y="3843486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Monitors and flags adverse drug reactions in reports.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8854"/>
            <a:ext cx="683225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NER in Finance, Legal &amp; Cybersecurity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1697534"/>
            <a:ext cx="2622724" cy="1735187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83929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Finance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7877" y="2156892"/>
            <a:ext cx="23392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Extracts company names, transaction details, and financial events from news. Enables fraud detection, sentiment analysis, and compliance monitoring.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697534"/>
            <a:ext cx="2622724" cy="1735187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3402360" y="183929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Legal Industry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402360" y="2156892"/>
            <a:ext cx="23392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Identifies case names, courts, dates, and clauses in contracts. Automates legal research, contract review, and document summarization.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697534"/>
            <a:ext cx="2622724" cy="1735187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166842" y="183929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Cybersecurity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166842" y="2156892"/>
            <a:ext cx="23392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Detects malware names, IP addresses, and threat actors in security reports. Supports real-time threat intelligence and incident response.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592190"/>
            <a:ext cx="8151763" cy="602382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807247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6816" y="3769370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NER pipeline can serve all three domains — with domain-specific fine-tuning for optimal precision.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4820" y="294320"/>
            <a:ext cx="3691682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spaCy for NER in Python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62859" y="881351"/>
            <a:ext cx="833888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spaCy is the industry-standard open-source NLP library for production-ready NER. It offers pretrained pipelines, deep learning integration, and fast inference.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4489" y="1593503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Installation &amp; Usage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74489" y="1880071"/>
            <a:ext cx="3759622" cy="2823865"/>
          </a:xfrm>
          <a:prstGeom prst="roundRect">
            <a:avLst>
              <a:gd name="adj" fmla="val 600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668908" y="1880071"/>
            <a:ext cx="3770784" cy="2823865"/>
          </a:xfrm>
          <a:prstGeom prst="roundRect">
            <a:avLst>
              <a:gd name="adj" fmla="val 600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776101" y="1880071"/>
            <a:ext cx="3658010" cy="305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pip install spacy</a:t>
            </a:r>
            <a:endParaRPr lang="en-US" sz="1000" dirty="0">
              <a:latin typeface="DM Sans" pitchFamily="2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python -m spacy download en_core_web_sm</a:t>
            </a:r>
            <a:endParaRPr lang="en-US" sz="1000" dirty="0">
              <a:latin typeface="DM Sans" pitchFamily="2" charset="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000" dirty="0">
              <a:latin typeface="DM Sans" pitchFamily="2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import spacy</a:t>
            </a:r>
            <a:endParaRPr lang="en-US" sz="1000" dirty="0">
              <a:latin typeface="DM Sans" pitchFamily="2" charset="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000" dirty="0">
              <a:latin typeface="DM Sans" pitchFamily="2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nlp = spacy.load("en_core_web_sm")</a:t>
            </a:r>
            <a:endParaRPr lang="en-US" sz="1000" dirty="0">
              <a:latin typeface="DM Sans" pitchFamily="2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text = "Elon Musk visited India in 2026."</a:t>
            </a:r>
            <a:endParaRPr lang="en-US" sz="1000" dirty="0">
              <a:latin typeface="DM Sans" pitchFamily="2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doc = nlp(text)</a:t>
            </a:r>
            <a:endParaRPr lang="en-US" sz="1000" dirty="0">
              <a:latin typeface="DM Sans" pitchFamily="2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for ent in doc.ents:</a:t>
            </a:r>
            <a:endParaRPr lang="en-US" sz="1000" dirty="0">
              <a:latin typeface="DM Sans" pitchFamily="2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print(ent.text, </a:t>
            </a:r>
            <a:r>
              <a:rPr lang="en-US" sz="1000" dirty="0" err="1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ent.label</a:t>
            </a:r>
            <a:r>
              <a:rPr lang="en-US" sz="1000" dirty="0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_)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1000" dirty="0">
              <a:latin typeface="DM Sans" pitchFamily="2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000" dirty="0">
              <a:latin typeface="DM Sans" pitchFamily="2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# Elon Musk   PERSON</a:t>
            </a:r>
            <a:endParaRPr lang="en-US" sz="1000" dirty="0">
              <a:latin typeface="DM Sans" pitchFamily="2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# India       GPE</a:t>
            </a:r>
            <a:endParaRPr lang="en-US" sz="1000" dirty="0">
              <a:latin typeface="DM Sans" pitchFamily="2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# 2026        DATE</a:t>
            </a:r>
            <a:endParaRPr lang="en-US" sz="1000" dirty="0">
              <a:latin typeface="DM Sans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14503" y="1593503"/>
            <a:ext cx="1953071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Common Entity Labels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14503" y="1880071"/>
            <a:ext cx="3759622" cy="1688306"/>
          </a:xfrm>
          <a:prstGeom prst="roundRect">
            <a:avLst>
              <a:gd name="adj" fmla="val 100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9265" y="1884834"/>
            <a:ext cx="3750097" cy="2797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32300" y="1943546"/>
            <a:ext cx="210390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09693" y="1943546"/>
            <a:ext cx="210390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19265" y="2164631"/>
            <a:ext cx="3750097" cy="27979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32300" y="2223343"/>
            <a:ext cx="210390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09693" y="2223343"/>
            <a:ext cx="210390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 names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19265" y="2444428"/>
            <a:ext cx="3750097" cy="2797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32300" y="2503140"/>
            <a:ext cx="210390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09693" y="2503140"/>
            <a:ext cx="210390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19265" y="2724224"/>
            <a:ext cx="3750097" cy="27979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32300" y="2782937"/>
            <a:ext cx="210390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09693" y="2782937"/>
            <a:ext cx="210390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Countries / Cities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19265" y="3004021"/>
            <a:ext cx="3750097" cy="2797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32300" y="3062734"/>
            <a:ext cx="210390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09693" y="3062734"/>
            <a:ext cx="210390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 expressions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19265" y="3283818"/>
            <a:ext cx="3750097" cy="27979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32300" y="3342531"/>
            <a:ext cx="210390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09693" y="3342531"/>
            <a:ext cx="210390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Monetary values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91658" y="3695942"/>
            <a:ext cx="3759622" cy="417984"/>
          </a:xfrm>
          <a:prstGeom prst="roundRect">
            <a:avLst>
              <a:gd name="adj" fmla="val 4054"/>
            </a:avLst>
          </a:prstGeom>
          <a:solidFill>
            <a:srgbClr val="B6FCB8"/>
          </a:solidFill>
          <a:ln/>
        </p:spPr>
      </p:sp>
      <p:sp>
        <p:nvSpPr>
          <p:cNvPr id="32" name="Text 29"/>
          <p:cNvSpPr/>
          <p:nvPr/>
        </p:nvSpPr>
        <p:spPr>
          <a:xfrm>
            <a:off x="4714503" y="3736367"/>
            <a:ext cx="373677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spaCy's pipeline runs: Tokenizer → POS Tagger → Parser → NER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522833"/>
            <a:ext cx="5243215" cy="4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spaCy Pretrained Model Tiers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488379" y="1255440"/>
            <a:ext cx="8624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spaCy offers four English model sizes, enabling you to balance speed and accuracy based on your deployment requirements.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8379" y="1631379"/>
            <a:ext cx="8167241" cy="2026295"/>
          </a:xfrm>
          <a:prstGeom prst="roundRect">
            <a:avLst>
              <a:gd name="adj" fmla="val 103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2743" y="1723281"/>
            <a:ext cx="18072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66652" y="1723281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Size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98181" y="1723281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9709" y="1723281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61237" y="1723281"/>
            <a:ext cx="18072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2743" y="2123777"/>
            <a:ext cx="180729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en_core_web_sm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66652" y="2123777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98181" y="2123777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Very Fast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29709" y="2123777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61237" y="2123777"/>
            <a:ext cx="18072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Prototyping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2743" y="2529036"/>
            <a:ext cx="180729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en_core_web_md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66652" y="2529036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Medium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98181" y="2529036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29709" y="2529036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61237" y="2529036"/>
            <a:ext cx="18072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General use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2743" y="2934295"/>
            <a:ext cx="180729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en_core_web_lg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66652" y="2934295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98181" y="2934295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29709" y="2934295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61237" y="2934295"/>
            <a:ext cx="18072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2743" y="3339554"/>
            <a:ext cx="180729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en_core_web_trf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66652" y="3339554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98181" y="3339554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29709" y="3339554"/>
            <a:ext cx="1804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61237" y="3339554"/>
            <a:ext cx="18072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 accuracy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8379" y="3812158"/>
            <a:ext cx="8167241" cy="808434"/>
          </a:xfrm>
          <a:prstGeom prst="roundRect">
            <a:avLst>
              <a:gd name="adj" fmla="val 2589"/>
            </a:avLst>
          </a:prstGeom>
          <a:solidFill>
            <a:srgbClr val="FCF2B5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6" y="4021559"/>
            <a:ext cx="174427" cy="13952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41859" y="3984352"/>
            <a:ext cx="757423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Limitation: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General pretrained models often underperform on domain-specific entities — medical terminology, legal jargon, and financial instruments require custom fine-tuning.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66340"/>
            <a:ext cx="5804892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Architectures for NER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32" y="1902098"/>
            <a:ext cx="5273278" cy="1908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1222" y="3340941"/>
            <a:ext cx="1844264" cy="173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21222" y="2765566"/>
            <a:ext cx="1844264" cy="173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BiLSTM / CNN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21222" y="2184320"/>
            <a:ext cx="1844264" cy="173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Traditional ML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14740" y="1044625"/>
            <a:ext cx="2131888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Transformers Win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14740" y="1370186"/>
            <a:ext cx="2699817" cy="960611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00452" y="1370186"/>
            <a:ext cx="57150" cy="960611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0" name="Text 7"/>
          <p:cNvSpPr/>
          <p:nvPr/>
        </p:nvSpPr>
        <p:spPr>
          <a:xfrm>
            <a:off x="6195864" y="1508447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BiLSTM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195864" y="1820466"/>
            <a:ext cx="238043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sequential context in both left and right directions.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14740" y="2439293"/>
            <a:ext cx="2699817" cy="960611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00452" y="2439293"/>
            <a:ext cx="57150" cy="960611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4" name="Text 11"/>
          <p:cNvSpPr/>
          <p:nvPr/>
        </p:nvSpPr>
        <p:spPr>
          <a:xfrm>
            <a:off x="6195864" y="2577554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CNN-Based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95864" y="2889572"/>
            <a:ext cx="238043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Extracts local character and word-level patterns efficiently.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14740" y="3508400"/>
            <a:ext cx="2699817" cy="1146646"/>
          </a:xfrm>
          <a:prstGeom prst="roundRect">
            <a:avLst>
              <a:gd name="adj" fmla="val 598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00452" y="3508400"/>
            <a:ext cx="57150" cy="1146646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8" name="Text 15"/>
          <p:cNvSpPr/>
          <p:nvPr/>
        </p:nvSpPr>
        <p:spPr>
          <a:xfrm>
            <a:off x="6195864" y="3646661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BERT / RoBERTa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195864" y="3958679"/>
            <a:ext cx="238043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Understands long-range dependencies and contextual meaning. State-of-the-art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403845"/>
            <a:ext cx="1199704" cy="255240"/>
          </a:xfrm>
          <a:prstGeom prst="roundRect">
            <a:avLst>
              <a:gd name="adj" fmla="val 6457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63017" y="444996"/>
            <a:ext cx="1492151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0640" y="712291"/>
            <a:ext cx="6205165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Evaluation Metrics for NER Systems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80640" y="1495425"/>
            <a:ext cx="2334295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Three Core Metrics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0640" y="1853654"/>
            <a:ext cx="438105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Of all predicted entities, how many are correct?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0640" y="2238301"/>
            <a:ext cx="3923854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40" y="2238301"/>
            <a:ext cx="3923854" cy="3981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0640" y="2804740"/>
            <a:ext cx="438105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Recall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Of all actual entities, how many were found?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0640" y="3189387"/>
            <a:ext cx="3923854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40" y="3189387"/>
            <a:ext cx="3923854" cy="3981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640" y="3755827"/>
            <a:ext cx="438105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F1-Score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Harmonic mean balancing both metrics.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0640" y="4140473"/>
            <a:ext cx="3923854" cy="4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640" y="4140473"/>
            <a:ext cx="3923854" cy="40019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44269" y="1495425"/>
            <a:ext cx="2259732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Benchmark Results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744269" y="1870323"/>
            <a:ext cx="3923854" cy="1565374"/>
          </a:xfrm>
          <a:prstGeom prst="roundRect">
            <a:avLst>
              <a:gd name="adj" fmla="val 131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86325" y="1959620"/>
            <a:ext cx="213739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Metric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845871" y="1959620"/>
            <a:ext cx="213739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886325" y="2349773"/>
            <a:ext cx="213739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845871" y="2349773"/>
            <a:ext cx="213739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92%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886325" y="2739926"/>
            <a:ext cx="213739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Recall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845871" y="2739926"/>
            <a:ext cx="213739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89%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886325" y="3130079"/>
            <a:ext cx="213739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 Score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845871" y="3130079"/>
            <a:ext cx="213739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90.5%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744269" y="3585344"/>
            <a:ext cx="3923854" cy="1004590"/>
          </a:xfrm>
          <a:prstGeom prst="roundRect">
            <a:avLst>
              <a:gd name="adj" fmla="val 2051"/>
            </a:avLst>
          </a:prstGeom>
          <a:solidFill>
            <a:srgbClr val="B6FCB8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1563" y="3789164"/>
            <a:ext cx="171599" cy="13729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90455" y="3752627"/>
            <a:ext cx="334037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High-quality transformer-based NER systems consistently achieve </a:t>
            </a:r>
            <a:r>
              <a:rPr lang="en-US" sz="10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 &gt; 90%</a:t>
            </a: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benchmark datasets like CoNLL-2003.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4788"/>
            <a:ext cx="6271171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Modern NER Technology Stack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71179"/>
            <a:ext cx="141759" cy="1417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1775371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2"/>
          <p:cNvSpPr/>
          <p:nvPr/>
        </p:nvSpPr>
        <p:spPr>
          <a:xfrm>
            <a:off x="496119" y="188431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96119" y="2201912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universal language for NLP and ML. Rich ecosystem of libraries and frameworks.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42" y="1571179"/>
            <a:ext cx="141759" cy="14175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42842" y="1775371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5"/>
          <p:cNvSpPr/>
          <p:nvPr/>
        </p:nvSpPr>
        <p:spPr>
          <a:xfrm>
            <a:off x="4642842" y="188431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spaCy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42842" y="2201912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Production-ready NLP pipelines with pretrained models and fast inference.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921273"/>
            <a:ext cx="141759" cy="14175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96119" y="3125465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8"/>
          <p:cNvSpPr/>
          <p:nvPr/>
        </p:nvSpPr>
        <p:spPr>
          <a:xfrm>
            <a:off x="496119" y="3234407"/>
            <a:ext cx="235297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 (HuggingFace)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96119" y="3552006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BERT, RoBERTa, DistilBERT — fine-tunable on domain-specific NER datasets.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2842" y="2921273"/>
            <a:ext cx="141759" cy="14175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642842" y="3125465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1"/>
          <p:cNvSpPr/>
          <p:nvPr/>
        </p:nvSpPr>
        <p:spPr>
          <a:xfrm>
            <a:off x="4642842" y="3234407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LLM Integration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642842" y="3552006"/>
            <a:ext cx="400503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enterprise NER pipelines integrate with LLMs and retrieval-augmented systems for maximum contextual understanding.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5668" y="510332"/>
            <a:ext cx="5364063" cy="64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96119" y="1471166"/>
            <a:ext cx="8151763" cy="10567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1676623"/>
            <a:ext cx="4004965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181838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Foundation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7877" y="2135981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NER is a core NLP task that converts unstructured text into structured, machine-readable intelligence.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676623"/>
            <a:ext cx="4005039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784601" y="181838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84601" y="2135981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Deployed across search, healthcare, finance, legal, cybersecurity, and conversational AI at scale.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873127"/>
            <a:ext cx="4004965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37877" y="301488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Technology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7877" y="3332485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spaCy for production pipelines; Transformers (BERT, RoBERTa) for state-of-the-art accuracy.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873127"/>
            <a:ext cx="4005039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784601" y="301488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84601" y="3332485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Measured by Precision, Recall, and F1-Score. Best systems exceed F1 &gt; 90% on benchmarks.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8720" y="4246811"/>
            <a:ext cx="8396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"NER enables machines not just to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text — but to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the important entities hidden inside it.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4087341"/>
            <a:ext cx="19050" cy="545753"/>
          </a:xfrm>
          <a:prstGeom prst="rect">
            <a:avLst/>
          </a:prstGeom>
          <a:solidFill>
            <a:srgbClr val="E04F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1219</Words>
  <Application>Microsoft Macintosh PowerPoint</Application>
  <PresentationFormat>On-screen Show (16:9)</PresentationFormat>
  <Paragraphs>226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PT Serif Light</vt:lpstr>
      <vt:lpstr>PT Serif</vt:lpstr>
      <vt:lpstr>Calibri</vt:lpstr>
      <vt:lpstr>DM Sans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5</cp:revision>
  <dcterms:created xsi:type="dcterms:W3CDTF">2026-05-26T07:21:13Z</dcterms:created>
  <dcterms:modified xsi:type="dcterms:W3CDTF">2026-06-03T10:41:26Z</dcterms:modified>
</cp:coreProperties>
</file>