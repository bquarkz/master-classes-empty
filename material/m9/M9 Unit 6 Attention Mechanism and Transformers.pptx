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DM Sans" pitchFamily="2" charset="0"/>
      <p:regular r:id="rId23"/>
      <p:bold r:id="rId24"/>
      <p:italic r:id="rId25"/>
      <p:boldItalic r:id="rId26"/>
    </p:embeddedFont>
    <p:embeddedFont>
      <p:font typeface="PT Serif" panose="020A0603040505020204" pitchFamily="18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43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2756"/>
            <a:ext cx="8151763" cy="1283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Attention Mechanism and Transformers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96119" y="3321769"/>
            <a:ext cx="8151763" cy="10567"/>
          </a:xfrm>
          <a:prstGeom prst="rect">
            <a:avLst/>
          </a:prstGeom>
          <a:solidFill>
            <a:srgbClr val="383838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67519" y="3527227"/>
            <a:ext cx="83803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"Teaching machines what to focus on in language."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0101"/>
            <a:ext cx="4359101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96119" y="214878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structured journey from the motivation behind attention to the world's most powerful language models.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53506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756967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865909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Attention Mechanism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6119" y="318350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Intuition, Q, K, V components, and score computation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0601" y="253506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756967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3260601" y="2865909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260601" y="318350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Architecture, self-attention, multi-head attention, positional encoding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25083" y="253506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2756967"/>
            <a:ext cx="2622724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6025083" y="2865909"/>
            <a:ext cx="189458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Models &amp; Applications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025083" y="318350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BERT, GPT, T5, and the landscape of modern NLP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85589"/>
            <a:ext cx="981298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28080"/>
            <a:ext cx="126838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08695"/>
            <a:ext cx="6216848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the Attention Mechanism?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928217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Idea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2302520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Attention is a deep learning technique that lets a model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the most relevant words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when processing language — rather than treating every token equally.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3142431"/>
            <a:ext cx="3902943" cy="1056010"/>
          </a:xfrm>
          <a:prstGeom prst="roundRect">
            <a:avLst>
              <a:gd name="adj" fmla="val 2014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357488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3319611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animal didn't cross the road because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was tired." → The model should link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animal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not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road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49701" y="1928217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It Was Needed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749701" y="230252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Traditional RNNs and LSTMs struggled with: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49701" y="2656880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Long-range dependencies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Forgetting earlier context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Capturing non-adjacent relationships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49701" y="3563987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Attention dynamically assigns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importance scores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each word, solving these bottlenecks.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549920"/>
            <a:ext cx="932855" cy="270346"/>
          </a:xfrm>
          <a:prstGeom prst="roundRect">
            <a:avLst>
              <a:gd name="adj" fmla="val 6194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858" y="596503"/>
            <a:ext cx="121309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8379" y="875184"/>
            <a:ext cx="6756276" cy="4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Query (Q) — "What Am I Looking For?"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488379" y="1539106"/>
            <a:ext cx="8624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word generates a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vector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learned representation of what information it needs from the surrounding context.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8379" y="2052414"/>
            <a:ext cx="22887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Intuition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8379" y="2418680"/>
            <a:ext cx="391343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the model processes the word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"sat"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cat sat on the mat"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the query asks: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8379" y="2985195"/>
            <a:ext cx="3913436" cy="490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performed this action?</a:t>
            </a:r>
            <a:endParaRPr lang="en-US" sz="110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did it happen?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8379" y="3630662"/>
            <a:ext cx="3913436" cy="808434"/>
          </a:xfrm>
          <a:prstGeom prst="roundRect">
            <a:avLst>
              <a:gd name="adj" fmla="val 2589"/>
            </a:avLst>
          </a:prstGeom>
          <a:solidFill>
            <a:srgbClr val="FFCDB3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6" y="3840063"/>
            <a:ext cx="174427" cy="13952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41859" y="3802856"/>
            <a:ext cx="33204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Queries search for relevance — they don't carry content themselves.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46947" y="2052414"/>
            <a:ext cx="22887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Mathematical Form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46947" y="2455143"/>
            <a:ext cx="4370636" cy="24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endParaRPr lang="en-US" sz="1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947" y="2455143"/>
            <a:ext cx="3913436" cy="2422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46947" y="2871192"/>
            <a:ext cx="3913436" cy="490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= input word embeddings</a:t>
            </a:r>
            <a:endParaRPr lang="en-US" sz="1100" dirty="0"/>
          </a:p>
          <a:p>
            <a:pPr marL="342900" indent="-342900">
              <a:lnSpc>
                <a:spcPct val="132000"/>
              </a:lnSpc>
              <a:buSzPct val="100000"/>
              <a:buChar char="•"/>
            </a:pPr>
            <a:r>
              <a:rPr lang="en-IN" sz="1100" b="1" dirty="0">
                <a:latin typeface="DM Sans" pitchFamily="2" charset="0"/>
              </a:rPr>
              <a:t>W</a:t>
            </a:r>
            <a:r>
              <a:rPr lang="en-IN" sz="900" b="1" dirty="0">
                <a:latin typeface="DM Sans" pitchFamily="2" charset="0"/>
              </a:rPr>
              <a:t>Q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= learned query weight matrix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46947" y="3485778"/>
            <a:ext cx="391343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vectors are not hand-crafted — they emerge from training via backpropagation.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4241"/>
            <a:ext cx="977057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521494"/>
            <a:ext cx="125462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06872"/>
            <a:ext cx="563827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(K) — "What Do I Contain?"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48463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word also generates a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vector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which represents the content it holds and signals how relevant it is to incoming queries.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239491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Keys Work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6119" y="261379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compares the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the current word against the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Keys of all other words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determine relevance.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3453705"/>
            <a:ext cx="3902943" cy="1056010"/>
          </a:xfrm>
          <a:prstGeom prst="roundRect">
            <a:avLst>
              <a:gd name="adj" fmla="val 2014"/>
            </a:avLst>
          </a:prstGeom>
          <a:solidFill>
            <a:srgbClr val="B6D6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668762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6816" y="3630885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</a:t>
            </a:r>
            <a:r>
              <a:rPr lang="en-US" sz="1100" i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teacher explained the lesson clearly"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the query for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"explained"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strongly matches the key for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"teacher."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49701" y="2239491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Mathematical Form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749701" y="2651447"/>
            <a:ext cx="4360143" cy="245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701" y="2651447"/>
            <a:ext cx="3902943" cy="2457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49701" y="3076649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= input embeddings</a:t>
            </a:r>
            <a:endParaRPr lang="en-US" sz="1100" dirty="0"/>
          </a:p>
          <a:p>
            <a:pPr marL="342900" indent="-342900">
              <a:lnSpc>
                <a:spcPct val="133000"/>
              </a:lnSpc>
              <a:buSzPct val="100000"/>
              <a:buChar char="•"/>
            </a:pPr>
            <a:r>
              <a:rPr lang="en-IN" sz="1100" b="1" dirty="0">
                <a:latin typeface="DM Sans" pitchFamily="2" charset="0"/>
              </a:rPr>
              <a:t>W</a:t>
            </a:r>
            <a:r>
              <a:rPr lang="en-IN" sz="800" b="1" dirty="0">
                <a:latin typeface="DM Sans" pitchFamily="2" charset="0"/>
              </a:rPr>
              <a:t>K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= learned key weight matrix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49701" y="370738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Query–Key similarity → high attention score → stronger contextual link.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0835"/>
            <a:ext cx="97876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538088"/>
            <a:ext cx="125633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23466"/>
            <a:ext cx="7541791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Value (V) — "What Should I Pass Forward?"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50122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 relevance is determined by Q and K, the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 vector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carries the actual content that gets aggregated into the final output.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114327"/>
            <a:ext cx="2622724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37877" y="225608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Query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7877" y="2573685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Asks the question: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"Who or what is relevant to me?"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114327"/>
            <a:ext cx="2622724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3402360" y="225608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02360" y="2573685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Answers: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"Here is what I represent — am I relevant?"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114327"/>
            <a:ext cx="2622724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166842" y="2256086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Value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166842" y="2573685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Delivers: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"Here is the actual information I contribute."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470300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Mathematical Form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96119" y="3882256"/>
            <a:ext cx="4360143" cy="245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882256"/>
            <a:ext cx="3902943" cy="24579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749701" y="3470300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Insight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4749701" y="384460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final output is a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weighted sum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all Value vectors — words that score higher contribute proportionally more to the result.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400199"/>
            <a:ext cx="1140693" cy="260821"/>
          </a:xfrm>
          <a:prstGeom prst="roundRect">
            <a:avLst>
              <a:gd name="adj" fmla="val 6421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72095" y="442020"/>
            <a:ext cx="14304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ATTENTION SCORE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8379" y="715938"/>
            <a:ext cx="6503194" cy="4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Computing Attention Scores — Part 1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488379" y="1228725"/>
            <a:ext cx="355974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Step 1: Dot Product of Query and Keys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8379" y="1663675"/>
            <a:ext cx="8624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Attention begins by measuring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similarity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between the current word's Query and every other word's Key: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8379" y="2058963"/>
            <a:ext cx="8624441" cy="24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" y="2058963"/>
            <a:ext cx="8167241" cy="2422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8379" y="2475012"/>
            <a:ext cx="8624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higher dot product indicates stronger contextual relevance between two words.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8379" y="2850952"/>
            <a:ext cx="8167241" cy="808434"/>
          </a:xfrm>
          <a:prstGeom prst="roundRect">
            <a:avLst>
              <a:gd name="adj" fmla="val 2589"/>
            </a:avLst>
          </a:prstGeom>
          <a:solidFill>
            <a:srgbClr val="B6D6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06" y="3060353"/>
            <a:ext cx="174427" cy="1395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41859" y="3023146"/>
            <a:ext cx="757423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Processing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"chased"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</a:t>
            </a:r>
            <a:r>
              <a:rPr lang="en-US" sz="1100" i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dog chased the ball"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"dog"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scores high (subject),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"ball"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scores moderately (object). The model learns these relationships automatically.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8379" y="3865438"/>
            <a:ext cx="22887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This Works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8379" y="4300389"/>
            <a:ext cx="81672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dot product captures directional alignment in high-dimensional vector space — semantically related words tend to have vectors pointing in similar directions.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48085"/>
            <a:ext cx="1158255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90575"/>
            <a:ext cx="144534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ATTENTION SCORE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71190"/>
            <a:ext cx="6598965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Computing Attention Scores — Part 2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48954"/>
            <a:ext cx="2622724" cy="26464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01180" y="184770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56927" y="2335039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Scale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6927" y="2652638"/>
            <a:ext cx="2301106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Divide by </a:t>
            </a:r>
            <a:r>
              <a:rPr lang="en-US" sz="11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√d_k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prevent exploding gradients from large dot products.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6927" y="3517255"/>
            <a:ext cx="2301106" cy="47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27" y="3517255"/>
            <a:ext cx="2301106" cy="47245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1748954"/>
            <a:ext cx="2622724" cy="26464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65662" y="184770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3421410" y="2335039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Softmax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421410" y="2652638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softmax to convert raw scores into a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probability distribution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sums to 1.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421410" y="3512493"/>
            <a:ext cx="2301106" cy="476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1410" y="3512493"/>
            <a:ext cx="2301106" cy="476324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1748954"/>
            <a:ext cx="2622724" cy="26464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30145" y="184770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6185892" y="2335039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Weighted Sum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6185892" y="2652638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Multiply probabilities by Value vectors to produce the final contextual representation.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185892" y="3512493"/>
            <a:ext cx="2301106" cy="722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892" y="3512493"/>
            <a:ext cx="2301106" cy="7221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361876"/>
            <a:ext cx="1081385" cy="248543"/>
          </a:xfrm>
          <a:prstGeom prst="roundRect">
            <a:avLst>
              <a:gd name="adj" fmla="val 6310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0469" y="405780"/>
            <a:ext cx="137234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WORKED EXAMPLE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349" y="658564"/>
            <a:ext cx="6991871" cy="42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Attention in Action: Resolving Coreference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3355" y="1403524"/>
            <a:ext cx="8490496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"The animal didn't cross the road because </a:t>
            </a: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was tired."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349" y="1268016"/>
            <a:ext cx="14288" cy="471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457349" y="1995860"/>
            <a:ext cx="21725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Challenge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349" y="2330723"/>
            <a:ext cx="395525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does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"it"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refer to —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animal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road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? Humans resolve this instantly. Attention gives machines the same ability.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349" y="2852886"/>
            <a:ext cx="225883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Attention Scores for "it"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349" y="3202781"/>
            <a:ext cx="3955256" cy="1443335"/>
          </a:xfrm>
          <a:prstGeom prst="roundRect">
            <a:avLst>
              <a:gd name="adj" fmla="val 135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2782" y="3284562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8029" y="3284562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Attention 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2782" y="3644205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animal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8029" y="3644205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🔴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High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2782" y="4003849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road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8029" y="4003849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⚪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2782" y="4363492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tired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8029" y="4363492"/>
            <a:ext cx="216634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🟠</a:t>
            </a: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Moderate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36157" y="1995860"/>
            <a:ext cx="21725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"animal" Wins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6157" y="2330723"/>
            <a:ext cx="395525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Tired" is semantically associated with living beings, not roads. The attention mechanism encodes this world knowledge through training.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157" y="3053730"/>
            <a:ext cx="2172519" cy="21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Downstream Benefits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36157" y="3388593"/>
            <a:ext cx="3955256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translation</a:t>
            </a:r>
            <a:endParaRPr lang="en-US" sz="11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Summarization</a:t>
            </a:r>
            <a:endParaRPr lang="en-US" sz="11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answering</a:t>
            </a:r>
            <a:endParaRPr lang="en-US" sz="11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Conversational AI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2330"/>
            <a:ext cx="1028402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84820"/>
            <a:ext cx="131549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65436"/>
            <a:ext cx="4496395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Are Transformers?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684958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Definition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2059260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Transformers are deep learning architectures built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entirely on attention mechanisms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no recurrence, no convolutions.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8720" y="2899172"/>
            <a:ext cx="41475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"Attention Is All You Need" — Vaswani et al., 2017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2899172"/>
            <a:ext cx="19050" cy="226814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9" name="Text 7"/>
          <p:cNvSpPr/>
          <p:nvPr/>
        </p:nvSpPr>
        <p:spPr>
          <a:xfrm>
            <a:off x="496119" y="3285455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Key Shift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96119" y="3659758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RNNs process words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sequentially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Transformers process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words simultaneously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enabling massive parallelism and faster training.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49701" y="1684958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Components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49701" y="2076971"/>
            <a:ext cx="1880592" cy="1111448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1460" y="2218730"/>
            <a:ext cx="159707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Encoder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91460" y="2593032"/>
            <a:ext cx="15970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Reads and encodes input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72052" y="2076971"/>
            <a:ext cx="1880592" cy="1111448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6913811" y="2218730"/>
            <a:ext cx="159707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Decoder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913811" y="2593032"/>
            <a:ext cx="15970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Generates output sequence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49701" y="3330178"/>
            <a:ext cx="1880592" cy="1111448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4891460" y="3471937"/>
            <a:ext cx="159707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Self-Attention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891460" y="3846240"/>
            <a:ext cx="15970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Contextualizes each word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72052" y="3330178"/>
            <a:ext cx="1880592" cy="1111448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6913811" y="3471937"/>
            <a:ext cx="159707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FFN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13811" y="3846240"/>
            <a:ext cx="15970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Per-position transformation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8379" y="511522"/>
            <a:ext cx="1385962" cy="270346"/>
          </a:xfrm>
          <a:prstGeom prst="roundRect">
            <a:avLst>
              <a:gd name="adj" fmla="val 6194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858" y="558105"/>
            <a:ext cx="1666205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INSIDE TRANSFORMERS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8379" y="836786"/>
            <a:ext cx="8571086" cy="4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Self-Attention: Every Word Attends to Every Word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488379" y="1500708"/>
            <a:ext cx="8624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self-attention,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word generates its own Q, K, and V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and attends to all positions in the sequence, including itself.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8379" y="2014017"/>
            <a:ext cx="22887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8379" y="2380283"/>
            <a:ext cx="391343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Consider the word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"bank"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Without context, its meaning is ambiguous. Self-attention resolves it: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8379" y="2946797"/>
            <a:ext cx="3913436" cy="490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0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river bank"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attends to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river, water, shore</a:t>
            </a:r>
            <a:endParaRPr lang="en-US" sz="1100" dirty="0"/>
          </a:p>
          <a:p>
            <a:pPr marL="342900" indent="-342900" algn="l">
              <a:lnSpc>
                <a:spcPct val="132000"/>
              </a:lnSpc>
              <a:buSzPct val="100000"/>
              <a:buChar char="•"/>
            </a:pP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"financial bank"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attends to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money, deposit, loan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8379" y="3561383"/>
            <a:ext cx="391343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word receives a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 contextual representation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each time.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6947" y="2014017"/>
            <a:ext cx="22887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Per-Word Process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46947" y="2397398"/>
            <a:ext cx="313953" cy="3139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4794014" y="2416969"/>
            <a:ext cx="219745" cy="274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198269" y="2445321"/>
            <a:ext cx="18315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Generate Q, K, V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46947" y="2986088"/>
            <a:ext cx="313953" cy="3139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4794014" y="3005658"/>
            <a:ext cx="219745" cy="274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98269" y="3034010"/>
            <a:ext cx="209639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Compute attention scores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46947" y="3574777"/>
            <a:ext cx="313953" cy="3139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4794014" y="3594348"/>
            <a:ext cx="219745" cy="274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198269" y="3622700"/>
            <a:ext cx="18315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Apply softmax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46947" y="4163467"/>
            <a:ext cx="313953" cy="313953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4794014" y="4183038"/>
            <a:ext cx="219745" cy="274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198269" y="4211389"/>
            <a:ext cx="216522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Produce contextual output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029" y="274067"/>
            <a:ext cx="694209" cy="177850"/>
          </a:xfrm>
          <a:prstGeom prst="roundRect">
            <a:avLst>
              <a:gd name="adj" fmla="val 6726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97546" y="308670"/>
            <a:ext cx="1022375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133029" y="479896"/>
            <a:ext cx="4035400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Encoder–Decoder Architecture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29" y="912019"/>
            <a:ext cx="6877869" cy="30950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46816" y="1058028"/>
            <a:ext cx="1203623" cy="195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Encoder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46816" y="1306234"/>
            <a:ext cx="1203623" cy="253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Reads input and builds context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67878" y="3379300"/>
            <a:ext cx="1210236" cy="195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Attention Bridge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67877" y="3627506"/>
            <a:ext cx="1474769" cy="253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Cross-attention links encoder to decoder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42647" y="1034882"/>
            <a:ext cx="1203622" cy="195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Decoder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42646" y="1283088"/>
            <a:ext cx="1445833" cy="253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Generates output tokens sequentially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33029" y="4155877"/>
            <a:ext cx="17654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Encoder Role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3029" y="4389388"/>
            <a:ext cx="3317304" cy="456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Reads the full input sequence</a:t>
            </a:r>
            <a:endParaRPr lang="en-US" sz="11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Builds rich contextual representations</a:t>
            </a:r>
            <a:endParaRPr lang="en-US" sz="11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Stacks multiple attention layers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98281" y="4155877"/>
            <a:ext cx="176547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Decoder Role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698281" y="4389388"/>
            <a:ext cx="3317304" cy="456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Attends to encoder outputs</a:t>
            </a:r>
            <a:endParaRPr lang="en-US" sz="11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Predicts next token at each step</a:t>
            </a:r>
            <a:endParaRPr lang="en-US" sz="1100" dirty="0"/>
          </a:p>
          <a:p>
            <a:pPr marL="342900" indent="-342900" algn="l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"Bonjour"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"Hello"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901" y="431453"/>
            <a:ext cx="1386855" cy="249882"/>
          </a:xfrm>
          <a:prstGeom prst="roundRect">
            <a:avLst>
              <a:gd name="adj" fmla="val 6489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53938" y="471934"/>
            <a:ext cx="1681981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MULTI-HEAD ATTENTION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2901" y="732830"/>
            <a:ext cx="8198197" cy="886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Multi-Head Attention: Learning Multiple Relationships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72901" y="1812727"/>
            <a:ext cx="81981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Instead of computing attention once, transformers run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attention heads in parallel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each learning a different type of linguistic relationship.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2901" y="2379836"/>
            <a:ext cx="4034730" cy="818183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7013" y="2533948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Head 1 – Syntax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7013" y="2832795"/>
            <a:ext cx="37265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Learns subject–verb agreement and grammatical structure.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36368" y="2379836"/>
            <a:ext cx="4034730" cy="818183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0480" y="2533948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Head 2 – Semantics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90480" y="2832795"/>
            <a:ext cx="37265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word meaning and semantic similarity.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901" y="3326755"/>
            <a:ext cx="4034730" cy="1029295"/>
          </a:xfrm>
          <a:prstGeom prst="roundRect">
            <a:avLst>
              <a:gd name="adj" fmla="val 196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013" y="3480867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Head 3 – Coreference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7013" y="3779713"/>
            <a:ext cx="37265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Resolves pronouns and entity references across the sentence.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36368" y="3326755"/>
            <a:ext cx="4034730" cy="1029295"/>
          </a:xfrm>
          <a:prstGeom prst="roundRect">
            <a:avLst>
              <a:gd name="adj" fmla="val 196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0480" y="3480867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Head 4 – Position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90480" y="3779713"/>
            <a:ext cx="37265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Tracks relative positions and long-range dependencies.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2901" y="4500935"/>
            <a:ext cx="86553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head outputs are </a:t>
            </a: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concatenated and projected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giving the model a richer, multi-perspective representation of every word.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7119"/>
            <a:ext cx="1426666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454372"/>
            <a:ext cx="170423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POSITIONAL ENCODING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39750"/>
            <a:ext cx="8326859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Positional Encoding &amp; Transformer Advantages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559272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193357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Since transformers process all tokens </a:t>
            </a:r>
            <a:r>
              <a:rPr lang="en-US" sz="110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simultaneously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they have no built-in sense of word order.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96119" y="2546672"/>
            <a:ext cx="3902943" cy="829196"/>
          </a:xfrm>
          <a:prstGeom prst="roundRect">
            <a:avLst>
              <a:gd name="adj" fmla="val 2565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2761729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56816" y="2723852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"Dog bites man" vs. "Man bites dog" — same words, opposite meanings. Order matters.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3535338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Solution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96119" y="3909640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Positional encodings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are added to word embeddings before they enter the transformer — injecting sequential position information using sine and cosine functions.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49701" y="1559272"/>
            <a:ext cx="324274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Transformers Dominate NLP</a:t>
            </a:r>
            <a:endParaRPr lang="en-US" sz="14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2" y="1955676"/>
            <a:ext cx="212601" cy="2126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0398" y="1951286"/>
            <a:ext cx="1402184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Parallel Processing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210398" y="2558132"/>
            <a:ext cx="140218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tokens processed simultaneously → faster training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2894" y="1955676"/>
            <a:ext cx="212601" cy="21260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50460" y="1951286"/>
            <a:ext cx="1402184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Long-Range Dependencies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250460" y="2558132"/>
            <a:ext cx="140218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connections between any two tokens</a:t>
            </a:r>
            <a:endParaRPr lang="en-US" sz="11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2" y="3526482"/>
            <a:ext cx="212601" cy="21260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10398" y="3522092"/>
            <a:ext cx="140218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Scalability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5210398" y="3896395"/>
            <a:ext cx="140218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Scales efficiently to billions of parameters</a:t>
            </a:r>
            <a:endParaRPr lang="en-US" sz="11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2894" y="3526482"/>
            <a:ext cx="212601" cy="21260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50460" y="3522092"/>
            <a:ext cx="140218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State-of-the-Art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250460" y="3896395"/>
            <a:ext cx="140218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results across translation, summarization, QA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68859"/>
            <a:ext cx="1226418" cy="266402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11349"/>
            <a:ext cx="151350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LANDSCAPE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91964"/>
            <a:ext cx="5168726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Popular Transformer Models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6119" y="1869728"/>
            <a:ext cx="2622724" cy="1416174"/>
          </a:xfrm>
          <a:prstGeom prst="roundRect">
            <a:avLst>
              <a:gd name="adj" fmla="val 1502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637877" y="2011487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Encoder-Based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7877" y="2329086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for: understanding tasks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7877" y="2640955"/>
            <a:ext cx="2339206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BERT, RoBERTa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ALBERT, DistilBERT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1869728"/>
            <a:ext cx="2622724" cy="1416174"/>
          </a:xfrm>
          <a:prstGeom prst="roundRect">
            <a:avLst>
              <a:gd name="adj" fmla="val 1502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3402360" y="2011487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Decoder-Based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02360" y="2329086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for: text generation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2360" y="2640955"/>
            <a:ext cx="2339206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GPT-2, GPT-3, GPT-4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LLaMA, Claude, PaLM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1869728"/>
            <a:ext cx="2622724" cy="1416174"/>
          </a:xfrm>
          <a:prstGeom prst="roundRect">
            <a:avLst>
              <a:gd name="adj" fmla="val 1502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6166842" y="2011487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Encoder–Decoder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166842" y="2329086"/>
            <a:ext cx="23392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for: seq-to-seq tasks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66842" y="2640955"/>
            <a:ext cx="2339206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T5, BART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Pegasus, Gemini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445371"/>
            <a:ext cx="8151763" cy="829196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660428"/>
            <a:ext cx="177180" cy="14175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56816" y="3622551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Transformers are the </a:t>
            </a:r>
            <a:r>
              <a:rPr lang="en-US" sz="1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 of modern Generative AI</a:t>
            </a: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from chatbots to code generation to multimodal systems.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1772" y="393576"/>
            <a:ext cx="3891781" cy="457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329" y="1126182"/>
            <a:ext cx="2649885" cy="17431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4106" y="1284759"/>
            <a:ext cx="22088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Attention = Dynamic Focus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04106" y="1596033"/>
            <a:ext cx="225653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learn which words matter most for each word in context — solving the core failure of RNNs on long sequences.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7533" y="1126182"/>
            <a:ext cx="2649885" cy="17431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2309" y="1284759"/>
            <a:ext cx="18315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Q, K, V Are the Engine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472309" y="1596033"/>
            <a:ext cx="225653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Query asks, Key signals relevance, Value delivers content. The full attention score is: </a:t>
            </a:r>
            <a:r>
              <a:rPr lang="en-US" sz="10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softmax(QKᵀ/√d_k)V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5736" y="1126182"/>
            <a:ext cx="2649885" cy="17431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0512" y="1284759"/>
            <a:ext cx="2256532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 Process in Parallel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240512" y="1824930"/>
            <a:ext cx="225653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Unlike RNNs, transformers see all tokens simultaneously — enabling scale, speed, and superior contextual learning.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329" y="3006700"/>
            <a:ext cx="2649885" cy="17431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4106" y="3165277"/>
            <a:ext cx="2256532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Multi-Head Attention = Richer Understanding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704106" y="3705448"/>
            <a:ext cx="225653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Multiple heads capture syntax, semantics, coreference, and position simultaneously — all in one forward pass.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7533" y="3006700"/>
            <a:ext cx="2649885" cy="17431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72309" y="3165277"/>
            <a:ext cx="2256532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Transformers Power Modern AI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3472309" y="3705448"/>
            <a:ext cx="2256532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BERT, GPT, T5 and virtually every state-of-the-art NLP system today is built on the transformer architecture.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1418</Words>
  <Application>Microsoft Office PowerPoint</Application>
  <PresentationFormat>On-screen Show (16:9)</PresentationFormat>
  <Paragraphs>217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Consolas</vt:lpstr>
      <vt:lpstr>Arial</vt:lpstr>
      <vt:lpstr>DM Sans</vt:lpstr>
      <vt:lpstr>PT Serif Light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Fimran Sanghvi</cp:lastModifiedBy>
  <cp:revision>7</cp:revision>
  <dcterms:created xsi:type="dcterms:W3CDTF">2026-06-01T15:20:49Z</dcterms:created>
  <dcterms:modified xsi:type="dcterms:W3CDTF">2026-06-02T04:58:41Z</dcterms:modified>
</cp:coreProperties>
</file>