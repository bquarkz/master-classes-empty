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6"/>
  </p:notesMasterIdLst>
  <p:sldIdLst>
    <p:sldId id="270" r:id="rId2"/>
    <p:sldId id="269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6" r:id="rId12"/>
    <p:sldId id="264" r:id="rId13"/>
    <p:sldId id="265" r:id="rId14"/>
    <p:sldId id="267" r:id="rId15"/>
  </p:sldIdLst>
  <p:sldSz cx="9144000" cy="5143500" type="screen16x9"/>
  <p:notesSz cx="5143500" cy="9144000"/>
  <p:embeddedFontLst>
    <p:embeddedFont>
      <p:font typeface="DM Sans" pitchFamily="2" charset="77"/>
      <p:regular r:id="rId17"/>
    </p:embeddedFont>
    <p:embeddedFont>
      <p:font typeface="PT Serif" panose="020A0603040505020204" pitchFamily="18" charset="77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2240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0132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6203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032" y="1519493"/>
            <a:ext cx="7952916" cy="930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Text Pre-Processing and Data Preparation</a:t>
            </a:r>
          </a:p>
          <a:p>
            <a:pPr marL="0" indent="0" algn="ctr">
              <a:lnSpc>
                <a:spcPct val="104000"/>
              </a:lnSpc>
              <a:buNone/>
            </a:pP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31031" y="2623989"/>
            <a:ext cx="7653338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Transforming Raw Data into NLP Ready Data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21020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8" y="605277"/>
            <a:ext cx="7322269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Contents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96119" y="1525191"/>
            <a:ext cx="7407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1747093"/>
            <a:ext cx="4004965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1856036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Text Cleaning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642842" y="1525191"/>
            <a:ext cx="7407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42842" y="1747093"/>
            <a:ext cx="4005039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0" name="Text 8"/>
          <p:cNvSpPr/>
          <p:nvPr/>
        </p:nvSpPr>
        <p:spPr>
          <a:xfrm>
            <a:off x="4642842" y="1856036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Case Standardization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96119" y="2471291"/>
            <a:ext cx="7407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6119" y="2760463"/>
            <a:ext cx="4004965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4" name="Text 12"/>
          <p:cNvSpPr/>
          <p:nvPr/>
        </p:nvSpPr>
        <p:spPr>
          <a:xfrm>
            <a:off x="496118" y="2872175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Tokenization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642842" y="2522191"/>
            <a:ext cx="7407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42842" y="2759458"/>
            <a:ext cx="4005039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8" name="Text 16"/>
          <p:cNvSpPr/>
          <p:nvPr/>
        </p:nvSpPr>
        <p:spPr>
          <a:xfrm>
            <a:off x="4642842" y="2850134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Stop Word Removal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96118" y="3541977"/>
            <a:ext cx="7407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6119" y="3827822"/>
            <a:ext cx="4004965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2" name="Text 20"/>
          <p:cNvSpPr/>
          <p:nvPr/>
        </p:nvSpPr>
        <p:spPr>
          <a:xfrm>
            <a:off x="496118" y="4012746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Normalization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642842" y="3610347"/>
            <a:ext cx="7407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06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42842" y="3837347"/>
            <a:ext cx="4005039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6" name="Text 24"/>
          <p:cNvSpPr/>
          <p:nvPr/>
        </p:nvSpPr>
        <p:spPr>
          <a:xfrm>
            <a:off x="4642842" y="3941172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Advanced Steps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2293603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325" y="797237"/>
            <a:ext cx="4929857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Text Preprocessing for NLP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96119" y="1599837"/>
            <a:ext cx="874367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Before feeding raw text into any NLP model, it must be cleaned and structured. Raw text is noisy, inconsistent, and unstructured — preprocessing transforms it into a standardized format that machine learning algorithms can understand.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2611859"/>
            <a:ext cx="2622724" cy="1281559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637877" y="2753618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Core Problem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7877" y="3071217"/>
            <a:ext cx="23392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Raw text is messy: inconsistent casing, HTML artifacts, slang, and inflected forms all confuse models.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60601" y="2611859"/>
            <a:ext cx="2622724" cy="1281559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3402360" y="2753618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Solution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402360" y="3071217"/>
            <a:ext cx="23392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structured preprocessing pipeline transforms noise into clean, model-ready input.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25083" y="2611859"/>
            <a:ext cx="2622724" cy="1281559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6166842" y="2753618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Task Dependency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166842" y="3071217"/>
            <a:ext cx="23392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There is no universal pipeline. The steps you choose depend entirely on your downstream NLP task.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0227"/>
            <a:ext cx="7322269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Standard NLP Preprocessing Pipeline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5037" y="965932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typical pipeline follows six stages — each serving a specific purpose in transforming raw text into structured input.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1525191"/>
            <a:ext cx="7407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1747093"/>
            <a:ext cx="4004965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1856036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Text Cleaning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96119" y="2173635"/>
            <a:ext cx="44621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Remove HTML, URLs, special characters, and noise.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42842" y="1525191"/>
            <a:ext cx="7407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42842" y="1747093"/>
            <a:ext cx="4005039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0" name="Text 8"/>
          <p:cNvSpPr/>
          <p:nvPr/>
        </p:nvSpPr>
        <p:spPr>
          <a:xfrm>
            <a:off x="4642842" y="1856036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Case Normalization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42842" y="2173635"/>
            <a:ext cx="44622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Lowercase everything to unify surface forms.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6119" y="2648471"/>
            <a:ext cx="7407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6119" y="2870374"/>
            <a:ext cx="4004965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4" name="Text 12"/>
          <p:cNvSpPr/>
          <p:nvPr/>
        </p:nvSpPr>
        <p:spPr>
          <a:xfrm>
            <a:off x="496119" y="2979316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Tokenization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96119" y="3296915"/>
            <a:ext cx="44621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Break text into sentences and individual tokens.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42842" y="2648471"/>
            <a:ext cx="7407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42842" y="2870374"/>
            <a:ext cx="4005039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8" name="Text 16"/>
          <p:cNvSpPr/>
          <p:nvPr/>
        </p:nvSpPr>
        <p:spPr>
          <a:xfrm>
            <a:off x="4642842" y="2979316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Stop Word Removal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642842" y="3296915"/>
            <a:ext cx="44622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Discard low-information function words.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6119" y="3771751"/>
            <a:ext cx="7407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6119" y="3993654"/>
            <a:ext cx="4004965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2" name="Text 20"/>
          <p:cNvSpPr/>
          <p:nvPr/>
        </p:nvSpPr>
        <p:spPr>
          <a:xfrm>
            <a:off x="496119" y="4102596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Normalization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96119" y="4420195"/>
            <a:ext cx="44621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Reduce words to their base or root form.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42842" y="3771751"/>
            <a:ext cx="7407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06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42842" y="3993654"/>
            <a:ext cx="4005039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6" name="Text 24"/>
          <p:cNvSpPr/>
          <p:nvPr/>
        </p:nvSpPr>
        <p:spPr>
          <a:xfrm>
            <a:off x="4642842" y="4102596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Advanced Steps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642842" y="4420195"/>
            <a:ext cx="44622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 tagging, contraction expansion, spelling correction.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870496"/>
            <a:ext cx="492770" cy="266402"/>
          </a:xfrm>
          <a:prstGeom prst="roundRect">
            <a:avLst>
              <a:gd name="adj" fmla="val 6386"/>
            </a:avLst>
          </a:prstGeom>
          <a:solidFill>
            <a:srgbClr val="FFDECC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912986"/>
            <a:ext cx="77985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STEP 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193602"/>
            <a:ext cx="5677719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Text Cleaning — Noise Removal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96119" y="1871365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first step strips out elements that add no semantic value or actively mislead the model. What you remove depends on your task.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96119" y="2484462"/>
            <a:ext cx="2622724" cy="1788542"/>
          </a:xfrm>
          <a:prstGeom prst="roundRect">
            <a:avLst>
              <a:gd name="adj" fmla="val 5113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7069" y="2484462"/>
            <a:ext cx="76200" cy="1788542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8" name="Text 6"/>
          <p:cNvSpPr/>
          <p:nvPr/>
        </p:nvSpPr>
        <p:spPr>
          <a:xfrm>
            <a:off x="714077" y="2645271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HTML Tags &amp; URLs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14077" y="2962870"/>
            <a:ext cx="2243956" cy="916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Essential for web-scraped data. Converts </a:t>
            </a:r>
            <a:r>
              <a:rPr lang="en-US" sz="12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&lt;div&gt;Hello&lt;/div&gt;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</a:t>
            </a:r>
            <a:r>
              <a:rPr lang="en-US" sz="12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Hello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Raw markup is meaningless to a model.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60601" y="2484462"/>
            <a:ext cx="2622724" cy="1788542"/>
          </a:xfrm>
          <a:prstGeom prst="roundRect">
            <a:avLst>
              <a:gd name="adj" fmla="val 5113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1551" y="2484462"/>
            <a:ext cx="76200" cy="1788542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12" name="Text 10"/>
          <p:cNvSpPr/>
          <p:nvPr/>
        </p:nvSpPr>
        <p:spPr>
          <a:xfrm>
            <a:off x="3478560" y="2645271"/>
            <a:ext cx="2243956" cy="465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Special Characters &amp; Punctuation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478560" y="3195414"/>
            <a:ext cx="2243956" cy="916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Remove symbols like </a:t>
            </a:r>
            <a:r>
              <a:rPr lang="en-US" sz="12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  #  $  !  ,  .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unless punctuation carries meaning (e.g., </a:t>
            </a:r>
            <a:r>
              <a:rPr lang="en-US" sz="12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 sentiment analysis).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25083" y="2484462"/>
            <a:ext cx="2622724" cy="1788542"/>
          </a:xfrm>
          <a:prstGeom prst="roundRect">
            <a:avLst>
              <a:gd name="adj" fmla="val 5113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06033" y="2484462"/>
            <a:ext cx="76200" cy="1788542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16" name="Text 14"/>
          <p:cNvSpPr/>
          <p:nvPr/>
        </p:nvSpPr>
        <p:spPr>
          <a:xfrm>
            <a:off x="6243042" y="2645271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Emojis &amp; Emoticons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243042" y="2962870"/>
            <a:ext cx="2243956" cy="912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Remove entirely, or map to descriptors. Example: </a:t>
            </a: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❤️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</a:t>
            </a:r>
            <a:r>
              <a:rPr lang="en-US" sz="12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[love]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The right choice depends on whether sentiment matters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72182"/>
            <a:ext cx="522759" cy="266402"/>
          </a:xfrm>
          <a:prstGeom prst="roundRect">
            <a:avLst>
              <a:gd name="adj" fmla="val 6386"/>
            </a:avLst>
          </a:prstGeom>
          <a:solidFill>
            <a:srgbClr val="FFDECC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714673"/>
            <a:ext cx="80984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STEP 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995288"/>
            <a:ext cx="6257404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Case Standardization — Lowercasing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94022" y="1673051"/>
            <a:ext cx="4107135" cy="1557829"/>
          </a:xfrm>
          <a:prstGeom prst="roundRect">
            <a:avLst>
              <a:gd name="adj" fmla="val 760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/>
          <p:nvPr/>
        </p:nvSpPr>
        <p:spPr>
          <a:xfrm>
            <a:off x="535781" y="1814810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Problem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35781" y="2189113"/>
            <a:ext cx="3823618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Computers treat </a:t>
            </a:r>
            <a:r>
              <a:rPr lang="en-US" sz="12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Machine</a:t>
            </a: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12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machine</a:t>
            </a: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and </a:t>
            </a:r>
            <a:r>
              <a:rPr lang="en-US" sz="12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MACHINE</a:t>
            </a: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as three entirely different vocabulary items — inflating the model's vocabulary unnecessarily.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49701" y="1814810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Solution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749701" y="2189113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Lowercasing standardizes all surface forms into one, reducing sparsity and improving generalization.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49685" y="3474042"/>
            <a:ext cx="3902943" cy="1509638"/>
          </a:xfrm>
          <a:prstGeom prst="roundRect">
            <a:avLst>
              <a:gd name="adj" fmla="val 1409"/>
            </a:avLst>
          </a:prstGeom>
          <a:solidFill>
            <a:srgbClr val="FCF2B5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3256" y="3714876"/>
            <a:ext cx="177180" cy="14175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033256" y="3661826"/>
            <a:ext cx="3300487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⚠️ </a:t>
            </a:r>
            <a:r>
              <a:rPr lang="en-US" sz="12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Exception — Named Entity Recognition (NER):</a:t>
            </a: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Uppercase is a critical cue. "Apple" (company) vs. "apple" (fruit) — lowercasing destroys this distinction. Skip this step for NER tasks.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68957"/>
            <a:ext cx="524396" cy="266402"/>
          </a:xfrm>
          <a:prstGeom prst="roundRect">
            <a:avLst>
              <a:gd name="adj" fmla="val 6386"/>
            </a:avLst>
          </a:prstGeom>
          <a:solidFill>
            <a:srgbClr val="FFDECC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511448"/>
            <a:ext cx="81148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STEP 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92063"/>
            <a:ext cx="5442198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Segmentation &amp; Tokenization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96119" y="1469827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Tokenization breaks a continuous string of text into discrete, manageable units that the model can process individually.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96119" y="1856110"/>
            <a:ext cx="4004965" cy="1829767"/>
          </a:xfrm>
          <a:prstGeom prst="roundRect">
            <a:avLst>
              <a:gd name="adj" fmla="val 1162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637877" y="1997869"/>
            <a:ext cx="2412578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Sentence Segmentation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37877" y="2315468"/>
            <a:ext cx="37214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Splits a large paragraph into individual sentences. The foundational unit for many NLP tasks.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42842" y="1856110"/>
            <a:ext cx="4005039" cy="1829767"/>
          </a:xfrm>
          <a:prstGeom prst="roundRect">
            <a:avLst>
              <a:gd name="adj" fmla="val 1162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4784601" y="1997869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Word Tokenization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784601" y="2315468"/>
            <a:ext cx="3721522" cy="1228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Breaks each sentence into individual tokens (words, punctuation).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Example: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"NLP is fun!"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</a:t>
            </a:r>
            <a:r>
              <a:rPr lang="en-US" sz="12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["NLP", "is", "fun", "!"]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6119" y="3845347"/>
            <a:ext cx="8151763" cy="829196"/>
          </a:xfrm>
          <a:prstGeom prst="roundRect">
            <a:avLst>
              <a:gd name="adj" fmla="val 2565"/>
            </a:avLst>
          </a:prstGeom>
          <a:solidFill>
            <a:srgbClr val="B6D6FC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4060403"/>
            <a:ext cx="177180" cy="141759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56816" y="4022527"/>
            <a:ext cx="7549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Tokenization is the bridge between raw text and numerical representations. Every downstream step — stop word removal, stemming, embeddings — operates on tokens.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35843"/>
            <a:ext cx="526256" cy="266402"/>
          </a:xfrm>
          <a:prstGeom prst="roundRect">
            <a:avLst>
              <a:gd name="adj" fmla="val 6386"/>
            </a:avLst>
          </a:prstGeom>
          <a:solidFill>
            <a:srgbClr val="FFDECC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478334"/>
            <a:ext cx="81334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STEP 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58949"/>
            <a:ext cx="417857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Stop Word Removal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96119" y="1578471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Are Stop Words?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96119" y="1952774"/>
            <a:ext cx="3902943" cy="68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High-frequency function words — </a:t>
            </a:r>
            <a:r>
              <a:rPr lang="en-US" sz="12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the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12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12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12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12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at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that act as grammatical glue but carry very little unique semantic content.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6119" y="2779737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Remove Them?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96119" y="3154040"/>
            <a:ext cx="3902943" cy="73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Drastically reduces dataset size and processing cost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Forces the model to focus on content-heavy keywords: nouns, verbs, adjectives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49701" y="1596182"/>
            <a:ext cx="3902943" cy="1736452"/>
          </a:xfrm>
          <a:prstGeom prst="roundRect">
            <a:avLst>
              <a:gd name="adj" fmla="val 1225"/>
            </a:avLst>
          </a:prstGeom>
          <a:solidFill>
            <a:srgbClr val="FCF2B5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1460" y="1811238"/>
            <a:ext cx="177180" cy="14175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210398" y="1773362"/>
            <a:ext cx="3300487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When to Skip This Step: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If your task depends on sentence structure or syntax — such as </a:t>
            </a:r>
            <a:r>
              <a:rPr lang="en-US" sz="12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language modeling</a:t>
            </a: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or </a:t>
            </a:r>
            <a:r>
              <a:rPr lang="en-US" sz="12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machine translation</a:t>
            </a: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stop word removal destroys the grammatical relationships the model needs to learn. Keep them.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49700" y="3669283"/>
            <a:ext cx="3902943" cy="1056010"/>
          </a:xfrm>
          <a:prstGeom prst="roundRect">
            <a:avLst>
              <a:gd name="adj" fmla="val 2014"/>
            </a:avLst>
          </a:prstGeom>
          <a:solidFill>
            <a:srgbClr val="B6FCB8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1460" y="3707160"/>
            <a:ext cx="177180" cy="14175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10398" y="3669283"/>
            <a:ext cx="3300487" cy="981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Best For:</a:t>
            </a: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Text classification, topic modeling, keyword extraction, and search indexing — tasks where keywords dominate over structure.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069553"/>
            <a:ext cx="526554" cy="266402"/>
          </a:xfrm>
          <a:prstGeom prst="roundRect">
            <a:avLst>
              <a:gd name="adj" fmla="val 6386"/>
            </a:avLst>
          </a:prstGeom>
          <a:solidFill>
            <a:srgbClr val="FFDECC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1112044"/>
            <a:ext cx="81364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STEP 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392659"/>
            <a:ext cx="7086005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Text Normalization — The Core Concept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96119" y="2070422"/>
            <a:ext cx="8151763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Words appear in many inflected forms: </a:t>
            </a:r>
            <a:r>
              <a:rPr lang="en-US" sz="12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12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running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12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Without normalization, the model treats these as entirely separate vocabulary items — wasting capacity and reducing generalization.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08720" y="2847752"/>
            <a:ext cx="793916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Normalization maps all inflected variants of a word back to a single canonical form, </a:t>
            </a: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reducing vocabulary size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helping the model recognize that related word forms carry related meaning.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96119" y="2688282"/>
            <a:ext cx="19050" cy="772567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8" name="Text 6"/>
          <p:cNvSpPr/>
          <p:nvPr/>
        </p:nvSpPr>
        <p:spPr>
          <a:xfrm>
            <a:off x="496119" y="3620319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Two strategies exist, trading off </a:t>
            </a: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speed and simplicity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against </a:t>
            </a: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linguistic accuracy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Choose based on your task requirements.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06164"/>
            <a:ext cx="596950" cy="266402"/>
          </a:xfrm>
          <a:prstGeom prst="roundRect">
            <a:avLst>
              <a:gd name="adj" fmla="val 6386"/>
            </a:avLst>
          </a:prstGeom>
          <a:solidFill>
            <a:srgbClr val="FFDECC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548655"/>
            <a:ext cx="88403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STEP 5A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29270"/>
            <a:ext cx="5290021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Stemming vs. Lemmatization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96119" y="1507034"/>
            <a:ext cx="8151763" cy="2141637"/>
          </a:xfrm>
          <a:prstGeom prst="roundRect">
            <a:avLst>
              <a:gd name="adj" fmla="val 993"/>
            </a:avLst>
          </a:prstGeom>
          <a:solidFill>
            <a:srgbClr val="F2EEEE"/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1507034"/>
            <a:ext cx="4075881" cy="2141637"/>
          </a:xfrm>
          <a:prstGeom prst="roundRect">
            <a:avLst>
              <a:gd name="adj" fmla="val 993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637877" y="1648792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Stemming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37877" y="1966392"/>
            <a:ext cx="3792364" cy="13089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fast, rule-based heuristic that </a:t>
            </a: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chops off word endings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Does not consult a dictionary — may produce non-words.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Example: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studies, studying, studied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</a:t>
            </a:r>
            <a:r>
              <a:rPr lang="en-US" sz="12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studi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✅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Fast   </a:t>
            </a: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✅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Simple   </a:t>
            </a: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❌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Produces non-words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507034"/>
            <a:ext cx="4075881" cy="2141637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1507034"/>
            <a:ext cx="19050" cy="2141637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11" name="Text 9"/>
          <p:cNvSpPr/>
          <p:nvPr/>
        </p:nvSpPr>
        <p:spPr>
          <a:xfrm>
            <a:off x="4713758" y="1577913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Lemmatization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731469" y="1881336"/>
            <a:ext cx="3792364" cy="154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linguistically accurate approach that looks up the </a:t>
            </a: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dictionary root (lemma)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using Part-of-Speech context.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Example: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studies, studying, studied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</a:t>
            </a:r>
            <a:r>
              <a:rPr lang="en-US" sz="12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study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better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</a:t>
            </a:r>
            <a:r>
              <a:rPr lang="en-US" sz="12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good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✅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Accurate   </a:t>
            </a: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✅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Real words   </a:t>
            </a: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❌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Slower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6119" y="3808140"/>
            <a:ext cx="8151763" cy="829196"/>
          </a:xfrm>
          <a:prstGeom prst="roundRect">
            <a:avLst>
              <a:gd name="adj" fmla="val 2565"/>
            </a:avLst>
          </a:prstGeom>
          <a:solidFill>
            <a:srgbClr val="B6D6FC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4023196"/>
            <a:ext cx="177180" cy="141759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56816" y="3985320"/>
            <a:ext cx="7549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</a:t>
            </a:r>
            <a:r>
              <a:rPr lang="en-US" sz="12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stemming</a:t>
            </a: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when speed matters most. Use </a:t>
            </a:r>
            <a:r>
              <a:rPr lang="en-US" sz="12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lemmatization</a:t>
            </a: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when linguistic precision is required — especially for smaller, high-quality corpora.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605" y="280169"/>
            <a:ext cx="5486549" cy="334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Stemming vs. Lemmatization — Deep Dive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56605" y="760884"/>
            <a:ext cx="7487915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Understanding when to use each requires knowing how they differ under the hood.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605" y="983307"/>
            <a:ext cx="7030715" cy="35188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9663" y="2589844"/>
            <a:ext cx="1549035" cy="207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Low Complexity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515238" y="4197587"/>
            <a:ext cx="1887923" cy="207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Low Accuracy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99604" y="2589844"/>
            <a:ext cx="1549035" cy="207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High Complexity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511287" y="1122791"/>
            <a:ext cx="1887923" cy="207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High Accuracy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026773" y="3442771"/>
            <a:ext cx="1355552" cy="271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Lemmatization Output — Real-word lemmas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64956" y="2994907"/>
            <a:ext cx="196660" cy="1966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88024" y="3449794"/>
            <a:ext cx="1355553" cy="271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Stemming Output — Non-dictionary stems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67470" y="2999077"/>
            <a:ext cx="196661" cy="1966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888024" y="2150430"/>
            <a:ext cx="1355553" cy="271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Lemmatization — Slow dictionary with POS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67470" y="1699713"/>
            <a:ext cx="196661" cy="19666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984632" y="2150430"/>
            <a:ext cx="1355553" cy="271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Stemming — Fast rule-based chopping</a:t>
            </a:r>
            <a:endParaRPr lang="en-US" sz="11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64078" y="1699713"/>
            <a:ext cx="196661" cy="19666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38593" y="4508515"/>
            <a:ext cx="7030715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When accuracy matters more than speed — especially in production systems with small, curated datasets — lemmatization is the stronger choice. For large-scale, latency-sensitive pipelines, stemming remains a pragmatic option.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265709"/>
            <a:ext cx="528638" cy="266402"/>
          </a:xfrm>
          <a:prstGeom prst="roundRect">
            <a:avLst>
              <a:gd name="adj" fmla="val 6386"/>
            </a:avLst>
          </a:prstGeom>
          <a:solidFill>
            <a:srgbClr val="FFDECC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1308199"/>
            <a:ext cx="81572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STEP 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588815"/>
            <a:ext cx="5768504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Advanced &amp; Task-Specific Steps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96119" y="226657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Depending on your downstream architecture and task, additional preprocessing steps may be necessary.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652861"/>
            <a:ext cx="354360" cy="35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7658" y="2652861"/>
            <a:ext cx="2354238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Contraction Expansion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027658" y="2970461"/>
            <a:ext cx="2067595" cy="689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Convert </a:t>
            </a:r>
            <a:r>
              <a:rPr lang="en-US" sz="12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don't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</a:t>
            </a:r>
            <a:r>
              <a:rPr lang="en-US" sz="12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 not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12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I'm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</a:t>
            </a:r>
            <a:r>
              <a:rPr lang="en-US" sz="12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 am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Ensures consistent token forms across the corpus.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72433" y="2652861"/>
            <a:ext cx="354360" cy="3543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03972" y="2652861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POS Tagging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3803972" y="2970461"/>
            <a:ext cx="206759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Labels each token as noun, verb, or adjective. Gives the model structural context beyond raw word identity.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2652861"/>
            <a:ext cx="354360" cy="3543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80287" y="2652861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Spelling Correction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6580287" y="2970461"/>
            <a:ext cx="206759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Fixes typos before tokenization. Critical for noisy social media or user-generated text where errors are frequent.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41437"/>
            <a:ext cx="5157192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Task-Driven Pipeline Design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96119" y="1290117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single pipeline fits all tasks. Use this reference to decide which steps to apply — and which to skip.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1676400"/>
            <a:ext cx="8151763" cy="2925663"/>
          </a:xfrm>
          <a:prstGeom prst="roundRect">
            <a:avLst>
              <a:gd name="adj" fmla="val 72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2863" y="1770980"/>
            <a:ext cx="2613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87886" y="1770980"/>
            <a:ext cx="85159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Sentiment Analysis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27761" y="1770980"/>
            <a:ext cx="85159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Machine Translation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67635" y="1770980"/>
            <a:ext cx="85159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Topic Modeling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07510" y="1770980"/>
            <a:ext cx="13087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47384" y="1770980"/>
            <a:ext cx="85397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Text Classification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2863" y="2635821"/>
            <a:ext cx="2613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Text Cleaning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87886" y="2635821"/>
            <a:ext cx="13087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✅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27761" y="2635821"/>
            <a:ext cx="13087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✅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67635" y="2635821"/>
            <a:ext cx="13087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✅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07510" y="2635821"/>
            <a:ext cx="13087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✅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47384" y="2635821"/>
            <a:ext cx="131117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✅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2863" y="3047033"/>
            <a:ext cx="2613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Lowercasing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87886" y="3047033"/>
            <a:ext cx="13087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✅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27761" y="3047033"/>
            <a:ext cx="13087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✅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67635" y="3047033"/>
            <a:ext cx="13087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✅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07510" y="3047033"/>
            <a:ext cx="13087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⚠️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Skip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647384" y="3047033"/>
            <a:ext cx="131117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✅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2863" y="3458245"/>
            <a:ext cx="2613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Stop Word Removal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87886" y="3458245"/>
            <a:ext cx="13087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⚠️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Caution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27761" y="3458245"/>
            <a:ext cx="13087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❌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Skip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67635" y="3458245"/>
            <a:ext cx="13087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✅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07510" y="3458245"/>
            <a:ext cx="13087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⚠️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Caution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647384" y="3458245"/>
            <a:ext cx="131117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✅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2863" y="3869457"/>
            <a:ext cx="2613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Stemming / Lemmatization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087886" y="3869457"/>
            <a:ext cx="13087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Optional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227761" y="3869457"/>
            <a:ext cx="13087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❌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Skip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67635" y="3869457"/>
            <a:ext cx="13087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✅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07510" y="3869457"/>
            <a:ext cx="13087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Optional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647384" y="3869457"/>
            <a:ext cx="131117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✅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2863" y="4280669"/>
            <a:ext cx="2613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 Tagging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087886" y="4280669"/>
            <a:ext cx="13087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Optional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227761" y="4280669"/>
            <a:ext cx="13087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✅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67635" y="4280669"/>
            <a:ext cx="13087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❌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Skip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507510" y="4280669"/>
            <a:ext cx="13087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✅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647384" y="4280669"/>
            <a:ext cx="131117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Optional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507281"/>
            <a:ext cx="3945954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65162" y="1192485"/>
            <a:ext cx="867087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well-designed preprocessing pipeline is the foundation of every high-performing NLP system.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65162" y="1737940"/>
            <a:ext cx="2654796" cy="1390129"/>
          </a:xfrm>
          <a:prstGeom prst="roundRect">
            <a:avLst>
              <a:gd name="adj" fmla="val 4933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5162" y="1723653"/>
            <a:ext cx="2654796" cy="57150"/>
          </a:xfrm>
          <a:prstGeom prst="roundRect">
            <a:avLst>
              <a:gd name="adj" fmla="val 34884"/>
            </a:avLst>
          </a:prstGeom>
          <a:solidFill>
            <a:srgbClr val="E04F00"/>
          </a:solidFill>
          <a:ln/>
        </p:spPr>
      </p:sp>
      <p:sp>
        <p:nvSpPr>
          <p:cNvPr id="6" name="Shape 4"/>
          <p:cNvSpPr/>
          <p:nvPr/>
        </p:nvSpPr>
        <p:spPr>
          <a:xfrm>
            <a:off x="1593205" y="1538585"/>
            <a:ext cx="398711" cy="398711"/>
          </a:xfrm>
          <a:prstGeom prst="roundRect">
            <a:avLst>
              <a:gd name="adj" fmla="val 143337"/>
            </a:avLst>
          </a:prstGeom>
          <a:solidFill>
            <a:srgbClr val="E04F00"/>
          </a:solidFill>
          <a:ln/>
        </p:spPr>
      </p:sp>
      <p:sp>
        <p:nvSpPr>
          <p:cNvPr id="7" name="Text 5"/>
          <p:cNvSpPr/>
          <p:nvPr/>
        </p:nvSpPr>
        <p:spPr>
          <a:xfrm>
            <a:off x="1484188" y="1638226"/>
            <a:ext cx="3880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12353" y="2070199"/>
            <a:ext cx="22015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Task First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12353" y="2362944"/>
            <a:ext cx="2360414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Always design your pipeline around the downstream task. There is no universal recipe.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4528" y="1737940"/>
            <a:ext cx="2654871" cy="1390129"/>
          </a:xfrm>
          <a:prstGeom prst="roundRect">
            <a:avLst>
              <a:gd name="adj" fmla="val 4933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4528" y="1723653"/>
            <a:ext cx="2654871" cy="57150"/>
          </a:xfrm>
          <a:prstGeom prst="roundRect">
            <a:avLst>
              <a:gd name="adj" fmla="val 34884"/>
            </a:avLst>
          </a:prstGeom>
          <a:solidFill>
            <a:srgbClr val="E04F00"/>
          </a:solidFill>
          <a:ln/>
        </p:spPr>
      </p:sp>
      <p:sp>
        <p:nvSpPr>
          <p:cNvPr id="12" name="Shape 10"/>
          <p:cNvSpPr/>
          <p:nvPr/>
        </p:nvSpPr>
        <p:spPr>
          <a:xfrm>
            <a:off x="4372570" y="1538585"/>
            <a:ext cx="398711" cy="398711"/>
          </a:xfrm>
          <a:prstGeom prst="roundRect">
            <a:avLst>
              <a:gd name="adj" fmla="val 143337"/>
            </a:avLst>
          </a:prstGeom>
          <a:solidFill>
            <a:srgbClr val="E04F00"/>
          </a:solidFill>
          <a:ln/>
        </p:spPr>
      </p:sp>
      <p:sp>
        <p:nvSpPr>
          <p:cNvPr id="13" name="Text 11"/>
          <p:cNvSpPr/>
          <p:nvPr/>
        </p:nvSpPr>
        <p:spPr>
          <a:xfrm>
            <a:off x="4263554" y="1638226"/>
            <a:ext cx="3880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391719" y="2070199"/>
            <a:ext cx="22015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Clean Aggressively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391719" y="2362944"/>
            <a:ext cx="2360488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Strip HTML, normalize case, and remove noise early — garbage in, garbage out.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23967" y="1737940"/>
            <a:ext cx="2654871" cy="1390129"/>
          </a:xfrm>
          <a:prstGeom prst="roundRect">
            <a:avLst>
              <a:gd name="adj" fmla="val 4933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23967" y="1723653"/>
            <a:ext cx="2654871" cy="57150"/>
          </a:xfrm>
          <a:prstGeom prst="roundRect">
            <a:avLst>
              <a:gd name="adj" fmla="val 34884"/>
            </a:avLst>
          </a:prstGeom>
          <a:solidFill>
            <a:srgbClr val="E04F00"/>
          </a:solidFill>
          <a:ln/>
        </p:spPr>
      </p:sp>
      <p:sp>
        <p:nvSpPr>
          <p:cNvPr id="18" name="Shape 16"/>
          <p:cNvSpPr/>
          <p:nvPr/>
        </p:nvSpPr>
        <p:spPr>
          <a:xfrm>
            <a:off x="7152010" y="1538585"/>
            <a:ext cx="398711" cy="398711"/>
          </a:xfrm>
          <a:prstGeom prst="roundRect">
            <a:avLst>
              <a:gd name="adj" fmla="val 143337"/>
            </a:avLst>
          </a:prstGeom>
          <a:solidFill>
            <a:srgbClr val="E04F00"/>
          </a:solidFill>
          <a:ln/>
        </p:spPr>
      </p:sp>
      <p:sp>
        <p:nvSpPr>
          <p:cNvPr id="19" name="Text 17"/>
          <p:cNvSpPr/>
          <p:nvPr/>
        </p:nvSpPr>
        <p:spPr>
          <a:xfrm>
            <a:off x="7042993" y="1638226"/>
            <a:ext cx="3880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171158" y="2070199"/>
            <a:ext cx="22015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Tokenize Carefully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171158" y="2362944"/>
            <a:ext cx="2360488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subsequent step depends on clean tokenization. Get this right first.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5162" y="3451994"/>
            <a:ext cx="4044553" cy="1184151"/>
          </a:xfrm>
          <a:prstGeom prst="roundRect">
            <a:avLst>
              <a:gd name="adj" fmla="val 5791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5162" y="3437706"/>
            <a:ext cx="4044553" cy="57150"/>
          </a:xfrm>
          <a:prstGeom prst="roundRect">
            <a:avLst>
              <a:gd name="adj" fmla="val 34884"/>
            </a:avLst>
          </a:prstGeom>
          <a:solidFill>
            <a:srgbClr val="E04F00"/>
          </a:solidFill>
          <a:ln/>
        </p:spPr>
      </p:sp>
      <p:sp>
        <p:nvSpPr>
          <p:cNvPr id="24" name="Shape 22"/>
          <p:cNvSpPr/>
          <p:nvPr/>
        </p:nvSpPr>
        <p:spPr>
          <a:xfrm>
            <a:off x="2288084" y="3252639"/>
            <a:ext cx="398711" cy="398711"/>
          </a:xfrm>
          <a:prstGeom prst="roundRect">
            <a:avLst>
              <a:gd name="adj" fmla="val 143337"/>
            </a:avLst>
          </a:prstGeom>
          <a:solidFill>
            <a:srgbClr val="E04F00"/>
          </a:solidFill>
          <a:ln/>
        </p:spPr>
      </p:sp>
      <p:sp>
        <p:nvSpPr>
          <p:cNvPr id="25" name="Text 23"/>
          <p:cNvSpPr/>
          <p:nvPr/>
        </p:nvSpPr>
        <p:spPr>
          <a:xfrm>
            <a:off x="2179067" y="3352279"/>
            <a:ext cx="3880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12353" y="3784253"/>
            <a:ext cx="22015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Know What to Keep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12353" y="4076998"/>
            <a:ext cx="3750171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Stop words, punctuation, and casing all carry meaning in the right context. Removing them blindly hurts performance.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34285" y="3451994"/>
            <a:ext cx="4044553" cy="1184151"/>
          </a:xfrm>
          <a:prstGeom prst="roundRect">
            <a:avLst>
              <a:gd name="adj" fmla="val 5791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34285" y="3437706"/>
            <a:ext cx="4044553" cy="57150"/>
          </a:xfrm>
          <a:prstGeom prst="roundRect">
            <a:avLst>
              <a:gd name="adj" fmla="val 34884"/>
            </a:avLst>
          </a:prstGeom>
          <a:solidFill>
            <a:srgbClr val="E04F00"/>
          </a:solidFill>
          <a:ln/>
        </p:spPr>
      </p:sp>
      <p:sp>
        <p:nvSpPr>
          <p:cNvPr id="30" name="Shape 28"/>
          <p:cNvSpPr/>
          <p:nvPr/>
        </p:nvSpPr>
        <p:spPr>
          <a:xfrm>
            <a:off x="6457206" y="3252639"/>
            <a:ext cx="398711" cy="398711"/>
          </a:xfrm>
          <a:prstGeom prst="roundRect">
            <a:avLst>
              <a:gd name="adj" fmla="val 143337"/>
            </a:avLst>
          </a:prstGeom>
          <a:solidFill>
            <a:srgbClr val="E04F00"/>
          </a:solidFill>
          <a:ln/>
        </p:spPr>
      </p:sp>
      <p:sp>
        <p:nvSpPr>
          <p:cNvPr id="31" name="Text 29"/>
          <p:cNvSpPr/>
          <p:nvPr/>
        </p:nvSpPr>
        <p:spPr>
          <a:xfrm>
            <a:off x="6348189" y="3352279"/>
            <a:ext cx="3880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5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781476" y="3784253"/>
            <a:ext cx="2393231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Normalize to Base Forms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781476" y="4076998"/>
            <a:ext cx="3750171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Prefer lemmatization for accuracy; use stemming only when speed is the binding constraint.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1227</Words>
  <Application>Microsoft Macintosh PowerPoint</Application>
  <PresentationFormat>On-screen Show (16:9)</PresentationFormat>
  <Paragraphs>188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PT Serif Light</vt:lpstr>
      <vt:lpstr>PT Serif</vt:lpstr>
      <vt:lpstr>Calibri</vt:lpstr>
      <vt:lpstr>DM Sans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Vinayak Deshpande</cp:lastModifiedBy>
  <cp:revision>9</cp:revision>
  <dcterms:created xsi:type="dcterms:W3CDTF">2026-05-19T03:08:05Z</dcterms:created>
  <dcterms:modified xsi:type="dcterms:W3CDTF">2026-06-03T04:52:55Z</dcterms:modified>
</cp:coreProperties>
</file>