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embeddedFontLst>
    <p:embeddedFont>
      <p:font typeface="DM Sans" pitchFamily="2" charset="77"/>
      <p:regular r:id="rId15"/>
    </p:embeddedFont>
    <p:embeddedFont>
      <p:font typeface="PT Serif" panose="020A0603040505020204" pitchFamily="18" charset="77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5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027" y="1594470"/>
            <a:ext cx="7671346" cy="930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 Learning in NLP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629531" y="2338722"/>
            <a:ext cx="6370439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Practical Applications and Global Case Studies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314" y="1037593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2185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1127"/>
            <a:ext cx="2068116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in Retail and E-Commerce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428726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sentiment analysis 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42842" y="17802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002185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4642842" y="211112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In Healthcare &amp; Finance 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42842" y="2428726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NLP, risk analytics, and fraud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13037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52279"/>
            <a:ext cx="40049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3461221"/>
            <a:ext cx="209416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Automation, Virtual Assistants and Insights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6119" y="3778821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Chatbots, legal intelligence, social media monitoring,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Education, entertainment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2842" y="313037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352279"/>
            <a:ext cx="4005039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842" y="346122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Trends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42842" y="3778821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Multimodal AI, LLMs, and next-generation NLP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360611"/>
            <a:ext cx="1311473" cy="239018"/>
          </a:xfrm>
          <a:prstGeom prst="roundRect">
            <a:avLst>
              <a:gd name="adj" fmla="val 6561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35707" y="399752"/>
            <a:ext cx="161195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RETAIL &amp; E-COMMERCE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647774"/>
            <a:ext cx="4978673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in Retail and E-Commerce 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349" y="1257226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models parse millions of unstructured reviews, social posts, and support tickets to surface actionable intelligence in near real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349" y="1929929"/>
            <a:ext cx="3955256" cy="1525935"/>
          </a:xfrm>
          <a:prstGeom prst="roundRect">
            <a:avLst>
              <a:gd name="adj" fmla="val 1285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88020" y="2060600"/>
            <a:ext cx="17153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8020" y="2395463"/>
            <a:ext cx="3693914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classification</a:t>
            </a:r>
            <a:endParaRPr lang="en-US" sz="12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perception monitoring</a:t>
            </a:r>
            <a:endParaRPr lang="en-US" sz="12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feedback analysis</a:t>
            </a:r>
            <a:endParaRPr lang="en-US" sz="12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churn prediction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36157" y="1929929"/>
            <a:ext cx="1917353" cy="2717453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1115" y="2002711"/>
            <a:ext cx="1627436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Global Case Studies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36157" y="2236565"/>
            <a:ext cx="1627436" cy="2092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Amazon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deep learning NLP on millions of product reviews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Walmart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complaint tracking and behavior modeling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Airlines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Twitter/X sentiment analysis during crisis events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73987" y="1929929"/>
            <a:ext cx="1917427" cy="2717453"/>
          </a:xfrm>
          <a:prstGeom prst="roundRect">
            <a:avLst>
              <a:gd name="adj" fmla="val 102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7062" y="2002711"/>
            <a:ext cx="1627510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Business Impact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18945" y="2409751"/>
            <a:ext cx="1627510" cy="1289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issue detection and escalation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Improved customer retention rates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Hyper-personalized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2089"/>
            <a:ext cx="1460004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64579"/>
            <a:ext cx="174709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HEALTHCARE &amp; PHARMA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45195"/>
            <a:ext cx="511775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and Clinical NLP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467618" y="1909185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Clinical Applications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5153" y="2389659"/>
            <a:ext cx="2599134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EHR note summarization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Disease prediction models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Drug discovery pipelines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chatbot systems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72433" y="189176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Global Case Studies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2903189" y="2346275"/>
            <a:ext cx="2783507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Mayo Clinic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NLP for electronic health records structuring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NHS (UK)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AI-assisted patient triage at scale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COVID-19 Research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Biomedical NLP mining thousands of papers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944244" y="1891768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Measurable Impact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5944243" y="2296175"/>
            <a:ext cx="3199757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diagnostic decision support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Reduced physician administrative load</a:t>
            </a:r>
            <a:endParaRPr lang="en-US" sz="12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Optimized clinical trial matching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437480"/>
            <a:ext cx="1059210" cy="212824"/>
          </a:xfrm>
          <a:prstGeom prst="roundRect">
            <a:avLst>
              <a:gd name="adj" fmla="val 6745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16954" y="473348"/>
            <a:ext cx="1372939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BANKING &amp; FINANCE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5219" y="690637"/>
            <a:ext cx="5054129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Financial NLP and Risk Analytics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45219" y="1234529"/>
            <a:ext cx="9395467" cy="436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models extract signals from unstructured financial text — earnings calls, regulatory filings, and news feeds —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power faster, smarter decisions.</a:t>
            </a:r>
          </a:p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5636" y="2029089"/>
            <a:ext cx="3980780" cy="1347564"/>
          </a:xfrm>
          <a:prstGeom prst="roundRect">
            <a:avLst>
              <a:gd name="adj" fmla="val 133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45219" y="2147053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Applications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5219" y="2439826"/>
            <a:ext cx="3741613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 detection and AML</a:t>
            </a:r>
            <a:endParaRPr lang="en-US" sz="11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Earnings call analysis</a:t>
            </a:r>
            <a:endParaRPr lang="en-US" sz="11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news summarization</a:t>
            </a:r>
            <a:endParaRPr lang="en-US" sz="11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Algorithmic trading signals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8327" y="1637854"/>
            <a:ext cx="3995068" cy="91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99347" y="1771724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JPMorgan Chase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9347" y="2068860"/>
            <a:ext cx="367017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automates legal document review, saving thousands of attorney hours annually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8327" y="2656359"/>
            <a:ext cx="3995068" cy="917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9347" y="2790230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Bloomberg Terminal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99347" y="3087365"/>
            <a:ext cx="367017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AI-powered news analytics surface market-moving insights in milliseconds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8327" y="3674864"/>
            <a:ext cx="3995068" cy="917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9347" y="3808735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Hedge Funds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99347" y="4105870"/>
            <a:ext cx="367017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Sentiment-driven trading models parse news and filings for alpha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82935"/>
            <a:ext cx="1119560" cy="233660"/>
          </a:xfrm>
          <a:prstGeom prst="roundRect">
            <a:avLst>
              <a:gd name="adj" fmla="val 6598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26628" y="421407"/>
            <a:ext cx="1422722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SERVICE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63104"/>
            <a:ext cx="5181005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Chatbots and Virtual Assistants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49610" y="1259235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Conversational AI powered by deep learning NLP has transformed customer service from reactive helpdesks into intelligent, always-on engagement systems.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9610" y="1782068"/>
            <a:ext cx="4064198" cy="1431057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578048" y="1910507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014" y="2016472"/>
            <a:ext cx="173385" cy="1733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8048" y="2412281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OpenAI ChatGPT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8048" y="2692822"/>
            <a:ext cx="38073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Enterprise-grade assistance for knowledge work, drafting, and decision support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30192" y="1782068"/>
            <a:ext cx="4064198" cy="1431057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4758630" y="1910507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4596" y="2016472"/>
            <a:ext cx="173385" cy="1733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8630" y="2412281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Google &amp; Amazon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58630" y="2692822"/>
            <a:ext cx="38073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Assistant and Alexa handle billions of natural language voice queries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9610" y="3329508"/>
            <a:ext cx="4064198" cy="1431057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78048" y="3457947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014" y="3563913"/>
            <a:ext cx="173385" cy="17338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8048" y="3959721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Banking Chatbots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78048" y="4240262"/>
            <a:ext cx="38073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agents resolve account queries, transfers, and fraud alerts automatically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30192" y="3329508"/>
            <a:ext cx="4064198" cy="1431057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22" name="Shape 17"/>
          <p:cNvSpPr/>
          <p:nvPr/>
        </p:nvSpPr>
        <p:spPr>
          <a:xfrm>
            <a:off x="4758630" y="3457947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4596" y="3563913"/>
            <a:ext cx="173385" cy="17338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58630" y="3959721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758630" y="4240262"/>
            <a:ext cx="38073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24/7 support availability, lower operational costs, higher engagement rates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79586"/>
            <a:ext cx="1156022" cy="233660"/>
          </a:xfrm>
          <a:prstGeom prst="roundRect">
            <a:avLst>
              <a:gd name="adj" fmla="val 6598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26628" y="418058"/>
            <a:ext cx="1459185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 &amp; MARKETING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59755"/>
            <a:ext cx="5238676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in Social Media Monitoring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49610" y="1372270"/>
            <a:ext cx="21434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Applications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9610" y="1699394"/>
            <a:ext cx="3965674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trend analysis</a:t>
            </a:r>
            <a:endParaRPr lang="en-US" sz="12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Hate speech and toxicity detection</a:t>
            </a:r>
            <a:endParaRPr lang="en-US" sz="12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Fake news and misinformation identification</a:t>
            </a:r>
            <a:endParaRPr lang="en-US" sz="12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Influencer reach and sentiment analytics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9610" y="2736205"/>
            <a:ext cx="3965674" cy="905247"/>
          </a:xfrm>
          <a:prstGeom prst="roundRect">
            <a:avLst>
              <a:gd name="adj" fmla="val 2129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48" y="2927152"/>
            <a:ext cx="160586" cy="1284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7073" y="2884661"/>
            <a:ext cx="341977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moderation systems now process billions of posts daily, flagging harmful content faster than any human review team could.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9191" y="1386855"/>
            <a:ext cx="3979962" cy="10044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19067" y="1529581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TikTok &amp; YouTube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19067" y="1856705"/>
            <a:ext cx="378008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NLP moderation systems enforce community guidelines at global scale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9191" y="2507679"/>
            <a:ext cx="3979962" cy="10044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19067" y="2650406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Political Campaigns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919067" y="2977530"/>
            <a:ext cx="363735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sentiment tracking during elections informs messaging strategy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9191" y="3628504"/>
            <a:ext cx="3979962" cy="100444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19067" y="3771230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Crisis Monitoring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919067" y="4098354"/>
            <a:ext cx="390271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event dashboards detect emerging narratives before they escalate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63662"/>
            <a:ext cx="753294" cy="233660"/>
          </a:xfrm>
          <a:prstGeom prst="roundRect">
            <a:avLst>
              <a:gd name="adj" fmla="val 6598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26628" y="402134"/>
            <a:ext cx="1056456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 TECH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43830"/>
            <a:ext cx="4772695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Legal Document Intelligence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49610" y="1239962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language models are reshaping the legal profession — automating contract review, compliance monitoring, and due diligence that once required hundreds of billable hours.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9610" y="1893763"/>
            <a:ext cx="3965674" cy="1489844"/>
          </a:xfrm>
          <a:prstGeom prst="roundRect">
            <a:avLst>
              <a:gd name="adj" fmla="val 129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78048" y="2022202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8048" y="2349326"/>
            <a:ext cx="3708797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 analysis and clause extraction</a:t>
            </a:r>
            <a:endParaRPr lang="en-US" sz="12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 summarization and briefing</a:t>
            </a:r>
            <a:endParaRPr lang="en-US" sz="12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Regulatory compliance monitoring</a:t>
            </a:r>
            <a:endParaRPr lang="en-US" sz="12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M&amp;A due diligence automation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33479" y="1893763"/>
            <a:ext cx="289024" cy="28902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138886" y="1937891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Harvey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38886" y="2265015"/>
            <a:ext cx="356026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LLM-powered legal assistant used by leading global law firms for research and drafting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3479" y="2889721"/>
            <a:ext cx="289024" cy="28902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5138886" y="2933849"/>
            <a:ext cx="204906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Contract Review Workflows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38886" y="3260973"/>
            <a:ext cx="356026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Firms automate first-pass review, cutting turnaround from days to minutes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33479" y="3885679"/>
            <a:ext cx="289024" cy="28902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5138886" y="3929807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M&amp;A Intelligence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38886" y="4256931"/>
            <a:ext cx="356026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AI-assisted due diligence surfaces risk clauses across thousands of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3383"/>
            <a:ext cx="594122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55873"/>
            <a:ext cx="88121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EDTECH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6488"/>
            <a:ext cx="5348436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NLP in Education Technology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14252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04579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Grading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6119" y="2363391"/>
            <a:ext cx="398725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models evaluate essays and short answers with rubric-aligned scoring, enabling instant, consistent feedback at scale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553" y="1514252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204579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Duolingo NLP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0553" y="236339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Adaptive language learning powered by NLP feedback loops personalizes difficulty and corrects grammar in real time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27350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858890"/>
            <a:ext cx="187769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AI Teaching Assistants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496119" y="417648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Universities deploy AI TAs that answer student questions, reducing faculty load while improving response time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0553" y="3327350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0553" y="3858890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Adaptive Assessment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660553" y="4176489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generation systems build personalized quizzes that evolve with each student's knowledge state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382935"/>
            <a:ext cx="1552947" cy="218033"/>
          </a:xfrm>
          <a:prstGeom prst="roundRect">
            <a:avLst>
              <a:gd name="adj" fmla="val 6705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499467" y="419472"/>
            <a:ext cx="1863998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STREAMING &amp; ENTERTAINMENT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26393" y="642789"/>
            <a:ext cx="5765229" cy="399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Recommendation Systems Using NLP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6393" y="1199555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bridges the gap between what users watch, listen to, and search for — and what platforms serve them next.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105" y="1616199"/>
            <a:ext cx="4011290" cy="9391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58" y="1752302"/>
            <a:ext cx="15990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Netflix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5359" y="2056805"/>
            <a:ext cx="412000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NLP analyzes subtitles, descriptions, and viewing patterns</a:t>
            </a:r>
          </a:p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power hyper-personalized recommendations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105" y="2659931"/>
            <a:ext cx="4011290" cy="9391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5358" y="2796034"/>
            <a:ext cx="15990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Spotify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05358" y="3100536"/>
            <a:ext cx="368193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Podcast transcripts and music metadata are parsed to surface contextually relevant content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105" y="3703662"/>
            <a:ext cx="4011290" cy="9391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358" y="3839766"/>
            <a:ext cx="1649090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E-Commerce Platforms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05358" y="4144268"/>
            <a:ext cx="368193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query modeling and product metadata NLP drive personalized product discovery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25367" y="1616199"/>
            <a:ext cx="3997003" cy="1382762"/>
          </a:xfrm>
          <a:prstGeom prst="roundRect">
            <a:avLst>
              <a:gd name="adj" fmla="val 1322"/>
            </a:avLst>
          </a:prstGeom>
          <a:solidFill>
            <a:srgbClr val="F2EEEE"/>
          </a:solidFill>
          <a:ln/>
        </p:spPr>
      </p:sp>
      <p:sp>
        <p:nvSpPr>
          <p:cNvPr id="16" name="Text 11"/>
          <p:cNvSpPr/>
          <p:nvPr/>
        </p:nvSpPr>
        <p:spPr>
          <a:xfrm>
            <a:off x="4847183" y="1738015"/>
            <a:ext cx="15990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847183" y="2042517"/>
            <a:ext cx="3753371" cy="834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user engagement and time-on-platform</a:t>
            </a:r>
            <a:endParaRPr lang="en-US" sz="110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Increased subscription retention rates</a:t>
            </a:r>
            <a:endParaRPr lang="en-US" sz="110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Improved long-tail content discovery</a:t>
            </a:r>
            <a:endParaRPr lang="en-US" sz="110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relevance and intent alignment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610" y="382935"/>
            <a:ext cx="1009427" cy="233660"/>
          </a:xfrm>
          <a:prstGeom prst="roundRect">
            <a:avLst>
              <a:gd name="adj" fmla="val 6598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26628" y="421407"/>
            <a:ext cx="1312590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CROSS-INDUSTRY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49610" y="663104"/>
            <a:ext cx="6577905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Large Language Models in the Enterprise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49610" y="1259235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LLMs have moved from research prototypes to core enterprise infrastructure, automating knowledge work across every major industry vertical.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9610" y="1782068"/>
            <a:ext cx="4064198" cy="1431057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7" name="Shape 5"/>
          <p:cNvSpPr/>
          <p:nvPr/>
        </p:nvSpPr>
        <p:spPr>
          <a:xfrm>
            <a:off x="578048" y="1910507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014" y="2016472"/>
            <a:ext cx="173385" cy="1733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8048" y="2412281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Microsoft Copilot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8048" y="2692822"/>
            <a:ext cx="38073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Embedded in Word, Excel, and Teams — drafts documents, summarizes meetings, and generates code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30192" y="1782068"/>
            <a:ext cx="4064198" cy="1431057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4758630" y="1910507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4596" y="2016472"/>
            <a:ext cx="173385" cy="1733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8630" y="2412281"/>
            <a:ext cx="177953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Salesforce Einstein GPT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58630" y="2692822"/>
            <a:ext cx="38073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Automates CRM workflows, generates sales emails, and surfaces customer insights automatically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9610" y="3329508"/>
            <a:ext cx="4064198" cy="1431057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78048" y="3457947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014" y="3563913"/>
            <a:ext cx="173385" cy="17338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8048" y="3959721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RAG-Based Assistants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78048" y="4240262"/>
            <a:ext cx="38073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Retrieval-Augmented Generation enables companies to deploy internal knowledge assistants over private data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30192" y="3329508"/>
            <a:ext cx="4064198" cy="1431057"/>
          </a:xfrm>
          <a:prstGeom prst="roundRect">
            <a:avLst>
              <a:gd name="adj" fmla="val 1347"/>
            </a:avLst>
          </a:prstGeom>
          <a:solidFill>
            <a:srgbClr val="F2EEEE"/>
          </a:solidFill>
          <a:ln/>
        </p:spPr>
      </p:sp>
      <p:sp>
        <p:nvSpPr>
          <p:cNvPr id="22" name="Shape 17"/>
          <p:cNvSpPr/>
          <p:nvPr/>
        </p:nvSpPr>
        <p:spPr>
          <a:xfrm>
            <a:off x="4758630" y="3457947"/>
            <a:ext cx="385390" cy="385390"/>
          </a:xfrm>
          <a:prstGeom prst="roundRect">
            <a:avLst>
              <a:gd name="adj" fmla="val 14827651"/>
            </a:avLst>
          </a:prstGeom>
          <a:solidFill>
            <a:srgbClr val="E04F0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4596" y="3563913"/>
            <a:ext cx="173385" cy="17338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58630" y="3959721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Coding Assistants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758630" y="4240262"/>
            <a:ext cx="38073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Copilot and similar tools accelerate software development with context-aware code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466204"/>
            <a:ext cx="6225629" cy="399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Applications and Industry Trends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6393" y="1127596"/>
            <a:ext cx="20562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Emerging Directions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083" y="1449028"/>
            <a:ext cx="182687" cy="1826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275" y="1445196"/>
            <a:ext cx="15990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Multimodal AI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22275" y="1749697"/>
            <a:ext cx="4794754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unifying text, image, and speech in a single architecture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083" y="2144055"/>
            <a:ext cx="182687" cy="1826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275" y="2140223"/>
            <a:ext cx="164767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Autonomous AI Agents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22275" y="2444725"/>
            <a:ext cx="360112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LLM-powered agents that plan, reason, and execute multi-step workflows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083" y="3020281"/>
            <a:ext cx="182687" cy="1826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275" y="3016448"/>
            <a:ext cx="1654746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Edge &amp; On-Device NLP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22275" y="3320951"/>
            <a:ext cx="360112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Compressed models running locally for privacy and low-latency applications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083" y="3896506"/>
            <a:ext cx="182687" cy="1826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275" y="3892674"/>
            <a:ext cx="160979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Domain-Specific LLMs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822275" y="4197176"/>
            <a:ext cx="360112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Fine-tuned models purpose-built for legal, medical, and financial domains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932196" y="1040918"/>
            <a:ext cx="4172471" cy="3654326"/>
          </a:xfrm>
          <a:prstGeom prst="roundRect">
            <a:avLst>
              <a:gd name="adj" fmla="val 500"/>
            </a:avLst>
          </a:prstGeom>
          <a:solidFill>
            <a:schemeClr val="bg2"/>
          </a:solidFill>
          <a:ln/>
        </p:spPr>
      </p:sp>
      <p:sp>
        <p:nvSpPr>
          <p:cNvPr id="17" name="Text 11"/>
          <p:cNvSpPr/>
          <p:nvPr/>
        </p:nvSpPr>
        <p:spPr>
          <a:xfrm>
            <a:off x="5127281" y="1278297"/>
            <a:ext cx="2056209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Closing Insight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162115" y="1654820"/>
            <a:ext cx="3928839" cy="1456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NLP has graduated from academic research to large-scale, mission-critical deployment.</a:t>
            </a:r>
            <a:endParaRPr lang="en-US" sz="1200" dirty="0"/>
          </a:p>
          <a:p>
            <a:pPr marL="0" indent="0" algn="l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Industries that invest in NLP infrastructure today — healthcare, finance, legal, education, and enterprise — are building durable competitive advantages for the decade ahead.</a:t>
            </a:r>
            <a:endParaRPr lang="en-US" sz="12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question is no longer whether to adopt NLP — it is how fast and how deep.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956</Words>
  <Application>Microsoft Macintosh PowerPoint</Application>
  <PresentationFormat>On-screen Show (16:9)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PT Serif Light</vt:lpstr>
      <vt:lpstr>PT Serif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10</cp:revision>
  <dcterms:created xsi:type="dcterms:W3CDTF">2026-05-29T10:16:25Z</dcterms:created>
  <dcterms:modified xsi:type="dcterms:W3CDTF">2026-06-02T10:30:04Z</dcterms:modified>
</cp:coreProperties>
</file>