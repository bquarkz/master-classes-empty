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embeddedFontLst>
    <p:embeddedFont>
      <p:font typeface="DM Sans" pitchFamily="2" charset="77"/>
      <p:regular r:id="rId18"/>
    </p:embeddedFont>
    <p:embeddedFont>
      <p:font typeface="PT Serif" panose="020A0603040505020204" pitchFamily="18" charset="77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04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718" y="1521023"/>
            <a:ext cx="7433965" cy="64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Sentiment Analysis (Using BERT)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67518" y="2437752"/>
            <a:ext cx="8380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Human Emotions Through Transformer-Based Deep Learning Models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1602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02185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111127"/>
            <a:ext cx="226151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&amp; Importance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242872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sentiment analysis is and why it matters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002185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2111127"/>
            <a:ext cx="193937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Traditional Approaches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60601" y="242872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Lexicon-based methods and their limitations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002185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2111127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Statistical ML Models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25083" y="242872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learning for sentiment and its challenges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13037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352279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46122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Transformers &amp; BERT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96119" y="3778821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 architecture, Python demo, and domain models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313037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352279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46122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642842" y="3778821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Industry insights and final synthesis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1263030"/>
            <a:ext cx="518435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Sentiment Analysis?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94079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Sentiment Analysis — also called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Opinion Mining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is an NLP technique used to identify and classify emotions, opinions, and attitudes expressed in text. The goal: determine whether the sentiment is </a:t>
            </a:r>
            <a:r>
              <a:rPr lang="en-US" sz="11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Positive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Negative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or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Neutral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553891"/>
            <a:ext cx="8151763" cy="1649611"/>
          </a:xfrm>
          <a:prstGeom prst="roundRect">
            <a:avLst>
              <a:gd name="adj" fmla="val 128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640" y="2648471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16140" y="2648471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Sentiment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2640" y="3059683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movie was fantastic."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16140" y="3059683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Positive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640" y="3470895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product quality is terrible."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16140" y="3470895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Negative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640" y="3882107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meeting was conducted yesterday."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16140" y="3882107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➖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Neutral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1763"/>
            <a:ext cx="520332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Levels of Sentiment Analysis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88044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Sentiment can be extracted at three granularity levels depending on the depth of analysis required.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66727"/>
            <a:ext cx="2622724" cy="17449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01180" y="236547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56927" y="285281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Document-Level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6927" y="3170411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Analyzes the overall sentiment of an entire document as a single unit.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266727"/>
            <a:ext cx="2622724" cy="17449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65662" y="236547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3421410" y="285281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Sentence-Level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3421410" y="3170411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Determines sentiment independently, sentence by sentence.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083" y="2266727"/>
            <a:ext cx="2622724" cy="17449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30145" y="236547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6185892" y="2852812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Aspect-Level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185892" y="3170411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phone </a:t>
            </a:r>
            <a:r>
              <a:rPr lang="en-US" sz="11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camera is excellent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but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battery life is poor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 — Camera → Positive; Battery → Negative.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34132" y="632147"/>
            <a:ext cx="5212705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Need for Sentiment Analysis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34132" y="1201936"/>
            <a:ext cx="827573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Organizations generate massive volumes of unstructured text daily — from social media and reviews to support tickets and surveys. Manual analysis is slow, costly, and unscalable.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132" y="1696045"/>
            <a:ext cx="4083621" cy="1183184"/>
          </a:xfrm>
          <a:prstGeom prst="roundRect">
            <a:avLst>
              <a:gd name="adj" fmla="val 1573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558105" y="182001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25" y="1922264"/>
            <a:ext cx="167432" cy="1674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8105" y="230058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Customer Feedback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58105" y="2569220"/>
            <a:ext cx="383567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Automatically surface opinions at scale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26248" y="1696045"/>
            <a:ext cx="4083621" cy="1183184"/>
          </a:xfrm>
          <a:prstGeom prst="roundRect">
            <a:avLst>
              <a:gd name="adj" fmla="val 1573"/>
            </a:avLst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4750222" y="182001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2541" y="1922264"/>
            <a:ext cx="167432" cy="1674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0222" y="230058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Brand Monitoring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750222" y="2569220"/>
            <a:ext cx="383567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public perception in real time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34132" y="2987725"/>
            <a:ext cx="4083621" cy="1183184"/>
          </a:xfrm>
          <a:prstGeom prst="roundRect">
            <a:avLst>
              <a:gd name="adj" fmla="val 1573"/>
            </a:avLst>
          </a:prstGeom>
          <a:solidFill>
            <a:srgbClr val="F2EEEE"/>
          </a:solidFill>
          <a:ln/>
        </p:spPr>
      </p:sp>
      <p:sp>
        <p:nvSpPr>
          <p:cNvPr id="17" name="Shape 13"/>
          <p:cNvSpPr/>
          <p:nvPr/>
        </p:nvSpPr>
        <p:spPr>
          <a:xfrm>
            <a:off x="558105" y="311169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25" y="3213943"/>
            <a:ext cx="167432" cy="1674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8105" y="3592264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Market Intelligence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58105" y="3860899"/>
            <a:ext cx="383567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competitors and customer needs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26248" y="2987725"/>
            <a:ext cx="4083621" cy="1183184"/>
          </a:xfrm>
          <a:prstGeom prst="roundRect">
            <a:avLst>
              <a:gd name="adj" fmla="val 1573"/>
            </a:avLst>
          </a:prstGeom>
          <a:solidFill>
            <a:srgbClr val="F2EEEE"/>
          </a:solidFill>
          <a:ln/>
        </p:spPr>
      </p:sp>
      <p:sp>
        <p:nvSpPr>
          <p:cNvPr id="22" name="Shape 17"/>
          <p:cNvSpPr/>
          <p:nvPr/>
        </p:nvSpPr>
        <p:spPr>
          <a:xfrm>
            <a:off x="4750222" y="311169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E04F0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2541" y="3213943"/>
            <a:ext cx="167432" cy="1674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50222" y="3592264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Automation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750222" y="3860899"/>
            <a:ext cx="383567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 human effort in text classification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4132" y="4292947"/>
            <a:ext cx="8275737" cy="485105"/>
          </a:xfrm>
          <a:prstGeom prst="roundRect">
            <a:avLst>
              <a:gd name="adj" fmla="val 3836"/>
            </a:avLst>
          </a:prstGeom>
          <a:solidFill>
            <a:srgbClr val="B6D6FC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603" y="4473512"/>
            <a:ext cx="155004" cy="12397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2078" y="4349464"/>
            <a:ext cx="82060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E-commerce giants like Amazon analyze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millions of reviews daily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detect satisfaction, product defects, and service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quality issues.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34132" y="666452"/>
            <a:ext cx="4859834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 Across Industries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32" y="1236241"/>
            <a:ext cx="310083" cy="3100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4132" y="1681981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E-Commerce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34132" y="1950616"/>
            <a:ext cx="407000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review analysis, recommendation systems, satisfaction measurement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9791" y="1236241"/>
            <a:ext cx="310083" cy="3100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39791" y="1681981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Healthcare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639791" y="1950616"/>
            <a:ext cx="407007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Patient feedback, mental health monitoring, public health sentiment tracking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132" y="2539752"/>
            <a:ext cx="310083" cy="3100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4132" y="2985492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Finance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34132" y="3254127"/>
            <a:ext cx="407000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Stock market sentiment, financial news analysis, investor mood tracking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9791" y="2539752"/>
            <a:ext cx="310083" cy="31008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39791" y="2985492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Social Media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4639791" y="3254127"/>
            <a:ext cx="407007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Political analysis, trend detection, public opinion monitoring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4132" y="3843263"/>
            <a:ext cx="310083" cy="31008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4132" y="4289003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Customer Service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434132" y="4557638"/>
            <a:ext cx="40700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Complaint detection, ticket prioritization, chatbot optimization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39791" y="3843263"/>
            <a:ext cx="310083" cy="31008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39791" y="4289003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Education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4570122" y="4557638"/>
            <a:ext cx="407007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 feedback, course evaluation, faculty performance assessment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74489" y="582067"/>
            <a:ext cx="7989243" cy="3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Traditional Approach: Lexicon-Based Sentiment Analysis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36624" y="1213120"/>
            <a:ext cx="4970190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Lexicon-based methods use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predefined sentiment dictionaries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where each word carries a polarity score. The sentence score is computed by summing individual word scores.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627" y="2043261"/>
            <a:ext cx="3709913" cy="22018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86780" y="3636663"/>
            <a:ext cx="922197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Compute Score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724560" y="3729929"/>
            <a:ext cx="922197" cy="186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Match Words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543390" y="3729929"/>
            <a:ext cx="922197" cy="186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Tokenize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925071" y="1177677"/>
            <a:ext cx="229679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Example Sentiment Lexicon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25071" y="1464246"/>
            <a:ext cx="2549054" cy="1427559"/>
          </a:xfrm>
          <a:prstGeom prst="roundRect">
            <a:avLst>
              <a:gd name="adj" fmla="val 118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42868" y="1527721"/>
            <a:ext cx="149862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314977" y="1527721"/>
            <a:ext cx="149862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042868" y="1812280"/>
            <a:ext cx="149862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4977" y="1812280"/>
            <a:ext cx="149862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+3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042868" y="2096839"/>
            <a:ext cx="149862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4977" y="2096839"/>
            <a:ext cx="149862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+2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042868" y="2381399"/>
            <a:ext cx="149862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4977" y="2381399"/>
            <a:ext cx="149862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042868" y="2665958"/>
            <a:ext cx="149862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Terrible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4977" y="2665958"/>
            <a:ext cx="149862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925071" y="2993008"/>
            <a:ext cx="19399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Popular Lexicon Tools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925071" y="3268340"/>
            <a:ext cx="2549054" cy="7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VADER</a:t>
            </a:r>
            <a:endParaRPr lang="en-US" sz="110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TextBlob</a:t>
            </a:r>
            <a:endParaRPr lang="en-US" sz="110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SentiWordNet</a:t>
            </a:r>
            <a:endParaRPr lang="en-US" sz="110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AFINN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25071" y="4113461"/>
            <a:ext cx="2549054" cy="580355"/>
          </a:xfrm>
          <a:prstGeom prst="roundRect">
            <a:avLst>
              <a:gd name="adj" fmla="val 2920"/>
            </a:avLst>
          </a:prstGeom>
          <a:solidFill>
            <a:srgbClr val="B6FCB8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031" y="4274790"/>
            <a:ext cx="141163" cy="11296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292155" y="4231630"/>
            <a:ext cx="206900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Easy to implement · No training data needed · Fast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890439"/>
            <a:ext cx="6827044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Limitations of Lexicon-Based Methods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1568202"/>
            <a:ext cx="2641774" cy="15464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077" y="172901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Context Ignorance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14077" y="2046610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"This movie is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sick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." — Slang is positive, but the lexicon flags it as negative.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551" y="1568202"/>
            <a:ext cx="2641774" cy="15464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8560" y="1729011"/>
            <a:ext cx="216812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Sarcasm Detection Failure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3478560" y="2046610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Great!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Another software crash." — The actual sentiment is negative, but the word "Great" scores as positive.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6033" y="1568202"/>
            <a:ext cx="2641774" cy="15464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43042" y="172901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Negation Handling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243042" y="2046610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product is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good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." — Simple methods may incorrectly classify this as positive.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069" y="3256434"/>
            <a:ext cx="2641774" cy="13196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4077" y="341724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Domain Dependency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714077" y="3734842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"Unpredictable" is negative in automotive reviews but positive in movie reviews.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1551" y="3256434"/>
            <a:ext cx="2641774" cy="131965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478560" y="341724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Deep Semantics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3478560" y="3734842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Lexicons cannot capture complex language relationships or true meaning.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50912" y="576635"/>
            <a:ext cx="6252195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Statistical ML Models for Sentiment Analysis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50912" y="1069777"/>
            <a:ext cx="7642101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Instead of dictionaries, machine learning models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 sentiment patterns directly from labeled datasets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making them more adaptable and accurate.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12" y="2087761"/>
            <a:ext cx="4872782" cy="21012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826" y="3787064"/>
            <a:ext cx="1160729" cy="14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Sentiment Output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8826" y="3300664"/>
            <a:ext cx="1160729" cy="14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78826" y="2819176"/>
            <a:ext cx="1160729" cy="14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78826" y="2332775"/>
            <a:ext cx="1160729" cy="14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 Input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98579" y="1569095"/>
            <a:ext cx="19108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Common Algorithms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98579" y="1848073"/>
            <a:ext cx="2499122" cy="647328"/>
          </a:xfrm>
          <a:prstGeom prst="roundRect">
            <a:avLst>
              <a:gd name="adj" fmla="val 2566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6009308" y="1958801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09308" y="2226915"/>
            <a:ext cx="22776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probabilistic classifier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98579" y="2581870"/>
            <a:ext cx="2499122" cy="647328"/>
          </a:xfrm>
          <a:prstGeom prst="roundRect">
            <a:avLst>
              <a:gd name="adj" fmla="val 2566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6009308" y="2692598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09308" y="2960712"/>
            <a:ext cx="22776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Effective for binary tasks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898579" y="3315667"/>
            <a:ext cx="2499122" cy="647328"/>
          </a:xfrm>
          <a:prstGeom prst="roundRect">
            <a:avLst>
              <a:gd name="adj" fmla="val 2566"/>
            </a:avLst>
          </a:prstGeom>
          <a:solidFill>
            <a:srgbClr val="F2EEEE"/>
          </a:solidFill>
          <a:ln/>
        </p:spPr>
      </p:sp>
      <p:sp>
        <p:nvSpPr>
          <p:cNvPr id="19" name="Text 16"/>
          <p:cNvSpPr/>
          <p:nvPr/>
        </p:nvSpPr>
        <p:spPr>
          <a:xfrm>
            <a:off x="6009308" y="3426396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SVM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09308" y="3694509"/>
            <a:ext cx="22776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High-dimensional text classification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98579" y="4049464"/>
            <a:ext cx="2499122" cy="647328"/>
          </a:xfrm>
          <a:prstGeom prst="roundRect">
            <a:avLst>
              <a:gd name="adj" fmla="val 2566"/>
            </a:avLst>
          </a:prstGeom>
          <a:solidFill>
            <a:srgbClr val="F2EEEE"/>
          </a:solidFill>
          <a:ln/>
        </p:spPr>
      </p:sp>
      <p:sp>
        <p:nvSpPr>
          <p:cNvPr id="22" name="Text 19"/>
          <p:cNvSpPr/>
          <p:nvPr/>
        </p:nvSpPr>
        <p:spPr>
          <a:xfrm>
            <a:off x="6009308" y="4160193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09308" y="4428306"/>
            <a:ext cx="22776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Ensemble-based approach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0640" y="709985"/>
            <a:ext cx="6259934" cy="4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Limitations of Statistical ML Models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40" y="1360140"/>
            <a:ext cx="686619" cy="8239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00237" y="1497434"/>
            <a:ext cx="2661865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Engineering Dependency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00237" y="1802457"/>
            <a:ext cx="736312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Requires manual preprocessing and feature extraction — time-intensive and error-prone.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40" y="2184127"/>
            <a:ext cx="686619" cy="10122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00237" y="2321421"/>
            <a:ext cx="2277591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Poor Context Understanding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00237" y="2626444"/>
            <a:ext cx="736312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Cannot capture long-range dependencies in text. "Dog bites man" and "Man bites dog" may produce identical feature vectors.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640" y="3196382"/>
            <a:ext cx="686619" cy="8239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00237" y="3333676"/>
            <a:ext cx="2624584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Fixed Vocabulary &amp; Data Hunger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300237" y="3638699"/>
            <a:ext cx="736312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Struggles with unseen words, and performance degrades significantly without large, high-quality labeled datasets.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80640" y="4170015"/>
            <a:ext cx="8182719" cy="571946"/>
          </a:xfrm>
          <a:prstGeom prst="roundRect">
            <a:avLst>
              <a:gd name="adj" fmla="val 3602"/>
            </a:avLst>
          </a:prstGeom>
          <a:solidFill>
            <a:srgbClr val="FCF2B5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34" y="4373835"/>
            <a:ext cx="171599" cy="13729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6827" y="4337298"/>
            <a:ext cx="805643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limitations make traditional ML models unsuitable for nuanced, real-world language understanding.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1093663"/>
            <a:ext cx="6747421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Transformer-Based Pretrained Models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77142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Transformers revolutionized NLP by replacing sequential processing with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self-attention mechanisms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enabling deep contextual understanding at scale.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2384524"/>
            <a:ext cx="8151763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384524"/>
            <a:ext cx="2717229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637877" y="252628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Bidirectional Learning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7877" y="2843882"/>
            <a:ext cx="222111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Reads left and right context simultaneously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3348" y="2384524"/>
            <a:ext cx="2717229" cy="1054745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13348" y="2384524"/>
            <a:ext cx="19050" cy="1054745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3567708" y="252628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Parallel Processing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67708" y="2843882"/>
            <a:ext cx="20085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 training vs. RNNs and LSTMs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36168" y="2734717"/>
            <a:ext cx="354360" cy="354360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4721" y="2823270"/>
            <a:ext cx="177180" cy="1771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930578" y="2384524"/>
            <a:ext cx="2717229" cy="1054745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7" name="Shape 14"/>
          <p:cNvSpPr/>
          <p:nvPr/>
        </p:nvSpPr>
        <p:spPr>
          <a:xfrm>
            <a:off x="5930578" y="2384524"/>
            <a:ext cx="19050" cy="1054745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8" name="Text 15"/>
          <p:cNvSpPr/>
          <p:nvPr/>
        </p:nvSpPr>
        <p:spPr>
          <a:xfrm>
            <a:off x="6284937" y="2526283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Transfer Learning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284937" y="2843882"/>
            <a:ext cx="222111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Fine-tune on specific tasks with minimal data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753398" y="2734717"/>
            <a:ext cx="354360" cy="354360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1950" y="2823270"/>
            <a:ext cx="177180" cy="1771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96119" y="3651870"/>
            <a:ext cx="281203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Popular Transformer Models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496119" y="4097015"/>
            <a:ext cx="442913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5936" y="4144268"/>
            <a:ext cx="72047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BERT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1009873" y="4097015"/>
            <a:ext cx="664294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99691" y="4144268"/>
            <a:ext cx="94185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ROBERTA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745010" y="4097015"/>
            <a:ext cx="761033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834828" y="4144268"/>
            <a:ext cx="103859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DISTILBERT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2576885" y="4097015"/>
            <a:ext cx="513680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666702" y="4144268"/>
            <a:ext cx="79124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XLNET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161407" y="4097015"/>
            <a:ext cx="577900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51225" y="4144268"/>
            <a:ext cx="85546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ALBERT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3810149" y="4097015"/>
            <a:ext cx="394915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899967" y="4144268"/>
            <a:ext cx="67248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8379" y="734616"/>
            <a:ext cx="5512445" cy="631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BERT</a:t>
            </a:r>
            <a:endParaRPr lang="en-US" sz="3950" dirty="0"/>
          </a:p>
        </p:txBody>
      </p:sp>
      <p:sp>
        <p:nvSpPr>
          <p:cNvPr id="5" name="Text 3"/>
          <p:cNvSpPr/>
          <p:nvPr/>
        </p:nvSpPr>
        <p:spPr>
          <a:xfrm>
            <a:off x="488379" y="1572518"/>
            <a:ext cx="7975997" cy="366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</a:t>
            </a: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idirectional </a:t>
            </a:r>
            <a:r>
              <a:rPr lang="en-US" sz="23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</a:t>
            </a: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ncoder </a:t>
            </a:r>
            <a:r>
              <a:rPr lang="en-US" sz="23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</a:t>
            </a: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epresentations from </a:t>
            </a:r>
            <a:r>
              <a:rPr lang="en-US" sz="23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</a:t>
            </a: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ransformers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88379" y="2144837"/>
            <a:ext cx="816724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Developed by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BERT reads text in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 directions simultaneously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enabling rich contextual disambiguation. Given "I went to the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," BERT infers whether "bank" means a financial institution or a river bank — based purely on surrounding words.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8379" y="2963689"/>
            <a:ext cx="4014936" cy="811783"/>
          </a:xfrm>
          <a:prstGeom prst="roundRect">
            <a:avLst>
              <a:gd name="adj" fmla="val 257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627906" y="3103215"/>
            <a:ext cx="214602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Contextual Understanding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7906" y="3414489"/>
            <a:ext cx="37358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Meaning derived from full sentence context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0684" y="2963689"/>
            <a:ext cx="4014936" cy="811783"/>
          </a:xfrm>
          <a:prstGeom prst="roundRect">
            <a:avLst>
              <a:gd name="adj" fmla="val 257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780211" y="3103215"/>
            <a:ext cx="210428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State-of-the-Art Accuracy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80211" y="3414489"/>
            <a:ext cx="37358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benchmark performance across NLP tasks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8379" y="3912840"/>
            <a:ext cx="4014936" cy="811783"/>
          </a:xfrm>
          <a:prstGeom prst="roundRect">
            <a:avLst>
              <a:gd name="adj" fmla="val 2579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627906" y="4052367"/>
            <a:ext cx="238162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Minimal Feature Engineering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7906" y="4363641"/>
            <a:ext cx="37358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learning from raw 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0684" y="3912840"/>
            <a:ext cx="4014936" cy="811783"/>
          </a:xfrm>
          <a:prstGeom prst="roundRect">
            <a:avLst>
              <a:gd name="adj" fmla="val 2579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4780211" y="4052367"/>
            <a:ext cx="1964978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Semantic Interpretation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80211" y="4363641"/>
            <a:ext cx="37358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complex language relationships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80182" y="514052"/>
            <a:ext cx="4719638" cy="34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Demonstration Using BERT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980182" y="970359"/>
            <a:ext cx="76407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the </a:t>
            </a: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Hugging Face Transformers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library, BERT-based sentiment analysis can be implemented in just a few lines of Python.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0182" y="1229469"/>
            <a:ext cx="2544589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1 — Install Required Libraries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80182" y="1514921"/>
            <a:ext cx="7183562" cy="352648"/>
          </a:xfrm>
          <a:prstGeom prst="roundRect">
            <a:avLst>
              <a:gd name="adj" fmla="val 4428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975047" y="1514921"/>
            <a:ext cx="7193831" cy="352648"/>
          </a:xfrm>
          <a:prstGeom prst="roundRect">
            <a:avLst>
              <a:gd name="adj" fmla="val 4428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1105123" y="1619027"/>
            <a:ext cx="739087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transformers torch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80182" y="1982242"/>
            <a:ext cx="2689696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2 — Run the Sentiment Pipeline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0182" y="2267694"/>
            <a:ext cx="7183562" cy="1219274"/>
          </a:xfrm>
          <a:prstGeom prst="roundRect">
            <a:avLst>
              <a:gd name="adj" fmla="val 1281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975047" y="2267694"/>
            <a:ext cx="7193831" cy="1219274"/>
          </a:xfrm>
          <a:prstGeom prst="roundRect">
            <a:avLst>
              <a:gd name="adj" fmla="val 1281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105123" y="2371799"/>
            <a:ext cx="6933679" cy="1011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pipeline</a:t>
            </a:r>
            <a:endParaRPr lang="en-US" sz="800" dirty="0"/>
          </a:p>
          <a:p>
            <a:pPr marL="0" indent="0" algn="l">
              <a:lnSpc>
                <a:spcPct val="116000"/>
              </a:lnSpc>
              <a:buNone/>
            </a:pPr>
            <a:endParaRPr lang="en-US" sz="8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 = pipeline("sentiment-analysis")</a:t>
            </a:r>
            <a:endParaRPr lang="en-US" sz="800" dirty="0"/>
          </a:p>
          <a:p>
            <a:pPr marL="0" indent="0" algn="l">
              <a:lnSpc>
                <a:spcPct val="116000"/>
              </a:lnSpc>
              <a:buNone/>
            </a:pPr>
            <a:endParaRPr lang="en-US" sz="8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classifier("The course content is excellent and very informative.")</a:t>
            </a:r>
            <a:endParaRPr lang="en-US" sz="800" dirty="0"/>
          </a:p>
          <a:p>
            <a:pPr marL="0" indent="0" algn="l">
              <a:lnSpc>
                <a:spcPct val="116000"/>
              </a:lnSpc>
              <a:buNone/>
            </a:pPr>
            <a:endParaRPr lang="en-US" sz="8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80182" y="3601641"/>
            <a:ext cx="1823591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Expected Output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80182" y="3887093"/>
            <a:ext cx="7183562" cy="352648"/>
          </a:xfrm>
          <a:prstGeom prst="roundRect">
            <a:avLst>
              <a:gd name="adj" fmla="val 4428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975047" y="3887093"/>
            <a:ext cx="7193831" cy="352648"/>
          </a:xfrm>
          <a:prstGeom prst="roundRect">
            <a:avLst>
              <a:gd name="adj" fmla="val 4428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1105123" y="3991198"/>
            <a:ext cx="739087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[{'label': 'POSITIVE', 'score': 0.9998}]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80182" y="4325689"/>
            <a:ext cx="7183562" cy="512043"/>
          </a:xfrm>
          <a:prstGeom prst="roundRect">
            <a:avLst>
              <a:gd name="adj" fmla="val 3050"/>
            </a:avLst>
          </a:prstGeom>
          <a:solidFill>
            <a:srgbClr val="B6FCB8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287" y="4469383"/>
            <a:ext cx="130076" cy="10410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18468" y="4428083"/>
            <a:ext cx="6741170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pipeline automatically loads a pretrained BERT model and returns a label with a confidence score — no manual feature engineering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349" y="661913"/>
            <a:ext cx="5884143" cy="42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Domain-Specific Pretrained Models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349" y="1271364"/>
            <a:ext cx="8229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General-purpose BERT may underperform in specialized fields. Domain-specific variants are fine-tuned on industry corpora for superior results.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349" y="1808559"/>
            <a:ext cx="4054376" cy="987772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2307" y="1953518"/>
            <a:ext cx="1715319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FinBERT </a:t>
            </a:r>
            <a:r>
              <a:rPr lang="en-US" sz="13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📈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2307" y="2249686"/>
            <a:ext cx="376445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Finance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Financial news analysis, stock market sentiment prediction, investor mood tracking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32201" y="1808559"/>
            <a:ext cx="4054450" cy="987772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7160" y="1953518"/>
            <a:ext cx="1715319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BioBERT </a:t>
            </a:r>
            <a:r>
              <a:rPr lang="en-US" sz="13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🏥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77160" y="2249686"/>
            <a:ext cx="376453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Healthcare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Medical document analysis, clinical NLP, biomedical entity recognition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349" y="2916808"/>
            <a:ext cx="4054376" cy="987772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2307" y="3061767"/>
            <a:ext cx="1715319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LegalBERT </a:t>
            </a:r>
            <a:r>
              <a:rPr lang="en-US" sz="13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⚖️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307" y="3357935"/>
            <a:ext cx="376445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Legal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Legal document classification, case analysis, contract review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32201" y="2916808"/>
            <a:ext cx="4054450" cy="987772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7160" y="3061767"/>
            <a:ext cx="2008063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RoBERTa &amp; DistilBERT </a:t>
            </a:r>
            <a:r>
              <a:rPr lang="en-US" sz="13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77160" y="3357935"/>
            <a:ext cx="376453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Optimized BERT variants — RoBERTa for accuracy; DistilBERT for lightweight, fast deployment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349" y="4040088"/>
            <a:ext cx="8229302" cy="728588"/>
          </a:xfrm>
          <a:prstGeom prst="roundRect">
            <a:avLst>
              <a:gd name="adj" fmla="val 2691"/>
            </a:avLst>
          </a:prstGeom>
          <a:solidFill>
            <a:srgbClr val="B6D6FC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20" y="4231928"/>
            <a:ext cx="163339" cy="13067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82030" y="4193232"/>
            <a:ext cx="767395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Domain-specific models understand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specialized vocabulary, terminology, and language patterns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general models frequently misinterpret.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50912" y="542255"/>
            <a:ext cx="4988049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 &amp; Industry Insights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564782" y="1035397"/>
            <a:ext cx="14288" cy="3185517"/>
          </a:xfrm>
          <a:prstGeom prst="roundRect">
            <a:avLst>
              <a:gd name="adj" fmla="val 116275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4129385" y="1152823"/>
            <a:ext cx="332259" cy="14288"/>
          </a:xfrm>
          <a:prstGeom prst="roundRect">
            <a:avLst>
              <a:gd name="adj" fmla="val 116275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4447356" y="1035397"/>
            <a:ext cx="249138" cy="24913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484712" y="1050950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64606" y="1073423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Lexicon Methods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0912" y="1306934"/>
            <a:ext cx="3267298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 and simple, but fail on context and sarcasm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2207" y="1768822"/>
            <a:ext cx="332259" cy="14288"/>
          </a:xfrm>
          <a:prstGeom prst="roundRect">
            <a:avLst>
              <a:gd name="adj" fmla="val 116275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47356" y="1651397"/>
            <a:ext cx="249138" cy="24913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4484712" y="1666949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25641" y="1689422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Statistical 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5641" y="1922934"/>
            <a:ext cx="326737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Data-driven patterns, limited by feature engineering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29385" y="2317328"/>
            <a:ext cx="332259" cy="14288"/>
          </a:xfrm>
          <a:prstGeom prst="roundRect">
            <a:avLst>
              <a:gd name="adj" fmla="val 116275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4447356" y="2199903"/>
            <a:ext cx="249138" cy="24913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4484712" y="2215455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564606" y="2237929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0912" y="2471440"/>
            <a:ext cx="3267298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Self-attention unlocks true contextual understanding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82207" y="2865834"/>
            <a:ext cx="332259" cy="14288"/>
          </a:xfrm>
          <a:prstGeom prst="roundRect">
            <a:avLst>
              <a:gd name="adj" fmla="val 116275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4447356" y="2748409"/>
            <a:ext cx="249138" cy="24913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4484712" y="2763962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25641" y="2786435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BERT &amp; Variants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5641" y="3019946"/>
            <a:ext cx="326737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Bidirectional learning sets the state of the art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29385" y="3414340"/>
            <a:ext cx="332259" cy="14288"/>
          </a:xfrm>
          <a:prstGeom prst="roundRect">
            <a:avLst>
              <a:gd name="adj" fmla="val 116275"/>
            </a:avLst>
          </a:prstGeom>
          <a:solidFill>
            <a:srgbClr val="D8D4D4"/>
          </a:solidFill>
          <a:ln/>
        </p:spPr>
      </p:sp>
      <p:sp>
        <p:nvSpPr>
          <p:cNvPr id="27" name="Shape 25"/>
          <p:cNvSpPr/>
          <p:nvPr/>
        </p:nvSpPr>
        <p:spPr>
          <a:xfrm>
            <a:off x="4447356" y="3296915"/>
            <a:ext cx="249138" cy="24913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8" name="Text 26"/>
          <p:cNvSpPr/>
          <p:nvPr/>
        </p:nvSpPr>
        <p:spPr>
          <a:xfrm>
            <a:off x="4484712" y="3312468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564606" y="3334941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Domain Models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0912" y="3568452"/>
            <a:ext cx="3267298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Specialized pretraining maximizes industry performance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7004" y="4415582"/>
            <a:ext cx="7476009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 NLP systems powered by Transformer-based models are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transforming how organizations understand human language and emotions at scale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across business intelligence, healthcare, finance, and beyond.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0912" y="4318248"/>
            <a:ext cx="14288" cy="510183"/>
          </a:xfrm>
          <a:prstGeom prst="rect">
            <a:avLst/>
          </a:prstGeom>
          <a:solidFill>
            <a:srgbClr val="E04F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1113</Words>
  <Application>Microsoft Macintosh PowerPoint</Application>
  <PresentationFormat>On-screen Show (16:9)</PresentationFormat>
  <Paragraphs>204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PT Serif Light</vt:lpstr>
      <vt:lpstr>PT Serif</vt:lpstr>
      <vt:lpstr>Calibri</vt:lpstr>
      <vt:lpstr>DM Sans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5</cp:revision>
  <dcterms:created xsi:type="dcterms:W3CDTF">2026-05-31T08:51:23Z</dcterms:created>
  <dcterms:modified xsi:type="dcterms:W3CDTF">2026-06-01T04:47:53Z</dcterms:modified>
</cp:coreProperties>
</file>