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0" r:id="rId16"/>
  </p:sldIdLst>
  <p:sldSz cx="9144000" cy="5143500" type="screen16x9"/>
  <p:notesSz cx="5143500" cy="9144000"/>
  <p:embeddedFontLst>
    <p:embeddedFont>
      <p:font typeface="DM Sans" pitchFamily="2" charset="77"/>
      <p:regular r:id="rId18"/>
      <p:bold r:id="rId19"/>
      <p:italic r:id="rId20"/>
    </p:embeddedFont>
    <p:embeddedFont>
      <p:font typeface="PT Serif" panose="020A0603040505020204" pitchFamily="18" charset="77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57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027" y="1459632"/>
            <a:ext cx="7671346" cy="930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Sequential Models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71462" y="2069009"/>
            <a:ext cx="5364063" cy="64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for NLP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4274" y="2772520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Teaching Machines to Understand Sequences, Context, and Language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11658" y="533140"/>
            <a:ext cx="4130501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9409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16001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24943"/>
            <a:ext cx="2232794" cy="27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Sequential Data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6119" y="2289125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order-dependent information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59409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816001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924943"/>
            <a:ext cx="2622724" cy="55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Recurrent Neural Networks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260601" y="2568253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Memory-enabled architectures for sequences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59409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816001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1924943"/>
            <a:ext cx="2232794" cy="27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025083" y="2289125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 Short-Term Memory and gating mechanisms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26990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491805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600748"/>
            <a:ext cx="2232794" cy="27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 Word Prediction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6119" y="3964930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sequence modeling in practice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26990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491805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600748"/>
            <a:ext cx="2232794" cy="27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Applications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642842" y="3964930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uses of sequential models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412775"/>
            <a:ext cx="887983" cy="249882"/>
          </a:xfrm>
          <a:prstGeom prst="roundRect">
            <a:avLst>
              <a:gd name="adj" fmla="val 6489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53938" y="453256"/>
            <a:ext cx="1183109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714152"/>
            <a:ext cx="5102572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Sequential Models?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72901" y="1350690"/>
            <a:ext cx="8198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models are designed for data where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matters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each element depends on what came before it. Unlike static inputs, sequential data carries temporal or structural dependencies that must be preserved during processing.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2901" y="1917799"/>
            <a:ext cx="4034730" cy="991195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07963" y="2052861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Sentences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7963" y="2351708"/>
            <a:ext cx="37646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love NLP" ≠ "NLP love I" — word order defines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36368" y="1917799"/>
            <a:ext cx="4034730" cy="991195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4771430" y="2052861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Speech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71430" y="2351708"/>
            <a:ext cx="37646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Sound waves unfold over time with context-sensitive phonemes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901" y="3037731"/>
            <a:ext cx="4034730" cy="991195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07963" y="3172792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 Series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963" y="3471639"/>
            <a:ext cx="37646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 prices, sensor readings — past values predict future 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6368" y="3037731"/>
            <a:ext cx="4034730" cy="991195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71430" y="3172792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DNA Sequences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71430" y="3471639"/>
            <a:ext cx="37646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Biological patterns encoded in ordered nucleotide chains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2901" y="4173810"/>
            <a:ext cx="8198197" cy="556915"/>
          </a:xfrm>
          <a:prstGeom prst="roundRect">
            <a:avLst>
              <a:gd name="adj" fmla="val 3639"/>
            </a:avLst>
          </a:prstGeom>
          <a:solidFill>
            <a:srgbClr val="B6D6FC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63" y="4371975"/>
            <a:ext cx="168846" cy="13506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6809" y="4327772"/>
            <a:ext cx="808136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Goal: Learn patterns and dependencies across ordered sequences — not just within individual elements.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85589"/>
            <a:ext cx="826443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28080"/>
            <a:ext cx="111353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08695"/>
            <a:ext cx="791869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Traditional Neural Networks Fail at NLP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928217"/>
            <a:ext cx="302627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Standard Feedforward Network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302520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word is treated as a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completely independent input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There is no mechanism to pass information between time steps. The words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"I"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"love"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"NLP"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processed in isolation — the network has no idea they form a coherent sentence.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6119" y="3596060"/>
            <a:ext cx="3902943" cy="602382"/>
          </a:xfrm>
          <a:prstGeom prst="roundRect">
            <a:avLst>
              <a:gd name="adj" fmla="val 3530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54" y="3768588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6694" y="3726061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memory. No context. No sequence awareness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49701" y="1928217"/>
            <a:ext cx="323210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Language Actually Requires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749701" y="230252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of word order and grammar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of earlier words to interpret later ones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 propagation across the full sentence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Variable-length input handling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49701" y="348600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is inherently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contextual and temporal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 model that forgets the beginning of a sentence before it reaches the end cannot understand meaning.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0567"/>
            <a:ext cx="1022524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53058"/>
            <a:ext cx="13096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33673"/>
            <a:ext cx="608290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Recurrent Neural Networks (RNN)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61143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RNN is a neural network architecture specifically designed to process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 data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maintaining a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an internal memory that is updated at each time step and passed forward through the sequence.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224534"/>
            <a:ext cx="2622724" cy="1319659"/>
          </a:xfrm>
          <a:prstGeom prst="roundRect">
            <a:avLst>
              <a:gd name="adj" fmla="val 161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927" y="238534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 Word at a 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6927" y="2702942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network processes each token sequentially, step by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0601" y="2224534"/>
            <a:ext cx="2622724" cy="1319659"/>
          </a:xfrm>
          <a:prstGeom prst="roundRect">
            <a:avLst>
              <a:gd name="adj" fmla="val 161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1410" y="2385343"/>
            <a:ext cx="202346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Hidden State as Memory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21410" y="2702942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Previous output feeds back into the network as contextual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25083" y="2224534"/>
            <a:ext cx="2622724" cy="1319659"/>
          </a:xfrm>
          <a:prstGeom prst="roundRect">
            <a:avLst>
              <a:gd name="adj" fmla="val 161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5892" y="238534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Recurrent Loop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85892" y="2702942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weights are applied at every step —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 sharing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6119" y="3703662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18719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880842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 The current output depends on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current input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previous hidden state — this is what gives RNNs their memory.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0891" y="293059"/>
            <a:ext cx="5179665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Working of an RNN — Step by Step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0891" y="798870"/>
            <a:ext cx="85578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 the sentence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love machine learning."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RNN processes one word at a time, updating its </a:t>
            </a:r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 (memory) at every step: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21642" y="4425479"/>
            <a:ext cx="862235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each time step, the formula is: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Word → Hidden State Update → Output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hidden state carries a compressed representation of all previously seen words, enabling the network to generate context-aware predictions.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F7741A-C114-ED3F-DE2A-46CFF994F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693" y="1400477"/>
            <a:ext cx="5362614" cy="2732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7355" y="393296"/>
            <a:ext cx="5771852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Architecture &amp; The Core Formula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643" y="1256556"/>
            <a:ext cx="2052786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Structural Components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643" y="1558454"/>
            <a:ext cx="3907110" cy="724719"/>
          </a:xfrm>
          <a:prstGeom prst="roundRect">
            <a:avLst>
              <a:gd name="adj" fmla="val 946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355" y="1558454"/>
            <a:ext cx="57150" cy="724719"/>
          </a:xfrm>
          <a:prstGeom prst="roundRect">
            <a:avLst>
              <a:gd name="adj" fmla="val 30814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696144" y="1690092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6144" y="1979861"/>
            <a:ext cx="360097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Receives the current token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a vector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643" y="2380357"/>
            <a:ext cx="3907110" cy="724719"/>
          </a:xfrm>
          <a:prstGeom prst="roundRect">
            <a:avLst>
              <a:gd name="adj" fmla="val 946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355" y="2380357"/>
            <a:ext cx="57150" cy="724719"/>
          </a:xfrm>
          <a:prstGeom prst="roundRect">
            <a:avLst>
              <a:gd name="adj" fmla="val 30814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96144" y="2511996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Hidden 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6144" y="2801764"/>
            <a:ext cx="360097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Encodes memory from all prior time steps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643" y="3202260"/>
            <a:ext cx="3907110" cy="724719"/>
          </a:xfrm>
          <a:prstGeom prst="roundRect">
            <a:avLst>
              <a:gd name="adj" fmla="val 946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355" y="3202260"/>
            <a:ext cx="57150" cy="724719"/>
          </a:xfrm>
          <a:prstGeom prst="roundRect">
            <a:avLst>
              <a:gd name="adj" fmla="val 30814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96144" y="3333899"/>
            <a:ext cx="154081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6144" y="3623667"/>
            <a:ext cx="360097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prediction or passes state forward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643" y="4036293"/>
            <a:ext cx="3907110" cy="615925"/>
          </a:xfrm>
          <a:prstGeom prst="roundRect">
            <a:avLst>
              <a:gd name="adj" fmla="val 2859"/>
            </a:avLst>
          </a:prstGeom>
          <a:solidFill>
            <a:srgbClr val="FFCDB3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94" y="4204097"/>
            <a:ext cx="146745" cy="11735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03089" y="4162797"/>
            <a:ext cx="340831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weights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shared across every time step — this is called parameter sharing.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19861" y="1256556"/>
            <a:ext cx="218249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Recurrence Equation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9861" y="1572146"/>
            <a:ext cx="4364310" cy="20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19861" y="1896442"/>
            <a:ext cx="436431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Where: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719861" y="2155552"/>
            <a:ext cx="3907110" cy="120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current word input vector</a:t>
            </a:r>
            <a:endParaRPr lang="en-US" sz="11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IN" sz="1100" b="1" dirty="0">
                <a:latin typeface="DM Sans" pitchFamily="2" charset="0"/>
              </a:rPr>
              <a:t>hₜ₋₁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previous hidden state (memory)</a:t>
            </a:r>
            <a:endParaRPr lang="en-US" sz="11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input weight matrix</a:t>
            </a:r>
            <a:endParaRPr lang="en-US" sz="11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recurrent weight matrix</a:t>
            </a:r>
            <a:endParaRPr lang="en-US" sz="11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IN" sz="1100" b="1" dirty="0">
                <a:latin typeface="DM Sans" pitchFamily="2" charset="0"/>
              </a:rPr>
              <a:t>hₜ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new hidden state after update</a:t>
            </a:r>
            <a:endParaRPr lang="en-US" sz="11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activation function (typically tanh)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E35D26-957E-B56F-694B-255B020E9CBF}"/>
              </a:ext>
            </a:extLst>
          </p:cNvPr>
          <p:cNvSpPr txBox="1"/>
          <p:nvPr/>
        </p:nvSpPr>
        <p:spPr>
          <a:xfrm>
            <a:off x="5207267" y="1505203"/>
            <a:ext cx="26517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DM Sans" pitchFamily="2" charset="0"/>
              </a:rPr>
              <a:t>hₜ = f(</a:t>
            </a:r>
            <a:r>
              <a:rPr lang="en-IN" sz="1600" b="1" dirty="0" err="1">
                <a:latin typeface="DM Sans" pitchFamily="2" charset="0"/>
              </a:rPr>
              <a:t>Wx</a:t>
            </a:r>
            <a:r>
              <a:rPr lang="en-IN" sz="1600" b="1" dirty="0">
                <a:latin typeface="DM Sans" pitchFamily="2" charset="0"/>
              </a:rPr>
              <a:t>ₜ + Uhₜ₋₁)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6790"/>
            <a:ext cx="799579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69280"/>
            <a:ext cx="108666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STRENGTHS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49896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 of RNNs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27659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15919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Sequence-Aware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6119" y="247679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Preserves word order and captures the temporal structure of language that feedforward networks miss entirely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1627659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15919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Variable-Length Input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0553" y="247679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sentences of any length without requiring fixed-size inputs — ideal for real-world text data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13943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74548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Contextual Learning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96119" y="4063082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a running context from previous tokens, enabling meaningful predictions based on prior words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3213943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74548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Broad NLP Coverage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660553" y="4063082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Powers language modeling, machine translation, chatbots, speech recognition, and text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34504"/>
            <a:ext cx="808509" cy="260821"/>
          </a:xfrm>
          <a:prstGeom prst="roundRect">
            <a:avLst>
              <a:gd name="adj" fmla="val 6421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72095" y="476324"/>
            <a:ext cx="109827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750243"/>
            <a:ext cx="5767388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Vanishing Gradient Problem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488379" y="1551533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Goes Wrong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8379" y="1917799"/>
            <a:ext cx="3913436" cy="1452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During backpropagation through time (BPTT), gradients are multiplied repeatedly across time steps. For long sequences, these gradients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shrink exponentially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effectively reaching zero before reaching the earliest time steps.</a:t>
            </a:r>
            <a:endParaRPr lang="en-US" sz="11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result: the network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cannot learn dependencies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between words that are far apart.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8379" y="3524622"/>
            <a:ext cx="3913436" cy="1029891"/>
          </a:xfrm>
          <a:prstGeom prst="roundRect">
            <a:avLst>
              <a:gd name="adj" fmla="val 2033"/>
            </a:avLst>
          </a:prstGeom>
          <a:solidFill>
            <a:srgbClr val="FFB3B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6" y="3734023"/>
            <a:ext cx="174427" cy="1395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59" y="3696816"/>
            <a:ext cx="332043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context is lost. The model forgets the beginning of long sentences before processing the end.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46947" y="1551533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Concrete Example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56274" y="1934914"/>
            <a:ext cx="370410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 which I watched with my friends last weekend was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absolutely fantastic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46947" y="1934914"/>
            <a:ext cx="19050" cy="442913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0"/>
          <p:cNvSpPr/>
          <p:nvPr/>
        </p:nvSpPr>
        <p:spPr>
          <a:xfrm>
            <a:off x="4746947" y="2532311"/>
            <a:ext cx="391343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the time the RNN reaches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"absolutely fantastic"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it has likely forgotten the original subject —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gradient signal tracing back to that early token has vanished.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46947" y="3541737"/>
            <a:ext cx="3913436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Subject-verb agreement breaks down</a:t>
            </a:r>
            <a:endParaRPr lang="en-US" sz="110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Long-range dependencies fail</a:t>
            </a:r>
            <a:endParaRPr lang="en-US" sz="110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performance degrades with sequence length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9617"/>
            <a:ext cx="710282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72108"/>
            <a:ext cx="99737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52723"/>
            <a:ext cx="493022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LSTM Was Introduced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63048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 Short-Term Memory (LSTM)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introduced by Hochreiter &amp; Schmidhuber in 1997, was specifically engineered to address the vanishing gradient problem and extend the effective memory of recurrent networks.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243584"/>
            <a:ext cx="2622724" cy="1281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38534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Remember Longer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7877" y="2702942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Retains important information across many time steps without degradation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243584"/>
            <a:ext cx="2622724" cy="1281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402360" y="238534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Forget Selectively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02360" y="2702942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Actively discards irrelevant information using a dedicated forget mechanism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243584"/>
            <a:ext cx="2622724" cy="1281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166842" y="238534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Stable Gradients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66842" y="2702942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Cell state design keeps gradient magnitudes stable during backpropagation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684612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899669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861792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Advantage: LSTM introduces a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cell state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dedicated memory lane that runs through the entire sequence, protected by learned gating mechanisms.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388962"/>
            <a:ext cx="928315" cy="249882"/>
          </a:xfrm>
          <a:prstGeom prst="roundRect">
            <a:avLst>
              <a:gd name="adj" fmla="val 6489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53938" y="429444"/>
            <a:ext cx="1223442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690339"/>
            <a:ext cx="6475809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 Architecture — The Three Gates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72901" y="1326877"/>
            <a:ext cx="8198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the heart of every LSTM cell are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learnable gates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sigmoid-activated controllers that determine what information flows through the cell state at each time step: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893987"/>
            <a:ext cx="2732708" cy="5404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7963" y="2563192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Forget Gate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7963" y="2862039"/>
            <a:ext cx="2462585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to erase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the previous cell state. Outputs values between 0 (forget completely) and 1 (keep entirely)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609" y="1893987"/>
            <a:ext cx="2732708" cy="5404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40671" y="2563192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Gate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40671" y="2862039"/>
            <a:ext cx="2462585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new information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write into the cell state, combining current input with prior hidden state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317" y="1893987"/>
            <a:ext cx="2732782" cy="5404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3378" y="2563192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Gate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73378" y="2862039"/>
            <a:ext cx="2462659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to expose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the hidden state output — the filtered representation passed to the next step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2901" y="3986436"/>
            <a:ext cx="8198197" cy="768028"/>
          </a:xfrm>
          <a:prstGeom prst="roundRect">
            <a:avLst>
              <a:gd name="adj" fmla="val 2639"/>
            </a:avLst>
          </a:prstGeom>
          <a:solidFill>
            <a:srgbClr val="B6D6F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963" y="4184600"/>
            <a:ext cx="168846" cy="1350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1870" y="4148882"/>
            <a:ext cx="762416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Together, these gates enable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fine-grained control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over memory — the network learns when to remember, when to forget, and what to share.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65162" y="666899"/>
            <a:ext cx="533593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vs. LSTM — Head-to-Head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65162" y="1289819"/>
            <a:ext cx="8213675" cy="2592586"/>
          </a:xfrm>
          <a:prstGeom prst="roundRect">
            <a:avLst>
              <a:gd name="adj" fmla="val 7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2903" y="1374056"/>
            <a:ext cx="26502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66529" y="1374056"/>
            <a:ext cx="305804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37945" y="1374056"/>
            <a:ext cx="306042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LSTM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2903" y="1743745"/>
            <a:ext cx="26502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6529" y="1743745"/>
            <a:ext cx="305804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Short-term only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37945" y="1743745"/>
            <a:ext cx="306042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Short-term + Long-term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2903" y="2113434"/>
            <a:ext cx="26502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 Sequence Handling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6529" y="2113434"/>
            <a:ext cx="305804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Degrades quickly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37945" y="2113434"/>
            <a:ext cx="306042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well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2903" y="2483123"/>
            <a:ext cx="26502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Vanishing Gradient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66529" y="2483123"/>
            <a:ext cx="305804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Frequent 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37945" y="2483123"/>
            <a:ext cx="306042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Significantly reduced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2903" y="2852812"/>
            <a:ext cx="26502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 Complexity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66529" y="2852812"/>
            <a:ext cx="305804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— one hidden state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37945" y="2852812"/>
            <a:ext cx="306042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Complex — cell state + 3 gates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2903" y="3222501"/>
            <a:ext cx="26502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Speed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66529" y="3222501"/>
            <a:ext cx="305804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37945" y="3222501"/>
            <a:ext cx="306042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Slower per step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2903" y="3592190"/>
            <a:ext cx="265025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Performance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66529" y="3592190"/>
            <a:ext cx="305804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37945" y="3592190"/>
            <a:ext cx="306042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Substantially better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5162" y="4022527"/>
            <a:ext cx="8213675" cy="748233"/>
          </a:xfrm>
          <a:prstGeom prst="roundRect">
            <a:avLst>
              <a:gd name="adj" fmla="val 2664"/>
            </a:avLst>
          </a:prstGeom>
          <a:solidFill>
            <a:srgbClr val="B6FCB8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4219947"/>
            <a:ext cx="166092" cy="13290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97062" y="4180284"/>
            <a:ext cx="764887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 Line: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LSTM is the evolved form of RNN — more complex, but dramatically more capable for real-world language tasks.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5486"/>
            <a:ext cx="472730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Email Auto-Complete System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512540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840037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an Email Auto-Complete System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the next characters in a sentence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realistic email phrases automatically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646164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We Did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973660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common email phrases dataset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Converted text → numbers (character-level)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an LSTM model to learn patterns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512540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Idea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14081" y="1855589"/>
            <a:ext cx="4195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Given previous text → what comes next?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8046" y="1855589"/>
            <a:ext cx="14288" cy="198462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728046" y="2193578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Real-Life Example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28046" y="2536627"/>
            <a:ext cx="3924598" cy="773906"/>
          </a:xfrm>
          <a:prstGeom prst="roundRect">
            <a:avLst>
              <a:gd name="adj" fmla="val 2404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4852020" y="266060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52020" y="2988097"/>
            <a:ext cx="367665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"kind 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28046" y="3434507"/>
            <a:ext cx="3924598" cy="773906"/>
          </a:xfrm>
          <a:prstGeom prst="roundRect">
            <a:avLst>
              <a:gd name="adj" fmla="val 2404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852020" y="355848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52020" y="3885977"/>
            <a:ext cx="367665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"kind regards"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7978"/>
            <a:ext cx="379653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 Flow &amp; Output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2304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219498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31006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1587996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→ characters → numbers. Padding applied for equal-length sequences.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33987" y="102304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1219498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4633987" y="1310060"/>
            <a:ext cx="167893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Training (LSTM)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33987" y="1587996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sequence patterns from data. Example: "thank" → "you".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6119" y="220191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2398365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2488927"/>
            <a:ext cx="199608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Prediction (Auto-complete)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6119" y="2766864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seed text, then predict the next character step-by-step.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3987" y="220191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87" y="2398365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33987" y="248892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Temperature Control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3987" y="2766864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→ safe &amp; professional. High → creative &amp; random.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119" y="3244379"/>
            <a:ext cx="211708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Final Output Examples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6119" y="3633936"/>
            <a:ext cx="2634555" cy="474985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380" y="3772198"/>
            <a:ext cx="23580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"best " → </a:t>
            </a: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"best regards"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54648" y="3633936"/>
            <a:ext cx="2634630" cy="474985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909" y="3772198"/>
            <a:ext cx="23581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"hope " → </a:t>
            </a: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"hope you are doing well"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3252" y="3633936"/>
            <a:ext cx="2634555" cy="474985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1513" y="3772198"/>
            <a:ext cx="23580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"many " → </a:t>
            </a: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"many thanks"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6119" y="4248448"/>
            <a:ext cx="8151763" cy="527000"/>
          </a:xfrm>
          <a:prstGeom prst="roundRect">
            <a:avLst>
              <a:gd name="adj" fmla="val 3531"/>
            </a:avLst>
          </a:prstGeom>
          <a:solidFill>
            <a:srgbClr val="B6D6FC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432995"/>
            <a:ext cx="155004" cy="12397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99071" y="4403378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</a:t>
            </a:r>
            <a:r>
              <a:rPr lang="en-US" sz="9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One-Line Summary:</a:t>
            </a: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Train → Learn patterns → Predict next → Generate text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74092"/>
            <a:ext cx="5122738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&amp; 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349" y="1204020"/>
            <a:ext cx="231405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Applications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349" y="1576760"/>
            <a:ext cx="196007" cy="1960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3832" y="1582489"/>
            <a:ext cx="17153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Conversational AI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73832" y="1917353"/>
            <a:ext cx="36387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ChatGPT-style systems, virtual assistants, and chatbots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349" y="2381994"/>
            <a:ext cx="196007" cy="1960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3832" y="2387724"/>
            <a:ext cx="17153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Translation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73832" y="2722587"/>
            <a:ext cx="36387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Translate and sequence-to-sequence models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349" y="3187229"/>
            <a:ext cx="196007" cy="1960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3832" y="3192959"/>
            <a:ext cx="17153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Speech Recognition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73832" y="3527822"/>
            <a:ext cx="36387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 assistants, transcription, dictation systems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349" y="3992463"/>
            <a:ext cx="196007" cy="1960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3832" y="3998193"/>
            <a:ext cx="17153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Generation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73832" y="4333056"/>
            <a:ext cx="36387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Autocomplete, summarization, predictive typing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736157" y="1204020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Summary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736157" y="1553914"/>
            <a:ext cx="1917353" cy="1413123"/>
          </a:xfrm>
          <a:prstGeom prst="roundRect">
            <a:avLst>
              <a:gd name="adj" fmla="val 1387"/>
            </a:avLst>
          </a:prstGeom>
          <a:solidFill>
            <a:srgbClr val="F2EEEE"/>
          </a:solidFill>
          <a:ln/>
        </p:spPr>
      </p:sp>
      <p:sp>
        <p:nvSpPr>
          <p:cNvPr id="18" name="Text 12"/>
          <p:cNvSpPr/>
          <p:nvPr/>
        </p:nvSpPr>
        <p:spPr>
          <a:xfrm>
            <a:off x="4866829" y="1684586"/>
            <a:ext cx="1656011" cy="42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needs sequential models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866829" y="2233836"/>
            <a:ext cx="165601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is order-dependent — standard networks can't capture this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773987" y="1553914"/>
            <a:ext cx="1917427" cy="1413123"/>
          </a:xfrm>
          <a:prstGeom prst="roundRect">
            <a:avLst>
              <a:gd name="adj" fmla="val 1387"/>
            </a:avLst>
          </a:prstGeom>
          <a:solidFill>
            <a:srgbClr val="F2EEEE"/>
          </a:solidFill>
          <a:ln/>
        </p:spPr>
      </p:sp>
      <p:sp>
        <p:nvSpPr>
          <p:cNvPr id="21" name="Text 15"/>
          <p:cNvSpPr/>
          <p:nvPr/>
        </p:nvSpPr>
        <p:spPr>
          <a:xfrm>
            <a:off x="6904658" y="1684586"/>
            <a:ext cx="1656085" cy="42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RNN introduced memory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904658" y="2233836"/>
            <a:ext cx="1656085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state enables context propagation across a sequence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36157" y="3087514"/>
            <a:ext cx="1917353" cy="1413123"/>
          </a:xfrm>
          <a:prstGeom prst="roundRect">
            <a:avLst>
              <a:gd name="adj" fmla="val 1387"/>
            </a:avLst>
          </a:prstGeom>
          <a:solidFill>
            <a:srgbClr val="F2EEEE"/>
          </a:solidFill>
          <a:ln/>
        </p:spPr>
      </p:sp>
      <p:sp>
        <p:nvSpPr>
          <p:cNvPr id="24" name="Text 18"/>
          <p:cNvSpPr/>
          <p:nvPr/>
        </p:nvSpPr>
        <p:spPr>
          <a:xfrm>
            <a:off x="4866829" y="3218185"/>
            <a:ext cx="1656011" cy="42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LSTM improved long-term learning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866829" y="3767435"/>
            <a:ext cx="165601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Gated cell state solves the vanishing gradient bottleneck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773987" y="3087514"/>
            <a:ext cx="1917427" cy="1413123"/>
          </a:xfrm>
          <a:prstGeom prst="roundRect">
            <a:avLst>
              <a:gd name="adj" fmla="val 1387"/>
            </a:avLst>
          </a:prstGeom>
          <a:solidFill>
            <a:srgbClr val="F2EEEE"/>
          </a:solidFill>
          <a:ln/>
        </p:spPr>
      </p:sp>
      <p:sp>
        <p:nvSpPr>
          <p:cNvPr id="27" name="Text 21"/>
          <p:cNvSpPr/>
          <p:nvPr/>
        </p:nvSpPr>
        <p:spPr>
          <a:xfrm>
            <a:off x="6904658" y="3218185"/>
            <a:ext cx="1656085" cy="428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 for modern NLP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904658" y="3767435"/>
            <a:ext cx="1656085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RNN/LSTM architectures underpin transformer-era breakthroughs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1380</Words>
  <Application>Microsoft Macintosh PowerPoint</Application>
  <PresentationFormat>On-screen Show (16:9)</PresentationFormat>
  <Paragraphs>207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PT Serif Light</vt:lpstr>
      <vt:lpstr>PT Serif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7</cp:revision>
  <dcterms:created xsi:type="dcterms:W3CDTF">2026-05-21T08:00:36Z</dcterms:created>
  <dcterms:modified xsi:type="dcterms:W3CDTF">2026-06-06T10:36:14Z</dcterms:modified>
</cp:coreProperties>
</file>