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embeddedFontLst>
    <p:embeddedFont>
      <p:font typeface="DM Sans" pitchFamily="2" charset="77"/>
      <p:regular r:id="rId18"/>
    </p:embeddedFont>
    <p:embeddedFont>
      <p:font typeface="PT Serif" panose="020A0603040505020204" pitchFamily="18" charset="77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9607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9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svg"/><Relationship Id="rId5" Type="http://schemas.openxmlformats.org/officeDocument/2006/relationships/image" Target="../media/image2.png"/><Relationship Id="rId4" Type="http://schemas.openxmlformats.org/officeDocument/2006/relationships/image" Target="../media/image10.png"/><Relationship Id="rId9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0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635726" y="1574312"/>
            <a:ext cx="10476411" cy="1865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Word Embeddings</a:t>
            </a:r>
          </a:p>
          <a:p>
            <a:pPr algn="ctr">
              <a:lnSpc>
                <a:spcPct val="104000"/>
              </a:lnSpc>
            </a:pPr>
            <a:endParaRPr lang="en-US" dirty="0">
              <a:solidFill>
                <a:srgbClr val="020202"/>
              </a:solidFill>
              <a:latin typeface="PT Serif" pitchFamily="34" charset="0"/>
              <a:ea typeface="PT Serif" pitchFamily="34" charset="-122"/>
              <a:cs typeface="PT Serif" pitchFamily="34" charset="-120"/>
            </a:endParaRPr>
          </a:p>
          <a:p>
            <a:pPr algn="ctr">
              <a:lnSpc>
                <a:spcPct val="104000"/>
              </a:lnSpc>
            </a:pPr>
            <a:r>
              <a:rPr lang="en-US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Transforming Words into Meaningful Numerical Representations for NLP</a:t>
            </a:r>
            <a:endParaRPr lang="en-US" dirty="0"/>
          </a:p>
          <a:p>
            <a:pPr marL="0" indent="0" algn="ctr">
              <a:lnSpc>
                <a:spcPct val="104000"/>
              </a:lnSpc>
              <a:buNone/>
            </a:pP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92237" y="2830285"/>
            <a:ext cx="8151763" cy="2871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96119" y="1792932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014835"/>
            <a:ext cx="2622724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2123777"/>
            <a:ext cx="283919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are Word Embeddings?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96119" y="2441377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Definition, characteristics, and semantic relationships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60601" y="1792932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0601" y="2014835"/>
            <a:ext cx="2622724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3260601" y="2123777"/>
            <a:ext cx="2497038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Do We Need Them?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260601" y="2441377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Problems with traditional representations and real-world applications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25083" y="1792932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25083" y="2014835"/>
            <a:ext cx="2622724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6025083" y="2123777"/>
            <a:ext cx="247397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Role in the NLP Pipeline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025083" y="2441377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Preprocessing, feature engineering, and what comes after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6119" y="3369841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6119" y="3591744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9" name="Text 17"/>
          <p:cNvSpPr/>
          <p:nvPr/>
        </p:nvSpPr>
        <p:spPr>
          <a:xfrm>
            <a:off x="496119" y="3700686"/>
            <a:ext cx="3520008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Popular Models &amp; Pretrained Vectors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96119" y="4018285"/>
            <a:ext cx="44621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Word2Vec, GloVe, FastText, BERT, and more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42842" y="3369841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42842" y="3591744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3" name="Text 21"/>
          <p:cNvSpPr/>
          <p:nvPr/>
        </p:nvSpPr>
        <p:spPr>
          <a:xfrm>
            <a:off x="4642842" y="3700686"/>
            <a:ext cx="360774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Advantages, Limitations &amp; Takeaways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642842" y="4018285"/>
            <a:ext cx="44621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Honest trade-offs and key lessons</a:t>
            </a:r>
            <a:endParaRPr lang="en-US" sz="1100" dirty="0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F1D3D9AE-F5E5-2D4C-81B3-4B9419B34585}"/>
              </a:ext>
            </a:extLst>
          </p:cNvPr>
          <p:cNvSpPr/>
          <p:nvPr/>
        </p:nvSpPr>
        <p:spPr>
          <a:xfrm>
            <a:off x="496119" y="808323"/>
            <a:ext cx="7322269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2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26450" y="284039"/>
            <a:ext cx="5223049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are Word Embeddings?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26450" y="121240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 embeddings are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dense vector representations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words — each word is mapped to a fixed-length list of numerical values that encode its meaning, context, and relationships to other words.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6119" y="2253109"/>
            <a:ext cx="4004965" cy="1054745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637877" y="2394868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Semantic Meaning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7877" y="2729662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Captures what a word means relative to others in the vocabulary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42842" y="2253109"/>
            <a:ext cx="4005039" cy="1054745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4784601" y="2394868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Context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784601" y="2712467"/>
            <a:ext cx="37215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Words appearing in similar contexts receive similar vector values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6119" y="3449613"/>
            <a:ext cx="4004965" cy="1054745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637877" y="3591371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Similarity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7877" y="3908971"/>
            <a:ext cx="41786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Closeness in vector space reflects closeness in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42842" y="3449613"/>
            <a:ext cx="4005039" cy="1054745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4784601" y="3591371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Relationships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784601" y="3908971"/>
            <a:ext cx="37215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Mathematical operations on vectors reveal linguistic relationships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8232"/>
            <a:ext cx="6564809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Embeddings in Practice: A Simplified Example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96119" y="1273894"/>
            <a:ext cx="8151763" cy="1649611"/>
          </a:xfrm>
          <a:prstGeom prst="roundRect">
            <a:avLst>
              <a:gd name="adj" fmla="val 128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789" y="1368475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680692" y="1368475"/>
            <a:ext cx="46470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Embedding Vector (Simplified)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58856" y="1368475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Domain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2789" y="1779687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80692" y="1779687"/>
            <a:ext cx="46470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[0.25, 0.81, 0.44, ...]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58856" y="1779687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Royalty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2789" y="2190899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80692" y="2190899"/>
            <a:ext cx="46470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[0.27, 0.79, 0.40, ...]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58856" y="2190899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Royalty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789" y="2602111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80692" y="2602111"/>
            <a:ext cx="46470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[0.91, 0.12, 0.33, ...]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58856" y="2602111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Fruit / Tech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119" y="308297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Words with similar meanings produce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similar vector values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they cluster together in high-dimensional space. This is the foundation of semantic similarity in NLP.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6119" y="3696072"/>
            <a:ext cx="8151763" cy="829196"/>
          </a:xfrm>
          <a:prstGeom prst="roundRect">
            <a:avLst>
              <a:gd name="adj" fmla="val 2565"/>
            </a:avLst>
          </a:prstGeom>
          <a:solidFill>
            <a:srgbClr val="B6D6FC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911129"/>
            <a:ext cx="177180" cy="14175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56816" y="3873252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famous arithmetic example: </a:t>
            </a: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King − Man + Woman ≈ Queen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Embeddings can capture gender, hierarchy, and other relationships entirely through vector math.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56295" y="260114"/>
            <a:ext cx="5910858" cy="4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Do We Need Word Embeddings?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93129" y="916344"/>
            <a:ext cx="8702129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Traditional representations like one-hot encoding fail to capture any linguistic meaning. Word embeddings solve this </a:t>
            </a:r>
          </a:p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 scale.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1871" y="1739057"/>
            <a:ext cx="2869853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Problem: One-Hot Encoding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1871" y="2072655"/>
            <a:ext cx="3976092" cy="1024979"/>
          </a:xfrm>
          <a:prstGeom prst="roundRect">
            <a:avLst>
              <a:gd name="adj" fmla="val 184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2839" y="2149599"/>
            <a:ext cx="218569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58504" y="2149599"/>
            <a:ext cx="218569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Representation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72839" y="2489671"/>
            <a:ext cx="218569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58504" y="2489671"/>
            <a:ext cx="218569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[1, 0, 0, 0]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72839" y="2829744"/>
            <a:ext cx="218569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58504" y="2829744"/>
            <a:ext cx="218569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[0, 1, 0, 0]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1871" y="3224138"/>
            <a:ext cx="3976092" cy="881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Sparse vectors — wasteful for large vocabularies</a:t>
            </a:r>
            <a:endParaRPr lang="en-US" sz="120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semantic meaning encoded</a:t>
            </a:r>
            <a:endParaRPr lang="en-US" sz="120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"Cat" and "Dog" appear completely unrelated</a:t>
            </a:r>
            <a:endParaRPr lang="en-US" sz="120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Dimensionality explodes with vocabulary size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30800" y="1739057"/>
            <a:ext cx="283688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Solution: Word Embeddings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30800" y="2072655"/>
            <a:ext cx="1931789" cy="1189509"/>
          </a:xfrm>
          <a:prstGeom prst="roundRect">
            <a:avLst>
              <a:gd name="adj" fmla="val 5765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16512" y="2072655"/>
            <a:ext cx="57150" cy="1189509"/>
          </a:xfrm>
          <a:prstGeom prst="roundRect">
            <a:avLst>
              <a:gd name="adj" fmla="val 33140"/>
            </a:avLst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4914156" y="2213149"/>
            <a:ext cx="2065139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Capture Meaning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4156" y="2532683"/>
            <a:ext cx="1607939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Similar words are numerically closer in vector space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75028" y="2072655"/>
            <a:ext cx="1931863" cy="1189509"/>
          </a:xfrm>
          <a:prstGeom prst="roundRect">
            <a:avLst>
              <a:gd name="adj" fmla="val 5765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0741" y="2072655"/>
            <a:ext cx="57150" cy="1189509"/>
          </a:xfrm>
          <a:prstGeom prst="roundRect">
            <a:avLst>
              <a:gd name="adj" fmla="val 33140"/>
            </a:avLst>
          </a:prstGeom>
          <a:solidFill>
            <a:srgbClr val="E04F00"/>
          </a:solidFill>
          <a:ln/>
        </p:spPr>
      </p:sp>
      <p:sp>
        <p:nvSpPr>
          <p:cNvPr id="22" name="Text 20"/>
          <p:cNvSpPr/>
          <p:nvPr/>
        </p:nvSpPr>
        <p:spPr>
          <a:xfrm>
            <a:off x="6958385" y="2213149"/>
            <a:ext cx="1608013" cy="414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Reduce Dimensionality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79295" y="2616740"/>
            <a:ext cx="160801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Dense vectors are far more computationally efficient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30800" y="3374603"/>
            <a:ext cx="1931789" cy="1189509"/>
          </a:xfrm>
          <a:prstGeom prst="roundRect">
            <a:avLst>
              <a:gd name="adj" fmla="val 5765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16512" y="3374603"/>
            <a:ext cx="57150" cy="1189509"/>
          </a:xfrm>
          <a:prstGeom prst="roundRect">
            <a:avLst>
              <a:gd name="adj" fmla="val 33140"/>
            </a:avLst>
          </a:prstGeom>
          <a:solidFill>
            <a:srgbClr val="E04F00"/>
          </a:solidFill>
          <a:ln/>
        </p:spPr>
      </p:sp>
      <p:sp>
        <p:nvSpPr>
          <p:cNvPr id="26" name="Text 24"/>
          <p:cNvSpPr/>
          <p:nvPr/>
        </p:nvSpPr>
        <p:spPr>
          <a:xfrm>
            <a:off x="4914156" y="3515097"/>
            <a:ext cx="2065139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Automatic Learning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14156" y="3834631"/>
            <a:ext cx="1607939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need for hand-crafted dictionaries or rules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75028" y="3374603"/>
            <a:ext cx="1931863" cy="1189509"/>
          </a:xfrm>
          <a:prstGeom prst="roundRect">
            <a:avLst>
              <a:gd name="adj" fmla="val 5765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0741" y="3374603"/>
            <a:ext cx="57150" cy="1189509"/>
          </a:xfrm>
          <a:prstGeom prst="roundRect">
            <a:avLst>
              <a:gd name="adj" fmla="val 33140"/>
            </a:avLst>
          </a:prstGeom>
          <a:solidFill>
            <a:srgbClr val="E04F00"/>
          </a:solidFill>
          <a:ln/>
        </p:spPr>
      </p:sp>
      <p:sp>
        <p:nvSpPr>
          <p:cNvPr id="30" name="Text 28"/>
          <p:cNvSpPr/>
          <p:nvPr/>
        </p:nvSpPr>
        <p:spPr>
          <a:xfrm>
            <a:off x="6958385" y="3515097"/>
            <a:ext cx="1608013" cy="414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Enable Deep Learning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58385" y="4041725"/>
            <a:ext cx="160801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Neural networks require dense numerical inputs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418430"/>
            <a:ext cx="6209258" cy="354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Real-World Applications of Word Embeddings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2901" y="1030635"/>
            <a:ext cx="86553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Embeddings are foundational to virtually every modern NLP application: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901" y="1386632"/>
            <a:ext cx="270197" cy="2701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2901" y="1817787"/>
            <a:ext cx="22306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Chatbots &amp; QA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72901" y="2116634"/>
            <a:ext cx="447578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Understanding user queries and generating relevant responses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2442" y="1386632"/>
            <a:ext cx="270197" cy="2701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52442" y="1817787"/>
            <a:ext cx="22306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Search Engines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652442" y="2116634"/>
            <a:ext cx="447585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Semantic search beyond exact keyword matching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901" y="2585293"/>
            <a:ext cx="270197" cy="27019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2901" y="3016448"/>
            <a:ext cx="22306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Sentiment Analysis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72901" y="3315295"/>
            <a:ext cx="447578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Classifying opinions in reviews and social media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52442" y="2585293"/>
            <a:ext cx="270197" cy="27019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52442" y="3016448"/>
            <a:ext cx="22306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Machine Translation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652442" y="3315295"/>
            <a:ext cx="447585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Mapping meaning across languages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2901" y="3783955"/>
            <a:ext cx="270197" cy="27019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72901" y="4215110"/>
            <a:ext cx="2533055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Recommendation Systems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472901" y="4513957"/>
            <a:ext cx="447578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Matching users to content based on semantic similarity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52442" y="3783955"/>
            <a:ext cx="270197" cy="27019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52442" y="4215110"/>
            <a:ext cx="22306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Spam Detection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4652442" y="4513957"/>
            <a:ext cx="447585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 classification for filtering unwanted messages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7050" y="286351"/>
            <a:ext cx="4900017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Is Word Embedding Text Preprocessing?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387050" y="800642"/>
            <a:ext cx="6572250" cy="447824"/>
          </a:xfrm>
          <a:prstGeom prst="roundRect">
            <a:avLst>
              <a:gd name="adj" fmla="val 3190"/>
            </a:avLst>
          </a:prstGeom>
          <a:solidFill>
            <a:srgbClr val="FFCDB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59" y="874071"/>
            <a:ext cx="119062" cy="952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5130" y="838654"/>
            <a:ext cx="6167438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Short Answer: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Not exactly. Word embedding is a step that follows text preprocessing — it is a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representation learning technique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not a cleaning step.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0473" y="1414611"/>
            <a:ext cx="6342980" cy="3100462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64502" y="2143321"/>
            <a:ext cx="230025" cy="23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15110" y="2476755"/>
            <a:ext cx="1781272" cy="1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Text Preprocessing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76614" y="2603372"/>
            <a:ext cx="230025" cy="23002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89461" y="1766962"/>
            <a:ext cx="1781272" cy="1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Word Embedding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42749" y="3569479"/>
            <a:ext cx="230025" cy="23002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518868" y="3225981"/>
            <a:ext cx="1781272" cy="1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Training</a:t>
            </a:r>
            <a:endParaRPr lang="en-US" sz="12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30740" y="3135716"/>
            <a:ext cx="230025" cy="23002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338047" y="3948918"/>
            <a:ext cx="1781272" cy="1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444615" y="4516423"/>
            <a:ext cx="6572250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 preprocessing </a:t>
            </a: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prepares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raw text; word embedding </a:t>
            </a: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transforms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that cleaned text into machine-understandable numerical format. These are distinct, sequential responsibilities in the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97966" y="284532"/>
            <a:ext cx="6985397" cy="44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Is Word Embedding Feature Engineering?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397966" y="926056"/>
            <a:ext cx="819819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Yes — in most practical contexts, word embeddings are treated as a form of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 feature engineering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Instead of manually constructing variables, embeddings learn rich features directly from data.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2901" y="1906191"/>
            <a:ext cx="8198197" cy="1904181"/>
          </a:xfrm>
          <a:prstGeom prst="roundRect">
            <a:avLst>
              <a:gd name="adj" fmla="val 106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874" y="1992957"/>
            <a:ext cx="346010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Dimension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90665" y="1992957"/>
            <a:ext cx="263887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Traditional Feature Engineering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47222" y="1992957"/>
            <a:ext cx="264125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 Embeddings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2874" y="2372841"/>
            <a:ext cx="346010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90665" y="2372841"/>
            <a:ext cx="263887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Manual, rule-based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47222" y="2372841"/>
            <a:ext cx="264125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Automatic, learned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2874" y="2752725"/>
            <a:ext cx="346010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Semantic richness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90665" y="2752725"/>
            <a:ext cx="263887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47222" y="2752725"/>
            <a:ext cx="264125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Rich and contextual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2874" y="3132609"/>
            <a:ext cx="346010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Vector density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90665" y="3132609"/>
            <a:ext cx="263887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Sparse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47222" y="3132609"/>
            <a:ext cx="264125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Dense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2874" y="3512493"/>
            <a:ext cx="346010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Scalability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90665" y="3512493"/>
            <a:ext cx="263887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Hard to scale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47222" y="3512493"/>
            <a:ext cx="264125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Scales well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2901" y="3955256"/>
            <a:ext cx="8198197" cy="787078"/>
          </a:xfrm>
          <a:prstGeom prst="roundRect">
            <a:avLst>
              <a:gd name="adj" fmla="val 2575"/>
            </a:avLst>
          </a:prstGeom>
          <a:solidFill>
            <a:srgbClr val="B6FCB8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63" y="4153421"/>
            <a:ext cx="168846" cy="13506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11870" y="4117702"/>
            <a:ext cx="7624167" cy="441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 The sentence </a:t>
            </a:r>
            <a:r>
              <a:rPr lang="en-US" sz="1100" i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movie was excellent"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after embedding, each token becomes a dense vector like </a:t>
            </a: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[0.89, 0.77, ...]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that serves directly as input features for a classifier.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7742" y="594473"/>
            <a:ext cx="6739607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Comes After Word Embeddings?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6044" y="1518993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Once vectors are generated, they feed into downstream models. The choice of model depends on the task and complexity required.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6119" y="2582019"/>
            <a:ext cx="8151763" cy="1593428"/>
          </a:xfrm>
          <a:prstGeom prst="roundRect">
            <a:avLst>
              <a:gd name="adj" fmla="val 1335"/>
            </a:avLst>
          </a:prstGeom>
          <a:solidFill>
            <a:srgbClr val="F2EEEE"/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582019"/>
            <a:ext cx="2717229" cy="1593428"/>
          </a:xfrm>
          <a:prstGeom prst="roundRect">
            <a:avLst>
              <a:gd name="adj" fmla="val 1335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637877" y="2723778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Classical ML Models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7877" y="3041377"/>
            <a:ext cx="2433712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Logistic Regression, Naive Bayes, Random Forest, XGBoost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 for: spam detection, sentiment, classification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3348" y="2582019"/>
            <a:ext cx="2717229" cy="1593428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13348" y="2582019"/>
            <a:ext cx="19050" cy="1593428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3355107" y="2723778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Deep Learning Models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355107" y="3041377"/>
            <a:ext cx="2433712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RNN, LSTM, GRU, CNN for NLP, Transformers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 for: sequence modeling, generation, translation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30578" y="2582019"/>
            <a:ext cx="2717229" cy="1593428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30578" y="2582019"/>
            <a:ext cx="19050" cy="1593428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6" name="Text 14"/>
          <p:cNvSpPr/>
          <p:nvPr/>
        </p:nvSpPr>
        <p:spPr>
          <a:xfrm>
            <a:off x="6072336" y="2723778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Similarity Analysis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072336" y="3041377"/>
            <a:ext cx="2433712" cy="765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Cosine similarity, Euclidean distance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 for: document retrieval, clustering, deduplication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55773" y="331515"/>
            <a:ext cx="5668045" cy="428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Word2Vec: Predictive Embeddings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57150" y="991047"/>
            <a:ext cx="822930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Developed by Google, Word2Vec uses a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shallow neural network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learn word vectors. It offers two complementary training architectures: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349" y="1970112"/>
            <a:ext cx="3101653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CBOW — Continuous Bag of Words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349" y="2304976"/>
            <a:ext cx="441245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Goal: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Predict the target word from surrounding context words.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349" y="2641327"/>
            <a:ext cx="3955256" cy="527745"/>
          </a:xfrm>
          <a:prstGeom prst="roundRect">
            <a:avLst>
              <a:gd name="adj" fmla="val 3715"/>
            </a:avLst>
          </a:prstGeom>
          <a:solidFill>
            <a:srgbClr val="B6D6FC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20" y="2833167"/>
            <a:ext cx="163339" cy="13067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2030" y="2794471"/>
            <a:ext cx="385710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cat </a:t>
            </a:r>
            <a:r>
              <a:rPr lang="en-US" sz="1000" u="sng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___</a:t>
            </a:r>
            <a:r>
              <a:rPr lang="en-US" sz="1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on the mat" → Predict: </a:t>
            </a:r>
            <a:r>
              <a:rPr lang="en-US" sz="10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349" y="3304580"/>
            <a:ext cx="395525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Faster to train; works well with frequent words and larger datasets.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36157" y="1970112"/>
            <a:ext cx="2172519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Skip-Gram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736157" y="2304976"/>
            <a:ext cx="440784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Goal: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Predict surrounding context words from the target word.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36157" y="2641327"/>
            <a:ext cx="3955256" cy="527745"/>
          </a:xfrm>
          <a:prstGeom prst="roundRect">
            <a:avLst>
              <a:gd name="adj" fmla="val 3715"/>
            </a:avLst>
          </a:prstGeom>
          <a:solidFill>
            <a:srgbClr val="B6D6FC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829" y="2833167"/>
            <a:ext cx="163339" cy="13067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60838" y="2794471"/>
            <a:ext cx="385710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Input: </a:t>
            </a:r>
            <a:r>
              <a:rPr lang="en-US" sz="10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sat</a:t>
            </a:r>
            <a:r>
              <a:rPr lang="en-US" sz="1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Predict: "cat", "mat", "the"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736157" y="3304580"/>
            <a:ext cx="395525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Better for rare words and smaller training corpora; more computationally intensive.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349" y="3950196"/>
            <a:ext cx="2662758" cy="777404"/>
          </a:xfrm>
          <a:prstGeom prst="roundRect">
            <a:avLst>
              <a:gd name="adj" fmla="val 2522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02307" y="4095155"/>
            <a:ext cx="2172519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Fast Training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02307" y="4381798"/>
            <a:ext cx="283004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Efficient even on large corpora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240584" y="3950196"/>
            <a:ext cx="2662758" cy="777404"/>
          </a:xfrm>
          <a:prstGeom prst="roundRect">
            <a:avLst>
              <a:gd name="adj" fmla="val 2522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385542" y="4095155"/>
            <a:ext cx="2172519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Semantic Capture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3385542" y="4381798"/>
            <a:ext cx="283004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Learns meaningful analogies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023818" y="3950196"/>
            <a:ext cx="2662758" cy="777404"/>
          </a:xfrm>
          <a:prstGeom prst="roundRect">
            <a:avLst>
              <a:gd name="adj" fmla="val 2522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168777" y="4095155"/>
            <a:ext cx="2172519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Scalable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6168777" y="4381798"/>
            <a:ext cx="283004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Handles millions of words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21630"/>
            <a:ext cx="5810548" cy="457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GloVe: Count-Based Embeddings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488379" y="1154237"/>
            <a:ext cx="816724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Developed at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Stanford University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GloVe (Global Vectors for Word Representation) takes a fundamentally different approach — it builds on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global word co-occurrence statistics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the entire corpus rather than local context windows.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8379" y="1751633"/>
            <a:ext cx="8167241" cy="2007245"/>
          </a:xfrm>
          <a:prstGeom prst="roundRect">
            <a:avLst>
              <a:gd name="adj" fmla="val 104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2817" y="1843534"/>
            <a:ext cx="221515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674590" y="1843534"/>
            <a:ext cx="319169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Word2Vec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92899" y="1843534"/>
            <a:ext cx="32756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GloVe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2817" y="2244030"/>
            <a:ext cx="221515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Approach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74590" y="2244030"/>
            <a:ext cx="319169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Predictive (neural)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92899" y="2244030"/>
            <a:ext cx="32756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Count-based (matrix factorization)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2817" y="2644527"/>
            <a:ext cx="221515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Training focus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74590" y="2644527"/>
            <a:ext cx="319169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 context window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92899" y="2644527"/>
            <a:ext cx="32756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Global co-occurrence statistics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2817" y="3045023"/>
            <a:ext cx="221515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74590" y="3045023"/>
            <a:ext cx="319169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92899" y="3045023"/>
            <a:ext cx="32756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Slightly slower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2817" y="3445520"/>
            <a:ext cx="221515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Strengths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74590" y="3445520"/>
            <a:ext cx="319169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Dynamic, flexible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92899" y="3445520"/>
            <a:ext cx="32756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semantic relationships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8379" y="3913361"/>
            <a:ext cx="8167241" cy="808434"/>
          </a:xfrm>
          <a:prstGeom prst="roundRect">
            <a:avLst>
              <a:gd name="adj" fmla="val 2589"/>
            </a:avLst>
          </a:prstGeom>
          <a:solidFill>
            <a:srgbClr val="B6FCB8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06" y="4122762"/>
            <a:ext cx="174427" cy="13952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41859" y="4085555"/>
            <a:ext cx="757423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GloVe pretrained vectors are available publicly in dimensions of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50, 100, 200, and 300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trained on massive corpora like Wikipedia and Common Crawl.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6785" y="439713"/>
            <a:ext cx="5137770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Pretrained Embedding Models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02877" y="1087114"/>
            <a:ext cx="821367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Rather than training embeddings from scratch, pretrained models provide ready-to-use vectors learned from billions of words. This saves time and significantly boosts performance — especially with limited data.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5162" y="1854547"/>
            <a:ext cx="4044553" cy="1389459"/>
          </a:xfrm>
          <a:prstGeom prst="roundRect">
            <a:avLst>
              <a:gd name="adj" fmla="val 1435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9450" y="1868835"/>
            <a:ext cx="4015978" cy="398711"/>
          </a:xfrm>
          <a:prstGeom prst="roundRect">
            <a:avLst>
              <a:gd name="adj" fmla="val 700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612353" y="2392114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Word2Vec (Google)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12353" y="2684859"/>
            <a:ext cx="375017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Trained on the Google News dataset (~100 billion words). 300-dimensional vectors.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34285" y="1854547"/>
            <a:ext cx="4044553" cy="1389459"/>
          </a:xfrm>
          <a:prstGeom prst="roundRect">
            <a:avLst>
              <a:gd name="adj" fmla="val 1435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8572" y="1868835"/>
            <a:ext cx="4015978" cy="398711"/>
          </a:xfrm>
          <a:prstGeom prst="roundRect">
            <a:avLst>
              <a:gd name="adj" fmla="val 700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4781476" y="2392114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GloVe (Stanford)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81476" y="2684859"/>
            <a:ext cx="375017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Available in 50–300 dimensions. Trained on Wikipedia + Common Crawl. Widely adopted.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5162" y="3368576"/>
            <a:ext cx="4044553" cy="1389459"/>
          </a:xfrm>
          <a:prstGeom prst="roundRect">
            <a:avLst>
              <a:gd name="adj" fmla="val 1435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9450" y="3382863"/>
            <a:ext cx="4015978" cy="398711"/>
          </a:xfrm>
          <a:prstGeom prst="roundRect">
            <a:avLst>
              <a:gd name="adj" fmla="val 700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612353" y="3906143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FastText (Meta)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2353" y="4198888"/>
            <a:ext cx="375017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Extends Word2Vec with subword information — handles rare words, typos, and morphological variants.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34285" y="3368576"/>
            <a:ext cx="4044553" cy="1389459"/>
          </a:xfrm>
          <a:prstGeom prst="roundRect">
            <a:avLst>
              <a:gd name="adj" fmla="val 1435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48572" y="3382863"/>
            <a:ext cx="4015978" cy="398711"/>
          </a:xfrm>
          <a:prstGeom prst="roundRect">
            <a:avLst>
              <a:gd name="adj" fmla="val 700"/>
            </a:avLst>
          </a:prstGeom>
          <a:solidFill>
            <a:srgbClr val="F2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4781476" y="3906143"/>
            <a:ext cx="2203698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BERT / RoBERTa / GPT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781476" y="4198888"/>
            <a:ext cx="375017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Transformer-based contextual embeddings. "Bank" in </a:t>
            </a: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river bank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≠ "bank" in </a:t>
            </a: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financial bank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29878"/>
            <a:ext cx="4864894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Static vs. Contextual Embeddings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1656383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Static Embeddings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96119" y="2030685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Word2Vec, GloVe, and FastText assign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fixed vector per word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regardless of context.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96119" y="2643783"/>
            <a:ext cx="3902943" cy="829196"/>
          </a:xfrm>
          <a:prstGeom prst="roundRect">
            <a:avLst>
              <a:gd name="adj" fmla="val 2565"/>
            </a:avLst>
          </a:prstGeom>
          <a:solidFill>
            <a:srgbClr val="FCF2B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2858839"/>
            <a:ext cx="177180" cy="1417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6816" y="2820963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"bank" always maps to the same vector, whether it means a riverbank or a financial institution.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6119" y="3632448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Simple, fast, and effective for many tasks — but unable to handle polysemy (multiple meanings).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49701" y="1656383"/>
            <a:ext cx="242708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Contextual Embeddings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749701" y="2030685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BERT, RoBERTa, and GPT generate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different vectors for the same word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depending on its surrounding context.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49701" y="2643783"/>
            <a:ext cx="3902943" cy="829196"/>
          </a:xfrm>
          <a:prstGeom prst="roundRect">
            <a:avLst>
              <a:gd name="adj" fmla="val 2565"/>
            </a:avLst>
          </a:prstGeom>
          <a:solidFill>
            <a:srgbClr val="B6FCB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460" y="2858839"/>
            <a:ext cx="177180" cy="1417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0398" y="2820963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"bank" receives a unique embedding based on whether it appears near "river" or "loan".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749701" y="3632448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State-of-the-art for most NLP benchmarks — at the cost of higher computational requirements.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88379" y="773832"/>
            <a:ext cx="4734818" cy="457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Advantages &amp; Limitations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488379" y="1575122"/>
            <a:ext cx="228875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✓ Advantages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693" y="1962783"/>
            <a:ext cx="209327" cy="2093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859" y="1958504"/>
            <a:ext cx="1417365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Better Semantic Understanding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41859" y="2553667"/>
            <a:ext cx="141736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Similar words cluster in vector space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83210" y="1962783"/>
            <a:ext cx="209327" cy="2093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84376" y="1958504"/>
            <a:ext cx="1417439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Reduced Dimensionality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984376" y="2553667"/>
            <a:ext cx="1417439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Dense vectors are computationally efficient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693" y="3497052"/>
            <a:ext cx="209327" cy="20932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41859" y="3492773"/>
            <a:ext cx="1417365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Automatic Feature Learning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941859" y="4087937"/>
            <a:ext cx="141736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manual feature creation required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83210" y="3497052"/>
            <a:ext cx="209327" cy="20932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984376" y="3492773"/>
            <a:ext cx="1417439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Deep Learning Compatible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2984376" y="4087937"/>
            <a:ext cx="141743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Direct input to neural architectures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746947" y="1575122"/>
            <a:ext cx="228875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✗ Limitations</a:t>
            </a:r>
            <a:endParaRPr lang="en-US" sz="14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99261" y="1962783"/>
            <a:ext cx="209327" cy="20932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00427" y="1958504"/>
            <a:ext cx="1417365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Static Context (Word2Vec/GloVe)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5200427" y="2782565"/>
            <a:ext cx="141736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vector per word ignores polysemy</a:t>
            </a:r>
            <a:endParaRPr lang="en-US" sz="11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41778" y="1962783"/>
            <a:ext cx="209327" cy="209327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242944" y="1958504"/>
            <a:ext cx="1417439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Training Data Dependency</a:t>
            </a:r>
            <a:endParaRPr lang="en-US" sz="1400" dirty="0"/>
          </a:p>
        </p:txBody>
      </p:sp>
      <p:sp>
        <p:nvSpPr>
          <p:cNvPr id="24" name="Text 16"/>
          <p:cNvSpPr/>
          <p:nvPr/>
        </p:nvSpPr>
        <p:spPr>
          <a:xfrm>
            <a:off x="7242944" y="2553667"/>
            <a:ext cx="141743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Quality mirrors the corpus used</a:t>
            </a:r>
            <a:endParaRPr lang="en-US" sz="11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99261" y="3504493"/>
            <a:ext cx="209327" cy="209327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200427" y="3500214"/>
            <a:ext cx="187456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Memory Cost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5200427" y="3866480"/>
            <a:ext cx="1417365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Large embeddings demand significant RAM</a:t>
            </a:r>
            <a:endParaRPr lang="en-US" sz="11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41778" y="3504493"/>
            <a:ext cx="209327" cy="209327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242944" y="3500214"/>
            <a:ext cx="1874639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OOV Problem</a:t>
            </a:r>
            <a:endParaRPr lang="en-US" sz="1400" dirty="0"/>
          </a:p>
        </p:txBody>
      </p:sp>
      <p:sp>
        <p:nvSpPr>
          <p:cNvPr id="30" name="Text 20"/>
          <p:cNvSpPr/>
          <p:nvPr/>
        </p:nvSpPr>
        <p:spPr>
          <a:xfrm>
            <a:off x="7242944" y="3866480"/>
            <a:ext cx="1417439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Unknown words may have no representation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610" y="366415"/>
            <a:ext cx="924074" cy="233660"/>
          </a:xfrm>
          <a:prstGeom prst="roundRect">
            <a:avLst>
              <a:gd name="adj" fmla="val 6598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26628" y="404887"/>
            <a:ext cx="1227237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TAKEAWAYS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49610" y="646584"/>
            <a:ext cx="3829645" cy="421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to Remember</a:t>
            </a:r>
            <a:endParaRPr lang="en-US" sz="2650" dirty="0"/>
          </a:p>
        </p:txBody>
      </p:sp>
      <p:sp>
        <p:nvSpPr>
          <p:cNvPr id="5" name="Shape 3"/>
          <p:cNvSpPr/>
          <p:nvPr/>
        </p:nvSpPr>
        <p:spPr>
          <a:xfrm>
            <a:off x="449610" y="1242715"/>
            <a:ext cx="289024" cy="28902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264356" y="1260760"/>
            <a:ext cx="430932" cy="252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55018" y="1286842"/>
            <a:ext cx="3424535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Embeddings = Dense Numerical Vectors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5018" y="1567383"/>
            <a:ext cx="828898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Words become points in a continuous high-dimensional space, not sparse binary labels.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9610" y="1996157"/>
            <a:ext cx="289024" cy="28902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264356" y="2014203"/>
            <a:ext cx="430932" cy="252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55018" y="2040285"/>
            <a:ext cx="3601864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They Follow Preprocessing, Not Replace 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5018" y="2320826"/>
            <a:ext cx="828898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 text first; then apply embeddings as a representation learning step.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9610" y="2749600"/>
            <a:ext cx="289024" cy="28902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264356" y="2767645"/>
            <a:ext cx="430932" cy="252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55018" y="2793727"/>
            <a:ext cx="352127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They Are Automatic Feature Engineering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5018" y="3074268"/>
            <a:ext cx="828898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Embeddings learn semantically rich features from data without manual rules.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9610" y="3503042"/>
            <a:ext cx="289024" cy="28902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264356" y="3521087"/>
            <a:ext cx="430932" cy="252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55018" y="3547170"/>
            <a:ext cx="3076947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Choice Depends on the Task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5018" y="3827711"/>
            <a:ext cx="828898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Word2Vec and GloVe for efficiency; BERT and transformers for context-sensitive tasks.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9610" y="4256484"/>
            <a:ext cx="289024" cy="28902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2" name="Text 20"/>
          <p:cNvSpPr/>
          <p:nvPr/>
        </p:nvSpPr>
        <p:spPr>
          <a:xfrm>
            <a:off x="264356" y="4274530"/>
            <a:ext cx="430932" cy="252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55018" y="4300612"/>
            <a:ext cx="2651075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Pretrained Vectors Save Time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5018" y="4581153"/>
            <a:ext cx="828898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Leverage existing models — especially when labeled data is scarce.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1353</Words>
  <Application>Microsoft Macintosh PowerPoint</Application>
  <PresentationFormat>On-screen Show (16:9)</PresentationFormat>
  <Paragraphs>222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PT Serif Light</vt:lpstr>
      <vt:lpstr>PT Serif</vt:lpstr>
      <vt:lpstr>Calibri</vt:lpstr>
      <vt:lpstr>DM Sans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Vinayak Deshpande</cp:lastModifiedBy>
  <cp:revision>10</cp:revision>
  <dcterms:created xsi:type="dcterms:W3CDTF">2026-05-20T09:27:11Z</dcterms:created>
  <dcterms:modified xsi:type="dcterms:W3CDTF">2026-06-04T06:08:26Z</dcterms:modified>
</cp:coreProperties>
</file>