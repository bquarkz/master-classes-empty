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70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embeddedFontLst>
    <p:embeddedFont>
      <p:font typeface="DM Sans" pitchFamily="2" charset="77"/>
      <p:regular r:id="rId17"/>
    </p:embeddedFont>
    <p:embeddedFont>
      <p:font typeface="PT Serif" panose="020A0603040505020204" pitchFamily="18" charset="77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0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64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8362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1.pn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0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2027" y="1633686"/>
            <a:ext cx="7671346" cy="930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6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Language Models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22027" y="2450604"/>
            <a:ext cx="83803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Enabling Machines to Read, Understand, and Generate Human Language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5162" y="419323"/>
            <a:ext cx="3945954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Contents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65162" y="1104528"/>
            <a:ext cx="265807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01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65162" y="1316087"/>
            <a:ext cx="4044553" cy="14288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5" name="Text 3"/>
          <p:cNvSpPr/>
          <p:nvPr/>
        </p:nvSpPr>
        <p:spPr>
          <a:xfrm>
            <a:off x="465162" y="1411114"/>
            <a:ext cx="2582912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Introduction to Language Models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634285" y="1104528"/>
            <a:ext cx="265807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634285" y="1316087"/>
            <a:ext cx="4044553" cy="14288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8" name="Text 6"/>
          <p:cNvSpPr/>
          <p:nvPr/>
        </p:nvSpPr>
        <p:spPr>
          <a:xfrm>
            <a:off x="4634285" y="1411114"/>
            <a:ext cx="2117006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What is a Language Model?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65162" y="1853357"/>
            <a:ext cx="265807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03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5162" y="2064916"/>
            <a:ext cx="4044553" cy="14288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1" name="Text 9"/>
          <p:cNvSpPr/>
          <p:nvPr/>
        </p:nvSpPr>
        <p:spPr>
          <a:xfrm>
            <a:off x="465162" y="2159943"/>
            <a:ext cx="2894633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Why Language Models Are Important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634285" y="1853357"/>
            <a:ext cx="265807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04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34285" y="2064916"/>
            <a:ext cx="4044553" cy="14288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4" name="Text 12"/>
          <p:cNvSpPr/>
          <p:nvPr/>
        </p:nvSpPr>
        <p:spPr>
          <a:xfrm>
            <a:off x="4634285" y="2159943"/>
            <a:ext cx="2186732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How Language Models Work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65162" y="2602185"/>
            <a:ext cx="265807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05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5162" y="2813745"/>
            <a:ext cx="4044553" cy="14288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7" name="Text 15"/>
          <p:cNvSpPr/>
          <p:nvPr/>
        </p:nvSpPr>
        <p:spPr>
          <a:xfrm>
            <a:off x="465162" y="2908771"/>
            <a:ext cx="2192834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Key Features of Modern LMs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634285" y="2602185"/>
            <a:ext cx="265807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06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34285" y="2813745"/>
            <a:ext cx="4044553" cy="14288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20" name="Text 18"/>
          <p:cNvSpPr/>
          <p:nvPr/>
        </p:nvSpPr>
        <p:spPr>
          <a:xfrm>
            <a:off x="4634285" y="2908771"/>
            <a:ext cx="2047652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Types of Language Models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65162" y="3351014"/>
            <a:ext cx="265807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07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5162" y="3562573"/>
            <a:ext cx="4044553" cy="14288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23" name="Text 21"/>
          <p:cNvSpPr/>
          <p:nvPr/>
        </p:nvSpPr>
        <p:spPr>
          <a:xfrm>
            <a:off x="465162" y="3657600"/>
            <a:ext cx="1992734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Popular Language Models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634285" y="3351014"/>
            <a:ext cx="265807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08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34285" y="3562573"/>
            <a:ext cx="4044553" cy="14288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26" name="Text 24"/>
          <p:cNvSpPr/>
          <p:nvPr/>
        </p:nvSpPr>
        <p:spPr>
          <a:xfrm>
            <a:off x="4634285" y="3657600"/>
            <a:ext cx="235781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Applications Across Industries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465162" y="4099843"/>
            <a:ext cx="265807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09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5162" y="4311402"/>
            <a:ext cx="4044553" cy="14288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29" name="Text 27"/>
          <p:cNvSpPr/>
          <p:nvPr/>
        </p:nvSpPr>
        <p:spPr>
          <a:xfrm>
            <a:off x="465162" y="4406429"/>
            <a:ext cx="1771278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Benefits &amp; Limitations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4634285" y="4099843"/>
            <a:ext cx="265807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10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634285" y="4311402"/>
            <a:ext cx="4044553" cy="14288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32" name="Text 30"/>
          <p:cNvSpPr/>
          <p:nvPr/>
        </p:nvSpPr>
        <p:spPr>
          <a:xfrm>
            <a:off x="4634285" y="4406429"/>
            <a:ext cx="2444428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The Future of Language Models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>
            <a:extLst>
              <a:ext uri="{FF2B5EF4-FFF2-40B4-BE49-F238E27FC236}">
                <a16:creationId xmlns:a16="http://schemas.microsoft.com/office/drawing/2014/main" id="{B9CE44FB-E099-9444-9E63-B538F3B75D74}"/>
              </a:ext>
            </a:extLst>
          </p:cNvPr>
          <p:cNvSpPr/>
          <p:nvPr/>
        </p:nvSpPr>
        <p:spPr>
          <a:xfrm>
            <a:off x="2257592" y="1456010"/>
            <a:ext cx="4213622" cy="3851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Introduction to Language Model?</a:t>
            </a:r>
            <a:endParaRPr lang="en-US" sz="2400" dirty="0"/>
          </a:p>
        </p:txBody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CCFA5078-7A45-914C-9BFB-FF9C8D1E696C}"/>
              </a:ext>
            </a:extLst>
          </p:cNvPr>
          <p:cNvSpPr/>
          <p:nvPr/>
        </p:nvSpPr>
        <p:spPr>
          <a:xfrm>
            <a:off x="435428" y="2377973"/>
            <a:ext cx="870857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Language Models (LMs) are Artificial Intelligence systems designed to understand, process, and generate human language at scale — now a foundational pillar of modern AI.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2917685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96119" y="1455613"/>
            <a:ext cx="3202707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Trained On Massive Text Corpora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496119" y="1829916"/>
            <a:ext cx="3902943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Books and academic papers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Websites and online articles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Research publications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Conversations and dialogues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96119" y="3027611"/>
            <a:ext cx="23178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Core Purposes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96119" y="3401913"/>
            <a:ext cx="3902943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Understand and predict text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Generate coherent responses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Answer questions contextually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Assist humans in communication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49701" y="1455613"/>
            <a:ext cx="3431456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Everyday Examples You Already Use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749701" y="1847627"/>
            <a:ext cx="1880592" cy="1111448"/>
          </a:xfrm>
          <a:prstGeom prst="roundRect">
            <a:avLst>
              <a:gd name="adj" fmla="val 1913"/>
            </a:avLst>
          </a:prstGeom>
          <a:solidFill>
            <a:srgbClr val="F2EEEE"/>
          </a:solidFill>
          <a:ln/>
        </p:spPr>
      </p:sp>
      <p:sp>
        <p:nvSpPr>
          <p:cNvPr id="9" name="Text 7"/>
          <p:cNvSpPr/>
          <p:nvPr/>
        </p:nvSpPr>
        <p:spPr>
          <a:xfrm>
            <a:off x="4891460" y="1989386"/>
            <a:ext cx="1597075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ChatGPT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891460" y="2363688"/>
            <a:ext cx="159707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Conversational AI assistant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772052" y="1847627"/>
            <a:ext cx="1880592" cy="1111448"/>
          </a:xfrm>
          <a:prstGeom prst="roundRect">
            <a:avLst>
              <a:gd name="adj" fmla="val 1913"/>
            </a:avLst>
          </a:prstGeom>
          <a:solidFill>
            <a:srgbClr val="F2EEEE"/>
          </a:solidFill>
          <a:ln/>
        </p:spPr>
      </p:sp>
      <p:sp>
        <p:nvSpPr>
          <p:cNvPr id="12" name="Text 10"/>
          <p:cNvSpPr/>
          <p:nvPr/>
        </p:nvSpPr>
        <p:spPr>
          <a:xfrm>
            <a:off x="6913811" y="1989386"/>
            <a:ext cx="1597075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Google AI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913811" y="2363688"/>
            <a:ext cx="159707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AI-enhanced search results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49701" y="3100834"/>
            <a:ext cx="1880592" cy="884634"/>
          </a:xfrm>
          <a:prstGeom prst="roundRect">
            <a:avLst>
              <a:gd name="adj" fmla="val 2404"/>
            </a:avLst>
          </a:prstGeom>
          <a:solidFill>
            <a:srgbClr val="F2EEEE"/>
          </a:solidFill>
          <a:ln/>
        </p:spPr>
      </p:sp>
      <p:sp>
        <p:nvSpPr>
          <p:cNvPr id="15" name="Text 13"/>
          <p:cNvSpPr/>
          <p:nvPr/>
        </p:nvSpPr>
        <p:spPr>
          <a:xfrm>
            <a:off x="4891460" y="3242593"/>
            <a:ext cx="1597075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Grammarly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891460" y="3616896"/>
            <a:ext cx="159707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Writing and grammar AI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772052" y="3100834"/>
            <a:ext cx="1880592" cy="884634"/>
          </a:xfrm>
          <a:prstGeom prst="roundRect">
            <a:avLst>
              <a:gd name="adj" fmla="val 2404"/>
            </a:avLst>
          </a:prstGeom>
          <a:solidFill>
            <a:srgbClr val="F2EEEE"/>
          </a:solidFill>
          <a:ln/>
        </p:spPr>
      </p:sp>
      <p:sp>
        <p:nvSpPr>
          <p:cNvPr id="18" name="Text 16"/>
          <p:cNvSpPr/>
          <p:nvPr/>
        </p:nvSpPr>
        <p:spPr>
          <a:xfrm>
            <a:off x="6913811" y="3242593"/>
            <a:ext cx="1597075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Siri &amp; Alexa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913811" y="3616896"/>
            <a:ext cx="159707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Voice-based assistants</a:t>
            </a:r>
            <a:endParaRPr lang="en-US" sz="1100" dirty="0"/>
          </a:p>
        </p:txBody>
      </p:sp>
      <p:sp>
        <p:nvSpPr>
          <p:cNvPr id="21" name="Text 2">
            <a:extLst>
              <a:ext uri="{FF2B5EF4-FFF2-40B4-BE49-F238E27FC236}">
                <a16:creationId xmlns:a16="http://schemas.microsoft.com/office/drawing/2014/main" id="{B37E206F-0744-6C47-BCDF-A14F04D8CCA4}"/>
              </a:ext>
            </a:extLst>
          </p:cNvPr>
          <p:cNvSpPr/>
          <p:nvPr/>
        </p:nvSpPr>
        <p:spPr>
          <a:xfrm>
            <a:off x="359123" y="445815"/>
            <a:ext cx="4213622" cy="3851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What Is a Language Model?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46372" y="475097"/>
            <a:ext cx="4213622" cy="3851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Language Model- Core Functions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97706" y="1265411"/>
            <a:ext cx="8167620" cy="343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Language Model predicts the probability of words appearing in a sequence — learning how humans use language to generate meaningful, contextually accurate text.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21643" y="1156097"/>
            <a:ext cx="14288" cy="561975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7" name="Text 5"/>
          <p:cNvSpPr/>
          <p:nvPr/>
        </p:nvSpPr>
        <p:spPr>
          <a:xfrm>
            <a:off x="521643" y="1924571"/>
            <a:ext cx="2812926" cy="192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How It Works — A Simple Example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21643" y="2358728"/>
            <a:ext cx="3907110" cy="1640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Input: </a:t>
            </a:r>
            <a:r>
              <a:rPr lang="en-US" sz="12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"The capital of France is ___"</a:t>
            </a:r>
            <a:endParaRPr lang="en-US" sz="120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Prediction: </a:t>
            </a:r>
            <a:r>
              <a:rPr lang="en-US" sz="1200" b="1" dirty="0">
                <a:solidFill>
                  <a:srgbClr val="E04F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Paris</a:t>
            </a: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selected because it has the highest probability given the full context of the sentence.</a:t>
            </a:r>
          </a:p>
          <a:p>
            <a:pPr marL="0" indent="0" algn="l">
              <a:lnSpc>
                <a:spcPct val="122000"/>
              </a:lnSpc>
              <a:buNone/>
            </a:pPr>
            <a:endParaRPr lang="en-US" sz="120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Input: </a:t>
            </a:r>
            <a:r>
              <a:rPr lang="en-US" sz="12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"I am going to the ___"</a:t>
            </a:r>
            <a:endParaRPr lang="en-US" sz="120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Possible outputs: </a:t>
            </a:r>
            <a:r>
              <a:rPr lang="en-US" sz="1200" i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market, office, school, station</a:t>
            </a: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ranked by contextual likelihood.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19861" y="1924571"/>
            <a:ext cx="1998018" cy="192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Core Functions</a:t>
            </a:r>
            <a:endParaRPr lang="en-US" sz="12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63839" y="2230078"/>
            <a:ext cx="176064" cy="17606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101307" y="2226469"/>
            <a:ext cx="1540818" cy="192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Text Generation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101307" y="2516237"/>
            <a:ext cx="3525664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Produce essays, emails, and reports</a:t>
            </a:r>
            <a:endParaRPr lang="en-US" sz="11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63839" y="2885963"/>
            <a:ext cx="176064" cy="17606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101307" y="2882354"/>
            <a:ext cx="1540818" cy="192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Text Completion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5101307" y="3172123"/>
            <a:ext cx="3525664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Fill in missing or partial content</a:t>
            </a:r>
            <a:endParaRPr lang="en-US" sz="11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63839" y="3541849"/>
            <a:ext cx="176064" cy="17606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101307" y="3538240"/>
            <a:ext cx="1540818" cy="192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Question Answering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5101307" y="3828008"/>
            <a:ext cx="3525664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Respond accurately to user queries</a:t>
            </a:r>
            <a:endParaRPr lang="en-US" sz="110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63839" y="4197734"/>
            <a:ext cx="176064" cy="17606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101307" y="4194125"/>
            <a:ext cx="2052265" cy="192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Translation &amp; Summarization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5101307" y="4483894"/>
            <a:ext cx="3525664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Convert and condense across languages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34132" y="656630"/>
            <a:ext cx="6016228" cy="407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Why Are Language Models Important?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488304" y="1108175"/>
            <a:ext cx="8275737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Language Models have fundamentally changed how humans interact with computers — enabling natural, intelligent, and efficient communication at unprecedented scale.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34132" y="1720528"/>
            <a:ext cx="2686199" cy="1555254"/>
          </a:xfrm>
          <a:prstGeom prst="roundRect">
            <a:avLst>
              <a:gd name="adj" fmla="val 1196"/>
            </a:avLst>
          </a:prstGeom>
          <a:solidFill>
            <a:srgbClr val="F2EEEE"/>
          </a:solidFill>
          <a:ln/>
        </p:spPr>
      </p:sp>
      <p:sp>
        <p:nvSpPr>
          <p:cNvPr id="7" name="Shape 5"/>
          <p:cNvSpPr/>
          <p:nvPr/>
        </p:nvSpPr>
        <p:spPr>
          <a:xfrm>
            <a:off x="558105" y="1844501"/>
            <a:ext cx="372070" cy="372070"/>
          </a:xfrm>
          <a:prstGeom prst="roundRect">
            <a:avLst>
              <a:gd name="adj" fmla="val 15358477"/>
            </a:avLst>
          </a:prstGeom>
          <a:solidFill>
            <a:srgbClr val="E04F00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0425" y="1946746"/>
            <a:ext cx="167432" cy="1674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58105" y="2325067"/>
            <a:ext cx="2107109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Human-Like Communication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58105" y="2593702"/>
            <a:ext cx="2438251" cy="558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Machines now interact naturally, reducing the need for technical commands or structured queries.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28826" y="1720528"/>
            <a:ext cx="2686273" cy="1555254"/>
          </a:xfrm>
          <a:prstGeom prst="roundRect">
            <a:avLst>
              <a:gd name="adj" fmla="val 1196"/>
            </a:avLst>
          </a:prstGeom>
          <a:solidFill>
            <a:srgbClr val="F2EEEE"/>
          </a:solidFill>
          <a:ln/>
        </p:spPr>
      </p:sp>
      <p:sp>
        <p:nvSpPr>
          <p:cNvPr id="12" name="Shape 9"/>
          <p:cNvSpPr/>
          <p:nvPr/>
        </p:nvSpPr>
        <p:spPr>
          <a:xfrm>
            <a:off x="3352800" y="1844501"/>
            <a:ext cx="372070" cy="372070"/>
          </a:xfrm>
          <a:prstGeom prst="roundRect">
            <a:avLst>
              <a:gd name="adj" fmla="val 15358477"/>
            </a:avLst>
          </a:prstGeom>
          <a:solidFill>
            <a:srgbClr val="E04F00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55119" y="1946746"/>
            <a:ext cx="167432" cy="1674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352800" y="2325067"/>
            <a:ext cx="1873672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Faster Information Access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3352800" y="2593702"/>
            <a:ext cx="2438326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Users receive direct, synthesized answers instead of browsing multiple websites.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023595" y="1720528"/>
            <a:ext cx="2686199" cy="1555254"/>
          </a:xfrm>
          <a:prstGeom prst="roundRect">
            <a:avLst>
              <a:gd name="adj" fmla="val 1196"/>
            </a:avLst>
          </a:prstGeom>
          <a:solidFill>
            <a:srgbClr val="F2EEEE"/>
          </a:solidFill>
          <a:ln/>
        </p:spPr>
      </p:sp>
      <p:sp>
        <p:nvSpPr>
          <p:cNvPr id="17" name="Shape 13"/>
          <p:cNvSpPr/>
          <p:nvPr/>
        </p:nvSpPr>
        <p:spPr>
          <a:xfrm>
            <a:off x="6147569" y="1844501"/>
            <a:ext cx="372070" cy="372070"/>
          </a:xfrm>
          <a:prstGeom prst="roundRect">
            <a:avLst>
              <a:gd name="adj" fmla="val 15358477"/>
            </a:avLst>
          </a:prstGeom>
          <a:solidFill>
            <a:srgbClr val="E04F00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49888" y="1946746"/>
            <a:ext cx="167432" cy="16743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147569" y="2325067"/>
            <a:ext cx="1628105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Automation at Scale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6147569" y="2593702"/>
            <a:ext cx="2438251" cy="558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Repetitive language-based tasks — drafting, summarizing, classifying — are automated efficiently.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34132" y="3384277"/>
            <a:ext cx="4083546" cy="1369219"/>
          </a:xfrm>
          <a:prstGeom prst="roundRect">
            <a:avLst>
              <a:gd name="adj" fmla="val 1359"/>
            </a:avLst>
          </a:prstGeom>
          <a:solidFill>
            <a:srgbClr val="F2EEEE"/>
          </a:solidFill>
          <a:ln/>
        </p:spPr>
      </p:sp>
      <p:sp>
        <p:nvSpPr>
          <p:cNvPr id="22" name="Shape 17"/>
          <p:cNvSpPr/>
          <p:nvPr/>
        </p:nvSpPr>
        <p:spPr>
          <a:xfrm>
            <a:off x="558105" y="3508251"/>
            <a:ext cx="372070" cy="372070"/>
          </a:xfrm>
          <a:prstGeom prst="roundRect">
            <a:avLst>
              <a:gd name="adj" fmla="val 15358477"/>
            </a:avLst>
          </a:prstGeom>
          <a:solidFill>
            <a:srgbClr val="E04F00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0425" y="3610496"/>
            <a:ext cx="167432" cy="16743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58105" y="3988817"/>
            <a:ext cx="1628105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Improved Productivity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58105" y="4257452"/>
            <a:ext cx="3835598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Assists professionals in writing, coding, research, and data analysis — saving hours of work.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4626173" y="3384277"/>
            <a:ext cx="4083621" cy="1369219"/>
          </a:xfrm>
          <a:prstGeom prst="roundRect">
            <a:avLst>
              <a:gd name="adj" fmla="val 1359"/>
            </a:avLst>
          </a:prstGeom>
          <a:solidFill>
            <a:srgbClr val="F2EEEE"/>
          </a:solidFill>
          <a:ln/>
        </p:spPr>
      </p:sp>
      <p:sp>
        <p:nvSpPr>
          <p:cNvPr id="27" name="Shape 21"/>
          <p:cNvSpPr/>
          <p:nvPr/>
        </p:nvSpPr>
        <p:spPr>
          <a:xfrm>
            <a:off x="4750147" y="3508251"/>
            <a:ext cx="372070" cy="372070"/>
          </a:xfrm>
          <a:prstGeom prst="roundRect">
            <a:avLst>
              <a:gd name="adj" fmla="val 15358477"/>
            </a:avLst>
          </a:prstGeom>
          <a:solidFill>
            <a:srgbClr val="E04F00"/>
          </a:solidFill>
          <a:ln/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52467" y="3610496"/>
            <a:ext cx="167432" cy="167432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4750147" y="3988817"/>
            <a:ext cx="1725439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Personalized Assistance</a:t>
            </a:r>
            <a:endParaRPr lang="en-US" sz="1250" dirty="0"/>
          </a:p>
        </p:txBody>
      </p:sp>
      <p:sp>
        <p:nvSpPr>
          <p:cNvPr id="30" name="Text 23"/>
          <p:cNvSpPr/>
          <p:nvPr/>
        </p:nvSpPr>
        <p:spPr>
          <a:xfrm>
            <a:off x="4750147" y="4257452"/>
            <a:ext cx="3835673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Delivers customized responses, recommendations, and insights tailored to individual needs.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98066" y="559743"/>
            <a:ext cx="4248299" cy="377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How Language Models Work</a:t>
            </a:r>
            <a:endParaRPr lang="en-US" sz="2350" dirty="0"/>
          </a:p>
        </p:txBody>
      </p:sp>
      <p:sp>
        <p:nvSpPr>
          <p:cNvPr id="5" name="Text 3"/>
          <p:cNvSpPr/>
          <p:nvPr/>
        </p:nvSpPr>
        <p:spPr>
          <a:xfrm>
            <a:off x="598066" y="1077962"/>
            <a:ext cx="8404994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Language Models learn statistical patterns from enormous text datasets — building an internal representation of grammar, </a:t>
            </a:r>
          </a:p>
          <a:p>
            <a:pPr marL="0" indent="0" algn="l">
              <a:lnSpc>
                <a:spcPct val="121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meaning, and context.</a:t>
            </a:r>
            <a:endParaRPr lang="en-US" sz="11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7929" y="1350169"/>
            <a:ext cx="4667994" cy="277051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936" y="3472455"/>
            <a:ext cx="1160374" cy="2347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Predict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4024547" y="3472455"/>
            <a:ext cx="1160374" cy="2347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Learn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2538315" y="3472455"/>
            <a:ext cx="1160374" cy="2347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Train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598066" y="4225900"/>
            <a:ext cx="7947794" cy="597917"/>
          </a:xfrm>
          <a:prstGeom prst="roundRect">
            <a:avLst>
              <a:gd name="adj" fmla="val 2890"/>
            </a:avLst>
          </a:prstGeom>
          <a:solidFill>
            <a:srgbClr val="B6D6FC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184" y="4392811"/>
            <a:ext cx="143917" cy="11511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72220" y="4348163"/>
            <a:ext cx="7458521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Core Principle:</a:t>
            </a: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The model does not memorize answers. It generates text based on </a:t>
            </a:r>
            <a:r>
              <a:rPr lang="en-US" sz="110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probability and context</a:t>
            </a: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selecting the most likely continuation given everything that came before it.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133029" y="484584"/>
            <a:ext cx="5288459" cy="327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Key Features of Modern Language Models</a:t>
            </a:r>
            <a:endParaRPr lang="en-US" sz="20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3029" y="916707"/>
            <a:ext cx="6877869" cy="59806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71885" y="1122313"/>
            <a:ext cx="149498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1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1616050" y="1030635"/>
            <a:ext cx="1353071" cy="16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Context Understanding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616050" y="1236166"/>
            <a:ext cx="6280919" cy="135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Interprets meaning based on surrounding words and full conversational context.</a:t>
            </a:r>
            <a:endParaRPr lang="en-US" sz="11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3029" y="1584796"/>
            <a:ext cx="6877869" cy="59806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71885" y="1790402"/>
            <a:ext cx="149498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2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1616050" y="1698724"/>
            <a:ext cx="1308274" cy="16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Text Generation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1616050" y="1904256"/>
            <a:ext cx="6280919" cy="135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Produces essays, emails, reports, and creative stories on demand.</a:t>
            </a:r>
            <a:endParaRPr lang="en-US" sz="11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3029" y="2252886"/>
            <a:ext cx="6877869" cy="59806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71885" y="2458492"/>
            <a:ext cx="149498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3</a:t>
            </a:r>
            <a:endParaRPr lang="en-US" sz="1150" dirty="0"/>
          </a:p>
        </p:txBody>
      </p:sp>
      <p:sp>
        <p:nvSpPr>
          <p:cNvPr id="15" name="Text 10"/>
          <p:cNvSpPr/>
          <p:nvPr/>
        </p:nvSpPr>
        <p:spPr>
          <a:xfrm>
            <a:off x="1616050" y="2366814"/>
            <a:ext cx="1308274" cy="16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Question Answering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1616050" y="2572345"/>
            <a:ext cx="6280919" cy="135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Responds to complex user queries in natural, conversational language.</a:t>
            </a:r>
            <a:endParaRPr lang="en-US" sz="110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3029" y="2920975"/>
            <a:ext cx="6877869" cy="59806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71885" y="3126581"/>
            <a:ext cx="149498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4</a:t>
            </a:r>
            <a:endParaRPr lang="en-US" sz="1150" dirty="0"/>
          </a:p>
        </p:txBody>
      </p:sp>
      <p:sp>
        <p:nvSpPr>
          <p:cNvPr id="19" name="Text 13"/>
          <p:cNvSpPr/>
          <p:nvPr/>
        </p:nvSpPr>
        <p:spPr>
          <a:xfrm>
            <a:off x="1616050" y="3034903"/>
            <a:ext cx="1308274" cy="16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Translation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1616050" y="3240435"/>
            <a:ext cx="6280919" cy="135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Accurately converts content between hundreds of global languages.</a:t>
            </a:r>
            <a:endParaRPr lang="en-US" sz="110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3029" y="3589065"/>
            <a:ext cx="6877869" cy="598066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271885" y="3794671"/>
            <a:ext cx="149498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5</a:t>
            </a:r>
            <a:endParaRPr lang="en-US" sz="1150" dirty="0"/>
          </a:p>
        </p:txBody>
      </p:sp>
      <p:sp>
        <p:nvSpPr>
          <p:cNvPr id="23" name="Text 16"/>
          <p:cNvSpPr/>
          <p:nvPr/>
        </p:nvSpPr>
        <p:spPr>
          <a:xfrm>
            <a:off x="1616050" y="3702993"/>
            <a:ext cx="1308274" cy="16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Summarization</a:t>
            </a:r>
            <a:endParaRPr lang="en-US" sz="1100" dirty="0"/>
          </a:p>
        </p:txBody>
      </p:sp>
      <p:sp>
        <p:nvSpPr>
          <p:cNvPr id="24" name="Text 17"/>
          <p:cNvSpPr/>
          <p:nvPr/>
        </p:nvSpPr>
        <p:spPr>
          <a:xfrm>
            <a:off x="1616050" y="3908524"/>
            <a:ext cx="6280919" cy="135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Condenses large documents into concise, accurate summaries.</a:t>
            </a:r>
            <a:endParaRPr lang="en-US" sz="1100" dirty="0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3029" y="4257154"/>
            <a:ext cx="6877869" cy="598066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271885" y="4462760"/>
            <a:ext cx="149498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6</a:t>
            </a:r>
            <a:endParaRPr lang="en-US" sz="1150" dirty="0"/>
          </a:p>
        </p:txBody>
      </p:sp>
      <p:sp>
        <p:nvSpPr>
          <p:cNvPr id="27" name="Text 19"/>
          <p:cNvSpPr/>
          <p:nvPr/>
        </p:nvSpPr>
        <p:spPr>
          <a:xfrm>
            <a:off x="1616050" y="4371082"/>
            <a:ext cx="1787947" cy="16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Multi-Language &amp; Multimodal</a:t>
            </a:r>
            <a:endParaRPr lang="en-US" sz="1100" dirty="0"/>
          </a:p>
        </p:txBody>
      </p:sp>
      <p:sp>
        <p:nvSpPr>
          <p:cNvPr id="28" name="Text 20"/>
          <p:cNvSpPr/>
          <p:nvPr/>
        </p:nvSpPr>
        <p:spPr>
          <a:xfrm>
            <a:off x="1616050" y="4576614"/>
            <a:ext cx="6280919" cy="135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Supports global languages and processes text, images, audio, and video.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96119" y="956890"/>
            <a:ext cx="4826794" cy="46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Types of Language Models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96119" y="1634654"/>
            <a:ext cx="4004965" cy="1366614"/>
          </a:xfrm>
          <a:prstGeom prst="roundRect">
            <a:avLst>
              <a:gd name="adj" fmla="val 1556"/>
            </a:avLst>
          </a:prstGeom>
          <a:solidFill>
            <a:srgbClr val="F2EEEE"/>
          </a:solidFill>
          <a:ln/>
        </p:spPr>
      </p:sp>
      <p:sp>
        <p:nvSpPr>
          <p:cNvPr id="6" name="Text 4"/>
          <p:cNvSpPr/>
          <p:nvPr/>
        </p:nvSpPr>
        <p:spPr>
          <a:xfrm>
            <a:off x="637877" y="1776413"/>
            <a:ext cx="18606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General Purpose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37877" y="2094012"/>
            <a:ext cx="3721447" cy="765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650"/>
              </a:spcAft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Broad tasks and open-ended conversations across any domain.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i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Examples: ChatGPT, Gemini, Claude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42842" y="1634654"/>
            <a:ext cx="4005039" cy="1366614"/>
          </a:xfrm>
          <a:prstGeom prst="roundRect">
            <a:avLst>
              <a:gd name="adj" fmla="val 1556"/>
            </a:avLst>
          </a:prstGeom>
          <a:solidFill>
            <a:srgbClr val="F2EEEE"/>
          </a:solidFill>
          <a:ln/>
        </p:spPr>
      </p:sp>
      <p:sp>
        <p:nvSpPr>
          <p:cNvPr id="9" name="Text 7"/>
          <p:cNvSpPr/>
          <p:nvPr/>
        </p:nvSpPr>
        <p:spPr>
          <a:xfrm>
            <a:off x="4784601" y="1776413"/>
            <a:ext cx="18606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Domain-Specific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784601" y="2094012"/>
            <a:ext cx="3721522" cy="765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650"/>
              </a:spcAft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Specialized for high-stakes industries requiring precision.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i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Examples: Medical AI, Legal AI, Financial AI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96119" y="3143027"/>
            <a:ext cx="4004965" cy="1366614"/>
          </a:xfrm>
          <a:prstGeom prst="roundRect">
            <a:avLst>
              <a:gd name="adj" fmla="val 1556"/>
            </a:avLst>
          </a:prstGeom>
          <a:solidFill>
            <a:srgbClr val="F2EEEE"/>
          </a:solidFill>
          <a:ln/>
        </p:spPr>
      </p:sp>
      <p:sp>
        <p:nvSpPr>
          <p:cNvPr id="12" name="Text 10"/>
          <p:cNvSpPr/>
          <p:nvPr/>
        </p:nvSpPr>
        <p:spPr>
          <a:xfrm>
            <a:off x="637877" y="3284786"/>
            <a:ext cx="18606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Conversational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37877" y="3602385"/>
            <a:ext cx="3721447" cy="538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650"/>
              </a:spcAft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Optimized for interactive, real-time chat and dialogue.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i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Examples: AI Chatbots, Virtual Assistants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42842" y="3143027"/>
            <a:ext cx="4005039" cy="1366614"/>
          </a:xfrm>
          <a:prstGeom prst="roundRect">
            <a:avLst>
              <a:gd name="adj" fmla="val 1556"/>
            </a:avLst>
          </a:prstGeom>
          <a:solidFill>
            <a:srgbClr val="F2EEEE"/>
          </a:solidFill>
          <a:ln/>
        </p:spPr>
      </p:sp>
      <p:sp>
        <p:nvSpPr>
          <p:cNvPr id="15" name="Text 13"/>
          <p:cNvSpPr/>
          <p:nvPr/>
        </p:nvSpPr>
        <p:spPr>
          <a:xfrm>
            <a:off x="4784601" y="3284786"/>
            <a:ext cx="18606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Multimodal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784601" y="3602385"/>
            <a:ext cx="3721522" cy="765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650"/>
              </a:spcAft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Process and reason across text, images, audio, and video.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i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Examples: GPT-4o, Gemini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349" y="689297"/>
            <a:ext cx="4377110" cy="428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Popular Language Models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349" y="1419225"/>
            <a:ext cx="2615803" cy="214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Leading Commercial Models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349" y="1769120"/>
            <a:ext cx="3955256" cy="2162621"/>
          </a:xfrm>
          <a:prstGeom prst="roundRect">
            <a:avLst>
              <a:gd name="adj" fmla="val 906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2782" y="1850901"/>
            <a:ext cx="2166342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Organization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568029" y="1850901"/>
            <a:ext cx="2166342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Model(s)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2782" y="2210544"/>
            <a:ext cx="2166342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OpenAI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68029" y="2210544"/>
            <a:ext cx="2166342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GPT-3, GPT-4, ChatGPT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2782" y="2570187"/>
            <a:ext cx="2166342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Google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568029" y="2570187"/>
            <a:ext cx="2166342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Gemini, BERT, PaLM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2782" y="2929830"/>
            <a:ext cx="2166342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Anthropic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568029" y="2929830"/>
            <a:ext cx="2166342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Claude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2782" y="3289474"/>
            <a:ext cx="2166342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Meta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568029" y="3289474"/>
            <a:ext cx="2166342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LLaMA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2782" y="3649117"/>
            <a:ext cx="2166342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Microsoft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568029" y="3649117"/>
            <a:ext cx="2166342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Copilot AI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36157" y="1419225"/>
            <a:ext cx="2172519" cy="214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Open Source Models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4736157" y="1769120"/>
            <a:ext cx="1917353" cy="1026468"/>
          </a:xfrm>
          <a:prstGeom prst="roundRect">
            <a:avLst>
              <a:gd name="adj" fmla="val 1910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81116" y="1914079"/>
            <a:ext cx="1627436" cy="214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Mistral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881116" y="2248942"/>
            <a:ext cx="1627436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High-performance European open model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773987" y="1769120"/>
            <a:ext cx="1917427" cy="1026468"/>
          </a:xfrm>
          <a:prstGeom prst="roundRect">
            <a:avLst>
              <a:gd name="adj" fmla="val 1910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18945" y="1914079"/>
            <a:ext cx="1627510" cy="214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Falcon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918945" y="2248942"/>
            <a:ext cx="1627510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UAE-developed open-source LLM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36157" y="2916064"/>
            <a:ext cx="3955256" cy="825624"/>
          </a:xfrm>
          <a:prstGeom prst="roundRect">
            <a:avLst>
              <a:gd name="adj" fmla="val 2374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81116" y="3061022"/>
            <a:ext cx="1715319" cy="214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BLOOM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881116" y="3395886"/>
            <a:ext cx="3665339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Multilingual, community-built model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36157" y="3877196"/>
            <a:ext cx="3955256" cy="728588"/>
          </a:xfrm>
          <a:prstGeom prst="roundRect">
            <a:avLst>
              <a:gd name="adj" fmla="val 2691"/>
            </a:avLst>
          </a:prstGeom>
          <a:solidFill>
            <a:srgbClr val="FFCDB3"/>
          </a:solidFill>
          <a:ln/>
        </p:spPr>
      </p:sp>
      <p:pic>
        <p:nvPicPr>
          <p:cNvPr id="3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6829" y="4069035"/>
            <a:ext cx="163339" cy="130671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5160838" y="4030340"/>
            <a:ext cx="3399904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00" b="1" i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All models share core capabilities: writing, coding, research, summarization, and question answering.</a:t>
            </a:r>
            <a:endParaRPr lang="en-US" sz="1100" b="1" i="1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61577" y="190275"/>
            <a:ext cx="4152379" cy="341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Applications Across Industries</a:t>
            </a:r>
            <a:endParaRPr lang="en-US" sz="2150" dirty="0"/>
          </a:p>
        </p:txBody>
      </p:sp>
      <p:sp>
        <p:nvSpPr>
          <p:cNvPr id="5" name="Text 3"/>
          <p:cNvSpPr/>
          <p:nvPr/>
        </p:nvSpPr>
        <p:spPr>
          <a:xfrm>
            <a:off x="161577" y="716755"/>
            <a:ext cx="7640762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Language Models are now embedded across every major sector — transforming how professionals work, communicate, </a:t>
            </a:r>
          </a:p>
          <a:p>
            <a:pPr marL="0" indent="0" algn="l">
              <a:lnSpc>
                <a:spcPct val="116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and make decisions.</a:t>
            </a:r>
            <a:endParaRPr lang="en-US" sz="11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182" y="1190476"/>
            <a:ext cx="65532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50912" y="542999"/>
            <a:ext cx="3410099" cy="363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Benefits &amp; Limitations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671215" y="1036141"/>
            <a:ext cx="3845347" cy="3791620"/>
          </a:xfrm>
          <a:prstGeom prst="roundRect">
            <a:avLst>
              <a:gd name="adj" fmla="val 438"/>
            </a:avLst>
          </a:prstGeom>
          <a:solidFill>
            <a:schemeClr val="bg2"/>
          </a:solidFill>
          <a:ln/>
        </p:spPr>
      </p:sp>
      <p:sp>
        <p:nvSpPr>
          <p:cNvPr id="6" name="Text 4"/>
          <p:cNvSpPr/>
          <p:nvPr/>
        </p:nvSpPr>
        <p:spPr>
          <a:xfrm>
            <a:off x="781943" y="1122611"/>
            <a:ext cx="1910804" cy="181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Key Benefits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81943" y="1401589"/>
            <a:ext cx="249138" cy="249138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8" name="Text 6"/>
          <p:cNvSpPr/>
          <p:nvPr/>
        </p:nvSpPr>
        <p:spPr>
          <a:xfrm>
            <a:off x="1117550" y="1439614"/>
            <a:ext cx="1719039" cy="181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Faster Content Generation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17550" y="1707728"/>
            <a:ext cx="3288283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Creates high-quality text quickly, reducing manual effort dramatically.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81943" y="2196257"/>
            <a:ext cx="249138" cy="249138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11" name="Text 9"/>
          <p:cNvSpPr/>
          <p:nvPr/>
        </p:nvSpPr>
        <p:spPr>
          <a:xfrm>
            <a:off x="1117550" y="2234282"/>
            <a:ext cx="1453604" cy="181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24/7 Availability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17550" y="2502396"/>
            <a:ext cx="3288283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Always available — no downtime, no fatigue, consistent performance.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81943" y="2990924"/>
            <a:ext cx="249138" cy="249138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14" name="Text 12"/>
          <p:cNvSpPr/>
          <p:nvPr/>
        </p:nvSpPr>
        <p:spPr>
          <a:xfrm>
            <a:off x="1117550" y="3028950"/>
            <a:ext cx="1691283" cy="181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Supports Decision Making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17550" y="3297064"/>
            <a:ext cx="3288283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Delivers rapid insights, summaries, and analysis </a:t>
            </a:r>
          </a:p>
          <a:p>
            <a:pPr marL="0" indent="0" algn="l">
              <a:lnSpc>
                <a:spcPct val="119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 demand.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11750" y="1122611"/>
            <a:ext cx="1910804" cy="181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Critical Limitations</a:t>
            </a:r>
            <a:endParaRPr lang="en-US" sz="1100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97462" y="1468282"/>
            <a:ext cx="1813992" cy="991419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4879628" y="1526604"/>
            <a:ext cx="1453604" cy="181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Hallucinations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879628" y="1794718"/>
            <a:ext cx="1506810" cy="4732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May confidently generate factually incorrect information.</a:t>
            </a:r>
            <a:endParaRPr lang="en-US" sz="1100" dirty="0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83635" y="1401589"/>
            <a:ext cx="1814066" cy="991419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6765801" y="1526604"/>
            <a:ext cx="1453604" cy="181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Bias in Outputs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6765801" y="1794718"/>
            <a:ext cx="1631900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Reflects biases present in the underlying training data.</a:t>
            </a:r>
            <a:endParaRPr lang="en-US" sz="1100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7462" y="2479477"/>
            <a:ext cx="1813992" cy="1173063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4879628" y="2604492"/>
            <a:ext cx="1453604" cy="181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Data Privacy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4879628" y="2872606"/>
            <a:ext cx="1506810" cy="4732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Sensitive inputs must be handled with strict governance.</a:t>
            </a:r>
            <a:endParaRPr lang="en-US" sz="1100" dirty="0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22554" y="2459701"/>
            <a:ext cx="1814066" cy="1173063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765801" y="2604492"/>
            <a:ext cx="1506885" cy="3632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No True Understanding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6776144" y="2883135"/>
            <a:ext cx="1506885" cy="4732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Models predict patterns — they do not reason like humans.</a:t>
            </a:r>
            <a:endParaRPr lang="en-US" sz="1100" dirty="0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97462" y="3739009"/>
            <a:ext cx="1813992" cy="991419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4879628" y="3864025"/>
            <a:ext cx="1453604" cy="181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High Compute Cost</a:t>
            </a:r>
            <a:endParaRPr lang="en-US" sz="1100" dirty="0"/>
          </a:p>
        </p:txBody>
      </p:sp>
      <p:sp>
        <p:nvSpPr>
          <p:cNvPr id="31" name="Text 24"/>
          <p:cNvSpPr/>
          <p:nvPr/>
        </p:nvSpPr>
        <p:spPr>
          <a:xfrm>
            <a:off x="4879628" y="4132138"/>
            <a:ext cx="1742926" cy="4732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Training and inference require powerful, expensive infrastructure.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234514" y="265138"/>
            <a:ext cx="4776415" cy="3851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The Future of Language Models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85862" y="795409"/>
            <a:ext cx="8557840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next generation of Language Models will be more human-like, personalized, multimodal, and deeply embedded in every </a:t>
            </a:r>
          </a:p>
          <a:p>
            <a:pPr marL="0" indent="0" algn="l">
              <a:lnSpc>
                <a:spcPct val="122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professional workflow.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64782" y="1398761"/>
            <a:ext cx="14288" cy="3404443"/>
          </a:xfrm>
          <a:prstGeom prst="roundRect">
            <a:avLst>
              <a:gd name="adj" fmla="val 123252"/>
            </a:avLst>
          </a:prstGeom>
          <a:solidFill>
            <a:srgbClr val="D8D4D4"/>
          </a:solidFill>
          <a:ln/>
        </p:spPr>
      </p:sp>
      <p:sp>
        <p:nvSpPr>
          <p:cNvPr id="7" name="Shape 5"/>
          <p:cNvSpPr/>
          <p:nvPr/>
        </p:nvSpPr>
        <p:spPr>
          <a:xfrm>
            <a:off x="4101964" y="1523628"/>
            <a:ext cx="352202" cy="14288"/>
          </a:xfrm>
          <a:prstGeom prst="roundRect">
            <a:avLst>
              <a:gd name="adj" fmla="val 123252"/>
            </a:avLst>
          </a:prstGeom>
          <a:solidFill>
            <a:srgbClr val="D8D4D4"/>
          </a:solidFill>
          <a:ln/>
        </p:spPr>
      </p:sp>
      <p:sp>
        <p:nvSpPr>
          <p:cNvPr id="8" name="Shape 6"/>
          <p:cNvSpPr/>
          <p:nvPr/>
        </p:nvSpPr>
        <p:spPr>
          <a:xfrm>
            <a:off x="4439878" y="1398761"/>
            <a:ext cx="264096" cy="264096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9" name="Text 7"/>
          <p:cNvSpPr/>
          <p:nvPr/>
        </p:nvSpPr>
        <p:spPr>
          <a:xfrm>
            <a:off x="4479466" y="1415207"/>
            <a:ext cx="184845" cy="23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1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1724844" y="1439094"/>
            <a:ext cx="2260104" cy="192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More Human-Like Conversations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21643" y="1689943"/>
            <a:ext cx="3463305" cy="343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r">
              <a:lnSpc>
                <a:spcPct val="122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Improved contextual memory and nuanced understanding across long interactions</a:t>
            </a:r>
            <a:r>
              <a:rPr lang="en-US" sz="9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89686" y="2187625"/>
            <a:ext cx="352202" cy="14288"/>
          </a:xfrm>
          <a:prstGeom prst="roundRect">
            <a:avLst>
              <a:gd name="adj" fmla="val 123252"/>
            </a:avLst>
          </a:prstGeom>
          <a:solidFill>
            <a:srgbClr val="D8D4D4"/>
          </a:solidFill>
          <a:ln/>
        </p:spPr>
      </p:sp>
      <p:sp>
        <p:nvSpPr>
          <p:cNvPr id="13" name="Shape 11"/>
          <p:cNvSpPr/>
          <p:nvPr/>
        </p:nvSpPr>
        <p:spPr>
          <a:xfrm>
            <a:off x="4439878" y="2062758"/>
            <a:ext cx="264096" cy="264096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14" name="Text 12"/>
          <p:cNvSpPr/>
          <p:nvPr/>
        </p:nvSpPr>
        <p:spPr>
          <a:xfrm>
            <a:off x="4479466" y="2079203"/>
            <a:ext cx="184845" cy="23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2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5158904" y="2103090"/>
            <a:ext cx="1804467" cy="192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Personalized AI Assistants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158904" y="2353940"/>
            <a:ext cx="3463379" cy="343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Deeply customized models that adapt to individual users, preferences, and workflows</a:t>
            </a:r>
            <a:r>
              <a:rPr lang="en-US" sz="9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101964" y="2774603"/>
            <a:ext cx="352202" cy="14288"/>
          </a:xfrm>
          <a:prstGeom prst="roundRect">
            <a:avLst>
              <a:gd name="adj" fmla="val 123252"/>
            </a:avLst>
          </a:prstGeom>
          <a:solidFill>
            <a:srgbClr val="D8D4D4"/>
          </a:solidFill>
          <a:ln/>
        </p:spPr>
      </p:sp>
      <p:sp>
        <p:nvSpPr>
          <p:cNvPr id="18" name="Shape 16"/>
          <p:cNvSpPr/>
          <p:nvPr/>
        </p:nvSpPr>
        <p:spPr>
          <a:xfrm>
            <a:off x="4439878" y="2649736"/>
            <a:ext cx="264096" cy="264096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19" name="Text 17"/>
          <p:cNvSpPr/>
          <p:nvPr/>
        </p:nvSpPr>
        <p:spPr>
          <a:xfrm>
            <a:off x="4479466" y="2666181"/>
            <a:ext cx="184845" cy="23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3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1879029" y="2690068"/>
            <a:ext cx="2105918" cy="192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Advanced Multimodal Systems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21643" y="2940918"/>
            <a:ext cx="3463305" cy="343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r">
              <a:lnSpc>
                <a:spcPct val="122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Seamless integration of text, image, audio, and video reasoning in unified models.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89686" y="3361581"/>
            <a:ext cx="352202" cy="14288"/>
          </a:xfrm>
          <a:prstGeom prst="roundRect">
            <a:avLst>
              <a:gd name="adj" fmla="val 123252"/>
            </a:avLst>
          </a:prstGeom>
          <a:solidFill>
            <a:srgbClr val="D8D4D4"/>
          </a:solidFill>
          <a:ln/>
        </p:spPr>
      </p:sp>
      <p:sp>
        <p:nvSpPr>
          <p:cNvPr id="23" name="Shape 21"/>
          <p:cNvSpPr/>
          <p:nvPr/>
        </p:nvSpPr>
        <p:spPr>
          <a:xfrm>
            <a:off x="4439878" y="3236714"/>
            <a:ext cx="264096" cy="264096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24" name="Text 22"/>
          <p:cNvSpPr/>
          <p:nvPr/>
        </p:nvSpPr>
        <p:spPr>
          <a:xfrm>
            <a:off x="4479466" y="3253160"/>
            <a:ext cx="184845" cy="23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4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5158904" y="3277046"/>
            <a:ext cx="1540818" cy="192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Industry-Specific AI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158904" y="3527896"/>
            <a:ext cx="3463379" cy="343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Specialized LMs trained for healthcare, finance, law, and education with domain precision.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101964" y="3948559"/>
            <a:ext cx="352202" cy="14288"/>
          </a:xfrm>
          <a:prstGeom prst="roundRect">
            <a:avLst>
              <a:gd name="adj" fmla="val 123252"/>
            </a:avLst>
          </a:prstGeom>
          <a:solidFill>
            <a:srgbClr val="D8D4D4"/>
          </a:solidFill>
          <a:ln/>
        </p:spPr>
      </p:sp>
      <p:sp>
        <p:nvSpPr>
          <p:cNvPr id="28" name="Shape 26"/>
          <p:cNvSpPr/>
          <p:nvPr/>
        </p:nvSpPr>
        <p:spPr>
          <a:xfrm>
            <a:off x="4439878" y="3823692"/>
            <a:ext cx="264096" cy="264096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29" name="Text 27"/>
          <p:cNvSpPr/>
          <p:nvPr/>
        </p:nvSpPr>
        <p:spPr>
          <a:xfrm>
            <a:off x="4479466" y="3840138"/>
            <a:ext cx="184845" cy="23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5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2111350" y="3864025"/>
            <a:ext cx="1873597" cy="192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Real-Time AI Collaboration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21643" y="4114874"/>
            <a:ext cx="3463305" cy="343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r">
              <a:lnSpc>
                <a:spcPct val="122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AI agents working alongside humans as true cognitive partners in daily professional tasks.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75668" y="860524"/>
            <a:ext cx="5364063" cy="641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40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Key Takeaways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96119" y="1785938"/>
            <a:ext cx="8151763" cy="1508373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</p:sp>
      <p:sp>
        <p:nvSpPr>
          <p:cNvPr id="4" name="Shape 2"/>
          <p:cNvSpPr/>
          <p:nvPr/>
        </p:nvSpPr>
        <p:spPr>
          <a:xfrm>
            <a:off x="496119" y="1785938"/>
            <a:ext cx="2717229" cy="1508373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</p:sp>
      <p:sp>
        <p:nvSpPr>
          <p:cNvPr id="5" name="Text 3"/>
          <p:cNvSpPr/>
          <p:nvPr/>
        </p:nvSpPr>
        <p:spPr>
          <a:xfrm>
            <a:off x="637877" y="1927696"/>
            <a:ext cx="210829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Foundational Technology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37877" y="2245296"/>
            <a:ext cx="2433712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Language Models are now a core pillar of modern AI — essential infrastructure for the digital age.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13348" y="1785938"/>
            <a:ext cx="2717229" cy="1508373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8" name="Shape 6"/>
          <p:cNvSpPr/>
          <p:nvPr/>
        </p:nvSpPr>
        <p:spPr>
          <a:xfrm>
            <a:off x="3213348" y="1785938"/>
            <a:ext cx="19050" cy="1508373"/>
          </a:xfrm>
          <a:prstGeom prst="roundRect">
            <a:avLst>
              <a:gd name="adj" fmla="val 111628"/>
            </a:avLst>
          </a:prstGeom>
          <a:solidFill>
            <a:srgbClr val="D8D4D4"/>
          </a:solidFill>
          <a:ln/>
        </p:spPr>
      </p:sp>
      <p:sp>
        <p:nvSpPr>
          <p:cNvPr id="9" name="Text 7"/>
          <p:cNvSpPr/>
          <p:nvPr/>
        </p:nvSpPr>
        <p:spPr>
          <a:xfrm>
            <a:off x="3355107" y="1927696"/>
            <a:ext cx="2152501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Universal Industry Impact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3355107" y="2245296"/>
            <a:ext cx="2433712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From education and healthcare to finance and software — LMs are transforming every professional domain.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30578" y="1785938"/>
            <a:ext cx="2717229" cy="1508373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12" name="Shape 10"/>
          <p:cNvSpPr/>
          <p:nvPr/>
        </p:nvSpPr>
        <p:spPr>
          <a:xfrm>
            <a:off x="5930578" y="1785938"/>
            <a:ext cx="19050" cy="1508373"/>
          </a:xfrm>
          <a:prstGeom prst="roundRect">
            <a:avLst>
              <a:gd name="adj" fmla="val 111628"/>
            </a:avLst>
          </a:prstGeom>
          <a:solidFill>
            <a:srgbClr val="D8D4D4"/>
          </a:solidFill>
          <a:ln/>
        </p:spPr>
      </p:sp>
      <p:sp>
        <p:nvSpPr>
          <p:cNvPr id="13" name="Text 11"/>
          <p:cNvSpPr/>
          <p:nvPr/>
        </p:nvSpPr>
        <p:spPr>
          <a:xfrm>
            <a:off x="6072336" y="1927696"/>
            <a:ext cx="18606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Rapidly Evolving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072336" y="2245296"/>
            <a:ext cx="2433712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pace of advancement is accelerating — models are becoming more capable, efficient, and accessible every year.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96119" y="3453780"/>
            <a:ext cx="8151763" cy="829196"/>
          </a:xfrm>
          <a:prstGeom prst="roundRect">
            <a:avLst>
              <a:gd name="adj" fmla="val 2565"/>
            </a:avLst>
          </a:prstGeom>
          <a:solidFill>
            <a:srgbClr val="B6D6FC"/>
          </a:solidFill>
          <a:ln/>
        </p:spPr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877" y="3668837"/>
            <a:ext cx="177180" cy="141759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956816" y="3630960"/>
            <a:ext cx="754930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bottom line:</a:t>
            </a: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Language Models are not a distant future technology — they are here, they are powerful, and understanding them is now an </a:t>
            </a:r>
            <a:r>
              <a:rPr lang="en-US" sz="110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essential competency</a:t>
            </a: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for professionals across every field.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1050</Words>
  <Application>Microsoft Macintosh PowerPoint</Application>
  <PresentationFormat>On-screen Show (16:9)</PresentationFormat>
  <Paragraphs>197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PT Serif Light</vt:lpstr>
      <vt:lpstr>PT Serif</vt:lpstr>
      <vt:lpstr>Calibri</vt:lpstr>
      <vt:lpstr>DM Sans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Vinayak Deshpande</cp:lastModifiedBy>
  <cp:revision>6</cp:revision>
  <dcterms:created xsi:type="dcterms:W3CDTF">2026-06-02T08:19:07Z</dcterms:created>
  <dcterms:modified xsi:type="dcterms:W3CDTF">2026-06-03T04:45:19Z</dcterms:modified>
</cp:coreProperties>
</file>